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slideLayouts/slideLayout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rts/chartEx2.xml" ContentType="application/vnd.ms-office.chartex+xml"/>
  <Override PartName="/ppt/charts/style3.xml" ContentType="application/vnd.ms-office.chartstyle+xml"/>
  <Override PartName="/ppt/charts/colors3.xml" ContentType="application/vnd.ms-office.chartcolorstyle+xml"/>
  <Override PartName="/ppt/charts/chart2.xml" ContentType="application/vnd.openxmlformats-officedocument.drawingml.chart+xml"/>
  <Override PartName="/ppt/charts/style4.xml" ContentType="application/vnd.ms-office.chartstyle+xml"/>
  <Override PartName="/ppt/charts/colors4.xml" ContentType="application/vnd.ms-office.chartcolorstyle+xml"/>
  <Override PartName="/ppt/charts/chart3.xml" ContentType="application/vnd.openxmlformats-officedocument.drawingml.chart+xml"/>
  <Override PartName="/ppt/charts/style5.xml" ContentType="application/vnd.ms-office.chartstyle+xml"/>
  <Override PartName="/ppt/charts/colors5.xml" ContentType="application/vnd.ms-office.chartcolorstyle+xml"/>
  <Override PartName="/ppt/charts/chart4.xml" ContentType="application/vnd.openxmlformats-officedocument.drawingml.chart+xml"/>
  <Override PartName="/ppt/charts/style6.xml" ContentType="application/vnd.ms-office.chartstyle+xml"/>
  <Override PartName="/ppt/charts/colors6.xml" ContentType="application/vnd.ms-office.chartcolorstyle+xml"/>
  <Override PartName="/ppt/charts/chart5.xml" ContentType="application/vnd.openxmlformats-officedocument.drawingml.chart+xml"/>
  <Override PartName="/ppt/charts/style7.xml" ContentType="application/vnd.ms-office.chartstyle+xml"/>
  <Override PartName="/ppt/charts/colors7.xml" ContentType="application/vnd.ms-office.chartcolorstyle+xml"/>
  <Override PartName="/ppt/charts/chart6.xml" ContentType="application/vnd.openxmlformats-officedocument.drawingml.chart+xml"/>
  <Override PartName="/ppt/charts/style8.xml" ContentType="application/vnd.ms-office.chartstyle+xml"/>
  <Override PartName="/ppt/charts/colors8.xml" ContentType="application/vnd.ms-office.chartcolorstyl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0.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1.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3.xml" ContentType="application/vnd.openxmlformats-officedocument.presentationml.notesSlide+xml"/>
  <Override PartName="/ppt/charts/chart12.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3.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4.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4.xml" ContentType="application/vnd.openxmlformats-officedocument.presentationml.notesSlide+xml"/>
  <Override PartName="/ppt/charts/chart15.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6.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7.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18.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19.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0.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1.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2.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3.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4.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5.xml" ContentType="application/vnd.openxmlformats-officedocument.drawingml.chart+xml"/>
  <Override PartName="/ppt/charts/style27.xml" ContentType="application/vnd.ms-office.chartstyle+xml"/>
  <Override PartName="/ppt/charts/colors27.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74" r:id="rId5"/>
    <p:sldMasterId id="2147483662" r:id="rId6"/>
  </p:sldMasterIdLst>
  <p:notesMasterIdLst>
    <p:notesMasterId r:id="rId17"/>
  </p:notesMasterIdLst>
  <p:sldIdLst>
    <p:sldId id="290" r:id="rId7"/>
    <p:sldId id="287" r:id="rId8"/>
    <p:sldId id="283" r:id="rId9"/>
    <p:sldId id="284" r:id="rId10"/>
    <p:sldId id="292" r:id="rId11"/>
    <p:sldId id="291" r:id="rId12"/>
    <p:sldId id="296" r:id="rId13"/>
    <p:sldId id="281" r:id="rId14"/>
    <p:sldId id="282" r:id="rId15"/>
    <p:sldId id="289" r:id="rId16"/>
  </p:sldIdLst>
  <p:sldSz cx="7772400" cy="10693400"/>
  <p:notesSz cx="7772400" cy="106934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92" userDrawn="1">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ovanna sa" initials="gs" lastIdx="18" clrIdx="0">
    <p:extLst>
      <p:ext uri="{19B8F6BF-5375-455C-9EA6-DF929625EA0E}">
        <p15:presenceInfo xmlns:p15="http://schemas.microsoft.com/office/powerpoint/2012/main" userId="362c4752588f2621" providerId="Windows Live"/>
      </p:ext>
    </p:extLst>
  </p:cmAuthor>
  <p:cmAuthor id="2" name="Lucas Mattos" initials="LM" lastIdx="21" clrIdx="1">
    <p:extLst>
      <p:ext uri="{19B8F6BF-5375-455C-9EA6-DF929625EA0E}">
        <p15:presenceInfo xmlns:p15="http://schemas.microsoft.com/office/powerpoint/2012/main" userId="5875be637e205a40" providerId="Windows Live"/>
      </p:ext>
    </p:extLst>
  </p:cmAuthor>
  <p:cmAuthor id="3" name="Samuel Martinez" initials="SM" lastIdx="9" clrIdx="2">
    <p:extLst>
      <p:ext uri="{19B8F6BF-5375-455C-9EA6-DF929625EA0E}">
        <p15:presenceInfo xmlns:p15="http://schemas.microsoft.com/office/powerpoint/2012/main" userId="12802c19e5e0147d" providerId="Windows Live"/>
      </p:ext>
    </p:extLst>
  </p:cmAuthor>
  <p:cmAuthor id="4" name="matheus almeida motta" initials="mam" lastIdx="5" clrIdx="3">
    <p:extLst>
      <p:ext uri="{19B8F6BF-5375-455C-9EA6-DF929625EA0E}">
        <p15:presenceInfo xmlns:p15="http://schemas.microsoft.com/office/powerpoint/2012/main" userId="0c1a7aaad22d6f98" providerId="Windows Live"/>
      </p:ext>
    </p:extLst>
  </p:cmAuthor>
  <p:cmAuthor id="5" name="Usuário Convidado" initials="UC" lastIdx="3"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850"/>
    <a:srgbClr val="009EE3"/>
    <a:srgbClr val="0D366C"/>
    <a:srgbClr val="429FDC"/>
    <a:srgbClr val="5623FB"/>
    <a:srgbClr val="172C63"/>
    <a:srgbClr val="000000"/>
    <a:srgbClr val="0036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Estilo Médio 3 - Ênfase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30" d="100"/>
          <a:sy n="130" d="100"/>
        </p:scale>
        <p:origin x="643" y="-3763"/>
      </p:cViewPr>
      <p:guideLst>
        <p:guide orient="horz" pos="2892"/>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rega\Downloads\WEGE3%20x%20IBOV.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gvmail-my.sharepoint.com/personal/c3009203_fgv_edu_br/Documents/WEG%20Countries.xlsx" TargetMode="External"/><Relationship Id="rId2" Type="http://schemas.microsoft.com/office/2011/relationships/chartColorStyle" Target="colors4.xml"/><Relationship Id="rId1" Type="http://schemas.microsoft.com/office/2011/relationships/chartStyle" Target="style4.xml"/></Relationships>
</file>

<file path=ppt/charts/_rels/chart3.xml.rels><?xml version="1.0" encoding="UTF-8" standalone="yes"?>
<Relationships xmlns="http://schemas.openxmlformats.org/package/2006/relationships"><Relationship Id="rId3" Type="http://schemas.openxmlformats.org/officeDocument/2006/relationships/oleObject" Target="https://gvmail-my.sharepoint.com/personal/c3009203_fgv_edu_br/Documents/WEG%20Countries.xlsx" TargetMode="External"/><Relationship Id="rId2" Type="http://schemas.microsoft.com/office/2011/relationships/chartColorStyle" Target="colors5.xml"/><Relationship Id="rId1" Type="http://schemas.microsoft.com/office/2011/relationships/chartStyle" Target="style5.xml"/></Relationships>
</file>

<file path=ppt/charts/_rels/chart4.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6.xml"/><Relationship Id="rId1" Type="http://schemas.microsoft.com/office/2011/relationships/chartStyle" Target="style6.xml"/></Relationships>
</file>

<file path=ppt/charts/_rels/chart5.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7.xml"/><Relationship Id="rId1" Type="http://schemas.microsoft.com/office/2011/relationships/chartStyle" Target="style7.xml"/></Relationships>
</file>

<file path=ppt/charts/_rels/chart6.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8.xml"/><Relationship Id="rId1" Type="http://schemas.microsoft.com/office/2011/relationships/chartStyle" Target="style8.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478dca4a576b2f15/Documentos/Market%20share%20growth%20low%20voltage%20industrial%20motors.xlsx" TargetMode="External"/><Relationship Id="rId2" Type="http://schemas.microsoft.com/office/2011/relationships/chartColorStyle" Target="colors9.xml"/><Relationship Id="rId1" Type="http://schemas.microsoft.com/office/2011/relationships/chartStyle" Target="style9.xml"/></Relationships>
</file>

<file path=ppt/charts/_rels/chart8.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10.xml"/><Relationship Id="rId1" Type="http://schemas.microsoft.com/office/2011/relationships/chartStyle" Target="style10.xml"/></Relationships>
</file>

<file path=ppt/charts/_rels/chart9.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11.xml"/><Relationship Id="rId1" Type="http://schemas.microsoft.com/office/2011/relationships/chartStyle" Target="style11.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478dca4a576b2f15/%5e.Documents/mexico%20produ&#231;&#227;p.xlsx" TargetMode="External"/><Relationship Id="rId2" Type="http://schemas.microsoft.com/office/2011/relationships/chartColorStyle" Target="colors12.xml"/><Relationship Id="rId1" Type="http://schemas.microsoft.com/office/2011/relationships/chartStyle" Target="style12.xml"/></Relationships>
</file>

<file path=ppt/charts/_rels/chart11.xml.rels><?xml version="1.0" encoding="UTF-8" standalone="yes"?>
<Relationships xmlns="http://schemas.openxmlformats.org/package/2006/relationships"><Relationship Id="rId3" Type="http://schemas.openxmlformats.org/officeDocument/2006/relationships/oleObject" Target="https://gvmail-my.sharepoint.com/personal/c375130_fgv_edu_br/Documents/Pasta1%20(1).xlsx" TargetMode="External"/><Relationship Id="rId2" Type="http://schemas.microsoft.com/office/2011/relationships/chartColorStyle" Target="colors13.xml"/><Relationship Id="rId1" Type="http://schemas.microsoft.com/office/2011/relationships/chartStyle" Target="style13.xml"/></Relationships>
</file>

<file path=ppt/charts/_rels/chart12.xml.rels><?xml version="1.0" encoding="UTF-8" standalone="yes"?>
<Relationships xmlns="http://schemas.openxmlformats.org/package/2006/relationships"><Relationship Id="rId3" Type="http://schemas.openxmlformats.org/officeDocument/2006/relationships/oleObject" Target="https://d.docs.live.net/478dca4a576b2f15/%5e.Documents/gr&#225;fico%20sobre%20cobre.xlsx" TargetMode="External"/><Relationship Id="rId2" Type="http://schemas.microsoft.com/office/2011/relationships/chartColorStyle" Target="colors14.xml"/><Relationship Id="rId1" Type="http://schemas.microsoft.com/office/2011/relationships/chartStyle" Target="style14.xml"/></Relationships>
</file>

<file path=ppt/charts/_rels/chart13.xml.rels><?xml version="1.0" encoding="UTF-8" standalone="yes"?>
<Relationships xmlns="http://schemas.openxmlformats.org/package/2006/relationships"><Relationship Id="rId3" Type="http://schemas.openxmlformats.org/officeDocument/2006/relationships/oleObject" Target="https://gvmail-my.sharepoint.com/personal/c380461_fgv_edu_br/Documents/Macro%20-%20Gr&#225;ficos.xlsx" TargetMode="External"/><Relationship Id="rId2" Type="http://schemas.microsoft.com/office/2011/relationships/chartColorStyle" Target="colors15.xml"/><Relationship Id="rId1" Type="http://schemas.microsoft.com/office/2011/relationships/chartStyle" Target="style15.xml"/></Relationships>
</file>

<file path=ppt/charts/_rels/chart14.xml.rels><?xml version="1.0" encoding="UTF-8" standalone="yes"?>
<Relationships xmlns="http://schemas.openxmlformats.org/package/2006/relationships"><Relationship Id="rId3" Type="http://schemas.openxmlformats.org/officeDocument/2006/relationships/oleObject" Target="https://gvmail-my.sharepoint.com/personal/c380461_fgv_edu_br/Documents/Gr&#225;ficos%20-%20An&#225;lise%20Setorial.xlsx" TargetMode="External"/><Relationship Id="rId2" Type="http://schemas.microsoft.com/office/2011/relationships/chartColorStyle" Target="colors16.xml"/><Relationship Id="rId1" Type="http://schemas.microsoft.com/office/2011/relationships/chartStyle" Target="style16.xml"/></Relationships>
</file>

<file path=ppt/charts/_rels/chart15.xml.rels><?xml version="1.0" encoding="UTF-8" standalone="yes"?>
<Relationships xmlns="http://schemas.openxmlformats.org/package/2006/relationships"><Relationship Id="rId3" Type="http://schemas.openxmlformats.org/officeDocument/2006/relationships/oleObject" Target="https://d.docs.live.net/478DCA4A576B2F15/Documentos/Custo%20de%20m&#227;o%20de%20obra%20e%20sua%20rela&#231;&#227;o%20com%20a%20margem%20operacional.xlsx" TargetMode="External"/><Relationship Id="rId2" Type="http://schemas.microsoft.com/office/2011/relationships/chartColorStyle" Target="colors17.xml"/><Relationship Id="rId1" Type="http://schemas.microsoft.com/office/2011/relationships/chartStyle" Target="style17.xml"/></Relationships>
</file>

<file path=ppt/charts/_rels/chart16.xml.rels><?xml version="1.0" encoding="UTF-8" standalone="yes"?>
<Relationships xmlns="http://schemas.openxmlformats.org/package/2006/relationships"><Relationship Id="rId3" Type="http://schemas.openxmlformats.org/officeDocument/2006/relationships/oleObject" Target="https://d.docs.live.net/478dca4a576b2f15/%5e.Documents/custo%20unit&#225;rio%20de%20acordo%20com%20o%20tipo%20de%20industria.xlsx" TargetMode="External"/><Relationship Id="rId2" Type="http://schemas.microsoft.com/office/2011/relationships/chartColorStyle" Target="colors18.xml"/><Relationship Id="rId1" Type="http://schemas.microsoft.com/office/2011/relationships/chartStyle" Target="style18.xml"/></Relationships>
</file>

<file path=ppt/charts/_rels/chart17.xml.rels><?xml version="1.0" encoding="UTF-8" standalone="yes"?>
<Relationships xmlns="http://schemas.openxmlformats.org/package/2006/relationships"><Relationship Id="rId3" Type="http://schemas.openxmlformats.org/officeDocument/2006/relationships/oleObject" Target="https://d.docs.live.net/478dca4a576b2f15/%5e.Documents/tabela%20de%20redu&#231;&#227;o%20do%20custo%20unit&#225;rio%20WEG%20e%20concorrentes.xlsx" TargetMode="External"/><Relationship Id="rId2" Type="http://schemas.microsoft.com/office/2011/relationships/chartColorStyle" Target="colors19.xml"/><Relationship Id="rId1" Type="http://schemas.microsoft.com/office/2011/relationships/chartStyle" Target="style19.xml"/></Relationships>
</file>

<file path=ppt/charts/_rels/chart18.xml.rels><?xml version="1.0" encoding="UTF-8" standalone="yes"?>
<Relationships xmlns="http://schemas.openxmlformats.org/package/2006/relationships"><Relationship Id="rId3" Type="http://schemas.openxmlformats.org/officeDocument/2006/relationships/oleObject" Target="https://d.docs.live.net/478dca4a576b2f15/Documentos/Aquisicoes%20por%20segmento.xlsx" TargetMode="External"/><Relationship Id="rId2" Type="http://schemas.microsoft.com/office/2011/relationships/chartColorStyle" Target="colors20.xml"/><Relationship Id="rId1" Type="http://schemas.microsoft.com/office/2011/relationships/chartStyle" Target="style20.xml"/></Relationships>
</file>

<file path=ppt/charts/_rels/chart19.xml.rels><?xml version="1.0" encoding="UTF-8" standalone="yes"?>
<Relationships xmlns="http://schemas.openxmlformats.org/package/2006/relationships"><Relationship Id="rId3" Type="http://schemas.openxmlformats.org/officeDocument/2006/relationships/oleObject" Target="https://d.docs.live.net/478DCA4A576B2F15/Documentos/Custo%20de%20m&#227;o%20de%20obra%20e%20sua%20rela&#231;&#227;o%20com%20a%20margem%20operacional.xlsx" TargetMode="External"/><Relationship Id="rId2" Type="http://schemas.microsoft.com/office/2011/relationships/chartColorStyle" Target="colors21.xml"/><Relationship Id="rId1" Type="http://schemas.microsoft.com/office/2011/relationships/chartStyle" Target="style21.xml"/></Relationships>
</file>

<file path=ppt/charts/_rels/chart20.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22.xml"/><Relationship Id="rId1" Type="http://schemas.microsoft.com/office/2011/relationships/chartStyle" Target="style22.xml"/></Relationships>
</file>

<file path=ppt/charts/_rels/chart21.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23.xml"/><Relationship Id="rId1" Type="http://schemas.microsoft.com/office/2011/relationships/chartStyle" Target="style23.xml"/></Relationships>
</file>

<file path=ppt/charts/_rels/chart22.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24.xml"/><Relationship Id="rId1" Type="http://schemas.microsoft.com/office/2011/relationships/chartStyle" Target="style24.xml"/></Relationships>
</file>

<file path=ppt/charts/_rels/chart23.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25.xml"/><Relationship Id="rId1" Type="http://schemas.microsoft.com/office/2011/relationships/chartStyle" Target="style25.xml"/></Relationships>
</file>

<file path=ppt/charts/_rels/chart24.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26.xml"/><Relationship Id="rId1" Type="http://schemas.microsoft.com/office/2011/relationships/chartStyle" Target="style26.xml"/></Relationships>
</file>

<file path=ppt/charts/_rels/chart25.xml.rels><?xml version="1.0" encoding="UTF-8" standalone="yes"?>
<Relationships xmlns="http://schemas.openxmlformats.org/package/2006/relationships"><Relationship Id="rId3" Type="http://schemas.openxmlformats.org/officeDocument/2006/relationships/oleObject" Target="https://gvmail-my.sharepoint.com/personal/c375130_fgv_edu_br/Documents/Margens%20EBITDA.xlsx" TargetMode="External"/><Relationship Id="rId2" Type="http://schemas.microsoft.com/office/2011/relationships/chartColorStyle" Target="colors27.xml"/><Relationship Id="rId1" Type="http://schemas.microsoft.com/office/2011/relationships/chartStyle" Target="style27.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https://gvmail-my.sharepoint.com/personal/c3009203_fgv_edu_br/Documents/WEG%20Countries.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https://gvmail-my.sharepoint.com/personal/c3009203_fgv_edu_br/Documents/WEG%20Countri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Sheet1!$M$1</c:f>
              <c:strCache>
                <c:ptCount val="1"/>
                <c:pt idx="0">
                  <c:v>WEGE3</c:v>
                </c:pt>
              </c:strCache>
            </c:strRef>
          </c:tx>
          <c:spPr>
            <a:ln w="19050" cap="rnd">
              <a:solidFill>
                <a:srgbClr val="172C63"/>
              </a:solidFill>
              <a:round/>
            </a:ln>
            <a:effectLst/>
          </c:spPr>
          <c:marker>
            <c:symbol val="none"/>
          </c:marker>
          <c:cat>
            <c:numRef>
              <c:f>Sheet1!$L$2:$L$1243</c:f>
              <c:numCache>
                <c:formatCode>yyyy</c:formatCode>
                <c:ptCount val="1242"/>
                <c:pt idx="0">
                  <c:v>43971</c:v>
                </c:pt>
                <c:pt idx="1">
                  <c:v>43972</c:v>
                </c:pt>
                <c:pt idx="2">
                  <c:v>43973</c:v>
                </c:pt>
                <c:pt idx="3">
                  <c:v>43976</c:v>
                </c:pt>
                <c:pt idx="4">
                  <c:v>43977</c:v>
                </c:pt>
                <c:pt idx="5">
                  <c:v>43978</c:v>
                </c:pt>
                <c:pt idx="6">
                  <c:v>43979</c:v>
                </c:pt>
                <c:pt idx="7">
                  <c:v>43980</c:v>
                </c:pt>
                <c:pt idx="8">
                  <c:v>43983</c:v>
                </c:pt>
                <c:pt idx="9">
                  <c:v>43984</c:v>
                </c:pt>
                <c:pt idx="10">
                  <c:v>43985</c:v>
                </c:pt>
                <c:pt idx="11">
                  <c:v>43986</c:v>
                </c:pt>
                <c:pt idx="12">
                  <c:v>43987</c:v>
                </c:pt>
                <c:pt idx="13">
                  <c:v>43990</c:v>
                </c:pt>
                <c:pt idx="14">
                  <c:v>43991</c:v>
                </c:pt>
                <c:pt idx="15">
                  <c:v>43992</c:v>
                </c:pt>
                <c:pt idx="16">
                  <c:v>43994</c:v>
                </c:pt>
                <c:pt idx="17">
                  <c:v>43997</c:v>
                </c:pt>
                <c:pt idx="18">
                  <c:v>43998</c:v>
                </c:pt>
                <c:pt idx="19">
                  <c:v>43999</c:v>
                </c:pt>
                <c:pt idx="20">
                  <c:v>44000</c:v>
                </c:pt>
                <c:pt idx="21">
                  <c:v>44001</c:v>
                </c:pt>
                <c:pt idx="22">
                  <c:v>44004</c:v>
                </c:pt>
                <c:pt idx="23">
                  <c:v>44005</c:v>
                </c:pt>
                <c:pt idx="24">
                  <c:v>44006</c:v>
                </c:pt>
                <c:pt idx="25">
                  <c:v>44007</c:v>
                </c:pt>
                <c:pt idx="26">
                  <c:v>44008</c:v>
                </c:pt>
                <c:pt idx="27">
                  <c:v>44011</c:v>
                </c:pt>
                <c:pt idx="28">
                  <c:v>44012</c:v>
                </c:pt>
                <c:pt idx="29">
                  <c:v>44013</c:v>
                </c:pt>
                <c:pt idx="30">
                  <c:v>44014</c:v>
                </c:pt>
                <c:pt idx="31">
                  <c:v>44015</c:v>
                </c:pt>
                <c:pt idx="32">
                  <c:v>44018</c:v>
                </c:pt>
                <c:pt idx="33">
                  <c:v>44019</c:v>
                </c:pt>
                <c:pt idx="34">
                  <c:v>44020</c:v>
                </c:pt>
                <c:pt idx="35">
                  <c:v>44021</c:v>
                </c:pt>
                <c:pt idx="36">
                  <c:v>44022</c:v>
                </c:pt>
                <c:pt idx="37">
                  <c:v>44025</c:v>
                </c:pt>
                <c:pt idx="38">
                  <c:v>44026</c:v>
                </c:pt>
                <c:pt idx="39">
                  <c:v>44027</c:v>
                </c:pt>
                <c:pt idx="40">
                  <c:v>44028</c:v>
                </c:pt>
                <c:pt idx="41">
                  <c:v>44029</c:v>
                </c:pt>
                <c:pt idx="42">
                  <c:v>44032</c:v>
                </c:pt>
                <c:pt idx="43">
                  <c:v>44033</c:v>
                </c:pt>
                <c:pt idx="44">
                  <c:v>44034</c:v>
                </c:pt>
                <c:pt idx="45">
                  <c:v>44035</c:v>
                </c:pt>
                <c:pt idx="46">
                  <c:v>44036</c:v>
                </c:pt>
                <c:pt idx="47">
                  <c:v>44039</c:v>
                </c:pt>
                <c:pt idx="48">
                  <c:v>44040</c:v>
                </c:pt>
                <c:pt idx="49">
                  <c:v>44041</c:v>
                </c:pt>
                <c:pt idx="50">
                  <c:v>44042</c:v>
                </c:pt>
                <c:pt idx="51">
                  <c:v>44043</c:v>
                </c:pt>
                <c:pt idx="52">
                  <c:v>44046</c:v>
                </c:pt>
                <c:pt idx="53">
                  <c:v>44047</c:v>
                </c:pt>
                <c:pt idx="54">
                  <c:v>44048</c:v>
                </c:pt>
                <c:pt idx="55">
                  <c:v>44049</c:v>
                </c:pt>
                <c:pt idx="56">
                  <c:v>44050</c:v>
                </c:pt>
                <c:pt idx="57">
                  <c:v>44053</c:v>
                </c:pt>
                <c:pt idx="58">
                  <c:v>44054</c:v>
                </c:pt>
                <c:pt idx="59">
                  <c:v>44055</c:v>
                </c:pt>
                <c:pt idx="60">
                  <c:v>44056</c:v>
                </c:pt>
                <c:pt idx="61">
                  <c:v>44057</c:v>
                </c:pt>
                <c:pt idx="62">
                  <c:v>44060</c:v>
                </c:pt>
                <c:pt idx="63">
                  <c:v>44061</c:v>
                </c:pt>
                <c:pt idx="64">
                  <c:v>44062</c:v>
                </c:pt>
                <c:pt idx="65">
                  <c:v>44063</c:v>
                </c:pt>
                <c:pt idx="66">
                  <c:v>44064</c:v>
                </c:pt>
                <c:pt idx="67">
                  <c:v>44067</c:v>
                </c:pt>
                <c:pt idx="68">
                  <c:v>44068</c:v>
                </c:pt>
                <c:pt idx="69">
                  <c:v>44069</c:v>
                </c:pt>
                <c:pt idx="70">
                  <c:v>44070</c:v>
                </c:pt>
                <c:pt idx="71">
                  <c:v>44071</c:v>
                </c:pt>
                <c:pt idx="72">
                  <c:v>44074</c:v>
                </c:pt>
                <c:pt idx="73">
                  <c:v>44075</c:v>
                </c:pt>
                <c:pt idx="74">
                  <c:v>44076</c:v>
                </c:pt>
                <c:pt idx="75">
                  <c:v>44077</c:v>
                </c:pt>
                <c:pt idx="76">
                  <c:v>44078</c:v>
                </c:pt>
                <c:pt idx="77">
                  <c:v>44082</c:v>
                </c:pt>
                <c:pt idx="78">
                  <c:v>44083</c:v>
                </c:pt>
                <c:pt idx="79">
                  <c:v>44084</c:v>
                </c:pt>
                <c:pt idx="80">
                  <c:v>44085</c:v>
                </c:pt>
                <c:pt idx="81">
                  <c:v>44088</c:v>
                </c:pt>
                <c:pt idx="82">
                  <c:v>44089</c:v>
                </c:pt>
                <c:pt idx="83">
                  <c:v>44090</c:v>
                </c:pt>
                <c:pt idx="84">
                  <c:v>44091</c:v>
                </c:pt>
                <c:pt idx="85">
                  <c:v>44092</c:v>
                </c:pt>
                <c:pt idx="86">
                  <c:v>44095</c:v>
                </c:pt>
                <c:pt idx="87">
                  <c:v>44096</c:v>
                </c:pt>
                <c:pt idx="88">
                  <c:v>44097</c:v>
                </c:pt>
                <c:pt idx="89">
                  <c:v>44098</c:v>
                </c:pt>
                <c:pt idx="90">
                  <c:v>44099</c:v>
                </c:pt>
                <c:pt idx="91">
                  <c:v>44102</c:v>
                </c:pt>
                <c:pt idx="92">
                  <c:v>44103</c:v>
                </c:pt>
                <c:pt idx="93">
                  <c:v>44104</c:v>
                </c:pt>
                <c:pt idx="94">
                  <c:v>44105</c:v>
                </c:pt>
                <c:pt idx="95">
                  <c:v>44106</c:v>
                </c:pt>
                <c:pt idx="96">
                  <c:v>44109</c:v>
                </c:pt>
                <c:pt idx="97">
                  <c:v>44110</c:v>
                </c:pt>
                <c:pt idx="98">
                  <c:v>44111</c:v>
                </c:pt>
                <c:pt idx="99">
                  <c:v>44112</c:v>
                </c:pt>
                <c:pt idx="100">
                  <c:v>44113</c:v>
                </c:pt>
                <c:pt idx="101">
                  <c:v>44117</c:v>
                </c:pt>
                <c:pt idx="102">
                  <c:v>44118</c:v>
                </c:pt>
                <c:pt idx="103">
                  <c:v>44119</c:v>
                </c:pt>
                <c:pt idx="104">
                  <c:v>44120</c:v>
                </c:pt>
                <c:pt idx="105">
                  <c:v>44123</c:v>
                </c:pt>
                <c:pt idx="106">
                  <c:v>44124</c:v>
                </c:pt>
                <c:pt idx="107">
                  <c:v>44125</c:v>
                </c:pt>
                <c:pt idx="108">
                  <c:v>44126</c:v>
                </c:pt>
                <c:pt idx="109">
                  <c:v>44127</c:v>
                </c:pt>
                <c:pt idx="110">
                  <c:v>44130</c:v>
                </c:pt>
                <c:pt idx="111">
                  <c:v>44131</c:v>
                </c:pt>
                <c:pt idx="112">
                  <c:v>44132</c:v>
                </c:pt>
                <c:pt idx="113">
                  <c:v>44133</c:v>
                </c:pt>
                <c:pt idx="114">
                  <c:v>44134</c:v>
                </c:pt>
                <c:pt idx="115">
                  <c:v>44138</c:v>
                </c:pt>
                <c:pt idx="116">
                  <c:v>44139</c:v>
                </c:pt>
                <c:pt idx="117">
                  <c:v>44140</c:v>
                </c:pt>
                <c:pt idx="118">
                  <c:v>44141</c:v>
                </c:pt>
                <c:pt idx="119">
                  <c:v>44144</c:v>
                </c:pt>
                <c:pt idx="120">
                  <c:v>44145</c:v>
                </c:pt>
                <c:pt idx="121">
                  <c:v>44146</c:v>
                </c:pt>
                <c:pt idx="122">
                  <c:v>44147</c:v>
                </c:pt>
                <c:pt idx="123">
                  <c:v>44148</c:v>
                </c:pt>
                <c:pt idx="124">
                  <c:v>44151</c:v>
                </c:pt>
                <c:pt idx="125">
                  <c:v>44152</c:v>
                </c:pt>
                <c:pt idx="126">
                  <c:v>44153</c:v>
                </c:pt>
                <c:pt idx="127">
                  <c:v>44154</c:v>
                </c:pt>
                <c:pt idx="128">
                  <c:v>44155</c:v>
                </c:pt>
                <c:pt idx="129">
                  <c:v>44158</c:v>
                </c:pt>
                <c:pt idx="130">
                  <c:v>44159</c:v>
                </c:pt>
                <c:pt idx="131">
                  <c:v>44160</c:v>
                </c:pt>
                <c:pt idx="132">
                  <c:v>44161</c:v>
                </c:pt>
                <c:pt idx="133">
                  <c:v>44162</c:v>
                </c:pt>
                <c:pt idx="134">
                  <c:v>44165</c:v>
                </c:pt>
                <c:pt idx="135">
                  <c:v>44166</c:v>
                </c:pt>
                <c:pt idx="136">
                  <c:v>44167</c:v>
                </c:pt>
                <c:pt idx="137">
                  <c:v>44168</c:v>
                </c:pt>
                <c:pt idx="138">
                  <c:v>44169</c:v>
                </c:pt>
                <c:pt idx="139">
                  <c:v>44172</c:v>
                </c:pt>
                <c:pt idx="140">
                  <c:v>44173</c:v>
                </c:pt>
                <c:pt idx="141">
                  <c:v>44174</c:v>
                </c:pt>
                <c:pt idx="142">
                  <c:v>44175</c:v>
                </c:pt>
                <c:pt idx="143">
                  <c:v>44176</c:v>
                </c:pt>
                <c:pt idx="144">
                  <c:v>44179</c:v>
                </c:pt>
                <c:pt idx="145">
                  <c:v>44180</c:v>
                </c:pt>
                <c:pt idx="146">
                  <c:v>44181</c:v>
                </c:pt>
                <c:pt idx="147">
                  <c:v>44182</c:v>
                </c:pt>
                <c:pt idx="148">
                  <c:v>44183</c:v>
                </c:pt>
                <c:pt idx="149">
                  <c:v>44186</c:v>
                </c:pt>
                <c:pt idx="150">
                  <c:v>44187</c:v>
                </c:pt>
                <c:pt idx="151">
                  <c:v>44188</c:v>
                </c:pt>
                <c:pt idx="152">
                  <c:v>44193</c:v>
                </c:pt>
                <c:pt idx="153">
                  <c:v>44194</c:v>
                </c:pt>
                <c:pt idx="154">
                  <c:v>44195</c:v>
                </c:pt>
                <c:pt idx="155">
                  <c:v>44200</c:v>
                </c:pt>
                <c:pt idx="156">
                  <c:v>44201</c:v>
                </c:pt>
                <c:pt idx="157">
                  <c:v>44202</c:v>
                </c:pt>
                <c:pt idx="158">
                  <c:v>44203</c:v>
                </c:pt>
                <c:pt idx="159">
                  <c:v>44204</c:v>
                </c:pt>
                <c:pt idx="160">
                  <c:v>44207</c:v>
                </c:pt>
                <c:pt idx="161">
                  <c:v>44208</c:v>
                </c:pt>
                <c:pt idx="162">
                  <c:v>44209</c:v>
                </c:pt>
                <c:pt idx="163">
                  <c:v>44210</c:v>
                </c:pt>
                <c:pt idx="164">
                  <c:v>44211</c:v>
                </c:pt>
                <c:pt idx="165">
                  <c:v>44214</c:v>
                </c:pt>
                <c:pt idx="166">
                  <c:v>44215</c:v>
                </c:pt>
                <c:pt idx="167">
                  <c:v>44216</c:v>
                </c:pt>
                <c:pt idx="168">
                  <c:v>44217</c:v>
                </c:pt>
                <c:pt idx="169">
                  <c:v>44218</c:v>
                </c:pt>
                <c:pt idx="170">
                  <c:v>44222</c:v>
                </c:pt>
                <c:pt idx="171">
                  <c:v>44223</c:v>
                </c:pt>
                <c:pt idx="172">
                  <c:v>44224</c:v>
                </c:pt>
                <c:pt idx="173">
                  <c:v>44225</c:v>
                </c:pt>
                <c:pt idx="174">
                  <c:v>44228</c:v>
                </c:pt>
                <c:pt idx="175">
                  <c:v>44229</c:v>
                </c:pt>
                <c:pt idx="176">
                  <c:v>44230</c:v>
                </c:pt>
                <c:pt idx="177">
                  <c:v>44231</c:v>
                </c:pt>
                <c:pt idx="178">
                  <c:v>44232</c:v>
                </c:pt>
                <c:pt idx="179">
                  <c:v>44235</c:v>
                </c:pt>
                <c:pt idx="180">
                  <c:v>44236</c:v>
                </c:pt>
                <c:pt idx="181">
                  <c:v>44237</c:v>
                </c:pt>
                <c:pt idx="182">
                  <c:v>44238</c:v>
                </c:pt>
                <c:pt idx="183">
                  <c:v>44239</c:v>
                </c:pt>
                <c:pt idx="184">
                  <c:v>44244</c:v>
                </c:pt>
                <c:pt idx="185">
                  <c:v>44245</c:v>
                </c:pt>
                <c:pt idx="186">
                  <c:v>44246</c:v>
                </c:pt>
                <c:pt idx="187">
                  <c:v>44249</c:v>
                </c:pt>
                <c:pt idx="188">
                  <c:v>44250</c:v>
                </c:pt>
                <c:pt idx="189">
                  <c:v>44251</c:v>
                </c:pt>
                <c:pt idx="190">
                  <c:v>44252</c:v>
                </c:pt>
                <c:pt idx="191">
                  <c:v>44253</c:v>
                </c:pt>
                <c:pt idx="192">
                  <c:v>44256</c:v>
                </c:pt>
                <c:pt idx="193">
                  <c:v>44257</c:v>
                </c:pt>
                <c:pt idx="194">
                  <c:v>44258</c:v>
                </c:pt>
                <c:pt idx="195">
                  <c:v>44259</c:v>
                </c:pt>
                <c:pt idx="196">
                  <c:v>44260</c:v>
                </c:pt>
                <c:pt idx="197">
                  <c:v>44263</c:v>
                </c:pt>
                <c:pt idx="198">
                  <c:v>44264</c:v>
                </c:pt>
                <c:pt idx="199">
                  <c:v>44265</c:v>
                </c:pt>
                <c:pt idx="200">
                  <c:v>44266</c:v>
                </c:pt>
                <c:pt idx="201">
                  <c:v>44267</c:v>
                </c:pt>
                <c:pt idx="202">
                  <c:v>44270</c:v>
                </c:pt>
                <c:pt idx="203">
                  <c:v>44271</c:v>
                </c:pt>
                <c:pt idx="204">
                  <c:v>44272</c:v>
                </c:pt>
                <c:pt idx="205">
                  <c:v>44273</c:v>
                </c:pt>
                <c:pt idx="206">
                  <c:v>44274</c:v>
                </c:pt>
                <c:pt idx="207">
                  <c:v>44277</c:v>
                </c:pt>
                <c:pt idx="208">
                  <c:v>44278</c:v>
                </c:pt>
                <c:pt idx="209">
                  <c:v>44279</c:v>
                </c:pt>
                <c:pt idx="210">
                  <c:v>44280</c:v>
                </c:pt>
                <c:pt idx="211">
                  <c:v>44281</c:v>
                </c:pt>
                <c:pt idx="212">
                  <c:v>44284</c:v>
                </c:pt>
                <c:pt idx="213">
                  <c:v>44285</c:v>
                </c:pt>
                <c:pt idx="214">
                  <c:v>44286</c:v>
                </c:pt>
                <c:pt idx="215">
                  <c:v>44287</c:v>
                </c:pt>
                <c:pt idx="216">
                  <c:v>44291</c:v>
                </c:pt>
                <c:pt idx="217">
                  <c:v>44292</c:v>
                </c:pt>
                <c:pt idx="218">
                  <c:v>44293</c:v>
                </c:pt>
                <c:pt idx="219">
                  <c:v>44294</c:v>
                </c:pt>
                <c:pt idx="220">
                  <c:v>44295</c:v>
                </c:pt>
                <c:pt idx="221">
                  <c:v>44298</c:v>
                </c:pt>
                <c:pt idx="222">
                  <c:v>44299</c:v>
                </c:pt>
                <c:pt idx="223">
                  <c:v>44300</c:v>
                </c:pt>
                <c:pt idx="224">
                  <c:v>44301</c:v>
                </c:pt>
                <c:pt idx="225">
                  <c:v>44302</c:v>
                </c:pt>
                <c:pt idx="226">
                  <c:v>44305</c:v>
                </c:pt>
                <c:pt idx="227">
                  <c:v>44306</c:v>
                </c:pt>
                <c:pt idx="228">
                  <c:v>44308</c:v>
                </c:pt>
                <c:pt idx="229">
                  <c:v>44309</c:v>
                </c:pt>
                <c:pt idx="230">
                  <c:v>44312</c:v>
                </c:pt>
                <c:pt idx="231">
                  <c:v>44313</c:v>
                </c:pt>
                <c:pt idx="232">
                  <c:v>44314</c:v>
                </c:pt>
                <c:pt idx="233">
                  <c:v>44315</c:v>
                </c:pt>
                <c:pt idx="234">
                  <c:v>44316</c:v>
                </c:pt>
                <c:pt idx="235">
                  <c:v>44319</c:v>
                </c:pt>
                <c:pt idx="236">
                  <c:v>44320</c:v>
                </c:pt>
                <c:pt idx="237">
                  <c:v>44321</c:v>
                </c:pt>
                <c:pt idx="238">
                  <c:v>44322</c:v>
                </c:pt>
                <c:pt idx="239">
                  <c:v>44323</c:v>
                </c:pt>
                <c:pt idx="240">
                  <c:v>44326</c:v>
                </c:pt>
                <c:pt idx="241">
                  <c:v>44327</c:v>
                </c:pt>
                <c:pt idx="242">
                  <c:v>44328</c:v>
                </c:pt>
                <c:pt idx="243">
                  <c:v>44329</c:v>
                </c:pt>
                <c:pt idx="244">
                  <c:v>44330</c:v>
                </c:pt>
                <c:pt idx="245">
                  <c:v>44333</c:v>
                </c:pt>
                <c:pt idx="246">
                  <c:v>44334</c:v>
                </c:pt>
                <c:pt idx="247">
                  <c:v>44335</c:v>
                </c:pt>
                <c:pt idx="248">
                  <c:v>44336</c:v>
                </c:pt>
                <c:pt idx="249">
                  <c:v>44337</c:v>
                </c:pt>
                <c:pt idx="250">
                  <c:v>44340</c:v>
                </c:pt>
                <c:pt idx="251">
                  <c:v>44341</c:v>
                </c:pt>
                <c:pt idx="252">
                  <c:v>44342</c:v>
                </c:pt>
                <c:pt idx="253">
                  <c:v>44343</c:v>
                </c:pt>
                <c:pt idx="254">
                  <c:v>44344</c:v>
                </c:pt>
                <c:pt idx="255">
                  <c:v>44347</c:v>
                </c:pt>
                <c:pt idx="256">
                  <c:v>44348</c:v>
                </c:pt>
                <c:pt idx="257">
                  <c:v>44349</c:v>
                </c:pt>
                <c:pt idx="258">
                  <c:v>44351</c:v>
                </c:pt>
                <c:pt idx="259">
                  <c:v>44354</c:v>
                </c:pt>
                <c:pt idx="260">
                  <c:v>44355</c:v>
                </c:pt>
                <c:pt idx="261">
                  <c:v>44356</c:v>
                </c:pt>
                <c:pt idx="262">
                  <c:v>44357</c:v>
                </c:pt>
                <c:pt idx="263">
                  <c:v>44358</c:v>
                </c:pt>
                <c:pt idx="264">
                  <c:v>44361</c:v>
                </c:pt>
                <c:pt idx="265">
                  <c:v>44362</c:v>
                </c:pt>
                <c:pt idx="266">
                  <c:v>44363</c:v>
                </c:pt>
                <c:pt idx="267">
                  <c:v>44364</c:v>
                </c:pt>
                <c:pt idx="268">
                  <c:v>44365</c:v>
                </c:pt>
                <c:pt idx="269">
                  <c:v>44368</c:v>
                </c:pt>
                <c:pt idx="270">
                  <c:v>44369</c:v>
                </c:pt>
                <c:pt idx="271">
                  <c:v>44370</c:v>
                </c:pt>
                <c:pt idx="272">
                  <c:v>44371</c:v>
                </c:pt>
                <c:pt idx="273">
                  <c:v>44372</c:v>
                </c:pt>
                <c:pt idx="274">
                  <c:v>44375</c:v>
                </c:pt>
                <c:pt idx="275">
                  <c:v>44376</c:v>
                </c:pt>
                <c:pt idx="276">
                  <c:v>44377</c:v>
                </c:pt>
                <c:pt idx="277">
                  <c:v>44378</c:v>
                </c:pt>
                <c:pt idx="278">
                  <c:v>44379</c:v>
                </c:pt>
                <c:pt idx="279">
                  <c:v>44382</c:v>
                </c:pt>
                <c:pt idx="280">
                  <c:v>44383</c:v>
                </c:pt>
                <c:pt idx="281">
                  <c:v>44384</c:v>
                </c:pt>
                <c:pt idx="282">
                  <c:v>44385</c:v>
                </c:pt>
                <c:pt idx="283">
                  <c:v>44389</c:v>
                </c:pt>
                <c:pt idx="284">
                  <c:v>44390</c:v>
                </c:pt>
                <c:pt idx="285">
                  <c:v>44391</c:v>
                </c:pt>
                <c:pt idx="286">
                  <c:v>44392</c:v>
                </c:pt>
                <c:pt idx="287">
                  <c:v>44393</c:v>
                </c:pt>
                <c:pt idx="288">
                  <c:v>44396</c:v>
                </c:pt>
                <c:pt idx="289">
                  <c:v>44397</c:v>
                </c:pt>
                <c:pt idx="290">
                  <c:v>44398</c:v>
                </c:pt>
                <c:pt idx="291">
                  <c:v>44399</c:v>
                </c:pt>
                <c:pt idx="292">
                  <c:v>44400</c:v>
                </c:pt>
                <c:pt idx="293">
                  <c:v>44403</c:v>
                </c:pt>
                <c:pt idx="294">
                  <c:v>44404</c:v>
                </c:pt>
                <c:pt idx="295">
                  <c:v>44405</c:v>
                </c:pt>
                <c:pt idx="296">
                  <c:v>44406</c:v>
                </c:pt>
                <c:pt idx="297">
                  <c:v>44407</c:v>
                </c:pt>
                <c:pt idx="298">
                  <c:v>44410</c:v>
                </c:pt>
                <c:pt idx="299">
                  <c:v>44411</c:v>
                </c:pt>
                <c:pt idx="300">
                  <c:v>44412</c:v>
                </c:pt>
                <c:pt idx="301">
                  <c:v>44413</c:v>
                </c:pt>
                <c:pt idx="302">
                  <c:v>44414</c:v>
                </c:pt>
                <c:pt idx="303">
                  <c:v>44417</c:v>
                </c:pt>
                <c:pt idx="304">
                  <c:v>44418</c:v>
                </c:pt>
                <c:pt idx="305">
                  <c:v>44419</c:v>
                </c:pt>
                <c:pt idx="306">
                  <c:v>44420</c:v>
                </c:pt>
                <c:pt idx="307">
                  <c:v>44421</c:v>
                </c:pt>
                <c:pt idx="308">
                  <c:v>44424</c:v>
                </c:pt>
                <c:pt idx="309">
                  <c:v>44425</c:v>
                </c:pt>
                <c:pt idx="310">
                  <c:v>44426</c:v>
                </c:pt>
                <c:pt idx="311">
                  <c:v>44427</c:v>
                </c:pt>
                <c:pt idx="312">
                  <c:v>44428</c:v>
                </c:pt>
                <c:pt idx="313">
                  <c:v>44431</c:v>
                </c:pt>
                <c:pt idx="314">
                  <c:v>44432</c:v>
                </c:pt>
                <c:pt idx="315">
                  <c:v>44433</c:v>
                </c:pt>
                <c:pt idx="316">
                  <c:v>44434</c:v>
                </c:pt>
                <c:pt idx="317">
                  <c:v>44435</c:v>
                </c:pt>
                <c:pt idx="318">
                  <c:v>44438</c:v>
                </c:pt>
                <c:pt idx="319">
                  <c:v>44439</c:v>
                </c:pt>
                <c:pt idx="320">
                  <c:v>44440</c:v>
                </c:pt>
                <c:pt idx="321">
                  <c:v>44441</c:v>
                </c:pt>
                <c:pt idx="322">
                  <c:v>44442</c:v>
                </c:pt>
                <c:pt idx="323">
                  <c:v>44445</c:v>
                </c:pt>
                <c:pt idx="324">
                  <c:v>44447</c:v>
                </c:pt>
                <c:pt idx="325">
                  <c:v>44448</c:v>
                </c:pt>
                <c:pt idx="326">
                  <c:v>44449</c:v>
                </c:pt>
                <c:pt idx="327">
                  <c:v>44452</c:v>
                </c:pt>
                <c:pt idx="328">
                  <c:v>44453</c:v>
                </c:pt>
                <c:pt idx="329">
                  <c:v>44454</c:v>
                </c:pt>
                <c:pt idx="330">
                  <c:v>44455</c:v>
                </c:pt>
                <c:pt idx="331">
                  <c:v>44456</c:v>
                </c:pt>
                <c:pt idx="332">
                  <c:v>44459</c:v>
                </c:pt>
                <c:pt idx="333">
                  <c:v>44460</c:v>
                </c:pt>
                <c:pt idx="334">
                  <c:v>44461</c:v>
                </c:pt>
                <c:pt idx="335">
                  <c:v>44462</c:v>
                </c:pt>
                <c:pt idx="336">
                  <c:v>44463</c:v>
                </c:pt>
                <c:pt idx="337">
                  <c:v>44466</c:v>
                </c:pt>
                <c:pt idx="338">
                  <c:v>44467</c:v>
                </c:pt>
                <c:pt idx="339">
                  <c:v>44468</c:v>
                </c:pt>
                <c:pt idx="340">
                  <c:v>44469</c:v>
                </c:pt>
                <c:pt idx="341">
                  <c:v>44470</c:v>
                </c:pt>
                <c:pt idx="342">
                  <c:v>44473</c:v>
                </c:pt>
                <c:pt idx="343">
                  <c:v>44474</c:v>
                </c:pt>
                <c:pt idx="344">
                  <c:v>44475</c:v>
                </c:pt>
                <c:pt idx="345">
                  <c:v>44476</c:v>
                </c:pt>
                <c:pt idx="346">
                  <c:v>44477</c:v>
                </c:pt>
                <c:pt idx="347">
                  <c:v>44480</c:v>
                </c:pt>
                <c:pt idx="348">
                  <c:v>44482</c:v>
                </c:pt>
                <c:pt idx="349">
                  <c:v>44483</c:v>
                </c:pt>
                <c:pt idx="350">
                  <c:v>44484</c:v>
                </c:pt>
                <c:pt idx="351">
                  <c:v>44487</c:v>
                </c:pt>
                <c:pt idx="352">
                  <c:v>44488</c:v>
                </c:pt>
                <c:pt idx="353">
                  <c:v>44489</c:v>
                </c:pt>
                <c:pt idx="354">
                  <c:v>44490</c:v>
                </c:pt>
                <c:pt idx="355">
                  <c:v>44491</c:v>
                </c:pt>
                <c:pt idx="356">
                  <c:v>44494</c:v>
                </c:pt>
                <c:pt idx="357">
                  <c:v>44495</c:v>
                </c:pt>
                <c:pt idx="358">
                  <c:v>44496</c:v>
                </c:pt>
                <c:pt idx="359">
                  <c:v>44497</c:v>
                </c:pt>
                <c:pt idx="360">
                  <c:v>44498</c:v>
                </c:pt>
                <c:pt idx="361">
                  <c:v>44501</c:v>
                </c:pt>
                <c:pt idx="362">
                  <c:v>44503</c:v>
                </c:pt>
                <c:pt idx="363">
                  <c:v>44504</c:v>
                </c:pt>
                <c:pt idx="364">
                  <c:v>44505</c:v>
                </c:pt>
                <c:pt idx="365">
                  <c:v>44508</c:v>
                </c:pt>
                <c:pt idx="366">
                  <c:v>44509</c:v>
                </c:pt>
                <c:pt idx="367">
                  <c:v>44510</c:v>
                </c:pt>
                <c:pt idx="368">
                  <c:v>44511</c:v>
                </c:pt>
                <c:pt idx="369">
                  <c:v>44512</c:v>
                </c:pt>
                <c:pt idx="370">
                  <c:v>44516</c:v>
                </c:pt>
                <c:pt idx="371">
                  <c:v>44517</c:v>
                </c:pt>
                <c:pt idx="372">
                  <c:v>44518</c:v>
                </c:pt>
                <c:pt idx="373">
                  <c:v>44519</c:v>
                </c:pt>
                <c:pt idx="374">
                  <c:v>44522</c:v>
                </c:pt>
                <c:pt idx="375">
                  <c:v>44523</c:v>
                </c:pt>
                <c:pt idx="376">
                  <c:v>44524</c:v>
                </c:pt>
                <c:pt idx="377">
                  <c:v>44525</c:v>
                </c:pt>
                <c:pt idx="378">
                  <c:v>44526</c:v>
                </c:pt>
                <c:pt idx="379">
                  <c:v>44529</c:v>
                </c:pt>
                <c:pt idx="380">
                  <c:v>44530</c:v>
                </c:pt>
                <c:pt idx="381">
                  <c:v>44531</c:v>
                </c:pt>
                <c:pt idx="382">
                  <c:v>44532</c:v>
                </c:pt>
                <c:pt idx="383">
                  <c:v>44533</c:v>
                </c:pt>
                <c:pt idx="384">
                  <c:v>44536</c:v>
                </c:pt>
                <c:pt idx="385">
                  <c:v>44537</c:v>
                </c:pt>
                <c:pt idx="386">
                  <c:v>44538</c:v>
                </c:pt>
                <c:pt idx="387">
                  <c:v>44539</c:v>
                </c:pt>
                <c:pt idx="388">
                  <c:v>44540</c:v>
                </c:pt>
                <c:pt idx="389">
                  <c:v>44543</c:v>
                </c:pt>
                <c:pt idx="390">
                  <c:v>44544</c:v>
                </c:pt>
                <c:pt idx="391">
                  <c:v>44545</c:v>
                </c:pt>
                <c:pt idx="392">
                  <c:v>44546</c:v>
                </c:pt>
                <c:pt idx="393">
                  <c:v>44547</c:v>
                </c:pt>
                <c:pt idx="394">
                  <c:v>44550</c:v>
                </c:pt>
                <c:pt idx="395">
                  <c:v>44551</c:v>
                </c:pt>
                <c:pt idx="396">
                  <c:v>44552</c:v>
                </c:pt>
                <c:pt idx="397">
                  <c:v>44553</c:v>
                </c:pt>
                <c:pt idx="398">
                  <c:v>44557</c:v>
                </c:pt>
                <c:pt idx="399">
                  <c:v>44558</c:v>
                </c:pt>
                <c:pt idx="400">
                  <c:v>44559</c:v>
                </c:pt>
                <c:pt idx="401">
                  <c:v>44560</c:v>
                </c:pt>
                <c:pt idx="402">
                  <c:v>44564</c:v>
                </c:pt>
                <c:pt idx="403">
                  <c:v>44565</c:v>
                </c:pt>
                <c:pt idx="404">
                  <c:v>44566</c:v>
                </c:pt>
                <c:pt idx="405">
                  <c:v>44567</c:v>
                </c:pt>
                <c:pt idx="406">
                  <c:v>44568</c:v>
                </c:pt>
                <c:pt idx="407">
                  <c:v>44571</c:v>
                </c:pt>
                <c:pt idx="408">
                  <c:v>44572</c:v>
                </c:pt>
                <c:pt idx="409">
                  <c:v>44573</c:v>
                </c:pt>
                <c:pt idx="410">
                  <c:v>44574</c:v>
                </c:pt>
                <c:pt idx="411">
                  <c:v>44575</c:v>
                </c:pt>
                <c:pt idx="412">
                  <c:v>44578</c:v>
                </c:pt>
                <c:pt idx="413">
                  <c:v>44579</c:v>
                </c:pt>
                <c:pt idx="414">
                  <c:v>44580</c:v>
                </c:pt>
                <c:pt idx="415">
                  <c:v>44581</c:v>
                </c:pt>
                <c:pt idx="416">
                  <c:v>44582</c:v>
                </c:pt>
                <c:pt idx="417">
                  <c:v>44585</c:v>
                </c:pt>
                <c:pt idx="418">
                  <c:v>44586</c:v>
                </c:pt>
                <c:pt idx="419">
                  <c:v>44587</c:v>
                </c:pt>
                <c:pt idx="420">
                  <c:v>44588</c:v>
                </c:pt>
                <c:pt idx="421">
                  <c:v>44589</c:v>
                </c:pt>
                <c:pt idx="422">
                  <c:v>44592</c:v>
                </c:pt>
                <c:pt idx="423">
                  <c:v>44593</c:v>
                </c:pt>
                <c:pt idx="424">
                  <c:v>44594</c:v>
                </c:pt>
                <c:pt idx="425">
                  <c:v>44595</c:v>
                </c:pt>
                <c:pt idx="426">
                  <c:v>44596</c:v>
                </c:pt>
                <c:pt idx="427">
                  <c:v>44599</c:v>
                </c:pt>
                <c:pt idx="428">
                  <c:v>44600</c:v>
                </c:pt>
                <c:pt idx="429">
                  <c:v>44601</c:v>
                </c:pt>
                <c:pt idx="430">
                  <c:v>44602</c:v>
                </c:pt>
                <c:pt idx="431">
                  <c:v>44603</c:v>
                </c:pt>
                <c:pt idx="432">
                  <c:v>44606</c:v>
                </c:pt>
                <c:pt idx="433">
                  <c:v>44607</c:v>
                </c:pt>
                <c:pt idx="434">
                  <c:v>44608</c:v>
                </c:pt>
                <c:pt idx="435">
                  <c:v>44609</c:v>
                </c:pt>
                <c:pt idx="436">
                  <c:v>44610</c:v>
                </c:pt>
                <c:pt idx="437">
                  <c:v>44613</c:v>
                </c:pt>
                <c:pt idx="438">
                  <c:v>44614</c:v>
                </c:pt>
                <c:pt idx="439">
                  <c:v>44615</c:v>
                </c:pt>
                <c:pt idx="440">
                  <c:v>44616</c:v>
                </c:pt>
                <c:pt idx="441">
                  <c:v>44617</c:v>
                </c:pt>
                <c:pt idx="442">
                  <c:v>44622</c:v>
                </c:pt>
                <c:pt idx="443">
                  <c:v>44623</c:v>
                </c:pt>
                <c:pt idx="444">
                  <c:v>44624</c:v>
                </c:pt>
                <c:pt idx="445">
                  <c:v>44627</c:v>
                </c:pt>
                <c:pt idx="446">
                  <c:v>44628</c:v>
                </c:pt>
                <c:pt idx="447">
                  <c:v>44629</c:v>
                </c:pt>
                <c:pt idx="448">
                  <c:v>44630</c:v>
                </c:pt>
                <c:pt idx="449">
                  <c:v>44631</c:v>
                </c:pt>
                <c:pt idx="450">
                  <c:v>44634</c:v>
                </c:pt>
                <c:pt idx="451">
                  <c:v>44635</c:v>
                </c:pt>
                <c:pt idx="452">
                  <c:v>44636</c:v>
                </c:pt>
                <c:pt idx="453">
                  <c:v>44637</c:v>
                </c:pt>
                <c:pt idx="454">
                  <c:v>44638</c:v>
                </c:pt>
                <c:pt idx="455">
                  <c:v>44641</c:v>
                </c:pt>
                <c:pt idx="456">
                  <c:v>44642</c:v>
                </c:pt>
                <c:pt idx="457">
                  <c:v>44643</c:v>
                </c:pt>
                <c:pt idx="458">
                  <c:v>44644</c:v>
                </c:pt>
                <c:pt idx="459">
                  <c:v>44645</c:v>
                </c:pt>
                <c:pt idx="460">
                  <c:v>44648</c:v>
                </c:pt>
                <c:pt idx="461">
                  <c:v>44649</c:v>
                </c:pt>
                <c:pt idx="462">
                  <c:v>44650</c:v>
                </c:pt>
                <c:pt idx="463">
                  <c:v>44651</c:v>
                </c:pt>
                <c:pt idx="464">
                  <c:v>44652</c:v>
                </c:pt>
                <c:pt idx="465">
                  <c:v>44655</c:v>
                </c:pt>
                <c:pt idx="466">
                  <c:v>44656</c:v>
                </c:pt>
                <c:pt idx="467">
                  <c:v>44657</c:v>
                </c:pt>
                <c:pt idx="468">
                  <c:v>44658</c:v>
                </c:pt>
                <c:pt idx="469">
                  <c:v>44659</c:v>
                </c:pt>
                <c:pt idx="470">
                  <c:v>44662</c:v>
                </c:pt>
                <c:pt idx="471">
                  <c:v>44663</c:v>
                </c:pt>
                <c:pt idx="472">
                  <c:v>44664</c:v>
                </c:pt>
                <c:pt idx="473">
                  <c:v>44665</c:v>
                </c:pt>
                <c:pt idx="474">
                  <c:v>44669</c:v>
                </c:pt>
                <c:pt idx="475">
                  <c:v>44670</c:v>
                </c:pt>
                <c:pt idx="476">
                  <c:v>44671</c:v>
                </c:pt>
                <c:pt idx="477">
                  <c:v>44673</c:v>
                </c:pt>
                <c:pt idx="478">
                  <c:v>44676</c:v>
                </c:pt>
                <c:pt idx="479">
                  <c:v>44677</c:v>
                </c:pt>
                <c:pt idx="480">
                  <c:v>44678</c:v>
                </c:pt>
                <c:pt idx="481">
                  <c:v>44679</c:v>
                </c:pt>
                <c:pt idx="482">
                  <c:v>44680</c:v>
                </c:pt>
                <c:pt idx="483">
                  <c:v>44683</c:v>
                </c:pt>
                <c:pt idx="484">
                  <c:v>44684</c:v>
                </c:pt>
                <c:pt idx="485">
                  <c:v>44685</c:v>
                </c:pt>
                <c:pt idx="486">
                  <c:v>44686</c:v>
                </c:pt>
                <c:pt idx="487">
                  <c:v>44687</c:v>
                </c:pt>
                <c:pt idx="488">
                  <c:v>44690</c:v>
                </c:pt>
                <c:pt idx="489">
                  <c:v>44691</c:v>
                </c:pt>
                <c:pt idx="490">
                  <c:v>44692</c:v>
                </c:pt>
                <c:pt idx="491">
                  <c:v>44693</c:v>
                </c:pt>
                <c:pt idx="492">
                  <c:v>44694</c:v>
                </c:pt>
                <c:pt idx="493">
                  <c:v>44697</c:v>
                </c:pt>
                <c:pt idx="494">
                  <c:v>44698</c:v>
                </c:pt>
                <c:pt idx="495">
                  <c:v>44699</c:v>
                </c:pt>
                <c:pt idx="496">
                  <c:v>44700</c:v>
                </c:pt>
                <c:pt idx="497">
                  <c:v>44701</c:v>
                </c:pt>
                <c:pt idx="498">
                  <c:v>44704</c:v>
                </c:pt>
                <c:pt idx="499">
                  <c:v>44705</c:v>
                </c:pt>
                <c:pt idx="500">
                  <c:v>44706</c:v>
                </c:pt>
                <c:pt idx="501">
                  <c:v>44707</c:v>
                </c:pt>
                <c:pt idx="502">
                  <c:v>44708</c:v>
                </c:pt>
                <c:pt idx="503">
                  <c:v>44711</c:v>
                </c:pt>
                <c:pt idx="504">
                  <c:v>44712</c:v>
                </c:pt>
                <c:pt idx="505">
                  <c:v>44713</c:v>
                </c:pt>
                <c:pt idx="506">
                  <c:v>44714</c:v>
                </c:pt>
                <c:pt idx="507">
                  <c:v>44715</c:v>
                </c:pt>
                <c:pt idx="508">
                  <c:v>44718</c:v>
                </c:pt>
                <c:pt idx="509">
                  <c:v>44719</c:v>
                </c:pt>
                <c:pt idx="510">
                  <c:v>44720</c:v>
                </c:pt>
                <c:pt idx="511">
                  <c:v>44721</c:v>
                </c:pt>
                <c:pt idx="512">
                  <c:v>44722</c:v>
                </c:pt>
                <c:pt idx="513">
                  <c:v>44725</c:v>
                </c:pt>
                <c:pt idx="514">
                  <c:v>44726</c:v>
                </c:pt>
                <c:pt idx="515">
                  <c:v>44727</c:v>
                </c:pt>
                <c:pt idx="516">
                  <c:v>44729</c:v>
                </c:pt>
                <c:pt idx="517">
                  <c:v>44732</c:v>
                </c:pt>
                <c:pt idx="518">
                  <c:v>44733</c:v>
                </c:pt>
                <c:pt idx="519">
                  <c:v>44734</c:v>
                </c:pt>
                <c:pt idx="520">
                  <c:v>44735</c:v>
                </c:pt>
                <c:pt idx="521">
                  <c:v>44736</c:v>
                </c:pt>
                <c:pt idx="522">
                  <c:v>44739</c:v>
                </c:pt>
                <c:pt idx="523">
                  <c:v>44740</c:v>
                </c:pt>
                <c:pt idx="524">
                  <c:v>44741</c:v>
                </c:pt>
                <c:pt idx="525">
                  <c:v>44742</c:v>
                </c:pt>
                <c:pt idx="526">
                  <c:v>44743</c:v>
                </c:pt>
                <c:pt idx="527">
                  <c:v>44746</c:v>
                </c:pt>
                <c:pt idx="528">
                  <c:v>44747</c:v>
                </c:pt>
                <c:pt idx="529">
                  <c:v>44748</c:v>
                </c:pt>
                <c:pt idx="530">
                  <c:v>44749</c:v>
                </c:pt>
                <c:pt idx="531">
                  <c:v>44750</c:v>
                </c:pt>
                <c:pt idx="532">
                  <c:v>44753</c:v>
                </c:pt>
                <c:pt idx="533">
                  <c:v>44754</c:v>
                </c:pt>
                <c:pt idx="534">
                  <c:v>44755</c:v>
                </c:pt>
                <c:pt idx="535">
                  <c:v>44756</c:v>
                </c:pt>
                <c:pt idx="536">
                  <c:v>44757</c:v>
                </c:pt>
                <c:pt idx="537">
                  <c:v>44760</c:v>
                </c:pt>
                <c:pt idx="538">
                  <c:v>44761</c:v>
                </c:pt>
                <c:pt idx="539">
                  <c:v>44762</c:v>
                </c:pt>
                <c:pt idx="540">
                  <c:v>44763</c:v>
                </c:pt>
                <c:pt idx="541">
                  <c:v>44764</c:v>
                </c:pt>
                <c:pt idx="542">
                  <c:v>44767</c:v>
                </c:pt>
                <c:pt idx="543">
                  <c:v>44768</c:v>
                </c:pt>
                <c:pt idx="544">
                  <c:v>44769</c:v>
                </c:pt>
                <c:pt idx="545">
                  <c:v>44770</c:v>
                </c:pt>
                <c:pt idx="546">
                  <c:v>44771</c:v>
                </c:pt>
                <c:pt idx="547">
                  <c:v>44774</c:v>
                </c:pt>
                <c:pt idx="548">
                  <c:v>44775</c:v>
                </c:pt>
                <c:pt idx="549">
                  <c:v>44776</c:v>
                </c:pt>
                <c:pt idx="550">
                  <c:v>44777</c:v>
                </c:pt>
                <c:pt idx="551">
                  <c:v>44778</c:v>
                </c:pt>
                <c:pt idx="552">
                  <c:v>44781</c:v>
                </c:pt>
                <c:pt idx="553">
                  <c:v>44782</c:v>
                </c:pt>
                <c:pt idx="554">
                  <c:v>44783</c:v>
                </c:pt>
                <c:pt idx="555">
                  <c:v>44784</c:v>
                </c:pt>
                <c:pt idx="556">
                  <c:v>44785</c:v>
                </c:pt>
                <c:pt idx="557">
                  <c:v>44788</c:v>
                </c:pt>
                <c:pt idx="558">
                  <c:v>44789</c:v>
                </c:pt>
                <c:pt idx="559">
                  <c:v>44790</c:v>
                </c:pt>
                <c:pt idx="560">
                  <c:v>44791</c:v>
                </c:pt>
                <c:pt idx="561">
                  <c:v>44792</c:v>
                </c:pt>
                <c:pt idx="562">
                  <c:v>44795</c:v>
                </c:pt>
                <c:pt idx="563">
                  <c:v>44796</c:v>
                </c:pt>
                <c:pt idx="564">
                  <c:v>44797</c:v>
                </c:pt>
                <c:pt idx="565">
                  <c:v>44798</c:v>
                </c:pt>
                <c:pt idx="566">
                  <c:v>44799</c:v>
                </c:pt>
                <c:pt idx="567">
                  <c:v>44802</c:v>
                </c:pt>
                <c:pt idx="568">
                  <c:v>44803</c:v>
                </c:pt>
                <c:pt idx="569">
                  <c:v>44804</c:v>
                </c:pt>
                <c:pt idx="570">
                  <c:v>44805</c:v>
                </c:pt>
                <c:pt idx="571">
                  <c:v>44806</c:v>
                </c:pt>
                <c:pt idx="572">
                  <c:v>44809</c:v>
                </c:pt>
                <c:pt idx="573">
                  <c:v>44810</c:v>
                </c:pt>
                <c:pt idx="574">
                  <c:v>44812</c:v>
                </c:pt>
                <c:pt idx="575">
                  <c:v>44813</c:v>
                </c:pt>
                <c:pt idx="576">
                  <c:v>44816</c:v>
                </c:pt>
                <c:pt idx="577">
                  <c:v>44817</c:v>
                </c:pt>
                <c:pt idx="578">
                  <c:v>44818</c:v>
                </c:pt>
                <c:pt idx="579">
                  <c:v>44819</c:v>
                </c:pt>
                <c:pt idx="580">
                  <c:v>44820</c:v>
                </c:pt>
                <c:pt idx="581">
                  <c:v>44823</c:v>
                </c:pt>
                <c:pt idx="582">
                  <c:v>44824</c:v>
                </c:pt>
                <c:pt idx="583">
                  <c:v>44825</c:v>
                </c:pt>
                <c:pt idx="584">
                  <c:v>44826</c:v>
                </c:pt>
                <c:pt idx="585">
                  <c:v>44827</c:v>
                </c:pt>
                <c:pt idx="586">
                  <c:v>44830</c:v>
                </c:pt>
                <c:pt idx="587">
                  <c:v>44831</c:v>
                </c:pt>
                <c:pt idx="588">
                  <c:v>44832</c:v>
                </c:pt>
                <c:pt idx="589">
                  <c:v>44837</c:v>
                </c:pt>
                <c:pt idx="590">
                  <c:v>44838</c:v>
                </c:pt>
                <c:pt idx="591">
                  <c:v>44839</c:v>
                </c:pt>
                <c:pt idx="592">
                  <c:v>44840</c:v>
                </c:pt>
                <c:pt idx="593">
                  <c:v>44841</c:v>
                </c:pt>
                <c:pt idx="594">
                  <c:v>44844</c:v>
                </c:pt>
                <c:pt idx="595">
                  <c:v>44845</c:v>
                </c:pt>
                <c:pt idx="596">
                  <c:v>44847</c:v>
                </c:pt>
                <c:pt idx="597">
                  <c:v>44848</c:v>
                </c:pt>
                <c:pt idx="598">
                  <c:v>44851</c:v>
                </c:pt>
                <c:pt idx="599">
                  <c:v>44852</c:v>
                </c:pt>
                <c:pt idx="600">
                  <c:v>44853</c:v>
                </c:pt>
                <c:pt idx="601">
                  <c:v>44854</c:v>
                </c:pt>
                <c:pt idx="602">
                  <c:v>44855</c:v>
                </c:pt>
                <c:pt idx="603">
                  <c:v>44858</c:v>
                </c:pt>
                <c:pt idx="604">
                  <c:v>44859</c:v>
                </c:pt>
                <c:pt idx="605">
                  <c:v>44860</c:v>
                </c:pt>
                <c:pt idx="606">
                  <c:v>44861</c:v>
                </c:pt>
                <c:pt idx="607">
                  <c:v>44862</c:v>
                </c:pt>
                <c:pt idx="608">
                  <c:v>44865</c:v>
                </c:pt>
                <c:pt idx="609">
                  <c:v>44866</c:v>
                </c:pt>
                <c:pt idx="610">
                  <c:v>44868</c:v>
                </c:pt>
                <c:pt idx="611">
                  <c:v>44869</c:v>
                </c:pt>
                <c:pt idx="612">
                  <c:v>44872</c:v>
                </c:pt>
                <c:pt idx="613">
                  <c:v>44873</c:v>
                </c:pt>
                <c:pt idx="614">
                  <c:v>44874</c:v>
                </c:pt>
                <c:pt idx="615">
                  <c:v>44875</c:v>
                </c:pt>
                <c:pt idx="616">
                  <c:v>44876</c:v>
                </c:pt>
                <c:pt idx="617">
                  <c:v>44879</c:v>
                </c:pt>
                <c:pt idx="618">
                  <c:v>44881</c:v>
                </c:pt>
                <c:pt idx="619">
                  <c:v>44882</c:v>
                </c:pt>
                <c:pt idx="620">
                  <c:v>44883</c:v>
                </c:pt>
                <c:pt idx="621">
                  <c:v>44886</c:v>
                </c:pt>
                <c:pt idx="622">
                  <c:v>44887</c:v>
                </c:pt>
                <c:pt idx="623">
                  <c:v>44888</c:v>
                </c:pt>
                <c:pt idx="624">
                  <c:v>44889</c:v>
                </c:pt>
                <c:pt idx="625">
                  <c:v>44890</c:v>
                </c:pt>
                <c:pt idx="626">
                  <c:v>44893</c:v>
                </c:pt>
                <c:pt idx="627">
                  <c:v>44894</c:v>
                </c:pt>
                <c:pt idx="628">
                  <c:v>44895</c:v>
                </c:pt>
                <c:pt idx="629">
                  <c:v>44896</c:v>
                </c:pt>
                <c:pt idx="630">
                  <c:v>44897</c:v>
                </c:pt>
                <c:pt idx="631">
                  <c:v>44900</c:v>
                </c:pt>
                <c:pt idx="632">
                  <c:v>44901</c:v>
                </c:pt>
                <c:pt idx="633">
                  <c:v>44902</c:v>
                </c:pt>
                <c:pt idx="634">
                  <c:v>44903</c:v>
                </c:pt>
                <c:pt idx="635">
                  <c:v>44904</c:v>
                </c:pt>
                <c:pt idx="636">
                  <c:v>44907</c:v>
                </c:pt>
                <c:pt idx="637">
                  <c:v>44908</c:v>
                </c:pt>
                <c:pt idx="638">
                  <c:v>44909</c:v>
                </c:pt>
                <c:pt idx="639">
                  <c:v>44910</c:v>
                </c:pt>
                <c:pt idx="640">
                  <c:v>44911</c:v>
                </c:pt>
                <c:pt idx="641">
                  <c:v>44914</c:v>
                </c:pt>
                <c:pt idx="642">
                  <c:v>44915</c:v>
                </c:pt>
                <c:pt idx="643">
                  <c:v>44916</c:v>
                </c:pt>
                <c:pt idx="644">
                  <c:v>44917</c:v>
                </c:pt>
                <c:pt idx="645">
                  <c:v>44918</c:v>
                </c:pt>
                <c:pt idx="646">
                  <c:v>44921</c:v>
                </c:pt>
                <c:pt idx="647">
                  <c:v>44922</c:v>
                </c:pt>
                <c:pt idx="648">
                  <c:v>44923</c:v>
                </c:pt>
                <c:pt idx="649">
                  <c:v>44924</c:v>
                </c:pt>
                <c:pt idx="650">
                  <c:v>44928</c:v>
                </c:pt>
                <c:pt idx="651">
                  <c:v>44929</c:v>
                </c:pt>
                <c:pt idx="652">
                  <c:v>44930</c:v>
                </c:pt>
                <c:pt idx="653">
                  <c:v>44931</c:v>
                </c:pt>
                <c:pt idx="654">
                  <c:v>44932</c:v>
                </c:pt>
                <c:pt idx="655">
                  <c:v>44935</c:v>
                </c:pt>
                <c:pt idx="656">
                  <c:v>44936</c:v>
                </c:pt>
                <c:pt idx="657">
                  <c:v>44937</c:v>
                </c:pt>
                <c:pt idx="658">
                  <c:v>44938</c:v>
                </c:pt>
                <c:pt idx="659">
                  <c:v>44939</c:v>
                </c:pt>
                <c:pt idx="660">
                  <c:v>44942</c:v>
                </c:pt>
                <c:pt idx="661">
                  <c:v>44943</c:v>
                </c:pt>
                <c:pt idx="662">
                  <c:v>44944</c:v>
                </c:pt>
                <c:pt idx="663">
                  <c:v>44945</c:v>
                </c:pt>
                <c:pt idx="664">
                  <c:v>44946</c:v>
                </c:pt>
                <c:pt idx="665">
                  <c:v>44949</c:v>
                </c:pt>
                <c:pt idx="666">
                  <c:v>44950</c:v>
                </c:pt>
                <c:pt idx="667">
                  <c:v>44951</c:v>
                </c:pt>
                <c:pt idx="668">
                  <c:v>44952</c:v>
                </c:pt>
                <c:pt idx="669">
                  <c:v>44953</c:v>
                </c:pt>
                <c:pt idx="670">
                  <c:v>44956</c:v>
                </c:pt>
                <c:pt idx="671">
                  <c:v>44957</c:v>
                </c:pt>
                <c:pt idx="672">
                  <c:v>44958</c:v>
                </c:pt>
                <c:pt idx="673">
                  <c:v>44959</c:v>
                </c:pt>
                <c:pt idx="674">
                  <c:v>44960</c:v>
                </c:pt>
                <c:pt idx="675">
                  <c:v>44963</c:v>
                </c:pt>
                <c:pt idx="676">
                  <c:v>44964</c:v>
                </c:pt>
                <c:pt idx="677">
                  <c:v>44965</c:v>
                </c:pt>
                <c:pt idx="678">
                  <c:v>44966</c:v>
                </c:pt>
                <c:pt idx="679">
                  <c:v>44967</c:v>
                </c:pt>
                <c:pt idx="680">
                  <c:v>44970</c:v>
                </c:pt>
                <c:pt idx="681">
                  <c:v>44971</c:v>
                </c:pt>
                <c:pt idx="682">
                  <c:v>44972</c:v>
                </c:pt>
                <c:pt idx="683">
                  <c:v>44973</c:v>
                </c:pt>
                <c:pt idx="684">
                  <c:v>44974</c:v>
                </c:pt>
                <c:pt idx="685">
                  <c:v>44979</c:v>
                </c:pt>
                <c:pt idx="686">
                  <c:v>44980</c:v>
                </c:pt>
                <c:pt idx="687">
                  <c:v>44981</c:v>
                </c:pt>
                <c:pt idx="688">
                  <c:v>44984</c:v>
                </c:pt>
                <c:pt idx="689">
                  <c:v>44985</c:v>
                </c:pt>
                <c:pt idx="690">
                  <c:v>44986</c:v>
                </c:pt>
                <c:pt idx="691">
                  <c:v>44987</c:v>
                </c:pt>
                <c:pt idx="692">
                  <c:v>44988</c:v>
                </c:pt>
                <c:pt idx="693">
                  <c:v>44991</c:v>
                </c:pt>
                <c:pt idx="694">
                  <c:v>44992</c:v>
                </c:pt>
                <c:pt idx="695">
                  <c:v>44993</c:v>
                </c:pt>
                <c:pt idx="696">
                  <c:v>44994</c:v>
                </c:pt>
                <c:pt idx="697">
                  <c:v>44995</c:v>
                </c:pt>
                <c:pt idx="698">
                  <c:v>44998</c:v>
                </c:pt>
                <c:pt idx="699">
                  <c:v>44999</c:v>
                </c:pt>
                <c:pt idx="700">
                  <c:v>45000</c:v>
                </c:pt>
                <c:pt idx="701">
                  <c:v>45001</c:v>
                </c:pt>
                <c:pt idx="702">
                  <c:v>45002</c:v>
                </c:pt>
                <c:pt idx="703">
                  <c:v>45005</c:v>
                </c:pt>
                <c:pt idx="704">
                  <c:v>45006</c:v>
                </c:pt>
                <c:pt idx="705">
                  <c:v>45007</c:v>
                </c:pt>
                <c:pt idx="706">
                  <c:v>45008</c:v>
                </c:pt>
                <c:pt idx="707">
                  <c:v>45009</c:v>
                </c:pt>
                <c:pt idx="708">
                  <c:v>45012</c:v>
                </c:pt>
                <c:pt idx="709">
                  <c:v>45013</c:v>
                </c:pt>
                <c:pt idx="710">
                  <c:v>45014</c:v>
                </c:pt>
                <c:pt idx="711">
                  <c:v>45015</c:v>
                </c:pt>
                <c:pt idx="712">
                  <c:v>45016</c:v>
                </c:pt>
                <c:pt idx="713">
                  <c:v>45019</c:v>
                </c:pt>
                <c:pt idx="714">
                  <c:v>45020</c:v>
                </c:pt>
                <c:pt idx="715">
                  <c:v>45021</c:v>
                </c:pt>
                <c:pt idx="716">
                  <c:v>45022</c:v>
                </c:pt>
                <c:pt idx="717">
                  <c:v>45026</c:v>
                </c:pt>
                <c:pt idx="718">
                  <c:v>45027</c:v>
                </c:pt>
                <c:pt idx="719">
                  <c:v>45028</c:v>
                </c:pt>
                <c:pt idx="720">
                  <c:v>45029</c:v>
                </c:pt>
                <c:pt idx="721">
                  <c:v>45030</c:v>
                </c:pt>
                <c:pt idx="722">
                  <c:v>45033</c:v>
                </c:pt>
                <c:pt idx="723">
                  <c:v>45034</c:v>
                </c:pt>
                <c:pt idx="724">
                  <c:v>45035</c:v>
                </c:pt>
                <c:pt idx="725">
                  <c:v>45036</c:v>
                </c:pt>
                <c:pt idx="726">
                  <c:v>45040</c:v>
                </c:pt>
                <c:pt idx="727">
                  <c:v>45041</c:v>
                </c:pt>
                <c:pt idx="728">
                  <c:v>45042</c:v>
                </c:pt>
                <c:pt idx="729">
                  <c:v>45043</c:v>
                </c:pt>
                <c:pt idx="730">
                  <c:v>45044</c:v>
                </c:pt>
                <c:pt idx="731">
                  <c:v>45048</c:v>
                </c:pt>
                <c:pt idx="732">
                  <c:v>45049</c:v>
                </c:pt>
                <c:pt idx="733">
                  <c:v>45050</c:v>
                </c:pt>
                <c:pt idx="734">
                  <c:v>45051</c:v>
                </c:pt>
                <c:pt idx="735">
                  <c:v>45054</c:v>
                </c:pt>
                <c:pt idx="736">
                  <c:v>45055</c:v>
                </c:pt>
                <c:pt idx="737">
                  <c:v>45056</c:v>
                </c:pt>
                <c:pt idx="738">
                  <c:v>45057</c:v>
                </c:pt>
                <c:pt idx="739">
                  <c:v>45058</c:v>
                </c:pt>
                <c:pt idx="740">
                  <c:v>45061</c:v>
                </c:pt>
                <c:pt idx="741">
                  <c:v>45062</c:v>
                </c:pt>
                <c:pt idx="742">
                  <c:v>45063</c:v>
                </c:pt>
                <c:pt idx="743">
                  <c:v>45064</c:v>
                </c:pt>
                <c:pt idx="744">
                  <c:v>45065</c:v>
                </c:pt>
                <c:pt idx="745">
                  <c:v>45068</c:v>
                </c:pt>
                <c:pt idx="746">
                  <c:v>45069</c:v>
                </c:pt>
                <c:pt idx="747">
                  <c:v>45070</c:v>
                </c:pt>
                <c:pt idx="748">
                  <c:v>45071</c:v>
                </c:pt>
                <c:pt idx="749">
                  <c:v>45072</c:v>
                </c:pt>
                <c:pt idx="750">
                  <c:v>45075</c:v>
                </c:pt>
                <c:pt idx="751">
                  <c:v>45076</c:v>
                </c:pt>
                <c:pt idx="752">
                  <c:v>45077</c:v>
                </c:pt>
                <c:pt idx="753">
                  <c:v>45078</c:v>
                </c:pt>
                <c:pt idx="754">
                  <c:v>45079</c:v>
                </c:pt>
                <c:pt idx="755">
                  <c:v>45082</c:v>
                </c:pt>
                <c:pt idx="756">
                  <c:v>45083</c:v>
                </c:pt>
                <c:pt idx="757">
                  <c:v>45084</c:v>
                </c:pt>
                <c:pt idx="758">
                  <c:v>45086</c:v>
                </c:pt>
                <c:pt idx="759">
                  <c:v>45089</c:v>
                </c:pt>
                <c:pt idx="760">
                  <c:v>45090</c:v>
                </c:pt>
                <c:pt idx="761">
                  <c:v>45091</c:v>
                </c:pt>
                <c:pt idx="762">
                  <c:v>45092</c:v>
                </c:pt>
                <c:pt idx="763">
                  <c:v>45093</c:v>
                </c:pt>
                <c:pt idx="764">
                  <c:v>45096</c:v>
                </c:pt>
                <c:pt idx="765">
                  <c:v>45097</c:v>
                </c:pt>
                <c:pt idx="766">
                  <c:v>45098</c:v>
                </c:pt>
                <c:pt idx="767">
                  <c:v>45099</c:v>
                </c:pt>
                <c:pt idx="768">
                  <c:v>45100</c:v>
                </c:pt>
                <c:pt idx="769">
                  <c:v>45103</c:v>
                </c:pt>
                <c:pt idx="770">
                  <c:v>45104</c:v>
                </c:pt>
                <c:pt idx="771">
                  <c:v>45105</c:v>
                </c:pt>
                <c:pt idx="772">
                  <c:v>45106</c:v>
                </c:pt>
                <c:pt idx="773">
                  <c:v>45107</c:v>
                </c:pt>
                <c:pt idx="774">
                  <c:v>45110</c:v>
                </c:pt>
                <c:pt idx="775">
                  <c:v>45111</c:v>
                </c:pt>
                <c:pt idx="776">
                  <c:v>45112</c:v>
                </c:pt>
                <c:pt idx="777">
                  <c:v>45113</c:v>
                </c:pt>
                <c:pt idx="778">
                  <c:v>45114</c:v>
                </c:pt>
                <c:pt idx="779">
                  <c:v>45117</c:v>
                </c:pt>
                <c:pt idx="780">
                  <c:v>45118</c:v>
                </c:pt>
                <c:pt idx="781">
                  <c:v>45119</c:v>
                </c:pt>
                <c:pt idx="782">
                  <c:v>45120</c:v>
                </c:pt>
                <c:pt idx="783">
                  <c:v>45121</c:v>
                </c:pt>
                <c:pt idx="784">
                  <c:v>45124</c:v>
                </c:pt>
                <c:pt idx="785">
                  <c:v>45125</c:v>
                </c:pt>
                <c:pt idx="786">
                  <c:v>45126</c:v>
                </c:pt>
                <c:pt idx="787">
                  <c:v>45127</c:v>
                </c:pt>
                <c:pt idx="788">
                  <c:v>45128</c:v>
                </c:pt>
                <c:pt idx="789">
                  <c:v>45131</c:v>
                </c:pt>
                <c:pt idx="790">
                  <c:v>45132</c:v>
                </c:pt>
                <c:pt idx="791">
                  <c:v>45133</c:v>
                </c:pt>
                <c:pt idx="792">
                  <c:v>45134</c:v>
                </c:pt>
                <c:pt idx="793">
                  <c:v>45135</c:v>
                </c:pt>
                <c:pt idx="794">
                  <c:v>45138</c:v>
                </c:pt>
                <c:pt idx="795">
                  <c:v>45139</c:v>
                </c:pt>
                <c:pt idx="796">
                  <c:v>45140</c:v>
                </c:pt>
                <c:pt idx="797">
                  <c:v>45141</c:v>
                </c:pt>
                <c:pt idx="798">
                  <c:v>45142</c:v>
                </c:pt>
                <c:pt idx="799">
                  <c:v>45145</c:v>
                </c:pt>
                <c:pt idx="800">
                  <c:v>45146</c:v>
                </c:pt>
                <c:pt idx="801">
                  <c:v>45147</c:v>
                </c:pt>
                <c:pt idx="802">
                  <c:v>45148</c:v>
                </c:pt>
                <c:pt idx="803">
                  <c:v>45149</c:v>
                </c:pt>
                <c:pt idx="804">
                  <c:v>45152</c:v>
                </c:pt>
                <c:pt idx="805">
                  <c:v>45153</c:v>
                </c:pt>
                <c:pt idx="806">
                  <c:v>45154</c:v>
                </c:pt>
                <c:pt idx="807">
                  <c:v>45155</c:v>
                </c:pt>
                <c:pt idx="808">
                  <c:v>45156</c:v>
                </c:pt>
                <c:pt idx="809">
                  <c:v>45159</c:v>
                </c:pt>
                <c:pt idx="810">
                  <c:v>45160</c:v>
                </c:pt>
                <c:pt idx="811">
                  <c:v>45161</c:v>
                </c:pt>
                <c:pt idx="812">
                  <c:v>45162</c:v>
                </c:pt>
                <c:pt idx="813">
                  <c:v>45163</c:v>
                </c:pt>
                <c:pt idx="814">
                  <c:v>45166</c:v>
                </c:pt>
                <c:pt idx="815">
                  <c:v>45167</c:v>
                </c:pt>
                <c:pt idx="816">
                  <c:v>45168</c:v>
                </c:pt>
                <c:pt idx="817">
                  <c:v>45169</c:v>
                </c:pt>
                <c:pt idx="818">
                  <c:v>45170</c:v>
                </c:pt>
                <c:pt idx="819">
                  <c:v>45173</c:v>
                </c:pt>
                <c:pt idx="820">
                  <c:v>45174</c:v>
                </c:pt>
                <c:pt idx="821">
                  <c:v>45175</c:v>
                </c:pt>
                <c:pt idx="822">
                  <c:v>45177</c:v>
                </c:pt>
                <c:pt idx="823">
                  <c:v>45180</c:v>
                </c:pt>
                <c:pt idx="824">
                  <c:v>45181</c:v>
                </c:pt>
                <c:pt idx="825">
                  <c:v>45182</c:v>
                </c:pt>
                <c:pt idx="826">
                  <c:v>45183</c:v>
                </c:pt>
                <c:pt idx="827">
                  <c:v>45184</c:v>
                </c:pt>
                <c:pt idx="828">
                  <c:v>45187</c:v>
                </c:pt>
                <c:pt idx="829">
                  <c:v>45188</c:v>
                </c:pt>
                <c:pt idx="830">
                  <c:v>45189</c:v>
                </c:pt>
                <c:pt idx="831">
                  <c:v>45190</c:v>
                </c:pt>
                <c:pt idx="832">
                  <c:v>45191</c:v>
                </c:pt>
                <c:pt idx="833">
                  <c:v>45194</c:v>
                </c:pt>
                <c:pt idx="834">
                  <c:v>45195</c:v>
                </c:pt>
                <c:pt idx="835">
                  <c:v>45196</c:v>
                </c:pt>
                <c:pt idx="836">
                  <c:v>45197</c:v>
                </c:pt>
                <c:pt idx="837">
                  <c:v>45198</c:v>
                </c:pt>
                <c:pt idx="838">
                  <c:v>45201</c:v>
                </c:pt>
                <c:pt idx="839">
                  <c:v>45202</c:v>
                </c:pt>
                <c:pt idx="840">
                  <c:v>45203</c:v>
                </c:pt>
                <c:pt idx="841">
                  <c:v>45204</c:v>
                </c:pt>
                <c:pt idx="842">
                  <c:v>45205</c:v>
                </c:pt>
                <c:pt idx="843">
                  <c:v>45208</c:v>
                </c:pt>
                <c:pt idx="844">
                  <c:v>45209</c:v>
                </c:pt>
                <c:pt idx="845">
                  <c:v>45210</c:v>
                </c:pt>
                <c:pt idx="846">
                  <c:v>45212</c:v>
                </c:pt>
                <c:pt idx="847">
                  <c:v>45215</c:v>
                </c:pt>
                <c:pt idx="848">
                  <c:v>45216</c:v>
                </c:pt>
                <c:pt idx="849">
                  <c:v>45217</c:v>
                </c:pt>
                <c:pt idx="850">
                  <c:v>45218</c:v>
                </c:pt>
                <c:pt idx="851">
                  <c:v>45219</c:v>
                </c:pt>
                <c:pt idx="852">
                  <c:v>45222</c:v>
                </c:pt>
                <c:pt idx="853">
                  <c:v>45223</c:v>
                </c:pt>
                <c:pt idx="854">
                  <c:v>45224</c:v>
                </c:pt>
                <c:pt idx="855">
                  <c:v>45225</c:v>
                </c:pt>
                <c:pt idx="856">
                  <c:v>45226</c:v>
                </c:pt>
                <c:pt idx="857">
                  <c:v>45229</c:v>
                </c:pt>
                <c:pt idx="858">
                  <c:v>45230</c:v>
                </c:pt>
                <c:pt idx="859">
                  <c:v>45231</c:v>
                </c:pt>
                <c:pt idx="860">
                  <c:v>45233</c:v>
                </c:pt>
                <c:pt idx="861">
                  <c:v>45236</c:v>
                </c:pt>
                <c:pt idx="862">
                  <c:v>45237</c:v>
                </c:pt>
                <c:pt idx="863">
                  <c:v>45238</c:v>
                </c:pt>
                <c:pt idx="864">
                  <c:v>45239</c:v>
                </c:pt>
                <c:pt idx="865">
                  <c:v>45240</c:v>
                </c:pt>
                <c:pt idx="866">
                  <c:v>45243</c:v>
                </c:pt>
                <c:pt idx="867">
                  <c:v>45244</c:v>
                </c:pt>
                <c:pt idx="868">
                  <c:v>45246</c:v>
                </c:pt>
                <c:pt idx="869">
                  <c:v>45247</c:v>
                </c:pt>
                <c:pt idx="870">
                  <c:v>45250</c:v>
                </c:pt>
                <c:pt idx="871">
                  <c:v>45251</c:v>
                </c:pt>
                <c:pt idx="872">
                  <c:v>45252</c:v>
                </c:pt>
                <c:pt idx="873">
                  <c:v>45253</c:v>
                </c:pt>
                <c:pt idx="874">
                  <c:v>45254</c:v>
                </c:pt>
                <c:pt idx="875">
                  <c:v>45257</c:v>
                </c:pt>
                <c:pt idx="876">
                  <c:v>45258</c:v>
                </c:pt>
                <c:pt idx="877">
                  <c:v>45259</c:v>
                </c:pt>
                <c:pt idx="878">
                  <c:v>45260</c:v>
                </c:pt>
                <c:pt idx="879">
                  <c:v>45261</c:v>
                </c:pt>
                <c:pt idx="880">
                  <c:v>45264</c:v>
                </c:pt>
                <c:pt idx="881">
                  <c:v>45265</c:v>
                </c:pt>
                <c:pt idx="882">
                  <c:v>45266</c:v>
                </c:pt>
                <c:pt idx="883">
                  <c:v>45267</c:v>
                </c:pt>
                <c:pt idx="884">
                  <c:v>45268</c:v>
                </c:pt>
                <c:pt idx="885">
                  <c:v>45271</c:v>
                </c:pt>
                <c:pt idx="886">
                  <c:v>45272</c:v>
                </c:pt>
                <c:pt idx="887">
                  <c:v>45273</c:v>
                </c:pt>
                <c:pt idx="888">
                  <c:v>45274</c:v>
                </c:pt>
                <c:pt idx="889">
                  <c:v>45275</c:v>
                </c:pt>
                <c:pt idx="890">
                  <c:v>45278</c:v>
                </c:pt>
                <c:pt idx="891">
                  <c:v>45279</c:v>
                </c:pt>
                <c:pt idx="892">
                  <c:v>45280</c:v>
                </c:pt>
                <c:pt idx="893">
                  <c:v>45281</c:v>
                </c:pt>
                <c:pt idx="894">
                  <c:v>45282</c:v>
                </c:pt>
                <c:pt idx="895">
                  <c:v>45286</c:v>
                </c:pt>
                <c:pt idx="896">
                  <c:v>45287</c:v>
                </c:pt>
                <c:pt idx="897">
                  <c:v>45288</c:v>
                </c:pt>
                <c:pt idx="898">
                  <c:v>45293</c:v>
                </c:pt>
                <c:pt idx="899">
                  <c:v>45294</c:v>
                </c:pt>
                <c:pt idx="900">
                  <c:v>45295</c:v>
                </c:pt>
                <c:pt idx="901">
                  <c:v>45296</c:v>
                </c:pt>
                <c:pt idx="902">
                  <c:v>45299</c:v>
                </c:pt>
                <c:pt idx="903">
                  <c:v>45300</c:v>
                </c:pt>
                <c:pt idx="904">
                  <c:v>45301</c:v>
                </c:pt>
                <c:pt idx="905">
                  <c:v>45302</c:v>
                </c:pt>
                <c:pt idx="906">
                  <c:v>45303</c:v>
                </c:pt>
                <c:pt idx="907">
                  <c:v>45306</c:v>
                </c:pt>
                <c:pt idx="908">
                  <c:v>45307</c:v>
                </c:pt>
                <c:pt idx="909">
                  <c:v>45308</c:v>
                </c:pt>
                <c:pt idx="910">
                  <c:v>45309</c:v>
                </c:pt>
                <c:pt idx="911">
                  <c:v>45310</c:v>
                </c:pt>
                <c:pt idx="912">
                  <c:v>45313</c:v>
                </c:pt>
                <c:pt idx="913">
                  <c:v>45314</c:v>
                </c:pt>
                <c:pt idx="914">
                  <c:v>45315</c:v>
                </c:pt>
                <c:pt idx="915">
                  <c:v>45316</c:v>
                </c:pt>
                <c:pt idx="916">
                  <c:v>45317</c:v>
                </c:pt>
                <c:pt idx="917">
                  <c:v>45320</c:v>
                </c:pt>
                <c:pt idx="918">
                  <c:v>45321</c:v>
                </c:pt>
                <c:pt idx="919">
                  <c:v>45322</c:v>
                </c:pt>
                <c:pt idx="920">
                  <c:v>45323</c:v>
                </c:pt>
                <c:pt idx="921">
                  <c:v>45324</c:v>
                </c:pt>
                <c:pt idx="922">
                  <c:v>45327</c:v>
                </c:pt>
                <c:pt idx="923">
                  <c:v>45328</c:v>
                </c:pt>
                <c:pt idx="924">
                  <c:v>45329</c:v>
                </c:pt>
                <c:pt idx="925">
                  <c:v>45330</c:v>
                </c:pt>
                <c:pt idx="926">
                  <c:v>45331</c:v>
                </c:pt>
                <c:pt idx="927">
                  <c:v>45336</c:v>
                </c:pt>
                <c:pt idx="928">
                  <c:v>45337</c:v>
                </c:pt>
                <c:pt idx="929">
                  <c:v>45338</c:v>
                </c:pt>
                <c:pt idx="930">
                  <c:v>45341</c:v>
                </c:pt>
                <c:pt idx="931">
                  <c:v>45342</c:v>
                </c:pt>
                <c:pt idx="932">
                  <c:v>45343</c:v>
                </c:pt>
                <c:pt idx="933">
                  <c:v>45344</c:v>
                </c:pt>
                <c:pt idx="934">
                  <c:v>45345</c:v>
                </c:pt>
                <c:pt idx="935">
                  <c:v>45348</c:v>
                </c:pt>
                <c:pt idx="936">
                  <c:v>45349</c:v>
                </c:pt>
                <c:pt idx="937">
                  <c:v>45350</c:v>
                </c:pt>
                <c:pt idx="938">
                  <c:v>45351</c:v>
                </c:pt>
                <c:pt idx="939">
                  <c:v>45352</c:v>
                </c:pt>
                <c:pt idx="940">
                  <c:v>45355</c:v>
                </c:pt>
                <c:pt idx="941">
                  <c:v>45356</c:v>
                </c:pt>
                <c:pt idx="942">
                  <c:v>45357</c:v>
                </c:pt>
                <c:pt idx="943">
                  <c:v>45358</c:v>
                </c:pt>
                <c:pt idx="944">
                  <c:v>45359</c:v>
                </c:pt>
                <c:pt idx="945">
                  <c:v>45362</c:v>
                </c:pt>
                <c:pt idx="946">
                  <c:v>45363</c:v>
                </c:pt>
                <c:pt idx="947">
                  <c:v>45364</c:v>
                </c:pt>
                <c:pt idx="948">
                  <c:v>45365</c:v>
                </c:pt>
                <c:pt idx="949">
                  <c:v>45366</c:v>
                </c:pt>
                <c:pt idx="950">
                  <c:v>45369</c:v>
                </c:pt>
                <c:pt idx="951">
                  <c:v>45370</c:v>
                </c:pt>
                <c:pt idx="952">
                  <c:v>45371</c:v>
                </c:pt>
                <c:pt idx="953">
                  <c:v>45372</c:v>
                </c:pt>
                <c:pt idx="954">
                  <c:v>45373</c:v>
                </c:pt>
                <c:pt idx="955">
                  <c:v>45376</c:v>
                </c:pt>
                <c:pt idx="956">
                  <c:v>45377</c:v>
                </c:pt>
                <c:pt idx="957">
                  <c:v>45378</c:v>
                </c:pt>
                <c:pt idx="958">
                  <c:v>45379</c:v>
                </c:pt>
                <c:pt idx="959">
                  <c:v>45383</c:v>
                </c:pt>
                <c:pt idx="960">
                  <c:v>45384</c:v>
                </c:pt>
                <c:pt idx="961">
                  <c:v>45385</c:v>
                </c:pt>
                <c:pt idx="962">
                  <c:v>45386</c:v>
                </c:pt>
                <c:pt idx="963">
                  <c:v>45387</c:v>
                </c:pt>
                <c:pt idx="964">
                  <c:v>45390</c:v>
                </c:pt>
                <c:pt idx="965">
                  <c:v>45391</c:v>
                </c:pt>
                <c:pt idx="966">
                  <c:v>45392</c:v>
                </c:pt>
                <c:pt idx="967">
                  <c:v>45393</c:v>
                </c:pt>
                <c:pt idx="968">
                  <c:v>45394</c:v>
                </c:pt>
                <c:pt idx="969">
                  <c:v>45397</c:v>
                </c:pt>
                <c:pt idx="970">
                  <c:v>45398</c:v>
                </c:pt>
                <c:pt idx="971">
                  <c:v>45399</c:v>
                </c:pt>
                <c:pt idx="972">
                  <c:v>45400</c:v>
                </c:pt>
                <c:pt idx="973">
                  <c:v>45401</c:v>
                </c:pt>
                <c:pt idx="974">
                  <c:v>45404</c:v>
                </c:pt>
                <c:pt idx="975">
                  <c:v>45405</c:v>
                </c:pt>
                <c:pt idx="976">
                  <c:v>45406</c:v>
                </c:pt>
                <c:pt idx="977">
                  <c:v>45407</c:v>
                </c:pt>
                <c:pt idx="978">
                  <c:v>45408</c:v>
                </c:pt>
                <c:pt idx="979">
                  <c:v>45411</c:v>
                </c:pt>
                <c:pt idx="980">
                  <c:v>45412</c:v>
                </c:pt>
                <c:pt idx="981">
                  <c:v>45414</c:v>
                </c:pt>
                <c:pt idx="982">
                  <c:v>45415</c:v>
                </c:pt>
                <c:pt idx="983">
                  <c:v>45418</c:v>
                </c:pt>
                <c:pt idx="984">
                  <c:v>45419</c:v>
                </c:pt>
                <c:pt idx="985">
                  <c:v>45420</c:v>
                </c:pt>
                <c:pt idx="986">
                  <c:v>45421</c:v>
                </c:pt>
                <c:pt idx="987">
                  <c:v>45422</c:v>
                </c:pt>
                <c:pt idx="988">
                  <c:v>45425</c:v>
                </c:pt>
                <c:pt idx="989">
                  <c:v>45426</c:v>
                </c:pt>
                <c:pt idx="990">
                  <c:v>45427</c:v>
                </c:pt>
                <c:pt idx="991">
                  <c:v>45428</c:v>
                </c:pt>
                <c:pt idx="992">
                  <c:v>45429</c:v>
                </c:pt>
                <c:pt idx="993">
                  <c:v>45432</c:v>
                </c:pt>
                <c:pt idx="994">
                  <c:v>45433</c:v>
                </c:pt>
                <c:pt idx="995">
                  <c:v>45434</c:v>
                </c:pt>
                <c:pt idx="996">
                  <c:v>45435</c:v>
                </c:pt>
                <c:pt idx="997">
                  <c:v>45436</c:v>
                </c:pt>
                <c:pt idx="998">
                  <c:v>45439</c:v>
                </c:pt>
                <c:pt idx="999">
                  <c:v>45440</c:v>
                </c:pt>
                <c:pt idx="1000">
                  <c:v>45441</c:v>
                </c:pt>
                <c:pt idx="1001">
                  <c:v>45443</c:v>
                </c:pt>
                <c:pt idx="1002">
                  <c:v>45446</c:v>
                </c:pt>
                <c:pt idx="1003">
                  <c:v>45447</c:v>
                </c:pt>
                <c:pt idx="1004">
                  <c:v>45448</c:v>
                </c:pt>
                <c:pt idx="1005">
                  <c:v>45449</c:v>
                </c:pt>
                <c:pt idx="1006">
                  <c:v>45450</c:v>
                </c:pt>
                <c:pt idx="1007">
                  <c:v>45453</c:v>
                </c:pt>
                <c:pt idx="1008">
                  <c:v>45454</c:v>
                </c:pt>
                <c:pt idx="1009">
                  <c:v>45455</c:v>
                </c:pt>
                <c:pt idx="1010">
                  <c:v>45456</c:v>
                </c:pt>
                <c:pt idx="1011">
                  <c:v>45457</c:v>
                </c:pt>
                <c:pt idx="1012">
                  <c:v>45460</c:v>
                </c:pt>
                <c:pt idx="1013">
                  <c:v>45461</c:v>
                </c:pt>
                <c:pt idx="1014">
                  <c:v>45462</c:v>
                </c:pt>
                <c:pt idx="1015">
                  <c:v>45463</c:v>
                </c:pt>
                <c:pt idx="1016">
                  <c:v>45464</c:v>
                </c:pt>
                <c:pt idx="1017">
                  <c:v>45467</c:v>
                </c:pt>
                <c:pt idx="1018">
                  <c:v>45468</c:v>
                </c:pt>
                <c:pt idx="1019">
                  <c:v>45469</c:v>
                </c:pt>
                <c:pt idx="1020">
                  <c:v>45470</c:v>
                </c:pt>
                <c:pt idx="1021">
                  <c:v>45471</c:v>
                </c:pt>
                <c:pt idx="1022">
                  <c:v>45474</c:v>
                </c:pt>
                <c:pt idx="1023">
                  <c:v>45475</c:v>
                </c:pt>
                <c:pt idx="1024">
                  <c:v>45476</c:v>
                </c:pt>
                <c:pt idx="1025">
                  <c:v>45477</c:v>
                </c:pt>
                <c:pt idx="1026">
                  <c:v>45478</c:v>
                </c:pt>
                <c:pt idx="1027">
                  <c:v>45481</c:v>
                </c:pt>
                <c:pt idx="1028">
                  <c:v>45482</c:v>
                </c:pt>
                <c:pt idx="1029">
                  <c:v>45483</c:v>
                </c:pt>
                <c:pt idx="1030">
                  <c:v>45484</c:v>
                </c:pt>
                <c:pt idx="1031">
                  <c:v>45485</c:v>
                </c:pt>
                <c:pt idx="1032">
                  <c:v>45488</c:v>
                </c:pt>
                <c:pt idx="1033">
                  <c:v>45489</c:v>
                </c:pt>
                <c:pt idx="1034">
                  <c:v>45490</c:v>
                </c:pt>
                <c:pt idx="1035">
                  <c:v>45491</c:v>
                </c:pt>
                <c:pt idx="1036">
                  <c:v>45492</c:v>
                </c:pt>
                <c:pt idx="1037">
                  <c:v>45495</c:v>
                </c:pt>
                <c:pt idx="1038">
                  <c:v>45496</c:v>
                </c:pt>
                <c:pt idx="1039">
                  <c:v>45497</c:v>
                </c:pt>
                <c:pt idx="1040">
                  <c:v>45498</c:v>
                </c:pt>
                <c:pt idx="1041">
                  <c:v>45499</c:v>
                </c:pt>
                <c:pt idx="1042">
                  <c:v>45502</c:v>
                </c:pt>
                <c:pt idx="1043">
                  <c:v>45503</c:v>
                </c:pt>
                <c:pt idx="1044">
                  <c:v>45504</c:v>
                </c:pt>
                <c:pt idx="1045">
                  <c:v>45505</c:v>
                </c:pt>
                <c:pt idx="1046">
                  <c:v>45506</c:v>
                </c:pt>
                <c:pt idx="1047">
                  <c:v>45509</c:v>
                </c:pt>
                <c:pt idx="1048">
                  <c:v>45510</c:v>
                </c:pt>
                <c:pt idx="1049">
                  <c:v>45511</c:v>
                </c:pt>
                <c:pt idx="1050">
                  <c:v>45512</c:v>
                </c:pt>
                <c:pt idx="1051">
                  <c:v>45513</c:v>
                </c:pt>
                <c:pt idx="1052">
                  <c:v>45516</c:v>
                </c:pt>
                <c:pt idx="1053">
                  <c:v>45517</c:v>
                </c:pt>
                <c:pt idx="1054">
                  <c:v>45518</c:v>
                </c:pt>
                <c:pt idx="1055">
                  <c:v>45519</c:v>
                </c:pt>
                <c:pt idx="1056">
                  <c:v>45520</c:v>
                </c:pt>
                <c:pt idx="1057">
                  <c:v>45523</c:v>
                </c:pt>
                <c:pt idx="1058">
                  <c:v>45524</c:v>
                </c:pt>
                <c:pt idx="1059">
                  <c:v>45525</c:v>
                </c:pt>
                <c:pt idx="1060">
                  <c:v>45526</c:v>
                </c:pt>
                <c:pt idx="1061">
                  <c:v>45527</c:v>
                </c:pt>
                <c:pt idx="1062">
                  <c:v>45530</c:v>
                </c:pt>
                <c:pt idx="1063">
                  <c:v>45531</c:v>
                </c:pt>
                <c:pt idx="1064">
                  <c:v>45532</c:v>
                </c:pt>
                <c:pt idx="1065">
                  <c:v>45533</c:v>
                </c:pt>
                <c:pt idx="1066">
                  <c:v>45534</c:v>
                </c:pt>
                <c:pt idx="1067">
                  <c:v>45537</c:v>
                </c:pt>
                <c:pt idx="1068">
                  <c:v>45538</c:v>
                </c:pt>
                <c:pt idx="1069">
                  <c:v>45539</c:v>
                </c:pt>
                <c:pt idx="1070">
                  <c:v>45540</c:v>
                </c:pt>
                <c:pt idx="1071">
                  <c:v>45541</c:v>
                </c:pt>
                <c:pt idx="1072">
                  <c:v>45544</c:v>
                </c:pt>
                <c:pt idx="1073">
                  <c:v>45545</c:v>
                </c:pt>
                <c:pt idx="1074">
                  <c:v>45546</c:v>
                </c:pt>
                <c:pt idx="1075">
                  <c:v>45547</c:v>
                </c:pt>
                <c:pt idx="1076">
                  <c:v>45548</c:v>
                </c:pt>
                <c:pt idx="1077">
                  <c:v>45551</c:v>
                </c:pt>
                <c:pt idx="1078">
                  <c:v>45552</c:v>
                </c:pt>
                <c:pt idx="1079">
                  <c:v>45553</c:v>
                </c:pt>
                <c:pt idx="1080">
                  <c:v>45554</c:v>
                </c:pt>
                <c:pt idx="1081">
                  <c:v>45555</c:v>
                </c:pt>
                <c:pt idx="1082">
                  <c:v>45558</c:v>
                </c:pt>
                <c:pt idx="1083">
                  <c:v>45559</c:v>
                </c:pt>
                <c:pt idx="1084">
                  <c:v>45560</c:v>
                </c:pt>
                <c:pt idx="1085">
                  <c:v>45561</c:v>
                </c:pt>
                <c:pt idx="1086">
                  <c:v>45562</c:v>
                </c:pt>
                <c:pt idx="1087">
                  <c:v>45565</c:v>
                </c:pt>
                <c:pt idx="1088">
                  <c:v>45566</c:v>
                </c:pt>
                <c:pt idx="1089">
                  <c:v>45567</c:v>
                </c:pt>
                <c:pt idx="1090">
                  <c:v>45568</c:v>
                </c:pt>
                <c:pt idx="1091">
                  <c:v>45569</c:v>
                </c:pt>
                <c:pt idx="1092">
                  <c:v>45572</c:v>
                </c:pt>
                <c:pt idx="1093">
                  <c:v>45573</c:v>
                </c:pt>
                <c:pt idx="1094">
                  <c:v>45574</c:v>
                </c:pt>
                <c:pt idx="1095">
                  <c:v>45575</c:v>
                </c:pt>
                <c:pt idx="1096">
                  <c:v>45576</c:v>
                </c:pt>
                <c:pt idx="1097">
                  <c:v>45579</c:v>
                </c:pt>
                <c:pt idx="1098">
                  <c:v>45580</c:v>
                </c:pt>
                <c:pt idx="1099">
                  <c:v>45581</c:v>
                </c:pt>
                <c:pt idx="1100">
                  <c:v>45582</c:v>
                </c:pt>
                <c:pt idx="1101">
                  <c:v>45583</c:v>
                </c:pt>
                <c:pt idx="1102">
                  <c:v>45586</c:v>
                </c:pt>
                <c:pt idx="1103">
                  <c:v>45587</c:v>
                </c:pt>
                <c:pt idx="1104">
                  <c:v>45588</c:v>
                </c:pt>
                <c:pt idx="1105">
                  <c:v>45589</c:v>
                </c:pt>
                <c:pt idx="1106">
                  <c:v>45590</c:v>
                </c:pt>
                <c:pt idx="1107">
                  <c:v>45593</c:v>
                </c:pt>
                <c:pt idx="1108">
                  <c:v>45594</c:v>
                </c:pt>
                <c:pt idx="1109">
                  <c:v>45595</c:v>
                </c:pt>
                <c:pt idx="1110">
                  <c:v>45596</c:v>
                </c:pt>
                <c:pt idx="1111">
                  <c:v>45597</c:v>
                </c:pt>
                <c:pt idx="1112">
                  <c:v>45600</c:v>
                </c:pt>
                <c:pt idx="1113">
                  <c:v>45601</c:v>
                </c:pt>
                <c:pt idx="1114">
                  <c:v>45602</c:v>
                </c:pt>
                <c:pt idx="1115">
                  <c:v>45603</c:v>
                </c:pt>
                <c:pt idx="1116">
                  <c:v>45604</c:v>
                </c:pt>
                <c:pt idx="1117">
                  <c:v>45607</c:v>
                </c:pt>
                <c:pt idx="1118">
                  <c:v>45608</c:v>
                </c:pt>
                <c:pt idx="1119">
                  <c:v>45609</c:v>
                </c:pt>
                <c:pt idx="1120">
                  <c:v>45610</c:v>
                </c:pt>
                <c:pt idx="1121">
                  <c:v>45614</c:v>
                </c:pt>
                <c:pt idx="1122">
                  <c:v>45615</c:v>
                </c:pt>
                <c:pt idx="1123">
                  <c:v>45617</c:v>
                </c:pt>
                <c:pt idx="1124">
                  <c:v>45618</c:v>
                </c:pt>
                <c:pt idx="1125">
                  <c:v>45621</c:v>
                </c:pt>
                <c:pt idx="1126">
                  <c:v>45622</c:v>
                </c:pt>
                <c:pt idx="1127">
                  <c:v>45623</c:v>
                </c:pt>
                <c:pt idx="1128">
                  <c:v>45624</c:v>
                </c:pt>
                <c:pt idx="1129">
                  <c:v>45625</c:v>
                </c:pt>
                <c:pt idx="1130">
                  <c:v>45628</c:v>
                </c:pt>
                <c:pt idx="1131">
                  <c:v>45629</c:v>
                </c:pt>
                <c:pt idx="1132">
                  <c:v>45630</c:v>
                </c:pt>
                <c:pt idx="1133">
                  <c:v>45631</c:v>
                </c:pt>
                <c:pt idx="1134">
                  <c:v>45632</c:v>
                </c:pt>
                <c:pt idx="1135">
                  <c:v>45635</c:v>
                </c:pt>
                <c:pt idx="1136">
                  <c:v>45636</c:v>
                </c:pt>
                <c:pt idx="1137">
                  <c:v>45637</c:v>
                </c:pt>
                <c:pt idx="1138">
                  <c:v>45638</c:v>
                </c:pt>
                <c:pt idx="1139">
                  <c:v>45639</c:v>
                </c:pt>
                <c:pt idx="1140">
                  <c:v>45642</c:v>
                </c:pt>
                <c:pt idx="1141">
                  <c:v>45643</c:v>
                </c:pt>
                <c:pt idx="1142">
                  <c:v>45644</c:v>
                </c:pt>
                <c:pt idx="1143">
                  <c:v>45645</c:v>
                </c:pt>
                <c:pt idx="1144">
                  <c:v>45646</c:v>
                </c:pt>
                <c:pt idx="1145">
                  <c:v>45649</c:v>
                </c:pt>
                <c:pt idx="1146">
                  <c:v>45652</c:v>
                </c:pt>
                <c:pt idx="1147">
                  <c:v>45653</c:v>
                </c:pt>
                <c:pt idx="1148">
                  <c:v>45656</c:v>
                </c:pt>
                <c:pt idx="1149">
                  <c:v>45659</c:v>
                </c:pt>
                <c:pt idx="1150">
                  <c:v>45660</c:v>
                </c:pt>
                <c:pt idx="1151">
                  <c:v>45663</c:v>
                </c:pt>
                <c:pt idx="1152">
                  <c:v>45664</c:v>
                </c:pt>
                <c:pt idx="1153">
                  <c:v>45665</c:v>
                </c:pt>
                <c:pt idx="1154">
                  <c:v>45666</c:v>
                </c:pt>
                <c:pt idx="1155">
                  <c:v>45667</c:v>
                </c:pt>
                <c:pt idx="1156">
                  <c:v>45670</c:v>
                </c:pt>
                <c:pt idx="1157">
                  <c:v>45671</c:v>
                </c:pt>
                <c:pt idx="1158">
                  <c:v>45672</c:v>
                </c:pt>
                <c:pt idx="1159">
                  <c:v>45673</c:v>
                </c:pt>
                <c:pt idx="1160">
                  <c:v>45674</c:v>
                </c:pt>
                <c:pt idx="1161">
                  <c:v>45677</c:v>
                </c:pt>
                <c:pt idx="1162">
                  <c:v>45678</c:v>
                </c:pt>
                <c:pt idx="1163">
                  <c:v>45679</c:v>
                </c:pt>
                <c:pt idx="1164">
                  <c:v>45680</c:v>
                </c:pt>
                <c:pt idx="1165">
                  <c:v>45681</c:v>
                </c:pt>
                <c:pt idx="1166">
                  <c:v>45684</c:v>
                </c:pt>
                <c:pt idx="1167">
                  <c:v>45685</c:v>
                </c:pt>
                <c:pt idx="1168">
                  <c:v>45686</c:v>
                </c:pt>
                <c:pt idx="1169">
                  <c:v>45687</c:v>
                </c:pt>
                <c:pt idx="1170">
                  <c:v>45688</c:v>
                </c:pt>
                <c:pt idx="1171">
                  <c:v>45691</c:v>
                </c:pt>
                <c:pt idx="1172">
                  <c:v>45692</c:v>
                </c:pt>
                <c:pt idx="1173">
                  <c:v>45693</c:v>
                </c:pt>
                <c:pt idx="1174">
                  <c:v>45694</c:v>
                </c:pt>
                <c:pt idx="1175">
                  <c:v>45695</c:v>
                </c:pt>
                <c:pt idx="1176">
                  <c:v>45698</c:v>
                </c:pt>
                <c:pt idx="1177">
                  <c:v>45699</c:v>
                </c:pt>
                <c:pt idx="1178">
                  <c:v>45700</c:v>
                </c:pt>
                <c:pt idx="1179">
                  <c:v>45701</c:v>
                </c:pt>
                <c:pt idx="1180">
                  <c:v>45702</c:v>
                </c:pt>
                <c:pt idx="1181">
                  <c:v>45705</c:v>
                </c:pt>
                <c:pt idx="1182">
                  <c:v>45706</c:v>
                </c:pt>
                <c:pt idx="1183">
                  <c:v>45707</c:v>
                </c:pt>
                <c:pt idx="1184">
                  <c:v>45708</c:v>
                </c:pt>
                <c:pt idx="1185">
                  <c:v>45709</c:v>
                </c:pt>
                <c:pt idx="1186">
                  <c:v>45712</c:v>
                </c:pt>
                <c:pt idx="1187">
                  <c:v>45713</c:v>
                </c:pt>
                <c:pt idx="1188">
                  <c:v>45714</c:v>
                </c:pt>
                <c:pt idx="1189">
                  <c:v>45715</c:v>
                </c:pt>
                <c:pt idx="1190">
                  <c:v>45716</c:v>
                </c:pt>
                <c:pt idx="1191">
                  <c:v>45721</c:v>
                </c:pt>
                <c:pt idx="1192">
                  <c:v>45722</c:v>
                </c:pt>
                <c:pt idx="1193">
                  <c:v>45723</c:v>
                </c:pt>
                <c:pt idx="1194">
                  <c:v>45726</c:v>
                </c:pt>
                <c:pt idx="1195">
                  <c:v>45727</c:v>
                </c:pt>
                <c:pt idx="1196">
                  <c:v>45728</c:v>
                </c:pt>
                <c:pt idx="1197">
                  <c:v>45729</c:v>
                </c:pt>
                <c:pt idx="1198">
                  <c:v>45730</c:v>
                </c:pt>
                <c:pt idx="1199">
                  <c:v>45733</c:v>
                </c:pt>
                <c:pt idx="1200">
                  <c:v>45734</c:v>
                </c:pt>
                <c:pt idx="1201">
                  <c:v>45735</c:v>
                </c:pt>
                <c:pt idx="1202">
                  <c:v>45736</c:v>
                </c:pt>
                <c:pt idx="1203">
                  <c:v>45737</c:v>
                </c:pt>
                <c:pt idx="1204">
                  <c:v>45740</c:v>
                </c:pt>
                <c:pt idx="1205">
                  <c:v>45741</c:v>
                </c:pt>
                <c:pt idx="1206">
                  <c:v>45742</c:v>
                </c:pt>
                <c:pt idx="1207">
                  <c:v>45743</c:v>
                </c:pt>
                <c:pt idx="1208">
                  <c:v>45744</c:v>
                </c:pt>
                <c:pt idx="1209">
                  <c:v>45747</c:v>
                </c:pt>
                <c:pt idx="1210">
                  <c:v>45748</c:v>
                </c:pt>
                <c:pt idx="1211">
                  <c:v>45749</c:v>
                </c:pt>
                <c:pt idx="1212">
                  <c:v>45750</c:v>
                </c:pt>
                <c:pt idx="1213">
                  <c:v>45751</c:v>
                </c:pt>
                <c:pt idx="1214">
                  <c:v>45754</c:v>
                </c:pt>
                <c:pt idx="1215">
                  <c:v>45755</c:v>
                </c:pt>
                <c:pt idx="1216">
                  <c:v>45756</c:v>
                </c:pt>
                <c:pt idx="1217">
                  <c:v>45757</c:v>
                </c:pt>
                <c:pt idx="1218">
                  <c:v>45758</c:v>
                </c:pt>
                <c:pt idx="1219">
                  <c:v>45761</c:v>
                </c:pt>
                <c:pt idx="1220">
                  <c:v>45762</c:v>
                </c:pt>
                <c:pt idx="1221">
                  <c:v>45763</c:v>
                </c:pt>
                <c:pt idx="1222">
                  <c:v>45764</c:v>
                </c:pt>
                <c:pt idx="1223">
                  <c:v>45769</c:v>
                </c:pt>
                <c:pt idx="1224">
                  <c:v>45770</c:v>
                </c:pt>
                <c:pt idx="1225">
                  <c:v>45771</c:v>
                </c:pt>
                <c:pt idx="1226">
                  <c:v>45772</c:v>
                </c:pt>
                <c:pt idx="1227">
                  <c:v>45775</c:v>
                </c:pt>
                <c:pt idx="1228">
                  <c:v>45776</c:v>
                </c:pt>
                <c:pt idx="1229">
                  <c:v>45777</c:v>
                </c:pt>
                <c:pt idx="1230">
                  <c:v>45779</c:v>
                </c:pt>
                <c:pt idx="1231">
                  <c:v>45782</c:v>
                </c:pt>
                <c:pt idx="1232">
                  <c:v>45783</c:v>
                </c:pt>
                <c:pt idx="1233">
                  <c:v>45784</c:v>
                </c:pt>
                <c:pt idx="1234">
                  <c:v>45785</c:v>
                </c:pt>
                <c:pt idx="1235">
                  <c:v>45786</c:v>
                </c:pt>
                <c:pt idx="1236">
                  <c:v>45789</c:v>
                </c:pt>
                <c:pt idx="1237">
                  <c:v>45790</c:v>
                </c:pt>
                <c:pt idx="1238">
                  <c:v>45791</c:v>
                </c:pt>
                <c:pt idx="1239">
                  <c:v>45792</c:v>
                </c:pt>
                <c:pt idx="1240">
                  <c:v>45793</c:v>
                </c:pt>
                <c:pt idx="1241">
                  <c:v>45796</c:v>
                </c:pt>
              </c:numCache>
            </c:numRef>
          </c:cat>
          <c:val>
            <c:numRef>
              <c:f>Sheet1!$M$2:$M$1243</c:f>
              <c:numCache>
                <c:formatCode>0%</c:formatCode>
                <c:ptCount val="1242"/>
                <c:pt idx="0">
                  <c:v>0</c:v>
                </c:pt>
                <c:pt idx="1">
                  <c:v>-5.3148259046966739E-3</c:v>
                </c:pt>
                <c:pt idx="2">
                  <c:v>-1.062965180939357E-2</c:v>
                </c:pt>
                <c:pt idx="3">
                  <c:v>1.062430490204469E-2</c:v>
                </c:pt>
                <c:pt idx="4">
                  <c:v>7.3856831208828799E-2</c:v>
                </c:pt>
                <c:pt idx="5">
                  <c:v>7.8107622551116362E-2</c:v>
                </c:pt>
                <c:pt idx="6">
                  <c:v>8.076503550346481E-2</c:v>
                </c:pt>
                <c:pt idx="7">
                  <c:v>0.11131726409444775</c:v>
                </c:pt>
                <c:pt idx="8">
                  <c:v>0.12008084523911355</c:v>
                </c:pt>
                <c:pt idx="9">
                  <c:v>0.12698904953374957</c:v>
                </c:pt>
                <c:pt idx="10">
                  <c:v>0.13177453161091601</c:v>
                </c:pt>
                <c:pt idx="11">
                  <c:v>0.16365279322439896</c:v>
                </c:pt>
                <c:pt idx="12">
                  <c:v>0.17773654718111032</c:v>
                </c:pt>
                <c:pt idx="13">
                  <c:v>0.21679035845666861</c:v>
                </c:pt>
                <c:pt idx="14">
                  <c:v>0.21705235691675928</c:v>
                </c:pt>
                <c:pt idx="15">
                  <c:v>0.19526905637779102</c:v>
                </c:pt>
                <c:pt idx="16">
                  <c:v>0.17560847805629209</c:v>
                </c:pt>
                <c:pt idx="17">
                  <c:v>0.1761431687911712</c:v>
                </c:pt>
                <c:pt idx="18">
                  <c:v>0.18915754127812479</c:v>
                </c:pt>
                <c:pt idx="19">
                  <c:v>0.22635597570365307</c:v>
                </c:pt>
                <c:pt idx="20">
                  <c:v>0.22555393960133463</c:v>
                </c:pt>
                <c:pt idx="21">
                  <c:v>0.22768200872615263</c:v>
                </c:pt>
                <c:pt idx="22">
                  <c:v>0.21147553255197193</c:v>
                </c:pt>
                <c:pt idx="23">
                  <c:v>0.22529194114124396</c:v>
                </c:pt>
                <c:pt idx="24">
                  <c:v>0.22343121738386507</c:v>
                </c:pt>
                <c:pt idx="25">
                  <c:v>0.30765035503464788</c:v>
                </c:pt>
                <c:pt idx="26">
                  <c:v>0.32837496791855592</c:v>
                </c:pt>
                <c:pt idx="27">
                  <c:v>0.32624689879373747</c:v>
                </c:pt>
                <c:pt idx="28">
                  <c:v>0.34457609718538795</c:v>
                </c:pt>
                <c:pt idx="29">
                  <c:v>0.39718431859012737</c:v>
                </c:pt>
                <c:pt idx="30">
                  <c:v>0.4232184104713832</c:v>
                </c:pt>
                <c:pt idx="31">
                  <c:v>0.43464475147574633</c:v>
                </c:pt>
                <c:pt idx="32">
                  <c:v>0.41339079476430829</c:v>
                </c:pt>
                <c:pt idx="33">
                  <c:v>0.43224933698348877</c:v>
                </c:pt>
                <c:pt idx="34">
                  <c:v>0.44261164342544257</c:v>
                </c:pt>
                <c:pt idx="35">
                  <c:v>0.44686243476773013</c:v>
                </c:pt>
                <c:pt idx="36">
                  <c:v>0.45324129523483592</c:v>
                </c:pt>
                <c:pt idx="37">
                  <c:v>0.45961480879459327</c:v>
                </c:pt>
                <c:pt idx="38">
                  <c:v>0.43437740610830677</c:v>
                </c:pt>
                <c:pt idx="39">
                  <c:v>0.44394302335529123</c:v>
                </c:pt>
                <c:pt idx="40">
                  <c:v>0.44925250235263925</c:v>
                </c:pt>
                <c:pt idx="41">
                  <c:v>0.54330460261784563</c:v>
                </c:pt>
                <c:pt idx="42">
                  <c:v>0.59829754470014529</c:v>
                </c:pt>
                <c:pt idx="43">
                  <c:v>0.59085999657797927</c:v>
                </c:pt>
                <c:pt idx="44">
                  <c:v>0.81190114637693545</c:v>
                </c:pt>
                <c:pt idx="45">
                  <c:v>0.77948819402857406</c:v>
                </c:pt>
                <c:pt idx="46">
                  <c:v>0.77231264436649849</c:v>
                </c:pt>
                <c:pt idx="47">
                  <c:v>0.85839250577465975</c:v>
                </c:pt>
                <c:pt idx="48">
                  <c:v>0.78506501839336118</c:v>
                </c:pt>
                <c:pt idx="49">
                  <c:v>0.77948819402857406</c:v>
                </c:pt>
                <c:pt idx="50">
                  <c:v>0.80658632047223877</c:v>
                </c:pt>
                <c:pt idx="51">
                  <c:v>0.78931580973564897</c:v>
                </c:pt>
                <c:pt idx="52">
                  <c:v>0.76859654375908959</c:v>
                </c:pt>
                <c:pt idx="53">
                  <c:v>0.77444071349131671</c:v>
                </c:pt>
                <c:pt idx="54">
                  <c:v>0.81190114637693545</c:v>
                </c:pt>
                <c:pt idx="55">
                  <c:v>0.85520574899478152</c:v>
                </c:pt>
                <c:pt idx="56">
                  <c:v>0.8185420053041319</c:v>
                </c:pt>
                <c:pt idx="57">
                  <c:v>0.83288775772093437</c:v>
                </c:pt>
                <c:pt idx="58">
                  <c:v>0.78985050047052763</c:v>
                </c:pt>
                <c:pt idx="59">
                  <c:v>0.80658632047223877</c:v>
                </c:pt>
                <c:pt idx="60">
                  <c:v>0.83049769013602504</c:v>
                </c:pt>
                <c:pt idx="61">
                  <c:v>0.83766789289075194</c:v>
                </c:pt>
                <c:pt idx="62">
                  <c:v>0.80578963127726899</c:v>
                </c:pt>
                <c:pt idx="63">
                  <c:v>0.79861408161519365</c:v>
                </c:pt>
                <c:pt idx="64">
                  <c:v>0.75026199846009045</c:v>
                </c:pt>
                <c:pt idx="65">
                  <c:v>0.78586170758833096</c:v>
                </c:pt>
                <c:pt idx="66">
                  <c:v>0.79596201557019408</c:v>
                </c:pt>
                <c:pt idx="67">
                  <c:v>0.76593913080674114</c:v>
                </c:pt>
                <c:pt idx="68">
                  <c:v>0.81429121396184456</c:v>
                </c:pt>
                <c:pt idx="69">
                  <c:v>0.76487509624433203</c:v>
                </c:pt>
                <c:pt idx="70">
                  <c:v>0.76115364872957492</c:v>
                </c:pt>
                <c:pt idx="71">
                  <c:v>0.78506501839336118</c:v>
                </c:pt>
                <c:pt idx="72">
                  <c:v>0.71679035845666861</c:v>
                </c:pt>
                <c:pt idx="73">
                  <c:v>0.77815681409872517</c:v>
                </c:pt>
                <c:pt idx="74">
                  <c:v>0.77497005731884649</c:v>
                </c:pt>
                <c:pt idx="75">
                  <c:v>0.71174287791941127</c:v>
                </c:pt>
                <c:pt idx="76">
                  <c:v>0.7133362563093506</c:v>
                </c:pt>
                <c:pt idx="77">
                  <c:v>0.67374775429891343</c:v>
                </c:pt>
                <c:pt idx="78">
                  <c:v>0.72502459577380418</c:v>
                </c:pt>
                <c:pt idx="79">
                  <c:v>0.65833796731970229</c:v>
                </c:pt>
                <c:pt idx="80">
                  <c:v>0.64957438617503627</c:v>
                </c:pt>
                <c:pt idx="81">
                  <c:v>0.68251668235092811</c:v>
                </c:pt>
                <c:pt idx="82">
                  <c:v>0.70244460603986658</c:v>
                </c:pt>
                <c:pt idx="83">
                  <c:v>0.67215437590897409</c:v>
                </c:pt>
                <c:pt idx="84">
                  <c:v>0.66896761912909564</c:v>
                </c:pt>
                <c:pt idx="85">
                  <c:v>0.64691697322268804</c:v>
                </c:pt>
                <c:pt idx="86">
                  <c:v>0.68437740610830677</c:v>
                </c:pt>
                <c:pt idx="87">
                  <c:v>0.71679035845666861</c:v>
                </c:pt>
                <c:pt idx="88">
                  <c:v>0.66046603644452051</c:v>
                </c:pt>
                <c:pt idx="89">
                  <c:v>0.7133362563093506</c:v>
                </c:pt>
                <c:pt idx="90">
                  <c:v>0.70695739584224482</c:v>
                </c:pt>
                <c:pt idx="91">
                  <c:v>0.6708283428864743</c:v>
                </c:pt>
                <c:pt idx="92">
                  <c:v>0.72529194114124373</c:v>
                </c:pt>
                <c:pt idx="93">
                  <c:v>0.74548186329027288</c:v>
                </c:pt>
                <c:pt idx="94">
                  <c:v>0.77736012490375583</c:v>
                </c:pt>
                <c:pt idx="95">
                  <c:v>0.7813489177859525</c:v>
                </c:pt>
                <c:pt idx="96">
                  <c:v>0.86450402087432621</c:v>
                </c:pt>
                <c:pt idx="97">
                  <c:v>0.89903969544015716</c:v>
                </c:pt>
                <c:pt idx="98">
                  <c:v>0.94393767644794235</c:v>
                </c:pt>
                <c:pt idx="99">
                  <c:v>0.99734258704765155</c:v>
                </c:pt>
                <c:pt idx="100">
                  <c:v>1.0430372572504063</c:v>
                </c:pt>
                <c:pt idx="101">
                  <c:v>1.1028156814098726</c:v>
                </c:pt>
                <c:pt idx="102">
                  <c:v>1.1408054581230216</c:v>
                </c:pt>
                <c:pt idx="103">
                  <c:v>1.1458529386602785</c:v>
                </c:pt>
                <c:pt idx="104">
                  <c:v>1.1798592693985799</c:v>
                </c:pt>
                <c:pt idx="105">
                  <c:v>1.1801266147660194</c:v>
                </c:pt>
                <c:pt idx="106">
                  <c:v>1.2197097698691075</c:v>
                </c:pt>
                <c:pt idx="107">
                  <c:v>1.0828877577209339</c:v>
                </c:pt>
                <c:pt idx="108">
                  <c:v>1.181452647788519</c:v>
                </c:pt>
                <c:pt idx="109">
                  <c:v>1.1697643083240652</c:v>
                </c:pt>
                <c:pt idx="110">
                  <c:v>1.1984558131576692</c:v>
                </c:pt>
                <c:pt idx="111">
                  <c:v>1.2114755325519719</c:v>
                </c:pt>
                <c:pt idx="112">
                  <c:v>1.1025483360424326</c:v>
                </c:pt>
                <c:pt idx="113">
                  <c:v>1.1261923603387798</c:v>
                </c:pt>
                <c:pt idx="114">
                  <c:v>1.0146077508768925</c:v>
                </c:pt>
                <c:pt idx="115">
                  <c:v>1.0541962528873299</c:v>
                </c:pt>
                <c:pt idx="116">
                  <c:v>1.1838427153734279</c:v>
                </c:pt>
                <c:pt idx="117">
                  <c:v>1.2781568140987249</c:v>
                </c:pt>
                <c:pt idx="118">
                  <c:v>1.2316654547010009</c:v>
                </c:pt>
                <c:pt idx="119">
                  <c:v>1.1819819916160492</c:v>
                </c:pt>
                <c:pt idx="120">
                  <c:v>1.0996235777226451</c:v>
                </c:pt>
                <c:pt idx="121">
                  <c:v>1.1410728034904611</c:v>
                </c:pt>
                <c:pt idx="122">
                  <c:v>1.1466496278552483</c:v>
                </c:pt>
                <c:pt idx="123">
                  <c:v>1.2016425699375479</c:v>
                </c:pt>
                <c:pt idx="124">
                  <c:v>1.1673742407391563</c:v>
                </c:pt>
                <c:pt idx="125">
                  <c:v>1.1702936521515954</c:v>
                </c:pt>
                <c:pt idx="126">
                  <c:v>1.1543545213448541</c:v>
                </c:pt>
                <c:pt idx="127">
                  <c:v>1.1501037300025665</c:v>
                </c:pt>
                <c:pt idx="128">
                  <c:v>1.1253956711438104</c:v>
                </c:pt>
                <c:pt idx="129">
                  <c:v>1.0858125160407219</c:v>
                </c:pt>
                <c:pt idx="130">
                  <c:v>1.0441012918128152</c:v>
                </c:pt>
                <c:pt idx="131">
                  <c:v>1.0541962528873299</c:v>
                </c:pt>
                <c:pt idx="132">
                  <c:v>1.0642912139618441</c:v>
                </c:pt>
                <c:pt idx="133">
                  <c:v>1.0456946702027548</c:v>
                </c:pt>
                <c:pt idx="134">
                  <c:v>0.95456732825733615</c:v>
                </c:pt>
                <c:pt idx="135">
                  <c:v>0.95536401745230548</c:v>
                </c:pt>
                <c:pt idx="136">
                  <c:v>0.94553640174523057</c:v>
                </c:pt>
                <c:pt idx="137">
                  <c:v>0.96413294550432038</c:v>
                </c:pt>
                <c:pt idx="138">
                  <c:v>0.90754127812473273</c:v>
                </c:pt>
                <c:pt idx="139">
                  <c:v>0.90249379758747539</c:v>
                </c:pt>
                <c:pt idx="140">
                  <c:v>0.93145264778851899</c:v>
                </c:pt>
                <c:pt idx="141">
                  <c:v>0.88628732141329447</c:v>
                </c:pt>
                <c:pt idx="142">
                  <c:v>0.88628732141329447</c:v>
                </c:pt>
                <c:pt idx="143">
                  <c:v>0.88628732141329447</c:v>
                </c:pt>
                <c:pt idx="144">
                  <c:v>0.87433163658140112</c:v>
                </c:pt>
                <c:pt idx="145">
                  <c:v>0.93278402771836766</c:v>
                </c:pt>
                <c:pt idx="146">
                  <c:v>0.94739177859526058</c:v>
                </c:pt>
                <c:pt idx="147">
                  <c:v>1.0130143724869538</c:v>
                </c:pt>
                <c:pt idx="148">
                  <c:v>0.93597078449824589</c:v>
                </c:pt>
                <c:pt idx="149">
                  <c:v>0.91312344939686874</c:v>
                </c:pt>
                <c:pt idx="150">
                  <c:v>0.93463940456839767</c:v>
                </c:pt>
                <c:pt idx="151">
                  <c:v>0.92932992557104965</c:v>
                </c:pt>
                <c:pt idx="152">
                  <c:v>1.0058441697322267</c:v>
                </c:pt>
                <c:pt idx="153">
                  <c:v>0.99654589785268199</c:v>
                </c:pt>
                <c:pt idx="154">
                  <c:v>1.0122176832919836</c:v>
                </c:pt>
                <c:pt idx="155">
                  <c:v>0.98246214389597042</c:v>
                </c:pt>
                <c:pt idx="156">
                  <c:v>1.1041417144323722</c:v>
                </c:pt>
                <c:pt idx="157">
                  <c:v>1.1663102061767474</c:v>
                </c:pt>
                <c:pt idx="158">
                  <c:v>1.2491979638976813</c:v>
                </c:pt>
                <c:pt idx="159">
                  <c:v>1.3852232868508856</c:v>
                </c:pt>
                <c:pt idx="160">
                  <c:v>1.3121631448370263</c:v>
                </c:pt>
                <c:pt idx="161">
                  <c:v>1.3929281803404909</c:v>
                </c:pt>
                <c:pt idx="162">
                  <c:v>1.3985103516126274</c:v>
                </c:pt>
                <c:pt idx="163">
                  <c:v>1.3876187013431434</c:v>
                </c:pt>
                <c:pt idx="164">
                  <c:v>1.2890538112755583</c:v>
                </c:pt>
                <c:pt idx="165">
                  <c:v>1.4497818461801693</c:v>
                </c:pt>
                <c:pt idx="166">
                  <c:v>1.3804431516810678</c:v>
                </c:pt>
                <c:pt idx="167">
                  <c:v>1.3565317820172811</c:v>
                </c:pt>
                <c:pt idx="168">
                  <c:v>1.3286369663786464</c:v>
                </c:pt>
                <c:pt idx="169">
                  <c:v>1.3637073316793566</c:v>
                </c:pt>
                <c:pt idx="170">
                  <c:v>1.3631726409444775</c:v>
                </c:pt>
                <c:pt idx="171">
                  <c:v>1.3445760971853882</c:v>
                </c:pt>
                <c:pt idx="172">
                  <c:v>1.3371385490632215</c:v>
                </c:pt>
                <c:pt idx="173">
                  <c:v>1.2260886303362137</c:v>
                </c:pt>
                <c:pt idx="174">
                  <c:v>1.2460112071178031</c:v>
                </c:pt>
                <c:pt idx="175">
                  <c:v>1.2582342373171356</c:v>
                </c:pt>
                <c:pt idx="176">
                  <c:v>1.3557350928223113</c:v>
                </c:pt>
                <c:pt idx="177">
                  <c:v>1.2733766789289076</c:v>
                </c:pt>
                <c:pt idx="178">
                  <c:v>1.2449471725553938</c:v>
                </c:pt>
                <c:pt idx="179">
                  <c:v>1.2715159551715285</c:v>
                </c:pt>
                <c:pt idx="180">
                  <c:v>1.2584962357772262</c:v>
                </c:pt>
                <c:pt idx="181">
                  <c:v>1.2855997091282401</c:v>
                </c:pt>
                <c:pt idx="182">
                  <c:v>1.3113664556420566</c:v>
                </c:pt>
                <c:pt idx="183">
                  <c:v>1.3026028744973908</c:v>
                </c:pt>
                <c:pt idx="184">
                  <c:v>1.2303394216785009</c:v>
                </c:pt>
                <c:pt idx="185">
                  <c:v>1.2151916331593804</c:v>
                </c:pt>
                <c:pt idx="186">
                  <c:v>1.2114755325519719</c:v>
                </c:pt>
                <c:pt idx="187">
                  <c:v>1.1976591239626999</c:v>
                </c:pt>
                <c:pt idx="188">
                  <c:v>1.2226345281888955</c:v>
                </c:pt>
                <c:pt idx="189">
                  <c:v>1.3033995636923601</c:v>
                </c:pt>
                <c:pt idx="190">
                  <c:v>1.1121139532894175</c:v>
                </c:pt>
                <c:pt idx="191">
                  <c:v>1.0735894858413895</c:v>
                </c:pt>
                <c:pt idx="192">
                  <c:v>1.0722634528188895</c:v>
                </c:pt>
                <c:pt idx="193">
                  <c:v>1.0472880485926939</c:v>
                </c:pt>
                <c:pt idx="194">
                  <c:v>1.0456946702027548</c:v>
                </c:pt>
                <c:pt idx="195">
                  <c:v>0.94553640174523057</c:v>
                </c:pt>
                <c:pt idx="196">
                  <c:v>0.94048892120797323</c:v>
                </c:pt>
                <c:pt idx="197">
                  <c:v>0.83713854906322172</c:v>
                </c:pt>
                <c:pt idx="198">
                  <c:v>0.89957438617503649</c:v>
                </c:pt>
                <c:pt idx="199">
                  <c:v>0.92029365215159542</c:v>
                </c:pt>
                <c:pt idx="200">
                  <c:v>0.91073338181196006</c:v>
                </c:pt>
                <c:pt idx="201">
                  <c:v>0.89027611429549136</c:v>
                </c:pt>
                <c:pt idx="202">
                  <c:v>0.94526905637779102</c:v>
                </c:pt>
                <c:pt idx="203">
                  <c:v>0.95004919154760858</c:v>
                </c:pt>
                <c:pt idx="204">
                  <c:v>0.94447236718282146</c:v>
                </c:pt>
                <c:pt idx="205">
                  <c:v>0.90780862349217206</c:v>
                </c:pt>
                <c:pt idx="206">
                  <c:v>0.9115300710069294</c:v>
                </c:pt>
                <c:pt idx="207">
                  <c:v>0.89425956027033959</c:v>
                </c:pt>
                <c:pt idx="208">
                  <c:v>0.90249379758747539</c:v>
                </c:pt>
                <c:pt idx="209">
                  <c:v>0.87353494738643156</c:v>
                </c:pt>
                <c:pt idx="210">
                  <c:v>0.88814804517067314</c:v>
                </c:pt>
                <c:pt idx="211">
                  <c:v>0.93251668235092811</c:v>
                </c:pt>
                <c:pt idx="212">
                  <c:v>0.91551351698177763</c:v>
                </c:pt>
                <c:pt idx="213">
                  <c:v>0.99388848490033355</c:v>
                </c:pt>
                <c:pt idx="214">
                  <c:v>0.98086876550603108</c:v>
                </c:pt>
                <c:pt idx="215">
                  <c:v>0.99415048336042422</c:v>
                </c:pt>
                <c:pt idx="216">
                  <c:v>1.0433046026178459</c:v>
                </c:pt>
                <c:pt idx="217">
                  <c:v>1.0483520831551032</c:v>
                </c:pt>
                <c:pt idx="218">
                  <c:v>1.0233766789289072</c:v>
                </c:pt>
                <c:pt idx="219">
                  <c:v>1.0313489177859525</c:v>
                </c:pt>
                <c:pt idx="220">
                  <c:v>1.0061061681923174</c:v>
                </c:pt>
                <c:pt idx="221">
                  <c:v>1.0061061681923174</c:v>
                </c:pt>
                <c:pt idx="222">
                  <c:v>0.99202776114295466</c:v>
                </c:pt>
                <c:pt idx="223">
                  <c:v>1.0252374026862863</c:v>
                </c:pt>
                <c:pt idx="224">
                  <c:v>1.0802303447685855</c:v>
                </c:pt>
                <c:pt idx="225">
                  <c:v>1.0470207032252543</c:v>
                </c:pt>
                <c:pt idx="226">
                  <c:v>1.0138110616819231</c:v>
                </c:pt>
                <c:pt idx="227">
                  <c:v>0.96253956711438104</c:v>
                </c:pt>
                <c:pt idx="228">
                  <c:v>0.93623812986568566</c:v>
                </c:pt>
                <c:pt idx="229">
                  <c:v>0.99813927624262111</c:v>
                </c:pt>
                <c:pt idx="230">
                  <c:v>0.98272948926340997</c:v>
                </c:pt>
                <c:pt idx="231">
                  <c:v>0.96652301308922905</c:v>
                </c:pt>
                <c:pt idx="232">
                  <c:v>0.93942488664556434</c:v>
                </c:pt>
                <c:pt idx="233">
                  <c:v>0.88575797758576424</c:v>
                </c:pt>
                <c:pt idx="234">
                  <c:v>0.86025322953203887</c:v>
                </c:pt>
                <c:pt idx="235">
                  <c:v>0.83049769013602504</c:v>
                </c:pt>
                <c:pt idx="236">
                  <c:v>0.79064718966549763</c:v>
                </c:pt>
                <c:pt idx="237">
                  <c:v>0.84431409872529706</c:v>
                </c:pt>
                <c:pt idx="238">
                  <c:v>0.79224056805543652</c:v>
                </c:pt>
                <c:pt idx="239">
                  <c:v>0.7757667465138165</c:v>
                </c:pt>
                <c:pt idx="240">
                  <c:v>0.71679035845666861</c:v>
                </c:pt>
                <c:pt idx="241">
                  <c:v>0.7157263238942595</c:v>
                </c:pt>
                <c:pt idx="242">
                  <c:v>0.66153007100692962</c:v>
                </c:pt>
                <c:pt idx="243">
                  <c:v>0.68969223201300345</c:v>
                </c:pt>
                <c:pt idx="244">
                  <c:v>0.70563136281974503</c:v>
                </c:pt>
                <c:pt idx="245">
                  <c:v>0.70934746342715371</c:v>
                </c:pt>
                <c:pt idx="246">
                  <c:v>0.72157049362648618</c:v>
                </c:pt>
                <c:pt idx="247">
                  <c:v>0.6790625802036101</c:v>
                </c:pt>
                <c:pt idx="248">
                  <c:v>0.69287898879288212</c:v>
                </c:pt>
                <c:pt idx="249">
                  <c:v>0.684906749935837</c:v>
                </c:pt>
                <c:pt idx="250">
                  <c:v>0.73485221148087954</c:v>
                </c:pt>
                <c:pt idx="251">
                  <c:v>0.75185537685002979</c:v>
                </c:pt>
                <c:pt idx="252">
                  <c:v>0.74282445033792444</c:v>
                </c:pt>
                <c:pt idx="253">
                  <c:v>0.74335379416545466</c:v>
                </c:pt>
                <c:pt idx="254">
                  <c:v>0.82784027718367703</c:v>
                </c:pt>
                <c:pt idx="255">
                  <c:v>0.81455855932928389</c:v>
                </c:pt>
                <c:pt idx="256">
                  <c:v>0.81668128154675346</c:v>
                </c:pt>
                <c:pt idx="257">
                  <c:v>0.77736012490375583</c:v>
                </c:pt>
                <c:pt idx="258">
                  <c:v>0.81827465993669279</c:v>
                </c:pt>
                <c:pt idx="259">
                  <c:v>0.81349452476687478</c:v>
                </c:pt>
                <c:pt idx="260">
                  <c:v>0.80765035503464788</c:v>
                </c:pt>
                <c:pt idx="261">
                  <c:v>0.81986803832663169</c:v>
                </c:pt>
                <c:pt idx="262">
                  <c:v>0.80286487295748143</c:v>
                </c:pt>
                <c:pt idx="263">
                  <c:v>0.81774531610916257</c:v>
                </c:pt>
                <c:pt idx="264">
                  <c:v>0.85334502523740263</c:v>
                </c:pt>
                <c:pt idx="265">
                  <c:v>0.88416459919582491</c:v>
                </c:pt>
                <c:pt idx="266">
                  <c:v>0.85068761228505418</c:v>
                </c:pt>
                <c:pt idx="267">
                  <c:v>0.82890431174608614</c:v>
                </c:pt>
                <c:pt idx="268">
                  <c:v>0.8698188467790231</c:v>
                </c:pt>
                <c:pt idx="269">
                  <c:v>0.87300560355890133</c:v>
                </c:pt>
                <c:pt idx="270">
                  <c:v>0.82199610745144991</c:v>
                </c:pt>
                <c:pt idx="271">
                  <c:v>0.80392890751989032</c:v>
                </c:pt>
                <c:pt idx="272">
                  <c:v>0.82411882966891947</c:v>
                </c:pt>
                <c:pt idx="273">
                  <c:v>0.78320964154333117</c:v>
                </c:pt>
                <c:pt idx="274">
                  <c:v>0.80658632047223877</c:v>
                </c:pt>
                <c:pt idx="275">
                  <c:v>0.84377940799041817</c:v>
                </c:pt>
                <c:pt idx="276">
                  <c:v>0.7901124989306183</c:v>
                </c:pt>
                <c:pt idx="277">
                  <c:v>0.81986803832663169</c:v>
                </c:pt>
                <c:pt idx="278">
                  <c:v>0.87353494738643156</c:v>
                </c:pt>
                <c:pt idx="279">
                  <c:v>0.85493840362734197</c:v>
                </c:pt>
                <c:pt idx="280">
                  <c:v>0.83581251604072193</c:v>
                </c:pt>
                <c:pt idx="281">
                  <c:v>0.91604286080930786</c:v>
                </c:pt>
                <c:pt idx="282">
                  <c:v>0.84537278638035773</c:v>
                </c:pt>
                <c:pt idx="283">
                  <c:v>0.89053811275558203</c:v>
                </c:pt>
                <c:pt idx="284">
                  <c:v>0.86928415604414377</c:v>
                </c:pt>
                <c:pt idx="285">
                  <c:v>0.86025322953203887</c:v>
                </c:pt>
                <c:pt idx="286">
                  <c:v>0.85547309436222063</c:v>
                </c:pt>
                <c:pt idx="287">
                  <c:v>0.82199610745144991</c:v>
                </c:pt>
                <c:pt idx="288">
                  <c:v>0.81615193771922323</c:v>
                </c:pt>
                <c:pt idx="289">
                  <c:v>0.83581251604072193</c:v>
                </c:pt>
                <c:pt idx="290">
                  <c:v>0.83049769013602504</c:v>
                </c:pt>
                <c:pt idx="291">
                  <c:v>0.86503336470185643</c:v>
                </c:pt>
                <c:pt idx="292">
                  <c:v>0.84909423389511507</c:v>
                </c:pt>
                <c:pt idx="293">
                  <c:v>0.84112199503806995</c:v>
                </c:pt>
                <c:pt idx="294">
                  <c:v>0.8273109333561468</c:v>
                </c:pt>
                <c:pt idx="295">
                  <c:v>0.97661797416374374</c:v>
                </c:pt>
                <c:pt idx="296">
                  <c:v>0.91976430832406542</c:v>
                </c:pt>
                <c:pt idx="297">
                  <c:v>0.89744631705021827</c:v>
                </c:pt>
                <c:pt idx="298">
                  <c:v>0.94739177859526058</c:v>
                </c:pt>
                <c:pt idx="299">
                  <c:v>0.93517409530327655</c:v>
                </c:pt>
                <c:pt idx="300">
                  <c:v>0.91657755154418674</c:v>
                </c:pt>
                <c:pt idx="301">
                  <c:v>0.90541855590726317</c:v>
                </c:pt>
                <c:pt idx="302">
                  <c:v>0.92560847805629209</c:v>
                </c:pt>
                <c:pt idx="303">
                  <c:v>0.92135768671400431</c:v>
                </c:pt>
                <c:pt idx="304">
                  <c:v>0.91763623919924719</c:v>
                </c:pt>
                <c:pt idx="305">
                  <c:v>0.92082834288647453</c:v>
                </c:pt>
                <c:pt idx="306">
                  <c:v>0.88682201214817336</c:v>
                </c:pt>
                <c:pt idx="307">
                  <c:v>0.9006330738300965</c:v>
                </c:pt>
                <c:pt idx="308">
                  <c:v>0.82836962101120681</c:v>
                </c:pt>
                <c:pt idx="309">
                  <c:v>0.84325006416288795</c:v>
                </c:pt>
                <c:pt idx="310">
                  <c:v>0.78426832919839162</c:v>
                </c:pt>
                <c:pt idx="311">
                  <c:v>0.8698188467790231</c:v>
                </c:pt>
                <c:pt idx="312">
                  <c:v>0.91179206946702007</c:v>
                </c:pt>
                <c:pt idx="313">
                  <c:v>0.89957438617503649</c:v>
                </c:pt>
                <c:pt idx="314">
                  <c:v>0.89478890409786982</c:v>
                </c:pt>
                <c:pt idx="315">
                  <c:v>0.93304602617845833</c:v>
                </c:pt>
                <c:pt idx="316">
                  <c:v>0.95377063906236614</c:v>
                </c:pt>
                <c:pt idx="317">
                  <c:v>0.96067884335700238</c:v>
                </c:pt>
                <c:pt idx="318">
                  <c:v>0.94899050389254858</c:v>
                </c:pt>
                <c:pt idx="319">
                  <c:v>0.8894794251005218</c:v>
                </c:pt>
                <c:pt idx="320">
                  <c:v>0.92826589100864054</c:v>
                </c:pt>
                <c:pt idx="321">
                  <c:v>0.89903969544015716</c:v>
                </c:pt>
                <c:pt idx="322">
                  <c:v>0.92613782188382254</c:v>
                </c:pt>
                <c:pt idx="323">
                  <c:v>0.93304602617845833</c:v>
                </c:pt>
                <c:pt idx="324">
                  <c:v>0.93889019591068501</c:v>
                </c:pt>
                <c:pt idx="325">
                  <c:v>1.0637618701343139</c:v>
                </c:pt>
                <c:pt idx="326">
                  <c:v>1.0541962528873299</c:v>
                </c:pt>
                <c:pt idx="327">
                  <c:v>1.0669486269141926</c:v>
                </c:pt>
                <c:pt idx="328">
                  <c:v>1.0924533749679184</c:v>
                </c:pt>
                <c:pt idx="329">
                  <c:v>1.1168940884592353</c:v>
                </c:pt>
                <c:pt idx="330">
                  <c:v>1.1200808452391136</c:v>
                </c:pt>
                <c:pt idx="331">
                  <c:v>1.0823584138934037</c:v>
                </c:pt>
                <c:pt idx="332">
                  <c:v>1.0664139361793139</c:v>
                </c:pt>
                <c:pt idx="333">
                  <c:v>1.1121139532894175</c:v>
                </c:pt>
                <c:pt idx="334">
                  <c:v>1.1556805543673541</c:v>
                </c:pt>
                <c:pt idx="335">
                  <c:v>1.1875641628881852</c:v>
                </c:pt>
                <c:pt idx="336">
                  <c:v>1.196595089400291</c:v>
                </c:pt>
                <c:pt idx="337">
                  <c:v>1.1710903413465648</c:v>
                </c:pt>
                <c:pt idx="338">
                  <c:v>1.1609953802720505</c:v>
                </c:pt>
                <c:pt idx="339">
                  <c:v>1.1184874668491744</c:v>
                </c:pt>
                <c:pt idx="340">
                  <c:v>1.1057350928223113</c:v>
                </c:pt>
                <c:pt idx="341">
                  <c:v>1.1344265976559158</c:v>
                </c:pt>
                <c:pt idx="342">
                  <c:v>1.0605697664470868</c:v>
                </c:pt>
                <c:pt idx="343">
                  <c:v>0.99415048336042422</c:v>
                </c:pt>
                <c:pt idx="344">
                  <c:v>0.99309179570536377</c:v>
                </c:pt>
                <c:pt idx="345">
                  <c:v>0.99574920865771221</c:v>
                </c:pt>
                <c:pt idx="346">
                  <c:v>1.0536615621524508</c:v>
                </c:pt>
                <c:pt idx="347">
                  <c:v>1.0520681837625117</c:v>
                </c:pt>
                <c:pt idx="348">
                  <c:v>1.1562152451022327</c:v>
                </c:pt>
                <c:pt idx="349">
                  <c:v>1.1572792796646421</c:v>
                </c:pt>
                <c:pt idx="350">
                  <c:v>1.1317745316109162</c:v>
                </c:pt>
                <c:pt idx="351">
                  <c:v>1.1445269056377789</c:v>
                </c:pt>
                <c:pt idx="352">
                  <c:v>1.0908599965779793</c:v>
                </c:pt>
                <c:pt idx="353">
                  <c:v>1.1312398408760371</c:v>
                </c:pt>
                <c:pt idx="354">
                  <c:v>1.0908599965779793</c:v>
                </c:pt>
                <c:pt idx="355">
                  <c:v>1.0664139361793139</c:v>
                </c:pt>
                <c:pt idx="356">
                  <c:v>1.1014843014800237</c:v>
                </c:pt>
                <c:pt idx="357">
                  <c:v>1.1073284712122509</c:v>
                </c:pt>
                <c:pt idx="358">
                  <c:v>1.0828877577209339</c:v>
                </c:pt>
                <c:pt idx="359">
                  <c:v>1.0100949610745147</c:v>
                </c:pt>
                <c:pt idx="360">
                  <c:v>0.96599366926169883</c:v>
                </c:pt>
                <c:pt idx="361">
                  <c:v>0.96386560013688061</c:v>
                </c:pt>
                <c:pt idx="362">
                  <c:v>1.0021227222174693</c:v>
                </c:pt>
                <c:pt idx="363">
                  <c:v>1.0042507913422876</c:v>
                </c:pt>
                <c:pt idx="364">
                  <c:v>1.0021227222174693</c:v>
                </c:pt>
                <c:pt idx="365">
                  <c:v>0.97130314825904684</c:v>
                </c:pt>
                <c:pt idx="366">
                  <c:v>0.95483467362477525</c:v>
                </c:pt>
                <c:pt idx="367">
                  <c:v>0.92773654718111032</c:v>
                </c:pt>
                <c:pt idx="368">
                  <c:v>0.93942488664556434</c:v>
                </c:pt>
                <c:pt idx="369">
                  <c:v>0.89425956027033959</c:v>
                </c:pt>
                <c:pt idx="370">
                  <c:v>0.87991380785353757</c:v>
                </c:pt>
                <c:pt idx="371">
                  <c:v>0.9006330738300965</c:v>
                </c:pt>
                <c:pt idx="372">
                  <c:v>0.90860531268714184</c:v>
                </c:pt>
                <c:pt idx="373">
                  <c:v>0.90169710839250561</c:v>
                </c:pt>
                <c:pt idx="374">
                  <c:v>0.84218602960047884</c:v>
                </c:pt>
                <c:pt idx="375">
                  <c:v>0.81508790315681412</c:v>
                </c:pt>
                <c:pt idx="376">
                  <c:v>0.78161091624604317</c:v>
                </c:pt>
                <c:pt idx="377">
                  <c:v>0.79596201557019408</c:v>
                </c:pt>
                <c:pt idx="378">
                  <c:v>0.73698028060569776</c:v>
                </c:pt>
                <c:pt idx="379">
                  <c:v>0.7220998374540164</c:v>
                </c:pt>
                <c:pt idx="380">
                  <c:v>0.71253956711438082</c:v>
                </c:pt>
                <c:pt idx="381">
                  <c:v>0.72635062879630419</c:v>
                </c:pt>
                <c:pt idx="382">
                  <c:v>0.73857365899563709</c:v>
                </c:pt>
                <c:pt idx="383">
                  <c:v>0.74176041577551532</c:v>
                </c:pt>
                <c:pt idx="384">
                  <c:v>0.75398344597484801</c:v>
                </c:pt>
                <c:pt idx="385">
                  <c:v>0.83634185986825216</c:v>
                </c:pt>
                <c:pt idx="386">
                  <c:v>0.91497882624689875</c:v>
                </c:pt>
                <c:pt idx="387">
                  <c:v>0.93942488664556434</c:v>
                </c:pt>
                <c:pt idx="388">
                  <c:v>0.90222645222003583</c:v>
                </c:pt>
                <c:pt idx="389">
                  <c:v>0.89160214731799114</c:v>
                </c:pt>
                <c:pt idx="390">
                  <c:v>0.8751283257763709</c:v>
                </c:pt>
                <c:pt idx="391">
                  <c:v>0.89213149114552137</c:v>
                </c:pt>
                <c:pt idx="392">
                  <c:v>0.89160214731799114</c:v>
                </c:pt>
                <c:pt idx="393">
                  <c:v>0.8517516468474633</c:v>
                </c:pt>
                <c:pt idx="394">
                  <c:v>0.807115664299769</c:v>
                </c:pt>
                <c:pt idx="395">
                  <c:v>0.80233552912995099</c:v>
                </c:pt>
                <c:pt idx="396">
                  <c:v>0.78905381127555829</c:v>
                </c:pt>
                <c:pt idx="397">
                  <c:v>0.77842415946616494</c:v>
                </c:pt>
                <c:pt idx="398">
                  <c:v>0.76248502865942314</c:v>
                </c:pt>
                <c:pt idx="399">
                  <c:v>0.76885854221918026</c:v>
                </c:pt>
                <c:pt idx="400">
                  <c:v>0.73963769355804621</c:v>
                </c:pt>
                <c:pt idx="401">
                  <c:v>0.75239006758490867</c:v>
                </c:pt>
                <c:pt idx="402">
                  <c:v>0.70138057147745747</c:v>
                </c:pt>
                <c:pt idx="403">
                  <c:v>0.69287898879288212</c:v>
                </c:pt>
                <c:pt idx="404">
                  <c:v>0.60361237060484196</c:v>
                </c:pt>
                <c:pt idx="405">
                  <c:v>0.60307767986996308</c:v>
                </c:pt>
                <c:pt idx="406">
                  <c:v>0.562697835571905</c:v>
                </c:pt>
                <c:pt idx="407">
                  <c:v>0.51753250919668048</c:v>
                </c:pt>
                <c:pt idx="408">
                  <c:v>0.5430372572504063</c:v>
                </c:pt>
                <c:pt idx="409">
                  <c:v>0.60573509282231153</c:v>
                </c:pt>
                <c:pt idx="410">
                  <c:v>0.53825712208058851</c:v>
                </c:pt>
                <c:pt idx="411">
                  <c:v>0.63123984087603713</c:v>
                </c:pt>
                <c:pt idx="412">
                  <c:v>0.61264329711694754</c:v>
                </c:pt>
                <c:pt idx="413">
                  <c:v>0.622738258191462</c:v>
                </c:pt>
                <c:pt idx="414">
                  <c:v>0.62061553597399266</c:v>
                </c:pt>
                <c:pt idx="415">
                  <c:v>0.63336791000085535</c:v>
                </c:pt>
                <c:pt idx="416">
                  <c:v>0.62645970570621956</c:v>
                </c:pt>
                <c:pt idx="417">
                  <c:v>0.58873192745316105</c:v>
                </c:pt>
                <c:pt idx="418">
                  <c:v>0.60467640516725107</c:v>
                </c:pt>
                <c:pt idx="419">
                  <c:v>0.63336791000085535</c:v>
                </c:pt>
                <c:pt idx="420">
                  <c:v>0.72157049362648618</c:v>
                </c:pt>
                <c:pt idx="421">
                  <c:v>0.68012661476601921</c:v>
                </c:pt>
                <c:pt idx="422">
                  <c:v>0.70881811959962349</c:v>
                </c:pt>
                <c:pt idx="423">
                  <c:v>0.70350329369492681</c:v>
                </c:pt>
                <c:pt idx="424">
                  <c:v>0.68809350671571567</c:v>
                </c:pt>
                <c:pt idx="425">
                  <c:v>0.64452690563777892</c:v>
                </c:pt>
                <c:pt idx="426">
                  <c:v>0.63921207973308225</c:v>
                </c:pt>
                <c:pt idx="427">
                  <c:v>0.64718431859012737</c:v>
                </c:pt>
                <c:pt idx="428">
                  <c:v>0.60573509282231153</c:v>
                </c:pt>
                <c:pt idx="429">
                  <c:v>0.60945654033706886</c:v>
                </c:pt>
                <c:pt idx="430">
                  <c:v>0.5802303447685857</c:v>
                </c:pt>
                <c:pt idx="431">
                  <c:v>0.56907134913166235</c:v>
                </c:pt>
                <c:pt idx="432">
                  <c:v>0.61742877919411399</c:v>
                </c:pt>
                <c:pt idx="433">
                  <c:v>0.74707524168021222</c:v>
                </c:pt>
                <c:pt idx="434">
                  <c:v>0.66312344939686874</c:v>
                </c:pt>
                <c:pt idx="435">
                  <c:v>0.6285824279236889</c:v>
                </c:pt>
                <c:pt idx="436">
                  <c:v>0.58395179228334326</c:v>
                </c:pt>
                <c:pt idx="437">
                  <c:v>0.5685420053041319</c:v>
                </c:pt>
                <c:pt idx="438">
                  <c:v>0.56907134913166235</c:v>
                </c:pt>
                <c:pt idx="439">
                  <c:v>0.5196605783214987</c:v>
                </c:pt>
                <c:pt idx="440">
                  <c:v>0.55791770040208744</c:v>
                </c:pt>
                <c:pt idx="441">
                  <c:v>0.562168491744375</c:v>
                </c:pt>
                <c:pt idx="442">
                  <c:v>0.60732847121225086</c:v>
                </c:pt>
                <c:pt idx="443">
                  <c:v>0.66046603644452051</c:v>
                </c:pt>
                <c:pt idx="444">
                  <c:v>0.67428244503379231</c:v>
                </c:pt>
                <c:pt idx="445">
                  <c:v>0.65143510993241494</c:v>
                </c:pt>
                <c:pt idx="446">
                  <c:v>0.67746920181367076</c:v>
                </c:pt>
                <c:pt idx="447">
                  <c:v>0.73591624604328865</c:v>
                </c:pt>
                <c:pt idx="448">
                  <c:v>0.68544144067071588</c:v>
                </c:pt>
                <c:pt idx="449">
                  <c:v>0.66790358456668653</c:v>
                </c:pt>
                <c:pt idx="450">
                  <c:v>0.64824300624518782</c:v>
                </c:pt>
                <c:pt idx="451">
                  <c:v>0.60467640516725107</c:v>
                </c:pt>
                <c:pt idx="452">
                  <c:v>0.69925250235263925</c:v>
                </c:pt>
                <c:pt idx="453">
                  <c:v>0.75876358114466558</c:v>
                </c:pt>
                <c:pt idx="454">
                  <c:v>0.76885854221918026</c:v>
                </c:pt>
                <c:pt idx="455">
                  <c:v>0.72954273248353152</c:v>
                </c:pt>
                <c:pt idx="456">
                  <c:v>0.75345410214731778</c:v>
                </c:pt>
                <c:pt idx="457">
                  <c:v>0.74016703738557599</c:v>
                </c:pt>
                <c:pt idx="458">
                  <c:v>0.76035695953460514</c:v>
                </c:pt>
                <c:pt idx="459">
                  <c:v>0.74707524168021222</c:v>
                </c:pt>
                <c:pt idx="460">
                  <c:v>0.78533236376080073</c:v>
                </c:pt>
                <c:pt idx="461">
                  <c:v>0.80392890751989032</c:v>
                </c:pt>
                <c:pt idx="462">
                  <c:v>0.81455855932928389</c:v>
                </c:pt>
                <c:pt idx="463">
                  <c:v>0.85281568140987241</c:v>
                </c:pt>
                <c:pt idx="464">
                  <c:v>0.87991380785353757</c:v>
                </c:pt>
                <c:pt idx="465">
                  <c:v>0.86078257335956865</c:v>
                </c:pt>
                <c:pt idx="466">
                  <c:v>0.84006330738300972</c:v>
                </c:pt>
                <c:pt idx="467">
                  <c:v>0.82411882966891947</c:v>
                </c:pt>
                <c:pt idx="468">
                  <c:v>0.8129598340319959</c:v>
                </c:pt>
                <c:pt idx="469">
                  <c:v>0.81402386859440501</c:v>
                </c:pt>
                <c:pt idx="470">
                  <c:v>0.72954273248353152</c:v>
                </c:pt>
                <c:pt idx="471">
                  <c:v>0.71997711523654728</c:v>
                </c:pt>
                <c:pt idx="472">
                  <c:v>0.73007207631106152</c:v>
                </c:pt>
                <c:pt idx="473">
                  <c:v>0.7157263238942595</c:v>
                </c:pt>
                <c:pt idx="474">
                  <c:v>0.69553640174523035</c:v>
                </c:pt>
                <c:pt idx="475">
                  <c:v>0.66683955000427741</c:v>
                </c:pt>
                <c:pt idx="476">
                  <c:v>0.66949696295662586</c:v>
                </c:pt>
                <c:pt idx="477">
                  <c:v>0.66365279322439896</c:v>
                </c:pt>
                <c:pt idx="478">
                  <c:v>0.65833796731970229</c:v>
                </c:pt>
                <c:pt idx="479">
                  <c:v>0.59298271879544862</c:v>
                </c:pt>
                <c:pt idx="480">
                  <c:v>0.68065595859354944</c:v>
                </c:pt>
                <c:pt idx="481">
                  <c:v>0.65408717597741473</c:v>
                </c:pt>
                <c:pt idx="482">
                  <c:v>0.5993615792625544</c:v>
                </c:pt>
                <c:pt idx="483">
                  <c:v>0.53772243134570963</c:v>
                </c:pt>
                <c:pt idx="484">
                  <c:v>0.50956027033963536</c:v>
                </c:pt>
                <c:pt idx="485">
                  <c:v>0.53772243134570963</c:v>
                </c:pt>
                <c:pt idx="486">
                  <c:v>0.49627855248524266</c:v>
                </c:pt>
                <c:pt idx="487">
                  <c:v>0.44261164342544257</c:v>
                </c:pt>
                <c:pt idx="488">
                  <c:v>0.41657755154418674</c:v>
                </c:pt>
                <c:pt idx="489">
                  <c:v>0.38788604671058269</c:v>
                </c:pt>
                <c:pt idx="490">
                  <c:v>0.38682201214817358</c:v>
                </c:pt>
                <c:pt idx="491">
                  <c:v>0.40329048678244495</c:v>
                </c:pt>
                <c:pt idx="492">
                  <c:v>0.40807596885961139</c:v>
                </c:pt>
                <c:pt idx="493">
                  <c:v>0.39213683805287025</c:v>
                </c:pt>
                <c:pt idx="494">
                  <c:v>0.42985926939857988</c:v>
                </c:pt>
                <c:pt idx="495">
                  <c:v>0.40435452134485406</c:v>
                </c:pt>
                <c:pt idx="496">
                  <c:v>0.35653178201728108</c:v>
                </c:pt>
                <c:pt idx="497">
                  <c:v>0.38097784241594668</c:v>
                </c:pt>
                <c:pt idx="498">
                  <c:v>0.41179206946702029</c:v>
                </c:pt>
                <c:pt idx="499">
                  <c:v>0.38575797758576447</c:v>
                </c:pt>
                <c:pt idx="500">
                  <c:v>0.34484344255282751</c:v>
                </c:pt>
                <c:pt idx="501">
                  <c:v>0.36609739926426532</c:v>
                </c:pt>
                <c:pt idx="502">
                  <c:v>0.39319552570793048</c:v>
                </c:pt>
                <c:pt idx="503">
                  <c:v>0.35706647275216019</c:v>
                </c:pt>
                <c:pt idx="504">
                  <c:v>0.34803019933270596</c:v>
                </c:pt>
                <c:pt idx="505">
                  <c:v>0.39266618188040026</c:v>
                </c:pt>
                <c:pt idx="506">
                  <c:v>0.39903969544015738</c:v>
                </c:pt>
                <c:pt idx="507">
                  <c:v>0.37725639490118912</c:v>
                </c:pt>
                <c:pt idx="508">
                  <c:v>0.38044315168106757</c:v>
                </c:pt>
                <c:pt idx="509">
                  <c:v>0.37884977329112846</c:v>
                </c:pt>
                <c:pt idx="510">
                  <c:v>0.29702070322525453</c:v>
                </c:pt>
                <c:pt idx="511">
                  <c:v>0.30287021986483009</c:v>
                </c:pt>
                <c:pt idx="512">
                  <c:v>0.27523740268628627</c:v>
                </c:pt>
                <c:pt idx="513">
                  <c:v>0.26567178543930181</c:v>
                </c:pt>
                <c:pt idx="514">
                  <c:v>0.28851912054067941</c:v>
                </c:pt>
                <c:pt idx="515">
                  <c:v>0.27523740268628627</c:v>
                </c:pt>
                <c:pt idx="516">
                  <c:v>0.21306891094191127</c:v>
                </c:pt>
                <c:pt idx="517">
                  <c:v>0.28055222859098294</c:v>
                </c:pt>
                <c:pt idx="518">
                  <c:v>0.34431409872529728</c:v>
                </c:pt>
                <c:pt idx="519">
                  <c:v>0.37034819060655311</c:v>
                </c:pt>
                <c:pt idx="520">
                  <c:v>0.37672705107365889</c:v>
                </c:pt>
                <c:pt idx="521">
                  <c:v>0.40594789973479339</c:v>
                </c:pt>
                <c:pt idx="522">
                  <c:v>0.37778573872871934</c:v>
                </c:pt>
                <c:pt idx="523">
                  <c:v>0.3894794251005218</c:v>
                </c:pt>
                <c:pt idx="524">
                  <c:v>0.38310056463341602</c:v>
                </c:pt>
                <c:pt idx="525">
                  <c:v>0.40541855590726317</c:v>
                </c:pt>
                <c:pt idx="526">
                  <c:v>0.40807596885961139</c:v>
                </c:pt>
                <c:pt idx="527">
                  <c:v>0.40754127812473273</c:v>
                </c:pt>
                <c:pt idx="528">
                  <c:v>0.43570343913080656</c:v>
                </c:pt>
                <c:pt idx="529">
                  <c:v>0.43995423047309412</c:v>
                </c:pt>
                <c:pt idx="530">
                  <c:v>0.46705235691675928</c:v>
                </c:pt>
                <c:pt idx="531">
                  <c:v>0.44899050389254835</c:v>
                </c:pt>
                <c:pt idx="532">
                  <c:v>0.41232676020189918</c:v>
                </c:pt>
                <c:pt idx="533">
                  <c:v>0.4128561040294294</c:v>
                </c:pt>
                <c:pt idx="534">
                  <c:v>0.42029365215159542</c:v>
                </c:pt>
                <c:pt idx="535">
                  <c:v>0.40276114295491472</c:v>
                </c:pt>
                <c:pt idx="536">
                  <c:v>0.41073338181195984</c:v>
                </c:pt>
                <c:pt idx="537">
                  <c:v>0.38788604671058269</c:v>
                </c:pt>
                <c:pt idx="538">
                  <c:v>0.43251668235092811</c:v>
                </c:pt>
                <c:pt idx="539">
                  <c:v>0.38097784241594668</c:v>
                </c:pt>
                <c:pt idx="540">
                  <c:v>0.34590747711523662</c:v>
                </c:pt>
                <c:pt idx="541">
                  <c:v>0.37300560355890156</c:v>
                </c:pt>
                <c:pt idx="542">
                  <c:v>0.40701193429720228</c:v>
                </c:pt>
                <c:pt idx="543">
                  <c:v>0.39213683805287025</c:v>
                </c:pt>
                <c:pt idx="544">
                  <c:v>0.42773654718111054</c:v>
                </c:pt>
                <c:pt idx="545">
                  <c:v>0.48405552228590976</c:v>
                </c:pt>
                <c:pt idx="546">
                  <c:v>0.48990503892548531</c:v>
                </c:pt>
                <c:pt idx="547">
                  <c:v>0.48140345624091019</c:v>
                </c:pt>
                <c:pt idx="548">
                  <c:v>0.50796689194969624</c:v>
                </c:pt>
                <c:pt idx="549">
                  <c:v>0.49415583026777288</c:v>
                </c:pt>
                <c:pt idx="550">
                  <c:v>0.53081422705107362</c:v>
                </c:pt>
                <c:pt idx="551">
                  <c:v>0.53187826161348273</c:v>
                </c:pt>
                <c:pt idx="552">
                  <c:v>0.5797010009410557</c:v>
                </c:pt>
                <c:pt idx="553">
                  <c:v>0.57172876208401058</c:v>
                </c:pt>
                <c:pt idx="554">
                  <c:v>0.6301811532209769</c:v>
                </c:pt>
                <c:pt idx="555">
                  <c:v>0.60095495765249374</c:v>
                </c:pt>
                <c:pt idx="556">
                  <c:v>0.6418694926854307</c:v>
                </c:pt>
                <c:pt idx="557">
                  <c:v>0.61211395328941731</c:v>
                </c:pt>
                <c:pt idx="558">
                  <c:v>0.62539567114381045</c:v>
                </c:pt>
                <c:pt idx="559">
                  <c:v>0.6168940884592351</c:v>
                </c:pt>
                <c:pt idx="560">
                  <c:v>0.63868273590555225</c:v>
                </c:pt>
                <c:pt idx="561">
                  <c:v>0.5860745145008126</c:v>
                </c:pt>
                <c:pt idx="562">
                  <c:v>0.53825712208058851</c:v>
                </c:pt>
                <c:pt idx="563">
                  <c:v>0.53028488322354339</c:v>
                </c:pt>
                <c:pt idx="564">
                  <c:v>0.52975553939601316</c:v>
                </c:pt>
                <c:pt idx="565">
                  <c:v>0.53825712208058851</c:v>
                </c:pt>
                <c:pt idx="566">
                  <c:v>0.53081422705107362</c:v>
                </c:pt>
                <c:pt idx="567">
                  <c:v>0.50743754812216602</c:v>
                </c:pt>
                <c:pt idx="568">
                  <c:v>0.50850158268457513</c:v>
                </c:pt>
                <c:pt idx="569">
                  <c:v>0.50318675677987845</c:v>
                </c:pt>
                <c:pt idx="570">
                  <c:v>0.50796689194969624</c:v>
                </c:pt>
                <c:pt idx="571">
                  <c:v>0.6052057489947813</c:v>
                </c:pt>
                <c:pt idx="572">
                  <c:v>0.6418694926854307</c:v>
                </c:pt>
                <c:pt idx="573">
                  <c:v>0.60945654033706886</c:v>
                </c:pt>
                <c:pt idx="574">
                  <c:v>0.6052057489947813</c:v>
                </c:pt>
                <c:pt idx="575">
                  <c:v>0.61795812302164421</c:v>
                </c:pt>
                <c:pt idx="576">
                  <c:v>0.68544144067071588</c:v>
                </c:pt>
                <c:pt idx="577">
                  <c:v>0.62645970570621956</c:v>
                </c:pt>
                <c:pt idx="578">
                  <c:v>0.62698904953374957</c:v>
                </c:pt>
                <c:pt idx="579">
                  <c:v>0.59457609718538773</c:v>
                </c:pt>
                <c:pt idx="580">
                  <c:v>0.61955150141158355</c:v>
                </c:pt>
                <c:pt idx="581">
                  <c:v>0.62593036187868933</c:v>
                </c:pt>
                <c:pt idx="582">
                  <c:v>0.65408717597741473</c:v>
                </c:pt>
                <c:pt idx="583">
                  <c:v>0.65674458892976295</c:v>
                </c:pt>
                <c:pt idx="584">
                  <c:v>0.64771366241765738</c:v>
                </c:pt>
                <c:pt idx="585">
                  <c:v>0.62433163658140134</c:v>
                </c:pt>
                <c:pt idx="586">
                  <c:v>0.62167957053640177</c:v>
                </c:pt>
                <c:pt idx="587">
                  <c:v>0.59670416631020617</c:v>
                </c:pt>
                <c:pt idx="588">
                  <c:v>0.6110499187270082</c:v>
                </c:pt>
                <c:pt idx="589">
                  <c:v>0.78426832919839162</c:v>
                </c:pt>
                <c:pt idx="590">
                  <c:v>0.7662064761741807</c:v>
                </c:pt>
                <c:pt idx="591">
                  <c:v>0.78905381127555829</c:v>
                </c:pt>
                <c:pt idx="592">
                  <c:v>0.79224056805543652</c:v>
                </c:pt>
                <c:pt idx="593">
                  <c:v>0.7720506459064076</c:v>
                </c:pt>
                <c:pt idx="594">
                  <c:v>0.8209320728890408</c:v>
                </c:pt>
                <c:pt idx="595">
                  <c:v>0.80127149456754188</c:v>
                </c:pt>
                <c:pt idx="596">
                  <c:v>0.77842415946616494</c:v>
                </c:pt>
                <c:pt idx="597">
                  <c:v>0.74601120711780311</c:v>
                </c:pt>
                <c:pt idx="598">
                  <c:v>0.78586170758833096</c:v>
                </c:pt>
                <c:pt idx="599">
                  <c:v>0.83634185986825216</c:v>
                </c:pt>
                <c:pt idx="600">
                  <c:v>0.84112199503806995</c:v>
                </c:pt>
                <c:pt idx="601">
                  <c:v>0.84165668577294861</c:v>
                </c:pt>
                <c:pt idx="602">
                  <c:v>0.87034819060655289</c:v>
                </c:pt>
                <c:pt idx="603">
                  <c:v>0.85547309436222063</c:v>
                </c:pt>
                <c:pt idx="604">
                  <c:v>0.86237595174950799</c:v>
                </c:pt>
                <c:pt idx="605">
                  <c:v>1.0180618530242107</c:v>
                </c:pt>
                <c:pt idx="606">
                  <c:v>1.0632271793994352</c:v>
                </c:pt>
                <c:pt idx="607">
                  <c:v>1.0441012918128152</c:v>
                </c:pt>
                <c:pt idx="608">
                  <c:v>1.1402761142954914</c:v>
                </c:pt>
                <c:pt idx="609">
                  <c:v>1.0940467533578575</c:v>
                </c:pt>
                <c:pt idx="610">
                  <c:v>1.1360253229532038</c:v>
                </c:pt>
                <c:pt idx="611">
                  <c:v>1.1679035845666865</c:v>
                </c:pt>
                <c:pt idx="612">
                  <c:v>1.173218410471383</c:v>
                </c:pt>
                <c:pt idx="613">
                  <c:v>1.1679035845666865</c:v>
                </c:pt>
                <c:pt idx="614">
                  <c:v>1.1572792796646421</c:v>
                </c:pt>
                <c:pt idx="615">
                  <c:v>1.0844811361108735</c:v>
                </c:pt>
                <c:pt idx="616">
                  <c:v>1.1248663273162802</c:v>
                </c:pt>
                <c:pt idx="617">
                  <c:v>1.1604660364445207</c:v>
                </c:pt>
                <c:pt idx="618">
                  <c:v>1.0568536658396783</c:v>
                </c:pt>
                <c:pt idx="619">
                  <c:v>1.1014843014800237</c:v>
                </c:pt>
                <c:pt idx="620">
                  <c:v>1.0871385490632219</c:v>
                </c:pt>
                <c:pt idx="621">
                  <c:v>1.0982975447001455</c:v>
                </c:pt>
                <c:pt idx="622">
                  <c:v>1.0669486269141926</c:v>
                </c:pt>
                <c:pt idx="623">
                  <c:v>1.0690713491316619</c:v>
                </c:pt>
                <c:pt idx="624">
                  <c:v>1.1126432971169473</c:v>
                </c:pt>
                <c:pt idx="625">
                  <c:v>1.0775729318162375</c:v>
                </c:pt>
                <c:pt idx="626">
                  <c:v>0.99255710497048488</c:v>
                </c:pt>
                <c:pt idx="627">
                  <c:v>1.0037161006074085</c:v>
                </c:pt>
                <c:pt idx="628">
                  <c:v>1.0722634528188895</c:v>
                </c:pt>
                <c:pt idx="629">
                  <c:v>1.0355997091282401</c:v>
                </c:pt>
                <c:pt idx="630">
                  <c:v>1.0541962528873299</c:v>
                </c:pt>
                <c:pt idx="631">
                  <c:v>0.99787193087518178</c:v>
                </c:pt>
                <c:pt idx="632">
                  <c:v>1.0037161006074085</c:v>
                </c:pt>
                <c:pt idx="633">
                  <c:v>0.97980473094362197</c:v>
                </c:pt>
                <c:pt idx="634">
                  <c:v>0.97661797416374374</c:v>
                </c:pt>
                <c:pt idx="635">
                  <c:v>0.97130314825904684</c:v>
                </c:pt>
                <c:pt idx="636">
                  <c:v>0.91657755154418674</c:v>
                </c:pt>
                <c:pt idx="637">
                  <c:v>0.90169710839250561</c:v>
                </c:pt>
                <c:pt idx="638">
                  <c:v>0.9691804260415775</c:v>
                </c:pt>
                <c:pt idx="639">
                  <c:v>0.97024446060398661</c:v>
                </c:pt>
                <c:pt idx="640">
                  <c:v>0.98989969201813643</c:v>
                </c:pt>
                <c:pt idx="641">
                  <c:v>1.0254994011463769</c:v>
                </c:pt>
                <c:pt idx="642">
                  <c:v>1.041973222687997</c:v>
                </c:pt>
                <c:pt idx="643">
                  <c:v>1.0403798442980579</c:v>
                </c:pt>
                <c:pt idx="644">
                  <c:v>1.0690713491316619</c:v>
                </c:pt>
                <c:pt idx="645">
                  <c:v>1.0456946702027548</c:v>
                </c:pt>
                <c:pt idx="646">
                  <c:v>1.0292208486611343</c:v>
                </c:pt>
                <c:pt idx="647">
                  <c:v>1.0196552314141498</c:v>
                </c:pt>
                <c:pt idx="648">
                  <c:v>1.0563189751047992</c:v>
                </c:pt>
                <c:pt idx="649">
                  <c:v>1.046224014030285</c:v>
                </c:pt>
                <c:pt idx="650">
                  <c:v>1.0244407134913165</c:v>
                </c:pt>
                <c:pt idx="651">
                  <c:v>0.97396056121139529</c:v>
                </c:pt>
                <c:pt idx="652">
                  <c:v>0.98724762597313709</c:v>
                </c:pt>
                <c:pt idx="653">
                  <c:v>0.99149841731542487</c:v>
                </c:pt>
                <c:pt idx="654">
                  <c:v>1.0207192659765587</c:v>
                </c:pt>
                <c:pt idx="655">
                  <c:v>1.014875096244332</c:v>
                </c:pt>
                <c:pt idx="656">
                  <c:v>0.99521451792283333</c:v>
                </c:pt>
                <c:pt idx="657">
                  <c:v>1.0510094961074516</c:v>
                </c:pt>
                <c:pt idx="658">
                  <c:v>1.046224014030285</c:v>
                </c:pt>
                <c:pt idx="659">
                  <c:v>1.0706647275216015</c:v>
                </c:pt>
                <c:pt idx="660">
                  <c:v>1.0026520660449996</c:v>
                </c:pt>
                <c:pt idx="661">
                  <c:v>1.0355997091282401</c:v>
                </c:pt>
                <c:pt idx="662">
                  <c:v>1.0185965437590898</c:v>
                </c:pt>
                <c:pt idx="663">
                  <c:v>1.0143457524168018</c:v>
                </c:pt>
                <c:pt idx="664">
                  <c:v>0.98352617845837953</c:v>
                </c:pt>
                <c:pt idx="665">
                  <c:v>0.98564890067584909</c:v>
                </c:pt>
                <c:pt idx="666">
                  <c:v>0.97714731799127397</c:v>
                </c:pt>
                <c:pt idx="667">
                  <c:v>1.0573830096672086</c:v>
                </c:pt>
                <c:pt idx="668">
                  <c:v>1.0302848832235436</c:v>
                </c:pt>
                <c:pt idx="669">
                  <c:v>1.0143457524168018</c:v>
                </c:pt>
                <c:pt idx="670">
                  <c:v>0.98459021302078864</c:v>
                </c:pt>
                <c:pt idx="671">
                  <c:v>1.0318782616134827</c:v>
                </c:pt>
                <c:pt idx="672">
                  <c:v>1.0398505004705281</c:v>
                </c:pt>
                <c:pt idx="673">
                  <c:v>1.0212539567114383</c:v>
                </c:pt>
                <c:pt idx="674">
                  <c:v>1.0143457524168018</c:v>
                </c:pt>
                <c:pt idx="675">
                  <c:v>0.99627855248524244</c:v>
                </c:pt>
                <c:pt idx="676">
                  <c:v>1.0015933783899396</c:v>
                </c:pt>
                <c:pt idx="677">
                  <c:v>1.00105868765506</c:v>
                </c:pt>
                <c:pt idx="678">
                  <c:v>1.0180618530242107</c:v>
                </c:pt>
                <c:pt idx="679">
                  <c:v>1.0510094961074516</c:v>
                </c:pt>
                <c:pt idx="680">
                  <c:v>1.0499454615450423</c:v>
                </c:pt>
                <c:pt idx="681">
                  <c:v>1.0382571220805885</c:v>
                </c:pt>
                <c:pt idx="682">
                  <c:v>1.0658845923517837</c:v>
                </c:pt>
                <c:pt idx="683">
                  <c:v>1.0605697664470868</c:v>
                </c:pt>
                <c:pt idx="684">
                  <c:v>1.1052057489947811</c:v>
                </c:pt>
                <c:pt idx="685">
                  <c:v>1.0403798442980579</c:v>
                </c:pt>
                <c:pt idx="686">
                  <c:v>1.0850158268457522</c:v>
                </c:pt>
                <c:pt idx="687">
                  <c:v>1.0648205577893748</c:v>
                </c:pt>
                <c:pt idx="688">
                  <c:v>1.0616338010094957</c:v>
                </c:pt>
                <c:pt idx="689">
                  <c:v>1.080765035503465</c:v>
                </c:pt>
                <c:pt idx="690">
                  <c:v>1.0924533749679184</c:v>
                </c:pt>
                <c:pt idx="691">
                  <c:v>1.080765035503465</c:v>
                </c:pt>
                <c:pt idx="692">
                  <c:v>1.0637618701343139</c:v>
                </c:pt>
                <c:pt idx="693">
                  <c:v>1.0951107879202668</c:v>
                </c:pt>
                <c:pt idx="694">
                  <c:v>1.103612370604842</c:v>
                </c:pt>
                <c:pt idx="695">
                  <c:v>1.1338972538283856</c:v>
                </c:pt>
                <c:pt idx="696">
                  <c:v>1.1179581230216442</c:v>
                </c:pt>
                <c:pt idx="697">
                  <c:v>1.100954957652494</c:v>
                </c:pt>
                <c:pt idx="698">
                  <c:v>1.1142366755068869</c:v>
                </c:pt>
                <c:pt idx="699">
                  <c:v>1.1392120797330825</c:v>
                </c:pt>
                <c:pt idx="700">
                  <c:v>1.1291171186585678</c:v>
                </c:pt>
                <c:pt idx="701">
                  <c:v>1.1413348019505518</c:v>
                </c:pt>
                <c:pt idx="702">
                  <c:v>1.1184874668491744</c:v>
                </c:pt>
                <c:pt idx="703">
                  <c:v>1.1094565403370691</c:v>
                </c:pt>
                <c:pt idx="704">
                  <c:v>1.1232729489263407</c:v>
                </c:pt>
                <c:pt idx="705">
                  <c:v>1.0998909230900846</c:v>
                </c:pt>
                <c:pt idx="706">
                  <c:v>1.1195515014115838</c:v>
                </c:pt>
                <c:pt idx="707">
                  <c:v>1.1524937975874754</c:v>
                </c:pt>
                <c:pt idx="708">
                  <c:v>1.1886281974505946</c:v>
                </c:pt>
                <c:pt idx="709">
                  <c:v>1.1981884677902301</c:v>
                </c:pt>
                <c:pt idx="710">
                  <c:v>1.2173197022841986</c:v>
                </c:pt>
                <c:pt idx="711">
                  <c:v>1.2242279065788346</c:v>
                </c:pt>
                <c:pt idx="712">
                  <c:v>1.1546218667122936</c:v>
                </c:pt>
                <c:pt idx="713">
                  <c:v>1.103612370604842</c:v>
                </c:pt>
                <c:pt idx="714">
                  <c:v>1.1057350928223113</c:v>
                </c:pt>
                <c:pt idx="715">
                  <c:v>1.0589763880571477</c:v>
                </c:pt>
                <c:pt idx="716">
                  <c:v>1.0515388399349814</c:v>
                </c:pt>
                <c:pt idx="717">
                  <c:v>1.0398505004705281</c:v>
                </c:pt>
                <c:pt idx="718">
                  <c:v>1.0770435879887073</c:v>
                </c:pt>
                <c:pt idx="719">
                  <c:v>1.1115792625545384</c:v>
                </c:pt>
                <c:pt idx="720">
                  <c:v>1.0919186842330393</c:v>
                </c:pt>
                <c:pt idx="721">
                  <c:v>1.0595110787920268</c:v>
                </c:pt>
                <c:pt idx="722">
                  <c:v>1.0977682008726153</c:v>
                </c:pt>
                <c:pt idx="723">
                  <c:v>1.0866092052356917</c:v>
                </c:pt>
                <c:pt idx="724">
                  <c:v>1.0781076225511166</c:v>
                </c:pt>
                <c:pt idx="725">
                  <c:v>1.1386773889982034</c:v>
                </c:pt>
                <c:pt idx="726">
                  <c:v>1.1439922149029003</c:v>
                </c:pt>
                <c:pt idx="727">
                  <c:v>1.1540871759774145</c:v>
                </c:pt>
                <c:pt idx="728">
                  <c:v>1.1312398408760371</c:v>
                </c:pt>
                <c:pt idx="729">
                  <c:v>1.1439922149029003</c:v>
                </c:pt>
                <c:pt idx="730">
                  <c:v>1.1849067499358368</c:v>
                </c:pt>
                <c:pt idx="731">
                  <c:v>1.1689676191290959</c:v>
                </c:pt>
                <c:pt idx="732">
                  <c:v>1.1200808452391136</c:v>
                </c:pt>
                <c:pt idx="733">
                  <c:v>1.0882025836256308</c:v>
                </c:pt>
                <c:pt idx="734">
                  <c:v>1.0839517922833433</c:v>
                </c:pt>
                <c:pt idx="735">
                  <c:v>1.0828877577209339</c:v>
                </c:pt>
                <c:pt idx="736">
                  <c:v>1.1179581230216442</c:v>
                </c:pt>
                <c:pt idx="737">
                  <c:v>1.0908599965779793</c:v>
                </c:pt>
                <c:pt idx="738">
                  <c:v>1.0892666181880402</c:v>
                </c:pt>
                <c:pt idx="739">
                  <c:v>1.0674779707417228</c:v>
                </c:pt>
                <c:pt idx="740">
                  <c:v>1.1062697835571904</c:v>
                </c:pt>
                <c:pt idx="741">
                  <c:v>1.1094565403370691</c:v>
                </c:pt>
                <c:pt idx="742">
                  <c:v>1.096704166310206</c:v>
                </c:pt>
                <c:pt idx="743">
                  <c:v>1.0882025836256308</c:v>
                </c:pt>
                <c:pt idx="744">
                  <c:v>1.132303875438446</c:v>
                </c:pt>
                <c:pt idx="745">
                  <c:v>1.1445269056377789</c:v>
                </c:pt>
                <c:pt idx="746">
                  <c:v>1.1370840106082643</c:v>
                </c:pt>
                <c:pt idx="747">
                  <c:v>1.115830053896826</c:v>
                </c:pt>
                <c:pt idx="748">
                  <c:v>1.0743861750363588</c:v>
                </c:pt>
                <c:pt idx="749">
                  <c:v>1.0993615792625544</c:v>
                </c:pt>
                <c:pt idx="750">
                  <c:v>1.0658845923517837</c:v>
                </c:pt>
                <c:pt idx="751">
                  <c:v>1.0371930875181796</c:v>
                </c:pt>
                <c:pt idx="752">
                  <c:v>0.99840127470271178</c:v>
                </c:pt>
                <c:pt idx="753">
                  <c:v>0.97608863033621351</c:v>
                </c:pt>
                <c:pt idx="754">
                  <c:v>1.0015933783899396</c:v>
                </c:pt>
                <c:pt idx="755">
                  <c:v>0.99946530926512067</c:v>
                </c:pt>
                <c:pt idx="756">
                  <c:v>1.0297555393960134</c:v>
                </c:pt>
                <c:pt idx="757">
                  <c:v>1.0270981264436649</c:v>
                </c:pt>
                <c:pt idx="758">
                  <c:v>1.0085015826845751</c:v>
                </c:pt>
                <c:pt idx="759">
                  <c:v>1.0058441697322267</c:v>
                </c:pt>
                <c:pt idx="760">
                  <c:v>0.98459021302078864</c:v>
                </c:pt>
                <c:pt idx="761">
                  <c:v>1.0122176832919836</c:v>
                </c:pt>
                <c:pt idx="762">
                  <c:v>1.0106243049020445</c:v>
                </c:pt>
                <c:pt idx="763">
                  <c:v>1.0111536487295747</c:v>
                </c:pt>
                <c:pt idx="764">
                  <c:v>1.0015933783899396</c:v>
                </c:pt>
                <c:pt idx="765">
                  <c:v>0.96333625630935038</c:v>
                </c:pt>
                <c:pt idx="766">
                  <c:v>0.93676747369321589</c:v>
                </c:pt>
                <c:pt idx="767">
                  <c:v>0.93411006074086744</c:v>
                </c:pt>
                <c:pt idx="768">
                  <c:v>0.94473971255026079</c:v>
                </c:pt>
                <c:pt idx="769">
                  <c:v>0.93411006074086744</c:v>
                </c:pt>
                <c:pt idx="770">
                  <c:v>0.93942488664556434</c:v>
                </c:pt>
                <c:pt idx="771">
                  <c:v>0.94367567798785168</c:v>
                </c:pt>
                <c:pt idx="772">
                  <c:v>0.9574920865771237</c:v>
                </c:pt>
                <c:pt idx="773">
                  <c:v>1.0058441697322267</c:v>
                </c:pt>
                <c:pt idx="774">
                  <c:v>1.0026520660449996</c:v>
                </c:pt>
                <c:pt idx="775">
                  <c:v>0.97608863033621351</c:v>
                </c:pt>
                <c:pt idx="776">
                  <c:v>0.99255710497048488</c:v>
                </c:pt>
                <c:pt idx="777">
                  <c:v>0.96014415262212327</c:v>
                </c:pt>
                <c:pt idx="778">
                  <c:v>0.96599366926169883</c:v>
                </c:pt>
                <c:pt idx="779">
                  <c:v>0.92826589100864054</c:v>
                </c:pt>
                <c:pt idx="780">
                  <c:v>0.91019869107708073</c:v>
                </c:pt>
                <c:pt idx="781">
                  <c:v>0.91604286080930786</c:v>
                </c:pt>
                <c:pt idx="782">
                  <c:v>0.91604286080930786</c:v>
                </c:pt>
                <c:pt idx="783">
                  <c:v>0.91285610402942918</c:v>
                </c:pt>
                <c:pt idx="784">
                  <c:v>0.87566301651124978</c:v>
                </c:pt>
                <c:pt idx="785">
                  <c:v>0.90966934724955095</c:v>
                </c:pt>
                <c:pt idx="786">
                  <c:v>1.0143457524168018</c:v>
                </c:pt>
                <c:pt idx="787">
                  <c:v>1.0276274702711952</c:v>
                </c:pt>
                <c:pt idx="788">
                  <c:v>1.0664139361793139</c:v>
                </c:pt>
                <c:pt idx="789">
                  <c:v>1.2072247412096844</c:v>
                </c:pt>
                <c:pt idx="790">
                  <c:v>1.1519644537599452</c:v>
                </c:pt>
                <c:pt idx="791">
                  <c:v>1.1509004191975358</c:v>
                </c:pt>
                <c:pt idx="792">
                  <c:v>1.1439922149029003</c:v>
                </c:pt>
                <c:pt idx="793">
                  <c:v>1.1423988365129607</c:v>
                </c:pt>
                <c:pt idx="794">
                  <c:v>1.1211448798015224</c:v>
                </c:pt>
                <c:pt idx="795">
                  <c:v>1.1179581230216442</c:v>
                </c:pt>
                <c:pt idx="796">
                  <c:v>1.1269890495337496</c:v>
                </c:pt>
                <c:pt idx="797">
                  <c:v>1.1482430062451878</c:v>
                </c:pt>
                <c:pt idx="798">
                  <c:v>1.170560997519035</c:v>
                </c:pt>
                <c:pt idx="799">
                  <c:v>1.1748117888613225</c:v>
                </c:pt>
                <c:pt idx="800">
                  <c:v>1.1604660364445207</c:v>
                </c:pt>
                <c:pt idx="801">
                  <c:v>1.1668395500042776</c:v>
                </c:pt>
                <c:pt idx="802">
                  <c:v>1.1381480451706731</c:v>
                </c:pt>
                <c:pt idx="803">
                  <c:v>1.1147660193344171</c:v>
                </c:pt>
                <c:pt idx="804">
                  <c:v>1.0887319274531611</c:v>
                </c:pt>
                <c:pt idx="805">
                  <c:v>1.0908599965779793</c:v>
                </c:pt>
                <c:pt idx="806">
                  <c:v>0.99840127470271178</c:v>
                </c:pt>
                <c:pt idx="807">
                  <c:v>0.96120818718453216</c:v>
                </c:pt>
                <c:pt idx="808">
                  <c:v>0.92667251261870121</c:v>
                </c:pt>
                <c:pt idx="809">
                  <c:v>0.91497882624689875</c:v>
                </c:pt>
                <c:pt idx="810">
                  <c:v>0.937831508255625</c:v>
                </c:pt>
                <c:pt idx="811">
                  <c:v>0.93676747369321589</c:v>
                </c:pt>
                <c:pt idx="812">
                  <c:v>0.91179206946702007</c:v>
                </c:pt>
                <c:pt idx="813">
                  <c:v>0.9319873385233981</c:v>
                </c:pt>
                <c:pt idx="814">
                  <c:v>0.94579840020532124</c:v>
                </c:pt>
                <c:pt idx="815">
                  <c:v>0.93889019591068501</c:v>
                </c:pt>
                <c:pt idx="816">
                  <c:v>0.92879523483617055</c:v>
                </c:pt>
                <c:pt idx="817">
                  <c:v>0.90648259046967228</c:v>
                </c:pt>
                <c:pt idx="818">
                  <c:v>0.91019869107708073</c:v>
                </c:pt>
                <c:pt idx="819">
                  <c:v>0.91976430832406542</c:v>
                </c:pt>
                <c:pt idx="820">
                  <c:v>0.90807596885961162</c:v>
                </c:pt>
                <c:pt idx="821">
                  <c:v>0.88894473436564292</c:v>
                </c:pt>
                <c:pt idx="822">
                  <c:v>0.88097784241594668</c:v>
                </c:pt>
                <c:pt idx="823">
                  <c:v>0.87459898194884067</c:v>
                </c:pt>
                <c:pt idx="824">
                  <c:v>0.89425956027033959</c:v>
                </c:pt>
                <c:pt idx="825">
                  <c:v>0.96227222174694127</c:v>
                </c:pt>
                <c:pt idx="826">
                  <c:v>0.91710689537171697</c:v>
                </c:pt>
                <c:pt idx="827">
                  <c:v>0.91817092993412608</c:v>
                </c:pt>
                <c:pt idx="828">
                  <c:v>0.90169710839250561</c:v>
                </c:pt>
                <c:pt idx="829">
                  <c:v>0.91179206946702007</c:v>
                </c:pt>
                <c:pt idx="830">
                  <c:v>0.90169710839250561</c:v>
                </c:pt>
                <c:pt idx="831">
                  <c:v>0.85865985114209953</c:v>
                </c:pt>
                <c:pt idx="832">
                  <c:v>0.83793523825819149</c:v>
                </c:pt>
                <c:pt idx="833">
                  <c:v>0.91976430832406542</c:v>
                </c:pt>
                <c:pt idx="834">
                  <c:v>0.91710689537171697</c:v>
                </c:pt>
                <c:pt idx="835">
                  <c:v>0.91392013859183829</c:v>
                </c:pt>
                <c:pt idx="836">
                  <c:v>0.93358071691333722</c:v>
                </c:pt>
                <c:pt idx="837">
                  <c:v>0.92720185644623143</c:v>
                </c:pt>
                <c:pt idx="838">
                  <c:v>0.92082834288647453</c:v>
                </c:pt>
                <c:pt idx="839">
                  <c:v>0.86875481221661399</c:v>
                </c:pt>
                <c:pt idx="840">
                  <c:v>0.86822546838908377</c:v>
                </c:pt>
                <c:pt idx="841">
                  <c:v>0.85865985114209953</c:v>
                </c:pt>
                <c:pt idx="842">
                  <c:v>0.84909423389511507</c:v>
                </c:pt>
                <c:pt idx="843">
                  <c:v>0.8517516468474633</c:v>
                </c:pt>
                <c:pt idx="844">
                  <c:v>0.87566301651124978</c:v>
                </c:pt>
                <c:pt idx="845">
                  <c:v>0.86875481221661399</c:v>
                </c:pt>
                <c:pt idx="846">
                  <c:v>0.83527782530584305</c:v>
                </c:pt>
                <c:pt idx="847">
                  <c:v>0.84112199503806995</c:v>
                </c:pt>
                <c:pt idx="848">
                  <c:v>0.8214667636239199</c:v>
                </c:pt>
                <c:pt idx="849">
                  <c:v>0.82199610745144991</c:v>
                </c:pt>
                <c:pt idx="850">
                  <c:v>0.8033995636923601</c:v>
                </c:pt>
                <c:pt idx="851">
                  <c:v>0.79649135939772431</c:v>
                </c:pt>
                <c:pt idx="852">
                  <c:v>0.80127149456754188</c:v>
                </c:pt>
                <c:pt idx="853">
                  <c:v>0.86025322953203887</c:v>
                </c:pt>
                <c:pt idx="854">
                  <c:v>0.67215437590897409</c:v>
                </c:pt>
                <c:pt idx="855">
                  <c:v>0.73538690221575842</c:v>
                </c:pt>
                <c:pt idx="856">
                  <c:v>0.68065595859354944</c:v>
                </c:pt>
                <c:pt idx="857">
                  <c:v>0.71625566772178972</c:v>
                </c:pt>
                <c:pt idx="858">
                  <c:v>0.75398344597484801</c:v>
                </c:pt>
                <c:pt idx="859">
                  <c:v>0.75770489348960557</c:v>
                </c:pt>
                <c:pt idx="860">
                  <c:v>0.78161091624604317</c:v>
                </c:pt>
                <c:pt idx="861">
                  <c:v>0.7646077508768927</c:v>
                </c:pt>
                <c:pt idx="862">
                  <c:v>0.73750962443322798</c:v>
                </c:pt>
                <c:pt idx="863">
                  <c:v>0.72422790657883462</c:v>
                </c:pt>
                <c:pt idx="864">
                  <c:v>0.7220998374540164</c:v>
                </c:pt>
                <c:pt idx="865">
                  <c:v>0.76248502865942314</c:v>
                </c:pt>
                <c:pt idx="866">
                  <c:v>0.73857365899563709</c:v>
                </c:pt>
                <c:pt idx="867">
                  <c:v>0.77789481563863472</c:v>
                </c:pt>
                <c:pt idx="868">
                  <c:v>0.77895885020104361</c:v>
                </c:pt>
                <c:pt idx="869">
                  <c:v>0.76726516382924115</c:v>
                </c:pt>
                <c:pt idx="870">
                  <c:v>0.77895885020104361</c:v>
                </c:pt>
                <c:pt idx="871">
                  <c:v>0.78851912054067896</c:v>
                </c:pt>
                <c:pt idx="872">
                  <c:v>0.81190114637693545</c:v>
                </c:pt>
                <c:pt idx="873">
                  <c:v>0.80977307725211722</c:v>
                </c:pt>
                <c:pt idx="874">
                  <c:v>0.79171122422790674</c:v>
                </c:pt>
                <c:pt idx="875">
                  <c:v>0.81402386859440501</c:v>
                </c:pt>
                <c:pt idx="876">
                  <c:v>0.82624689879373769</c:v>
                </c:pt>
                <c:pt idx="877">
                  <c:v>0.81349452476687478</c:v>
                </c:pt>
                <c:pt idx="878">
                  <c:v>0.81668128154675346</c:v>
                </c:pt>
                <c:pt idx="879">
                  <c:v>0.84803019933270596</c:v>
                </c:pt>
                <c:pt idx="880">
                  <c:v>0.84697151167764551</c:v>
                </c:pt>
                <c:pt idx="881">
                  <c:v>0.87566301651124978</c:v>
                </c:pt>
                <c:pt idx="882">
                  <c:v>0.88044315168106735</c:v>
                </c:pt>
                <c:pt idx="883">
                  <c:v>0.87884977329112846</c:v>
                </c:pt>
                <c:pt idx="884">
                  <c:v>0.84112199503806995</c:v>
                </c:pt>
                <c:pt idx="885">
                  <c:v>0.85281568140987241</c:v>
                </c:pt>
                <c:pt idx="886">
                  <c:v>0.86131726409444798</c:v>
                </c:pt>
                <c:pt idx="887">
                  <c:v>0.91604286080930786</c:v>
                </c:pt>
                <c:pt idx="888">
                  <c:v>0.92879523483617055</c:v>
                </c:pt>
                <c:pt idx="889">
                  <c:v>0.91444948241936852</c:v>
                </c:pt>
                <c:pt idx="890">
                  <c:v>0.91497882624689875</c:v>
                </c:pt>
                <c:pt idx="891">
                  <c:v>0.93517409530327655</c:v>
                </c:pt>
                <c:pt idx="892">
                  <c:v>0.92135768671400431</c:v>
                </c:pt>
                <c:pt idx="893">
                  <c:v>0.93358071691333722</c:v>
                </c:pt>
                <c:pt idx="894">
                  <c:v>0.93995423047309412</c:v>
                </c:pt>
                <c:pt idx="895">
                  <c:v>0.9511132261100177</c:v>
                </c:pt>
                <c:pt idx="896">
                  <c:v>0.9574920865771237</c:v>
                </c:pt>
                <c:pt idx="897">
                  <c:v>0.96120818718453216</c:v>
                </c:pt>
                <c:pt idx="898">
                  <c:v>0.9431409872529728</c:v>
                </c:pt>
                <c:pt idx="899">
                  <c:v>0.95802143040465393</c:v>
                </c:pt>
                <c:pt idx="900">
                  <c:v>0.9319873385233981</c:v>
                </c:pt>
                <c:pt idx="901">
                  <c:v>0.91126272563948985</c:v>
                </c:pt>
                <c:pt idx="902">
                  <c:v>0.91604286080930786</c:v>
                </c:pt>
                <c:pt idx="903">
                  <c:v>0.86875481221661399</c:v>
                </c:pt>
                <c:pt idx="904">
                  <c:v>0.87672705107365889</c:v>
                </c:pt>
                <c:pt idx="905">
                  <c:v>0.85015826845752418</c:v>
                </c:pt>
                <c:pt idx="906">
                  <c:v>0.84218602960047884</c:v>
                </c:pt>
                <c:pt idx="907">
                  <c:v>0.82358948584138925</c:v>
                </c:pt>
                <c:pt idx="908">
                  <c:v>0.78586170758833096</c:v>
                </c:pt>
                <c:pt idx="909">
                  <c:v>0.77470271195140739</c:v>
                </c:pt>
                <c:pt idx="910">
                  <c:v>0.7608916502694838</c:v>
                </c:pt>
                <c:pt idx="911">
                  <c:v>0.77895885020104361</c:v>
                </c:pt>
                <c:pt idx="912">
                  <c:v>0.77364402429634693</c:v>
                </c:pt>
                <c:pt idx="913">
                  <c:v>0.79436329027290609</c:v>
                </c:pt>
                <c:pt idx="914">
                  <c:v>0.77842415946616494</c:v>
                </c:pt>
                <c:pt idx="915">
                  <c:v>0.76673582000171092</c:v>
                </c:pt>
                <c:pt idx="916">
                  <c:v>0.76248502865942314</c:v>
                </c:pt>
                <c:pt idx="917">
                  <c:v>0.76673582000171092</c:v>
                </c:pt>
                <c:pt idx="918">
                  <c:v>0.7529194114124389</c:v>
                </c:pt>
                <c:pt idx="919">
                  <c:v>0.71838373684660795</c:v>
                </c:pt>
                <c:pt idx="920">
                  <c:v>0.73379352382581908</c:v>
                </c:pt>
                <c:pt idx="921">
                  <c:v>0.73166545470100086</c:v>
                </c:pt>
                <c:pt idx="922">
                  <c:v>0.76726516382924115</c:v>
                </c:pt>
                <c:pt idx="923">
                  <c:v>0.7662064761741807</c:v>
                </c:pt>
                <c:pt idx="924">
                  <c:v>0.78692574215074007</c:v>
                </c:pt>
                <c:pt idx="925">
                  <c:v>0.79596201557019408</c:v>
                </c:pt>
                <c:pt idx="926">
                  <c:v>0.77310933356146805</c:v>
                </c:pt>
                <c:pt idx="927">
                  <c:v>0.78161091624604317</c:v>
                </c:pt>
                <c:pt idx="928">
                  <c:v>0.7646077508768927</c:v>
                </c:pt>
                <c:pt idx="929">
                  <c:v>0.77470271195140739</c:v>
                </c:pt>
                <c:pt idx="930">
                  <c:v>0.77948819402857406</c:v>
                </c:pt>
                <c:pt idx="931">
                  <c:v>0.8209320728890408</c:v>
                </c:pt>
                <c:pt idx="932">
                  <c:v>0.94633309094020013</c:v>
                </c:pt>
                <c:pt idx="933">
                  <c:v>0.88469394302335513</c:v>
                </c:pt>
                <c:pt idx="934">
                  <c:v>0.91179206946702007</c:v>
                </c:pt>
                <c:pt idx="935">
                  <c:v>0.9431409872529728</c:v>
                </c:pt>
                <c:pt idx="936">
                  <c:v>0.96386560013688061</c:v>
                </c:pt>
                <c:pt idx="937">
                  <c:v>0.96120818718453216</c:v>
                </c:pt>
                <c:pt idx="938">
                  <c:v>0.9495198477200788</c:v>
                </c:pt>
                <c:pt idx="939">
                  <c:v>0.98139810933356131</c:v>
                </c:pt>
                <c:pt idx="940">
                  <c:v>0.97343121738386507</c:v>
                </c:pt>
                <c:pt idx="941">
                  <c:v>0.98884100436307643</c:v>
                </c:pt>
                <c:pt idx="942">
                  <c:v>0.97289652664898618</c:v>
                </c:pt>
                <c:pt idx="943">
                  <c:v>0.96067884335700238</c:v>
                </c:pt>
                <c:pt idx="944">
                  <c:v>0.96174287791941149</c:v>
                </c:pt>
                <c:pt idx="945">
                  <c:v>0.97448990503892552</c:v>
                </c:pt>
                <c:pt idx="946">
                  <c:v>0.99840127470271178</c:v>
                </c:pt>
                <c:pt idx="947">
                  <c:v>1.0201899221490289</c:v>
                </c:pt>
                <c:pt idx="948">
                  <c:v>1.0079668919496965</c:v>
                </c:pt>
                <c:pt idx="949">
                  <c:v>1.01912588758662</c:v>
                </c:pt>
                <c:pt idx="950">
                  <c:v>1.01912588758662</c:v>
                </c:pt>
                <c:pt idx="951">
                  <c:v>1.0595110787920268</c:v>
                </c:pt>
                <c:pt idx="952">
                  <c:v>1.0632271793994352</c:v>
                </c:pt>
                <c:pt idx="953">
                  <c:v>1.0951107879202668</c:v>
                </c:pt>
                <c:pt idx="954">
                  <c:v>1.1115792625545384</c:v>
                </c:pt>
                <c:pt idx="955">
                  <c:v>1.0743861750363588</c:v>
                </c:pt>
                <c:pt idx="956">
                  <c:v>1.0605697664470868</c:v>
                </c:pt>
                <c:pt idx="957">
                  <c:v>1.0483520831551032</c:v>
                </c:pt>
                <c:pt idx="958">
                  <c:v>1.0297555393960134</c:v>
                </c:pt>
                <c:pt idx="959">
                  <c:v>1.0185965437590898</c:v>
                </c:pt>
                <c:pt idx="960">
                  <c:v>1.0281568140987249</c:v>
                </c:pt>
                <c:pt idx="961">
                  <c:v>1.0132817178543929</c:v>
                </c:pt>
                <c:pt idx="962">
                  <c:v>1.0244407134913165</c:v>
                </c:pt>
                <c:pt idx="963">
                  <c:v>1.0185965437590898</c:v>
                </c:pt>
                <c:pt idx="964">
                  <c:v>1.0297555393960134</c:v>
                </c:pt>
                <c:pt idx="965">
                  <c:v>1.0616338010094957</c:v>
                </c:pt>
                <c:pt idx="966">
                  <c:v>1.0403798442980579</c:v>
                </c:pt>
                <c:pt idx="967">
                  <c:v>1.0318782616134827</c:v>
                </c:pt>
                <c:pt idx="968">
                  <c:v>1.0180618530242107</c:v>
                </c:pt>
                <c:pt idx="969">
                  <c:v>1</c:v>
                </c:pt>
                <c:pt idx="970">
                  <c:v>1.060040422619557</c:v>
                </c:pt>
                <c:pt idx="971">
                  <c:v>1.0308142270510734</c:v>
                </c:pt>
                <c:pt idx="972">
                  <c:v>1.0510094961074516</c:v>
                </c:pt>
                <c:pt idx="973">
                  <c:v>1.0483520831551032</c:v>
                </c:pt>
                <c:pt idx="974">
                  <c:v>1.0334716400034218</c:v>
                </c:pt>
                <c:pt idx="975">
                  <c:v>1.0185965437590898</c:v>
                </c:pt>
                <c:pt idx="976">
                  <c:v>1.0313489177859525</c:v>
                </c:pt>
                <c:pt idx="977">
                  <c:v>1.0547255967148601</c:v>
                </c:pt>
                <c:pt idx="978">
                  <c:v>1.0839517922833433</c:v>
                </c:pt>
                <c:pt idx="979">
                  <c:v>1.0913893404055091</c:v>
                </c:pt>
                <c:pt idx="980">
                  <c:v>1.1014843014800237</c:v>
                </c:pt>
                <c:pt idx="981">
                  <c:v>1.0642912139618441</c:v>
                </c:pt>
                <c:pt idx="982">
                  <c:v>1.060040422619557</c:v>
                </c:pt>
                <c:pt idx="983">
                  <c:v>1.0526028744973903</c:v>
                </c:pt>
                <c:pt idx="984">
                  <c:v>1.0669486269141926</c:v>
                </c:pt>
                <c:pt idx="985">
                  <c:v>1.0770435879887073</c:v>
                </c:pt>
                <c:pt idx="986">
                  <c:v>1.0669486269141926</c:v>
                </c:pt>
                <c:pt idx="987">
                  <c:v>1.0706647275216015</c:v>
                </c:pt>
                <c:pt idx="988">
                  <c:v>1.076514244161177</c:v>
                </c:pt>
                <c:pt idx="989">
                  <c:v>1.1046710582599024</c:v>
                </c:pt>
                <c:pt idx="990">
                  <c:v>1.1052057489947811</c:v>
                </c:pt>
                <c:pt idx="991">
                  <c:v>1.1041417144323722</c:v>
                </c:pt>
                <c:pt idx="992">
                  <c:v>1.1062697835571904</c:v>
                </c:pt>
                <c:pt idx="993">
                  <c:v>1.1174234322867656</c:v>
                </c:pt>
                <c:pt idx="994">
                  <c:v>1.1126432971169473</c:v>
                </c:pt>
                <c:pt idx="995">
                  <c:v>1.0871385490632219</c:v>
                </c:pt>
                <c:pt idx="996">
                  <c:v>1.0738568312088286</c:v>
                </c:pt>
                <c:pt idx="997">
                  <c:v>1.0371930875181796</c:v>
                </c:pt>
                <c:pt idx="998">
                  <c:v>1.0377224313457099</c:v>
                </c:pt>
                <c:pt idx="999">
                  <c:v>1.0313489177859525</c:v>
                </c:pt>
                <c:pt idx="1000">
                  <c:v>1.0047801351698178</c:v>
                </c:pt>
                <c:pt idx="1001">
                  <c:v>0.99521451792283333</c:v>
                </c:pt>
                <c:pt idx="1002">
                  <c:v>0.98405552228590976</c:v>
                </c:pt>
                <c:pt idx="1003">
                  <c:v>1.0085015826845751</c:v>
                </c:pt>
                <c:pt idx="1004">
                  <c:v>0.9946851740953031</c:v>
                </c:pt>
                <c:pt idx="1005">
                  <c:v>1.0090309265121054</c:v>
                </c:pt>
                <c:pt idx="1006">
                  <c:v>1.0111536487295747</c:v>
                </c:pt>
                <c:pt idx="1007">
                  <c:v>1.0090309265121054</c:v>
                </c:pt>
                <c:pt idx="1008">
                  <c:v>1.0085015826845751</c:v>
                </c:pt>
                <c:pt idx="1009">
                  <c:v>1.0228473351013769</c:v>
                </c:pt>
                <c:pt idx="1010">
                  <c:v>1.0414438788604672</c:v>
                </c:pt>
                <c:pt idx="1011">
                  <c:v>1.060040422619557</c:v>
                </c:pt>
                <c:pt idx="1012">
                  <c:v>1.060040422619557</c:v>
                </c:pt>
                <c:pt idx="1013">
                  <c:v>1.0648205577893748</c:v>
                </c:pt>
                <c:pt idx="1014">
                  <c:v>1.1153007100692958</c:v>
                </c:pt>
                <c:pt idx="1015">
                  <c:v>1.1668395500042776</c:v>
                </c:pt>
                <c:pt idx="1016">
                  <c:v>1.1827840277183679</c:v>
                </c:pt>
                <c:pt idx="1017">
                  <c:v>1.1716250320814443</c:v>
                </c:pt>
                <c:pt idx="1018">
                  <c:v>1.2088181195996235</c:v>
                </c:pt>
                <c:pt idx="1019">
                  <c:v>1.2290080417486529</c:v>
                </c:pt>
                <c:pt idx="1020">
                  <c:v>1.2157263238942595</c:v>
                </c:pt>
                <c:pt idx="1021">
                  <c:v>1.2417604157755151</c:v>
                </c:pt>
                <c:pt idx="1022">
                  <c:v>1.2300720763110617</c:v>
                </c:pt>
                <c:pt idx="1023">
                  <c:v>1.23325883309094</c:v>
                </c:pt>
                <c:pt idx="1024">
                  <c:v>1.237509624433228</c:v>
                </c:pt>
                <c:pt idx="1025">
                  <c:v>1.2258212849687737</c:v>
                </c:pt>
                <c:pt idx="1026">
                  <c:v>1.2417604157755151</c:v>
                </c:pt>
                <c:pt idx="1027">
                  <c:v>1.3629106424843873</c:v>
                </c:pt>
                <c:pt idx="1028">
                  <c:v>1.3671614338266744</c:v>
                </c:pt>
                <c:pt idx="1029">
                  <c:v>1.3405926512105397</c:v>
                </c:pt>
                <c:pt idx="1030">
                  <c:v>1.3889447343656429</c:v>
                </c:pt>
                <c:pt idx="1031">
                  <c:v>1.4378315082556248</c:v>
                </c:pt>
                <c:pt idx="1032">
                  <c:v>1.4713031482590466</c:v>
                </c:pt>
                <c:pt idx="1033">
                  <c:v>1.4803394216785013</c:v>
                </c:pt>
                <c:pt idx="1034">
                  <c:v>1.4999946530926511</c:v>
                </c:pt>
                <c:pt idx="1035">
                  <c:v>1.5185965437590898</c:v>
                </c:pt>
                <c:pt idx="1036">
                  <c:v>1.5127470271195138</c:v>
                </c:pt>
                <c:pt idx="1037">
                  <c:v>1.5063735135597569</c:v>
                </c:pt>
                <c:pt idx="1038">
                  <c:v>1.4999946530926511</c:v>
                </c:pt>
                <c:pt idx="1039">
                  <c:v>1.4787406963812133</c:v>
                </c:pt>
                <c:pt idx="1040">
                  <c:v>1.4415476088630332</c:v>
                </c:pt>
                <c:pt idx="1041">
                  <c:v>1.493091795705364</c:v>
                </c:pt>
                <c:pt idx="1042">
                  <c:v>1.469709769869108</c:v>
                </c:pt>
                <c:pt idx="1043">
                  <c:v>1.4367674736932159</c:v>
                </c:pt>
                <c:pt idx="1044">
                  <c:v>1.6918149542304732</c:v>
                </c:pt>
                <c:pt idx="1045">
                  <c:v>1.8076503550346477</c:v>
                </c:pt>
                <c:pt idx="1046">
                  <c:v>1.6471789716827785</c:v>
                </c:pt>
                <c:pt idx="1047">
                  <c:v>1.5961694755753273</c:v>
                </c:pt>
                <c:pt idx="1048">
                  <c:v>1.602013645307554</c:v>
                </c:pt>
                <c:pt idx="1049">
                  <c:v>1.5674779707417228</c:v>
                </c:pt>
                <c:pt idx="1050">
                  <c:v>1.6402707673881425</c:v>
                </c:pt>
                <c:pt idx="1051">
                  <c:v>1.6408054581230216</c:v>
                </c:pt>
                <c:pt idx="1052">
                  <c:v>1.6875641628881852</c:v>
                </c:pt>
                <c:pt idx="1053">
                  <c:v>1.71678501154932</c:v>
                </c:pt>
                <c:pt idx="1054">
                  <c:v>1.7385736589956369</c:v>
                </c:pt>
                <c:pt idx="1055">
                  <c:v>1.800207460005133</c:v>
                </c:pt>
                <c:pt idx="1056">
                  <c:v>1.8294336555736161</c:v>
                </c:pt>
                <c:pt idx="1057">
                  <c:v>1.7518553768500298</c:v>
                </c:pt>
                <c:pt idx="1058">
                  <c:v>1.8219961074514499</c:v>
                </c:pt>
                <c:pt idx="1059">
                  <c:v>1.8389992728206006</c:v>
                </c:pt>
                <c:pt idx="1060">
                  <c:v>1.8799138078535376</c:v>
                </c:pt>
                <c:pt idx="1061">
                  <c:v>1.8591891949696295</c:v>
                </c:pt>
                <c:pt idx="1062">
                  <c:v>1.8735349473864313</c:v>
                </c:pt>
                <c:pt idx="1063">
                  <c:v>1.8692841560441442</c:v>
                </c:pt>
                <c:pt idx="1064">
                  <c:v>1.8692841560441442</c:v>
                </c:pt>
                <c:pt idx="1065">
                  <c:v>1.8448434425528273</c:v>
                </c:pt>
                <c:pt idx="1066">
                  <c:v>1.8772563949011891</c:v>
                </c:pt>
                <c:pt idx="1067">
                  <c:v>1.7816109162460432</c:v>
                </c:pt>
                <c:pt idx="1068">
                  <c:v>1.8055222859098294</c:v>
                </c:pt>
                <c:pt idx="1069">
                  <c:v>1.8368712036957824</c:v>
                </c:pt>
                <c:pt idx="1070">
                  <c:v>1.8687548122166135</c:v>
                </c:pt>
                <c:pt idx="1071">
                  <c:v>1.8097730772521174</c:v>
                </c:pt>
                <c:pt idx="1072">
                  <c:v>1.7869257421507401</c:v>
                </c:pt>
                <c:pt idx="1073">
                  <c:v>1.8103024210796472</c:v>
                </c:pt>
                <c:pt idx="1074">
                  <c:v>1.8427153734280091</c:v>
                </c:pt>
                <c:pt idx="1075">
                  <c:v>1.8326204123534944</c:v>
                </c:pt>
                <c:pt idx="1076">
                  <c:v>1.8490942338951148</c:v>
                </c:pt>
                <c:pt idx="1077">
                  <c:v>1.8161519377192228</c:v>
                </c:pt>
                <c:pt idx="1078">
                  <c:v>1.8331551030883735</c:v>
                </c:pt>
                <c:pt idx="1079">
                  <c:v>1.8352778253058428</c:v>
                </c:pt>
                <c:pt idx="1080">
                  <c:v>1.8299629994011464</c:v>
                </c:pt>
                <c:pt idx="1081">
                  <c:v>1.7906471896654974</c:v>
                </c:pt>
                <c:pt idx="1082">
                  <c:v>1.8862873214132945</c:v>
                </c:pt>
                <c:pt idx="1083">
                  <c:v>1.9431409872529728</c:v>
                </c:pt>
                <c:pt idx="1084">
                  <c:v>1.9585507742321839</c:v>
                </c:pt>
                <c:pt idx="1085">
                  <c:v>1.9782113525536826</c:v>
                </c:pt>
                <c:pt idx="1086">
                  <c:v>1.9771473179912737</c:v>
                </c:pt>
                <c:pt idx="1087">
                  <c:v>1.8900087689280518</c:v>
                </c:pt>
                <c:pt idx="1088">
                  <c:v>1.9691804260415773</c:v>
                </c:pt>
                <c:pt idx="1089">
                  <c:v>1.9410182650355035</c:v>
                </c:pt>
                <c:pt idx="1090">
                  <c:v>1.9011677645649754</c:v>
                </c:pt>
                <c:pt idx="1091">
                  <c:v>1.8958529386602785</c:v>
                </c:pt>
                <c:pt idx="1092">
                  <c:v>1.837405894430661</c:v>
                </c:pt>
                <c:pt idx="1093">
                  <c:v>1.8857579775857642</c:v>
                </c:pt>
                <c:pt idx="1094">
                  <c:v>1.8692841560441442</c:v>
                </c:pt>
                <c:pt idx="1095">
                  <c:v>1.8788497732911282</c:v>
                </c:pt>
                <c:pt idx="1096">
                  <c:v>1.8783150825562496</c:v>
                </c:pt>
                <c:pt idx="1097">
                  <c:v>1.924544443493883</c:v>
                </c:pt>
                <c:pt idx="1098">
                  <c:v>2.0037161006074085</c:v>
                </c:pt>
                <c:pt idx="1099">
                  <c:v>2.0387864659081187</c:v>
                </c:pt>
                <c:pt idx="1100">
                  <c:v>1.9872422790657884</c:v>
                </c:pt>
                <c:pt idx="1101">
                  <c:v>1.934110060740867</c:v>
                </c:pt>
                <c:pt idx="1102">
                  <c:v>1.924544443493883</c:v>
                </c:pt>
                <c:pt idx="1103">
                  <c:v>1.9728965266489857</c:v>
                </c:pt>
                <c:pt idx="1104">
                  <c:v>1.9861835914107275</c:v>
                </c:pt>
                <c:pt idx="1105">
                  <c:v>1.9898996920181369</c:v>
                </c:pt>
                <c:pt idx="1106">
                  <c:v>1.9473917785952604</c:v>
                </c:pt>
                <c:pt idx="1107">
                  <c:v>1.9893703481906067</c:v>
                </c:pt>
                <c:pt idx="1108">
                  <c:v>2.0254994011463769</c:v>
                </c:pt>
                <c:pt idx="1109">
                  <c:v>1.8692841560441442</c:v>
                </c:pt>
                <c:pt idx="1110">
                  <c:v>1.8751283257763709</c:v>
                </c:pt>
                <c:pt idx="1111">
                  <c:v>1.9064772435623234</c:v>
                </c:pt>
                <c:pt idx="1112">
                  <c:v>1.9856489006758489</c:v>
                </c:pt>
                <c:pt idx="1113">
                  <c:v>1.9760832834288649</c:v>
                </c:pt>
                <c:pt idx="1114">
                  <c:v>1.9803340747711524</c:v>
                </c:pt>
                <c:pt idx="1115">
                  <c:v>1.9633309094020017</c:v>
                </c:pt>
                <c:pt idx="1116">
                  <c:v>1.9272018564462314</c:v>
                </c:pt>
                <c:pt idx="1117">
                  <c:v>1.9484558131576697</c:v>
                </c:pt>
                <c:pt idx="1118">
                  <c:v>1.9447343656429119</c:v>
                </c:pt>
                <c:pt idx="1119">
                  <c:v>1.9064772435623234</c:v>
                </c:pt>
                <c:pt idx="1120">
                  <c:v>1.8878806998032336</c:v>
                </c:pt>
                <c:pt idx="1121">
                  <c:v>1.8692841560441442</c:v>
                </c:pt>
                <c:pt idx="1122">
                  <c:v>1.8761923603387798</c:v>
                </c:pt>
                <c:pt idx="1123">
                  <c:v>1.8549384036273415</c:v>
                </c:pt>
                <c:pt idx="1124">
                  <c:v>1.8698134998716744</c:v>
                </c:pt>
                <c:pt idx="1125">
                  <c:v>1.7709866113439987</c:v>
                </c:pt>
                <c:pt idx="1126">
                  <c:v>1.8044582513474205</c:v>
                </c:pt>
                <c:pt idx="1127">
                  <c:v>1.7582342373171356</c:v>
                </c:pt>
                <c:pt idx="1128">
                  <c:v>1.8113664556420566</c:v>
                </c:pt>
                <c:pt idx="1129">
                  <c:v>1.8660973992642655</c:v>
                </c:pt>
                <c:pt idx="1130">
                  <c:v>1.8613119171870989</c:v>
                </c:pt>
                <c:pt idx="1131">
                  <c:v>1.9011677645649754</c:v>
                </c:pt>
                <c:pt idx="1132">
                  <c:v>1.9224217212764136</c:v>
                </c:pt>
                <c:pt idx="1133">
                  <c:v>1.9187002737616563</c:v>
                </c:pt>
                <c:pt idx="1134">
                  <c:v>1.9542999828898964</c:v>
                </c:pt>
                <c:pt idx="1135">
                  <c:v>1.9622722217469417</c:v>
                </c:pt>
                <c:pt idx="1136">
                  <c:v>2.0223126443664983</c:v>
                </c:pt>
                <c:pt idx="1137">
                  <c:v>2.1110499187270082</c:v>
                </c:pt>
                <c:pt idx="1138">
                  <c:v>2.0711994182564801</c:v>
                </c:pt>
                <c:pt idx="1139">
                  <c:v>2.0637565232269655</c:v>
                </c:pt>
                <c:pt idx="1140">
                  <c:v>2.0345356745658312</c:v>
                </c:pt>
                <c:pt idx="1141">
                  <c:v>2.0765088972538281</c:v>
                </c:pt>
                <c:pt idx="1142">
                  <c:v>2.0313435708786036</c:v>
                </c:pt>
                <c:pt idx="1143">
                  <c:v>1.9999946530926511</c:v>
                </c:pt>
                <c:pt idx="1144">
                  <c:v>1.9511132261100181</c:v>
                </c:pt>
                <c:pt idx="1145">
                  <c:v>1.8820365300710069</c:v>
                </c:pt>
                <c:pt idx="1146">
                  <c:v>1.9043545213448541</c:v>
                </c:pt>
                <c:pt idx="1147">
                  <c:v>1.8522809906749931</c:v>
                </c:pt>
                <c:pt idx="1148">
                  <c:v>1.8039289075198903</c:v>
                </c:pt>
                <c:pt idx="1149">
                  <c:v>1.8012714945675423</c:v>
                </c:pt>
                <c:pt idx="1150">
                  <c:v>1.7874550859782703</c:v>
                </c:pt>
                <c:pt idx="1151">
                  <c:v>1.787989776713149</c:v>
                </c:pt>
                <c:pt idx="1152">
                  <c:v>1.843779407990418</c:v>
                </c:pt>
                <c:pt idx="1153">
                  <c:v>1.8273055864487979</c:v>
                </c:pt>
                <c:pt idx="1154">
                  <c:v>1.8846939430233549</c:v>
                </c:pt>
                <c:pt idx="1155">
                  <c:v>1.8347484814783126</c:v>
                </c:pt>
                <c:pt idx="1156">
                  <c:v>1.8294336555736161</c:v>
                </c:pt>
                <c:pt idx="1157">
                  <c:v>1.8124304902044659</c:v>
                </c:pt>
                <c:pt idx="1158">
                  <c:v>1.8777857387287193</c:v>
                </c:pt>
                <c:pt idx="1159">
                  <c:v>1.8517516468474633</c:v>
                </c:pt>
                <c:pt idx="1160">
                  <c:v>1.8783150825562496</c:v>
                </c:pt>
                <c:pt idx="1161">
                  <c:v>1.9293245786637008</c:v>
                </c:pt>
                <c:pt idx="1162">
                  <c:v>1.9558933612798355</c:v>
                </c:pt>
                <c:pt idx="1163">
                  <c:v>1.9989359654375907</c:v>
                </c:pt>
                <c:pt idx="1164">
                  <c:v>2.0419732226879974</c:v>
                </c:pt>
                <c:pt idx="1165">
                  <c:v>2.074915518863889</c:v>
                </c:pt>
                <c:pt idx="1166">
                  <c:v>1.8326204123534944</c:v>
                </c:pt>
                <c:pt idx="1167">
                  <c:v>1.8740642912139616</c:v>
                </c:pt>
                <c:pt idx="1168">
                  <c:v>1.8921314911455211</c:v>
                </c:pt>
                <c:pt idx="1169">
                  <c:v>1.9867129352382582</c:v>
                </c:pt>
                <c:pt idx="1170">
                  <c:v>1.924544443493883</c:v>
                </c:pt>
                <c:pt idx="1171">
                  <c:v>1.8639693301394473</c:v>
                </c:pt>
                <c:pt idx="1172">
                  <c:v>1.8724709128240224</c:v>
                </c:pt>
                <c:pt idx="1173">
                  <c:v>1.8942595602703398</c:v>
                </c:pt>
                <c:pt idx="1174">
                  <c:v>1.897446317050218</c:v>
                </c:pt>
                <c:pt idx="1175">
                  <c:v>1.8660973992642655</c:v>
                </c:pt>
                <c:pt idx="1176">
                  <c:v>1.8804431516810678</c:v>
                </c:pt>
                <c:pt idx="1177">
                  <c:v>1.8219961074514499</c:v>
                </c:pt>
                <c:pt idx="1178">
                  <c:v>1.800207460005133</c:v>
                </c:pt>
                <c:pt idx="1179">
                  <c:v>1.787989776713149</c:v>
                </c:pt>
                <c:pt idx="1180">
                  <c:v>1.8586598511420993</c:v>
                </c:pt>
                <c:pt idx="1181">
                  <c:v>1.7869257421507401</c:v>
                </c:pt>
                <c:pt idx="1182">
                  <c:v>1.8103024210796472</c:v>
                </c:pt>
                <c:pt idx="1183">
                  <c:v>1.7741733681238769</c:v>
                </c:pt>
                <c:pt idx="1184">
                  <c:v>1.7683291983916503</c:v>
                </c:pt>
                <c:pt idx="1185">
                  <c:v>1.8134945247668748</c:v>
                </c:pt>
                <c:pt idx="1186">
                  <c:v>1.7391030028231671</c:v>
                </c:pt>
                <c:pt idx="1187">
                  <c:v>1.7842683291983916</c:v>
                </c:pt>
                <c:pt idx="1188">
                  <c:v>1.5425025665155272</c:v>
                </c:pt>
                <c:pt idx="1189">
                  <c:v>1.5982975447001455</c:v>
                </c:pt>
                <c:pt idx="1190">
                  <c:v>1.5727927966464197</c:v>
                </c:pt>
                <c:pt idx="1191">
                  <c:v>1.5478013516981775</c:v>
                </c:pt>
                <c:pt idx="1192">
                  <c:v>1.5280177945076567</c:v>
                </c:pt>
                <c:pt idx="1193">
                  <c:v>1.5606339293352725</c:v>
                </c:pt>
                <c:pt idx="1194">
                  <c:v>1.5494054239028143</c:v>
                </c:pt>
                <c:pt idx="1195">
                  <c:v>1.4916588245358886</c:v>
                </c:pt>
                <c:pt idx="1196">
                  <c:v>1.5237402686286252</c:v>
                </c:pt>
                <c:pt idx="1197">
                  <c:v>1.4991444948241939</c:v>
                </c:pt>
                <c:pt idx="1198">
                  <c:v>1.4991444948241939</c:v>
                </c:pt>
                <c:pt idx="1199">
                  <c:v>1.5478013516981775</c:v>
                </c:pt>
                <c:pt idx="1200">
                  <c:v>1.5478013516981775</c:v>
                </c:pt>
                <c:pt idx="1201">
                  <c:v>1.5740011977072461</c:v>
                </c:pt>
                <c:pt idx="1202">
                  <c:v>1.5611686200701511</c:v>
                </c:pt>
                <c:pt idx="1203">
                  <c:v>1.5584951663957565</c:v>
                </c:pt>
                <c:pt idx="1204">
                  <c:v>1.5322953203866883</c:v>
                </c:pt>
                <c:pt idx="1205">
                  <c:v>1.5130464539310462</c:v>
                </c:pt>
                <c:pt idx="1206">
                  <c:v>1.4996791855590725</c:v>
                </c:pt>
                <c:pt idx="1207">
                  <c:v>1.4804303191034305</c:v>
                </c:pt>
                <c:pt idx="1208">
                  <c:v>1.4515570194199676</c:v>
                </c:pt>
                <c:pt idx="1209">
                  <c:v>1.4210796475318674</c:v>
                </c:pt>
                <c:pt idx="1210">
                  <c:v>1.4248224826760203</c:v>
                </c:pt>
                <c:pt idx="1211">
                  <c:v>1.4007613996064676</c:v>
                </c:pt>
                <c:pt idx="1212">
                  <c:v>1.3670758833090941</c:v>
                </c:pt>
                <c:pt idx="1213">
                  <c:v>1.3376678928907517</c:v>
                </c:pt>
                <c:pt idx="1214">
                  <c:v>1.3526392334673623</c:v>
                </c:pt>
                <c:pt idx="1215">
                  <c:v>1.3526392334673623</c:v>
                </c:pt>
                <c:pt idx="1216">
                  <c:v>1.4280306270852936</c:v>
                </c:pt>
                <c:pt idx="1217">
                  <c:v>1.4012960903413463</c:v>
                </c:pt>
                <c:pt idx="1218">
                  <c:v>1.4125245957738044</c:v>
                </c:pt>
                <c:pt idx="1219">
                  <c:v>1.4499529472153307</c:v>
                </c:pt>
                <c:pt idx="1220">
                  <c:v>1.4499529472153307</c:v>
                </c:pt>
                <c:pt idx="1221">
                  <c:v>1.4510223286850885</c:v>
                </c:pt>
                <c:pt idx="1222">
                  <c:v>1.4569039267687569</c:v>
                </c:pt>
                <c:pt idx="1223">
                  <c:v>1.4724099580802466</c:v>
                </c:pt>
                <c:pt idx="1224">
                  <c:v>1.4740140302848834</c:v>
                </c:pt>
                <c:pt idx="1225">
                  <c:v>1.5980622807767988</c:v>
                </c:pt>
                <c:pt idx="1226">
                  <c:v>1.6675720763110617</c:v>
                </c:pt>
                <c:pt idx="1227">
                  <c:v>1.6905637779108562</c:v>
                </c:pt>
                <c:pt idx="1228">
                  <c:v>1.6985841389340406</c:v>
                </c:pt>
                <c:pt idx="1229">
                  <c:v>1.3868594404996148</c:v>
                </c:pt>
                <c:pt idx="1230">
                  <c:v>1.3750962443322781</c:v>
                </c:pt>
                <c:pt idx="1231">
                  <c:v>1.2740396954401572</c:v>
                </c:pt>
                <c:pt idx="1232">
                  <c:v>1.2964967063050734</c:v>
                </c:pt>
                <c:pt idx="1233">
                  <c:v>1.2430276328171788</c:v>
                </c:pt>
                <c:pt idx="1234">
                  <c:v>1.2569295919240311</c:v>
                </c:pt>
                <c:pt idx="1235">
                  <c:v>1.2344725810591153</c:v>
                </c:pt>
                <c:pt idx="1236">
                  <c:v>1.2815253657284624</c:v>
                </c:pt>
                <c:pt idx="1237">
                  <c:v>1.3526392334673623</c:v>
                </c:pt>
                <c:pt idx="1238">
                  <c:v>1.3563820686115151</c:v>
                </c:pt>
                <c:pt idx="1239">
                  <c:v>1.3617289759603044</c:v>
                </c:pt>
                <c:pt idx="1240">
                  <c:v>1.4061083069552569</c:v>
                </c:pt>
                <c:pt idx="1241">
                  <c:v>1.3820472238857042</c:v>
                </c:pt>
              </c:numCache>
            </c:numRef>
          </c:val>
          <c:smooth val="0"/>
          <c:extLst>
            <c:ext xmlns:c16="http://schemas.microsoft.com/office/drawing/2014/chart" uri="{C3380CC4-5D6E-409C-BE32-E72D297353CC}">
              <c16:uniqueId val="{00000000-1320-473B-8279-9CE91D1310A0}"/>
            </c:ext>
          </c:extLst>
        </c:ser>
        <c:ser>
          <c:idx val="1"/>
          <c:order val="1"/>
          <c:tx>
            <c:strRef>
              <c:f>Sheet1!$N$1</c:f>
              <c:strCache>
                <c:ptCount val="1"/>
                <c:pt idx="0">
                  <c:v>IBOV</c:v>
                </c:pt>
              </c:strCache>
            </c:strRef>
          </c:tx>
          <c:spPr>
            <a:ln w="19050" cap="rnd">
              <a:solidFill>
                <a:schemeClr val="accent4"/>
              </a:solidFill>
              <a:round/>
            </a:ln>
            <a:effectLst/>
          </c:spPr>
          <c:marker>
            <c:symbol val="none"/>
          </c:marker>
          <c:cat>
            <c:numRef>
              <c:f>Sheet1!$L$2:$L$1243</c:f>
              <c:numCache>
                <c:formatCode>yyyy</c:formatCode>
                <c:ptCount val="1242"/>
                <c:pt idx="0">
                  <c:v>43971</c:v>
                </c:pt>
                <c:pt idx="1">
                  <c:v>43972</c:v>
                </c:pt>
                <c:pt idx="2">
                  <c:v>43973</c:v>
                </c:pt>
                <c:pt idx="3">
                  <c:v>43976</c:v>
                </c:pt>
                <c:pt idx="4">
                  <c:v>43977</c:v>
                </c:pt>
                <c:pt idx="5">
                  <c:v>43978</c:v>
                </c:pt>
                <c:pt idx="6">
                  <c:v>43979</c:v>
                </c:pt>
                <c:pt idx="7">
                  <c:v>43980</c:v>
                </c:pt>
                <c:pt idx="8">
                  <c:v>43983</c:v>
                </c:pt>
                <c:pt idx="9">
                  <c:v>43984</c:v>
                </c:pt>
                <c:pt idx="10">
                  <c:v>43985</c:v>
                </c:pt>
                <c:pt idx="11">
                  <c:v>43986</c:v>
                </c:pt>
                <c:pt idx="12">
                  <c:v>43987</c:v>
                </c:pt>
                <c:pt idx="13">
                  <c:v>43990</c:v>
                </c:pt>
                <c:pt idx="14">
                  <c:v>43991</c:v>
                </c:pt>
                <c:pt idx="15">
                  <c:v>43992</c:v>
                </c:pt>
                <c:pt idx="16">
                  <c:v>43994</c:v>
                </c:pt>
                <c:pt idx="17">
                  <c:v>43997</c:v>
                </c:pt>
                <c:pt idx="18">
                  <c:v>43998</c:v>
                </c:pt>
                <c:pt idx="19">
                  <c:v>43999</c:v>
                </c:pt>
                <c:pt idx="20">
                  <c:v>44000</c:v>
                </c:pt>
                <c:pt idx="21">
                  <c:v>44001</c:v>
                </c:pt>
                <c:pt idx="22">
                  <c:v>44004</c:v>
                </c:pt>
                <c:pt idx="23">
                  <c:v>44005</c:v>
                </c:pt>
                <c:pt idx="24">
                  <c:v>44006</c:v>
                </c:pt>
                <c:pt idx="25">
                  <c:v>44007</c:v>
                </c:pt>
                <c:pt idx="26">
                  <c:v>44008</c:v>
                </c:pt>
                <c:pt idx="27">
                  <c:v>44011</c:v>
                </c:pt>
                <c:pt idx="28">
                  <c:v>44012</c:v>
                </c:pt>
                <c:pt idx="29">
                  <c:v>44013</c:v>
                </c:pt>
                <c:pt idx="30">
                  <c:v>44014</c:v>
                </c:pt>
                <c:pt idx="31">
                  <c:v>44015</c:v>
                </c:pt>
                <c:pt idx="32">
                  <c:v>44018</c:v>
                </c:pt>
                <c:pt idx="33">
                  <c:v>44019</c:v>
                </c:pt>
                <c:pt idx="34">
                  <c:v>44020</c:v>
                </c:pt>
                <c:pt idx="35">
                  <c:v>44021</c:v>
                </c:pt>
                <c:pt idx="36">
                  <c:v>44022</c:v>
                </c:pt>
                <c:pt idx="37">
                  <c:v>44025</c:v>
                </c:pt>
                <c:pt idx="38">
                  <c:v>44026</c:v>
                </c:pt>
                <c:pt idx="39">
                  <c:v>44027</c:v>
                </c:pt>
                <c:pt idx="40">
                  <c:v>44028</c:v>
                </c:pt>
                <c:pt idx="41">
                  <c:v>44029</c:v>
                </c:pt>
                <c:pt idx="42">
                  <c:v>44032</c:v>
                </c:pt>
                <c:pt idx="43">
                  <c:v>44033</c:v>
                </c:pt>
                <c:pt idx="44">
                  <c:v>44034</c:v>
                </c:pt>
                <c:pt idx="45">
                  <c:v>44035</c:v>
                </c:pt>
                <c:pt idx="46">
                  <c:v>44036</c:v>
                </c:pt>
                <c:pt idx="47">
                  <c:v>44039</c:v>
                </c:pt>
                <c:pt idx="48">
                  <c:v>44040</c:v>
                </c:pt>
                <c:pt idx="49">
                  <c:v>44041</c:v>
                </c:pt>
                <c:pt idx="50">
                  <c:v>44042</c:v>
                </c:pt>
                <c:pt idx="51">
                  <c:v>44043</c:v>
                </c:pt>
                <c:pt idx="52">
                  <c:v>44046</c:v>
                </c:pt>
                <c:pt idx="53">
                  <c:v>44047</c:v>
                </c:pt>
                <c:pt idx="54">
                  <c:v>44048</c:v>
                </c:pt>
                <c:pt idx="55">
                  <c:v>44049</c:v>
                </c:pt>
                <c:pt idx="56">
                  <c:v>44050</c:v>
                </c:pt>
                <c:pt idx="57">
                  <c:v>44053</c:v>
                </c:pt>
                <c:pt idx="58">
                  <c:v>44054</c:v>
                </c:pt>
                <c:pt idx="59">
                  <c:v>44055</c:v>
                </c:pt>
                <c:pt idx="60">
                  <c:v>44056</c:v>
                </c:pt>
                <c:pt idx="61">
                  <c:v>44057</c:v>
                </c:pt>
                <c:pt idx="62">
                  <c:v>44060</c:v>
                </c:pt>
                <c:pt idx="63">
                  <c:v>44061</c:v>
                </c:pt>
                <c:pt idx="64">
                  <c:v>44062</c:v>
                </c:pt>
                <c:pt idx="65">
                  <c:v>44063</c:v>
                </c:pt>
                <c:pt idx="66">
                  <c:v>44064</c:v>
                </c:pt>
                <c:pt idx="67">
                  <c:v>44067</c:v>
                </c:pt>
                <c:pt idx="68">
                  <c:v>44068</c:v>
                </c:pt>
                <c:pt idx="69">
                  <c:v>44069</c:v>
                </c:pt>
                <c:pt idx="70">
                  <c:v>44070</c:v>
                </c:pt>
                <c:pt idx="71">
                  <c:v>44071</c:v>
                </c:pt>
                <c:pt idx="72">
                  <c:v>44074</c:v>
                </c:pt>
                <c:pt idx="73">
                  <c:v>44075</c:v>
                </c:pt>
                <c:pt idx="74">
                  <c:v>44076</c:v>
                </c:pt>
                <c:pt idx="75">
                  <c:v>44077</c:v>
                </c:pt>
                <c:pt idx="76">
                  <c:v>44078</c:v>
                </c:pt>
                <c:pt idx="77">
                  <c:v>44082</c:v>
                </c:pt>
                <c:pt idx="78">
                  <c:v>44083</c:v>
                </c:pt>
                <c:pt idx="79">
                  <c:v>44084</c:v>
                </c:pt>
                <c:pt idx="80">
                  <c:v>44085</c:v>
                </c:pt>
                <c:pt idx="81">
                  <c:v>44088</c:v>
                </c:pt>
                <c:pt idx="82">
                  <c:v>44089</c:v>
                </c:pt>
                <c:pt idx="83">
                  <c:v>44090</c:v>
                </c:pt>
                <c:pt idx="84">
                  <c:v>44091</c:v>
                </c:pt>
                <c:pt idx="85">
                  <c:v>44092</c:v>
                </c:pt>
                <c:pt idx="86">
                  <c:v>44095</c:v>
                </c:pt>
                <c:pt idx="87">
                  <c:v>44096</c:v>
                </c:pt>
                <c:pt idx="88">
                  <c:v>44097</c:v>
                </c:pt>
                <c:pt idx="89">
                  <c:v>44098</c:v>
                </c:pt>
                <c:pt idx="90">
                  <c:v>44099</c:v>
                </c:pt>
                <c:pt idx="91">
                  <c:v>44102</c:v>
                </c:pt>
                <c:pt idx="92">
                  <c:v>44103</c:v>
                </c:pt>
                <c:pt idx="93">
                  <c:v>44104</c:v>
                </c:pt>
                <c:pt idx="94">
                  <c:v>44105</c:v>
                </c:pt>
                <c:pt idx="95">
                  <c:v>44106</c:v>
                </c:pt>
                <c:pt idx="96">
                  <c:v>44109</c:v>
                </c:pt>
                <c:pt idx="97">
                  <c:v>44110</c:v>
                </c:pt>
                <c:pt idx="98">
                  <c:v>44111</c:v>
                </c:pt>
                <c:pt idx="99">
                  <c:v>44112</c:v>
                </c:pt>
                <c:pt idx="100">
                  <c:v>44113</c:v>
                </c:pt>
                <c:pt idx="101">
                  <c:v>44117</c:v>
                </c:pt>
                <c:pt idx="102">
                  <c:v>44118</c:v>
                </c:pt>
                <c:pt idx="103">
                  <c:v>44119</c:v>
                </c:pt>
                <c:pt idx="104">
                  <c:v>44120</c:v>
                </c:pt>
                <c:pt idx="105">
                  <c:v>44123</c:v>
                </c:pt>
                <c:pt idx="106">
                  <c:v>44124</c:v>
                </c:pt>
                <c:pt idx="107">
                  <c:v>44125</c:v>
                </c:pt>
                <c:pt idx="108">
                  <c:v>44126</c:v>
                </c:pt>
                <c:pt idx="109">
                  <c:v>44127</c:v>
                </c:pt>
                <c:pt idx="110">
                  <c:v>44130</c:v>
                </c:pt>
                <c:pt idx="111">
                  <c:v>44131</c:v>
                </c:pt>
                <c:pt idx="112">
                  <c:v>44132</c:v>
                </c:pt>
                <c:pt idx="113">
                  <c:v>44133</c:v>
                </c:pt>
                <c:pt idx="114">
                  <c:v>44134</c:v>
                </c:pt>
                <c:pt idx="115">
                  <c:v>44138</c:v>
                </c:pt>
                <c:pt idx="116">
                  <c:v>44139</c:v>
                </c:pt>
                <c:pt idx="117">
                  <c:v>44140</c:v>
                </c:pt>
                <c:pt idx="118">
                  <c:v>44141</c:v>
                </c:pt>
                <c:pt idx="119">
                  <c:v>44144</c:v>
                </c:pt>
                <c:pt idx="120">
                  <c:v>44145</c:v>
                </c:pt>
                <c:pt idx="121">
                  <c:v>44146</c:v>
                </c:pt>
                <c:pt idx="122">
                  <c:v>44147</c:v>
                </c:pt>
                <c:pt idx="123">
                  <c:v>44148</c:v>
                </c:pt>
                <c:pt idx="124">
                  <c:v>44151</c:v>
                </c:pt>
                <c:pt idx="125">
                  <c:v>44152</c:v>
                </c:pt>
                <c:pt idx="126">
                  <c:v>44153</c:v>
                </c:pt>
                <c:pt idx="127">
                  <c:v>44154</c:v>
                </c:pt>
                <c:pt idx="128">
                  <c:v>44155</c:v>
                </c:pt>
                <c:pt idx="129">
                  <c:v>44158</c:v>
                </c:pt>
                <c:pt idx="130">
                  <c:v>44159</c:v>
                </c:pt>
                <c:pt idx="131">
                  <c:v>44160</c:v>
                </c:pt>
                <c:pt idx="132">
                  <c:v>44161</c:v>
                </c:pt>
                <c:pt idx="133">
                  <c:v>44162</c:v>
                </c:pt>
                <c:pt idx="134">
                  <c:v>44165</c:v>
                </c:pt>
                <c:pt idx="135">
                  <c:v>44166</c:v>
                </c:pt>
                <c:pt idx="136">
                  <c:v>44167</c:v>
                </c:pt>
                <c:pt idx="137">
                  <c:v>44168</c:v>
                </c:pt>
                <c:pt idx="138">
                  <c:v>44169</c:v>
                </c:pt>
                <c:pt idx="139">
                  <c:v>44172</c:v>
                </c:pt>
                <c:pt idx="140">
                  <c:v>44173</c:v>
                </c:pt>
                <c:pt idx="141">
                  <c:v>44174</c:v>
                </c:pt>
                <c:pt idx="142">
                  <c:v>44175</c:v>
                </c:pt>
                <c:pt idx="143">
                  <c:v>44176</c:v>
                </c:pt>
                <c:pt idx="144">
                  <c:v>44179</c:v>
                </c:pt>
                <c:pt idx="145">
                  <c:v>44180</c:v>
                </c:pt>
                <c:pt idx="146">
                  <c:v>44181</c:v>
                </c:pt>
                <c:pt idx="147">
                  <c:v>44182</c:v>
                </c:pt>
                <c:pt idx="148">
                  <c:v>44183</c:v>
                </c:pt>
                <c:pt idx="149">
                  <c:v>44186</c:v>
                </c:pt>
                <c:pt idx="150">
                  <c:v>44187</c:v>
                </c:pt>
                <c:pt idx="151">
                  <c:v>44188</c:v>
                </c:pt>
                <c:pt idx="152">
                  <c:v>44193</c:v>
                </c:pt>
                <c:pt idx="153">
                  <c:v>44194</c:v>
                </c:pt>
                <c:pt idx="154">
                  <c:v>44195</c:v>
                </c:pt>
                <c:pt idx="155">
                  <c:v>44200</c:v>
                </c:pt>
                <c:pt idx="156">
                  <c:v>44201</c:v>
                </c:pt>
                <c:pt idx="157">
                  <c:v>44202</c:v>
                </c:pt>
                <c:pt idx="158">
                  <c:v>44203</c:v>
                </c:pt>
                <c:pt idx="159">
                  <c:v>44204</c:v>
                </c:pt>
                <c:pt idx="160">
                  <c:v>44207</c:v>
                </c:pt>
                <c:pt idx="161">
                  <c:v>44208</c:v>
                </c:pt>
                <c:pt idx="162">
                  <c:v>44209</c:v>
                </c:pt>
                <c:pt idx="163">
                  <c:v>44210</c:v>
                </c:pt>
                <c:pt idx="164">
                  <c:v>44211</c:v>
                </c:pt>
                <c:pt idx="165">
                  <c:v>44214</c:v>
                </c:pt>
                <c:pt idx="166">
                  <c:v>44215</c:v>
                </c:pt>
                <c:pt idx="167">
                  <c:v>44216</c:v>
                </c:pt>
                <c:pt idx="168">
                  <c:v>44217</c:v>
                </c:pt>
                <c:pt idx="169">
                  <c:v>44218</c:v>
                </c:pt>
                <c:pt idx="170">
                  <c:v>44222</c:v>
                </c:pt>
                <c:pt idx="171">
                  <c:v>44223</c:v>
                </c:pt>
                <c:pt idx="172">
                  <c:v>44224</c:v>
                </c:pt>
                <c:pt idx="173">
                  <c:v>44225</c:v>
                </c:pt>
                <c:pt idx="174">
                  <c:v>44228</c:v>
                </c:pt>
                <c:pt idx="175">
                  <c:v>44229</c:v>
                </c:pt>
                <c:pt idx="176">
                  <c:v>44230</c:v>
                </c:pt>
                <c:pt idx="177">
                  <c:v>44231</c:v>
                </c:pt>
                <c:pt idx="178">
                  <c:v>44232</c:v>
                </c:pt>
                <c:pt idx="179">
                  <c:v>44235</c:v>
                </c:pt>
                <c:pt idx="180">
                  <c:v>44236</c:v>
                </c:pt>
                <c:pt idx="181">
                  <c:v>44237</c:v>
                </c:pt>
                <c:pt idx="182">
                  <c:v>44238</c:v>
                </c:pt>
                <c:pt idx="183">
                  <c:v>44239</c:v>
                </c:pt>
                <c:pt idx="184">
                  <c:v>44244</c:v>
                </c:pt>
                <c:pt idx="185">
                  <c:v>44245</c:v>
                </c:pt>
                <c:pt idx="186">
                  <c:v>44246</c:v>
                </c:pt>
                <c:pt idx="187">
                  <c:v>44249</c:v>
                </c:pt>
                <c:pt idx="188">
                  <c:v>44250</c:v>
                </c:pt>
                <c:pt idx="189">
                  <c:v>44251</c:v>
                </c:pt>
                <c:pt idx="190">
                  <c:v>44252</c:v>
                </c:pt>
                <c:pt idx="191">
                  <c:v>44253</c:v>
                </c:pt>
                <c:pt idx="192">
                  <c:v>44256</c:v>
                </c:pt>
                <c:pt idx="193">
                  <c:v>44257</c:v>
                </c:pt>
                <c:pt idx="194">
                  <c:v>44258</c:v>
                </c:pt>
                <c:pt idx="195">
                  <c:v>44259</c:v>
                </c:pt>
                <c:pt idx="196">
                  <c:v>44260</c:v>
                </c:pt>
                <c:pt idx="197">
                  <c:v>44263</c:v>
                </c:pt>
                <c:pt idx="198">
                  <c:v>44264</c:v>
                </c:pt>
                <c:pt idx="199">
                  <c:v>44265</c:v>
                </c:pt>
                <c:pt idx="200">
                  <c:v>44266</c:v>
                </c:pt>
                <c:pt idx="201">
                  <c:v>44267</c:v>
                </c:pt>
                <c:pt idx="202">
                  <c:v>44270</c:v>
                </c:pt>
                <c:pt idx="203">
                  <c:v>44271</c:v>
                </c:pt>
                <c:pt idx="204">
                  <c:v>44272</c:v>
                </c:pt>
                <c:pt idx="205">
                  <c:v>44273</c:v>
                </c:pt>
                <c:pt idx="206">
                  <c:v>44274</c:v>
                </c:pt>
                <c:pt idx="207">
                  <c:v>44277</c:v>
                </c:pt>
                <c:pt idx="208">
                  <c:v>44278</c:v>
                </c:pt>
                <c:pt idx="209">
                  <c:v>44279</c:v>
                </c:pt>
                <c:pt idx="210">
                  <c:v>44280</c:v>
                </c:pt>
                <c:pt idx="211">
                  <c:v>44281</c:v>
                </c:pt>
                <c:pt idx="212">
                  <c:v>44284</c:v>
                </c:pt>
                <c:pt idx="213">
                  <c:v>44285</c:v>
                </c:pt>
                <c:pt idx="214">
                  <c:v>44286</c:v>
                </c:pt>
                <c:pt idx="215">
                  <c:v>44287</c:v>
                </c:pt>
                <c:pt idx="216">
                  <c:v>44291</c:v>
                </c:pt>
                <c:pt idx="217">
                  <c:v>44292</c:v>
                </c:pt>
                <c:pt idx="218">
                  <c:v>44293</c:v>
                </c:pt>
                <c:pt idx="219">
                  <c:v>44294</c:v>
                </c:pt>
                <c:pt idx="220">
                  <c:v>44295</c:v>
                </c:pt>
                <c:pt idx="221">
                  <c:v>44298</c:v>
                </c:pt>
                <c:pt idx="222">
                  <c:v>44299</c:v>
                </c:pt>
                <c:pt idx="223">
                  <c:v>44300</c:v>
                </c:pt>
                <c:pt idx="224">
                  <c:v>44301</c:v>
                </c:pt>
                <c:pt idx="225">
                  <c:v>44302</c:v>
                </c:pt>
                <c:pt idx="226">
                  <c:v>44305</c:v>
                </c:pt>
                <c:pt idx="227">
                  <c:v>44306</c:v>
                </c:pt>
                <c:pt idx="228">
                  <c:v>44308</c:v>
                </c:pt>
                <c:pt idx="229">
                  <c:v>44309</c:v>
                </c:pt>
                <c:pt idx="230">
                  <c:v>44312</c:v>
                </c:pt>
                <c:pt idx="231">
                  <c:v>44313</c:v>
                </c:pt>
                <c:pt idx="232">
                  <c:v>44314</c:v>
                </c:pt>
                <c:pt idx="233">
                  <c:v>44315</c:v>
                </c:pt>
                <c:pt idx="234">
                  <c:v>44316</c:v>
                </c:pt>
                <c:pt idx="235">
                  <c:v>44319</c:v>
                </c:pt>
                <c:pt idx="236">
                  <c:v>44320</c:v>
                </c:pt>
                <c:pt idx="237">
                  <c:v>44321</c:v>
                </c:pt>
                <c:pt idx="238">
                  <c:v>44322</c:v>
                </c:pt>
                <c:pt idx="239">
                  <c:v>44323</c:v>
                </c:pt>
                <c:pt idx="240">
                  <c:v>44326</c:v>
                </c:pt>
                <c:pt idx="241">
                  <c:v>44327</c:v>
                </c:pt>
                <c:pt idx="242">
                  <c:v>44328</c:v>
                </c:pt>
                <c:pt idx="243">
                  <c:v>44329</c:v>
                </c:pt>
                <c:pt idx="244">
                  <c:v>44330</c:v>
                </c:pt>
                <c:pt idx="245">
                  <c:v>44333</c:v>
                </c:pt>
                <c:pt idx="246">
                  <c:v>44334</c:v>
                </c:pt>
                <c:pt idx="247">
                  <c:v>44335</c:v>
                </c:pt>
                <c:pt idx="248">
                  <c:v>44336</c:v>
                </c:pt>
                <c:pt idx="249">
                  <c:v>44337</c:v>
                </c:pt>
                <c:pt idx="250">
                  <c:v>44340</c:v>
                </c:pt>
                <c:pt idx="251">
                  <c:v>44341</c:v>
                </c:pt>
                <c:pt idx="252">
                  <c:v>44342</c:v>
                </c:pt>
                <c:pt idx="253">
                  <c:v>44343</c:v>
                </c:pt>
                <c:pt idx="254">
                  <c:v>44344</c:v>
                </c:pt>
                <c:pt idx="255">
                  <c:v>44347</c:v>
                </c:pt>
                <c:pt idx="256">
                  <c:v>44348</c:v>
                </c:pt>
                <c:pt idx="257">
                  <c:v>44349</c:v>
                </c:pt>
                <c:pt idx="258">
                  <c:v>44351</c:v>
                </c:pt>
                <c:pt idx="259">
                  <c:v>44354</c:v>
                </c:pt>
                <c:pt idx="260">
                  <c:v>44355</c:v>
                </c:pt>
                <c:pt idx="261">
                  <c:v>44356</c:v>
                </c:pt>
                <c:pt idx="262">
                  <c:v>44357</c:v>
                </c:pt>
                <c:pt idx="263">
                  <c:v>44358</c:v>
                </c:pt>
                <c:pt idx="264">
                  <c:v>44361</c:v>
                </c:pt>
                <c:pt idx="265">
                  <c:v>44362</c:v>
                </c:pt>
                <c:pt idx="266">
                  <c:v>44363</c:v>
                </c:pt>
                <c:pt idx="267">
                  <c:v>44364</c:v>
                </c:pt>
                <c:pt idx="268">
                  <c:v>44365</c:v>
                </c:pt>
                <c:pt idx="269">
                  <c:v>44368</c:v>
                </c:pt>
                <c:pt idx="270">
                  <c:v>44369</c:v>
                </c:pt>
                <c:pt idx="271">
                  <c:v>44370</c:v>
                </c:pt>
                <c:pt idx="272">
                  <c:v>44371</c:v>
                </c:pt>
                <c:pt idx="273">
                  <c:v>44372</c:v>
                </c:pt>
                <c:pt idx="274">
                  <c:v>44375</c:v>
                </c:pt>
                <c:pt idx="275">
                  <c:v>44376</c:v>
                </c:pt>
                <c:pt idx="276">
                  <c:v>44377</c:v>
                </c:pt>
                <c:pt idx="277">
                  <c:v>44378</c:v>
                </c:pt>
                <c:pt idx="278">
                  <c:v>44379</c:v>
                </c:pt>
                <c:pt idx="279">
                  <c:v>44382</c:v>
                </c:pt>
                <c:pt idx="280">
                  <c:v>44383</c:v>
                </c:pt>
                <c:pt idx="281">
                  <c:v>44384</c:v>
                </c:pt>
                <c:pt idx="282">
                  <c:v>44385</c:v>
                </c:pt>
                <c:pt idx="283">
                  <c:v>44389</c:v>
                </c:pt>
                <c:pt idx="284">
                  <c:v>44390</c:v>
                </c:pt>
                <c:pt idx="285">
                  <c:v>44391</c:v>
                </c:pt>
                <c:pt idx="286">
                  <c:v>44392</c:v>
                </c:pt>
                <c:pt idx="287">
                  <c:v>44393</c:v>
                </c:pt>
                <c:pt idx="288">
                  <c:v>44396</c:v>
                </c:pt>
                <c:pt idx="289">
                  <c:v>44397</c:v>
                </c:pt>
                <c:pt idx="290">
                  <c:v>44398</c:v>
                </c:pt>
                <c:pt idx="291">
                  <c:v>44399</c:v>
                </c:pt>
                <c:pt idx="292">
                  <c:v>44400</c:v>
                </c:pt>
                <c:pt idx="293">
                  <c:v>44403</c:v>
                </c:pt>
                <c:pt idx="294">
                  <c:v>44404</c:v>
                </c:pt>
                <c:pt idx="295">
                  <c:v>44405</c:v>
                </c:pt>
                <c:pt idx="296">
                  <c:v>44406</c:v>
                </c:pt>
                <c:pt idx="297">
                  <c:v>44407</c:v>
                </c:pt>
                <c:pt idx="298">
                  <c:v>44410</c:v>
                </c:pt>
                <c:pt idx="299">
                  <c:v>44411</c:v>
                </c:pt>
                <c:pt idx="300">
                  <c:v>44412</c:v>
                </c:pt>
                <c:pt idx="301">
                  <c:v>44413</c:v>
                </c:pt>
                <c:pt idx="302">
                  <c:v>44414</c:v>
                </c:pt>
                <c:pt idx="303">
                  <c:v>44417</c:v>
                </c:pt>
                <c:pt idx="304">
                  <c:v>44418</c:v>
                </c:pt>
                <c:pt idx="305">
                  <c:v>44419</c:v>
                </c:pt>
                <c:pt idx="306">
                  <c:v>44420</c:v>
                </c:pt>
                <c:pt idx="307">
                  <c:v>44421</c:v>
                </c:pt>
                <c:pt idx="308">
                  <c:v>44424</c:v>
                </c:pt>
                <c:pt idx="309">
                  <c:v>44425</c:v>
                </c:pt>
                <c:pt idx="310">
                  <c:v>44426</c:v>
                </c:pt>
                <c:pt idx="311">
                  <c:v>44427</c:v>
                </c:pt>
                <c:pt idx="312">
                  <c:v>44428</c:v>
                </c:pt>
                <c:pt idx="313">
                  <c:v>44431</c:v>
                </c:pt>
                <c:pt idx="314">
                  <c:v>44432</c:v>
                </c:pt>
                <c:pt idx="315">
                  <c:v>44433</c:v>
                </c:pt>
                <c:pt idx="316">
                  <c:v>44434</c:v>
                </c:pt>
                <c:pt idx="317">
                  <c:v>44435</c:v>
                </c:pt>
                <c:pt idx="318">
                  <c:v>44438</c:v>
                </c:pt>
                <c:pt idx="319">
                  <c:v>44439</c:v>
                </c:pt>
                <c:pt idx="320">
                  <c:v>44440</c:v>
                </c:pt>
                <c:pt idx="321">
                  <c:v>44441</c:v>
                </c:pt>
                <c:pt idx="322">
                  <c:v>44442</c:v>
                </c:pt>
                <c:pt idx="323">
                  <c:v>44445</c:v>
                </c:pt>
                <c:pt idx="324">
                  <c:v>44447</c:v>
                </c:pt>
                <c:pt idx="325">
                  <c:v>44448</c:v>
                </c:pt>
                <c:pt idx="326">
                  <c:v>44449</c:v>
                </c:pt>
                <c:pt idx="327">
                  <c:v>44452</c:v>
                </c:pt>
                <c:pt idx="328">
                  <c:v>44453</c:v>
                </c:pt>
                <c:pt idx="329">
                  <c:v>44454</c:v>
                </c:pt>
                <c:pt idx="330">
                  <c:v>44455</c:v>
                </c:pt>
                <c:pt idx="331">
                  <c:v>44456</c:v>
                </c:pt>
                <c:pt idx="332">
                  <c:v>44459</c:v>
                </c:pt>
                <c:pt idx="333">
                  <c:v>44460</c:v>
                </c:pt>
                <c:pt idx="334">
                  <c:v>44461</c:v>
                </c:pt>
                <c:pt idx="335">
                  <c:v>44462</c:v>
                </c:pt>
                <c:pt idx="336">
                  <c:v>44463</c:v>
                </c:pt>
                <c:pt idx="337">
                  <c:v>44466</c:v>
                </c:pt>
                <c:pt idx="338">
                  <c:v>44467</c:v>
                </c:pt>
                <c:pt idx="339">
                  <c:v>44468</c:v>
                </c:pt>
                <c:pt idx="340">
                  <c:v>44469</c:v>
                </c:pt>
                <c:pt idx="341">
                  <c:v>44470</c:v>
                </c:pt>
                <c:pt idx="342">
                  <c:v>44473</c:v>
                </c:pt>
                <c:pt idx="343">
                  <c:v>44474</c:v>
                </c:pt>
                <c:pt idx="344">
                  <c:v>44475</c:v>
                </c:pt>
                <c:pt idx="345">
                  <c:v>44476</c:v>
                </c:pt>
                <c:pt idx="346">
                  <c:v>44477</c:v>
                </c:pt>
                <c:pt idx="347">
                  <c:v>44480</c:v>
                </c:pt>
                <c:pt idx="348">
                  <c:v>44482</c:v>
                </c:pt>
                <c:pt idx="349">
                  <c:v>44483</c:v>
                </c:pt>
                <c:pt idx="350">
                  <c:v>44484</c:v>
                </c:pt>
                <c:pt idx="351">
                  <c:v>44487</c:v>
                </c:pt>
                <c:pt idx="352">
                  <c:v>44488</c:v>
                </c:pt>
                <c:pt idx="353">
                  <c:v>44489</c:v>
                </c:pt>
                <c:pt idx="354">
                  <c:v>44490</c:v>
                </c:pt>
                <c:pt idx="355">
                  <c:v>44491</c:v>
                </c:pt>
                <c:pt idx="356">
                  <c:v>44494</c:v>
                </c:pt>
                <c:pt idx="357">
                  <c:v>44495</c:v>
                </c:pt>
                <c:pt idx="358">
                  <c:v>44496</c:v>
                </c:pt>
                <c:pt idx="359">
                  <c:v>44497</c:v>
                </c:pt>
                <c:pt idx="360">
                  <c:v>44498</c:v>
                </c:pt>
                <c:pt idx="361">
                  <c:v>44501</c:v>
                </c:pt>
                <c:pt idx="362">
                  <c:v>44503</c:v>
                </c:pt>
                <c:pt idx="363">
                  <c:v>44504</c:v>
                </c:pt>
                <c:pt idx="364">
                  <c:v>44505</c:v>
                </c:pt>
                <c:pt idx="365">
                  <c:v>44508</c:v>
                </c:pt>
                <c:pt idx="366">
                  <c:v>44509</c:v>
                </c:pt>
                <c:pt idx="367">
                  <c:v>44510</c:v>
                </c:pt>
                <c:pt idx="368">
                  <c:v>44511</c:v>
                </c:pt>
                <c:pt idx="369">
                  <c:v>44512</c:v>
                </c:pt>
                <c:pt idx="370">
                  <c:v>44516</c:v>
                </c:pt>
                <c:pt idx="371">
                  <c:v>44517</c:v>
                </c:pt>
                <c:pt idx="372">
                  <c:v>44518</c:v>
                </c:pt>
                <c:pt idx="373">
                  <c:v>44519</c:v>
                </c:pt>
                <c:pt idx="374">
                  <c:v>44522</c:v>
                </c:pt>
                <c:pt idx="375">
                  <c:v>44523</c:v>
                </c:pt>
                <c:pt idx="376">
                  <c:v>44524</c:v>
                </c:pt>
                <c:pt idx="377">
                  <c:v>44525</c:v>
                </c:pt>
                <c:pt idx="378">
                  <c:v>44526</c:v>
                </c:pt>
                <c:pt idx="379">
                  <c:v>44529</c:v>
                </c:pt>
                <c:pt idx="380">
                  <c:v>44530</c:v>
                </c:pt>
                <c:pt idx="381">
                  <c:v>44531</c:v>
                </c:pt>
                <c:pt idx="382">
                  <c:v>44532</c:v>
                </c:pt>
                <c:pt idx="383">
                  <c:v>44533</c:v>
                </c:pt>
                <c:pt idx="384">
                  <c:v>44536</c:v>
                </c:pt>
                <c:pt idx="385">
                  <c:v>44537</c:v>
                </c:pt>
                <c:pt idx="386">
                  <c:v>44538</c:v>
                </c:pt>
                <c:pt idx="387">
                  <c:v>44539</c:v>
                </c:pt>
                <c:pt idx="388">
                  <c:v>44540</c:v>
                </c:pt>
                <c:pt idx="389">
                  <c:v>44543</c:v>
                </c:pt>
                <c:pt idx="390">
                  <c:v>44544</c:v>
                </c:pt>
                <c:pt idx="391">
                  <c:v>44545</c:v>
                </c:pt>
                <c:pt idx="392">
                  <c:v>44546</c:v>
                </c:pt>
                <c:pt idx="393">
                  <c:v>44547</c:v>
                </c:pt>
                <c:pt idx="394">
                  <c:v>44550</c:v>
                </c:pt>
                <c:pt idx="395">
                  <c:v>44551</c:v>
                </c:pt>
                <c:pt idx="396">
                  <c:v>44552</c:v>
                </c:pt>
                <c:pt idx="397">
                  <c:v>44553</c:v>
                </c:pt>
                <c:pt idx="398">
                  <c:v>44557</c:v>
                </c:pt>
                <c:pt idx="399">
                  <c:v>44558</c:v>
                </c:pt>
                <c:pt idx="400">
                  <c:v>44559</c:v>
                </c:pt>
                <c:pt idx="401">
                  <c:v>44560</c:v>
                </c:pt>
                <c:pt idx="402">
                  <c:v>44564</c:v>
                </c:pt>
                <c:pt idx="403">
                  <c:v>44565</c:v>
                </c:pt>
                <c:pt idx="404">
                  <c:v>44566</c:v>
                </c:pt>
                <c:pt idx="405">
                  <c:v>44567</c:v>
                </c:pt>
                <c:pt idx="406">
                  <c:v>44568</c:v>
                </c:pt>
                <c:pt idx="407">
                  <c:v>44571</c:v>
                </c:pt>
                <c:pt idx="408">
                  <c:v>44572</c:v>
                </c:pt>
                <c:pt idx="409">
                  <c:v>44573</c:v>
                </c:pt>
                <c:pt idx="410">
                  <c:v>44574</c:v>
                </c:pt>
                <c:pt idx="411">
                  <c:v>44575</c:v>
                </c:pt>
                <c:pt idx="412">
                  <c:v>44578</c:v>
                </c:pt>
                <c:pt idx="413">
                  <c:v>44579</c:v>
                </c:pt>
                <c:pt idx="414">
                  <c:v>44580</c:v>
                </c:pt>
                <c:pt idx="415">
                  <c:v>44581</c:v>
                </c:pt>
                <c:pt idx="416">
                  <c:v>44582</c:v>
                </c:pt>
                <c:pt idx="417">
                  <c:v>44585</c:v>
                </c:pt>
                <c:pt idx="418">
                  <c:v>44586</c:v>
                </c:pt>
                <c:pt idx="419">
                  <c:v>44587</c:v>
                </c:pt>
                <c:pt idx="420">
                  <c:v>44588</c:v>
                </c:pt>
                <c:pt idx="421">
                  <c:v>44589</c:v>
                </c:pt>
                <c:pt idx="422">
                  <c:v>44592</c:v>
                </c:pt>
                <c:pt idx="423">
                  <c:v>44593</c:v>
                </c:pt>
                <c:pt idx="424">
                  <c:v>44594</c:v>
                </c:pt>
                <c:pt idx="425">
                  <c:v>44595</c:v>
                </c:pt>
                <c:pt idx="426">
                  <c:v>44596</c:v>
                </c:pt>
                <c:pt idx="427">
                  <c:v>44599</c:v>
                </c:pt>
                <c:pt idx="428">
                  <c:v>44600</c:v>
                </c:pt>
                <c:pt idx="429">
                  <c:v>44601</c:v>
                </c:pt>
                <c:pt idx="430">
                  <c:v>44602</c:v>
                </c:pt>
                <c:pt idx="431">
                  <c:v>44603</c:v>
                </c:pt>
                <c:pt idx="432">
                  <c:v>44606</c:v>
                </c:pt>
                <c:pt idx="433">
                  <c:v>44607</c:v>
                </c:pt>
                <c:pt idx="434">
                  <c:v>44608</c:v>
                </c:pt>
                <c:pt idx="435">
                  <c:v>44609</c:v>
                </c:pt>
                <c:pt idx="436">
                  <c:v>44610</c:v>
                </c:pt>
                <c:pt idx="437">
                  <c:v>44613</c:v>
                </c:pt>
                <c:pt idx="438">
                  <c:v>44614</c:v>
                </c:pt>
                <c:pt idx="439">
                  <c:v>44615</c:v>
                </c:pt>
                <c:pt idx="440">
                  <c:v>44616</c:v>
                </c:pt>
                <c:pt idx="441">
                  <c:v>44617</c:v>
                </c:pt>
                <c:pt idx="442">
                  <c:v>44622</c:v>
                </c:pt>
                <c:pt idx="443">
                  <c:v>44623</c:v>
                </c:pt>
                <c:pt idx="444">
                  <c:v>44624</c:v>
                </c:pt>
                <c:pt idx="445">
                  <c:v>44627</c:v>
                </c:pt>
                <c:pt idx="446">
                  <c:v>44628</c:v>
                </c:pt>
                <c:pt idx="447">
                  <c:v>44629</c:v>
                </c:pt>
                <c:pt idx="448">
                  <c:v>44630</c:v>
                </c:pt>
                <c:pt idx="449">
                  <c:v>44631</c:v>
                </c:pt>
                <c:pt idx="450">
                  <c:v>44634</c:v>
                </c:pt>
                <c:pt idx="451">
                  <c:v>44635</c:v>
                </c:pt>
                <c:pt idx="452">
                  <c:v>44636</c:v>
                </c:pt>
                <c:pt idx="453">
                  <c:v>44637</c:v>
                </c:pt>
                <c:pt idx="454">
                  <c:v>44638</c:v>
                </c:pt>
                <c:pt idx="455">
                  <c:v>44641</c:v>
                </c:pt>
                <c:pt idx="456">
                  <c:v>44642</c:v>
                </c:pt>
                <c:pt idx="457">
                  <c:v>44643</c:v>
                </c:pt>
                <c:pt idx="458">
                  <c:v>44644</c:v>
                </c:pt>
                <c:pt idx="459">
                  <c:v>44645</c:v>
                </c:pt>
                <c:pt idx="460">
                  <c:v>44648</c:v>
                </c:pt>
                <c:pt idx="461">
                  <c:v>44649</c:v>
                </c:pt>
                <c:pt idx="462">
                  <c:v>44650</c:v>
                </c:pt>
                <c:pt idx="463">
                  <c:v>44651</c:v>
                </c:pt>
                <c:pt idx="464">
                  <c:v>44652</c:v>
                </c:pt>
                <c:pt idx="465">
                  <c:v>44655</c:v>
                </c:pt>
                <c:pt idx="466">
                  <c:v>44656</c:v>
                </c:pt>
                <c:pt idx="467">
                  <c:v>44657</c:v>
                </c:pt>
                <c:pt idx="468">
                  <c:v>44658</c:v>
                </c:pt>
                <c:pt idx="469">
                  <c:v>44659</c:v>
                </c:pt>
                <c:pt idx="470">
                  <c:v>44662</c:v>
                </c:pt>
                <c:pt idx="471">
                  <c:v>44663</c:v>
                </c:pt>
                <c:pt idx="472">
                  <c:v>44664</c:v>
                </c:pt>
                <c:pt idx="473">
                  <c:v>44665</c:v>
                </c:pt>
                <c:pt idx="474">
                  <c:v>44669</c:v>
                </c:pt>
                <c:pt idx="475">
                  <c:v>44670</c:v>
                </c:pt>
                <c:pt idx="476">
                  <c:v>44671</c:v>
                </c:pt>
                <c:pt idx="477">
                  <c:v>44673</c:v>
                </c:pt>
                <c:pt idx="478">
                  <c:v>44676</c:v>
                </c:pt>
                <c:pt idx="479">
                  <c:v>44677</c:v>
                </c:pt>
                <c:pt idx="480">
                  <c:v>44678</c:v>
                </c:pt>
                <c:pt idx="481">
                  <c:v>44679</c:v>
                </c:pt>
                <c:pt idx="482">
                  <c:v>44680</c:v>
                </c:pt>
                <c:pt idx="483">
                  <c:v>44683</c:v>
                </c:pt>
                <c:pt idx="484">
                  <c:v>44684</c:v>
                </c:pt>
                <c:pt idx="485">
                  <c:v>44685</c:v>
                </c:pt>
                <c:pt idx="486">
                  <c:v>44686</c:v>
                </c:pt>
                <c:pt idx="487">
                  <c:v>44687</c:v>
                </c:pt>
                <c:pt idx="488">
                  <c:v>44690</c:v>
                </c:pt>
                <c:pt idx="489">
                  <c:v>44691</c:v>
                </c:pt>
                <c:pt idx="490">
                  <c:v>44692</c:v>
                </c:pt>
                <c:pt idx="491">
                  <c:v>44693</c:v>
                </c:pt>
                <c:pt idx="492">
                  <c:v>44694</c:v>
                </c:pt>
                <c:pt idx="493">
                  <c:v>44697</c:v>
                </c:pt>
                <c:pt idx="494">
                  <c:v>44698</c:v>
                </c:pt>
                <c:pt idx="495">
                  <c:v>44699</c:v>
                </c:pt>
                <c:pt idx="496">
                  <c:v>44700</c:v>
                </c:pt>
                <c:pt idx="497">
                  <c:v>44701</c:v>
                </c:pt>
                <c:pt idx="498">
                  <c:v>44704</c:v>
                </c:pt>
                <c:pt idx="499">
                  <c:v>44705</c:v>
                </c:pt>
                <c:pt idx="500">
                  <c:v>44706</c:v>
                </c:pt>
                <c:pt idx="501">
                  <c:v>44707</c:v>
                </c:pt>
                <c:pt idx="502">
                  <c:v>44708</c:v>
                </c:pt>
                <c:pt idx="503">
                  <c:v>44711</c:v>
                </c:pt>
                <c:pt idx="504">
                  <c:v>44712</c:v>
                </c:pt>
                <c:pt idx="505">
                  <c:v>44713</c:v>
                </c:pt>
                <c:pt idx="506">
                  <c:v>44714</c:v>
                </c:pt>
                <c:pt idx="507">
                  <c:v>44715</c:v>
                </c:pt>
                <c:pt idx="508">
                  <c:v>44718</c:v>
                </c:pt>
                <c:pt idx="509">
                  <c:v>44719</c:v>
                </c:pt>
                <c:pt idx="510">
                  <c:v>44720</c:v>
                </c:pt>
                <c:pt idx="511">
                  <c:v>44721</c:v>
                </c:pt>
                <c:pt idx="512">
                  <c:v>44722</c:v>
                </c:pt>
                <c:pt idx="513">
                  <c:v>44725</c:v>
                </c:pt>
                <c:pt idx="514">
                  <c:v>44726</c:v>
                </c:pt>
                <c:pt idx="515">
                  <c:v>44727</c:v>
                </c:pt>
                <c:pt idx="516">
                  <c:v>44729</c:v>
                </c:pt>
                <c:pt idx="517">
                  <c:v>44732</c:v>
                </c:pt>
                <c:pt idx="518">
                  <c:v>44733</c:v>
                </c:pt>
                <c:pt idx="519">
                  <c:v>44734</c:v>
                </c:pt>
                <c:pt idx="520">
                  <c:v>44735</c:v>
                </c:pt>
                <c:pt idx="521">
                  <c:v>44736</c:v>
                </c:pt>
                <c:pt idx="522">
                  <c:v>44739</c:v>
                </c:pt>
                <c:pt idx="523">
                  <c:v>44740</c:v>
                </c:pt>
                <c:pt idx="524">
                  <c:v>44741</c:v>
                </c:pt>
                <c:pt idx="525">
                  <c:v>44742</c:v>
                </c:pt>
                <c:pt idx="526">
                  <c:v>44743</c:v>
                </c:pt>
                <c:pt idx="527">
                  <c:v>44746</c:v>
                </c:pt>
                <c:pt idx="528">
                  <c:v>44747</c:v>
                </c:pt>
                <c:pt idx="529">
                  <c:v>44748</c:v>
                </c:pt>
                <c:pt idx="530">
                  <c:v>44749</c:v>
                </c:pt>
                <c:pt idx="531">
                  <c:v>44750</c:v>
                </c:pt>
                <c:pt idx="532">
                  <c:v>44753</c:v>
                </c:pt>
                <c:pt idx="533">
                  <c:v>44754</c:v>
                </c:pt>
                <c:pt idx="534">
                  <c:v>44755</c:v>
                </c:pt>
                <c:pt idx="535">
                  <c:v>44756</c:v>
                </c:pt>
                <c:pt idx="536">
                  <c:v>44757</c:v>
                </c:pt>
                <c:pt idx="537">
                  <c:v>44760</c:v>
                </c:pt>
                <c:pt idx="538">
                  <c:v>44761</c:v>
                </c:pt>
                <c:pt idx="539">
                  <c:v>44762</c:v>
                </c:pt>
                <c:pt idx="540">
                  <c:v>44763</c:v>
                </c:pt>
                <c:pt idx="541">
                  <c:v>44764</c:v>
                </c:pt>
                <c:pt idx="542">
                  <c:v>44767</c:v>
                </c:pt>
                <c:pt idx="543">
                  <c:v>44768</c:v>
                </c:pt>
                <c:pt idx="544">
                  <c:v>44769</c:v>
                </c:pt>
                <c:pt idx="545">
                  <c:v>44770</c:v>
                </c:pt>
                <c:pt idx="546">
                  <c:v>44771</c:v>
                </c:pt>
                <c:pt idx="547">
                  <c:v>44774</c:v>
                </c:pt>
                <c:pt idx="548">
                  <c:v>44775</c:v>
                </c:pt>
                <c:pt idx="549">
                  <c:v>44776</c:v>
                </c:pt>
                <c:pt idx="550">
                  <c:v>44777</c:v>
                </c:pt>
                <c:pt idx="551">
                  <c:v>44778</c:v>
                </c:pt>
                <c:pt idx="552">
                  <c:v>44781</c:v>
                </c:pt>
                <c:pt idx="553">
                  <c:v>44782</c:v>
                </c:pt>
                <c:pt idx="554">
                  <c:v>44783</c:v>
                </c:pt>
                <c:pt idx="555">
                  <c:v>44784</c:v>
                </c:pt>
                <c:pt idx="556">
                  <c:v>44785</c:v>
                </c:pt>
                <c:pt idx="557">
                  <c:v>44788</c:v>
                </c:pt>
                <c:pt idx="558">
                  <c:v>44789</c:v>
                </c:pt>
                <c:pt idx="559">
                  <c:v>44790</c:v>
                </c:pt>
                <c:pt idx="560">
                  <c:v>44791</c:v>
                </c:pt>
                <c:pt idx="561">
                  <c:v>44792</c:v>
                </c:pt>
                <c:pt idx="562">
                  <c:v>44795</c:v>
                </c:pt>
                <c:pt idx="563">
                  <c:v>44796</c:v>
                </c:pt>
                <c:pt idx="564">
                  <c:v>44797</c:v>
                </c:pt>
                <c:pt idx="565">
                  <c:v>44798</c:v>
                </c:pt>
                <c:pt idx="566">
                  <c:v>44799</c:v>
                </c:pt>
                <c:pt idx="567">
                  <c:v>44802</c:v>
                </c:pt>
                <c:pt idx="568">
                  <c:v>44803</c:v>
                </c:pt>
                <c:pt idx="569">
                  <c:v>44804</c:v>
                </c:pt>
                <c:pt idx="570">
                  <c:v>44805</c:v>
                </c:pt>
                <c:pt idx="571">
                  <c:v>44806</c:v>
                </c:pt>
                <c:pt idx="572">
                  <c:v>44809</c:v>
                </c:pt>
                <c:pt idx="573">
                  <c:v>44810</c:v>
                </c:pt>
                <c:pt idx="574">
                  <c:v>44812</c:v>
                </c:pt>
                <c:pt idx="575">
                  <c:v>44813</c:v>
                </c:pt>
                <c:pt idx="576">
                  <c:v>44816</c:v>
                </c:pt>
                <c:pt idx="577">
                  <c:v>44817</c:v>
                </c:pt>
                <c:pt idx="578">
                  <c:v>44818</c:v>
                </c:pt>
                <c:pt idx="579">
                  <c:v>44819</c:v>
                </c:pt>
                <c:pt idx="580">
                  <c:v>44820</c:v>
                </c:pt>
                <c:pt idx="581">
                  <c:v>44823</c:v>
                </c:pt>
                <c:pt idx="582">
                  <c:v>44824</c:v>
                </c:pt>
                <c:pt idx="583">
                  <c:v>44825</c:v>
                </c:pt>
                <c:pt idx="584">
                  <c:v>44826</c:v>
                </c:pt>
                <c:pt idx="585">
                  <c:v>44827</c:v>
                </c:pt>
                <c:pt idx="586">
                  <c:v>44830</c:v>
                </c:pt>
                <c:pt idx="587">
                  <c:v>44831</c:v>
                </c:pt>
                <c:pt idx="588">
                  <c:v>44832</c:v>
                </c:pt>
                <c:pt idx="589">
                  <c:v>44837</c:v>
                </c:pt>
                <c:pt idx="590">
                  <c:v>44838</c:v>
                </c:pt>
                <c:pt idx="591">
                  <c:v>44839</c:v>
                </c:pt>
                <c:pt idx="592">
                  <c:v>44840</c:v>
                </c:pt>
                <c:pt idx="593">
                  <c:v>44841</c:v>
                </c:pt>
                <c:pt idx="594">
                  <c:v>44844</c:v>
                </c:pt>
                <c:pt idx="595">
                  <c:v>44845</c:v>
                </c:pt>
                <c:pt idx="596">
                  <c:v>44847</c:v>
                </c:pt>
                <c:pt idx="597">
                  <c:v>44848</c:v>
                </c:pt>
                <c:pt idx="598">
                  <c:v>44851</c:v>
                </c:pt>
                <c:pt idx="599">
                  <c:v>44852</c:v>
                </c:pt>
                <c:pt idx="600">
                  <c:v>44853</c:v>
                </c:pt>
                <c:pt idx="601">
                  <c:v>44854</c:v>
                </c:pt>
                <c:pt idx="602">
                  <c:v>44855</c:v>
                </c:pt>
                <c:pt idx="603">
                  <c:v>44858</c:v>
                </c:pt>
                <c:pt idx="604">
                  <c:v>44859</c:v>
                </c:pt>
                <c:pt idx="605">
                  <c:v>44860</c:v>
                </c:pt>
                <c:pt idx="606">
                  <c:v>44861</c:v>
                </c:pt>
                <c:pt idx="607">
                  <c:v>44862</c:v>
                </c:pt>
                <c:pt idx="608">
                  <c:v>44865</c:v>
                </c:pt>
                <c:pt idx="609">
                  <c:v>44866</c:v>
                </c:pt>
                <c:pt idx="610">
                  <c:v>44868</c:v>
                </c:pt>
                <c:pt idx="611">
                  <c:v>44869</c:v>
                </c:pt>
                <c:pt idx="612">
                  <c:v>44872</c:v>
                </c:pt>
                <c:pt idx="613">
                  <c:v>44873</c:v>
                </c:pt>
                <c:pt idx="614">
                  <c:v>44874</c:v>
                </c:pt>
                <c:pt idx="615">
                  <c:v>44875</c:v>
                </c:pt>
                <c:pt idx="616">
                  <c:v>44876</c:v>
                </c:pt>
                <c:pt idx="617">
                  <c:v>44879</c:v>
                </c:pt>
                <c:pt idx="618">
                  <c:v>44881</c:v>
                </c:pt>
                <c:pt idx="619">
                  <c:v>44882</c:v>
                </c:pt>
                <c:pt idx="620">
                  <c:v>44883</c:v>
                </c:pt>
                <c:pt idx="621">
                  <c:v>44886</c:v>
                </c:pt>
                <c:pt idx="622">
                  <c:v>44887</c:v>
                </c:pt>
                <c:pt idx="623">
                  <c:v>44888</c:v>
                </c:pt>
                <c:pt idx="624">
                  <c:v>44889</c:v>
                </c:pt>
                <c:pt idx="625">
                  <c:v>44890</c:v>
                </c:pt>
                <c:pt idx="626">
                  <c:v>44893</c:v>
                </c:pt>
                <c:pt idx="627">
                  <c:v>44894</c:v>
                </c:pt>
                <c:pt idx="628">
                  <c:v>44895</c:v>
                </c:pt>
                <c:pt idx="629">
                  <c:v>44896</c:v>
                </c:pt>
                <c:pt idx="630">
                  <c:v>44897</c:v>
                </c:pt>
                <c:pt idx="631">
                  <c:v>44900</c:v>
                </c:pt>
                <c:pt idx="632">
                  <c:v>44901</c:v>
                </c:pt>
                <c:pt idx="633">
                  <c:v>44902</c:v>
                </c:pt>
                <c:pt idx="634">
                  <c:v>44903</c:v>
                </c:pt>
                <c:pt idx="635">
                  <c:v>44904</c:v>
                </c:pt>
                <c:pt idx="636">
                  <c:v>44907</c:v>
                </c:pt>
                <c:pt idx="637">
                  <c:v>44908</c:v>
                </c:pt>
                <c:pt idx="638">
                  <c:v>44909</c:v>
                </c:pt>
                <c:pt idx="639">
                  <c:v>44910</c:v>
                </c:pt>
                <c:pt idx="640">
                  <c:v>44911</c:v>
                </c:pt>
                <c:pt idx="641">
                  <c:v>44914</c:v>
                </c:pt>
                <c:pt idx="642">
                  <c:v>44915</c:v>
                </c:pt>
                <c:pt idx="643">
                  <c:v>44916</c:v>
                </c:pt>
                <c:pt idx="644">
                  <c:v>44917</c:v>
                </c:pt>
                <c:pt idx="645">
                  <c:v>44918</c:v>
                </c:pt>
                <c:pt idx="646">
                  <c:v>44921</c:v>
                </c:pt>
                <c:pt idx="647">
                  <c:v>44922</c:v>
                </c:pt>
                <c:pt idx="648">
                  <c:v>44923</c:v>
                </c:pt>
                <c:pt idx="649">
                  <c:v>44924</c:v>
                </c:pt>
                <c:pt idx="650">
                  <c:v>44928</c:v>
                </c:pt>
                <c:pt idx="651">
                  <c:v>44929</c:v>
                </c:pt>
                <c:pt idx="652">
                  <c:v>44930</c:v>
                </c:pt>
                <c:pt idx="653">
                  <c:v>44931</c:v>
                </c:pt>
                <c:pt idx="654">
                  <c:v>44932</c:v>
                </c:pt>
                <c:pt idx="655">
                  <c:v>44935</c:v>
                </c:pt>
                <c:pt idx="656">
                  <c:v>44936</c:v>
                </c:pt>
                <c:pt idx="657">
                  <c:v>44937</c:v>
                </c:pt>
                <c:pt idx="658">
                  <c:v>44938</c:v>
                </c:pt>
                <c:pt idx="659">
                  <c:v>44939</c:v>
                </c:pt>
                <c:pt idx="660">
                  <c:v>44942</c:v>
                </c:pt>
                <c:pt idx="661">
                  <c:v>44943</c:v>
                </c:pt>
                <c:pt idx="662">
                  <c:v>44944</c:v>
                </c:pt>
                <c:pt idx="663">
                  <c:v>44945</c:v>
                </c:pt>
                <c:pt idx="664">
                  <c:v>44946</c:v>
                </c:pt>
                <c:pt idx="665">
                  <c:v>44949</c:v>
                </c:pt>
                <c:pt idx="666">
                  <c:v>44950</c:v>
                </c:pt>
                <c:pt idx="667">
                  <c:v>44951</c:v>
                </c:pt>
                <c:pt idx="668">
                  <c:v>44952</c:v>
                </c:pt>
                <c:pt idx="669">
                  <c:v>44953</c:v>
                </c:pt>
                <c:pt idx="670">
                  <c:v>44956</c:v>
                </c:pt>
                <c:pt idx="671">
                  <c:v>44957</c:v>
                </c:pt>
                <c:pt idx="672">
                  <c:v>44958</c:v>
                </c:pt>
                <c:pt idx="673">
                  <c:v>44959</c:v>
                </c:pt>
                <c:pt idx="674">
                  <c:v>44960</c:v>
                </c:pt>
                <c:pt idx="675">
                  <c:v>44963</c:v>
                </c:pt>
                <c:pt idx="676">
                  <c:v>44964</c:v>
                </c:pt>
                <c:pt idx="677">
                  <c:v>44965</c:v>
                </c:pt>
                <c:pt idx="678">
                  <c:v>44966</c:v>
                </c:pt>
                <c:pt idx="679">
                  <c:v>44967</c:v>
                </c:pt>
                <c:pt idx="680">
                  <c:v>44970</c:v>
                </c:pt>
                <c:pt idx="681">
                  <c:v>44971</c:v>
                </c:pt>
                <c:pt idx="682">
                  <c:v>44972</c:v>
                </c:pt>
                <c:pt idx="683">
                  <c:v>44973</c:v>
                </c:pt>
                <c:pt idx="684">
                  <c:v>44974</c:v>
                </c:pt>
                <c:pt idx="685">
                  <c:v>44979</c:v>
                </c:pt>
                <c:pt idx="686">
                  <c:v>44980</c:v>
                </c:pt>
                <c:pt idx="687">
                  <c:v>44981</c:v>
                </c:pt>
                <c:pt idx="688">
                  <c:v>44984</c:v>
                </c:pt>
                <c:pt idx="689">
                  <c:v>44985</c:v>
                </c:pt>
                <c:pt idx="690">
                  <c:v>44986</c:v>
                </c:pt>
                <c:pt idx="691">
                  <c:v>44987</c:v>
                </c:pt>
                <c:pt idx="692">
                  <c:v>44988</c:v>
                </c:pt>
                <c:pt idx="693">
                  <c:v>44991</c:v>
                </c:pt>
                <c:pt idx="694">
                  <c:v>44992</c:v>
                </c:pt>
                <c:pt idx="695">
                  <c:v>44993</c:v>
                </c:pt>
                <c:pt idx="696">
                  <c:v>44994</c:v>
                </c:pt>
                <c:pt idx="697">
                  <c:v>44995</c:v>
                </c:pt>
                <c:pt idx="698">
                  <c:v>44998</c:v>
                </c:pt>
                <c:pt idx="699">
                  <c:v>44999</c:v>
                </c:pt>
                <c:pt idx="700">
                  <c:v>45000</c:v>
                </c:pt>
                <c:pt idx="701">
                  <c:v>45001</c:v>
                </c:pt>
                <c:pt idx="702">
                  <c:v>45002</c:v>
                </c:pt>
                <c:pt idx="703">
                  <c:v>45005</c:v>
                </c:pt>
                <c:pt idx="704">
                  <c:v>45006</c:v>
                </c:pt>
                <c:pt idx="705">
                  <c:v>45007</c:v>
                </c:pt>
                <c:pt idx="706">
                  <c:v>45008</c:v>
                </c:pt>
                <c:pt idx="707">
                  <c:v>45009</c:v>
                </c:pt>
                <c:pt idx="708">
                  <c:v>45012</c:v>
                </c:pt>
                <c:pt idx="709">
                  <c:v>45013</c:v>
                </c:pt>
                <c:pt idx="710">
                  <c:v>45014</c:v>
                </c:pt>
                <c:pt idx="711">
                  <c:v>45015</c:v>
                </c:pt>
                <c:pt idx="712">
                  <c:v>45016</c:v>
                </c:pt>
                <c:pt idx="713">
                  <c:v>45019</c:v>
                </c:pt>
                <c:pt idx="714">
                  <c:v>45020</c:v>
                </c:pt>
                <c:pt idx="715">
                  <c:v>45021</c:v>
                </c:pt>
                <c:pt idx="716">
                  <c:v>45022</c:v>
                </c:pt>
                <c:pt idx="717">
                  <c:v>45026</c:v>
                </c:pt>
                <c:pt idx="718">
                  <c:v>45027</c:v>
                </c:pt>
                <c:pt idx="719">
                  <c:v>45028</c:v>
                </c:pt>
                <c:pt idx="720">
                  <c:v>45029</c:v>
                </c:pt>
                <c:pt idx="721">
                  <c:v>45030</c:v>
                </c:pt>
                <c:pt idx="722">
                  <c:v>45033</c:v>
                </c:pt>
                <c:pt idx="723">
                  <c:v>45034</c:v>
                </c:pt>
                <c:pt idx="724">
                  <c:v>45035</c:v>
                </c:pt>
                <c:pt idx="725">
                  <c:v>45036</c:v>
                </c:pt>
                <c:pt idx="726">
                  <c:v>45040</c:v>
                </c:pt>
                <c:pt idx="727">
                  <c:v>45041</c:v>
                </c:pt>
                <c:pt idx="728">
                  <c:v>45042</c:v>
                </c:pt>
                <c:pt idx="729">
                  <c:v>45043</c:v>
                </c:pt>
                <c:pt idx="730">
                  <c:v>45044</c:v>
                </c:pt>
                <c:pt idx="731">
                  <c:v>45048</c:v>
                </c:pt>
                <c:pt idx="732">
                  <c:v>45049</c:v>
                </c:pt>
                <c:pt idx="733">
                  <c:v>45050</c:v>
                </c:pt>
                <c:pt idx="734">
                  <c:v>45051</c:v>
                </c:pt>
                <c:pt idx="735">
                  <c:v>45054</c:v>
                </c:pt>
                <c:pt idx="736">
                  <c:v>45055</c:v>
                </c:pt>
                <c:pt idx="737">
                  <c:v>45056</c:v>
                </c:pt>
                <c:pt idx="738">
                  <c:v>45057</c:v>
                </c:pt>
                <c:pt idx="739">
                  <c:v>45058</c:v>
                </c:pt>
                <c:pt idx="740">
                  <c:v>45061</c:v>
                </c:pt>
                <c:pt idx="741">
                  <c:v>45062</c:v>
                </c:pt>
                <c:pt idx="742">
                  <c:v>45063</c:v>
                </c:pt>
                <c:pt idx="743">
                  <c:v>45064</c:v>
                </c:pt>
                <c:pt idx="744">
                  <c:v>45065</c:v>
                </c:pt>
                <c:pt idx="745">
                  <c:v>45068</c:v>
                </c:pt>
                <c:pt idx="746">
                  <c:v>45069</c:v>
                </c:pt>
                <c:pt idx="747">
                  <c:v>45070</c:v>
                </c:pt>
                <c:pt idx="748">
                  <c:v>45071</c:v>
                </c:pt>
                <c:pt idx="749">
                  <c:v>45072</c:v>
                </c:pt>
                <c:pt idx="750">
                  <c:v>45075</c:v>
                </c:pt>
                <c:pt idx="751">
                  <c:v>45076</c:v>
                </c:pt>
                <c:pt idx="752">
                  <c:v>45077</c:v>
                </c:pt>
                <c:pt idx="753">
                  <c:v>45078</c:v>
                </c:pt>
                <c:pt idx="754">
                  <c:v>45079</c:v>
                </c:pt>
                <c:pt idx="755">
                  <c:v>45082</c:v>
                </c:pt>
                <c:pt idx="756">
                  <c:v>45083</c:v>
                </c:pt>
                <c:pt idx="757">
                  <c:v>45084</c:v>
                </c:pt>
                <c:pt idx="758">
                  <c:v>45086</c:v>
                </c:pt>
                <c:pt idx="759">
                  <c:v>45089</c:v>
                </c:pt>
                <c:pt idx="760">
                  <c:v>45090</c:v>
                </c:pt>
                <c:pt idx="761">
                  <c:v>45091</c:v>
                </c:pt>
                <c:pt idx="762">
                  <c:v>45092</c:v>
                </c:pt>
                <c:pt idx="763">
                  <c:v>45093</c:v>
                </c:pt>
                <c:pt idx="764">
                  <c:v>45096</c:v>
                </c:pt>
                <c:pt idx="765">
                  <c:v>45097</c:v>
                </c:pt>
                <c:pt idx="766">
                  <c:v>45098</c:v>
                </c:pt>
                <c:pt idx="767">
                  <c:v>45099</c:v>
                </c:pt>
                <c:pt idx="768">
                  <c:v>45100</c:v>
                </c:pt>
                <c:pt idx="769">
                  <c:v>45103</c:v>
                </c:pt>
                <c:pt idx="770">
                  <c:v>45104</c:v>
                </c:pt>
                <c:pt idx="771">
                  <c:v>45105</c:v>
                </c:pt>
                <c:pt idx="772">
                  <c:v>45106</c:v>
                </c:pt>
                <c:pt idx="773">
                  <c:v>45107</c:v>
                </c:pt>
                <c:pt idx="774">
                  <c:v>45110</c:v>
                </c:pt>
                <c:pt idx="775">
                  <c:v>45111</c:v>
                </c:pt>
                <c:pt idx="776">
                  <c:v>45112</c:v>
                </c:pt>
                <c:pt idx="777">
                  <c:v>45113</c:v>
                </c:pt>
                <c:pt idx="778">
                  <c:v>45114</c:v>
                </c:pt>
                <c:pt idx="779">
                  <c:v>45117</c:v>
                </c:pt>
                <c:pt idx="780">
                  <c:v>45118</c:v>
                </c:pt>
                <c:pt idx="781">
                  <c:v>45119</c:v>
                </c:pt>
                <c:pt idx="782">
                  <c:v>45120</c:v>
                </c:pt>
                <c:pt idx="783">
                  <c:v>45121</c:v>
                </c:pt>
                <c:pt idx="784">
                  <c:v>45124</c:v>
                </c:pt>
                <c:pt idx="785">
                  <c:v>45125</c:v>
                </c:pt>
                <c:pt idx="786">
                  <c:v>45126</c:v>
                </c:pt>
                <c:pt idx="787">
                  <c:v>45127</c:v>
                </c:pt>
                <c:pt idx="788">
                  <c:v>45128</c:v>
                </c:pt>
                <c:pt idx="789">
                  <c:v>45131</c:v>
                </c:pt>
                <c:pt idx="790">
                  <c:v>45132</c:v>
                </c:pt>
                <c:pt idx="791">
                  <c:v>45133</c:v>
                </c:pt>
                <c:pt idx="792">
                  <c:v>45134</c:v>
                </c:pt>
                <c:pt idx="793">
                  <c:v>45135</c:v>
                </c:pt>
                <c:pt idx="794">
                  <c:v>45138</c:v>
                </c:pt>
                <c:pt idx="795">
                  <c:v>45139</c:v>
                </c:pt>
                <c:pt idx="796">
                  <c:v>45140</c:v>
                </c:pt>
                <c:pt idx="797">
                  <c:v>45141</c:v>
                </c:pt>
                <c:pt idx="798">
                  <c:v>45142</c:v>
                </c:pt>
                <c:pt idx="799">
                  <c:v>45145</c:v>
                </c:pt>
                <c:pt idx="800">
                  <c:v>45146</c:v>
                </c:pt>
                <c:pt idx="801">
                  <c:v>45147</c:v>
                </c:pt>
                <c:pt idx="802">
                  <c:v>45148</c:v>
                </c:pt>
                <c:pt idx="803">
                  <c:v>45149</c:v>
                </c:pt>
                <c:pt idx="804">
                  <c:v>45152</c:v>
                </c:pt>
                <c:pt idx="805">
                  <c:v>45153</c:v>
                </c:pt>
                <c:pt idx="806">
                  <c:v>45154</c:v>
                </c:pt>
                <c:pt idx="807">
                  <c:v>45155</c:v>
                </c:pt>
                <c:pt idx="808">
                  <c:v>45156</c:v>
                </c:pt>
                <c:pt idx="809">
                  <c:v>45159</c:v>
                </c:pt>
                <c:pt idx="810">
                  <c:v>45160</c:v>
                </c:pt>
                <c:pt idx="811">
                  <c:v>45161</c:v>
                </c:pt>
                <c:pt idx="812">
                  <c:v>45162</c:v>
                </c:pt>
                <c:pt idx="813">
                  <c:v>45163</c:v>
                </c:pt>
                <c:pt idx="814">
                  <c:v>45166</c:v>
                </c:pt>
                <c:pt idx="815">
                  <c:v>45167</c:v>
                </c:pt>
                <c:pt idx="816">
                  <c:v>45168</c:v>
                </c:pt>
                <c:pt idx="817">
                  <c:v>45169</c:v>
                </c:pt>
                <c:pt idx="818">
                  <c:v>45170</c:v>
                </c:pt>
                <c:pt idx="819">
                  <c:v>45173</c:v>
                </c:pt>
                <c:pt idx="820">
                  <c:v>45174</c:v>
                </c:pt>
                <c:pt idx="821">
                  <c:v>45175</c:v>
                </c:pt>
                <c:pt idx="822">
                  <c:v>45177</c:v>
                </c:pt>
                <c:pt idx="823">
                  <c:v>45180</c:v>
                </c:pt>
                <c:pt idx="824">
                  <c:v>45181</c:v>
                </c:pt>
                <c:pt idx="825">
                  <c:v>45182</c:v>
                </c:pt>
                <c:pt idx="826">
                  <c:v>45183</c:v>
                </c:pt>
                <c:pt idx="827">
                  <c:v>45184</c:v>
                </c:pt>
                <c:pt idx="828">
                  <c:v>45187</c:v>
                </c:pt>
                <c:pt idx="829">
                  <c:v>45188</c:v>
                </c:pt>
                <c:pt idx="830">
                  <c:v>45189</c:v>
                </c:pt>
                <c:pt idx="831">
                  <c:v>45190</c:v>
                </c:pt>
                <c:pt idx="832">
                  <c:v>45191</c:v>
                </c:pt>
                <c:pt idx="833">
                  <c:v>45194</c:v>
                </c:pt>
                <c:pt idx="834">
                  <c:v>45195</c:v>
                </c:pt>
                <c:pt idx="835">
                  <c:v>45196</c:v>
                </c:pt>
                <c:pt idx="836">
                  <c:v>45197</c:v>
                </c:pt>
                <c:pt idx="837">
                  <c:v>45198</c:v>
                </c:pt>
                <c:pt idx="838">
                  <c:v>45201</c:v>
                </c:pt>
                <c:pt idx="839">
                  <c:v>45202</c:v>
                </c:pt>
                <c:pt idx="840">
                  <c:v>45203</c:v>
                </c:pt>
                <c:pt idx="841">
                  <c:v>45204</c:v>
                </c:pt>
                <c:pt idx="842">
                  <c:v>45205</c:v>
                </c:pt>
                <c:pt idx="843">
                  <c:v>45208</c:v>
                </c:pt>
                <c:pt idx="844">
                  <c:v>45209</c:v>
                </c:pt>
                <c:pt idx="845">
                  <c:v>45210</c:v>
                </c:pt>
                <c:pt idx="846">
                  <c:v>45212</c:v>
                </c:pt>
                <c:pt idx="847">
                  <c:v>45215</c:v>
                </c:pt>
                <c:pt idx="848">
                  <c:v>45216</c:v>
                </c:pt>
                <c:pt idx="849">
                  <c:v>45217</c:v>
                </c:pt>
                <c:pt idx="850">
                  <c:v>45218</c:v>
                </c:pt>
                <c:pt idx="851">
                  <c:v>45219</c:v>
                </c:pt>
                <c:pt idx="852">
                  <c:v>45222</c:v>
                </c:pt>
                <c:pt idx="853">
                  <c:v>45223</c:v>
                </c:pt>
                <c:pt idx="854">
                  <c:v>45224</c:v>
                </c:pt>
                <c:pt idx="855">
                  <c:v>45225</c:v>
                </c:pt>
                <c:pt idx="856">
                  <c:v>45226</c:v>
                </c:pt>
                <c:pt idx="857">
                  <c:v>45229</c:v>
                </c:pt>
                <c:pt idx="858">
                  <c:v>45230</c:v>
                </c:pt>
                <c:pt idx="859">
                  <c:v>45231</c:v>
                </c:pt>
                <c:pt idx="860">
                  <c:v>45233</c:v>
                </c:pt>
                <c:pt idx="861">
                  <c:v>45236</c:v>
                </c:pt>
                <c:pt idx="862">
                  <c:v>45237</c:v>
                </c:pt>
                <c:pt idx="863">
                  <c:v>45238</c:v>
                </c:pt>
                <c:pt idx="864">
                  <c:v>45239</c:v>
                </c:pt>
                <c:pt idx="865">
                  <c:v>45240</c:v>
                </c:pt>
                <c:pt idx="866">
                  <c:v>45243</c:v>
                </c:pt>
                <c:pt idx="867">
                  <c:v>45244</c:v>
                </c:pt>
                <c:pt idx="868">
                  <c:v>45246</c:v>
                </c:pt>
                <c:pt idx="869">
                  <c:v>45247</c:v>
                </c:pt>
                <c:pt idx="870">
                  <c:v>45250</c:v>
                </c:pt>
                <c:pt idx="871">
                  <c:v>45251</c:v>
                </c:pt>
                <c:pt idx="872">
                  <c:v>45252</c:v>
                </c:pt>
                <c:pt idx="873">
                  <c:v>45253</c:v>
                </c:pt>
                <c:pt idx="874">
                  <c:v>45254</c:v>
                </c:pt>
                <c:pt idx="875">
                  <c:v>45257</c:v>
                </c:pt>
                <c:pt idx="876">
                  <c:v>45258</c:v>
                </c:pt>
                <c:pt idx="877">
                  <c:v>45259</c:v>
                </c:pt>
                <c:pt idx="878">
                  <c:v>45260</c:v>
                </c:pt>
                <c:pt idx="879">
                  <c:v>45261</c:v>
                </c:pt>
                <c:pt idx="880">
                  <c:v>45264</c:v>
                </c:pt>
                <c:pt idx="881">
                  <c:v>45265</c:v>
                </c:pt>
                <c:pt idx="882">
                  <c:v>45266</c:v>
                </c:pt>
                <c:pt idx="883">
                  <c:v>45267</c:v>
                </c:pt>
                <c:pt idx="884">
                  <c:v>45268</c:v>
                </c:pt>
                <c:pt idx="885">
                  <c:v>45271</c:v>
                </c:pt>
                <c:pt idx="886">
                  <c:v>45272</c:v>
                </c:pt>
                <c:pt idx="887">
                  <c:v>45273</c:v>
                </c:pt>
                <c:pt idx="888">
                  <c:v>45274</c:v>
                </c:pt>
                <c:pt idx="889">
                  <c:v>45275</c:v>
                </c:pt>
                <c:pt idx="890">
                  <c:v>45278</c:v>
                </c:pt>
                <c:pt idx="891">
                  <c:v>45279</c:v>
                </c:pt>
                <c:pt idx="892">
                  <c:v>45280</c:v>
                </c:pt>
                <c:pt idx="893">
                  <c:v>45281</c:v>
                </c:pt>
                <c:pt idx="894">
                  <c:v>45282</c:v>
                </c:pt>
                <c:pt idx="895">
                  <c:v>45286</c:v>
                </c:pt>
                <c:pt idx="896">
                  <c:v>45287</c:v>
                </c:pt>
                <c:pt idx="897">
                  <c:v>45288</c:v>
                </c:pt>
                <c:pt idx="898">
                  <c:v>45293</c:v>
                </c:pt>
                <c:pt idx="899">
                  <c:v>45294</c:v>
                </c:pt>
                <c:pt idx="900">
                  <c:v>45295</c:v>
                </c:pt>
                <c:pt idx="901">
                  <c:v>45296</c:v>
                </c:pt>
                <c:pt idx="902">
                  <c:v>45299</c:v>
                </c:pt>
                <c:pt idx="903">
                  <c:v>45300</c:v>
                </c:pt>
                <c:pt idx="904">
                  <c:v>45301</c:v>
                </c:pt>
                <c:pt idx="905">
                  <c:v>45302</c:v>
                </c:pt>
                <c:pt idx="906">
                  <c:v>45303</c:v>
                </c:pt>
                <c:pt idx="907">
                  <c:v>45306</c:v>
                </c:pt>
                <c:pt idx="908">
                  <c:v>45307</c:v>
                </c:pt>
                <c:pt idx="909">
                  <c:v>45308</c:v>
                </c:pt>
                <c:pt idx="910">
                  <c:v>45309</c:v>
                </c:pt>
                <c:pt idx="911">
                  <c:v>45310</c:v>
                </c:pt>
                <c:pt idx="912">
                  <c:v>45313</c:v>
                </c:pt>
                <c:pt idx="913">
                  <c:v>45314</c:v>
                </c:pt>
                <c:pt idx="914">
                  <c:v>45315</c:v>
                </c:pt>
                <c:pt idx="915">
                  <c:v>45316</c:v>
                </c:pt>
                <c:pt idx="916">
                  <c:v>45317</c:v>
                </c:pt>
                <c:pt idx="917">
                  <c:v>45320</c:v>
                </c:pt>
                <c:pt idx="918">
                  <c:v>45321</c:v>
                </c:pt>
                <c:pt idx="919">
                  <c:v>45322</c:v>
                </c:pt>
                <c:pt idx="920">
                  <c:v>45323</c:v>
                </c:pt>
                <c:pt idx="921">
                  <c:v>45324</c:v>
                </c:pt>
                <c:pt idx="922">
                  <c:v>45327</c:v>
                </c:pt>
                <c:pt idx="923">
                  <c:v>45328</c:v>
                </c:pt>
                <c:pt idx="924">
                  <c:v>45329</c:v>
                </c:pt>
                <c:pt idx="925">
                  <c:v>45330</c:v>
                </c:pt>
                <c:pt idx="926">
                  <c:v>45331</c:v>
                </c:pt>
                <c:pt idx="927">
                  <c:v>45336</c:v>
                </c:pt>
                <c:pt idx="928">
                  <c:v>45337</c:v>
                </c:pt>
                <c:pt idx="929">
                  <c:v>45338</c:v>
                </c:pt>
                <c:pt idx="930">
                  <c:v>45341</c:v>
                </c:pt>
                <c:pt idx="931">
                  <c:v>45342</c:v>
                </c:pt>
                <c:pt idx="932">
                  <c:v>45343</c:v>
                </c:pt>
                <c:pt idx="933">
                  <c:v>45344</c:v>
                </c:pt>
                <c:pt idx="934">
                  <c:v>45345</c:v>
                </c:pt>
                <c:pt idx="935">
                  <c:v>45348</c:v>
                </c:pt>
                <c:pt idx="936">
                  <c:v>45349</c:v>
                </c:pt>
                <c:pt idx="937">
                  <c:v>45350</c:v>
                </c:pt>
                <c:pt idx="938">
                  <c:v>45351</c:v>
                </c:pt>
                <c:pt idx="939">
                  <c:v>45352</c:v>
                </c:pt>
                <c:pt idx="940">
                  <c:v>45355</c:v>
                </c:pt>
                <c:pt idx="941">
                  <c:v>45356</c:v>
                </c:pt>
                <c:pt idx="942">
                  <c:v>45357</c:v>
                </c:pt>
                <c:pt idx="943">
                  <c:v>45358</c:v>
                </c:pt>
                <c:pt idx="944">
                  <c:v>45359</c:v>
                </c:pt>
                <c:pt idx="945">
                  <c:v>45362</c:v>
                </c:pt>
                <c:pt idx="946">
                  <c:v>45363</c:v>
                </c:pt>
                <c:pt idx="947">
                  <c:v>45364</c:v>
                </c:pt>
                <c:pt idx="948">
                  <c:v>45365</c:v>
                </c:pt>
                <c:pt idx="949">
                  <c:v>45366</c:v>
                </c:pt>
                <c:pt idx="950">
                  <c:v>45369</c:v>
                </c:pt>
                <c:pt idx="951">
                  <c:v>45370</c:v>
                </c:pt>
                <c:pt idx="952">
                  <c:v>45371</c:v>
                </c:pt>
                <c:pt idx="953">
                  <c:v>45372</c:v>
                </c:pt>
                <c:pt idx="954">
                  <c:v>45373</c:v>
                </c:pt>
                <c:pt idx="955">
                  <c:v>45376</c:v>
                </c:pt>
                <c:pt idx="956">
                  <c:v>45377</c:v>
                </c:pt>
                <c:pt idx="957">
                  <c:v>45378</c:v>
                </c:pt>
                <c:pt idx="958">
                  <c:v>45379</c:v>
                </c:pt>
                <c:pt idx="959">
                  <c:v>45383</c:v>
                </c:pt>
                <c:pt idx="960">
                  <c:v>45384</c:v>
                </c:pt>
                <c:pt idx="961">
                  <c:v>45385</c:v>
                </c:pt>
                <c:pt idx="962">
                  <c:v>45386</c:v>
                </c:pt>
                <c:pt idx="963">
                  <c:v>45387</c:v>
                </c:pt>
                <c:pt idx="964">
                  <c:v>45390</c:v>
                </c:pt>
                <c:pt idx="965">
                  <c:v>45391</c:v>
                </c:pt>
                <c:pt idx="966">
                  <c:v>45392</c:v>
                </c:pt>
                <c:pt idx="967">
                  <c:v>45393</c:v>
                </c:pt>
                <c:pt idx="968">
                  <c:v>45394</c:v>
                </c:pt>
                <c:pt idx="969">
                  <c:v>45397</c:v>
                </c:pt>
                <c:pt idx="970">
                  <c:v>45398</c:v>
                </c:pt>
                <c:pt idx="971">
                  <c:v>45399</c:v>
                </c:pt>
                <c:pt idx="972">
                  <c:v>45400</c:v>
                </c:pt>
                <c:pt idx="973">
                  <c:v>45401</c:v>
                </c:pt>
                <c:pt idx="974">
                  <c:v>45404</c:v>
                </c:pt>
                <c:pt idx="975">
                  <c:v>45405</c:v>
                </c:pt>
                <c:pt idx="976">
                  <c:v>45406</c:v>
                </c:pt>
                <c:pt idx="977">
                  <c:v>45407</c:v>
                </c:pt>
                <c:pt idx="978">
                  <c:v>45408</c:v>
                </c:pt>
                <c:pt idx="979">
                  <c:v>45411</c:v>
                </c:pt>
                <c:pt idx="980">
                  <c:v>45412</c:v>
                </c:pt>
                <c:pt idx="981">
                  <c:v>45414</c:v>
                </c:pt>
                <c:pt idx="982">
                  <c:v>45415</c:v>
                </c:pt>
                <c:pt idx="983">
                  <c:v>45418</c:v>
                </c:pt>
                <c:pt idx="984">
                  <c:v>45419</c:v>
                </c:pt>
                <c:pt idx="985">
                  <c:v>45420</c:v>
                </c:pt>
                <c:pt idx="986">
                  <c:v>45421</c:v>
                </c:pt>
                <c:pt idx="987">
                  <c:v>45422</c:v>
                </c:pt>
                <c:pt idx="988">
                  <c:v>45425</c:v>
                </c:pt>
                <c:pt idx="989">
                  <c:v>45426</c:v>
                </c:pt>
                <c:pt idx="990">
                  <c:v>45427</c:v>
                </c:pt>
                <c:pt idx="991">
                  <c:v>45428</c:v>
                </c:pt>
                <c:pt idx="992">
                  <c:v>45429</c:v>
                </c:pt>
                <c:pt idx="993">
                  <c:v>45432</c:v>
                </c:pt>
                <c:pt idx="994">
                  <c:v>45433</c:v>
                </c:pt>
                <c:pt idx="995">
                  <c:v>45434</c:v>
                </c:pt>
                <c:pt idx="996">
                  <c:v>45435</c:v>
                </c:pt>
                <c:pt idx="997">
                  <c:v>45436</c:v>
                </c:pt>
                <c:pt idx="998">
                  <c:v>45439</c:v>
                </c:pt>
                <c:pt idx="999">
                  <c:v>45440</c:v>
                </c:pt>
                <c:pt idx="1000">
                  <c:v>45441</c:v>
                </c:pt>
                <c:pt idx="1001">
                  <c:v>45443</c:v>
                </c:pt>
                <c:pt idx="1002">
                  <c:v>45446</c:v>
                </c:pt>
                <c:pt idx="1003">
                  <c:v>45447</c:v>
                </c:pt>
                <c:pt idx="1004">
                  <c:v>45448</c:v>
                </c:pt>
                <c:pt idx="1005">
                  <c:v>45449</c:v>
                </c:pt>
                <c:pt idx="1006">
                  <c:v>45450</c:v>
                </c:pt>
                <c:pt idx="1007">
                  <c:v>45453</c:v>
                </c:pt>
                <c:pt idx="1008">
                  <c:v>45454</c:v>
                </c:pt>
                <c:pt idx="1009">
                  <c:v>45455</c:v>
                </c:pt>
                <c:pt idx="1010">
                  <c:v>45456</c:v>
                </c:pt>
                <c:pt idx="1011">
                  <c:v>45457</c:v>
                </c:pt>
                <c:pt idx="1012">
                  <c:v>45460</c:v>
                </c:pt>
                <c:pt idx="1013">
                  <c:v>45461</c:v>
                </c:pt>
                <c:pt idx="1014">
                  <c:v>45462</c:v>
                </c:pt>
                <c:pt idx="1015">
                  <c:v>45463</c:v>
                </c:pt>
                <c:pt idx="1016">
                  <c:v>45464</c:v>
                </c:pt>
                <c:pt idx="1017">
                  <c:v>45467</c:v>
                </c:pt>
                <c:pt idx="1018">
                  <c:v>45468</c:v>
                </c:pt>
                <c:pt idx="1019">
                  <c:v>45469</c:v>
                </c:pt>
                <c:pt idx="1020">
                  <c:v>45470</c:v>
                </c:pt>
                <c:pt idx="1021">
                  <c:v>45471</c:v>
                </c:pt>
                <c:pt idx="1022">
                  <c:v>45474</c:v>
                </c:pt>
                <c:pt idx="1023">
                  <c:v>45475</c:v>
                </c:pt>
                <c:pt idx="1024">
                  <c:v>45476</c:v>
                </c:pt>
                <c:pt idx="1025">
                  <c:v>45477</c:v>
                </c:pt>
                <c:pt idx="1026">
                  <c:v>45478</c:v>
                </c:pt>
                <c:pt idx="1027">
                  <c:v>45481</c:v>
                </c:pt>
                <c:pt idx="1028">
                  <c:v>45482</c:v>
                </c:pt>
                <c:pt idx="1029">
                  <c:v>45483</c:v>
                </c:pt>
                <c:pt idx="1030">
                  <c:v>45484</c:v>
                </c:pt>
                <c:pt idx="1031">
                  <c:v>45485</c:v>
                </c:pt>
                <c:pt idx="1032">
                  <c:v>45488</c:v>
                </c:pt>
                <c:pt idx="1033">
                  <c:v>45489</c:v>
                </c:pt>
                <c:pt idx="1034">
                  <c:v>45490</c:v>
                </c:pt>
                <c:pt idx="1035">
                  <c:v>45491</c:v>
                </c:pt>
                <c:pt idx="1036">
                  <c:v>45492</c:v>
                </c:pt>
                <c:pt idx="1037">
                  <c:v>45495</c:v>
                </c:pt>
                <c:pt idx="1038">
                  <c:v>45496</c:v>
                </c:pt>
                <c:pt idx="1039">
                  <c:v>45497</c:v>
                </c:pt>
                <c:pt idx="1040">
                  <c:v>45498</c:v>
                </c:pt>
                <c:pt idx="1041">
                  <c:v>45499</c:v>
                </c:pt>
                <c:pt idx="1042">
                  <c:v>45502</c:v>
                </c:pt>
                <c:pt idx="1043">
                  <c:v>45503</c:v>
                </c:pt>
                <c:pt idx="1044">
                  <c:v>45504</c:v>
                </c:pt>
                <c:pt idx="1045">
                  <c:v>45505</c:v>
                </c:pt>
                <c:pt idx="1046">
                  <c:v>45506</c:v>
                </c:pt>
                <c:pt idx="1047">
                  <c:v>45509</c:v>
                </c:pt>
                <c:pt idx="1048">
                  <c:v>45510</c:v>
                </c:pt>
                <c:pt idx="1049">
                  <c:v>45511</c:v>
                </c:pt>
                <c:pt idx="1050">
                  <c:v>45512</c:v>
                </c:pt>
                <c:pt idx="1051">
                  <c:v>45513</c:v>
                </c:pt>
                <c:pt idx="1052">
                  <c:v>45516</c:v>
                </c:pt>
                <c:pt idx="1053">
                  <c:v>45517</c:v>
                </c:pt>
                <c:pt idx="1054">
                  <c:v>45518</c:v>
                </c:pt>
                <c:pt idx="1055">
                  <c:v>45519</c:v>
                </c:pt>
                <c:pt idx="1056">
                  <c:v>45520</c:v>
                </c:pt>
                <c:pt idx="1057">
                  <c:v>45523</c:v>
                </c:pt>
                <c:pt idx="1058">
                  <c:v>45524</c:v>
                </c:pt>
                <c:pt idx="1059">
                  <c:v>45525</c:v>
                </c:pt>
                <c:pt idx="1060">
                  <c:v>45526</c:v>
                </c:pt>
                <c:pt idx="1061">
                  <c:v>45527</c:v>
                </c:pt>
                <c:pt idx="1062">
                  <c:v>45530</c:v>
                </c:pt>
                <c:pt idx="1063">
                  <c:v>45531</c:v>
                </c:pt>
                <c:pt idx="1064">
                  <c:v>45532</c:v>
                </c:pt>
                <c:pt idx="1065">
                  <c:v>45533</c:v>
                </c:pt>
                <c:pt idx="1066">
                  <c:v>45534</c:v>
                </c:pt>
                <c:pt idx="1067">
                  <c:v>45537</c:v>
                </c:pt>
                <c:pt idx="1068">
                  <c:v>45538</c:v>
                </c:pt>
                <c:pt idx="1069">
                  <c:v>45539</c:v>
                </c:pt>
                <c:pt idx="1070">
                  <c:v>45540</c:v>
                </c:pt>
                <c:pt idx="1071">
                  <c:v>45541</c:v>
                </c:pt>
                <c:pt idx="1072">
                  <c:v>45544</c:v>
                </c:pt>
                <c:pt idx="1073">
                  <c:v>45545</c:v>
                </c:pt>
                <c:pt idx="1074">
                  <c:v>45546</c:v>
                </c:pt>
                <c:pt idx="1075">
                  <c:v>45547</c:v>
                </c:pt>
                <c:pt idx="1076">
                  <c:v>45548</c:v>
                </c:pt>
                <c:pt idx="1077">
                  <c:v>45551</c:v>
                </c:pt>
                <c:pt idx="1078">
                  <c:v>45552</c:v>
                </c:pt>
                <c:pt idx="1079">
                  <c:v>45553</c:v>
                </c:pt>
                <c:pt idx="1080">
                  <c:v>45554</c:v>
                </c:pt>
                <c:pt idx="1081">
                  <c:v>45555</c:v>
                </c:pt>
                <c:pt idx="1082">
                  <c:v>45558</c:v>
                </c:pt>
                <c:pt idx="1083">
                  <c:v>45559</c:v>
                </c:pt>
                <c:pt idx="1084">
                  <c:v>45560</c:v>
                </c:pt>
                <c:pt idx="1085">
                  <c:v>45561</c:v>
                </c:pt>
                <c:pt idx="1086">
                  <c:v>45562</c:v>
                </c:pt>
                <c:pt idx="1087">
                  <c:v>45565</c:v>
                </c:pt>
                <c:pt idx="1088">
                  <c:v>45566</c:v>
                </c:pt>
                <c:pt idx="1089">
                  <c:v>45567</c:v>
                </c:pt>
                <c:pt idx="1090">
                  <c:v>45568</c:v>
                </c:pt>
                <c:pt idx="1091">
                  <c:v>45569</c:v>
                </c:pt>
                <c:pt idx="1092">
                  <c:v>45572</c:v>
                </c:pt>
                <c:pt idx="1093">
                  <c:v>45573</c:v>
                </c:pt>
                <c:pt idx="1094">
                  <c:v>45574</c:v>
                </c:pt>
                <c:pt idx="1095">
                  <c:v>45575</c:v>
                </c:pt>
                <c:pt idx="1096">
                  <c:v>45576</c:v>
                </c:pt>
                <c:pt idx="1097">
                  <c:v>45579</c:v>
                </c:pt>
                <c:pt idx="1098">
                  <c:v>45580</c:v>
                </c:pt>
                <c:pt idx="1099">
                  <c:v>45581</c:v>
                </c:pt>
                <c:pt idx="1100">
                  <c:v>45582</c:v>
                </c:pt>
                <c:pt idx="1101">
                  <c:v>45583</c:v>
                </c:pt>
                <c:pt idx="1102">
                  <c:v>45586</c:v>
                </c:pt>
                <c:pt idx="1103">
                  <c:v>45587</c:v>
                </c:pt>
                <c:pt idx="1104">
                  <c:v>45588</c:v>
                </c:pt>
                <c:pt idx="1105">
                  <c:v>45589</c:v>
                </c:pt>
                <c:pt idx="1106">
                  <c:v>45590</c:v>
                </c:pt>
                <c:pt idx="1107">
                  <c:v>45593</c:v>
                </c:pt>
                <c:pt idx="1108">
                  <c:v>45594</c:v>
                </c:pt>
                <c:pt idx="1109">
                  <c:v>45595</c:v>
                </c:pt>
                <c:pt idx="1110">
                  <c:v>45596</c:v>
                </c:pt>
                <c:pt idx="1111">
                  <c:v>45597</c:v>
                </c:pt>
                <c:pt idx="1112">
                  <c:v>45600</c:v>
                </c:pt>
                <c:pt idx="1113">
                  <c:v>45601</c:v>
                </c:pt>
                <c:pt idx="1114">
                  <c:v>45602</c:v>
                </c:pt>
                <c:pt idx="1115">
                  <c:v>45603</c:v>
                </c:pt>
                <c:pt idx="1116">
                  <c:v>45604</c:v>
                </c:pt>
                <c:pt idx="1117">
                  <c:v>45607</c:v>
                </c:pt>
                <c:pt idx="1118">
                  <c:v>45608</c:v>
                </c:pt>
                <c:pt idx="1119">
                  <c:v>45609</c:v>
                </c:pt>
                <c:pt idx="1120">
                  <c:v>45610</c:v>
                </c:pt>
                <c:pt idx="1121">
                  <c:v>45614</c:v>
                </c:pt>
                <c:pt idx="1122">
                  <c:v>45615</c:v>
                </c:pt>
                <c:pt idx="1123">
                  <c:v>45617</c:v>
                </c:pt>
                <c:pt idx="1124">
                  <c:v>45618</c:v>
                </c:pt>
                <c:pt idx="1125">
                  <c:v>45621</c:v>
                </c:pt>
                <c:pt idx="1126">
                  <c:v>45622</c:v>
                </c:pt>
                <c:pt idx="1127">
                  <c:v>45623</c:v>
                </c:pt>
                <c:pt idx="1128">
                  <c:v>45624</c:v>
                </c:pt>
                <c:pt idx="1129">
                  <c:v>45625</c:v>
                </c:pt>
                <c:pt idx="1130">
                  <c:v>45628</c:v>
                </c:pt>
                <c:pt idx="1131">
                  <c:v>45629</c:v>
                </c:pt>
                <c:pt idx="1132">
                  <c:v>45630</c:v>
                </c:pt>
                <c:pt idx="1133">
                  <c:v>45631</c:v>
                </c:pt>
                <c:pt idx="1134">
                  <c:v>45632</c:v>
                </c:pt>
                <c:pt idx="1135">
                  <c:v>45635</c:v>
                </c:pt>
                <c:pt idx="1136">
                  <c:v>45636</c:v>
                </c:pt>
                <c:pt idx="1137">
                  <c:v>45637</c:v>
                </c:pt>
                <c:pt idx="1138">
                  <c:v>45638</c:v>
                </c:pt>
                <c:pt idx="1139">
                  <c:v>45639</c:v>
                </c:pt>
                <c:pt idx="1140">
                  <c:v>45642</c:v>
                </c:pt>
                <c:pt idx="1141">
                  <c:v>45643</c:v>
                </c:pt>
                <c:pt idx="1142">
                  <c:v>45644</c:v>
                </c:pt>
                <c:pt idx="1143">
                  <c:v>45645</c:v>
                </c:pt>
                <c:pt idx="1144">
                  <c:v>45646</c:v>
                </c:pt>
                <c:pt idx="1145">
                  <c:v>45649</c:v>
                </c:pt>
                <c:pt idx="1146">
                  <c:v>45652</c:v>
                </c:pt>
                <c:pt idx="1147">
                  <c:v>45653</c:v>
                </c:pt>
                <c:pt idx="1148">
                  <c:v>45656</c:v>
                </c:pt>
                <c:pt idx="1149">
                  <c:v>45659</c:v>
                </c:pt>
                <c:pt idx="1150">
                  <c:v>45660</c:v>
                </c:pt>
                <c:pt idx="1151">
                  <c:v>45663</c:v>
                </c:pt>
                <c:pt idx="1152">
                  <c:v>45664</c:v>
                </c:pt>
                <c:pt idx="1153">
                  <c:v>45665</c:v>
                </c:pt>
                <c:pt idx="1154">
                  <c:v>45666</c:v>
                </c:pt>
                <c:pt idx="1155">
                  <c:v>45667</c:v>
                </c:pt>
                <c:pt idx="1156">
                  <c:v>45670</c:v>
                </c:pt>
                <c:pt idx="1157">
                  <c:v>45671</c:v>
                </c:pt>
                <c:pt idx="1158">
                  <c:v>45672</c:v>
                </c:pt>
                <c:pt idx="1159">
                  <c:v>45673</c:v>
                </c:pt>
                <c:pt idx="1160">
                  <c:v>45674</c:v>
                </c:pt>
                <c:pt idx="1161">
                  <c:v>45677</c:v>
                </c:pt>
                <c:pt idx="1162">
                  <c:v>45678</c:v>
                </c:pt>
                <c:pt idx="1163">
                  <c:v>45679</c:v>
                </c:pt>
                <c:pt idx="1164">
                  <c:v>45680</c:v>
                </c:pt>
                <c:pt idx="1165">
                  <c:v>45681</c:v>
                </c:pt>
                <c:pt idx="1166">
                  <c:v>45684</c:v>
                </c:pt>
                <c:pt idx="1167">
                  <c:v>45685</c:v>
                </c:pt>
                <c:pt idx="1168">
                  <c:v>45686</c:v>
                </c:pt>
                <c:pt idx="1169">
                  <c:v>45687</c:v>
                </c:pt>
                <c:pt idx="1170">
                  <c:v>45688</c:v>
                </c:pt>
                <c:pt idx="1171">
                  <c:v>45691</c:v>
                </c:pt>
                <c:pt idx="1172">
                  <c:v>45692</c:v>
                </c:pt>
                <c:pt idx="1173">
                  <c:v>45693</c:v>
                </c:pt>
                <c:pt idx="1174">
                  <c:v>45694</c:v>
                </c:pt>
                <c:pt idx="1175">
                  <c:v>45695</c:v>
                </c:pt>
                <c:pt idx="1176">
                  <c:v>45698</c:v>
                </c:pt>
                <c:pt idx="1177">
                  <c:v>45699</c:v>
                </c:pt>
                <c:pt idx="1178">
                  <c:v>45700</c:v>
                </c:pt>
                <c:pt idx="1179">
                  <c:v>45701</c:v>
                </c:pt>
                <c:pt idx="1180">
                  <c:v>45702</c:v>
                </c:pt>
                <c:pt idx="1181">
                  <c:v>45705</c:v>
                </c:pt>
                <c:pt idx="1182">
                  <c:v>45706</c:v>
                </c:pt>
                <c:pt idx="1183">
                  <c:v>45707</c:v>
                </c:pt>
                <c:pt idx="1184">
                  <c:v>45708</c:v>
                </c:pt>
                <c:pt idx="1185">
                  <c:v>45709</c:v>
                </c:pt>
                <c:pt idx="1186">
                  <c:v>45712</c:v>
                </c:pt>
                <c:pt idx="1187">
                  <c:v>45713</c:v>
                </c:pt>
                <c:pt idx="1188">
                  <c:v>45714</c:v>
                </c:pt>
                <c:pt idx="1189">
                  <c:v>45715</c:v>
                </c:pt>
                <c:pt idx="1190">
                  <c:v>45716</c:v>
                </c:pt>
                <c:pt idx="1191">
                  <c:v>45721</c:v>
                </c:pt>
                <c:pt idx="1192">
                  <c:v>45722</c:v>
                </c:pt>
                <c:pt idx="1193">
                  <c:v>45723</c:v>
                </c:pt>
                <c:pt idx="1194">
                  <c:v>45726</c:v>
                </c:pt>
                <c:pt idx="1195">
                  <c:v>45727</c:v>
                </c:pt>
                <c:pt idx="1196">
                  <c:v>45728</c:v>
                </c:pt>
                <c:pt idx="1197">
                  <c:v>45729</c:v>
                </c:pt>
                <c:pt idx="1198">
                  <c:v>45730</c:v>
                </c:pt>
                <c:pt idx="1199">
                  <c:v>45733</c:v>
                </c:pt>
                <c:pt idx="1200">
                  <c:v>45734</c:v>
                </c:pt>
                <c:pt idx="1201">
                  <c:v>45735</c:v>
                </c:pt>
                <c:pt idx="1202">
                  <c:v>45736</c:v>
                </c:pt>
                <c:pt idx="1203">
                  <c:v>45737</c:v>
                </c:pt>
                <c:pt idx="1204">
                  <c:v>45740</c:v>
                </c:pt>
                <c:pt idx="1205">
                  <c:v>45741</c:v>
                </c:pt>
                <c:pt idx="1206">
                  <c:v>45742</c:v>
                </c:pt>
                <c:pt idx="1207">
                  <c:v>45743</c:v>
                </c:pt>
                <c:pt idx="1208">
                  <c:v>45744</c:v>
                </c:pt>
                <c:pt idx="1209">
                  <c:v>45747</c:v>
                </c:pt>
                <c:pt idx="1210">
                  <c:v>45748</c:v>
                </c:pt>
                <c:pt idx="1211">
                  <c:v>45749</c:v>
                </c:pt>
                <c:pt idx="1212">
                  <c:v>45750</c:v>
                </c:pt>
                <c:pt idx="1213">
                  <c:v>45751</c:v>
                </c:pt>
                <c:pt idx="1214">
                  <c:v>45754</c:v>
                </c:pt>
                <c:pt idx="1215">
                  <c:v>45755</c:v>
                </c:pt>
                <c:pt idx="1216">
                  <c:v>45756</c:v>
                </c:pt>
                <c:pt idx="1217">
                  <c:v>45757</c:v>
                </c:pt>
                <c:pt idx="1218">
                  <c:v>45758</c:v>
                </c:pt>
                <c:pt idx="1219">
                  <c:v>45761</c:v>
                </c:pt>
                <c:pt idx="1220">
                  <c:v>45762</c:v>
                </c:pt>
                <c:pt idx="1221">
                  <c:v>45763</c:v>
                </c:pt>
                <c:pt idx="1222">
                  <c:v>45764</c:v>
                </c:pt>
                <c:pt idx="1223">
                  <c:v>45769</c:v>
                </c:pt>
                <c:pt idx="1224">
                  <c:v>45770</c:v>
                </c:pt>
                <c:pt idx="1225">
                  <c:v>45771</c:v>
                </c:pt>
                <c:pt idx="1226">
                  <c:v>45772</c:v>
                </c:pt>
                <c:pt idx="1227">
                  <c:v>45775</c:v>
                </c:pt>
                <c:pt idx="1228">
                  <c:v>45776</c:v>
                </c:pt>
                <c:pt idx="1229">
                  <c:v>45777</c:v>
                </c:pt>
                <c:pt idx="1230">
                  <c:v>45779</c:v>
                </c:pt>
                <c:pt idx="1231">
                  <c:v>45782</c:v>
                </c:pt>
                <c:pt idx="1232">
                  <c:v>45783</c:v>
                </c:pt>
                <c:pt idx="1233">
                  <c:v>45784</c:v>
                </c:pt>
                <c:pt idx="1234">
                  <c:v>45785</c:v>
                </c:pt>
                <c:pt idx="1235">
                  <c:v>45786</c:v>
                </c:pt>
                <c:pt idx="1236">
                  <c:v>45789</c:v>
                </c:pt>
                <c:pt idx="1237">
                  <c:v>45790</c:v>
                </c:pt>
                <c:pt idx="1238">
                  <c:v>45791</c:v>
                </c:pt>
                <c:pt idx="1239">
                  <c:v>45792</c:v>
                </c:pt>
                <c:pt idx="1240">
                  <c:v>45793</c:v>
                </c:pt>
                <c:pt idx="1241">
                  <c:v>45796</c:v>
                </c:pt>
              </c:numCache>
            </c:numRef>
          </c:cat>
          <c:val>
            <c:numRef>
              <c:f>Sheet1!$N$2:$N$1243</c:f>
              <c:numCache>
                <c:formatCode>0%</c:formatCode>
                <c:ptCount val="1242"/>
                <c:pt idx="0">
                  <c:v>0</c:v>
                </c:pt>
                <c:pt idx="1">
                  <c:v>2.0999158257956729E-2</c:v>
                </c:pt>
                <c:pt idx="2">
                  <c:v>1.0498841298115069E-2</c:v>
                </c:pt>
                <c:pt idx="3">
                  <c:v>5.3419323421395548E-2</c:v>
                </c:pt>
                <c:pt idx="4">
                  <c:v>5.102666090338781E-2</c:v>
                </c:pt>
                <c:pt idx="5">
                  <c:v>8.1490959419917353E-2</c:v>
                </c:pt>
                <c:pt idx="6">
                  <c:v>6.9228702358414829E-2</c:v>
                </c:pt>
                <c:pt idx="7">
                  <c:v>7.4805473967175073E-2</c:v>
                </c:pt>
                <c:pt idx="8">
                  <c:v>8.9777414874301353E-2</c:v>
                </c:pt>
                <c:pt idx="9">
                  <c:v>0.11961381932612691</c:v>
                </c:pt>
                <c:pt idx="10">
                  <c:v>0.14366415414762401</c:v>
                </c:pt>
                <c:pt idx="11">
                  <c:v>0.15382740537472905</c:v>
                </c:pt>
                <c:pt idx="12">
                  <c:v>0.16376906139921021</c:v>
                </c:pt>
                <c:pt idx="13">
                  <c:v>0.20075418611414619</c:v>
                </c:pt>
                <c:pt idx="14">
                  <c:v>0.18970984186440032</c:v>
                </c:pt>
                <c:pt idx="15">
                  <c:v>0.16437063949645503</c:v>
                </c:pt>
                <c:pt idx="16">
                  <c:v>0.14112023630263115</c:v>
                </c:pt>
                <c:pt idx="17">
                  <c:v>0.13595849455450093</c:v>
                </c:pt>
                <c:pt idx="18">
                  <c:v>0.15016973184152138</c:v>
                </c:pt>
                <c:pt idx="19">
                  <c:v>0.17496232451154059</c:v>
                </c:pt>
                <c:pt idx="20">
                  <c:v>0.182069480302683</c:v>
                </c:pt>
                <c:pt idx="21">
                  <c:v>0.18756459862923336</c:v>
                </c:pt>
                <c:pt idx="22">
                  <c:v>0.17236356123903951</c:v>
                </c:pt>
                <c:pt idx="23">
                  <c:v>0.18022391936984339</c:v>
                </c:pt>
                <c:pt idx="24">
                  <c:v>0.16057548347904471</c:v>
                </c:pt>
                <c:pt idx="25">
                  <c:v>0.1803214360156149</c:v>
                </c:pt>
                <c:pt idx="26">
                  <c:v>0.15389971279933645</c:v>
                </c:pt>
                <c:pt idx="27">
                  <c:v>0.17727493238087577</c:v>
                </c:pt>
                <c:pt idx="28">
                  <c:v>0.16891862893809551</c:v>
                </c:pt>
                <c:pt idx="29">
                  <c:v>0.18302816853778525</c:v>
                </c:pt>
                <c:pt idx="30">
                  <c:v>0.18341872700811446</c:v>
                </c:pt>
                <c:pt idx="31">
                  <c:v>0.18993488027771965</c:v>
                </c:pt>
                <c:pt idx="32">
                  <c:v>0.21664816965682876</c:v>
                </c:pt>
                <c:pt idx="33">
                  <c:v>0.20218520907359805</c:v>
                </c:pt>
                <c:pt idx="34">
                  <c:v>0.22688827826553193</c:v>
                </c:pt>
                <c:pt idx="35">
                  <c:v>0.2193925315530294</c:v>
                </c:pt>
                <c:pt idx="36">
                  <c:v>0.23010952484307268</c:v>
                </c:pt>
                <c:pt idx="37">
                  <c:v>0.21369561648535496</c:v>
                </c:pt>
                <c:pt idx="38">
                  <c:v>0.23513169358622066</c:v>
                </c:pt>
                <c:pt idx="39">
                  <c:v>0.2517367001375439</c:v>
                </c:pt>
                <c:pt idx="40">
                  <c:v>0.23652176693275728</c:v>
                </c:pt>
                <c:pt idx="41">
                  <c:v>0.26523543875419731</c:v>
                </c:pt>
                <c:pt idx="42">
                  <c:v>0.28414997887959159</c:v>
                </c:pt>
                <c:pt idx="43">
                  <c:v>0.28271575865306531</c:v>
                </c:pt>
                <c:pt idx="44">
                  <c:v>0.28246772451117175</c:v>
                </c:pt>
                <c:pt idx="45">
                  <c:v>0.25791935385691867</c:v>
                </c:pt>
                <c:pt idx="46">
                  <c:v>0.25900482602870545</c:v>
                </c:pt>
                <c:pt idx="47">
                  <c:v>0.28477356893092609</c:v>
                </c:pt>
                <c:pt idx="48">
                  <c:v>0.28024808333061779</c:v>
                </c:pt>
                <c:pt idx="49">
                  <c:v>0.29864589590805157</c:v>
                </c:pt>
                <c:pt idx="50">
                  <c:v>0.29131099632375768</c:v>
                </c:pt>
                <c:pt idx="51">
                  <c:v>0.26553044812772364</c:v>
                </c:pt>
                <c:pt idx="52">
                  <c:v>0.26451863607046056</c:v>
                </c:pt>
                <c:pt idx="53">
                  <c:v>0.24466987910026439</c:v>
                </c:pt>
                <c:pt idx="54">
                  <c:v>0.26417185556468969</c:v>
                </c:pt>
                <c:pt idx="55">
                  <c:v>0.28045184762071074</c:v>
                </c:pt>
                <c:pt idx="56">
                  <c:v>0.26384954644921987</c:v>
                </c:pt>
                <c:pt idx="57">
                  <c:v>0.27207549977280965</c:v>
                </c:pt>
                <c:pt idx="58">
                  <c:v>0.25645709605758515</c:v>
                </c:pt>
                <c:pt idx="59">
                  <c:v>0.25576095263802201</c:v>
                </c:pt>
                <c:pt idx="60">
                  <c:v>0.23538218716432557</c:v>
                </c:pt>
                <c:pt idx="61">
                  <c:v>0.24636172526990774</c:v>
                </c:pt>
                <c:pt idx="62">
                  <c:v>0.22474278908674372</c:v>
                </c:pt>
                <c:pt idx="63">
                  <c:v>0.25511608846346112</c:v>
                </c:pt>
                <c:pt idx="64">
                  <c:v>0.24021645498094246</c:v>
                </c:pt>
                <c:pt idx="65">
                  <c:v>0.24776876872630105</c:v>
                </c:pt>
                <c:pt idx="66">
                  <c:v>0.24842568413829658</c:v>
                </c:pt>
                <c:pt idx="67">
                  <c:v>0.25797641277701699</c:v>
                </c:pt>
                <c:pt idx="68">
                  <c:v>0.25575910806086366</c:v>
                </c:pt>
                <c:pt idx="69">
                  <c:v>0.23743249616174245</c:v>
                </c:pt>
                <c:pt idx="70">
                  <c:v>0.23738711956364678</c:v>
                </c:pt>
                <c:pt idx="71">
                  <c:v>0.25607010376976236</c:v>
                </c:pt>
                <c:pt idx="72">
                  <c:v>0.22196042890108081</c:v>
                </c:pt>
                <c:pt idx="73">
                  <c:v>0.25637409008545919</c:v>
                </c:pt>
                <c:pt idx="74">
                  <c:v>0.25321961720105102</c:v>
                </c:pt>
                <c:pt idx="75">
                  <c:v>0.23858880009641004</c:v>
                </c:pt>
                <c:pt idx="76">
                  <c:v>0.24498788420236495</c:v>
                </c:pt>
                <c:pt idx="77">
                  <c:v>0.23033825241070849</c:v>
                </c:pt>
                <c:pt idx="78">
                  <c:v>0.24560667835308791</c:v>
                </c:pt>
                <c:pt idx="79">
                  <c:v>0.21538684779594552</c:v>
                </c:pt>
                <c:pt idx="80">
                  <c:v>0.20959032556171997</c:v>
                </c:pt>
                <c:pt idx="81">
                  <c:v>0.2330939277134807</c:v>
                </c:pt>
                <c:pt idx="82">
                  <c:v>0.23338155877837363</c:v>
                </c:pt>
                <c:pt idx="83">
                  <c:v>0.22572988381008474</c:v>
                </c:pt>
                <c:pt idx="84">
                  <c:v>0.230921138792749</c:v>
                </c:pt>
                <c:pt idx="85">
                  <c:v>0.20868635978231542</c:v>
                </c:pt>
                <c:pt idx="86">
                  <c:v>0.19271244456277081</c:v>
                </c:pt>
                <c:pt idx="87">
                  <c:v>0.19643627693005783</c:v>
                </c:pt>
                <c:pt idx="88">
                  <c:v>0.17726841487491618</c:v>
                </c:pt>
                <c:pt idx="89">
                  <c:v>0.19297498937830992</c:v>
                </c:pt>
                <c:pt idx="90">
                  <c:v>0.19281893815071305</c:v>
                </c:pt>
                <c:pt idx="91">
                  <c:v>0.16412949177595282</c:v>
                </c:pt>
                <c:pt idx="92">
                  <c:v>0.15077450720584085</c:v>
                </c:pt>
                <c:pt idx="93">
                  <c:v>0.16335489234125422</c:v>
                </c:pt>
                <c:pt idx="94">
                  <c:v>0.17411664737034016</c:v>
                </c:pt>
                <c:pt idx="95">
                  <c:v>0.15612783903481886</c:v>
                </c:pt>
                <c:pt idx="96">
                  <c:v>0.18162616692562494</c:v>
                </c:pt>
                <c:pt idx="97">
                  <c:v>0.17579533555625382</c:v>
                </c:pt>
                <c:pt idx="98">
                  <c:v>0.1747037147939392</c:v>
                </c:pt>
                <c:pt idx="99">
                  <c:v>0.20413664873532711</c:v>
                </c:pt>
                <c:pt idx="100">
                  <c:v>0.19876991297899838</c:v>
                </c:pt>
                <c:pt idx="101">
                  <c:v>0.2113070120370959</c:v>
                </c:pt>
                <c:pt idx="102">
                  <c:v>0.22153347077482688</c:v>
                </c:pt>
                <c:pt idx="103">
                  <c:v>0.21808571012224021</c:v>
                </c:pt>
                <c:pt idx="104">
                  <c:v>0.2089250480666065</c:v>
                </c:pt>
                <c:pt idx="105">
                  <c:v>0.21321098457994969</c:v>
                </c:pt>
                <c:pt idx="106">
                  <c:v>0.23635649281936866</c:v>
                </c:pt>
                <c:pt idx="107">
                  <c:v>0.23651156027248099</c:v>
                </c:pt>
                <c:pt idx="108">
                  <c:v>0.25330077859601863</c:v>
                </c:pt>
                <c:pt idx="109">
                  <c:v>0.24520947940498861</c:v>
                </c:pt>
                <c:pt idx="110">
                  <c:v>0.24222384681647524</c:v>
                </c:pt>
                <c:pt idx="111">
                  <c:v>0.22486735953083792</c:v>
                </c:pt>
                <c:pt idx="112">
                  <c:v>0.17276690877766643</c:v>
                </c:pt>
                <c:pt idx="113">
                  <c:v>0.18768830827065375</c:v>
                </c:pt>
                <c:pt idx="114">
                  <c:v>0.15534967341761408</c:v>
                </c:pt>
                <c:pt idx="115">
                  <c:v>0.18027987154364689</c:v>
                </c:pt>
                <c:pt idx="116">
                  <c:v>0.20348588191385941</c:v>
                </c:pt>
                <c:pt idx="117">
                  <c:v>0.23895820741532314</c:v>
                </c:pt>
                <c:pt idx="118">
                  <c:v>0.24109435073650887</c:v>
                </c:pt>
                <c:pt idx="119">
                  <c:v>0.27294466452982658</c:v>
                </c:pt>
                <c:pt idx="120">
                  <c:v>0.29202743009206289</c:v>
                </c:pt>
                <c:pt idx="121">
                  <c:v>0.28885315874615491</c:v>
                </c:pt>
                <c:pt idx="122">
                  <c:v>0.26054726144852181</c:v>
                </c:pt>
                <c:pt idx="123">
                  <c:v>0.287797691696144</c:v>
                </c:pt>
                <c:pt idx="124">
                  <c:v>0.30878799598374074</c:v>
                </c:pt>
                <c:pt idx="125">
                  <c:v>0.31885582108585342</c:v>
                </c:pt>
                <c:pt idx="126">
                  <c:v>0.30496566319619722</c:v>
                </c:pt>
                <c:pt idx="127">
                  <c:v>0.31173907349348773</c:v>
                </c:pt>
                <c:pt idx="128">
                  <c:v>0.30402357615551989</c:v>
                </c:pt>
                <c:pt idx="129">
                  <c:v>0.32045802080560071</c:v>
                </c:pt>
                <c:pt idx="130">
                  <c:v>0.35006200853547353</c:v>
                </c:pt>
                <c:pt idx="131">
                  <c:v>0.3543196615323887</c:v>
                </c:pt>
                <c:pt idx="132">
                  <c:v>0.35548248297301566</c:v>
                </c:pt>
                <c:pt idx="133">
                  <c:v>0.35976657490920072</c:v>
                </c:pt>
                <c:pt idx="134">
                  <c:v>0.33908087179635382</c:v>
                </c:pt>
                <c:pt idx="135">
                  <c:v>0.36990486285876267</c:v>
                </c:pt>
                <c:pt idx="136">
                  <c:v>0.37579053965564202</c:v>
                </c:pt>
                <c:pt idx="137">
                  <c:v>0.3808700132625098</c:v>
                </c:pt>
                <c:pt idx="138">
                  <c:v>0.39880705046578657</c:v>
                </c:pt>
                <c:pt idx="139">
                  <c:v>0.39683396776539936</c:v>
                </c:pt>
                <c:pt idx="140">
                  <c:v>0.39933386170221263</c:v>
                </c:pt>
                <c:pt idx="141">
                  <c:v>0.38959572402420339</c:v>
                </c:pt>
                <c:pt idx="142">
                  <c:v>0.41575760780477489</c:v>
                </c:pt>
                <c:pt idx="143">
                  <c:v>0.41574986058070973</c:v>
                </c:pt>
                <c:pt idx="144">
                  <c:v>0.40939369363663913</c:v>
                </c:pt>
                <c:pt idx="145">
                  <c:v>0.42830073248158973</c:v>
                </c:pt>
                <c:pt idx="146">
                  <c:v>0.44931317169508667</c:v>
                </c:pt>
                <c:pt idx="147">
                  <c:v>0.45599324638816441</c:v>
                </c:pt>
                <c:pt idx="148">
                  <c:v>0.45135843884827054</c:v>
                </c:pt>
                <c:pt idx="149">
                  <c:v>0.42429111362656791</c:v>
                </c:pt>
                <c:pt idx="150">
                  <c:v>0.43429622310529647</c:v>
                </c:pt>
                <c:pt idx="151">
                  <c:v>0.44869216405177381</c:v>
                </c:pt>
                <c:pt idx="152">
                  <c:v>0.464885706924973</c:v>
                </c:pt>
                <c:pt idx="153">
                  <c:v>0.46839593725732276</c:v>
                </c:pt>
                <c:pt idx="154">
                  <c:v>0.46628586395997518</c:v>
                </c:pt>
                <c:pt idx="155">
                  <c:v>0.46157788819280032</c:v>
                </c:pt>
                <c:pt idx="156">
                  <c:v>0.46799086811334822</c:v>
                </c:pt>
                <c:pt idx="157">
                  <c:v>0.46459524750843739</c:v>
                </c:pt>
                <c:pt idx="158">
                  <c:v>0.5050018169085011</c:v>
                </c:pt>
                <c:pt idx="159">
                  <c:v>0.53808996494688555</c:v>
                </c:pt>
                <c:pt idx="160">
                  <c:v>0.51569064965392664</c:v>
                </c:pt>
                <c:pt idx="161">
                  <c:v>0.52482585654477498</c:v>
                </c:pt>
                <c:pt idx="162">
                  <c:v>0.49943316143923755</c:v>
                </c:pt>
                <c:pt idx="163">
                  <c:v>0.51846231129207099</c:v>
                </c:pt>
                <c:pt idx="164">
                  <c:v>0.47995098343631204</c:v>
                </c:pt>
                <c:pt idx="165">
                  <c:v>0.4909302755982734</c:v>
                </c:pt>
                <c:pt idx="166">
                  <c:v>0.48348752973612097</c:v>
                </c:pt>
                <c:pt idx="167">
                  <c:v>0.4713134434627877</c:v>
                </c:pt>
                <c:pt idx="168">
                  <c:v>0.45511301416819716</c:v>
                </c:pt>
                <c:pt idx="169">
                  <c:v>0.44344913793686525</c:v>
                </c:pt>
                <c:pt idx="170">
                  <c:v>0.42997646934404998</c:v>
                </c:pt>
                <c:pt idx="171">
                  <c:v>0.42502562425102486</c:v>
                </c:pt>
                <c:pt idx="172">
                  <c:v>0.46192884974012993</c:v>
                </c:pt>
                <c:pt idx="173">
                  <c:v>0.41500649598589279</c:v>
                </c:pt>
                <c:pt idx="174">
                  <c:v>0.44513483551598054</c:v>
                </c:pt>
                <c:pt idx="175">
                  <c:v>0.45394256847531556</c:v>
                </c:pt>
                <c:pt idx="176">
                  <c:v>0.47227655868307039</c:v>
                </c:pt>
                <c:pt idx="177">
                  <c:v>0.46657189639133079</c:v>
                </c:pt>
                <c:pt idx="178">
                  <c:v>0.47861624740452613</c:v>
                </c:pt>
                <c:pt idx="179">
                  <c:v>0.47192781062833067</c:v>
                </c:pt>
                <c:pt idx="180">
                  <c:v>0.4691641421578725</c:v>
                </c:pt>
                <c:pt idx="181">
                  <c:v>0.45642069640166039</c:v>
                </c:pt>
                <c:pt idx="182">
                  <c:v>0.46705160942431379</c:v>
                </c:pt>
                <c:pt idx="183">
                  <c:v>0.46863659309058292</c:v>
                </c:pt>
                <c:pt idx="184">
                  <c:v>0.4800369407318914</c:v>
                </c:pt>
                <c:pt idx="185">
                  <c:v>0.46581131574303569</c:v>
                </c:pt>
                <c:pt idx="186">
                  <c:v>0.45636166993259297</c:v>
                </c:pt>
                <c:pt idx="187">
                  <c:v>0.38549510602936943</c:v>
                </c:pt>
                <c:pt idx="188">
                  <c:v>0.41697293820850989</c:v>
                </c:pt>
                <c:pt idx="189">
                  <c:v>0.42238763297095594</c:v>
                </c:pt>
                <c:pt idx="190">
                  <c:v>0.38043678357391753</c:v>
                </c:pt>
                <c:pt idx="191">
                  <c:v>0.35312240798480565</c:v>
                </c:pt>
                <c:pt idx="192">
                  <c:v>0.35680738125995703</c:v>
                </c:pt>
                <c:pt idx="193">
                  <c:v>0.37162511551664457</c:v>
                </c:pt>
                <c:pt idx="194">
                  <c:v>0.36724916363797355</c:v>
                </c:pt>
                <c:pt idx="195">
                  <c:v>0.38577142368769102</c:v>
                </c:pt>
                <c:pt idx="196">
                  <c:v>0.41666268033047449</c:v>
                </c:pt>
                <c:pt idx="197">
                  <c:v>0.36021062611712207</c:v>
                </c:pt>
                <c:pt idx="198">
                  <c:v>0.36905279118341316</c:v>
                </c:pt>
                <c:pt idx="199">
                  <c:v>0.38683291635641925</c:v>
                </c:pt>
                <c:pt idx="200">
                  <c:v>0.41397611518523547</c:v>
                </c:pt>
                <c:pt idx="201">
                  <c:v>0.40385110819121373</c:v>
                </c:pt>
                <c:pt idx="202">
                  <c:v>0.41234034416120635</c:v>
                </c:pt>
                <c:pt idx="203">
                  <c:v>0.40210958141010544</c:v>
                </c:pt>
                <c:pt idx="204">
                  <c:v>0.43322956562052495</c:v>
                </c:pt>
                <c:pt idx="205">
                  <c:v>0.4121520743192435</c:v>
                </c:pt>
                <c:pt idx="206">
                  <c:v>0.42919781183960293</c:v>
                </c:pt>
                <c:pt idx="207">
                  <c:v>0.41391585899806271</c:v>
                </c:pt>
                <c:pt idx="208">
                  <c:v>0.39280086129456127</c:v>
                </c:pt>
                <c:pt idx="209">
                  <c:v>0.37807363429044361</c:v>
                </c:pt>
                <c:pt idx="210">
                  <c:v>0.39880311536784863</c:v>
                </c:pt>
                <c:pt idx="211">
                  <c:v>0.41147806582558055</c:v>
                </c:pt>
                <c:pt idx="212">
                  <c:v>0.4193248970572232</c:v>
                </c:pt>
                <c:pt idx="213">
                  <c:v>0.43692154828887797</c:v>
                </c:pt>
                <c:pt idx="214">
                  <c:v>0.43426597203989958</c:v>
                </c:pt>
                <c:pt idx="215">
                  <c:v>0.41729082033879972</c:v>
                </c:pt>
                <c:pt idx="216">
                  <c:v>0.4451455340634991</c:v>
                </c:pt>
                <c:pt idx="217">
                  <c:v>0.44490487823023894</c:v>
                </c:pt>
                <c:pt idx="218">
                  <c:v>0.44643845967969531</c:v>
                </c:pt>
                <c:pt idx="219">
                  <c:v>0.45491921059475926</c:v>
                </c:pt>
                <c:pt idx="220">
                  <c:v>0.4470080651061954</c:v>
                </c:pt>
                <c:pt idx="221">
                  <c:v>0.46104947832283671</c:v>
                </c:pt>
                <c:pt idx="222">
                  <c:v>0.46701840703546327</c:v>
                </c:pt>
                <c:pt idx="223">
                  <c:v>0.47928545999757732</c:v>
                </c:pt>
                <c:pt idx="224">
                  <c:v>0.48427799253438142</c:v>
                </c:pt>
                <c:pt idx="225">
                  <c:v>0.48935992557746011</c:v>
                </c:pt>
                <c:pt idx="226">
                  <c:v>0.48714458841027586</c:v>
                </c:pt>
                <c:pt idx="227">
                  <c:v>0.47642402893772662</c:v>
                </c:pt>
                <c:pt idx="228">
                  <c:v>0.46793270244695462</c:v>
                </c:pt>
                <c:pt idx="229">
                  <c:v>0.48217997047446826</c:v>
                </c:pt>
                <c:pt idx="230">
                  <c:v>0.48297375351161387</c:v>
                </c:pt>
                <c:pt idx="231">
                  <c:v>0.46814040183498529</c:v>
                </c:pt>
                <c:pt idx="232">
                  <c:v>0.48860475568882977</c:v>
                </c:pt>
                <c:pt idx="233">
                  <c:v>0.47647026633849587</c:v>
                </c:pt>
                <c:pt idx="234">
                  <c:v>0.46205907688750969</c:v>
                </c:pt>
                <c:pt idx="235">
                  <c:v>0.44752577642864044</c:v>
                </c:pt>
                <c:pt idx="236">
                  <c:v>0.47030556650346256</c:v>
                </c:pt>
                <c:pt idx="237">
                  <c:v>0.47468545348007152</c:v>
                </c:pt>
                <c:pt idx="238">
                  <c:v>0.50072473436551768</c:v>
                </c:pt>
                <c:pt idx="239">
                  <c:v>0.49913741423484792</c:v>
                </c:pt>
                <c:pt idx="240">
                  <c:v>0.5121106943049909</c:v>
                </c:pt>
                <c:pt idx="241">
                  <c:v>0.47209591309336219</c:v>
                </c:pt>
                <c:pt idx="242">
                  <c:v>0.48434242976311337</c:v>
                </c:pt>
                <c:pt idx="243">
                  <c:v>0.49879051075726677</c:v>
                </c:pt>
                <c:pt idx="244">
                  <c:v>0.51178924599219489</c:v>
                </c:pt>
                <c:pt idx="245">
                  <c:v>0.51230683434282964</c:v>
                </c:pt>
                <c:pt idx="246">
                  <c:v>0.50808078510122745</c:v>
                </c:pt>
                <c:pt idx="247">
                  <c:v>0.50887383030750932</c:v>
                </c:pt>
                <c:pt idx="248">
                  <c:v>0.50754179965555601</c:v>
                </c:pt>
                <c:pt idx="249">
                  <c:v>0.52523928777186768</c:v>
                </c:pt>
                <c:pt idx="250">
                  <c:v>0.51240213749601127</c:v>
                </c:pt>
                <c:pt idx="251">
                  <c:v>0.52471727243605315</c:v>
                </c:pt>
                <c:pt idx="252">
                  <c:v>0.52935822856647463</c:v>
                </c:pt>
                <c:pt idx="253">
                  <c:v>0.5440509004918257</c:v>
                </c:pt>
                <c:pt idx="254">
                  <c:v>0.55209768388743408</c:v>
                </c:pt>
                <c:pt idx="255">
                  <c:v>0.57732313733061402</c:v>
                </c:pt>
                <c:pt idx="256">
                  <c:v>0.5937323727595305</c:v>
                </c:pt>
                <c:pt idx="257">
                  <c:v>0.60018027667427654</c:v>
                </c:pt>
                <c:pt idx="258">
                  <c:v>0.60817946997919936</c:v>
                </c:pt>
                <c:pt idx="259">
                  <c:v>0.59601559036614238</c:v>
                </c:pt>
                <c:pt idx="260">
                  <c:v>0.5974874399666994</c:v>
                </c:pt>
                <c:pt idx="261">
                  <c:v>0.59957021352210327</c:v>
                </c:pt>
                <c:pt idx="262">
                  <c:v>0.59175978194638557</c:v>
                </c:pt>
                <c:pt idx="263">
                  <c:v>0.60119085901343428</c:v>
                </c:pt>
                <c:pt idx="264">
                  <c:v>0.59975356449164385</c:v>
                </c:pt>
                <c:pt idx="265">
                  <c:v>0.58952735169753367</c:v>
                </c:pt>
                <c:pt idx="266">
                  <c:v>0.57474281982969644</c:v>
                </c:pt>
                <c:pt idx="267">
                  <c:v>0.57902383747061759</c:v>
                </c:pt>
                <c:pt idx="268">
                  <c:v>0.58959461727790852</c:v>
                </c:pt>
                <c:pt idx="269">
                  <c:v>0.58347664673088673</c:v>
                </c:pt>
                <c:pt idx="270">
                  <c:v>0.57930212267790804</c:v>
                </c:pt>
                <c:pt idx="271">
                  <c:v>0.59265243431921877</c:v>
                </c:pt>
                <c:pt idx="272">
                  <c:v>0.56488527652363607</c:v>
                </c:pt>
                <c:pt idx="273">
                  <c:v>0.56701957526766344</c:v>
                </c:pt>
                <c:pt idx="274">
                  <c:v>0.56576858303886723</c:v>
                </c:pt>
                <c:pt idx="275">
                  <c:v>0.55930297118340078</c:v>
                </c:pt>
                <c:pt idx="276">
                  <c:v>0.5453398910100844</c:v>
                </c:pt>
                <c:pt idx="277">
                  <c:v>0.5693865366772648</c:v>
                </c:pt>
                <c:pt idx="278">
                  <c:v>0.56075883444858521</c:v>
                </c:pt>
                <c:pt idx="279">
                  <c:v>0.5383143885011521</c:v>
                </c:pt>
                <c:pt idx="280">
                  <c:v>0.56197207433154084</c:v>
                </c:pt>
                <c:pt idx="281">
                  <c:v>0.5424079971027842</c:v>
                </c:pt>
                <c:pt idx="282">
                  <c:v>0.56904442910029518</c:v>
                </c:pt>
                <c:pt idx="283">
                  <c:v>0.57610190427997243</c:v>
                </c:pt>
                <c:pt idx="284">
                  <c:v>0.57903810220064211</c:v>
                </c:pt>
                <c:pt idx="285">
                  <c:v>0.56749559914632974</c:v>
                </c:pt>
                <c:pt idx="286">
                  <c:v>0.54895612304313413</c:v>
                </c:pt>
                <c:pt idx="287">
                  <c:v>0.52970254963603436</c:v>
                </c:pt>
                <c:pt idx="288">
                  <c:v>0.54208322855110325</c:v>
                </c:pt>
                <c:pt idx="289">
                  <c:v>0.54857478745859689</c:v>
                </c:pt>
                <c:pt idx="290">
                  <c:v>0.55124831759191695</c:v>
                </c:pt>
                <c:pt idx="291">
                  <c:v>0.53779667717870705</c:v>
                </c:pt>
                <c:pt idx="292">
                  <c:v>0.54949228013716289</c:v>
                </c:pt>
                <c:pt idx="293">
                  <c:v>0.53237669462840698</c:v>
                </c:pt>
                <c:pt idx="294">
                  <c:v>0.55295676495598522</c:v>
                </c:pt>
                <c:pt idx="295">
                  <c:v>0.54545228724493344</c:v>
                </c:pt>
                <c:pt idx="296">
                  <c:v>0.49780636735737871</c:v>
                </c:pt>
                <c:pt idx="297">
                  <c:v>0.50659823695315209</c:v>
                </c:pt>
                <c:pt idx="298">
                  <c:v>0.51964333256066042</c:v>
                </c:pt>
                <c:pt idx="299">
                  <c:v>0.49781153217342244</c:v>
                </c:pt>
                <c:pt idx="300">
                  <c:v>0.49574203957355834</c:v>
                </c:pt>
                <c:pt idx="301">
                  <c:v>0.51022123243578266</c:v>
                </c:pt>
                <c:pt idx="302">
                  <c:v>0.5127915892200452</c:v>
                </c:pt>
                <c:pt idx="303">
                  <c:v>0.50274589904383271</c:v>
                </c:pt>
                <c:pt idx="304">
                  <c:v>0.5009489119761632</c:v>
                </c:pt>
                <c:pt idx="305">
                  <c:v>0.48428180466050863</c:v>
                </c:pt>
                <c:pt idx="306">
                  <c:v>0.4903414865693263</c:v>
                </c:pt>
                <c:pt idx="307">
                  <c:v>0.46557840713384069</c:v>
                </c:pt>
                <c:pt idx="308">
                  <c:v>0.44988449872693437</c:v>
                </c:pt>
                <c:pt idx="309">
                  <c:v>0.43437541695129522</c:v>
                </c:pt>
                <c:pt idx="310">
                  <c:v>0.44079540626504499</c:v>
                </c:pt>
                <c:pt idx="311">
                  <c:v>0.45171628681699172</c:v>
                </c:pt>
                <c:pt idx="312">
                  <c:v>0.44457039490552397</c:v>
                </c:pt>
                <c:pt idx="313">
                  <c:v>0.47825335759157261</c:v>
                </c:pt>
                <c:pt idx="314">
                  <c:v>0.4857172546051407</c:v>
                </c:pt>
                <c:pt idx="315">
                  <c:v>0.45997015474157799</c:v>
                </c:pt>
                <c:pt idx="316">
                  <c:v>0.48399429656742643</c:v>
                </c:pt>
                <c:pt idx="317">
                  <c:v>0.47246396772235921</c:v>
                </c:pt>
                <c:pt idx="318">
                  <c:v>0.46067183189261618</c:v>
                </c:pt>
                <c:pt idx="319">
                  <c:v>0.46822931045401828</c:v>
                </c:pt>
                <c:pt idx="320">
                  <c:v>0.43479917781047472</c:v>
                </c:pt>
                <c:pt idx="321">
                  <c:v>0.43794922370970313</c:v>
                </c:pt>
                <c:pt idx="322">
                  <c:v>0.44945188389739488</c:v>
                </c:pt>
                <c:pt idx="323">
                  <c:v>0.39465822752121427</c:v>
                </c:pt>
                <c:pt idx="324">
                  <c:v>0.41861338216134025</c:v>
                </c:pt>
                <c:pt idx="325">
                  <c:v>0.40539477332913587</c:v>
                </c:pt>
                <c:pt idx="326">
                  <c:v>0.43143762039708844</c:v>
                </c:pt>
                <c:pt idx="327">
                  <c:v>0.42869325850088758</c:v>
                </c:pt>
                <c:pt idx="328">
                  <c:v>0.41494488710880351</c:v>
                </c:pt>
                <c:pt idx="329">
                  <c:v>0.39934886426310068</c:v>
                </c:pt>
                <c:pt idx="330">
                  <c:v>0.3703901096232205</c:v>
                </c:pt>
                <c:pt idx="331">
                  <c:v>0.33847117755961231</c:v>
                </c:pt>
                <c:pt idx="332">
                  <c:v>0.35576089115211684</c:v>
                </c:pt>
                <c:pt idx="333">
                  <c:v>0.38075552650688116</c:v>
                </c:pt>
                <c:pt idx="334">
                  <c:v>0.40267008692262429</c:v>
                </c:pt>
                <c:pt idx="335">
                  <c:v>0.39305750346319357</c:v>
                </c:pt>
                <c:pt idx="336">
                  <c:v>0.39675083882146267</c:v>
                </c:pt>
                <c:pt idx="337">
                  <c:v>0.35421292200082521</c:v>
                </c:pt>
                <c:pt idx="338">
                  <c:v>0.36630080503495788</c:v>
                </c:pt>
                <c:pt idx="339">
                  <c:v>0.36473008609871327</c:v>
                </c:pt>
                <c:pt idx="340">
                  <c:v>0.38834731420342861</c:v>
                </c:pt>
                <c:pt idx="341">
                  <c:v>0.35752381502826203</c:v>
                </c:pt>
                <c:pt idx="342">
                  <c:v>0.35831759806540742</c:v>
                </c:pt>
                <c:pt idx="343">
                  <c:v>0.3595710497304152</c:v>
                </c:pt>
                <c:pt idx="344">
                  <c:v>0.35988905483251532</c:v>
                </c:pt>
                <c:pt idx="345">
                  <c:v>0.38753028949408774</c:v>
                </c:pt>
                <c:pt idx="346">
                  <c:v>0.37950367347541092</c:v>
                </c:pt>
                <c:pt idx="347">
                  <c:v>0.39518799008109373</c:v>
                </c:pt>
                <c:pt idx="348">
                  <c:v>0.39186234043639012</c:v>
                </c:pt>
                <c:pt idx="349">
                  <c:v>0.40984709070216296</c:v>
                </c:pt>
                <c:pt idx="350">
                  <c:v>0.40714404733430931</c:v>
                </c:pt>
                <c:pt idx="351">
                  <c:v>0.36096296765410973</c:v>
                </c:pt>
                <c:pt idx="352">
                  <c:v>0.36236078822471129</c:v>
                </c:pt>
                <c:pt idx="353">
                  <c:v>0.32483692400772513</c:v>
                </c:pt>
                <c:pt idx="354">
                  <c:v>0.30714337098935118</c:v>
                </c:pt>
                <c:pt idx="355">
                  <c:v>0.33688250473902626</c:v>
                </c:pt>
                <c:pt idx="356">
                  <c:v>0.30866022827257189</c:v>
                </c:pt>
                <c:pt idx="357">
                  <c:v>0.30796629834559885</c:v>
                </c:pt>
                <c:pt idx="358">
                  <c:v>0.29987303160559997</c:v>
                </c:pt>
                <c:pt idx="359">
                  <c:v>0.27276697026357177</c:v>
                </c:pt>
                <c:pt idx="360">
                  <c:v>0.29797803600491646</c:v>
                </c:pt>
                <c:pt idx="361">
                  <c:v>0.29878989589821381</c:v>
                </c:pt>
                <c:pt idx="362">
                  <c:v>0.27167719407841551</c:v>
                </c:pt>
                <c:pt idx="363">
                  <c:v>0.2890425353344126</c:v>
                </c:pt>
                <c:pt idx="364">
                  <c:v>0.28851252683091211</c:v>
                </c:pt>
                <c:pt idx="365">
                  <c:v>0.29778398648785753</c:v>
                </c:pt>
                <c:pt idx="366">
                  <c:v>0.30310165649177412</c:v>
                </c:pt>
                <c:pt idx="367">
                  <c:v>0.32311113761836818</c:v>
                </c:pt>
                <c:pt idx="368">
                  <c:v>0.307615090854648</c:v>
                </c:pt>
                <c:pt idx="369">
                  <c:v>0.2838707098978166</c:v>
                </c:pt>
                <c:pt idx="370">
                  <c:v>0.26597572905375033</c:v>
                </c:pt>
                <c:pt idx="371">
                  <c:v>0.25955106681119955</c:v>
                </c:pt>
                <c:pt idx="372">
                  <c:v>0.26704029601774248</c:v>
                </c:pt>
                <c:pt idx="373">
                  <c:v>0.25581727372725704</c:v>
                </c:pt>
                <c:pt idx="374">
                  <c:v>0.27464979165501013</c:v>
                </c:pt>
                <c:pt idx="375">
                  <c:v>0.28522991731990333</c:v>
                </c:pt>
                <c:pt idx="376">
                  <c:v>0.30118009898001041</c:v>
                </c:pt>
                <c:pt idx="377">
                  <c:v>0.25707023350502256</c:v>
                </c:pt>
                <c:pt idx="378">
                  <c:v>0.26432274197624306</c:v>
                </c:pt>
                <c:pt idx="379">
                  <c:v>0.25327274102321162</c:v>
                </c:pt>
                <c:pt idx="380">
                  <c:v>0.23924313310038392</c:v>
                </c:pt>
                <c:pt idx="381">
                  <c:v>0.28464026748828242</c:v>
                </c:pt>
                <c:pt idx="382">
                  <c:v>0.29206100139634494</c:v>
                </c:pt>
                <c:pt idx="383">
                  <c:v>0.31406287179758352</c:v>
                </c:pt>
                <c:pt idx="384">
                  <c:v>0.32265614191930725</c:v>
                </c:pt>
                <c:pt idx="385">
                  <c:v>0.32927030372192623</c:v>
                </c:pt>
                <c:pt idx="386">
                  <c:v>0.30708262291493615</c:v>
                </c:pt>
                <c:pt idx="387">
                  <c:v>0.32512381724175454</c:v>
                </c:pt>
                <c:pt idx="388">
                  <c:v>0.32051212840224585</c:v>
                </c:pt>
                <c:pt idx="389">
                  <c:v>0.31284606573212193</c:v>
                </c:pt>
                <c:pt idx="390">
                  <c:v>0.32110067148757149</c:v>
                </c:pt>
                <c:pt idx="391">
                  <c:v>0.33210849310958213</c:v>
                </c:pt>
                <c:pt idx="392">
                  <c:v>0.31826469559250592</c:v>
                </c:pt>
                <c:pt idx="393">
                  <c:v>0.29144724908985498</c:v>
                </c:pt>
                <c:pt idx="394">
                  <c:v>0.2973511257146968</c:v>
                </c:pt>
                <c:pt idx="395">
                  <c:v>0.29420107981546861</c:v>
                </c:pt>
                <c:pt idx="396">
                  <c:v>0.28986755321143964</c:v>
                </c:pt>
                <c:pt idx="397">
                  <c:v>0.29802156802585356</c:v>
                </c:pt>
                <c:pt idx="398">
                  <c:v>0.28953368474577723</c:v>
                </c:pt>
                <c:pt idx="399">
                  <c:v>0.28022557948928584</c:v>
                </c:pt>
                <c:pt idx="400">
                  <c:v>0.28902052338032291</c:v>
                </c:pt>
                <c:pt idx="401">
                  <c:v>0.27794260782629499</c:v>
                </c:pt>
                <c:pt idx="402">
                  <c:v>0.27292597281462183</c:v>
                </c:pt>
                <c:pt idx="403">
                  <c:v>0.24208464272692454</c:v>
                </c:pt>
                <c:pt idx="404">
                  <c:v>0.24891462005707132</c:v>
                </c:pt>
                <c:pt idx="405">
                  <c:v>0.2631599205356161</c:v>
                </c:pt>
                <c:pt idx="406">
                  <c:v>0.25363858215961854</c:v>
                </c:pt>
                <c:pt idx="407">
                  <c:v>0.27618890683594155</c:v>
                </c:pt>
                <c:pt idx="408">
                  <c:v>0.29963569601122497</c:v>
                </c:pt>
                <c:pt idx="409">
                  <c:v>0.29771536821756661</c:v>
                </c:pt>
                <c:pt idx="410">
                  <c:v>0.3149103935159423</c:v>
                </c:pt>
                <c:pt idx="411">
                  <c:v>0.30809873898556872</c:v>
                </c:pt>
                <c:pt idx="412">
                  <c:v>0.31171152780792299</c:v>
                </c:pt>
                <c:pt idx="413">
                  <c:v>0.32826119704449552</c:v>
                </c:pt>
                <c:pt idx="414">
                  <c:v>0.34164692456724688</c:v>
                </c:pt>
                <c:pt idx="415">
                  <c:v>0.33967556347220751</c:v>
                </c:pt>
                <c:pt idx="416">
                  <c:v>0.32732218429908233</c:v>
                </c:pt>
                <c:pt idx="417">
                  <c:v>0.35519571271079675</c:v>
                </c:pt>
                <c:pt idx="418">
                  <c:v>0.36854319600046481</c:v>
                </c:pt>
                <c:pt idx="419">
                  <c:v>0.38480584903119741</c:v>
                </c:pt>
                <c:pt idx="420">
                  <c:v>0.3761787616615706</c:v>
                </c:pt>
                <c:pt idx="421">
                  <c:v>0.37904904669178152</c:v>
                </c:pt>
                <c:pt idx="422">
                  <c:v>0.39238902870100567</c:v>
                </c:pt>
                <c:pt idx="423">
                  <c:v>0.37598520403175373</c:v>
                </c:pt>
                <c:pt idx="424">
                  <c:v>0.37354519736668168</c:v>
                </c:pt>
                <c:pt idx="425">
                  <c:v>0.38029634976626148</c:v>
                </c:pt>
                <c:pt idx="426">
                  <c:v>0.37724000838667737</c:v>
                </c:pt>
                <c:pt idx="427">
                  <c:v>0.3801674753087978</c:v>
                </c:pt>
                <c:pt idx="428">
                  <c:v>0.3829580746057677</c:v>
                </c:pt>
                <c:pt idx="429">
                  <c:v>0.39410399357103376</c:v>
                </c:pt>
                <c:pt idx="430">
                  <c:v>0.3966197508714091</c:v>
                </c:pt>
                <c:pt idx="431">
                  <c:v>0.40063896152765421</c:v>
                </c:pt>
                <c:pt idx="432">
                  <c:v>0.41206291975658949</c:v>
                </c:pt>
                <c:pt idx="433">
                  <c:v>0.41640099631760918</c:v>
                </c:pt>
                <c:pt idx="434">
                  <c:v>0.3960802735384954</c:v>
                </c:pt>
                <c:pt idx="435">
                  <c:v>0.38810395299033629</c:v>
                </c:pt>
                <c:pt idx="436">
                  <c:v>0.37390624260247707</c:v>
                </c:pt>
                <c:pt idx="437">
                  <c:v>0.38825090430395193</c:v>
                </c:pt>
                <c:pt idx="438">
                  <c:v>0.377377859786312</c:v>
                </c:pt>
                <c:pt idx="439">
                  <c:v>0.37226542973421495</c:v>
                </c:pt>
                <c:pt idx="440">
                  <c:v>0.39132692117322487</c:v>
                </c:pt>
                <c:pt idx="441">
                  <c:v>0.41631073500866034</c:v>
                </c:pt>
                <c:pt idx="442">
                  <c:v>0.4162116197293515</c:v>
                </c:pt>
                <c:pt idx="443">
                  <c:v>0.40770479879044941</c:v>
                </c:pt>
                <c:pt idx="444">
                  <c:v>0.3722849822520935</c:v>
                </c:pt>
                <c:pt idx="445">
                  <c:v>0.36748895866855968</c:v>
                </c:pt>
                <c:pt idx="446">
                  <c:v>0.40065310328586823</c:v>
                </c:pt>
                <c:pt idx="447">
                  <c:v>0.39773608896764556</c:v>
                </c:pt>
                <c:pt idx="448">
                  <c:v>0.37375584807816598</c:v>
                </c:pt>
                <c:pt idx="449">
                  <c:v>0.3517998461622649</c:v>
                </c:pt>
                <c:pt idx="450">
                  <c:v>0.3398922398024089</c:v>
                </c:pt>
                <c:pt idx="451">
                  <c:v>0.3663696692488696</c:v>
                </c:pt>
                <c:pt idx="452">
                  <c:v>0.3905201031241603</c:v>
                </c:pt>
                <c:pt idx="453">
                  <c:v>0.41799913796760801</c:v>
                </c:pt>
                <c:pt idx="454">
                  <c:v>0.42837328584981815</c:v>
                </c:pt>
                <c:pt idx="455">
                  <c:v>0.44212042752379666</c:v>
                </c:pt>
                <c:pt idx="456">
                  <c:v>0.44439417630099576</c:v>
                </c:pt>
                <c:pt idx="457">
                  <c:v>0.46401518947803999</c:v>
                </c:pt>
                <c:pt idx="458">
                  <c:v>0.46436221592743188</c:v>
                </c:pt>
                <c:pt idx="459">
                  <c:v>0.46013997881195712</c:v>
                </c:pt>
                <c:pt idx="460">
                  <c:v>0.47583597773964281</c:v>
                </c:pt>
                <c:pt idx="461">
                  <c:v>0.47885604243511248</c:v>
                </c:pt>
                <c:pt idx="462">
                  <c:v>0.47565225785467069</c:v>
                </c:pt>
                <c:pt idx="463">
                  <c:v>0.4949701455186919</c:v>
                </c:pt>
                <c:pt idx="464">
                  <c:v>0.49139609281666319</c:v>
                </c:pt>
                <c:pt idx="465">
                  <c:v>0.4619522143841357</c:v>
                </c:pt>
                <c:pt idx="466">
                  <c:v>0.45386804755811805</c:v>
                </c:pt>
                <c:pt idx="467">
                  <c:v>0.46166901030442276</c:v>
                </c:pt>
                <c:pt idx="468">
                  <c:v>0.45503025413969223</c:v>
                </c:pt>
                <c:pt idx="469">
                  <c:v>0.43819037143020534</c:v>
                </c:pt>
                <c:pt idx="470">
                  <c:v>0.42827896647112107</c:v>
                </c:pt>
                <c:pt idx="471">
                  <c:v>0.43608890615959672</c:v>
                </c:pt>
                <c:pt idx="472">
                  <c:v>0.42870629351280676</c:v>
                </c:pt>
                <c:pt idx="473">
                  <c:v>0.42262705908611053</c:v>
                </c:pt>
                <c:pt idx="474">
                  <c:v>0.41487257968419611</c:v>
                </c:pt>
                <c:pt idx="475">
                  <c:v>0.40610616525320831</c:v>
                </c:pt>
                <c:pt idx="476">
                  <c:v>0.36594025168640476</c:v>
                </c:pt>
                <c:pt idx="477">
                  <c:v>0.36111287029117878</c:v>
                </c:pt>
                <c:pt idx="478">
                  <c:v>0.3307131319751917</c:v>
                </c:pt>
                <c:pt idx="479">
                  <c:v>0.34468900121680601</c:v>
                </c:pt>
                <c:pt idx="480">
                  <c:v>0.35169347554613317</c:v>
                </c:pt>
                <c:pt idx="481">
                  <c:v>0.32657267111373733</c:v>
                </c:pt>
                <c:pt idx="482">
                  <c:v>0.31135466361368658</c:v>
                </c:pt>
                <c:pt idx="483">
                  <c:v>0.30999521024797883</c:v>
                </c:pt>
                <c:pt idx="484">
                  <c:v>0.33232258703176187</c:v>
                </c:pt>
                <c:pt idx="485">
                  <c:v>0.2949446903539068</c:v>
                </c:pt>
                <c:pt idx="486">
                  <c:v>0.29286081005220765</c:v>
                </c:pt>
                <c:pt idx="487">
                  <c:v>0.26968418994471821</c:v>
                </c:pt>
                <c:pt idx="488">
                  <c:v>0.26796160082243548</c:v>
                </c:pt>
                <c:pt idx="489">
                  <c:v>0.2837875809538799</c:v>
                </c:pt>
                <c:pt idx="490">
                  <c:v>0.29966004442971528</c:v>
                </c:pt>
                <c:pt idx="491">
                  <c:v>0.31486600069233117</c:v>
                </c:pt>
                <c:pt idx="492">
                  <c:v>0.33095759993457907</c:v>
                </c:pt>
                <c:pt idx="493">
                  <c:v>0.33780208793837141</c:v>
                </c:pt>
                <c:pt idx="494">
                  <c:v>0.30654044020219029</c:v>
                </c:pt>
                <c:pt idx="495">
                  <c:v>0.31586256424508541</c:v>
                </c:pt>
                <c:pt idx="496">
                  <c:v>0.33409510270913056</c:v>
                </c:pt>
                <c:pt idx="497">
                  <c:v>0.35694252727975906</c:v>
                </c:pt>
                <c:pt idx="498">
                  <c:v>0.35983199591241699</c:v>
                </c:pt>
                <c:pt idx="499">
                  <c:v>0.35981994467498235</c:v>
                </c:pt>
                <c:pt idx="500">
                  <c:v>0.37593011266062426</c:v>
                </c:pt>
                <c:pt idx="501">
                  <c:v>0.37656710663930948</c:v>
                </c:pt>
                <c:pt idx="502">
                  <c:v>0.36538195966647602</c:v>
                </c:pt>
                <c:pt idx="503">
                  <c:v>0.36929738211461105</c:v>
                </c:pt>
                <c:pt idx="504">
                  <c:v>0.36941334453196628</c:v>
                </c:pt>
                <c:pt idx="505">
                  <c:v>0.38211596364707345</c:v>
                </c:pt>
                <c:pt idx="506">
                  <c:v>0.36624534474839665</c:v>
                </c:pt>
                <c:pt idx="507">
                  <c:v>0.35497608505714195</c:v>
                </c:pt>
                <c:pt idx="508">
                  <c:v>0.35354776747752226</c:v>
                </c:pt>
                <c:pt idx="509">
                  <c:v>0.33261685857442469</c:v>
                </c:pt>
                <c:pt idx="510">
                  <c:v>0.31695074179670435</c:v>
                </c:pt>
                <c:pt idx="511">
                  <c:v>0.29712178328800798</c:v>
                </c:pt>
                <c:pt idx="512">
                  <c:v>0.26166839544537002</c:v>
                </c:pt>
                <c:pt idx="513">
                  <c:v>0.25509026438324423</c:v>
                </c:pt>
                <c:pt idx="514">
                  <c:v>0.26423407930083154</c:v>
                </c:pt>
                <c:pt idx="515">
                  <c:v>0.22756536105445879</c:v>
                </c:pt>
                <c:pt idx="516">
                  <c:v>0.22790636188513336</c:v>
                </c:pt>
                <c:pt idx="517">
                  <c:v>0.22583834494699606</c:v>
                </c:pt>
                <c:pt idx="518">
                  <c:v>0.22384398812338269</c:v>
                </c:pt>
                <c:pt idx="519">
                  <c:v>0.20611169898468318</c:v>
                </c:pt>
                <c:pt idx="520">
                  <c:v>0.21339064639517358</c:v>
                </c:pt>
                <c:pt idx="521">
                  <c:v>0.23910823302420292</c:v>
                </c:pt>
                <c:pt idx="522">
                  <c:v>0.23699078141822172</c:v>
                </c:pt>
                <c:pt idx="523">
                  <c:v>0.22506460631497149</c:v>
                </c:pt>
                <c:pt idx="524">
                  <c:v>0.21178820073180527</c:v>
                </c:pt>
                <c:pt idx="525">
                  <c:v>0.21685402446770108</c:v>
                </c:pt>
                <c:pt idx="526">
                  <c:v>0.21260977539813664</c:v>
                </c:pt>
                <c:pt idx="527">
                  <c:v>0.20874698488491994</c:v>
                </c:pt>
                <c:pt idx="528">
                  <c:v>0.21396517069409593</c:v>
                </c:pt>
                <c:pt idx="529">
                  <c:v>0.23869160453003557</c:v>
                </c:pt>
                <c:pt idx="530">
                  <c:v>0.23327125306430396</c:v>
                </c:pt>
                <c:pt idx="531">
                  <c:v>0.20773640254576264</c:v>
                </c:pt>
                <c:pt idx="532">
                  <c:v>0.20845886193278496</c:v>
                </c:pt>
                <c:pt idx="533">
                  <c:v>0.20366234646200887</c:v>
                </c:pt>
                <c:pt idx="534">
                  <c:v>0.18201549567784836</c:v>
                </c:pt>
                <c:pt idx="535">
                  <c:v>0.18730512810895794</c:v>
                </c:pt>
                <c:pt idx="536">
                  <c:v>0.19179519782782606</c:v>
                </c:pt>
                <c:pt idx="537">
                  <c:v>0.20813409338110378</c:v>
                </c:pt>
                <c:pt idx="538">
                  <c:v>0.20865094390087502</c:v>
                </c:pt>
                <c:pt idx="539">
                  <c:v>0.21782882200998666</c:v>
                </c:pt>
                <c:pt idx="540">
                  <c:v>0.21649642244260159</c:v>
                </c:pt>
                <c:pt idx="541">
                  <c:v>0.23303649987795061</c:v>
                </c:pt>
                <c:pt idx="542">
                  <c:v>0.22691053616324264</c:v>
                </c:pt>
                <c:pt idx="543">
                  <c:v>0.24740096004092504</c:v>
                </c:pt>
                <c:pt idx="544">
                  <c:v>0.26164970373016549</c:v>
                </c:pt>
                <c:pt idx="545">
                  <c:v>0.26863487148523513</c:v>
                </c:pt>
                <c:pt idx="546">
                  <c:v>0.25708031719348812</c:v>
                </c:pt>
                <c:pt idx="547">
                  <c:v>0.27105753912501873</c:v>
                </c:pt>
                <c:pt idx="548">
                  <c:v>0.27613602895740197</c:v>
                </c:pt>
                <c:pt idx="549">
                  <c:v>0.3021758017300904</c:v>
                </c:pt>
                <c:pt idx="550">
                  <c:v>0.30930447758808022</c:v>
                </c:pt>
                <c:pt idx="551">
                  <c:v>0.33304234103895203</c:v>
                </c:pt>
                <c:pt idx="552">
                  <c:v>0.33610163374198931</c:v>
                </c:pt>
                <c:pt idx="553">
                  <c:v>0.35558909953276863</c:v>
                </c:pt>
                <c:pt idx="554">
                  <c:v>0.34922137323850566</c:v>
                </c:pt>
                <c:pt idx="555">
                  <c:v>0.38668252183210772</c:v>
                </c:pt>
                <c:pt idx="556">
                  <c:v>0.38997472314434001</c:v>
                </c:pt>
                <c:pt idx="557">
                  <c:v>0.39588228892349875</c:v>
                </c:pt>
                <c:pt idx="558">
                  <c:v>0.39828491215816131</c:v>
                </c:pt>
                <c:pt idx="559">
                  <c:v>0.3995774688589262</c:v>
                </c:pt>
                <c:pt idx="560">
                  <c:v>0.37108908139442676</c:v>
                </c:pt>
                <c:pt idx="561">
                  <c:v>0.35884502416088648</c:v>
                </c:pt>
                <c:pt idx="562">
                  <c:v>0.38782419212131924</c:v>
                </c:pt>
                <c:pt idx="563">
                  <c:v>0.38832517927752841</c:v>
                </c:pt>
                <c:pt idx="564">
                  <c:v>0.39612011640511602</c:v>
                </c:pt>
                <c:pt idx="565">
                  <c:v>0.38095941376878484</c:v>
                </c:pt>
                <c:pt idx="566">
                  <c:v>0.38125774338119611</c:v>
                </c:pt>
                <c:pt idx="567">
                  <c:v>0.35798557417690358</c:v>
                </c:pt>
                <c:pt idx="568">
                  <c:v>0.34682268510178083</c:v>
                </c:pt>
                <c:pt idx="569">
                  <c:v>0.35767396360895209</c:v>
                </c:pt>
                <c:pt idx="570">
                  <c:v>0.36331763188265542</c:v>
                </c:pt>
                <c:pt idx="571">
                  <c:v>0.37978491000615477</c:v>
                </c:pt>
                <c:pt idx="572">
                  <c:v>0.34978495304628843</c:v>
                </c:pt>
                <c:pt idx="573">
                  <c:v>0.35165252593321772</c:v>
                </c:pt>
                <c:pt idx="574">
                  <c:v>0.38097847439942112</c:v>
                </c:pt>
                <c:pt idx="575">
                  <c:v>0.39458087825237387</c:v>
                </c:pt>
                <c:pt idx="576">
                  <c:v>0.36245338599806076</c:v>
                </c:pt>
                <c:pt idx="577">
                  <c:v>0.35941241609479646</c:v>
                </c:pt>
                <c:pt idx="578">
                  <c:v>0.35211994178514483</c:v>
                </c:pt>
                <c:pt idx="579">
                  <c:v>0.34384049572396269</c:v>
                </c:pt>
                <c:pt idx="580">
                  <c:v>0.37511862168275867</c:v>
                </c:pt>
                <c:pt idx="581">
                  <c:v>0.38364081409798034</c:v>
                </c:pt>
                <c:pt idx="582">
                  <c:v>0.37649553704556538</c:v>
                </c:pt>
                <c:pt idx="583">
                  <c:v>0.4027453456706851</c:v>
                </c:pt>
                <c:pt idx="584">
                  <c:v>0.37379187881865916</c:v>
                </c:pt>
                <c:pt idx="585">
                  <c:v>0.3417965812606949</c:v>
                </c:pt>
                <c:pt idx="586">
                  <c:v>0.33272359810598839</c:v>
                </c:pt>
                <c:pt idx="587">
                  <c:v>0.33364404210800735</c:v>
                </c:pt>
                <c:pt idx="588">
                  <c:v>0.32396800519432944</c:v>
                </c:pt>
                <c:pt idx="589">
                  <c:v>0.35314232941811574</c:v>
                </c:pt>
                <c:pt idx="590">
                  <c:v>0.42812648142603038</c:v>
                </c:pt>
                <c:pt idx="591">
                  <c:v>0.42930282976581857</c:v>
                </c:pt>
                <c:pt idx="592">
                  <c:v>0.44566681156845012</c:v>
                </c:pt>
                <c:pt idx="593">
                  <c:v>0.42574304179381439</c:v>
                </c:pt>
                <c:pt idx="594">
                  <c:v>0.41204988474467052</c:v>
                </c:pt>
                <c:pt idx="595">
                  <c:v>0.40556890141288471</c:v>
                </c:pt>
                <c:pt idx="596">
                  <c:v>0.3781738563160475</c:v>
                </c:pt>
                <c:pt idx="597">
                  <c:v>0.39725465432931473</c:v>
                </c:pt>
                <c:pt idx="598">
                  <c:v>0.42331348773263966</c:v>
                </c:pt>
                <c:pt idx="599">
                  <c:v>0.4298453813939962</c:v>
                </c:pt>
                <c:pt idx="600">
                  <c:v>0.44087435416742249</c:v>
                </c:pt>
                <c:pt idx="601">
                  <c:v>0.47478604442110717</c:v>
                </c:pt>
                <c:pt idx="602">
                  <c:v>0.42662917666068823</c:v>
                </c:pt>
                <c:pt idx="603">
                  <c:v>0.40957163384651518</c:v>
                </c:pt>
                <c:pt idx="604">
                  <c:v>0.38667674215701164</c:v>
                </c:pt>
                <c:pt idx="605">
                  <c:v>0.4097581820831302</c:v>
                </c:pt>
                <c:pt idx="606">
                  <c:v>0.40850743579795501</c:v>
                </c:pt>
                <c:pt idx="607">
                  <c:v>0.42692898193482631</c:v>
                </c:pt>
                <c:pt idx="608">
                  <c:v>0.43789290262046787</c:v>
                </c:pt>
                <c:pt idx="609">
                  <c:v>0.43749570367236879</c:v>
                </c:pt>
                <c:pt idx="610">
                  <c:v>0.45297908433960155</c:v>
                </c:pt>
                <c:pt idx="611">
                  <c:v>0.41838637619905206</c:v>
                </c:pt>
                <c:pt idx="612">
                  <c:v>0.42844485544356248</c:v>
                </c:pt>
                <c:pt idx="613">
                  <c:v>0.39671493105278022</c:v>
                </c:pt>
                <c:pt idx="614">
                  <c:v>0.34992870709282964</c:v>
                </c:pt>
                <c:pt idx="615">
                  <c:v>0.38040149066428763</c:v>
                </c:pt>
                <c:pt idx="616">
                  <c:v>0.39156474865484214</c:v>
                </c:pt>
                <c:pt idx="617">
                  <c:v>0.35568218919336037</c:v>
                </c:pt>
                <c:pt idx="618">
                  <c:v>0.34903494797370138</c:v>
                </c:pt>
                <c:pt idx="619">
                  <c:v>0.33879619205491429</c:v>
                </c:pt>
                <c:pt idx="620">
                  <c:v>0.34959323999363012</c:v>
                </c:pt>
                <c:pt idx="621">
                  <c:v>0.34084207406715117</c:v>
                </c:pt>
                <c:pt idx="622">
                  <c:v>0.33843932786067787</c:v>
                </c:pt>
                <c:pt idx="623">
                  <c:v>0.37520802218903349</c:v>
                </c:pt>
                <c:pt idx="624">
                  <c:v>0.34010621075277814</c:v>
                </c:pt>
                <c:pt idx="625">
                  <c:v>0.33771379417839142</c:v>
                </c:pt>
                <c:pt idx="626">
                  <c:v>0.36387555498715263</c:v>
                </c:pt>
                <c:pt idx="627">
                  <c:v>0.38326083120335919</c:v>
                </c:pt>
                <c:pt idx="628">
                  <c:v>0.3640721869122332</c:v>
                </c:pt>
                <c:pt idx="629">
                  <c:v>0.37634883167557076</c:v>
                </c:pt>
                <c:pt idx="630">
                  <c:v>0.34532894651894486</c:v>
                </c:pt>
                <c:pt idx="631">
                  <c:v>0.3550087955587502</c:v>
                </c:pt>
                <c:pt idx="632">
                  <c:v>0.34123570683274429</c:v>
                </c:pt>
                <c:pt idx="633">
                  <c:v>0.3188608629300862</c:v>
                </c:pt>
                <c:pt idx="634">
                  <c:v>0.32218749634927435</c:v>
                </c:pt>
                <c:pt idx="635">
                  <c:v>0.2954260020204269</c:v>
                </c:pt>
                <c:pt idx="636">
                  <c:v>0.27324606843750177</c:v>
                </c:pt>
                <c:pt idx="637">
                  <c:v>0.27578051745308163</c:v>
                </c:pt>
                <c:pt idx="638">
                  <c:v>0.27568115623015155</c:v>
                </c:pt>
                <c:pt idx="639">
                  <c:v>0.26483516551083408</c:v>
                </c:pt>
                <c:pt idx="640">
                  <c:v>0.28800366947882705</c:v>
                </c:pt>
                <c:pt idx="641">
                  <c:v>0.31412730902631547</c:v>
                </c:pt>
                <c:pt idx="642">
                  <c:v>0.32112477396244077</c:v>
                </c:pt>
                <c:pt idx="643">
                  <c:v>0.32258051425581469</c:v>
                </c:pt>
                <c:pt idx="644">
                  <c:v>0.34897087966040119</c:v>
                </c:pt>
                <c:pt idx="645">
                  <c:v>0.33716779933951835</c:v>
                </c:pt>
                <c:pt idx="646">
                  <c:v>0.33520578410208146</c:v>
                </c:pt>
                <c:pt idx="647">
                  <c:v>0.35560078185477173</c:v>
                </c:pt>
                <c:pt idx="648">
                  <c:v>0.34942624427489366</c:v>
                </c:pt>
                <c:pt idx="649">
                  <c:v>0.3081251779248384</c:v>
                </c:pt>
                <c:pt idx="650">
                  <c:v>0.28094496458104445</c:v>
                </c:pt>
                <c:pt idx="651">
                  <c:v>0.2953169260244628</c:v>
                </c:pt>
                <c:pt idx="652">
                  <c:v>0.32368480111461673</c:v>
                </c:pt>
                <c:pt idx="653">
                  <c:v>0.33994634739905405</c:v>
                </c:pt>
                <c:pt idx="654">
                  <c:v>0.34198608082076309</c:v>
                </c:pt>
                <c:pt idx="655">
                  <c:v>0.36273314686707803</c:v>
                </c:pt>
                <c:pt idx="656">
                  <c:v>0.38364290461875972</c:v>
                </c:pt>
                <c:pt idx="657">
                  <c:v>0.3754424064599553</c:v>
                </c:pt>
                <c:pt idx="658">
                  <c:v>0.36395511774858291</c:v>
                </c:pt>
                <c:pt idx="659">
                  <c:v>0.34300785359468122</c:v>
                </c:pt>
                <c:pt idx="660">
                  <c:v>0.37038703532795658</c:v>
                </c:pt>
                <c:pt idx="661">
                  <c:v>0.38009283141978956</c:v>
                </c:pt>
                <c:pt idx="662">
                  <c:v>0.38862080351010753</c:v>
                </c:pt>
                <c:pt idx="663">
                  <c:v>0.37778403567658181</c:v>
                </c:pt>
                <c:pt idx="664">
                  <c:v>0.37405356283152424</c:v>
                </c:pt>
                <c:pt idx="665">
                  <c:v>0.38992762494089672</c:v>
                </c:pt>
                <c:pt idx="666">
                  <c:v>0.40519974003759263</c:v>
                </c:pt>
                <c:pt idx="667">
                  <c:v>0.40406200484631905</c:v>
                </c:pt>
                <c:pt idx="668">
                  <c:v>0.38117215500104851</c:v>
                </c:pt>
                <c:pt idx="669">
                  <c:v>0.38064153163849479</c:v>
                </c:pt>
                <c:pt idx="670">
                  <c:v>0.39487588762589998</c:v>
                </c:pt>
                <c:pt idx="671">
                  <c:v>0.37818873590512481</c:v>
                </c:pt>
                <c:pt idx="672">
                  <c:v>0.35441939167075032</c:v>
                </c:pt>
                <c:pt idx="673">
                  <c:v>0.33453275938290283</c:v>
                </c:pt>
                <c:pt idx="674">
                  <c:v>0.33696895392184789</c:v>
                </c:pt>
                <c:pt idx="675">
                  <c:v>0.32600171299732095</c:v>
                </c:pt>
                <c:pt idx="676">
                  <c:v>0.35209337987406464</c:v>
                </c:pt>
                <c:pt idx="677">
                  <c:v>0.32819454632317369</c:v>
                </c:pt>
                <c:pt idx="678">
                  <c:v>0.32905805437690505</c:v>
                </c:pt>
                <c:pt idx="679">
                  <c:v>0.33838177705333727</c:v>
                </c:pt>
                <c:pt idx="680">
                  <c:v>0.32623634321186379</c:v>
                </c:pt>
                <c:pt idx="681">
                  <c:v>0.34777276531014412</c:v>
                </c:pt>
                <c:pt idx="682">
                  <c:v>0.35197003914807601</c:v>
                </c:pt>
                <c:pt idx="683">
                  <c:v>0.3425683523437506</c:v>
                </c:pt>
                <c:pt idx="684">
                  <c:v>0.31766815933949388</c:v>
                </c:pt>
                <c:pt idx="685">
                  <c:v>0.32308900269246776</c:v>
                </c:pt>
                <c:pt idx="686">
                  <c:v>0.30102244911887621</c:v>
                </c:pt>
                <c:pt idx="687">
                  <c:v>0.29994792143822924</c:v>
                </c:pt>
                <c:pt idx="688">
                  <c:v>0.29036694173411148</c:v>
                </c:pt>
                <c:pt idx="689">
                  <c:v>0.28363718642956881</c:v>
                </c:pt>
                <c:pt idx="690">
                  <c:v>0.27061373386071841</c:v>
                </c:pt>
                <c:pt idx="691">
                  <c:v>0.27725888455959802</c:v>
                </c:pt>
                <c:pt idx="692">
                  <c:v>0.28751879162980098</c:v>
                </c:pt>
                <c:pt idx="693">
                  <c:v>0.2817097262708983</c:v>
                </c:pt>
                <c:pt idx="694">
                  <c:v>0.31014560477229014</c:v>
                </c:pt>
                <c:pt idx="695">
                  <c:v>0.29207944716792844</c:v>
                </c:pt>
                <c:pt idx="696">
                  <c:v>0.27421176606580588</c:v>
                </c:pt>
                <c:pt idx="697">
                  <c:v>0.26810203463009152</c:v>
                </c:pt>
                <c:pt idx="698">
                  <c:v>0.26577811335418544</c:v>
                </c:pt>
                <c:pt idx="699">
                  <c:v>0.26261859862554404</c:v>
                </c:pt>
                <c:pt idx="700">
                  <c:v>0.27195474145484266</c:v>
                </c:pt>
                <c:pt idx="701">
                  <c:v>0.25408533874737227</c:v>
                </c:pt>
                <c:pt idx="702">
                  <c:v>0.24106705099456538</c:v>
                </c:pt>
                <c:pt idx="703">
                  <c:v>0.24199229089719632</c:v>
                </c:pt>
                <c:pt idx="704">
                  <c:v>0.23243123262638909</c:v>
                </c:pt>
                <c:pt idx="705">
                  <c:v>0.20421793310210523</c:v>
                </c:pt>
                <c:pt idx="706">
                  <c:v>0.21532142679272925</c:v>
                </c:pt>
                <c:pt idx="707">
                  <c:v>0.22566581549678455</c:v>
                </c:pt>
                <c:pt idx="708">
                  <c:v>0.24429137186737004</c:v>
                </c:pt>
                <c:pt idx="709">
                  <c:v>0.25176104855603443</c:v>
                </c:pt>
                <c:pt idx="710">
                  <c:v>0.2753830725613613</c:v>
                </c:pt>
                <c:pt idx="711">
                  <c:v>0.25286385975310943</c:v>
                </c:pt>
                <c:pt idx="712">
                  <c:v>0.24823987373254486</c:v>
                </c:pt>
                <c:pt idx="713">
                  <c:v>0.25270707069464926</c:v>
                </c:pt>
                <c:pt idx="714">
                  <c:v>0.24174290406538668</c:v>
                </c:pt>
                <c:pt idx="715">
                  <c:v>0.23982306815897059</c:v>
                </c:pt>
                <c:pt idx="716">
                  <c:v>0.25242657199476892</c:v>
                </c:pt>
                <c:pt idx="717">
                  <c:v>0.30612983732674048</c:v>
                </c:pt>
                <c:pt idx="718">
                  <c:v>0.31444211686134138</c:v>
                </c:pt>
                <c:pt idx="719">
                  <c:v>0.30913145625062644</c:v>
                </c:pt>
                <c:pt idx="720">
                  <c:v>0.30693665537580483</c:v>
                </c:pt>
                <c:pt idx="721">
                  <c:v>0.30369388873141667</c:v>
                </c:pt>
                <c:pt idx="722">
                  <c:v>0.30550846076799587</c:v>
                </c:pt>
                <c:pt idx="723">
                  <c:v>0.27783623721016326</c:v>
                </c:pt>
                <c:pt idx="724">
                  <c:v>0.28341768174772475</c:v>
                </c:pt>
                <c:pt idx="725">
                  <c:v>0.27824991438087698</c:v>
                </c:pt>
                <c:pt idx="726">
                  <c:v>0.26931613531572096</c:v>
                </c:pt>
                <c:pt idx="727">
                  <c:v>0.25815041788895532</c:v>
                </c:pt>
                <c:pt idx="728">
                  <c:v>0.26566657792200998</c:v>
                </c:pt>
                <c:pt idx="729">
                  <c:v>0.28421466205194457</c:v>
                </c:pt>
                <c:pt idx="730">
                  <c:v>0.25341415860535221</c:v>
                </c:pt>
                <c:pt idx="731">
                  <c:v>0.25181724667345873</c:v>
                </c:pt>
                <c:pt idx="732">
                  <c:v>0.25645635822672186</c:v>
                </c:pt>
                <c:pt idx="733">
                  <c:v>0.29302989629172349</c:v>
                </c:pt>
                <c:pt idx="734">
                  <c:v>0.30401951808577166</c:v>
                </c:pt>
                <c:pt idx="735">
                  <c:v>0.31719607055876553</c:v>
                </c:pt>
                <c:pt idx="736">
                  <c:v>0.32131009248095022</c:v>
                </c:pt>
                <c:pt idx="737">
                  <c:v>0.33124855123835695</c:v>
                </c:pt>
                <c:pt idx="738">
                  <c:v>0.33379947847655145</c:v>
                </c:pt>
                <c:pt idx="739">
                  <c:v>0.340750828983718</c:v>
                </c:pt>
                <c:pt idx="740">
                  <c:v>0.33047727204254329</c:v>
                </c:pt>
                <c:pt idx="741">
                  <c:v>0.34604882349794552</c:v>
                </c:pt>
                <c:pt idx="742">
                  <c:v>0.35402366838437804</c:v>
                </c:pt>
                <c:pt idx="743">
                  <c:v>0.36184529039485636</c:v>
                </c:pt>
                <c:pt idx="744">
                  <c:v>0.35531069135366744</c:v>
                </c:pt>
                <c:pt idx="745">
                  <c:v>0.35181103659702573</c:v>
                </c:pt>
                <c:pt idx="746">
                  <c:v>0.33792764215695015</c:v>
                </c:pt>
                <c:pt idx="747">
                  <c:v>0.35335863683288582</c:v>
                </c:pt>
                <c:pt idx="748">
                  <c:v>0.36382513654482418</c:v>
                </c:pt>
                <c:pt idx="749">
                  <c:v>0.35678979629104712</c:v>
                </c:pt>
                <c:pt idx="750">
                  <c:v>0.3399872970119695</c:v>
                </c:pt>
                <c:pt idx="751">
                  <c:v>0.3322159704720089</c:v>
                </c:pt>
                <c:pt idx="752">
                  <c:v>0.35963364238198858</c:v>
                </c:pt>
                <c:pt idx="753">
                  <c:v>0.38414794984471734</c:v>
                </c:pt>
                <c:pt idx="754">
                  <c:v>0.38584705135118358</c:v>
                </c:pt>
                <c:pt idx="755">
                  <c:v>0.40938115051196244</c:v>
                </c:pt>
                <c:pt idx="756">
                  <c:v>0.42017881330973106</c:v>
                </c:pt>
                <c:pt idx="757">
                  <c:v>0.4390097326039466</c:v>
                </c:pt>
                <c:pt idx="758">
                  <c:v>0.44290621739325586</c:v>
                </c:pt>
                <c:pt idx="759">
                  <c:v>0.43560624180316032</c:v>
                </c:pt>
                <c:pt idx="760">
                  <c:v>0.46421022276958346</c:v>
                </c:pt>
                <c:pt idx="761">
                  <c:v>0.46608222264169274</c:v>
                </c:pt>
                <c:pt idx="762">
                  <c:v>0.46039379262894675</c:v>
                </c:pt>
                <c:pt idx="763">
                  <c:v>0.47391257565072076</c:v>
                </c:pt>
                <c:pt idx="764">
                  <c:v>0.47101831111745107</c:v>
                </c:pt>
                <c:pt idx="765">
                  <c:v>0.48082973999455225</c:v>
                </c:pt>
                <c:pt idx="766">
                  <c:v>0.46255539111491784</c:v>
                </c:pt>
                <c:pt idx="767">
                  <c:v>0.46308294018220741</c:v>
                </c:pt>
                <c:pt idx="768">
                  <c:v>0.4540549647101646</c:v>
                </c:pt>
                <c:pt idx="769">
                  <c:v>0.44520001057557579</c:v>
                </c:pt>
                <c:pt idx="770">
                  <c:v>0.43485131785815101</c:v>
                </c:pt>
                <c:pt idx="771">
                  <c:v>0.45577288090364609</c:v>
                </c:pt>
                <c:pt idx="772">
                  <c:v>0.45213721932452811</c:v>
                </c:pt>
                <c:pt idx="773">
                  <c:v>0.47163784309903733</c:v>
                </c:pt>
                <c:pt idx="774">
                  <c:v>0.46430368134560673</c:v>
                </c:pt>
                <c:pt idx="775">
                  <c:v>0.47011828043598447</c:v>
                </c:pt>
                <c:pt idx="776">
                  <c:v>0.44400509349239337</c:v>
                </c:pt>
                <c:pt idx="777">
                  <c:v>0.46211011018889092</c:v>
                </c:pt>
                <c:pt idx="778">
                  <c:v>0.45035953883111612</c:v>
                </c:pt>
                <c:pt idx="779">
                  <c:v>0.44560151353704436</c:v>
                </c:pt>
                <c:pt idx="780">
                  <c:v>0.44696613171879562</c:v>
                </c:pt>
                <c:pt idx="781">
                  <c:v>0.46660964873717181</c:v>
                </c:pt>
                <c:pt idx="782">
                  <c:v>0.44750782254429899</c:v>
                </c:pt>
                <c:pt idx="783">
                  <c:v>0.45376610392716632</c:v>
                </c:pt>
                <c:pt idx="784">
                  <c:v>0.4491144492492265</c:v>
                </c:pt>
                <c:pt idx="785">
                  <c:v>0.44555908826240231</c:v>
                </c:pt>
                <c:pt idx="786">
                  <c:v>0.45208680088219966</c:v>
                </c:pt>
                <c:pt idx="787">
                  <c:v>0.47832738662152785</c:v>
                </c:pt>
                <c:pt idx="788">
                  <c:v>0.49216073153470674</c:v>
                </c:pt>
                <c:pt idx="789">
                  <c:v>0.50035163789228787</c:v>
                </c:pt>
                <c:pt idx="790">
                  <c:v>0.50714718311547857</c:v>
                </c:pt>
                <c:pt idx="791">
                  <c:v>0.4755343278883466</c:v>
                </c:pt>
                <c:pt idx="792">
                  <c:v>0.47796265223141576</c:v>
                </c:pt>
                <c:pt idx="793">
                  <c:v>0.49955490353168885</c:v>
                </c:pt>
                <c:pt idx="794">
                  <c:v>0.49101340454220987</c:v>
                </c:pt>
                <c:pt idx="795">
                  <c:v>0.48622156200023503</c:v>
                </c:pt>
                <c:pt idx="796">
                  <c:v>0.48286504643108152</c:v>
                </c:pt>
                <c:pt idx="797">
                  <c:v>0.46960757850674106</c:v>
                </c:pt>
                <c:pt idx="798">
                  <c:v>0.46803132583902141</c:v>
                </c:pt>
                <c:pt idx="799">
                  <c:v>0.46447424324684938</c:v>
                </c:pt>
                <c:pt idx="800">
                  <c:v>0.45609408327282108</c:v>
                </c:pt>
                <c:pt idx="801">
                  <c:v>0.45536645906975526</c:v>
                </c:pt>
                <c:pt idx="802">
                  <c:v>0.45186840294665065</c:v>
                </c:pt>
                <c:pt idx="803">
                  <c:v>0.43642818538492345</c:v>
                </c:pt>
                <c:pt idx="804">
                  <c:v>0.42858098523784904</c:v>
                </c:pt>
                <c:pt idx="805">
                  <c:v>0.42144984994364831</c:v>
                </c:pt>
                <c:pt idx="806">
                  <c:v>0.41395816130089425</c:v>
                </c:pt>
                <c:pt idx="807">
                  <c:v>0.41919946581045497</c:v>
                </c:pt>
                <c:pt idx="808">
                  <c:v>0.40715843503614457</c:v>
                </c:pt>
                <c:pt idx="809">
                  <c:v>0.42839148567778063</c:v>
                </c:pt>
                <c:pt idx="810">
                  <c:v>0.45272244217096902</c:v>
                </c:pt>
                <c:pt idx="811">
                  <c:v>0.43908499135200763</c:v>
                </c:pt>
                <c:pt idx="812">
                  <c:v>0.42447102138541282</c:v>
                </c:pt>
                <c:pt idx="813">
                  <c:v>0.44025789648110014</c:v>
                </c:pt>
                <c:pt idx="814">
                  <c:v>0.45603062981857367</c:v>
                </c:pt>
                <c:pt idx="815">
                  <c:v>0.4453504050998871</c:v>
                </c:pt>
                <c:pt idx="816">
                  <c:v>0.42329799328450934</c:v>
                </c:pt>
                <c:pt idx="817">
                  <c:v>0.44975107431248018</c:v>
                </c:pt>
                <c:pt idx="818">
                  <c:v>0.44832042026845986</c:v>
                </c:pt>
                <c:pt idx="819">
                  <c:v>0.44284423960073527</c:v>
                </c:pt>
                <c:pt idx="820">
                  <c:v>0.42629272578700417</c:v>
                </c:pt>
                <c:pt idx="821">
                  <c:v>0.41802975794843666</c:v>
                </c:pt>
                <c:pt idx="822">
                  <c:v>0.43733559437502345</c:v>
                </c:pt>
                <c:pt idx="823">
                  <c:v>0.45067533044062635</c:v>
                </c:pt>
                <c:pt idx="824">
                  <c:v>0.45323129952305385</c:v>
                </c:pt>
                <c:pt idx="825">
                  <c:v>0.46817950687074261</c:v>
                </c:pt>
                <c:pt idx="826">
                  <c:v>0.46038284813780717</c:v>
                </c:pt>
                <c:pt idx="827">
                  <c:v>0.45461153512474572</c:v>
                </c:pt>
                <c:pt idx="828">
                  <c:v>0.44917089331027205</c:v>
                </c:pt>
                <c:pt idx="829">
                  <c:v>0.45961784050433208</c:v>
                </c:pt>
                <c:pt idx="830">
                  <c:v>0.42825670857341036</c:v>
                </c:pt>
                <c:pt idx="831">
                  <c:v>0.42657925010560205</c:v>
                </c:pt>
                <c:pt idx="832">
                  <c:v>0.42554591798149155</c:v>
                </c:pt>
                <c:pt idx="833">
                  <c:v>0.40425728408148354</c:v>
                </c:pt>
                <c:pt idx="834">
                  <c:v>0.4059004334141465</c:v>
                </c:pt>
                <c:pt idx="835">
                  <c:v>0.42316210943384402</c:v>
                </c:pt>
                <c:pt idx="836">
                  <c:v>0.43342300027853109</c:v>
                </c:pt>
                <c:pt idx="837">
                  <c:v>0.41487503912040724</c:v>
                </c:pt>
                <c:pt idx="838">
                  <c:v>0.39473447004375939</c:v>
                </c:pt>
                <c:pt idx="839">
                  <c:v>0.39705138192646405</c:v>
                </c:pt>
                <c:pt idx="840">
                  <c:v>0.39307484248848223</c:v>
                </c:pt>
                <c:pt idx="841">
                  <c:v>0.40396461117235805</c:v>
                </c:pt>
                <c:pt idx="842">
                  <c:v>0.41609504245294349</c:v>
                </c:pt>
                <c:pt idx="843">
                  <c:v>0.43553541004027951</c:v>
                </c:pt>
                <c:pt idx="844">
                  <c:v>0.43939414248374775</c:v>
                </c:pt>
                <c:pt idx="845">
                  <c:v>0.42344887969606293</c:v>
                </c:pt>
                <c:pt idx="846">
                  <c:v>0.43303785256786664</c:v>
                </c:pt>
                <c:pt idx="847">
                  <c:v>0.42534694959201014</c:v>
                </c:pt>
                <c:pt idx="848">
                  <c:v>0.40261204422804142</c:v>
                </c:pt>
                <c:pt idx="849">
                  <c:v>0.4019315182284191</c:v>
                </c:pt>
                <c:pt idx="850">
                  <c:v>0.39149096556850793</c:v>
                </c:pt>
                <c:pt idx="851">
                  <c:v>0.38693166272029633</c:v>
                </c:pt>
                <c:pt idx="852">
                  <c:v>0.39895068154051705</c:v>
                </c:pt>
                <c:pt idx="853">
                  <c:v>0.38749056959927808</c:v>
                </c:pt>
                <c:pt idx="854">
                  <c:v>0.41143182842481107</c:v>
                </c:pt>
                <c:pt idx="855">
                  <c:v>0.39328721480531414</c:v>
                </c:pt>
                <c:pt idx="856">
                  <c:v>0.38382047591320423</c:v>
                </c:pt>
                <c:pt idx="857">
                  <c:v>0.39134819529645126</c:v>
                </c:pt>
                <c:pt idx="858">
                  <c:v>0.41482708011429015</c:v>
                </c:pt>
                <c:pt idx="859">
                  <c:v>0.45303454462616277</c:v>
                </c:pt>
                <c:pt idx="860">
                  <c:v>0.45637052390295318</c:v>
                </c:pt>
                <c:pt idx="861">
                  <c:v>0.46666092798217407</c:v>
                </c:pt>
                <c:pt idx="862">
                  <c:v>0.46553708860549348</c:v>
                </c:pt>
                <c:pt idx="863">
                  <c:v>0.46378437138962458</c:v>
                </c:pt>
                <c:pt idx="864">
                  <c:v>0.4826482471290694</c:v>
                </c:pt>
                <c:pt idx="865">
                  <c:v>0.48070566143770033</c:v>
                </c:pt>
                <c:pt idx="866">
                  <c:v>0.51459165058297862</c:v>
                </c:pt>
                <c:pt idx="867">
                  <c:v>0.53271130092493268</c:v>
                </c:pt>
                <c:pt idx="868">
                  <c:v>0.53435875427096491</c:v>
                </c:pt>
                <c:pt idx="869">
                  <c:v>0.548916772063756</c:v>
                </c:pt>
                <c:pt idx="870">
                  <c:v>0.54484603621888739</c:v>
                </c:pt>
                <c:pt idx="871">
                  <c:v>0.54987890350955415</c:v>
                </c:pt>
                <c:pt idx="872">
                  <c:v>0.55652491501110757</c:v>
                </c:pt>
                <c:pt idx="873">
                  <c:v>0.54350859480726954</c:v>
                </c:pt>
                <c:pt idx="874">
                  <c:v>0.54614240504577927</c:v>
                </c:pt>
                <c:pt idx="875">
                  <c:v>0.55606463152419261</c:v>
                </c:pt>
                <c:pt idx="876">
                  <c:v>0.551481718088354</c:v>
                </c:pt>
                <c:pt idx="877">
                  <c:v>0.56581383666515217</c:v>
                </c:pt>
                <c:pt idx="878">
                  <c:v>0.57631304687869878</c:v>
                </c:pt>
                <c:pt idx="879">
                  <c:v>0.55931686699799377</c:v>
                </c:pt>
                <c:pt idx="880">
                  <c:v>0.56055224180684937</c:v>
                </c:pt>
                <c:pt idx="881">
                  <c:v>0.54480447174691915</c:v>
                </c:pt>
                <c:pt idx="882">
                  <c:v>0.54956249704099092</c:v>
                </c:pt>
                <c:pt idx="883">
                  <c:v>0.56289264130537053</c:v>
                </c:pt>
                <c:pt idx="884">
                  <c:v>0.56071407270954254</c:v>
                </c:pt>
                <c:pt idx="885">
                  <c:v>0.55440094589916677</c:v>
                </c:pt>
                <c:pt idx="886">
                  <c:v>0.59205552915077519</c:v>
                </c:pt>
                <c:pt idx="887">
                  <c:v>0.60898887043628558</c:v>
                </c:pt>
                <c:pt idx="888">
                  <c:v>0.60105731162716936</c:v>
                </c:pt>
                <c:pt idx="889">
                  <c:v>0.61196146801288021</c:v>
                </c:pt>
                <c:pt idx="890">
                  <c:v>0.62139438965708704</c:v>
                </c:pt>
                <c:pt idx="891">
                  <c:v>0.6085225613306533</c:v>
                </c:pt>
                <c:pt idx="892">
                  <c:v>0.6254661092764402</c:v>
                </c:pt>
                <c:pt idx="893">
                  <c:v>0.63248681588476052</c:v>
                </c:pt>
                <c:pt idx="894">
                  <c:v>0.64207849413639684</c:v>
                </c:pt>
                <c:pt idx="895">
                  <c:v>0.65020447137800375</c:v>
                </c:pt>
                <c:pt idx="896">
                  <c:v>0.65010019128265117</c:v>
                </c:pt>
                <c:pt idx="897">
                  <c:v>0.63179448459132481</c:v>
                </c:pt>
                <c:pt idx="898">
                  <c:v>0.63348313349389374</c:v>
                </c:pt>
                <c:pt idx="899">
                  <c:v>0.61370877446908478</c:v>
                </c:pt>
                <c:pt idx="900">
                  <c:v>0.62350975074228887</c:v>
                </c:pt>
                <c:pt idx="901">
                  <c:v>0.62847313895999068</c:v>
                </c:pt>
                <c:pt idx="902">
                  <c:v>0.61642251638445655</c:v>
                </c:pt>
                <c:pt idx="903">
                  <c:v>0.60897657325522991</c:v>
                </c:pt>
                <c:pt idx="904">
                  <c:v>0.6066113334509764</c:v>
                </c:pt>
                <c:pt idx="905">
                  <c:v>0.61077909405437447</c:v>
                </c:pt>
                <c:pt idx="906">
                  <c:v>0.61733644288051637</c:v>
                </c:pt>
                <c:pt idx="907">
                  <c:v>0.58995221930300801</c:v>
                </c:pt>
                <c:pt idx="908">
                  <c:v>0.58048080748209685</c:v>
                </c:pt>
                <c:pt idx="909">
                  <c:v>0.56562470602051551</c:v>
                </c:pt>
                <c:pt idx="910">
                  <c:v>0.56955869721204455</c:v>
                </c:pt>
                <c:pt idx="911">
                  <c:v>0.55684218228234461</c:v>
                </c:pt>
                <c:pt idx="912">
                  <c:v>0.57726743110043177</c:v>
                </c:pt>
                <c:pt idx="913">
                  <c:v>0.57177280466112346</c:v>
                </c:pt>
                <c:pt idx="914">
                  <c:v>0.57611407848921758</c:v>
                </c:pt>
                <c:pt idx="915">
                  <c:v>0.58593448430848971</c:v>
                </c:pt>
                <c:pt idx="916">
                  <c:v>0.58022047615914785</c:v>
                </c:pt>
                <c:pt idx="917">
                  <c:v>0.56668312439397961</c:v>
                </c:pt>
                <c:pt idx="918">
                  <c:v>0.57099291743857106</c:v>
                </c:pt>
                <c:pt idx="919">
                  <c:v>0.57995436516110233</c:v>
                </c:pt>
                <c:pt idx="920">
                  <c:v>0.56398315532138987</c:v>
                </c:pt>
                <c:pt idx="921">
                  <c:v>0.56904024805873643</c:v>
                </c:pt>
                <c:pt idx="922">
                  <c:v>0.60375297668638939</c:v>
                </c:pt>
                <c:pt idx="923">
                  <c:v>0.59801744847019989</c:v>
                </c:pt>
                <c:pt idx="924">
                  <c:v>0.57670667964429168</c:v>
                </c:pt>
                <c:pt idx="925">
                  <c:v>0.57435521268282064</c:v>
                </c:pt>
                <c:pt idx="926">
                  <c:v>0.5619669095154971</c:v>
                </c:pt>
                <c:pt idx="927">
                  <c:v>0.57163052627630906</c:v>
                </c:pt>
                <c:pt idx="928">
                  <c:v>0.58296545291440127</c:v>
                </c:pt>
                <c:pt idx="929">
                  <c:v>0.58677585743632066</c:v>
                </c:pt>
                <c:pt idx="930">
                  <c:v>0.59760192672232781</c:v>
                </c:pt>
                <c:pt idx="931">
                  <c:v>0.59902188221882957</c:v>
                </c:pt>
                <c:pt idx="932">
                  <c:v>0.60159162414403933</c:v>
                </c:pt>
                <c:pt idx="933">
                  <c:v>0.59148555480884335</c:v>
                </c:pt>
                <c:pt idx="934">
                  <c:v>0.59382595430736451</c:v>
                </c:pt>
                <c:pt idx="935">
                  <c:v>0.61940802600115963</c:v>
                </c:pt>
                <c:pt idx="936">
                  <c:v>0.60054488809257811</c:v>
                </c:pt>
                <c:pt idx="937">
                  <c:v>0.58658254575012503</c:v>
                </c:pt>
                <c:pt idx="938">
                  <c:v>0.58855439873240667</c:v>
                </c:pt>
                <c:pt idx="939">
                  <c:v>0.57822685716639755</c:v>
                </c:pt>
                <c:pt idx="940">
                  <c:v>0.57524565156306395</c:v>
                </c:pt>
                <c:pt idx="941">
                  <c:v>0.58498649462090557</c:v>
                </c:pt>
                <c:pt idx="942">
                  <c:v>0.57821726536517404</c:v>
                </c:pt>
                <c:pt idx="943">
                  <c:v>0.56261251152092151</c:v>
                </c:pt>
                <c:pt idx="944">
                  <c:v>0.5509642527095302</c:v>
                </c:pt>
                <c:pt idx="945">
                  <c:v>0.56995454347022756</c:v>
                </c:pt>
                <c:pt idx="946">
                  <c:v>0.57411357307507616</c:v>
                </c:pt>
                <c:pt idx="947">
                  <c:v>0.5702266800869904</c:v>
                </c:pt>
                <c:pt idx="948">
                  <c:v>0.55856698489721701</c:v>
                </c:pt>
                <c:pt idx="949">
                  <c:v>0.56117853723801625</c:v>
                </c:pt>
                <c:pt idx="950">
                  <c:v>0.56824535827529599</c:v>
                </c:pt>
                <c:pt idx="951">
                  <c:v>0.587871413296573</c:v>
                </c:pt>
                <c:pt idx="952">
                  <c:v>0.57598913912969185</c:v>
                </c:pt>
                <c:pt idx="953">
                  <c:v>0.56207524768059813</c:v>
                </c:pt>
                <c:pt idx="954">
                  <c:v>0.56089926825624126</c:v>
                </c:pt>
                <c:pt idx="955">
                  <c:v>0.56005752621297877</c:v>
                </c:pt>
                <c:pt idx="956">
                  <c:v>0.57023467325467636</c:v>
                </c:pt>
                <c:pt idx="957">
                  <c:v>0.5753439060396992</c:v>
                </c:pt>
                <c:pt idx="958">
                  <c:v>0.56162455599490646</c:v>
                </c:pt>
                <c:pt idx="959">
                  <c:v>0.56848724382666149</c:v>
                </c:pt>
                <c:pt idx="960">
                  <c:v>0.56565729355031302</c:v>
                </c:pt>
                <c:pt idx="961">
                  <c:v>0.56699940789073211</c:v>
                </c:pt>
                <c:pt idx="962">
                  <c:v>0.55922611380180265</c:v>
                </c:pt>
                <c:pt idx="963">
                  <c:v>0.58457982684339371</c:v>
                </c:pt>
                <c:pt idx="964">
                  <c:v>0.59728539728195407</c:v>
                </c:pt>
                <c:pt idx="965">
                  <c:v>0.57470002563962264</c:v>
                </c:pt>
                <c:pt idx="966">
                  <c:v>0.5666159817854155</c:v>
                </c:pt>
                <c:pt idx="967">
                  <c:v>0.548781871987575</c:v>
                </c:pt>
                <c:pt idx="968">
                  <c:v>0.54125353774527496</c:v>
                </c:pt>
                <c:pt idx="969">
                  <c:v>0.52962938140875271</c:v>
                </c:pt>
                <c:pt idx="970">
                  <c:v>0.52695511344456958</c:v>
                </c:pt>
                <c:pt idx="971">
                  <c:v>0.52726291188639363</c:v>
                </c:pt>
                <c:pt idx="972">
                  <c:v>0.53867617156781078</c:v>
                </c:pt>
                <c:pt idx="973">
                  <c:v>0.54419588425647247</c:v>
                </c:pt>
                <c:pt idx="974">
                  <c:v>0.53896847556150473</c:v>
                </c:pt>
                <c:pt idx="975">
                  <c:v>0.53395884994303344</c:v>
                </c:pt>
                <c:pt idx="976">
                  <c:v>0.53278926505282564</c:v>
                </c:pt>
                <c:pt idx="977">
                  <c:v>0.5559164504924714</c:v>
                </c:pt>
                <c:pt idx="978">
                  <c:v>0.56606801939757334</c:v>
                </c:pt>
                <c:pt idx="979">
                  <c:v>0.54851256372245527</c:v>
                </c:pt>
                <c:pt idx="980">
                  <c:v>0.56324532445804798</c:v>
                </c:pt>
                <c:pt idx="981">
                  <c:v>0.58029438221729235</c:v>
                </c:pt>
                <c:pt idx="982">
                  <c:v>0.57976584937551845</c:v>
                </c:pt>
                <c:pt idx="983">
                  <c:v>0.58892466685399381</c:v>
                </c:pt>
                <c:pt idx="984">
                  <c:v>0.59224994758326588</c:v>
                </c:pt>
                <c:pt idx="985">
                  <c:v>0.5763552262097198</c:v>
                </c:pt>
                <c:pt idx="986">
                  <c:v>0.56911501491955496</c:v>
                </c:pt>
                <c:pt idx="987">
                  <c:v>0.57594265578530113</c:v>
                </c:pt>
                <c:pt idx="988">
                  <c:v>0.58037824899209234</c:v>
                </c:pt>
                <c:pt idx="989">
                  <c:v>0.57437845435501589</c:v>
                </c:pt>
                <c:pt idx="990">
                  <c:v>0.57752690162070697</c:v>
                </c:pt>
                <c:pt idx="991">
                  <c:v>0.57589248328659393</c:v>
                </c:pt>
                <c:pt idx="992">
                  <c:v>0.57097619327233518</c:v>
                </c:pt>
                <c:pt idx="993">
                  <c:v>0.56680289893746205</c:v>
                </c:pt>
                <c:pt idx="994">
                  <c:v>0.54514116856422423</c:v>
                </c:pt>
                <c:pt idx="995">
                  <c:v>0.5338200147689145</c:v>
                </c:pt>
                <c:pt idx="996">
                  <c:v>0.52860810052207685</c:v>
                </c:pt>
                <c:pt idx="997">
                  <c:v>0.53094591761257615</c:v>
                </c:pt>
                <c:pt idx="998">
                  <c:v>0.52213941437134648</c:v>
                </c:pt>
                <c:pt idx="999">
                  <c:v>0.50895363901256108</c:v>
                </c:pt>
                <c:pt idx="1000">
                  <c:v>0.50146231928523877</c:v>
                </c:pt>
                <c:pt idx="1001">
                  <c:v>0.5006444337732241</c:v>
                </c:pt>
                <c:pt idx="1002">
                  <c:v>0.49782198477731954</c:v>
                </c:pt>
                <c:pt idx="1003">
                  <c:v>0.49296791849920285</c:v>
                </c:pt>
                <c:pt idx="1004">
                  <c:v>0.51130879512834881</c:v>
                </c:pt>
                <c:pt idx="1005">
                  <c:v>0.4850960010182066</c:v>
                </c:pt>
                <c:pt idx="1006">
                  <c:v>0.48500155866769878</c:v>
                </c:pt>
                <c:pt idx="1007">
                  <c:v>0.4957683555410175</c:v>
                </c:pt>
                <c:pt idx="1008">
                  <c:v>0.47487495304013994</c:v>
                </c:pt>
                <c:pt idx="1009">
                  <c:v>0.47034356479292483</c:v>
                </c:pt>
                <c:pt idx="1010">
                  <c:v>0.47150995241605798</c:v>
                </c:pt>
                <c:pt idx="1011">
                  <c:v>0.46505983500872183</c:v>
                </c:pt>
                <c:pt idx="1012">
                  <c:v>0.47111718045313888</c:v>
                </c:pt>
                <c:pt idx="1013">
                  <c:v>0.4788754719811803</c:v>
                </c:pt>
                <c:pt idx="1014">
                  <c:v>0.48114516268863117</c:v>
                </c:pt>
                <c:pt idx="1015">
                  <c:v>0.49215384511331561</c:v>
                </c:pt>
                <c:pt idx="1016">
                  <c:v>0.50808890124072414</c:v>
                </c:pt>
                <c:pt idx="1017">
                  <c:v>0.50433125162553361</c:v>
                </c:pt>
                <c:pt idx="1018">
                  <c:v>0.508142271006506</c:v>
                </c:pt>
                <c:pt idx="1019">
                  <c:v>0.52863589215126283</c:v>
                </c:pt>
                <c:pt idx="1020">
                  <c:v>0.52370127933723132</c:v>
                </c:pt>
                <c:pt idx="1021">
                  <c:v>0.5336806877075535</c:v>
                </c:pt>
                <c:pt idx="1022">
                  <c:v>0.53452931617220734</c:v>
                </c:pt>
                <c:pt idx="1023">
                  <c:v>0.54528701313154482</c:v>
                </c:pt>
                <c:pt idx="1024">
                  <c:v>0.55146130476780164</c:v>
                </c:pt>
                <c:pt idx="1025">
                  <c:v>0.55272877521921271</c:v>
                </c:pt>
                <c:pt idx="1026">
                  <c:v>0.55618784927837073</c:v>
                </c:pt>
                <c:pt idx="1027">
                  <c:v>0.56307279500783647</c:v>
                </c:pt>
                <c:pt idx="1028">
                  <c:v>0.56442573086758463</c:v>
                </c:pt>
                <c:pt idx="1029">
                  <c:v>0.57764975045945355</c:v>
                </c:pt>
                <c:pt idx="1030">
                  <c:v>0.58506950059303153</c:v>
                </c:pt>
                <c:pt idx="1031">
                  <c:v>0.59028325941702775</c:v>
                </c:pt>
                <c:pt idx="1032">
                  <c:v>0.5876937190303182</c:v>
                </c:pt>
                <c:pt idx="1033">
                  <c:v>0.59187402275839318</c:v>
                </c:pt>
                <c:pt idx="1034">
                  <c:v>0.56976049395316863</c:v>
                </c:pt>
                <c:pt idx="1035">
                  <c:v>0.56932271430758585</c:v>
                </c:pt>
                <c:pt idx="1036">
                  <c:v>0.57231301982490046</c:v>
                </c:pt>
                <c:pt idx="1037">
                  <c:v>0.55669818229218238</c:v>
                </c:pt>
                <c:pt idx="1038">
                  <c:v>0.55464320036596404</c:v>
                </c:pt>
                <c:pt idx="1039">
                  <c:v>0.54888024943602054</c:v>
                </c:pt>
                <c:pt idx="1040">
                  <c:v>0.5677982327721105</c:v>
                </c:pt>
                <c:pt idx="1041">
                  <c:v>0.56117460214007853</c:v>
                </c:pt>
                <c:pt idx="1042">
                  <c:v>0.55115670359305202</c:v>
                </c:pt>
                <c:pt idx="1043">
                  <c:v>0.56975741965790472</c:v>
                </c:pt>
                <c:pt idx="1044">
                  <c:v>0.56660061030909592</c:v>
                </c:pt>
                <c:pt idx="1045">
                  <c:v>0.5476505313304505</c:v>
                </c:pt>
                <c:pt idx="1046">
                  <c:v>0.5404622141443407</c:v>
                </c:pt>
                <c:pt idx="1047">
                  <c:v>0.55272447120584323</c:v>
                </c:pt>
                <c:pt idx="1048">
                  <c:v>0.56806126947489211</c:v>
                </c:pt>
                <c:pt idx="1049">
                  <c:v>0.58216613614578083</c:v>
                </c:pt>
                <c:pt idx="1050">
                  <c:v>0.6061912617461136</c:v>
                </c:pt>
                <c:pt idx="1051">
                  <c:v>0.61235596158114691</c:v>
                </c:pt>
                <c:pt idx="1052">
                  <c:v>0.62812180849722932</c:v>
                </c:pt>
                <c:pt idx="1053">
                  <c:v>0.63943140294234668</c:v>
                </c:pt>
                <c:pt idx="1054">
                  <c:v>0.64970889498145912</c:v>
                </c:pt>
                <c:pt idx="1055">
                  <c:v>0.64724736824953943</c:v>
                </c:pt>
                <c:pt idx="1056">
                  <c:v>0.66968640343730823</c:v>
                </c:pt>
                <c:pt idx="1057">
                  <c:v>0.67349152017137359</c:v>
                </c:pt>
                <c:pt idx="1058">
                  <c:v>0.67811821157177032</c:v>
                </c:pt>
                <c:pt idx="1059">
                  <c:v>0.6622516507428422</c:v>
                </c:pt>
                <c:pt idx="1060">
                  <c:v>0.6676019082765563</c:v>
                </c:pt>
                <c:pt idx="1061">
                  <c:v>0.68334525135130653</c:v>
                </c:pt>
                <c:pt idx="1062">
                  <c:v>0.68195812932822353</c:v>
                </c:pt>
                <c:pt idx="1063">
                  <c:v>0.68894354302691418</c:v>
                </c:pt>
                <c:pt idx="1064">
                  <c:v>0.67292511201194816</c:v>
                </c:pt>
                <c:pt idx="1065">
                  <c:v>0.67246593527132825</c:v>
                </c:pt>
                <c:pt idx="1066">
                  <c:v>0.65896436830303218</c:v>
                </c:pt>
                <c:pt idx="1067">
                  <c:v>0.6521690690234625</c:v>
                </c:pt>
                <c:pt idx="1068">
                  <c:v>0.67377829043359272</c:v>
                </c:pt>
                <c:pt idx="1069">
                  <c:v>0.67859583408397373</c:v>
                </c:pt>
                <c:pt idx="1070">
                  <c:v>0.65486178275922935</c:v>
                </c:pt>
                <c:pt idx="1071">
                  <c:v>0.65688786630996643</c:v>
                </c:pt>
                <c:pt idx="1072">
                  <c:v>0.65175219458567413</c:v>
                </c:pt>
                <c:pt idx="1073">
                  <c:v>0.65614437874333875</c:v>
                </c:pt>
                <c:pt idx="1074">
                  <c:v>0.64818416750236252</c:v>
                </c:pt>
                <c:pt idx="1075">
                  <c:v>0.65866776029596874</c:v>
                </c:pt>
                <c:pt idx="1076">
                  <c:v>0.66157321526399904</c:v>
                </c:pt>
                <c:pt idx="1077">
                  <c:v>0.65962989174176667</c:v>
                </c:pt>
                <c:pt idx="1078">
                  <c:v>0.64471955971172967</c:v>
                </c:pt>
                <c:pt idx="1079">
                  <c:v>0.63703357560829565</c:v>
                </c:pt>
                <c:pt idx="1080">
                  <c:v>0.61173544582507633</c:v>
                </c:pt>
                <c:pt idx="1081">
                  <c:v>0.60562288603771908</c:v>
                </c:pt>
                <c:pt idx="1082">
                  <c:v>0.6251433082737281</c:v>
                </c:pt>
                <c:pt idx="1083">
                  <c:v>0.61814240012690713</c:v>
                </c:pt>
                <c:pt idx="1084">
                  <c:v>0.63564534683891738</c:v>
                </c:pt>
                <c:pt idx="1085">
                  <c:v>0.63220926850833337</c:v>
                </c:pt>
                <c:pt idx="1086">
                  <c:v>0.62097062879790754</c:v>
                </c:pt>
                <c:pt idx="1087">
                  <c:v>0.62931697152403276</c:v>
                </c:pt>
                <c:pt idx="1088">
                  <c:v>0.64185739082101523</c:v>
                </c:pt>
                <c:pt idx="1089">
                  <c:v>0.61918839834750505</c:v>
                </c:pt>
                <c:pt idx="1090">
                  <c:v>0.62066455196143111</c:v>
                </c:pt>
                <c:pt idx="1091">
                  <c:v>0.62344728106252556</c:v>
                </c:pt>
                <c:pt idx="1092">
                  <c:v>0.61722355475842505</c:v>
                </c:pt>
                <c:pt idx="1093">
                  <c:v>0.59816698219183739</c:v>
                </c:pt>
                <c:pt idx="1094">
                  <c:v>0.60297272054840523</c:v>
                </c:pt>
                <c:pt idx="1095">
                  <c:v>0.59853872597515112</c:v>
                </c:pt>
                <c:pt idx="1096">
                  <c:v>0.61099527849733382</c:v>
                </c:pt>
                <c:pt idx="1097">
                  <c:v>0.61146281732107144</c:v>
                </c:pt>
                <c:pt idx="1098">
                  <c:v>0.62015016087787123</c:v>
                </c:pt>
                <c:pt idx="1099">
                  <c:v>0.60839024366249417</c:v>
                </c:pt>
                <c:pt idx="1100">
                  <c:v>0.60477302785495968</c:v>
                </c:pt>
                <c:pt idx="1101">
                  <c:v>0.60307970602358973</c:v>
                </c:pt>
                <c:pt idx="1102">
                  <c:v>0.59803552532635185</c:v>
                </c:pt>
                <c:pt idx="1103">
                  <c:v>0.58920295206128426</c:v>
                </c:pt>
                <c:pt idx="1104">
                  <c:v>0.59945683351276968</c:v>
                </c:pt>
                <c:pt idx="1105">
                  <c:v>0.5973216739660685</c:v>
                </c:pt>
                <c:pt idx="1106">
                  <c:v>0.61354485304561202</c:v>
                </c:pt>
                <c:pt idx="1107">
                  <c:v>0.60760961860907803</c:v>
                </c:pt>
                <c:pt idx="1108">
                  <c:v>0.60649549400543168</c:v>
                </c:pt>
                <c:pt idx="1109">
                  <c:v>0.59510830434785289</c:v>
                </c:pt>
                <c:pt idx="1110">
                  <c:v>0.57552405974216514</c:v>
                </c:pt>
                <c:pt idx="1111">
                  <c:v>0.60496400307675469</c:v>
                </c:pt>
                <c:pt idx="1112">
                  <c:v>0.60675889962364482</c:v>
                </c:pt>
                <c:pt idx="1113">
                  <c:v>0.6028258922066001</c:v>
                </c:pt>
                <c:pt idx="1114">
                  <c:v>0.59471934451106101</c:v>
                </c:pt>
                <c:pt idx="1115">
                  <c:v>0.571946194914009</c:v>
                </c:pt>
                <c:pt idx="1116">
                  <c:v>0.57248604116235424</c:v>
                </c:pt>
                <c:pt idx="1117">
                  <c:v>0.57032936154880542</c:v>
                </c:pt>
                <c:pt idx="1118">
                  <c:v>0.57076664930714616</c:v>
                </c:pt>
                <c:pt idx="1119">
                  <c:v>0.57147644259768127</c:v>
                </c:pt>
                <c:pt idx="1120">
                  <c:v>0.57118856558916731</c:v>
                </c:pt>
                <c:pt idx="1121">
                  <c:v>0.57646479409292617</c:v>
                </c:pt>
                <c:pt idx="1122">
                  <c:v>0.56078416664156006</c:v>
                </c:pt>
                <c:pt idx="1123">
                  <c:v>0.58787977537969094</c:v>
                </c:pt>
                <c:pt idx="1124">
                  <c:v>0.58678028442150088</c:v>
                </c:pt>
                <c:pt idx="1125">
                  <c:v>0.59767903004754719</c:v>
                </c:pt>
                <c:pt idx="1126">
                  <c:v>0.56996401229964055</c:v>
                </c:pt>
                <c:pt idx="1127">
                  <c:v>0.53235677319509667</c:v>
                </c:pt>
                <c:pt idx="1128">
                  <c:v>0.54536005838701573</c:v>
                </c:pt>
                <c:pt idx="1129">
                  <c:v>0.54004410998844676</c:v>
                </c:pt>
                <c:pt idx="1130">
                  <c:v>0.55115658062124129</c:v>
                </c:pt>
                <c:pt idx="1131">
                  <c:v>0.55051491371375483</c:v>
                </c:pt>
                <c:pt idx="1132">
                  <c:v>0.57228781060373635</c:v>
                </c:pt>
                <c:pt idx="1133">
                  <c:v>0.54877670717153149</c:v>
                </c:pt>
                <c:pt idx="1134">
                  <c:v>0.56432673856008631</c:v>
                </c:pt>
                <c:pt idx="1135">
                  <c:v>0.5768489580291063</c:v>
                </c:pt>
                <c:pt idx="1136">
                  <c:v>0.59363239667754764</c:v>
                </c:pt>
                <c:pt idx="1137">
                  <c:v>0.54996387703064897</c:v>
                </c:pt>
                <c:pt idx="1138">
                  <c:v>0.5323790310928076</c:v>
                </c:pt>
                <c:pt idx="1139">
                  <c:v>0.51944042907324151</c:v>
                </c:pt>
                <c:pt idx="1140">
                  <c:v>0.53343437517100756</c:v>
                </c:pt>
                <c:pt idx="1141">
                  <c:v>0.48515367479735794</c:v>
                </c:pt>
                <c:pt idx="1142">
                  <c:v>0.49026967103196117</c:v>
                </c:pt>
                <c:pt idx="1143">
                  <c:v>0.50151224584032472</c:v>
                </c:pt>
                <c:pt idx="1144">
                  <c:v>0.48508837676595218</c:v>
                </c:pt>
                <c:pt idx="1145">
                  <c:v>0.48891193927160104</c:v>
                </c:pt>
                <c:pt idx="1146">
                  <c:v>0.47897348051419431</c:v>
                </c:pt>
                <c:pt idx="1147">
                  <c:v>0.47914674779526911</c:v>
                </c:pt>
                <c:pt idx="1148">
                  <c:v>0.47720367021665799</c:v>
                </c:pt>
                <c:pt idx="1149">
                  <c:v>0.4576178269774327</c:v>
                </c:pt>
                <c:pt idx="1150">
                  <c:v>0.47592636202040239</c:v>
                </c:pt>
                <c:pt idx="1151">
                  <c:v>0.48995916721030475</c:v>
                </c:pt>
                <c:pt idx="1152">
                  <c:v>0.47104425816947848</c:v>
                </c:pt>
                <c:pt idx="1153">
                  <c:v>0.47296323327322054</c:v>
                </c:pt>
                <c:pt idx="1154">
                  <c:v>0.46159965420326876</c:v>
                </c:pt>
                <c:pt idx="1155">
                  <c:v>0.46344976509309888</c:v>
                </c:pt>
                <c:pt idx="1156">
                  <c:v>0.46703734469428904</c:v>
                </c:pt>
                <c:pt idx="1157">
                  <c:v>0.50825171591790164</c:v>
                </c:pt>
                <c:pt idx="1158">
                  <c:v>0.49083816971216598</c:v>
                </c:pt>
                <c:pt idx="1159">
                  <c:v>0.50456477509378139</c:v>
                </c:pt>
                <c:pt idx="1160">
                  <c:v>0.51077202317526749</c:v>
                </c:pt>
                <c:pt idx="1161">
                  <c:v>0.51671389808957136</c:v>
                </c:pt>
                <c:pt idx="1162">
                  <c:v>0.51220612042998326</c:v>
                </c:pt>
                <c:pt idx="1163">
                  <c:v>0.50619956234332641</c:v>
                </c:pt>
                <c:pt idx="1164">
                  <c:v>0.5057521908965199</c:v>
                </c:pt>
                <c:pt idx="1165">
                  <c:v>0.53544447238637249</c:v>
                </c:pt>
                <c:pt idx="1166">
                  <c:v>0.52553294445547771</c:v>
                </c:pt>
                <c:pt idx="1167">
                  <c:v>0.51786712772897503</c:v>
                </c:pt>
                <c:pt idx="1168">
                  <c:v>0.56066943394231017</c:v>
                </c:pt>
                <c:pt idx="1169">
                  <c:v>0.5511041946299442</c:v>
                </c:pt>
                <c:pt idx="1170">
                  <c:v>0.54908155428990257</c:v>
                </c:pt>
                <c:pt idx="1171">
                  <c:v>0.53896048239381855</c:v>
                </c:pt>
                <c:pt idx="1172">
                  <c:v>0.54371518744900538</c:v>
                </c:pt>
                <c:pt idx="1173">
                  <c:v>0.55220848148874602</c:v>
                </c:pt>
                <c:pt idx="1174">
                  <c:v>0.53246732485278736</c:v>
                </c:pt>
                <c:pt idx="1175">
                  <c:v>0.54417928306204733</c:v>
                </c:pt>
                <c:pt idx="1176">
                  <c:v>0.55585976048780461</c:v>
                </c:pt>
                <c:pt idx="1177">
                  <c:v>0.52952596211607439</c:v>
                </c:pt>
                <c:pt idx="1178">
                  <c:v>0.53530526829682201</c:v>
                </c:pt>
                <c:pt idx="1179">
                  <c:v>0.57672721593665477</c:v>
                </c:pt>
                <c:pt idx="1180">
                  <c:v>0.58082881770597328</c:v>
                </c:pt>
                <c:pt idx="1181">
                  <c:v>0.5805777092688158</c:v>
                </c:pt>
                <c:pt idx="1182">
                  <c:v>0.56553936358398893</c:v>
                </c:pt>
                <c:pt idx="1183">
                  <c:v>0.56912743507242136</c:v>
                </c:pt>
                <c:pt idx="1184">
                  <c:v>0.56331677107998157</c:v>
                </c:pt>
                <c:pt idx="1185">
                  <c:v>0.54208347449472427</c:v>
                </c:pt>
                <c:pt idx="1186">
                  <c:v>0.54919272080664605</c:v>
                </c:pt>
                <c:pt idx="1187">
                  <c:v>0.53430341695621419</c:v>
                </c:pt>
                <c:pt idx="1188">
                  <c:v>0.53467540668314917</c:v>
                </c:pt>
                <c:pt idx="1189">
                  <c:v>0.51008264320528496</c:v>
                </c:pt>
                <c:pt idx="1190">
                  <c:v>0.51312939278364533</c:v>
                </c:pt>
                <c:pt idx="1191">
                  <c:v>0.51695012693765152</c:v>
                </c:pt>
                <c:pt idx="1192">
                  <c:v>0.53757348334254607</c:v>
                </c:pt>
                <c:pt idx="1193">
                  <c:v>0.53123736080359629</c:v>
                </c:pt>
                <c:pt idx="1194">
                  <c:v>0.51879224465979545</c:v>
                </c:pt>
                <c:pt idx="1195">
                  <c:v>0.52317188569278317</c:v>
                </c:pt>
                <c:pt idx="1196">
                  <c:v>0.54498228898498469</c:v>
                </c:pt>
                <c:pt idx="1197">
                  <c:v>0.58580868414628973</c:v>
                </c:pt>
                <c:pt idx="1198">
                  <c:v>0.60888889435430293</c:v>
                </c:pt>
                <c:pt idx="1199">
                  <c:v>0.61676855905936412</c:v>
                </c:pt>
                <c:pt idx="1200">
                  <c:v>0.62948040106026326</c:v>
                </c:pt>
                <c:pt idx="1201">
                  <c:v>0.62267329648687975</c:v>
                </c:pt>
                <c:pt idx="1202">
                  <c:v>0.62746895115498202</c:v>
                </c:pt>
                <c:pt idx="1203">
                  <c:v>0.61488352417533565</c:v>
                </c:pt>
                <c:pt idx="1204">
                  <c:v>0.62406029553815245</c:v>
                </c:pt>
                <c:pt idx="1205">
                  <c:v>0.62961788354446591</c:v>
                </c:pt>
                <c:pt idx="1206">
                  <c:v>0.63735428609022815</c:v>
                </c:pt>
                <c:pt idx="1207">
                  <c:v>0.62202498910162318</c:v>
                </c:pt>
                <c:pt idx="1208">
                  <c:v>0.60182514761228711</c:v>
                </c:pt>
                <c:pt idx="1209">
                  <c:v>0.61274197009448561</c:v>
                </c:pt>
                <c:pt idx="1210">
                  <c:v>0.61327136373893332</c:v>
                </c:pt>
                <c:pt idx="1211">
                  <c:v>0.61266031681227551</c:v>
                </c:pt>
                <c:pt idx="1212">
                  <c:v>0.56489007242424782</c:v>
                </c:pt>
                <c:pt idx="1213">
                  <c:v>0.54437948116963408</c:v>
                </c:pt>
                <c:pt idx="1214">
                  <c:v>0.52401288990518258</c:v>
                </c:pt>
                <c:pt idx="1215">
                  <c:v>0.57152968939165238</c:v>
                </c:pt>
                <c:pt idx="1216">
                  <c:v>0.55380723799779763</c:v>
                </c:pt>
                <c:pt idx="1217">
                  <c:v>0.57013359042639866</c:v>
                </c:pt>
                <c:pt idx="1218">
                  <c:v>0.59191816963838306</c:v>
                </c:pt>
                <c:pt idx="1219">
                  <c:v>0.58935396144464836</c:v>
                </c:pt>
                <c:pt idx="1220">
                  <c:v>0.57793602883443018</c:v>
                </c:pt>
                <c:pt idx="1221">
                  <c:v>0.59432989278702708</c:v>
                </c:pt>
                <c:pt idx="1222">
                  <c:v>0.60434410217973689</c:v>
                </c:pt>
                <c:pt idx="1223">
                  <c:v>0.62588495126319743</c:v>
                </c:pt>
                <c:pt idx="1224">
                  <c:v>0.65495991426405364</c:v>
                </c:pt>
                <c:pt idx="1225">
                  <c:v>0.65691332147475179</c:v>
                </c:pt>
                <c:pt idx="1226">
                  <c:v>0.66031484472656943</c:v>
                </c:pt>
                <c:pt idx="1227">
                  <c:v>0.66126295738596363</c:v>
                </c:pt>
                <c:pt idx="1228">
                  <c:v>0.66094298473489443</c:v>
                </c:pt>
                <c:pt idx="1229">
                  <c:v>0.66176578911933137</c:v>
                </c:pt>
                <c:pt idx="1230">
                  <c:v>0.64156582465818457</c:v>
                </c:pt>
                <c:pt idx="1231">
                  <c:v>0.6418682123403443</c:v>
                </c:pt>
                <c:pt idx="1232">
                  <c:v>0.6404134558214547</c:v>
                </c:pt>
                <c:pt idx="1233">
                  <c:v>0.67526833986211177</c:v>
                </c:pt>
                <c:pt idx="1234">
                  <c:v>0.67871130461408691</c:v>
                </c:pt>
                <c:pt idx="1235">
                  <c:v>0.67934215000224429</c:v>
                </c:pt>
                <c:pt idx="1236">
                  <c:v>0.70885452373325197</c:v>
                </c:pt>
                <c:pt idx="1237">
                  <c:v>0.70221072572428866</c:v>
                </c:pt>
                <c:pt idx="1238">
                  <c:v>0.71342009814380214</c:v>
                </c:pt>
                <c:pt idx="1239">
                  <c:v>0.7116125355004248</c:v>
                </c:pt>
                <c:pt idx="1240">
                  <c:v>0.71713421573805536</c:v>
                </c:pt>
              </c:numCache>
            </c:numRef>
          </c:val>
          <c:smooth val="0"/>
          <c:extLst>
            <c:ext xmlns:c16="http://schemas.microsoft.com/office/drawing/2014/chart" uri="{C3380CC4-5D6E-409C-BE32-E72D297353CC}">
              <c16:uniqueId val="{00000001-1320-473B-8279-9CE91D1310A0}"/>
            </c:ext>
          </c:extLst>
        </c:ser>
        <c:dLbls>
          <c:showLegendKey val="0"/>
          <c:showVal val="0"/>
          <c:showCatName val="0"/>
          <c:showSerName val="0"/>
          <c:showPercent val="0"/>
          <c:showBubbleSize val="0"/>
        </c:dLbls>
        <c:smooth val="0"/>
        <c:axId val="803061760"/>
        <c:axId val="803062720"/>
      </c:lineChart>
      <c:dateAx>
        <c:axId val="803061760"/>
        <c:scaling>
          <c:orientation val="minMax"/>
        </c:scaling>
        <c:delete val="0"/>
        <c:axPos val="b"/>
        <c:numFmt formatCode="yyyy"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803062720"/>
        <c:crosses val="autoZero"/>
        <c:auto val="1"/>
        <c:lblOffset val="100"/>
        <c:baseTimeUnit val="days"/>
        <c:majorUnit val="12"/>
        <c:majorTimeUnit val="months"/>
      </c:dateAx>
      <c:valAx>
        <c:axId val="803062720"/>
        <c:scaling>
          <c:orientation val="minMax"/>
          <c:max val="2.2000000000000002"/>
          <c:min val="0"/>
        </c:scaling>
        <c:delete val="0"/>
        <c:axPos val="l"/>
        <c:numFmt formatCode="0%" sourceLinked="1"/>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803061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600" baseline="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8F3-4214-91DF-A3B513A89BE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8F3-4214-91DF-A3B513A89BE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8F3-4214-91DF-A3B513A89BE7}"/>
              </c:ext>
            </c:extLst>
          </c:dPt>
          <c:dLbls>
            <c:dLbl>
              <c:idx val="0"/>
              <c:layout>
                <c:manualLayout>
                  <c:x val="7.8999358052460555E-2"/>
                  <c:y val="-7.68491602262632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8F3-4214-91DF-A3B513A89BE7}"/>
                </c:ext>
              </c:extLst>
            </c:dLbl>
            <c:dLbl>
              <c:idx val="1"/>
              <c:layout>
                <c:manualLayout>
                  <c:x val="-2.6333119350820184E-2"/>
                  <c:y val="9.22189922715158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8F3-4214-91DF-A3B513A89BE7}"/>
                </c:ext>
              </c:extLst>
            </c:dLbl>
            <c:dLbl>
              <c:idx val="2"/>
              <c:layout>
                <c:manualLayout>
                  <c:x val="-8.9532605792788669E-2"/>
                  <c:y val="-3.84245801131316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8F3-4214-91DF-A3B513A89BE7}"/>
                </c:ext>
              </c:extLst>
            </c:dLbl>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solidFill>
                    <a:latin typeface="Calibri (Body)"/>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Sheet1!$Z$23:$Z$25</c:f>
              <c:strCache>
                <c:ptCount val="3"/>
                <c:pt idx="0">
                  <c:v>Made and sold in Brazil</c:v>
                </c:pt>
                <c:pt idx="1">
                  <c:v>Made in Brazil and exported</c:v>
                </c:pt>
                <c:pt idx="2">
                  <c:v>Made and sold abroad</c:v>
                </c:pt>
              </c:strCache>
            </c:strRef>
          </c:cat>
          <c:val>
            <c:numRef>
              <c:f>Sheet1!$AA$23:$AA$25</c:f>
              <c:numCache>
                <c:formatCode>0%</c:formatCode>
                <c:ptCount val="3"/>
                <c:pt idx="0">
                  <c:v>0.43</c:v>
                </c:pt>
                <c:pt idx="1">
                  <c:v>0.22</c:v>
                </c:pt>
                <c:pt idx="2">
                  <c:v>0.35</c:v>
                </c:pt>
              </c:numCache>
            </c:numRef>
          </c:val>
          <c:extLst>
            <c:ext xmlns:c16="http://schemas.microsoft.com/office/drawing/2014/chart" uri="{C3380CC4-5D6E-409C-BE32-E72D297353CC}">
              <c16:uniqueId val="{00000006-58F3-4214-91DF-A3B513A89BE7}"/>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Calibri (Body)"/>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600">
          <a:latin typeface="Calibri (Body)"/>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Sheet1!$R$14</c:f>
              <c:strCache>
                <c:ptCount val="1"/>
                <c:pt idx="0">
                  <c:v>IEE</c:v>
                </c:pt>
              </c:strCache>
            </c:strRef>
          </c:tx>
          <c:spPr>
            <a:solidFill>
              <a:schemeClr val="accent1"/>
            </a:solidFill>
            <a:ln>
              <a:noFill/>
            </a:ln>
            <a:effectLst/>
          </c:spPr>
          <c:invertIfNegative val="0"/>
          <c:dLbls>
            <c:delete val="1"/>
          </c:dLbls>
          <c:cat>
            <c:numRef>
              <c:f>Sheet1!$Q$15:$Q$19</c:f>
              <c:numCache>
                <c:formatCode>General</c:formatCode>
                <c:ptCount val="5"/>
                <c:pt idx="0">
                  <c:v>2020</c:v>
                </c:pt>
                <c:pt idx="1">
                  <c:v>2021</c:v>
                </c:pt>
                <c:pt idx="2">
                  <c:v>2022</c:v>
                </c:pt>
                <c:pt idx="3">
                  <c:v>2023</c:v>
                </c:pt>
                <c:pt idx="4">
                  <c:v>2024</c:v>
                </c:pt>
              </c:numCache>
            </c:numRef>
          </c:cat>
          <c:val>
            <c:numRef>
              <c:f>Sheet1!$R$15:$R$19</c:f>
              <c:numCache>
                <c:formatCode>General</c:formatCode>
                <c:ptCount val="5"/>
                <c:pt idx="0">
                  <c:v>9.0841696399999989</c:v>
                </c:pt>
                <c:pt idx="1">
                  <c:v>11.546035620000001</c:v>
                </c:pt>
                <c:pt idx="2">
                  <c:v>14.354266559999999</c:v>
                </c:pt>
                <c:pt idx="3">
                  <c:v>15.27669247</c:v>
                </c:pt>
                <c:pt idx="4">
                  <c:v>18.233731680000002</c:v>
                </c:pt>
              </c:numCache>
            </c:numRef>
          </c:val>
          <c:extLst>
            <c:ext xmlns:c16="http://schemas.microsoft.com/office/drawing/2014/chart" uri="{C3380CC4-5D6E-409C-BE32-E72D297353CC}">
              <c16:uniqueId val="{00000000-9471-46CD-993F-6228A0711E09}"/>
            </c:ext>
          </c:extLst>
        </c:ser>
        <c:ser>
          <c:idx val="1"/>
          <c:order val="1"/>
          <c:tx>
            <c:strRef>
              <c:f>Sheet1!$S$14</c:f>
              <c:strCache>
                <c:ptCount val="1"/>
                <c:pt idx="0">
                  <c:v>GTD</c:v>
                </c:pt>
              </c:strCache>
            </c:strRef>
          </c:tx>
          <c:spPr>
            <a:solidFill>
              <a:schemeClr val="accent2"/>
            </a:solidFill>
            <a:ln>
              <a:noFill/>
            </a:ln>
            <a:effectLst/>
          </c:spPr>
          <c:invertIfNegative val="0"/>
          <c:dLbls>
            <c:delete val="1"/>
          </c:dLbls>
          <c:cat>
            <c:numRef>
              <c:f>Sheet1!$Q$15:$Q$19</c:f>
              <c:numCache>
                <c:formatCode>General</c:formatCode>
                <c:ptCount val="5"/>
                <c:pt idx="0">
                  <c:v>2020</c:v>
                </c:pt>
                <c:pt idx="1">
                  <c:v>2021</c:v>
                </c:pt>
                <c:pt idx="2">
                  <c:v>2022</c:v>
                </c:pt>
                <c:pt idx="3">
                  <c:v>2023</c:v>
                </c:pt>
                <c:pt idx="4">
                  <c:v>2024</c:v>
                </c:pt>
              </c:numCache>
            </c:numRef>
          </c:cat>
          <c:val>
            <c:numRef>
              <c:f>Sheet1!$S$15:$S$19</c:f>
              <c:numCache>
                <c:formatCode>General</c:formatCode>
                <c:ptCount val="5"/>
                <c:pt idx="0">
                  <c:v>5.9396493799999996</c:v>
                </c:pt>
                <c:pt idx="1">
                  <c:v>8.4828016799999997</c:v>
                </c:pt>
                <c:pt idx="2">
                  <c:v>11.66284158</c:v>
                </c:pt>
                <c:pt idx="3">
                  <c:v>13.32647641</c:v>
                </c:pt>
                <c:pt idx="4">
                  <c:v>15.57464581</c:v>
                </c:pt>
              </c:numCache>
            </c:numRef>
          </c:val>
          <c:extLst>
            <c:ext xmlns:c16="http://schemas.microsoft.com/office/drawing/2014/chart" uri="{C3380CC4-5D6E-409C-BE32-E72D297353CC}">
              <c16:uniqueId val="{00000001-9471-46CD-993F-6228A0711E09}"/>
            </c:ext>
          </c:extLst>
        </c:ser>
        <c:ser>
          <c:idx val="2"/>
          <c:order val="2"/>
          <c:tx>
            <c:strRef>
              <c:f>Sheet1!$T$14</c:f>
              <c:strCache>
                <c:ptCount val="1"/>
                <c:pt idx="0">
                  <c:v>CAM</c:v>
                </c:pt>
              </c:strCache>
            </c:strRef>
          </c:tx>
          <c:spPr>
            <a:solidFill>
              <a:schemeClr val="accent3"/>
            </a:solidFill>
            <a:ln>
              <a:noFill/>
            </a:ln>
            <a:effectLst/>
          </c:spPr>
          <c:invertIfNegative val="0"/>
          <c:dLbls>
            <c:delete val="1"/>
          </c:dLbls>
          <c:cat>
            <c:numRef>
              <c:f>Sheet1!$Q$15:$Q$19</c:f>
              <c:numCache>
                <c:formatCode>General</c:formatCode>
                <c:ptCount val="5"/>
                <c:pt idx="0">
                  <c:v>2020</c:v>
                </c:pt>
                <c:pt idx="1">
                  <c:v>2021</c:v>
                </c:pt>
                <c:pt idx="2">
                  <c:v>2022</c:v>
                </c:pt>
                <c:pt idx="3">
                  <c:v>2023</c:v>
                </c:pt>
                <c:pt idx="4">
                  <c:v>2024</c:v>
                </c:pt>
              </c:numCache>
            </c:numRef>
          </c:cat>
          <c:val>
            <c:numRef>
              <c:f>Sheet1!$T$15:$T$19</c:f>
              <c:numCache>
                <c:formatCode>General</c:formatCode>
                <c:ptCount val="5"/>
                <c:pt idx="0">
                  <c:v>1.5722601299999999</c:v>
                </c:pt>
                <c:pt idx="1">
                  <c:v>2.5919671800000001</c:v>
                </c:pt>
                <c:pt idx="2">
                  <c:v>2.39237776</c:v>
                </c:pt>
                <c:pt idx="3">
                  <c:v>2.6002880800000003</c:v>
                </c:pt>
                <c:pt idx="4">
                  <c:v>3.0389552800000001</c:v>
                </c:pt>
              </c:numCache>
            </c:numRef>
          </c:val>
          <c:extLst>
            <c:ext xmlns:c16="http://schemas.microsoft.com/office/drawing/2014/chart" uri="{C3380CC4-5D6E-409C-BE32-E72D297353CC}">
              <c16:uniqueId val="{00000002-9471-46CD-993F-6228A0711E09}"/>
            </c:ext>
          </c:extLst>
        </c:ser>
        <c:ser>
          <c:idx val="3"/>
          <c:order val="3"/>
          <c:tx>
            <c:strRef>
              <c:f>Sheet1!$U$14</c:f>
              <c:strCache>
                <c:ptCount val="1"/>
                <c:pt idx="0">
                  <c:v>P&amp;V</c:v>
                </c:pt>
              </c:strCache>
            </c:strRef>
          </c:tx>
          <c:spPr>
            <a:solidFill>
              <a:schemeClr val="accent4"/>
            </a:solidFill>
            <a:ln>
              <a:noFill/>
            </a:ln>
            <a:effectLst/>
          </c:spPr>
          <c:invertIfNegative val="0"/>
          <c:dLbls>
            <c:delete val="1"/>
          </c:dLbls>
          <c:cat>
            <c:numRef>
              <c:f>Sheet1!$Q$15:$Q$19</c:f>
              <c:numCache>
                <c:formatCode>General</c:formatCode>
                <c:ptCount val="5"/>
                <c:pt idx="0">
                  <c:v>2020</c:v>
                </c:pt>
                <c:pt idx="1">
                  <c:v>2021</c:v>
                </c:pt>
                <c:pt idx="2">
                  <c:v>2022</c:v>
                </c:pt>
                <c:pt idx="3">
                  <c:v>2023</c:v>
                </c:pt>
                <c:pt idx="4">
                  <c:v>2024</c:v>
                </c:pt>
              </c:numCache>
            </c:numRef>
          </c:cat>
          <c:val>
            <c:numRef>
              <c:f>Sheet1!$U$15:$U$19</c:f>
              <c:numCache>
                <c:formatCode>General</c:formatCode>
                <c:ptCount val="5"/>
                <c:pt idx="0">
                  <c:v>0.69878227999999998</c:v>
                </c:pt>
                <c:pt idx="1">
                  <c:v>1.1781669000000001</c:v>
                </c:pt>
                <c:pt idx="2">
                  <c:v>1.4952361000000001</c:v>
                </c:pt>
                <c:pt idx="3">
                  <c:v>1.3001440400000002</c:v>
                </c:pt>
                <c:pt idx="4">
                  <c:v>1.5194776400000001</c:v>
                </c:pt>
              </c:numCache>
            </c:numRef>
          </c:val>
          <c:extLst>
            <c:ext xmlns:c16="http://schemas.microsoft.com/office/drawing/2014/chart" uri="{C3380CC4-5D6E-409C-BE32-E72D297353CC}">
              <c16:uniqueId val="{00000003-9471-46CD-993F-6228A0711E09}"/>
            </c:ext>
          </c:extLst>
        </c:ser>
        <c:ser>
          <c:idx val="4"/>
          <c:order val="4"/>
          <c:tx>
            <c:strRef>
              <c:f>Sheet1!$V$14</c:f>
              <c:strCache>
                <c:ptCount val="1"/>
                <c:pt idx="0">
                  <c:v>Total</c:v>
                </c:pt>
              </c:strCache>
            </c:strRef>
          </c:tx>
          <c:spPr>
            <a:solidFill>
              <a:schemeClr val="bg1"/>
            </a:solidFill>
            <a:ln>
              <a:noFill/>
            </a:ln>
            <a:effectLst/>
          </c:spPr>
          <c:invertIfNegative val="0"/>
          <c:dLbls>
            <c:dLbl>
              <c:idx val="0"/>
              <c:dLblPos val="inBase"/>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9471-46CD-993F-6228A0711E09}"/>
                </c:ext>
              </c:extLst>
            </c:dLbl>
            <c:dLbl>
              <c:idx val="1"/>
              <c:dLblPos val="inBase"/>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9471-46CD-993F-6228A0711E09}"/>
                </c:ext>
              </c:extLst>
            </c:dLbl>
            <c:dLbl>
              <c:idx val="2"/>
              <c:dLblPos val="inBase"/>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9471-46CD-993F-6228A0711E09}"/>
                </c:ext>
              </c:extLst>
            </c:dLbl>
            <c:dLbl>
              <c:idx val="3"/>
              <c:dLblPos val="inBase"/>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9471-46CD-993F-6228A0711E09}"/>
                </c:ext>
              </c:extLst>
            </c:dLbl>
            <c:dLbl>
              <c:idx val="4"/>
              <c:numFmt formatCode="#,##0.00" sourceLinked="0"/>
              <c:spPr>
                <a:noFill/>
                <a:ln>
                  <a:noFill/>
                </a:ln>
                <a:effectLst/>
              </c:spPr>
              <c:txPr>
                <a:bodyPr rot="0" spcFirstLastPara="1" vertOverflow="ellipsis" horzOverflow="clip" vert="horz" wrap="square" lIns="39600" tIns="19050" rIns="38100" bIns="19050" anchor="ctr" anchorCtr="1">
                  <a:spAutoFit/>
                </a:bodyPr>
                <a:lstStyle/>
                <a:p>
                  <a:pPr>
                    <a:defRPr sz="600" b="0"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8-9471-46CD-993F-6228A0711E09}"/>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Sheet1!$Q$15:$Q$19</c:f>
              <c:numCache>
                <c:formatCode>General</c:formatCode>
                <c:ptCount val="5"/>
                <c:pt idx="0">
                  <c:v>2020</c:v>
                </c:pt>
                <c:pt idx="1">
                  <c:v>2021</c:v>
                </c:pt>
                <c:pt idx="2">
                  <c:v>2022</c:v>
                </c:pt>
                <c:pt idx="3">
                  <c:v>2023</c:v>
                </c:pt>
                <c:pt idx="4">
                  <c:v>2024</c:v>
                </c:pt>
              </c:numCache>
            </c:numRef>
          </c:cat>
          <c:val>
            <c:numRef>
              <c:f>Sheet1!$V$15:$V$19</c:f>
              <c:numCache>
                <c:formatCode>General</c:formatCode>
                <c:ptCount val="5"/>
                <c:pt idx="0">
                  <c:v>17.469556999999998</c:v>
                </c:pt>
                <c:pt idx="1">
                  <c:v>23.563338000000002</c:v>
                </c:pt>
                <c:pt idx="2">
                  <c:v>29.904722</c:v>
                </c:pt>
                <c:pt idx="3">
                  <c:v>32.503601000000003</c:v>
                </c:pt>
                <c:pt idx="4">
                  <c:v>37.986941000000002</c:v>
                </c:pt>
              </c:numCache>
            </c:numRef>
          </c:val>
          <c:extLst>
            <c:ext xmlns:c16="http://schemas.microsoft.com/office/drawing/2014/chart" uri="{C3380CC4-5D6E-409C-BE32-E72D297353CC}">
              <c16:uniqueId val="{00000009-9471-46CD-993F-6228A0711E09}"/>
            </c:ext>
          </c:extLst>
        </c:ser>
        <c:dLbls>
          <c:dLblPos val="ctr"/>
          <c:showLegendKey val="0"/>
          <c:showVal val="1"/>
          <c:showCatName val="0"/>
          <c:showSerName val="0"/>
          <c:showPercent val="0"/>
          <c:showBubbleSize val="0"/>
        </c:dLbls>
        <c:gapWidth val="150"/>
        <c:overlap val="100"/>
        <c:axId val="1962877472"/>
        <c:axId val="1962883232"/>
      </c:barChart>
      <c:catAx>
        <c:axId val="196287747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en-US"/>
          </a:p>
        </c:txPr>
        <c:crossAx val="1962883232"/>
        <c:crosses val="autoZero"/>
        <c:auto val="1"/>
        <c:lblAlgn val="ctr"/>
        <c:lblOffset val="100"/>
        <c:noMultiLvlLbl val="0"/>
      </c:catAx>
      <c:valAx>
        <c:axId val="1962883232"/>
        <c:scaling>
          <c:orientation val="minMax"/>
          <c:max val="4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en-US"/>
          </a:p>
        </c:txPr>
        <c:crossAx val="1962877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6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rgbClr val="002060"/>
              </a:solidFill>
              <a:round/>
            </a:ln>
            <a:effectLst/>
          </c:spPr>
          <c:marker>
            <c:symbol val="none"/>
          </c:marker>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272-426D-A673-E29BEC62BF94}"/>
                </c:ext>
              </c:extLst>
            </c:dLbl>
            <c:dLbl>
              <c:idx val="2"/>
              <c:tx>
                <c:rich>
                  <a:bodyPr/>
                  <a:lstStyle/>
                  <a:p>
                    <a:r>
                      <a:rPr lang="en-US"/>
                      <a:t>CAGR: 3,32%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272-426D-A673-E29BEC62BF94}"/>
                </c:ext>
              </c:extLst>
            </c:dLbl>
            <c:dLbl>
              <c:idx val="4"/>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272-426D-A673-E29BEC62BF94}"/>
                </c:ext>
              </c:extLst>
            </c:dLbl>
            <c:spPr>
              <a:solidFill>
                <a:srgbClr val="002060"/>
              </a:solid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Planilha4!$C$1:$G$1</c:f>
              <c:numCache>
                <c:formatCode>General</c:formatCode>
                <c:ptCount val="5"/>
                <c:pt idx="0">
                  <c:v>2025</c:v>
                </c:pt>
                <c:pt idx="1">
                  <c:v>2026</c:v>
                </c:pt>
                <c:pt idx="2">
                  <c:v>2027</c:v>
                </c:pt>
                <c:pt idx="3">
                  <c:v>2028</c:v>
                </c:pt>
                <c:pt idx="4">
                  <c:v>2029</c:v>
                </c:pt>
              </c:numCache>
            </c:numRef>
          </c:cat>
          <c:val>
            <c:numRef>
              <c:f>Planilha4!$C$2:$G$2</c:f>
              <c:numCache>
                <c:formatCode>General</c:formatCode>
                <c:ptCount val="5"/>
                <c:pt idx="0">
                  <c:v>161.78</c:v>
                </c:pt>
                <c:pt idx="1">
                  <c:v>171.98</c:v>
                </c:pt>
                <c:pt idx="2">
                  <c:v>182.81</c:v>
                </c:pt>
                <c:pt idx="3">
                  <c:v>194.33</c:v>
                </c:pt>
                <c:pt idx="4">
                  <c:v>206.4</c:v>
                </c:pt>
              </c:numCache>
            </c:numRef>
          </c:val>
          <c:smooth val="1"/>
          <c:extLst>
            <c:ext xmlns:c16="http://schemas.microsoft.com/office/drawing/2014/chart" uri="{C3380CC4-5D6E-409C-BE32-E72D297353CC}">
              <c16:uniqueId val="{00000003-F272-426D-A673-E29BEC62BF94}"/>
            </c:ext>
          </c:extLst>
        </c:ser>
        <c:dLbls>
          <c:showLegendKey val="0"/>
          <c:showVal val="0"/>
          <c:showCatName val="0"/>
          <c:showSerName val="0"/>
          <c:showPercent val="0"/>
          <c:showBubbleSize val="0"/>
        </c:dLbls>
        <c:smooth val="0"/>
        <c:axId val="931851264"/>
        <c:axId val="931849824"/>
      </c:lineChart>
      <c:catAx>
        <c:axId val="931851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931849824"/>
        <c:crosses val="autoZero"/>
        <c:auto val="1"/>
        <c:lblAlgn val="ctr"/>
        <c:lblOffset val="100"/>
        <c:noMultiLvlLbl val="0"/>
      </c:catAx>
      <c:valAx>
        <c:axId val="931849824"/>
        <c:scaling>
          <c:orientation val="minMax"/>
        </c:scaling>
        <c:delete val="1"/>
        <c:axPos val="l"/>
        <c:numFmt formatCode="General" sourceLinked="1"/>
        <c:majorTickMark val="none"/>
        <c:minorTickMark val="none"/>
        <c:tickLblPos val="nextTo"/>
        <c:crossAx val="931851264"/>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sz="6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2">
                  <a:lumMod val="60000"/>
                  <a:lumOff val="40000"/>
                </a:schemeClr>
              </a:solidFill>
              <a:ln>
                <a:solidFill>
                  <a:schemeClr val="accent2">
                    <a:lumMod val="60000"/>
                    <a:lumOff val="40000"/>
                  </a:schemeClr>
                </a:solidFill>
              </a:ln>
              <a:effectLst/>
            </c:spPr>
            <c:extLst>
              <c:ext xmlns:c16="http://schemas.microsoft.com/office/drawing/2014/chart" uri="{C3380CC4-5D6E-409C-BE32-E72D297353CC}">
                <c16:uniqueId val="{00000001-8348-4B6F-ADC9-5500DF7EDD01}"/>
              </c:ext>
            </c:extLst>
          </c:dPt>
          <c:dPt>
            <c:idx val="1"/>
            <c:bubble3D val="0"/>
            <c:spPr>
              <a:solidFill>
                <a:schemeClr val="tx2">
                  <a:lumMod val="40000"/>
                  <a:lumOff val="60000"/>
                </a:schemeClr>
              </a:solidFill>
              <a:ln>
                <a:solidFill>
                  <a:schemeClr val="tx2">
                    <a:lumMod val="40000"/>
                    <a:lumOff val="60000"/>
                  </a:schemeClr>
                </a:solidFill>
              </a:ln>
              <a:effectLst/>
            </c:spPr>
            <c:extLst>
              <c:ext xmlns:c16="http://schemas.microsoft.com/office/drawing/2014/chart" uri="{C3380CC4-5D6E-409C-BE32-E72D297353CC}">
                <c16:uniqueId val="{00000003-8348-4B6F-ADC9-5500DF7EDD01}"/>
              </c:ext>
            </c:extLst>
          </c:dPt>
          <c:dPt>
            <c:idx val="2"/>
            <c:bubble3D val="0"/>
            <c:spPr>
              <a:solidFill>
                <a:srgbClr val="0D366C"/>
              </a:solidFill>
              <a:ln>
                <a:solidFill>
                  <a:srgbClr val="0D366C"/>
                </a:solidFill>
              </a:ln>
              <a:effectLst/>
            </c:spPr>
            <c:extLst>
              <c:ext xmlns:c16="http://schemas.microsoft.com/office/drawing/2014/chart" uri="{C3380CC4-5D6E-409C-BE32-E72D297353CC}">
                <c16:uniqueId val="{00000005-8348-4B6F-ADC9-5500DF7EDD01}"/>
              </c:ext>
            </c:extLst>
          </c:dPt>
          <c:dPt>
            <c:idx val="3"/>
            <c:bubble3D val="0"/>
            <c:spPr>
              <a:solidFill>
                <a:srgbClr val="009EE3"/>
              </a:solidFill>
              <a:ln>
                <a:solidFill>
                  <a:srgbClr val="009EE3"/>
                </a:solidFill>
              </a:ln>
              <a:effectLst/>
            </c:spPr>
            <c:extLst>
              <c:ext xmlns:c16="http://schemas.microsoft.com/office/drawing/2014/chart" uri="{C3380CC4-5D6E-409C-BE32-E72D297353CC}">
                <c16:uniqueId val="{00000007-8348-4B6F-ADC9-5500DF7EDD01}"/>
              </c:ext>
            </c:extLst>
          </c:dPt>
          <c:dLbls>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Planilha2!$A$67:$A$70</c:f>
              <c:strCache>
                <c:ptCount val="4"/>
                <c:pt idx="0">
                  <c:v>Others companies</c:v>
                </c:pt>
                <c:pt idx="1">
                  <c:v>SIEMENS</c:v>
                </c:pt>
                <c:pt idx="2">
                  <c:v>GE</c:v>
                </c:pt>
                <c:pt idx="3">
                  <c:v>WEG</c:v>
                </c:pt>
              </c:strCache>
            </c:strRef>
          </c:cat>
          <c:val>
            <c:numRef>
              <c:f>Planilha2!$B$67:$B$70</c:f>
              <c:numCache>
                <c:formatCode>0%</c:formatCode>
                <c:ptCount val="4"/>
                <c:pt idx="0">
                  <c:v>0.62</c:v>
                </c:pt>
                <c:pt idx="1">
                  <c:v>0.2</c:v>
                </c:pt>
                <c:pt idx="2">
                  <c:v>0.15</c:v>
                </c:pt>
                <c:pt idx="3">
                  <c:v>0.03</c:v>
                </c:pt>
              </c:numCache>
            </c:numRef>
          </c:val>
          <c:extLst>
            <c:ext xmlns:c16="http://schemas.microsoft.com/office/drawing/2014/chart" uri="{C3380CC4-5D6E-409C-BE32-E72D297353CC}">
              <c16:uniqueId val="{00000008-8348-4B6F-ADC9-5500DF7EDD01}"/>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legend>
    <c:plotVisOnly val="1"/>
    <c:dispBlanksAs val="gap"/>
    <c:showDLblsOverMax val="0"/>
  </c:chart>
  <c:spPr>
    <a:noFill/>
    <a:ln w="9525" cap="flat" cmpd="sng" algn="ctr">
      <a:noFill/>
      <a:round/>
    </a:ln>
    <a:effectLst/>
  </c:spPr>
  <c:txPr>
    <a:bodyPr/>
    <a:lstStyle/>
    <a:p>
      <a:pPr>
        <a:defRPr sz="600" b="1">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barChart>
        <c:barDir val="col"/>
        <c:grouping val="clustered"/>
        <c:varyColors val="0"/>
        <c:ser>
          <c:idx val="2"/>
          <c:order val="2"/>
          <c:tx>
            <c:strRef>
              <c:f>Planilha2!$A$38</c:f>
              <c:strCache>
                <c:ptCount val="1"/>
                <c:pt idx="0">
                  <c:v>COPPER (USD/LBS)</c:v>
                </c:pt>
              </c:strCache>
            </c:strRef>
          </c:tx>
          <c:spPr>
            <a:solidFill>
              <a:schemeClr val="bg1">
                <a:lumMod val="65000"/>
              </a:schemeClr>
            </a:solidFill>
            <a:ln>
              <a:noFill/>
            </a:ln>
            <a:effectLst/>
          </c:spPr>
          <c:invertIfNegative val="0"/>
          <c:cat>
            <c:numRef>
              <c:f>Planilha2!$B$35:$H$35</c:f>
              <c:numCache>
                <c:formatCode>General</c:formatCode>
                <c:ptCount val="7"/>
                <c:pt idx="0">
                  <c:v>2018</c:v>
                </c:pt>
                <c:pt idx="1">
                  <c:v>2019</c:v>
                </c:pt>
                <c:pt idx="2">
                  <c:v>2020</c:v>
                </c:pt>
                <c:pt idx="3">
                  <c:v>2021</c:v>
                </c:pt>
                <c:pt idx="4">
                  <c:v>2022</c:v>
                </c:pt>
                <c:pt idx="5">
                  <c:v>2023</c:v>
                </c:pt>
                <c:pt idx="6">
                  <c:v>2024</c:v>
                </c:pt>
              </c:numCache>
            </c:numRef>
          </c:cat>
          <c:val>
            <c:numRef>
              <c:f>Planilha2!$B$38:$H$38</c:f>
              <c:numCache>
                <c:formatCode>General</c:formatCode>
                <c:ptCount val="7"/>
                <c:pt idx="0">
                  <c:v>2.9333</c:v>
                </c:pt>
                <c:pt idx="1">
                  <c:v>2.7218</c:v>
                </c:pt>
                <c:pt idx="2">
                  <c:v>2.8012999999999999</c:v>
                </c:pt>
                <c:pt idx="3">
                  <c:v>4.2445000000000004</c:v>
                </c:pt>
                <c:pt idx="4">
                  <c:v>3.9969000000000001</c:v>
                </c:pt>
                <c:pt idx="5">
                  <c:v>3.8662000000000001</c:v>
                </c:pt>
                <c:pt idx="6">
                  <c:v>4.2316000000000003</c:v>
                </c:pt>
              </c:numCache>
            </c:numRef>
          </c:val>
          <c:extLst>
            <c:ext xmlns:c16="http://schemas.microsoft.com/office/drawing/2014/chart" uri="{C3380CC4-5D6E-409C-BE32-E72D297353CC}">
              <c16:uniqueId val="{00000000-00B9-4C0B-A099-C0CDF34D1EB9}"/>
            </c:ext>
          </c:extLst>
        </c:ser>
        <c:dLbls>
          <c:showLegendKey val="0"/>
          <c:showVal val="0"/>
          <c:showCatName val="0"/>
          <c:showSerName val="0"/>
          <c:showPercent val="0"/>
          <c:showBubbleSize val="0"/>
        </c:dLbls>
        <c:gapWidth val="150"/>
        <c:axId val="358800623"/>
        <c:axId val="381128527"/>
      </c:barChart>
      <c:lineChart>
        <c:grouping val="standard"/>
        <c:varyColors val="0"/>
        <c:ser>
          <c:idx val="0"/>
          <c:order val="0"/>
          <c:tx>
            <c:strRef>
              <c:f>Planilha2!$A$36</c:f>
              <c:strCache>
                <c:ptCount val="1"/>
                <c:pt idx="0">
                  <c:v>AVAREGE OF SECTOR</c:v>
                </c:pt>
              </c:strCache>
            </c:strRef>
          </c:tx>
          <c:spPr>
            <a:ln w="28575" cap="rnd">
              <a:solidFill>
                <a:srgbClr val="082850"/>
              </a:solidFill>
              <a:round/>
            </a:ln>
            <a:effectLst/>
          </c:spPr>
          <c:marker>
            <c:symbol val="none"/>
          </c:marker>
          <c:cat>
            <c:numRef>
              <c:f>Planilha2!$B$35:$H$35</c:f>
              <c:numCache>
                <c:formatCode>General</c:formatCode>
                <c:ptCount val="7"/>
                <c:pt idx="0">
                  <c:v>2018</c:v>
                </c:pt>
                <c:pt idx="1">
                  <c:v>2019</c:v>
                </c:pt>
                <c:pt idx="2">
                  <c:v>2020</c:v>
                </c:pt>
                <c:pt idx="3">
                  <c:v>2021</c:v>
                </c:pt>
                <c:pt idx="4">
                  <c:v>2022</c:v>
                </c:pt>
                <c:pt idx="5">
                  <c:v>2023</c:v>
                </c:pt>
                <c:pt idx="6">
                  <c:v>2024</c:v>
                </c:pt>
              </c:numCache>
            </c:numRef>
          </c:cat>
          <c:val>
            <c:numRef>
              <c:f>Planilha2!$B$36:$H$36</c:f>
              <c:numCache>
                <c:formatCode>0.00%</c:formatCode>
                <c:ptCount val="7"/>
                <c:pt idx="0">
                  <c:v>0.1431</c:v>
                </c:pt>
                <c:pt idx="1">
                  <c:v>0.14610000000000001</c:v>
                </c:pt>
                <c:pt idx="2">
                  <c:v>0.14649999999999999</c:v>
                </c:pt>
                <c:pt idx="3">
                  <c:v>0.18759999999999999</c:v>
                </c:pt>
                <c:pt idx="4">
                  <c:v>0.16670000000000001</c:v>
                </c:pt>
                <c:pt idx="5">
                  <c:v>0.17550000000000002</c:v>
                </c:pt>
                <c:pt idx="6">
                  <c:v>0.17319999999999999</c:v>
                </c:pt>
              </c:numCache>
            </c:numRef>
          </c:val>
          <c:smooth val="1"/>
          <c:extLst>
            <c:ext xmlns:c16="http://schemas.microsoft.com/office/drawing/2014/chart" uri="{C3380CC4-5D6E-409C-BE32-E72D297353CC}">
              <c16:uniqueId val="{00000001-00B9-4C0B-A099-C0CDF34D1EB9}"/>
            </c:ext>
          </c:extLst>
        </c:ser>
        <c:ser>
          <c:idx val="1"/>
          <c:order val="1"/>
          <c:tx>
            <c:strRef>
              <c:f>Planilha2!$A$37</c:f>
              <c:strCache>
                <c:ptCount val="1"/>
                <c:pt idx="0">
                  <c:v>WEG</c:v>
                </c:pt>
              </c:strCache>
            </c:strRef>
          </c:tx>
          <c:spPr>
            <a:ln w="28575" cap="rnd">
              <a:solidFill>
                <a:srgbClr val="009EE3"/>
              </a:solidFill>
              <a:round/>
            </a:ln>
            <a:effectLst/>
          </c:spPr>
          <c:marker>
            <c:symbol val="none"/>
          </c:marker>
          <c:cat>
            <c:numRef>
              <c:f>Planilha2!$B$35:$H$35</c:f>
              <c:numCache>
                <c:formatCode>General</c:formatCode>
                <c:ptCount val="7"/>
                <c:pt idx="0">
                  <c:v>2018</c:v>
                </c:pt>
                <c:pt idx="1">
                  <c:v>2019</c:v>
                </c:pt>
                <c:pt idx="2">
                  <c:v>2020</c:v>
                </c:pt>
                <c:pt idx="3">
                  <c:v>2021</c:v>
                </c:pt>
                <c:pt idx="4">
                  <c:v>2022</c:v>
                </c:pt>
                <c:pt idx="5">
                  <c:v>2023</c:v>
                </c:pt>
                <c:pt idx="6">
                  <c:v>2024</c:v>
                </c:pt>
              </c:numCache>
            </c:numRef>
          </c:cat>
          <c:val>
            <c:numRef>
              <c:f>Planilha2!$B$37:$H$37</c:f>
              <c:numCache>
                <c:formatCode>0.00%</c:formatCode>
                <c:ptCount val="7"/>
                <c:pt idx="0">
                  <c:v>0.152</c:v>
                </c:pt>
                <c:pt idx="1">
                  <c:v>0.16800000000000001</c:v>
                </c:pt>
                <c:pt idx="2">
                  <c:v>0.187</c:v>
                </c:pt>
                <c:pt idx="3">
                  <c:v>0.19900000000000001</c:v>
                </c:pt>
                <c:pt idx="4">
                  <c:v>0.188</c:v>
                </c:pt>
                <c:pt idx="5">
                  <c:v>0.218</c:v>
                </c:pt>
                <c:pt idx="6">
                  <c:v>0.224</c:v>
                </c:pt>
              </c:numCache>
            </c:numRef>
          </c:val>
          <c:smooth val="1"/>
          <c:extLst>
            <c:ext xmlns:c16="http://schemas.microsoft.com/office/drawing/2014/chart" uri="{C3380CC4-5D6E-409C-BE32-E72D297353CC}">
              <c16:uniqueId val="{00000002-00B9-4C0B-A099-C0CDF34D1EB9}"/>
            </c:ext>
          </c:extLst>
        </c:ser>
        <c:dLbls>
          <c:showLegendKey val="0"/>
          <c:showVal val="0"/>
          <c:showCatName val="0"/>
          <c:showSerName val="0"/>
          <c:showPercent val="0"/>
          <c:showBubbleSize val="0"/>
        </c:dLbls>
        <c:marker val="1"/>
        <c:smooth val="0"/>
        <c:axId val="562507215"/>
        <c:axId val="562506735"/>
      </c:lineChart>
      <c:catAx>
        <c:axId val="5625072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562506735"/>
        <c:crosses val="autoZero"/>
        <c:auto val="1"/>
        <c:lblAlgn val="ctr"/>
        <c:lblOffset val="100"/>
        <c:noMultiLvlLbl val="0"/>
      </c:catAx>
      <c:valAx>
        <c:axId val="562506735"/>
        <c:scaling>
          <c:orientation val="minMax"/>
        </c:scaling>
        <c:delete val="0"/>
        <c:axPos val="l"/>
        <c:majorGridlines>
          <c:spPr>
            <a:ln w="9525" cap="flat" cmpd="sng" algn="ctr">
              <a:no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562507215"/>
        <c:crosses val="autoZero"/>
        <c:crossBetween val="between"/>
      </c:valAx>
      <c:valAx>
        <c:axId val="381128527"/>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358800623"/>
        <c:crosses val="max"/>
        <c:crossBetween val="between"/>
      </c:valAx>
      <c:catAx>
        <c:axId val="358800623"/>
        <c:scaling>
          <c:orientation val="minMax"/>
        </c:scaling>
        <c:delete val="1"/>
        <c:axPos val="b"/>
        <c:numFmt formatCode="General" sourceLinked="1"/>
        <c:majorTickMark val="out"/>
        <c:minorTickMark val="none"/>
        <c:tickLblPos val="nextTo"/>
        <c:crossAx val="38112852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legend>
    <c:plotVisOnly val="1"/>
    <c:dispBlanksAs val="gap"/>
    <c:showDLblsOverMax val="0"/>
  </c:chart>
  <c:spPr>
    <a:noFill/>
    <a:ln w="9525" cap="flat" cmpd="sng" algn="ctr">
      <a:noFill/>
      <a:round/>
    </a:ln>
    <a:effectLst/>
  </c:spPr>
  <c:txPr>
    <a:bodyPr/>
    <a:lstStyle/>
    <a:p>
      <a:pPr>
        <a:defRPr sz="6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stacked"/>
        <c:varyColors val="0"/>
        <c:ser>
          <c:idx val="0"/>
          <c:order val="0"/>
          <c:tx>
            <c:strRef>
              <c:f>Planilha1!$C$2</c:f>
              <c:strCache>
                <c:ptCount val="1"/>
                <c:pt idx="0">
                  <c:v>WEG</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lt1"/>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Planilha1!$B$3:$B$5</c:f>
              <c:numCache>
                <c:formatCode>General</c:formatCode>
                <c:ptCount val="3"/>
                <c:pt idx="0">
                  <c:v>2020</c:v>
                </c:pt>
                <c:pt idx="1">
                  <c:v>2021</c:v>
                </c:pt>
                <c:pt idx="2">
                  <c:v>2022</c:v>
                </c:pt>
              </c:numCache>
            </c:numRef>
          </c:cat>
          <c:val>
            <c:numRef>
              <c:f>Planilha1!$C$3:$C$5</c:f>
              <c:numCache>
                <c:formatCode>0.00%</c:formatCode>
                <c:ptCount val="3"/>
                <c:pt idx="0">
                  <c:v>7.1999999999999995E-2</c:v>
                </c:pt>
                <c:pt idx="1">
                  <c:v>9.5000000000000001E-2</c:v>
                </c:pt>
                <c:pt idx="2" formatCode="0%">
                  <c:v>0.115</c:v>
                </c:pt>
              </c:numCache>
            </c:numRef>
          </c:val>
          <c:extLst>
            <c:ext xmlns:c16="http://schemas.microsoft.com/office/drawing/2014/chart" uri="{C3380CC4-5D6E-409C-BE32-E72D297353CC}">
              <c16:uniqueId val="{00000000-B9D8-164A-A628-C16A58022662}"/>
            </c:ext>
          </c:extLst>
        </c:ser>
        <c:ser>
          <c:idx val="1"/>
          <c:order val="1"/>
          <c:tx>
            <c:strRef>
              <c:f>Planilha1!$D$2</c:f>
              <c:strCache>
                <c:ptCount val="1"/>
                <c:pt idx="0">
                  <c:v>Marathon</c:v>
                </c:pt>
              </c:strCache>
            </c:strRef>
          </c:tx>
          <c:spPr>
            <a:solidFill>
              <a:schemeClr val="accent1">
                <a:tint val="77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B9D8-164A-A628-C16A58022662}"/>
                </c:ext>
              </c:extLst>
            </c:dLbl>
            <c:dLbl>
              <c:idx val="1"/>
              <c:delete val="1"/>
              <c:extLst>
                <c:ext xmlns:c15="http://schemas.microsoft.com/office/drawing/2012/chart" uri="{CE6537A1-D6FC-4f65-9D91-7224C49458BB}"/>
                <c:ext xmlns:c16="http://schemas.microsoft.com/office/drawing/2014/chart" uri="{C3380CC4-5D6E-409C-BE32-E72D297353CC}">
                  <c16:uniqueId val="{00000002-B9D8-164A-A628-C16A58022662}"/>
                </c:ext>
              </c:extLst>
            </c:dLbl>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lt1"/>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Planilha1!$B$3:$B$5</c:f>
              <c:numCache>
                <c:formatCode>General</c:formatCode>
                <c:ptCount val="3"/>
                <c:pt idx="0">
                  <c:v>2020</c:v>
                </c:pt>
                <c:pt idx="1">
                  <c:v>2021</c:v>
                </c:pt>
                <c:pt idx="2">
                  <c:v>2022</c:v>
                </c:pt>
              </c:numCache>
            </c:numRef>
          </c:cat>
          <c:val>
            <c:numRef>
              <c:f>Planilha1!$D$3:$D$5</c:f>
              <c:numCache>
                <c:formatCode>General</c:formatCode>
                <c:ptCount val="3"/>
                <c:pt idx="0">
                  <c:v>0</c:v>
                </c:pt>
                <c:pt idx="1">
                  <c:v>0</c:v>
                </c:pt>
                <c:pt idx="2" formatCode="0.00%">
                  <c:v>3.5000000000000003E-2</c:v>
                </c:pt>
              </c:numCache>
            </c:numRef>
          </c:val>
          <c:extLst>
            <c:ext xmlns:c16="http://schemas.microsoft.com/office/drawing/2014/chart" uri="{C3380CC4-5D6E-409C-BE32-E72D297353CC}">
              <c16:uniqueId val="{00000003-B9D8-164A-A628-C16A58022662}"/>
            </c:ext>
          </c:extLst>
        </c:ser>
        <c:dLbls>
          <c:dLblPos val="ctr"/>
          <c:showLegendKey val="0"/>
          <c:showVal val="1"/>
          <c:showCatName val="0"/>
          <c:showSerName val="0"/>
          <c:showPercent val="0"/>
          <c:showBubbleSize val="0"/>
        </c:dLbls>
        <c:gapWidth val="79"/>
        <c:overlap val="100"/>
        <c:axId val="611253792"/>
        <c:axId val="1078346384"/>
      </c:barChart>
      <c:catAx>
        <c:axId val="611253792"/>
        <c:scaling>
          <c:orientation val="minMax"/>
        </c:scaling>
        <c:delete val="0"/>
        <c:axPos val="b"/>
        <c:majorGridlines>
          <c:spPr>
            <a:ln w="9525" cap="flat" cmpd="sng" algn="ctr">
              <a:solidFill>
                <a:schemeClr val="accent1">
                  <a:alpha val="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cap="all" spc="120" normalizeH="0" baseline="0">
                <a:solidFill>
                  <a:schemeClr val="tx1">
                    <a:lumMod val="65000"/>
                    <a:lumOff val="35000"/>
                  </a:schemeClr>
                </a:solidFill>
                <a:latin typeface="+mn-lt"/>
                <a:ea typeface="+mn-ea"/>
                <a:cs typeface="+mn-cs"/>
              </a:defRPr>
            </a:pPr>
            <a:endParaRPr lang="pt-BR"/>
          </a:p>
        </c:txPr>
        <c:crossAx val="1078346384"/>
        <c:crosses val="autoZero"/>
        <c:auto val="1"/>
        <c:lblAlgn val="ctr"/>
        <c:lblOffset val="100"/>
        <c:noMultiLvlLbl val="0"/>
      </c:catAx>
      <c:valAx>
        <c:axId val="1078346384"/>
        <c:scaling>
          <c:orientation val="minMax"/>
        </c:scaling>
        <c:delete val="1"/>
        <c:axPos val="l"/>
        <c:numFmt formatCode="0.00%" sourceLinked="1"/>
        <c:majorTickMark val="none"/>
        <c:minorTickMark val="none"/>
        <c:tickLblPos val="nextTo"/>
        <c:crossAx val="611253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Planilha9!$A$2</c:f>
              <c:strCache>
                <c:ptCount val="1"/>
                <c:pt idx="0">
                  <c:v>Onshore Wind Power Installions</c:v>
                </c:pt>
              </c:strCache>
            </c:strRef>
          </c:tx>
          <c:spPr>
            <a:solidFill>
              <a:srgbClr val="002060"/>
            </a:solidFill>
            <a:ln>
              <a:solidFill>
                <a:srgbClr val="002060"/>
              </a:solidFill>
            </a:ln>
            <a:effectLst/>
          </c:spPr>
          <c:invertIfNegative val="0"/>
          <c:dLbls>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Planilha9!$B$1:$H$1</c:f>
              <c:strCache>
                <c:ptCount val="7"/>
                <c:pt idx="0">
                  <c:v>2023</c:v>
                </c:pt>
                <c:pt idx="1">
                  <c:v>2024</c:v>
                </c:pt>
                <c:pt idx="2">
                  <c:v>2025E</c:v>
                </c:pt>
                <c:pt idx="3">
                  <c:v>2026E</c:v>
                </c:pt>
                <c:pt idx="4">
                  <c:v>2027E</c:v>
                </c:pt>
                <c:pt idx="5">
                  <c:v>2028E</c:v>
                </c:pt>
                <c:pt idx="6">
                  <c:v>2029E</c:v>
                </c:pt>
              </c:strCache>
            </c:strRef>
          </c:cat>
          <c:val>
            <c:numRef>
              <c:f>Planilha9!$B$2:$H$2</c:f>
              <c:numCache>
                <c:formatCode>General</c:formatCode>
                <c:ptCount val="7"/>
                <c:pt idx="0">
                  <c:v>7</c:v>
                </c:pt>
                <c:pt idx="1">
                  <c:v>7</c:v>
                </c:pt>
                <c:pt idx="2">
                  <c:v>9</c:v>
                </c:pt>
                <c:pt idx="3">
                  <c:v>11</c:v>
                </c:pt>
                <c:pt idx="4">
                  <c:v>14</c:v>
                </c:pt>
                <c:pt idx="5">
                  <c:v>12</c:v>
                </c:pt>
                <c:pt idx="6">
                  <c:v>13</c:v>
                </c:pt>
              </c:numCache>
            </c:numRef>
          </c:val>
          <c:extLst>
            <c:ext xmlns:c16="http://schemas.microsoft.com/office/drawing/2014/chart" uri="{C3380CC4-5D6E-409C-BE32-E72D297353CC}">
              <c16:uniqueId val="{00000000-5D42-4122-BAD5-A0DF00BCC188}"/>
            </c:ext>
          </c:extLst>
        </c:ser>
        <c:dLbls>
          <c:showLegendKey val="0"/>
          <c:showVal val="0"/>
          <c:showCatName val="0"/>
          <c:showSerName val="0"/>
          <c:showPercent val="0"/>
          <c:showBubbleSize val="0"/>
        </c:dLbls>
        <c:gapWidth val="219"/>
        <c:overlap val="-27"/>
        <c:axId val="675621775"/>
        <c:axId val="675617455"/>
      </c:barChart>
      <c:catAx>
        <c:axId val="6756217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675617455"/>
        <c:crosses val="autoZero"/>
        <c:auto val="1"/>
        <c:lblAlgn val="ctr"/>
        <c:lblOffset val="100"/>
        <c:noMultiLvlLbl val="0"/>
      </c:catAx>
      <c:valAx>
        <c:axId val="675617455"/>
        <c:scaling>
          <c:orientation val="minMax"/>
        </c:scaling>
        <c:delete val="1"/>
        <c:axPos val="l"/>
        <c:numFmt formatCode="General" sourceLinked="1"/>
        <c:majorTickMark val="none"/>
        <c:minorTickMark val="none"/>
        <c:tickLblPos val="nextTo"/>
        <c:crossAx val="675621775"/>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sz="6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Planilha8!$A$24</c:f>
              <c:strCache>
                <c:ptCount val="1"/>
                <c:pt idx="0">
                  <c:v>Fossil fues</c:v>
                </c:pt>
              </c:strCache>
            </c:strRef>
          </c:tx>
          <c:spPr>
            <a:solidFill>
              <a:srgbClr val="002060"/>
            </a:solidFill>
            <a:ln>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Planilha8!$B$23:$C$23</c:f>
              <c:strCache>
                <c:ptCount val="2"/>
                <c:pt idx="0">
                  <c:v>2030E</c:v>
                </c:pt>
                <c:pt idx="1">
                  <c:v>2021</c:v>
                </c:pt>
              </c:strCache>
            </c:strRef>
          </c:cat>
          <c:val>
            <c:numRef>
              <c:f>Planilha8!$B$24:$C$24</c:f>
              <c:numCache>
                <c:formatCode>0%</c:formatCode>
                <c:ptCount val="2"/>
                <c:pt idx="0">
                  <c:v>0.47</c:v>
                </c:pt>
                <c:pt idx="1">
                  <c:v>0.62</c:v>
                </c:pt>
              </c:numCache>
            </c:numRef>
          </c:val>
          <c:extLst>
            <c:ext xmlns:c16="http://schemas.microsoft.com/office/drawing/2014/chart" uri="{C3380CC4-5D6E-409C-BE32-E72D297353CC}">
              <c16:uniqueId val="{00000000-1674-46A3-8C72-A96EA2367C7D}"/>
            </c:ext>
          </c:extLst>
        </c:ser>
        <c:ser>
          <c:idx val="1"/>
          <c:order val="1"/>
          <c:tx>
            <c:strRef>
              <c:f>Planilha8!$A$25</c:f>
              <c:strCache>
                <c:ptCount val="1"/>
                <c:pt idx="0">
                  <c:v>Renewables</c:v>
                </c:pt>
              </c:strCache>
            </c:strRef>
          </c:tx>
          <c:spPr>
            <a:solidFill>
              <a:srgbClr val="0066CC"/>
            </a:solidFill>
            <a:ln>
              <a:solidFill>
                <a:srgbClr val="0066CC"/>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bg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Planilha8!$B$23:$C$23</c:f>
              <c:strCache>
                <c:ptCount val="2"/>
                <c:pt idx="0">
                  <c:v>2030E</c:v>
                </c:pt>
                <c:pt idx="1">
                  <c:v>2021</c:v>
                </c:pt>
              </c:strCache>
            </c:strRef>
          </c:cat>
          <c:val>
            <c:numRef>
              <c:f>Planilha8!$B$25:$C$25</c:f>
              <c:numCache>
                <c:formatCode>0%</c:formatCode>
                <c:ptCount val="2"/>
                <c:pt idx="0">
                  <c:v>0.43</c:v>
                </c:pt>
                <c:pt idx="1">
                  <c:v>0.28000000000000003</c:v>
                </c:pt>
              </c:numCache>
            </c:numRef>
          </c:val>
          <c:extLst>
            <c:ext xmlns:c16="http://schemas.microsoft.com/office/drawing/2014/chart" uri="{C3380CC4-5D6E-409C-BE32-E72D297353CC}">
              <c16:uniqueId val="{00000001-1674-46A3-8C72-A96EA2367C7D}"/>
            </c:ext>
          </c:extLst>
        </c:ser>
        <c:ser>
          <c:idx val="2"/>
          <c:order val="2"/>
          <c:tx>
            <c:strRef>
              <c:f>Planilha8!$A$26</c:f>
              <c:strCache>
                <c:ptCount val="1"/>
                <c:pt idx="0">
                  <c:v>Nuclear</c:v>
                </c:pt>
              </c:strCache>
            </c:strRef>
          </c:tx>
          <c:spPr>
            <a:solidFill>
              <a:srgbClr val="6699FF"/>
            </a:solidFill>
            <a:ln>
              <a:solidFill>
                <a:srgbClr val="6699FF"/>
              </a:solidFill>
            </a:ln>
            <a:effectLst/>
          </c:spPr>
          <c:invertIfNegative val="0"/>
          <c:dLbls>
            <c:spPr>
              <a:solidFill>
                <a:srgbClr val="6699FF"/>
              </a:solid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Planilha8!$B$23:$C$23</c:f>
              <c:strCache>
                <c:ptCount val="2"/>
                <c:pt idx="0">
                  <c:v>2030E</c:v>
                </c:pt>
                <c:pt idx="1">
                  <c:v>2021</c:v>
                </c:pt>
              </c:strCache>
            </c:strRef>
          </c:cat>
          <c:val>
            <c:numRef>
              <c:f>Planilha8!$B$26:$C$26</c:f>
              <c:numCache>
                <c:formatCode>0%</c:formatCode>
                <c:ptCount val="2"/>
                <c:pt idx="0">
                  <c:v>0.1</c:v>
                </c:pt>
                <c:pt idx="1">
                  <c:v>0.1</c:v>
                </c:pt>
              </c:numCache>
            </c:numRef>
          </c:val>
          <c:extLst>
            <c:ext xmlns:c16="http://schemas.microsoft.com/office/drawing/2014/chart" uri="{C3380CC4-5D6E-409C-BE32-E72D297353CC}">
              <c16:uniqueId val="{00000002-1674-46A3-8C72-A96EA2367C7D}"/>
            </c:ext>
          </c:extLst>
        </c:ser>
        <c:dLbls>
          <c:showLegendKey val="0"/>
          <c:showVal val="0"/>
          <c:showCatName val="0"/>
          <c:showSerName val="0"/>
          <c:showPercent val="0"/>
          <c:showBubbleSize val="0"/>
        </c:dLbls>
        <c:gapWidth val="182"/>
        <c:axId val="420527871"/>
        <c:axId val="420535551"/>
      </c:barChart>
      <c:catAx>
        <c:axId val="42052787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420535551"/>
        <c:crosses val="autoZero"/>
        <c:auto val="1"/>
        <c:lblAlgn val="ctr"/>
        <c:lblOffset val="100"/>
        <c:noMultiLvlLbl val="0"/>
      </c:catAx>
      <c:valAx>
        <c:axId val="420535551"/>
        <c:scaling>
          <c:orientation val="minMax"/>
        </c:scaling>
        <c:delete val="1"/>
        <c:axPos val="b"/>
        <c:numFmt formatCode="0%" sourceLinked="1"/>
        <c:majorTickMark val="none"/>
        <c:minorTickMark val="none"/>
        <c:tickLblPos val="nextTo"/>
        <c:crossAx val="4205278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legend>
    <c:plotVisOnly val="1"/>
    <c:dispBlanksAs val="gap"/>
    <c:showDLblsOverMax val="0"/>
  </c:chart>
  <c:spPr>
    <a:noFill/>
    <a:ln w="9525" cap="flat" cmpd="sng" algn="ctr">
      <a:noFill/>
      <a:round/>
    </a:ln>
    <a:effectLst/>
  </c:spPr>
  <c:txPr>
    <a:bodyPr/>
    <a:lstStyle/>
    <a:p>
      <a:pPr>
        <a:defRPr sz="600" b="1">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cat>
            <c:strRef>
              <c:f>Planilha1!$B$4:$M$4</c:f>
              <c:strCache>
                <c:ptCount val="12"/>
                <c:pt idx="0">
                  <c:v>Mar</c:v>
                </c:pt>
                <c:pt idx="1">
                  <c:v>Abr</c:v>
                </c:pt>
                <c:pt idx="2">
                  <c:v>May</c:v>
                </c:pt>
                <c:pt idx="3">
                  <c:v>Jun</c:v>
                </c:pt>
                <c:pt idx="4">
                  <c:v>Jul</c:v>
                </c:pt>
                <c:pt idx="5">
                  <c:v>Aug</c:v>
                </c:pt>
                <c:pt idx="6">
                  <c:v>Set</c:v>
                </c:pt>
                <c:pt idx="7">
                  <c:v>Out</c:v>
                </c:pt>
                <c:pt idx="8">
                  <c:v>Nov</c:v>
                </c:pt>
                <c:pt idx="9">
                  <c:v>Dez</c:v>
                </c:pt>
                <c:pt idx="10">
                  <c:v>Jan</c:v>
                </c:pt>
                <c:pt idx="11">
                  <c:v>Feb</c:v>
                </c:pt>
              </c:strCache>
            </c:strRef>
          </c:cat>
          <c:val>
            <c:numRef>
              <c:f>Planilha1!$B$5:$M$5</c:f>
              <c:numCache>
                <c:formatCode>0.00%</c:formatCode>
                <c:ptCount val="12"/>
                <c:pt idx="0">
                  <c:v>7.0000000000000001E-3</c:v>
                </c:pt>
                <c:pt idx="1">
                  <c:v>-6.0000000000000001E-3</c:v>
                </c:pt>
                <c:pt idx="2">
                  <c:v>6.0000000000000001E-3</c:v>
                </c:pt>
                <c:pt idx="3">
                  <c:v>3.0000000000000001E-3</c:v>
                </c:pt>
                <c:pt idx="4">
                  <c:v>2E-3</c:v>
                </c:pt>
                <c:pt idx="5">
                  <c:v>-5.0000000000000001E-3</c:v>
                </c:pt>
                <c:pt idx="6">
                  <c:v>6.0000000000000001E-3</c:v>
                </c:pt>
                <c:pt idx="7">
                  <c:v>-1.2E-2</c:v>
                </c:pt>
                <c:pt idx="8">
                  <c:v>1E-3</c:v>
                </c:pt>
                <c:pt idx="9">
                  <c:v>-1.6E-2</c:v>
                </c:pt>
                <c:pt idx="10">
                  <c:v>-6.0000000000000001E-3</c:v>
                </c:pt>
                <c:pt idx="11">
                  <c:v>2.5000000000000001E-2</c:v>
                </c:pt>
              </c:numCache>
            </c:numRef>
          </c:val>
          <c:extLst>
            <c:ext xmlns:c16="http://schemas.microsoft.com/office/drawing/2014/chart" uri="{C3380CC4-5D6E-409C-BE32-E72D297353CC}">
              <c16:uniqueId val="{00000000-846A-8545-A8B3-40A002DBB699}"/>
            </c:ext>
          </c:extLst>
        </c:ser>
        <c:dLbls>
          <c:showLegendKey val="0"/>
          <c:showVal val="0"/>
          <c:showCatName val="0"/>
          <c:showSerName val="0"/>
          <c:showPercent val="0"/>
          <c:showBubbleSize val="0"/>
        </c:dLbls>
        <c:gapWidth val="219"/>
        <c:overlap val="-27"/>
        <c:axId val="1557349024"/>
        <c:axId val="1646875776"/>
      </c:barChart>
      <c:catAx>
        <c:axId val="155734902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crossAx val="1646875776"/>
        <c:crosses val="autoZero"/>
        <c:auto val="1"/>
        <c:lblAlgn val="ctr"/>
        <c:lblOffset val="100"/>
        <c:noMultiLvlLbl val="0"/>
      </c:catAx>
      <c:valAx>
        <c:axId val="1646875776"/>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crossAx val="15573490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600"/>
      </a:pPr>
      <a:endParaRPr lang="pt-B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Planilha1!$B$1</c:f>
              <c:strCache>
                <c:ptCount val="1"/>
                <c:pt idx="0">
                  <c:v>Market Share</c:v>
                </c:pt>
              </c:strCache>
            </c:strRef>
          </c:tx>
          <c:dPt>
            <c:idx val="0"/>
            <c:bubble3D val="0"/>
            <c:spPr>
              <a:solidFill>
                <a:schemeClr val="bg2"/>
              </a:solidFill>
              <a:ln w="19050">
                <a:solidFill>
                  <a:schemeClr val="lt1"/>
                </a:solidFill>
              </a:ln>
              <a:effectLst/>
            </c:spPr>
            <c:extLst>
              <c:ext xmlns:c16="http://schemas.microsoft.com/office/drawing/2014/chart" uri="{C3380CC4-5D6E-409C-BE32-E72D297353CC}">
                <c16:uniqueId val="{00000001-9748-47E4-A8B0-711BD9834B88}"/>
              </c:ext>
            </c:extLst>
          </c:dPt>
          <c:dPt>
            <c:idx val="1"/>
            <c:bubble3D val="0"/>
            <c:spPr>
              <a:solidFill>
                <a:schemeClr val="bg2"/>
              </a:solidFill>
              <a:ln w="19050">
                <a:solidFill>
                  <a:schemeClr val="lt1"/>
                </a:solidFill>
              </a:ln>
              <a:effectLst/>
            </c:spPr>
            <c:extLst>
              <c:ext xmlns:c16="http://schemas.microsoft.com/office/drawing/2014/chart" uri="{C3380CC4-5D6E-409C-BE32-E72D297353CC}">
                <c16:uniqueId val="{00000003-9748-47E4-A8B0-711BD9834B88}"/>
              </c:ext>
            </c:extLst>
          </c:dPt>
          <c:dPt>
            <c:idx val="2"/>
            <c:bubble3D val="0"/>
            <c:spPr>
              <a:solidFill>
                <a:schemeClr val="bg2"/>
              </a:solidFill>
              <a:ln w="19050">
                <a:solidFill>
                  <a:schemeClr val="lt1"/>
                </a:solidFill>
              </a:ln>
              <a:effectLst/>
            </c:spPr>
            <c:extLst>
              <c:ext xmlns:c16="http://schemas.microsoft.com/office/drawing/2014/chart" uri="{C3380CC4-5D6E-409C-BE32-E72D297353CC}">
                <c16:uniqueId val="{00000005-9748-47E4-A8B0-711BD9834B88}"/>
              </c:ext>
            </c:extLst>
          </c:dPt>
          <c:dPt>
            <c:idx val="3"/>
            <c:bubble3D val="0"/>
            <c:spPr>
              <a:solidFill>
                <a:schemeClr val="bg2"/>
              </a:solidFill>
              <a:ln w="19050">
                <a:solidFill>
                  <a:schemeClr val="lt1"/>
                </a:solidFill>
              </a:ln>
              <a:effectLst/>
            </c:spPr>
            <c:extLst>
              <c:ext xmlns:c16="http://schemas.microsoft.com/office/drawing/2014/chart" uri="{C3380CC4-5D6E-409C-BE32-E72D297353CC}">
                <c16:uniqueId val="{00000007-9748-47E4-A8B0-711BD9834B88}"/>
              </c:ext>
            </c:extLst>
          </c:dPt>
          <c:dPt>
            <c:idx val="4"/>
            <c:bubble3D val="0"/>
            <c:spPr>
              <a:solidFill>
                <a:srgbClr val="0070C0"/>
              </a:solidFill>
              <a:ln w="19050">
                <a:solidFill>
                  <a:schemeClr val="lt1"/>
                </a:solidFill>
              </a:ln>
              <a:effectLst/>
            </c:spPr>
            <c:extLst>
              <c:ext xmlns:c16="http://schemas.microsoft.com/office/drawing/2014/chart" uri="{C3380CC4-5D6E-409C-BE32-E72D297353CC}">
                <c16:uniqueId val="{00000009-9748-47E4-A8B0-711BD9834B88}"/>
              </c:ext>
            </c:extLst>
          </c:dPt>
          <c:dPt>
            <c:idx val="5"/>
            <c:bubble3D val="0"/>
            <c:spPr>
              <a:solidFill>
                <a:schemeClr val="bg2"/>
              </a:solidFill>
              <a:ln w="19050">
                <a:solidFill>
                  <a:schemeClr val="lt1"/>
                </a:solidFill>
              </a:ln>
              <a:effectLst/>
            </c:spPr>
            <c:extLst>
              <c:ext xmlns:c16="http://schemas.microsoft.com/office/drawing/2014/chart" uri="{C3380CC4-5D6E-409C-BE32-E72D297353CC}">
                <c16:uniqueId val="{0000000B-9748-47E4-A8B0-711BD9834B88}"/>
              </c:ext>
            </c:extLst>
          </c:dPt>
          <c:dLbls>
            <c:dLbl>
              <c:idx val="0"/>
              <c:layout>
                <c:manualLayout>
                  <c:x val="1.0420617561079076E-2"/>
                  <c:y val="-0.11910004959897079"/>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748-47E4-A8B0-711BD9834B88}"/>
                </c:ext>
              </c:extLst>
            </c:dLbl>
            <c:dLbl>
              <c:idx val="1"/>
              <c:layout>
                <c:manualLayout>
                  <c:x val="0.11462679317186983"/>
                  <c:y val="-4.0434734918833722E-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748-47E4-A8B0-711BD9834B88}"/>
                </c:ext>
              </c:extLst>
            </c:dLbl>
            <c:dLbl>
              <c:idx val="2"/>
              <c:layout>
                <c:manualLayout>
                  <c:x val="8.3364940488632605E-2"/>
                  <c:y val="-8.0869469837667444E-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748-47E4-A8B0-711BD9834B88}"/>
                </c:ext>
              </c:extLst>
            </c:dLbl>
            <c:dLbl>
              <c:idx val="3"/>
              <c:layout>
                <c:manualLayout>
                  <c:x val="0.10681133000106043"/>
                  <c:y val="2.205556474055014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748-47E4-A8B0-711BD9834B88}"/>
                </c:ext>
              </c:extLst>
            </c:dLbl>
            <c:dLbl>
              <c:idx val="4"/>
              <c:layout>
                <c:manualLayout>
                  <c:x val="0.11462679317186983"/>
                  <c:y val="3.087779063677020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748-47E4-A8B0-711BD9834B88}"/>
                </c:ext>
              </c:extLst>
            </c:dLbl>
            <c:dLbl>
              <c:idx val="5"/>
              <c:layout>
                <c:manualLayout>
                  <c:x val="-0.11983710195240936"/>
                  <c:y val="0"/>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748-47E4-A8B0-711BD9834B88}"/>
                </c:ext>
              </c:extLst>
            </c:dLbl>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Planilha1!$A$2:$A$7</c:f>
              <c:strCache>
                <c:ptCount val="6"/>
                <c:pt idx="0">
                  <c:v>A</c:v>
                </c:pt>
                <c:pt idx="1">
                  <c:v>B</c:v>
                </c:pt>
                <c:pt idx="2">
                  <c:v>C</c:v>
                </c:pt>
                <c:pt idx="3">
                  <c:v>D</c:v>
                </c:pt>
                <c:pt idx="4">
                  <c:v>WEG + Marathon</c:v>
                </c:pt>
                <c:pt idx="5">
                  <c:v>Others</c:v>
                </c:pt>
              </c:strCache>
            </c:strRef>
          </c:cat>
          <c:val>
            <c:numRef>
              <c:f>Planilha1!$B$2:$B$7</c:f>
              <c:numCache>
                <c:formatCode>0.00%</c:formatCode>
                <c:ptCount val="6"/>
                <c:pt idx="0" formatCode="0%">
                  <c:v>0.16</c:v>
                </c:pt>
                <c:pt idx="1">
                  <c:v>7.4999999999999997E-2</c:v>
                </c:pt>
                <c:pt idx="2" formatCode="0%">
                  <c:v>7.0000000000000007E-2</c:v>
                </c:pt>
                <c:pt idx="3">
                  <c:v>4.4999999999999998E-2</c:v>
                </c:pt>
                <c:pt idx="4" formatCode="0%">
                  <c:v>0.15</c:v>
                </c:pt>
                <c:pt idx="5" formatCode="0%">
                  <c:v>0.5</c:v>
                </c:pt>
              </c:numCache>
            </c:numRef>
          </c:val>
          <c:extLst>
            <c:ext xmlns:c16="http://schemas.microsoft.com/office/drawing/2014/chart" uri="{C3380CC4-5D6E-409C-BE32-E72D297353CC}">
              <c16:uniqueId val="{0000000C-9748-47E4-A8B0-711BD9834B88}"/>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6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Planilha1!$E$8</c:f>
              <c:strCache>
                <c:ptCount val="1"/>
                <c:pt idx="0">
                  <c:v>Price (USD)</c:v>
                </c:pt>
              </c:strCache>
            </c:strRef>
          </c:tx>
          <c:spPr>
            <a:ln w="28575" cap="rnd">
              <a:solidFill>
                <a:schemeClr val="accent1"/>
              </a:solidFill>
              <a:round/>
            </a:ln>
            <a:effectLst/>
          </c:spPr>
          <c:marker>
            <c:symbol val="none"/>
          </c:marker>
          <c:cat>
            <c:numRef>
              <c:f>Planilha1!$D$9:$D$389</c:f>
              <c:numCache>
                <c:formatCode>m/d/yy</c:formatCode>
                <c:ptCount val="381"/>
                <c:pt idx="0">
                  <c:v>43107</c:v>
                </c:pt>
                <c:pt idx="1">
                  <c:v>43114</c:v>
                </c:pt>
                <c:pt idx="2">
                  <c:v>43121</c:v>
                </c:pt>
                <c:pt idx="3">
                  <c:v>43128</c:v>
                </c:pt>
                <c:pt idx="4">
                  <c:v>43135</c:v>
                </c:pt>
                <c:pt idx="5">
                  <c:v>43142</c:v>
                </c:pt>
                <c:pt idx="6">
                  <c:v>43149</c:v>
                </c:pt>
                <c:pt idx="7">
                  <c:v>43156</c:v>
                </c:pt>
                <c:pt idx="8">
                  <c:v>43163</c:v>
                </c:pt>
                <c:pt idx="9">
                  <c:v>43170</c:v>
                </c:pt>
                <c:pt idx="10">
                  <c:v>43177</c:v>
                </c:pt>
                <c:pt idx="11">
                  <c:v>43184</c:v>
                </c:pt>
                <c:pt idx="12">
                  <c:v>43191</c:v>
                </c:pt>
                <c:pt idx="13">
                  <c:v>43198</c:v>
                </c:pt>
                <c:pt idx="14">
                  <c:v>43205</c:v>
                </c:pt>
                <c:pt idx="15">
                  <c:v>43212</c:v>
                </c:pt>
                <c:pt idx="16">
                  <c:v>43219</c:v>
                </c:pt>
                <c:pt idx="17">
                  <c:v>43226</c:v>
                </c:pt>
                <c:pt idx="18">
                  <c:v>43233</c:v>
                </c:pt>
                <c:pt idx="19">
                  <c:v>43240</c:v>
                </c:pt>
                <c:pt idx="20">
                  <c:v>43247</c:v>
                </c:pt>
                <c:pt idx="21">
                  <c:v>43254</c:v>
                </c:pt>
                <c:pt idx="22">
                  <c:v>43261</c:v>
                </c:pt>
                <c:pt idx="23">
                  <c:v>43268</c:v>
                </c:pt>
                <c:pt idx="24">
                  <c:v>43275</c:v>
                </c:pt>
                <c:pt idx="25">
                  <c:v>43282</c:v>
                </c:pt>
                <c:pt idx="26">
                  <c:v>43289</c:v>
                </c:pt>
                <c:pt idx="27">
                  <c:v>43296</c:v>
                </c:pt>
                <c:pt idx="28">
                  <c:v>43303</c:v>
                </c:pt>
                <c:pt idx="29">
                  <c:v>43310</c:v>
                </c:pt>
                <c:pt idx="30">
                  <c:v>43317</c:v>
                </c:pt>
                <c:pt idx="31">
                  <c:v>43324</c:v>
                </c:pt>
                <c:pt idx="32">
                  <c:v>43331</c:v>
                </c:pt>
                <c:pt idx="33">
                  <c:v>43338</c:v>
                </c:pt>
                <c:pt idx="34">
                  <c:v>43345</c:v>
                </c:pt>
                <c:pt idx="35">
                  <c:v>43352</c:v>
                </c:pt>
                <c:pt idx="36">
                  <c:v>43359</c:v>
                </c:pt>
                <c:pt idx="37">
                  <c:v>43366</c:v>
                </c:pt>
                <c:pt idx="38">
                  <c:v>43373</c:v>
                </c:pt>
                <c:pt idx="39">
                  <c:v>43380</c:v>
                </c:pt>
                <c:pt idx="40">
                  <c:v>43387</c:v>
                </c:pt>
                <c:pt idx="41">
                  <c:v>43394</c:v>
                </c:pt>
                <c:pt idx="42">
                  <c:v>43401</c:v>
                </c:pt>
                <c:pt idx="43">
                  <c:v>43408</c:v>
                </c:pt>
                <c:pt idx="44">
                  <c:v>43415</c:v>
                </c:pt>
                <c:pt idx="45">
                  <c:v>43422</c:v>
                </c:pt>
                <c:pt idx="46">
                  <c:v>43429</c:v>
                </c:pt>
                <c:pt idx="47">
                  <c:v>43436</c:v>
                </c:pt>
                <c:pt idx="48">
                  <c:v>43443</c:v>
                </c:pt>
                <c:pt idx="49">
                  <c:v>43450</c:v>
                </c:pt>
                <c:pt idx="50">
                  <c:v>43457</c:v>
                </c:pt>
                <c:pt idx="51">
                  <c:v>43464</c:v>
                </c:pt>
                <c:pt idx="52">
                  <c:v>43471</c:v>
                </c:pt>
                <c:pt idx="53">
                  <c:v>43478</c:v>
                </c:pt>
                <c:pt idx="54">
                  <c:v>43485</c:v>
                </c:pt>
                <c:pt idx="55">
                  <c:v>43492</c:v>
                </c:pt>
                <c:pt idx="56">
                  <c:v>43499</c:v>
                </c:pt>
                <c:pt idx="57">
                  <c:v>43506</c:v>
                </c:pt>
                <c:pt idx="58">
                  <c:v>43513</c:v>
                </c:pt>
                <c:pt idx="59">
                  <c:v>43520</c:v>
                </c:pt>
                <c:pt idx="60">
                  <c:v>43527</c:v>
                </c:pt>
                <c:pt idx="61">
                  <c:v>43534</c:v>
                </c:pt>
                <c:pt idx="62">
                  <c:v>43541</c:v>
                </c:pt>
                <c:pt idx="63">
                  <c:v>43548</c:v>
                </c:pt>
                <c:pt idx="64">
                  <c:v>43555</c:v>
                </c:pt>
                <c:pt idx="65">
                  <c:v>43562</c:v>
                </c:pt>
                <c:pt idx="66">
                  <c:v>43569</c:v>
                </c:pt>
                <c:pt idx="67">
                  <c:v>43576</c:v>
                </c:pt>
                <c:pt idx="68">
                  <c:v>43583</c:v>
                </c:pt>
                <c:pt idx="69">
                  <c:v>43590</c:v>
                </c:pt>
                <c:pt idx="70">
                  <c:v>43597</c:v>
                </c:pt>
                <c:pt idx="71">
                  <c:v>43604</c:v>
                </c:pt>
                <c:pt idx="72">
                  <c:v>43611</c:v>
                </c:pt>
                <c:pt idx="73">
                  <c:v>43618</c:v>
                </c:pt>
                <c:pt idx="74">
                  <c:v>43625</c:v>
                </c:pt>
                <c:pt idx="75">
                  <c:v>43632</c:v>
                </c:pt>
                <c:pt idx="76">
                  <c:v>43639</c:v>
                </c:pt>
                <c:pt idx="77">
                  <c:v>43646</c:v>
                </c:pt>
                <c:pt idx="78">
                  <c:v>43653</c:v>
                </c:pt>
                <c:pt idx="79">
                  <c:v>43660</c:v>
                </c:pt>
                <c:pt idx="80">
                  <c:v>43667</c:v>
                </c:pt>
                <c:pt idx="81">
                  <c:v>43674</c:v>
                </c:pt>
                <c:pt idx="82">
                  <c:v>43681</c:v>
                </c:pt>
                <c:pt idx="83">
                  <c:v>43688</c:v>
                </c:pt>
                <c:pt idx="84">
                  <c:v>43695</c:v>
                </c:pt>
                <c:pt idx="85">
                  <c:v>43702</c:v>
                </c:pt>
                <c:pt idx="86">
                  <c:v>43709</c:v>
                </c:pt>
                <c:pt idx="87">
                  <c:v>43716</c:v>
                </c:pt>
                <c:pt idx="88">
                  <c:v>43723</c:v>
                </c:pt>
                <c:pt idx="89">
                  <c:v>43730</c:v>
                </c:pt>
                <c:pt idx="90">
                  <c:v>43737</c:v>
                </c:pt>
                <c:pt idx="91">
                  <c:v>43744</c:v>
                </c:pt>
                <c:pt idx="92">
                  <c:v>43751</c:v>
                </c:pt>
                <c:pt idx="93">
                  <c:v>43758</c:v>
                </c:pt>
                <c:pt idx="94">
                  <c:v>43765</c:v>
                </c:pt>
                <c:pt idx="95">
                  <c:v>43772</c:v>
                </c:pt>
                <c:pt idx="96">
                  <c:v>43779</c:v>
                </c:pt>
                <c:pt idx="97">
                  <c:v>43786</c:v>
                </c:pt>
                <c:pt idx="98">
                  <c:v>43793</c:v>
                </c:pt>
                <c:pt idx="99">
                  <c:v>43800</c:v>
                </c:pt>
                <c:pt idx="100">
                  <c:v>43807</c:v>
                </c:pt>
                <c:pt idx="101">
                  <c:v>43814</c:v>
                </c:pt>
                <c:pt idx="102">
                  <c:v>43821</c:v>
                </c:pt>
                <c:pt idx="103">
                  <c:v>43828</c:v>
                </c:pt>
                <c:pt idx="104">
                  <c:v>43835</c:v>
                </c:pt>
                <c:pt idx="105">
                  <c:v>43842</c:v>
                </c:pt>
                <c:pt idx="106">
                  <c:v>43849</c:v>
                </c:pt>
                <c:pt idx="107">
                  <c:v>43856</c:v>
                </c:pt>
                <c:pt idx="108">
                  <c:v>43863</c:v>
                </c:pt>
                <c:pt idx="109">
                  <c:v>43870</c:v>
                </c:pt>
                <c:pt idx="110">
                  <c:v>43877</c:v>
                </c:pt>
                <c:pt idx="111">
                  <c:v>43884</c:v>
                </c:pt>
                <c:pt idx="112">
                  <c:v>43891</c:v>
                </c:pt>
                <c:pt idx="113">
                  <c:v>43898</c:v>
                </c:pt>
                <c:pt idx="114">
                  <c:v>43905</c:v>
                </c:pt>
                <c:pt idx="115">
                  <c:v>43912</c:v>
                </c:pt>
                <c:pt idx="116">
                  <c:v>43919</c:v>
                </c:pt>
                <c:pt idx="117">
                  <c:v>43926</c:v>
                </c:pt>
                <c:pt idx="118">
                  <c:v>43933</c:v>
                </c:pt>
                <c:pt idx="119">
                  <c:v>43940</c:v>
                </c:pt>
                <c:pt idx="120">
                  <c:v>43947</c:v>
                </c:pt>
                <c:pt idx="121">
                  <c:v>43954</c:v>
                </c:pt>
                <c:pt idx="122">
                  <c:v>43961</c:v>
                </c:pt>
                <c:pt idx="123">
                  <c:v>43968</c:v>
                </c:pt>
                <c:pt idx="124">
                  <c:v>43975</c:v>
                </c:pt>
                <c:pt idx="125">
                  <c:v>43982</c:v>
                </c:pt>
                <c:pt idx="126">
                  <c:v>43989</c:v>
                </c:pt>
                <c:pt idx="127">
                  <c:v>43996</c:v>
                </c:pt>
                <c:pt idx="128">
                  <c:v>44003</c:v>
                </c:pt>
                <c:pt idx="129">
                  <c:v>44010</c:v>
                </c:pt>
                <c:pt idx="130">
                  <c:v>44017</c:v>
                </c:pt>
                <c:pt idx="131">
                  <c:v>44024</c:v>
                </c:pt>
                <c:pt idx="132">
                  <c:v>44031</c:v>
                </c:pt>
                <c:pt idx="133">
                  <c:v>44038</c:v>
                </c:pt>
                <c:pt idx="134">
                  <c:v>44045</c:v>
                </c:pt>
                <c:pt idx="135">
                  <c:v>44052</c:v>
                </c:pt>
                <c:pt idx="136">
                  <c:v>44059</c:v>
                </c:pt>
                <c:pt idx="137">
                  <c:v>44066</c:v>
                </c:pt>
                <c:pt idx="138">
                  <c:v>44073</c:v>
                </c:pt>
                <c:pt idx="139">
                  <c:v>44080</c:v>
                </c:pt>
                <c:pt idx="140">
                  <c:v>44087</c:v>
                </c:pt>
                <c:pt idx="141">
                  <c:v>44094</c:v>
                </c:pt>
                <c:pt idx="142">
                  <c:v>44101</c:v>
                </c:pt>
                <c:pt idx="143">
                  <c:v>44108</c:v>
                </c:pt>
                <c:pt idx="144">
                  <c:v>44115</c:v>
                </c:pt>
                <c:pt idx="145">
                  <c:v>44122</c:v>
                </c:pt>
                <c:pt idx="146">
                  <c:v>44129</c:v>
                </c:pt>
                <c:pt idx="147">
                  <c:v>44136</c:v>
                </c:pt>
                <c:pt idx="148">
                  <c:v>44143</c:v>
                </c:pt>
                <c:pt idx="149">
                  <c:v>44150</c:v>
                </c:pt>
                <c:pt idx="150">
                  <c:v>44157</c:v>
                </c:pt>
                <c:pt idx="151">
                  <c:v>44164</c:v>
                </c:pt>
                <c:pt idx="152">
                  <c:v>44171</c:v>
                </c:pt>
                <c:pt idx="153">
                  <c:v>44178</c:v>
                </c:pt>
                <c:pt idx="154">
                  <c:v>44185</c:v>
                </c:pt>
                <c:pt idx="155">
                  <c:v>44192</c:v>
                </c:pt>
                <c:pt idx="156">
                  <c:v>44199</c:v>
                </c:pt>
                <c:pt idx="157">
                  <c:v>44206</c:v>
                </c:pt>
                <c:pt idx="158">
                  <c:v>44213</c:v>
                </c:pt>
                <c:pt idx="159">
                  <c:v>44220</c:v>
                </c:pt>
                <c:pt idx="160">
                  <c:v>44227</c:v>
                </c:pt>
                <c:pt idx="161">
                  <c:v>44234</c:v>
                </c:pt>
                <c:pt idx="162">
                  <c:v>44241</c:v>
                </c:pt>
                <c:pt idx="163">
                  <c:v>44248</c:v>
                </c:pt>
                <c:pt idx="164">
                  <c:v>44255</c:v>
                </c:pt>
                <c:pt idx="165">
                  <c:v>44262</c:v>
                </c:pt>
                <c:pt idx="166">
                  <c:v>44269</c:v>
                </c:pt>
                <c:pt idx="167">
                  <c:v>44276</c:v>
                </c:pt>
                <c:pt idx="168">
                  <c:v>44283</c:v>
                </c:pt>
                <c:pt idx="169">
                  <c:v>44290</c:v>
                </c:pt>
                <c:pt idx="170">
                  <c:v>44297</c:v>
                </c:pt>
                <c:pt idx="171">
                  <c:v>44304</c:v>
                </c:pt>
                <c:pt idx="172">
                  <c:v>44311</c:v>
                </c:pt>
                <c:pt idx="173">
                  <c:v>44318</c:v>
                </c:pt>
                <c:pt idx="174">
                  <c:v>44325</c:v>
                </c:pt>
                <c:pt idx="175">
                  <c:v>44332</c:v>
                </c:pt>
                <c:pt idx="176">
                  <c:v>44339</c:v>
                </c:pt>
                <c:pt idx="177">
                  <c:v>44346</c:v>
                </c:pt>
                <c:pt idx="178">
                  <c:v>44353</c:v>
                </c:pt>
                <c:pt idx="179">
                  <c:v>44360</c:v>
                </c:pt>
                <c:pt idx="180">
                  <c:v>44367</c:v>
                </c:pt>
                <c:pt idx="181">
                  <c:v>44374</c:v>
                </c:pt>
                <c:pt idx="182">
                  <c:v>44381</c:v>
                </c:pt>
                <c:pt idx="183">
                  <c:v>44388</c:v>
                </c:pt>
                <c:pt idx="184">
                  <c:v>44395</c:v>
                </c:pt>
                <c:pt idx="185">
                  <c:v>44402</c:v>
                </c:pt>
                <c:pt idx="186">
                  <c:v>44409</c:v>
                </c:pt>
                <c:pt idx="187">
                  <c:v>44416</c:v>
                </c:pt>
                <c:pt idx="188">
                  <c:v>44423</c:v>
                </c:pt>
                <c:pt idx="189">
                  <c:v>44430</c:v>
                </c:pt>
                <c:pt idx="190">
                  <c:v>44437</c:v>
                </c:pt>
                <c:pt idx="191">
                  <c:v>44444</c:v>
                </c:pt>
                <c:pt idx="192">
                  <c:v>44451</c:v>
                </c:pt>
                <c:pt idx="193">
                  <c:v>44458</c:v>
                </c:pt>
                <c:pt idx="194">
                  <c:v>44465</c:v>
                </c:pt>
                <c:pt idx="195">
                  <c:v>44472</c:v>
                </c:pt>
                <c:pt idx="196">
                  <c:v>44479</c:v>
                </c:pt>
                <c:pt idx="197">
                  <c:v>44486</c:v>
                </c:pt>
                <c:pt idx="198">
                  <c:v>44493</c:v>
                </c:pt>
                <c:pt idx="199">
                  <c:v>44500</c:v>
                </c:pt>
                <c:pt idx="200">
                  <c:v>44507</c:v>
                </c:pt>
                <c:pt idx="201">
                  <c:v>44514</c:v>
                </c:pt>
                <c:pt idx="202">
                  <c:v>44521</c:v>
                </c:pt>
                <c:pt idx="203">
                  <c:v>44528</c:v>
                </c:pt>
                <c:pt idx="204">
                  <c:v>44535</c:v>
                </c:pt>
                <c:pt idx="205">
                  <c:v>44542</c:v>
                </c:pt>
                <c:pt idx="206">
                  <c:v>44549</c:v>
                </c:pt>
                <c:pt idx="207">
                  <c:v>44556</c:v>
                </c:pt>
                <c:pt idx="208">
                  <c:v>44563</c:v>
                </c:pt>
                <c:pt idx="209">
                  <c:v>44570</c:v>
                </c:pt>
                <c:pt idx="210">
                  <c:v>44577</c:v>
                </c:pt>
                <c:pt idx="211">
                  <c:v>44584</c:v>
                </c:pt>
                <c:pt idx="212">
                  <c:v>44591</c:v>
                </c:pt>
                <c:pt idx="213">
                  <c:v>44598</c:v>
                </c:pt>
                <c:pt idx="214">
                  <c:v>44605</c:v>
                </c:pt>
                <c:pt idx="215">
                  <c:v>44612</c:v>
                </c:pt>
                <c:pt idx="216">
                  <c:v>44619</c:v>
                </c:pt>
                <c:pt idx="217">
                  <c:v>44626</c:v>
                </c:pt>
                <c:pt idx="218">
                  <c:v>44633</c:v>
                </c:pt>
                <c:pt idx="219">
                  <c:v>44640</c:v>
                </c:pt>
                <c:pt idx="220">
                  <c:v>44647</c:v>
                </c:pt>
                <c:pt idx="221">
                  <c:v>44654</c:v>
                </c:pt>
                <c:pt idx="222">
                  <c:v>44661</c:v>
                </c:pt>
                <c:pt idx="223">
                  <c:v>44668</c:v>
                </c:pt>
                <c:pt idx="224">
                  <c:v>44675</c:v>
                </c:pt>
                <c:pt idx="225">
                  <c:v>44682</c:v>
                </c:pt>
                <c:pt idx="226">
                  <c:v>44689</c:v>
                </c:pt>
                <c:pt idx="227">
                  <c:v>44696</c:v>
                </c:pt>
                <c:pt idx="228">
                  <c:v>44703</c:v>
                </c:pt>
                <c:pt idx="229">
                  <c:v>44710</c:v>
                </c:pt>
                <c:pt idx="230">
                  <c:v>44717</c:v>
                </c:pt>
                <c:pt idx="231">
                  <c:v>44724</c:v>
                </c:pt>
                <c:pt idx="232">
                  <c:v>44731</c:v>
                </c:pt>
                <c:pt idx="233">
                  <c:v>44738</c:v>
                </c:pt>
                <c:pt idx="234">
                  <c:v>44745</c:v>
                </c:pt>
                <c:pt idx="235">
                  <c:v>44752</c:v>
                </c:pt>
                <c:pt idx="236">
                  <c:v>44759</c:v>
                </c:pt>
                <c:pt idx="237">
                  <c:v>44766</c:v>
                </c:pt>
                <c:pt idx="238">
                  <c:v>44773</c:v>
                </c:pt>
                <c:pt idx="239">
                  <c:v>44780</c:v>
                </c:pt>
                <c:pt idx="240">
                  <c:v>44787</c:v>
                </c:pt>
                <c:pt idx="241">
                  <c:v>44794</c:v>
                </c:pt>
                <c:pt idx="242">
                  <c:v>44801</c:v>
                </c:pt>
                <c:pt idx="243">
                  <c:v>44808</c:v>
                </c:pt>
                <c:pt idx="244">
                  <c:v>44815</c:v>
                </c:pt>
                <c:pt idx="245">
                  <c:v>44822</c:v>
                </c:pt>
                <c:pt idx="246">
                  <c:v>44829</c:v>
                </c:pt>
                <c:pt idx="247">
                  <c:v>44836</c:v>
                </c:pt>
                <c:pt idx="248">
                  <c:v>44843</c:v>
                </c:pt>
                <c:pt idx="249">
                  <c:v>44850</c:v>
                </c:pt>
                <c:pt idx="250">
                  <c:v>44857</c:v>
                </c:pt>
                <c:pt idx="251">
                  <c:v>44864</c:v>
                </c:pt>
                <c:pt idx="252">
                  <c:v>44871</c:v>
                </c:pt>
                <c:pt idx="253">
                  <c:v>44878</c:v>
                </c:pt>
                <c:pt idx="254">
                  <c:v>44885</c:v>
                </c:pt>
                <c:pt idx="255">
                  <c:v>44892</c:v>
                </c:pt>
                <c:pt idx="256">
                  <c:v>44899</c:v>
                </c:pt>
                <c:pt idx="257">
                  <c:v>44906</c:v>
                </c:pt>
                <c:pt idx="258">
                  <c:v>44913</c:v>
                </c:pt>
                <c:pt idx="259">
                  <c:v>44920</c:v>
                </c:pt>
                <c:pt idx="260">
                  <c:v>44927</c:v>
                </c:pt>
                <c:pt idx="261">
                  <c:v>44934</c:v>
                </c:pt>
                <c:pt idx="262">
                  <c:v>44941</c:v>
                </c:pt>
                <c:pt idx="263">
                  <c:v>44948</c:v>
                </c:pt>
                <c:pt idx="264">
                  <c:v>44955</c:v>
                </c:pt>
                <c:pt idx="265">
                  <c:v>44962</c:v>
                </c:pt>
                <c:pt idx="266">
                  <c:v>44969</c:v>
                </c:pt>
                <c:pt idx="267">
                  <c:v>44976</c:v>
                </c:pt>
                <c:pt idx="268">
                  <c:v>44983</c:v>
                </c:pt>
                <c:pt idx="269">
                  <c:v>44990</c:v>
                </c:pt>
                <c:pt idx="270">
                  <c:v>44997</c:v>
                </c:pt>
                <c:pt idx="271">
                  <c:v>45004</c:v>
                </c:pt>
                <c:pt idx="272">
                  <c:v>45011</c:v>
                </c:pt>
                <c:pt idx="273">
                  <c:v>45018</c:v>
                </c:pt>
                <c:pt idx="274">
                  <c:v>45025</c:v>
                </c:pt>
                <c:pt idx="275">
                  <c:v>45032</c:v>
                </c:pt>
                <c:pt idx="276">
                  <c:v>45039</c:v>
                </c:pt>
                <c:pt idx="277">
                  <c:v>45046</c:v>
                </c:pt>
                <c:pt idx="278">
                  <c:v>45053</c:v>
                </c:pt>
                <c:pt idx="279">
                  <c:v>45060</c:v>
                </c:pt>
                <c:pt idx="280">
                  <c:v>45067</c:v>
                </c:pt>
                <c:pt idx="281">
                  <c:v>45074</c:v>
                </c:pt>
                <c:pt idx="282">
                  <c:v>45081</c:v>
                </c:pt>
                <c:pt idx="283">
                  <c:v>45088</c:v>
                </c:pt>
                <c:pt idx="284">
                  <c:v>45095</c:v>
                </c:pt>
                <c:pt idx="285">
                  <c:v>45102</c:v>
                </c:pt>
                <c:pt idx="286">
                  <c:v>45109</c:v>
                </c:pt>
                <c:pt idx="287">
                  <c:v>45116</c:v>
                </c:pt>
                <c:pt idx="288">
                  <c:v>45123</c:v>
                </c:pt>
                <c:pt idx="289">
                  <c:v>45130</c:v>
                </c:pt>
                <c:pt idx="290">
                  <c:v>45137</c:v>
                </c:pt>
                <c:pt idx="291">
                  <c:v>45144</c:v>
                </c:pt>
                <c:pt idx="292">
                  <c:v>45151</c:v>
                </c:pt>
                <c:pt idx="293">
                  <c:v>45158</c:v>
                </c:pt>
                <c:pt idx="294">
                  <c:v>45165</c:v>
                </c:pt>
                <c:pt idx="295">
                  <c:v>45172</c:v>
                </c:pt>
                <c:pt idx="296">
                  <c:v>45179</c:v>
                </c:pt>
                <c:pt idx="297">
                  <c:v>45186</c:v>
                </c:pt>
                <c:pt idx="298">
                  <c:v>45193</c:v>
                </c:pt>
                <c:pt idx="299">
                  <c:v>45200</c:v>
                </c:pt>
                <c:pt idx="300">
                  <c:v>45207</c:v>
                </c:pt>
                <c:pt idx="301">
                  <c:v>45214</c:v>
                </c:pt>
                <c:pt idx="302">
                  <c:v>45221</c:v>
                </c:pt>
                <c:pt idx="303">
                  <c:v>45228</c:v>
                </c:pt>
                <c:pt idx="304">
                  <c:v>45235</c:v>
                </c:pt>
                <c:pt idx="305">
                  <c:v>45242</c:v>
                </c:pt>
                <c:pt idx="306">
                  <c:v>45249</c:v>
                </c:pt>
                <c:pt idx="307">
                  <c:v>45256</c:v>
                </c:pt>
                <c:pt idx="308">
                  <c:v>45263</c:v>
                </c:pt>
                <c:pt idx="309">
                  <c:v>45270</c:v>
                </c:pt>
                <c:pt idx="310">
                  <c:v>45277</c:v>
                </c:pt>
                <c:pt idx="311">
                  <c:v>45284</c:v>
                </c:pt>
                <c:pt idx="312">
                  <c:v>45291</c:v>
                </c:pt>
                <c:pt idx="313">
                  <c:v>45298</c:v>
                </c:pt>
                <c:pt idx="314">
                  <c:v>45305</c:v>
                </c:pt>
                <c:pt idx="315">
                  <c:v>45312</c:v>
                </c:pt>
                <c:pt idx="316">
                  <c:v>45319</c:v>
                </c:pt>
                <c:pt idx="317">
                  <c:v>45326</c:v>
                </c:pt>
                <c:pt idx="318">
                  <c:v>45333</c:v>
                </c:pt>
                <c:pt idx="319">
                  <c:v>45340</c:v>
                </c:pt>
                <c:pt idx="320">
                  <c:v>45347</c:v>
                </c:pt>
                <c:pt idx="321">
                  <c:v>45354</c:v>
                </c:pt>
                <c:pt idx="322">
                  <c:v>45361</c:v>
                </c:pt>
                <c:pt idx="323">
                  <c:v>45368</c:v>
                </c:pt>
                <c:pt idx="324">
                  <c:v>45375</c:v>
                </c:pt>
                <c:pt idx="325">
                  <c:v>45382</c:v>
                </c:pt>
                <c:pt idx="326">
                  <c:v>45389</c:v>
                </c:pt>
                <c:pt idx="327">
                  <c:v>45396</c:v>
                </c:pt>
                <c:pt idx="328">
                  <c:v>45403</c:v>
                </c:pt>
                <c:pt idx="329">
                  <c:v>45410</c:v>
                </c:pt>
                <c:pt idx="330">
                  <c:v>45417</c:v>
                </c:pt>
                <c:pt idx="331">
                  <c:v>45424</c:v>
                </c:pt>
                <c:pt idx="332">
                  <c:v>45431</c:v>
                </c:pt>
                <c:pt idx="333">
                  <c:v>45438</c:v>
                </c:pt>
                <c:pt idx="334">
                  <c:v>45445</c:v>
                </c:pt>
                <c:pt idx="335">
                  <c:v>45452</c:v>
                </c:pt>
                <c:pt idx="336">
                  <c:v>45459</c:v>
                </c:pt>
                <c:pt idx="337">
                  <c:v>45466</c:v>
                </c:pt>
                <c:pt idx="338">
                  <c:v>45473</c:v>
                </c:pt>
                <c:pt idx="339">
                  <c:v>45480</c:v>
                </c:pt>
                <c:pt idx="340">
                  <c:v>45487</c:v>
                </c:pt>
                <c:pt idx="341">
                  <c:v>45494</c:v>
                </c:pt>
                <c:pt idx="342">
                  <c:v>45501</c:v>
                </c:pt>
                <c:pt idx="343">
                  <c:v>45508</c:v>
                </c:pt>
                <c:pt idx="344">
                  <c:v>45515</c:v>
                </c:pt>
                <c:pt idx="345">
                  <c:v>45522</c:v>
                </c:pt>
                <c:pt idx="346">
                  <c:v>45529</c:v>
                </c:pt>
                <c:pt idx="347">
                  <c:v>45536</c:v>
                </c:pt>
                <c:pt idx="348">
                  <c:v>45543</c:v>
                </c:pt>
                <c:pt idx="349">
                  <c:v>45550</c:v>
                </c:pt>
                <c:pt idx="350">
                  <c:v>45557</c:v>
                </c:pt>
                <c:pt idx="351">
                  <c:v>45564</c:v>
                </c:pt>
                <c:pt idx="352">
                  <c:v>45571</c:v>
                </c:pt>
                <c:pt idx="353">
                  <c:v>45578</c:v>
                </c:pt>
                <c:pt idx="354">
                  <c:v>45585</c:v>
                </c:pt>
                <c:pt idx="355">
                  <c:v>45592</c:v>
                </c:pt>
                <c:pt idx="356">
                  <c:v>45599</c:v>
                </c:pt>
                <c:pt idx="357">
                  <c:v>45606</c:v>
                </c:pt>
                <c:pt idx="358">
                  <c:v>45613</c:v>
                </c:pt>
                <c:pt idx="359">
                  <c:v>45620</c:v>
                </c:pt>
                <c:pt idx="360">
                  <c:v>45627</c:v>
                </c:pt>
                <c:pt idx="361">
                  <c:v>45634</c:v>
                </c:pt>
                <c:pt idx="362">
                  <c:v>45641</c:v>
                </c:pt>
                <c:pt idx="363">
                  <c:v>45648</c:v>
                </c:pt>
                <c:pt idx="364">
                  <c:v>45655</c:v>
                </c:pt>
                <c:pt idx="365">
                  <c:v>45662</c:v>
                </c:pt>
                <c:pt idx="366">
                  <c:v>45669</c:v>
                </c:pt>
                <c:pt idx="367">
                  <c:v>45676</c:v>
                </c:pt>
                <c:pt idx="368">
                  <c:v>45683</c:v>
                </c:pt>
                <c:pt idx="369">
                  <c:v>45690</c:v>
                </c:pt>
                <c:pt idx="370">
                  <c:v>45697</c:v>
                </c:pt>
                <c:pt idx="371">
                  <c:v>45704</c:v>
                </c:pt>
                <c:pt idx="372">
                  <c:v>45711</c:v>
                </c:pt>
                <c:pt idx="373">
                  <c:v>45718</c:v>
                </c:pt>
                <c:pt idx="374">
                  <c:v>45746</c:v>
                </c:pt>
                <c:pt idx="375">
                  <c:v>45760</c:v>
                </c:pt>
                <c:pt idx="376">
                  <c:v>45767</c:v>
                </c:pt>
                <c:pt idx="377">
                  <c:v>45774</c:v>
                </c:pt>
                <c:pt idx="378">
                  <c:v>45781</c:v>
                </c:pt>
                <c:pt idx="379">
                  <c:v>45788</c:v>
                </c:pt>
                <c:pt idx="380">
                  <c:v>45795</c:v>
                </c:pt>
              </c:numCache>
            </c:numRef>
          </c:cat>
          <c:val>
            <c:numRef>
              <c:f>Planilha1!$E$9:$E$389</c:f>
              <c:numCache>
                <c:formatCode>General</c:formatCode>
                <c:ptCount val="381"/>
                <c:pt idx="0">
                  <c:v>3380</c:v>
                </c:pt>
                <c:pt idx="1">
                  <c:v>3375</c:v>
                </c:pt>
                <c:pt idx="2">
                  <c:v>3428.8</c:v>
                </c:pt>
                <c:pt idx="3">
                  <c:v>3406.5</c:v>
                </c:pt>
                <c:pt idx="4">
                  <c:v>3270.7</c:v>
                </c:pt>
                <c:pt idx="5">
                  <c:v>3464.4</c:v>
                </c:pt>
                <c:pt idx="6">
                  <c:v>3391.6</c:v>
                </c:pt>
                <c:pt idx="7">
                  <c:v>3316.3</c:v>
                </c:pt>
                <c:pt idx="8">
                  <c:v>3310.9</c:v>
                </c:pt>
                <c:pt idx="9">
                  <c:v>3276.1</c:v>
                </c:pt>
                <c:pt idx="10">
                  <c:v>3189.3</c:v>
                </c:pt>
                <c:pt idx="11">
                  <c:v>3204.8</c:v>
                </c:pt>
                <c:pt idx="12">
                  <c:v>3222.6</c:v>
                </c:pt>
                <c:pt idx="13">
                  <c:v>3316.2</c:v>
                </c:pt>
                <c:pt idx="14">
                  <c:v>3457.1</c:v>
                </c:pt>
                <c:pt idx="15">
                  <c:v>3288.3</c:v>
                </c:pt>
                <c:pt idx="16">
                  <c:v>3339</c:v>
                </c:pt>
                <c:pt idx="17">
                  <c:v>3343.8</c:v>
                </c:pt>
                <c:pt idx="18">
                  <c:v>3330.5</c:v>
                </c:pt>
                <c:pt idx="19">
                  <c:v>3331.2</c:v>
                </c:pt>
                <c:pt idx="20">
                  <c:v>3370.5</c:v>
                </c:pt>
                <c:pt idx="21">
                  <c:v>3488.8</c:v>
                </c:pt>
                <c:pt idx="22">
                  <c:v>3357.9</c:v>
                </c:pt>
                <c:pt idx="23">
                  <c:v>3274.2</c:v>
                </c:pt>
                <c:pt idx="24">
                  <c:v>3203.9</c:v>
                </c:pt>
                <c:pt idx="25">
                  <c:v>3060.9</c:v>
                </c:pt>
                <c:pt idx="26">
                  <c:v>3005.2</c:v>
                </c:pt>
                <c:pt idx="27">
                  <c:v>2972.7</c:v>
                </c:pt>
                <c:pt idx="28">
                  <c:v>3033</c:v>
                </c:pt>
                <c:pt idx="29">
                  <c:v>2988.1</c:v>
                </c:pt>
                <c:pt idx="30">
                  <c:v>3007.2</c:v>
                </c:pt>
                <c:pt idx="31">
                  <c:v>2877.9</c:v>
                </c:pt>
                <c:pt idx="32">
                  <c:v>2970.4</c:v>
                </c:pt>
                <c:pt idx="33">
                  <c:v>2928.3</c:v>
                </c:pt>
                <c:pt idx="34">
                  <c:v>2882.5</c:v>
                </c:pt>
                <c:pt idx="35">
                  <c:v>2879.7</c:v>
                </c:pt>
                <c:pt idx="36">
                  <c:v>3025.3</c:v>
                </c:pt>
                <c:pt idx="37">
                  <c:v>2994.8</c:v>
                </c:pt>
                <c:pt idx="38">
                  <c:v>2998.4</c:v>
                </c:pt>
                <c:pt idx="39">
                  <c:v>3005.8</c:v>
                </c:pt>
                <c:pt idx="40">
                  <c:v>2967.4</c:v>
                </c:pt>
                <c:pt idx="41">
                  <c:v>2945.1</c:v>
                </c:pt>
                <c:pt idx="42">
                  <c:v>2952</c:v>
                </c:pt>
                <c:pt idx="43">
                  <c:v>2880.3</c:v>
                </c:pt>
                <c:pt idx="44">
                  <c:v>2918.3</c:v>
                </c:pt>
                <c:pt idx="45">
                  <c:v>2902.2</c:v>
                </c:pt>
                <c:pt idx="46">
                  <c:v>2909.8</c:v>
                </c:pt>
                <c:pt idx="47">
                  <c:v>2898.3</c:v>
                </c:pt>
                <c:pt idx="48">
                  <c:v>2875.5</c:v>
                </c:pt>
                <c:pt idx="49">
                  <c:v>2830.7</c:v>
                </c:pt>
                <c:pt idx="50">
                  <c:v>2809.3</c:v>
                </c:pt>
                <c:pt idx="51">
                  <c:v>2796.9</c:v>
                </c:pt>
                <c:pt idx="52">
                  <c:v>2814.1</c:v>
                </c:pt>
                <c:pt idx="53">
                  <c:v>2873.2</c:v>
                </c:pt>
                <c:pt idx="54">
                  <c:v>2909.7</c:v>
                </c:pt>
                <c:pt idx="55">
                  <c:v>2940.7</c:v>
                </c:pt>
                <c:pt idx="56">
                  <c:v>2942.9</c:v>
                </c:pt>
                <c:pt idx="57">
                  <c:v>2924.8</c:v>
                </c:pt>
                <c:pt idx="58">
                  <c:v>3038.3</c:v>
                </c:pt>
                <c:pt idx="59">
                  <c:v>3055.1</c:v>
                </c:pt>
                <c:pt idx="60">
                  <c:v>2998.4</c:v>
                </c:pt>
                <c:pt idx="61">
                  <c:v>3020.1</c:v>
                </c:pt>
                <c:pt idx="62">
                  <c:v>2998.5</c:v>
                </c:pt>
                <c:pt idx="63">
                  <c:v>3056.7</c:v>
                </c:pt>
                <c:pt idx="64">
                  <c:v>3020.8</c:v>
                </c:pt>
                <c:pt idx="65">
                  <c:v>3026.3</c:v>
                </c:pt>
                <c:pt idx="66">
                  <c:v>3001.4</c:v>
                </c:pt>
                <c:pt idx="67">
                  <c:v>2968.7</c:v>
                </c:pt>
                <c:pt idx="68">
                  <c:v>2900.5</c:v>
                </c:pt>
                <c:pt idx="69">
                  <c:v>2854.5</c:v>
                </c:pt>
                <c:pt idx="70">
                  <c:v>2845.7</c:v>
                </c:pt>
                <c:pt idx="71">
                  <c:v>2810.9</c:v>
                </c:pt>
                <c:pt idx="72">
                  <c:v>2763.1</c:v>
                </c:pt>
                <c:pt idx="73">
                  <c:v>2735.9</c:v>
                </c:pt>
                <c:pt idx="74">
                  <c:v>2744.1</c:v>
                </c:pt>
                <c:pt idx="75">
                  <c:v>2786.3</c:v>
                </c:pt>
                <c:pt idx="76">
                  <c:v>2818.6</c:v>
                </c:pt>
                <c:pt idx="77">
                  <c:v>2772.1</c:v>
                </c:pt>
                <c:pt idx="78">
                  <c:v>2813.1</c:v>
                </c:pt>
                <c:pt idx="79">
                  <c:v>2873.8</c:v>
                </c:pt>
                <c:pt idx="80">
                  <c:v>2823.9</c:v>
                </c:pt>
                <c:pt idx="81">
                  <c:v>2736.6</c:v>
                </c:pt>
                <c:pt idx="82">
                  <c:v>2752</c:v>
                </c:pt>
                <c:pt idx="83">
                  <c:v>2768.3</c:v>
                </c:pt>
                <c:pt idx="84">
                  <c:v>2723.8</c:v>
                </c:pt>
                <c:pt idx="85">
                  <c:v>2757.3</c:v>
                </c:pt>
                <c:pt idx="86">
                  <c:v>2829.1</c:v>
                </c:pt>
                <c:pt idx="87">
                  <c:v>2873.7</c:v>
                </c:pt>
                <c:pt idx="88">
                  <c:v>2819.2</c:v>
                </c:pt>
                <c:pt idx="89">
                  <c:v>2779.5</c:v>
                </c:pt>
                <c:pt idx="90">
                  <c:v>2759.7</c:v>
                </c:pt>
                <c:pt idx="91">
                  <c:v>2811.1</c:v>
                </c:pt>
                <c:pt idx="92">
                  <c:v>2809.3</c:v>
                </c:pt>
                <c:pt idx="93">
                  <c:v>2850</c:v>
                </c:pt>
                <c:pt idx="94">
                  <c:v>2848.4</c:v>
                </c:pt>
                <c:pt idx="95">
                  <c:v>2856.9</c:v>
                </c:pt>
                <c:pt idx="96">
                  <c:v>2773.9</c:v>
                </c:pt>
                <c:pt idx="97">
                  <c:v>2757.3</c:v>
                </c:pt>
                <c:pt idx="98">
                  <c:v>2749</c:v>
                </c:pt>
                <c:pt idx="99">
                  <c:v>2767.2</c:v>
                </c:pt>
                <c:pt idx="100">
                  <c:v>2818.3</c:v>
                </c:pt>
                <c:pt idx="101">
                  <c:v>2859.7</c:v>
                </c:pt>
                <c:pt idx="102">
                  <c:v>2866.6</c:v>
                </c:pt>
                <c:pt idx="103">
                  <c:v>2831.4</c:v>
                </c:pt>
                <c:pt idx="104">
                  <c:v>2864.7</c:v>
                </c:pt>
                <c:pt idx="105">
                  <c:v>2892.6</c:v>
                </c:pt>
                <c:pt idx="106">
                  <c:v>2763.6</c:v>
                </c:pt>
                <c:pt idx="107">
                  <c:v>2629.9</c:v>
                </c:pt>
                <c:pt idx="108">
                  <c:v>2638.5</c:v>
                </c:pt>
                <c:pt idx="109">
                  <c:v>2674.5</c:v>
                </c:pt>
                <c:pt idx="110">
                  <c:v>2660.5</c:v>
                </c:pt>
                <c:pt idx="111">
                  <c:v>2606.9</c:v>
                </c:pt>
                <c:pt idx="112">
                  <c:v>2602.5</c:v>
                </c:pt>
                <c:pt idx="113">
                  <c:v>2546.5</c:v>
                </c:pt>
                <c:pt idx="114">
                  <c:v>2302.1999999999998</c:v>
                </c:pt>
                <c:pt idx="115">
                  <c:v>2294.1999999999998</c:v>
                </c:pt>
                <c:pt idx="116">
                  <c:v>2275.6999999999998</c:v>
                </c:pt>
                <c:pt idx="117">
                  <c:v>2341.4</c:v>
                </c:pt>
                <c:pt idx="118">
                  <c:v>2407.4</c:v>
                </c:pt>
                <c:pt idx="119">
                  <c:v>2380.3000000000002</c:v>
                </c:pt>
                <c:pt idx="120">
                  <c:v>2361.6999999999998</c:v>
                </c:pt>
                <c:pt idx="121">
                  <c:v>2417.9</c:v>
                </c:pt>
                <c:pt idx="122">
                  <c:v>2376.1</c:v>
                </c:pt>
                <c:pt idx="123">
                  <c:v>2433.1999999999998</c:v>
                </c:pt>
                <c:pt idx="124">
                  <c:v>2470.9</c:v>
                </c:pt>
                <c:pt idx="125">
                  <c:v>2593.1999999999998</c:v>
                </c:pt>
                <c:pt idx="126">
                  <c:v>2605.9</c:v>
                </c:pt>
                <c:pt idx="127">
                  <c:v>2638.4</c:v>
                </c:pt>
                <c:pt idx="128">
                  <c:v>2661.7</c:v>
                </c:pt>
                <c:pt idx="129">
                  <c:v>2682.5</c:v>
                </c:pt>
                <c:pt idx="130">
                  <c:v>2842</c:v>
                </c:pt>
                <c:pt idx="131">
                  <c:v>2833</c:v>
                </c:pt>
                <c:pt idx="132">
                  <c:v>2852</c:v>
                </c:pt>
                <c:pt idx="133">
                  <c:v>2872.7</c:v>
                </c:pt>
                <c:pt idx="134">
                  <c:v>2884.4</c:v>
                </c:pt>
                <c:pt idx="135">
                  <c:v>2890.6</c:v>
                </c:pt>
                <c:pt idx="136">
                  <c:v>2943.3</c:v>
                </c:pt>
                <c:pt idx="137">
                  <c:v>3017.3</c:v>
                </c:pt>
                <c:pt idx="138">
                  <c:v>3019.5</c:v>
                </c:pt>
                <c:pt idx="139">
                  <c:v>3014.8</c:v>
                </c:pt>
                <c:pt idx="140">
                  <c:v>3046.3</c:v>
                </c:pt>
                <c:pt idx="141">
                  <c:v>2922</c:v>
                </c:pt>
                <c:pt idx="142">
                  <c:v>2927.1</c:v>
                </c:pt>
                <c:pt idx="143">
                  <c:v>3038</c:v>
                </c:pt>
                <c:pt idx="144">
                  <c:v>3045.6</c:v>
                </c:pt>
                <c:pt idx="145">
                  <c:v>3085.8</c:v>
                </c:pt>
                <c:pt idx="146">
                  <c:v>3037.4</c:v>
                </c:pt>
                <c:pt idx="147">
                  <c:v>3128</c:v>
                </c:pt>
                <c:pt idx="148">
                  <c:v>3160.9</c:v>
                </c:pt>
                <c:pt idx="149">
                  <c:v>3288.4</c:v>
                </c:pt>
                <c:pt idx="150">
                  <c:v>3354.6</c:v>
                </c:pt>
                <c:pt idx="151">
                  <c:v>3421.5</c:v>
                </c:pt>
                <c:pt idx="152">
                  <c:v>3442.8</c:v>
                </c:pt>
                <c:pt idx="153">
                  <c:v>3522.3</c:v>
                </c:pt>
                <c:pt idx="154">
                  <c:v>3451.7</c:v>
                </c:pt>
                <c:pt idx="155">
                  <c:v>3414.5</c:v>
                </c:pt>
                <c:pt idx="156">
                  <c:v>3544.5</c:v>
                </c:pt>
                <c:pt idx="157">
                  <c:v>3485.8</c:v>
                </c:pt>
                <c:pt idx="158">
                  <c:v>3516.1</c:v>
                </c:pt>
                <c:pt idx="159">
                  <c:v>3455.8</c:v>
                </c:pt>
                <c:pt idx="160">
                  <c:v>3504.3</c:v>
                </c:pt>
                <c:pt idx="161">
                  <c:v>3667.7</c:v>
                </c:pt>
                <c:pt idx="162">
                  <c:v>3870.7</c:v>
                </c:pt>
                <c:pt idx="163">
                  <c:v>3876.9</c:v>
                </c:pt>
                <c:pt idx="164">
                  <c:v>3794.1</c:v>
                </c:pt>
                <c:pt idx="165">
                  <c:v>3839.6</c:v>
                </c:pt>
                <c:pt idx="166">
                  <c:v>3882.2</c:v>
                </c:pt>
                <c:pt idx="167">
                  <c:v>3867.7</c:v>
                </c:pt>
                <c:pt idx="168">
                  <c:v>3784.8</c:v>
                </c:pt>
                <c:pt idx="169">
                  <c:v>3849.4</c:v>
                </c:pt>
                <c:pt idx="170">
                  <c:v>3943.6</c:v>
                </c:pt>
                <c:pt idx="171">
                  <c:v>4048.1</c:v>
                </c:pt>
                <c:pt idx="172">
                  <c:v>4178.1000000000004</c:v>
                </c:pt>
                <c:pt idx="173">
                  <c:v>4399.8999999999996</c:v>
                </c:pt>
                <c:pt idx="174">
                  <c:v>4299.3999999999996</c:v>
                </c:pt>
                <c:pt idx="175">
                  <c:v>4182.8999999999996</c:v>
                </c:pt>
                <c:pt idx="176">
                  <c:v>4349.6000000000004</c:v>
                </c:pt>
                <c:pt idx="177">
                  <c:v>4256.7</c:v>
                </c:pt>
                <c:pt idx="178">
                  <c:v>4283.8999999999996</c:v>
                </c:pt>
                <c:pt idx="179">
                  <c:v>3993</c:v>
                </c:pt>
                <c:pt idx="180">
                  <c:v>4137</c:v>
                </c:pt>
                <c:pt idx="181">
                  <c:v>4163.3</c:v>
                </c:pt>
                <c:pt idx="182">
                  <c:v>4187</c:v>
                </c:pt>
                <c:pt idx="183">
                  <c:v>4183.5</c:v>
                </c:pt>
                <c:pt idx="184">
                  <c:v>4225.1000000000004</c:v>
                </c:pt>
                <c:pt idx="185">
                  <c:v>4320.6000000000004</c:v>
                </c:pt>
                <c:pt idx="186">
                  <c:v>4230.3</c:v>
                </c:pt>
                <c:pt idx="187">
                  <c:v>4281.1000000000004</c:v>
                </c:pt>
                <c:pt idx="188">
                  <c:v>4077</c:v>
                </c:pt>
                <c:pt idx="189">
                  <c:v>4233.1000000000004</c:v>
                </c:pt>
                <c:pt idx="190">
                  <c:v>4269</c:v>
                </c:pt>
                <c:pt idx="191">
                  <c:v>4429.1000000000004</c:v>
                </c:pt>
                <c:pt idx="192">
                  <c:v>4301.8999999999996</c:v>
                </c:pt>
                <c:pt idx="193">
                  <c:v>4342.3999999999996</c:v>
                </c:pt>
                <c:pt idx="194">
                  <c:v>4209.2</c:v>
                </c:pt>
                <c:pt idx="195">
                  <c:v>4365.6000000000004</c:v>
                </c:pt>
                <c:pt idx="196">
                  <c:v>4762.8</c:v>
                </c:pt>
                <c:pt idx="197">
                  <c:v>4496.8999999999996</c:v>
                </c:pt>
                <c:pt idx="198">
                  <c:v>4394.2</c:v>
                </c:pt>
                <c:pt idx="199">
                  <c:v>4320.7</c:v>
                </c:pt>
                <c:pt idx="200">
                  <c:v>4415.8</c:v>
                </c:pt>
                <c:pt idx="201">
                  <c:v>4398.3</c:v>
                </c:pt>
                <c:pt idx="202">
                  <c:v>4329.2</c:v>
                </c:pt>
                <c:pt idx="203">
                  <c:v>4314.8999999999996</c:v>
                </c:pt>
                <c:pt idx="204">
                  <c:v>4336.3</c:v>
                </c:pt>
                <c:pt idx="205">
                  <c:v>4366.3</c:v>
                </c:pt>
                <c:pt idx="206">
                  <c:v>4466</c:v>
                </c:pt>
                <c:pt idx="207">
                  <c:v>4502</c:v>
                </c:pt>
                <c:pt idx="208">
                  <c:v>4524</c:v>
                </c:pt>
                <c:pt idx="209">
                  <c:v>4588.6000000000004</c:v>
                </c:pt>
                <c:pt idx="210">
                  <c:v>4741.8999999999996</c:v>
                </c:pt>
                <c:pt idx="211">
                  <c:v>4600.6000000000004</c:v>
                </c:pt>
                <c:pt idx="212">
                  <c:v>4691.3999999999996</c:v>
                </c:pt>
                <c:pt idx="213">
                  <c:v>4721.3999999999996</c:v>
                </c:pt>
                <c:pt idx="214">
                  <c:v>4812.5</c:v>
                </c:pt>
                <c:pt idx="215">
                  <c:v>4840.3999999999996</c:v>
                </c:pt>
                <c:pt idx="216">
                  <c:v>5355.8</c:v>
                </c:pt>
                <c:pt idx="217">
                  <c:v>5329</c:v>
                </c:pt>
                <c:pt idx="218">
                  <c:v>5143.8999999999996</c:v>
                </c:pt>
                <c:pt idx="219">
                  <c:v>5212.6000000000004</c:v>
                </c:pt>
                <c:pt idx="220">
                  <c:v>5209.6000000000004</c:v>
                </c:pt>
                <c:pt idx="221">
                  <c:v>5156</c:v>
                </c:pt>
                <c:pt idx="222">
                  <c:v>5130.3999999999996</c:v>
                </c:pt>
                <c:pt idx="223">
                  <c:v>5060.6000000000004</c:v>
                </c:pt>
                <c:pt idx="224">
                  <c:v>4830.8</c:v>
                </c:pt>
                <c:pt idx="225">
                  <c:v>4594.3</c:v>
                </c:pt>
                <c:pt idx="226">
                  <c:v>4382.5</c:v>
                </c:pt>
                <c:pt idx="227">
                  <c:v>4559.5</c:v>
                </c:pt>
                <c:pt idx="228">
                  <c:v>4553.1000000000004</c:v>
                </c:pt>
                <c:pt idx="229">
                  <c:v>4520.5</c:v>
                </c:pt>
                <c:pt idx="230">
                  <c:v>4461.6000000000004</c:v>
                </c:pt>
                <c:pt idx="231">
                  <c:v>4199.8999999999996</c:v>
                </c:pt>
                <c:pt idx="232">
                  <c:v>3918.9</c:v>
                </c:pt>
                <c:pt idx="233">
                  <c:v>3803.3</c:v>
                </c:pt>
                <c:pt idx="234">
                  <c:v>3734.5</c:v>
                </c:pt>
                <c:pt idx="235">
                  <c:v>3495.2</c:v>
                </c:pt>
                <c:pt idx="236">
                  <c:v>3666.5</c:v>
                </c:pt>
                <c:pt idx="237">
                  <c:v>3850.9</c:v>
                </c:pt>
                <c:pt idx="238">
                  <c:v>3811.5</c:v>
                </c:pt>
                <c:pt idx="239">
                  <c:v>3902.3</c:v>
                </c:pt>
                <c:pt idx="240">
                  <c:v>3850.2</c:v>
                </c:pt>
                <c:pt idx="241">
                  <c:v>3903.8</c:v>
                </c:pt>
                <c:pt idx="242">
                  <c:v>3608.4</c:v>
                </c:pt>
                <c:pt idx="243">
                  <c:v>3702.1</c:v>
                </c:pt>
                <c:pt idx="244">
                  <c:v>3689.2</c:v>
                </c:pt>
                <c:pt idx="245">
                  <c:v>3535.1</c:v>
                </c:pt>
                <c:pt idx="246">
                  <c:v>3541</c:v>
                </c:pt>
                <c:pt idx="247">
                  <c:v>3577.1</c:v>
                </c:pt>
                <c:pt idx="248">
                  <c:v>3583</c:v>
                </c:pt>
                <c:pt idx="249">
                  <c:v>3555.4</c:v>
                </c:pt>
                <c:pt idx="250">
                  <c:v>3531.6</c:v>
                </c:pt>
                <c:pt idx="251">
                  <c:v>3747.7</c:v>
                </c:pt>
                <c:pt idx="252">
                  <c:v>3968.9</c:v>
                </c:pt>
                <c:pt idx="253">
                  <c:v>3838.2</c:v>
                </c:pt>
                <c:pt idx="254">
                  <c:v>3777.2</c:v>
                </c:pt>
                <c:pt idx="255">
                  <c:v>4033.9</c:v>
                </c:pt>
                <c:pt idx="256">
                  <c:v>4065.2</c:v>
                </c:pt>
                <c:pt idx="257">
                  <c:v>3915.3</c:v>
                </c:pt>
                <c:pt idx="258">
                  <c:v>3965.5</c:v>
                </c:pt>
                <c:pt idx="259">
                  <c:v>3983.8</c:v>
                </c:pt>
                <c:pt idx="260">
                  <c:v>3979.1</c:v>
                </c:pt>
                <c:pt idx="261">
                  <c:v>4272.6000000000004</c:v>
                </c:pt>
                <c:pt idx="262">
                  <c:v>4348.8999999999996</c:v>
                </c:pt>
                <c:pt idx="263">
                  <c:v>4354.1000000000004</c:v>
                </c:pt>
                <c:pt idx="264">
                  <c:v>4213.6000000000004</c:v>
                </c:pt>
                <c:pt idx="265">
                  <c:v>4099.2</c:v>
                </c:pt>
                <c:pt idx="266">
                  <c:v>4070.5</c:v>
                </c:pt>
                <c:pt idx="267">
                  <c:v>3954</c:v>
                </c:pt>
                <c:pt idx="268">
                  <c:v>4049.7</c:v>
                </c:pt>
                <c:pt idx="269">
                  <c:v>3933</c:v>
                </c:pt>
                <c:pt idx="270">
                  <c:v>3853.6</c:v>
                </c:pt>
                <c:pt idx="271">
                  <c:v>3980.5</c:v>
                </c:pt>
                <c:pt idx="272">
                  <c:v>4038.2</c:v>
                </c:pt>
                <c:pt idx="273">
                  <c:v>3916.8</c:v>
                </c:pt>
                <c:pt idx="274">
                  <c:v>4031.6</c:v>
                </c:pt>
                <c:pt idx="275">
                  <c:v>3984.9</c:v>
                </c:pt>
                <c:pt idx="276">
                  <c:v>3907.6</c:v>
                </c:pt>
                <c:pt idx="277">
                  <c:v>3894.2</c:v>
                </c:pt>
                <c:pt idx="278">
                  <c:v>3720.7</c:v>
                </c:pt>
                <c:pt idx="279">
                  <c:v>3722</c:v>
                </c:pt>
                <c:pt idx="280">
                  <c:v>3654.7</c:v>
                </c:pt>
                <c:pt idx="281">
                  <c:v>3686.6</c:v>
                </c:pt>
                <c:pt idx="282">
                  <c:v>3737.2</c:v>
                </c:pt>
                <c:pt idx="283">
                  <c:v>3837.1</c:v>
                </c:pt>
                <c:pt idx="284">
                  <c:v>3719.6</c:v>
                </c:pt>
                <c:pt idx="285">
                  <c:v>3681.1</c:v>
                </c:pt>
                <c:pt idx="286">
                  <c:v>3698.6</c:v>
                </c:pt>
                <c:pt idx="287">
                  <c:v>3847.4</c:v>
                </c:pt>
                <c:pt idx="288">
                  <c:v>3748.9</c:v>
                </c:pt>
                <c:pt idx="289">
                  <c:v>3846.4</c:v>
                </c:pt>
                <c:pt idx="290">
                  <c:v>3795.6</c:v>
                </c:pt>
                <c:pt idx="291">
                  <c:v>3674.9</c:v>
                </c:pt>
                <c:pt idx="292">
                  <c:v>3630.4</c:v>
                </c:pt>
                <c:pt idx="293">
                  <c:v>3684</c:v>
                </c:pt>
                <c:pt idx="294">
                  <c:v>3769.7</c:v>
                </c:pt>
                <c:pt idx="295">
                  <c:v>3664</c:v>
                </c:pt>
                <c:pt idx="296">
                  <c:v>3719.5</c:v>
                </c:pt>
                <c:pt idx="297">
                  <c:v>3689.7</c:v>
                </c:pt>
                <c:pt idx="298">
                  <c:v>3716.9</c:v>
                </c:pt>
                <c:pt idx="299">
                  <c:v>3599.1</c:v>
                </c:pt>
                <c:pt idx="300">
                  <c:v>3561.1</c:v>
                </c:pt>
                <c:pt idx="301">
                  <c:v>3559.7</c:v>
                </c:pt>
                <c:pt idx="302">
                  <c:v>3609.6</c:v>
                </c:pt>
                <c:pt idx="303">
                  <c:v>3635.7</c:v>
                </c:pt>
                <c:pt idx="304">
                  <c:v>3587.6</c:v>
                </c:pt>
                <c:pt idx="305">
                  <c:v>3640.8</c:v>
                </c:pt>
                <c:pt idx="306">
                  <c:v>3654.4</c:v>
                </c:pt>
                <c:pt idx="307">
                  <c:v>3699.3</c:v>
                </c:pt>
                <c:pt idx="308">
                  <c:v>3611.4</c:v>
                </c:pt>
                <c:pt idx="309">
                  <c:v>3711.5</c:v>
                </c:pt>
                <c:pt idx="310">
                  <c:v>3736.9</c:v>
                </c:pt>
                <c:pt idx="311">
                  <c:v>3762.1</c:v>
                </c:pt>
                <c:pt idx="312">
                  <c:v>3674.3</c:v>
                </c:pt>
                <c:pt idx="313">
                  <c:v>3634.6</c:v>
                </c:pt>
                <c:pt idx="314">
                  <c:v>3616.1</c:v>
                </c:pt>
                <c:pt idx="315">
                  <c:v>3736.4</c:v>
                </c:pt>
                <c:pt idx="316">
                  <c:v>3667.1</c:v>
                </c:pt>
                <c:pt idx="317">
                  <c:v>3557.9</c:v>
                </c:pt>
                <c:pt idx="318">
                  <c:v>3673.1</c:v>
                </c:pt>
                <c:pt idx="319">
                  <c:v>3692.7</c:v>
                </c:pt>
                <c:pt idx="320">
                  <c:v>3695.6</c:v>
                </c:pt>
                <c:pt idx="321">
                  <c:v>3739.3</c:v>
                </c:pt>
                <c:pt idx="322">
                  <c:v>3894.4</c:v>
                </c:pt>
                <c:pt idx="323">
                  <c:v>3817.7</c:v>
                </c:pt>
                <c:pt idx="324">
                  <c:v>3811.4</c:v>
                </c:pt>
                <c:pt idx="325">
                  <c:v>4010.8</c:v>
                </c:pt>
                <c:pt idx="326">
                  <c:v>4122.2</c:v>
                </c:pt>
                <c:pt idx="327">
                  <c:v>4341.2</c:v>
                </c:pt>
                <c:pt idx="328">
                  <c:v>4291.3</c:v>
                </c:pt>
                <c:pt idx="329">
                  <c:v>4266.8</c:v>
                </c:pt>
                <c:pt idx="330">
                  <c:v>4297.3999999999996</c:v>
                </c:pt>
                <c:pt idx="331">
                  <c:v>4552.1000000000004</c:v>
                </c:pt>
                <c:pt idx="332">
                  <c:v>4462.6000000000004</c:v>
                </c:pt>
                <c:pt idx="333">
                  <c:v>4362.8999999999996</c:v>
                </c:pt>
                <c:pt idx="334">
                  <c:v>4192.5</c:v>
                </c:pt>
                <c:pt idx="335">
                  <c:v>4180.3999999999996</c:v>
                </c:pt>
                <c:pt idx="336">
                  <c:v>4171.8999999999996</c:v>
                </c:pt>
                <c:pt idx="337">
                  <c:v>4164.3</c:v>
                </c:pt>
                <c:pt idx="338">
                  <c:v>4261.1000000000004</c:v>
                </c:pt>
                <c:pt idx="339">
                  <c:v>4225.5</c:v>
                </c:pt>
                <c:pt idx="340">
                  <c:v>3987.8</c:v>
                </c:pt>
                <c:pt idx="341">
                  <c:v>3880.2</c:v>
                </c:pt>
                <c:pt idx="342">
                  <c:v>3860.5</c:v>
                </c:pt>
                <c:pt idx="343">
                  <c:v>3843.5</c:v>
                </c:pt>
                <c:pt idx="344">
                  <c:v>3952.3</c:v>
                </c:pt>
                <c:pt idx="345">
                  <c:v>4093.4</c:v>
                </c:pt>
                <c:pt idx="346">
                  <c:v>4031.6</c:v>
                </c:pt>
                <c:pt idx="347">
                  <c:v>3880</c:v>
                </c:pt>
                <c:pt idx="348">
                  <c:v>4046.6</c:v>
                </c:pt>
                <c:pt idx="349">
                  <c:v>4097.1000000000004</c:v>
                </c:pt>
                <c:pt idx="350">
                  <c:v>4312.7</c:v>
                </c:pt>
                <c:pt idx="351">
                  <c:v>4331.5</c:v>
                </c:pt>
                <c:pt idx="352">
                  <c:v>4288.3999999999996</c:v>
                </c:pt>
                <c:pt idx="353">
                  <c:v>4203</c:v>
                </c:pt>
                <c:pt idx="354">
                  <c:v>4203.7</c:v>
                </c:pt>
                <c:pt idx="355">
                  <c:v>4162.3</c:v>
                </c:pt>
                <c:pt idx="356">
                  <c:v>4121.8</c:v>
                </c:pt>
                <c:pt idx="357">
                  <c:v>3998.5</c:v>
                </c:pt>
                <c:pt idx="358">
                  <c:v>3994.6</c:v>
                </c:pt>
                <c:pt idx="359">
                  <c:v>4012.5</c:v>
                </c:pt>
                <c:pt idx="360">
                  <c:v>4034.4</c:v>
                </c:pt>
                <c:pt idx="361">
                  <c:v>4024.1</c:v>
                </c:pt>
                <c:pt idx="362">
                  <c:v>3946</c:v>
                </c:pt>
                <c:pt idx="363">
                  <c:v>3968.3</c:v>
                </c:pt>
                <c:pt idx="364">
                  <c:v>3894.7</c:v>
                </c:pt>
                <c:pt idx="365">
                  <c:v>4003.8</c:v>
                </c:pt>
                <c:pt idx="366">
                  <c:v>4078.2</c:v>
                </c:pt>
                <c:pt idx="367">
                  <c:v>4060.5</c:v>
                </c:pt>
                <c:pt idx="368">
                  <c:v>3969.2</c:v>
                </c:pt>
                <c:pt idx="369">
                  <c:v>4093.9</c:v>
                </c:pt>
                <c:pt idx="370">
                  <c:v>4136.7</c:v>
                </c:pt>
                <c:pt idx="371">
                  <c:v>4195.3999999999996</c:v>
                </c:pt>
                <c:pt idx="372">
                  <c:v>4085.3</c:v>
                </c:pt>
                <c:pt idx="373">
                  <c:v>4254.2</c:v>
                </c:pt>
                <c:pt idx="374">
                  <c:v>4197.7</c:v>
                </c:pt>
                <c:pt idx="375">
                  <c:v>3929.4</c:v>
                </c:pt>
                <c:pt idx="376">
                  <c:v>4018.2</c:v>
                </c:pt>
                <c:pt idx="377">
                  <c:v>4001</c:v>
                </c:pt>
                <c:pt idx="378">
                  <c:v>4042.6</c:v>
                </c:pt>
                <c:pt idx="379">
                  <c:v>4073.5</c:v>
                </c:pt>
                <c:pt idx="380">
                  <c:v>4086.5</c:v>
                </c:pt>
              </c:numCache>
            </c:numRef>
          </c:val>
          <c:smooth val="0"/>
          <c:extLst>
            <c:ext xmlns:c16="http://schemas.microsoft.com/office/drawing/2014/chart" uri="{C3380CC4-5D6E-409C-BE32-E72D297353CC}">
              <c16:uniqueId val="{00000000-04B0-3446-B496-8699265FBB3C}"/>
            </c:ext>
          </c:extLst>
        </c:ser>
        <c:dLbls>
          <c:showLegendKey val="0"/>
          <c:showVal val="0"/>
          <c:showCatName val="0"/>
          <c:showSerName val="0"/>
          <c:showPercent val="0"/>
          <c:showBubbleSize val="0"/>
        </c:dLbls>
        <c:smooth val="0"/>
        <c:axId val="853636399"/>
        <c:axId val="854381727"/>
      </c:lineChart>
      <c:dateAx>
        <c:axId val="853636399"/>
        <c:scaling>
          <c:orientation val="minMax"/>
        </c:scaling>
        <c:delete val="0"/>
        <c:axPos val="b"/>
        <c:numFmt formatCode="m/d/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crossAx val="854381727"/>
        <c:crosses val="autoZero"/>
        <c:auto val="1"/>
        <c:lblOffset val="100"/>
        <c:baseTimeUnit val="days"/>
      </c:dateAx>
      <c:valAx>
        <c:axId val="854381727"/>
        <c:scaling>
          <c:orientation val="minMax"/>
          <c:max val="6000"/>
          <c:min val="200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crossAx val="853636399"/>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'Taxa Básica de Juros'!$B$1</c:f>
              <c:strCache>
                <c:ptCount val="1"/>
                <c:pt idx="0">
                  <c:v>Expect. 2025</c:v>
                </c:pt>
              </c:strCache>
            </c:strRef>
          </c:tx>
          <c:spPr>
            <a:solidFill>
              <a:srgbClr val="112A6E"/>
            </a:solidFill>
            <a:ln>
              <a:solidFill>
                <a:srgbClr val="112A6E"/>
              </a:solidFill>
            </a:ln>
            <a:effectLst/>
          </c:spPr>
          <c:invertIfNegative val="0"/>
          <c:cat>
            <c:strRef>
              <c:f>'Taxa Básica de Juros'!$A$2:$A$8</c:f>
              <c:strCache>
                <c:ptCount val="7"/>
                <c:pt idx="0">
                  <c:v>BRA</c:v>
                </c:pt>
                <c:pt idx="1">
                  <c:v>CHL</c:v>
                </c:pt>
                <c:pt idx="2">
                  <c:v>COL</c:v>
                </c:pt>
                <c:pt idx="3">
                  <c:v>MEX</c:v>
                </c:pt>
                <c:pt idx="4">
                  <c:v>IND</c:v>
                </c:pt>
                <c:pt idx="5">
                  <c:v>CHN</c:v>
                </c:pt>
                <c:pt idx="6">
                  <c:v>IDN</c:v>
                </c:pt>
              </c:strCache>
            </c:strRef>
          </c:cat>
          <c:val>
            <c:numRef>
              <c:f>'Taxa Básica de Juros'!$B$2:$B$8</c:f>
              <c:numCache>
                <c:formatCode>_(* #,##0.00_);_(* \(#,##0.00\);_(* "-"??_);_(@_)</c:formatCode>
                <c:ptCount val="7"/>
                <c:pt idx="0">
                  <c:v>15</c:v>
                </c:pt>
                <c:pt idx="1">
                  <c:v>4.75</c:v>
                </c:pt>
                <c:pt idx="2">
                  <c:v>7.75</c:v>
                </c:pt>
                <c:pt idx="3">
                  <c:v>8.25</c:v>
                </c:pt>
                <c:pt idx="4">
                  <c:v>5.75</c:v>
                </c:pt>
                <c:pt idx="5">
                  <c:v>1.2</c:v>
                </c:pt>
                <c:pt idx="6">
                  <c:v>5.25</c:v>
                </c:pt>
              </c:numCache>
            </c:numRef>
          </c:val>
          <c:extLst>
            <c:ext xmlns:c16="http://schemas.microsoft.com/office/drawing/2014/chart" uri="{C3380CC4-5D6E-409C-BE32-E72D297353CC}">
              <c16:uniqueId val="{00000000-EF91-4A02-BFCD-A9E17DFE1CF7}"/>
            </c:ext>
          </c:extLst>
        </c:ser>
        <c:ser>
          <c:idx val="1"/>
          <c:order val="1"/>
          <c:tx>
            <c:strRef>
              <c:f>'Taxa Básica de Juros'!$C$1</c:f>
              <c:strCache>
                <c:ptCount val="1"/>
                <c:pt idx="0">
                  <c:v>Expect. 2026</c:v>
                </c:pt>
              </c:strCache>
            </c:strRef>
          </c:tx>
          <c:spPr>
            <a:solidFill>
              <a:srgbClr val="3865E0"/>
            </a:solidFill>
            <a:ln>
              <a:solidFill>
                <a:srgbClr val="3865E0"/>
              </a:solidFill>
            </a:ln>
            <a:effectLst/>
          </c:spPr>
          <c:invertIfNegative val="0"/>
          <c:cat>
            <c:strRef>
              <c:f>'Taxa Básica de Juros'!$A$2:$A$8</c:f>
              <c:strCache>
                <c:ptCount val="7"/>
                <c:pt idx="0">
                  <c:v>BRA</c:v>
                </c:pt>
                <c:pt idx="1">
                  <c:v>CHL</c:v>
                </c:pt>
                <c:pt idx="2">
                  <c:v>COL</c:v>
                </c:pt>
                <c:pt idx="3">
                  <c:v>MEX</c:v>
                </c:pt>
                <c:pt idx="4">
                  <c:v>IND</c:v>
                </c:pt>
                <c:pt idx="5">
                  <c:v>CHN</c:v>
                </c:pt>
                <c:pt idx="6">
                  <c:v>IDN</c:v>
                </c:pt>
              </c:strCache>
            </c:strRef>
          </c:cat>
          <c:val>
            <c:numRef>
              <c:f>'Taxa Básica de Juros'!$C$2:$C$8</c:f>
              <c:numCache>
                <c:formatCode>_(* #,##0.00_);_(* \(#,##0.00\);_(* "-"??_);_(@_)</c:formatCode>
                <c:ptCount val="7"/>
                <c:pt idx="0">
                  <c:v>12.5</c:v>
                </c:pt>
                <c:pt idx="1">
                  <c:v>4.29</c:v>
                </c:pt>
                <c:pt idx="2">
                  <c:v>6.5</c:v>
                </c:pt>
                <c:pt idx="3">
                  <c:v>7.5</c:v>
                </c:pt>
                <c:pt idx="4">
                  <c:v>5.65</c:v>
                </c:pt>
                <c:pt idx="5">
                  <c:v>1.2</c:v>
                </c:pt>
                <c:pt idx="6">
                  <c:v>5.0999999999999996</c:v>
                </c:pt>
              </c:numCache>
            </c:numRef>
          </c:val>
          <c:extLst>
            <c:ext xmlns:c16="http://schemas.microsoft.com/office/drawing/2014/chart" uri="{C3380CC4-5D6E-409C-BE32-E72D297353CC}">
              <c16:uniqueId val="{00000001-EF91-4A02-BFCD-A9E17DFE1CF7}"/>
            </c:ext>
          </c:extLst>
        </c:ser>
        <c:ser>
          <c:idx val="2"/>
          <c:order val="2"/>
          <c:tx>
            <c:strRef>
              <c:f>'Taxa Básica de Juros'!$D$1</c:f>
              <c:strCache>
                <c:ptCount val="1"/>
                <c:pt idx="0">
                  <c:v>Dado atual</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cat>
            <c:strRef>
              <c:f>'Taxa Básica de Juros'!$A$2:$A$8</c:f>
              <c:strCache>
                <c:ptCount val="7"/>
                <c:pt idx="0">
                  <c:v>BRA</c:v>
                </c:pt>
                <c:pt idx="1">
                  <c:v>CHL</c:v>
                </c:pt>
                <c:pt idx="2">
                  <c:v>COL</c:v>
                </c:pt>
                <c:pt idx="3">
                  <c:v>MEX</c:v>
                </c:pt>
                <c:pt idx="4">
                  <c:v>IND</c:v>
                </c:pt>
                <c:pt idx="5">
                  <c:v>CHN</c:v>
                </c:pt>
                <c:pt idx="6">
                  <c:v>IDN</c:v>
                </c:pt>
              </c:strCache>
            </c:strRef>
          </c:cat>
          <c:val>
            <c:numRef>
              <c:f>'Taxa Básica de Juros'!$D$2:$D$8</c:f>
              <c:numCache>
                <c:formatCode>_(* #,##0.00_);_(* \(#,##0.00\);_(* "-"??_);_(@_)</c:formatCode>
                <c:ptCount val="7"/>
                <c:pt idx="0">
                  <c:v>13.25</c:v>
                </c:pt>
                <c:pt idx="1">
                  <c:v>5</c:v>
                </c:pt>
                <c:pt idx="2">
                  <c:v>9.5</c:v>
                </c:pt>
                <c:pt idx="3">
                  <c:v>9.5</c:v>
                </c:pt>
                <c:pt idx="4">
                  <c:v>6.25</c:v>
                </c:pt>
                <c:pt idx="5">
                  <c:v>1.5</c:v>
                </c:pt>
                <c:pt idx="6">
                  <c:v>5.75</c:v>
                </c:pt>
              </c:numCache>
            </c:numRef>
          </c:val>
          <c:extLst>
            <c:ext xmlns:c16="http://schemas.microsoft.com/office/drawing/2014/chart" uri="{C3380CC4-5D6E-409C-BE32-E72D297353CC}">
              <c16:uniqueId val="{00000002-EF91-4A02-BFCD-A9E17DFE1CF7}"/>
            </c:ext>
          </c:extLst>
        </c:ser>
        <c:dLbls>
          <c:showLegendKey val="0"/>
          <c:showVal val="0"/>
          <c:showCatName val="0"/>
          <c:showSerName val="0"/>
          <c:showPercent val="0"/>
          <c:showBubbleSize val="0"/>
        </c:dLbls>
        <c:gapWidth val="100"/>
        <c:overlap val="-24"/>
        <c:axId val="106513408"/>
        <c:axId val="106513888"/>
      </c:barChart>
      <c:catAx>
        <c:axId val="10651340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pt-BR"/>
          </a:p>
        </c:txPr>
        <c:crossAx val="106513888"/>
        <c:crosses val="autoZero"/>
        <c:auto val="1"/>
        <c:lblAlgn val="ctr"/>
        <c:lblOffset val="100"/>
        <c:noMultiLvlLbl val="0"/>
      </c:catAx>
      <c:valAx>
        <c:axId val="106513888"/>
        <c:scaling>
          <c:orientation val="minMax"/>
          <c:max val="20"/>
          <c:min val="0"/>
        </c:scaling>
        <c:delete val="0"/>
        <c:axPos val="l"/>
        <c:numFmt formatCode="_(* #,##0_);_(* \(#,##0\);_(* &quot;-&quot;_);_(@_)" sourceLinked="0"/>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pt-BR"/>
          </a:p>
        </c:txPr>
        <c:crossAx val="106513408"/>
        <c:crosses val="autoZero"/>
        <c:crossBetween val="between"/>
        <c:majorUnit val="4"/>
      </c:valAx>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2"/>
              </a:solidFill>
              <a:latin typeface="+mn-lt"/>
              <a:ea typeface="+mn-ea"/>
              <a:cs typeface="+mn-cs"/>
            </a:defRPr>
          </a:pPr>
          <a:endParaRPr lang="pt-BR"/>
        </a:p>
      </c:txPr>
    </c:legend>
    <c:plotVisOnly val="1"/>
    <c:dispBlanksAs val="gap"/>
    <c:showDLblsOverMax val="0"/>
  </c:chart>
  <c:spPr>
    <a:noFill/>
    <a:ln>
      <a:noFill/>
    </a:ln>
    <a:effectLst/>
  </c:spPr>
  <c:txPr>
    <a:bodyPr/>
    <a:lstStyle/>
    <a:p>
      <a:pPr>
        <a:defRPr sz="600"/>
      </a:pPr>
      <a:endParaRPr lang="pt-BR"/>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181817845599883E-2"/>
          <c:y val="1.9294612270715057E-2"/>
          <c:w val="0.94833333394973351"/>
          <c:h val="0.81626110421394837"/>
        </c:manualLayout>
      </c:layout>
      <c:barChart>
        <c:barDir val="col"/>
        <c:grouping val="stacked"/>
        <c:varyColors val="0"/>
        <c:ser>
          <c:idx val="0"/>
          <c:order val="0"/>
          <c:tx>
            <c:strRef>
              <c:f>'Slide 2.1'!$N$6</c:f>
              <c:strCache>
                <c:ptCount val="1"/>
                <c:pt idx="0">
                  <c:v>ABB</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'Slide 2.1'!$L$7:$L$10</c:f>
              <c:numCache>
                <c:formatCode>General</c:formatCode>
                <c:ptCount val="4"/>
                <c:pt idx="0">
                  <c:v>2020</c:v>
                </c:pt>
                <c:pt idx="1">
                  <c:v>2021</c:v>
                </c:pt>
                <c:pt idx="2">
                  <c:v>2022</c:v>
                </c:pt>
                <c:pt idx="3">
                  <c:v>2023</c:v>
                </c:pt>
              </c:numCache>
            </c:numRef>
          </c:cat>
          <c:val>
            <c:numRef>
              <c:f>'Slide 2.1'!$N$7:$N$10</c:f>
              <c:numCache>
                <c:formatCode>General</c:formatCode>
                <c:ptCount val="4"/>
                <c:pt idx="0">
                  <c:v>9.39</c:v>
                </c:pt>
                <c:pt idx="1">
                  <c:v>9.98</c:v>
                </c:pt>
                <c:pt idx="2">
                  <c:v>10.26</c:v>
                </c:pt>
                <c:pt idx="3">
                  <c:v>10.87</c:v>
                </c:pt>
              </c:numCache>
            </c:numRef>
          </c:val>
          <c:extLst>
            <c:ext xmlns:c16="http://schemas.microsoft.com/office/drawing/2014/chart" uri="{C3380CC4-5D6E-409C-BE32-E72D297353CC}">
              <c16:uniqueId val="{00000000-4AAB-4385-9A60-6662C3BD501F}"/>
            </c:ext>
          </c:extLst>
        </c:ser>
        <c:ser>
          <c:idx val="1"/>
          <c:order val="1"/>
          <c:tx>
            <c:strRef>
              <c:f>'Slide 2.1'!$O$6</c:f>
              <c:strCache>
                <c:ptCount val="1"/>
                <c:pt idx="0">
                  <c:v>Siemens</c:v>
                </c:pt>
              </c:strCache>
            </c:strRef>
          </c:tx>
          <c:spPr>
            <a:solidFill>
              <a:srgbClr val="005DA4"/>
            </a:solidFill>
            <a:ln>
              <a:noFill/>
            </a:ln>
            <a:effectLst/>
          </c:spPr>
          <c:invertIfNegative val="0"/>
          <c:dLbls>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'Slide 2.1'!$L$7:$L$10</c:f>
              <c:numCache>
                <c:formatCode>General</c:formatCode>
                <c:ptCount val="4"/>
                <c:pt idx="0">
                  <c:v>2020</c:v>
                </c:pt>
                <c:pt idx="1">
                  <c:v>2021</c:v>
                </c:pt>
                <c:pt idx="2">
                  <c:v>2022</c:v>
                </c:pt>
                <c:pt idx="3">
                  <c:v>2023</c:v>
                </c:pt>
              </c:numCache>
            </c:numRef>
          </c:cat>
          <c:val>
            <c:numRef>
              <c:f>'Slide 2.1'!$O$7:$O$10</c:f>
              <c:numCache>
                <c:formatCode>General</c:formatCode>
                <c:ptCount val="4"/>
                <c:pt idx="0">
                  <c:v>32.79</c:v>
                </c:pt>
                <c:pt idx="1">
                  <c:v>34.1</c:v>
                </c:pt>
                <c:pt idx="2">
                  <c:v>35.340000000000003</c:v>
                </c:pt>
                <c:pt idx="3">
                  <c:v>36.61</c:v>
                </c:pt>
              </c:numCache>
            </c:numRef>
          </c:val>
          <c:extLst>
            <c:ext xmlns:c16="http://schemas.microsoft.com/office/drawing/2014/chart" uri="{C3380CC4-5D6E-409C-BE32-E72D297353CC}">
              <c16:uniqueId val="{00000001-4AAB-4385-9A60-6662C3BD501F}"/>
            </c:ext>
          </c:extLst>
        </c:ser>
        <c:ser>
          <c:idx val="2"/>
          <c:order val="2"/>
          <c:tx>
            <c:strRef>
              <c:f>'Slide 2.1'!$P$6</c:f>
              <c:strCache>
                <c:ptCount val="1"/>
                <c:pt idx="0">
                  <c:v>Nidec</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'Slide 2.1'!$L$7:$L$10</c:f>
              <c:numCache>
                <c:formatCode>General</c:formatCode>
                <c:ptCount val="4"/>
                <c:pt idx="0">
                  <c:v>2020</c:v>
                </c:pt>
                <c:pt idx="1">
                  <c:v>2021</c:v>
                </c:pt>
                <c:pt idx="2">
                  <c:v>2022</c:v>
                </c:pt>
                <c:pt idx="3">
                  <c:v>2023</c:v>
                </c:pt>
              </c:numCache>
            </c:numRef>
          </c:cat>
          <c:val>
            <c:numRef>
              <c:f>'Slide 2.1'!$P$7:$P$10</c:f>
              <c:numCache>
                <c:formatCode>General</c:formatCode>
                <c:ptCount val="4"/>
                <c:pt idx="0">
                  <c:v>2.63</c:v>
                </c:pt>
                <c:pt idx="1">
                  <c:v>3.02</c:v>
                </c:pt>
                <c:pt idx="2">
                  <c:v>3.14</c:v>
                </c:pt>
                <c:pt idx="3">
                  <c:v>3.53</c:v>
                </c:pt>
              </c:numCache>
            </c:numRef>
          </c:val>
          <c:extLst>
            <c:ext xmlns:c16="http://schemas.microsoft.com/office/drawing/2014/chart" uri="{C3380CC4-5D6E-409C-BE32-E72D297353CC}">
              <c16:uniqueId val="{00000002-4AAB-4385-9A60-6662C3BD501F}"/>
            </c:ext>
          </c:extLst>
        </c:ser>
        <c:ser>
          <c:idx val="3"/>
          <c:order val="3"/>
          <c:tx>
            <c:strRef>
              <c:f>'Slide 2.1'!$Q$6</c:f>
              <c:strCache>
                <c:ptCount val="1"/>
                <c:pt idx="0">
                  <c:v>Schneider Electric</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'Slide 2.1'!$L$7:$L$10</c:f>
              <c:numCache>
                <c:formatCode>General</c:formatCode>
                <c:ptCount val="4"/>
                <c:pt idx="0">
                  <c:v>2020</c:v>
                </c:pt>
                <c:pt idx="1">
                  <c:v>2021</c:v>
                </c:pt>
                <c:pt idx="2">
                  <c:v>2022</c:v>
                </c:pt>
                <c:pt idx="3">
                  <c:v>2023</c:v>
                </c:pt>
              </c:numCache>
            </c:numRef>
          </c:cat>
          <c:val>
            <c:numRef>
              <c:f>'Slide 2.1'!$Q$7:$Q$10</c:f>
              <c:numCache>
                <c:formatCode>General</c:formatCode>
                <c:ptCount val="4"/>
                <c:pt idx="0">
                  <c:v>8.2200000000000006</c:v>
                </c:pt>
                <c:pt idx="1">
                  <c:v>8.85</c:v>
                </c:pt>
                <c:pt idx="2">
                  <c:v>9.48</c:v>
                </c:pt>
                <c:pt idx="3">
                  <c:v>10.11</c:v>
                </c:pt>
              </c:numCache>
            </c:numRef>
          </c:val>
          <c:extLst>
            <c:ext xmlns:c16="http://schemas.microsoft.com/office/drawing/2014/chart" uri="{C3380CC4-5D6E-409C-BE32-E72D297353CC}">
              <c16:uniqueId val="{00000003-4AAB-4385-9A60-6662C3BD501F}"/>
            </c:ext>
          </c:extLst>
        </c:ser>
        <c:dLbls>
          <c:dLblPos val="ctr"/>
          <c:showLegendKey val="0"/>
          <c:showVal val="1"/>
          <c:showCatName val="0"/>
          <c:showSerName val="0"/>
          <c:showPercent val="0"/>
          <c:showBubbleSize val="0"/>
        </c:dLbls>
        <c:gapWidth val="150"/>
        <c:overlap val="100"/>
        <c:axId val="1903165120"/>
        <c:axId val="1903163680"/>
      </c:barChart>
      <c:catAx>
        <c:axId val="1903165120"/>
        <c:scaling>
          <c:orientation val="minMax"/>
        </c:scaling>
        <c:delete val="1"/>
        <c:axPos val="b"/>
        <c:numFmt formatCode="General" sourceLinked="1"/>
        <c:majorTickMark val="none"/>
        <c:minorTickMark val="none"/>
        <c:tickLblPos val="nextTo"/>
        <c:crossAx val="1903163680"/>
        <c:crosses val="autoZero"/>
        <c:auto val="1"/>
        <c:lblAlgn val="ctr"/>
        <c:lblOffset val="100"/>
        <c:noMultiLvlLbl val="0"/>
      </c:catAx>
      <c:valAx>
        <c:axId val="1903163680"/>
        <c:scaling>
          <c:orientation val="minMax"/>
        </c:scaling>
        <c:delete val="1"/>
        <c:axPos val="l"/>
        <c:numFmt formatCode="General" sourceLinked="1"/>
        <c:majorTickMark val="none"/>
        <c:minorTickMark val="none"/>
        <c:tickLblPos val="nextTo"/>
        <c:crossAx val="1903165120"/>
        <c:crosses val="autoZero"/>
        <c:crossBetween val="between"/>
      </c:valAx>
      <c:spPr>
        <a:noFill/>
        <a:ln>
          <a:noFill/>
        </a:ln>
        <a:effectLst/>
      </c:spPr>
    </c:plotArea>
    <c:legend>
      <c:legendPos val="b"/>
      <c:layout>
        <c:manualLayout>
          <c:xMode val="edge"/>
          <c:yMode val="edge"/>
          <c:x val="0"/>
          <c:y val="0.86263821316401268"/>
          <c:w val="1"/>
          <c:h val="7.3935534905933339E-2"/>
        </c:manualLayout>
      </c:layout>
      <c:overlay val="0"/>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mn-lt"/>
              <a:ea typeface="+mn-ea"/>
              <a:cs typeface="+mn-cs"/>
            </a:defRPr>
          </a:pPr>
          <a:endParaRPr lang="pt-BR"/>
        </a:p>
      </c:txPr>
    </c:legend>
    <c:plotVisOnly val="1"/>
    <c:dispBlanksAs val="gap"/>
    <c:showDLblsOverMax val="0"/>
  </c:chart>
  <c:spPr>
    <a:noFill/>
    <a:ln>
      <a:noFill/>
    </a:ln>
    <a:effectLst/>
  </c:spPr>
  <c:txPr>
    <a:bodyPr/>
    <a:lstStyle/>
    <a:p>
      <a:pPr>
        <a:defRPr sz="600" b="1">
          <a:solidFill>
            <a:schemeClr val="tx1"/>
          </a:solidFill>
        </a:defRPr>
      </a:pPr>
      <a:endParaRPr lang="pt-BR"/>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02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pt-BR"/>
              <a:t>Operating Marging</a:t>
            </a:r>
          </a:p>
        </c:rich>
      </c:tx>
      <c:overlay val="0"/>
      <c:spPr>
        <a:noFill/>
        <a:ln>
          <a:noFill/>
        </a:ln>
        <a:effectLst/>
      </c:spPr>
      <c:txPr>
        <a:bodyPr rot="0" spcFirstLastPara="1" vertOverflow="ellipsis" vert="horz" wrap="square" anchor="ctr" anchorCtr="1"/>
        <a:lstStyle/>
        <a:p>
          <a:pPr>
            <a:defRPr sz="102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title>
    <c:autoTitleDeleted val="0"/>
    <c:plotArea>
      <c:layout/>
      <c:barChart>
        <c:barDir val="col"/>
        <c:grouping val="clustered"/>
        <c:varyColors val="0"/>
        <c:ser>
          <c:idx val="0"/>
          <c:order val="0"/>
          <c:tx>
            <c:strRef>
              <c:f>Planilha1!$J$7</c:f>
              <c:strCache>
                <c:ptCount val="1"/>
                <c:pt idx="0">
                  <c:v>WEG</c:v>
                </c:pt>
              </c:strCache>
            </c:strRef>
          </c:tx>
          <c:spPr>
            <a:solidFill>
              <a:schemeClr val="accent1">
                <a:shade val="50000"/>
              </a:schemeClr>
            </a:solidFill>
            <a:ln>
              <a:noFill/>
            </a:ln>
            <a:effectLst/>
          </c:spPr>
          <c:invertIfNegative val="0"/>
          <c:cat>
            <c:numRef>
              <c:f>Planilha1!$I$8:$I$16</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Planilha1!$J$8:$J$16</c:f>
              <c:numCache>
                <c:formatCode>General</c:formatCode>
                <c:ptCount val="9"/>
                <c:pt idx="0">
                  <c:v>13.66</c:v>
                </c:pt>
                <c:pt idx="1">
                  <c:v>13.02</c:v>
                </c:pt>
                <c:pt idx="2">
                  <c:v>12.51</c:v>
                </c:pt>
                <c:pt idx="3">
                  <c:v>13.52</c:v>
                </c:pt>
                <c:pt idx="4">
                  <c:v>15.72</c:v>
                </c:pt>
                <c:pt idx="5">
                  <c:v>18.38</c:v>
                </c:pt>
                <c:pt idx="6">
                  <c:v>17.11</c:v>
                </c:pt>
                <c:pt idx="7">
                  <c:v>20.28</c:v>
                </c:pt>
                <c:pt idx="8">
                  <c:v>20.82</c:v>
                </c:pt>
              </c:numCache>
            </c:numRef>
          </c:val>
          <c:extLst>
            <c:ext xmlns:c16="http://schemas.microsoft.com/office/drawing/2014/chart" uri="{C3380CC4-5D6E-409C-BE32-E72D297353CC}">
              <c16:uniqueId val="{00000000-2DE3-F24A-8F30-08C5C626DB86}"/>
            </c:ext>
          </c:extLst>
        </c:ser>
        <c:ser>
          <c:idx val="1"/>
          <c:order val="1"/>
          <c:tx>
            <c:strRef>
              <c:f>Planilha1!$K$7</c:f>
              <c:strCache>
                <c:ptCount val="1"/>
                <c:pt idx="0">
                  <c:v>ABB</c:v>
                </c:pt>
              </c:strCache>
            </c:strRef>
          </c:tx>
          <c:spPr>
            <a:solidFill>
              <a:schemeClr val="accent1">
                <a:shade val="70000"/>
              </a:schemeClr>
            </a:solidFill>
            <a:ln>
              <a:noFill/>
            </a:ln>
            <a:effectLst/>
          </c:spPr>
          <c:invertIfNegative val="0"/>
          <c:cat>
            <c:numRef>
              <c:f>Planilha1!$I$8:$I$16</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Planilha1!$K$8:$K$16</c:f>
              <c:numCache>
                <c:formatCode>General</c:formatCode>
                <c:ptCount val="9"/>
                <c:pt idx="0">
                  <c:v>8.83</c:v>
                </c:pt>
                <c:pt idx="1">
                  <c:v>10.210000000000001</c:v>
                </c:pt>
                <c:pt idx="2">
                  <c:v>8.0500000000000007</c:v>
                </c:pt>
                <c:pt idx="3">
                  <c:v>6.93</c:v>
                </c:pt>
                <c:pt idx="4">
                  <c:v>7.29</c:v>
                </c:pt>
                <c:pt idx="5">
                  <c:v>8.68</c:v>
                </c:pt>
                <c:pt idx="6">
                  <c:v>11.33</c:v>
                </c:pt>
                <c:pt idx="7">
                  <c:v>14.2</c:v>
                </c:pt>
                <c:pt idx="8">
                  <c:v>15.44</c:v>
                </c:pt>
              </c:numCache>
            </c:numRef>
          </c:val>
          <c:extLst>
            <c:ext xmlns:c16="http://schemas.microsoft.com/office/drawing/2014/chart" uri="{C3380CC4-5D6E-409C-BE32-E72D297353CC}">
              <c16:uniqueId val="{00000001-2DE3-F24A-8F30-08C5C626DB86}"/>
            </c:ext>
          </c:extLst>
        </c:ser>
        <c:ser>
          <c:idx val="2"/>
          <c:order val="2"/>
          <c:tx>
            <c:strRef>
              <c:f>Planilha1!$L$7</c:f>
              <c:strCache>
                <c:ptCount val="1"/>
                <c:pt idx="0">
                  <c:v>Siemens</c:v>
                </c:pt>
              </c:strCache>
            </c:strRef>
          </c:tx>
          <c:spPr>
            <a:solidFill>
              <a:schemeClr val="accent1">
                <a:shade val="90000"/>
              </a:schemeClr>
            </a:solidFill>
            <a:ln>
              <a:noFill/>
            </a:ln>
            <a:effectLst/>
          </c:spPr>
          <c:invertIfNegative val="0"/>
          <c:cat>
            <c:numRef>
              <c:f>Planilha1!$I$8:$I$16</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Planilha1!$L$8:$L$16</c:f>
              <c:numCache>
                <c:formatCode>General</c:formatCode>
                <c:ptCount val="9"/>
                <c:pt idx="0">
                  <c:v>9.7200000000000006</c:v>
                </c:pt>
                <c:pt idx="1">
                  <c:v>8.44</c:v>
                </c:pt>
                <c:pt idx="2">
                  <c:v>7.09</c:v>
                </c:pt>
                <c:pt idx="3">
                  <c:v>7.63</c:v>
                </c:pt>
                <c:pt idx="4">
                  <c:v>11.23</c:v>
                </c:pt>
                <c:pt idx="5">
                  <c:v>10.37</c:v>
                </c:pt>
                <c:pt idx="6">
                  <c:v>13</c:v>
                </c:pt>
                <c:pt idx="7">
                  <c:v>13.09</c:v>
                </c:pt>
                <c:pt idx="8">
                  <c:v>12.3</c:v>
                </c:pt>
              </c:numCache>
            </c:numRef>
          </c:val>
          <c:extLst>
            <c:ext xmlns:c16="http://schemas.microsoft.com/office/drawing/2014/chart" uri="{C3380CC4-5D6E-409C-BE32-E72D297353CC}">
              <c16:uniqueId val="{00000002-2DE3-F24A-8F30-08C5C626DB86}"/>
            </c:ext>
          </c:extLst>
        </c:ser>
        <c:ser>
          <c:idx val="3"/>
          <c:order val="3"/>
          <c:tx>
            <c:strRef>
              <c:f>Planilha1!$M$7</c:f>
              <c:strCache>
                <c:ptCount val="1"/>
                <c:pt idx="0">
                  <c:v>Nidec</c:v>
                </c:pt>
              </c:strCache>
            </c:strRef>
          </c:tx>
          <c:spPr>
            <a:solidFill>
              <a:schemeClr val="accent1">
                <a:tint val="90000"/>
              </a:schemeClr>
            </a:solidFill>
            <a:ln>
              <a:noFill/>
            </a:ln>
            <a:effectLst/>
          </c:spPr>
          <c:invertIfNegative val="0"/>
          <c:cat>
            <c:numRef>
              <c:f>Planilha1!$I$8:$I$16</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Planilha1!$M$8:$M$16</c:f>
              <c:numCache>
                <c:formatCode>General</c:formatCode>
                <c:ptCount val="9"/>
                <c:pt idx="0">
                  <c:v>11.88</c:v>
                </c:pt>
                <c:pt idx="1">
                  <c:v>11.2</c:v>
                </c:pt>
                <c:pt idx="2">
                  <c:v>11.07</c:v>
                </c:pt>
                <c:pt idx="3">
                  <c:v>6.84</c:v>
                </c:pt>
                <c:pt idx="4">
                  <c:v>8.44</c:v>
                </c:pt>
                <c:pt idx="5">
                  <c:v>9.7100000000000009</c:v>
                </c:pt>
                <c:pt idx="6">
                  <c:v>8.24</c:v>
                </c:pt>
                <c:pt idx="7">
                  <c:v>5.3</c:v>
                </c:pt>
                <c:pt idx="8">
                  <c:v>6.53</c:v>
                </c:pt>
              </c:numCache>
            </c:numRef>
          </c:val>
          <c:extLst>
            <c:ext xmlns:c16="http://schemas.microsoft.com/office/drawing/2014/chart" uri="{C3380CC4-5D6E-409C-BE32-E72D297353CC}">
              <c16:uniqueId val="{00000003-2DE3-F24A-8F30-08C5C626DB86}"/>
            </c:ext>
          </c:extLst>
        </c:ser>
        <c:ser>
          <c:idx val="4"/>
          <c:order val="4"/>
          <c:tx>
            <c:strRef>
              <c:f>Planilha1!$N$7</c:f>
              <c:strCache>
                <c:ptCount val="1"/>
                <c:pt idx="0">
                  <c:v>GE</c:v>
                </c:pt>
              </c:strCache>
            </c:strRef>
          </c:tx>
          <c:spPr>
            <a:solidFill>
              <a:schemeClr val="accent1">
                <a:tint val="70000"/>
              </a:schemeClr>
            </a:solidFill>
            <a:ln>
              <a:noFill/>
            </a:ln>
            <a:effectLst/>
          </c:spPr>
          <c:invertIfNegative val="0"/>
          <c:cat>
            <c:numRef>
              <c:f>Planilha1!$I$8:$I$16</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Planilha1!$N$8:$N$16</c:f>
              <c:numCache>
                <c:formatCode>General</c:formatCode>
                <c:ptCount val="9"/>
                <c:pt idx="0">
                  <c:v>5.89</c:v>
                </c:pt>
                <c:pt idx="1">
                  <c:v>-11.43</c:v>
                </c:pt>
                <c:pt idx="2">
                  <c:v>-21.63</c:v>
                </c:pt>
                <c:pt idx="3">
                  <c:v>-0.06</c:v>
                </c:pt>
                <c:pt idx="4">
                  <c:v>7.87</c:v>
                </c:pt>
                <c:pt idx="5">
                  <c:v>-10.09</c:v>
                </c:pt>
                <c:pt idx="6">
                  <c:v>5.22</c:v>
                </c:pt>
                <c:pt idx="7">
                  <c:v>29.54</c:v>
                </c:pt>
                <c:pt idx="8">
                  <c:v>0</c:v>
                </c:pt>
              </c:numCache>
            </c:numRef>
          </c:val>
          <c:extLst>
            <c:ext xmlns:c16="http://schemas.microsoft.com/office/drawing/2014/chart" uri="{C3380CC4-5D6E-409C-BE32-E72D297353CC}">
              <c16:uniqueId val="{00000004-2DE3-F24A-8F30-08C5C626DB86}"/>
            </c:ext>
          </c:extLst>
        </c:ser>
        <c:ser>
          <c:idx val="5"/>
          <c:order val="5"/>
          <c:tx>
            <c:strRef>
              <c:f>Planilha1!$O$7</c:f>
              <c:strCache>
                <c:ptCount val="1"/>
                <c:pt idx="0">
                  <c:v>Schneider</c:v>
                </c:pt>
              </c:strCache>
            </c:strRef>
          </c:tx>
          <c:spPr>
            <a:solidFill>
              <a:schemeClr val="accent1">
                <a:tint val="50000"/>
              </a:schemeClr>
            </a:solidFill>
            <a:ln>
              <a:noFill/>
            </a:ln>
            <a:effectLst/>
          </c:spPr>
          <c:invertIfNegative val="0"/>
          <c:cat>
            <c:numRef>
              <c:f>Planilha1!$I$8:$I$16</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Planilha1!$O$8:$O$16</c:f>
              <c:numCache>
                <c:formatCode>General</c:formatCode>
                <c:ptCount val="9"/>
                <c:pt idx="0">
                  <c:v>0</c:v>
                </c:pt>
                <c:pt idx="1">
                  <c:v>0</c:v>
                </c:pt>
                <c:pt idx="2">
                  <c:v>0</c:v>
                </c:pt>
                <c:pt idx="3">
                  <c:v>0</c:v>
                </c:pt>
                <c:pt idx="4">
                  <c:v>0</c:v>
                </c:pt>
                <c:pt idx="5">
                  <c:v>0</c:v>
                </c:pt>
                <c:pt idx="6">
                  <c:v>13.81</c:v>
                </c:pt>
                <c:pt idx="7">
                  <c:v>15.05</c:v>
                </c:pt>
                <c:pt idx="8">
                  <c:v>17.22</c:v>
                </c:pt>
              </c:numCache>
            </c:numRef>
          </c:val>
          <c:extLst>
            <c:ext xmlns:c16="http://schemas.microsoft.com/office/drawing/2014/chart" uri="{C3380CC4-5D6E-409C-BE32-E72D297353CC}">
              <c16:uniqueId val="{00000005-2DE3-F24A-8F30-08C5C626DB86}"/>
            </c:ext>
          </c:extLst>
        </c:ser>
        <c:dLbls>
          <c:showLegendKey val="0"/>
          <c:showVal val="0"/>
          <c:showCatName val="0"/>
          <c:showSerName val="0"/>
          <c:showPercent val="0"/>
          <c:showBubbleSize val="0"/>
        </c:dLbls>
        <c:gapWidth val="219"/>
        <c:overlap val="-27"/>
        <c:axId val="1663612608"/>
        <c:axId val="1777203696"/>
      </c:barChart>
      <c:catAx>
        <c:axId val="166361260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1777203696"/>
        <c:crosses val="autoZero"/>
        <c:auto val="1"/>
        <c:lblAlgn val="ctr"/>
        <c:lblOffset val="100"/>
        <c:noMultiLvlLbl val="0"/>
      </c:catAx>
      <c:valAx>
        <c:axId val="177720369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1663612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legend>
    <c:plotVisOnly val="1"/>
    <c:dispBlanksAs val="gap"/>
    <c:showDLblsOverMax val="0"/>
  </c:chart>
  <c:spPr>
    <a:noFill/>
    <a:ln>
      <a:noFill/>
    </a:ln>
    <a:effectLst/>
  </c:spPr>
  <c:txPr>
    <a:bodyPr/>
    <a:lstStyle/>
    <a:p>
      <a:pPr>
        <a:defRPr sz="85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pivotSource>
    <c:name>[custo unitário de acordo com o tipo de industria.xlsx]Planilha1!Tabela dinâmica6</c:name>
    <c:fmtId val="-1"/>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Planilha1!$E$25</c:f>
              <c:strCache>
                <c:ptCount val="1"/>
                <c:pt idx="0">
                  <c:v>Média de custo da Produção Tradicional</c:v>
                </c:pt>
              </c:strCache>
            </c:strRef>
          </c:tx>
          <c:spPr>
            <a:solidFill>
              <a:schemeClr val="accent1">
                <a:shade val="76000"/>
              </a:schemeClr>
            </a:solidFill>
            <a:ln>
              <a:noFill/>
            </a:ln>
            <a:effectLst/>
          </c:spPr>
          <c:invertIfNegative val="0"/>
          <c:cat>
            <c:strRef>
              <c:f>Planilha1!$D$26:$D$32</c:f>
              <c:strCache>
                <c:ptCount val="6"/>
                <c:pt idx="0">
                  <c:v>1.000</c:v>
                </c:pt>
                <c:pt idx="1">
                  <c:v>5.000</c:v>
                </c:pt>
                <c:pt idx="2">
                  <c:v>10.000</c:v>
                </c:pt>
                <c:pt idx="3">
                  <c:v>20.000</c:v>
                </c:pt>
                <c:pt idx="4">
                  <c:v>50.000</c:v>
                </c:pt>
                <c:pt idx="5">
                  <c:v>100.000</c:v>
                </c:pt>
              </c:strCache>
            </c:strRef>
          </c:cat>
          <c:val>
            <c:numRef>
              <c:f>Planilha1!$E$26:$E$32</c:f>
              <c:numCache>
                <c:formatCode>_("R$"* #,##0.00_);_("R$"* \(#,##0.00\);_("R$"* "-"??_);_(@_)</c:formatCode>
                <c:ptCount val="6"/>
                <c:pt idx="0">
                  <c:v>1200</c:v>
                </c:pt>
                <c:pt idx="1">
                  <c:v>950</c:v>
                </c:pt>
                <c:pt idx="2">
                  <c:v>850</c:v>
                </c:pt>
                <c:pt idx="3">
                  <c:v>780</c:v>
                </c:pt>
                <c:pt idx="4">
                  <c:v>730</c:v>
                </c:pt>
                <c:pt idx="5">
                  <c:v>700</c:v>
                </c:pt>
              </c:numCache>
            </c:numRef>
          </c:val>
          <c:extLst>
            <c:ext xmlns:c16="http://schemas.microsoft.com/office/drawing/2014/chart" uri="{C3380CC4-5D6E-409C-BE32-E72D297353CC}">
              <c16:uniqueId val="{00000000-CAC7-AB4A-9D37-DB5B189CB6D0}"/>
            </c:ext>
          </c:extLst>
        </c:ser>
        <c:ser>
          <c:idx val="1"/>
          <c:order val="1"/>
          <c:tx>
            <c:strRef>
              <c:f>Planilha1!$F$25</c:f>
              <c:strCache>
                <c:ptCount val="1"/>
                <c:pt idx="0">
                  <c:v>Média de custo da Indústria 4.0</c:v>
                </c:pt>
              </c:strCache>
            </c:strRef>
          </c:tx>
          <c:spPr>
            <a:solidFill>
              <a:schemeClr val="accent1">
                <a:tint val="77000"/>
              </a:schemeClr>
            </a:solidFill>
            <a:ln>
              <a:noFill/>
            </a:ln>
            <a:effectLst/>
          </c:spPr>
          <c:invertIfNegative val="0"/>
          <c:trendline>
            <c:spPr>
              <a:ln w="19050" cap="rnd">
                <a:solidFill>
                  <a:schemeClr val="accent1">
                    <a:tint val="77000"/>
                  </a:schemeClr>
                </a:solidFill>
                <a:prstDash val="sysDot"/>
              </a:ln>
              <a:effectLst/>
            </c:spPr>
            <c:trendlineType val="linear"/>
            <c:dispRSqr val="0"/>
            <c:dispEq val="0"/>
          </c:trendline>
          <c:cat>
            <c:strRef>
              <c:f>Planilha1!$D$26:$D$32</c:f>
              <c:strCache>
                <c:ptCount val="6"/>
                <c:pt idx="0">
                  <c:v>1.000</c:v>
                </c:pt>
                <c:pt idx="1">
                  <c:v>5.000</c:v>
                </c:pt>
                <c:pt idx="2">
                  <c:v>10.000</c:v>
                </c:pt>
                <c:pt idx="3">
                  <c:v>20.000</c:v>
                </c:pt>
                <c:pt idx="4">
                  <c:v>50.000</c:v>
                </c:pt>
                <c:pt idx="5">
                  <c:v>100.000</c:v>
                </c:pt>
              </c:strCache>
            </c:strRef>
          </c:cat>
          <c:val>
            <c:numRef>
              <c:f>Planilha1!$F$26:$F$32</c:f>
              <c:numCache>
                <c:formatCode>_("R$"* #,##0.00_);_("R$"* \(#,##0.00\);_("R$"* "-"??_);_(@_)</c:formatCode>
                <c:ptCount val="6"/>
                <c:pt idx="0">
                  <c:v>1350</c:v>
                </c:pt>
                <c:pt idx="1">
                  <c:v>900</c:v>
                </c:pt>
                <c:pt idx="2">
                  <c:v>720</c:v>
                </c:pt>
                <c:pt idx="3">
                  <c:v>600</c:v>
                </c:pt>
                <c:pt idx="4">
                  <c:v>510</c:v>
                </c:pt>
                <c:pt idx="5">
                  <c:v>450</c:v>
                </c:pt>
              </c:numCache>
            </c:numRef>
          </c:val>
          <c:extLst>
            <c:ext xmlns:c16="http://schemas.microsoft.com/office/drawing/2014/chart" uri="{C3380CC4-5D6E-409C-BE32-E72D297353CC}">
              <c16:uniqueId val="{00000002-CAC7-AB4A-9D37-DB5B189CB6D0}"/>
            </c:ext>
          </c:extLst>
        </c:ser>
        <c:dLbls>
          <c:showLegendKey val="0"/>
          <c:showVal val="0"/>
          <c:showCatName val="0"/>
          <c:showSerName val="0"/>
          <c:showPercent val="0"/>
          <c:showBubbleSize val="0"/>
        </c:dLbls>
        <c:gapWidth val="219"/>
        <c:overlap val="-27"/>
        <c:axId val="1854054672"/>
        <c:axId val="884610000"/>
      </c:barChart>
      <c:catAx>
        <c:axId val="1854054672"/>
        <c:scaling>
          <c:orientation val="minMax"/>
        </c:scaling>
        <c:delete val="0"/>
        <c:axPos val="b"/>
        <c:title>
          <c:tx>
            <c:rich>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pt-BR"/>
                  <a:t>Amount of units</a:t>
                </a:r>
              </a:p>
            </c:rich>
          </c:tx>
          <c:overlay val="0"/>
          <c:spPr>
            <a:noFill/>
            <a:ln>
              <a:noFill/>
            </a:ln>
            <a:effectLst/>
          </c:spPr>
          <c:txPr>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884610000"/>
        <c:crosses val="autoZero"/>
        <c:auto val="1"/>
        <c:lblAlgn val="ctr"/>
        <c:lblOffset val="100"/>
        <c:noMultiLvlLbl val="0"/>
      </c:catAx>
      <c:valAx>
        <c:axId val="884610000"/>
        <c:scaling>
          <c:orientation val="minMax"/>
          <c:max val="1400"/>
        </c:scaling>
        <c:delete val="0"/>
        <c:axPos val="l"/>
        <c:majorGridlines>
          <c:spPr>
            <a:ln w="9525" cap="flat" cmpd="sng" algn="ctr">
              <a:noFill/>
              <a:round/>
            </a:ln>
            <a:effectLst/>
          </c:spPr>
        </c:majorGridlines>
        <c:numFmt formatCode="_(&quot;R$&quot;* #,##0.00_);_(&quot;R$&quot;* \(#,##0.00\);_(&quot;R$&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1854054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5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scatterChart>
        <c:scatterStyle val="lineMarker"/>
        <c:varyColors val="0"/>
        <c:ser>
          <c:idx val="0"/>
          <c:order val="0"/>
          <c:tx>
            <c:strRef>
              <c:f>Planilha1!$F$5</c:f>
              <c:strCache>
                <c:ptCount val="1"/>
                <c:pt idx="0">
                  <c:v>WEG</c:v>
                </c:pt>
              </c:strCache>
            </c:strRef>
          </c:tx>
          <c:spPr>
            <a:ln w="19050" cap="rnd">
              <a:solidFill>
                <a:schemeClr val="accent1">
                  <a:shade val="58000"/>
                </a:schemeClr>
              </a:solidFill>
              <a:round/>
            </a:ln>
            <a:effectLst/>
          </c:spPr>
          <c:marker>
            <c:symbol val="circle"/>
            <c:size val="5"/>
            <c:spPr>
              <a:solidFill>
                <a:schemeClr val="accent1">
                  <a:shade val="58000"/>
                </a:schemeClr>
              </a:solidFill>
              <a:ln w="9525">
                <a:solidFill>
                  <a:schemeClr val="accent1">
                    <a:shade val="58000"/>
                  </a:schemeClr>
                </a:solidFill>
              </a:ln>
              <a:effectLst/>
            </c:spPr>
          </c:marker>
          <c:xVal>
            <c:numRef>
              <c:f>Planilha1!$E$6:$E$11</c:f>
              <c:numCache>
                <c:formatCode>General</c:formatCode>
                <c:ptCount val="6"/>
                <c:pt idx="0">
                  <c:v>2020</c:v>
                </c:pt>
                <c:pt idx="1">
                  <c:v>2021</c:v>
                </c:pt>
                <c:pt idx="2">
                  <c:v>2022</c:v>
                </c:pt>
                <c:pt idx="3">
                  <c:v>2023</c:v>
                </c:pt>
                <c:pt idx="4">
                  <c:v>2024</c:v>
                </c:pt>
                <c:pt idx="5">
                  <c:v>2025</c:v>
                </c:pt>
              </c:numCache>
            </c:numRef>
          </c:xVal>
          <c:yVal>
            <c:numRef>
              <c:f>Planilha1!$F$6:$F$11</c:f>
              <c:numCache>
                <c:formatCode>0.00%</c:formatCode>
                <c:ptCount val="6"/>
                <c:pt idx="0">
                  <c:v>0.03</c:v>
                </c:pt>
                <c:pt idx="1">
                  <c:v>0.05</c:v>
                </c:pt>
                <c:pt idx="2">
                  <c:v>0.08</c:v>
                </c:pt>
                <c:pt idx="3">
                  <c:v>0.1</c:v>
                </c:pt>
                <c:pt idx="4">
                  <c:v>0.12</c:v>
                </c:pt>
                <c:pt idx="5">
                  <c:v>0.15</c:v>
                </c:pt>
              </c:numCache>
            </c:numRef>
          </c:yVal>
          <c:smooth val="0"/>
          <c:extLst>
            <c:ext xmlns:c16="http://schemas.microsoft.com/office/drawing/2014/chart" uri="{C3380CC4-5D6E-409C-BE32-E72D297353CC}">
              <c16:uniqueId val="{00000000-C768-DD48-B9AE-6762B87E9C25}"/>
            </c:ext>
          </c:extLst>
        </c:ser>
        <c:ser>
          <c:idx val="1"/>
          <c:order val="1"/>
          <c:tx>
            <c:strRef>
              <c:f>Planilha1!$G$5</c:f>
              <c:strCache>
                <c:ptCount val="1"/>
                <c:pt idx="0">
                  <c:v>ABB</c:v>
                </c:pt>
              </c:strCache>
            </c:strRef>
          </c:tx>
          <c:spPr>
            <a:ln w="19050" cap="rnd">
              <a:solidFill>
                <a:schemeClr val="accent1">
                  <a:shade val="86000"/>
                </a:schemeClr>
              </a:solidFill>
              <a:round/>
            </a:ln>
            <a:effectLst/>
          </c:spPr>
          <c:marker>
            <c:symbol val="circle"/>
            <c:size val="5"/>
            <c:spPr>
              <a:solidFill>
                <a:schemeClr val="accent1">
                  <a:shade val="86000"/>
                </a:schemeClr>
              </a:solidFill>
              <a:ln w="9525">
                <a:solidFill>
                  <a:schemeClr val="accent1">
                    <a:shade val="86000"/>
                  </a:schemeClr>
                </a:solidFill>
              </a:ln>
              <a:effectLst/>
            </c:spPr>
          </c:marker>
          <c:xVal>
            <c:numRef>
              <c:f>Planilha1!$E$6:$E$11</c:f>
              <c:numCache>
                <c:formatCode>General</c:formatCode>
                <c:ptCount val="6"/>
                <c:pt idx="0">
                  <c:v>2020</c:v>
                </c:pt>
                <c:pt idx="1">
                  <c:v>2021</c:v>
                </c:pt>
                <c:pt idx="2">
                  <c:v>2022</c:v>
                </c:pt>
                <c:pt idx="3">
                  <c:v>2023</c:v>
                </c:pt>
                <c:pt idx="4">
                  <c:v>2024</c:v>
                </c:pt>
                <c:pt idx="5">
                  <c:v>2025</c:v>
                </c:pt>
              </c:numCache>
            </c:numRef>
          </c:xVal>
          <c:yVal>
            <c:numRef>
              <c:f>Planilha1!$G$6:$G$11</c:f>
              <c:numCache>
                <c:formatCode>0.00%</c:formatCode>
                <c:ptCount val="6"/>
                <c:pt idx="0">
                  <c:v>0.04</c:v>
                </c:pt>
                <c:pt idx="1">
                  <c:v>7.0000000000000007E-2</c:v>
                </c:pt>
                <c:pt idx="2">
                  <c:v>0.1</c:v>
                </c:pt>
                <c:pt idx="3">
                  <c:v>0.15</c:v>
                </c:pt>
                <c:pt idx="4">
                  <c:v>0.18</c:v>
                </c:pt>
                <c:pt idx="5">
                  <c:v>0.22</c:v>
                </c:pt>
              </c:numCache>
            </c:numRef>
          </c:yVal>
          <c:smooth val="0"/>
          <c:extLst>
            <c:ext xmlns:c16="http://schemas.microsoft.com/office/drawing/2014/chart" uri="{C3380CC4-5D6E-409C-BE32-E72D297353CC}">
              <c16:uniqueId val="{00000001-C768-DD48-B9AE-6762B87E9C25}"/>
            </c:ext>
          </c:extLst>
        </c:ser>
        <c:ser>
          <c:idx val="2"/>
          <c:order val="2"/>
          <c:tx>
            <c:strRef>
              <c:f>Planilha1!$H$5</c:f>
              <c:strCache>
                <c:ptCount val="1"/>
                <c:pt idx="0">
                  <c:v>Siemens</c:v>
                </c:pt>
              </c:strCache>
            </c:strRef>
          </c:tx>
          <c:spPr>
            <a:ln w="19050" cap="rnd">
              <a:solidFill>
                <a:schemeClr val="accent1">
                  <a:tint val="86000"/>
                </a:schemeClr>
              </a:solidFill>
              <a:round/>
            </a:ln>
            <a:effectLst/>
          </c:spPr>
          <c:marker>
            <c:symbol val="circle"/>
            <c:size val="5"/>
            <c:spPr>
              <a:solidFill>
                <a:schemeClr val="accent1">
                  <a:tint val="86000"/>
                </a:schemeClr>
              </a:solidFill>
              <a:ln w="9525">
                <a:solidFill>
                  <a:schemeClr val="accent1">
                    <a:tint val="86000"/>
                  </a:schemeClr>
                </a:solidFill>
              </a:ln>
              <a:effectLst/>
            </c:spPr>
          </c:marker>
          <c:xVal>
            <c:numRef>
              <c:f>Planilha1!$E$6:$E$11</c:f>
              <c:numCache>
                <c:formatCode>General</c:formatCode>
                <c:ptCount val="6"/>
                <c:pt idx="0">
                  <c:v>2020</c:v>
                </c:pt>
                <c:pt idx="1">
                  <c:v>2021</c:v>
                </c:pt>
                <c:pt idx="2">
                  <c:v>2022</c:v>
                </c:pt>
                <c:pt idx="3">
                  <c:v>2023</c:v>
                </c:pt>
                <c:pt idx="4">
                  <c:v>2024</c:v>
                </c:pt>
                <c:pt idx="5">
                  <c:v>2025</c:v>
                </c:pt>
              </c:numCache>
            </c:numRef>
          </c:xVal>
          <c:yVal>
            <c:numRef>
              <c:f>Planilha1!$H$6:$H$11</c:f>
              <c:numCache>
                <c:formatCode>0.00%</c:formatCode>
                <c:ptCount val="6"/>
                <c:pt idx="0">
                  <c:v>0.02</c:v>
                </c:pt>
                <c:pt idx="1">
                  <c:v>0.05</c:v>
                </c:pt>
                <c:pt idx="2">
                  <c:v>0.09</c:v>
                </c:pt>
                <c:pt idx="3">
                  <c:v>0.12</c:v>
                </c:pt>
                <c:pt idx="4">
                  <c:v>0.14000000000000001</c:v>
                </c:pt>
                <c:pt idx="5">
                  <c:v>0.16</c:v>
                </c:pt>
              </c:numCache>
            </c:numRef>
          </c:yVal>
          <c:smooth val="0"/>
          <c:extLst>
            <c:ext xmlns:c16="http://schemas.microsoft.com/office/drawing/2014/chart" uri="{C3380CC4-5D6E-409C-BE32-E72D297353CC}">
              <c16:uniqueId val="{00000002-C768-DD48-B9AE-6762B87E9C25}"/>
            </c:ext>
          </c:extLst>
        </c:ser>
        <c:ser>
          <c:idx val="3"/>
          <c:order val="3"/>
          <c:tx>
            <c:strRef>
              <c:f>Planilha1!$I$5</c:f>
              <c:strCache>
                <c:ptCount val="1"/>
                <c:pt idx="0">
                  <c:v>GE</c:v>
                </c:pt>
              </c:strCache>
            </c:strRef>
          </c:tx>
          <c:spPr>
            <a:ln w="19050" cap="rnd">
              <a:solidFill>
                <a:schemeClr val="accent1">
                  <a:tint val="58000"/>
                </a:schemeClr>
              </a:solidFill>
              <a:round/>
            </a:ln>
            <a:effectLst/>
          </c:spPr>
          <c:marker>
            <c:symbol val="circle"/>
            <c:size val="5"/>
            <c:spPr>
              <a:solidFill>
                <a:schemeClr val="accent1">
                  <a:tint val="58000"/>
                </a:schemeClr>
              </a:solidFill>
              <a:ln w="9525">
                <a:solidFill>
                  <a:schemeClr val="accent1">
                    <a:tint val="58000"/>
                  </a:schemeClr>
                </a:solidFill>
              </a:ln>
              <a:effectLst/>
            </c:spPr>
          </c:marker>
          <c:xVal>
            <c:numRef>
              <c:f>Planilha1!$E$6:$E$11</c:f>
              <c:numCache>
                <c:formatCode>General</c:formatCode>
                <c:ptCount val="6"/>
                <c:pt idx="0">
                  <c:v>2020</c:v>
                </c:pt>
                <c:pt idx="1">
                  <c:v>2021</c:v>
                </c:pt>
                <c:pt idx="2">
                  <c:v>2022</c:v>
                </c:pt>
                <c:pt idx="3">
                  <c:v>2023</c:v>
                </c:pt>
                <c:pt idx="4">
                  <c:v>2024</c:v>
                </c:pt>
                <c:pt idx="5">
                  <c:v>2025</c:v>
                </c:pt>
              </c:numCache>
            </c:numRef>
          </c:xVal>
          <c:yVal>
            <c:numRef>
              <c:f>Planilha1!$I$6:$I$11</c:f>
              <c:numCache>
                <c:formatCode>0.00%</c:formatCode>
                <c:ptCount val="6"/>
                <c:pt idx="0">
                  <c:v>0.01</c:v>
                </c:pt>
                <c:pt idx="1">
                  <c:v>0.03</c:v>
                </c:pt>
                <c:pt idx="2">
                  <c:v>0.05</c:v>
                </c:pt>
                <c:pt idx="3">
                  <c:v>0.08</c:v>
                </c:pt>
                <c:pt idx="4">
                  <c:v>0.1</c:v>
                </c:pt>
                <c:pt idx="5">
                  <c:v>0.12</c:v>
                </c:pt>
              </c:numCache>
            </c:numRef>
          </c:yVal>
          <c:smooth val="0"/>
          <c:extLst>
            <c:ext xmlns:c16="http://schemas.microsoft.com/office/drawing/2014/chart" uri="{C3380CC4-5D6E-409C-BE32-E72D297353CC}">
              <c16:uniqueId val="{00000003-C768-DD48-B9AE-6762B87E9C25}"/>
            </c:ext>
          </c:extLst>
        </c:ser>
        <c:dLbls>
          <c:showLegendKey val="0"/>
          <c:showVal val="0"/>
          <c:showCatName val="0"/>
          <c:showSerName val="0"/>
          <c:showPercent val="0"/>
          <c:showBubbleSize val="0"/>
        </c:dLbls>
        <c:axId val="1992748016"/>
        <c:axId val="1992829280"/>
      </c:scatterChart>
      <c:valAx>
        <c:axId val="1992748016"/>
        <c:scaling>
          <c:orientation val="minMax"/>
          <c:max val="2025"/>
        </c:scaling>
        <c:delete val="0"/>
        <c:axPos val="b"/>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1992829280"/>
        <c:crosses val="autoZero"/>
        <c:crossBetween val="midCat"/>
      </c:valAx>
      <c:valAx>
        <c:axId val="1992829280"/>
        <c:scaling>
          <c:orientation val="minMax"/>
        </c:scaling>
        <c:delete val="0"/>
        <c:axPos val="l"/>
        <c:majorGridlines>
          <c:spPr>
            <a:ln w="9525" cap="flat" cmpd="sng" algn="ctr">
              <a:solidFill>
                <a:schemeClr val="accent1">
                  <a:shade val="15000"/>
                  <a:alpha val="0"/>
                </a:schemeClr>
              </a:solidFill>
              <a:round/>
            </a:ln>
            <a:effectLst/>
          </c:spPr>
        </c:majorGridlines>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1992748016"/>
        <c:crosses val="autoZero"/>
        <c:crossBetween val="midCat"/>
      </c:valAx>
      <c:spPr>
        <a:noFill/>
        <a:ln>
          <a:solidFill>
            <a:schemeClr val="accent1">
              <a:alpha val="0"/>
            </a:schemeClr>
          </a:solidFill>
        </a:ln>
        <a:effectLst/>
      </c:spPr>
    </c:plotArea>
    <c:legend>
      <c:legendPos val="b"/>
      <c:overlay val="0"/>
      <c:spPr>
        <a:noFill/>
        <a:ln>
          <a:noFill/>
        </a:ln>
        <a:effectLst/>
      </c:spPr>
      <c:txPr>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legend>
    <c:plotVisOnly val="1"/>
    <c:dispBlanksAs val="gap"/>
    <c:showDLblsOverMax val="0"/>
  </c:chart>
  <c:spPr>
    <a:noFill/>
    <a:ln>
      <a:noFill/>
    </a:ln>
    <a:effectLst/>
  </c:spPr>
  <c:txPr>
    <a:bodyPr/>
    <a:lstStyle/>
    <a:p>
      <a:pPr>
        <a:defRPr sz="85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5.1618035494730603E-2"/>
          <c:y val="7.6721560724030075E-3"/>
          <c:w val="0.91467752099365274"/>
          <c:h val="0.46656740675414587"/>
        </c:manualLayout>
      </c:layout>
      <c:barChart>
        <c:barDir val="col"/>
        <c:grouping val="stacked"/>
        <c:varyColors val="0"/>
        <c:ser>
          <c:idx val="0"/>
          <c:order val="0"/>
          <c:tx>
            <c:strRef>
              <c:f>Planilha1!$A$3</c:f>
              <c:strCache>
                <c:ptCount val="1"/>
                <c:pt idx="0">
                  <c:v>Industrial eletronics</c:v>
                </c:pt>
              </c:strCache>
            </c:strRef>
          </c:tx>
          <c:spPr>
            <a:solidFill>
              <a:schemeClr val="accent1">
                <a:shade val="58000"/>
              </a:schemeClr>
            </a:solidFill>
            <a:ln>
              <a:noFill/>
            </a:ln>
            <a:effectLst/>
          </c:spPr>
          <c:invertIfNegative val="0"/>
          <c:dLbls>
            <c:spPr>
              <a:noFill/>
              <a:ln>
                <a:noFill/>
              </a:ln>
              <a:effectLst/>
            </c:spPr>
            <c:txPr>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Planilha1!$B$2:$T$2</c:f>
              <c:numCache>
                <c:formatCode>General</c:formatCode>
                <c:ptCount val="19"/>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numCache>
            </c:numRef>
          </c:cat>
          <c:val>
            <c:numRef>
              <c:f>Planilha1!$B$3:$T$3</c:f>
              <c:numCache>
                <c:formatCode>General</c:formatCode>
                <c:ptCount val="19"/>
                <c:pt idx="4">
                  <c:v>3</c:v>
                </c:pt>
                <c:pt idx="5">
                  <c:v>2</c:v>
                </c:pt>
                <c:pt idx="7">
                  <c:v>1</c:v>
                </c:pt>
                <c:pt idx="8">
                  <c:v>4</c:v>
                </c:pt>
                <c:pt idx="10">
                  <c:v>1</c:v>
                </c:pt>
                <c:pt idx="13">
                  <c:v>3</c:v>
                </c:pt>
                <c:pt idx="14">
                  <c:v>2</c:v>
                </c:pt>
                <c:pt idx="16">
                  <c:v>1</c:v>
                </c:pt>
                <c:pt idx="17">
                  <c:v>1</c:v>
                </c:pt>
                <c:pt idx="18">
                  <c:v>1</c:v>
                </c:pt>
              </c:numCache>
            </c:numRef>
          </c:val>
          <c:extLst>
            <c:ext xmlns:c16="http://schemas.microsoft.com/office/drawing/2014/chart" uri="{C3380CC4-5D6E-409C-BE32-E72D297353CC}">
              <c16:uniqueId val="{00000000-AA11-4349-8365-32101932AB24}"/>
            </c:ext>
          </c:extLst>
        </c:ser>
        <c:ser>
          <c:idx val="1"/>
          <c:order val="1"/>
          <c:tx>
            <c:strRef>
              <c:f>Planilha1!$A$4</c:f>
              <c:strCache>
                <c:ptCount val="1"/>
                <c:pt idx="0">
                  <c:v>Generation, Transmission and Distribution</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Planilha1!$B$2:$T$2</c:f>
              <c:numCache>
                <c:formatCode>General</c:formatCode>
                <c:ptCount val="19"/>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numCache>
            </c:numRef>
          </c:cat>
          <c:val>
            <c:numRef>
              <c:f>Planilha1!$B$4:$T$4</c:f>
              <c:numCache>
                <c:formatCode>General</c:formatCode>
                <c:ptCount val="19"/>
                <c:pt idx="1">
                  <c:v>2</c:v>
                </c:pt>
                <c:pt idx="4">
                  <c:v>1</c:v>
                </c:pt>
                <c:pt idx="5">
                  <c:v>2</c:v>
                </c:pt>
                <c:pt idx="7">
                  <c:v>1</c:v>
                </c:pt>
                <c:pt idx="8">
                  <c:v>1</c:v>
                </c:pt>
                <c:pt idx="9">
                  <c:v>3</c:v>
                </c:pt>
                <c:pt idx="10">
                  <c:v>2</c:v>
                </c:pt>
                <c:pt idx="11">
                  <c:v>1</c:v>
                </c:pt>
                <c:pt idx="12">
                  <c:v>1</c:v>
                </c:pt>
                <c:pt idx="13">
                  <c:v>1</c:v>
                </c:pt>
                <c:pt idx="14">
                  <c:v>1</c:v>
                </c:pt>
                <c:pt idx="15">
                  <c:v>1</c:v>
                </c:pt>
                <c:pt idx="16">
                  <c:v>1</c:v>
                </c:pt>
                <c:pt idx="17">
                  <c:v>1</c:v>
                </c:pt>
              </c:numCache>
            </c:numRef>
          </c:val>
          <c:extLst>
            <c:ext xmlns:c16="http://schemas.microsoft.com/office/drawing/2014/chart" uri="{C3380CC4-5D6E-409C-BE32-E72D297353CC}">
              <c16:uniqueId val="{00000001-AA11-4349-8365-32101932AB24}"/>
            </c:ext>
          </c:extLst>
        </c:ser>
        <c:ser>
          <c:idx val="2"/>
          <c:order val="2"/>
          <c:tx>
            <c:strRef>
              <c:f>Planilha1!$A$5</c:f>
              <c:strCache>
                <c:ptCount val="1"/>
                <c:pt idx="0">
                  <c:v>Comercial motors and Appliance</c:v>
                </c:pt>
              </c:strCache>
            </c:strRef>
          </c:tx>
          <c:spPr>
            <a:solidFill>
              <a:schemeClr val="accent1">
                <a:tint val="86000"/>
              </a:schemeClr>
            </a:solidFill>
            <a:ln>
              <a:noFill/>
            </a:ln>
            <a:effectLst/>
          </c:spPr>
          <c:invertIfNegative val="0"/>
          <c:dPt>
            <c:idx val="6"/>
            <c:invertIfNegative val="0"/>
            <c:bubble3D val="0"/>
            <c:spPr>
              <a:solidFill>
                <a:schemeClr val="tx2">
                  <a:lumMod val="50000"/>
                  <a:lumOff val="50000"/>
                </a:schemeClr>
              </a:solidFill>
              <a:ln>
                <a:noFill/>
              </a:ln>
              <a:effectLst/>
            </c:spPr>
            <c:extLst>
              <c:ext xmlns:c16="http://schemas.microsoft.com/office/drawing/2014/chart" uri="{C3380CC4-5D6E-409C-BE32-E72D297353CC}">
                <c16:uniqueId val="{00000003-AA11-4349-8365-32101932AB24}"/>
              </c:ext>
            </c:extLst>
          </c:dPt>
          <c:dLbls>
            <c:spPr>
              <a:noFill/>
              <a:ln>
                <a:noFill/>
              </a:ln>
              <a:effectLst/>
            </c:spPr>
            <c:txPr>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Planilha1!$B$2:$T$2</c:f>
              <c:numCache>
                <c:formatCode>General</c:formatCode>
                <c:ptCount val="19"/>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numCache>
            </c:numRef>
          </c:cat>
          <c:val>
            <c:numRef>
              <c:f>Planilha1!$B$5:$T$5</c:f>
              <c:numCache>
                <c:formatCode>General</c:formatCode>
                <c:ptCount val="19"/>
                <c:pt idx="6">
                  <c:v>1</c:v>
                </c:pt>
                <c:pt idx="16">
                  <c:v>1</c:v>
                </c:pt>
                <c:pt idx="18">
                  <c:v>2</c:v>
                </c:pt>
              </c:numCache>
            </c:numRef>
          </c:val>
          <c:extLst>
            <c:ext xmlns:c16="http://schemas.microsoft.com/office/drawing/2014/chart" uri="{C3380CC4-5D6E-409C-BE32-E72D297353CC}">
              <c16:uniqueId val="{00000004-AA11-4349-8365-32101932AB24}"/>
            </c:ext>
          </c:extLst>
        </c:ser>
        <c:ser>
          <c:idx val="3"/>
          <c:order val="3"/>
          <c:tx>
            <c:strRef>
              <c:f>Planilha1!$A$6</c:f>
              <c:strCache>
                <c:ptCount val="1"/>
                <c:pt idx="0">
                  <c:v>Paints and Varnishes</c:v>
                </c:pt>
              </c:strCache>
            </c:strRef>
          </c:tx>
          <c:spPr>
            <a:solidFill>
              <a:schemeClr val="accent1">
                <a:tint val="58000"/>
              </a:schemeClr>
            </a:solidFill>
            <a:ln>
              <a:noFill/>
            </a:ln>
            <a:effectLst/>
          </c:spPr>
          <c:invertIfNegative val="0"/>
          <c:dLbls>
            <c:spPr>
              <a:noFill/>
              <a:ln>
                <a:noFill/>
              </a:ln>
              <a:effectLst/>
            </c:spPr>
            <c:txPr>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Planilha1!$B$2:$T$2</c:f>
              <c:numCache>
                <c:formatCode>General</c:formatCode>
                <c:ptCount val="19"/>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numCache>
            </c:numRef>
          </c:cat>
          <c:val>
            <c:numRef>
              <c:f>Planilha1!$B$6:$T$6</c:f>
              <c:numCache>
                <c:formatCode>General</c:formatCode>
                <c:ptCount val="19"/>
                <c:pt idx="5">
                  <c:v>1</c:v>
                </c:pt>
                <c:pt idx="6">
                  <c:v>2</c:v>
                </c:pt>
                <c:pt idx="8">
                  <c:v>1</c:v>
                </c:pt>
              </c:numCache>
            </c:numRef>
          </c:val>
          <c:extLst>
            <c:ext xmlns:c16="http://schemas.microsoft.com/office/drawing/2014/chart" uri="{C3380CC4-5D6E-409C-BE32-E72D297353CC}">
              <c16:uniqueId val="{00000005-AA11-4349-8365-32101932AB24}"/>
            </c:ext>
          </c:extLst>
        </c:ser>
        <c:dLbls>
          <c:dLblPos val="ctr"/>
          <c:showLegendKey val="0"/>
          <c:showVal val="1"/>
          <c:showCatName val="0"/>
          <c:showSerName val="0"/>
          <c:showPercent val="0"/>
          <c:showBubbleSize val="0"/>
        </c:dLbls>
        <c:gapWidth val="150"/>
        <c:overlap val="100"/>
        <c:axId val="959970416"/>
        <c:axId val="960307584"/>
      </c:barChart>
      <c:catAx>
        <c:axId val="959970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960307584"/>
        <c:crosses val="autoZero"/>
        <c:auto val="1"/>
        <c:lblAlgn val="ctr"/>
        <c:lblOffset val="100"/>
        <c:noMultiLvlLbl val="0"/>
      </c:catAx>
      <c:valAx>
        <c:axId val="960307584"/>
        <c:scaling>
          <c:orientation val="minMax"/>
        </c:scaling>
        <c:delete val="1"/>
        <c:axPos val="l"/>
        <c:numFmt formatCode="General" sourceLinked="1"/>
        <c:majorTickMark val="none"/>
        <c:minorTickMark val="none"/>
        <c:tickLblPos val="nextTo"/>
        <c:crossAx val="959970416"/>
        <c:crosses val="autoZero"/>
        <c:crossBetween val="between"/>
      </c:valAx>
      <c:spPr>
        <a:noFill/>
        <a:ln>
          <a:noFill/>
        </a:ln>
        <a:effectLst/>
      </c:spPr>
    </c:plotArea>
    <c:legend>
      <c:legendPos val="b"/>
      <c:layout>
        <c:manualLayout>
          <c:xMode val="edge"/>
          <c:yMode val="edge"/>
          <c:x val="6.6233246212036384E-2"/>
          <c:y val="0.62232072722947152"/>
          <c:w val="0.58989408950780198"/>
          <c:h val="0.28651580542769584"/>
        </c:manualLayout>
      </c:layout>
      <c:overlay val="0"/>
      <c:spPr>
        <a:noFill/>
        <a:ln>
          <a:noFill/>
        </a:ln>
        <a:effectLst/>
      </c:spPr>
      <c:txPr>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5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lineChart>
        <c:grouping val="standard"/>
        <c:varyColors val="0"/>
        <c:ser>
          <c:idx val="0"/>
          <c:order val="0"/>
          <c:tx>
            <c:strRef>
              <c:f>Planilha1!$P$7</c:f>
              <c:strCache>
                <c:ptCount val="1"/>
                <c:pt idx="0">
                  <c:v>labor cost USA- Anual variation (%)</c:v>
                </c:pt>
              </c:strCache>
            </c:strRef>
          </c:tx>
          <c:spPr>
            <a:ln w="28575" cap="rnd">
              <a:solidFill>
                <a:schemeClr val="accent1">
                  <a:shade val="76000"/>
                </a:schemeClr>
              </a:solidFill>
              <a:round/>
            </a:ln>
            <a:effectLst/>
          </c:spPr>
          <c:marker>
            <c:symbol val="none"/>
          </c:marker>
          <c:cat>
            <c:numRef>
              <c:f>Planilha1!$O$8:$O$16</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Planilha1!$P$8:$P$16</c:f>
              <c:numCache>
                <c:formatCode>0.00%</c:formatCode>
                <c:ptCount val="9"/>
                <c:pt idx="0">
                  <c:v>2.1999999999999999E-2</c:v>
                </c:pt>
                <c:pt idx="1">
                  <c:v>2.5000000000000001E-2</c:v>
                </c:pt>
                <c:pt idx="2">
                  <c:v>2.9000000000000001E-2</c:v>
                </c:pt>
                <c:pt idx="3">
                  <c:v>2.7E-2</c:v>
                </c:pt>
                <c:pt idx="4">
                  <c:v>2.5999999999999999E-2</c:v>
                </c:pt>
                <c:pt idx="5">
                  <c:v>3.5000000000000003E-2</c:v>
                </c:pt>
                <c:pt idx="6">
                  <c:v>0.04</c:v>
                </c:pt>
                <c:pt idx="7">
                  <c:v>4.2999999999999997E-2</c:v>
                </c:pt>
                <c:pt idx="8">
                  <c:v>3.7999999999999999E-2</c:v>
                </c:pt>
              </c:numCache>
            </c:numRef>
          </c:val>
          <c:smooth val="0"/>
          <c:extLst>
            <c:ext xmlns:c16="http://schemas.microsoft.com/office/drawing/2014/chart" uri="{C3380CC4-5D6E-409C-BE32-E72D297353CC}">
              <c16:uniqueId val="{00000000-3D5F-5C44-9F6E-DCBB808221BD}"/>
            </c:ext>
          </c:extLst>
        </c:ser>
        <c:ser>
          <c:idx val="1"/>
          <c:order val="1"/>
          <c:tx>
            <c:strRef>
              <c:f>Planilha1!$Q$7</c:f>
              <c:strCache>
                <c:ptCount val="1"/>
                <c:pt idx="0">
                  <c:v>labor cost UE –  Anual variation (%)</c:v>
                </c:pt>
              </c:strCache>
            </c:strRef>
          </c:tx>
          <c:spPr>
            <a:ln w="28575" cap="rnd">
              <a:solidFill>
                <a:schemeClr val="accent1">
                  <a:tint val="77000"/>
                </a:schemeClr>
              </a:solidFill>
              <a:round/>
            </a:ln>
            <a:effectLst/>
          </c:spPr>
          <c:marker>
            <c:symbol val="none"/>
          </c:marker>
          <c:cat>
            <c:numRef>
              <c:f>Planilha1!$O$8:$O$16</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Planilha1!$Q$8:$Q$16</c:f>
              <c:numCache>
                <c:formatCode>0.00%</c:formatCode>
                <c:ptCount val="9"/>
                <c:pt idx="0">
                  <c:v>1.6E-2</c:v>
                </c:pt>
                <c:pt idx="1">
                  <c:v>1.7000000000000001E-2</c:v>
                </c:pt>
                <c:pt idx="2">
                  <c:v>2.1000000000000001E-2</c:v>
                </c:pt>
                <c:pt idx="3">
                  <c:v>2.1999999999999999E-2</c:v>
                </c:pt>
                <c:pt idx="4">
                  <c:v>2.5000000000000001E-2</c:v>
                </c:pt>
                <c:pt idx="5">
                  <c:v>2.8000000000000001E-2</c:v>
                </c:pt>
                <c:pt idx="6">
                  <c:v>3.2000000000000001E-2</c:v>
                </c:pt>
                <c:pt idx="7">
                  <c:v>3.5000000000000003E-2</c:v>
                </c:pt>
                <c:pt idx="8">
                  <c:v>4.2999999999999997E-2</c:v>
                </c:pt>
              </c:numCache>
            </c:numRef>
          </c:val>
          <c:smooth val="0"/>
          <c:extLst>
            <c:ext xmlns:c16="http://schemas.microsoft.com/office/drawing/2014/chart" uri="{C3380CC4-5D6E-409C-BE32-E72D297353CC}">
              <c16:uniqueId val="{00000001-3D5F-5C44-9F6E-DCBB808221BD}"/>
            </c:ext>
          </c:extLst>
        </c:ser>
        <c:dLbls>
          <c:showLegendKey val="0"/>
          <c:showVal val="0"/>
          <c:showCatName val="0"/>
          <c:showSerName val="0"/>
          <c:showPercent val="0"/>
          <c:showBubbleSize val="0"/>
        </c:dLbls>
        <c:smooth val="0"/>
        <c:axId val="719916416"/>
        <c:axId val="719918128"/>
      </c:lineChart>
      <c:catAx>
        <c:axId val="719916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719918128"/>
        <c:crosses val="autoZero"/>
        <c:auto val="1"/>
        <c:lblAlgn val="ctr"/>
        <c:lblOffset val="100"/>
        <c:noMultiLvlLbl val="0"/>
      </c:catAx>
      <c:valAx>
        <c:axId val="719918128"/>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71991641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legend>
    <c:plotVisOnly val="1"/>
    <c:dispBlanksAs val="gap"/>
    <c:showDLblsOverMax val="0"/>
  </c:chart>
  <c:spPr>
    <a:noFill/>
    <a:ln>
      <a:noFill/>
    </a:ln>
    <a:effectLst/>
  </c:spPr>
  <c:txPr>
    <a:bodyPr/>
    <a:lstStyle/>
    <a:p>
      <a:pPr>
        <a:defRPr sz="85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1.2362640036912701E-2"/>
          <c:y val="2.9332692787391101E-2"/>
          <c:w val="0.98351647995078306"/>
          <c:h val="0.87067977938119567"/>
        </c:manualLayout>
      </c:layout>
      <c:barChart>
        <c:barDir val="col"/>
        <c:grouping val="clustered"/>
        <c:varyColors val="0"/>
        <c:ser>
          <c:idx val="0"/>
          <c:order val="0"/>
          <c:tx>
            <c:strRef>
              <c:f>Planilha5!$B$1</c:f>
              <c:strCache>
                <c:ptCount val="1"/>
                <c:pt idx="0">
                  <c:v>ROE</c:v>
                </c:pt>
              </c:strCache>
            </c:strRef>
          </c:tx>
          <c:spPr>
            <a:solidFill>
              <a:schemeClr val="accent1"/>
            </a:solidFill>
            <a:ln>
              <a:noFill/>
            </a:ln>
            <a:effectLst/>
          </c:spPr>
          <c:invertIfNegative val="0"/>
          <c:dPt>
            <c:idx val="0"/>
            <c:invertIfNegative val="0"/>
            <c:bubble3D val="0"/>
            <c:spPr>
              <a:solidFill>
                <a:schemeClr val="tx2">
                  <a:lumMod val="90000"/>
                  <a:lumOff val="10000"/>
                </a:schemeClr>
              </a:solidFill>
              <a:ln>
                <a:noFill/>
              </a:ln>
              <a:effectLst/>
            </c:spPr>
            <c:extLst>
              <c:ext xmlns:c16="http://schemas.microsoft.com/office/drawing/2014/chart" uri="{C3380CC4-5D6E-409C-BE32-E72D297353CC}">
                <c16:uniqueId val="{00000001-B9FA-47D4-A4CF-5E2471061EBA}"/>
              </c:ext>
            </c:extLst>
          </c:dPt>
          <c:dPt>
            <c:idx val="1"/>
            <c:invertIfNegative val="0"/>
            <c:bubble3D val="0"/>
            <c:spPr>
              <a:solidFill>
                <a:schemeClr val="accent3">
                  <a:lumMod val="75000"/>
                </a:schemeClr>
              </a:solidFill>
              <a:ln>
                <a:noFill/>
              </a:ln>
              <a:effectLst/>
            </c:spPr>
            <c:extLst>
              <c:ext xmlns:c16="http://schemas.microsoft.com/office/drawing/2014/chart" uri="{C3380CC4-5D6E-409C-BE32-E72D297353CC}">
                <c16:uniqueId val="{00000003-B9FA-47D4-A4CF-5E2471061EBA}"/>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05-B9FA-47D4-A4CF-5E2471061EBA}"/>
              </c:ext>
            </c:extLst>
          </c:dPt>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35300244009441312"/>
                      <c:h val="0.16281996423522468"/>
                    </c:manualLayout>
                  </c15:layout>
                </c:ext>
                <c:ext xmlns:c16="http://schemas.microsoft.com/office/drawing/2014/chart" uri="{C3380CC4-5D6E-409C-BE32-E72D297353CC}">
                  <c16:uniqueId val="{00000001-B9FA-47D4-A4CF-5E2471061EBA}"/>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36451402963645124"/>
                      <c:h val="0.2244330725769228"/>
                    </c:manualLayout>
                  </c15:layout>
                </c:ext>
                <c:ext xmlns:c16="http://schemas.microsoft.com/office/drawing/2014/chart" uri="{C3380CC4-5D6E-409C-BE32-E72D297353CC}">
                  <c16:uniqueId val="{00000003-B9FA-47D4-A4CF-5E2471061EBA}"/>
                </c:ext>
              </c:extLst>
            </c:dLbl>
            <c:dLbl>
              <c:idx val="2"/>
              <c:dLblPos val="outEnd"/>
              <c:showLegendKey val="0"/>
              <c:showVal val="1"/>
              <c:showCatName val="0"/>
              <c:showSerName val="0"/>
              <c:showPercent val="0"/>
              <c:showBubbleSize val="0"/>
              <c:extLst>
                <c:ext xmlns:c15="http://schemas.microsoft.com/office/drawing/2012/chart" uri="{CE6537A1-D6FC-4f65-9D91-7224C49458BB}">
                  <c15:layout>
                    <c:manualLayout>
                      <c:w val="0.3157746846549605"/>
                      <c:h val="0.2244330725769228"/>
                    </c:manualLayout>
                  </c15:layout>
                </c:ext>
                <c:ext xmlns:c16="http://schemas.microsoft.com/office/drawing/2014/chart" uri="{C3380CC4-5D6E-409C-BE32-E72D297353CC}">
                  <c16:uniqueId val="{00000005-B9FA-47D4-A4CF-5E2471061EBA}"/>
                </c:ext>
              </c:extLst>
            </c:dLbl>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Planilha5!$A$2:$A$4</c:f>
              <c:strCache>
                <c:ptCount val="3"/>
                <c:pt idx="0">
                  <c:v>WEG</c:v>
                </c:pt>
                <c:pt idx="1">
                  <c:v>Schneider</c:v>
                </c:pt>
                <c:pt idx="2">
                  <c:v>Siemens</c:v>
                </c:pt>
              </c:strCache>
            </c:strRef>
          </c:cat>
          <c:val>
            <c:numRef>
              <c:f>Planilha5!$B$2:$B$4</c:f>
              <c:numCache>
                <c:formatCode>0.00%</c:formatCode>
                <c:ptCount val="3"/>
                <c:pt idx="0">
                  <c:v>0.26119999999999999</c:v>
                </c:pt>
                <c:pt idx="1">
                  <c:v>0.13639999999999999</c:v>
                </c:pt>
                <c:pt idx="2">
                  <c:v>0.1754</c:v>
                </c:pt>
              </c:numCache>
            </c:numRef>
          </c:val>
          <c:extLst>
            <c:ext xmlns:c16="http://schemas.microsoft.com/office/drawing/2014/chart" uri="{C3380CC4-5D6E-409C-BE32-E72D297353CC}">
              <c16:uniqueId val="{00000006-B9FA-47D4-A4CF-5E2471061EBA}"/>
            </c:ext>
          </c:extLst>
        </c:ser>
        <c:dLbls>
          <c:dLblPos val="outEnd"/>
          <c:showLegendKey val="0"/>
          <c:showVal val="1"/>
          <c:showCatName val="0"/>
          <c:showSerName val="0"/>
          <c:showPercent val="0"/>
          <c:showBubbleSize val="0"/>
        </c:dLbls>
        <c:gapWidth val="50"/>
        <c:overlap val="-27"/>
        <c:axId val="494166752"/>
        <c:axId val="494164352"/>
      </c:barChart>
      <c:catAx>
        <c:axId val="49416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494164352"/>
        <c:crosses val="autoZero"/>
        <c:auto val="1"/>
        <c:lblAlgn val="ctr"/>
        <c:lblOffset val="100"/>
        <c:noMultiLvlLbl val="0"/>
      </c:catAx>
      <c:valAx>
        <c:axId val="494164352"/>
        <c:scaling>
          <c:orientation val="minMax"/>
        </c:scaling>
        <c:delete val="1"/>
        <c:axPos val="l"/>
        <c:numFmt formatCode="0.00%" sourceLinked="1"/>
        <c:majorTickMark val="none"/>
        <c:minorTickMark val="none"/>
        <c:tickLblPos val="nextTo"/>
        <c:crossAx val="4941667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600" b="1">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7.7720215180961116E-3"/>
          <c:y val="1.4008869710341799E-2"/>
          <c:w val="0.98834196772285587"/>
          <c:h val="0.8904859368045549"/>
        </c:manualLayout>
      </c:layout>
      <c:barChart>
        <c:barDir val="col"/>
        <c:grouping val="clustered"/>
        <c:varyColors val="0"/>
        <c:ser>
          <c:idx val="0"/>
          <c:order val="0"/>
          <c:tx>
            <c:strRef>
              <c:f>Planilha5!$E$1</c:f>
              <c:strCache>
                <c:ptCount val="1"/>
                <c:pt idx="0">
                  <c:v>Tax burden</c:v>
                </c:pt>
              </c:strCache>
            </c:strRef>
          </c:tx>
          <c:spPr>
            <a:solidFill>
              <a:schemeClr val="accent1"/>
            </a:solidFill>
            <a:ln>
              <a:noFill/>
            </a:ln>
            <a:effectLst/>
          </c:spPr>
          <c:invertIfNegative val="0"/>
          <c:dPt>
            <c:idx val="0"/>
            <c:invertIfNegative val="0"/>
            <c:bubble3D val="0"/>
            <c:spPr>
              <a:solidFill>
                <a:schemeClr val="tx2">
                  <a:lumMod val="90000"/>
                  <a:lumOff val="10000"/>
                </a:schemeClr>
              </a:solidFill>
              <a:ln>
                <a:noFill/>
              </a:ln>
              <a:effectLst/>
            </c:spPr>
            <c:extLst>
              <c:ext xmlns:c16="http://schemas.microsoft.com/office/drawing/2014/chart" uri="{C3380CC4-5D6E-409C-BE32-E72D297353CC}">
                <c16:uniqueId val="{00000001-11D0-4C00-BD2E-2335E3894D35}"/>
              </c:ext>
            </c:extLst>
          </c:dPt>
          <c:dPt>
            <c:idx val="1"/>
            <c:invertIfNegative val="0"/>
            <c:bubble3D val="0"/>
            <c:spPr>
              <a:solidFill>
                <a:schemeClr val="accent3">
                  <a:lumMod val="75000"/>
                </a:schemeClr>
              </a:solidFill>
              <a:ln>
                <a:noFill/>
              </a:ln>
              <a:effectLst/>
            </c:spPr>
            <c:extLst>
              <c:ext xmlns:c16="http://schemas.microsoft.com/office/drawing/2014/chart" uri="{C3380CC4-5D6E-409C-BE32-E72D297353CC}">
                <c16:uniqueId val="{00000003-11D0-4C00-BD2E-2335E3894D35}"/>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05-11D0-4C00-BD2E-2335E3894D35}"/>
              </c:ext>
            </c:extLst>
          </c:dPt>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36795729402872263"/>
                      <c:h val="0.23407999164578111"/>
                    </c:manualLayout>
                  </c15:layout>
                </c:ext>
                <c:ext xmlns:c16="http://schemas.microsoft.com/office/drawing/2014/chart" uri="{C3380CC4-5D6E-409C-BE32-E72D297353CC}">
                  <c16:uniqueId val="{00000001-11D0-4C00-BD2E-2335E3894D35}"/>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36795729402872263"/>
                      <c:h val="0.23407999164578111"/>
                    </c:manualLayout>
                  </c15:layout>
                </c:ext>
                <c:ext xmlns:c16="http://schemas.microsoft.com/office/drawing/2014/chart" uri="{C3380CC4-5D6E-409C-BE32-E72D297353CC}">
                  <c16:uniqueId val="{00000003-11D0-4C00-BD2E-2335E3894D35}"/>
                </c:ext>
              </c:extLst>
            </c:dLbl>
            <c:dLbl>
              <c:idx val="2"/>
              <c:dLblPos val="outEnd"/>
              <c:showLegendKey val="0"/>
              <c:showVal val="1"/>
              <c:showCatName val="0"/>
              <c:showSerName val="0"/>
              <c:showPercent val="0"/>
              <c:showBubbleSize val="0"/>
              <c:extLst>
                <c:ext xmlns:c15="http://schemas.microsoft.com/office/drawing/2012/chart" uri="{CE6537A1-D6FC-4f65-9D91-7224C49458BB}">
                  <c15:layout>
                    <c:manualLayout>
                      <c:w val="0.30796107331821609"/>
                      <c:h val="0.23407999164578111"/>
                    </c:manualLayout>
                  </c15:layout>
                </c:ext>
                <c:ext xmlns:c16="http://schemas.microsoft.com/office/drawing/2014/chart" uri="{C3380CC4-5D6E-409C-BE32-E72D297353CC}">
                  <c16:uniqueId val="{00000005-11D0-4C00-BD2E-2335E3894D35}"/>
                </c:ext>
              </c:extLst>
            </c:dLbl>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Planilha5!$D$2:$D$4</c:f>
              <c:strCache>
                <c:ptCount val="3"/>
                <c:pt idx="0">
                  <c:v>WEG</c:v>
                </c:pt>
                <c:pt idx="1">
                  <c:v>Schneider</c:v>
                </c:pt>
                <c:pt idx="2">
                  <c:v>Siemens</c:v>
                </c:pt>
              </c:strCache>
            </c:strRef>
          </c:cat>
          <c:val>
            <c:numRef>
              <c:f>Planilha5!$E$2:$E$4</c:f>
              <c:numCache>
                <c:formatCode>0.00%</c:formatCode>
                <c:ptCount val="3"/>
                <c:pt idx="0">
                  <c:v>0.78569999999999995</c:v>
                </c:pt>
                <c:pt idx="1">
                  <c:v>0.66190000000000004</c:v>
                </c:pt>
                <c:pt idx="2">
                  <c:v>0.81220000000000003</c:v>
                </c:pt>
              </c:numCache>
            </c:numRef>
          </c:val>
          <c:extLst>
            <c:ext xmlns:c16="http://schemas.microsoft.com/office/drawing/2014/chart" uri="{C3380CC4-5D6E-409C-BE32-E72D297353CC}">
              <c16:uniqueId val="{00000006-11D0-4C00-BD2E-2335E3894D35}"/>
            </c:ext>
          </c:extLst>
        </c:ser>
        <c:dLbls>
          <c:dLblPos val="outEnd"/>
          <c:showLegendKey val="0"/>
          <c:showVal val="1"/>
          <c:showCatName val="0"/>
          <c:showSerName val="0"/>
          <c:showPercent val="0"/>
          <c:showBubbleSize val="0"/>
        </c:dLbls>
        <c:gapWidth val="50"/>
        <c:overlap val="-27"/>
        <c:axId val="494173952"/>
        <c:axId val="494176832"/>
      </c:barChart>
      <c:catAx>
        <c:axId val="494173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494176832"/>
        <c:crosses val="autoZero"/>
        <c:auto val="1"/>
        <c:lblAlgn val="ctr"/>
        <c:lblOffset val="100"/>
        <c:noMultiLvlLbl val="0"/>
      </c:catAx>
      <c:valAx>
        <c:axId val="494176832"/>
        <c:scaling>
          <c:orientation val="minMax"/>
        </c:scaling>
        <c:delete val="1"/>
        <c:axPos val="l"/>
        <c:numFmt formatCode="0.00%" sourceLinked="1"/>
        <c:majorTickMark val="none"/>
        <c:minorTickMark val="none"/>
        <c:tickLblPos val="nextTo"/>
        <c:crossAx val="494173952"/>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sz="600" b="1">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8.8131620063891958E-3"/>
          <c:y val="1.9924725329032521E-2"/>
          <c:w val="0.98678025699041616"/>
          <c:h val="0.88951765952984962"/>
        </c:manualLayout>
      </c:layout>
      <c:barChart>
        <c:barDir val="col"/>
        <c:grouping val="clustered"/>
        <c:varyColors val="0"/>
        <c:ser>
          <c:idx val="0"/>
          <c:order val="0"/>
          <c:tx>
            <c:strRef>
              <c:f>Planilha5!$H$1</c:f>
              <c:strCache>
                <c:ptCount val="1"/>
                <c:pt idx="0">
                  <c:v>Interest burden</c:v>
                </c:pt>
              </c:strCache>
            </c:strRef>
          </c:tx>
          <c:spPr>
            <a:solidFill>
              <a:schemeClr val="accent1"/>
            </a:solidFill>
            <a:ln>
              <a:noFill/>
            </a:ln>
            <a:effectLst/>
          </c:spPr>
          <c:invertIfNegative val="0"/>
          <c:dPt>
            <c:idx val="0"/>
            <c:invertIfNegative val="0"/>
            <c:bubble3D val="0"/>
            <c:spPr>
              <a:solidFill>
                <a:schemeClr val="tx2">
                  <a:lumMod val="90000"/>
                  <a:lumOff val="10000"/>
                </a:schemeClr>
              </a:solidFill>
              <a:ln>
                <a:noFill/>
              </a:ln>
              <a:effectLst/>
            </c:spPr>
            <c:extLst>
              <c:ext xmlns:c16="http://schemas.microsoft.com/office/drawing/2014/chart" uri="{C3380CC4-5D6E-409C-BE32-E72D297353CC}">
                <c16:uniqueId val="{00000001-2CEF-478A-A37E-2DD231A9DD02}"/>
              </c:ext>
            </c:extLst>
          </c:dPt>
          <c:dPt>
            <c:idx val="1"/>
            <c:invertIfNegative val="0"/>
            <c:bubble3D val="0"/>
            <c:spPr>
              <a:solidFill>
                <a:schemeClr val="accent3">
                  <a:lumMod val="75000"/>
                </a:schemeClr>
              </a:solidFill>
              <a:ln>
                <a:noFill/>
              </a:ln>
              <a:effectLst/>
            </c:spPr>
            <c:extLst>
              <c:ext xmlns:c16="http://schemas.microsoft.com/office/drawing/2014/chart" uri="{C3380CC4-5D6E-409C-BE32-E72D297353CC}">
                <c16:uniqueId val="{00000003-2CEF-478A-A37E-2DD231A9DD02}"/>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05-2CEF-478A-A37E-2DD231A9DD02}"/>
              </c:ext>
            </c:extLst>
          </c:dPt>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36795729402872263"/>
                      <c:h val="0.23407999164578111"/>
                    </c:manualLayout>
                  </c15:layout>
                </c:ext>
                <c:ext xmlns:c16="http://schemas.microsoft.com/office/drawing/2014/chart" uri="{C3380CC4-5D6E-409C-BE32-E72D297353CC}">
                  <c16:uniqueId val="{00000001-2CEF-478A-A37E-2DD231A9DD02}"/>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30796107331821609"/>
                      <c:h val="0.23407999164578111"/>
                    </c:manualLayout>
                  </c15:layout>
                </c:ext>
                <c:ext xmlns:c16="http://schemas.microsoft.com/office/drawing/2014/chart" uri="{C3380CC4-5D6E-409C-BE32-E72D297353CC}">
                  <c16:uniqueId val="{00000003-2CEF-478A-A37E-2DD231A9DD02}"/>
                </c:ext>
              </c:extLst>
            </c:dLbl>
            <c:dLbl>
              <c:idx val="2"/>
              <c:dLblPos val="outEnd"/>
              <c:showLegendKey val="0"/>
              <c:showVal val="1"/>
              <c:showCatName val="0"/>
              <c:showSerName val="0"/>
              <c:showPercent val="0"/>
              <c:showBubbleSize val="0"/>
              <c:extLst>
                <c:ext xmlns:c15="http://schemas.microsoft.com/office/drawing/2012/chart" uri="{CE6537A1-D6FC-4f65-9D91-7224C49458BB}">
                  <c15:layout>
                    <c:manualLayout>
                      <c:w val="0.29197656840513986"/>
                      <c:h val="0.23407999164578111"/>
                    </c:manualLayout>
                  </c15:layout>
                </c:ext>
                <c:ext xmlns:c16="http://schemas.microsoft.com/office/drawing/2014/chart" uri="{C3380CC4-5D6E-409C-BE32-E72D297353CC}">
                  <c16:uniqueId val="{00000005-2CEF-478A-A37E-2DD231A9DD02}"/>
                </c:ext>
              </c:extLst>
            </c:dLbl>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Planilha5!$G$2:$G$4</c:f>
              <c:strCache>
                <c:ptCount val="3"/>
                <c:pt idx="0">
                  <c:v>WEG</c:v>
                </c:pt>
                <c:pt idx="1">
                  <c:v>Schneider</c:v>
                </c:pt>
                <c:pt idx="2">
                  <c:v>Siemens</c:v>
                </c:pt>
              </c:strCache>
            </c:strRef>
          </c:cat>
          <c:val>
            <c:numRef>
              <c:f>Planilha5!$H$2:$H$4</c:f>
              <c:numCache>
                <c:formatCode>0.00%</c:formatCode>
                <c:ptCount val="3"/>
                <c:pt idx="0">
                  <c:v>0.99239999999999995</c:v>
                </c:pt>
                <c:pt idx="1">
                  <c:v>0.87870000000000004</c:v>
                </c:pt>
                <c:pt idx="2">
                  <c:v>0.83330000000000004</c:v>
                </c:pt>
              </c:numCache>
            </c:numRef>
          </c:val>
          <c:extLst>
            <c:ext xmlns:c16="http://schemas.microsoft.com/office/drawing/2014/chart" uri="{C3380CC4-5D6E-409C-BE32-E72D297353CC}">
              <c16:uniqueId val="{00000006-2CEF-478A-A37E-2DD231A9DD02}"/>
            </c:ext>
          </c:extLst>
        </c:ser>
        <c:dLbls>
          <c:showLegendKey val="0"/>
          <c:showVal val="0"/>
          <c:showCatName val="0"/>
          <c:showSerName val="0"/>
          <c:showPercent val="0"/>
          <c:showBubbleSize val="0"/>
        </c:dLbls>
        <c:gapWidth val="50"/>
        <c:overlap val="-27"/>
        <c:axId val="494207552"/>
        <c:axId val="494194112"/>
      </c:barChart>
      <c:catAx>
        <c:axId val="494207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494194112"/>
        <c:crosses val="autoZero"/>
        <c:auto val="1"/>
        <c:lblAlgn val="ctr"/>
        <c:lblOffset val="100"/>
        <c:noMultiLvlLbl val="0"/>
      </c:catAx>
      <c:valAx>
        <c:axId val="494194112"/>
        <c:scaling>
          <c:orientation val="minMax"/>
        </c:scaling>
        <c:delete val="1"/>
        <c:axPos val="l"/>
        <c:numFmt formatCode="0.00%" sourceLinked="1"/>
        <c:majorTickMark val="none"/>
        <c:minorTickMark val="none"/>
        <c:tickLblPos val="nextTo"/>
        <c:crossAx val="494207552"/>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sz="600" b="1">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769700044630948E-3"/>
          <c:y val="2.6625254263316429E-2"/>
          <c:w val="0.98449211998214758"/>
          <c:h val="0.86930354519453468"/>
        </c:manualLayout>
      </c:layout>
      <c:barChart>
        <c:barDir val="col"/>
        <c:grouping val="clustered"/>
        <c:varyColors val="0"/>
        <c:ser>
          <c:idx val="0"/>
          <c:order val="0"/>
          <c:tx>
            <c:strRef>
              <c:f>Planilha5!$K$1</c:f>
              <c:strCache>
                <c:ptCount val="1"/>
                <c:pt idx="0">
                  <c:v>EBIT Margin</c:v>
                </c:pt>
              </c:strCache>
            </c:strRef>
          </c:tx>
          <c:spPr>
            <a:solidFill>
              <a:schemeClr val="tx2">
                <a:lumMod val="90000"/>
                <a:lumOff val="10000"/>
              </a:schemeClr>
            </a:solidFill>
            <a:ln>
              <a:noFill/>
            </a:ln>
            <a:effectLst/>
          </c:spPr>
          <c:invertIfNegative val="0"/>
          <c:dPt>
            <c:idx val="1"/>
            <c:invertIfNegative val="0"/>
            <c:bubble3D val="0"/>
            <c:spPr>
              <a:solidFill>
                <a:schemeClr val="accent3">
                  <a:lumMod val="75000"/>
                </a:schemeClr>
              </a:solidFill>
              <a:ln>
                <a:noFill/>
              </a:ln>
              <a:effectLst/>
            </c:spPr>
            <c:extLst>
              <c:ext xmlns:c16="http://schemas.microsoft.com/office/drawing/2014/chart" uri="{C3380CC4-5D6E-409C-BE32-E72D297353CC}">
                <c16:uniqueId val="{00000001-5121-463E-AA52-DF363317A48F}"/>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03-5121-463E-AA52-DF363317A48F}"/>
              </c:ext>
            </c:extLst>
          </c:dPt>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30796107331821609"/>
                      <c:h val="0.23407999164578111"/>
                    </c:manualLayout>
                  </c15:layout>
                </c:ext>
                <c:ext xmlns:c16="http://schemas.microsoft.com/office/drawing/2014/chart" uri="{C3380CC4-5D6E-409C-BE32-E72D297353CC}">
                  <c16:uniqueId val="{00000005-5121-463E-AA52-DF363317A48F}"/>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34395880574451998"/>
                      <c:h val="8.819444444444445E-2"/>
                    </c:manualLayout>
                  </c15:layout>
                </c:ext>
                <c:ext xmlns:c16="http://schemas.microsoft.com/office/drawing/2014/chart" uri="{C3380CC4-5D6E-409C-BE32-E72D297353CC}">
                  <c16:uniqueId val="{00000001-5121-463E-AA52-DF363317A48F}"/>
                </c:ext>
              </c:extLst>
            </c:dLbl>
            <c:dLbl>
              <c:idx val="2"/>
              <c:dLblPos val="outEnd"/>
              <c:showLegendKey val="0"/>
              <c:showVal val="1"/>
              <c:showCatName val="0"/>
              <c:showSerName val="0"/>
              <c:showPercent val="0"/>
              <c:showBubbleSize val="0"/>
              <c:extLst>
                <c:ext xmlns:c15="http://schemas.microsoft.com/office/drawing/2012/chart" uri="{CE6537A1-D6FC-4f65-9D91-7224C49458BB}">
                  <c15:layout>
                    <c:manualLayout>
                      <c:w val="0.30796107331821609"/>
                      <c:h val="0.23407999164578111"/>
                    </c:manualLayout>
                  </c15:layout>
                </c:ext>
                <c:ext xmlns:c16="http://schemas.microsoft.com/office/drawing/2014/chart" uri="{C3380CC4-5D6E-409C-BE32-E72D297353CC}">
                  <c16:uniqueId val="{00000003-5121-463E-AA52-DF363317A48F}"/>
                </c:ext>
              </c:extLst>
            </c:dLbl>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Planilha5!$J$2:$J$4</c:f>
              <c:strCache>
                <c:ptCount val="3"/>
                <c:pt idx="0">
                  <c:v>WEG</c:v>
                </c:pt>
                <c:pt idx="1">
                  <c:v>Schneider</c:v>
                </c:pt>
                <c:pt idx="2">
                  <c:v>Siemens</c:v>
                </c:pt>
              </c:strCache>
            </c:strRef>
          </c:cat>
          <c:val>
            <c:numRef>
              <c:f>Planilha5!$K$2:$K$4</c:f>
              <c:numCache>
                <c:formatCode>0.00%</c:formatCode>
                <c:ptCount val="3"/>
                <c:pt idx="0">
                  <c:v>0.2024</c:v>
                </c:pt>
                <c:pt idx="1">
                  <c:v>0.23419999999999999</c:v>
                </c:pt>
                <c:pt idx="2">
                  <c:v>0.14319999999999999</c:v>
                </c:pt>
              </c:numCache>
            </c:numRef>
          </c:val>
          <c:extLst>
            <c:ext xmlns:c16="http://schemas.microsoft.com/office/drawing/2014/chart" uri="{C3380CC4-5D6E-409C-BE32-E72D297353CC}">
              <c16:uniqueId val="{00000004-5121-463E-AA52-DF363317A48F}"/>
            </c:ext>
          </c:extLst>
        </c:ser>
        <c:dLbls>
          <c:dLblPos val="outEnd"/>
          <c:showLegendKey val="0"/>
          <c:showVal val="1"/>
          <c:showCatName val="0"/>
          <c:showSerName val="0"/>
          <c:showPercent val="0"/>
          <c:showBubbleSize val="0"/>
        </c:dLbls>
        <c:gapWidth val="50"/>
        <c:overlap val="-27"/>
        <c:axId val="494202272"/>
        <c:axId val="494209952"/>
      </c:barChart>
      <c:catAx>
        <c:axId val="494202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494209952"/>
        <c:crosses val="autoZero"/>
        <c:auto val="1"/>
        <c:lblAlgn val="ctr"/>
        <c:lblOffset val="100"/>
        <c:noMultiLvlLbl val="0"/>
      </c:catAx>
      <c:valAx>
        <c:axId val="494209952"/>
        <c:scaling>
          <c:orientation val="minMax"/>
        </c:scaling>
        <c:delete val="1"/>
        <c:axPos val="l"/>
        <c:numFmt formatCode="0.00%" sourceLinked="1"/>
        <c:majorTickMark val="none"/>
        <c:minorTickMark val="none"/>
        <c:tickLblPos val="nextTo"/>
        <c:crossAx val="494202272"/>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sz="600" b="1">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0881540205957605E-3"/>
          <c:y val="2.119142531524331E-2"/>
          <c:w val="0.98636776896910638"/>
          <c:h val="0.87543001629125583"/>
        </c:manualLayout>
      </c:layout>
      <c:barChart>
        <c:barDir val="col"/>
        <c:grouping val="clustered"/>
        <c:varyColors val="0"/>
        <c:ser>
          <c:idx val="0"/>
          <c:order val="0"/>
          <c:tx>
            <c:strRef>
              <c:f>Planilha5!$B$6</c:f>
              <c:strCache>
                <c:ptCount val="1"/>
                <c:pt idx="0">
                  <c:v>Asset Turnover</c:v>
                </c:pt>
              </c:strCache>
            </c:strRef>
          </c:tx>
          <c:spPr>
            <a:solidFill>
              <a:schemeClr val="accent1"/>
            </a:solidFill>
            <a:ln>
              <a:noFill/>
            </a:ln>
            <a:effectLst/>
          </c:spPr>
          <c:invertIfNegative val="0"/>
          <c:dPt>
            <c:idx val="0"/>
            <c:invertIfNegative val="0"/>
            <c:bubble3D val="0"/>
            <c:spPr>
              <a:solidFill>
                <a:schemeClr val="tx2">
                  <a:lumMod val="90000"/>
                  <a:lumOff val="10000"/>
                </a:schemeClr>
              </a:solidFill>
              <a:ln>
                <a:noFill/>
              </a:ln>
              <a:effectLst/>
            </c:spPr>
            <c:extLst>
              <c:ext xmlns:c16="http://schemas.microsoft.com/office/drawing/2014/chart" uri="{C3380CC4-5D6E-409C-BE32-E72D297353CC}">
                <c16:uniqueId val="{00000001-2974-4141-95EC-8376F9338219}"/>
              </c:ext>
            </c:extLst>
          </c:dPt>
          <c:dPt>
            <c:idx val="1"/>
            <c:invertIfNegative val="0"/>
            <c:bubble3D val="0"/>
            <c:spPr>
              <a:solidFill>
                <a:schemeClr val="accent3">
                  <a:lumMod val="75000"/>
                </a:schemeClr>
              </a:solidFill>
              <a:ln>
                <a:noFill/>
              </a:ln>
              <a:effectLst/>
            </c:spPr>
            <c:extLst>
              <c:ext xmlns:c16="http://schemas.microsoft.com/office/drawing/2014/chart" uri="{C3380CC4-5D6E-409C-BE32-E72D297353CC}">
                <c16:uniqueId val="{00000003-2974-4141-95EC-8376F9338219}"/>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05-2974-4141-95EC-8376F9338219}"/>
              </c:ext>
            </c:extLst>
          </c:dPt>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34395880574451998"/>
                      <c:h val="0.11471908939014198"/>
                    </c:manualLayout>
                  </c15:layout>
                </c:ext>
                <c:ext xmlns:c16="http://schemas.microsoft.com/office/drawing/2014/chart" uri="{C3380CC4-5D6E-409C-BE32-E72D297353CC}">
                  <c16:uniqueId val="{00000001-2974-4141-95EC-8376F9338219}"/>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33195956160241868"/>
                      <c:h val="0.23407999164578111"/>
                    </c:manualLayout>
                  </c15:layout>
                </c:ext>
                <c:ext xmlns:c16="http://schemas.microsoft.com/office/drawing/2014/chart" uri="{C3380CC4-5D6E-409C-BE32-E72D297353CC}">
                  <c16:uniqueId val="{00000003-2974-4141-95EC-8376F9338219}"/>
                </c:ext>
              </c:extLst>
            </c:dLbl>
            <c:dLbl>
              <c:idx val="2"/>
              <c:dLblPos val="outEnd"/>
              <c:showLegendKey val="0"/>
              <c:showVal val="1"/>
              <c:showCatName val="0"/>
              <c:showSerName val="0"/>
              <c:showPercent val="0"/>
              <c:showBubbleSize val="0"/>
              <c:extLst>
                <c:ext xmlns:c15="http://schemas.microsoft.com/office/drawing/2012/chart" uri="{CE6537A1-D6FC-4f65-9D91-7224C49458BB}">
                  <c15:layout>
                    <c:manualLayout>
                      <c:w val="0.31398242630385487"/>
                      <c:h val="0.23407999164578111"/>
                    </c:manualLayout>
                  </c15:layout>
                </c:ext>
                <c:ext xmlns:c16="http://schemas.microsoft.com/office/drawing/2014/chart" uri="{C3380CC4-5D6E-409C-BE32-E72D297353CC}">
                  <c16:uniqueId val="{00000005-2974-4141-95EC-8376F9338219}"/>
                </c:ext>
              </c:extLst>
            </c:dLbl>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Planilha5!$A$7:$A$9</c:f>
              <c:strCache>
                <c:ptCount val="3"/>
                <c:pt idx="0">
                  <c:v>WEG</c:v>
                </c:pt>
                <c:pt idx="1">
                  <c:v>Schneider</c:v>
                </c:pt>
                <c:pt idx="2">
                  <c:v>Siemens</c:v>
                </c:pt>
              </c:strCache>
            </c:strRef>
          </c:cat>
          <c:val>
            <c:numRef>
              <c:f>Planilha5!$B$7:$B$9</c:f>
              <c:numCache>
                <c:formatCode>0.00%</c:formatCode>
                <c:ptCount val="3"/>
                <c:pt idx="0">
                  <c:v>0.91500000000000004</c:v>
                </c:pt>
                <c:pt idx="1">
                  <c:v>0.41739999999999999</c:v>
                </c:pt>
                <c:pt idx="2">
                  <c:v>0.52290000000000003</c:v>
                </c:pt>
              </c:numCache>
            </c:numRef>
          </c:val>
          <c:extLst>
            <c:ext xmlns:c16="http://schemas.microsoft.com/office/drawing/2014/chart" uri="{C3380CC4-5D6E-409C-BE32-E72D297353CC}">
              <c16:uniqueId val="{00000006-2974-4141-95EC-8376F9338219}"/>
            </c:ext>
          </c:extLst>
        </c:ser>
        <c:dLbls>
          <c:dLblPos val="outEnd"/>
          <c:showLegendKey val="0"/>
          <c:showVal val="1"/>
          <c:showCatName val="0"/>
          <c:showSerName val="0"/>
          <c:showPercent val="0"/>
          <c:showBubbleSize val="0"/>
        </c:dLbls>
        <c:gapWidth val="50"/>
        <c:overlap val="-27"/>
        <c:axId val="494182112"/>
        <c:axId val="494178752"/>
      </c:barChart>
      <c:catAx>
        <c:axId val="494182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494178752"/>
        <c:crosses val="autoZero"/>
        <c:auto val="1"/>
        <c:lblAlgn val="ctr"/>
        <c:lblOffset val="100"/>
        <c:noMultiLvlLbl val="0"/>
      </c:catAx>
      <c:valAx>
        <c:axId val="494178752"/>
        <c:scaling>
          <c:orientation val="minMax"/>
        </c:scaling>
        <c:delete val="1"/>
        <c:axPos val="l"/>
        <c:numFmt formatCode="0.00%" sourceLinked="1"/>
        <c:majorTickMark val="none"/>
        <c:minorTickMark val="none"/>
        <c:tickLblPos val="nextTo"/>
        <c:crossAx val="494182112"/>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sz="600" b="1">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824591612266891E-3"/>
          <c:y val="2.6460869166628469E-2"/>
          <c:w val="0.97311139293570659"/>
          <c:h val="0.87672568621159519"/>
        </c:manualLayout>
      </c:layout>
      <c:barChart>
        <c:barDir val="col"/>
        <c:grouping val="clustered"/>
        <c:varyColors val="0"/>
        <c:ser>
          <c:idx val="0"/>
          <c:order val="0"/>
          <c:tx>
            <c:strRef>
              <c:f>Planilha5!$E$6</c:f>
              <c:strCache>
                <c:ptCount val="1"/>
                <c:pt idx="0">
                  <c:v>Financial Leverage</c:v>
                </c:pt>
              </c:strCache>
            </c:strRef>
          </c:tx>
          <c:spPr>
            <a:solidFill>
              <a:schemeClr val="accent1"/>
            </a:solidFill>
            <a:ln>
              <a:noFill/>
            </a:ln>
            <a:effectLst/>
          </c:spPr>
          <c:invertIfNegative val="0"/>
          <c:dPt>
            <c:idx val="0"/>
            <c:invertIfNegative val="0"/>
            <c:bubble3D val="0"/>
            <c:spPr>
              <a:solidFill>
                <a:schemeClr val="tx2">
                  <a:lumMod val="90000"/>
                  <a:lumOff val="10000"/>
                </a:schemeClr>
              </a:solidFill>
              <a:ln>
                <a:noFill/>
              </a:ln>
              <a:effectLst/>
            </c:spPr>
            <c:extLst>
              <c:ext xmlns:c16="http://schemas.microsoft.com/office/drawing/2014/chart" uri="{C3380CC4-5D6E-409C-BE32-E72D297353CC}">
                <c16:uniqueId val="{00000001-5EAF-4CC8-B02E-D699E76A1427}"/>
              </c:ext>
            </c:extLst>
          </c:dPt>
          <c:dPt>
            <c:idx val="1"/>
            <c:invertIfNegative val="0"/>
            <c:bubble3D val="0"/>
            <c:spPr>
              <a:solidFill>
                <a:schemeClr val="accent3">
                  <a:lumMod val="75000"/>
                </a:schemeClr>
              </a:solidFill>
              <a:ln>
                <a:noFill/>
              </a:ln>
              <a:effectLst/>
            </c:spPr>
            <c:extLst>
              <c:ext xmlns:c16="http://schemas.microsoft.com/office/drawing/2014/chart" uri="{C3380CC4-5D6E-409C-BE32-E72D297353CC}">
                <c16:uniqueId val="{00000003-5EAF-4CC8-B02E-D699E76A1427}"/>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05-5EAF-4CC8-B02E-D699E76A1427}"/>
              </c:ext>
            </c:extLst>
          </c:dPt>
          <c:dLbls>
            <c:dLbl>
              <c:idx val="0"/>
              <c:layout>
                <c:manualLayout>
                  <c:x val="1.1999244142101285E-2"/>
                  <c:y val="7.9573934837092727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28396258503401361"/>
                      <c:h val="0.23407999164578111"/>
                    </c:manualLayout>
                  </c15:layout>
                </c:ext>
                <c:ext xmlns:c16="http://schemas.microsoft.com/office/drawing/2014/chart" uri="{C3380CC4-5D6E-409C-BE32-E72D297353CC}">
                  <c16:uniqueId val="{00000001-5EAF-4CC8-B02E-D699E76A1427}"/>
                </c:ext>
              </c:extLst>
            </c:dLbl>
            <c:dLbl>
              <c:idx val="1"/>
              <c:layout>
                <c:manualLayout>
                  <c:x val="0"/>
                  <c:y val="6.6311612364243919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35595804988662133"/>
                      <c:h val="0.23407999164578111"/>
                    </c:manualLayout>
                  </c15:layout>
                </c:ext>
                <c:ext xmlns:c16="http://schemas.microsoft.com/office/drawing/2014/chart" uri="{C3380CC4-5D6E-409C-BE32-E72D297353CC}">
                  <c16:uniqueId val="{00000003-5EAF-4CC8-B02E-D699E76A1427}"/>
                </c:ext>
              </c:extLst>
            </c:dLbl>
            <c:dLbl>
              <c:idx val="2"/>
              <c:layout>
                <c:manualLayout>
                  <c:x val="-1.0999180066792782E-16"/>
                  <c:y val="7.9573934837092727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25996409674981102"/>
                      <c:h val="0.23407999164578111"/>
                    </c:manualLayout>
                  </c15:layout>
                </c:ext>
                <c:ext xmlns:c16="http://schemas.microsoft.com/office/drawing/2014/chart" uri="{C3380CC4-5D6E-409C-BE32-E72D297353CC}">
                  <c16:uniqueId val="{00000005-5EAF-4CC8-B02E-D699E76A1427}"/>
                </c:ext>
              </c:extLst>
            </c:dLbl>
            <c:spPr>
              <a:noFill/>
              <a:ln>
                <a:noFill/>
              </a:ln>
              <a:effectLst/>
            </c:spPr>
            <c:txPr>
              <a:bodyPr rot="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Planilha5!$D$7:$D$9</c:f>
              <c:strCache>
                <c:ptCount val="3"/>
                <c:pt idx="0">
                  <c:v>WEG</c:v>
                </c:pt>
                <c:pt idx="1">
                  <c:v>Schneider</c:v>
                </c:pt>
                <c:pt idx="2">
                  <c:v>Siemens</c:v>
                </c:pt>
              </c:strCache>
            </c:strRef>
          </c:cat>
          <c:val>
            <c:numRef>
              <c:f>Planilha5!$E$7:$E$9</c:f>
              <c:numCache>
                <c:formatCode>General</c:formatCode>
                <c:ptCount val="3"/>
                <c:pt idx="0">
                  <c:v>1.7941</c:v>
                </c:pt>
                <c:pt idx="1">
                  <c:v>2.1080999999999999</c:v>
                </c:pt>
                <c:pt idx="2">
                  <c:v>2.883</c:v>
                </c:pt>
              </c:numCache>
            </c:numRef>
          </c:val>
          <c:extLst>
            <c:ext xmlns:c16="http://schemas.microsoft.com/office/drawing/2014/chart" uri="{C3380CC4-5D6E-409C-BE32-E72D297353CC}">
              <c16:uniqueId val="{00000006-5EAF-4CC8-B02E-D699E76A1427}"/>
            </c:ext>
          </c:extLst>
        </c:ser>
        <c:dLbls>
          <c:dLblPos val="outEnd"/>
          <c:showLegendKey val="0"/>
          <c:showVal val="1"/>
          <c:showCatName val="0"/>
          <c:showSerName val="0"/>
          <c:showPercent val="0"/>
          <c:showBubbleSize val="0"/>
        </c:dLbls>
        <c:gapWidth val="50"/>
        <c:overlap val="-27"/>
        <c:axId val="494206592"/>
        <c:axId val="494193632"/>
      </c:barChart>
      <c:catAx>
        <c:axId val="494206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crossAx val="494193632"/>
        <c:crosses val="autoZero"/>
        <c:auto val="1"/>
        <c:lblAlgn val="ctr"/>
        <c:lblOffset val="100"/>
        <c:noMultiLvlLbl val="0"/>
      </c:catAx>
      <c:valAx>
        <c:axId val="494193632"/>
        <c:scaling>
          <c:orientation val="minMax"/>
        </c:scaling>
        <c:delete val="1"/>
        <c:axPos val="l"/>
        <c:numFmt formatCode="General" sourceLinked="1"/>
        <c:majorTickMark val="none"/>
        <c:minorTickMark val="none"/>
        <c:tickLblPos val="nextTo"/>
        <c:crossAx val="494206592"/>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sz="600" b="1">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pt-BR"/>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Sheet1!$W$2:$W$5</cx:f>
        <cx:lvl ptCount="4">
          <cx:pt idx="0">IEE</cx:pt>
          <cx:pt idx="1">GTD</cx:pt>
          <cx:pt idx="2">CAM</cx:pt>
          <cx:pt idx="3">P&amp;V</cx:pt>
        </cx:lvl>
      </cx:strDim>
      <cx:numDim type="size">
        <cx:f>Sheet1!$X$2:$X$5</cx:f>
        <cx:lvl ptCount="4" formatCode="0%">
          <cx:pt idx="0">0.46999999999999997</cx:pt>
          <cx:pt idx="1">0.41000000000000003</cx:pt>
          <cx:pt idx="2">0.080000000000000002</cx:pt>
          <cx:pt idx="3">0.040000000000000001</cx:pt>
        </cx:lvl>
      </cx:numDim>
    </cx:data>
  </cx:chartData>
  <cx:chart>
    <cx:plotArea>
      <cx:plotAreaRegion>
        <cx:series layoutId="treemap" uniqueId="{D29D616A-0F21-4FF1-948C-7892466DAE2B}">
          <cx:dataLabels>
            <cx:txPr>
              <a:bodyPr spcFirstLastPara="1" vertOverflow="ellipsis" horzOverflow="overflow" wrap="square" lIns="0" tIns="0" rIns="0" bIns="0" anchor="ctr" anchorCtr="1"/>
              <a:lstStyle/>
              <a:p>
                <a:pPr algn="ctr" rtl="0">
                  <a:defRPr sz="600">
                    <a:solidFill>
                      <a:schemeClr val="bg1"/>
                    </a:solidFill>
                    <a:latin typeface="+mj-lt"/>
                  </a:defRPr>
                </a:pPr>
                <a:endParaRPr lang="en-US" sz="600" b="0" i="0" u="none" strike="noStrike" kern="1200" baseline="0">
                  <a:solidFill>
                    <a:schemeClr val="bg1"/>
                  </a:solidFill>
                  <a:latin typeface="+mj-lt"/>
                </a:endParaRPr>
              </a:p>
            </cx:txPr>
            <cx:visibility seriesName="0" categoryName="1" value="1"/>
            <cx:separator> </cx:separator>
          </cx:dataLabels>
          <cx:dataId val="0"/>
          <cx:layoutPr/>
        </cx:series>
      </cx:plotAreaRegion>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Sheet1!$A$1:$A$41</cx:f>
        <cx:lvl ptCount="41">
          <cx:pt idx="0">Brasil</cx:pt>
          <cx:pt idx="1">Argentina</cx:pt>
          <cx:pt idx="2">Colômbia</cx:pt>
          <cx:pt idx="3">México</cx:pt>
          <cx:pt idx="4">Estados Unidos</cx:pt>
          <cx:pt idx="5">Canadá</cx:pt>
          <cx:pt idx="6">África do Sul</cx:pt>
          <cx:pt idx="7">Argélia</cx:pt>
          <cx:pt idx="8">Portual</cx:pt>
          <cx:pt idx="9">Espanha</cx:pt>
          <cx:pt idx="10">Itália</cx:pt>
          <cx:pt idx="11">Áustria</cx:pt>
          <cx:pt idx="12">Alemanha</cx:pt>
          <cx:pt idx="13">Países Baixos</cx:pt>
          <cx:pt idx="14">Turquia</cx:pt>
          <cx:pt idx="15">Índia</cx:pt>
          <cx:pt idx="16">China</cx:pt>
          <cx:pt idx="17">Chile</cx:pt>
          <cx:pt idx="18">Peru</cx:pt>
          <cx:pt idx="19">Equador</cx:pt>
          <cx:pt idx="20">Gana</cx:pt>
          <cx:pt idx="21">Egito</cx:pt>
          <cx:pt idx="22">Arábia Saudita</cx:pt>
          <cx:pt idx="23">Emirados Árabes Unidos</cx:pt>
          <cx:pt idx="24">França</cx:pt>
          <cx:pt idx="25">Reino Unido</cx:pt>
          <cx:pt idx="26">Suíça</cx:pt>
          <cx:pt idx="27">Bélgica</cx:pt>
          <cx:pt idx="28">Polônia</cx:pt>
          <cx:pt idx="29">Dinamarca</cx:pt>
          <cx:pt idx="30">Suécia</cx:pt>
          <cx:pt idx="31">Finlândia</cx:pt>
          <cx:pt idx="32">Rússia</cx:pt>
          <cx:pt idx="33">Cazaquistão</cx:pt>
          <cx:pt idx="34">Japão</cx:pt>
          <cx:pt idx="35">Tailândia</cx:pt>
          <cx:pt idx="36">Malásia</cx:pt>
          <cx:pt idx="37">Indonésia</cx:pt>
          <cx:pt idx="38">Austrália</cx:pt>
          <cx:pt idx="39">Nova Zelândia</cx:pt>
          <cx:pt idx="40">Singapura</cx:pt>
        </cx:lvl>
      </cx:strDim>
      <cx:strDim type="colorStr">
        <cx:f>Sheet1!$B$1:$B$41</cx:f>
        <cx:lvl ptCount="41">
          <cx:pt idx="0">Factories &amp; Commercial Operations</cx:pt>
          <cx:pt idx="1">Factories &amp; Commercial Operations</cx:pt>
          <cx:pt idx="2">Factories &amp; Commercial Operations</cx:pt>
          <cx:pt idx="3">Factories &amp; Commercial Operations</cx:pt>
          <cx:pt idx="4">Factories &amp; Commercial Operations</cx:pt>
          <cx:pt idx="5">Factories &amp; Commercial Operations</cx:pt>
          <cx:pt idx="6">Factories &amp; Commercial Operations</cx:pt>
          <cx:pt idx="7">Factories &amp; Commercial Operations</cx:pt>
          <cx:pt idx="8">Factories &amp; Commercial Operations</cx:pt>
          <cx:pt idx="9">Factories &amp; Commercial Operations</cx:pt>
          <cx:pt idx="10">Factories &amp; Commercial Operations</cx:pt>
          <cx:pt idx="11">Factories &amp; Commercial Operations</cx:pt>
          <cx:pt idx="12">Factories &amp; Commercial Operations</cx:pt>
          <cx:pt idx="13">Factories &amp; Commercial Operations</cx:pt>
          <cx:pt idx="14">Factories &amp; Commercial Operations</cx:pt>
          <cx:pt idx="15">Factories &amp; Commercial Operations</cx:pt>
          <cx:pt idx="16">Factories &amp; Commercial Operations</cx:pt>
          <cx:pt idx="17">Only Commercial Operations</cx:pt>
          <cx:pt idx="18">Only Commercial Operations</cx:pt>
          <cx:pt idx="19">Only Commercial Operations</cx:pt>
          <cx:pt idx="20">Only Commercial Operations</cx:pt>
          <cx:pt idx="21">Only Commercial Operations</cx:pt>
          <cx:pt idx="22">Only Commercial Operations</cx:pt>
          <cx:pt idx="23">Only Commercial Operations</cx:pt>
          <cx:pt idx="24">Only Commercial Operations</cx:pt>
          <cx:pt idx="25">Only Commercial Operations</cx:pt>
          <cx:pt idx="26">Only Commercial Operations</cx:pt>
          <cx:pt idx="27">Only Commercial Operations</cx:pt>
          <cx:pt idx="28">Only Commercial Operations</cx:pt>
          <cx:pt idx="29">Only Commercial Operations</cx:pt>
          <cx:pt idx="30">Only Commercial Operations</cx:pt>
          <cx:pt idx="31">Only Commercial Operations</cx:pt>
          <cx:pt idx="32">Only Commercial Operations</cx:pt>
          <cx:pt idx="33">Only Commercial Operations</cx:pt>
          <cx:pt idx="34">Only Commercial Operations</cx:pt>
          <cx:pt idx="35">Only Commercial Operations</cx:pt>
          <cx:pt idx="36">Only Commercial Operations</cx:pt>
          <cx:pt idx="37">Only Commercial Operations</cx:pt>
          <cx:pt idx="38">Only Commercial Operations</cx:pt>
          <cx:pt idx="39">Only Commercial Operations</cx:pt>
          <cx:pt idx="40">Only Commercial Operations</cx:pt>
        </cx:lvl>
      </cx:strDim>
    </cx:data>
  </cx:chartData>
  <cx:chart>
    <cx:plotArea>
      <cx:plotAreaRegion>
        <cx:series layoutId="regionMap" uniqueId="{CBE9A52A-E986-49BE-A5F2-AA9023612285}">
          <cx:dataId val="0"/>
          <cx:layoutPr>
            <cx:regionLabelLayout val="none"/>
            <cx:geography cultureLanguage="en-US" cultureRegion="BR" attribution="Powered by Bing">
              <cx:geoCache provider="{E9337A44-BEBE-4D9F-B70C-5C5E7DAFC167}">
                <cx:binary>nHvZstyotu2vVNTz0S4QIGDHqfuApMy13Ldll18UbgUIhATqv/7O9Nlxwqu5a0Vdd2GHnEk3mXOM
MYf+++v276/u++f42+Zdn/79dfvzdz1Nw7//+CN91d/95/Qvb77GkMKP6V9fg/8j/Phhvn7/41v8
vJq+/SNHmP7xVX+O0/ft9//z3/Bt7fdQfZ4+1/1kpv31/D3ub76n2U3pwaf/j4e/ff/5Ne/24fuf
v38Ncz9dvq41of/9P4+uv/35O+b899/++PUr/vPwxWcPn3sR4vp5v/OB75/T9OfvBP8LM4SRIIRT
lBNKf/9t/X55Qv9VUCJyKfKcwRNB8t9/60Oc9J+/c/gQJwThQhac858fSmG+PGL8X5ITyTgqMC84
4+J/t+VVcHsb+v/diP/8+7d+9q+C6af05+/F778N//O/LusqJENM4pzIHEkkc4wvz79+fgM7D/8Z
/5egfZDHMBwV1Xh8XWR4eFUExqPK8mFrVW7x+uaXrblnRFjurRGLQnBGOReCSsrZzREPwneUx6Oo
qMv69wPDxVnnfbp+eBRO7hlGwi4R2EGZUypvDiP7ORt73bJqb/z8ASeavWV7Fl8G42anpGH5OzKt
vC1HNImp1H6ib900pFEtY/KLChpN5uxHJkhFUiEPhdcQUh3nvP2Kfm5OEd0+VW7bprxMJrpO+d40
XvXI4+dmd8dUtXsMR+1TQNuJr4t+18Vxt4q6SQ8lzhfclgF14VBsm2lXcumMUwtpcfNis2n+hozx
psrXMKeKmYA/W33Yd3LWOS1Dsl37dE39+lZHvYz1qA36axImTGrCoQ+KFyFJ5cna5coWzC9PmpV3
b4mzK1a4Wa1Vk0cSgmcnzp8P0Wl+dVCMilLqDj+JiXe0HPctudovHTlKbFx7vY+DCTUe1vgi21ud
autYcKVvp5aW/9W7gXnZxKJCbqSv+s4UufLjGp52xzZ2yk4adsoga2yFiDFb9fDJ343oQoicwM1A
DBFJxc2DX9AeCDYZqUYSSD03GVYFi2M10r4rDTL8kUij+G6kwd0RjOWXcKO3r5AWoel4N+eVO4Z+
qnobHH/G47bompHBvkxtno/1dNDsjVymbFTt0hl9nuam0OVMqNFqNFtLq77b7UfGZv2FHC23ChXz
ul5xwvCPbheTOWXj7k4xE8Oi0LDkb5Yk4uWoWq76LiWijm2N1+3iY1OuuHFtmTU2EJVcNspTYwd9
7biRWAl+bE4ROQ69Ijhkf6UlDZvCXsq5GscpPun8aPuS8X1uVHCt+XT0wfbq4aOCJHo7FUgsBZYF
/Fmgn3f4l+QjdxyEZxxXfl2OutBHKmcUi6smmXc58tOVGSR+/vCY+X3HRSXKGZGcCprfSgy44zNz
qMVV2xD+xYfMVpqRUDLZJqPSOts3rrVdLWbTvguUtFotzo+1MHL4qyVdX/GOxfdDZptZtZmGA2UI
re7ssBs/kubgupQ+oNMq4FOSsv6RAM/vZlCOBMcMM8p4npNL6vtl29qei7Y/GlL5PghbJZj3U987
59W8LbJTadqbV874paiZQUevmuPoRW06D3fV0+S3qtebHyrb4I6V4zHpTYUwt1S1gx4b1Y9pTooN
y/y0aKlY1TI086QkiflLbzak1STS3Je7zVxRP3w+l/R/syBxjHMGRY/lhCN2Ob5fFlck2mMaHaus
2/babf3HcBzjUxIhoTw8EkZ3hhIcKm9OYDORlOiyz78M1cEs4rwdWZVnKJsr3W1Ho46OB1uylEZd
Gkjfr9gs++/jYcxTUdBVqo70HS4fnsrdiyAEgQos8gKqokS3qvCe7W4PutX1vs5HTSz+cIzZJWuK
3Kt2s1QlLPXp4UHp3VGlgECCaedYMEwv+/PL+qe+7UbPJ13TZY+unDzdw8lOw/CCNFkcFLJr11XM
C1EG3olULg4iRu1LXOnZinRgdWjHdxVlWHjZ5S17SabeCtVjRLGas75rnlFG8liOmQ5Dlc+ZeLOM
PSQ3jXL7lJjWESWazsMQM15ezqJbxpNLUKyexEDMB6Yh+6ghHPaoOdoLVOXczJBDZZYhtQlC/+JY
9OGa7FNsy1Y3RXhu99lcYd/QrV5dO1y3LTat8tb6l35gEyshkR7nJHs6q2KWG1V6mI/hkUi+U4gw
QFeAL3CoiHJMbx3qpI+2kVG7OveL/O5nPj2hK2dXm9XNCXU0/H+NxzCcJZxpwQBN/nqcG1SDPC+8
q00a2hOPYj9UMcqsXNhEa707Nj4StnfuKkYAz0WBRS44L9CtVLpveVvgNria0M1fHZ3G5z3p/WlG
u/Xdw8GK76Tty1gFyQUDzFiw27DRY5dCB/Cjxuu2PtsmQ84ztXtQ3TxPHwa5oLkyGdue2b4Z3h66
EElNetWZMsuc/3hkNndSMMwGQ8YAfM5lkcs7Z1s0Qx4HV8MFxdO1k/n+Yh2cUZEt3bOhzUIZbHd8
28Q8lYbF9D5nhaiPqTAV2XH7LEQznvtmdI8cCb7Amxv5E2aWYw5z4xyK3E+08sulzjBr1rFjXU02
03Tn1AX8WuAdoJ7ZJ2ZV0+2DVeMKJaFcR9Mc5YCd/3Rk0TQqG+RRlM3e4FjnLOO2HJfFvELaDOKK
s9B6NbrMTU/dzrN4fnhT74kmON6Cyrwg5MKYbsZvs42HJauRVZftxdXAzfgU7jB6g7Ix/OPUjxEp
YHMohgwBKPHWWGyFLJ6mNqvC3uMv07hPV5a2/vPeGvxC0Kn9pIujuB78fJyWlIsvTI/HI8Dxnvxw
YYQQRHBcAB1v3Z6D021pi6KpLBRZc9oQDe/mwtvzQY+oFfOp3x4BXPjynbeiAxadAzKGNCHh3t7c
Y4vI2GWDbypn9MDOU/LIVg7RsVe9MP59T/z0sm2cmyvHsrmUaRjHci7g1MrQ+y1Xq1x4UbXzGEi1
un087XPu+nIghr+3x3wAXxiQfb/0vhhODwcIvgCb27MH6gtomxVFQX4+/yW2A+gBl4zDK4Y6Zko3
bhKpoonzqtamsHPZ0ZxtigC+Wyo6mSYohMiCgZf54muibeZPHK0kqkGu+fLI9Pg9KQrwGKQn+FKC
YKibm0uHdjdxWHg1Z93RPFlj3LOqG5r15dqsJlcFROMrRns2VAtas6cdHFIqc2KK7LRZYXOl18xY
tWuZnm12SVaxZfSxYklYV2VYZ2tppji8cHsyqVy7Pn7PNjxBgcxI2KopP5gvMRCGpUYyOaeSHPr5
PWnjtlXzrPW7AulBlx2MsPy9tmbTz81RADcwzHYvmsKt7+Y05V+pF+6HHJBGagT4PpfTkFOj5sGT
/OSQdIdKQ9YZ5VomXu5YHm+bfNm+9wQm9py1GujMwrMJ4mWxCGpva8ZCDZH0kG+Iia9oNzV/H5Yv
b5IddVH2B1uuki2AtR5N6/82Q1Z868iWvmPWN6hGSCeu+DG7zzq5Iag99VDaeEsmo5roHQTzJPZC
kcyS7DyLMEzVltb2Efpwz6UtoOQhuDug57Di1hkXtJBkIENWubgNz0PMU9WHdlWdTv11uwE+eSTm
74BUYNtIAiaWOYFiiy534peYn4bF9mb3WbU0LL6N604rz4fmZGann4gmAL1td05OQDrTVzbx+QRC
Dnukqty3asiVACsuSQMAzc1JsG7vc5CXsspbul8d2B/XjMq+YtP8ZduNfvPwou8b7lJUJbsUMoJv
bbLoDy+7XDRVXL0pLRahanp8fPVT//pYC9M9lhbJPbWnEIBkOIGf8JdbeZHFLJOQHbJKt3Jaypwu
vAvl3I96q+LhgA0Ba5qFKla3LlfY+sIrj2h8t1jvuRJbw4vz3iO41MJqp6YAUKzyhdhojQ5D32V6
7mw1HRv6EjpnkeqzPaUrdjSQvA4a4a4TbZEuo+/kpmimi6uktcnLhknzphttq8vcyj4rRy8SVdIh
DxzNH2NfjXl3MDVqnN5hBnqS6t0mXq5tlt6HUdDvUzf515OL9lXqTINUK6zM1WQ3h89DDM1rF5ZB
n3l2HN8YZElXMqiQL+ic6S+zI7utcbdpUs3YAmJeJ7eFcm1sPqhtPtxzvCKoX8J041wCfhN5RY9s
sYrL45BPllWvnyJnWaaIp+hTswqLKpN3E2gyOqxf0NjMRm17FG/2vd9mtSV7wBYWw/zmSLgby42E
8U3ozCRVPibzaShowMA+h7VXMynMc76tAiqB7cio+GDYy5Dm0ZYFQkes2i3HRK2un0EL2+eNqzxk
mSnHqcCdGpeGZmUxE/dMhBihhjCefTSN0d9Gxn1XFhQVL+ACDB/Zsq4rEJcwfUfL5qmai224ig1i
P3AndF9KSv2rXU/F+2EO8lWk8/g2ZXz9a5fED4pOzdqWVndQ15NcqVBrnq229EPWfthx3vXKLpns
ysSmrFUOlCxQI02IH3QWi3QyEy5YOckjSyUxvXhn+2Lr1GGH7Dll8+gUPgBdVSYEdB68ld2TotgR
urLB25cdZ2tQVPf4mooQgmLdRYps17WdP//T+4tzWnBAGhd+TW6jY2FAuMKy59W+WF1DBSzUPof9
BdMUlCu5rvXD4929vTgXkC4w8C3Q/Mit9OR1oCZlHgqvH4oSDql5N8bM/5Uwjv88E17IVQHKCyA2
UP1uZkK/uI4F00Fq6qL4ywjXvRBrhss2LuMZ5Df5SGq6uzRoHIC6KIpLpwAA/c3x8EJmHliSVRhk
UQof+yd92zpANAAaHt7Fu3rIzyYFYMMcGhIS/rg5Vm7arAvMympqImhbm5Pseb+J7Hq1O665mej7
g7apO/erWZ8Cek2v124e20eWfA+DEeSyuQjaH8Atb1U8Eig7qF1kJfJtl1cp4vWo1077V7MGPUst
Phu7EywhFIru9iCPjH9HFoFtoJQTUAhJQWAeN7dBRIc9kbGpjHP5azkvoCIvnFfD0jQn2aL9uc62
7hHyc9+iqQCxgCFQJe+QnyymlYXNQVxtOVnPGvoEppwsYbk6RECAxWLx0i+zLLGczLOHT/6eegsx
DUuF8WEOP6vjLxgjDwWOoQtZ1XJOv5o4rUAKp7kUwRZrOQ9p+PvhAYFrwCbegvLQd0KgGuQQ4OI2
jsrR7k13jE0V2qIzJxwP9Lnt5rSqOR5xv1rkvomqYK7tK7mJBp+wxqx4vUSip0rSsH4DVBJ4uedz
+HwAvUqlLlAmTwJdknifGaiD3X60vnQrYOyybQ/9ijfRfunnBThBBAX0uSNQqiojpvajAWQf6pW2
sVVh3Xg8BTkWHxHPj03lYoNqtyKbCOARWTz3gMg31R6h+xDktM4VZEFJykxPdlfrQJlQu/Xt04WD
+lIXVICKKk0zPcEj2VuV5tZBdl4tutozHDZ1+BWEOAPSztc+7Y2tF5Ovn9a+ENAia9xUrrD8CRak
oeZJmYfPnC9bOjXLZkh55JCLlSEzlLit7bpGjYNIoZpJVrzAiaFeHdPCQi2NaGxJydFdtOs8e+dk
N7RK95sdSz9ODTQLZp19hjIyBTXo3WuVNvh6FffumNQA8nwGjQo9fQ/rwt5Egu0PgK4mqHVs2/at
sWiy1aqb4YfYTcNLl9y8Vy6Q9W0xmS6rt23Yx3JNmI7K627elJ+0JsoO3mSlTWtsnw0rQq99I4e5
ypo5Xa0gCIIuAbogr0LstDsfC0/fpcGjUShs6EMPbREQKOk+TSoAxHjSjCSXiuRk6NRyNDn05UYy
jB82N65fIf2Apso7l+bS6224JgMAF2BRe4Q+H8CNqPIt0G+QeuYLq+y39YxC8O4l2fUy1NAnLNqq
mQb4Fm+aSJ9Bj+fA17i1qSinpm3yk8/DsSoqQzfWaGpBT4UWo2BlyA2smbXj8mn1zvfnxE03KL3N
/ONmssIpZzIJhb9tYIegvDpWYtTT1wuJx3ZVrNn2xbSx2SqR4e0r0hv72kq4TmqgmfwBCI3xJ6Ij
IZyNmLm5cjti4xMDmk6miiDCD3IcWwLVwdtnLM/1UrJYxKyKfbM41R90/3vJ0/Z0gLAxz7Uh+VwG
Te2HSfT0Kz6aQZZ2zCAVmWKDVp4cQ5yvcjOy6bSLnR4Vz+YdKzKwo623fcnqkcWdVLSJCNYFpGwq
oaUZjnIscMZK1jZrqqLTC6tk1/fvYCYuVLnRzpU4OzZyjdFEzdNo25SfBpBn9CM0627Ox7nE0HIA
/i4QlbfK7G5ldE5kRWViD1qIX5oL7FxHAKYE7fY6tUGfu5Aeq7n3pUECrX8QUEG0o+SWDtU6zjax
gw7lAEZBR05zpvhCt3OYAnTvGB5rPhbba+QXphUNIMU/nInvwReSQAfup54JMOPWBPiE7JSlDu60
Yf0TtgT8vG0OyCVSf3p4pHu2GAG/ElBTgUBieXn+S5GZhim1fKOikl5f2MfSjzU2a/stY0c8s4GR
07K37JFifnd9AEWxJBg6PJhjfmt9exITQjtUb+/CcQW1YT/P7CDvoRXz9uH13a3gMBLoPkB8BXgz
bnfl9o04NC4gTuUHCs+7ot2qvO8iyBKke8k9bCiA72L+mKx7pJres0YCOIkWTEITtfgpnf+ys9bE
FtuIYGeLFb9AIQEn0FT8dcB+PnJP7pHgMBBkAoYR6M1dPCM3T5H1S4tmOskqm1y7/D3sBlXzMrV7
6aDPX0G3mR5PTM+Lo3Qge0PxLtCkS3EMWSzJ0C6h3DWl6brTfXyEdtyzDyBt5kxAa5QgiOqbc+Mh
QAYRvKnWzq7PZcdITXcWz1SO/T++NpiSPBcU7DOAFG8Hs7ZssstBm4pHA+KPxzqpfsqXGv49PQZI
7yYJGAyE4hxRIB7QKL+5rp0U7tgzKisC3az27EXeX1m3ewwsOqNb2YosXEP/Fk+lW6h+2eW84f/8
HlEgPdBBgvOXdyAitAI83gbUVMiO/ofdMv0pTJuPykMb8PXDN+meTAGdbZJzJoHVwc29ud4Ioh4t
uiAqHfYxnfQmx11pyM72hOnmYNUa/cWmZnwEBt8zLojHkJwuKh78hd4cd2gZHbc9F1WUFpBggS1I
lh0a/0q+DWps1+lsJnP8c4oHhQcBc730u8Fpdou9bkWTFWNDDVRJhsWZ7xCtAK76UHNAYY/ol/dk
KVghAl4Fh5gDarq5xh7xLA1wP2oLsnkteiTAUEK5qJd2d9/2faLXhK2cqkLGzNQPH+w9F5RLuJ4I
cjFs8u02N+8WjcFRoet2F+3bfknzNWj36HnmknxkqHvOEsg5FDZKKfCL283XTogOTE1gwcHHHvAz
QoesbpxYmtqDTNzXHnW8pjY1/zgx5LA8BgIxeAoQVIOb+zuy3glGoAmLE+E/OBrDBySEvcbNwq4e
3s1LON6kUDeHunWUZB0nu+bQETUtMPrSeZuBqAOOqkeuxV12mEPLiF7EDhC+oe95c0kgTs45sntX
2173z4QQ6WUP/axnWX+AYw2cY6eH14Xvnl2OC3DsIeDhQHBvW0Bm4FY2j52r5TIu4EyxXppBjdHS
oeYHHV40Jq5vR6nldhJgmnzdgVb4AVpn8dxAW6dVLMOZPfWgFGlwgdmeKb82oRp2Z68ZbqA5+/CM
f+rft49CQEUE7s7AbchuZY7DrG6UUYJ/I99BHlii6cEz2rr3eh309HIEiQ36r828mLLBVE71Cnjy
x8z9xKss+t6qRbq+O7e55h8RmCymagp2BcV3DPxTdAO0NEiXmreLJ/qTz6R7ZQ/M4hMw/Szv/SEo
ABxPhVE5ZT5XbAZf1SOl/+7lBUUIrJsYoo5DLNyKbMw9AdajTZ0283e7Yf9qE93npqH5u4d3E98T
2KAIQAWQEuq5vI2k7Lxzz7OurQnIw6fVJ3zqyCJeTcKSF6BcH68CGtc3M3CjFzTIqKAZ2CQgcsNe
8g73tba9b9XUcOjTPDy3u+kThE1wF0KexuD3o7c24RgWJwdjdK1x7M/mEH/rYrFPRg8KXQso4ISn
5rg27NCPhNhPF+GtEKMSX8wPEsAeuBtv3kJhlt1ug4SOtZ8KXyWH8JVB7hgrnijipxwQwTWhHSYn
1+05f8faNn3L0TzK582SNldGuYJe0uwrdQqsafyjwMT4s5+LVp4f3qZ73BrApCBtXGRLBFaU/NZs
OW7bOYCikThoGXTavVNx3Fxb2cXKrB6aRKuu0P4pI3ZRuJ9Jqmkv7QughPL7w7O5J55gMqApgsMa
fv2Mt1/wMRR60QkM7io4Fn+KfbZ8Z0QcHx4e5Z40yQF1SiovNJKQW2lyBKpBp6MBvVuz6TsE8HTK
D5IpzucpA/QAHP/hAe/ek4tzTVCQ0QTYb5C8rPuXdfl9yMMYDavRvIcW+PLg3rGDj8/B+9ycsqDx
Kw0GoDPbh3gtQWeLSrQMQVe44/Htqlv0bDpMdzYYWlgPz+0OZM3h5mJgCAialrTIyc2pjXZGyxgL
VtMtCQN9ABe8Ovo9tjVKZMTnsI1Cl6krindTvzAPJqkCPCoPz+JOIYFZgAs4FwjAlQSOe3MWeztl
3odF1GHrV/C3QdsSnNJgyJmyBjj+3j1pIRzrhwcl96ydQAcR7igBQg1t05ujTnm7ZsHYpp4TTSCf
UXqMJ0Cv/aFysnQgwvWFJafWNeRN3jX6O5go01e4C+uXNTUDiGxEjD/27RitiiSTjTJCgM517K75
nAc0IPCvHcWotsmtP/gK7ndI+y6KU2ub5fW60PgaoKwBF7jdV131HkzLZZF7cRZms165jWxfWGED
qsEDg1+5BTleHmhtj+uFWp6XtN2Zwl3B+pLAPPUrwMsLe+J4Q4pHUMw9ZyQJBd8P3MILML19RjRb
xoHEWBtuh6rffXw5FaQ9UYqeumzSJ2DS8rHAuJMRAM6A5owJ/MaXWnPziPa0sX0MQ6pHIG5XAdTi
VQ0b5+sjAXi3pXLBTXkhgSjCT6hoNwea12IYBnzA6gTBz2eosGW2sfZMbaT1KPqxsjLtV1JHeFeA
zVsJch7+6+GAvG+HAQaDrg83AJLgrcWCDYyMgtNYR4wM6DxmryEhrOW2J1J3BR2vwCms/SNLv1Mp
4eYhaMuBVgBFAPoGN1eOwQsExswt1VufyHV/hKPyKDPXhW5creHNhPMe0+fYJ/Tkny734h0DZwZ0
ICW8PXOrUIIfO+/nDqcaXN3y7xw6SWU37yNRu7T+qJqU2zJim9FHKvSd/A8LvgQUZGT4IW9LAvGw
nrNmBIc1jt2LTUp5XkiHrpfJ46ert/OXh9d5t8ZeBgQ0AttbgO5z2yURadZM/jCpNrJDexUtQL7G
22a8mCXED97CCxaFjZ6XEyZjKh2f9hfjukFn3uQRzY8c+N03bi7zKUD5QiDvEVZc4vCXchQyrjco
KqnO9j30popNJGMJFuO5rYjNrFP6iH2hJnhBRNarthefde9pXgY/NmPJQRZ6imJY3BMxEtLV8PpJ
WhWn4O2q9VK4TEHmxMM5uhU62Xl26O+HA8/QEzBx25cr4MZPGU3xgrHzrJaFi0jFFl6IqcYNASru
gqHHszQf9u9sBheGWg1flko0Kb3v8nXnylIEk3KzKV7q2TXvIGzIR0K2blJsHfVfKOu2Qbl0LBi6
AjiwcmvReJ2Cy9N5aEf9EV6mYC+O1e97haFtdSUPRDqw4YIns4a3LUhTsdGF7VsTQRsEjcG7cw4t
id6o8cCbVbYbpXkXZTJn7syIy96sOlw1huzjNWDl9oRN2vw1AX7wvl8xyP7wfs9BruBlAXABLWQa
83O3zPwKmrlIgHvE7z92GeNY09GARe7hILxcphuoFM68AD4ACRw0QfDq3DzzoYUm0mqGUMdsX67A
ncRLRO1xxUCkf6Su/o9We2swkPdAnwcSCo0wdKuwjkOglrW5rztgjtPHJaP93070GENP4eKHy9aM
fwGi2kDDdjPb3wCPSP62T5nbT4CN0FfL0raAp9EFVIZjiT9wPjVZJVB27E/npp3edyCk8ut48R8+
cRna8mdr33swjEc7BHjBhy/v5BQDrmKxF7Sy6EBQKKeuf2sdIrocxgz0wG0Dclot4Lp7L1OxAhUB
a714FQewtdcbK4ivGjD7xGpEBN7AmTm8mLPMaZjLBcG7VaUM2iWVJQfGJ7rOjD1jUcfxCmivfLn1
3fjNmf7/cnYezW0j3Rr+RahCDluABClZkuVszwblNI2c0UDj198HvhsTVIk138zSLoNodDjnTb0u
KO6nQg9LJI3vDKV07xCUphDRPNpIDJ1g0j407AT60RNp8wC/KVDwdcHQ3XvdWo2RVQIyRQvzzomE
UzX/FNooUbWMboNFqEonN3Jm1zsHzSBkXCww0Ow5jjhuSm8Z1SgJ7aiHZ50PqqRvOrgVTWKcTBWH
G6YNT0VBPdfnrHKFGeHnMX5lXtpVX20hLeewjDqYMDCyfudKd0LQszh5GyJHRAhTYKz5RTnTmkdH
CfEoy9H/Mo/gVfybRmY/2TZfN7JR4EyhZjsqeadE1xqokwrPiNA3jN/Q2NsS6sbKfg9m0fkfliIZ
l1OqIOmQ8czJGJZTb2Obgv6iuqnkkoRoArJ/+jRAPaQFiLek0o6eMXrluU+HpAgnMc7lR6b7ULzt
5Ti/K4VnlEeVYGs4jHmwwhcurR0PeTbLQ5CnefbctNPyfrFEZp/GqW6dg6u56uDNfW1H1IXDHOmJ
LfvIpBzGmFe6dnYKHC1fQ6WrIT8NSSXTKGlVQjnJf86pD2ClTkFbrFjpjGoqDlVm9/9CP+Z+jOuy
66OmdJzvWbEEyyO+T9jOJLXWJ5F46/uh0/WvPaKOIbKlyDN0SEH21dGaXBycZRg+FsaCj8goJn7U
kEA7RVjc1BNyF/HDxTUhwmBKKqCZQYpfwqOlg7VCjhU2uKaC0HaNsXk3iLIv31mTuwJI5NL/gXS1
sPD1zOrrlE3Ox9e3ohfO383NgpcFmQx1t3m5FVldz+lgDtMR7HF+PwdJeqeS+pePv+4dKMMtzdEL
9c0G8m18IbQPB/Dl44TT1apMrelYJ2YhQhgPGrwFZQoIRTEdEdl0MfbO8q5Gwfb29Ve9rugccJwA
haS3QZzW9tv+OmmVOS4686Y6rnWdAoGla7RpBM51Z6JEGhfza5lb643z/YXxpXcGn+anU+KYu4c6
Hb2J7JbmqPkVOrymdY4FisrYtxfzc9rNzuk/vyTPozbHYsERE+y+5zTZy1QLjpa6FuupdS36IFdN
uKOG8c5LpAvsV92S4bxUVFkOdOGGc1HG7UX5mqH3ujWCIWmjNnrHsk79KdQTodAaF7OGXrARxn0j
RrZIpOVj+cn30ro7IwRzvw6FPff/w7DTPvh0WAhwafUvv/WgV26t3Kw/elqQfu7WAflHqtBoZcN6
7Jvl1jJ64UTfECYs4TCZkGi7eV0MstZyz56OZtvk77sOcQRKnOAB+U124wtfA71wdRvlDg9BLY5V
+/Ldsjb1ZmvK5yM9rXVGoVDetfzdQ0JtfwQUGI9ll2nxOOYGVIUoD1ZpoKgcnDmiTS2ssKldFXeu
OVth5/ntwVV9Fevm6PiH1yfjC42cs+mekRiZHhTNH2PFX0tucnUQ0cmWx3QYys+45sTbtqzVR7vN
Vi/UZjF/67CMH1PNcj6gGRvPxZSMtwbsGlpwfMbpjyYaemw/GZKN1am9TCJTKoviZI+uqD5WAonC
sUT0ORy6QnUfUmOY3IPMckPHpV1UnyZrNb4IztLNFF21TzOa7Z95m+n3a44lDYl/WXaInhr5BYl0
8sFOjPXG7vzCloWAnfYAITuw0B4dazKR1e6wjscmWLw3E9LW4ygz+UZv6/aYI+a/X9eiulEybj3m
rmAEPaZFovl24Jt2a0cT6CX9EZ7L8/PhYDp1/7lphXUTiNvWxNVzwP/p8q3AouW/nMdoKHKXfROd
VzNZKs4Xv/7WD6Z48ofZRnjrqf5cde0Yl6ndtfFWtT8kRlL/D2MMUYymiU3Th2m7/BlBRd/r+O10
hItQJ3vWjTf9mvYHYMv8oR7WXwZH940G4PpUoOODcAfvAlIB87t8JoKNIBAlz8zqvLwrp1T9yLAm
+xEtYHos08R6c2Mlbv/i5WDT7NJnYxEGW9T93aaRl647Vfo6kapg2NVBlou5SZ/KPgkZ0/TZSH30
b2thIthrRicDJyPb4qkDif5HKybj943fc/3x8WfQiG+aUSjc/c4AtlAlnZLz0RdpioGMPcKax+qs
zT5qrYFcgLrW5WNe6JuXNsjCDBHtt9d/xLWpHY8pxYhOPQD1FuxlLkEg+0FpznycDGswju2K5D8y
qzp4owK3mKO11/ghPq5mAGm77991q1JV2CjffucJx1ShOQqZhHrf998Sd+nKY2602nJYQDO+KS3B
Be/Kor8r8J3MZ9kXWUEHnJq3cjuueQ42WSi/AAQe4gAv1eWEksATmZDdfMRqVKEAWIdz5UPcUWFZ
jJ0yFvbYPr8rwDKPjZYZFkJG1PkhTikQUJ38jHbMmjtvaKv7LNVbSnirPb8+3tf7sIsOYmMnt33F
3tMb7bgQ4FFNy9Ghej/h8cURXzfo3BDRvsc7sDzLetLvKsSQR1Pm/Y2F/uLjAQx10wPVM9zdogM9
yxf0YYrIBDkuocytfgmVN3nJQ+U1mh8NPbQ3itfSmcPaXpx+E6Mm2o0y9A8Ru1uK1KGQgTr1gmXs
h2F1fFgoE9ULx1DrPw71mqcPmTFNxlu0qbiQBAzaM/4KhEJammpPjjnLhtKlCu6DeqyLs5taFvkL
zTypsLB9UiBKYyVxpVPdkoXSoNcNA60O+miBfjXvrARxAr7D1OrubC3TvtdWDtBd6x016VLbFeLb
pAHuNmYtP3dV4dthKVO+wjKh+VW9k74Rczk5YZHhLz/kohNnc/WGJK5nMjZIYBH5XV/WOZBtqidB
2BTEUtzL0R2+++PSfu4Tab8XbloUn+bELu46GoQudBWFsW+WdntSfmA/eNKtgwi0W7+horsuz9De
4FDSaT4QUOxLJqlGcC1ps9BdlT3UNs1b2QxMcrOp49cn+Z+Oafd5qYWhTzbBD6fKdrz+VfPMwRro
Uk/mIxB3Z6ehbtCMHlpUXFOY5LbZH1Mwj+rJ0ERHWy4I1sHuuKzeT2PoO/3ONsbR/KLXmv7p9V/2
wqEDpYhTi7IRPHuPLSNVnLphMMfjtGbaNydN6gM2he7HLIcvBMOsh9cf90Kd6kG12ZveDSSbwJXL
gZBdok9jvQFPwsKMHKL+quowdVOdNlvIcoq9Um+s+4Tcq+oQcBz0B1k1pREv8yCrI1K0RkaVlKhi
m9nFk96uFt6xoh/ks0yW5Fki/7Zv/OzrqeJhneOshCAEhLd32JwXZLOLUbOAe0ggkfJxkvHUz/Ob
diAl4b8/jEexJ5kINtB47ubKwNEilLkSC2R03n2xNO7B0+G9BFzbjUdd734ccdTA2/YHFOjuqrq6
TBxAx3o9rno9H02/bb5rINOxXbqiDUevas4zVWbMkSkiInmGW9TGdS0LeI+EaiPjaZL87c//Whde
EpiQ5sF6dCisfyIt8T4uQUNeR5+23lFDpCvRgDuNd+PU+bO4LxaktYkATQNtHBZunBOXD04JNpJJ
RxJGv+Ayu5+Erj/1w1oUj0616G2c9kObn0wMaXOYzZRAYS3r/KNjFJh29HL2f8P5ps9tQR0XOwVc
Mec78swwn9puCcs+G6ZQekqhW0+2TZz3HAGvF+qDsVBjG6q1cpJoamxk6m4yOT9tbfS/Nr0S06FF
kYf2s9KX9/2S6Uvku1OLboff9tsFy5fhkshJhsCVorgbBi+9sS1cfReGh5GBEMd97QX7CY8gMrVN
ka3HDYsrSLSp2rt+HIzmWMyT4YXjrInYl9pNk+424/bfBX22aZEosCEzuwmhaiehW7b142LOaX2/
JGbPSYJ1RTuAZ4tvTYIfMMSCAzY82b729fX96Wqh894ozhBKQqQ6tNSX06IQeMDTYqDZK0vOON9Z
cAbmRrz6wE+vP+pq7UHuIMk0bWYhZrsrn6wtkCjVPUM81FWs8mn+nPYQ06Fwl/mY9rP7oGy6ARXg
JAnSRJxef/6fdKbdUKOEJamO3CNAmj3hkGU6jZRojSPpRDg8MWg0IOVB2T00iVH7hwUutz5ofuKc
ywynWGTPNagpiTN5emaDd0BwK11f7mQi8LDpalUH0HYzP6aLnciQTDf7g8bP9w+KqLWRuJk8iSvP
aPTDqDemOvrNbLbROjbt23Xh4MOuii8ph68mS074AiFGXw03pvYfMm//3jZyD31TxJqAfpff2JmN
1poSxzgG/jS397pmGL8Wy0v7pykVMAxLPxlT1JlYMiJZB6v5OAoLnCTQvaU99p3yTtXQ22LzdK3n
hZIwifq6BE16/QO9sAY3JauOrDvwfAzcl79zarM6UdaG2g8pznys/usWSOP7yyOIqDufBB62NPTN
NclunAvX9QrL3nWIo2GAPNvVd4ghnq2a7XE0iYiptTVSKvM/STmqfxkatqMiA3j2bRBztDreU++U
RouFJRXfbFxIEZ7b7MZquUaN+EXoJkGJSSFktu42Bt8STe7rzFYLVu99U0t1t7JFmwevzoMzvVpz
P3JKH/pq1N43KNrfd7nu3tgeXpo7GOlZNrTN7FF7za9ZJrPqC0mIgmf0CA5lgzfBC8YSTphgiPYA
r538bD1yPyLbKdazrHunOKcjqtBQx/7XhFqSjs/sa2QwWB0u7ggHef/8+tS5quosWiqCLS2CFXzv
ClE3Jzfzq8azjwZxmE8NtpiIZWu8n7q1/lSWbfnjPz+PKEOPUoLqiMJut6Rwwk9oLHF3+p2d1JGw
h+RNrmnFN0/IVIVeDap0Y3VcHxQoaQGKto9hIX/Yz9DGyVKxFPaR1ZpEwxAQZaBXRd+HlsIxkecK
ZjBP1tjHXbDegGpemI2cTiRvgSXjRnT3BD0O5QU3uW8fZQqg24vA3HIY2954M+RplhytStVn3ccz
bcx2e59nk56+sZGw3piQL3xommaGYOOkaR23UfqrfuqKqXX8zLGP7YRxcsQW/32ghy6pLghuiZYM
3dyNlXh9RGKNB1SAMyGJ67qCX4PZsjvhHBdor3sMSlN9aMpee9O7mV3caJxeeD8wTmeLgtzEEH+8
r3+9X9GY0PVLxcP8CWB6aDQSBEvxqLLqFzKR9oakf/84j8HcADhOZH9LkdoNZ+Ahxp2yTsS5YxEx
SfDjPW4RNRyMOXHuU7Rut6bxfpP/80SC6vArbPUGCbQXH5DAE7ZyR9eOnB/uA375kWyCrnmnk/WC
Ud1sosGfbmpK/+xTf5+B22NdaH+oGXIbEaNfPlaadeItufCPxGWaT1SyQRuXS7d8NSakcWEbjNYv
W080UqvaBnCGPD/jPoAcHsMhSYLNKGPozySAEAYn3cHSobqb4q428/Qd4bsLbXxtOW2kBiXed6lV
f3BRDZDDqRfTr5nAwzlOGrH5Set0+D5m+vSlWkZScnVndT0qbncigU4b9DJSZBefsoYS/An7dvd7
rUqvDsWUevGM8kS/H/JlujfrziO2QmbpP2mGzAD6tJUq1IfGa6NAzYD0jdZTw/iDyENfa1eJTMTB
neFrg/wuEPv3G40u5GEre/inkMT/ZpZMSVStFNhR1kDIqwYLWpTaY/O7SHu0LDm7eRf2iVpy1Ko5
L973WmIfUC9pzwHUb3pMlJc/KEeKNSKmebwLdL71MS/soIIYt/KfNAmkZ9RMtCRcArf/lFCCNsek
M0knNRxlTCEEN7jdPFnFo6Zn2D4wAac4eksTZ242VGgMB6MXJlk+2rA+kfuTr9FkdpJOwba0PhRA
lQ89f/YuqQTRsYEpNREtdU0vkVZZp2izOotIGCQLsWxa+dsdfKpCAhOHrw2M7O9RNmQN0vX6qNxG
0Xw1q16ReTqr7g0Wy6Q8oGCZyXXJjfRfdk6jPuSL25rRNC2BQnaeECOnKnttySpJyEHKkRd88Sbd
EOe81vNzYnozQZgG2raQkqdFV9rrW+icTZhr5DTNWEeUHIsKYWjTe6gRYfE0OMOQoBfN+czJbCEB
kZAzGH+XmmxiEaxgDOY0ijtrMlxB5pbWe4if5OJFhOuqX6ue4FKfcbfbYV1l5eOElpvwsGn9N08S
55ePdKSMsFcAuWGvXw7sjDJ9AMUt/smdgpVrVLOroqlIMzc0Sc342SiyFfAvSO+ha4L8BwOHCdnR
CEG4cQi+sF95/0/KbDwWnOblMl5tIBHluCSeaWtzyESAg3BohoNPDObDUCh5gzHYoIfdtgH5Ql9I
0izV4X63clTTWFqpp3GCBDeHKnDkQ9vUyQ2bzAubIiQIAZ64fjZ8YFdO+CDTq1uOIrbgTI2jJork
Lfyq10WuJ8eTzIv8Y2+4txjrF0YT8zCVE+U2iuN9wU18hgZQnKXxKEV91MVqnAm5sZ5oQYcnM0md
W5/vSufHNkxwt+c7qPwgPfZmF8/qVC1sK0FhZ3rDj2ldxm+0+21PuoCWB2/8TqTnyqqJ/eqxm38d
ZYIjVTfICojGLknKz97goqmqQIqfihqP29khaqGLSOIJnIMpBq2NhtEwPhlBZY7RAHnxM4PebeK6
XVBZKAhPsnMyLMNhkhEyGqq6sN5oSaXLkGRc9RYwyu7DIDGtOvaVoz+kRSu3RIbSHkMN84iG9Kqq
N4E+M6KqEtkgo0Iww1rXDTey8tL6NGkmvUJajtMXt1BIg5pO87QDxEULO6HLcYRzEIVJSK2wuyhX
bfthctQ6nRaSitYYx69BXIdqjR9t45Hot5QmW3Kucg+VU2Jlw4HgPWOm7Ks99h1BXERfIJ0JiyF1
a0JPzfopMcQiD3oNk7UF8K35EZx1VidWZ/CrD4Bhw9UBco1WERQ/lV7Wj2Ub6NP59VrZvJ7dlI4Y
1NkCaUMp0C8Xrdc5S2LosohXKzWdSNUzMeS+q5H67RCIUDqlGfWEbcdT2hh3wzppUTAVyRyVjU/q
pNvP+soAZuPvurYUJsd2JuqajqsaM/XBSmzvTeD3igZcb7LDolY/DHphRYTd1FHv2ssTSXO1OhBt
/e+iNVP8+vtd0U5EisLk+GxH+Leo0Hf45bSxqvkcVDFxIguSPuUSBr2mEjgnk2YbwIwlIBygcu2/
+iKWlDpdVT8xqAnvYA9z9Zx1GbEEqm38c9tuIvrU91eCj2Rtajd20Bc+hosUBEHIZmu4ksY4xVBl
VtK2MaoEI2o63AQZ4vXvU5l9kan9lZfUP74+QH9cqJe7KKUlEXRktgCEgwBdToDGJ1Blavs21l0g
rNBqkua8FJ3eHNt8ADzsU8OtIxMsrDraWi1RzGrVog61OQ5ONCiz60OCysuPKOBqshDn0U3eup10
T3OyULKxvHOUy17pf8pwM1QHdzG6FhDGRdbgI5p9zjCzjI+WCla41aXpDwMRTev7qUmt7K2ZWgpH
ou2ha08zLIGVtkx4GpKCkCZb/BaTcL44iAgz7MPBou4Ls2y/r3DkBD+LEdbQ80fIJl2mpXHwc1E/
Zdoy/qhWKZjUuFYJGsmN8SMOWbs81Qzxe7fkG8WBUVTDHXiY94UGZJb3DlJMUnPQhHybZgms7+Vz
9hjY6K8pEar63z5NdcgtDkkiuIWqD0PH+oa6TbQTEXe6hpJ1TfND45VTQ8olksOIykJ+bRdjmQ+p
VUz9ndG7U4p1pyR0RnRB+WlcyfA5zchdu3A02AsPN2bA1TGKl4vwP9cifxfuZXdspwTVu6v0y9h2
pXeaR4vok7E+tJ0DneH11ZvRS8cby/KPLORq1kEsoK6B9qJXvJx1fbVa/iiDPLZyM00PhTAtugzd
HsLE7ZBQyqXzyM6R5dlRLGGyW1znE1dhrPXJTN3FIne6M/8ZS252eJBWb1ZPy/YJkG5R6tOVycZ5
xDNaEFCtV9Q7liLUODSLqppjtlFJSa0ndfM2kGJ85E4ENR9KSKCALHRXA90Vmvd77EvtuQp695fl
ViRTvj7s1+c7maLE7VC7AOD4e1BrwfHp1bYqYmdp6nu1EviWCyDtWneDE0ijuNEpb+t4N+KgVQhI
8DJgn9gDjXIueynbLWCrSlODnCOjHh6DslxPr7/XviNnw6VaATPnYWBS+7RqxxDzWnM0xJI8pcfc
6xtyRfvhrepNdWPmvvAoGGprk43AF2EqvZxECFzBC52ljAeknCciF9HCD67/DCik3TCf/PGm7oaP
JbKhSpAQkOK7KjAxBeZVP8viseqdKtZox2WoIdM8C3QAwdMsF/93YgzJ3eRM6tcycWBP04gw388n
l8auJPk0ynVH6WGxuvk5aN2ufEpyfxUH3Rmt56AoJ2qlCXncgYnTp/fj2PWEFmiGuGNtOv9KM5iw
+hkTGUFgTNPnzrE3P2y1QvgoOOox0p2h/6SawXJxgwHMPiSDe/NmjOup67KO/hC1SDghBS/HvdMa
RLjtyCjo2lJHcg6m4EPiadobrexpyjVfzrdcylf51wCHGwf5J9EGAcleBJVVpaEP81zHuVYEQTiM
jnka8sF5U02afo+J2jlX3P4Tkjs2/bY1oVTU+1kfBVbtnAPucAgdoj8f+3o1J+J3txjxoCqRSxv6
VIfmYIkbpdX1Yc6OSlAAIk80FBTxl6PEvkUxhSxvk4XpMdmqyJYG9I/OaBZRT7LmqVzs/sYqv14S
AWES2+0Rxvb/XlybtH5RccT0MY6NPg8JNXQ+1V6JTKwFA3x9pW+l4eWSwHqJPQl5mM8mvo8wtHEX
kis0NPG6tsFxwJkVNGWMyd85SlUFTw2RehGmDf3b68+9ekfYYd6MJB/HoAXaR0Aol12sJcMp7pX/
Ccwhh3awCztW0urev/6oq5nOo+CBHc8lu5yNd7fqNX/BULYYbbymqvhtVYN9AmCqfiAIALHxxHqj
pb2CcpF6ETwHCWaSbhFQmF1OGpst2u+Hpo1HMkI/pEk1OFxLgnWwHbr5VDkG1os0HflzDpB7ONE6
Jl3Nv7HbvfQzHOpP7tBAfEYBvWN7qlK2hBikfYzLQfuZG9KPEGK4R+VgBQM3m+03dpNrFl5Dvwwn
HYmU8uv2xv5+PfpQkRQk6AF9epS9ZEzBRumrs06xXhrqceqD9cDg+XdGKWadX8FVVjcO5aspzXSm
d9+SHjghmdyXw29I/DNJlhG/x91N59IE7MRWk58qsayPTlBxwcpE0jX8YXkDZbie1IQbwfQi/6EG
R5J8+WQ5WXa/EqUVZ+5UGHjpzOm+cShuKYjy5MZrXm1NvOaWFs/aYcIB9V4+jDWrKZzGQ+wPlvUd
4YFxHga94Solcz4EeDfvFkzUNx764hui7iQLD9UNld/lQ3tpweFzQVbs00AddBPfftcG5rlsi/G/
7oK8H8dTAJED5Ih49/JRdUE6pDCDIbb01A2nSX4nm09+sQdP/Eduy4PsIeVni7T2KOb2GSqYU8qq
nU2KylTz7tW8jO+wyP9I89QfUe7ReLy+IV1PUARL2ynIjguf5u42JJzEGm7PEU5Hm8ufXlKkkbcm
vhv6DuR0aC6V1eNh60mVV47/4fWHX69HLL9Y5HSKoC3YbldvpfkQjKgQKVmN0j+lLHu2JTN48PQq
ecA8+T88jlVvYLrd1GB7VQx4BXdtGVUZr8NqP9rroMKlg1hzhFd8m4khOL7+eterAtSOz4gw7k8J
u5s1W4Un09bl9QbcN+7kLvd6PSWHbpra0BgM7U29WLf0VS89lGzYTd2CSgHD0eVUrSg/FqSInJuT
cmNVB/6JqJvlGMBIxIPdlA9uK8WNN71eiha3ERGZ4SFtR4y7W4qtpwK/tYcSrZBZvNVan/gQptUh
gE65sYe/9H7Em9DquQBoqOwu30/0njnTLZfxvBjyoS7owpKyImc1rfwfZCrNSCpvhitfKQbQ8qFR
oJuFAoam3yu50AZ5q7Y6ZeyKuXkntjzt01rBhyCNMu/ICeROBbJMoTLIHXvMynwK2ypwfvhcdRSt
5Jh/f31qXS9bdG1ALFuyHHaC7ULIv5lR5F2inkgFjYNKb55rhTl1sugEELoTWeUP6dEbLO0QNL3/
nz81A08EpoF9gYkd7CZ1SoviK64DifW2KD7LARzFMZvpLsv8W7cGXXmsvAATD74MOiQAZObV5Vs6
I9fz0VZ63DXlBWfaIO8JFml93kK8z6V0rD7Mm8mP59zCL+IkOJ4Ko/xc1votWc3VTsUvYQ4EW4YK
Ur79OU5YkNdWjvTQjSMPaszlI8R79k4NgjusKtu5cXhffd4AM9vmUUQZQ5W4l4OUeW3NwnIXroZb
uvcIRx6aAL2BNnTtG1ILkme7mfofk2dq59fn1fV7ojQmW9qkDYOvdXYLmcHmrqR81eNuahzYfvof
m5jnt14hvhe1eUsw+9LjDEQVFCo+wM2eAM9IgTWbvDXikay5sMGVfOKKDgiqGWhVTq328/XXe2FG
0WYytujxIXncfQ+VBbWuXG01Yh0Y5tkO5vztJNzs1KRUwaEqZRcmgUt7nBfV19ypdcrUzDuudqm+
vP5T/iTbXHQ7sB42ygZkJVvrsd+om4qfCYW64vWpdPVW5P0whHLhlID8kEKcG/Sr47Pe5sZXbCNo
5YLZSecD3ddoE9tc+zF3Nqn2AaJwpGYurfWz6bEVHLvEMtZQ6/TZibhPpkOQrXDkhEPduWNUk+Rb
kRKdcAlVLfBy/deKYmNzEEZgDtyA4H24JpkxY+kMsxE3KM8V4irP+8SdlM1zZntbmVHmx4xYrkPp
LreEK9t+8PeQcuUILnUqbbg75DN7S+KIlmDiBqs1KmbLjETju/d5K5sbMor9CbQ9ZYuc4+uhlrr6
cAtJBnaf6mtUG+b6M/eyf+rFLZ/GLNAeYYagcdP+VlbQ1QH0/w+Fc8AmhY93n3U/+zbmBGmvkaCa
7yANpYVa1O8Oiy3Mj0ZP3FrZYo6M0K5lH5ox8MM1UPUT1/b2pz6T3Y2N4sVBoISi/uYMJlbqcmu2
F5f0qiDTUVDU7Lven6txGS+FgsInhqKS1qlD3nJjcv1BFXefGKycOHhqVjpad1feOFXSw8iOa6Rx
vWSYWFVw0voi+FjbjfiVd4g58pYwhEHqywkXcA0M34m70qTLJKRIPSFK6+IgQVdse3V1Jm0R8Vg1
ll8XwWUbovTTG+flVRAuXw5RH84ItmmO6/0NYnkzLKTBIyvs7dF7cC1ockGcHzFrmsB+4vYezowy
0IlxSOe4twv3wM2u3tEzc+0jIk8KnDG/BT9eORW2X7VJH1H6sQWxIV5+P0MjHa4W5qZmHOd/zHKQ
3NeiZPB5Xhv/vskSTT8Q2GqIQ6pNIIo2STBaWLX6dLeAhsJ/0q5zBZOu6W81Egk/t25mPYMQZjKs
HYQg8evb5b7C3H4vS5tejyaaCn733SV+23qUhULplw3PBINn9xM3qRwm171VzF6BFX+ehVeLlIDN
p/Dni/4ly5pLl6qtRDSSFZn3mZNfe6dpyLJEKacfndDtENFWzvRus6PSvCFeJ7eN/vv70m5uAqat
5NhbalwxsHGNZPY21vorrVPkLYkRfDTGwb5519sGQuzW1FZggX1tRxF2gcu50NM6Y4Rm27TWCX5t
UGmkgSuc0SdwcRe3GXG/QlN4d6w281QhCQ6LZVFd2FrJ/O71194XBAz9Fom2OeVQ4F0VBDIgnLIR
3RpVMDFRn4/rQeR2fa/rgyIAc7VudBN/nGf7dzegL+i0sUmgV7h8d428sYTnrVyhkXR35ozi+8lp
lgHCDXfoFPpDgvSw1AZq/amecjcSiOu/Tw7ewtDergc8Flbek0mSaOqHzDWiU+opJY3Us1bttLDT
cMlYb/f/cA22/U6US8V8Ee1457ijM9/YlV8aPsSEzFuQTLblXTcv1BA4hAaB6Q1VCfFcaG+FqDQ2
nGFzuib20+uf64VTAEgaJQsGR4qpfblIqn8u8qZRkZt0S2SUaXHUFo+LNLquItRc+zaJPL/xjlc7
AQAMlamLuoBCnFihyy/WrQKxGIk+XC1o+2/kWmEL9AtB+Ix562LWq9fbHrWhwg40Da3frhruxDqv
iebzKHPQHrjaYz5lda1wszkueWyNe1ybYbwxpi++H30VYnAOOsxDl++XcH20bRXcmQaT3H1HQpIe
hl4nT3eLRH/9813VS7wfmXqbBBUVPp/x8lF9zvRfCNI6eI3bfM0xnERuhlLu1qH94nNsJsoG82xR
n5fPabkAiLRdDJ1Vkqz3oCEALwEDeyjWLPloJUUdEY7S/uPKSr5NDYWcjVvUotqtiE1JRs/5SUVs
xwWBLTdG4GrBcBU7Vil01kAJnNK7MqY3u9lMuNEG+NAKPtD/LUfMOAr/pwpOklCkG3j8Cx8XdbHv
cmWQDdG4dx5J7mhyM64SPXSN58VIIRCCcE1PJNbg1sd96dWYtH9ejyW639WLLFeoFlgn3MiNVD5H
yDmItI3GZihPrTK0G0P50qvRqm+RIPjbkd5ffmTMZEXp4Kw4TBCTH9KKy+1qr+3eTJ5/C/ndtrGL
TZuvRvYK74QDAFJ4h6r7MPa6vaIJJPRGZYc57ypiyhfrB4vFehi4p+WJwCupxZ3m5Ee9GMfD6wtn
W/j7H8BrsuXhLURds9sYmlFPvKTmYnTX65ZH9Ffa27qvuvN2h+fTqpbsfiYBLoUQXKr49UdfV268
PAiMsSFSLKd9nhBtbTMaLk7WOR+b5ujaUy5POEq4O5uiOzl3Om3XPaAE1G5K/JN3Suxq5tZlNLn2
v8Vad7FnENP/2K2l/alTYLPhsBLTL0hnJPIUU9CNHfuFbfTiF+8+l6hqTfS0+QeunRk+eK6Sd7jf
crywNoodQqk/SJuq/PVxeumhME0sNLoFJuW2PP4q4lwvX3Ia4OYggyT7V/U9kVxGQQpPNcxv0d1N
sUDCcHz9oddtGh+Hafl/nJ3ZbtxGsIafiAD35ZbkzEgjyba82zdEHNvc951Pf77WOcDRcIghFARB
AhhJTze7q6ur/oXGMkEVIs8qniDxQFVQyks/qhUn+hE7aLeSGoRBcVoWBXJlkAC69Ktm0O+zqE1/
tovRxQeY79P0YWkC1LBs6Gqfbv+sre3KGpDe8MznZK4+QJklIE4jcpphzK0jpn7TwR6QI1RTTX1O
MUUHul7r+dGusj0r3q0oBDyC9ACXP27rVehXklimdpJVOIZpHfqGMoIzrL7x1ab+jR9s/c+bpypM
1PnoNiIrV2iRGoOvLAIW7bdprfqtrSdoCpeBhzWnfMin6Hcpa8l31Br3fAQ2JkofA8Efyg5CcmQV
/pDbiRODYqyfh/jvKXqX3/dZ2vuqJOmnUNnN2jfuVJPrW+QIUIT463J/j5ZeB2UQsrCjmarH3jaK
6B7plV0ZFfGFVrEO6QgyLtEzBXawGqhCKSawR3qxgSbwZcucmKehD9rHsWlHJGwm6VRLVeoFEW1U
dyz67smcelQAijA3XSoTkTsqavJ8+ztvHG/QEOJJyD/Y06s3SzI7yOv1CrKH0ADe9WqXehLAibui
CdqPoOu0xyYpv9wec2vJSQEglYnmCnfcasmXNFMLOeZpMOJXk4WZ+WRJUb3TK7/aSACCcKOgy0h9
kkFWo8QJNTmJZgsrXcQe+EjcYIMSwurUy+ce3NDOXbY1HlFByPVjpkBh63JWVqW2qjxYtlfiny5K
j86JBqX5JNtF7dXxuIsQFp/mYkMxQcHfY08BSgV5dDngQs/AUieVAVUJro2URda/ID6m8NDi/Rr7
FWIN70EjYVNqLBWqy2qIglcET0JFmjtuoQ8DAjklpdpoBwkzWc/MiDFHI+6j4jg5djy7tYYEtTtX
cgSab5SHEz6mreNKoVXtqV9c7USmw1sEsQ44Coq+rtVrqOcXRZXbnm1IkNJUYKvI6EBFPBRzpZ4U
RCiPmvFm1TvkozTyD+oDNIAIV6t4I9PpmpG9tD1ucBSN6snEd6wrtMUHHub4Uzs7VLyqPe/yqzMg
hkX2ziAZAGS/Djv5LCP8bTCsLozG7uzEwnwC//lwTxF7ayAUOyj04QDGpbq6SSuJl3Qt5Q4kZcDh
emeOH8vSyL/ePtJbm58OizB0Jr6xoJd7cTRLTc7mGfS9anUflRHbtLLPStQgYvm+q5Gnuj3eVZJM
10xw8Nn49JLoYl6O10T9AD8sh3VVpNT9+qItHzskixW3VMvm1+3BNnYmQYS1e9mdzlpqY4SjEycp
l58BjvBJ0ea/izYmrl6l/b1TZPljxubdyfU2FlQomOPjCciGV9Uqes1omPHSMByvtAcobVNtgk6c
CM44a/5aBnUXj78RTbjnRV+WtoPgbV6u6GSk1VJSfPUWNJ6AiOc5zhW8lOs+5+mTIl0fZlJ06BoK
81Nj1ZB4F+dkjs1wh1rhnuLH5vTJssTPIXqvMSlIDAVlr0aBAFH0p3wgsxpFgTWPrO8k1vHx9he+
SuzYTiK3sqFbqBA6xXZ7leRamHZkS0QolYrAUM8kvda71BmHxwRW769FX+S7utVsfEaUXtsZe2t3
QYHUMYMVacg6qdSJMt1gQVxJAmyNDXSTH+sYnlyRN+2nPk/Gj5j/Trp7e8YvbbHV7UHEg1hAngWq
TV7FvZZKPr5mWeAVTWjMD6jGpP0PgPQIY/elNLWlB7t1RlbAdrJnG1e/wRsHpftXWlqMcltdsiZo
f5AoT7YlrBPVKbA/BoE6Nl7MUwSvloi2s+t0YVd72Kg4uc/awsKrgylSfy25HH1OBqwoKPOZiETr
g4kkro5wz6EyS9R6Ebx1iodUmpoMgmYYSfdhIzXaA7Jkw10Ry+XoNm2efzEDA9XuWbODbKdBdf0K
Eb150SABkoGf6wtY/tW2mOUgbstkQleqmU3kNRBU/GsGZX6uQdb6rbrkP9GhQXWrd6p7ZUlaN6mc
8VMm0SJxs3Cu9lw+No4FvXwY1eQYCJBcIW96GwWQdlK9OCj6b0s9muJyTIaHBPFhIYMchjuFlqsS
AaWm/8MUkyLCPb48GXVR1eXoJGQMU6t7/UJXFTi3cppzgI/uIHWUfJOqhkVJJtJQbIthvt7eqhuT
5ilAdkrWjFPz2twcNIFEIa9RvXEeLcg3XdHiWpvJzgEp6f6dhAZI/tbaIbaSTBe1N9ElBLJwOesS
3xTau5XmlUm5PI56nbv4VmSwOvvl/q2zA7ZO3ZdBcGq7cjFQI7XnxUHDMUtG3jtyMR+tPvmV2El8
UJXkrRpVBFQI8sQ6PDp1EtVVmDelUdZi/vYAcSLEMA3RqbKz8uusUH2+PbPrO5rnFAnq/0JVcRa8
XMR5UJuwrEwV0xnLSd2pjPtffV+Y1pF2EZSe26Ndb1RGQweFRhzXBZ3l1WjWHCtjHmmkj6n9YKcY
DrvwlObYTZFlPS1x5LR+l0rQeJW0Kn+p2Sjt3VrXuZaAlSN1TvcFv871w8ZpdKsP9RH0bdXID0u2
aJ/YNf3OTK/PA4hnpOhAAcOvMF680V5FpdHAfrTKoOolU4l8lDkHmp9qUIwLakBfFoeoe3tpr9Ae
YtMIzQNNNAyhqIhf9GpEuamRtYpzyD2VY5dHZVL7Q9e39tlAof0DOAIYVJmZ5l6dD/W3gLYDUghF
8CPMavXD7d+ytakgDKKqQueMR91q/7ZzN9TTCAerMyOcFMs8uos7Uz4Jr4Sddd4YSkHjiZe6CQGL
dPNy1tOsaZIFRcQLEiV7ryf2J57IwWMbTp9vz+m6tQ0PgZBOtQU9BDqlqyCLKRuuSEmje9bUFB8p
fFWfAxKgCotBu2pcoyjj6S6tw3Zyp7ixcBJvIRS56mLbKe2bujRdw4QH6yk19Pm3H2PhhkpySFFa
pcF3uQy2KsltNgApz2xqM15f9cEdohD5iKSDWvo7SyHy2su0RGwyXgnAIXDxuapHGIiVdG2veTkG
IhoCDZXSL/gxKUv00U5nHeJCEjY/psyhDo/Sz/gnt2kKLjr/nSfrYxnubX7xmde/iM+PyB64cyo4
q/mLq0fOm0TG7i7KDigbaL97PDGOOBlJ/3bwlFtYDjkuDoARYqwpCvk4L127szAb4Q1UPRGbdw+I
g7UiYlQsQhwyRAeoCqZD68yqP6PY8HviGXm/FFVSu6EjxRFpx5D9oEW6dyVeiRoRBEQmBJoO4CZ8
79UmjdHelAIrl72gyMazrHfJQ5bIzRcDL+Iz1Uk8sPKp9KJ6IQXMpFD9OchyeZdN8XAqmjb7BOKm
/DmWcnY2SiP5c3vjbIRetOvZptQ8eBaugYW2jkRpXqayZ1aYP2kohaMS0pjRjgLrNaZB6HKCFuGt
Cz0SSsDlaZjtoKznEEewqlZNtPZGEAtNB8fCDaeqhk2qT58rXm6qUICQ3ycLhDtEWsOd1HTjDqA7
hHuXUAsVddrLnzGa+mBZcSOTjOXRZzWN62+6GsdfoS6bDxM40p1TIBKe1SGAeiE0orh1uGZXt6uC
vo1T2ViGGCgMvC9sKzz0Y5afVWes7jutAT9F0/H+9jfd3HIQyjh9YCjR9hG/6tW9MzKbauHF5Jnc
eP+IptS5GrP5c6PH+d0UJ0UGcTcI/prm3HzPhYoVEHthusL7XH6nh5OJjGIo596S2t3zmJcYI93+
iZvrQvGNWoQpAANiW776heVC74erQ/GWoonu1RY9Tq0KojOsNTT64FzXz5a+NDubfevrswPpRQHf
JlKuigNx6vRjWuSKN6hliCVsPcfPJDx4fUy5GdeeOgxIxdye6dYBAw4o2Bsmj4+XdtqrmUqtJVd6
PSuePOvLJ3zivuJ9Of64PcjGlUse/P+DrGJMivlDNdGJ8uYGVpMPx2xBgM8JixwRy276L8sIehWf
NnqfFB8vP16wNNz8Bc5SKMRq+YGXYD8eOASzp481Da822tPHF79/fYyEFJllkAORIIr5v17ERVek
oopJiWM1v696DBGntDWOPUY69zgT/abuUZ0LwNd3b19YKBQwiqhygFJYDex0yZJaLdoFwHUhZWq6
gb5oM7yD09bubJTNOXIYuKSEE+RamzMBtiCZhH+vdcKp+aHkSjA+Tgme0LR6Cw25KtSejqGGm5Sn
KlP4VkNocU9xKAgYnEpwH6s9lJRxNkY2L1YVUapjOCOJ0MhL8aFGEOVwe1W3EjdmCPABeAk3wlrR
rqKRVeKvpHqLaU7TA8604/QeYbUx9BBGYJGxGQdTXMhpIz0N8ah3D3k2q9KHrEPaw+0qpbGOVhf1
XyOZoLYTnLbCBKq99E/pbvN0X4WJwMQmOUSl01ND2F2VEuPnsUTtI65Cv2GfLTuP5q1YKJhWiPLg
1ouA9eXm7noAIMZEDQtdamiHufZ1wH7tLuiz7GSPteUHetTt7OutpwlFQpoffAQems5qjoVlxNqg
EJaKpemLb3Y6RWe9cerpgLdTRkM4L2s6l4vUu31cSNp5bNOxcKUIvKDLUzkq9/bERqDkJQrakSc9
z981GQsYgFKy82QvkqZSOsmhoXRHcMZ1+p2XxlKewoi3jd9V2jKeojCGj0Zqn7A8Q6Z/T5RcHXic
A1R25QkjHpDnSri3cbd+o9ixwkMFHs6aRtqpUs5zuZWp49UKNZtAPWaZPR9vHw8RVFbRjv87kqSI
DmDO/oLcfxXt6Hf2Ay7sOHDyrLifysX4mvf9s5zU0umtIxFU2QGiL49P0/oadpygabqwMuHxj/kp
Dm0UOaiU/5PUQ/Hp9lDXu5yhaE/xGcWI63swKuJQa7XW9HJLRtw4luQjmwm3BAkGwCwp43Ey5mln
JTcHBacnun3A2dYiB/WiW3AWsYfjSuooYJhU4qkB2EcHoenHONene6eW1Z1Ifh0/RNtDJRRQYwPf
LH7Vq++XYSGjqbWFKV0MHZT7F22USTZOCO/kJ6vEyu720m4k1/BCacELuJ4iWjuXA6IkNfYpBR6v
meflS5RXdL+BXmWfoP+2B6C8wZOC+N4haVTtKZis+XNbzntX5ZW1h0DyURAXtjmiCrh+6ESYPo7I
xZlkV5VipeheCRWpMJkGxFcgWteuonbaOeyt6WdXRur7bBFKW0YAwcdVE7P+K5em/dMokqpDJ3ys
v6FkgOZlZExz6baDNP2ua7t2jk6m2+dYNxrtDNdD+nJ7NcViXZ4+pkHJlOUEwnrVj1aiWe80dLA8
S6lH+WTmSmxj3KeWFOUjTPGAXE/TsSeEpYe01+LSK6lR6Ds5/HWkoXBA85HSBkrKaKpcftJGNVs5
0CDvqUkDo9FI4ucW+Y2dnXodacTLGIq5gLJRqFiNsuANWUmLrXvyNCrlx3qoMsnXhetytfCg3rl0
NkejCsazS4i2GKttiu1on4amo3ta1VfaOTcVvXhaVGSJPMtskQy8/SG3hqMIhfYAiqpCBO5yCRd5
EmwrzD2WLrZ/mnZSHPogir+XKn7Vt4fa+FqAJoR9Msxp4uiq5NVh9yY8Jyxe0U30r4Ks3tcqjHfy
hI2wwiCsHLrtPF60VVgBCmyDcWSQRa4kDYeEMj1S1Itg2kzNYt7niDvsmHhsRZaLMVdJoaMCB7GH
wsI0AzLTJGOVhHbQdOzgvn+kshl+WmbFTrCFHKdTMkXyw9BO47fbq7vxIS9+xGrfGEGz6MPMiZzR
jTxYAu89xlHzbAPgePsWpaMJUQZEPltmjQ0Bydfm1BRtDyIJnZOBRT9LS02AkqZlrziwkYSB5KEu
JFIe8UBcrW5F27Byssr2FGnItFMVZdoH3WgX7eQoeZ36Tqyi8mp26TLeWc3YfA3n1FlwhAnHe/Cu
Qb7TtNpaaGrD7GImSudotcNwD9QbetRs47Q1f0PGzP/hAT8NbqKp497DeGswzgqvcMC01EhWgw20
8As4DgyWIR3ThLX9mfyhuVPtud+hs24NhRcew/Aw5XJarbMexnEyKInlKbMlKT5SA/bo1lETzn5U
qM7329v1pZa1ukH4mFwhyHlAYV0vY15S77AdDqodqjrOpePYd17dxX3sqlmmfoqXeKYKbRLUXRgu
xWloNCowBQDJrBuiZyfS1dPt37S1Angzkk1CJoB2JWLLq5RkQcEwjBDkhVij91/ysBm8ip46rGlD
2RlqKxaiLMVSs6V1Z81espH0jzNKoV6cjM3PhCr7uULmLNqJ7mJ7rBaZ4r/osvKOBOu62j6BNeMw
WQCQiQwDy2wcj+XfSO+iRNRJmuY2Ui7/TLDr3on0G9kB0oKgF3ioidLa6lLRS23OSQZsb6x0u0DJ
IaqPEdmlfsS3bgndeTbz5aDKVfi5a6YMD+6xs5SdH7GVahEzHAh0UKUFT/ryczq2nVeBVjteYDud
fZ4HSVn8xgLK64Jekz5GUp7H3mRaIa7LAFRCt7SVmNb7qAzv5HFZ/sxZVv4AAssC9qaClbPeW1bo
Yp6rtZ4tt6ixWnNS3Ut1NIJe0Sqcc+1u7JK3H02DtFXo4gjTynWXpOjCRlV68FyVM2PZ5IxYRGTy
8rsl3f361jOA4wgjgdyg00lWdblo7ahN5RB0kU+noHu0YqRh0DPMDrjDFTub8/qqZiiboAaXHUWV
9QtA6ay0msMm8o2hr0+pKVSVba04pTNGwwA29rAw18cbWq5IuSmagv1e43AkXlYOwFjJqwJ47F2R
dX5lVMaj3Sd7gKfroYQ1pjCc5cWIJII4/q8iSb3ERdZ2sDckTS0oG6dc/lSq3mlV57x5bzAUBQG4
8uI1tQarOdNgY1o20SMtQbc0Vd+7yYL1Q2tr5fGte4OhxECsIbiNNW4+GLQaDRG8c83ADI4ZxQ8P
HTv5oFaIjt0e6npvIDb38gSGjkRPRLtcwKSH75hEqeSpaobYXeIY8yGWghn0kvU+l/W/t4e7jpMM
JzYFvVIbkqV6OVxIoW0GKB3wxC8DpBwQ8cNuLpt/TWX+fg7bfKfRfCVQy4tXxvCMPJXaPhyjVWyS
UT5GxwyI4ZISw1xaOmiWJkj/5g9pIXeiKxlB/oW/1ji923WG/MNGjDV2czlR/yRWmTw5bWPUcKBw
7XlHM2NUT+ihYdnjLmWNL87tBdrIcbmPefGBCBDtynVXICCD7WnFSN4UlOYnE6ORTymNY7fuMSvk
5w1+6FjlnZloZxXt5KcwRrj09m+4vlUEaQAtIq5M3s9rLFs0G6NOWQuR4tHEtLIUmPWoVo9Jk5fU
3yr13qqC5IAqd4IuEZyq28NvNIxESsItKkzJeSytLlMrcooRACoC/in3hOtA0vESJPN/q5qEHQTa
ra2bw7T8Ec1K8zHSl/hILXn4jd9AA+5d609GpDjHMhuG4JA4mOzd/oFbmxi0L7V/wregVlxu4pda
YCJbxLfasQ96GqQ8SJQIG6OoPyE0MftKmzc7g4r/6WWGQddOQUGcz8KBXfcKs7htsBJHKpnnnfEt
qMqSK7EZfLWyOn+mJHnfx/HsJdIQ7UDwt2KsUK9AvpYW2ZVTaw0nGKRohoysoqBtkKiW7+SBfdaM
Yq9qs7GyojdOboz+lth9lysrRWpczDorC9eZ9NAa0wWomKTpnqJMgY9PburT/9try28dOoYlPYSW
afHP1Y7DyDnmb26sULVm+0dclZ1Pq7T35X6Wk0OmZuFfFHWc4DjqqFVBETccN5qKPTmnjaXmdyA+
xqGjUrCmoC4I3EAbhXg645cYeoY9gNtH57E/pcqwh7XaCP0gAVDkosFDO3B9oZWtpQR9n4e+k/UW
ug9qGX0MQ7mc3SWbgrPeGsbOW2RreiKucbAFTHbd1BlKVa7LhuhfOyOAHCkrv+cyyGA0K7pvt8/o
5lDC+IS7TeRYqzNKIbkPHeA3nqTzcs50K79L2hivjgnJ0P8wFA1IIYUlgM6rOy1oxwoBLC3wwilx
UEjVUdfI87CIXCkx9+7rrXnRBsLWHiEkVlH8+auEB6Z7l2MfG3i6Hg69Xzij3JwQX8ZGMbfzbtiJ
xVvDcXuivUQPQGWvXA6XajVfbJQCT8Xr7Skyx9QrM5TISc21cGcdt+5qTBr5Vrz1gcWu751YRZ6n
b2OSA32omofAiNtPepwm37RKKf4uQVq3aPfU+rtYji35yIsm+TDphYFH2bhM//aYHQTEw3BCVp1E
BjsZU0vf98jR/779xRUx7VUwpi2E8D1CXNwB+qrCBsVkjlAkEUcnrxA3yGwI2lJQdYektvSPZI+9
4oZLVL2vajma/RltxoPUo2kcB23/zojRuwRTAlRU6mtt3PloG/e3ePGLBxnYUBL+y48WtmifFbNB
+hhaEiij1HqEfeG4jTxqB2qvuq+VE/7P9dAabtZCWbm9PBuBBSoucmycc9ZnTUII43x09AQ0IR6i
/bHppQHcPVdjME3vIK3sVck2hxNaHTAAYRyunzeNMVM0dgiaWBifVSMrPEzDSZPabDwpk3y4PbmN
MhnFODEQVh5gcNcXcb7IajvKWCQmXRcfG4p3BxgX0b0zYV5Qa2lVYINg9J+XIau+hZZT3EftYN43
w2LtvEg2diGITgSCqc0DN7xCdbfq0CNGLXnaoC5nYYiLWq3e3t2e8MZuorZAuCZ55niu5QrIfyQn
DNTI7/F3vEuXKPwgJaNz5lFfeTl4xWPH0XHnDh2xWOnfatpAAo8kJ1mPuKXoza82c6FJva3NQH5w
R1SOOX4dWE4r6Mw1ke4btSG7NuojOydoI+zBIaPZ/gKSY9qXJ6hTJqHtw4u5VgLrADQ19THSsw7B
uB/1rpGJ3Bzw9wV5n9OyrlA1hG6Hkxj5ytIssQfoxPyq1+N0bnQ5OqhOOj3qU7y4SBZTjRhTSBVd
GO9JP2zMmEID+vVg84Hor4u/cevU6PiZoR8vo3LqSpJK6jXZr55kbS/OizflKnrqQmAD7AxAA3mt
bB1jEWUBJ4iQmcjK+4om9ufGlLpTEafZ3ZC39fcs7RxxnxZYl0PrvdebCp5KZgT/9DVE6amD7LLz
6NmIIjBpBMhC/CRqeJefvAFhoWsJ6A3Jif9qLbAWLYzsg5kPyal02mknRm6tN28c3qZUguGkrMo/
S62Dv6xUPFumgr7ziC0J8VkkfRF92f8wNyqtQL4oN9MZWg1GKbdFSb5nsLKVeb1OzqOTJfZ9WRgK
/jNat+wMuHVBUo8B3m7QYCM2rdIva1SzeEHcw18qWT0NnWadLIi1fmAEJ3yJ3gPFhfnuKI3bKvp8
qnAlfd82g+K3iLOdEw0FyyGsgsPtULa16LxjoEvRTCULXV3bCQ6rs51qsV/KJTqZufSx1+GMt30Q
7nxeMb/1Fke3mPwMxxmQ8+IIvErTKGTKi2UQQCiDvzejLv/V4QDsalbZPTqFYj4bFvx/x5KynYLH
xhRpl1B0g2DEF1+f40Ay9SAIitCXCoTxpmkhIW1jePja8B9yQyAuoGMo5Qhu9mo1wTs5fVfVoV8O
xXIycG5/MCMoU2lb7MkJbNx0VMM0juVLv3HdMJgDVPlzMSs7VIInLQq1p7JcotObtwe63UI0kfIL
kNzVhGBrRVltzKFfxEOIV1XTO/UhGfGmb2N5rzGxEW84knx+VpDGxDrZ1YYOeFBM1kKx3Hh08oHb
bC6m2I1rZ2j8QNK7H7entzUi+QJ4e041kWc1vbSYcrXQCPFzXQYnu0Pe3V7sxY1MLXwAsbRHONka
j4ceShvCggZf48sz0ITyMtSWEfptXSO+axmDpyGa6kVLZH9JWzv+D59PPBwQQoCJBd3icrwFUZ+g
LfXQN0dS3DSgBGPOGNpjBbZHJ9g6ZWwUoTdhIde63ilFjcHhoAsbr7pa/DgoG8/KY+M54GZ6eyrC
Jnkx3CVmwSa+nJW1dLC9Ci1D0Vhd3DDopTs5xAgiwtPn7YUe6ksMJuxlQHmshqrj2LEKxF39eazb
95qam2csb8fHZJH2+OwbC0grwuQdCxOBi2l1P+S1nQPrj1NfjSokC9IOKSa9boraTYdh2llC8btX
wViwPoR3LgWPK3ynNvT2YtGM81NDrr+Cp6kf2nBX8mSriIRQGXxDCObkN+v9Dp6qF3361G8hl57I
ID9HRiDfjYuNMxaEdtdqFKHUOfdQr5PqLmqst7oakixDPhQUOnEAlLWZYs03rZxkZFlNq8IiyP7d
B3H+GSHQ7r6ckmBnw2xd87RUKRYzHE++NfZ6ov+RaUpNq0xB+gPNjKJ+yMAmnHszGP0pcPKnjsri
ndQV1qHX4/o9MMbiUwsG8DEsdD32yrzW/tGNMf73drDb+OZU83B+AqtBQW99Dyo00hstLxN/iQcZ
WKQExSVK9+g0G9c8+4nWOih+JC/W/cJgJpXqMTHhk882/D1Jxi9T5WmCre6SmqdptMwHqR9RBY/j
ytzJsjYOEUU0ogIPJOrC6yQDVsoMSCPN/Cybkz+FJYWP4Vib59gudqppW/OkXw/wi3ICXZvV1aH2
1lDwscGAFI155nWS3pMVyAeq99phRMH/EXHm5EQ6oN/d/o4blwg3Mf0bhVKLaIpdhr++jeTKSJgj
TdT4b2cY7WGctQEnYqNu7/p83AOhbU2V2jOlHWYAoV/8+avMrYsWE+4TIOu0l4cjTefBbZNYd6GN
Rcc0qe3nYFgqV9XD8vk/TBXCnEJ+CqJqDbnnyROj0sMi6whVuIhZj19ae/45y9N0sgvHur893Nbu
oXhAC5oXtqAyrCY6gzrSkwmJgsEovk+NEXrKhMKtHHXq39tDbX1E4elN0iFynbWsaFWgH1gscuar
Y2HCcyuUf4ouyz8MCp1bzcycHaDY9eGnwkaRBnIXBX1ussupxc3StEMqYYYYL6mH1075rh2WPbnP
6wW8HGWVb+B1lxZlhiJCo2bKl6EoqLApRfdhGmkZvHUBCTEA7bhZ+FA8mi8npEjN3EbZIpCrkfUJ
6dafeACbdw7A+YesGPYgw+I9eHlhCqgALRjecOCU1wVEfTSUOpXDwreFdUbJU7V1U4hy7+RpaVCf
wd3YNUZecNaEQST3Who3O7HtesvwExwqBIAIwHa+XLavjmEVYAIkI0/kA7KzW9RT9eqzMbX9OUBI
4JShkvNmxUZMc4Rwh+i9wDhZX99DoUcBbrmFL9NXO6RVrJwWO3JoRel7cgxbO4fBcFWm4Q7+Q0z+
1eRavWqo8tSFjwBOR9eZZsUT7L+mdxG5d3bIjluHAcUF8axBdJsn1OVgwNA6O3RGFBJ12Lf0gwoX
I9Z4LxUQV8B6zwgvK+Cm0EaupOZStBXRD0IJLK5bnQqVObiZOZg0qhfVT7TJOc6zmh0qtZtPdhSA
MgjU4M/tY3Idu7kF6OMBnKBcea0CZaWRXdpq7g/l4LjayJuqAIdyj3V94gX6NN+z6WdfnvNhpxS7
tV2FOjYJFq8P8EOXi4y7/GIFFbGgS+35nZHMfzNDHXLAkWgkY4oyHm7PVLyd1quNFgPtJrJNnsar
CznJgEmHMuPJ1vJ7VBa9d8tiLB6nqLM8lJkrt4+6aIeuurW8AvvyYn8Hh3o1aIlASp11ceE7Oh2h
NiCdQpUB0ZfcSAFyKOkpjZ34qyL14durwBa6BUJ4GGUqUZS9XN8irjraQyjFSlUfeZpUtO/mCLeg
DrUqPyuM0jPNZN55MG+U+rmM6bnTE2FLURW9HFUq7MocHFQzKdGi2lQ4UqZ7cWZqPwkRYXcIO7zR
7yWkRDu3sYIpBzUyNECiB6G+2o7q25FV/CBAEeCQyE/oPlz+oIIksE9kdP4Wo1HcOrWWMxL76Gep
XfD39g7bnLyDTzkCZ1TxrlDkRhW2ho7nCc6t5uhXSZ5WboR2QuVadcOFasTDYzlGyzdA72RhvByH
59kI+1OtJ46382M2oovo8HDzOfQgcCW9nHjeTFDeNCFu3VbWCbJ65oVO9W0Qv2RSgvjOxmaazNvO
7w2UUPygC9vj238Drkf8jBf/VSTuLn8DcSyXgpSXeEhaJj/VkTE+6fbsGJw1q//TxYH8wSBBbB4l
M46+Vjox4UT2WkY7d+PG9Uz7V3husCDQJFaLMSXSjPN6mPqL0lbnflTtu1TJx3NRAhmTtEA7l92Q
echB9F8mKMw7YUDEssvYI6wAhEI0gnu0C1bDz7Gu1NWA1NUy562nYt7nTZoUuUMvNf7tNb8Ocy98
E/oiuDqhSif+/PVFmfXVFONN64HscyD4KtXXoUpnH331/F7CWeWbPply9vbdRsEFmQz40Tyn+dfL
YbuyUSaMFRw8TTr1roX246d6WzzB6xp9bFAJOYupfoJ6cTePdvmgTG2+8xuuvjELa4qmFzcaII0X
4a9XM5eyts06DZf7WYkBfqUxSFG0AsoMKtUgWa5iL8bHqJzjDp/sZioOFEiz+zeuPr+BJjKNRZ4H
PDRXH3qUwDyoU4l+Y2CE53TuypOl18khSiTreewz7JznXdvTq5v0ZVC6pggjCAnC1bOkVdouHKoK
kUOprBBEifq7oNL7Qzvn36QwGE6353hN/hXjCREeGIcgHdapNcTtQUODeUR5M3e+lplZnRsnas/V
ssy+hlLUXeeY45mL3PrQ9EnwjGOpcdd3Tv9YTrL2sw672dj5+FcXrSj4AX2jgS7yiTVoMR27FCXG
ZgRqKtnHoqxUPOCLztObbHINJx291EKwTB0wTL29HFdnW4yMNMRL3YQkerXzDfw5nZ7+vddlTnio
m7rxYdUn3mw1eyjDzUmKCqrwzRFjXh6ynP6tjiHe4FlmI71DmlF2yzhR7pIobk8l4nmHRq0bV6YX
u5Orbo7MkOKdTfa9VqdxzKWQnIpJ2sYAo6+ZauWpAM31a1Yh9paK3TxjN4mMKPJ22k42vrXA4tuC
IKDbyk1yOeugwLleyAF6w4KA1amMNe3fkLpremxHJ9u5sq7CJ29F7gfMvWDzgB5cHWAEF6ainWBX
ANDPT8sQgZSMccD9NI7teCq1HF2LucfN8vYm2hyWlIEnDj30K6VNtN41p5nSAXJtvpwCbTTv1GLC
dTVZ4oPzYqiSx83Ozt34qGg+ohMMVABk1DpgAsfmfWeib9imTYIvctP72L9rbg1hyydXCX5r1hje
d0uyJwK78UmhliB6+yLiAmP88pPSv1YGWAWI3RZycT8rXfre1sbsj1Ip6s7O3QiOlFm5DmG0iBbO
6sykc611JKGDR2aGbM1A4oEdRtU+Zr2mPxVl2Hx5+6dEU5d6LGmnQJ5ezk1VQ6Ry2nrAwDLSD2Ey
Z/eZ5qCyIRfNIW4CxASnuHgr8Ytt+wJFoDJFgFiHZMKxrYDqH7ykjKZjgALdeaza8AEueLRzQra+
Ha1SmDvIz9JcWRVWZJbTNAZOSINC6ilOGvnJHpvci+0++HF7KV/W6iJvEtOCXWZSQKWXuS4Wd62B
CYMVDp6UKP37XkqTyR+5UgwPuqsTuWguxs1x1pXedGvJCX444ZB+zHQnGF2MZfp3ylinOEUHmjr7
6G9mHzRJlQyvGOXIOndZazm+lAX6d2ex8idkdcKfNdr8k9d2NADcmersm5FelEnJQTlxMEG5p1bR
TElbNKUHh0jaJ/pjr3Xtqauj8LnAdUHgtvfa6lc29XSnhNqy2BTipK/hj6Yyh4tWk3E2QB1sLDw6
K/pDLSsz3CQLxvC8dGP6w2Ill7uhyPP8OannbPSpaaK32VtB/MEegtxxDbVA8IPKaDd/m7JpQuHC
QOXYXfpl+JQNyriTNG+cXEAeglzJ+SUSr1aKNmlmRoE0ebyjYKNjFhf+bnqj7t5DfuwjNxqS3Nh5
J1xVflgs9jWlc55wpOziN73KIRUswZqxVXA1q+bqOXScX51aqjvbemsQ3FcplAttAUogl4Pk7RIr
XauSMURZ70aFbsKNKdLD7cOzcaVQjAR8BtQAxNEaBbZUlR3LnUQqqgzL3f9wdl49khvJFv5FBOjN
K1muzfQYjX8hJI1EMum9+fX7ZV/gYopFFNHaXUDADjRZmUwTceLEOXzS4cFcOqkrEM2XJS+9II09
b+dJ2bgcDOoqoHTSYJds4Hpqwpw7L18Iw9KmKf4d5iVeTqHiGJQBUInbifm2ZgjDDcUb9gnB7wpc
UYelNUREwF9VSVZDrDOrjx3idN8aRCFplxHNyW0i++P9dd14NYF5oZpT8EVMdE3FErTgjSX9HsFU
ql0XRIWdfBQzwpADfrqon2VW+qyaafIu60Zl55tuLS8UO7iFbHGAt9X2hEqXaIXH5SGLdce+mdXo
TCmiXWSToDLuPCpb+5QNKvvvodff9E8UqjdBKIqnwCkK+wffXNd9Vdh7QODWpKRZLK0rcG/p277e
M4vn1Y1FvTzAsG7GH7lqn4YJeQFkOFB8vP/xtsaSivAO5Vcgx3URfeJ1pjUA5nEP9HSw4olwp9XU
5lmkTfsfzoIUnufhItZx1qIeBbKSkA4xKGg0hMVDtkcwU4B9nFVN7JyEjS9FNsalTVFVEiNXx64f
lxGFUk6CoaJN3lZmSKtWU+3sh40LGVwPEw/a6yQnTv6K3y5Hwyw6I5+pzGp1TIFhrDSHop7V5b41
xGX9OGe2vRP730JqOOpB1iVCRdwQiHr1CICc1DxJ7oD6WpUoR063+g89TeY7FJ7mf/Hcg/+gibaC
BeFNuXqgtT4/q7XS6n7dlkhQvXn/yOSX/g95sxJYXi9BnEcwoQpyEeQObV9Ms0PJvi/PI0opO1Pf
2KpQq3j5yLnAq9eNymKcdAHMMcguE/tstZ39pa+FQS9bmu0MtXGlWUB0JgVHDjtsiOtZ2aIZ+6Y3
IRshJ3LRBw0VIc0aXxRHn95bS6pe3BpPA+R3jQ9vXk8qx1JLBO8/qfRxPXLSsY6hwSQta45foqwy
iCeSsUL5PDfmHf2NrRUloZFq87waqBZeD9Y7SWL0szNiAdqmX1JBR7SqGNYzJFrxcH9eG0dFyt0R
tQLLwCBbDWXWll2pg97TQ6mML3Or6SdLcjtbtvjBaMY94tjGU8h4jiwkoR4LX/N6aqmnt16lWQjh
Fv1wikDIfGWov9habFyczJseCnXXIEsevVVwzr3GtyNeojl1TQ21FRVx02Tog9ky09yPqN21vjl7
9kuE3Efll8aQf8v4d20/qurys+6m5Z7B4sYnBW2D0sFRoe3SkTv7tyup90KN5jrWObLS/O/YVNJP
s+rN72wMo/ci9601BvSi9kjN81aJ1m4sN4nMmMQO0/GH3pis42JEwzuBZ/aBBiSSElglOzf71iL/
PuhqI3Wa0JbIJgOq7GII0sWZH7Ilous4Th2cxkXypNjFr5zsVwrB/YcnjAIldVAqymjW3OSyqWq1
sRwd3R/zUI5adaIHX8HStdirFWx9SXoy4ESRNsuOvusv2ZhRBJbE6k7xMF+0gsQro0fk0AlbO90/
nK/tLeudK4W2qCXD4L+JOPADKppuMvvAGez2uDSVeFoUXTw1Wpz+LB2jHXxP1PWnutcDS/SXvsrt
2s/NJqHDILPOMnonhF7sX7gkLIKku7f+jHv0Vu//0K1bhP442Q8k+yzt1ePnTotuQ7RGFm8ulF/O
FE+6X6Rq/amtaM9GkET74/6AGx+BXgauLD4ES7OOI2B1F10qOE50i+Ep6WbtuxxM+eQ00fLtPwxF
55GkDFGSWZsbGCN4XzOoPbLWjfLJKFL4Semcc2/Vg7GTSW68bzwu8OpZRSKkdc5NuaDOCwsSYe0i
Uq0YFAJbzvnnvhAKQplFdalgO/rNhJPe/VluBGaMTFgmVXnAL1eBmT63AN7W1AeZYSsXfErtwDNi
bWef3PIoISsAKkgahie7ceXV9ds1WFekGovJhlZyPX+0m/SD49TjcXQj5WhGSvhpHDzhTyrdSFFl
ogLpFN7Oi7e5daSTlRTelBDq9U/wZsNsWQheA5VTa0aueVBcclz4fPPh/qJuDiUxfnQ2aLFeG2a1
kWrVlnDZpd7sXjAaSJH3TLUTt8qbSQNyYSmf0+MjxbXXDBdXjbJ4oSgYeJUTHpMBvKiL9Qgpy64P
OhJoZMfLvUaX267O11FhLqN7KK0gV7tmiW01jwujDwYE109L7qRHFAmXFxehugtdEs58qkqzPqWu
MLBELLMStmw4PIdqNp4MXYznQRkR7XOiPj5m8CsOBVX/Pb3ZjfdQRuay4sQ/OFjXX7xu3EhEmcap
aqPhfZ/Mgmei9B7p2hN/oNHoHWwqjZf7337jPaTKR0ZFBMd5WrM4TJQMoDixzZp+Gh7oCGl+pGKZ
36nLIs5Dn6eWr4d9+CwaGv2VuNf3DL+3Zs0pk7RyA6Bz/U5NogPXiYl6DGVyz1nrTk9NRJIXmcjz
1Ao+HIuuZDtcma1rRO4DqREJU3otD5N0equX4PPBYJXuuwgvE7+Pxr3u9q1zBWcUuEjeJACU1x90
MvUKUXEuK7Ou26NWFcXfdd7+E4q628kkbxW2JLuKdIOSh1RsWfPm+5A9Q9tcH1Rt6ProTirvq6L7
bttd8aIrUUHt0tQPaqTMyMAWkOrVssW+vTafizSPf9zfU5vzltw9iZRRgFmFHuUwxkOqy+fBCruT
0Sl/IUg7fKYCUu4UIzY2D0+QhVYHUCvk4NWRiUCfm7RUMKbHy+RrW/TKQ6GL1vRRNl/eJ01pfDRD
o3tz6wAhMgx3QED8bxDHWU1wEV4/lEsNiR587qcW1q4/WZ39fsqn3Y70rSmiNw+TFMAZJYFVzBIj
+R9yD5P59Kp5qqp4+oLcCMiEPtq9bEF1Dk5d4CY/dm2HKRaiiKc0ceoHeOHF2TPLefLdQggTPmGP
pHFoE4RFSqkcR6ue/sOWh/ZGY5vkvJO6y9n89nBWmdZUyejhWhyDwmZenBwyEYpne2je3L0k8xTu
C2Cu1yL96oGclLnslbrqcSrvLpmHf3I3QcCJ+yp5sp3S2dlqG1eGzHNlVMDGvtHlapJEySOGpHTC
qnmtnR+1sNM/3z86GxEqdAcpQAzRHGrdKj2p5xHnzB7X507VZ7SAx9x7zqC0/6imzn0RStr8e3/A
jbNKIzkIHnABiMUNzxavynEujS5IEYy7mGb3WVMUrHCSdk+jbXNqwIQ03eDFDNJyvTXMOKvqemSk
0FoIEGkxC5IoRFUoU6eHXhTxzsu2BXXJCFHGwqAGOD9cDzjHZqQ7NWtJmSWEIKXG3yYELh8Nc8DZ
oYFec2xKc/mZJZN4SvtQeVF4gS9DWvfq22Eu4n8CVtkDREq2+qxtPTYDno+IHo5N/T4Lc+NQYzsf
+3Yvpv8yFrxp4nP6JdDqv542hHaDtJZ1rvIozgPUAazHtkRR0TeUdPp0f/ts3U7gBAD3EFfgohvX
g01KkykLFaygRK7pR5L26fcaYsrHksaq7jDay1z4eqt5Oy/M1mH0NATiJXRAn+Tq05pOy99smV2Q
TyE+s10anpS+VE/3J7cRG0nTNugvTI8Swer9NpLesZOGUYTXjYdwFKpPz53lV3NuIWWppc9hlyXP
Y4mrdGgNe1jM9vBUJ8jgqTWuMwAlmpQQAS7ugpze5WKyKjrTZuNoLF33sDjd8thZRnf2Jk+hWGuG
O+fn9tNCuOTUEKxDtLsRGGnGqRadCacg1ZblxzRk7jFExk8cyskDHs5DZ1T8oXTUnSvw9kYi4+F/
YMJEZnBtr7dU4dplWcTxGGDCA0wz5+qH1m7eN1amfr//fW97x0iu0JWnxQaBSDD4VfgwK9lkiBaM
BEvbxjqO6Ex80BLsWH0k4tIfamPr51B3lJ/TIor31DL1Ry8R8ZMEwr9X2qA809/m/lGo4Z783tbi
U39Al5SUTGJk14sAkaQwUifsgUtCOnFaFUOmBk/oEquqNsZA0rX8BKv6ncT3dstxmIFXJd2OG2Rt
UNvhgO2Y+IIFnpfmtV8u7gyBvLXbH/AONTtACEGcjaEafsYLIpqn1Fhwrbr/VW7fCX4DUlCAZNyW
N1WyJYdeOznwPeJyqM+tmg0vSdRVX3Wq158p1rxZaEMCnfx7tM7BvaNR/nqpFycudTcB6h1zoCcM
kNJD3GCBBr3F3jlSG1ubGUHygPnFblvTdHrElJ0m4+/OeI6DOh4iSC2ujYRSsde8sjkUEmZ0x5Pf
gdJfz0oRXWHXJnCQ6sUvpSsdl3JPK55svd91K9wci2sKUhAaxYQu12Ppg5NFRUV6DVqiNU+TNVbe
pUwxo1e9Yv765u1B+6zs+IQGTdF2dTLi2EvUwWOwqsYiIYzNF2EsYXKIRyc/aPOY7gX7t28NmndA
WgSa+HjyGFzPjlcgMTArBtyExfFCB6I4aBU3wf1pbRx4ueHh1hNlejA0rkcxm1SxuomUYkYteDrE
riNGv4rr9DJPjvc5sRv9KKqw3Kv5b87OhthAfELcfgP4R7o9Y3TNRRMq7hh4SZmcIXKoe1TLrT3C
FQtsx6UG51H+jt8SA7WnVQb0GJDHaGDSthB589GIgwT47XB/KTeHkn8bupsy/lsNlVZZKEYqU4FR
qQjYIZ71mA/D32ZfuDs46AZOiIgclRKSbk4aAfv1rBRUHCSQyGXhtnXQmG35qywW95DVZvpQLor9
bHbmp2gYtb9EkizfME3aa5Tb+oAEKZwJtCm4n1ezRS7b6jxU9IKYDqcgspfl1LqD2FnTjYeBMh9V
BAdNNIpTqyOOY1peNlkOjXOO0UMMx/BhsOb8aJRu/66rvRYzvw4sFjnvc214ewZEW58U+ij1YXjo
QNyreM+oGiO2Bgo2/ZKI06Sk9YHm/SGo7ak7vn33wN6EOC9jD56g60/axpPi5kWJSXUhrKCtEWEe
LOwAJ7N+c7sffzvRB7UgWsS5z1afLuooP9cqzD/k2Nu/1KGtvnixyB9i+GE7O3VjAdkdNKSZuL7Q
SrS6XvK5Mwtlqai1kYUczDyuj8rkIBI4tt7b32900GyCczRCudNWW2VUwwERExBFdeEFSPRuQHhb
qtS6YG5RUKV4zNz/ZBvol2zJQVMESTTYjWtSQ5Nb2aDKd7UQOJ75ebaU1odeGUftWLZT/bfdmUkH
gbwvLFryhPOxzh2N1sc2dN5PKa4ix8gutP7PnZ+1teia7I7zZM86BYvrrSQmK1Jsl9shK6b6pIx2
Wp/6bsSwjUuj+se24JQENAfG+tc2Hu13ahcnsHawyn5WNPqefFPggvA8WbFDmTDL1T86Y0qrnaBk
42hLBAXNeKodRCWrs4WozWSpiQBgghd9sIGKAmTjzaNXp++TGi9GHivtMsx1DxSODOr9RdpaI103
8XUCAzZg216vUelY5OU28G8VJ4lPp5vylETaX2pvazuY79ZIhiS9wLyiucBbnTbhZRGKppi7Vimm
8mUJAAoBJw6sZdpTP9x4zGXKyLLK7lqoEdeTMoi5YkSZCCnjen6qsFUgmG1cSBiJEZ1rfcafuwZP
v7+U8m+9rsICSoKGSjIbFbK1AYADvNrSfgbrJGIbjfqU/bCtstjhtmxsF0ZxJD2Q65FWjeu54WGk
icGE26Lhp3vIl05/itvU+NMTwjkpnRmfEJiyD4kX6X6ptuan+5N8pQOuZ6l53C/wMiQat9owyeCZ
GW3vQ9AN2GRf9JDWHHg2YTj7YavFYRDWtMgcnb5SzGMYl93kY0rR/iPovaUjtld/1kVcn0uMik5D
GMYPI8KsX1olTexjlI5mezLGWFf8JItbUKKRy/SYlK1dnWYwMbr8rGzMHh1LKY6ZEXnlzvxuc1IC
CUl3l6ADoMoadEixBOts4iO8zryvSTWcvdCWpVyZlHqKR40qx0lqnmlMyiFlafLCQ07/e57YHzEP
eIA/9vH+kssL4GrF5Y5C/ey1E5+QavV2TIieak4PDjFnnfiakrp8pqY/PbStp5+czs0PStKGX5w8
25Ppk9/ydmTqYYQ1IO1rFc/Kwa8s4wUJotnzSNK99mS20F6XcHagh6btzkNyc0W8nh2YJYwFZ2J9
bnPwqwrp8S5Q3bA9T5NeXwbqB0Hn6tNOvL81FL1rUuXDJfheM0HIckXrYb6A4EXaBGE2FmfTxKM0
5+ztPMhb3w9eAEU+MkFJCb0+sX2hW22SD/RuuU1Y0rfVmX/mqRZ+o0OzPeCniQCiENNLPy/mTtix
OTT4suS7wEtY19ENayyFao58wMWOEabVTd+txHB2pzF6nrQkQr2qyfx2qqLz/U27tb50wVPhA/5l
3qtrKlVabFBa+MSCLjq/yxD9cpCSP4ZZsye+vLVLdXiiNGsi80OD+PX6pkZjCcubO9wx28wHUZwP
k4daZm5Z2WEZbH2n2Lc5HtiuzWhE4+vyGpAkH5l6QKCqinrMBUz32jSxynGx5KTit9dzvzkeqSFr
SccIV9L1/Ai9xDQuiTSFT8dPXV97B1oky4fGjmCbNPOeV8htuZ5jaDhSn5sGWAh4qwXVlbIGF897
5G2RwDipCrY1p1ihwykwesd6nws7dw+G5/Q8PZ4SvS9Vsxs/qHG/sP4iHke/aI3C9d20d3EsKOjb
5A/1P2iSt96cmsgfizb9q/EvifFqdUhCJw0xCQoovPhHb3LFS5iQPpPhZt/v7+nbdJOxYBGRqUuX
aDis118iGpMiXyrKnaGiKt85s9X31FzMi9PP2l9dU9AOq+UN5S8ugU+m4i7/aGrTu28N2eSvIOjD
FJBP5K5b+sKZrgSBsHmgZuFy6HVX/DkXHdKSlatmX+9PeWvv4d4CT1k6DCFzdT1jVBYz2toaMPDe
6N/zFHW9Hy5DiydOKNJDl1R7fISbKIrZcVnRNmgAu4J3Xo9YR2mlOU3NbdmWymcvXbSPcRzuBFGb
g0i4jCoyodoa2sfIZVlGp+qCDBPHL1aq2O/SadAv9xdv6w7Etvj/R1ltF02DT6q6ZRcMKLAd4kT3
ghjR1UPbCvt4f6it78QNAYJF3ZLK5SpGcPt8cHIK0IHiNvMzeKT6sSQI/14RxZW+MnPr7rxqW5MD
CZDKENyB0GWuvxOWmlOhVFSatQpLsRBT6nPSu+CODZro9yd32zbHnkD4kFAPugiJ7Wp29LJZ1mTw
gsbDZMRHq2uNjzpQjn2iwN38oYxVJ7BSq6cEn+BuTo7EM5HjW03RfcHJbnZ82yy1LIhp/7QeuCxo
li90fYj9Mqtsw0/UTPsg4hYOlJXp6YMYe8X0B8Qmfo0mzsL+gKykvvPJNheQ2UiOM60Ta0Su5ZvY
peV2gecsOvIdg3PqjFQ9e1SZdxZwa3cA1YLgqCggAkJcfyvHLSqnsIggiymdj82QW3+Bi6XBaFvK
YTT0vZR2a2qyqYeCNjcHKd/1eLG6GIkWLoyng2kWSk8I5+SCCCv8L9sQLRR4c4jS0d+8GkqLMhOs
kcquk4UJwslj/SzmmSaYtkh2EtiNYAosgeSRhmb4pOsC+mAp9mDOcR/0WJ7/EyIzX/qVOQ+BrSr1
I7TL/DhWankYrb6O3n7aSNLhwhsUSTh2q1uxad00KasCkEDPK9+ure6SwpD0HW1MT/dP28bHA3aD
IAglnBrU2oDF0ebGqAtCiySJ/h260jjpVT9QhRrFzkjy26zSCzqYsZSh4IVa5RpVrNKYVmyV5zQq
lPIoclGdTKvaU+vfmo/FvQF6yvt1k1Rw9Xp0ZTOfzkJX1I/rZvxed/o4kFxW2V9vXzweLsq1EM7g
Ra2+0+y1qqUkxGrIziU4O4ztY4YX9Auq29qX+0PJv+pm9WRnIncIrQjrFukJC0VbZOApmpfgeaGX
3tlYhv6UpqOFbYyngUiPbwYXpW4wyCLRBxAEidP1yUZet1mqnkGhtITPfeipiNKO+mkO6TEd4Jzt
pGlbkyRBI3Nh78ss5no8Paa/xUH5KSD/rY+j2Y+f8Ag3L2wnp6CHqikfErRxd9KmjftSSmdzp/C2
yZrk9ajLZLYWyBuXCpHYKcPl4uShOYPxMyJ3cFCH4/1PubVFKZhQe+LlBgdc7ZpUJFGJ5nMblP1S
HFOnVy+lMv4Nh3uvjrCxnnRrU2fFWAjQb93sLosLXesoLe8chOY4rPRvqZmhyl6qKl0CjtooWIB2
uvnz/gw37k4pSStbhxidCtv1inKZhnUjo7qpMaaDKxTL16asfFfm5iJV/Q1flFZM3Savd7K1rWyG
cB3511ciyY3VQINXjdf0GJ7aTVd+6jkx79R+wY8k1aJLaGv9Ayjr+L4bgKExKzECR6j5SfRdedCX
pvvYeiOa9Cg9/13NanOMFFHuCY5u7DcuKH4k6gDycVmtTmVMRm+VJMtwYMajYtX6Q2QYoV943fxg
R5Z6vv81bqlZiLKiGMfFyzmWnb/Xn8No3BjIGVxAU8Dqg1YpCZdSPU/cizL0yydtLlrz1AsvegSe
LbXDqKSDCMxqbv4d3IFI4v4P2jgA/B7OOPKyMmCQf/5bdVKrE5xpVX5PPPWtn1WFRY1LMwMou3tK
0FtrzdGmUC69Z2EeXA9lwOsGaBGgBehXxOelJrX0Z8foIHdaefwiPCPbI8BvnTreUjINmC74a6yX
G9fTnKZHnHdb+qxxHGyPRppOh7Iql0+ttCPsDUs/3F/TzUF5V2VNhqd83QTp5lmNQh3mqWnUim9Z
OOA0VLn1o1vlMQTUKDlZyrSnF7X1IaUgIcA0iiE3zFy3i+s+66wW3Rcz9M2xVQMDyOesd8qbpfrZ
w9zyHs4pspth/f4pi5PFVq21dCsZlERFnbybZu+X6Y3Rp/srubVliJtReef1A/GWf/7b7tTDJRsb
3NRRHrDji9Uisohj9XfFbnF/6kgS7g+3tYbckLJRHaImvI7r4eYOg7KYhCOYhzYNVKsosT40moOu
8f/9h6EoxcjR0Ddc69nljt1nsxYTqGtsjwmN0COp8a+yt6uH/zCS7BiizsQG0eVu/X0N3XBw5pwq
YE+WBnXKS360KUYEHiq9f9wfagumgXhjQw+H9i/bVa/H8hKrFZnLcaO/peA2ARpMys47Ko2GG0k6
9qe5c5UDQmY4Gul5e44ax9xJFrb2jGzQQsCN8jIMvuvf0LkNvRM6T7rmFmlQLziX65XT+BOVqUNd
o2F9f9Jbmwa7Cg4dy4sv2epaG9U0tNWCLxmHtACaIvKONoYvvjZ6b9bm4eBJdhrmfQb40xo6T8g5
NLdLIf0vRnEEFPtVuVH9qYL0sbOIW1GDrIri/yndCdc0U8DFZjQM4jAbqegg8dr8Rzg25TMISA4M
lSxPXorADDFFtLOHNlITklcCXEpA7KV1UdaeUnSAO6CbeMi1b0WZVFA7aI25/9HkR1mF8Iwiu37I
S5DfWMWZ3QDpya5AbWgwUC5QAZIfiVFU58odp6MxtqgE2BYdUvmgUqfok52gbHPPSOrd/w2/lnRv
qjGxc49J5kZlUwifrA8IOjSBYbbJ5f5MN4+DTcGFEB7xqldRn9+Of95rjVZHHP8kn5xDPAst9gtl
MIMooh6gTZOys7SbAzI1wmpp/LvOYhWR9AvTxjpciQQ0tVk9mLFqBTEhXjDXNOTfn+DmVpWjwSqU
t/bqiRdWLTu0GK/M4+zFi/PwPA+yCZR3eEqPYWsqn8TSd58WzS13HoxXIsN6HxHJQdsErYcMJT/0
b6trd12a624E0EidZX4Ya2PQUK5b0q/wH1T9gYTUQXtNV+IPo+hjm9c5S4/ZEIeoSuDfYwedqFWP
dgcokX6Yem3pT9Okjn5bO7pynM1W/eaKYWx8BWdqc2fttvahDRop2YvIfK/becbMchdMM/j5Wmke
9WiZUBJVTPxAvKhW93rAt77U76Otbsq5FFohdG7KBiWuk13PqT8IkX9vkjx5ROQwYqEcLVCVQuzo
NWztSaABFCnIGPGEWr2BI1S4dvRAIvSuXgIytPyiIpsauNlcnry2ij/c35Nb1wufl2YZ3ncexNW2
iJZc5LNC+RbOtPJkIB2p+qY9zypNnvNQBTXqeOOh1/r4q+Ab/D3NJq2u93/D1kVK550EpWHR03x/
vTXTJI4VO23g4MyL8SXUO+9LhEnp8f4ot6wE3iRSPMnppUeLVvjrYXQ+pQhbwNSyjJf0nGBV+itq
RkTrFY6B4WOi/jkv8DdCKjnLD4mWxf84oVsnlI1wpwQ9jCiojNOUv1MKI+wOyOoOsz8qxtL7bpMv
P6u+6vLANfLK8UWrhKiN2RYbVVe0vHpJWl2jwTyri+wwul39ZpoOe4NqKjgIsBKy5nJT/3bCnbpK
m1w2TE59br8f3JCzUanpqevUnTd34zDytMv2Mcq3dEHJD/rbSPVS45NTgbiktWX66FxYF8Ks0NcF
ROn7X23r3pL4ChEauDSZ32pzIDJKROOCCnihEEXgVBVNvQuqKT8ToSsfKbMKx48EqqwPjjUJ46Fr
zP5z6RrlS1eVNrvZisbcTyybFGrhUXnnApU1vlCrPnlu2mb82M4s6qmKsHLeiZ038isZH8CAlqU4
mhiuF2qBMjy3Ajg4S83kWCnzfMk6+0+UqL0vIoyjhHOd77L7tlJ3lBOA/GRZX5JCroetnMyuk5gM
vDEy80VpR+tAESTO/RLshDZiRKPp/B+HNHBTWuaHWfF8u3HLI2dd//f+B9zYK2SXOngO6Jz0dL7+
LXDfu8VZvDpANsL4K4kH/ajVLlzYdpjTvRd2Y73pHofMx4tOY+OaeOQqIBGaO/DChnXx7KadEQzt
EJ1I/9DBzPT8J27k/c5H3pghgwKEc7EQDq5rrdgzof3SLBS4xjo7lH2vP5i9qgYeqtDHNy+mdD0G
H+ARB+GXr8fvBw/5N711mzZozSE/uhWV1SGb9CPiqXtwy9ZSyuMNXRlOyg3xdXHdycozynaDjmAE
VJgsaGloOtsV9OEq8eInx4z3eqS3llIuIakDuTTtjtfzW0bXjnRcxRCKrLXAFKI7mZ0DPSBpu51o
c3Mowj7+w7Nw0yuajWpiDUnRBnGux+fIK4xz51XjoeiLPdLfVrJJ1ZXeFVplaFJYU9CTRC0hAwBD
FAknLaWNOKBIFB8nfcZ8JkN40upLTKGTajp4HoVzdUzbnWD3VfNyFQCCgEDKe1Uzg0V6vbamU6nV
gErrqx57fSr5rJ8BLaIvS1M5CPOnLtdklSpZdHHbgb7HSa2qys+7LnMDe3GiJ0ebKAiCANoPY9FY
3qFBDOzL/R2+Ef/gIk54+lrit9Yk6CGuS2RD9CZwUVqm6BMvR6M3vrSNlj2GnhXtoPgbu4AOOoxI
ANYJDtaE01Kd4bHYYFEQdjJcuMOSDswweq6qRd17yeQCrz6AbJlDKES2iePme/0BiPqG0JiAHKp6
Cu2jMTv9QW9MAyGwoS4uU4GFuq+FIXbUxqycBW7GuW8rlnJ68xLTUieDBToiMMtYbYQKn1Enmciz
1GHGThhb+kOsJ/PR8vrmqSzq6Ov98TbXGAqdbM9RqV2sLq1KJW2YFjJ0w+ttWGbE7AAf3eMAPvDm
wIQMxzO4t1B04P5YRc/lNGt6ZxuYD0WZd8EMBH8uLVZPed3t8R5vZyWHYhApQAh6s4omWwzdMV62
m6BXi+lk0Tnsq0PYn7Jwt0/s9kyAwEMSoTTJSwp77XrjxB6VXSR8m0DNadhXzSF+IGZOT2ZlZIE+
h8VOrvUKi17vVBZQqowSPclKkJz7b88M6qxOSRmNuYHxG0ExuFZ5GpTGtPyBM/J+ruZaRYOFHl+/
sjrzqUxND28B041aJOhHcghjjLLBD50iT48oSRmPIg+HX8LN9VMYJl16aKZJe2btcCGsEGz+EKHw
ER/v77yNixfEkscLtjX1f7Lu64mEpTLbasrKpaY5/gOsnz+U6OA9FDn9aL6jdN0xnRTvXGPE++C5
ofrNqqxmj5uytVVoF3vtg2arrDvL47Ls2jxLMMHQ4+QDuyR5EZaR+c5Y7TmAbYR+KFAA8kFxpA+I
eOt6xl4TG4YiLzQMwK13xTQCLxidUC5VFvtuJk6xbY7Plt2WyOt4w6ljy2rWrjLSbfTAz0CTT4d/
ThVx3VZhzjif9h2vqxGZI34wTn+esng4jE1L9I470CU1xR7av3FOCDThZgMEUkhZK8ZUJEdT1lpN
4DUuzUBOOT+HRtK+jF6a9nSEDygP399gtzgBOo6wLems5bTcxCujoxZlKM3O6kyBK1Crc5CNOpLn
NZWwRFEsrOVG9eAMev35/sgybF4dUSlbg98JJRRJ9b/+zsCCUzVWAHFzPMkaWCneucu+PsPmMLRa
8V8yCvRiroep+zZdwsnj6jFr1CZCey4f3HaeJWZMiKDN2awfFVQPj9EM/CoSRXwe80Q7qF4af+zc
IStPTRjHpyU23If7S7BxrHjDoA4jly4/w+o9VVokLPUkJaARpf4ZJa726EQQYA5aCN53uD/Y1oaW
uk80iqDDhBPiaiFAzkHMGExRu+KYx6YZxJ3rvO+8FFU6hUfbAinbGXRrQ/8+6Cqjt+pyyW01phLf
pzb1CVEfPIV4wbRD/f1ACWgnGrrdzhxZ2SkJUYqsdZ3Xq+ooxigdXg2R5wd4Z41fh41yLJt08Xtn
Go8AmOYZx+Y95+6bmVKPoBUHEAhclIh8NdMqcWab2j99MUritBfTbKKcNtvGFYETLnN1KZYp2jN1
udlAZKOEQaRu9E3CDFtB6+ESi2yO6Bru6bfOz3pvtM9WE2pPha2Fb9aKk4PRDiP1PsBh15L0c5t2
lV6WUkFNaZ/STLcOg5I6B68unM/39+rNZ2QoeuTR9pFI+k2dJ1FpaSKWg4AzDvHHpKJQQCdlBaTt
LL620Mw4TujHteW816n8muteXUsMzT0Iikd2aqFTd31MpMZkWSrAZHPjan/2ehn/Q0CLyr85QxYg
CjOkWbSR/MJ2e/mKHFLk+dFUeS+haKz5WGX4W0IMD5tP95fk5vjK38WLAMAIrYkPcP27HDfXJqVD
7gpXHt0AV12MkzMOySEaCNeatrJAQTQcFO4Pe3N9UtqTErUcKRjhlKdWw0outCeJ53Yept+Kwo01
8ELitp2L4gbFleNgwEl3JdV8fU20JaSoGzYD40yqOGdm7Ka+5k6JEcS63n1JIGUv/pTPHpJtRXFo
0Kq93J/pxp6TJWKdvhwsz+g2vJ5piioh7Sv8giWKJbW/6U5uUpp+7rTeoRZ1dGwaGyS1yffo57dr
jLIvuRtQhQzD11XjeoIslThgbJFw+ndaqMx/1Em3VwW/vaCIIAn34d4QWtyExH0sZiZOCt9SNg1E
O5gXrO3+XJZuuMQTqO/95bzdr/DK2DbQvVDDhsV/vZzYe3q9YVLLx1i9REYk7PrHVO+iizCs8FNo
jfpjo4hq5/6/vRAZFUjk1cePHbt6UfNqID21YH4tbaqfojKHfpIbSZCkU7VzMjaH4m6SfCaS4TUJ
cqnrVB89KDZmkYd/xuUU/ppEpr0fFNv46z+speyHeMUhiZqu11LR4pGlpoSp2DglXOyiirRDrkdR
jLQ6sOfDGLVzj9UH7sk7n3FzlsSisrSCSP264jdazVzhgt0Fbmsn50GHNw79Rz0vItlzo7s9gKSH
UAM5/pARif2vZ5lMlaUoOvAOff/uuTKHNDl7zTKcDaN2/4FdVLr+PFvOO7OI7Z0i8W2eBQ2S7jW5
U1UqAmvClG6MSxy6LZSeRdcrHxpH9bVIrdE+NFG1fEtMe8xP0TI0ny23WP71em/WA+V/lF3HcuRI
svyiNING4gqgFFkkm6LJ7r6ktYRKIBWAFF//vOa083Zs1/a6y+mqgoiM8HChyj3/X0Ubty8CAxBA
3zfz2X+716yfrGNYsU6zmRGeA81pE/OFpv/lxv5D0bkZjkAWeJs3wNn6+9XuYnBOweBemzyb9X2X
EHX0yfDf/KH/qej866fcvsW/zOGA8cddwlinKd02QcyLeFpqGIjjYpXrEUbg++///Kr8u0r/xpEH
l+EvdBk7nv/3uwRQQAKdEFhoakpNDahPFTXjSfm4rDR83VGE7wDbxDDWpTa9JIVfr7xKh5eZLfNd
2adQ1/3nr/SP1wB+CAh4wJSDkvj3ayBg9TBMN36HmLh5L4jgd34q46+KzmVLEfj834Dvf3pn0Q7d
ACswnuBN8vcPzLd11msAPMYmMpwtNt0tk3463IyXLv/5t/3jR92gR/BWUJ7+bT20lsEWFKQxBcHY
MZQLv4CEsLZjbPP/+XzGVhAaS0g7UCDQBP39VxUz2ca1owZwVcnLNqcjokh7tq3wns5uprLIOo70
EB2hyxhP//PP/EviiVcT8xrovX//7HATWyxwAWl2eFo+bMCOnjtbQlIKjc3xP38UHHj/4dUEeoVe
AH0oxrX/D29mBtEZSoNeXyLZSd8TN1HEHCuscBEYk4oX3RP8zK7ok3DS8ba9BYQ+Acummqx11pfT
cIzBs30lU0G+e+/Yq9CMFTV8C+a49RFTtjVUxVWNzE3vTz7Ou70deDlEJ7nl8pfSaSaPWm/rzwLc
VFfroIu+Nvtgnn0E5VozFDL7RZWbfsWrG8UZkUEZr5WR7hPSZzZRA0+79etjyn+ivY/fF4ruCZsC
Sb9YU+7m5IMYv9xScAWoyJkpIGll08uQpWhhdYL4KoTEm36sS7jDPZhxr+QZwOte3LpPMDTGKOhf
+64L/siLkhx9wTCoo4FFABhiwRhrHR90cUJ6J/xVUqTZHvsq0OHMKlZhzKdLubdwv1z6xgtv+AHb
lCW0RMSDO8JChJ8ryS3ANUloWs+zV92z3jvxBVTa7vuil+0LEjtzcUjELA30oPDna7M95A8IrEXI
JmTA+yNgopi0hG2ba0iVuPiejbPMahSJ8eeSrz15oGUfv4BippDRNZTsNdYyrtoNJkzwrOw5eOom
WsrxZUdWzHigOxh+Nc8X/wHFQD/U6I03jz9R43twYU8xHMG/NYczCUCzvTcPSyDIAAnxgu+05TFz
NyHW8Ltayg4Ja9D1d03mJmee5AqtIDzC4LF17GCtBcSRDMkjQUTMcAcPuOVxKEuGX9pX012Xkzk/
zhSPf4MTKvsi9rH/bqGQ/QJOYoUMcvj/R9gKjP40a52khyHOsSHgboTPHMu6vIJdyYhtwYLUwocs
yrw9dKJUsI8cYhD6ul4jiRU0Wz+fVpki1Gvp2Mc+hzgH8wD2Oa228Zgdy01UHBqeRU4PsCyIwYGY
9/5OxRG4bPgV8bFb8z67I5kD0A3yUDbViFfuZU13GLWc872MSLtuJkH6KmChO4Iu4DdMlBCGJXsA
R7iga2Uv4NOPyM7povJ7ZiuVHwsGpVDNEa5E6ySGgfbL5pbJn4aKO3pZfB6PLfwsRX5KGcM/Rojz
dzYbcgIziVE800SJJ8ZHudY80uaKXXr6Yu0QwYV9m+23osC+v0ksuMEnhHbxCRy9tcjvYspYCtoS
pk0Ey4PxfwyGhhhZPrkBsW2g+Jm83EF57nuXq8OadfDHyUlHYCYZdas4cq8VPFA2xX5uRemnc6bY
+lOwZPnAZBl6sOBt5usVgcTi6Dsf/+nHYrz6yA2oQkWv9jpzpYbGvuyysl6Url5NR/CkCq8mc7u8
09nhMYQiE8TbZ9ZJeF47jAN3DpbC5QmRwpgnF5Esf8yIBUfti331zYxE2qkmmzKXsuRpXms03cuR
A5kCdNPzeTtbXrK2Am0fNsM9ZckF3AQx3d6H/SfA4nSrLVC7lwrZG7Td9WwvXU7tZ70TEdU+m9jX
wuEpaRdEverL3rn+N4Zu/zXPVKHafU4tDkmfO3j+4yZHraQVmRtOt+plLXa7gLXVT92F9ME6+GUS
mBwli8RkmFIbxW2ab1GowcfIojN6D6oPq56YqoWAVLqxHt7cBx0vBFmdIQqIF2ayo62JxBLVeulH
dYRh9jY+9v0GM3gzbH5v/bTM+3lgo2P31SKsvhsiOADUfYnkxKZb3b5fBCUc+VGrAbjnHVwszsQ7
qeqyj4j71g+d42+YbrNfMbU9Ukhkr8UDKAwJAPUpCB2eDb6OPdDUAxuDMb2br7FKS3daA6KT7nHx
4WBfeNDQSVMpPq5Pnrp0uGeB7Oyg4CInfhXpXsxfup4vKIfeK9KB3lZQ+ECcilxX5Y9i6Az90cV+
TYZ6Zbv2sPqEd275kUw5fDdrm4eNvKosH6vfHq2ibOnkF01OUc9cTOrcM2xAaxcnBlossPwn6esF
/CcfNSKaiukEj33Tf4d/csTrNQ00/CLxvqscySeFVGfW5UlX3jNaoVw18VCt0dvqtti9g63I4CsW
i9g+wlRxWH9NW9InHyQbDb8nOFDSBkaNHfujU0TBb0dJb1yek860H5/Bo03sg3O9zxQkRxVo17WZ
YyLGVgN8FL+HKiTLAsP0VWyvsEIfxP3krCqx26MBAd96XrsvsHTLI4nHJ9q6x9EqmSH+r3Pi2gG3
L5C9PucmfaPYonHA8dm2QzljUzm+EF6YqTuIZEpHHFVqZVTCqyHpySuuW5S2ICYl5oligdmROhhY
X8LFJmRd5huMlrnYP3gKedRhjBbqZeMAS4O97jtq2XktprV/XOdql7/nIdwsJG2KR/8xU9bnxxjv
Bpg4EcxxYYQTAbcZf2NxYjrd7ikyuy89pueuTVgxP+6JW9ezRgCfwK4+2+U9FbCf7epqho1P2hRK
CmzmEuhFyiYug89ovUhbweFn7LNtgAxV8PUhA5haPfS8LLvaz5thYP6kHj5SNfJMq+JtNgNuClhq
xE5Tvbpqkyc3VaM7T/OWJWdBc5NdJuFySMgjUY1HWYAoV2f81scKkvKlCfO2RR2SCKqu/0XLsHeP
EmzHpA75DHu6Tu0+q6Ntg5mUIT0WjEnq/ZO5WXO0gXH0pJKnAulRiZWIuYB97XzcnEizRlkYYSnE
nK5D1SJwcMaCfBriCDrsBQEgC6KfbgdkYH2LcLKoq/N440/gg8PBOWzx+N6v4IE3Yl9zckrBbXyq
lqJL60SQamv3PVk/ohCve82hGESYR9TZC0sSeE0vunTYXA2IpmmHqUifPHfmC9b5NjRbRmJdYwxi
7m6RVeFb6Fs2ED0GlQwH+GDA8agoVw7+GUvw95Hl3Y85h+1KI6u9W84+D/yKMNJ5bFMnxf1K4qh/
YJAF+EPYWf+0o+7hwoFp+zm/kez6OiRTQXFWYQvYrIviWEyU+G+bedzQF5RjmSzN3gNZbUYNt75G
dsipqJfImOibnMyMpdxaaVmjS6Sqrlgp0yOy9vbqRGGKkdfWLJK25SpQmbVUMKlW8WaQTBBtfn2T
82rVaRjmYH+ga0yyGns+Pv7uiR1BGUGWgj0xA5mYe+xsn07H0AUbSA2hgVVf6MLXqDwG5GsnMIJj
uT4oU1h+UHFXkR/xrqOvUkPln8AVX/lLZLWldQFaNt6rYRzKQ4Qoe1J7aHtmbH9ost4vJh/PEcuH
5W5HshutY5imbc9xZKMIrXfuZdtFbAmHAsOcvver8w7uQSpZ0dOW24xHfVyzFkl6iNiN5woQbTG7
sNZFvFs4KYN+fEEAVB/aSix5fNgHjZasxiStu0cU43h6TGzRT8/DusTLkxeI/jyMqdCiWQl1r3Dz
Y/wMql4JKSHvZSPZIMMpGwCwXSvcx1PGQ45nI0PDe4DTqJueReHT9NBLRe/MSMLvUoLw6NStJV34
sDxO+aw/OLK7TF2qCC2Kctg9gLJr56Km6QBaKnBu/gNvzfojhyIjqhMVZHGVYZXbQURz8aegWwel
WWHVfJdOovyz75np2w7F8yo0nN/arpjA5p7R285NnAs+tE5V86tFmXjJjFohfASIhnN6Hhb2iECD
VNdmm+D+AoPgpG/heJK8ODmMokZnLD6FGafbxfQJTlq5jIHd4RzWsDnsFzSwq+5upmSlx5egea/c
Q4UEsodJ3oyltCb7VKOkKtH0RC1Ixxhm8w1qtekZtZwGrLqX+d1NEx9OeBP6VyZz/KNbAalm48Dt
RWe2E68PdhzgHLZ3CCI8FKvHxxvYKZ9JEtuyxoLZImhmqm5QuSGYxGDZVjVG5RyCacei534Y8xFt
VYxQu5Uacd+5PZo/gMyZ74wpAdrhHkt9h3eyPJEN3KOvRc+7HlvveRxrhIuw930fd1WDZRdMW3Vc
RzUavOHbWqj1SFS1yDrZQYR/CwWdw9VkkgwNEOB1veNukz/2tAr4wtASgv6aAiY+rxmqwDyKajuq
Uu/8rhjKcJk07taLYLS/xjsq48HrJMR3eDXZcgHQIeY6UwgdudotKHOiGRYJx0ktyIIgFeAfNA7r
nh7WspLzF5PYafkS26hYaji0LeO7nUlRNSSIbKyncVHwMFnSioHjpNbvHeEgeGDoGYesme0my8ZV
6O+AXSdocGE5kYTjPnJL73oNtWMzyz7SX+C46WndlQP7kqC2wpmDd/vnbFz7r9EU7AcNmXpXvlwe
/SzDdyy5Rn6hKB2uHnY8yW0y5/t8YqJfPpdQyQH9HHDxFngArd/JVqa2TjXI3rZQ9F31RbWfu9VU
PyhbgznlHduzl0qPWX5QPsl+MhK7oq3GJacXlHGU1HxAp6rDxONrXgpx7Qs0VTUOCgqaq5LRyz5j
Vj/DFidOH3urV3O2CEhHkSmZWB64Cdt0tpkc489z2KT+NMXod69yH9xpnN0oQRvYyR3upPuZBbXL
U0aEXT7NaEzTa7Zl258e3Ezdag6pcJ1RELrQDAkjmk2MCMlbczBfHvqB6/IQw0UxfmIJJROM53L6
K4pc9Ya9fVgvwDGGpLYjX6KHDclSFztMlLU5yeh+2k3K0IqtOT/N6WK78yCi4RPZZ+vuiyVZ7dnQ
mB17oDHrdbFjfikgzsibziYhup9xdRBIfjPhgy9+vFywhy3GS7ek6VvaKY7mIl2n20aIph9xFJC4
tgqAtjVZASLCpxfWGYfEpMmETwcTtYZ2G0OFQOTpl80yNSK5Bs/oKCOWHFQSyxcQR9OlwZlJ7pVW
emxtmSJRIVP44BqmH/p3MhOGro2tQwZCNB82tLZr9jV3bpoviZbwMGKFTu+g/BjLBvISl35yZqNH
nZSUnfIwJ7zWOozrYUcKo633GQ9TiwqK4ob+z/2Ms35YWqF2EtW0o8NvMWrfHbaicHeDhbebq3nc
pcCNEerqrlwwoetsQyoKRvchx4EixkUcI48wuhOGvBWGlJSE3oo6XhBJhHweKh6THCkRZwSrAESL
4AWPYgKRlr6lL/P7JIz5vR/nMqoj4NTx8yiMCkfgXUl+3LFl/0hdlfhGjXDzPEYACbq7ZFzW0IJ8
C7sSlgzj74XBL79elSDxCa91Ep929Cjz2WWwib1kXfDD/ejdLdKGjiyr+QonZcyApKcNxT1SZ5X2
5WnzKeSUqDoxRBZwVMqPHdt61YDPH4cHeG7u62GpRLK9rwR94iHg6xzQs0LX3oFOIZpdplMP6A2D
Dt7RqsthcBYBNjH4aFUPpCxfu5gtZT303dzXndgAstC+U1AhTQsjTQKP/KeBIOW+nqBY1E9Z78vz
FPFRt4Cs4k8o4vxL4as+qxOXLT96ks13dEvAwiXzEE0XadEnwsPxts0Yp5C9jJBSfcO3vUVNTHFl
TiPgia8wCknfZrx9+4knSvED3HPyj6Xyg6rT1OqHNcPh9MeuUfYZ7tcgq4CKPz5u3U4DJpICsA/Q
M/8Nkp8MkaK7S/rGjkk0XInGxULyu7AXKVIQt1ifxM/bOEXk3GtktF1zbAK2FvbPxf0CHcrUimWo
5BGEtvSFzkRXIB4no66LgjCNoe+vextsRX4BoJPyNdBYmqcyQ/TlQW1ZZw9ZZihvNx2b1xxF4nfY
0ak2MBqb80vKzf450rBAP0hQ36sDxXETo/rT/eqgVMSTj/fkNLmKk89imbYfISmtaFfep+oYZ5ZD
Msmz8LQqafhlh+5xrXF+pu9znIeupfPWs3PqM/YcEuHwOkFndfaWRKoVew+rJZiHQq/Tmx6ygnR1
nau3sKoUt7XDbdtYKJ9AaQZsiMdnTWquwGlpPfiVZ7vD0qZOJPjyB7dEkW6zCfIVdGPbAleHSfjv
Oxi3shlh9zjVQykGIIbz2r/AtZ5NcOlCA32GPTFwnCk30/MqoXU7AqjVbzqfQDADG3HVDRRN2G0O
vaa/MNu4S0kwP9bAEuRpHhJgD9XKxfZjrRJljsJEqbxf8k6T7wGhgn8qPaysMbzPrkxz+YsCE54O
o7fZ521jwyUkrOMHtAz5UOe2RxAttsTRn3QCbnboNw1nbK2MVQ06Mmzia9z9aXvRInHhuELKtLcB
leKSoZnmBwgOs7eKCYfQ7p6Y9ypd3IsrcPRwD5yoUZ2O34Tv9+xudpI/O29Z9FKgKdiOJLIKIkaI
BfTJk9Q8ccgTeI3SujyRgOHxkCm9XCgWgEnjAnrIh9zN4WRhDIg5IcR8PiT9uH4kID+bC1xb+aPk
BozWssvX/RQTw8/UiWS4m280Egw5+SwAdnGB1glnBMTSzM6/PHB0D7RZz0mzrynaecsshFdzEVbW
+oS6D4o0V15PtEw/kWLoMQ86Gj0o5FSuB/gcuu/oTfnYRCtGt7ZEj88bGB+5L7Ji+Se4HY7zqZvK
7LOmGcC6vSjGgGAIXwEBFnDX2/bhdquTkB9umuqvt41H38iwjBlEhFt4XrIZIxy8LeDIGyLW77UJ
nfoUE8hA0RuVG14EOZdHajNmH/dCVR1oFGE9hHErzONGCTqmjqrpAW2NR6ryMCR768rCxnUF1PxN
dEg7e5/UNOMyBR6Z1wgD2NfOY3RpZIp45kfph+2awTYmx9sAvfmIkieztJ4QpvGHC2zYTt5r+Qjt
WBGwCEDmxlM6FHjggDPLekzGWzPdWSVO3WLMAa0cTKiTdEYybgJb79cV5LLlPu8GdjY4UV5FWJKr
SG75ZgndBCjCc8XCM6n6BJocZD7VDngm7IkiIpOHbiP5D4CDubxgjs8fghJFd7ZBRXADQBLBN/Dk
px8MFQsANtRuVx/zQdRouMw7TwdOsL4h9qGwguDVR2oHDIi9ytImm+lgWsq6aIS0Ysb7iVcVPgYl
wW8B8OrKq6ddmR1iOJE/jQuClZ/iPAc+4auNqwY3gEY1EKeM1ElPw5vUOToL5T1Yz4ykWMUYYhmc
72EP23SxlF0N1AMvDyYtYKDoOeEFXKbIakH7gB3GJR+9jIChhmQ8A5/eX3FGk7idPEirh6IP+3At
YoNzx6FvU49AKP143UWF8Qd2xIm8zHHXp20+Jv6JjWH+NqoSWpk9R85qSpGV+Ahvclw2ONgNpJnk
ysODm9P5Y8/Rgb3zuVi/833I8xeepgapg2u+xVeKyNg777JhP1jEyOCNYumQAUtdil98qrq4xr5M
9A+9jOzDagxWKEZX25ekG8oRCCQs95ATH8paz0bdywJwbTvPvXsUbNy3V72vAz3kMLVb6iztJJY2
yKq569zU88+Vr5LtdlsLmPlbK76mpZr7y45JmBxS2Pu/Ked2PLHI/ql+pBpgHMKXou7dWk4/IEvF
lx7mDsHbVcEcazfhNtEWLmXyrCAod/ecTsuzxwPq71Ip2WeKILzsbRFzqZoe22f3tZCjvkPaMcgv
IUpn0sw6ccDndl0hfBI1f0W/hJ+CisLh0w/pCKnODDAxOS+GpOSBg5ZvH25Q4vdiTAsH14gCbcku
TRJav0TatnbPd38gZEy/pdtqSB2TajE1c7sajspikdaGLNXvgHQqcl4nr3/ECzYZjzKd9a9ijcan
le8ppHtguSbNmnhIPKfYWdmUQ6WesYOHVKvs+uri4S+WvE35gD1SnMJ4q4XZRVl9OCzQpjMQZbdf
6VCYVz5jYfbDZNs2NjJeBQp9MfuWYwrwmP8wgNd7cEV+n1R4n87djkzw6xBkLgE7Qll48TDu5m+m
7/VQo4lRPXY7AXCqwYBXNVO/pwOuYukBZhfTo81ttjxXdhV/EC+eITIL5C5U07kj+rxiRSjPiDPF
D8K5b3Bp+jjkZzBPSt8IhEiePWGZaCt4YN22R4zdY9uTYx4YluoBzjqInJ+HaoQxQqXUnzTDxNGm
i0EsbBG2ItxkKOIZShz3pEauXSNhi8hwgkpEYhTYTgH9RlHd2o6K5HxjfUG+Kctt+IRtK1zNsC9n
PyNM7PDtmEuCxe5a6NDQItaPA7I8dd3HQ/iOzS+2g0gWzVkNl1J0KqCWome92VTei2IX6dnIafwo
aIXKMY+h+2lmweYDZm78sQXHF+a4EOeFWm5Az4/jTNmvUMz6dzYoNNt2igf06Uv+nMETUj2qgQFa
NzIlB7STpD+qQS3rc75beY7R3wWgjzwXdd9jYjoCe8/lCb+lTAB9zf413UGaflGYv9Vpd5a8V3z1
ce13VcUn+HsreZlgHW/qKerdJ4qty3hYkyCmI+Z0b2FfEjCyAE1aI6SfxaiDwZjYf0m9U9gjVovD
cEo5JAEO2eOuCaWLXrbeld831cdjE/56PhaoQHjrwLHG+jvYeGp30PK+RDr0MTYZhv9cYgaLaEEE
tJ39HBWnnZpxaPFPjq+dIip+rRakkNQ2MdwcK61SA2eh0gPh2VKsESaEtBVHrMuyETB/BHmEhUo3
1LlgcrnD+gneiQgac/pI5ZBF7dSJzj8wmHM+hdSDhoPiFP1ZTMmvHLzv7cSjEdFyU+GKw4iScoMi
Z8VBV8Fr3ldQWzVS22SEg1kKCEtuK71OOZXkkspYjAfkBS3yAaNnt9WY9zHIp3MxtdjmOXlXTRSb
5wSjKdbUNNnFYcchAAC5IwDm4D73XafphIUvXVZ56JdEYVLZEjnXyy7dV5gxGJx7LuUnQrYuoLzO
2XCuhm40SBldUlyH+PbAcum6tujQel1ycHCHJi0t8DEjGOyLgKPAjwBeY0sGB7akELDK6CtXT6Kv
ELaGAwokkjTgpScLpD8Hrjb5qKYB+0jQSnpaYzCRX9E/j77GoM6LOi7RkrWLF+JlgS09vR9tiSmI
mBwxD7DlTo9Q4cy6DUtpx2ueKzkfqo5RACi56+6rikz+SpAQeRXGBvB31wQrvMz10PKbTm3ijGMq
+iySOfqdJx7JFf2NnQokR8yICufxhOeNMDfBvG/O5cF0qTmyfVqWr27haOL3KY8ezdrNoMK7BXrb
LNEx8FXija6p6HE74AxELjAQwWYhsznPYM+V9a/TkPH4uG4Muyy0N9s9tti2P5k4w9ouxB3+ujOg
4FwcqLykKXy2yjrAFVpjw+n3lw7LKNPwudvwP7Ada/g0wDDRz+U4HNEz2wIYPoLwasxZ9lL5KS8b
rNkmdbPyCC/7BH5/20EXRM+8hw7jMrguf1fYT97ZsHrRCKzpO7RMm+VHLxdCao5h4pZ1EcvPM3CV
9yX4kDfE3tgJOy342rLBwJUIMvJR3REsqF8V2qbsM6ZBIz9lqVPlb+DuPRgC5YDlzQxAyLXc9jEw
HtAQ0fV2VvyYNm0khLYmQeueRuzC5hGOcsZDGn9JY4dgE3A4UauxNWf+T0EC/nDHEPQKkgZHv56a
kNbg/UQYjVRVHQfa5yXq6eyTM+dyeh07NXzrNuyRYeEiOnAV4moPkHYu42/sNGIsGAJ2cQPKuaPm
6INckxZYATgQ6MdXpN+UoYD7Z7VW94vXSM0rkQ0CctScg060Cyl/YFJAKxBoyX8K7M322g1AoQ7x
HO/h3k9TevAIgN8hd0lUm4P6Li+YNTZz4B1EBi2CCou7JLsRD/YetbwB88LjhMt7h025zJeo4Yg7
1U/CwyYC2BhC6GohUdoUB+fgvG8C9ZrqYvkEIo/KnqME9+lbIQMP5w21nNYm2vvidaQyKQ+wtcEK
28HEpX/E3gO1DptlgHCJyZIKWl+4rtUdYC68rQVfALPMsQXyxtN3bI5w9M/r2On3wqLsf/Bs4BhB
b2c+zvfUN1u1mjcQ/tl0cBamZy0us/xQdiu3h2GJkvEClAVb//mvnxIiyjPcYPQ6z92QgmzgZBg/
oCTsVT3NDqK7SnYjnHmHYUyhwg7y4hxanhvNeqJNohjsgAz8WL5kgDLwZIEXMjcOaSDLMZ4zHFUl
/s/vyua5BapOo7dCuOFX5Puxq8E3iX4IUxb9PdMKIXRY3hXrMfZSvlnt599Uch0O8Hga7VVu81Yh
9IwquImmPcx7wwb/4Ls4Nt2fmRjaNzBfg8Ej1IzRC2YgcM9hkANaJphEORa1FCSsMY9XnN8GJR3h
x0zaA/zhup8bWFFvK1j0Fj9gjIuWZgowpM4ykrS6Wjr7TZZGvCLLvgI/KZiOHxFgnYBX0A9FOwtY
1sNPRCl4FUWxBn8gqGpFsl4W+uFqeJm4epzgvNWmnQF4rwBNXgOIACAVeZf/AeUWZsCwZFefEfKm
YVOiqX+dCxnHNc6eFJvrCTaL1yBREtsyrAUSTAEPswelDSB+oxwpDxJOl/bbti9R1uyj3qIHrN9j
dcgWGYZDQhh/omZJHJAqjlOMGXhpPheWFOADa2/V3egIWgY96eyhYOnmDzC+Wvs2uLGKDihvMqp7
miOiRmFdcxBU6tCuPdhtN3zWXxdq4uK4+x32j4NQ0h8WMhYF9nyev5MdzEBABBuu+WRB/ntmQ1mh
YG+yuGfoE15ZmoHrlVZgrO7AaSA7Yaqwx6rS5RPaEPEVC69UP1Izjec1Spw9C4V/Gu4YfHqMM7HD
0UxJ+USWqfxTBI4uAQtXuhyxh8+eNFrfr1gWgLYPlQwINrALT1SjpCtpnfcgQFxYBoSJdDC+/j2l
ffD1CHYItqNWuqlFlwnqiwlYgcjZwDZEqWWP4CsLb6886kaKhUeEkakG7wY9aCTB+j4gBRfnNQJ2
VnSiHMuaw5LPHchfWOe/KOiO8ma1qfnFPMrY/YgkgKRlMY/3Vt4mSYyy44bGmnXD02bcrN+GCVS/
K0E839uNTxpqmvlwLoAqm68YZ80PrGrn9HHlzM0tWDMsPxB0rtcgsEdtYkvC/3F0HsuRKlkYfiIi
8GYL5UvetKTeEK3WbSCBTFwm5unnq9nOjWlJVZB5zm/vqnFZ/BQ9RBKkJfi+viMvangtg4CiMZ5k
jqB1Cjj+6OvtHtQW0mOK/mJtUjOv7e+w1UF94T4LvudcVw8rUTpvydiHZJKvAUJ35BL1O7n/Js98
G8QVJZMdP4Hx+9N9GXLxpN1QJmGqdWh+tsoHkierp9hOjVvW96stKlRScPkAG8OIHCLum/jCkO6V
u9KBAdmtYdG+zYa27AMhEYP9KErDycMuOfzIdRGP7ZBbPJKS0z6b8qY+OBMtLRCIILEfqyRsn4wq
ip5JVMrXBzVv8/A3UNvyqF3PxEeG+9zZT/lkEuSLVvJ76+qAhZBCAFAlVEXO38hDJrivjaeOt/4M
rGqtVzL6zUlSZhxF83gVXrFMsAeE3mUmrLzHzgr0H67deaVHxlPL3p0c9VGIrUZ/NCZAKjKxl+LS
1XqE8ezb5MHpdOhnax5DLZMP1rinIpnkO7t3CyW9VMUjh0BPKBvy3u9ujcSXZwrA+Bs49uG3ffkm
cuVFWQFmxN9Mig8PY13Hhzyuy2ofbXbx3tilck7hhOQI9VCTk6HVKQ7UYhn7F6iPJM1nWoURkY4e
4NOIoJXxIS4/G101476Ok+4txwgT7lAMBE/oYhFyOfx9z+1I/TRHRSHaVA+9P97r1iq+AFhp5LWr
SpEymnQcs2FRjxfP35Y1W1RFxiPxect/oHp4OEciV5tMCwjuPUlpc0hMTZgMt10ksl9q3SgXudri
lMSrW+3DltTep8Za4V5M7MwXljaXO41bxRxdf/O25xrw64+I18XKOh2xVbBmFuGh0ib6tZErLR6W
anMLNthGfgWrFen9EvKRcMZWG1tJNSp7H63RBPBTNkKfhMZyi5LCK85g0UIepBOKa+ghOoYTb7hS
m3UF5d+2xv1jLX5iHYumKfhzkt69F4DMFk/pPHS7rSQeicnLdT/X0WvCI5L++eSyBNzW/aF/imfL
LfdjEPBkxoiwvgiPAxadC0+iGm/Kl2qIiiLrtQ7+tmGE4qilt+/daaXzWtWWsVDJhaT7zAm9s1kf
MXocrHYKviIzNX+ryjG/CMkIwyxUfLzMadYGgiUSk+og2v4ZpCb66Ia9xdYmtXfXoBn8rFDx9YcZ
GidC3XGjnSHlNI5GirU7tN1MbZX0uzVDnFUwFsuuuU55NMtsGF3xTkmUs2YzcTLWcWtvlD99QOa5
RRsFd5JHzS8UPL5CjeDwQblVGEAZs0c8VcFU0PNaJfMfYwtOGws5wF1uo7A8zOsczylYbfGV19pG
QGsFDmlTXtOuqSVg3hkeiZXqigqvPxhp+9kiZESaNTkNHUS+InJmvAXrnABIR055Z3RBDUXxnPNY
oyuvLICKcZAxkhY/lCRha889ldqx5al3guUxhNIQ2YTYJ0oJT1lEStLMMNzyRCKTFsEK6UK7SZs8
RXVuvSCXQpRRjJN4NwaOTqaGrfVCVEIt0VfNFXrnyWbeLRkVIY6szj8Sce2vu2mIkp5/sEBOh/5B
balCPzyl5ZB3B8D/AcIwWUufXcIU5ndCCNVf4efRf+iBoqs3BADJzsxcj06nCpNdnOhy2hfe4rrH
iM/gLUoq198jgtNnTVzO9ED7Vv137q3SfkCMEZjLqJZGP5ZOFz/DdyqZdWZwn8RMGtnFKKf9LdF7
I7nybSrlWmvWD/QahnNaa6+6Q2Qy9bTDt9YvGMISyTEa9cztQm4Kd26bZ9VZ0fesqin5i9jQmw4C
wbkPnzmLe7TygI+d9pMfZWJgJQ9l2X7AWEpBiFsrkrzM5FunejViQ7+6bvISkNK7HNvRadvdgLrQ
v4MMyZ90DP9/WAbZAcN7RW4fllFA7lt44ig38CrgILbWVxv9a3NgsQgPw1ray+HWWII5ZOtig2JN
QyzWkG5yv8RIQV5Mr5evYlTmUYdx0R10rnsIgnDo86yi9Uft68D3QQKM5Q1ECbrBtZiR/qX2mCgq
ARpOn1+z9Ovhm/B37rm17YW125C11fdevMr+JWireUntjmEBzb6pnVTXi96FPUtuSkNO5aThBKNN
Kji6i0OXOxFMTBc0D0V8q/5EFGcf6FRxsUDoab0W0nDUkwuBNGxQbfFT4ZEOGbqBZ648F95ezpKz
EAK2c9Ed91zhRMQ3K2HcQf89uzF2o1zNg5+FeNcBfWKjS26Nvu7fnckF1mFRhV2cbzYDVOT91B6p
sVP1KacO+6WgmLe+G/xKS2ZqMV/RuHS/VsLVr2tTeA6AVcWxZvfYIaGk1nlxdr43x86eVpvIv4/1
bMvj5OhZnjpV2etOTkzCIE0AwalDWxIXNsa5Ux8g48Zm7NUIs5RTf7MU+fiKBmce906F9gUVfkkJ
K0rL8ho0FpxQGZWCJyH2lvtWEuS2R4gm93YVKsW6G3f8Ks0yfPl4Fw99Z1p1TtwOVpknAj585tsY
n8euQIg5NH53n3TcFmlhrWWYIhwd8sfYOGSStPnqJ09lQhnOvta0F9xHhl0oo+IjIUyvKVrJuBE2
ZlcuIdtojXjpDrpZqSMbrH4OtI8+rfCxXRNeFLvDmWNrnFjVlPovjgC20NtPEwf5lsQyC1Az5YeA
xiN0J42tnLMGnaAbIuYkMbSDvQ1VU/9EETzZngI1Xt6oH/WnBczucRqy8KWoMIv1oJCa0VLXiRGt
lmOad7cq5/LQ1p7tkLjI5bq3yi6AmO7NzE0jC6rjQ9HFvzaUEwzkSViCfogFaf+MboB9QiHMrZDn
ApnlGv6/jO16t5q8DbI5WM0jgQ/dssejXg3ZtukVgsBMsrmXkEddWiWuULt6ozM23fjcF97rel12
kK9oMSYrtI6GU80cRup0ykO5+TeNwTLnD/5iOtBpqyvztLdn8yECOTzPaphYG+k/rbIO6X0AZYlH
Jg3auloyr9btdp55mgFz2zX/DPiRT54XTa/tSMTMXvJBwBhGBqHx0ERDd/FASu5BsjTpov4tbMHl
6ngc5q0Wh7jsIuL912rBfYP6cciKxbbF7ubmhzbl1PyOMA14+7Cb5ppYZ1ewjuuFVp1Y0UWbVr5C
PJv4HAqIDPucFdsgiurR4GhCZ1rxapkqGs46D+w76eoYaM3BxTiiewQ7CJQXXu0I/xXehlm8UOg+
wrBFcrwutYl4qUGpvuvcVuEBAJr/ltdcqhngxPQ6MXfkqTcl1S2aKIj31RJ49WMUdPp1lp69fAiv
LNzzRB1l8i1NuJyb0RssyPq8tH9WmLLhQQ5kYu1Qv/tdNjl1Mx1zd6mPLmJ98Z8T93P4z+7sRaUI
A4hKFe7oUCce9/YTVQkAdd02Bq/b4LXtr5A1eQCOrYbbo77dHplubYHerSE+8lt66wknhL40XluE
p9BrXES20dbuHRCxZY9Bt23gnghoPBc4nBb+ngG2PQe0+ywKydlioaz/Jwvf/iF0EPERsb3hY459
Cah9vWUoC6Cm5KhnYO1Mk0QzQdM2Ghm5LfwP0DNn2HdRpxZoWBP8JFOHnQTZJOppB0H019R19u98
GJLwfmjMpj9mLrpPrpEt2fkhuXUZao6ig9Rpw2+cMcC0A27n6sGwsRZ74fTNmtEHbsV8LfV88jvo
IhRRZR3uZN+De8ixs1+HEo7zyC+DEpKFpftokASPO9Bcd9y7dDaJPYtA89+IU1H8s8Jc/tQSBcdR
jJE37RQ9wi9BBdsmho393wM2CSao5nL9ZfNY0yNc0e+cJcm2PQpkvuuFt7vvflVLhIgrnY0yv4FJ
+unoQ5AvLKj+RD0hxp7pvdGFK16mLgg0U2mItt7fkvZP3vrOnTfMQET0mWFQa2Ny4vNiBk12VttZ
r0gQmy0TW6Nfpkhi9ODunC/SN1Knq9UikYQx5F0dEp8T2dMNZ8+gp/CpDJsFKbtVxPejp6b49sBM
MD12uIk6K7whKT9bsRYiZYSk+Bn2xiFlqOLbIBGquFZICofzZKIeLfsYshDksWQOpVJrYEzu2nXe
WT4OlTTWzrAysXjMFvwS7tMCuzQdTWUvb7xcgzkJMQn7WHDxnWDKEFJN/eTeE3PqrN8G+iDf8yEj
FPUJrUbrpHV3l9RknOyciH3ovOAy9FH80HabLmpxUYsJZ9v+TD7FhI8uRVj50cDS+Xfd0saHRhjX
ObhEpf7MGNXvgZoQYy8gQPtA3JgePl4b0jia/38UC1OCNSv9b7Lj7b0ekLKmzqCrV5/Uq3lnN+Pw
aK3+qo4ybID/pDW35PIGBRidt/GiH/SEXmBHUb1astrxA/kto7EHg3T6/B8gS425xO1NfehHHCNZ
XfGQMeHUxWfZ2JBozKxzkrVyA28REbhzVigEK5d5BSfS7QhKuzjChmbowOXZC0XbnARclvc0WPP2
iMlCeuk8heu1YUfnSqZYnFt7tMsp3TBYM635LT7KCjQxfFgMJg+MdhwIce/aLwgjlmbncDtH96Yb
ZH9eabXEWkYim7Nnv1oemUlFnZIzYHgMZoyIYL8kHqPhSjy9Q39r+7tgAjLe1VNh3mLByHxx6pJF
yZut/NpxXxJWEOqPbszh5LwQoc2BFRsB2hRzUhxyy7U/5oERLW1Fr18DDHlPuODBT6TJmy9rMvmb
DYQMDrdOtcr6fih+wPbYpurJ0ojImAn+2h7oKtAdkzyUa7M+9dtqeOhrzDHH2JZ2uKu5m56BXQLg
bY1z9xjHefC+ekJa74nwcsbhNoo/lOq2T8XciMpiq5i6TLAQ2GFLopYtYyMtHJx2fGh4UBuionA/
spfNYXVXEAABZ8TvBChBiekFlCSwD76Obf3eBG1UnO1mKm7fT1tiGSkXjwGWyQ5S5BbkFvZR9QoY
mVcnadflF/YYewGHkwP8YYBl6cAZIeWjbO3ggU6dCv0oWYVvbS2tT74auWbI5Np3deN0M+UV0X+G
6uR/arAZ77XXecFu2uKh+dFyEsHtBHVnBWnc2e+DS1XfBW3zJl/h34OCk2eKwW4ESVU/ZCFj6aX3
oWf8FaXDoFbbbkYomUGQtVoUyZu4rq95ZLzlBemtd9EDcY3Ex6EsOEnZWf3JHQHimV5j7R9AESoU
4zOKIahUkcBID/73ZHsN9wzBWQS7lfP0RBYSBk+BI/1trGz7rzcW62UsnBpQs4E7RyK4LU+4frtn
5GqFAtYgW+bZL/3+vVKu9Uu3zeBlmrnj0RltKz91o2Xdo/HMp3dX4rvbkVRqTsm4AmJbrREvTIle
z9dXGDfF221f415FyHITnqDUBX0iLSBY7FPU6kgdvapY+6O/9mbZF0IjD427KRBPCVE51ZenkiF5
BBhYzP0wMFzuuiU8JtatZUK7v/1NuK/QOvbIzD2uwbHMbbc6jRgb1I3scv9NVZWDoXZiegYeq8sT
osbqsV43Uz4BPsRlWm3h/B+x/xxPJUb1xUoJ66v0wa+cSIHTyWrLxjzihpYSd1jW+ZUfHdcFoOkU
tEHU7ZvV84/tRIf6oSxo1/hyyY4ss34SA5yzQDsGvgUUsNNrjMEbhQMr4m6dVVmfm073/3F0F2+b
N1lm7zQCqqrzRnwygsbmfxZT+BXZ/DpfVcTWm/nVHJV77Wzefna7oN71bSziw+bUFW6KBcS+qflc
6U/hBg6CtTXQvK2D0dXJHe+MSb36QEMS15gsY7hCBqC8f7NWS37j2YD+oedoIRNg1Z2HUWTA51kp
pa5N0TvOIZqoPTzOIzbtX6R1zxNUGBg23L2qQob4wGdQblbkQa2f8KijB/1bgJ4vrOyyRl+OXxl4
3LUQJ+IxQJLbOy6/yrDE1YG+gi5AeW2SAqzMxqfFOKo/IRab3x6XgMMDxkKNCFkUh6AnF/emEIje
oCHKhwVTDj0VTe+rYxx0iG9NuHlQ33Hn3zlM5v9cGa3OYYvhF9KejJi/I+t9eYacq/9zqwBVYmGM
+eYQ6RY09oyhB2xy6k/lVFGMz4VDJ8Xj5g7pumGI3TXshTh5AplDLPtJ9BubbEsmSNXGDkxSq76j
CLv0AN4aZYKB75oXU0xx2uAPfxkF0JCp2Q8SAi6kkmcPpcSLpLuel7JZlgCcslb/jLbjL19jeSAU
CVLXLRbe+8TyuRm7cezi47DaSFqLUC7f0NqiPyGeCx+wnlfr4zYhPTmxzEMwEj+/aVyUk/2D7wxw
DJ9CcWltvCQIIZ2myZbSW5w9BlZMmdEUxlcH9K05NFuC1ZDwATR+vhO7/3WbE33oodMP8LRA5DKW
5n3iPW55y8P2ihkGsZvUuKRE68FZ2GtdPc4jiTuHdSx8jpJiQGlfIu6+WAE3zo4WseGRiPDuO64c
/x9pPfV1W/EDQJf5CkYP0+M/Ct+8N4+9FLY09kfrUEWT/bLVBpTR9eTW7owmABy9YoH4hl+Q3RbJ
xPbEWz38RfFIEcAoYaJOtdOFJwYAMhSksnAjWaNEh0hmpNiVvecGXwlrlN6JIpAu0UhJuZ68aXPN
eW5qeZGBXd16uWTkn+C+VZsVpA6SHKHsbfwMrNV1zsjJ4d0JNmgRLyGYG5GC8OCncySXO7a8Krk4
rEjjvUGC/KwWv6Xza20r7vOY2XYf26TzpUKY9d6bbxCMI+Yk2s2j7/OPWJGsf1cbPpYjwDiPeVw7
1vBCHJGvMj8XybW0rBvglofiMaB18T8bEYnN/72KrnYZF7/ZBJKN6NO8Cc8Etsnm2jWg2S9O1VvV
WW5Dte1yFP0IXKV0gIiwuURCdPXTUM/CSYFp1O82SaCdiDKDRZwdegr3U+GYclfjNn/ABIpdkbXS
x6wdzssdHku494jBw007t9VIUnVEPOVYt/6yc52lDrg0qTTNulGbOzcfqx83nnz1FZWL82eBF5Ji
Z7d9Lvd4j8qHGHirOc5qTVD1UYWQZBMH9SNiDM/9y/vU5te2VO4D52TJ4ayCebpTHAgYGhv+Pueu
AVrzLnVYVOIcwAk+zuVk/kSokX5sdsmXiZhFf79sYvyMx6ow+9Kf5PwiEXzvSmy3uPZ7uhllrKPk
QqVmcbJVO8N6FkO5r9xcFbsIRXVx8HI/bs9grrKnjTvh9OX3HxbGrbl+18loT49NXYlrxLOzwlv1
YA25oQDjqAGByYpq6iZzUNTjySMR/pcz34SPKNGTdxnj403DOep/F6b0bxy0qKZUhbTjZQkscpX6
QV38URJKBvUE2CfNGtAVOy6V5VWJkPerEtgxU4tzbTjnIjefAfPqU+E0iunBd+efwBnmt0VQw8GQ
qb1DgkXrtxiqsd0hHrNOthzrP/EwsZDXnpxS2CyXEHWky96uhMQ2h9yvSrWj4tn+RPGk/liBGK88
ET03Yimil7ar7Pzq0nxwJdFk8c5FTBz3AeUslkgSgvQLccjdtsO4hyGlI0okv7I9IbmJWgj/dIV4
GNPBDbXHHqSCL0i5pDw5PPZcgXXU/gJGGs1dgTyvOYTUkZoD8QjyH4N74NFUkLg2t5RL7Dxuh9g/
DWxA2OjGXmEJcZfCzYS4qdVUJZz2juQ5Mx/qZPJgcGWjnltYSKAhR8TI+pc82O6lYIRmntGhd5a9
myimFrfOD2sAULGfI8c9lCDX7MVwEIjj8rbPauy+dHvW04rLc3Wt8zwzoOznCXoqtcFHUBSsqiRo
wsyKbYuQpOE6mZsg3HW5bYiSHiPkVDk2MPSZ4pHqWbgsTywDKTSzoTytpcfzQDD3xl3bEPmSEjc3
/J7nsXnLR7m2l2aV6+NY5/qBORiy0vPdFdnk6Pd3ObpRLNZWPjKEe5Z+dHH6u/iqAnMdpUq2X7j/
t4fInrqS1d9FOc0wOwC4bTFGcl6JlyUiA+lghRuJwHwqcUS6C6fQRcTc9sdgapv5YEE1ctkipBN7
cgzaR5qBeWm5+vwXdmVfnvKOQBPyt3r5OTR5dN0cjvuUwbb91XuivTdWGKhd0eTTgS0sxsgGyHNm
0EXBVCtFlD5dZvEhYAwPWXBVCG0dRf320ykf1US3Bf1uqvL8gSyTqbgDKgxKkQ2tnfBn9eaXVRfB
pcPkzacKhXZcmtU3+xERoU4VcCnAfBW57Y870zBw1QLDm0mtyl/UR0O6yt+291CPWZOzuHjaybyf
jR8sqVSeig6MdAw/ghCBOiWXsIcuq1d0iRD0TrFvTW5flRPerEIY/QSCestDhnBTPWb1guwcD5zr
g9JOpAymQ7eswS66wTAAM36Ofw6f+pb2KJGmB2tFK/LY1VH43U2dh0afAWHYb/6S2B/ccF18Wajh
26DOOXzTclED9rAltNBDBGK7hDV8jEyt2UzWoeuZCHeT3XOCSzSdmY23v8gS5IvYh7kbs6WKzQN4
ecKL1TPXHYYan2qWSGfxrsipqCAHHOiRHFZi+MlDPRXvKEfLkfCXCdnJpHqChWLYLcz9tR5w3mIg
LJ907nYvyIgMflh2wTgjqyP56886rs+RKs1Pu6zlvY5NSJ5P1waPlhcE7p+aCCTU0SVKlbSD3dC7
29DOUlDWGA8Hs4YziQHzzUW2FuFzaNMFwKVudQChrh7H57bGPc8Pk9jG4nCpxn1c9f5LfrPCMnHb
frtnh/VxJ49IM3Awlcp+RlyBNM7YhXq4+Y7OS4vUA2ilBeFohxJ7U59U/cjqLaPqyNiEr8EL19ew
IyX191rgADMmidunVfmlPJd5Ocj/ZgvUP8VCAbmv4KnHE/rc6B49+wQz1rt4GxJgNWCgPOHNb5EO
PsP+M9gMribyJySL52OIcI+k3hqsb2Dh/vOgh+W7ggX9WizLkb+8pDdnQ/svZizWYBCaTraMAlHz
zymK9T8bIidPp02PrzW/1Q0agQLe1SUWRRayyv4cVZS7XkpRS8z7KfiTDbxZ1yawpZMKUO4zLMHh
En9Mk2Y3Q0sAZ+ydggahEuXudMA+ZF+KLXQqdeTgGMoL58mtLQ4lc7h3ERNyddre9o2wyGw7uprj
+FLX4JCZ7w/LtW+5xPa1Wxc94VSu8l7Dpi+HSyxz/UdBf2CIIlXl183WWpGnUC0PHIsMXVHFDX0Y
yhbseRhZ2YncQGyxR3JVtr9Lq+Pg1bYYkrMYZ+e5XKnPPDm8PEVarLV5sHSy6iwhf4FNI6BLE4XB
oE3Gco9/FGJgxr/pkEOM4F/J/5ySzMG0Tepg2nuS6ipSvQvMYfwlORiYGxZ3E8qvrwhWA2agKgkh
96eoTHYFgSlVJmqxPCl6Az6sdt3Gt8njMeFR5bVHGtq1+p0tXuiPKESfjg92m94tsno+wHtuBv6+
VE95UfPXwJXqO+I5eqp0aC7r0kROwSu1eQQRzJXYuBrY8BFF4j6Is0TY8WPiTAMu8AXJr4E8qNR4
50dejFzDKaYnL4/C4eAQVPFBP2X4h4/bC05+vtls7SPm1YM91Et4QmcrLk5e5irzxsABOQMhIBhq
QvKbbTTSw4Kz+8b3SbOwExsV88+uYbjG116t850qin68zFUeQaPFZMVkIEkx+AjwAz5Y/hdwIoh6
dcAMgFXIUEBVZfhANFau2t7mHWMs+R3l6vLKrabI/V09lqh09VCgAwBPZW7tSFBGMEBemrNfMAUd
kVz04d7Cz8dkANRn73BZum26SR9Huadc+7kfc+zYnJNqjwG2tDKtESpk1bhtLmaiWAyneQ45ZESj
CvG3ZcGaCN6hhDY169x9leuWqBMCPz9M7akv3qrQFO8GJzwEZpBMAaUCcvgDXsXnFZf1+DU2tg1F
hLMkSjETDXdw81AD07ASxOV6SxkfMRj2f2tNYjWJHvGap7qSmD9y7KLrQSszP28+HybMb8GmVwJc
foShRzs4DjKn4F2W8a885Lu4UGDszg0nnI1I0iKCrkGhZAWXGJ9wd6maiDACyVw/Htnfxes6ctBn
BWq2iWR7QOV9hKl/PjSS+JU0rkiE23llkr/q1hbOo6Pa8IwuQFd0DrrFgUTmujmtFKpWV+R3XG0j
mlb7khgw6xQObcKpkRAiiDwpPMJLDsOdQ8qak8WDUW/j7CdvDnZq/zDw9tzs78o66q7qiyPP6O28
19bAea27+gC/q9ERLW70MYYtgsNxsZAyGZ8XM9Guf5x7jXKjqdw2Pho16nA3Yy493IhbHC8YUW9Y
pQ8oitXR7g7LNMcv1qCQf1S+nJpdgmr/ayXDK9o1qIZf0KTDO+V4jxGl0+04pLpzg5ZolBI18zIM
uHssOJMEuSkGLQaxipVtCdASYjRaCGe7yQrL3ulFOpHJ9mO4Xd8XtZE6gBTJ7R9nftaDs+Gk2BOj
YRX83GY8rZinrCtgrUfXMH70GZFuHZxzrKp618gS6JTjY05SfGz/P4j7uHpqhQsE2sNTpQ6sY36d
Vy3tgyZkPbkl5Xj+f2Pkxw9xPw0zxDw5OqjnxNg5KT7myM6qPNHPfHmmgdaQ6juhH/izQ9oTXSIv
F/bJSew1YYB2XXnnLXoLeeUC9zdGr+gXd33t7DXaT/beykm+ncFyXokJYA8e1Qzi0aLxHbAw/iT9
uLlZS7CMvmx54RRH4Ozkvy7suvLseHZBEDpwvJXNnu62fU8X0XJH/IRX7RitmIhbZYaPbcj9Mh2s
WGFltkoHKUscML3XqDHM2QnbiXcoadrl4CnsBLuuAOffhwH5HoTuUciLDiC3olcyG7BhhAU63MMG
yAi8Fyz+2QEM7qBkfCLYAgIVLzou2JBJHiPxYFnGhaI/2485R5AuPot+ET7MtAbxLhEMX70Yizuh
sC5RcQLuiPQ+11r+kLWSv3uhJasTvjL3G9qIdE4GtZksTu26+xUUzsnCeBwVjFeAjbg2NclzJY4Z
LnTb0D0VmFsSNRJiRr8I5bdMCQKW/3yMXuoSBUxpmWi5//cUf0W3KL8SxybvVcL6TxKJfmfs4ltS
lDhuO3+NHPFl9+G4IF/riEYpyq198hJqIo8L8zBPOAhB+0JQpwK13HxQhZpj4dNqUJ+fEMqOhEq2
EdAibSQSRbZ0wxzXcWTzpc8OH/VjM0BSnJlOGvfMXrXUF+Q79JUWwHDkjwZNGePwjYlQwJ4NEbi1
Pdc5h8W2XaNGS1wj7dbED5hoJ/kAFB1+RT3k3JtFHky8X0Hw+IEWAi8iLrYOk5TXiO0Y4lUFNdNV
0X8nCCAvLTau9Q7Bm70dvRkH8dHEw2AeYVbzR63C+tuW01i9IAdHwcgzuAJW4jlmn+g9ak1sbYLo
twf4Ly545yqxG9uCsaLmC1RYPV1EYf2oJutSurn9q16p9DzVehFvtpoIOzBKzRgK6gLHUBxXzZUP
xjwlo1LVnjtItd9iZPDZj1a19UcdVOs9ynICyFdnCD/LGqEhreOa17YYxhIxbFQsj/KmswSLil9s
gqow/rqeOPTg/jPkC1TCiyxCZBg4Cmp9VyfeEh1sq5XHzWYXwq1r94RT8G1cHaczfUYyWhLujfBN
fDAEqqLcD0jvx4AhtDzPXjx8EQHaQVZ43EUnuZDFvp9HVpyTIB5iv4pkUo9JMMnPoNrqj5jwQLYh
J1/f1k0IdecuCOv2zDaxuy9clMy7YtmKfDfFK3rMkmgm3o0C1RYYswNnxEoI07/ELoLClhLrkiCh
7boQJaSPKilqP+Pzqw0u32LhYVWDfGksMVvvCI2p500EtW13ET2Z+R4dMsMz1iPWJWeeZXNim6uH
+9Hqxyd78TqzN9NsKvQKogz2DhmYnzUareoQjcmkj9As5YUEO1avpXPRe0CXtFyEmyXMXid9d+d5
qvNJlIm25jjmi8tbHKDnZQOxWv1nShZ0WF1AGiBm9CQ+bggby5TNwmWz3JzWIwayntTHwp2E8MOx
pjbFKiTh0UDnF/xWvmgJwIh0lyJu9ZYnhkK3y0iHBNKNaxVcXIHU+2wGNVfnju8CwAARbHeHJnSe
9xt6pvs6NkXwOE91Ut/PS7VAS9fjckRIWv3MlhXZ9HcJvjTH3dwzOBqxT24oby/4aAX/ZGn65QEW
OBoO462487JYeAKhEWbs4JBs0/84O7MduXEgXb/KYK5bOJSodTBzLjKVW1W5XHZ5vxHaS2nfdz39
fPIBDpxKIRPlRgMNdDfMpEgGgxH/4u9UhD+RxKp18UnJjZaayGQ2XP/WSNkHBZ0IAqkZ2vAWjHRm
qylYFdlNJlAOnOhLUoPTfPVtXTh+j2KZaRm7ArVvQkJD6rVXC6pHaBch0TdJpf8JbsN4ifMKJrad
RhCQZZ6Pb2DABT/JQop0JsA3rtMPIAHnWO7y/hnozwaD/z6vIiq9wDioDYpKyIh2W1b9Qrks/B5N
Ga0kj6TvYFENCB7gjWHkkINDa3HpaJL2OexzXnhNIL13canmP+HpoF9TwpEfdrFaYwcbpBPlDdVW
cWOwqHs6qDpoCG7ZBA0uIogOn4K0zO07z8/bT1M2Tc/IaaDEQEr+C9pUTvCxnLpAjqF2jrIGx4Vs
zzR+EHFpzLCGEWygye56V8sgOoaK6T/xdqIVZTZQ6O8So+axNOuP5VuEwhBU0CtViTZ206nWqWji
6mdb9pAltQqCPaK0JSwmmzrEeBTwEopPRYIS7X72CvvXiIemvcs4uwd4y15zPzRZ/EJtsRbAzLBA
MwBsNAiRwkZ5cTp4U9T0wPxyfn2y785OZblDni53NpX00oMTOT62USklkbshihKV9t+kUcE14CyA
nyniR1TL/OQRuRpCcd7FCDCYkuKvWya8G+eXbOfd2YIW405ok5XvROUgXGtkMOo2OsKyIDXhuTeP
OSftm145zc/Syr0HJIAE+Oa+ARlSF6U6q8nzvCHBN+NpN9mB+g4xaEBQlZMU78BJ0OyuWeZjjSgY
rXweit8ESPjYBdCLujMasmiwT16hxjslluYLi1Wp2wwh7uCkh4NG3aZAEHHrGUls3HPVtf4BZSI9
OMCnZAn4P7ujHWUJN5MhrfrBAxw9ezmNHluwzuzPATlKdfQFWtZqlim/DIGfyXHK2lDbD1E75TOv
Jn0H9pWqLN8o/ZVVOpVJI26mlzRFcO8NQi6V3AedaH6gZh/84lEzPIaAHN/pfQ4BMEvU4lNsq/Ij
Qc95DNu0+eLAmGx3vuLYkOVTHd5Wr332SSQ/GdPU9xsfRYSGt9oUYX+OGPYpBt8ENi4UOte5GJva
jXlnwG+3bfD/TdGizezpnvE2AXCvEEKj9gePZvqYSR+q/4agNb91rbS+iqLDNEKNkD3ixe0bz4nW
ApHKsfPlmorN/h6lLFNuE6oTufhKcyz1Tnnu2/0upQCmbyNozNWeepfyPHnh9E0TVVW5mFYbXymY
s81xKuKlhARt9TSiaICYAdItNMEBJr3VfUriG5IYjVQpU8NHpQSZuXEaP+93jmIm1NDoCrl1Fdot
rXV6EQBXtf6XPkbJEz6/HnhnrjA0qzy9BkLn4b28Nax+iB5Q5RQfm468QOkSD0/ZbqCIKWw6br1h
ZcrWc6RjPtqTo6K/WRviqwnj4R04niDYxgBT8SLNsJlHFctrj/RGIPRnpWJ/xlTVUl2FHHBPWRNV
ojbpkB3B+WkI9hk3HggCUHlbeFJVtIMdRkXTSBFlew/wXsCaQ1cEHlrR0sMe5qZERrsX0kUC06if
NLU5BAAMZm2AOuHNFdIN3tQGXUIUKZq0uQMI1X/EfEJvvjVyRNoRoI6iHRJ1wG/JoxQpwYkXZvqp
NRHRAt3M2O8qs55FdFN+0VhWzU8/REqHFl6vFnfkUvlD1DcqUhtDX/waTUU8aBRqKOrTKn8jY61o
9/bogLGOObDygYLhFLmGLByiruTGflRHwBO7KQ2VdF8krf2ZtwE2baJCeHFDi4m7NBwnxPzKqGqQ
jSED7PepPZF2e9LOq7nL7Ieu0cNtcPVImxu+iuF9HM0xeWkysvQXQyXf26NJqrb3aYnUzQa5P4Ty
u5J+4kaPptzcZThI9nQbqJ9sglA3PvZBkdN5sDWq/FEZQianM1T8HM0pHdBpjOveDaG9dht0yUoD
b3rN/JWC9ruvxlq8zBAjf6N2vAmIPpQgNi06gzP7CPA+4rCj86ymfhc/9YrdBvdhXZhQ+qDzcxwr
6K9lnkcQpCq/OaQ4wCItqjsJ709lmr6H1HWQwcsrdZ/7ZqNT17F1kIINkspvvBJFnQ2O7nVy7C2D
shbMNFFtvEYxnkOEg382JurIiLk4/dvYqTx/a8iaCOuFnN+9EQBa2CeVMRqbURb5I7q7dPIVlFpQ
kh3EZ7OW9fcGLXKwNRpp6ME2O/ErwtMoeeS2zR+hNeHiXXtCbXdK5Qkg0wlURSbgRxRB0eu+s/sm
+oAQCp0pxPOqj4VeNqj0j1H3A62uMt90GDb+qvRceC4CFLQ00D6zn5rEDMgOiLao2pV69OJwBNEB
1rqI/pPemw89CTBspaC1fqSI2XYoT6Gis0l4Clob9JgIAlki+h7ufQWzzqEBezeVpBs8vQYRb1Dp
MX+aNWDvOqoqb6slHrdHLivrDTh0qC5gkpzPoMuDo1aF6PJUaQ8pOTKQ5saBTgUcgnR5A3RnsPEd
rbQA3IUqyzh7K9JC+5GDDihODtKRKWrltfiJvYcit6OfScijmdlEBwFu/VG3h7Q5OJo3ddukosu5
G7HTEQfwd+OjaQ8tBJbBVwc3jY3i38T3w68ekMaPuukMSL4NFYfpJ+6GIj2gAtXWGzMVvgB207bv
QkwjvGNUxXF4AvVATg3crjnZeq4iJwWQ/POQhfZnG3198peuGwDApB160+rU/Rumkmx9ampwfInO
kxNopPFhsnWLiiYCXRASDfxW6MY0cfCWurjxUXESWMFKrCezuyeF7hYtAxPURFqZIIspOc1pAFbP
+bPRTATFooBzR9+z7uq92WXG19YvTIjm2iQ/mBPQQmwTfLGL6FiD2UBlQ6MLrfM65QwFBsqjUC5c
gMkW9MsCpiClDadU6LQKMGx6h/jtxk8JrW5ADWzXo9TUEm3o2W87C/j3I4iQBuUy2kFoXAvoEFq4
ZSyn3Im2j5MPPpojHoLXA21IUJROt0N5FwaCZ8YDjTnPHtMjF3Lou5RD9OQoJbi6XaF18rtBez17
QM+f5DqtlFnWqsmRXI90/CDYZ4r8ola++cHjWWvvZKpOCTglOG6utAB0uEB3yFChMeYPA3Ypn1JA
Ed/bvFIy+n+2/jGtxw6pDAjYVCb8Qv2CAH3y3u6qkQI/UK83DnoUqABmmPuNd6UwcdFxKMK/ZITV
EdhbHtgoKnYFNXd0sPHVsOzhY9q1w5dyAvGu2FEMDrmeuvsqHKgxS12ECOIC8v6YAMbT7geMCCCH
kV7N2gJwrQ54MlVPaqexN3pwdR/GQubYF+Z8IIBDcJhRauwBVSEwDg/DBM6p7EEZIS7VYIr4jAad
r30zzJqaeY/312NAAP+hq7427s0Iheo3ChQTasWjY0dEVmTeqQOm0n7SkwAOQguLo9xNuNq2mygY
5ej64DBPXCZtgippDny6VnTjfZsaLZdYwr1UQCRtN6FWKjGppFndmV3oOG6UBRb5CTIxcmcNTfdt
skb5SQ3GTHNrWrPWVnSlzY728bZDLjccqR5nMGsk2KP0fjSEFNRXHK/5GvRwuB9IVcY7SMxas68k
NX2faADPnh4+ouBwevMnAKC8TunfBh+73iKSOa0vI5d2kE1h3qPc4fKair8oiH6UW3QrR2uPc1j8
JQtqc0CBRhnu/il5k/AQostkJQYXjMhR6+iqEiXzf8rA6fsyS3CisWUqHip8RL5LNYgoAKeC3knn
QVBAn7uUP/wG5ilcNDBsiBX0/vvCoKODq0tEpQ+HNPRBBG930C4t4oDfKI239lNZBVn7hn62Rvqe
V773QW0HMblaOOknCEdhCt2mDLLNP04v5ZiR1rkAbKJ7+goO4uFs9Xj/j1pQrCioDbqB5Zk/adg1
HzMZhXPuBBZLQE/+/M80wWgUnYQCbNaaR0YrQCwqQFwpgxSpuf8HBmXjCMtLdrmpBXIruDfvRIwJ
zzECyDzesIVasTvTZl81/hRLoFYxWyv9YY1Vg3WMRVHOBlya/jkxALrsh74Z5HFo/eRhAmf3bfTi
8dToTXT/n//xf/7vf/8Y/sv/lT/9PzvL/8ja9CkPqXn9z3+uWFJpOv1v0nhdF4668DrsyWYsohxj
Z0jMj55p7UKk/6lzzyjruLF318dbsYliPEcH4gjexLEXZoB+NFZ4B/GCUjRarWgyvihtUz3y1hju
ro904SNJwACDrgvJ+8fgy55/1T4K/ByFLbxmKyW876dWO3Ch9ltdwSXCSOW/ldkjd47dxn1ttD+u
D37heUgnjiFVS8cD1qRHfT54GXR+DCsfJ4msik6FCPGwRLhjX/sNfEG9C1DkiZPXftvfgzJrIYDX
ac5iLaex6JvAAAM31W3xSUhksrOiVN4ijh++1l2RiTmGLm2J2g9GZotlpGs2NLgdQDcrinqfWU7m
Qlxt3MHDXun6p7zYMZauUldRDf5pGKZYuH3pntYVKOIjPWmZz5UTJW8GWb7oaZc+vn4g3pM6pvQq
nVSxcGdLVNMA5oR2AKq59WagKvBWI7zuaYbD1bw+1sWxYzK6bTqGg+OeDXH3fH/At8V+JXX0rYX2
KMrSo7aJZU7TAszwBnuMzr0+3oWR2DyeMy8XAUaDOXc+XlQ0PrJnjFeBzT+gAKns9HZK310fZWVW
OHxqDo0KQXlDXyxVWvoT17pN0okv2dbLI2cPfRSd3EYghSJ78/n6eCtbQ7MsmL6OZtEVWh5xVYEV
mwoQeYlocaQ3TLq6JWJFem9Pn64PtTI1uJaawX63+Ib6YsG6uTyQhphPTFlifoyKlqaDVegvDXKF
B9CrwY24vDI13NBB9lEi4IBp83//405QcAfgpgRTpyDNe5z8nKwcQNWWa/yWM+PaUFhVM5xlcsEs
DxiKB81MY0B+BlXQI/YunICWFgJMtnZ7/SuuD4Uu7fy3w84/n5XmwVOBUTSfZb3cKFooTh5wwkqJ
9BsBam29iBnEQoC3RP/FehUakMMhYCoVgAb4ujyye3+IDoHRo782ldH+L2ZG51Q3TcPhUy5iL84f
fdI5bMUMZ+TD0Evf1TEPOzR19PIXI2mORHjEFhZX9/k3hPKPk44FTTyuaM1Pre/tqhzT+mjwq7+Z
lIRcKfiEpiEXQ/nk9roaDkSpXkM1D92Ak+FBwkAGwrphH3l5W+P5jMgnvTXgirjbns8KYDnoGw+B
YZRxMqDNPRo6e5/EnKY8xqEvfVUB3ms0hU7IBEr5bnQkj96/+LS2sB1dtW1pL53bcx7wWTWg+qB5
SokjEtxzCpbVUdh9dCMg//6zztzFLdjMAksLU9AB1tRFeiL8tMlpisltNmXBF6Wii7NpBoyOCjBn
b0WQxE9hVen3NMjqB1zxxFuu3GlHu90+gcmxfo1x0f0CpJ3ZvPEBadHhj49RqFLgVSDD3LiwLnLU
xc9drI+iAFqNTVtuY3oWfhbQhfUGjBCwvdgh3i626diEKA8jG3J9TX5noNc+lHa+M9BJgfDSM3KN
lCOgB3TmUvutSfFsW6pmd+/MsAAKBS9eJasHEabBsWy9G79iLXAR/Fkvcw5c9iIcQyXSIwnMB94f
SpNeiOJ4Dfj/hGR4eWOo+VBdzBc5BU44oGDTXBw6yi5RC5FP33rNNwPE5oHGTEZrF1XZAkmh6193
bTA5O4yC9oAMoS1yHqeIG31Ww6X1mPnqNlf14kGxoupg9ENCPV6Hg3ZjfuramDYlAzISzbS0pa+x
A+OaLAIzTuRcapR+cSYAj+0VJ4t0/TTi/QUgRTP3iAf2T6CLmrej7HkLTTG2e1QjzY1i+M5uBAhe
ulBqxL6kan64/mHm+2GxCvCMVRRVbIp+3CPnuy6b1yBHVQuMHFxLuwSCr9OD210fZWVbcTc5ZLXc
UpoQi73tTQNtWJQQtvUoUNnV0UyxDG0DHX/cXx9pJb4Sw1Vud43PLs3FBk562YG9IwGkTVSdpiDz
TgVtni1FlbkXYWaHrlYD5CEd5QEzker1kZWsmoCHrTZR4sKNfYAMGvaBsXWUXHnXmAK6hRiL/AEW
dvLl+lRX9peB4bHOc4HdpS6f0+AloQWXjKUBFD62oJQ3FQU7yq8Rmh+kBbeMeldW0eR6ZAnx6zZo
653vFXx10Pc0qO2DXqvv8EhHDrBo7IdKs50byzj/UYttyVCOqpHb8HxeGjpj3FPjFeRxIycWvaCk
DltUS8MAXXB81na9LrQ3mGUpN8LEymkwATLZpgH4xjDU+b//kY0m2VBidovwnmFhRoQcV+h6QWE+
vHrh6E6gTq5RjLEQHz0fxVRQlodsSpI7eeJZL4uI3gEA5CMcy9gBi9eV2o1gtLp0jsmrkjtftezF
xAzZqMRA9orw/abcKUiMvUHnxIjcEKL5658rfEBWz7RNTZIBn8+v4eEErCBDvpA3BGgj8hwL4+5d
VQDxvP4p1+ZF0LIdTccX1pKLecWIaucAkY0t9DMDuyG0iJUEs9oWAKJ7fai1C3re/DweKOnA/FxM
C+a+MNuWaWH5ZPnbws47A6iAlR+RohHoLCcQopLeyXreaWP/q6oAwOPsU91NrUpyfv3nrM3c5C6j
gU48NYzFjVYneERZPaqZuO9axxY+1H5w6o9tD0X2L0ZyHNSxwPhwUcxx6I9DwesNu1J+Admihr0A
ZDGEjzSwr/jj3fjGa8femt9neKzR+7UX90Q9VMC0aiAVBZDfE+qMdNrwsnIr+jh3yEgrJ4iK9vH6
/FbiKFkImSm3MdeGJs/n51uoPo7IaIMqTnx4t0Ax0sBUv456eiwmx7vx4l2dIy0kSyfFQt1ysXA5
ZAdbG1Fx8sK8fWeFerTFkWc6oq8RP8AZxIAC5cIbz8T5HCzjqW3IGV6FpbxtLuY4IUgHxg4h9wS8
KtrHDtJmUKyC8Ov1b7k2Oduy2ZHsS5MYd/4tUUPTvQEtj605GvXHYXK0uyoHyBrhSvqpD+zkoe2V
8ef1QdeOAmVlVEUdHnG6MU/+zw1aZVap96glQIcZ3HxUxq2ZKPAD6BMfXj0U1U4qMdQC59LP4jti
sj2zzWgdQAFW3YAa5QNl5XiflF534wpcmRVVcqhOwuKlSFJzPqsWChPErBq1WEeIfQymklZIYiKB
bb9cn9TK5oDqx1YkYaIGIxaLNgjPq+NCrbcSQMljhXH1AN8zw6fz+jgrudmcG2kmdDnBlBYB1LbK
LI6QtwXpUjnHRLGVvUwbsSUxp+EJP/1JdqAVCi5BjBCs+Pv14VfOuWUJE0gJfTKTCuH5B7WrrDV8
S3LOhdE/W56Y3oPnRrbU7rJ9OWbKjTrrylmw8DulLk5lS9rLuBm3HpTjmI5ijI3VIdQc66VWIHaG
NPYRMcGiMo36+u2rJ0mkRgJGSikEz4fzSSJ/jHA/KO1t5yBQl6MU8dakL71HExJdE96RN9b091db
RBauQvanLQ3OoLUI2U7Sj3RJa8TV2jj+bgSp9WMO7N+FBa0T6lSFRrsaDAEMpgm6Bzgu/0NK3dF0
r0/88msblumQR0hyK9zFF8cFGgcSTiHlUWEq2juME5MXGhG4oEI9uEcuwbA2I/wa/cY1fLmpDDYV
rxVuYAa25lP8R+wx0RgObYyV8DDEdQxs3uhiRhnfwWT5xSYMb8xydTjVnjtLjupwVZ4Ph2yhCnMJ
eNOsA/gBBI9+qhLtAd0rEEU4dBbW6+c3f1G8viDCq8zxfEDbnJWJ876G/aPQlYw4sM9Tq5unyPB6
TDTz5sYMV9YRUzfGtLhHSFYX16MsuzDFaQn6p5PWx1AWKNhj7+Aqnhcfg0DxTpOiaDdOzRx5zjcx
lXziOW8anm28p85nSVk2p3nEUcXXA1xTNWA0GJPnWGpR/DSDsvwZNTUeAtCLbpyfyyg/j2ySD/AA
NwFenY+soy40VqXBhYmG6Y7Os3WqpK09oPWT32gUruwd6raqpBZHAZcgeD6U4mlREeg6CIcC3cZq
GKcd/GpgzlPxnHu4eV8/kKszYwWpJoGr043FrRKnVqBMIaATaM7ZPidvBODvKXvkc5IbH3Ft+VTK
Oo7p0GwS1mKTRtoAuyOdNWQm+H9dpfg7He0dVL7lJxq/2gFRo9kqYVBu5HJzUDnfNzyGGdJ2SB75
oovNGvcj7kRp1UD+oKqk4FS0D6l03DgSlwvHq4OiMfuSUHNxBjsVXRLI3822riNkdaADuAjRFHvU
OlEdwh3mxudU552wnJY1P8noN2nkxIvjUIkCoeRGNmCdjVkEVIkOYxroOwrlHSRxiDQHUdTQBEyR
HssyRa40dJpd0/kSaY++fCMQVvt4fTtdrrGJhp9GAY9+MzfIYjuBufYh381rrIsMPcm0Vj74cTMc
0AoyPzcNRMxjNEiUskFwEwyvj76yBA6vS7I+/oKxsQjzjmUO0HKBLij19M1HApl2C0bTI2QmQuD+
+mCXeRJRSKU5y7kxJHnB+UHFb6dAFBGHCgGo+4gpF0I71tQfvRTbXCpp1in3UwQl26aJdgYAhNdX
gS0OEePzK0xE2RfnSRgV3l5Z1m5ztCz2MN7V96JMpIv2UH0jSbo8QQxFRgaFlMubCZ/PtZ25B7EB
3kYbMhjHZdAcQrqcN3b0yiikYLwr59yAVsRi+TAVgs6O8PhWs2HqjjgA3aEp2O2ur9v8p5wfG2su
Os6zgdnCfjmfS45wLXLSAxqts6bXGMjuZKrRF9lP0+EvRjJJ8SQPOupki1S2Q7kM4krfbXvfHNGn
iRy0aryTZXfdjZFW9iIVcx4hKkrV9NOX6xPYWNOYs34MzN0afkRr7PVB69+oGlX6TSrr+EM6wtir
ra78XPfm60vHKNCBGNKAJZj0NxfnHpFeqjopKKoZr/hAE3za5T3alLEY9L9Yv99QBef36i3bgOjA
dK3VashK+JH6UFox/bm0jZ5QPLzVj5g/23KrWMxohq8IRKUXG9L2MKpSR3iWpZzkM5p3xedCMbXP
mgKyd9M1tuOmeZa/+rrClxfgGg9KlYrZcjGR7BmGxNe77QCS8h5zpcJVe8e4cdjWjgEmd1T/ZhQB
7dvzY9CPmEMLHZl2uIZog04SvVY5VVv8/F5fmmIqvCcJH7RTqQOeD6VqcJWBVwN2srAtsRBq3eGG
Z2x8iSTL64/cXEGZoQP0vY3FkdOqGmOgTnbb0qvHw+Sgjh3QHt4n3fD9+khrwYr2G9fMDKqiJX0+
KbORqTMlOG6UVdGemqo2t5kNxv/6KGurxIUqDVi1KGMai2BVSI+CXwTrsrSxDkGZHznoyiiPU5N3
Ny7Pi6GYBFk1L2GMvsCVLLKkCa2l2mzxdxVGZx2wSBmPZd9SY4B/tLs+q4tzNQ/FlzMpjZLp6oub
S8HMG0YRkkdxlvpHgM8+MkRN8IQvW/0VkjySBI46s8pePaxJlovFEG0DbplllKSBzT4o8MPkBiCr
br5gnagekjTWfiG7aucIQRnljXN2sU94MPw56GLzG8jhpH4wzEhmXSP5HJv9GPbd8frUVhaPrp3D
5CSYGbHEHrWVY0w5QglzB02ecDgasUjCzq0qkR24PtRFijdPCKwk/Vk+IwiJ843vgSYJ5RDPvpzJ
gDMbyq66RH8HvIJyKDrN/EYKFj8PVn3jxF1ccouBF7sGNRew9HowbZtG7fc8AREvCg34meoUFXeI
rQcuQl7Q7vEefqCTnN44iyu71pzrbpx5WiaUos8njsbe1FQOTiciwINqEwpULV0/SLIHD12ACF5G
iSbIiK7F6S++OA14ZKfomJFsng9MylWqmLQj++2hP6CFjv1Fw4XoAP/FckthTYe8cuwdPnLFjYL0
2pTpjFMN5PoD/rX45H2hOGrm5fOUwfBv0aAP+wfkxIXyY+oy5akL6kihgptXP65PeeXU8IjiAczH
diSguvMpm/mklyMCONsWDYxpF7XIem2jJguTGzFhbSCSTkm66YAhXbbcuC+00q6gTpvUoWZbnbHy
7oMAysqNRVwdiPLb3DgRuDAuZhQ2k6UnXixmYWQcXHNMGKa6u9WRXYkDFhH8/4+yOJxBjFA7mh9i
ixJIc7BMDyn3wJlViKxX10TAe5Gs0xqBl0lfZnFfICZVpl2ggbUxc+1roIzqO621aHIBI3Kv74aV
bWiR1WJdb87d5iV8Drcc28kST2yRfUNyD+FKpMH78RRZ9XCqmgFkPypTN948K3GOhAW9mzk/Ahuy
SCWEFVgKTlsqOnNp9YPSy7/IIk6PPZHhHvZ95hrTbDDnWCjLX5/u2iKac4mLcgIF/+VWwfHOb9KY
XdKm5niAkY4bYwTBT0Nm5/W3k0XaDtqN0oh5gZF1aPZUPvweeEp1fsiLzNpjNnkL/L42IaqFIPcs
iIv2smEY9JXdjhVWbihJlXtnsspTU+b6EX9g+dp6FrtyrobMcE6Ll/EiSDsDlnHYfGnbysjSXR60
4x7nr/EAm/FWDXR1VhaxQ5CqG7wkz2MUnZrCHxVmFShtccqD3j8igI6QT1JON66e1aG4/qgpUhak
TXE+VByCz0+tRNvWeGKeoC3opwL3lDuTbZLd2H1rh42VIiBqZGi0tc7HwjUhahqTLyhl9SuGoHgM
G3hyMe64boNZBMbVU364vuPne+TsocWq8dT5XS6nlrIECBTA2/1sINyPztxpUss4cseyTzNY83gw
IkCd3UB3XHZEfg8J+MdQiSkwZM+naeBfn/UBUMEYpWTk6ag4EM3sfRgYaM5BKFT3Q4ijPKysDueU
IlQRVhgc9cbKrkUZps3LHXgXvZlFFI0tFYuoIATsFtnak4IXiwCQYfYHqmj9jyxvDAhLKNJ3dSVv
5cOXY3PqCat4+FHFp4R0/gkKxTeHbvRw6sqj0m11fYhRx9tozh5GUu2WetDvGip4u+uLfXkTMqyh
so31GXu1fN/C0Kec1UJyw1Zd31lj5L2JUbw7Xh/l8sjMAwDt5gHN/SCWk4vtacRDbgA46xknKX18
tNB32Q9F+fnVI1k6AWB+SpOfLVMILNGpzQ2WBidRajsnnoJDbzvlQZ1688akLs8m/fMZpWubIC8u
wGS+GRpKVofg8B0U1WWWIxwuFHSoMtvbg35VNhbq3zcCwuXhpN0M9oJnLm9Quh/n26S1YG+3BmA9
GJvhUS+xta1wmDsODVTbOgQ0/NrvOVeReMXzPKTFtPyeWRfHNdZT6GIFUwu5d6gIDDmPjocUMM2N
zXh5Bs4Hm7fRH53BovWCvp/hQlbVoEFt14hD+K10xWT0uPRC1LdyifcXht43yjxrI9M7Y5eauNVy
hZyPnAujMXw6nlsfMaZPdmhBLy3QOUWJFL/YAc3SssLi2Ei17kbsu1xQkxsSztRMIOHYz7vsjznD
s/Uzv8ZTjQiPcwcI2NOgJjDGUVZ+H6fldGMDXR5FxqPpDFOFASm3nI+XINeI0o8zYp2jOW+oLg+4
nwXS9fX2VmXh8qNagtCiqZrJQxiuxflQiMYME5IYvWsUVYeZQFc3H0MHkXa1beIWevBgfMNppbr3
sV+/sZUuPytjs5aAl3XKKEsWVTKqaKcOOeodRVS892TkHSfsWu96qdWHQKjtjaz48rPOOSJdX/Id
G5ji4lmIRc6gmKHVu5UsCdlONGxQzcDZVFRfrp/I3/3N8/vZmuGrjjb30eYG1/lnTYIKLrrjjy5e
sagx9ingoU2l440Kmk+2nzqksZ5MBHXegrkdEfeP6IRsZkVoTAlw1N30SWreaJReXiOWRtgVJMjz
BbYE+qER1QpAwnxuT+AyiGpPsJV9Nr5cn/t8AS+mDlXLmLMTHv0X0Q9OODZbqt4B6vdQsE5B1bog
fMrwoGI0CvxMgmaADGW7SHM2cpOOyONd/wkrC02ZZR6dyhyaD/Om/+O86o6HTmxss6kNET+QGDRH
URniDky8vPFKXR2K5hksGyI9uN7zoepIknvUau9qk9JgfpYFqr4N6hqJZ0v27Y3AsJKEURnmcSUB
u81vu8XMgo6VECiTIHjUK9m21VS40Ujn3ElYqduuUeGoyzE8QAm2H+up8p/8Sb1F6VxbYeixdINs
QNqQfpZzRipQU/MBQyFVfRg1iTFMiBd2lk7IEmL/iqClprhJApef3KX9cH11V4fnXBE8YFTDKz0f
Xk9qL4gJHG6WZvQyyEtp4XVwoO3IGJBFBP2eQEujos3JyxXrFpp6bcl5k4GEpzjPS3CxBo0JjqMd
qsH1u7T4XmBReEgoiuzLSPuLCMnFw16G9kkFZMlb8dXWbrSpH1BDiVHMwDL52A+m3KNoEyJuozWH
6592bWqgjGjT0rVUSZnOP22EC2asW2yvsnOGDyYDuJAYm/uoCG/BNtai0VwImZMkgF3Lndy0AqfI
EGBjLAstPwWZjaoSzmc4DVyf0xxqF/GIegT3NrRWSLRLVquVjF3h59xweSnte9xQjZ2XozaUt830
3BgIXKOq5eyuD7ryIbm459rLDKPQfkMR/ohAyJlavR+jm2f6RY9rGOZAbiFnV6CqRuPrRlj4DX9b
zpGGOtgiOCIzu+B83UawxWkmRjyaARj3KgLnmYPD35QJaz+VnTrtei9scjSW0/E7AgwGYvKoqqLr
W86qMz010X7TiAjVzxgbi0cg2M14oAGq+vu+RTt+QlfjWyssHGVRaGON8Ikxp3eK6ivexqj8zt4h
zT40d5EW5m+YuJ+gwqy9mhbKXpHkO6RHDjwGbVFiyoK8SiyjRXsP8ctnkfd3fo+qIqZZ1l2i453w
6lWE8cYbE0SsQYVkXuU/VjFuOZQB1Fq3SrXph4Ea312OBsFXRL5vIZlXNgwkeRtSKMAByCGLoSgp
JaWStbqrtVnxDkmY9L4RRnako+n/e31WKwdi7lpRhjFJTi6y2bYOQKa2DEXXe7gnp7ZdtZmCuyih
Gwe1UnvQcDu6kbyv5HoklzQ1+ZL0y/TFyslJqywP5TE3zczsXWiFFLQykrCqB/zeNLcAhWtz/HO4
xYHIkvkhTX3enTC4co6N7aOrJibcETdOzVXV0Q7FekYvxO76x11bR5QwkQXgzUk5dJFjhiikoipI
QbcfB/E1pkTzpRR++TGJ0+np+lDzPbM49PRUeCHoYKiA8CzmWKsonPj049xynMSuDkvcu1v5gqsO
rl2Dom1zHF9eyppuxPWBVz4uA1vgNFlMFd7N+bEwYITYnVerbtxYaO70mvIBiNQLbJHucWgAUZqj
mt34riv7x6HcQ3WXJjsxbjHZ3i5QSLYYs/Mqm4sCDZI3KYi/aFNr2DJlYJH312e5spIwwcWMDqE9
SDH2fJY16l9OO6FT2qN79FUVTf046hGevTTvbrwv1z7ozNNmNQniFLfOh1ISyF8pqg6oizYCEdCm
6u3mndVkFj2PRtO2WmXbT30BIej1c4S4KCV6S2RSxvzV/whwYUnBR5JEYrSHyvMOw67xc5koKLQn
TlrdeH+sfVA2K4XLOVsmEpwPVllaE4e2UNHwm4ZPtJzrGk6fre9NOxxv5IhrX9SYr0Pg+CBDlvCa
GL8+uhyG6lqOV9UYv6ndfetMFSAblEN2tLa0HZT/9kYLZCU1dcD1kGVQDGbcRWpIVJ2istIxMDAK
pTuNVuIfLQ8x+W05+qDBmkTT36eeND+kndG+ZDX1qOsruhYUqEzOYHkakPyQ84+MBahl9HUpqTxX
aKSbk+q0Bz1PjH+TuBInA3/xXQDAz61Hv75F3lqbPgUaQE0zU/QCpiC1oR1ys5dIggVZshst6Zeo
WWrlc+yAmNVzL77HEcB0eah2O3juyen67Ne2GA9b5BVmySCu0fPZx3TYkVsTEuCmzNwO+fdNWDj6
UUF74y/CA8zfGSRPZnCRmgdqHAUWguRu2gcINgZ2e0jpZpzSAj+T67Na28wMAbaJpzs55eLgaD7e
EqkVSRehxLylsh1XLrwH/XvWAz/eYOPS33fYM98a9zLmIqbA8aGwCAYZ9Znzr+kbeYEsWDURlvru
qYUVucOnE58a/u3wb0HBxn3tRG00rNCPmJWQZhGf8wGREUeFtKsnN1G16EtZahjyeYq6iQX2TSn+
iBvElocbwff31XF+j9rUFOnczHIOVEYWR2bQBJ7PcTei8+mL3B26Qb3vdcP7t4cy/px4Y/DQ+DW6
12ORmccGdsubGIfjw9g54uf1D3C5f0kCyRro30Nou2ihdmiZIgOhUPhD8v+DgCP8PQMb+KbIyuzz
9aEuzypJ4Axc4kblUbTMHjTpdzKqoslt0dTeDanm7AL8aXdFWhsfQjv0sPZFQCMJI+X+f6k7r97I
tXQ9/5WDfc9t5gB4DmCGiirl0N03hKRWM+fMX++Hvfcc76ouq9y+soEBZnokFYvkWt/6whvKEuv2
zy9/Zm0tLT9xwUCSKp1CzANo0DrdMHQv2jrK0WVIUMOLQTAkjjJq/tqy0uLCpPPXbYRmMkc5qR1w
QTK049VlxqreY1A4udJCwehTvfaUTrA8zFjmN+yOqnUiG3ef3+av4Zhr0po3OWRJNE87x5iSSWNX
oUZYN1H0lGbybeObxT3hUNhIQ4iyKLW/a5ILX3i+51YSERBYMIhrStCTmw0yTDqtMBGxWkXhqB3l
YC+k4PiTNgkunOu/4upNk8QFFAXWPqyk075q03Z1OmjYWCgAQAHPDjE68gnGgWbtF9dNNg52iqWs
G8vDuDWkYLqPSLseEVXF+7RNk4NcGcHm8wd/bn0xqKRZD+6KBOBkU+MmFmNZQCiJZogFdojKJCYU
Oek0fCkt3+aWhqjb59c897JJoujTQIsDJ33SF4sLLLvicZjpZ5fDlTVL8jPGrOnWbJTse45P4x7k
juFKiTpciGFn75bTCBQnlTHN7eOlLRWIX/kVwsh0+tvrsZEKh3ms8ILoVburw8C/EDzOrS7CB9tJ
A3LLpOv4ehl43MGIcKKEJdqtxpEjj6QPJ4jRLC6cCcuLOonOhCmeJgN2QtVpL7fI8NxdzDDRwB3b
O0YTKq+xHZ5++9XRqVmqKTpSZMIn26VC4W8ym3hCPjYbKwdrQmNb5ajhqFoZb0QJOxm3iVqMRCFz
CBfWzZnARKYGyZfsmKLqFO5LI7fqG/pU7hzMJR5ZVbXVykG+7jAg29Mo7+xRGgvv8zs+s2RIJzjW
F0gSp97JK9SY8GtRlC86qQ32raqKpwYW0Cux157MJJLXn1/uXJBghk3PYdE00Dhwj5fMQM+xnHt4
hNYkGg7oAMOj0wheYdD0u1Lpim8S0s7uhCmKN4oYIHp1LerwS/3kMepKhOkx7A4vRMmfbZXT1UWY
YCjC5BQLpmVL/6MAIotjZNm0k6sXhnybWMK8NfquegDblr8F2L554oReajLU4ZeSUvE9xs5HRAxS
LVb4WkbejDfAVUsE2ohJPFxYGGfa/XRMGFYtpa9Ky/8kikH5LmdD6Ud30IoGtZxyGFI3QjnnayMq
grEyBNxQdzrqF+9Dhmukw6BSvEJ3GYWBC+/v3HqhJywyrWMAC1To+EllMR3hsKDpr/V4UdoZWeeq
Q715vwzVKR2jXNlN+KltdJyQETO38vca6H/hKSPa+pUh5Afgr+o6MsrsKqkHXPa6RNAurOozWQ0B
kPQJrcllQrD8/B/vM+orI84ncXRjvxjLtTKr0V6eimzPCWl9Q7Yd/dwCJXceZY5MqthO/vPnD+rM
Zl7oATIKNuCcCMbH30BDhA9LSGbFQUTo2AWYYu/wLOif9NRkYtO3iGp72PGZv38EwKnikgsxEYzK
yREQt5XcM5zHjA9wFaaiNWbQH2GtCJCkZZAO2Lkbmbz97ZtlKC6pEKqAqSmn9a7mSxhfRYPo4iZU
l98CYQo3MaPOam3iAxDZQRRm4k7K5PbC3S6r7WTfcmGSDUoFmEmnGwOUoYrlUU47qE7Kyp1iPENx
lcYX0saSXikuxYklGp5ej7VPIcRMnjzn5GiH2ynDh06QpS90hOwkf0iwD+zKvdVPbwpIo1Usdrcy
Tp9b1UeVm4Fv9/D5s/71lmlKwJ7jdAdbgsLd8cJSlXgeQjqzLnAy+YXmkAZVTkOOqcnR6f78WmcC
D+gVkbx1AVswzD3Z7aFFgSPO7JNZHppinxGbcldJQ+Or2tVNfcjmaTKxHawnFeN3GIxO46OvjRVN
VlxCQ/yaAYD5MH6ytUhokbo8vvEhUlArgWmB93o3AaCppHA944RzYeP+GuCOL7P8/B+hox1KiCOm
0rmA2syAubXZ7ZsSwwKsOppXK+7V1ecP+dwF2av0i8AJMAA7WVNtrHfamCU9FnPwIc0CIyBsSmFI
YWxo+4BqLqTE554jmPjlddJGQKDu+AYx0JQAIDS9q/R1cCjmJn+UtfHiQb8EmuOtQocCLQwFOSaS
w5/6cf94jnRlOiZcHc5hap39iEuYdBbOMrd9ZiEshK/ztJ/DDkl8I/bvqkRQDkUZZG7bDebt5w/4
13ycXpQCBIMYQT5zyj9AP7qTZxgsLm5KwEyTMhZe4kw2doEkgUxgPI4BRy77H+TryaVe2JnUgqvT
sEHyh/nRL+35SkDmP5Db3g0jPCUcjDj8vTE0yT4XW71CawiR2J9Ohl9CzIodXy2757bq3rOwVR6b
aE69pAxHNP1644qZTXv/+cP59aRcvt6C4V+4nVC9j1dDEY4qTj5Zz2i5K+kwo+tzL+hFuJ6EUlEw
bjYNuDH9gGpQrIgPCKprF1LCc+uRIxphUoIMxcvJN/DNXPVri28waBif2qGfgZqNzUtU3HPbDIIl
sHvInpDZT8JHgqNdL2Pu5gqC2D9VhZhg8Ij36bS25rla9YxxL5yKZ2+MThbkF/gRv07Ro0ZFxT/v
XXy4i3ely4pr05p+v3dPhs5sknN30eY73c5wqfOiCIlXedqKXiv4hhtlPZ5chfD7eBq6CMDEaWEg
70Y9fbxWfE5xywwN1Cp6M14Xw2C5eiiGnh9Y5W8f7EvDgve0tJC56Mmi6IDUpZFidS64TsRVu671
5FDGWTwML7VIzi0Mg7i7SBrKdIRO4mHZtrVZasRfld11E+mpumllXMllEUNsKIQXqEFnzm8JwjEK
ctBjmfGcrEOmDXnZ4QLk+hB4UNfO6nU9VoGLTrN/4WQ5E/hkkfQXyAOlA+nZ8fsCj6TE9Ld6tzVM
RF792XKCXIjBcvTNRg4s0ndBHT3ax/6FPf0TBX4S/WUG2HQUGWVzrydLJZSBGzGV6VxVCJunPJmM
yMUK07ClCJzcpiot6SvCzphPiziXTU440N5sJjLUxdscKygWc4dHGOfLJighArqfh70zb4HRJbuS
Iwrcyel8pJjMsmG2NbgADfX1XKVfS0x5UOjWL8TXM0Hg6EInr7vxqauHEHDjzBh/dFHwwC1EabXm
Qvft13qD4hByIac60DDGBMfvusP7eugEVrE8z+La6vuamlQSvFoVatsUc/FaqLHL+fwpnjvcIDPq
dOqpdKC7nawwmTZ9pzTYg3axHhbOLEzY7yoz/ujmkMtvQpmJaEiIreLGUxkNuKwo6l2ulOU9UkJo
QBM4uoQkxw/2MQXhmh0zvnz+Hc89GKDsyyiMgKKeit8kmADqaolqSSwJ+mOKFaqnRJ3gBYlFvyMe
DRcLa93+/KLnltcCy2PISVPlFw1MdOxxPTX83jVZzJs4LL71fkSDYAyaCyXJuT1ObxMUzNLDpz9w
/N79uJnhuAikF1aQf9WL/kuCEOU6Ktv8Smh7f0uHBXZCpV7iCZyZl5CusgEBIC6uI6d81tIc/FbS
lwMVJH/jZk1dXEeTEVj2VEzaOira1MkoxaCDSOWwqVPwOkOTgzZlin2JU3QmiC9FERMTMKcLKPL4
MeAnmQZ9KvGWsybd9nFDQyIUX1qjnnb6WDXrz9/vcvychjeEMDBaWVI6MEjHl8MYSe1jmESuLIX9
PbY6UIbbrNQ8bajwP8cpNNoHCLJd41dc3AhmO/xfxC+TLijjZeY25CbHX0Bm2+FpZLWuYEjXKSaX
z1MwlMzlhvHCrZ5byijtcnosZwl8m+MrJVkZMjvmSqSio5dmWAsLel2sEs3ofj9RB+bIxB/sGhnp
aRshzucpyfAsdSNDHiKvMTXs3mhJYpXVNBsgbe0HmspYhQKTll8+f6PLAjl5owyLEQlcBBCkX61Q
5KBIsoBrd7mgrzqhXYy+cOk9mPy/laPmcbsb9eqSkc6ZhQR4hqkj0WKp6E/eY6hVKbu6hm0aRHq+
SURxsGNVoKaPfGG8Hw1lqNa9LCgPE1hyRAwa9VKFciaCgMagFasvUzFEso9fsI5nnjkLfuOyTJOV
NaUPRtnjIj3L3UosrXKLvn3oNpzWv7+yQCcsEFPCOoI8J61nPzJqa2hT1nAcmd+wgFXX6SSXTIny
7sIpLJ+9SSipnPmI9kI2Or7JXJxNfxaxthlGQ3ur8QneMRqS13Wf9tu57UI3DPTQMaQof+5wHtRd
MwYsMYsqNkOJ6fcBDKF62PbjqLiQQFIszKbcAHYUK82XqlRCbIly/Wbw50hBznzuv2Uwpwee5zzs
ujSqHKKEZto0iTC3i/VqE07RJfuKs3cJjXPpw8EYPcVFmmaIc2wztG6tCcWjMA67FAm0CU6nXNsM
tycBe8hxPtD+rC4UO2cCMOghSh2CEtDh04UsYyIY1kbTui2OUF8JnA+VUgQN4FPgAVooP32+Xc+k
VXSkFm7FEu5/0ffoqtgMSRxbV29KqmZYgh3Of/klsZIzwY8Ekcrgp6EQldzxsjGqxu/zUGhdserw
sMiTLMKsrWymXWliovn5PZ2LBUBal0MMOU3GxMcXw1w11tJ+ppIT1OmpNtU6v5tbH/p2NzTKgdEJ
nmU9rQQsJKmmvSHBDu/zr3CGsALwAdUC5odoeNNkPP4OAmoKfa9IsBolrRqRzUemFYWGsvGv9DlX
AqcOlPpZVgo1OxjhJC/O233gVHIrvfetZlwVcXZJy+VMaCapZTJDpg7W8DRAhY2VIs+FWTBQx+Eq
i3GJ5lLtKgvyyYvqRg5tpGsuqYSduSok3gVDZJFWMRo6fhKhnFhYPAqV25eN/gI/uVJs/M2mRymq
ETVmfmHtk7Ar3j9/A+cuq6KICw2LcTVL/PiytVn34EaRnu5jU0RcFbbOVVIwS3EszEY85JvBSnBS
Xdi+Zy+L9h6wY7p1HEnHl1XESAp1f8YWPNesF62SRyoH1Y+B5ddBuRLbvFvpYzBeuOyvLhIEC+Lg
IvjJ+JGz//i6Yi7ViSkLoOIT9tZBkRqs33vFSt8metr3sVUriZ3Crd50k5rrtpQkVer6Q1zJIM1D
/FxNdGhdCWFtJBChDdR4bOL+Zc+FEHx8/mrOBIOfxeIygubVnGZCkpaEQ2kNqErVuYzRr5pa0XSr
K6hgZFgkdvWlgHDugoRxJn4LgoNG0vHDAUdW0uRGxko0SrD2ZNHpvk7LaJe1iA9cKCTOrAA2F42J
ZQmw5E9WQDeajRly3Lu+H2svTa0/FeWcHUyMe92x6stVVAWXMoAzhwaacmR6P7vRLPjjG5yYGapJ
aTC4KQQcWOK0MbDtFtPARgBueKms4VJb+kyMhQgMeXupE5ba//iKmBCrc9tmNY2rcEjgL8RzuwnN
kXlqElmIk82SEB6MQB2y3TBXqhDbeS3Lr7+9kuBWo0bNyHnJqU+edcQ0wM/qqnKlDIDvZNSKLQQG
cSzEM271+bXOPWMEcJhHozVCineyiKyUDgDbuXLDuO7vAymdnhKxR22BYc46n8vwQufuzDqCuogV
AxpHpAGnkq+GSm8DJAgFYSpVd2jr4co5inE4oiXZxjdV6ZPhoeR3ifxyJiNY1GEg+pFII/p1cnoq
qRRrcsOoKgID44UIMbiSSV38+dM8syWRcaRdzSxBQTv0JDxHohUZVlI2bpp0BcRuddrFjRE7oZVU
v/8gmUQxNCCnWq55ckNzMbVZr3Sta+VaVdlBArIqKQLznifwAafHWMEwCLzP7+/MarFwT4QmxbwP
ibHT+4uLvshgDbqKHuWHfsJRdlaxY86mSV4N/kV82pnVgjDHIlD11/l+cj0zSRDQr7ie3rXhj1zM
QOq2oAVKUZmuq1hM7vJCvkTLPXeTzBko9JZ8gp75cRDo0ryuUZpu3WpUjdbjiI3nDU/b2ovREDy3
mQzx+PPn+jN8HtWXjB2ggUEBhrfE8PLkRqVEi9J+6ukYyClyA4OByMJqoAOexXbUS0XsVo2oPEmR
MSdbqaefuwqmql0HvUjKqVairyCUVWjyW4ZAS3qbVGyDrRU2kuQFQx1ndzObctFqUPzboMmD72Fb
ttiuocl+1fez+ZIWZpY5U6OMxooBchpcyB1/eZVsB45xQD1Avuk5Lz//x8CP+m3stKjmDsGh3MWc
U+6o1KKdluq8ibX+nUfw9PlT/fWSsOLpTSyiahBCTrVIwhkcIqqtmlvFjdnv52ZoYlvrqVdtGgX1
vBIScp1dB7TmUnr4S7hhosnAhfqVY4Tp2UkIb1DkGaYp0NwmRt7BCxZX+cjn3V/YkMvnHK+bRWmA
vgQxfJEeOAnfjQmMQK6we0FUZJjsCfFuB3PnYov6+kW/mV82BjcF7wR04EKptU6FTdDIyI0OSXQg
mrlyl6AlcVXXym0nhL5XZB2H4efv78z1lnxzMTPFVYMO7fGSkQ1c0eVoeYiiL2PCPYfadD038zAD
omcNP1hKjvrA5xc9s2iYk5FskgEAsjstJ+qqFK0pqDV3HufyJZigTpdMH5jBVugEIei/LyUK9c8v
euY1kuMwB6b9QHP+NJUrcPHtmijW3SashKc+ADS2iXMB15mgvGj4eCbYMBYj2lC9kNIxdj5+ro3c
pSLm64oLLDgt7aYN1asKN/DBJu2I70SzCoAWyIFMfV7JiEprYSzcSIVm3mPYkv2QqwztAZZpprhQ
VWbV1sWmH9dyJMvoeimBsFH7qEUnwg/HXRfDWrLlVgS1aPhtEduigOydw6uLv+lFMn39/Fn+2nlm
xCHiZEXZT5VM/+j49tRQI2PDgswtg0i8AqwvD7Y1atmC7K3j2h5Gs9M8arty32k1ypTGpNWxLYyR
0eICohjZ5vNv9Gt7aflGCxeddha16ukUXWzUsKY/WbgWSLPB46UmzSpSglnwED6UGXHMM0VJ3gBF
sDFjTz9UCh4UGQPc6Zw5FvXGqTFGr20RFHpu60hgFyxQURVXEUSAxImaOL7NKzGN7FrRp6/0uzX8
vdGGT7wCS5HHSTbQnkoTFS8KTJDbbTQPVoSovybBsYEp//75Pf+6olHOQLAcAimaKDShj1/ClFYQ
n6a8dKHf6c5UyOmmzloADvNwabb1a5iACMQAh1qI2f0vpNGqhpkR5GXhymbdfQ17VYdHpUvY4CCk
Z4tUgxd269kVxlyLImHJEFBEOb45LN9wUweM6sptPHgc7ImjpnXimUULqbLPId5UpgjGbNa8GcTG
Jp983wmNIvoLgfXfjpzdm59O7+9FOdUR6uon//zPm/Ijf2jrj4/28Fr+9+VP/+tX//P4n/zl35/s
vravR//w8jZqp7vuo57uP7Brbv/tLr/85v/pD//j4+enPE7lx7/+eC+6vF0+LYiK/I+/f7T9/q8/
Fhj4f5nXLx//98+uXzP+bB291a9p+1qf/snHa9P+6w9B+5OsjHk1Zx2KncAM2N3Dx79/BJKfUnh5
LYyXF/BwXtRt+K8/FP1PUBAUANCTKGJ/Cug3UPf//hH8JXg9hG0CHjntv+/99q+T9q8HHnwUf//7
P/Iuuy3gyDf/+oMM/HjlM+2EaSv9lG+kNoecIx8vDn8Owlgrix+SZIfbeVs+ZvfSF0Q/LKQnOEtc
3fue7LJd6MxX0qar7GI9rJONsbf204d21X9vt+Vtc50/plvhJv0ef4cJuUkf59Az3odnhEqr18YT
nXw7OZVnbWSn3AYb1bP287b/Hg62IduVE+xSt7qrdvpreKv+iDbFQbuSX63QpVMi9bb8XD+2V81O
WDWedYN6wyp3QyfdJs/yXXk1eP5dvFVWxT2AHy+9nbzqrg5RQnDNx8xDqipwrFV+U9wNT+iA8ZPm
br7CDvkKZNK2uhdulHd5h7zJali3V/o6udZW1dp3203iiTuSS0f/Ed8WO77ltbI3Nv5zdi9YtvVu
/hAKG5p52DvBptNpoNiVbqeNa+6qnc9F8e24sVbaRnwKxptqV1q3b92BdgcfG1yHt9POupmeeYRX
3MMP2ctX2KXY0U53RE/b5zeGbdjlKn3wH+VtseYLOo3zmDmGl3nllbhTrkK3d8RVeG0++rt8ReB0
VLe1s/XwkfsrJJ3CL9qm2EkrayV47aY7+HeLObOw978Zm2StPsypO96Fqd1qtr9CMKJxkBuJ0HXA
F53fDw9VagdvqQQY2hn22rZzELdejXuF7zVe0cPLHPNr+wDtUlGdQbe1L/NVtonuyj2ko8wGhrbR
XN2Jua/WTnks8RYzz1W2KdbBXt7lj8034ZqezC1XeLFWkm+LXrgVJ9vksSfraA2l8l7ZVBBqvweW
I7zAs7wZ1uaP6VC3dv9i3Qf2+KLs24f6xqSZBoCSNpa4sfiimP1txOtoJXmiW647R1p1r+Zu2rW5
41q6l+2lG+GB9dkz3cxvomxjrCS7OPD3buTIdrDS94DpxJXBG1mnbvm1sSW7uutvo8oOW1u55qFl
uaO74ybs7BqOyuPor8J8JWQrMXLKq341OB1CQW+ai/DIOnRbpn+H28yxUVC7j1ezna6MTfp91T4G
ga0/y7kbxIfB5DF9KzwmZqbnO53TeLInOL3Bt6i+ZYd5n6/amyLAKMlO+IjvMcsIQdTtaNiqdKNX
AQqNV4kzBnbdrST9S2fU7OQfgoyjkvUj9fcazT3NGbGuVQ6tffverAxnZBK6R5LdsZmbobyoPPV3
04P2RDGHFUu5iDY4Gufw5BSp07wDJrXHp9QzJWdTF948OpPsYFYlpldZ5eY9zI7WxuGx6e3B2uHY
204b8X3EzCZi7Yqev2bqN71Wu/klF+3Y2gUevSNMC3b+e/HY3aI/GOae3nMbu2qbe4nxmu6iG+2x
+hHJ+mYyHvxrg7iEhPYuv1LX7UoRP7SnypMbt7npHko3NxxJWTU3/YHmemLPB+1ZXUlO5KQu7mWo
7+JxI61yo7XJr1K1tCPVFRAOAdGjIKyZOkPLDR/0+VEtDbdfQ+vasYVt/UmUHamz++KO2tdoe5vJ
mWnY8aG4Vb+bsDm8cYULnLyrolUILSw9pK/Rg7DV11TAuS1U6/GH4CKkXHkvix+MjWB0cid4bOot
Um94+bbKK89X/IKjuay+6GiCONlHWb8IXqK6ybrE8JAEYd6oyFOaByX18rdBoMG4MSwHiTW73o+A
QL+Ozmhn3nBfOaYbSPQH94q0sWZPjGxWRMvj6+1EepkyzUmKbyRZEnO8wU39dz9KV8pKeejmTRbe
jpLd9jvstJ91fuerujfkQ/5UZdvspXuJZs0uA9vclIMjkqiuxUNt6s43Q18bkd08J+FK15+XMaz4
0gQ23pvkN62DNkuTuuiIzl86C/3cNW5DyXayXnnW0wMdcnMzPAwPxjNryslZ3dftvdg7TYmUmF3v
2rvEfTC2kuZQYuVOYa6m4XtoXgXWXSC4w0vzIt6Jmt2vYMN3wiq223UnOJsFU/gk3Jr3zea75dJf
z6ARYgJ2ENRX4yAKndN9qW66pLCRkfHxzAju85Vy0wXOqNn5N6N76jIgP5WxljGbKnrBGd9jZ1rn
hZ3ZxjZyU4du3f3gTZ7uT45xoAfCQn7kc76kTngXGppdDKuF9uQK4a72uvKADp7+ltl8rBt7PQo6
4Za4YQetk+svShTZyrrSe0+qvALnkMg2D0OmusS3rLINoCrPqW5nXxF21ltbzg7RFzH/It3U7Tcp
2FIcdMFV80NpR7sq37X6ybrRkn23y6wrVVy7ldfZbKrO7Ufnqfe84T1rPD2GBuTE9ljZ6kswf+8P
UorJXym7AYHSKw+96RDcHZY9UKMSbqkb3HWrNpbRg010O4rEW04sUv73xrRnM39G734FTvlFcMPh
kHdu8uDHjlAy4/LytQA8YNdtB7d0qjfz3rxmBB257aFKHCiX8ttiW3RId9OVf6M5mVu90RHacile
aunoXnpl4lRXE+rLrc7pon4Lt91bWdnDvntTboeNutdUe+jtUbeT2+LKrNzqy6DdShvd7Vx5xb0O
joJL07jmf4SqLW5wVsBE2F74JeGGtVpGToRg4LDRTM9I1lW5jaOdv/CLN632MshO8L3b+rWLsr8h
eHm282U3GVeFsd6Fu2WIk9j9Qc1sLba7TeS+mhtax1KBOsRq0Hd+eysWO9w3xtb9LtaOqK5/JqO/
lXA/Fhn/OU6tj1P0/1x/FEs625z+0lF2/v9GOk419b/Pxv9H+vaaR6//zMX5/b9ScVn6k0EEqS5c
F8ogwLj/zsQl60+aGej/0kRd+m8L7+bvRFyV/8SHGeQbYo78N6n8H//x70Tc+hOk2AK0hRiwyFpr
v5OIH2fhjI3I6Bkbop8KjxvxuZMsvOqqqMqR/XX8OOzvkrxNlx0eC16RIot8oSD8C0f3v/pwP6dU
OLzTGgdbxvc/rQgrLYtVhq+h09Kw/oJBSoQHZAVzO2264gDMq2tXAy6JtV1k8vAG1RfySBrI/fUU
T7qyydBhJzPqtPhm9BEB8YKwIZZbXRnfMfDVsVtFPFp0fMXK9o0Kf8bJ8hLASSfmuRNZWoKcF33C
L4kfFL6tTr422r0u15MT+LSPKQvi7FkL66y0pTqmewdI69Yasp7vUsVwsJIIKXu1TZFkFFQz+lL7
ZbAdjLQEcjubmYlGdjzMth+VpWaLjDgtp018+ZsFw7BypskInxvg+xJgi5TAO+bZaNqaBpwe3Ceu
Li69RcGA8V3210GdFi/N6Gf7Yijj+yA36ngTKxPihKkE/tluh6rzHRH9JcEWuqq67XtDDjypnaT+
IzaSimRFmttvQWFpN6EfzspqGmvti9l0AhkKrpC6baXyoGOKl1fP4iCN0UZosr635ySY7oykzTPk
gLBxcsxSqL4yX/FfImtMC5cRaGrYWi42HBziXOEPIQ7DN1WMGsmWQ8l8waN8VOwJFtNbluE6sirU
qY3srmqawGkoNvEYwmj4bhCCTNksEy8NzVupu4sHRRdskLgZjaYuMgUSB7UX18OitOXkQ23uWbWl
aJv1ZD0i+E7kLDJTm236G3lvY56ufwtH+N121srqq4CKNE2dOVYCT0+AgK3gj1e309D2b3E9dKqN
mk3b2UXUjcR7tek5hnCBfgLwVc9OMo8mIoEVysptMIBkArM/PbXlkOfcvxqXNsP5/qb3QyQSm56R
pOOHtNM1AeufXC+QDFBatf6ISrHIPVUGxpjILJkrsw4Ha5Ej0r8HsRBL9oQe5WNOQzFyxbCuZ28q
+0bcSGLdeKGU9t0XFZwZIiUTKH5boVdB4ZkYA25zeDfbPmqGCKMWNQdIUBnLxKODn2/76mCROU0N
EjG6mk4hib0svJmxboSuLAjgjVh1PplzG4W82dCPW7RWGXKQNKRlYXehUD0otUZwUOqRakNSILx4
cqLKaESCwbiVlUYGozzg0bHIT+DnWoKWSrweSEFhV0KELrRIEpnYnZQ0VDiWPvxgYoQ+02Cm7Ga+
xqOmjEO10aOwMTxUcVQ0geHshs4gTpbgGFnaSivZGrrHpq0VyyZ0UQbAo0wOBuoqkKCE0bzOxlwI
vXDWqu+4SnWzI/kSVbJZWcXk1UbUvpZMXSI+NEDOOTSH9NswtYvaaFdyoPpRZOAMOQfKx6BoWXuI
y8lo0O1GanA9h1Kk7eA1B49hOpS0KMe8zvHIrtr3NJx1Up8+EylwpiaBGjv2JjC8OsSjRmnmubZV
PdW/zboAUhG5EPmm1Y3p2Yga8bFM+/w+QGMCb9o67W81K9Ukb65MuXK1hF7rXxPY3zqgD9F7XTTF
j/b0+D3qjf3/1jdjLvjZUf3wUb8dn9Q//+Dvs1r5EzLfgr1jhIPGwmIs+1fXTDL/XGQ5OHX5GWA5
zsl/H9X0zBYuKeyaBV3yz6OaUxyKD4c1piEANLG4+J2jGo3N43EZxydSEKxnABeLjzC5xHHPDOpb
ZBkB8UWv436HvIvg9Wmh7QQjKF6VQupe5HpI7QkaAcXv+E2xCsFBd5Q+ReP7V9EQqW8+asGOBVZ0
m4ZT+ELzdV5p3axetXGMXnIIC+ALnl/NGrWgPNxrhpXfWnKbXg1FE/0YAlW8E9JI2xIxhWvNT+p7
oRmqaymOBxt/nu6WAWN7IFKXz80sBITrMPYGrdNceSRVTdqo8WpLFp4gWaOa2IrBtpUmztsBEJo9
i2N1Z2qT+qDW5bxWhCR+KwxEG5AlH9DRn/PNWGbtHVJrM/xYXUMHPpSv2JhY/jVzttJo0l8VzXBA
r+E2kBnrjsZ9KvnMB2Tpwafz6QCm4lhqx47HoPivkLEiWywkb/Q7UoKI8DiX8nd/yPjuQYSiTeeU
SGLWmVGttaRdxdKc2ooe7mQlvdGDp2Eq7gUtrTch5N3bbvKzVWYNIPjFYBhe8rqfrvLcDPj2Xfth
DiW0/TTNNtIsK3aalQRGpthvUhyKD2qXVVthUh+LOR++Jj7cpixQhfUgBe4QKtcxPJL1DHLqzs8K
+TAXZvk0oFXqGXpHKV4I/WMQEV5r9EM7Gy2mYRdWHO9t0tB1RAuIuBcCQA/UyrqxuvC9qzJPwg7c
ztD4hvOdIe5vKsB1jNZ/R6s0XIPYa+8UpQS3mQZYbPmQUctSvdEEH33Nor0FrvpFwIvUDiucXTlv
HHFUt1iruaNaQUcMu2tgn89BqcNpGEUnSLo3Q4nuCWuRNybJgalluTMndG7abA5XihpjhabN+7Yf
95WA/jHNgrSs30K5zu2gCxLqnf6pl4HK2k3QhVdC1VDZtVXJl2BgTYnFqesaibk1K6N77ow42UtE
+r1v8nTsgPys0TNYo0zmkOgoM1pgtRtHuTdU3+XKzJZ8YLAVGaSeQU9VVfnWDTr81VgI61of0Bia
ebyh7++wz/BGTAMOoLD/J3XntRw5kqXpFxq0QTnELUQggkGtkuQNjEkmoTUcwp9+v+idta3uGeu2
uZy7sqzKigjAxTn/+YWkwvRKyLRe4pWkiveZ5n0Zq2YfusHGBX7KXS9aDENSemC84mSJ47V+uLt7
Uui7Foi9JkNTWJSeWqzby4E7hVse+/iW4aEcuu04mMVwZS7+n3E0Tlx3MnTL+WwI3Nc3azdo4d3t
JidmLh5FdlhMJ4uXtTwvpqwiJQUbzsqXeLWrs4VryNVSD2Bqmn4Qo0F8t9VapwLB6u3U9bfT4tkP
l9BkxMXD16SNL+6ydnfMgh8g7oFpzX1F991QNhgEbrqu9sktWV1PTlE+jtjf4kBl4cJod6Fpb0W4
1dx+gevsHv0mDEM2wvipZts5j7lnJxVOJsEitLCiHbkjtZYhQJm/m4SBJGhS1ldJgNBBdoN8kqa4
mWElhWWuRVR8V+60hnVr/ZRNcRpx7Lxxss1+rVplRn19N0/+EHnwxAPYwHlkrSSb4JYcZINuvSIa
h6Y7esUZj/mDVey4bNvamz8UOlUiNFF9zJ9TBdVtLrqk3UFsDXZT5HWFe10URf9qQ8ALoS9QAZQP
ohXyvpjsgNirG80yTsU+v+KG0gRFVrIm5/4pzYvvdnc/XTnciqXub90CCM6pwTaaLj3mmIRdiX4m
lF4640mrq+V10JrmBuIf1ktYfwSmGqAtbXX1ZS3+eF1k8H3WrVY/4OxV1Fr1SvvmZGd6lSmRFdOg
YNLBt8u2TMPesLWrucfHfCo3JMJ5zX4aQNJss1XJuF8GcmspDltOZDDlfh7tTu4mUJdWKuHMifXG
+q1Wm5HDmjJWsdstyeDinndrVDg4aPnjDrn+o+hsUUVuPhu3i9OMd1NaXNlZ9YCBYd/GNazPQ2ar
m7raw5TkbStoDSf/drTKYfTil2+ZIFPLxR7hD6xh8WfjtV1Vyn8wltIOPW/dfotS8z73vsL3S6Rn
fohyI3rFCOuWE6Y7a7wMwjiNXlY/NW7xjW2li+MEJoPabLSvHRZ/j73Z1K/T3qgAA+ZTPupVkGVm
+6B1i1GEe+kz2y+V86ZtYglav4nnfvvAbe0lbRhTr6XSrJBj4JbIwa811xEyFHMTDpoLzpjXGQG/
7mB+9nkx9aHUzOkVfr+T8VPTHIqWlVkknddgliY2RY+tchxUOWutecm0a/bJ0zbt3Vr69pryo/Ii
fNrdZ1vXPBEUtH/vLiH3gKuivZ81uZx8v+quza7TInpQjSSdoqEmx5puvLbKKVuphEfzpW+5pJbC
5BgoGrn8llBwvCBtl/RoVEP/epnQP9vwuvoQybwiTaFuHUx/u1T7HGQhHxfTHJ80y2sfzT6fnihF
vMBcWyesHTkFU5OlSBEteKg6hxaN53bnCFfdLMMkr/Kq7hORquqls43XbgA45srrzn6/WVeFGrdP
ngfW5coZOth5tB7DnssfojqaPaqLyXpx9y1bgjIzOSEXsjo5K637qk066E3hNrXLowlrYfAEWbK+
XkRZ6j+V5YLCRL8dxvRRq1xuYhz45LyWB+nXL9gEpj/FuDqH3dKOE8Gttfj2vDbSdDeZ6fOrQv3W
zcOSulWU51A7Akjt+11RdylAoJxD8idOtrF8eosGCN5wUIRmofW/L+Xi2eqkf99k0zwEm0ontNeu
DFLZfQ5LCiSfYZ7O8r0Rg0x8lz26Ftxf/rwkdBnixTbQ+1FGWDd6zXGsV1vG/IApjWmpGKrT9LCU
hvMysp0aDv9teCrhXMYo6/z7PGunz2KUAiiRayaFARVLRfvYYBR7ImiKFEmL6i+b+/Ew+6vzx3Gn
3zvUiZd6kEDGuNYmvS7tb7GLPKb2mrhBxyaUI0XaNBhn0an6SRCfdCjSYYzGzUnWTsnEzY3fbqm/
+tYsMesT7W3nj/YxKwdO9S7d3uu0OOr7kMC2+IYvdZ15XWKmJLIXfrsFyrT114J3PAZgD9mZS6j9
s5Q7VYpaR/51nyV6WqwWXOcy+x6m6tPVvPHObIy47DdxbVlV+yh6JJuwmPN7eEzm+zAuy7nVlu6F
8BXrbpXzdEQKgnersxlhv+KmNNRz+bW0fhovkzkDgVjWC97rHaVAO3g/VlNbbFUxOInZU852XRYJ
uwnpzIMKAGDPrnT4rCQpJGJ1ybWynWOTOkVcanl9j4FGfqWgYR63afYwzi6zO91bJKNi1fSxa0ot
MrJUxmhUxak1iwepdveXINDzFg61CgbR7QjaYDm+IM+a4M02k9QDke9+zzFeWFpsg2CVOtqa3EQO
Rl9bHS1tjl0jffLr68JTqC+yzWFXzGpIZOktZYBVaXoq68X4qWz0gX2Tn93CwuguK6xz3eM5O4zF
fqzyvTmNI2HDSiIbHDyjCbHCZzigmTiUhAjAsclqBuB3TxVFzACQuR290RQstUivMzlVzI/0MvNj
s0iNq9He5olG20Zz4i5uxS61NYozEyvd4O/rvOj2/mPcCi3uBRTOou3eELrhNK4AkxqkHRTFug6i
RBVl5CFP2YjgLqfnho3WBrIabZ3OI7cIGWonmnWsFppgcH3t2R+1XZ00181qqu/WYxoorGOPTTUN
+7T1gd0r+WsdYeoOnlUQxOGMuwjcQl7wmco0+SCCSANV1pYR1aue8uB079WYpyrO826I095yn3cn
07dwxor1cSutJtG81D1krQJj2W3YyLujWbz5xgyX3rPCfi8GeGZwvZ7rFYtfxyqbO85//JAyCjlQ
Dz1WdVPcpRpzPisT46dZbmxoray6H1Ob1GfViSyYMwe9cDc8Lyg5Moah5ESrlkID3JKBTWlAWEgH
61bLj0LtznUjuJOsamxu7VGOV2Xb188mbQAHE00dF4gdNhZfYCUX/IOnI09DXjkQEGoHJxZtPfS9
K67TSb73li6i2pu1KvRlIY6wptRJNilHXqs77d0uC/O45ZJJds9ofR7hBRHcu1wZXM5Xw+yopNYY
kHljp51XzctCbcVnU2LnfU65+eImHa1TW+bDsRS2Fufl0Gph78rmbdp7cSp7jxkJIdzcIMYe9W6z
H/kjLlR9pGlJppXho7MuqopoWB/1wf/dsH4B1FomQzBDUTVksTYPdeiY9MnYwNEW5ZvO0TPb+13u
ZVaID4EWIGrSzosT9dOTyq3HdbSvsDwU8ewY9zQMH9L/trbsZJZTssjVPxVNQY1LPkahr48dHR/6
HKbUfg6rYUvt4sT6qMJ5Xuc3vug7gjlB4mz3S1sLP6iGcv50KvvPWubnhXiYUNUr2gN1gNN7sw2I
A8oUKG1y8x9LsCM0HTaZLU0aBnyCYrdsfm2Yvl9vtnz1AUPjSjJA9Zv0RuXVwgRWNrejZbecQLV3
VPvmpRF9sbhxZ84qUPKodDX9pTdB5ieaChBPiAP65qZUh6CEbcvsiqp3AmO9tmWbFK3RngezDq2x
OmyqFU+jarSDlnYqGQzxDljqvXEQVse1qD4Id0Q26osyt8OyMLRXvd1VTJKJSHj1XZSakzjOeBeu
Cx3iRelKeeHP9Ao09AFWbe1jl6L0JYsZL7EA/nCdZL5elvGgE58ItzGNjNQpE/4iHvv+9lSU6mv3
sjlClgjPuS1lVC59ej+4gn5ncF+tovU7ErtSxnt+KX+XiwEZwZhFHbB1YqvfDpkP9LvAHbx13cV/
NH1I5uGYejcDjZEn55uiauo7fCFR0Q+Fcxh26Rwcsr+FGD2460MPtZvuyJr2mxR388AXFJjDfOsP
/lcpoZYMO2g2HN5408yzVQzM+JzBj3ZveJFCexq1bgzNAWpmbkzv8+wweXQy1qvgdcBshxi0OMtx
sDOPX8iFtGa3Ke4OV4vY1Z2x1R/KZsCNJ6J7nFEpQJ7AsUUyj12G4tbUxuy00S8jZKbv9IoEfUwe
GPvYh4ArZlxmTVIwcunFTsEDSZgChE9fJuOzmEfJwWp+lAKxd7sWYamsMeoXxhU+uFLM27OoiGsb
EUszx57HzLqr1YMh26fBGE5DzyLTBAZeVik4hG2jPxiZfc19G6Ra+lRhi2GuSwJCvx+mbSx+bxko
ETDXVb24H+60nGfK9QFvqmQduYy7ynjiroCnUcv+qnE7YIoWwo1c7XNKtPfJTduj6TAJE3Z6WMb5
nkSN+OKu0ZDKfJTVogcpZKPRMDhwsrY95eB94TCLJTH0WjyMjg1jJ033A+I2LDDL6dfqC3k3EV0a
oOt9821OlbYrkyoFlS4rciepx499Wo/hrjIzsJrpZW3KgzWW1xjafPco2mK9E3Sq/K5k3wp11U7D
m2W040Mzuc9zCqtG1B117OrPSWt7y20NXhAqoR2lPUwnWnQmy263R6k9ZmFtZ86hK5na6+W8x7Ix
H/yxcDlLNQPjPfXbcZlsmyvWhn3NKMHE8rca0hTajwhtyui4QWgWZhn2QdZCCEgxCBHmmz+EGtdz
sGT6yXD4hy7XsYpssruqNwKL6DZ4QQ3gX1FkUcnE86avmzQSVvmypdatPmX6EVKqzc4D4vGXkZbe
waVWLU3+VehVC9WpnMVnZhV+WOXtU29un7PlDEHT+GgV24ZnlCmE/T1jEKMExRjn8TQ42xj0beqD
UGiPpjNcZYNPu+kwpOis7JjVIHo4WMGC6Kle943hQwfjIRP6u8HFc2c33o1OYY0vYVTOxkBaa3Vm
7PNLjkaJgYNeHBwxFteG17BsZLxyotyaKQTcyzppj9bGKs+b1E/22Xug8NBjR/pM3iyoFIa7Rez0
q223OEY6GkzJBg0oAX9yirI/3p5/oU5wYBLtTEky7yI+7wnh0r39bhggqHlsTuopKFrYLWBdMj+K
ZQwdRSQcR/b82EDB8Iv6zTLL4aRMdCtN7uV8tWtd6x+c1klwtHR+vJQ6uUiTqlfv43phU8AH9lSD
ZZQCsAjoecZEc+y3WZjZh++jVHZVGlpmfd0v+ZfLpRhIi+fG4Nh4Mxoe/MKEz6kFWbrL8tBt5dmc
p4Pd12MwVoLkhs0CM4Culm91lLlt+2xXTZ5s9naessnj4tjXg9qtz6Fyrpp0vjbgDi6sK2sr/tRN
V4TaZQUyB8VtoY8NvFpgaIh2PgvpuNHoWRW2eM7DtvC6/HWM0ymndGqaJJ1J5sjdnqu2KjNazjY2
ISE6zXPh+Cejqk2OIfq+ui77Hj7ZTk9v+rv14uTWzyXw+TrfDTsYcmEdtNwZr6XstGtv+tCH5U2z
kZllRAuIcfh2h3Y59BP2LZJeMDZV2UBF6RFH2mv7m3u2pKKvQvKjxmPVbu+bcnum11sbjcMfUi9i
w9luAaEDt6q/5LS9maVwgtnxuXyb3DqWI7y9Ys2hxw6meFakRN1qts1qsX9psvzszMU6+suNbJTE
KSr7qi7Osvugb9frPm14DW31AfybsmUiRny5Ngr9vEouk23aw70ah0D1zm3TODe53GNGU4qnxzQO
Oak6mMLR3wtmDd5mCihF6XS0doLCtT9TF0+s/2G7xykvXo0xMaufXb1K/X3pzKjgblRV3UaNVf3Z
RXvw+poCcm7Le0dBz5KVPkErahYgrPzXVNbaKSPJkfV47XKaP+NvoYLW0urvXJoOOQYWZFlzVA/A
mfgjXWIDcyZoQPhae0U5ml6v7KxCa59wSLydNWfFCGQobmo368N+2l6wcghnkZ/zLOPsl5oWeRtm
T4wM3ky7OZJBMsWd0vKzjW/pDY9/O2hSHFNp80W7vH0e/Y2Tqnfkm9TehL8czB3Zd+06gW41S+g0
6L/J/hqf7AYwbfVMHBPVqWInJpQkX45WxGmVnfXRDKVcvltc3nF2SQ+0R98+cxizGy58P/2sdVlS
+xlPTJVxY/YAHE6s1egiSqOLbB0dt6OIcIVJZx2UqydyS41zvgkZd0Zv/9oplILBg5eELncNMR6G
ZqF0dZOlnXfc0gmFuj7XFNr99GBCAjkVTAwYhdct6K0zc3V79p9J1CFCkNDYti8EpNnB7e3tvWKz
04CUoVqf0HMxxGURdsFcJ7JAiVcW8cyNKxDMFO57X80B19HBlY4kcyzfbxSTokO/GPHSVMFcuKG+
g6gAi5vUv6x3eS9duAt++TSiMozGNms+GFafy1QD+1of5SwwdE5XbuURozSqpmKnbh7HYQkb1IRX
28LYovVG4P7C/dpqxA8OpcSuT1pSuoM4jw43FSDYeLb3Fi2g3JGPACAMLhvBH+zzADBrcesRhhPo
rnJ0bkaE1+Eo2lUQDWPuMpCL2xkX+K+/2dQ4npEIK3CTlUNlAZ0L0my6ASD9Iel+DNFqc/AaVH6x
mozpbl50qGW5pgW7zTVJzFB23L15jCjWnl2pWcdZa4ajphkM9nuDusc2SOXc8nUOYKn4NziISVxs
S599jZ8tJ2t5MYsm6enF3binV+n7+DXj17+4pdOEakC+HTWubG/gvnAwcQdlsT7MXkLEuw79r9rx
eTT8+xLs/bemDx3VnTdpod41/cEdVjB+1emfdievtcaJMKEsTv5k5b9MMZsRHtdWsmyDPCz2UJ7M
DU5puvERsFOeZu7lP7zcIV5aD2ap6y3YxFal/kurJ/07p7a5CKPq/E835AXdJIiYJ2UfKh7kl5hs
/TqvXf1zLJSTOHjYv3Xutr1ikeeGdWd1h7nq66vcAdwfilAAhxYW9BXbuAESEkk5UmhKDsK71C9e
GgxCrrfKbx9yupvfiz4N0JfpEyLha320Syt/ncsOLnJVLuq2HZrqpp4hmBobFtgl3u83+yp7WM/K
v1q1Jj2ATk1UtdjyWFMKdXXDeKNR7Wc2jPd2wfwg18GSJjFopxwfplsWBLxpn3kCL0zvSOMTyK6K
Rryb3d4slPTZ+rr5cJVlYxvgTKl9t/cSRnblr/qV3yk4h5WhnraSesSpjY26o513rlozu3Nr6uG6
y5xkrj0v0NzR+7WSbP29iElGDSEahy519ngddXVYVGkHhkV6YUH6QpM1xqNded3JNPvprTXFfo3Y
ujt3hUq/kfiAwRVBmxkOOOJos6qb9nt1AbLtwrWiXk0vM4FcHDcavE5ZkNGkFUaaAJVa5257LadK
+3S3OaUzcuajidXzw5TZWeSpjZlcW9TJVpVl6Ez+eMYWeeMKo7iopvWyeQY0XXWzhdNCXUSNN5jp
fZEu61HHB+WM6y85M5toqRDc+qvnAVypltErEMO8he6CeBk+TfU40uHH/2GzkcfGA71VJcz3ZvHb
c6ogJY2bIu48Q3NRa1nOEWOP9/9zvuT/NqIFitp/RbS4uciT/sqI/Pt//395Fob9N5yVPOsicb68
iQvR4T95FvbfsPe3CTz2Lh7D1kX//P/FSXCuEGK6JoJM3OBhP/w/TqT4G+J3EgcMQW9vXVJk/wfi
JD4KHsVfaYom1EvOVxtrSxJIkCL+I89CX7NGyyptDgSbtKALQ2gaSZFCj5YPbY94Y6f9sO6N+lPl
9558kV0yw8hy9vxBl2VilX24ldfNXMXT9HRZqd10HPVXyzaPFjBpAVCdDV04lriwqKNnPChzRjzy
pvobpqfh5aPX/tkkawbN3HLW+q8uj3wtNvZj9uJsD3qduCPs26gB3si39jSD09JGdCazBcCOrjvi
xpk4fXLpaAnQvur4I8z0I6c4IWCPRgKC9AHW80g9XUYjR5s+3fcZt6/9x+7uKTFp7sanpcW8pv9R
XHGp/7aDMRnN8JtL6478zpNm1YFdWTQnx1FYN5XeHDBiDrbmzat+I+EPCYEK3QKAUqJRQOJjpJDn
/HjcrVCvvsy+v+7EE/P/JF8+N6t7FV4GDWM9cOVNgbV24Oev/gLfDAy06fJzNqDvwh/e2Jh+dwsP
Eb6osRy6zIpnrYgqtz+udLvG9rOtTUIf07sPe/FhD6cFArTdvcvsnJNbKVwNkJnGe7xtcBWjRY3T
dMbX66uBNMgQWJjHWv9jqC9PPWv+p+HQtYxWbDQyzPffQpmgrMU949FnchuQihzJbY3Hqkp0qufN
fdMLddq1IZSwxDRbC6SYb8iDh7iZYF4KcBlOEPL9tg7pW5Mlk3dbyyO3h9CctkNlGaHMLVKxhpDK
Mh77JXa3/tbCCHTCkgNvB7gdIM1TsEJtNLwhzodPCBqERbN0Cjukll8IIcmnpFRTOMkyWvbi3KMj
Ud0T07mt/AYvCIcShg4h7vZ82jybgulD3/CYRW/TCqj/JWUKfkFrZiUbpgCOQPfh0tpZQGb8r6xs
OjlTonVkFvhtglHztdMsZzdjmpvaYd8WifLuevSslhtnOJe2Zn2VOa/L8t6rHmTrhvhpfijfgZ1w
+cRMfBhwPLu2hLj7Xu0Gj4mVakF//3K3Ne5H4rwslE3sNq+3oDmqaEEDAowJTGnShSPWG6yDXahj
m6NK81e+fUYjirHATMq19dVUxbElLQnUkplim4Vzvh8GBCfOJRrahSjq3jsjP1y/XoynvtrugCr+
chL+N/JH90Kr/i8HDBiZiYcO6mP3Qsv+i8sDbu+mn88w/M36p1gjd2peqpV3CXUIdoky7zNcw33N
iNToXV+Kp92Fp7OghFC0H+madDUNgtMfcBk7LJkTZPY93cUB4SZ/jUQY43e7PUJTIhh+/nOxfC74
OwAYht/CemY63R3WsqYb94FPz13+iHl352phYzKz9gw6BGAj62Nn3mVteM++IhSPTXazQyD5AhQB
zkJL5tjfOTNYNPhnZzoPqK3r6VTmn7AzJ4ZVS4XU4rnmS7Qek0/6V8e5m3KAiT0U/85i07jo8f/V
Q70IoP/yUKWLEXln81BV/aLP1T3TMBKIaDc3bNfbj703UPW8OS4PJQHFpJD4T1YlfMj/Xtb691yQ
f/4K8F2xinYh1HNL/eNXaBdN83Cll0FFIo/llAFkMlK5s+m+zqPS+a2soJlClbuxGGPdC4X5SMJr
q70N7mlL46q746jQzVedGk7G2n7axDnz6PoAfiGpOUfGsRym/ybL7R+V4VynUBd1U2ctXr6598+2
jgYrpjBIGQhG/ze2jZHUGTC41xeTtH+97i+WAv/0ePggZAsw/00bCfI/Ph6ZAb7qawObjwkUykwY
Lxlq36Twjtnw7z7L/S8/i1wkTAepI7A5EPCF//HTVk8HNk+RSQ4gNK3z6KbQcab1iCnAEVycmCYV
Eet2wQvf1p6Jj7ASQ5wqZJAQaqoVjMAN5hYjgWovX7wJ2U5VH7Kyhafd/NIRfWXc87mGQk1vjnXb
PYGIR6v1mrN512L+1sYWaATPuXo4FYse6pfTnHl/n92u05cBXjyL/V4Z0eStMCYvWj/YlYMnY4vR
N/z7MTcC1xAoR392YWEZgfU4G1OjL/VQEC6X0B3syP20/1ga69SB7WxM+GyDo2TdYkawRzN7rR2P
M3Y49WOGAkwD9oxL9dNo91k1XY154uEXxqpghLRF83J7ET53DGIbwBrE2ZBIIE+P4Zw+6/Wp8PpA
zEe3fegsGP9uf1gBIQ0X2jmPwX1fsOFY+1+aeL1cw+5YJWL/lUMWshAIpI06+vkYLvZT7+6ENmw0
4DfrhjZt/zYIhkIo5UC8y7XnHUOHof7eveZKb5CHiatdohz0fzzj2+URWHrMDDRc209ZFVgG3LnG
I8PSBf2wfqrmx4Wbw6EpGLRfGXbe+vD3G6Dpfs3IRWCHIL8oIqn14WRerwZDhirUdpzcOy2omSOA
SSSKoEEnR+/FbrUp2mbvqsq2aCK1SQfsBEkK7el6sMF6YTbOCrmbsk6zap5p+5I88y7SORxnFuSN
rn3c7CKaEOOWHUpSHl2FFo2rTUnJkvoyB/Y9kmdlgNVYoV8c8zHJajMsUyNx9y8mnhGuUnQhQ9Sh
2si4++QIoHJdZ36EVU9sU5vxcW3uxHAtTuWSBv74SiLXFYIvnJhaK5lyFIUdMITzild4vMjh6Dr3
M7i7p1xGPEgK6MSbrbz4CCZaOx51QpZqpry+cyuKb/ixD1sVp7Vgz8wJS++gV4fGfPMMCFSCvyYz
MG87yUChFnEm3yBCbnElSv8kGhemP3o4FGm5wn6DCX07PSqTUFDrZRHLjWXLAEekK6NP0uzFy1uw
KohrDFynPC49rOXMImjSx4pf4mn3eWogiX0g42NFVSwYcS9gtbZ+teyUBND7Vhcp0XRFUgg1TBmZ
zY9cMan3HPwnzMfWHuMaZZDRpKHZ/3T60Zkf+xFqEWnj7K3UMoLVJi21gquRvV2G/WDBUe1rQdeZ
p9y/p/xbvT8KIMXLqet8QHGuSON18O4kWclCgYgW5wZ+gGp8Lmr0DcUvuT3rln6CCBD4a/50wZsV
eLrRziF6gJQJt9uPRzl9aR3vy35DnIIrGhw82G95mj1dSsoVRFL6bdwgdLbz5ZD3X+30q6/6o0mt
uVd3DFgOs3zXi/zF3uB9TnroDFlMfWdNRy29mfw4814XhvIKH/Ei+zF7Sk2BPBjkTTNg1zHKaQ87
BelO6G8HBmg1TojpL0v1via4ydpYK/ujuvjSy19oczOO2Wn5lRoOowTWpWGHM6RQrDnD1tui3Xzr
9KvpwuRgzy8ojbvTBaVLNUTUJsJIPEAj2yadAq5jfoXzFvbn1au/wlUFw/IKEV9aCWnUd3A2YmfY
DxZsxaFh/tXOMQ4qwSLtqAH0gpwebFi86ul0NxhemDnbsYT3UTsn3E9RfyFEd9jG40c2MquDb83b
Cjb4peWL0f601EpaCYXGqSNft0/pTu1Uvk4u8wPS4cunevsmFzoYOnnc4O3wFDQNXGVXV3mDF0Ha
h0h3HrTpcajUKcVT50LXckBGnOKImQxKm8vUERpGuwfK2mKvfeJqmIycsIb6WV/P+cgqxX2dMYj2
aaxojPgqM1CFod1XOCy69CtZhtp35JsyAPbEFNjia11F6BlsW32MLFYr2vkdGjCiP+YM2oGFdEBS
FGYIriX3EORr5FMI6IQITGhG+1PD+N+bQM6r7qr0vo1ZXY48CYRMBQH9Bl9Fxo3YAP321NXiH0n1
DStxgyvVOZ1xQzxKxgHLmFTLcdHfV8m1OV8PEAZ6tz0J+04TyWZCNXgYtahYjpkOl/zKnq+t7Qlx
+ZAea6oCz7h2cVIyYVFiF3acBj2amClsbym9F7WPL+poQv1bkWZciaCEcDZ8qPa1v3xOU99izPRx
McFcxPBBTE+YSri5r0MHYRffAqp7hsXPo5tdF0TXLixanymmXpogWEy+t7tK7NEKkdvtMxKK3VuN
/huV3UHBxB6X7sMrjtUCuWobzvAH41ox1bruqhiez7PRnTrndqneGUAbZv1ijHAwjJ8GOv2uDj30
3z2H8b+xTtUhJ2JN6TQmULXUx8bcrlKHtA1TGqK8OFlSBVoKgjgFElGS3UQ72vLd5QCvOIlQG/oP
ihdWqiLExxqqPbc2SxXLSPhxx7p3GBZGm8Elc9FljfNhSDsQryzKoV5xmIo+aWbruBgvyrcfYFrE
m5ezWaqkGpfD5vlB72vE14tg7ZbDTnuV90/bxLwLgajPQCLtr436aeJWnqHde2se++4bzf0tfLKw
HV7S7Y+m7bdIOE+aDffAtANUUT96QWwVQ0WVkxobg0rwYt41Cy2j78ctyLaomcfo7Q3kFARtHMSV
JAGddv55teawgW6+NTJGjXnoWNY9fgIjor3L72dgGv8f9s6suXEji9J/paOfZh7owEYSjJieiEls
3CVqV70gtGIjNgIEAf76+ZLVM5bharHdbbft6LJcqpK4JZCZ996899xzijAQyOiJES1weRl4+yy+
iXKQVrl0csn8uGNbA/JK4WaP24EzUsQg02yIAq0Wfkbuj3L0nR2LHSw5gM2IBsSGXd3g3LMVKVCH
nLmzxcVsG7g+Gvx5sQXlSpekMg3TeF4rVLGp/ydh5HRbIrkcwA7ON5ekUgQnB6uL6DFU2vWAvRyS
V6n997JN7QrqpzCjKD6+bCfzYoTeCE3cUcK10ARiHCmYDuwxKZ+E9HW6U4WZD8UxPYLtrVkq8Vuj
DK2mMQVaA9R1i6lRbV0waetQRil6dRFH7a1eKHZkTOm3cTu0y4otq0cpVkaQ27kPs5af28n+jo5T
a1/F8AmwUmPRDKBAi9v1lu49M0lXRX2RJoQf6Y72DU6tbfZEgXkNc++Mlj9foLllJyAL0/1rhcls
Rtv5vlFnQNhc0zhwXN1ZbXkJiM+pQDvEAK8nBKLhhAN9QCNL+qqPQ9C2lC4ylaQLiLPW1dpKJMxj
vh3a/hjvkKpWohF9StqGIVDEgYsxrpWFrhztFiRQMIhcY/SYmtf72rCaAPeXPbCaDd9SO8Uz4FqL
69BOBvDOBCEEFF8qlchkkE6NjqNyDj90frej0pnpzHd+e8xuORSQAneV49A10NqOGndXPIEh8LIG
Cb/BQ4B66N5QFyXgdfMhTQgpQagcupXeot44qbYXg8NufdArqPJLSlsHjyTc0NgCx4kpZEZXp8PW
L2rx+yd68P+5LsA/Uae+wanzH7fqW/lLXv3lfyze3rZRFvzPv8yq7VP2Wn1MVMs3+Jqnnox+oDVf
p+VviFglfawkir/mqXkEnQkkS9CcgE5Scgf+PU09UNUfUMDiNaZqGhrSLv8/TT1QaQhUaN9TyC8P
UT4Zj39Jnvqk6fbjcdocjSB0o2I1HBn00ytkq396wD2CyNm2ECR7I5iIh80iDqbRbmFqF2k6o244
Ij2cXW+BHxUGrcAKrXLTkb4YHRvR0W9RhvPsaINJAoR/CG0YJ5rjFPukj3AQLmiWkUHICP2JXVbX
DUntgTfwIaogA2gNy2XKcUGFhWrkjuP5Lpvph6U/muEG/L2Fkx7VXtqitzyLctdvplF3kwIJq1ag
i++qm/S1fRq+t09QcRjrLt1E8WNnzFL/jPKm8dMUwM/vUI9eTzPzYOeHhsaBwam+dG/j+/xL+UUb
WcN75Y3s8PhZLezxc/4l/7J/I9zFwh2f21qE1ymEAO6+e+sizluYYsnrNYRJJl7sqdmT8wZAHR9X
FSoCsdvlszrx1GA63D9uB+8dLAMpnDNtfHnozqQ19J+mDn92SWYvxQTTQKX7AZN+GD8Uu425nSrm
YjgAm3nJMXt9fB9szIf9Mr053iWPOvgAkTzWHKYbKztSyLYUIqutKK4Qd+3Qd91ZdF3qvPDDpvpG
hvPsMGWJ5UMy7nca5rkFIvt6Pw7zT7BAzlkFU6ZJP9z5/z6r8A2jACmvSWUPpQZYSHrVvVTdluko
HemAlEuT7gR1a8U6ZxmfUACcnvP5Tjj3aT0j/W9+2knZoucTIFhBww52R30EtcxPZ39nHPMAVlnD
g4zO66yDA6LaJrywSBM6mHjryBcdQXbgBjb9K2fME4z4fMAnAxj37FO6TY6Fn4aGZ3gHSNfg8jvu
LQPY+Fbst2L4ACRhqUD+R1B2Yz61rxzWtFutFPtW8J3C54Dc67y4noAhCyiOeTvkfp6hL2wtHRQ3
v71N34JNrVqkJILcSm4HazD09SK6VWhWGAu+J28N1bu//2CA4xuTwJD8ZSTc9mBNSLSTgHKSyiF2
Btc0ugmW9XuY2oPbwSq+AnJUgTWcB5fB4/GpACtnWNn6YDdXgUEblbX0xX65uxtt6QsXnFfF6EG9
q14bL7no7g+LwE6v4GzbiugKFggDGpihuKHTD9ZG0pBbi7i9jOnDdo+P8UwFzk7d7z3k0XcSOS/F
yy6mZCX/p6A7Wr8qax2324CaYcCWXtySj6Nqt008mvshYG5pDQbf/UVbkGAEV05wDArouvb8wo5g
AFsopBaszxf1+Wnu2ffv0/xnnOZz1uRUx/zgS35tayIt8c9syZCGU6hsJUWWtK0fPr5sWtUMu63h
FVrwdtCMSyDaEWRAFXWEna5ZAx3yxM9X9rmP7DmHX+MjezzJp5BOUj5JGRM01ajA/fQyk6GGDoGe
0Z7kgB2woVu9B6S8hmfw82s7+0E95/Avf5D2Lac3mshDicHphKPJT68o0vJQM6vS8BofRmfdBJ6N
zJskAoinWsR5viraAOrIamTpmY/CwDGiDXZERm9HBzotkIMSEgc6Djs9LObhAAIGI9r6wCzD0h11
WN7duiwaijMmJjn2k8ymO6jVjC0VifqcKIr2rUXx8XJ6E5RVVF93UWx4ko8DlV1BV9+RUxP1JfD2
pgVtQ5DRn4w2umjgbRfKgyQ8KC9xHKSOyEfBypA9wew6tvPEOud0v7lNP46vN69BulUmMdRqXkdk
PxtEfPO3CABa4GUvzIfR1JxqDwVnA/Pi8NysWm+3is7UkM9N+bDn9//kUz7s+bf/9JTLFde3jB9m
fNg7t+SAOxVtQJhXPsG9G0C39VTtRbg6J+t9bmn1RRB+i6V17lp7dfx/+VpPQif9mwpRE3gIXZH/
9axW1YQIWR0Sw3t4UKyLCxppxePj7fX1mazEaXI++5yeOQkAIzQT+TndPLiqZ6FVCmXue8G0nj0X
s90MVmuH0oHVzEiuCm/goXAuCkFstyzWmXh6mtvOwHPmI34JpmVdiHuoWEUm1iDYBNS2Z4L6Ewvk
ZwPu25dda0Zljn3JjyK5wv4BKtxvJi6t9WDfLJCMygyiPNoEsk0xLy92YB0Mawwj3e149rkPOzcW
tWdngt9wLOcWTJ+P619dMN/02x8Wptrb7UNUVekNZcE0Lsz2o3n1ZYaTgZydKs3WaQ9novuz97iX
QjjEqCgpO+a7ttuXlDa1i+2NRNFrto7EK5TDjVXoxGEinupg8/UbeoibowXNrU99y6b/7PNJP7dj
ThPxIRD83XfM2RnrAfz+3Rk7rYBPdqjai5Sr0X7SJBErJEut3FM4Flv+1DBs9Z0GROBvR3vwb6+S
nrn8zVfJ2ZvQs6u/xk34VgIRQDpKj+T8ySf1VdAADqlItUAtYNtfcvGFipS3+pKK2n5wY1u8BY6A
HN42Lx6tTeXoYnp9vdYtWurt6aKzHqb29DYW0893ywkk/7Po4MOgjJ6N3O5rs8qPDErxxmJn42is
0YbCqRvejDw6m9C5h5zareb5opqzkR9GKzqjNlBFvvDMwhpMO7Y+0AxxN3Bfy6n+OLRhy5v6Vjml
VO+Yt6B2xcZ3NndbS70cOd2cfMl0NrAG8L6PZiTSrHZq2gDcxNjij1ML7zIQMSoOoft2tBrnaFV2
4bzRbqUL4+aS1NTAIXZ+y1e+bVzW4m1gebPEGztQ99gjYTmP9OXz9ollvpr22xZv51g7Ma9s5A+e
cdXPgYdYEO+KIoMXWS+Xw5VIl5emDdbSmU3wUMBiGccI9nWncmmBntH6zq8NnlG5Eyvy/GV2H/GR
I3t4NV7LdJnqKbP7+L2e79172GrnXM9LYr2M7OXjwb5fm+Ke9JZ1f3mVWp7Bx2Uih1Wckq3w7nlo
WYE0n88dU/B0fb6VuTfFBfoi5uvrzQYtBVG7NI85i8qRXw9QbInFKzAEsXP3Flq9Tm0v9tbrnYbp
h5YO5x5br0NeB4rF2dnZMoVw/mGxF6vtjFKyjYOwD9bDahHPdlCtkx26CJeLbCnfrLB3bjg7zJuH
8r0DLpELitHzeBnP9rCxWVR+xH4OpsRtLzXSh/Gym+sX8mPlCGnd4s8dyDu+EvG6fhx6/oUpnqbv
e3F3p2xoogZJIUS5BBzDPS6cylYenMdkVjv0MDv57LGC/Rx08/zgjlfcZpjsxSwQHnpsYppZ0wPX
d2YnyNDwZ2bxx90pa3EfEwjFni5gVe5OSOqgbY9nXMDKRdYkEhcrujbdDBkX+5J+X6HOH6uZo84Z
otu5jmWfifrOWQqj58T/I5bi3P3pOfpdXZZ1uzvdH7mo/NX44uCsBqIC5/MF4Jo9Eak1f+qWlqN7
7IEMaZLgcjmfX2/O3J7zRqsX5n83Wt+N1n+n0erFjr/lpjxnH3ph5W9pPxHF+4Yxp6w1ojmQcAvx
sp8ac9gV/GOYY6ykM9vZiif9I1w1buPunb1zdCGKctK71m1dak9IGJFOnZd4yfr0PFmRko911tHN
n7KZ6qquOT/atE/ZQ1dzQit1Ege2NhtW5en4ChjjdIDSEgGNPeHviIh6uKHiowEPhEL+bm+31kgs
97bTOMN54zwF9sQ2HelJR148A4t73eFFG1t1D/y2QEmEOg1ndiIGFGBsrOkayJG4fdKtJ7oCTkd8
ggbvDUjxZY53vEq8yysprtXwdZVbS43OkuVkXb7o3tFa4mkzsbxc3j+OSAqEYrolfLhDQk0cT14b
N/26uEMwSpDPGAsiQNpuxGYvXuW9eZcDun7HffP4gcdlUPH6+ko1dG7FTuIG7tYDl2YD3HP3buHI
2xLa1S1C4+7ITZFhkUGBacG66X3ut5nPM3PdC+UjE5b5YJeT+Wf2IFZBkoomBr4At+LK5UwuGltW
OOU0GnM6w2bZzPSKGWBjR3cVSo9o21sFUXjkoAznBk7ogjazIfxjokF+MeG6LXXW1NPv0MpCryxB
NgxcGoJNicOz3RztKASJvIRH22my4sxbTGzlAsbkxlHcIyFo4pbL7oG2R/43LlRv5xxcIF5OZxPp
+44mNLd1hlZANF0Qg3ExfKmMCt4HLmPEn84herPHRNwwNFrponT0i5GnugqJIJDALnLyFq8kcbxj
gSUu3e0WzEGoFIGnccKpKG+U2XGtb/JlOdOWtWeFTmBnFglgcWQ46jybRkIQnjull7mp4x5m9bpe
K65iZ3PeabWxIU+ywjk4RitfmCxhGXrWtoLcnbzlUBvfNfy8dXK75R0bqsm1iCwov+zaqbkVC/JO
BKCalzumA8beGXNBBO1y85AYmI6Xk2XkTicW+gw33cXeFdEsmFkALb3w3PI5ayp6CavvpuJPayqQ
jPzcVPQPuxCxDJLIxFQ0yDTKdTvyGgx+69Ks8nfH4LOXNGyEfGT44HvSPqi24nTsQN8DKA9KAiy1
C0Oj9dJwYGXROrCfWPlDxXFgbx+d1I5Yz2M24dbaenM7W9Wrw2z00LKeDeGThz3OuwtgBza7IkBU
USd65nzB7qXZx215S+NCEWvtIbyqre18Mqs9KLvmmqt7oK9m4TqfUdS3zNPOwdqdg6GMz7jP/llo
18RmFsJT6MHreNrRe5QxUfZCPox+Emf4AvWDXeAW0QN42M6OWCUDC6kjeSm/gwG26JG19sgS0ouK
FTUcsPhe7Ibct4B/B1hK2qhtH3HCwAkc5BbnkQPPtFd66rO0vbTDI4EnXWzuhdfydSnoFPncaBPh
fIHU2eWK12F71Wf5Duo0dkteD0+JB/uj5duoEopmkXryWV+fWb3JZ+R8ha78jqqnG83VaenxN58Y
OaVVeSnjjpiXrVtaW74njCxx0LR0GRPXmOEFtu6eEUir79sh1wFflJ2uUk9ej8xcBPPYPiIjKX2F
/JtxciU5z5KffPpzIf2EfB3Gdt1MU0yuNLtjAogxCYXIukxmKTHD8mjJ+AHSv81wXs22V/GV8ZDP
MN/41npd3ahzuF1c0yNhcwpyWk72MphBV8ZW7b0HgxLzQ3spXm7v4DGw3/DHeLTgYqNzu16juoc1
l94FMik7mMr12DIHkKLilwqLliNLsX0RXw0tlYIC7MbO4DJyE5f+dMeON3R8iIE9wL1L11XiEHau
73RTyBVxaZ3b2SmP1S6ZBBlQGIz1JD9phZ7MU9BdjhOIneyKhnxrabrFO5yWZBHClU/Q0InhJbXd
eWBf56B+PMjhrcwzr2IvsnHzPn7NtwhKOvaWs+PODbmTlGRQ5LRya7Aae0Nr4pWzalktx971qsRV
7nBjqwM+VGPgtFTYD6oLlTkLvGSABcte7i/fgXvcTlzaxwFCLaaLyewg7uQVQp4kh8zw7anUTfNx
uTT+s+87G+U8G8F4slbjDTw6fPbEEbi+RogxWYOjdTv18fPEZVNS4bNqps+rpeppD8bL6KWyu5eA
lVnZydJcNtMZ52p4RuRBW2gW4VcqFqRy7NXRfXAbZ7Biaok8Aw+U2uVg3npbx3qnF896f99am1fK
6db17fopFre3B/FK1OczYdZ+Gt+O1vZCRnuqOIormWKpxI38lJJ/QHSK9uNE0IrHB76+3k2mSMhh
qOQyK53DlK42ZtjkTkGTycKBJYkpHdomT9+55Ju8wxTqFyZG2kJ5t2iWwL3TnoKAHnUhop4lwCvS
ewdXn4fTOTMpw3FIwVh1cjFRLWcJ+VZsESyzHOjBx7genZI40xp7+Wzsqdw4fQ7rOqmhzOOyrLVm
D62OG7O0wqlM7wln4jm6k14EF++5AwOW57P2abRgacpLkIYaemgmUg515IS8zeBMymLYa+P/Ctz4
cCLpp3SMwoyKpq2kFKiMTFECPZ1J5IaVEarcFFRQTueT9kGePeSGztc4HzeYas7QhcrqZuiqtmGp
S9Qyrf06WIz5uZ4pDg1aKBYjLSwfWMkwdbgs3GdV7G+xYnZ2cYpUsWrSjhGxumjxzvceshbY4mTT
3e693TXN3KvKo42R30lriCVeoGM0lZY5xgLn+Cpp64h8yW3C2nv64pgxKSzjot1o19p1tNw/quvh
KlkGs+G6uc+9Vgx41cSRKVIyq5cTzgbSFko7rCK5e7KyeAaaidi3I2zh1/ce8FOwhGaCE5NBDMuy
mdIUwiaTsyQTjMTWC5RYrPDu4PIs0rmQrVgQ1lujWbvAMnvb68CRo6ynJGxtEne1QwSb3QYIYTLz
FrTN9ztvb5fEnRH2LeH9WQVO7JmYl5hN3OG0j6ymp51lEVbvWJ7MEzMYetXzlkMN/WcbznHsf3kE
ij0VCWK5CkmXyuiWvyF5Y6Z3pFql65SmWWbX5b9IM+LyS4A8O5KxnE5ZiMQMXnTRkeOkZdzNvC37
Bhka+eXAbIRtkmlVbBc3A551RyU/viesVrCwE+/Acat4X4OFdMdLmaQdn8xYQOzOQzbcYnznuOHK
SHxPihU6JL7XTuscOStMOHPoQm5huV0nGGz08kB+sl+45xD0Xqb3mLkZeq8cZ5grVkKKaZMHXg6e
IEZlAaPm/eVxZz9ThIUFZzuNT67odGemA95y/HhYwGbFZj59ufS1eLU1mWVrBbBkdtfMhyumSybd
Rfg02ODIHf8aRRC5lNa+bc74c1qKJnDVrw4VDZB7CHAY1sQark1b5490rsmtPxtc4ZgX6W0zbRfS
MRM8uPIdBhxN/FNQQVCCYjdM87i8I5vomZN3Natof4CyAsvlO3I2Yoy25i41d+y8yIUsxYIPHjrf
jCXlFqTL42p/UXjTyM0sa/u2J1FtMrvwCjBz0oxFLGU6vkVWCuuVdcwNknfbuAo9uarlCbm8l3cb
r8hhh7V+I93Q4EY+V/4W1cCp/DcE1p52JT2nPA2GHscoToM822LZnQkIz56xjV7y9/sZ+/sZe59e
5lFWV3/7q3ruONFL149H4xoScrJxkKy40nFUBHlP0kxqq3OgzNHZw4sczQcAwPfDy/fDy/fDy/fD
y/fDyz+iqpIZ0H5l/OPRpVfZUVEUCyCqR5NCBp7OzBsTE59pAjz3Gb2Czb/0GecPYb1SwfdD2PdD
2PdDGHHX90PY738IOxtF9wpV/1YUPT5jj/stGopSJumkpVICc9mp7lHMZOE8W+oXMn0lkWPUHwXJ
Cqq76HpQQyw4m47JGx9tyJmoYwzJNR3Jw8j89tesETg90355k3nZxHrLUb19vT/OSW/TL+kMvQNp
gz1JnBbQY24HwN9kQkbmPL7mWRfyfHwO93X2Snu4rz/vlZ4tf50q6R9ORv+l5S918s3FP9KHuqop
ytDoQ8gPuwZJ+aaWi59sHfk6mXO7u3u966xnkqoIfIk7flHYZNMXwAQPfNdlal3m+8hDzY7289VR
XJQ8FUJdcXMzEBdACebZRXZReeZlfa9d6mvkuDbGTeEUJLRhM7THlKsqUkvi8vLyBbZkcUlWcysu
SUUd58e5MgOTOofJzB6S6t+7OdnR0FWtfNYBZi1t2fXRcrgOXcGrG3GcP27FePP+fh2Ka8oAjHVg
v0b25p0aAOSi/AIAATiPOwnbHLiLuwWJ7yWs0Nbra2yB/aCWT/b/bmffUdogLziUFwyEE1QIAgbc
ER6RV7+5416c7hHvXLt84xkSVLB5/Rzs8e0s+oeZ6Z3tt1EySdDRNMAqy68FJR/ry8Fp7Vw8jIV7
QyPOfSMCcdWKm1Mvuwd4WThLAf5lCYLmlh4ZJxC+HVHykGU7NLMsN6N4FTsRhQmuJSbnevcK1KY7
3bV3sC+x896dgZueSqg/C6o/XEkvqEaBeTBsNeoBoy/Fg/8GzNo7zMfX0dNoo2y0TXtZOXAXtaGt
AbEcWcpEID05OIrxyrymOdDQoAyR3TTtc/4yoshnQ1A5gCkaASYUixJL24yQcxbN4+czoMtM32fj
7gXqk301RvyMvdGt1Yg67ZssgabWi0rNyEY5YRUF1m3qpu7WGdjJdXIdrjQhK3cRFSGZ05b44M/H
dGqw+2xMvbC+3gUGHJmytkKFCvY8vjSAPfXSBMcl63kAYkQ1PWFN0M0TtWTORBLj/uDOwS7RMUVl
kypgdSrKQMhqxQwVTAw1ogMlzO2KmhFRU+YNH2lRPbMU4AI6c0/l4x/scpyFyjhCEw9707gm45VF
WuoGKwn56SjZyuqArA9lAJcOTnAl4UsNlTj/jtoPeLT6QqLRqtstf8vytiwy+5SfZTldwplk+VuC
7OV6jyxkC6FKKFB2t/VNgCjNojTsEh5uEs/dNAZ+XVHBrOxo2ZKlexpdHJ2phPyYVoG7p/DLLJoU
Tivqfo17KqeRhJYj3s7aEywJDmLwa8aFxCtARDpXCBEyCsXvhXdYvL76zvv77fIt9a4us0RkmWD/
YaMim28he/D6fWJXINRkdlzmvKXfl98PZL6pW1Mo2E/lz7IKJHPllBdJrsMmS0aRku2/uby0XovE
3sgiv9NZ8qlQThgE+nWn8vYeblHWErJ6FgnIMTElGN75HItxXVidKKxbRdym9u3tdW6n7ukKsYmb
19eM3jtpIz/fB9+OEH+0KacGzQ/rSGmzCLkwBlpebWH2JOoCaeY1HpIdbu1BtWkfl9r9mQ895y1P
HWIfPvW7t/xPecuz66FXtflV1sM5Y6z1kv2/3245Z3ZPyMAPC/e72f1jmd1ehPQH8+rnAqUTUcSH
1fWfCJTOBZ199v4/StB5LuzXegHSHzfsH8tsws9C1fFYk4xiQxoTetZxCNEspCOEeubmSwNy5yJv
p7OL7LpaqVNA3vYbSApnK96SVUAkB/bA3t8Co7eiOeHFNJ2D7RGAfTjevbTW0KvAksFZ5Y3c4yon
ExMLgHrNKjnhKjJLdhmEtxMi7yixwk3h5ZmIN7tSbLac9GjWPBPKnr283vnsT3Z5o28Wsk1lrKrK
iFbePgWgmVZpVMsAS+ms7GYPRMa4H9sPMjSXWNjWJhi3djccPziAJNNkMTphRZH2WUkcaOzKNhFY
iBHn7MR+DNAK3J5sHrDjC0BWbrqacOSXkKM9FXIJuATKY6HmwPfWC+ggyKGaH6Gu7E72zueB3NmL
60ULf6qLQ9XrG/vuw8z19l2nJEGmGQ18HWOSHYvNHXmNuwfO0WDvFLIgnndpkHFprFN28tK73BS0
y6gW55Ezxwnptn5mAT6MpLdFSh8mo+2QkVy4s/n153N49jJ7PvM3vMyhvKOfXWcvUTDU82i0R6gZ
sKjEkibrI0kaF4008SyTL8+ztSaeHpdeQP9oNJ+tSdnATsMjF8+AHXlabpFDk2mFzvmCwMHMcNNL
bTmajhbmNL0OapFPP797ckSfjbiXRjj6k3FutowYblt3QULv87c3vnnM/zDzPS9WoziUa2Osx24C
GRRKMVZy9yybydQlIlz8nYHAHE4lQlMi0be2OnXVhYSNyxN86Ib2VZVa+vuOrnwyFoelbqkYB1/o
1vbq6OwE4DTRHBz/6vOBn7kvk/75tx0pg/DIfUk3j7SObc4dsL/tNX68MVKt72P+oyjbsNZLPmCB
KDIrYGvDlmXl5PZIoQ7EjVwZR87ez+RV3Znw6GTL+MXQfT6S3Xvj/7dLuG5ud+IRCWqxE4yShjaZ
IUTVzZrvxBW+kAana/J474pQgOW9n5ldXd6FT1bPRPvpRQyK4yBWQi4Cq9Ix+IeJeChJAMts8ZeV
/E1jlxLOioOvneWjnLyBtxP255N1bt9Nemb8j7/vJtKSfIiUf+m+O7d8ewZ3/6sv357R/XMu3565
/q2W7xnvOOnZ4F/kHc8Z4FMm68NC+8MY4G8S5pkmhSgUAHWYH3sWOEsGajUcHQzvOaQ9qfJyiHtI
Nt5j66xrQpRb7J1NL4UsUp3pXEAI7ZuG7ccP71nn7bHW8oGUaipSq1zHdBQd6YXtnNWJ2esidfRp
BthewvknNFO1kE2B87we0gj1vNhdB6hTlCKMceQAr+npkhYeTg0ERWz/EUi6u16ji2Vp9nvMVSDd
vEBHiJMMyqNWbuvWtcI/kbfzZKtRTMI+cpVpDH9IQBcJRRqZaI0dbYq8FFlW5M6BWPMg3R8aAbRm
K7ZmP8k4uuSBz40tvJtnbk7P6neI1uw6n5mxx3RSdzTTSIu/yHE9HWGl/FHB9K++KKduGtlbQ7cx
vxmLh/9XxZJd2C295borfUQuZG/AlwmvRHqTe/21E0f2I8p3+1IKHvv6FV7K58AfzKHwhhYwQPwS
5l9QzKBk6GgUB01Bt6HV0t4lq+xQbsmfgfvTkURb+JiOgebUYHHgVfROoRXjfUXvq3M0s3iheeaI
+A/804/Lqeef0gBd1DxhOSmckkrxHIhZaV3doMUiQ8NKZLYrfyHXSOpksy9f7jv7XrdgrkPkm971
Vxhs8OGxeN28zyNWPbp6LIbUPje3Zxd+zy/9Ny1889tO9cdZ7DnVEk22pkiZxVM4LzMV8ktOmgzf
YvdmdkMPEb1ENJCfgv6I+b15fi4JzDbvd3dQD7y9mXA/JZyH/ZmM8OinXc7f39/pJbyeWu8DyrFy
cufI57KfrWta9FDtdQv68DKPBjdZr43n16HTiTM27+zV9Tz6n+vqzhutnq//brTOGq1eWPK7Ga2z
kULvjPmrRgrftAkTVVERtFE1/ZSc+BBe+f4o2nYtvhAvhdAnWzrHwEN1dxTzp5GriO38jI3+JuWs
+eEje5cbaYN6FKO47oVj9bVVTFgpzB0CLPWzEdJ+2qiNl8bqzk6SNHWzIxyphgrVqJEg5oZi4gGi
/TLNKgSci8u00Z6LsLSarNt5w3FSIbuI3N7nEcO3J+jHERu9UC6Nk2ToVxhOmEga+nCB5IRWMdNF
tyI/WNPYOy2gAbl9kqCE+TqAn/+MBz5l+X92Uv0whF5Al+7GRjcyGAIHa2mirwJHNspJOrutkLQw
sm8wACe0Ibq6ft+ChThzE2RU9NkIelFTivRcEpaMYCVPx6+blSREvHDh9KuJUJa381hsznzkNwO1
DxfdDzt+/ft+YjL/7Kp78URV7OvDYMBVq25JJAcurLTIfZHqKIEVlN6R/SKJEWDyacTBXtPHJ0PD
VGwy0ASRDUCimzIlMvodkvYnywFI6f3u8zv1bVv34U71XHtrokytZQzzDm/9LCNMojLCTlIaMqR9
sL3Ggo+oEJeSZPEFKTg67ceOt97Jc4hs7J5Ob2QkIIeOQi+xPY3od3fv1++fj/TsQu656V9/IZ+d
0p4n/Z2m9JyZlKplHzMsv7+ZPLdbe3Y9DRL9kBSswVSsLpfTz9fNmTfvY5t/2ZufhCY+2eUnfMQH
Lxi3+lDxD7gkdkvFBlahKYGYxEpW8X0tlrILPrK26xxI1R7KMfg1oPsqxBpyBol4epUVh0fn8ys+
t6f7yN/fb0+rZ4KIPon8rxFEnPFGp5v3YcZ+BW90dpH0bGx6jEaIN8tFolhQiQUAeYmW8ACVJalv
pU8YiC+tzZnfGwKi60iAJK6/BovogWW8pjffOhOZnB1T35r+EcbUs6+/5mb6RWKZ/2df1bunbfSU
/QVR3ben/V/y979c1091VNXRS/W/5Ju95EW3i4Kw/t8//bH6+nPwlttP9dNPfnCyOqq7zf5t1129
VfstL+WN/v7Mf/bBv7yd3uWmK97+9teXfJ/V8t2CKM8+KlfqLLl/LH2JvlbwtIue+q/4qnWpmT+M
FB3lMF1XwcePTPzJV61LTftBR63SIP4nN0Cmkkf+LnZpGD9oCFarpDA5IgxPOphVvq/Dv/3VUH/Q
dMRfCDpM0xxBX/9LtC4hePxJeInSJdB9OThFnyiawvv91N0Zh8g/7P0GdsUgiC8aHRHo4WBoHC1z
l0NzXYYtpPSJP4YgYmyM3pKtmfuoXO9TqPaUKr4fmeVIdZpimKx3RuRXVmfsY9ghjqkKGY1WHx9U
YwDl13CXw9qsovJcWSa/HltJO9Ryq9ba3WRWbP3y6qhnE0g0osCobd8sNEgcQ9Xc7AfD8UCorTYC
jL7Lu73ItG0A+9ckUF9LlcmJ02F7F4edv4TKko9tgha93F1RjGGnHm7HnUj8N01NIrFPgiIQ46QM
3d0hu2846Sjj4YWmpxfhsH4YoD7THszVYBguE3iXJyk8ZQ3GpIEksBw4WtA6vgbNYQGoFTiuViGx
HrekWmK9cbbtUJmVZnC0BuOhXqM3rOjPQ+1uN8mHyNeE2io24fqZRFbh7xxzPJpWSvFU1uO1P4Dd
2owXRTm5VZJ205mjXAzi2jmqvHI/PohBAPFzRkayNS2lPUgltbKT35wyGKO/HprKoUE7npcYR9sP
B1axg5Borz8E4xzJ+XS2K42sddOyFnozsGvzOG0joxPbcPhFK9vJ4zZCeTeqY6MUOdLAQzvPjdIa
DczgfqAfgge1zFugu/p2gGRUZ0DNFnXGqtmlVWIZbTwQraKpO6Hru2Mt1DBCE64o0mIsJo2S3JL6
3a1jc4BibxToxrILEfits2K82CY63J9JvJ8fkmaH3PYojK7qUR3eRqhOo/jcHQ4oclRljN573BTu
Tj3sqP+mYRDZUaVHV8Gk6AqhV2q02LKYPX80qpxkXKcbZbQnQ9vpinvoBpVQdu31oSm3kJcTdqCZ
PYFgYdT400TNAoR9Bj6k5pqRvXfhIV2w8ttpHSgRcuw+ZCLDrJnV47yalhVCDVVWhS9dnRmqGADl
EY2WJhdBfDg6gV+8BMb+gBC2v3/Pdp2GPqgxdis/9Tknq2lnzsdt3uaW2eYdTD6HMkLJqD406Krn
fv5at6P6ITzUxb22G++z6WHnB1T3D/pko2/jgyrqvGKCJyN197qb6Lu79jjZ3itFvSXr2wyHl21T
GuiVwxX9BZWX6n7XpcPnLuOjBWYY6dUsrrLlUKcGK8qk1gKRKuXwwvfjjrOSmk1e9PQAmUsVapPb
bpI2iAKm4+1R+Nuweq6C4x5Oyy44AMPxd1ruhGUwidztKA5hFSomh6WR1DGdJq2SvFXG+FBZWtHu
ltXB8CG+rPZceqN0XSq2hdaEy3xrpG9jVTu8jPWdEq7VNMp3zwkSAKSrD1XmlcohhnNnPCj2Xmga
29Id73LfnI7LQDXsrEtqw+aPv1u0Vac/sHi4RqyThpqsPwR13hoovEejJGvt8aFJ/y9z39UbSY5s
/VfuH8gFPZmvWU4l193qaTcviWmX3pLp+OvvKfUHjColqD7t0wV2B4PZnY4iMxjmxImI5rashjw7
FqRW9tg4XZg7Wlfg3Utf0A8lqBiwQEVmsVkLDwCtQ9pOc7S4YgmueJAk9NbnJlOHaXZYeE3jPl02
qQtJfO+ta9S26kkgdnOSpxjbl2Qx5nfmDMvlReIZQAo60nBTl5PCNVres6geTpamSrGqLarnKUnv
E4pnvcVVdRgqZi2/yjnU7lrQlnwbRUPKHWEsI7tWhEONRbNm6MFb06Y/CB7MmK04qWTE/vKBY6Ss
TWi7SwVp290kZDx/SVM7vcuoFhQ716tlxnb0QDW7UPSEXxmfDc2WTm7ububahD+odz1GPw5tlUZi
iTl2urvaoq2xpH7e5NhW1mwE1Ku77UJr3LEdYkexDbfOMW1oxvr6sAlDf5WOC8+2/WRiu++6EqvL
Gak9ln/HaVdEQVjLNpJGBtU1XzwPrwMS19NtlQx1uYvlgBFkgzXD+7m0/H5pFov5km3vMIyoy5Lm
Sk0TmdD3o2mw7zuXoxpD45bt2MhjeuB4t6iZZKRkO58mE4Z+cSXb29m57JfvVG+joLDt8k6rplK3
Gk1t6c6bNj+SEWq8oWOlMTsoaY3Y8TFUci/rORRR3heTO06zrP8J+3K8jbtp9BELy+G6SkrFAZ3x
XET4F0e6X0Zbgosxu/GmbRuRb2K4ziqyxGUzFrJXnTwGIRlANyy8xtoDNS9YwBAU4u++zgW4b8lI
yi0hS4+QtsZue56P6maY2wArB4JC3U5WlvmWxGmMXrQhFlAAOhTF1o+zQNWA9b6M+BB0biNhW+0m
hN/BP6l4jcF0s3bznpuJaezQ7E27FZ6PQF5Cjg3Pgx4TzC5DrranWa7dxmA5nN7WIqdiF4vF02hU
WRpuZ5422KEQqxn9dE2n+11S+uZnZbvx+8Bniea7YVDQWBvL2ywc2l+2S3iNfzsMl01Wj/GwFUm3
tZR97EL84bRKVbIleUo+FpJjyUZaltXVUGK1+Lbn5XLrk2n6IkSVmIg51ACpzZutzSf2XbYNqaIk
njJU7CaaXY9FYm/K0dpyp+q4xhjmpsqygxEy+LAwJBr7MWmSb1J/TmSRbtJKDD+ruV/KezOK+RPc
E+dblpRpFhmVhD9ErDNsiPJuebcsgcN0rWFin3PYZRQPcy2rKCiHJI5wweqjbgX/wRvXZBs2STds
azK1P0xtbL+Lu77hhyqWJVoEScyDSFNDjoD9rN9Uc+W+LiRo9SZbJoVypqMKAbXhv2U88Z9CJ9pt
g27mf7OJy3znsNIcMxUXNYKmV6QTTB+hAjMllaG/k6mdBFagjmzZYw97ga0SvlFoxAyddpGRXV1F
vmj0Q2PFjCq1L+yP2dYDBopNAz6f69Toorwh+EhcMXgj7MhzO86WLN0Y2mB9UVk+8L7rqk1fljFo
mF3YdJtU+xjapMM+j7olLzDPqJoaTDqt585GvaeAeFu+mEjWTaI2nSmm/dJqgzl3YxzM24k33Yc0
zrDJNhny9G+82fCnt34yW+lVHEdyMT2a0ZJ0RBCipjHftyydH0oi6g8u4/QfHcoGD9LX8Fve944i
YjHxsvNwl9dN2SP2mOuUYgpm1c5zFDd5Dx2uRuz0sNx6sfOk6UQUWs++m8wU3x3+6rDPXAd6U1Z9
lkZYeJ+JP7nmm1Kou+wHwmPsiTnPjh4znn9Tp3ftr/qj63/9cnf/tOv/51mW9X8jrcI+uNfyqofB
2vOs6vFf+JNWBVSZ/4Sh1hIrugx2yhkkLn/yKhr+R3GDLX5Sa2Ow5RSA2P/Lqwz9D9aAhpoowYgJ
jQCs/G9eRY2k6GGW6GIOsa3uTXnVCZT4F9kSIKuLEOkeE4whVaNrZCvmTUqWPPR51BKR7IeaZFir
POT98HUWDtPuR5+3hds3Xen794Q4rx5iY/L8Ksz7cHnf07nlBcLtkJsKyl9U41Ve9a6JSuzSbrbI
IMiHogmbzwiDEaH0VZljqudUZHLXpLC/H0Qq43gfNFWQgq5Q16bHMGYZNLPd22Lp0mpDcjX1u65j
w4P0I0GYygLy3tS9/RESFyzv2yDMrxG6UWwWsqSBwwVPFds6k24im1gM8isduLMRy8Ok2hLEFiIq
5ra8kxOMblRkmQLILRyqTPVQ5yRSmU7tPs9k8RAkApkgQUCP3aJspOpIaO5LsVd2wVWVQdjViHTD
PkHC90SN3v/5Cv9T/ztj7aVvIw1qbozhQ5t1618X1CPDnWm0sTZJ3kfL1MP/j74Nb6qC9tmFCg49
pdDnuiAZha7Rx/8ItiqnxFlioXJO5FEe5F5EbEyY3eYqEdN3wirWR95lXXrT1M1S/vChpX+N7WS/
LpOFCiyZnacLN3CChM9+kaShRsIfKoK/wUZz/O9PUDybBD5PkpoixM/B3t+KoGHbofEB28icT/6g
8ym1O1OCf71lXT03u7rSyaWf8dgN+vR3GEFCPBRBKZcMD/YETjz5HUrVgw/KGIu109iVattkccPe
FXWRhVGRuonsRRxg+SszlBQ3c6L4L4I181s6B0xFRdEy/w9PRht+hsobkRzKeUy7OirM0Pqf1PFY
PwjHp/TjFPsl/iExVbaVG8LcJC+t9DxVpM7PgocuT2aFcM3Q9XB+FpJjpXLmZIut4xib/rfXXFc7
hXw5v6BP55A8ECQBqAh3xjR6YwT6K84FyZrH0A7sgkdaMju4yoIu+j5vKqORFc8ZttPLqhz+uKE/
kNn/x6OBVDwZTiilDHGXXpchzdS1tUrjJDIsAQZbtMueqybe9nnYX73+QJ+dUMK6G4nngrYRIswK
XU04CUtWlEMaxaqc2y0FKhVfuaUezfXSOclu3DDNc3jhVZzD6bhYRfAkOOA1qpQA7HZ+sS4eDUeu
BJgJeZrazNQW76s47wA4hbH9TJce+80q1f7z+mnX5ugkVimuiDIgAjCzeowecdDSMCEhlnjfbaic
5rvBmHaIMtqIH69LO8f7TodErksFCwXEwt+tDqldwUbvdQ6WeFAMV33f6gOyRH4I4jJ8bzUju0px
f53igi+oECDM9RtRErcbEqqBW3Issj6/4TguOpZ1HPpj47mtk00RCls/2L72xT+lNMKGkUrwuw9G
eoSjaZEUCMLoGJQ1Rh23wErjSFinaIq5Db1a3us5H+u7ZeSnuQ/1ULJ33RyoCW6yYEgCo3Dwjf8w
AdFCpz8+cPWh8XXv9mqiS4pUPJ665aF1RCFri1WgPvh4zPxvnnWtnK6IVcWC1GbSxH/qsjEYfyWk
88mnSUyjCaN8MXlxBwyVifusJrT7UIdI2zYJSxqVb6aSJ/qmIHpZ2GaiyHw3y1Q2y71NGlHtZjN3
/bJPfMY8phnTOmNf8qBxajyGIqlEGw25DstPqS8xtDqdE0/nbatT0Uc597P/OhiWYT/AKGuJQL9N
FFoj9JAGBnhqOeU3AK94et+Pps4PamkqcYU/Iwn9Pg3mJh43BSTn38s6dfEtS0SP+daKInfdWALY
o7lPdW7y6gjN1TNSqFnO4db5sZLw6mkQFKBfahZLZOCsmjHwmM7dIn7XXNVTf9W1VRlk2wag7sJ2
dSC6VG8GHi8Yx5Es41Ifk6wKzK8wqMLhE+unYvldICfXSTQ3qW6/B7Jt2SZL6w6Ffz7b1O1COgX2
FyIbJDx68Wn+KwzLsr4OeIyYJKqrvGO3wVy3qgPMiK1GW02Blu4K4cBpiMRkB0A6WNhQfhHM0wnd
ZbSZrtmgqvBqSqaKbGTSuvGY1ijs3yuyJPA+QR2m9mNaZ0v9HrFL+7vKWxM+JH0wpZgt3kpafAXM
laTw6SUZy0gV80LuEBVm7AG4SMhvxnmxzZ4PbMHMYWw9l9fGSYRH26yWyfwJQAZ2IYQ6BmWvEQt+
Fy1KpHttlU/yOtV1/1dGKhruGjfVJkB0lAzKfzd1EM+IMPHJmigHMi+Kw0Qtr92t7VhK1aGtM1q2
W2xFTv0SmUTSnQ+c5Rtia38DAGrkh9lWRXmcWvgVLE7QLhtMcm0SoO4YJpWHIv9La14Nn31a+wXL
LXrAhseZ2wB1OG9oNe8LxssWK2sIybyOnJx494W5QZDrZkxGBZ5OGCsPbtNcSqysR9s705iXMzml
tokIqgmZ/CLyI5/HFjPN21Yp9PAFBWHvjVpws1HTdl58Z31CsyM+btruREwd2VZJX7BrVkgEpAQU
pfzvmeXE7GXXdMN9y5q2vvWLocudqoYJiyczHoyoL7Op01dTDHDndmk0TQ9m0jS5o9Ik2WddZkkx
3I151RqM15/Sxi0bKIeYj21GXGy+l30S209x5ooMGGOflzNwCT25eozMHIfpJzuKLLtSwrYTkCAU
TtRxLHTBMQxkRg2KvQOoECA3JhUQ5Q+NMbPFPgjLYSkiH1NRfgPqzdyXIagMEHMfUPK50gMZbjSp
mvkY9NzFd0GcugcBFpkAEi11eckhnptrZFCEwtVK5C8hIg6tVuFZXMu0CEys990SoMeoLjDlu2q6
7aw7sE1nPV5wEM/lMY6aFzXwDoi/zSqEylFHo8O4hPsintKrOgXW3mjSRIbDSHvP5QV5577wdD52
CskJQX8qwuFHxsqT8DOI1Ti6yYT7tmjMBtqITQIpFi5jI5q9NYOhUVPFmHyueHMhhlvlBI+ilYa3
D081N4a64LknHBrEFSXzSNCG1KbXBUzFvFnmMr4hJO2+EDUuxxKbcYHH9z22XOXVBL5+l9tiq5qa
Xr8eFDyLXRFUGoL4FbsXsKRdnEKUJxdBEx5kZsrj30D1+XU+UHaUOrvU8Xz+eRF6aPzZqDZqqVFU
k+FKik6TnEsfd7/7piqxO6Gz6bJtSsSVh46XQ71XcR7rC994neoYzRQiSE3xiQXysFVVXMXL3Dba
xb87vDKMCBN1XRx6RnKAnU06jUesd3Yx4FcHKBr/b3c0cU6Wr69f8POjM0058DSGQquk6x17s1Rd
bHh6CnzSGAnZoZ2TvhpQBDC8v+uQHyZVxDvOuwvHX6u4AjcTQ5Q0LBfDa17zNRhPFsY6Ia74mKk8
itN5cQfDBvpQwzqmh8ZK2GXmR7Vxmcz41evnPo9tT2pOhEKeohVBuZopfq5YAUvUIGSGFhjUs69K
zrrrhE3pfVwjULoQvr8gC8AOg40AjiOFXn3pEkVlniNN3SPGDm8TRFrRDIDzfatQDHjrsRhOBXWC
LnOGKv35scqBjNOCgvB+ShONhTJzXt4kTdBlEeGuvX1d2Hla8mgq4GCxnhGglQbWtcq8FpYxKesE
e5jz3hxRccDYOlH3EUOdZcNNTVTU5AG/YBJekGpCibQEDAXKkJ+cHzExFsEvF8G+lKX70DCGrVxq
GbYMZd6PZWCKDQ1G2V/4ho9Z8r9ZNA6rGMwEMgfBdcjEY5/JE0tkao0whIXZodG+ICAkjxMCe7Y0
qBHTSu1DkgTopaK+GfyuLNuq2diFoEAekj5P3IWf80ylAI0IHJ4BqBDwSiuVSoYxTlqFqGrIKRa9
t0PZl5/HoRuBNneZe+uVPxoqJLyCwwXKE1PkqRXO+5Q6NtjuYEw/9vusqLqNMRRTRZcCOy51ZX8O
KjPlBRNxbptw5RrOHes/KYcvQm62EitGFPbTLraHqZjJx5yz6YHUdmo2wzAEEbAbdUniuU1+lBgy
mEMCB8hhDFcaTQoa8AHh3wGFuB3rq+RdHeT6UDOUvKHUX5nI64fKJfNtgnDuw+vPaW0R8RkBeuE5
AZKDcQpXnnduBSk7FbvD0iDpLEoKuChr7F+lYGAS1xZbRVFq2c55MV/4vo+zMM+UW2P7KjwsQinA
XeJxqsQT5Y6TOkB5Yh4P45D4A4oHPgrnKvzRo0B3XDJRbfzkQEmgLTrax2G6UoVSh4JIbIHJTIAN
qSP23sSstRdU4JmeQ43ABsCn5IDilFzpedMqOAfXLwdUkbCCUg7tIbD+n7EaL1nOZ7cPSQIYh9AA
74VYgx0y69DRZv1yKLMedeSakWufWncschl8c0GK1V5KqyjQibNvNdoQrRicqzgJ52vkoxFJ3Qsf
Lgegaojx5OgwhhPsoRB3+/N1HXt8M2df2hgtEDuHAFoIluqeLvzJlxaBnbOcTvSAG8AU7ZJih7vr
m0NdmeLYlcpuGhaXG2a65H4OF3pwNlcbQ3rysfULJtSU3RdRsXaTIFHbhAXFuryiSH/Vgbpkdc6/
CKLtkMNFo0qBKTvATx7nID35qa6qOggy+VZmGPJ6XYJ07/8OgjKAAUji4p1utX2oRqIa7IVbJnLh
q6zFw7SGAquHoQ0AT2GGzm+qmMw8llr6/dTo8VgHbf1BduM/BU1HNNGW5camU3hdB5nbv/6Nzh0c
fMxJsEawS6GMAgXQc8GysnOh5pTswYKof5ZBMVXbVPdk3lRctyTqhBo/ZygXfXpd7rm5Pck9JVSo
V4UhwVicx0lrT+6bsqIBtWPB+ObMsANAd7atm5kdyrTBl7ZTefwv5OEb42EjuQLqd37OduEzwB5A
6TLW9kZ7M90FOao4vc+/p3QmF8zrS8djJxQctEZUv9TKlAS87cvBdGSvRBO+q2WPrM2lg4wGJOOA
3VQsLjjpFyUCrgWTUkF9161UjeNhRhG97ydBwBQIO3ZYABvueDyiMXoWzYWOx5NG/vu2/3xAfDeK
cBbLnxAjnV9oKYLRzi3DhYoMU1jSZXyY8E+2o1rMfyGKm5BBGEIhI1ePw4CkMggWY054XKc7C5KB
jJpmxq7ieI6DNzmBP+eCddQGlRhg0usRf45OySJMRvc5+Cy3VqbmVnV9G9VA6x5e18nnV3gCgvH0
ENfCEeqVTlaTUn7KJdmzMdS7MA2LiMi4+1TYTr8pej6dSkkkXjD6FLOonsUaLpRVm1OF+ejKtjsp
BrHtkxzEqwnZPpEp2GtTWOzffj5k1Kcvh09E110Tg0onMhpH9qbJdBi5WDR/zWLi5RFxUXXJsT03
oSBuUA6DgkgdBmn15Fg4FGM6Zmyf6WDo3tFGgxqK9VMmd9HcW95ty5TFMwiBtYw/dlPvyuzCgZ8b
UyAIpzo3zitQjF99UFmwYPHjgHXAPsDCqrmaN3VbtvsOQMCmzbXaCZ+Xb/+0p0wPxgZtIqEKV4Uw
7cuKyQlCO6Wz3QkCOCbwdjdLpumu44vcVsPSv/lJAsfAwwdABa9JHjsDnprvRg/C0Jnvs1x9BR8L
hKilFhtZGfvudSV66U5PgRLUF/USvS4bBzabBx40WKrMEYyzuhyOyJsQI5aFP4xBaCMetHL7utAX
XqYx3KAtFa2iSNpXXjEDfyCX3nJ4pyXdOrDhNkPniytbdnL3uqjndhufjKCgAFIf/MVaZzIOIDdQ
C91nVcU2aRbw+0ln0208B+lDCTrtBXkvHA0airhP6xM3ZN0tU6lmDKYc8liT8C1IjfN7kVY/i252
V6+f7HRJ5x4COQ4iO4XDhaDxry+xa6eiGBa/b8PMfSVDXbmIgA55wbM/FwPkAagdKmkKEcV6FlDo
LchpdUL3lqRgcsPLG75hDeNfXj/Oc/sCXAWMGgRJAJHgG84dngmDObC5oHtSGugEDNHeAwb+SdKq
3Yzx2O+Ab2G4ddhdAmifq8iJqiMlxQ4BcH3UKlH0JnBl4zzdj2IK9nXHfxvUBm6DkX0Djqi2r5/z
JWlAJlGgVEi+0ZRxfs4aeQNNUBHaz7zukHHpIdk5X/UbXpb6ussWbd8o8YSuC4UqNwE8KBEQnkuM
gy5uqsQ7lMfCdDOG9NfA9PWsWgwzVMn0RgcPaXDrAMZAegEtSqxus6bVGDYkxDbTYESjAmLCQ1A1
cRlVpcnrN0Zlj8IQ6XJgjyHy7dVlSqSqDSjRbtcOLD2wNsTK2Grorj2aMzakbdSFN3eOKZyQZRwO
dvlECAPKvB4hazKC8u4osJ6VOnmskxatQ2EZy+0yVGisaJS9i30fH5lVWFXv++6N1uUkH/OAMJkN
wBV5pqq2QOg05QHmlSUlhlKOKt8vqO9Ghev9Ba1ZGzLk6Iis8V/EM8jY1jn0HI4x+A8cZG6rlm9j
Xrbp+7YbbH6tsrZ4//qjeElYiO1gqNoLBKCPJf0n/o6DscZpJhAmtXV+E5ui3oUNKqQutO3bzwW4
8QRFSCinWX/CmWPpSqdEi66XtOujMgTfGRT2xqL+N3X1328+GBw1Hh98D6SZ1WsoBhWDCIa3l6Ck
vkeWZD4XXZhvXVqLj6+LWntyfDB4A5BnoBdIttdkwFyjfa2LtdtVsXPXyqojUguxU8ogLVp4vmlb
31zQR8pXTghCAVwi7gXCBnVZ25bEsDxGid7uqO2W94GEmkSp6t0VKLPJdVxQeqPZEO/BgCPxBlDd
sqsCdFNFo5vrj2Ut7LHLQ3ppmccLd6FArkQgjjV54N+tnMkcFq6mGrV8JlS9r0+tK5tONMsuAXXl
SoFGu+9bgW6cN34C/HHqhHACr4eV4CtzhLamBGz5GgshRomRkChkR6KXHG0smT8S1wN0oO6Cf372
dE4yTzRDfAlkAmRt3ZM5mNOimXZiKYvfGR/CvUW8cGxaYt+qzCdRAvAtvjognXXEwfOhSeWSTaf+
jiAqq5Jv8rHsjvWiiwthqVjrFUQht8cjJZLACJ1O/cQgZN53vlNq2lkRiPtc9+2GoJvqwpN56e6Q
tSGEOqWIoPedS0nRycYYGt92mnfj9cyKbj+mNigjG3SXsrVnKnk60anSgacJYtKJL/z0RBxkfN61
aO1jHePbUHrMCQNZ50PaZuhyKya1L4ehfquxO5nvE5vudDykiaeg6+k1xsVMaT7MO5DZk61wTXkN
87PsKKu6/Zt1H0UcmALoPmq767iGtWhTGwygXPTt8Z+Gk7na5LyON3Obub8aQeZDjLT0++tSX/iC
jzRI8M1O8NqzymNK0p73dNplcvzNh4beDuCuAFwTy4f/RhJYkUTDReGM51cpqhqwtuR4ZxlJrrwK
YFFCG24r1M8vmJF1KAxLikP9K2plRjQaK2NRL9POmKK9zXVRtxFW/NiNKji6IpY4fR+MCSbV9M10
IcBZkecQ4Zxkg5oOZiSweqjN+TF7dJzpdvDTzrlwighC4mOYJOn7Us8zSMVVgW6dOrPyoVEq9JEy
S/iejPH8jtje3sBR5McljLF8qqksKsEtKuBIZUlw4YpesA8otcPPwYFj4fT6u8dIHkMBlHFHnftN
63L5a2TaXDAP61D9dBdwp6BugLCJhPzk/J68Hq9K9LWE+OR21MV1C+u7N33Mb82Y8h2dF3oBangW
XZ7kKamANCA54Pp06CfyQKlqYVQxL9h2gu3R144q8yCyPcAnujVmsHvYj2RjJxD+y3auD69r+AsW
CuKRvSISA+TAVuIH4YshzkBk69BXdUc7OpKDVWa+003vTWSacnjnpJPi7nW5L14zEktQJ07lsjVj
w9NymkcClSvBz9giozU31mm2VVXZb8fCXCoGvKDjChwJaB2eMUc+tHpfowWj0Ss67lp0CMZRalX+
C0in/AvdELOLxrIX+wUc3J9jPo3bFiMFum1ARPerWWiBBt8UTbDRGJduN5I5ayLwo7Ed0czmn9cv
5rlxgzIgSQT0hO8B2sxKH5qxAhY9jmgvRFLa+qKlO9nTBnMgAa/EF2Lw55/hFEegdgggCK3/euVy
8di4akFv2/GCoMm7Sf039GfAysQuxWkDesGgviRPoEapTwErKhWr10Xb0pejN5h2mRSYDODUEpef
mjJDp6kd8hCELHyn5oLQF65UPyb5AKA5CA8rL+wESuoDyYedbbPigAZI/oUkIFvHLMnzzeuf77mN
MpQBVUC2iGNC184/Hxh0i1lIuezSdLC/2Cg4+MJ6+vK6FHr6Y57iQCCanIlZ3aMVUz+pzC+7EWSo
rdUu/Up7kndIbRj73XGrgzvKGwpOczAOX0AP5dsaBNxdU1h+wEWjKP76T3p2yYh0OBIeYCmAwwGJ
nh+8RH7HG8QJexrbdFuB9XTVpDGJFmSau9dFPVMiwPqnMbyI8eG0EFydi0q6xMdF0ct9k43De3DK
xC6pSBuRpavRkl0M8wUH+YJATNhA/ogCBtfAwc8FplOBARpoI98bK+tbgu/+mRv09JgwlXfpoIP5
gqd75hQQwaGihr8AhaO42XOByNxKVy85288xad6xLFEPhBf8dyLQhRJV4IUClCMon1wnQ0iqK5th
J+Hrl/wsHjlJx7RjGE30FsIXnv8EBHshLzFTY5/UafetRhHzngAc+ErQho6R+XOebO1AFJo0WHdB
u5+rEu6ShcjKgKbiDa2iLp1Og4jVwvYoqZx6mmRod5LL4ZhUiwgvKNMzB4hzSuCcBNQghnLYSm9b
rkvMJGnZfpwDDBcB+fgBN/q7WjADQqKt7qqc6LB9/W5fOiBqBniaYHhxkDXP71a2pJ3gitges2uC
G7T+22nblVbLr00SE3PB1b6gTKCBMgZuGrKrZ8D7zENMXZkc3yN7zbaCLfON79CF3VDefuTt1O9J
UpR3IxrXopKw5tfrh31mEaEo4KKiBQs1DURtp8t4EuAkuY/90JbYzKKK6joedHz0p77e16Ws6F24
RsQQp1E3qC7ib9Wp//KpGAKuZtXXo9gHM4m/dHM9HW0m4q+2KhO1dUOMDK9IbZnuSi/ndtMsbPwb
qLMWF37JC+eV6AM99aDQE7C1+iESnATboja2n4tEfu7ANjuOpe0u5MrPTdKJaATrgNYVBAtrx636
2WBCCOP7ss9+C4bmInRL48uCMV7dxgbM+Nfv94VTwV8rFPk5qg9y/Ux4gaEPyE7EHtHCj9Tw0ywf
c6luc1KFM6+GD4eYIAR6BieM+u35N7QBPIZ3VuzFIpNN0zVthBTMXoXMFRfc1bP7A8KAjlycBRRH
BIQns/BEK13dI7VDn+I+m8DVjpIE1CBVm/o9tc2HOC/G7ev39+xokAelDMEGhxtBkWglT7PMae8o
1DONPxHw4rag/dd2K/qexxc+1jObBmFaglb4CKuCfn0uLNCVaGyeYy4Eq5ePPnT2U1V60JK5T6+R
naEQ33h/IfJ5QegJOxYSfgvFgHXvazUEPToZcEKQO9vbdgzJjWq0PMC8qp0K7bJ1Ei2xr1/rSiiA
N7R5QiUBTeEjAvQ4P6ltAxL4mahvbZb9zicwMjAyxBebCs14Wz2P7nMJyPttQfMfoQYsHwGrSoFc
nwsd6VIKUg3q2zhP5Epg/BJmK3g/PwBVFxh0UCRvjAf+SAQCB03Fu0Dd6lxiiNkR5djW8hs6qH2/
w2hcfwOgTPuo0DS+B/MF5D6eS4TUrdbNhqDr5f71m17FA48/AUcFbxcFVSDpK6cMHMsRDNhR30jt
yoPDrItrxNzYfIxROVtSFDSqMl5vFwwsuRB9PWrOE7PwKBq5AsAeaBfIjae3/OStDnwZTREn5ls2
x8V0l9fQiIe0FNJHppAMg/rruejvLY35ZlGD4buxxZylTT7R9L6RM0uP6HYKrkYVD/53jxVUA+jU
TtXZ3lpN5x8gULghj2qX0gc/TCFW7E5E305VDmLH69e4sjs4C6JjwVHihztkqE6fnwXTOIZANyWu
sWVDlMvBYRbZLEobDWFR3NMhvtQ9vHL/fyTiTSJuPXW+rIv96AVHP1Mg5bdxCoaNF4H7Ogdu2bu0
qq7RDUuvLCfLAWU0vFXXp29jNTyKR48P0i7kl3gvq1iHNIH7X87Oazduq23bR0SAvexyuiTbcktk
7xCSLLP3tsij/66l/MDv4QyG8Ask2XGSNVz1KXcxxyywf3hD1B90t+y2YeSJfRiJeX97bhfUF0eO
pcmbx1apVMvA6nxyo8qEii0q+4c9NhmSbFYv6CZpsH1Luj/ddnCRwOnUXvvgeGXhHTuO204fjdHz
s7gqw8Pt33N5OcnFJmGghUj4s9y3kD/MIZs0+0dNrPEZHnlNq2vK9k5Uaf7sxOrByWBc3h508dD8
NwdMOAwrSY5Y1g+EqyCOUHX2j4Ai98Eu1fElcZxEw5O8NP+uN/D/xkIpg9AZTvVS0HYKbKNtktT+
oZV68s84kZUU+pSc2rIsVtb28vqRayszEqCvdLUXd27tWQV6yMxlJkVi6Cg6PloHzWZKy1Nshcom
nPt8r1thvLJ/rw9sUhljKWlKLA5sZDSDbg6W/UMZKfyKeCiOjpc7+GV7SNv05W4Ym+fA0vKV+3YB
6ZabmYCdQeFm0L+n13a+ma2hjy0zqrOfprCc6tuAhpfmG26ofTfUXs380kpcaz/lBkFZnZu1s2Vv
pRpM0QqJORPEPxt+rLT80A5GsjOUbjBWnvwrB456sepRVeGAE5Au3qUYzSFqvsgDUR37GQRZureG
JJKoBn1L9Dv5Y6qYG7OdK78OBYhbEXqHpEL64W83PUVU2BTEHbTq7WWdvkORrY+iwf1BrTq607pB
PLb1oDxPI6JfKx99eaoB9UrAKzteAgMWlwypeQXgJw5+pEXW3Qea0ZyCyEJyCyGlf2YN6HcrmrVT
fflsEFRRWyHtpjtGEHC+GZI5RCTPHuKfjW4oX9ok9X70gRTHDyKzp1rZi1+3Z/TagNQEZYvFhgWw
BFm4eQkByVSTn0NrTf/qgd7uPLhtBwVJiKe+U19uD7cwyZa7Heg8JX0TWJruUGU5/8AKUauqd5zw
Zx0DxPla5ikQdQ0ogHqfRWrsK1Vi7ZRM/9USP983Rh51/uR02qGK3GA32G2awLSN+2xvjV0yPFVF
O69MyZWFJ5sjrbMlwYLI8/wnTp5AZS5o3R9BY5I9WwReiehgyVfp+Grmves3UcIDc3tmLu9z8jvi
BQn7J29APOgs+FGAx83GZDOqMcenvEz1h9kT1pOqJPRabo91edext4jtgESRqdCFXYyV0cqPjDn5
qTpxsqnbEt+Gps38onbCeztS+y+T1sMcSFuxcr1ffqXs+br07oED0AVZLn8XBe3YR9nPeS4hcGtJ
WmzQZ4xUP83NaOW2uLLZGI3SOnAlKgb0BBbfWSROjwRO+rOUHItN0dUUBCqzyOtH2EJFt6Npak3b
MAtCZAwhEjjPYkjFp8psBHJgeqD+VvvGde6naqgp9Waem3xLu5Z9entBLqaF1gwFW8eltApWc5ne
xHSoIJh20QsIMS/flD1CCkTJU7BzwXt8uz3YxerLSIW+g8Qz0/9acrLnNG+sMfGil1wP0ofBTrOD
m+fWQWF6/AHzse+NHT8Y7bAGfL24a0AAgta0iE9pptJyOF+OqBAZIqCW9pzwPjwjwTvfD0MlPldZ
LZ4TO10j7l4fD3QjcTiVqSUtrSscKtUi1Z+DNi+OeuYp/w4CKcii79PaDzU1W6FnXRvQYxFpXZIT
XfQUnSAb4zgQ5vOkVu7zPAj7schKdK3auNgag7mGAFi2B+C62OjcQHNEhoUt7iyCllmjQ95buvLq
5k2P+NFYd2Q8ehSfmsCLi3ujibLhJUPdx1JQpKi68kvc2l33tTCmOtzD2yu5WosUoM9K7kw8zmqe
ZXOSofZOcjXA713ENa0KLKgT+fCKlFCkIALltRGRVJu1MfqQyIJawYPbUfAJFTebP5kN1WmfPyW5
UxIr8j5WoZ5TNoHQuRWalY8fu6pHyqBwTLU9NoUzFicBGw6YVyEK9Y4MWbOOM8XA+NhMmjrsQdDn
ylMX9MLYxH1lZDuX+v6rQayAxFLVEZ2PgxYXX9Isb+1oo5gKxfidXUntQR9idfLdRcVievKizvkB
yEOlc2rG5g/ykwSZLXMI+13iFRk2gfmUvURd58R+VTjuv0qF4IeUOQspGSDdET3WekOpoqsM/tON
pZKMBFu3RWTlhFihFX9xkqT/EnRNII5KEeRfQRtFk6/MtokPSeJQR1IQRruf9E7/hsBXp/2c8tlD
GxGzHVS3h0Tc206I5O5MhRR1SkAn+XcEGFX1hDRE6Y7+TLNo3FK1SR68SgTunRm6Ro+yqNKAK8sa
hBx1tHehr1tTVL+1eaCSTdRaI7b2rJdfknREegwVzDR7cGW7h+Xzgu+W07fFvtVQi/QtOzX/nVyk
XbZxWaXtIZhC5SHIc4ENw0ir+ZtdT5E67oDpVeAA7QA4TXQs0zBy9wKK7JO0dTVf04juLKhutOb2
Xq0Yv9EFn6UqaOl6KMvaSAtba9jWi2uR7jhAABnsQZHmmjq/nTQPnea8UqdXrojuEGVjv4/NLtzL
rBqVF8NBIDOut2o8pispwMXIqAyCC4BlD6wcSbnFo1jaRt/k02D+skc1b/Z63yrhFg0A7XPnDeX3
ZqCoh+Q4QGbv0EUIi6whbS9KBwQeFNQBf9GNQl1hcY1MSH5ZeV6Ev7tJ2OFnw+3cJ2XUZgKxvPk0
RkWS0EpAcTyJ+vw7r9O08lJfhFzIZ1A7eEdpk4It5z6ba60gcUlfCO81aK25GW6rYioMf1Ccj0ox
V+7Gar3KWwm6lhe2JPfIOM8h5JZB9yL3yty6E1Wj2i+Totj7ep7qU6W71QGNB/HFs2r0Dm6/vebi
UqRfgF4+gpOyqI8A6+IJxAdgRg1FeC9hFTvzvTOh9aPIN3oFbbIMKCgC0eWijelYMrNcdvVUBYdZ
XlnvhUpR7JuiHb5ZZZi/6VVvaX89iRC/ZTxJ9AI68t2D64+ynVRyn2J9DF7UspyPSTt3d21c4zcZ
qNOmHppyZbxlC8iWH0diZtB95rAQxpyf1MyNsyxGEfrFy6zoszN4wyfE/qftoKKkPKmxg8p/Rc0g
BwZ6Apf3DCtcOd5eyIuU+P1HoAxCHMXORSPk/Ec0g1aBec68l7zu9WaLOpHrx0R436NumO7GyTV3
kZ2kr6MIcQ6I5vFTZhWICVs54kK3f8vy/vjvp9BNQRiEmrHUMf2zbpoVvSrmbvBeKs/t7ZM3DGg7
DP3sIrg8Djp3iVbPd2VeJp+1fgo/3x79cktLNZL/P/piIiwBGqDHM+GlHot4a7fuFG6MCO+HlWW/
PKuMA+6AG1LWIJZcrcnQxUiHgwlH2e+r6TXaHt1k68DTON7bsTf/XeftfZfZMg2XoiMgiRbvQTm4
9oSitPsiRsv4hjyZu/WmadzAmzJ/dnUTr3zftSMLyJfImENLmizn+Y9jNADMAlYZei9Z2FiPumjC
H0XkitNsJmg6316za3NJ751SAzwtOmOLHZM2RISNHjNWNDjiUPZ2dl8asTsjN42M+qHILOP77SGv
bBN60jT9YNCr0DkW0wlDenSVpAxelEDrwbnZfOBeTXnKV77tymlgILlogO3gHCySviqnkGFWc/DS
qhXOzUXgPc9GpezsuA+OOqpZm7oMmm9J0rSH2594ZQVllmFJRxZZl16sIJKgc2zWjfeioReK4a86
Jxh8mOa8U8WQzytRw/LN5NSDxSWBt6jJknEsogY71jsl00LlBToxXg0UZCewzXhfvAaVkhFF4G4Y
Gl7wdPsjr2wdLnnoP1TG2KUXdefItKkwW0xv0ISvaVcOR1JF9MRErOystK9XlvPaeNDAAXaRwjHm
oldMM7DJNHVSXhS7Ue4UMWjbodSnbKe4cfJgMgvqyojXlhGNSfoK5Kl0uBfLSNsp8YJAU17CGqH/
rWunwQax2KTYFFGy1sK9diwgq4CCIVciiVusYmahkltFQ/BSmNCcdgjw1U+aJuY1J8xru4W4g3wf
MgHbZXHivaGpDTwBghcHO4TTrI/TLs3S+A7AXPDg1HN2aqY5WHkkrw0KxFEmf0C5LkjM0AlLL237
8FUhU9iYWQMMNCjsI6Y89bGvevNDpcfJ4fYGvRwUzqTsTNNARU53iQIcg0GNA9UOX/sYa4xNbqG1
04Pw6RDOC+uHQm88aCx6YG5vj3u5kpKrSQREXQuqzhLLRcW6EWHkcCbSzmj8moUgJKFk9Pv2OJfb
kwsUlB3T6bFzlnVpu0/sHEXy6FWMjvdgYL7hJ6NjfzF1ZQ0zdW0oBGXBq0OipNeknz9JeRinidpH
MUON+cOk6Mm3KB9q4sky++trxeaUc7EAOiGEWQbGIUpuLQAHvsozig+50ionMNgcBdxd3Ajly9uT
eGWTgDzjceAO5S5bEjbMoHLyPu4xF1NbaxujgvzkKZDrcy+J70fF0H1kCtfECZdpFpNIBwUqD60L
ynzLb7QsrynMooxfVZC4B4Oiy9Ywc8OPp9T4SIW525WK0P+JKJTtvBRRrtvffG01CS1kKYxtQxHu
fDWDuJ6cGpm+V6pzw4lnMtmYTpF9ceYhPt0e6vLSJnyikg3ujbPAbj0fyirdAUuFOn9tRWbUOxU7
nvQRIJOif6dC1X0OK912o5XvuzYotTAOGskkoc3ipcirNC0GcpBX3J3CgxqW3mfqQsbDhCfDEabc
X6JF+UKbOgGJM5ZopHLLQKPw7LkxSW9ejQZvIEvV49GvRulqA37qd0KZeOXFv1xA+QrSkKLQJ5Ua
ZOTzR4QIGC0pwl5kr+qkzwhDhM73IUYcpdWGWV+ZzCtjkdOh4wGiQL72i7EII5A2HKv0FYVQY/42
pQ3pf+AFuXLCHKD8dnu/XIwm8zgNLuV78ftiKt1GD6vRiLtXgVrnzy6DW6cRoPL4KsbwP4xFZgZC
QpY6KIadzyKWBZWtYlD0aqjoEXWqnQU73kRjO7ZKvNaCuLhnSMKpzcrMjNoKeeL5YGi4Tk0d6OLV
E237YAT4EkDttz6JITkNXrKL9SJdOXvy9/9Zd0XmgfYVcGIKACq9tsX34eqCL02Y6K9qqhK+dE5R
qzusabyVvO9yzSjn00TisoZTArnk/NO8dIA5g3bBa0ePAt8kzPXuIhEM3SZDQWdlO8p5Ov8omWIj
TgK1g9doCbfXWkuJNNjYvzKrB2kfFdZ3mAfJBj1glCGVuNgYU+DtwlQvft3emhfVBjQEbRQaOe4Y
ZUAWkkv8x6kzhI10MWp6vymZ2s9xk1f3ZFbTlzoxgztkfMdfldor31A3EHcwpNx/9HwaV+Z6ScWl
QmVJeVlg8GA9QQoY5z8iLhQRlLPVvUERblBgtrFN8624D2vqYlPf3mWxqj0pnjGb3xUzjwDFTYZ2
zEerSakZ5/ozqu1BcspUrVRX3tILBAPRFnkdEFXuXJ6V5Y8zYsCeXWbpb1juGF8GMzCeFZBWT1S8
m3yTSfU/QfUI6pFu3ddJMTgIxCna46yF2N6Zwhz+aeZU/KvaKmzGleXTFztH/jiOBMxMGVaA1D2f
Oa1xs27QZv1NbTrvA04Y4ZNmKRmOEK1rfMIVTkH5sas9TNIo1+OlhcFItB2aajx2uNpH2wjZcWtl
PZdPlfxRJMJEAmQ1UjXv/Ec5A3HigFL62zxl4s2qtfK3lVFVNVm1L3qa2muzIPfHn+eH+ibh8Dss
G8MM2AbnAwrXivNIE85bUuKP54dj0SEJ7KAqUkdt+Klsq0J9cKJJ9c0s6d1tyVP9JSjMwS8NLf9V
TMQz+0jv8r+zopBYB0q/MlknAbIAWSxmws1KifjXgl9pbz3jQBbQ7i8GJFycojrmSfN2ezss72OG
o7duECPQ9gZmubi0Aq9v677Uw7eQR8Cf1ZSGiFIr902FguBoFMOdObrRyuwvL6/3QSHvU+F3YNQv
g01v6qJqQMj2DTBuuumMyDzQ8vI2oVVqj71XaQdhtdqpDTHeuP25l/sMGAPcDgmbBSq1xMuMc1Rb
Vq+Eb5OWjD8qafsTJbFxb/Yi3Qo3Ot4e7mJ2gVmbhgSJ8drBzV9EYERKahwnSYK+/tiiRjyUxasw
+gmfuCEffepahvAhva3lmdZyd0uoOuEPK4sf7kVBWNNmXITcOH1rMo5OXUjGntcE2LTYvHvb2x95
MacMRmtTBb3CchJCnB+lqnF07BD69A1oRTz5ddaVCuxGqh9F3Cm70Z5QPLs95JXvo44vxcfABRFL
LO4wbGASGuVD/mZhuXNsAte9z+cCfkUMhPV/GQoArlS0kBfG+dfNpmtWqVrlb1Gmx7vcwwtRRLqO
u2hKgWDlu65MJSJKRH1kmOgLuov9QhUSUVylKd5AL0abOBXGsacZdZimQXnMS6x0b3/c1fHgpoF8
oQZyoakJ4zHVEi0u3+LEClvfqcq6O6m6sO7DpigVv8JgbwU6eXH2wbrI0yCvG/Chy6VLI3rySurk
b3aSCAgHdbVrysT2mz4FcIPBaPdQm1a6xy1kXAuarmwbnhcD0ogMW9DIOl/LCXZmAs+oeIvwSy18
MCzlsa3HJKbTndsrDf8rc8tgpCXc48TySympojBiNCPa8m0uUmNXmnaPPzG6AENghJtxwn3nr9cS
/Vf6lZBVKH4uJzbX9T6qclG+9U1iHylIYFI5N/kjD1dxbHnmV9oBl5OJ4RsuBvxFKqctVUZrId2r
ci19m51R/VKHPQ6TajU9Ushfw45fhpwEUfh9kThDLKWUtTgXsGdTjWApewvdunL9YtazvZ259r9e
i5ixO83ltk7UGuTUYHyyR2w02mGuV1qIlwvKj5AqZMhiqizsIuSkKjmpyVRyOJ05OVhpmWxKszB+
OaJCzM0r/xatw0gIWQEQlGQ5tLMW92pg9EPVKXPx1k7mc9vX3TE0eLiq2dnGpEr729vncjmBhtGJ
pSyJAZ66VLLq9aFPjUDp34zUDD7G6qzs08SLT6YxvP39SCAJCTto7gMsXkQ4Mdq8U6c0w1sw6tXD
rHvRbhzCeJ+jUHS4PZTcF39EecC6kEsAHQuEQYOB5MnL6I9UZZrbzEmUXP8dFqV5qLRW37WaO260
XAlOVYhqUO5a4TYa4+S76oL6uz38Eo703/gSXMaNh1f90pJiBLI5dlGn/Yb6YJq7zq31fzqz6w9F
OMJenir1QQ2DH2qgu0cQ3IBw7Hnem047f1K7fO36W1y98tdQLaEHRLZPfLBMUGndAplGD/23rgzO
tg0DKBiYthpf0sBwD21guj7W1oHmJynmxLenQr7Ii5WQt5NLl1peF8vKqS0Mp9DDwviNW0KGa2M5
/6MnjrJSEFqmhf99ovxA4hFUBJZQvryjiFkUmvG7A/Nz0jIFm8QWI2hfb5por04WxtAJZk7TJOYP
Sat8NETan2KnO2XlWH0FP92EK1++bIzzm95L/bx35KsE74tXxxW9wJDJNH7bevncYn9yjEC473kj
f/S4QTXo4djRvPVwyfpS43e3DeMeINZMUHN7DRZH/L8fwgsBP4JKJPnz+Wmo6gI4sp6Zv4E5xrvW
S+xTHPXDXhlMZXd7qOWNLccC9MXXUqCAJbEs7fajF0MpN6PQVwwX7VTPxbFp7MKfIgvbEyazkIxb
rO7Qz8P8RgkoaIP6ebn9K+QNeb7pHKkuovIeAhnh7/MP1kK3HC0QO9jAJa1317ve56oZ3QEtor7+
mjSIGwNU69O1FZcTuRyXLUg/AiTipbbIFCQlFtMD1FRhxB8rBx+4Dz1UmI1eK9PvNkNt2FLi8BlR
xAI+Q4aqlCUwQ+jxI8CYa1Cru7Gl2bYS7V25jqQBBMAiMmyECpYwZy+1ItvDbyH0waSqH0LRRydr
Uly/Tx2xiYpA3AmsgzcOcur7QRcOLLvWvJ/mQt8ZtKv/ub08l/vRBYhKPMZehEKxDK073RvsTi3x
zUthoh/xxQo+sSixn5jlGpvl4v551/OFRMM4lOiMxSGsinJUlFZabifjlG9Al2O8NlR5uKa4d7Hn
GAhCEHsOyhfHXf75H0+OM9ZialBKgZYc5HO6w+bQ1LdZF88VTnY89z7ovy686/WxKleuv3fA8NnG
Y3BiTlnlpKfCRXs+OPqd0VjNBhsvgGo17fH7iPT7KKvCxzg3LOFnrtOp4NgBRm4xoFK9Oy0I4icY
U3O5qZMQG/Eay9TO19FuJ2MVGnEVpq4wEcxHfG/jcoNjUmf6oHpxt29GL4ifLaTSlM92U0XFnZUg
hOmXfQwyEn/GiRheE0VTV34AjxVTdtMI3ZchHounKI9MrJdmpzH6HfKRLpZQFKxmuE24kMdPtzfb
lXVBC4CmHawd2NzLy4/qN4ZIwtBC3+Y9OBW4fX4wTBy1I1QYf5K0iqcWk5A1FsPFm0ukA5NEgiAo
BZDynK/IYJVZYLa5jr0ndKf2NNbl1GzGoTW0+6wanOwOXtd4jxlVle9qGjZrj/4iakV8FXUymk6y
iwiPdokSsqGkQUUajcjvQMdhhWYO0uAU3oG6Kb2if7HNcI3OfvHRjImUFMJ7RHmyRH3+0aDahdYO
CmOaVvmrHBrcSKS3Y6TjO6AjrXWwYCLsbTHbKyfgyteSIaCsxNMvqSPyGvjj9JHKpZaX6rTSpiY+
Ol1Yp8dQ1+fwC37lrflQErHnK3nBxc6in0/hjEI808xFJn/TH2NqodknPUXNBLSwaWLWntrdRmss
LffzMaw2Cp7PHxrANsHKO/NeCzw77mRf4DUlCxHUC/Tk85EnZyi93DCgw3Tq0BV3gtS3bTYV8qLZ
v12d0XUvzV7rjq5IzbjbOC5Qowdhx0X/wSlGQoE92f+s75vUTT/1GAdHvtboQOZzJe+rret15iEi
sIZzWLWzxHbHeZjg6S5C51eUZna/NQnl1ZNjkFhHG4v+YnDvdZxmHY9HBzfktMP2ZGfmuRp/tFMK
QtvMaptqmwHIDFceuOWDAnSL1iq7jn8AWF7ihlNifZUcTf939PqtpX/3MjRjpq+3L5JlaEPnClor
RDh4BrTonGWm1AFld+YCkQEtbcJHTVeajRkbzZYUmacrUtRdmc8QRzSz3Pe01O6aAhzZ7R+x+NL3
34AYBTE8EBlJ0TxfebUYQwC6FaoKeWTtanUYcBeYMxpBwZrG9+LlfB9K5guygEkIuzRsqnpFDxpc
Ivd64KUfRjGF93OCeertD1ocov9GIWqXEqswtpc8P0V4hWu3iKXUZWTuozhINinuTXuFh+c+tHPz
HuvENYn9a7P4rhONLReo1SWwyebVix2XlRSs9KbPiuwOZ4gYJyr8M29/3+Jiev8+3gBeAwA4LgC1
8wVzg1z1Ws4lKlGJugXBr2w0J2m3cVXHD0qor4nOX5tPdFhktgWIn9vnfDwjwNtRmtPsG4hzn/Su
lKwQLdiNKcwDIyiF39vpX9YQ/vtITh8JN+cC2ZTzQXN9spN68rB7cgka6i5tuPIB4aj4xu7/ej5N
idCnZkH/Bl7N+VBYhQl9aCJ9b2XKVPoUiCbMnAAH/sDk2NyGltOs1LuuzCgjMhzmbQgxLrUiczuZ
xxoY9X4MQ7ENm2TGVEx3Dlj3Ng/6FP2cuKiPt7/yygZlWzIW17zsdi6OeQQOze5ZZcRTsnBjD2ay
Hx0eNzvJ17Caizdbrh3fRb9JcrUks/l8QitVmHrqBerewEF5nxpVueWWL7dGlTXSNXfet+5c7YJg
XIuYr30k96gs5IMboTNzPjKEpqmI+xw7kTjIt9j4dH5rlkibee6aUMKVUyhJ5VI0STJMlvV1r3c7
20gxSUmqECeRWsybpB/yT3rU0v9UujWB0WufBipfRgd4PzDm+afJ7l3YU9Pfh3Lj2BPtxcAM8iPe
Ar/+fqdIlB3dPB4mMHfnIyVI+DpqWvBR0VTov8hxevuzRtyu+ZMezk+3R7ucR0ToeH54gKisoVx8
Php1Zd1IPS7qCpjjXjG9FOBGjJ3iFGd3aoYC+O3xLueRnIq7jEeduwXI5vl4HfL9M2Vsc99HqnU0
MwwFIn2uf9puEH25PdSyXMNBkGOB82Evgq9Y8o7hceHTHPcm5k6gwT5WZhA1r/boZEiVhLHT1IdB
tEm4tzqMoz/aDd3pfCN6PR++VS5O5Ud9dKy/Vitlqt8xsVRokL9eQrkqRNVragpIsoZBYNU+r2Ia
vgjbnPOtNQ1hvkPJFuskZ4hT7XR7Rq4sNq0hYDuo4Eg7Mfnnf8S39FIrDRiLtQ9TEleeEVe/KyLd
3eO/XW8cDL82twe8vIreb1kwFDROoOssVjuL55EwpPD2fVum+34a4qfAHYoTfGB1l9RK+yE3gsAH
2Fqu3PHL+iGLTygAJJGOGNcg0iXn3xo5nZEXvcBFKapUGM+h1W2GGuudhHgYAqsh7vMCU+jYKuwH
VQj1cz1U5aGcxfjNdGpBg3DWV3bk5fxD8qA1JTXPYHsssYMDnusgSkpCI7OM7i297Xfp1BT3Eeyi
j5Xlfr49+9eGA75HjUjKHcH9O58CaHk8dT2SvAoivF9rPUv1TeIOaQUCbZh3dWZ62eH2kJfHWwJP
0fyg10E8vdQ9ZDFdqhWhsTfSqGh90Lw4m7eg6vYDLMQ1r4dlGYxFBmoqO9Yk/VzLS5wiJGHis5BX
tW3jZmu6lfDttte/iG4u4OsM3daa4V7TvstfuEGfKOE4m1ygZm6Vdrny7ZfhtUxVKL2D9JMiootA
LU9dTfQkXagd5x06RN6UbnBdjf6SLfT+0VSHIAyAFyMxXjwQNFaHIYvQloyLKfqWI3Rwb2dafg+q
V/GtzH25vaRXPgtdknfypPTkXnpctKldhJGJp1MqmOMIybyPblSqj7dHubJx+BqeBallh5PvYq9W
bhdWc6GiJ5kl5rdORFnue+k43vcFJDT/9mCXASAQAF5WTiKJPkDX84Mx1elEjT9AnbONoudI8axn
6qzhfEKMVWl3ldUJ5RA3Zlqt3IdXvhItUK5D3nVpfaSfD9xpTicjNpkWzf29FZkNsiA0BLHpVdTv
tz/y8vRz/0n8IqmtjHYX29HVEOgDf8brN0X5XcS/vE2MCnE3jTZd5KRrKllXx5MC7Cwjh3/5sreu
LdwewubeTmFbZImb3TkELCe3Ts2tDm549z98H7m7lBaS7N7FIhLWNnbTTebeyBN75+l4V5Vp4Gyo
HbRbdJ26tRdFLs4fNRouGhCIkpwJWhIEibloXRvpFNEAcZEqaqh07quic74qsYBPD3+43alu69Bw
cxqTTkkF23frZC1UqQkhdrXQMEqqVq+ci/3ET6I3w4XLrpJVyfP9NGP61Fj4nO0LUkBU7PVpVwgs
EjJnWmuFXCwvQ/HVINCRZJDaI+dDRUkDJIcGzR7d8+pjWPXiEM0i2nVSYG6garrS4rq4dhhPktxA
P4FRBfd+Pp4VB4FS4oew7/QGd982R2Xenyet+0vuwPstQJ4Ef4GWOcCuxYelZi6cakj1A0cz2XfC
TA4TOkE7bvJ/b+/Yi08CDiiBBxLRRcS9tLBG16y1Q4SXDgZukl/ZNNYd3oDRilLH5Sj8r6mbygtG
lUaq5xMXz46OpVprHTT0TvIdPBedmnUgMtG6K/foxfaj+0grlOMn+9FIHp0PNRuZ2Ymyc6UWQvqK
urN9DIqp2mqpOq4R+S/2n0RJA4OT7AcJ4Vp8VuZQhy2N2j3EqYl4M5BXiMmK8RAY3X2mKsFK+fly
FiXFg4tasklo/y12xZD2QFWbyj2Y9iR2qI7O90FtrlGt3w19/rxTMHKXboLS65aKGao15zM42A4O
XEiQbUdECWzf0JqsaE74iyN54iWVHg6wnS1n/MAJYUp17BSDAyrlkXGHJaCd+R01co83pHUyf2yQ
d9hkKSwuPxTt1Ow1DPB+1r0F5q0Km690lNxPwJyMRytIzYx4OJu+41zV3weprX8dBapYftgXrrYB
qK3H/piE1isKUVW/wWxb/SBcVTxHo+7m2xpd1vsOwpa5dfQppTzb6N58Rx2L+y81q47+vDMFhm87
jfo5HHXMEj0d4+SPajl0wwM0JUPswDbZvzzq+flGj8zoW9Bk43OuzxFGBQ4FkoewNYPa5/IBNBNY
XfixbGk+7/vcUYa9bdXxvKVNnpd7xwyBWYSpmjg7e9RD7dEF+fpr7Mu8OKCv7tKYCjTNHywxj7+M
EB/jbSg4jbvRNOKxp1VlIdS0aTKq4dvMTERe3fW0SgnibECs6VGjO2YYNF/CJijQfEn7/FPRZmG0
C5vQCt4ME5mPHSFHY25iNTbyU1eJ2d24UV5r7SY2laZm8sye2gGBaFzvEb7zcs8HrxIFyh4RmUSc
yqIT4i2vaqum+GZ4AxdRP03/DoEDy9GHPtN4hxZF/DWSnzxAZ1uR6gZnTPZV6XtS4TzfisgJzxp0
zXAXh0mJwh1ikzmeDZmPiNq8B4Tq+mGJflehFLQLYUZsb9+OywNOKE/ox4HgMqG+snTYHea2nAAU
JbvAFuVd57TPwdAXe9tV6r2jl2tSURdHD9F97iyeM4BgEBCWLQYksKJsjpzkLjTyKtiPno5AySwa
3dqVhWWY2znK4/Fk6pVunZy2drtdC776HgJr70HNBy1xcMwknvdDUKvBrq4b1fVtPdE4p23Riqey
jZzIB9Eg1A9lr6bBVwDNuJUaBUHtx0mE6t3YGUbt50BIaw6xmX/OCcCHf7vQ0cqdXo96t7WdlHqF
ZaQ08RsUjlTsVEct+JQPZdluUZAs0OFxQmIgmhhF86PFB8TZx6kSoYWO9+23Sh+79FOKf9yDplR1
6cvn9kUd4sHcNXWSFB+9JtKMw9ipkXbUEz39rZlJahW+WpNc+dwXifc4OnqFat8Q/mClcnsDMQvc
jdbGwwcUmObdOEJ/+wo2OlXv+a0ifkktdJP/CRMlnB+6ecK0ITBqpzyANXTwOipS3L6Pdgp0ix5j
Oz7Goijcw6R4ZYapuzA+eKU2xb+MGdY+mWzQb1N6MJ65sxCiVvykRwY+2tgW3sW+rSUNJIMUDov+
VNMsFNVxjGkIH906m+MDEkShhk9K6DmdH4/2bN3pZKUKbAivDh+NKVHFV9uYtV8dAZ12T8lMCw+V
qDy6/66e5RDEatCeZmO7w9PtjU/Stjh69EnoQsmCAOx6CaI4P3ptFI+UmtzyjuaxBmqjporj7PHu
5sBHSlmGnQ/B0mv2rpPb3zIRiN9eyLXwWBWI+flpiUeX36J6UPodhZ3+ODtF/KK6RfQxLHnCdznM
lWGDNmhl7mIORGj4KCFikt0lYtKRPY704hN7fEw2Ra7qjV9NyECyXnAOHwclHKvPGJsp+d5y86Dc
QfK04k1RF0YDBGFU1fhhaBwt9btJnct+oyKrI/YlmsTpByVP4nhX1Lk7xP9H2Xntxo1sUfSLCDCH
V7KTupVacpD9QnhkmzmzWCx+/V30fbFahhseYDCGjBFThVP77ICtZJP6n2012MsXV1t858Xsy+Y/
f0gtLxK2IYYbP0tgtYhct5QfsR6Y5X2g4sn/kaGCalmI3CFX96NbNsZRiUJsKzik+S7AwQ7LSsh7
VhZ5JPIMX+nseZEq27gKpxTzp2O+pE5bsZ45Kg5V3HXZJlumZgmNlJ7nLgcAvLfNJhjuYZ7V8RfX
rSY3xKoZ75xMeI3a5Ymt1F1cIunbrhq7MYozKz/GQ68Jds4KwdJZYsMkQhPfEm/nwACCEgMGc+6l
rA8qSOciwulE6Deq1vz4hKtxcNacKvWL0O9niZ7ANHulRWnvjfnHwvTMF7i/sVCR7Jl9TYSoI+03
VTlW+kaHm682cdkWzsZrfEeL6GukjRsNJrtcWGMS5xNIg5J6we4Rnr0MUT9m+oNep7H36i2WBltH
WU21HbFbk3pIylJenilZnE9zVw/FB3DnZaPVRu7DCPGT174sjadWJJNxw+vX1abz5vxlZP4kBwsB
xMr58bxO28TOYu4tPc+RH7kNWs52TqyXeLAyJ0xjkW3YOq1unw31or7V8GCNhwHrQvWtDQaLz2SY
c3k/FykuyORDzh8SQWM+MvVRbgjyoi07TmV9SBqzSTdKtgnjOM5Sh7B0P87NsJROXX6sNRV/tbV2
tB6y0YCqluVST3fu0FYHR2rK/AADWGW3g/QDEKN2arIPsTVUubmXJSG3N0HP6BdhnyF87zYgP0W1
XWxZqw+LMTs/bP6SVAZ7wQAstDKDDTcMcnwU4YWyzR2Szkhjd6vsfrCjPMe56Ju30L35LOPY1ijL
EbzPpxT7EPuYLqnv7WqjsG57zRvkQbV4cN+lQedZpyXWKgPyUd5ONKXTAhbK4s/B1myEWX6nfTYF
J36XQ5kK3bjd6l7n7YWrkrKFhZjOGIonWrZEzUpACK1iGNqvkwGRZjsMCB31mD7A69S22bBJq2VM
zpqw+k+20eGAW8P5VHslTbuJgjbNTgKNjbrr4QTjzFayu2zL0dBuQDM0yr5ponoORRcEGJIrvRY7
fQ0QnCNXVukLPIiyuctlJT52dWBqP6m+rDq0CPttj0i4pRHOuW58T/Q0167AL5clBk5ka7uf7jf5
Git/6O06m9two7Vu0I/4zZXl3lhidB+FR2duxsd8MIxoFL2mPV9b3y+Xdy4LKkJJAx8bD7CLo2yi
oBikc+scC8rF+uz3Sx+oCEikf7XMNHXvnX5CEFJkUA62GoZpM5awFauZPWvO8hjMI1PGx6Lup6PU
gii6qadRhLGzGvEtMC7/k9DlCxmOEs93wu0N/9YOvM6EkynEVFyBlX8103+vFFcC3toAB31dz8z6
xdnI5ixWzLTXj74xJAQmW40ob0xhBP0Gc/+CgrkZsm9l3fgf7drpYENVXus9+rayOANgGhXfanWS
6euhxrC7sKH/HD9xvMrThRgL0wqp2Strq2ks8p+HYsyPdtMaznNt48HnO6MxhkYWEPnutqK6ljXz
iwbx9vHgT68IPcxXeGaX4ZPBCAksTqzpKEkjaXdlret3wuUM3Y59/ZArvQi2I0yhLAySOca8UB++
9KpurI2q0/Go+eqLTVfnBzk0aDExsZg+2mL67kOSv5br/K5wAI+BCWbCA2XXBtJ8O6Bt+q29Nyh5
RJqlWpTK7ZA3YZK3tKLDmQE1RFjJ6PeeLudmt4bPlDd/H9zvpxRGbBSMlKW/sID1739rKdkipQsa
u/pxBO38SPtq3Hbkv1ns4Gw5c1JRu/79isblQQVfAjL38HpA/AMh7hJ14FHH1tdq9wjNI9chX7QN
dMOJw8XJa63cvycTrdIjhAj+UTMBQVTYK9NbIkN4RWyGWBIG3hmN91KFKJXKCcMk189JiXIwF5ul
yMyICra8d/lTe9+XdKeuPMMlAE2iKs4KAN2/wG7O/2/fGl55XoFg0D8mgy9vWgqiBxD44Lbv0LGK
XuIFT3rmNQjl/VWBX0GDLaLdfrnrv71qYAn0+gLgt0VL4ez7vA/koZHe5D8mpSrTD0Vgjf6tb2Tm
tTbzr5H4ZlLR71ot/XkMjpaIVN9eG+GUBirUVqeh0INbX/rQxEdiQZNzRkP0Ues62YZ5Z2H3ZAyt
Yz6kRTc4OztRcR3i0KBPBz5edq/yfOrrUHW9U+7nyixf5sQkftHKWzL/ON/UPwee0dq1RdwGVxRv
70YeInC4kBAbGHmrQOvtQyTDkApTr7Wj54qdCuB9S2dUP9hLnEf2wmSrjFSgOHacH8pZ4ivAnvVu
tgdo0ODkcFpgP3lnj2NOWVsv81KcpsXqjE0aJPK2HDsXnIbSo8LZvyhIdUSE2z17AKUdO78zPJrT
4sxR3BYVTq8Ic5Ot6VHgxtG0VHH1n4/Q4k55sd/sioUjZ9TgVDHMYQo1DfUna3SvQlv45vgoCYu7
VXAj53C27Vjbwm8nZiWsia34bjuazUl0Vi7JGKPhjtuss9LkRK8qME+Q5qUfqqFoNcS6HJVz9EjS
9SPAqgDZtoPMnvg7PLT1/ZX1Yp1Mb4cenw2yFhgv3Er+8/ar1XIJgMT0/CTdZF5CC9Hy0RgWeQ92
3uzBAfJTQFc81I3kezv7xpE4z/Hb32/icuSsWiwO8eiH8DmBvHRxD0HTZknsiulU9/SAbsqYWiRk
jhv5kW4eqKZl5a6+sY1eWjvNafTsZGeNXu7++TbohaOWtlkIfAgIb1/FvCzS8Mt0PBUezGwEvYgF
RKsbc+SYaWWEqZ+NWycptLtprsoQC8/myiD+Bav8/jV4E/iuwGtn41opjxdvog9SwLgs7U4yXhJ/
n47BuITD5Pf+zTIKaKbw0afuliNW/5/dwXTeVq7d3BfjLHo8/KbOO3ZlkpASNMFH3Yk+m/pNj6aw
GOHOmgqK7KSLfEfC93DbLHo9E20B4fE4ycY/1XYcz6Hmle1xCJJecjiC0e7usHnU9iTCi/pKl+oS
Iudx6b+vD8rmCsfz4mgvDdNaEjRjJ813X2fd16ZNnhaf025s7SvV7btu+Hot8AOoBXxfOn4X18rz
0S8zznfIc7TXmchXO4zLKnO2OLxn+1aAioZZb3nNrq/H6qOMcYNYskp8AZGb4LNfn3uX1cGqzaev
wtCHb0KJclEpKgBN2au8P2kQX7NoHFFt1HXRjZHuAGFG5pAtwZW99RfH4O0IW12gqEoY3ywel+U2
y4mrz90oTtlKGji5TtlaB4z1hukgi9GcQrvpqik7DbqWaM+KuN72obP1ZVOocixfMMaT1UsA0PGQ
pYGWbGuENidOdqYHNNob4rtdm3Leee5Sxvsc3H4MFzfxsk1dFDmJWpiCs2dZdSade6IlC3lGMMOm
y7l2fNEQxGg5aSeV2UTTxFIdliWGWNcI1O8wJV49DCuc01EsrATOi8HQyliz62RqTrQ1x3uVOnoC
2WRoy4NBW9IPx7gwkk3vDIiTajG2r0tHEvDOyFHVRP7A+DyivtA3GSyPLGpzN/2E+KRRh3kxtHzT
KtO6mZxYXIsJecfa4sZxFuKEgfvj2o+7OC2NNV3/VDb9yfMYvA9Dw6Z+l6UAw4ahmvLUFYZzry+9
E+81E5fcB0RvxRAJyy3m3VwXmff574vmH+YVRBaAYrg7tJvBit+ummavK7+AAsGqabWn2Z0gT2K8
/mgYzYPo/PRRIp55pLw3b3rH6fJQb2erXTms8+ekhy15ZYT/YVahQcUsASLpStu7+LRzWsVSitI6
DWDIQD2LK0PPqJe93dHkX3R6z1eu+I4pD89yJczSIF15+Uzot6+gEVNpxJo+niwEvqheWq+eI2us
Mn3Dx6zaOuxtaQ5PBrz9EatHENaNBlwE0aYoLefKF3n/Anh8bsLlo3Ckvrwb6dlxorduf3IGz81u
yoXO10ZP7Mn9DyV71m7QZtrazd+HwfpWf1tWqBBgGUEXXmcUQpjLiAdy2mcWS5fugKvwzzOUWD5o
qhsdKoqsvyb2+cPV6MJ49M05YlOzXJSaZBHX9kyLEkWAsdTbpcRyNVJmII5WVeY///5oF81OHs1A
CQG1nEYuk+7XBPjtEFcod3LaYrG3y7j0wIa0RehFatYVoPv9MzF0YL5wBkFhA6P67SBqA2f2Ynj1
2wwDDHk3GSQTfJaCTvZB2X4cX8FdLg/ya3uHQwe60fUUj0Z1rad/eyylE9cWO7mLWg+dCRp/wgUK
TociRqpLS6+Te6klU3JTGdRgfYTPrJg2gYjL/7SV57KlyZMWYSwZWdO2stG6dpu+ThY6p3ZLJCvG
F12bh/6kNaax//s3uVwHuXu6+L88A+zVp+6XNdXvdz8BX3v24p6HwMX7gYUgB0e0gwoJbHq3NG71
VRMIb5Y4990DssjyqWpb+dLaZj5cqdrWL/Pb2F/vZbXKg08As4+G+EXdKJTu1E1tp0914g1GmNiJ
G6XlbHyVfeo9p/PsATgG5RUKyMU056qrmIN/mHE0Ri7bInU+UiPIaTr7so6/xyKtPsSavyz/aTXB
PptysqW6ogD7w1vnmj5+nQb2FGxCFwtdXUGpAZ3Xz4pvE9y0MyTsU2s3tV+FdVyaPsB/Vbj7eEiq
hkCp2S3bLxqb/LJRgUx60iZGfbrm7nJxfFjfxOpDti52CDLcSzVou9hxOU/DfNaLZTt6pXIjBseN
NHPbiWZif45Es7ASAYDX1iGF/dRfKy7XT/zbEGD1w6SHfRmLoNWY+dKmrvAwtyxUbJzrzkiy0Gyn
zN33rbZoL+R96I/LWMt6m/VTP0VDqob0YwwLpDrWaBH04milRWOEsMqdapMg69Wvta9/9aff3iAL
BcguzWOO6Nzo29neNz1pYvrowjXojCU/IrcIkM9WHYGFoUz1Sru1e4WdMzB7kNahIRbPiPIerOas
+zKYdj0MAHpOMKhstrjaKutns7aS4RST6XKzNOy6P3uoIOiaOw3kH9Ye0tpdlScyDntBxgdwXx2b
8RwZdj8+VzMRX3TxVZv5m7JtsQremIlmHIxKOXI3GyqoHuKgboudFiQYaovWn9TZ73oXMETDbmLb
T9RC27xMHO3YxJnTR2j75AdnQgS5LScCYMworVQ+3tOgN+1zW5iJUmGp5ZKAnmFWzqZWHdiXm8at
OJgziY0aWmLtibsqX8CcaOtLPijBLST8UCHrhaqOopvvoenb1WPc1AhPr5UT6yy6+FY4r3AMxnkQ
NP7ypNJqDYw4ezTOspPTbY33JniDUthQ56T9RdhUr+l7mDhLQjZFvDFnifMAFsR01MiI/vD3pfYC
V2FoI4qj6UJlh924canoGhtpY2Nhd0/jEj9I0tkOAchzJMsBoKOOi5++XccHY4qbK6vNHy8MBAgm
xhRnPXk7ZDVpt2ZRt/3THNjpgVZZFXo1dDp+XD3mvtJeBg4LVdgTO374+zNfVnTrQ7O4ckiCioa3
wiU1P21LxgLpPU+t9NJgM3RTHoAfw42NkNYUkTvGpfUhmwwvWvQ2e5JklX4ug/xaFuH7dwCtkJsx
oTECrl3y9DUapT0mC+JJeIx0gl7N0CgrdVtNqt/rdpd9y3UCjMrR1T79/RVcbGq8AVCQX8w1sHOY
zRcHjbI1aaxW6N19I57zXelMqbrN8j63N6TAKlSguCuGTdsEVxfTX0/1dgLwrLgfIcPETQaa3tsv
r2ew8fpgKJ/k2qgBrLa6cj29KN0ogWVWrmODj14VEpSn4+kd2PXyPM8Ox61RBVaebjJtzuWt1Caa
ChyGZHwmhSqZf84QmFT+Q6FSlHcKagqdzLyS6X5MzICs40DG5e3cirQL/bQwVei285zSTewNmtRF
3Z8amRDsVQ7Mwu040aap/NxUUaXrM1JHGvzwWzIDuwXTi6f+Ll4Q/+9Aa5tpB6Si5XkYd4UYPlCY
NY+upZavMStgfHaarnP3M2SPegvPegmQQej5sB+8zO6iZXTJnUxdoXuvy4h0gThUo42P2D2XLA5j
L/l/rTR3H2M/qW7rnMbrXlWBM0SNqZmCV8ULG4/92A3kiAKWio03IfOOqsF0YQbQtuqeoa/nw2Md
+2N1krOTW5EJs5huauNMsVHjnFFldIPnai52Xj/7TyhDvCb00rj/XEBq4BA65Mv8xXEr5+t6lPch
m4nhEcpN7e5FNlU5bc4+xYxATrKHvKrLg1/VmvwkbdUfimzO4VG5Vq/dSkmJF/qtVOnWzWn7sk3V
EzSOKDAGO//eS7qqm6kg4a/eJ6qzu6++TDz3cRUqLY/QnDXjBiqgM6SRCrxkO1ARWRFVnLV0ByJL
9LucFTjvdotcenvT44/iR4unmNJz01rjl941ZHOL/rME34AC+AOxmf9Yy0p+Mhs1+6EJgaHeYLnU
BhuzgvSgT6VZbpYyCQ7wkTgkRXpFFzIK0hTOAnox/5h2Waz2jvSbr03Q0A+W/pJ/5lhZBhhVrDQe
t7TqLkLKD9FhD1dPz18apO/Bvl3aVpFC0sGp6xt/CJCrOGkc9UrKXGwduw/KG2XNJcFfRj3915VV
UmzwTWhaxaI5+R8HDp7WrUgq4aErS7UubAit8apDV+YmpuCuPZ0Mr/Ls5xF5GFwBBWaXbewqcNUD
A6Gsvg0mZc59PJuNvNGcYMH/WtPydu8JbawgG8qiOoEyjM4HpCfJdLt0ujOEE1aCr8uiCBCbZUtw
vDQxpCro1WZdiocHQVdb4mTafeVJ2/igwaZZkp2Lj/8NhKd6NHdrUUNFVXn6x1lrffqKhtvGqGdi
p9nlPoyO6r5qKkneh5OC3kZEcAznyW7y8tFchHLwfsEM6wrr/f0iiaSFnjlFOPgdaN7bhQp2LywQ
NxufIL2YGwhw/jZvU/1W6U1KXJYoji09i3/dkJl067ke7eqKnl4GFgNOw95AtUV6HY2WqiqzD37u
N6+BNwBSN8xn4wSSHT/UI16YV3iI7zckx0HEyomD/iJozwVAXfn6YC2p5ZwZzIthhALbJ4t8NiYo
ks/MxUchVtV0D2sQFddmyIrsmtnoHzZnjL0MuJDES6xC0PUefzv7uUO1QDrNsqd61imN8PkpHgb6
Ujd21cXP1qTbB8dS2cEdF++MJ9Ww1cZMu3ICvTh+sT8yKYmzWenq7M2XsTZz3s9lYDTVU+lgDphE
xZipZM/8wvQogcaq3zhG7/6jV96vq+JotgaUgGL/nyv326OXFditXS7tk6fr6bkxvPTHGNfLAVZ9
+aAP9Fn+vRglbB2n71UEy+H20m4Ra75VR1E3T4OX1DURhXMxb6F72WFPiKS3IXzd9+9VJz/ViZbv
6Stjb5lSzd31KHge/16UvB99rk5jBuyHwQcos87H3x6/xZEe11yjfZJ9U34dxra7rRR2r7g5t6eC
Bs4cVQmrgpw1cWXW/WGqU5Mg+gdWIL72XT3ksUuXc9c8WWLI7ydh6RvyocS3GXA5VKXD2TYf86e/
P+/7QeZQAPHqQbkMC1udt89bGp3WN6rNnyYBD7PNcnZBTZKdHM5Zu6NVBMPw71f89RwXtZeFlaeB
EJbl5d0El25PtTA09rnIFuittdZYoBmENkwYzBSFgfbZKXcEK9GKGzu7xkoljtNg/MxqoLW3rd+t
+/GIwfdR2KWV34NRsCnHsbk8c+fQ5llcqiUNtUZZwXdFHAcU3ULNWC4ZcaWsIRRZTy33rwsX3gIQ
I1ikbb4fXNK3rxJxCe6r/pQ/V15e4kI3ON1Bg/K4N9pJP3hB1uALC0QEbbD2uitv9QKhYLCumB6r
FhUF/b1LR8IiH6VVzW35bDup3A2azpChUkJZW3ZR3U/FodYK68GCkXjUstx4/vtHvcTo1+tzcuMU
wfRZVTbrOPtt3nhowWEr9/oTs0WuMatl0FBCT86POZiyM7iVHXYLpjr7vHPrD6JNyzLEhMb7CMGg
onNYOf96vGDt8tj7QCNW6ZR9ObJpt3daiYY4L7LyyUKwcCA9eomhddvOIS+m+HZasM/5+4t4N5+w
G2bq4h2GtNwE/3z7HhaI5DFIuP3UxVrsn9RkVbdxV0Emb7qgOEiIqq9/v+IFqsubX92Ueb20HhED
XXY4U42aQMyJehKzVn0YOq158jIjJ2aU6vrvl3q3QlFQYlTAUX1tw9A/eftwCVGq+I0FyXObtv3n
RppfZOa7p5rjfRWKWBRbl5D1fz2kc1GkqRxSEZHjm3PxHXv6e7Dcuph4YSs5cWbzI93oGsq82Ll3
O887dTVlH2ZwaroCgL5/tVwZmT6NXQAxRvfb513MuZmLUqTPDdjMAZEVXFhj9eCKe9RpV/ZBGjr8
ujcLI75tDFfYVbSP17H79nINg5kzVOY9UX50/RniBJ5vzUCqtkRfWdnDD91Dqv9hQVNLjkBiVMCO
lOB4jzZihum8brJpOIyjgW7DbLXvftcV2W7IsupR+kEV7yx4IH1IEm4GwReUKT0SrDBYZWjo3uiH
AyHGA536NO5I93CmDEMmZBk3UhqNeKQaN8SrkflBeV84fqdzyirIpngY1853OGrIWw+CzPWMlozX
fWqrrPrYkQdfwoLLaLEu8ZQs20To3avBglBsGjfvk0jlgzWFLqv0/dALhC0U1jpkorTuf/iDrapQ
iaEd75xx0L7kcJzFPQTI4VPaN9oLfunDa7kYVr5Fc7U8uk4V21Eypc54q1vCebLnanmFMMzhs+pr
IywmoOUIkU9TkqppxiIsVZLeScvMcELQS5UfySJongQOX+NNXQ+LsyEVTkRtkMFoS2g+1SEJeOSo
2YEvq62O+1py8JTSI4Lj5u5TNxtasBfJ0P6UuV8wK0oEqvvS12X6XHNy1370Jo7ZjxC48w1lJVHE
TpA3+ikGZrlNcqvUiGfWxp/8C3WdIlO+Bu4kLVLlcWUNAW2mj5pUnfm56dv62A/sC0fkWZa/zWQs
8o1KDfHFYk9vtmi3cAIAwBsm6M5wu8MWxjWFMz8nOlv0DjRhs2ga916RIUv3VKfP9ehzWpp3vo7J
3i1ZxWb20RnyqtvEnPZmcoESqzzM2JeBGaRr7IZjN86hb+rKgF+PbCEUjcixp8uqStx1CuwkIlPT
mD55TlfER7yiJnPaLmacEVzAeStov2K8PU2h0yX1J4F0rdioZBL7Sfmp9Tw3K53CMsseagmlaBpS
nyorTDE9XjP04mUmF7rxXwDvA/e162HIbrAVGT92iR3k0YhHbn4i+6xuNmo0lH1b+Sj/buDhZ99E
YpHR2ySZxlF+wi26wdBS5q8J29TnBNre16qsqz7U9LbeQcIKnPs8S/y7sUfose1iGXsvwN8NPm+j
qzxyslsUah7jHx9iRFUZ6jHhfGfxH4ezcOR8LzTIoRtYxjQNBIubCCt3pCuWkYnxUuaojB6LcXFj
FXqZ6z75MaA/XLMKxKmfAv3AYZBVBEygkJ0I8zHt1HYosi4j7NyaSbYmzNn72EyzHeBA6RGaEHKr
OLpt3IoWUuSkWm3t5kmWTRgPEKMObcZgY94U1bz1vIE7ghtiOXd52o8vfS3F60p6+14aDO5I8mnn
22EKhq81DljZbR1PeUOsWt3i+KBcN7SzfPZuiqFyqht9jrWJaqzOXhxRD9X3uPdHG0hAmG5kitx8
7dCxxoeiFUEd4jLblBvZKhgdRkpfkCh2lEyAG7Kyz7DxWzcqrF6Or/GgpuI4jV2yPOfCKY1D3Sks
q+hnacW+K+bKCc2xRUnBeET/4LNbHHC3mmkvNn2BPUY6FRgYZVkb6TDkpw3UKWtmbfCSdKNPfmzf
aKnIk6PnEVjCGzRzFfp5ZcYgeGVmbMa4t++9ZfZUvskbJ8t2lKsuQKFdti9ohIntEk6MmjRED2At
OGrZltpquZnuagoI5+NoxULcTTFwWlQZft3DqXRFE9qJ6X6ScYcILLb7/k7wVoWz6RTM/5PVpsay
MydAitDWjLzazY7TbvPBpI1QYMs4RnDcc/cpcKFHlAgiUtuN5q7AcMrAw5JET6R+W36B2e1d1K8/
CpXJH0ve1h8twxjEYQr4QPfxqLwZCYW+DNjkECCHotQZvrUTBNd7pC/eRC3Vl2akrNZKj2rUseIF
Kixnb4MArDH3GgIy/5y2c/+zkUGuhV7ZaD80JPoTIgZSsLedFXvXXG8uGcqURL7n4d1EAbhq1x3r
7Ubqte0IYWbqnv0kTeebQdb+TdphLLApsCMZy9BpB/dnUgTZA2CXpiFBZDYatd7TfhLQ/7bI+Qsn
KjNG0tbp7OqH4fVkb6QybsfIIStY3+dZL289lVXXksPfV1mrmTvlI8UOVIdLhl7ierCEjLR/rnAY
a9mvRLCdS8MPNVeftK3tptMmI8m3vFKAvD9CULDCJgeUp8n4rikU9LrGixvbZwtVIVt70DfVfhQ+
JPplHlNW3HGUJqbKSr5I0lglztpFMl+5i/cFNKWzuXLo0PjRIbj4dh1AbCkbo3le0IP8h7tqCvsp
lcjT0kaLkFXpN/9a1CKl5rS/uvVDL74ks9iWtHmbhCPBBkhuh9TJ241u+/Xj7KjhaYKUiKy5EfKf
n5PLQp9xgdqQ/eoXB6alx8p2SKT1RJ4vpduSpju2FP++KJfq3nWb539/Ss5CQMK4T70/dENvJfLe
HKwneJDD11nlTkiCh4hmyEMqEk49HLpOL/8VTaGHj41rAJC2upxdGtI1LbSlfErLZ0dwHAmToMMu
pKmmhyEjtjXUVKuFI901dIODf82n5/14hsUGcwyOFlDDO/pJVulkTVeT/yRki4oKFisUbTPIot5y
0mEjMHI9DAvgYtSiRPosJb7KVz7yH24BFiReEBwKVx+NteL/7VQMZaCfSYOon8e50EIlCwwWpVFb
Xph0QUuLfKnDRJfeSx1owYR1gDNd8VF4P51YCtccUswb0G1cnp5AcvWp6LzhmWOOtaepKEcsmgz7
aCd5/TSYff3x7wPt3QWDlXNKVgS5FAGw0gV82+lDrkHnNp8NYWd3nUShKDPbOdLZ6Y6oQ67FIbzH
agEO4UM4gDoreHnJO/AaTF3RX8bPToM7Nh0kd2SjCiCOhELTkmYnm8z9SAiA98F2BVR305LNgwah
8JplynsQZL0VnptFhHmNROHt5/YcdI5dPsXPdi0kvjh2fe/7XYsbQY0MxyjrbGcatbaRiR5/Kc24
jDKjt76mShhPrU9+x5Xh94cbIiqLvYTNcKXyeBcnSmXRBvJZ3z4YOCTc6rRCvogSt8Eoc9BK4Y41
ZJsOJhPwmLmoY5IYHEiKgNngmK3+3zi11wzK3s0IDJGc1Zn217d6lz9TxEHQ9UZa0oHR+zkcPM3/
Ng6l/Gqni3PLYvGinME6INfXb4qsca7lXV0OT2wIIczSel+HCvq5i08UkBbklKLsz1qXtekRSUtf
Pnpt7Q8HdF441not1v5XJuHljs5FmRVI9pA+0le5dMetkzqr8tL3HwusNb6PI6fm/cBPzb2pswds
3bnqxc6SVddfWfYv4WzWPwyt4IzB6QWhv1yAdNFDWdMA8qGxBP/FY+Xetc1i2NvcDGSwdZZc+1Ji
8WBHgzuo9MrWesnmwuUQmRU2X2guIQBC7ng7IWDs9T0K6+Tc1N38bTY1pLj1UrWRNZTFF1RY4z6w
E+0cNLjcznYhPrZiWkKfAvwadvVuneBeVsdLLDbhTa9Q99t70Trc4+E6lGejytRxtcnbcorKDzF2
UifLSHo3FEGQxBiRDNU+9pfi09QvsXX4+/r4h/tYXaYDvJXYltDRXewJeWZYQgIWn9Wk10Sjq+re
7mdifgUUpVf8w41vnj0Pz1btaz8AKBP0xs6VRfr9sHDBtWASs2YCzl3y2YIClX9eTs6ZYKS4idxa
5A26CFv/2OujrQimFLWIbGRKbkjeLenxf38J7ycEmyHiTmwU1nTPywwbga9pPnf6fMZ+ozoXxlzt
Fk8EkRnXzb60pHbDK7pWV68v9nd4jVLaNzCkJDqA6Ar9Ep+PNcdaYyrEeRgXEYRuXJPWLktHuwHZ
uRYV/26d4TK8W4ofHX8TTFXejrYM1kDfVYZx9vVSkJQAhPsrEuhnNuvxLiGxLvr7K71cWNfnsqF0
wBizaD9cBiQO1TzIHGnu2V6W4DBPS33npnOm7qFdTDeM4+ITnWxnC4brMcOWMvWvfNQ/PTKrOoUO
bHXENhcTzG6UQQJop58XDK/iHZjXpO4Tgd95XGeGcVPSwiuvtMffDWSeGgI/bw//DpMj38Vrhl9S
DYXSz04iMpxZxmU4AK0IO9L9ySOgOy6qFxDBuIrsJk6///M7X/cSlnTAFgrriyd2x445U/fWmT2t
Ie/USvvP7erjW4yYDB3YvfJ9nYJSIRnwohiR25UF9t2QJm50bdzhvckshmv99vFpNrS60kzzvND/
GTd21mr2TWHg19YHcZJdGWKXKQlrNceZjIXL5LFXOd3byw1pjekUAs1zneP3t+n+R9mZ7cZtbFH0
iwhwHl7Zo6S25JYsTy+E7SQki3ORLA5ffxd1X9JsQY0EgfMQwGwONZ2z99qNcvAZdJU9nJAidNWh
bzNoH0WUdBZuSBdZZuVko/YbMYllUbFWihjGEp1ZnAYpQNpA5bkVKjtBvLRp7LotHrp20msPPqiT
7OmVCWdTCYdTUu31flibbbLD0Q3NJpxdFK35hqMqalzVJpTE07pWsDdGP3W2o7Ns+rvA7p5SNYru
RmvAsLjXi9mEZ8GeGrLusqHheLN6FirtKrpJ7jmfRkpOqjoLAFSEVkQQuao+YjufpLn30Kd1tWvH
bjjYtVv+6v1k+g48Rh3Qjuq3ftTyAlY/atEps8OAYL3wzC5/VGKbykmg1pyNkmL3IdViGZyIHSh6
Y5P7pXbggddUGSFPBLu6MwvtEDOLpc/CqMtbtIerSR7TDvw79MAcCIiKWU2BaN8SOY/VfCbjM8nh
oyTRNp3GSW08o3Z22JwH8tEia/vxoHzvsjidl2gA9jz+es+BScqD91IZZw/QinOnuZLM1rxKqFo3
Ta20U4ssat82XXejUfXOYGQ9YxZYVjROnMv///dhT+LhRNennxGjZf+40p+3idRMhXgo0Jsbd7n2
cS5jEfUiF+R8y85+vZqx2JXBPCv9HOEZ+RGjEeo3PeeykkJfnmxRCsziAfn+sE362jN3TTzQsDBK
Ie8MNMYnX3qT+gwfx/2uzMwyw0abXS8cY6lvpduJaTfUdCNeegTayQY6TeptYRk1xxQ3M9nNWV0G
W3tIc8wjUi3ad7II0xBGZ1Dcsj+tJQPIlPmkkacudDRU+OvEAFNkcTNYdfdQDoAoP8VRS2V8VgK+
PsaMNPpcZzZlTfrjRbGJ8tn9U+PQGk7Qf5PHQJvBWBFS3nwt+W1ZGPQq2feOyPV7fQxy7YDlCI11
hZB7eKitXP0UphT5Lp00bR9NmVXeOA+s98Vv98MGkMQZZhFcXatPJRN5NZvI0XGK5ln7pQsa40nk
bkOfhh6TCLNIzCkJYrZ6kmXbl2eLylsfkkYukq84yMsb/pLV5oE1mz06NqQ3SSy91mVM/evTZQse
JA29zlPGU5YZHuA5mzd6ZrTW1vXoBOohw6r6aqZuOWyHCU9gKLS5sG4s51eYAn7I26kM8wenFmaP
yx/SOjKYR8cVJxHZY9NvCBtrh++VgwZzQ5cpA1k4eZLmQdrSoyaRULnedi6N7jShIe8eBl92ToLC
EeyPwYpSsf0KtT4wpLGprEL3/7bTeITPhYbn5NVyygHPxFW5cSP0zje2B6uZiNw+08exg7ybAwcL
5+qpJiDnhi6OzBPFrb79pldGekdXdjC2FKdr0W9wRkTOfpZ4N14/ngTfEMr/Wgnerr3E2iBiY+Tw
Ay4fpK4COJI9kXOA6OwRYT9y0ggwWIoRHohhMRRfRE0cPb8FQBgeujbLVbrJo0G2bdhkZjdudENE
MF87N/6OwRv/aqti39mnqIBZzJ0ueyh6HY2uCbUPHSoKcZ3qVl5oDyjGmh+m31fPaDZBJWRF0MmT
FqX60m8ypyIKbZnR1Uu7og2Tnqy8jRGU1lM3+qCf815M8QkCkbz3E8BvO3CQcbexFJJRmlN8hd+L
tp/KfZH74yfQlpwaukw18T42jHp8xeSRfu0UitptB7zvj+ahPDlVrZ1gOGkr/4+fFvBLikKqv4qI
7kXInqflqIPGvjhUAeevg+tp9QMR8hA7u8LkvJ7hmz5CVMMZ4UUCnXIIjS/1TzX1emzMLbVlknSd
KXig6KQ1h6HxjLusDqqUG7TVtLvxhnmBly+YctcSwMbWb4EArY7WxUDZ0+zn5AT4ph62tET6o63T
6DlAEZ+PXTYa3z6+4vXgRJvGBSkjLy7Mq++ZDqjHmiuSU1Oldv9XoAbzJ9R1Xx3ywCSeKxOzwVLR
RKXphRTTvQ0AJViO+HGFQwPSLeGCJZCFZ/rshh7fZ1lqTIc5rpxxa4vKdMFyBenXSauH9NEhc9I7
9oiKrBuz3ZtX6vLZ4UZExMIGjqnrKgegIL0UELCWnExZd+Ju6ERZG/AnQFqHQVuLu8QcovQ+aPoq
QCEuqsQsNlJ6434g1wDnusqiE7uAztxVfleJFsikqX9z0iZ4cqh3g/u2zRzBA8FgcfYIgnr60tQg
Z3YysPN9YDHL3wN0zV6yOTXKA0NGx8TuuHLOtmObjVM4agJm48ZIIxNzQGvnbwus53dU6gIBbPbj
d7s6RzFdYMCgZMtZgpYTU+fldNEb49TEXRA8eIjP/659z0FomoK+M+zos67xtkJFo4QiTVIGt17H
aiv9dnEsZ7hgaMLwZlYXD7wpnuEy+w8DBzUW4k4MuApaV5S/vYRQy1eOVLkHkSwwflEyctLXFoyA
+9vxh5QACShMauNqpvEL/EvXybA0vOnJQqqvjHtDZJN4pRSIXIXMxlz1xHM6tfaVQTrDanKiIn6M
GlIZt4Ao/XbYzni+9jgisuBrbCTBkx8RA8lXzSQnKRrAN2JPF1SPQGcr0qpH2fwejRH5xI3T1tsz
v/xKl+YQww2/H52M9WOZHcForHXnYezrogJvABkxeDScpt8haWnavcXJ/uAUoswOiaMV322NuZLe
se80cw1+Ckn/341M3PRep4uWhmWnUe4LZIMpQFAEK/cexARza9SUYsSmkELvn0fpN522q+h/sgMp
8aBh1StyFlvHF3ZzwAMQF1sceYH70yk42L8YzehXn/wsjdut14qWN+j4E7DOUaT2nbRwi77Q7Cyt
zxnIZ3XqMN0i80jGud4MRjo5OxslBoeBojYNBCn+XB4k6XfDC9BMHqvtKe8sC9gRj4GXiecS9STy
hNGdZA0poW6ibxXRmjELFhWGaQfK0Rbf3cgCdtEycrRXVKSU+LpyFOCcG7wTkY06B1xYMEEtLLVa
/pOmmQ/YsObI9PXjofV2Kl6/R48GBdZdMiMQOF+OrTTXHeAp/ZJSufRV3Uz6v9iuxvmfuTXL/I/h
i5JMSSOad1Chp3Q3JYvNVXkMgG3vGUksQxlNrfmJjXZmPMk3ZbaQnfUaQ+FfSHQF1LyfVeoo7yVO
MpZaRx8ai1V9TtT3muju5E+TKLkrcSpFwS5oWjvYBJ1g9ffjeXwJKFWleCWQEtQJW88bh5V3Zhd+
E5HoLqp6H4zB5RPAR+TnfhFMDy6ayBZLUdB/tjTb6j8x5kz9wZYKM0Gg+rT9JDp9TocbP+B6J2Z5
eClpqFMQcq5cFDR/RlreynjoXQrun7JOjz9Ju+/ACOSRTklBEBr6AFN5lvuP3/6yk798+WzA8FCw
FaQNir798taTvKIs31fiBK5yyDD4a+V5NHNC63Sn9m7MpGvHPTMpBW6gBRjabL63dTmsc3Rpddjr
H4y4UJKjkE/Q/THKMzjIzN9l9b1viEHYDNZQZxtAUprDRKhpxr7QO9Nvt3k/tcNDM4nx4JPxZYf6
HAt1LusyN8maNociB/JbdvGNx3T9gvgqFsA8TXHiHdaoAN3IfJGkSnvAFekbB4iGOl7MmRio5wqX
A4uBo74aPfPljQu/837wt/CowPfx59p8QJeoGrVOpCc/Ef2ItJLawavexzC60Q6NjrrVEr4eC3Th
ARKxi8J1ybR++UGgMuqbRKTi1Imgsvds2QZ7q9hCR5/ZTfvpk69HRo2Is01+9+QHteePP8hlrK0+
yIViZvKhAAWijHd5fU5YnoC9EDw0fSnux2g59DOt6ueeBsonM49mdWNv8VaKuLwkeRULSQEkEmN7
DQykT5zXhR57nHYND8DUSOvhjFVPtg+aXsnmex53abvJRokqNQFNh8SmdBL/sxFPxQ83NuIIXLUC
rP2CKxXCq6lPhXurWfrO9tYBoo5miAY2lIx1NVfXBq8OXBmfmiBi7xhOmsrmP2ro+kdtgoQSyiLF
B5Mt7fssT+qnJfRpwTB3kfGUlHVXxnu8RFp3cjtsAqFrFon2GJS5i+Rgwk531EbL+a1FhibTbc87
KPexV6j4RnXheiyRU8ysYvLxIqVZg9zLvqnnlv72qRoN417EAqWQ0tNEO6ZJjpiaHHlWxR1uzbK+
5Sx/I1Gs3rXDOsepd9Eb4Fy7/LySKpG+oaXewyDE+N3xkfsRhO2WqI69eoiZPeZO9wn+6aLI3eL1
9UHQ6XCZQ2BCUbtR6FSmlwmwtWT17svi12yjCHwVdFfnryQp9AgdtTSofjTNZB0dN1NxBHg1WY7y
XQxeaxf4lGw241yUCIw9r2l37RBo46kxMIL8kY1Wp/IpGZK2lbtEU6KMw6nOKvpNg3JL7zRa9IC/
KBIP7qDF1fa+LSDohUzai3SawLA2hExa/mKY9pxksCi65ICP2s/B0uMx39d+azF7fTxsryo0jJul
1r8YGhCHrydIT3g18r6GOoc768Mm800COKSpFd/iGBjnBqEUXKi9USNluk8rr/wlKsPW+ruPf8Y7
3xbqoaWNRqOHjseq4ZABnF7qAfHJZ7YstlrQcjLwk1lHV93aw2FuXX+bSQcM9H++MDY4vmekHgjE
1sddSJkcRWIiL9AX9BlbeOIbpEoqfoIm0RUWhThhjLl1LlrnwLOiLtwVumrMCjaZdst0+q/KmJcU
7GJVND8sym7P20ihXLmfYJ7mYZX76m99rEUUKsDxwX1k+/Mn2ZVlt4vawdbQtNtAlYdU+A9CTP5O
scvzlpKeEe3nADA73v6gAPutw+b8FmUZMLC2Lab2ExtXwz9GlCKmhySYhPugJkd1v/KJ2IFHzYN/
9Tw3dvZLjQ0VE60ZQMI4EUTtYUePAcT+trWzqFRb6FS3sLdvi9TlKF/IvGxoWcPwM5urz2BpHHhW
qQcIqiuBCZpOvtxaXVZOz4Tel18ZsWwRAHMEXzgXVD+AnSt/3GICnlvk0TQpykNZCu0vZLQQaz/+
VN75dUw/FkVNeNOLlWJdRFRoDpLIxwmc9zNePaAWQ3JnGylnjGDOfO8QG1X7aUh6N3o167Fgg01g
SNpAJcJs+CXAA2xtgVyl9i811TK1//PHTO2XrQ5WLbxijKPLj6rzqOyO+FdPyhnEve4L7BZSUl+J
7+yOD+VATDOxtDYy61Le2CNer//LcdJFjmcu2Iu1ImSYujlTcOzJomj9f0ihQcbpkfCO8KBHo+TW
qX1ji3Vd7XYBQdGsoDW9BCesbTSmJ2pTRGZxckZ89g99HqXuMYgG/yDT8oyzZP4ng58WAg+evrhy
QNbcDEF11gEH1jcmsLU2+O2RU8djk4zX8rrCjGDVr8287U5iVtqUblBB62pLqc0focc4o2F/dmCb
PfWwcbUNnHonP/dzo0jVodOIKyMcMOAmRDfoiBhfmmpQtgv7IOq01zbX7OjMLKQldy3IsPq4MKCT
zzPCNPfWltm9epNMwujFfWomOKTYwV5+RTmLZmE1aXuKSz8TP4VlJeUz4mAf1jz92XsbcXIFspz5
EqQqqEJMDXk6fJXxkO1TVyO2g6XLADiiUQ4vATlT/Nkwp3o/Ijz65QuK+/JZp2UHjSKfo59Rprw4
bHDR59uqLvzX1ONkEzbGxHRP9zPyDkaZ414A2tGkdr6Fqm8P906VpTgCk2hccAWC7UG37Yh+Ko5R
HxU+dATTiX+65Cmpra1lurOjsVuBwokSjraz2ZLX4zhlXzzGTm4F9JsD+2c0CEO770bTbZ+1fHSX
fZmL1QFPkI+o1TDTY+fIlB5ohkTjrue7bEJjsLsurHW6zztjpqVy5wI0jY7JaEANdHKTbR1cU49M
9o7m2i83o+n+FjRcx3VIdjt+hdzNfPRy7eDn2jcXNjyggMSSsJI/nsWuVlpoT8sRjl0zogpn3ZJx
II875MnEJ80tjf534ih8bxEuz3vCkjQoaQm7jkWGcWv2vDqgcGGmdpoGHqVlJonLz6pLanohPlLo
aV5k15WjJcfWHczmH7IY0vY+bYzaO0rY3NVmYir57Qyl+2POm0x2oT5mwfQjdjhB0R0UdBaZXtKq
7O8yl0SD+9g2CKUNO3DXvxOWkFshiGvFI8MbwTFttTcpO93ClUTBHLPZKsxSnAKN4sfBEJO3tSYH
l4YloxPdGsDsZAsTjx3lQ34oKKAkG1sYVkgtzCMTA5b6jeLD9fzHb2L3hrmaCQeo2Wq6B4ahdzIv
ihPffDeR+WLbAs1xJb1TG2M62pDNwjpNfoi1b+NG/i69KPiBOYwMTs2qhv7rx5/W1ZkXWypgwyWb
cjmBrhvVceexi0E4erLduqIMIAqySpLW8+90l53zxxd7859e7BW4GsceqNlIoehYrFbjnM1CnvUV
mQOZXydAghviigj80DO0gAQrbihapvg3KzuXidpM/cAj2Pow1lBTFLHWqM8GPozygY12DBCVbIAA
XrNNqWII/Sqei+TGELgaAT5NZvqQ2CUxZLLlvhwBwEbp0vWDc/JGyG59Vnkvft5NMjTxWb5gXcf0
VqAtfipV4t3ogNrLX37xuPyFvrD0J9hYgRxZPS6CzYF3YyM+8cH4ZXantUb9tbP1ijCdwY9JKOk8
K6HNX9Z4T8ydk7bCicJxkqTZeLjqcHHyOnA10m3Tw4QYkN9J50/VpzofMnlekD/TAUNjDlqDICxz
I6Ein4dGjZSYQYZbycbXgn7OQO1k6fSi65rt/8kMmf1tZ2VKyJOZqmxjFNaUbEy66F9SvFpjOMGW
83YkfWM/JGWoCx5KfaxMkr1UG+AgQnCeIuaxzcYRW2YYzdhOul7GP8y+kqdBJCgUwhxdotVvYpIe
zqNl4PW98TWup1VmBmYFA6CGR7cBttzlu7UGVJe5Ppf35NbnLx0P7HNtdjPBO7OnH1BF9894VUnW
cpZoJQ5dD5PTF3scftVRrwmsYrruDpMtjftBd8aT6I2BucMnxejjX3r1Q22df5ZTB5s0drGraTgB
Di0wj8t7XPPO0c/z9K+K6vZxwq+0q029esqz/0jkYvZblCsOLUVAq1x/dU1qBtUQtdpwnzcQC9Kx
VptIN8sN7v7haLAbCVPLUze++PVsxNSAhg49JpsyysPeqiBVixrvtd/0x9Keiy+OB0UwTOgWdGGr
U8K/8QEs7/ffw+vtakxF5htMB2X85fv3ukCjhaf3x5pARgpfZaqHPcSqejsZY8L3GcCs+q+vkjtc
SiIIGvjoSAu5vGZsqqFpyIw5or13vsFkkvO29uOsfLQRphF2pcn8S9Gxxbpx4fceLQsh5zMkJosi
7PLCkBcCMu6N/lh1rdx6g1PNe+zeaRsiofBuxVtcPVqqr/RSl3yGpTm8RkBIFw1SyWH3rrDHZDtm
rtgFBWAlMr9/y5r9/ccD5K3WcPEquR5mCy6IDmoJQb28u74IBvyis3uUQLNz0paaKe5RLS9i+8/4
yOxh4/WzOz+56VTfy0yr3VNOZEn9uSkkB+1mNuKfZKWYKWguTYOq1lmoRQQOQG1rusL54Ru5/qth
Qht35gToaesOlfhSCjxqO9a7IDimfmmeAYgBusxKcAGnUgbucAzSvEheg2kGn7Uvuwin9o4Pzo7+
pHHhGL8S+sADn/lQdfOwafS+y/9I6k5Y3ZvYwX5cCKdJYFZW1O7KMo26TdMX/R8TnFz6oMNuy/cE
v3jxt4xzbn/XIsfaNiSlxXcE0KlmY9mTw3TOJGueBjbAu9JHtrWRjYVA0hw8VTWoHSyDk0+Z4B0v
p7hEpuwpJb94Isiqvz9+We98G9QDA2pGARtLfZ0eqxk2ZyBIAHdTFRvzFzMRBhKyQv97GOXcP+ZT
Zt4Y6FffPn3sBRlB4YatjLNG3wepYpvn5OldJo38EfGoIffIFPWfWtql1e7j21vvGIhV+X/fwoLT
za5hNcKLquooHEzIewjntCgmUC8EjD9u/YgwU1SY9a5sAVuFgVbccrS8c6OoixaaJ9gRDter3YqT
Dn5UYH9mkI8RsgtTv4+N2vpkz6b68/Ftrvcm3OZiy/RRXLM9gRh5OeJyIuU4pEn3yDoyhI1ZCYJI
yDMTN97dO9fxETTTq1t2jt4aCGoELWDnKvWPMawE+5vS1eDcF9LW+1sz5NUqC8gE0AYOPaIKmEpW
M2SamsRaENZzRD0ePdF8HZ712AeiUZT1TFhtTrMsGFR+owmz+l7exJt8mpSAQBxzgl9d1uCs3ks1
WudaBPEuz8jzdK2G+FJpWfURz3xehpxjvH+0MrGPH7/E9Yb87eKUQhfVKKYkYlgv36INCDBr28g8
GwEoLWzgQRY1m9aflbybIL9aL60Sw2H0aovgLc0pPwVYcnNChR39IU5mf9rFTjc4FM8JTvwkWjU8
ZVnpm9uPf+hqznj7nQF9I06haAIpVl3+TiMmwoeQd+MsJ0//apaREJusHfsNk3VebqUv05ePr3j9
Wihr0/tZFukFUbW6IvU3HamDNM8ElM3xU19O7Wtiavm0HT1ldLjFdOMH8OAkvrO81v768dWX9epf
6xn3i0+UhiB/LpX1dZls6pRV0wMwz/3CPm9Hw/njRY7aaCW4OY0Azy1m1WDf5nTpW82db3wX14+b
Qi5FZU7QC78qWO2MuEsbtfhsneOaEBpV1QRiOoX5GoABNja1b3fzjVlzNXO93TB/QC3i2A74ZvUh
QoTsA0Lm7XNEOM+4yTxbvWqVoOhgp435+eOnuxrp/78YbVcsVzxkjnWXXxPBfbrZ1qVz7iZqw4+j
12n/AIeAbexa+viJVLmEPVj33x0aULF9g389/G/++h55pEIr+NbO9Cmy35qGDGJDEce7twFU3upW
vHePKGgXNpMRLPypy3s0YU8MHbq3M70idrdi1LSzqyL9CaQm+rwEb9e2avvxRsPx2tLGN7t49heR
v8vWerX8mUnqSrOK7HMdzwExCTYia9n3Xr1xUmvclmXR/tVClcFyrpFFOzvxDreX+ePjN/z+zyCb
a+F9MZ8bq1esVZCPRs2zz8rSDMhnVrZ3YTxDF4tL7cHoEvfeFVP9Z0pS/xGZUoTNNL1lP1hXe5YP
DfEFq6PBMHXpJV++BDLRu6phJeUltH1zZ0zgfQ4wM2J0N3EKP1Mhyfo8Z6Nb4nLJILMEwzAvE0qS
H3ElN9ONxeadgQ0ajvWarjAY0bUJ35Z2mWcys89NkSEFk2myB7lt7oQXZKcuquWNeft6WAOAYxcE
upyr0oO5fACJwL9D5m70eW5wGoStLOpveo6qvaREIW/MIdeTJjsRxpcNeJ59yXolDaIs0Wqzzs7G
WJf9UyfFbB3GdlBby9USoi/9VHnbMmmaHy6BQd8DXYG1unEUuR53NIQ4jTB5U+G7sqB3FBi1ypmq
c9W3xW9+T78Rw2DJTVYV/nyIoth8yCJyfT7+4K9eLPM0X/sCzqRihOf88kEbLEoqHmA6oJwYyz29
2BAnNVTQrm73Nc3uG7d5fT3QEShmF0E5gtZ1bbUC4T8hCo3OVTYm0V1n9eUXu0ZeBhMpbrtdZo/z
f+tWIV/nkjzQpQbCDLreWJdA/wEx+cG5dbq6v6sCJz00uUdWcO2U43DQZ9fObjzWdQ357aKLZ5qz
LF/WlbUmcWmW5FURP+eGGZPtQ4iZ/A6OyZ+/jO1oi61s2aLem02Qf6KAgJF4CgiZXQjdxXjXdI1s
dmpwE+3GwLr61gEXkQDBIWqxsrI1vnzfQTI5NW6y4Fx4Xf+aSWKyIDv5wIU40ttPqsk4rdLVzM+l
KkoO3156w2D2zheAgR2plo59mLbE6hcoo2gqa5riZ0Xu1r0Zp+aPqAKr6XcyzjaZkce3WqXL33ix
KeKeYWcsFF6EsDBDL+95jIgCgPIRnCGpz9pDZeXFXV77PqN5JOY78+fa3iYptp4NZQIaTB8Psau5
zIYRAM+Bs84SQbWeO3NDIaQHq/WcoPIR+yHz8kNbZ3FycGgc3Rhf1/dK7u1yn4twx6HDfnmvyurS
Mhqa7FloWndXI7r+MjuN9ROL3vcAQNwepiYKdYhDIHk+vs/rtXN5p2BD2YehGbLX17Yq4LseiNBn
AQHnK8Bf+0Dal37XDZr84SZOBbgOuUIXaehyhjL9ZwRRdWOwvzPwFhIw1TIc4Qs9c7UhLF2CfECw
e2erJVVU0hDuupd0jDXniX4AYABw6exeUgz0S1DsqEVHWyuzMTSaQZTEMyXmSQ7mPN/47N/O0Jdf
ITgPRAUYIN6K86s1vewqs1R+FrCLY2nfEbbtNFvQe54Kc6lPxJqTOhyRGh3r/YPvtmmzITun3SXI
yeKjT0oLYC8xRGIDpkOAmqvG4hupZr51j4dHsymOT/BwBR2Bfe8F4z/UoNXnDp78/EwuYD1saEs1
9S7BrvD7xptf6qvre4MQExCnSmmSII7Lr06IbDa8TjHCXF+TROxZ3saFzEslyeswyKcx4H/DhtkA
XuYhn0wcG57MTp6ubmVRXK2jtruUD5EKujashnXNu2fZ8Vxs0mcEXA7t4dyKv8auIb1dqw+xCgvf
R6wVu1K8fPwQ3rkwixoVKrxvnEXWBQcXKn4VMQWdA0caJLRg2/hOFyBTBwDhBK1ls/qSxIl2q8h/
Pb2wI9NpNdHrJbt+XaRiIiA3Nx/j565zjAIavtFskEg3Bnmso7hRaL/emS55G1BbKXNwyNPXJzy/
RpqkIIk/93ke/40mp80OnRJW9zRoQ+DsJsBASwSMi4SxQH9avYBR0+qtZWSNtW31Rrsxrt6bdTiu
LMvZm4RhfXDQ4rizG+Umz+lQeq81q/ljX+kYsQwLwCnA8yakeTjeFYUdYZDR1IjeLukOH7/9N6bY
agi88TAWTy0FsrUIGEEupKYuDs6D1pf1nZ1qsx8SyGASCYRRcd4VaaXg6KWZBJ2oPOd77LSgDms7
F/1xrLQyeo2sqYtCzc7JI0ZenaCfbrwnk9Csz7iikiLMKWM1m2gay5eJNAVnQx670z3C45rSsLeL
+NMcJ/nfXs/Gg2J3aZ1kANV1H2eWSF98Pe2TDZoNH0ijAziLDkIGUBrwceTeG4bMd06P/HGf1Fo6
baIGncXBqTrt0Oc+vHQngrePU1ePgi3Imyr9I4ykoXTek7GTickSm1bx3RMt0rbEUDpGm4SLkhK9
TjAIPWR/W35GGK6mU4dNbtj2lZY097ox69Yvy8nt6b7tbHPajWRyEZuR+BXKwLSZn4j7tH7WQWng
1clE+vrxy3s71a1fHuRrVg7gbTgMVrtg1Ve5YzZudO7scvprKodmPiS+5roI0vrU3lRkNuAWmTAI
hkXrF/1vk6UsJiA9KPJ91nZShVI13aMNmjUOlV/1fyBQNukmi6q2vrGheOu5rH7uIgEwOPNzXuAn
X063aTni4YgD7ZzMZaG2uDRxF1VxNOlc20mSB2WqvHmKu1b3DxqSKkkoz8BJpi0iZYc1TFQOVXKw
VBNqY6/bOz7tntZSK+JwHizj9xzpfAdWrte/jEFkL16hC3sH31Mft0YHc2yH+bh4cmqS3HcaEhcu
3BaY2MCFmg1fucps/gOU5S5veF5hnaip2XWIF26N/2VHs34YOH45IyKxXNb+y4ehU5Ah2yiIznSy
Lf0XCx1BIyGGxiSmRTXV9veS5hghwcNU6o8Yf4P7INW16h4DlD44m0gRk1pR9bl1hr3e6KLYIB8L
dR5TMyeByx/mdp5duZNVPmc00OWTJZP5h8Cmkj6iM3aO+HjaG+vw9RWpxlJ2Y2NPAxY3wuUVk9Hq
EGMExTM2KlMnwoe+61R4SoZxO9Fiqm4pat+7IAwgpju6k9Sil///L2UrSimK/VFbPxfu4B9ZAYlj
mXrazDVCJ+Ogt1HdHj8eq9fLLKV0RLSs4+9VnvNYK4LZ6OtnKOKtE9oEore5NRubvijFxuoLUIuS
5taNy16fm9jfLG0nqn7Qy9fbigKHh++kXvk8BE3kPabAl6uNCMbmL0KJMCHTgp8DwMlL53cmF9lF
C2b2sg8/vvt3HjgjntMbLRjIeMHqm1KeSk3JDuYZCBjBNC1CN+bD5Idr47Kumqq+sZ1+53qYXGnV
QPWk97Y+u3RjPGhwnORzRUTQoaiin0GJrAs3UnsgpzB5/vj23lnMuTVasXw2cAavAjNLkEPDNFnN
c0QagbEXU4KHxodFHrFJtqa9ZL+R7NjjGOaDop7MoqSqPH3GGNVlN47K7907hh6mxzep0zrqVAeC
Qk6Eks9xFA2H2Jzrk5UZ1oyBs3oiNRcl8Md3/9bdvpzKFmsfe0hGMVytNY+DjpUNuqBHgZnahGNG
ie78pkA2Bse59qilC9lLn0yGmEvr5AghMcRA+qQDCSxD9rtDhxCr8aFk66VmQXQ3PJzo8CoJIrQz
jtiNZROsG5d6udH7GXlEzzSSYPHqrR+WqjK1T6SOkXDwIU4jvaxa53MwerdSzt8Zw3y/VPiQZmFn
W+uHA1to1uh2+XMj+/yLnuTuHvsyVgBhDfd1PWd3rHt3Hz/cdw6GtEMWTwlbRRd322rRLDBTlzKa
vWcbqOczrxM1gzlaP5tBmgdXa8U3OsrdPgl6nnQcu/V9YxiauYkQMhXkFhrTfx5bdIlMwnlYsxZy
5vKU/jV5TkGXei0AyOc4NTLClydyiQuCt0Z0pb55qjMwdjd2Dtef9FJOxltDAwM99ZWzJq2HTKjM
e86xrGjg1aG38hCm11QA6sDNKccbW6vr0wlXtEhGXAp+Cx338iYHAlPQvXHFLJrnH0na2Zt8nlM3
lE2pdh+/YswU/G0XAwhsM0zGZf1j2uI+L68WOVnDJi8JmKW9uf+V2B1wD8z3CIp/U4Zpx3YfY2dV
ACu71CSrb8ggUsdJH9uvjOw8+A5MTmv1kBHVTA9ARzUyFKJW5EencnP9b8Zb60K8EcrfVhlaul+d
GZH66UQzwjRBoq88Ym+P70edEEK0oh37LWDq450+glv4EndWbD8uEOYsrB08azwIQ/TWLwpU+CDu
R7Oe2Ocrynf5FoGVNt2TzWF+MuOidfoNvCYd9r7t9CYnyikwXzXOaCwEdTJ+4YyrZiIQbdI3ncKK
9mTikASNn7PPQk1E3jdPWepx2dBnR4k2Ze8MY9JtG0HldzswHnO4Pwgjw1jTx2TaDCQW6q+4PTs9
zNhyRpt6kPPZ15rA2+VOoH4nNtGWW9+p9KeiG/QXY3SMyQ2d0lbRnRBVHZ3cJPaRy6aGcy78qP0f
ZefR3DaShuFfhCrkcAUzqSw5zQXlICM2QqMRf/0+8F4s0iWWdmpP43GzGx2+8IYSLcDC+OKUeTsB
Azeih6waYS8KCPJyXVnKfCUedazPJcewOlWxg1MrHLrmx4xfyHfZUT7bdbrRnjjPGgoyiEbMYZ5X
U/oiKxquFq7qX/GEbB5TO26mFX2k6EnkFKSQVs3zlegp062rpmhPCKpW2SptRu/JRb7/cxQP/Uvu
5dHPPg+MIqT6XopDb8bx1zoQwSulSSPaoGDdxM8Q6WdrJXLygLBAvcFa4dejirvS6qPhLtOH6gea
N2RRk5FR/m2sIEH7v8B5BCUPEw+uiXphvU6DVlfIzJftjxmWiH9KjCRrcKvzsSDCPSxItiSJsX3r
z5EKHsEhYAeg6cI9+eY0fKLcWWVbiNjliTDND1bSxa6DVyFBh2VKp+bRnUulNnCTYhVmmVtjaU9s
7j15GI55oY6szX+O51Xfu9oc8jsmlaznqfe7zQx0/gi+WZihPejd8Dz58OTW84xh/UZGefNaR6hh
Eu7pw7yqIq8rPnV0D03MEioE8O2+NbwXXLqjH4NNevsMG3fsT76ea83Kq7so2SUCz1oKMlMv11FT
TfOqhuNpKygFjmKb0237LhXtkFVL81BsMiwil+MVYwacpsoY1x3tdoz1xsQgFwtqNLDTBaC4yvQG
rXHX7I2vfYnjwTejbmzzPkazunu2WP6vVHCq/oedeHhphngQmNUhiYvhRu8NWf0XD6B0H2nFzshU
DRLTRDzGW+9n18bZ8LtNUtu9a1HAnLcCbYMprF1fHSs9DcZwoWxYfCK0Sp28De5rO5LOKY+lPsJa
6aHZTRLb7dUwDWRN6wjHkDvEDh1x5A8WG4XJxuiu0FakPFkQKy2Sz8QKez8i4/wsnDzBNFCv1aGY
m4FYU6lpDgvQj3roxGL21tNsN94TKnpxxffNW3+tCb3tV0o2w72c59k4kP5oO7fPnGAH5xRMmopd
/FvSbkr7bRko3BHNppiQH0bNIj64Myi0l96uA3nHfKPqUwYxk2yykCjjGY3pPsCJiI2NLZR4VRoG
MleeyouAgVcbGMcCaqDtThP87b1uUS6pcaKeANaYzmOE9GgOPyRCC66HznC0Z4hZu6iI8muAhovn
i0YVcF8Uwwi3wfsu//6vNxoQWuz3JHhPblFqv/IqflGULNK1iQlYeyX8u3icHeTNSRPp/i3527lj
om7jwAQ5xUecoq+2VT2LHwmpTRNGk+M8mUpOVwLcy2ibhoRDy52ZQZcHRPF2djOVJQTDTAxl0Hje
IA2q36VjVf6CF2LcGbIdj7rbWjtjdvpphf5U1IRjb399/9U+z6xocgNZoXbJrU5p/BxNndLlFPCF
xLM5WZUZWjVdMKOr0h9aVWRbqWekUjPOdSNWKQP6jVJ0H25JwWPATYjaNcyy4IJLJyrAn/iIFc+w
cZtoq2fm+KoVHV2KXPLwHnEhNa/kk5eFVAdlQQJSZkxCS77zdu1xoUNZi1viqbXSKiwczF4yr4lv
m7YhNghqo74bcBX311NbtD/qKipDyt0TqDKbYu9H40LO1yK2Tq5DMArF7u2PQSiNiqFZjk/+gFjm
lBlqhaKBQrrBUd5joLRr/PJ/nCt6gOR3YIVAFZzjfEFMe3PRWdOTUxfwn5vE2QsrHz5PqoqukfLP
L49lg9Hgpxyy6EjCyn87OTfztSj24+q5c6QZrwNLBahHNthxBl6mbpJOygcakOL1/X3t89f+HYsy
rI1KMO18GFB0Rc7C+2SoUYOTZv3sQxKL7qOyZD9xENsvs5XEuzruq3gtSvKtWwsboS/vj36+wMvo
ixUFBxv4Gz3f80k7UV8jvvhMEQiNeFFW3iOyY/3BbXtMat4f7PzmwrGPEhfQUSJyBOKtsyDfm/PM
cqE+PZuD0kdsnKDig1vEY5Q+mvnDjuskuTLkRTuNVj5pOXaB0F+RyT+vgYKyHNAJCJoXoVlIPoeL
IJeFA1LpoUKUNyLeg44cjM+VPhKrE8/PwRrAjPWjik1an9KPjWmFTpaHYk6i630Yj5mfbcHamjeO
Fbk8sFastatEIA9Hht0HW3SvEOKvLEyff+laPH6ZQJZ/K1Cec5/fX9DLLcvkkLkhcVpwx+d8hi6L
0oFcRr2oeBRPC1bxRpIfvORqnFba2LqnMc2T3+8PegHqZEA6SAtTnWoPYhTLjv7rsRNd7NezX1Yv
+I4jiyQkularzkvjU+x0nnNIcPFeY04poGVP0vGOvlFj+tRq0tqht93XUH+7qd6Rzo77YCLK2ZuT
psan93/n8ti/PViLMioXFdEtoojnxfrUARCTN635PMmyRieZWonaWXDErlyKl0eIcQKWlRycUuO5
EK6hqph6s2U+902bTdty9n45IM7SldHrNDk+PikuQ+ZDCsvhPT+vIq/tFk21Z63U8KzK4zI5eLhl
TVfenX9N6u9xzjJkIOxZMehYa5ALND5UFXAIIbooU7Sm6wOQ7P1p/Ws4lK11C0ghzJzz5hymTV49
+rP1nNL9JmSr05PjpMVPPcnLa7XRy31B4Rtk+XLvMuQ5/CDNSuUlqUmmEeXDt0GrIzfsqWp++uiU
qOovJJzlfMJFOHtOmkZH2JUe8ks8NgZusJ2aeTbpta3STJo/3h/s4hFZBFgWlR8auzohytnN6iJI
avj4L75YVd7JdSLK4AeJH3rkfmdPN6DE0hcnzerfM2Ss4coBuLiFlsEBIMIgpuvLe/32PgAsYM05
9YgXsiYcAwNY1Bb0Pj8Isyguop2q8/JgRO58+PikkRUgAgYMt5Bd344LHwZCIvzSl0TJiFYOjj+b
0uvilxkD5ZcKHV9qE53upqHtNO6HHzMADJRRQIwhcgfm9mx0D487zaob2FQZxVJryOGujaX23W6b
+tAl7bWa3MURWcYjtGbTAu5F3+jtbMF2RokAVviCsLKvHZPBEPV27KIC9AxiGMH6/cW9OCVIiS3Q
q0WxCl+Nc3kv00WAk9ALB1AZK0HlRNi/grm+ZsF1oS1NM35B2y2BJRRJ6zyktO2k4J0V04ufUh75
D0twC5Xdxo9xuZN9d+sWVNL2ZucG0caicUWNdXCbptmVTjAdCy91irBwh3beR6mjEGF1asRPcNxt
h4Ssd5LzsXGbQr74flLvK12XBuZiWidWeT/jsYquDVl9qEoyerWDlY9+AOZ0Lob3MvuepC3KDO+v
7MWHREOVF8Mjol9AEue9Ekkk5yn0Bl5mV/NAY4zeVwPfyV3jdtcEOC6HgsxPORXTImj9iHi/3TPD
bMYQ8RL5gq62ekmSPDBXQ9o+4ezndNv3p3UZaf2Rp4eUhO8JudEfDYm/wgLwtimpoylfuoWKtovG
tth7gx1YK9RNlPwd6CprF3zL7OwSq6ufQfzP1M3nkWKHEbUCfYdynpNyrbee9jjpojFXXtOOgAb6
2MZ00I7nn1ns04nARtL87RCt7ekdTPVWU0gCIROdtM19A79GXMGzXNyvi9kFAjgLYYIw+VxFhSMu
89QV3YvhtT1KfliloGZfdw+jKasvk+nVGxtP7F1G1fnKdrkImpevB4mYk0iF/CJCNwLRxBFmjC91
Qi0PEcGaxjlGs3a3kqnetDuRxPM1+4WLK305jTQPIQ5xQAFKvd04XePzSEJWfjEaoxt3iGyVYFLq
DK8FwrXhrsRaZlu0+YefEsalfYikAtEAZJyzDSulE6epJfsX08JRPOSr6sfEmg8+/JxvPfkxpsiu
ea2icnFMlugQ9hftWt0jgjsLdvpklJlC0Oil7KhpYugFjCMMeq0Q22jwinrz/km5yOnpWXqARxDG
4/HgWj+bJVgjUG3llHyawKqf0oZWtJEM2Q2VvttUVjvXTo37Rd30jkKds++Y8l0jh/ZjO4unC3Er
Xi/6XMCdqZi9/cjIoySOU9MC9wRhxdabSFK3gYkIQtFiMLtyEbitPhZX/hnTpquEQxNhClCAt2Mi
RCjQOY40HLD8TEGFAdkKLksmd5Po/nt/nc8+K2PR/serxAVI/ifzfDuW1zhNgcdtgOiy3v4cRhFt
OgTQMcfxJv3ho2PhYslCLlQERjxPbUVcaH7sDcnRjxykfvvRQUMcXWW5VrUPnuv90c7uBGYGCZTQ
B6Y15wSg4tuZLcKJLsro0aEuAntfBFP7oGdTs8ZryF+bpmg/ZjexjMejBSiZusOf3O/teCYSeXYe
xO7BCYrgc69XSNSkCr8qp+Ol/PDcGIuuPhkVIBXnbG6GCaV77mbnUDbO59RvjAee7PYI43RYSWfo
d+8Pt2zyv7LE/0+NleTJIqYi4Hk7tVzFHUpmmHfkoEHWiBTZoebo1cbqciOMdG3ap0LNYKeCYhcF
lti+P/z5XfBnfK51Fha+DJW1szBSuKi0aarwDzjwJt8SvylOcTnq3ygliG9+ryk6ioGZryyn9G+E
rU+7CGDpUcy2fuWnnL1x//8ldF+pQ7mLcuZZaulYNJVHatiHEl3mtdPN00/ENLytRAjxnlJfDjoL
KeF9jp7r6/urcHlSIeAikc6TEwCBOldRm2lLtARy7kGDEH4E84e3eCLSZ69qrvGKl+95/r15T9nQ
OjIJmHy8/d4CFg+JEUPVpV1vhy6t1jx2GN7i4bFzJ3D+70/t7CX9s6rw41hXMIOkCcvU/4qKEFyT
Tj4ZbGdjsi1KmFl78jErXRmtLtdyoiu8YlXllWEvp0nXFz8+Kg8LruycrwMUB72TaLQPXpokX2lW
idCdu3E7Wq2+QinTuJIuXE4TOQZiWggURLVUmN9OM5hpdWnxYB36wsbVekjNdWAn6imKysgJG/LA
B60zaS+9v7qXG4dhSebpCTBTMPNvh43LSF/uW5uLsE93Rtw4B78lEsTv0H18f6h/zRCUj09JiXcL
aMTboUhto7ZXwj5MjdR/t3Qsv0QZJSEs7t15DCnOzbf4jlbjR1eWcggJNjKUhGGLzdHbcVFXbCKU
/4ODC47qtjGRDFqVWuDcKDEZNxoQ2JX03fTKO32xf5ZRScoWKBtkt/PZeqCGWtH1PjQo23uIPYVA
kgk96rttIx4Vitz2r4x48SnRgNDZrIzL/cPF/3aeI4bEkT+aziHzJhOPlFIk+3TSozApav1aGEKB
jr/u7T2ALuJfn/Ms5qOXY+L30iKZ6VrDk3AghBxq6SICA/FoCMJRBnkQAgWXzh2w3lr/4YmkhXFl
eeqgl/0YofKeOogS9OaAwAcoC1euzJmqKWL5pM5hW2Zi2ghHySevNKvvfu3Y3+JswTNb+qS/8HSP
7cpEeFiD/RwP9Ftjp+oedEtEYjP3kWi+mKihTTeD0KT/0Fdo2m68JKidvT01pVxPdhSZXwH1p/3K
9tmbx9msvGJr9Z1erXtZz/1noH+m9cwDZ2C1InCACHUQRCIs8yL6VAEIwxi0xOtnUxlG/LmsDC1e
myLt7mqrLMnLmPBdn7pG/QD42zto2TjSAU7dwtukvd08F4Re3z1TeM/KjmZs8axA2w8ytn6b2J/8
0J2+1VYw+coKwLqWZmFdoDoZKmzcD/xMGyRV3eXNBgnZtDvGXZs8DLMw3TvfFagySCjw916qx09Q
WPJvJaEiUiksX+jZMjhmkaOSlYWnQLVCmtAXnwyjBHw95IP9FalQSdHSMOZmE0+RsnZ+V9JdF6P2
UzZ2YW4GrXGM9WwhMRDy33UnRMB9xDqFDEJwbkV9Sr0piIowya3+1usDQBMZGoHurR/RD19RJtUw
hHIT071NsoFlnVH4f+4aGUc70efJrcSHWYa6Xw8/89jBdRbIS4dCSqz9zDwDvxawX8W3uMhQXQJB
IBv9UStqBJWdQhTFA0mhrf3IrWY+tiL2gx9DkItsOyZmI9Z9rwEuHZp6DI5a3eo31AZBKbTT1ABE
U+OIKI4DzeO+9DCUCYVZF/bWcCteWKkb1c5JAJ3dQ8EHCdg3PSh0ME9xvhvQKx5XqR+n+s/a6LP6
VveQ8d80dHXc322QxsnKwRGru6+EsuZNbAnnN7KnaNxxb8gbr0WFlh6Lag3nPnJGcHK+O1f51kMV
bI06S9R91gs5TsbKVpZ9ozzax11IZb0ZMGeZRu1VNMH8aGOwNH+no1BN5UZEnfiBSkSmvplTpH2v
B8XpaeDQAFuuo6kqsNtRMxo2mO1SQ44r2VWKLkyix89NYnnlOtemvjh5U1nhJJ+7+pRza6e5vlKg
VdqQWnOuPXMagXIWZtUfB4gtyLQnrfR+5srUPGr7vSe3OEOpKQh5wJMveaZRGM8B6S2tLOX81PH2
bvaFGtAZw+ULvB7ktWfl9rO1H5E9fQCcaXhHt9XqZlWlU/Eqm7Sx6ZfUjbbBiLXp+W1tob4gbzio
I7bJYu/lKkEYbHIq/xRX1dDsy9mA/c6DONRhjc71dCq6xm5/UQ9L21+9Ztf1Q5LXtGJW+B309d5X
TuWsbNHJQ4mPA/WzqR+mEOFm9KO1YNARSlOaU99QF7CL+3wYC/jUljX9Qrk2GNdFyrWNFOWUakD4
kYjesLJm+0BL2PbXqOYZX6QcyofU0Vx/G0t/rMLJrJwUp7g842C0c/dcuviwIoNZBTJM6raLb9vF
hAkxIIWMogH03aShTqEDIIzu3dKMBa7s9lUaHDJkBj6VCE+74eDF/IHAGtqw89wYHFrFVtmi3V0c
pY3vHuQG1zwJbbE+EKUqAAbRfMo3RdSN2XpSjf45ELMm1wO2SuiOpWNHEdFLxcG3JOaRCs80aizz
jAgzPpGmvWuwB7BvmiZ2/yvF6N8jD0N3tLW7DtxNYffZxutZhx9yyMaY/kUX96uxr0Y0X5GpRLjd
HSMrlFSz4m3tyC7GaVKmwyoG1IQdHsn/q0YL/PdQxMGPEWjiiyutxlkt2W0FwikYf/Vdxu1joXl5
ylScPM1uhXB8HwxcHEWSBJ81rbeKg5noWbND02k+ZGxTem1RFX0Z46IBA+136X9j7um3XgMBZa3N
dXebmLkfr5J56vqN32njIQja6muhAT4Oh8msPXDVmoIbF1i/pWa2yHS6bdNsIlFTgupGL/2Fw0hJ
JbXyqmBx2Cy4hJCi1xKkCOx5OwPQCna4IaNtomSvGSuoJHykuVX5fZLgoIkgjTk9mjiqJODEnK64
D5J8/AwGsnjM0iidt1rgNtW9nTWa/WjZGk3DkKA5ag8jkuq/1bR4Xkkrb/LHYpyd06QGjGc1bSr/
qyM1ftOTxsm3UKsDc4swrbxJlmYehrzKvmun3DXCoXNhwvVLAWrXGLN745WAekMPmMtLQQ34FVE+
ozmMszcgotW0fBUb4XvSbsMvVh16D2Jl4S5VbJsq1vowUnUJeCtCvXtv9SxumCMJfYuolm3z4Nji
tncG99MQ1Tr00sYJjjTGY2fttnYmDjJqhvZgkf2pDe6Knb6RVaBhy5R1QBOLrG1urLQvIP27adKu
0wr3xJXT0qUM3VQ5w62Dvcr9QFLfrDO9bHVKqmIBzFluelMEcTBu/ap0rRsbLuKvTEagGBOUvDES
GITKQqQq2idf2B4IWD8tss2o9d1r54v6m7LQ/tpQuVV7slqddo+gaBlGiZM/ijSqOwDmetGHhpZ3
cBsCPtYOukP3BAoOYylCQON+qmqPOAt74m9BbnrzfVnYPgjUDNe90CBvKcOxJYThxSkrlF+x7NFC
OzeUxzUUGD89Oy0HVPcHdas0X37XYn3Ibyx9aF8NQTUpnCu8AJ51UcBT6mXpf7GctmlXxiD610wz
xvzQYYNY7k2jjuITf8IKVrXWJl7Ymkl379M1z05+0g6/vD6GJ5m4jaM+G5XK603cSp3SayEsYw93
dXFqmickL1PbUOYunX315CRdljJB8sJ1a0W+j8lhJKNDDmz3bupqMOOJzI0sVMTB1itqEird+bMZ
5eumdvtNULXAfCpwlK8974naVv6ItvgQjyA8nXxw0dqMvfhrYLeg/2hvmNma/dwHKyd2bT80of8l
h7ESU7bTdH/yQtnpTXrqjKm0KaBaUbkv8iHZAFl3ol3htdbnNGnmaqNwDMJWrZuIy4Jgnp7RfB6b
XToSRm7wVnUpORGnISenjY63F0GQP2mpNljbGCSkv6pnz3/IYgPMRAks/rYOrCo+tkYDfNqaDDvf
d3nsvyZBCU8ONf3e3YqxzKqVSJKo4X31TbnO646vHlRJqY7wpmCuOTA7ki8NECEJV7KDMVQCbly7
EwEe6HxwHfsCuQii9to1xG2EGHS0a+oIk8C0itLskCOLwUEc4H+E1BzRbS6nFMCYiTNb9eTajjEc
EzY9AOayiV68OdFkaGqx0aE+HVS/8DvKIY84hIKOx2tzHEx0oLuh4ADkeYROXgHbAy9NSq1Qa/Wu
2LRBDLeiBTU8A3SeCemKBon10MYnGi9Rr2PTr9107PVlU2eCyn4cb0rbT3R46JVnPMBfylv4aAJq
qh4oZLEmJ8lP+TiP/nqc2/zercxKnoQw1bpFTkvgY1Mpzm9bz6N6cVQXtGvaXvwCb3bEp1Lgufmi
10Y0rCCcKQ6ACTVxO0itwkvZahPjQHbfGXk4VrUa701YPfnBdCYRhG2F8gEXeFJvY9XLIQ7B2AP/
WEQfibI9EwV55GWi9kvly1FS6fD7eG30RVZtCyyVg03bdNpjTnHd+s9P+JvDGpJStIK46WrrGuk8
7UHVtkFowM1Vr31ZM2zTmaK6RQe3JUwRhfbUVPPw4sugACLQdCpHQRZBRk0q7m+f4BRxJ02V1Q29
JTM/2HYPEt4IKr5cZQxTd4e+oxesAAHUw63dCsIZCo2Z9kBkTejlxE3pPeMvo32DSm1F/81DI+8U
kvFqp7XIpl2hJf6rqkBviToU5WMy4LMChpNTi+lUbB/ADR/nHiCWCVB2FXWavdXF9Hshyu7eL2T8
KYqcp76I8geUx5FChXfxNtMekEFpsNmzDnQovOzGgotprQUBvAeVaAJvbyY+onBGIhvzGCVcQ2E9
9OY+dzRpbnGyQpLXJSb5BCYkTjYxV7gXUs9Nf9Fl4Cu4Rpzc6BLA3BrZDvfFDjq7vEEL3/hJga3c
mlMyJbeek/PxFJ1Pbd31HQJVrUay+VR7WWqezHEQIwILyKJvJrvoWYw2z1aFXpX3/tBzKYYa7nDj
f3kNzSGsZt/+TbMlsg+GSPxPOhJ7003VjM4XVyHVEZY8Ib9hopEEBm6kpVtlz1pB9uUDNRnpVDSr
0myxd5lQk4cNUBUwqBS6Sf4OZ8ZaHVMPp7sDck662lIemk+TO5jl1sAH0Ngkk5t/mgK/Sz7VWjSJ
NSkhAol2B5+a10FFV7oNF6VahHHgBIF6oLVBqeRs11BTawck85KjFpT209Ba800uUpPW+FyMlKlj
7ycISblLxu7l/c1zWaWBMQP+iIoUOB0gJ2/3Tkxmj6tZlR0D5R59T0SvqPcvkLchvUZfvihBIWEL
52nBmAFFsM9xVXgXjTr8D/cwprT9JsXZQ1B2WtVSQBiIiitr+o9KPONRvaQpBsIXLOjbqdGqr+kF
RM7BrYN0b6Zz9qDNA87ahXSnz6bEf8kbveZkph2uon3kEQN2fW0fdTj8r+8v88UHBk+DiQUfGWF8
sF5nXQHCQjNQJVg6vCD7vaw7E/YCFmkgSAElCm79/9rO/JElUeRdqTf+a2j0MPi+KEI4YM3fLoNR
xxXtQt09WPES15G+bAkV5DagT0KoGpXdV49lOnm51m/fn/W/PgFtAJSSsd4BKPrHIeevYrllg/sQ
3uQeaImgllc2lhdyNUSLAoHWraiL4GQ8UF4xQkPhqxui0YgcruLVvEPvuBiv3M7/2IKIQfLPotVI
M/Fst1uWV/cx2jGHae7bXT2UQbPWRk0/dmNRp1TSsvEaOe0fy7/oTyJ+Bc6awvZZU7YN0OrPq8E5
IAVurhFiiHeDg0gwXJLkaBrTuGsl9lHWbIun91f/H08RuDjgnJxty+a+fvvhWzS+8nykUxEo5W+L
KM6+U3ntsVkPtEOHJ+likDGLj283Ou+03pejx6Fb1uPvT26KKF7qZ5iYoKTwvSgCK9n2JmS1wfSG
ak05JV7Z0LlQIZ7m4BpC5l/LvXSe+J+BcO/58JM2zspDePQQ5JD+SrTXTv44DQ/NoLxy1SYy+hmn
VbsvieLFlYf4sgSNTBTADkAxYPbAAr2degndr6DA4R7yjkpDmDVcSisSdXxVg3YoszAD770aTTIm
N+3dW/Skiw/3TzjJkAtoWEMWD87vvKrrraBNfOeARKEJWreJD8CFbnKvnK8gaC7P9iL2hNUByq2I
0JrniomtN6AUOXOvdNR0+61Vol/MC+lTOBOJXTQ3vSig60jM2Lxt0ORZ8xhQa0+2oMb9m6E3+mut
uQuzQEwgAwwsYdYuuBou/bcfwEX61sBz0j8kdePsTEkQH9pE/Tu3CObTCKIpw115nB+8olHFqdMx
KTjZJfSKk0DWYo2ONRWL3EjlRhMt8PkPHkja+2xKrn/uQ/DyZ63KwG95gv0uOxZ1Tz3WzaBdkwus
jdgzX2e72vTIlMkrg14cCAalbQjXB3wG2NWz639u7Zb+Q54fHWFoSSjd2LyTXt6ckjgu5kNbpEZH
DWXKkn2swxT86HXA8LR/0BszsDDFF+PtJ3H0xuTNtXGqGuC8qhLoeNjSeKO8VBjNPoNTCWAE0gJM
O7d/fn/BL+cO7/tPMI5KCNjds8CYLz+YM53oQxRLzGfMGp0kEx20VdzGwxESZHWQrhqaVaN3+u/3
x77wU+XRQ3sObTUib4BP57eBRVo01WJKD/pUTp/w8pblTjfUSOaV0a4GzhjUN2PZgC5pE6Giz4OJ
ucm67nphUUjAt3ltq6ov49WMLWPx3fDH2jzhGxXru1xIa+92+fj1/R998T4ur8WCmqJvt1CCzg5Q
XQ4atT+7JmSCwUuR4uuE7crWdOSvfgzsa46Pl8EnwzmsD9kL/z/HTRn9SHu2cetDESNyb1NY/a3Q
t9iq0miz8P2pXbyGy9ToJC0qE4vm59nU9Aq3ubECyhvbACbzDswWNEnLxfnRGNN008s2visjMVxp
M1/ek6woOCIar8BEufHPXoVFaYGbsTcOMhD9eKSqam6UVfa3KaHXtyYhbZUI7kOQDgoRhVmlta+y
6ik4g22IPwr8ge0HPgwtE6r+iFWerUI9aRRaVGMdDCRqvsB+He5tK7aCgwjsvvwYe1NHgg5gM5sJ
aiNY1fOZY8wxOGUFFIfiFkhHTLilsU/ZeP5BM4EsYNUhIZdPUE6LK7LCFxvZ55ZFrhn6JtwkfsHb
a2eR0U1LktzD7I6FGZqcnVurpDdVmf29W3u372+ui428DAdkwcCImBTuPM6NcQEeqan1Bwnpe12r
KXuAwJjtxqG4Fl9d7GOGop0OaBWkBBCus3jSseG4p3PZH8xUz3bCNqNNhtjYSsSUOnHlMe+EEasP
f8kF4Ug/f1lPSKrLj/orqAMK4ikAyf0h6MrBXyelW/SrvoAMFdK4tIt9PDfNa9aIsTi8v7IXVzho
dW5PpA0XBCmxzduRa6o1HuKJ8wEIWfTFnmPzkXKt6WysqNfb45R6eLNhyYVgB1pQaDu8P/zlav/B
cZEeI5OLvODZ89UJITWyE/uA62EAwV73krCwi+qohtzc5K14bQzU5d4f9HI3gXJcFGGInh3CuLMb
Ix1zLZt4Sw9VWufHwnB6a4XRnSdXGvWlaP/+aBdHBWtzCDpoby+EswtK5hAkNAQMT57qph4Eig01
Haw4TugfuuXwSmWXFf7wkBB/F4QeyFlQs2fbKS2xePKLQZ2A6Bl0OoeC3luRESCAax/jYx036sos
lzV7UyMLqBahsAM3YaGUn4eG2JKUERupO+n4mhu7RCGDe6gVDcPX9+d24SBKsQjAFBcebBIGPI/y
JK1/N8tg/aPIU9WHVGvdcpVSuk1/xe3oPvtOO07Bah6HFAEPaDXfdPavuKWfkj3QpR3Sn1XpDW6I
vbh3DY99+bG95e4nOyMnxdTeenuc0H5Apy3u9FMtKE6GJgTo0ARH8OjjiLYX7XSlCHNxfMHYg3Ja
NPMNwDnnulV4IiKQOwY0b4tx9I6tN9t3mLj9Hg0j2cWRa3SPWWPp+6wfst37H+LiFAXeUvZYUKB/
YP7Lv//rzgKA7SiB39kJP8ve7UJhWQCUnTFyxQ12ZsmVOPtygy1TBU5LgQtg13m2PSsLi7qorE6W
X0n7s+ZVerEVBfSVKzv5cknJrC18kui1QVw/lwuAJEVf1tXqU0FEk04bpN/6RWe6y78IZ/LHgwbw
SqLzrIn+pxvZ1bf31/V8fGwkFsECSHAAysAtL1vsr3Xt01iXPIXJCW1d8c3KTRsrRwdJeHNR7Ihk
lX2H9zzvbK0v4vX7Y59fx3/GXqoLvH8LufAsg8rHRsN8hLErXtcwlYhI0gKho+jV81c1iPLzmMjx
y/uDnp+ZZVB2MEklcGLSiLMXl8Oe+VMh01MacezDFEzTkz00uECpETfPjP56fOWCPFdo4J1dRAJw
Z4XEwMN7LrcK5NHEYWXOTvimJhtkfqID4s7qwfJStXZHt9ijh1+vOlyajZVUANY8GFVXVvsfX3qp
JQCDxwuTnX12WWTgWpqWbtUJ3rr1JaBPd68hPnzyexuAmhNl4zHwtGHtoMBy5TT9eVj/vq+XBSAR
AQxKsANp5ezdb0HwGAiVZaeEbiLeBnSAIZjHNLPCEmefT7IAz0XvTeK8O9fzfICvqEWrPNZonKuh
xyxLmtO2m0BXgde31sgwufsawPaJVkL2vW+TqxLcf0qpZz8a1j+Hgq1JtHKea3clCacry/kohyC7
c0ekcdfaAHQ1REUPNaRUlYg243WYrYC1FONDlsXx77azFoODLEfGVvKgvJRm074C6xo+WWMaF3st
M10tNF0ei5sA1GL6DT7L/zg7s922kSwMPxEB7sutREq2bMdJbMlJbohsXdy34lLk08/HXMWSYSHT
mAZmpoMukaw6dZZ/KdQuDuo0vi8tga39yLD5HrxNKU5Jaye/VarnQeRV7nRCCHscd/Fsdjcz41xQ
343Q/kuaWBmoTliMiJjUZE37yIBiuIeL2C3Vhu5dlYVSDoN8npnR5zvVtg1yn+g26OYeaoFt8CV0
p/xe1q0REVW15Fu7tLP8UJvB0LIrgcJscaK1Pg4KZZNj3TtCbrTZGEQflZZ09BvbqurfCSLHj0ay
DN8qZbgVLmbmeBSMn1A8WlL1Xz8ZjQais8vb29y1qBQDQt64se0+vdPa2LGjofCmXR07dJoWHJh2
ppX48SEIOmxSVWFg9ACwZiyea0Av2WNn9Pp0YyEL8QGGzgpL8AaEKCZn6ZHerZn0bJHG8rQo7dq8
fOiKPL610RtUmyBz2+HT7LbK2Bo1E22yQeBwiItJKcLWw88dEWz6AWGql9Nx6uOyeoT8I+ptXS0C
r3Z/dO9m6Kvx1hkGmsJBuvS3eSPrfjPX6CT1mLqOGzSR/G9QX3GVNc1W5WHGxHMIBe60XxHftPVN
NvUM9hwvUT8GhM+HTQp07Lc/oUzxYcwtbO37wjQ/B8PcUdbi2Dk/NMQJuNhjW3rbfFHgVMq5t+5c
LFxR29X9TkYpM4JvMDPlpylZ8tW92JvlfhGpl2yZ4ScIHA1WsPMmBPf2RmyzRYDez4gz+TLfMf5H
9Qw5WtPcYsXs67vWWrryZipbXURkNrjEGVXb/xpn0f7U9cbJopGZfPHR9uImv1/82Db22ui0xkMQ
txZ9mcH1T8vgLM1tMAJ1cTxnGj6lS2EZ93QRi5+eSgZ9g9gEk5N9NjaSvUZB+OQLDCh/D60SzV3T
Bz2YwMEqvwHv8MV/oB6S/JMzlZ76z2HSl0cVXMEYLTLsi28s0TaYRg95BUCB7tR+ovKgSlXW/HGw
sjKNbKsV/e0cKIE2lVhAiZacgSZE+lbKMI4VNm6yJkreKnukzQ7qQDc+c3A16ylWBfANb0wQxC+s
yf7JOHYqQjGuiKc8rWxzswxF3x8BQpkvfkLY+yinrI9kXejGc5oMYM1iA43icAaF7H7J5niilMaA
yQ1wVVjsX4bLS8Ko2Na7rZcv5adVd+9YFiLJwyHRnSOtOJUfkQrWi2Nle0puCjqf8rYWKVKbo9CK
TkNhup4MGDNg4cYwn5ag+k64lt+ZEy7fKiPTf+mYCaR4fgO9+dbLHKldvZP+Hg3gwAhzK27HfWxM
8QA0AUfYUDkgsCEtjPxBO+hFdzAkvZgNgkr6Z4S61/ag6p37SS+hreHVhUw+/i9xddd2ylq29iiw
9l2kZWwzT4fVC7tzeFSypbXd6t1SftWYpAAExcmQ8+GMbb/lPHTNPTPUeIj0Fkesra5cem9mnyQH
/PS4TSwuhu/wexuxAYXv9huUxYI7Y7BVFy315Dm7uGqcGtjxlKuozpb4i0znqdvS2JQ1Y6ug/jJC
WW23CNN2X+ag4dDG1LMvViqCr9mAjNSDZ2JprSfo9x20Lo73QW1r+nYUcihv6BgheLQpaOIemsVM
8z0IU7KbssEMRm0znAWAfKKm/tlIqtk+1LieJrcmoru3rbMM9aeGEXZjbtCsS4wQKGX6ENj5MB8G
LvaDRrfdCBHArNxoxcSfggI8ZkiqhohYLI1JIyLX1tekRBln3wSgofdUbJkX+oBT9G2iVnsQ15Bo
6WxmMB0ISAdjVT8FJdfbi50WZvWxGaQnD5iqARPKGrMp4ezOnXZTJ434HUvHgBZM3B7tqC8NW4UI
lgI/noFCYpbJHN7/EggzeMGdNl22+lyWHobpiGWEwHBdDOQFAPpb4Oz+dJMmNq5QwLR78FPZQO/n
ce77uP4gM3ec7mh9LWCoS5AZwLHqtJL910lPmvR2QsbgvvCDPL8vx04dSuRH9c9joOwD9RJqftiG
aUM4u31jkE2P7a1lIO4eUt+b5W0zjn22nbAoDUKHuuVJ4Xd2tJF2tG+6evaSl5iUdPq4gsm+EkDq
H72VaA8L5NfikMywqL84dDmmKEEtUEenXyuN0EecLn8GvWW0h8FHGK/FOS6N9MwRxndKBw1BULOt
71dWzC0Mdxw3y8KtUc1zZWM6YIDgnUrYj+nS7NXQLA0nWdl5f78gded9WPpq6n4PbuL9Toq6rnd0
wez+Rkc77hdisuCBEeZwQRnEdsYo2GAAXIcrjgJQE5XFfnHKrvtBp3RqQtcv7N9BzU/ZBjO6ezsw
4oYdKlc4xs8mcY3qPliQSAZ3Dyi7eEHXr8lu8ZE0kv/iITZtlCTj6kUV0N5uRIoIwdYvyvEGEUzb
v7W01DkVBr3JISpnnZ4AHeDkznNm5URd1WnWzax5rQ3Z3TaLO8ztp++pl459mDmart0lLbICd/bg
FWKLUZbt3cejr+9T+KrFrq4Q7T3qSg/2M2MdRLd07Ih2KH3U1Q9BnBDbqm6x+vI8NBm2CkyJuy+4
T43d+jld1ILiIN3IHkH82gYmB9eCrtcHIpRIQ12IOkpG3BFuV4ujHDnmRKJb0Bia3sAp98uTZmWg
MhttsONdWVlc+G2LxBmoGnMKzbQyk723IFG4I0ccASQicZhtRgO5w4dqBiu91SbRDZEhCjGEbt87
LyqYZrFt+JE1OqKtl0VTHRQ/WsAu0LiDEeBinxbezreTkTTGr2MytKAFtWtpwdEUsyd/eFmdajk5
tT7859UeULG6z6AnjnpK/3BMTD976OzFMPuNWy7ZQ141hXM7e34aFnGZOpG2KAttS6ty540xedLZ
Vk1jxREp8Az6zctdG+Sp5qXfMOYuyHWTST3mtFDxQQAWOYRp5Y/+B/oxMnksvQqJxhmdxH2JWTsp
HROtYK/10quATtZiBjrXYjQJQ6cJcuSFNiA5vY/wefLmoUvpmHymg5SdkE5bqhsVdIiXkmGYbTgh
LfdFq0cw7gg2FqW5HRmZNzfovWLv1aWFo0Xw0UDvtw4wtbFy1LidkDxQGx+YWFNtijbRpp9mWotp
4zW1ZUdsbkBqvlnONCbpZW8JOKX7Lc/tvIswUJhyIhWtvVCZHnIXbYoHveg1KbbtZMmH1HKl+8Fr
4KAFGx24cHNXY5mNHr8GLnibkJdhZK5lBmjrwkZ6Wp/8oHoAad50NF5jrc22NclxeT8hNp+xZwsN
kAVQ6zXjpsn/CVuKwSF5tFvNWzG/SKdkblnOgKg7+ay6yslDo0bOJko9F/8OS+GA5i6ZNv+cFhT4
Qmgp022r5x1oO0Q8ggcRFwuUdYubwPzYBJP8tOhiyO+hVwQd1AIZdKKCSYQkx/1SGsk3V3OS7jYe
gpm4RWfE/Kz5fY5oq7XmnjBRpYgkcjAJGlx+oXmboEZSklnQklg7btQBhdmMmUjYy6ISYSWmAql5
RKweEozYfgDEbxiv94GX7LW8GG9SK1ANWtl5nm96YDj6/bRMmrUF6592oUFzqtyVKfnaFgey+Jml
sU7t23mpD2nbudOeTdQ60JcypW9jGVj541zIRds70ijpGDZJuzURUQs+jENKumQnSWWcymXFjBZz
leSHJO4QAVD5IGUEwLa5cUWR6hGyWBR4BqhgHCVywJehU9c6k2ZGQVqcbpw2aGsiWRtU21HLvJJU
pM+nH75GQrIpet9RkQiCQg8hlznNxoG4Nt+Sj5j9zbISqpc2cDtkAjUvBgHLLBGXpVXtbi0ZcQNN
IR44uZH7D1Ug7CXiLcNPTnDzGzd9s7jPpWuSfa48FHEn51K2sI1cuE1Dr6D9FKVKCVa1iKbCX5Jn
FF7jXUCWL6pwmILu5MXmmB1au06fjXT25qiY4cb2mz6D8L4xmyGrI5VWiJ+O3dAVN3Js+f/XvrB/
R6NJK0l2OmD9gGsHB1VylYN+L1PX+RovMzjP2Fw0PwIbSuaMk0ijEErulx7VbO4NY5vkxIh6k2Ik
kt+r1PXkg+aa9YNvqtK8ERKDOE4ynE6sy5HDnTZTonS+Wznn23Hs4i+uD/xn48I/C1HIcXiToEva
bTOpyjsIROK8CBnk8ds82D3PYJlKRmQgMW8fwLV7wsG7AR/rTmN+4Er3I1TOlypESCz43RFB8hgU
hNt3P/u8zr62SN2qU1nUUPL0GI5hNaXWT3gg7fzgSdCs+8moxDdUMsb5oGNbNGNeU+f9Jxl3/aG0
O6MOk6m0ppu8N82d0aC/AVo4adNDWXsC55Q5X6psPy5B4oQCa0EuMisdwELQDdT8Z5xQxu4wUX99
bxdh/Nek6OlsCh+zx7018G0VF1kZBcrRl7AaLEwNNo2Vtm2yaRYJDYj8HBikKeH5bQRw70+GqXJ9
ByC0WA4VHeZ+5y11o0KKGmfaggWpj3PZAhoFW+EGcCjbnEiqO4v94mG/rqJ5jI0mMgCeG2FrpeZ2
YCBfviBMvwS7Ehtd98kEuyyPrda3bpgumPqEYnESezd7qe9t7NRZ/C2K5sbyLZauUh+4hKc+JHKX
zu1Ic5rK19FBmLUofysCZuaZ4HGWIj/YPT8frghRTGxFRq94jyWxK9FNBtu9WcCZJPYGA8yyQppT
GBNJorv0EYWOXm9IBO3pYcg7+QmeiMz2rluZzn7lGRwmF8DVxihKaDtOthjtfjGQwAT1gXXJQ87h
+d6lBIrQCuLM32XtmM2QCNo0T6PYSkr1IXDb3jtx0RreEbl40v0NgKLuuxE7MvvYQhY27n1Jz3WL
E3W7PEB8MsB/z3OpR5bXBj+IrNxjVa2SBtNtssmN3s5AtTsJKyYqBq1NdyoT+osEsqlvuyEBQB3j
Aw/adZ7Eb1dkvU4d52q92NhGGmvVlS7jZU/XcmxUOpkT+PwXf+1C/tVP7owlZ4/p3Z2BcNT4mLmG
IFj6BZh++JTNvvPoR3wu2bn/aClCkxWUA1K+DrBo8EvnnHrXyqSf5XVxZ9V6tUOYnkCkaXBAN16a
9XuJWPh4QCnIta61d9fx8+tGIRNcVA+ABDDkC4yz7maPRnMhTFYGFUIKR6VdaPS9GpOZuBA6jCyv
/CFUDoHDRMVh43amux1osvwyRlFeGV5fIBQY/lkMAYHNgYxkjHs2KZGecibb0fK70gd+wXW/LAda
hkVNF6Rpji344/5uzjuGVjA/vmVeQksA+Ao0OgMWxvvd9oumM8GD/5CZk3M5xrn7hqbmIgnMXtyn
o1OczGLJbqWB0AJRrID8kzeIS/YexAo046P3l75o9FtgpEBpMplEd88/V25tOaCDDQrl4OG9+sUc
unin2RbMD9sa7yBfXrOqv3hUNj4Se+BR8MSAqnU2zcBDSyyVNeeHKWnrbTJNzqODNP7Dwm9kC6y9
qKl/4TAm1774xZlj5VWPZfXtg+N7rsmiXArjzg6Kg1Qg2qN89rvsk+UMs4KBCYyhQYaewA3Np9n6
iaowVJvJcHZehWrKrHfwg9x5mIOoy8cqeMk0pS/7nOhk7yyrKyggY8hF/zoVYVrMl/FIDJjFgCn5
MzX5K1RUqizBmuTZUQq5RDYU1nJjJ5LYDh2LS76B23tPK6YBRtPkCkMCLLCI7K4MrmyVsxf455cw
NF8pI4Bc+DWvg9ZaEmOHoLKjhR5hHibI9u2ndEn2RrN0X4JxtiLkSa+BW//Ehb/iBsuCwUABDb8y
joh3joaQfbeMqfKKY16lzSPaFDn8e720brupXrJNvDLyN0kyts3G5qLcdz5QFx9bONq3DRxPNKow
j3n/1FyYqPGj6JIjJ04QRe/lfCiXxYEx6YJA0ZRV0m+gCg+hJ60B8p1EB2aTtINHMgirR4RNNXct
3eLMhL1b1Nqzr9rsV0tw/1nC8qk2VgJwcmsWybCXUzFdgQWdD+d5gd6qNc4LpG1mun9Ae3/tIPIO
Ry5tMj9xMtqKTBA1LVzL4F5ucAiT04bxJrJ1YD8NnNUoArUt7obFf/aolV/4NnK+m5u6Pg2ZYf6r
L8z627AKBRlKPPYNe50wv/pt4PGsIVBP5LnyDmx28NmUTqpv2qopbx3e6DVM3FnA+/M2wIFx8RKC
XP56vWJlB3KstEE9FWkMNSsfkvg+oKhBW4DWWbpplFVcE4h8e03fXqFhINDObYCHfCzN0VPqKaXx
+dlz/flLDnXrxZjzLOTQ2/+9vz3PguyfZwRFyPdmYu5y2b9+xtXequc7qid7cSDfV7IGeVvMR7Px
tBZRcI08Lw7kRyrA5gpE+q2lgTesI0FExNCrfr20qxC8IC+cn9BzlzeDrzmrHpXzs250ucsHx77V
R+Efy8ruj+8/9PpQr+PEKvNp4z/MIGYF9ZytXBrA2yUrc5fnn9AUaDt8hmioasK0rmDD3liLeTwc
MxTkbXCVa6j8a9uKpg3m0p6Xp3ww5BdD+f3dqoA1IAyBVu+VufAbu4fFgNQya0AQ6VzijvHdmIM0
np+w6MIToCf3NXD4HAZQxfqAPEfeIqD2/st8c024BAEQKY+/13/+1wNO/agFioLzieDxEymtiTtR
2oG2q/PORhapl01/JSd+6506yH6BZbdQQXLP3qlBu8hCVZjHRGjzqTHrx0rm1qmY5x/vP9vlPcap
+GuhdQv/9WzQLlcg8DI/EZ5X2n6Gy3CHXE83lN4xxufoBi6l8/P9RS9eKPAQ0n2gkpA0Vljd60Wd
tlj8IvXUs9OlVNtBMtFBifPAaXdpDTQHsSCYmle+4h962d9nAvks0HRr6DdWDNQ5mkG2zWIUntcc
gQFbzaZfUDiPVFCQPaRNVn6sWyTgb4WZmTdtwrxj5y+tod9WpjkEe5FYsj0sxovnNt2LSBbvo91W
cgfhfLlvJ3Pb9s628EY4vajqJMO2VO6s7+fWyjXKdwdtb5rFAQozOCQlT8KO1U0fi7bbuoms3I1o
MkRYgNxYHy2RMOfA1bM7jSkSGDi0z9OXLEis+BedC7F8rzLV/KrH2b9X5gjTHd/LREKPNv38yks7
Lw2ox6hOoA+B3yKCghh7/ansZvTiGYT2saM+gLEjMhhcZj+reG90MLnAEjhMTTKaFT+Y4NHrLpzJ
Q17HoTfVzRW+kP+2dwhr9FvcVSndBjR+4frZNIn0/Lg/GtUU2CAqagxn40rDLYWyJQ9L2U1XDuNF
1rWuCf5nLZMAAIFHef0SBN32dqrr8ThVxjBtUqrrYZuhi1HRI1omO/KMfPwV4Mbsb1tf6g8imCaF
TsZo4/BrLHUHQAmT1PLKuziPEuvvcgCzc4gI9aANX/8u1UCpsOKpOXr9WD6IZYhvQBOJZb3Q6CP8
84uHmBpwi+IgB6Pv7DKjMeDi6kkLxnYS60ccD/5PW1iTCJmLTOgHeP5UXtl958GJ5wO7t+J/KARR
MTBfP5+0elAJXjsctZL5bxdU7QkMnr6Tsph+dkTE+q5ATGa6QhJcY96rQAGqbq2CWd394wL0etkS
5UKGbLb2bCFuKvdm73qP1uDLr4aXoZpWEvQJV5VX32VLVl/7qH+q7dfLs7GBStK2A2vtnQMJuxiF
A1rm3jOSSsw8HOUX6uuSidkJnc71+qO0sP3yy8lhy9Xx0TcszbmZ5wThI9Pu8++lsNJgP9lE2T0z
XPnkzxlSLbkpDRkt9og5bD9PdhUyYTEz/C+6yqWyH/zuxo5bpU3UDvDV1B7n6RSkNV6uqOIYuTEN
oWpoaqB1oAdHf14B6EtcdXB5hJFFmj0m+T6v2Qkg+4d2iCYRmzjbF6nWPyiVBNMjo4TgN2Wc3/ye
snm2n2acOJpPDmoHrDt2M6zgjY7Ue/fgxnrg//rHTcz+BZzlAnwF0UcC8frTpvrgtf4igmfkJxCj
8NCcecYEr7xrzLRxI9wv6mvSrhebGD9e8MZsJ8pWqoqzqxyUQI1iBR1QVaUtEIcssR/7uSoYdApX
rHI+jEM+G8Ko4937D/vmypxVmhr0tsxz4i9KIAtN6rE6cutNnBRakXpvDo9eZegIPs94GBTxdeji
Ggj+3r8ORA/A6eiTgPFGRv8sUHg4j1k+t986B0GFuJOG84LyhRccWuwmvB29uGnEknTBhzHT9Du8
R7R6O6B9khxwiXLTQ+DXNEz1Me2/l4ykryVX5++FLtcfDjbBxbL4tWd3Wpxkem3hTHcccrezN6Bo
mu+oQXZ1FM+2+q6cOX5qIf9r4fvf4zxc/1kXpv1KZ6B6P+ekJN0IYkVV4qQ5cQMIp0akoRv9T+mY
1NH7S53jR3ET4xlXJDqXFqzzc4PmeTIAFxiaduxUI+962TffxxgrPS01jW1jtKkVlX4ZOFuJtXx2
S23g3vaOJ4Mr+fp5LF1/x0p6tkx4QNzZZ7s/txnb45YcH+dR+dbNglnil0KWFQPUCakbe0UAbSsx
LOZ9mXJV/uOlxV1l8vx/jIJgq/4RjfwrvV0MP288WJ8nFet6BokCpZ+xjqeXjHk1rFzGb1fe/OUD
rysSuLmO6dSc9xCFSezRULs6ofg0HOzcacKpnKYPZQHhfdNZ3M66cOcaKqQr9+9/9XXjvjp5PC2w
S8OE6ggN+byrnIKbmXpMV0+tKPS9Lif9vi6GGBRAnzmAs6Yx6jPLecQCsYtoiFdXPvblBv9DDrJJ
sSkGQd6/jq55Msc+oM/8JMZ5utOM2ts7oNWjfLC1a9fkW++Zvb0WR2SBSDy8Xkt6zEhiIy1Oammq
3Zg45Vfp2dNGg1K2h223fKXfikV9X+TXatDL+LGq2bvwI1e5Dgg6r5ce2klj9hzkJ39xgfh3Qfak
J0MbtUBiDosM2pdYYwjz/rc9r5nYyfRsgdR4OOqsXMnXiypVMquRdMSRzYJCC2wJBeDUQGBhm6ZZ
rjbgqoxrnIY3nnQt7JmMI+JAlnnW5dQMhKW6tC5PAP3cQz8s/TM7ayGbxTyBksdyv/SLJv59G6Gg
E/Bi6dZgeHsWn7M+iJfBWqoT8IoD0z1hbSe6K5E5xUhcvf9a3zgytGfQqqa1tqoVnG/ZhcOKXG55
quN4/FbGKogMGwEb7JKbW8S7zbuGvtRXDLKMB1jb177q28uDNPpD0aaP/Pqr8vIFGjkuX3VQpbpT
Q+dXG/gjdHHLofY+tzMk+cSIGREmFKxhi+WGeyVGvvWRaWugZq3DsQNv//o39KmiWx3n1SmGQHji
T8gw99BL7ZWOnGmQzWKjtFr+Y29s3c8oFZHkuvi9s8Ver9qUadBNTVqdltkVN26gdDdC41ru60a6
Yqvqvt3qVQBNp6XAev+jv3WWKJ1WIj4QHDLBs7UdLcs5rNXJmwFpbScwtsBLpPodozdVRPWCGO+V
PX1RSNOHZNjjcXRpQqw0ktdrJiO4ci+1spdGM+eB1nIHPTSd+iTqHVRwgCoWoAeFoX1QI5nCngTa
OXgdVDKgRXpWXKlxLhOE9fdAiaZsRAkFCvLr32M6Ce67fZK+zLGwwDfW0xjvkQWmMxLYDTDMhDpI
RUHepF6kqz5rwg4b3WGb0g3zr3yQi2NAFEVMfU1UzHWecvZyZj2N/dG0BHli1v+cgTHcJxM2r/sh
Uwik9FLHFqUC++RsB9fMstvKAxDy/qZ48zfQDdYpevDyOP9A1ow1OpP69KWTzhJO7J0brUmL73k+
fp/0xTumVonsaRUny1a0eXIlvl+cQl4BEy2ubc4EY8+z+6yemql2kDd8qXThRZyXNmMgHHfh2PfB
V4M5/T26aemVlPSitQGTi1nSmjOgC8ss8iwA1XiOLjLrtBPCe3lYY0Wvb9OGMq4wg/RY2spD27id
VxRMf2+DM7jp5xy7UKFPjxMb80ov+a2PwEx8bdXzi7hxXu9KRUECfcYTL5ZCH2STVDAp1FwvOvIi
mb6xytm7F3He3dSzX4ec2+XKLrhIK3gf62xiHRNRH54X34azcm/dBR1gNxXPQHeC0yrJdV94dnF0
NdtFwidti59qyafT+xvwIiqxNG60LseSEogp5+tnB7KL97PDDjCUrG+QQJJ8iZZmUpvOB2ds/P37
672x4yhHmVnRE/WZdq+/56/c2FpSYwTWkb6QYU1Pg170lGKmvnVTRw8XJ7Y/JoLd8P6ibzwke9sG
d0h1SG9jff9/LZr7OTLWk5m9BCj9PkL3Jqy0houeucSjWrtGyXrrGXE9QgeAd8s1s/7zv5abKQ1c
qGQ5E2rhIyiqLVuTrgNk0ARxTVcAA7bMIrgSXB3+ra/ycOiR3OXreB0ftItbXWsmqOjKz18qC0s3
vUrQUxsWHcJMTr/l/Rf61hMG3pqIAlswyBBfP6E9SEIqVIHT6OGprmhWPzXGjP73knkA7ZycolZP
Pr2/6BunxDQR02A2gAQBQ/DXiy6Jq1n6WGonbdCCZiOCLH+xpsoLReGMIdm6NW4rAJ93XuZ6V07o
GzcpuShdWBeECM3p84Eeqg66mTlufBI1Hn0bE55NB9mpMxO0nY0Y2KmLYWKB3jryuHHVbxt8Q2nD
Qrre5H0x7d9/FxcfmxY5M3nqWz7CmqG/fhcJiePcAPY/oQCu37qzA9QzlaPuh0UP8ODK5744P+tq
7CsKkHVfn5tHdKYpcjnoycnX0iCKx1Lft3F+GCokYlDgnoOn95/u2npnN3NstqpXcCVPg8jT34sX
y2TjteNUIuLr/kgL0Zv/xxMilEYlCSiGzORsb+ll1iDWYyentG2+C22AkNR7+bMEo8YDVumXf3/A
dbbnAAKjvX8+aWMonGW0G7OT3sv0MxDQ8lB6ottpMVPzLQmhn92+v+LlhqF8NGiMrT6i2MyexfnU
FRNtuCY7ufqAz0QwGgARdVofY1Pq197mRXiAIk7hyOuEwGvo5z1AHy1Hg55rdvIzYp0Gvj8+VKPX
N6HqynkJfS+2bo0EhPXu/ae83DgsvA7f6UkQKs4VUYzZzB3pOukpUUDJtnMTFFqo2WluRADx5RFu
GaS+99e8CEvrwzJOxFmdAwJG9/VRhLeAbGg85Ke+7+tjnMKIAS8cBB88TfnP8VLMv2KrK3EpKJL8
mu/UZUZNl4uJLY1WSEfkDmffte7T1NZyKz+R3MTfys5HP7tMLLHXytj5gQhgiqJGq0w43Am1u5yl
imAOtP8cj/gZLkrda2IPXuIskYwxoiyhY2UnBlPLGHWZk4tIz6eZIZ3mPb//xi/ytfWZyVfXDBJx
sfPtBcN6lkGj5VBcdASHg0rJH91M39bnvtylAS2DDTi95ltVCYDuUDXy0/u/4I19Ru38J2FfRUzP
G4xlmix+vtBzQn5gMD81S5Psc8FoaIsdgtjpS1EY/5qkru1MriAG45yri7GbwVBDaZaTn5Z26GTY
ioD+tes39ZMGK+0GHm3wE4ZNP+yzwRI9t0GcXMExvXGsGWbTSwQqhHTseZpaYCWhOfghnMBm+tqm
MbziYey08adOWzmIGEZM/gvE0vrKqV57968yGx7dJyZz94IeZIry+oTB8SSB6+LiVNpZJqOsGs35
BtBkeeWrvvF8jFypTGhHILpwvq/cAVh9WYrqFKTS+uL0PvQ/iOlbCWHomdchHhW04ys3z2UxBLKO
fUz5h4cOraezy641FK49cVaecOVV4nse202xRy90oAGlWeKJVLKzQ51rffihDzaiCwaibh103HG4
RVa9XyKtnbJrRdEbFwYqOVAlmIdSG51nW2iCGwIpsPJkWG2SRA2Uog1jEX+8Q/O7U1cy9DdWQwUY
AWteP8yI86FrbQN1GBq+KDS2of0E2hwpS3qeXv7LgcaXXonZby1H8U8mAwQcCuRZzGYm1tV6B6IO
XtsIhdyixtrS75L/aZiTfX0/WLyxfXl/7F1wPCg9nFtSGXLAMgbjCdgXjrXskxj7oEOcVfnx/XXe
fChrdU9DCoIs7WwjoddQZ4SG+jQ3efPVCOA2oUXPlLw2xisR+I07DwUF+jeYO6N2dr45kBVFuAfN
iZPrLwOuUUY73sELM26KBUenSrrGM7LW2a5YrOGKltwboZd7Bs1cClfmO+fzrApkupVYc3XS2xIH
A9vt2P957O0lLNanoc+uOWa/ERWIdusuIftlOH+WaqsZcKhVePXJ04X5GfvKIpRUYYiPFflDEjet
iJhHAeV8/2u+9ZwI94E1obwnIq1f+68i0ujbPp2ttjkho9BusUVIo8bK69CaJch8JKX3/7ge3xMA
usl4AXA2/+P1esUMZamdC+NkMxq+wxFAAm6xmbxD7oWNKqGHXpsXXmxYVlnPOi0omjbMDV8vqdk+
bXZsJ04C+dRdUszyMU967AdKJQFTv/98l5kSA0GGNqAiEaRHF/DsFimsvgbmbZinzJjlk1e100d/
gry2K0sgSOgENk57MxoGFNlCK3DBar1b0ALXtLAuttM6lyQU0AEjfyB1e/3QFmNHNBIM64SjmX4D
51S94HUE08AfK1wHnT0OZdk1H8cLBDK5El0euBaMQ1eFsLOHr4qpnkVumyfMo4qXLBlRCUQY9uMw
SxM6lVLtD11Z2NDp/fJSNV0WKuHhT4YvItbaLQIFc5eo3+9/kostzo+iKcOIFkdCOiVnP6rOc6nr
g2OdtKpIf4wyLWKsLKbAhHQci/KmSzvAH++vebnnWBOhO0SkQJchZ/T69fcU61mtXOvUVL73PcOT
70OLxAKkscSM3l/qIu6vj7fyBoDrr2pK60/56wTDTlzWC9Q+jWqy+y0aK1URdpN2TXLsrR219m4J
iSSH9nk3VfiDbrezcHBDK5p7xvr2NzFiESKFIX85eH0Um8Gyrl0Bb3089EXBQgFowDz47EW62qzq
nF906gc9dzeDM0I4TCViLMzXvS9qCNDzef+FvvXtVvk4sjNi/wUMt+tbxhiis07QEOx7TXh2uy8m
hShGPfrXxCcvvx4TEx6MLIHgxGqvv16Nma5W5pl16lLL1D54yGNYUd9J3f35/lNd3KVUTYAz+IKM
alDyPDsF0FEBzCwOLsWWjiqx3a/1eJDH+ueEWLarfGTNw8mC5YFurVdc2aSXm4fViYso9a+Z0P84
O7PdtpWmXV8RAc7DKSnJlmTHcTzIyQmxhizO88yr30/7xwYiShDhD1hHDrBa3eyurq56h6VxMFXD
Mg8703gvIwVReKlE42uoqnuEg+pNAO9Sch1zqna353y5ec5HVc8XN02qKE1ViVHlqX8JkXnZF5Cg
4GWoxn8x5OiVy+3aGpPFEm5J0x2E+c7Hq5E2GLAsNN8Rak+3qa2GW0qJkVuZQfOIGknlxT4qzfi+
dP/DTJkrxQFkWrnsxDb7IwjEfYCJTjeb74hWYbuZ6nLkhfnc1NvCQdEtnAIscL6+uKKzRa2O9Pai
xN6PFt6KdWq+V2mi30M987d6h3/lBkihCT42Mau/b494bRPRZJTJCOnucW7OJylNQBQTfLne29K0
T309qtlujPDc8eJAhTGtZAVN3bZBXniNB3R9aIYFNamw/8W//7G+IzOqDKSt3kHjhzgk+TWGhTXd
w7pWmj22TKw8GP01m1kR3c6epBAcKLeIYhPCxvhunw+bTJOdx7gpntDxkO8N9H1GYG7Fb5uWWuum
KfRfoMLWBoWSABk286v7GRAhdWjB4bNhdC5n3fWtDNtYKk9dFKioMDXtSYmUbsvffK9EyvtNqSft
aGV1uDLyxXoL/oMFJpfWBgu+hC5oxWg0qO9VpziIc2QZFH1bDX1xpw1RhPBKGRyiLK1XLu0rqw2y
CWwQ+otAbZfthqosbUh3TX0Kazg7dRFUD+gA1ndoPtlbLJyULT725RYv0OqHPrTSyhm+TB3pnovu
oPBP1sVnP//aZR4YTo682clEdqND5kFyfpugcucnWZtm/c4iWcIr1TSkhtQlyvN7CaNzc59gMboS
ry/uQH4KXxwek4AQGEtp03JMdD5A0pxgTOF2GswaDpNT9FesDMZKxUm9uALFWDQXgJVR1wO2eD7t
oI7RJ2v0+pTGYel4AWntyzRYnbLF6a55qKdOCrYksz4CS3GY49gkxOYqnH0oP4UR1Eh9lOIGe8GU
0j2xD2oJdkkBdrWxZH3XQkPyd0nTD4e8bWp6gKgC549osnZoaMHWt7ywSOaXtIEm+sWAxcyouHDZ
AjESvtjnM5tTRCdaDAFOKlKpm7kQpmumU28iDNv2bVd+I60rV+ivF3ceY9oQN5Ga4QwROs7HBBEJ
DtMK2hMOo5bndMJGfaSVNM9I4Ml2+fXSsBhQAPUFZQFI+SJGAS1yat/o2xP6LPqpbOg9EvulXWDJ
0oF6IViXvqvirRLPeeaFttahKIJF8peXmhnTBRW9AIdG8/m0e2Q7ilEuuxOwpvCJX/qzS6PgrtfH
bCt3tXrvt+oaluviukek3ADTQXhGztpYwnzGIIY6NurdKa1Q5/YKjjQQEgNRmW6S9cNgZfadpuLm
51Jy+rg930+W2/nVIIo9PLX4D8syY/md1bKBZt6nJ4rT4duQyNm9Pdad5VV5kMMWrppph3UwOlht
Fg4Po+LUv8IWwSqpRu9r3zVKB22ul4p/B9Tdn2I8qnYd0i33yBYHrlZ+D4udLKnOfQyt7y7qQHqv
JBCX4ZYZ8F4BO06EJ+adf7JkkvsaF5X0ZCRT/LOFmvXQIt+mujrSGFspVdKN0tFXgBIcutWsqfvb
S3jlpEB8oaVCRQIc+ZL04bR+UwRykZ1KWwu/VyipfQslbFMxKES3KCitlZKSemW/qOgyWHwwpIXV
5Sfr0iTFpF7JT/TQ64dGtZJ7LDB61C3nucchTi+eHCcIXyvVyjrX7ydZ8nKkmp4TWKvfUsSWXqa5
Hju04XTYxrNVvVOpnzdA751NapjtBryi9EwLM+ncokm7xBuN2b+vNTV70SCIedY0o0GaaVxvUVbp
D0kS8pC6vayqyHIXO1N0/3j9QkamRbY4iqPkINVaqtnJAYaMRw22stgGmHWRu63RDL+ASjlo7SeI
6NCm04ItxtlJuRe8fW2HVYvdellfRn83cyl9OHOo1zt4abrhjiUlD4GTmSI35ZgdQOugFWWpoflY
qmkuebdnsnQ5AR2KzQKXHxAL4DI0Ns93aEWLpy6wASfriep6q6sxwowlAieeSs34frKcYtrAHTe+
0cqIMSigV7FHstZ/DbABf24GffhLk+mdbXClThE6zWZzp8pS6qHc8t/tH7s4TUJUWQecjBEXlDYQ
L4sXAAhwsKWV7h/ATFQ7+vbKhmJBgeqpBkOrqaxNj8rWHWokCMD2bbS9PfziMH0OT6kDFjL2IxCf
F0sV+2kD5t9BpVNL8rsix/4mUTIKHrYdkqqHX9QooEhKT5tzi2QQdT1SxPNPU86+VefSnB4mpIVM
IFyDav7AcNmWhViy1fyToY4M6TCNV5nPi9z0c2hB3eKapQ3Je2s59JT4RRukKPln8jekLLLI00Bg
vEmIjcVervf/BXI4rSzwEhryOSyvHt52ABUVgOHnw2a+bdJ3nWjhy/KkudqQFHf2lMc/wmLI0X2C
yHhn1habzWhV+1uS9dDkSjoO/5g1Ctu3P/fVX8PBABkCuNiUl+VqQ8VMSkDED20jhdifjJm/7btU
e9UlxL9d/AZVoavlzO+0Z2Ni+lA2sYej9Bw/UeluV2LrIrR+Lg79cQpE1F1JRRbbzyyHrpczOTu0
2fA7Mpt+O+c1yluFr1E0osPkWip6nHKoIpF1eylEOPsj3Imh4aML6iQFOJHEnn+XFE8/uUao7iCF
VHbNUCkml+jwt87t8nZ7qM+y4XIsegQIZFBaBtm9mCZSVHnXd0mB10CY7TUthXWfp030DEGuKF6b
sS5+ToMh2S9db7ZvmqQVSFHhhnPnELVgEJStEnxILfXgo059Qt2ACCwMF7xy9Xswe+ut08JE2cmI
Xkwvt3/8tXUiGaYOT77EnSsC2B9P6LSa2z5KmvIwTMr02lTBezzV3aPmm/5K3L46EikwKYXNU26Z
AqN6XNlSHpSHQJLV3WwGFqK4vOm2WRkMye72tK7sPEIQsyIQwAdagpYc+JqjrynlASN68MUI3A3j
HreP4Nsg1QpK2r2WvaBOoKNaMmf2sLLxr8wVUwbq/NS3bfOyzi/HM3W1pDy0VRY/dWFmfm/mZvip
yIN2/9WZMpBCvsuNBi5iiTeUirrXmynvD2T2aCC3uItKuWTsSS/SR0kyw0eq+m+dGqxVnhcPRCCc
oEY5ZA6EGHrFS05blfey5SMcirywHT1knYXVm3jBryzlRVyn3AuxjzIa4VWIS5xv0NaOzEiV6+4w
W6myHVtJRQO+nu9kaZK8tq6b+zGoTrfX9OLWFiRgGmI27DjM3JYNE5M3tlWaRnmoVXDint2m1bZA
nfVVHnF7RNqssL4XZW2gJO0HSIclddr+e/snXJk2aDSIXbwahS3a4l5pkNoMVSg/ezoxFjLZQ4mt
vTrPx9geMHEpqEy5aZf3K7vp8qOa1JUsyCkKadYFT0HOk9gY0AM7FDjch67SS8mz1iI0f3t2lxcV
e4cEjrIz9WfBMzr/qlJUgpTC3PsQOhjXvA0wFZD6AstSvNezo4zuFMURSt1OpEj7xFbzdjegYBa4
NrbSRXtfdjj6/rj9oy6/urCZEuB00MkO4gPnv6kGytij+Ncf0o6CHqXLCntxPRn3RJlcc31nTH77
sT9scbMp91qLAcntH3C5+PwAgXQRTEr8opeL0qHL2xnpcFDkQPtXmyStc6VUn798oqgMg8sTlSSB
/RZJ458h3xzqqSmt/tAjgPkz1dJ3ajv2Ftxl+QCZbrgXAq+rmYnYsGeXJA1YcObkJEBdqEgsJheV
LZKwpoobHQ3ho80913p8DLlzlUroUgK7HF5L6uS2ZzbB1B6xmK92OYZk0wZtDiqdI9s1+mZEUgie
kPcLL490NDzNGGJSvaRprE2mwLr00EVFnxFit49HAa7eOmlYg0eoZdXw5pIY7NSYtcqxVeTcx4Zz
tPvMDWc/fYIcG5YviQ2Cj/bABHbb6tvuNXDMnP8VSmTlC8LCNZqqVDz1V90spO6JA2Xf59GUKL8U
3B+c33OvNDzyJA0aURf1g/kgeGeKW49mbbq9Qmme12UINxZFzpZNJhXtCWmO8t0vO6c8VEah/QVx
pYGzmeXVpLrEByXfIB1gGl5ZYVdIm7dL78qxbPMTOaj0O0fJ2rkXfptIZrIshQsxEonFPhv/C4vR
edBzbNRc9l5ro7Nuzc5dD6DI9gJD6R+cMVJrF5eS+k2Pp+Q16Snqu3riO9gS9A0Iax+pyvGuwN73
VYLUxXphsaC7M6L5mMXgNxWeZnX0VQBoejz+TuIorKhIUwpB3xJjgL2O19RfaWMM6PzXliY9Iu/d
v8SoxlY/afv23/0ozP0NL8pSdXtrDuanEnJA5WpqbQ3fVRgikkvFJ3rxkadLvMD002SrV2Vl75Wq
xeOyijOc8JpoCDFsMaKs/o9FQn64osmVe11sU+jDgMH+5adpV6xkN8tXKdchUUOA08k3IBEai7rJ
jEyvSa5ZH2xtkN9DG1t7N/JRSnXjDECZioz95ElxprePAEpG1fcQ3BEbrOzkp9RwAuxL/LYbMSml
KLvLWma/j8MZUR7X5EmDqLSjlfNaIBZ58OJYil8Lf5gOGbDKxfWa2FFARSNqDhb6YhsTC9rezdS4
QEi/6wC0WuMPpPoK3LLq7FuDdSYUJVU5tElt/wIOOK8h4kQYuPg9Nlc9FxB8GGdx7/Vo42Statao
0+MGH/s6UpSTNCBjFSjTymW3LO2LbwYPjYtO2NABQ1g8EiAUo+Bv5c2B482H4v4ZB1QfAVPScO+/
ZwrS87XNo9lKi+xHOFbhzk/BRq3snStzRiECbAaBnzfL8unq8HDser/BWrCZzDtcIPrHrG6ibaoV
yspQFwUBehmMZNFGIQ+HSXEe+1WA0aQcg37IarV6TpM8wx09mIgMaRFWiteXYflx+1a7yGRgpvCu
YJHBulMfWF43ZW61Q6VWB10Jjecizoo96HDpUS2y+bckBcjng9Fd29fizXW2j0xd+PwJ0KyAvC9B
anGfq7nTTvoRVx5KvQjBm79gGPXo4ZoQ/vCFb4KdERlN7ZHcTn8PMXIzm2lupUj4m8grd+7Fupvo
lFlA8EEB8ihY8uTntG3Iqizj2NC02c88WHZtqksbRe0kTx37NRC+OLaL6VP8pxBOzYla37LaN/cm
mIU61I91bxhb7oPhnzhVa2U34+xY0HFo4ucgRITqMc8S9Jy++MmBOrLqHBKRTUJHOt9l+tSEo4Kz
ztE3OMQdumpoD9TDsTYMBNiR2c2+604hybvbw15ZZFtIQiKjw6Mfpu35sEY1anbf2eoRdwzHyxQ7
qt9TEsV/0jDI5ffYRN7w9ogXKaNQuwCnB81BdCiX6M4pxFRXcnzlaEWT+m6XRr5TZkW9Q3RE+wcr
SwcTH6x/EHfW1TudUl+5gsq+8p2hYtGDhshJ/F5SgYKhAUalasqxhonwkY2d9iIhhrrBoU+6T7JR
3qdmUD2WsiA33577RdQCT8b3RYoU1gw1t8W5Vrs244+OckymdmpcbFLnV7V2EAMPUHVdaUdehmpG
A92EAALjgTtdpI/0J4cCqrpy5LAKeV4JjQeo6aobkuNucuLaPbyw/HeFNv4LFpvqsB/VMf7ycp//
isWc9R5gPYoeyrGq/eBkFCYhs7RmDZ8af5x/Ik2se2UWBDUEtTwoVu6rayuO+gMgeJTsABMv1mDK
kN/PR1Z87Hw6Skj8YzujAiSkrWFFK5/3cmehlAlyELS/eAQvQdlBZmayWZnqMZSHRDt2so2LSZEF
eywPzQiTCb39x5eSOXpM/aLLV7735VGmZmeoIHb42LRoxcH7442ixeFU4EVqHqXZxxkqQC592kxd
ND1ZpRVtaGQYK+oAV0cUMBaIBoJrsQgetjF0TkHt9KjlWblNMUFvXFnOlefSqc1tL6nq178m73tK
TNzIQopc3Jt/TFHv0FhAbtY6Vgp0UG0etGybAWaWMU1qq5XBrnxN+OVQG0jxKNosFc9NSTZwvLfU
YwLJ8WnUEvMFJfr5oPZz5SZyPqBOaCTRpih9a+Xpd7FrRbMJmC95DT6FFwWcoUfsvs5mpMuKQG92
cjLKZMbJXBbQNhE0XNm3F9+Ryjc7loCA1i7AjUUxVsaHitRGrphpUgorpWiPTlByjECO71PEkL66
ssAcCYM0fSGQ09xfjGfWMfJ3WJEdDSOWdmXFySydqPVCeptbpUiUUyKF0ZuS9trzFwMwI5NJaBAn
hG+zvthATi8ZvaFO9bGNW/VZNmftKQG16MVYXZTu7bEukjjGAmxkEHkBHvFCP9+sYUZkdyK9PnY6
3klG0CaHmtscV50eEIPCW9BV42qtinvlWwK7Z/9QMAZ2pC1GDSIYOXkwqscma43Aa4ZIeq0rw3np
sVjYovPUrWyey2sGcA3yL/ROCAVQ4hchdg4j25TA7xwlX09/4Avh1/+YcmwpbFkzp8znmpEev/uG
EP/JgCHt0QvyQ4e6VFSsCiBeHh2NJxBqJbxSaMUvfw2+Uxyt0J6OtVpYOzkTbqjB9A9p21q8vSzI
wW+mQUMtmbgrsOnnH7hosy6sLWU+BtQQsr06mzzOe9mv7tQhp7KLELo9bEYNpYgKBZv6VZ5JZzCS
KfRpAokUl/Hb7S13EbL4RYiFQFoVUphQHM9/UamnwLKx7TqWYxsgOWQqTer5EU+kIy5hKAoi221H
XhDmUXuX8/K2X2//gMs9T6AkatHGBEVzAeGeMnsKaJ6NRx2XDrDzQGQ8uhipeT9XkarvIpymh18w
xbTVYsLiVc6lB1+Ohjsvtc9unnY+dwJWa/BeCJ46FGrnY2rxCaxj0jXg9l0Jx0bUYrKhCJK/xi5P
um0QzEWMol+aOC9qrCMfSyegQrxbTM1SViL6crPwSYRchVCrBKeBTObidh6VuLYRlR2egnZy9OZh
zCUejsC+2sa6twsJ0UVZy0Kd0vwYmMp29inwpu5cWVWxl9qwBUZHzJjXju9iy7BabBkSJCIGScMF
MNOfcwcJMAejTgp5kztQwm7uQ+Ad9aY2ESTsJ2N6NBR8XXdlP6nZFx+dYnyKm5+veNLxCyW2hu6q
wrqoD5WtlXeZ3TkmlwGw43/63Aru1LIf050zpUmSuaky5OUeJS95Qs/ZHz10cPx0JZ6JM/LHM/Dz
B/E6QS2A61DlWJ/vozxNJD+UYu0hxZDuvoX3MrkhXmNr14P44OfjwFSiU4I/AFHk4tJNW2cymxRs
jpVKuBviijcmLkoQluWlOT7W2z7LC9PLo7nNXNAu4LKqsQE2efvELuIl0+VniN4FFYcrhugdje1K
KyT7ITGwvHIziR/t1hXaCPCEIVquDHe53RiO3gVoTFqMsEbPV9dJDYipo2k/dLo67uxkUoq9LvkY
xxZh4lVpNG4sSTE3coMW08qXvTY2LFz6mxRzEGcTV+cf2WPUVVk59qn9IPHSR52I0hV9KH9Q9yCg
A+k+5t3nuGE05S+QPJF0ur3Si9goVhqcAQLstBFI6pZtY6hhcT/xIH2QGhTodCgnGyKWsZslTAzq
aZLumzBaSweuzBlODYroQmaSnGCRDigEfCORW+eB53hcbVItxpGTRtK0MfUoPgbNgCEScPBnrR4U
deVwX5sxr13cakBWUplcDB7gvAQUmxlzTMut1Tvp/RT72qMpK6cmD/stFXR7d3uVl8gC6Aqfluyk
I6Jxztc+/8o4AwXjPE/To5wEWryZYr2x/wZaqLwWho5Od2D0jtDk63vzNZeTKfgY65IOJX2Y6Htm
p8YLnq1p+gMkmz56qRFMhuVOo5UHp9bs/Lp0Z3lWOs+Ry+kO/5R5jci4PJGiM01EEFo4n2w/EaD+
2KZ1b0uF3SraA+Z6xXZyYiX2NKd2Hjs5mqSV87j8RBRiaLXwvIEPxWItm4qyms1qTknsGOAAuVWa
GIt2pRgOZtzPWCrHyo+uN9bKIBehj4mRMQH90HHUAeZyPsMxnNNSl8C6dVasBK5aKo31Su9W6WTP
itHJeW0z0GY0pfyRZlc6hKjceY0gZa1gjJfHg0kLVrPoq2KKwgE9/yWFM+KOSJ3/cWotB+duR5rn
TVkoQ2/uJGka7srKGpr7Kcfn7Bfiww6mdrf362dj/M97QPDQ0MMma+OlIPgg5z8BvZMca+hKfnCQ
Gg02fOQyQIEV8LMbd5UlbfxgTo7xJMvBnrqt8lYPsP/o9moNFLahwCFO81DlH+JvtU8IqOh/Fdbs
ocbm+D6y/dHY3ed+peZPmLuZo8eAZvNaBmFoblNFw4eX+lGoPWf+MBt349iPH0apdOPe8jtZ9uKm
7vq7wMiKfhvooRZ6rSoHTw0pfrgDSd3yh9RBKsPWZpDnSK/1qlzRoMvsTV93eevyfpBwHMoQT+Tn
NCMtS9xvS5eGYpJsJOD5mHf2AJCbrT4MqfIMqHrc14ETjE+K1qiooMJg1jcDfo7Wz3iY51c5BLnm
KmEGYef297g4EFD0iNOfTyiqsdbiksAx1ApRbg0f0MqWlZ2h9tVTUGnStwYrxY2RZVVxTzK5VhVd
PNs4fcQqsQV1WGUQ+8VG/ePQa3MwZI1ROg+2Vs1eISXNvskFzD6fRvM5wTTxix0URiTho3IhArBQ
Q1ls/dxBaAShK+ehyw174yM3/dy1xrAh48Sg+PaiXmS/DIakN645TA49yWWYSUbaY01dho/g3mbl
PjEi0GyAuGXNnWltTtTk5MLeVPHUCodMC6dtq53kZBMZYXgUpzhdOfmXC84vAulEG1mswZIR1Pg2
7W+4ZI+5XRt/T9jbv/FEH+knCZcvpbXW2gsXYV0sAWEP6jZNQ5ig51+YbG+M4BUGj4WhtUeVYXe0
NKODOYzGyr17MRSKbXDLoCcK7V1eK+dDdWHv884y1YcaTOO3To3Gb1JVR7iowoC5/WWXoRwxM0px
9A14BtOMW2bL/VQHHYAm85g6USVt26Zytn3rG6Y7mRxvVypbZ48SL6LKejj+dPLJ+n77F4h1O4uf
pFRCYJiKK0fHXPIlxqHuyqpOu0c5tMxik6K7nz4E1ZRNf90e6FPccTkSAm4OMnyiJmgsvmAVQARM
sKrnOQTa3WtmzXoYBww/NmXma9+nAi0bt5qUMuQRhxqIFwxqJu24d6mBu7C1TelV6UCAP+KtpPC2
SLsBL0e9wCTcjg169BjKms57y3sdiy0ALe9+4Gi9tZKIXmx9VgxBVwTeKPqBdF7MQ6nrjtIsRE6q
I+2hayzlCdkj5eCjh/pfV0trGJ0r43G5CTILkYYm6mI7Kn2j1AoGKo9dPxdeqvvZX9xU6uQmWvY9
KwtzJYRfbH8q0dAgBCQJGjmJ7/n2b6TY6ElH20d7RhOziUyfu8ZM5r94inavtzfFxXUhxuK6ANHH
2aZzej4WOBgnRn2sfZSrWn1U4lHaOXbsH5WgUndNZ4z/qeE4rXzAi0FpR0NLAOpD2GbMxSNqsAJ7
wIUZ0UlrnmFGIR9oqkNyp3Ql+DogPpbXJ0Xy6/ZULw6aGJWsDbEUSks0p8+n6k+Fiud3Kz+Wygyi
UDKi6Scow3B/e5iLrwdyipyI3SI8jQjQ58OU9Mh0rDKUR6u2cbFVcz07kr+az+pgKdvbY13sTMYS
G5LTzKyo4Z2PBRNvlCPMiR/HSM8PnAF1hz3MfDAihJuwCMrL99sDXpucqBniHAKKjIfZ+YClHFEH
i3u8sVHkkl12L0LzM0CrPWosw9o++cQHn0UsnvTcBFzxLBCIyMVJh3MLKXAykm+zH+j2Jq4pD29G
J+5o9yrQf+eq0hzEo436vSjN5AMAECLHAfoVhls4+IYgIuzgVxKM7Q8NpFLpZSYUKxk2+uBSZ7Ok
X/gSWA3UGByh/mnGjK041Vba/yJx87N8l3YlHs192mXvQzLYP+pRI0eUswn8P3bcUXkCFCthMnF7
nT+lp85nrgrGC+RXTiesskUM8BHfAM8QKI9mYsqNwxuitmcsq3iuTdtAC+3oaOBM9EStLcAfMwj0
77FWYkMf6+T+dEibrDvAyy7VfRKNNqWm2LBGN8uSBlY6UmEO3hiqmrwXA/Jx+bamiz48ZCnSFY03
oTxcQ66O1KL7UTQs308yYSXa+E07SivRbhEMPqk9pC9kFBwaIp56vqV6pMQQLK3Lk5kq0sdUZP03
VFRxgAeItA39JrkvDT9bWd9l0f//RiUGUNGEBUbD83zUUU0QBgyN4kTLJt2PJMj3Pe7VRyEb8CBr
+fyeUAjFlkw2DmOQZl40Yap9+yNfmbm4VKCvgDri5bSIve2YyYUMJfJUg6hzUalELnGw059aV47f
NG1qN1xH/krPUyTif2wsMXEey/xH2Y769hIwoegpj9pKa059YdbbgR42lKhi2oeh+hZO3bw38Mt0
82zqV4K+CA3nAzMg9Ei4UZBnmPf5ijv4YndKUwwnFnfYt40W7Ile0nYs5b+y0m5WwvDlPEV1TnRR
VBopzrKPAvadqJSP/ckZgLdaJsyXarLHTWGF2ibQ0vi5wfT4eXC6tTLd8rHAEpObMDjHlwoBZcnz
mUIEUNIxaqdT6Tv9ocNFnJqg7tCkS5U32ZeTXZkmGUycijQzluxp00Cauh8lde3dsgjX//dLSJJQ
hqAaQ9X//JeE41xlxdCOJ3+c1N8tCce9odXxqakqY+XzLrPLz7GESAGPTlRHSSXOx0r6SDJTo5lO
Tj86vMmjeYb72COS6CWzZYduWoJypGmWR44bGeX8d9creEy0PQ2OfVg44RtZlpN5nR9XT1qJDOMm
KkdNOiTZkP0yDCQW3VhVct3lk7aBN3S+8Xb7RF5bL0R86NCLwjag+PM52PZUURAwxhNrSmdvKsGc
4NI6lXeIZNUr+cjlgbAo3tA54Aqnz/fJ3vzjyRz2VTG30DZPlhX5aL/UfrKdsxlLy95qcc6pVHtY
I3CIQ3Z+CHnmcKGQonyiEBaH0Aj6FExop5wyzAU9VZP6DU/FYHLlSbaPYR0qd3mFhGabqHNAXSQZ
V147VyYN0IIKtlhhtOsWN3qKip2J2K16GnhcbGPVLB6ybJLdoZTN/6Ko6H/c/qKXMZb2Ju8ERGD4
oBcMJNWvqzlESuQktba/Na0k8xoG3ZpK7eykoAw2doj6++1Br07yEx0A8M+kYXC+jXgqoJsMBOJU
Qla983Ml3Wdd1n4z5rbc5mynlbN3uW0BQIiWJTsXb4GLi6R1pHSGwHsK6DN9wDpqG1cLOuV5GntD
+dqLmXPOhhUtUrFtBb5xMbl51uo8abSTlddKCCvDoRQ2ID1Qu8R96uRFyzMy0Ie42uJ0YH3PIsn6
smWMQzWC7AiFRXACnKLzH0GvskRESDNP4D6UyNURdb+bgGN6RlDIk9s1GZIOxqqkw8WlwrA2nCqI
SUIfZPmEyCQUTw04Iqd8hmdg8i6mA4pn4iaOJeNkoYV1tBp1urOxYbz/4p5yxKiU1kE5kg4v30yc
aEkKtdk4IU4d/8LrLj44k28966Wab4cId6L/YTzQO8j1UWGnXnC+wvY02hOXuHHSYz0nbFu0f8B7
xNE3uy/Cuxp31ZUZXhxVZkhSQkJO/RBk4yIdQl0H+gdn9TRK0vCWlwX8VKwDdpJS0/gJ8/6tBoa2
Ri2/MiqqB4IHiUkJ1Rdxlv+Iwkk2DykwYOk0RdabEwa+VyhKt8nEA194D/3O5LZZgypfHFhCMO82
utaYUBCPxb//MShl+hQXQ1U6wYfI/ipbk3tQq8q3vrest9vf8XLLiqGokYqSHYFwEYvsRNZ5NQ3S
yTcj+VgOYXmnjaH+UWsYSg26zuOm7XnEofy3huu/OjStYZBuQsRnSdov+rJTxigMPjSkCKcfadTo
Pxwjw1o2hYRToS8jGTvFyaC85APMn5VAdRGFRRX8EzdKsBK3zfkiT1UseLV1+KHHZfGfnU/dYRyt
6hnSq2yQfNlrNidXBwSvColQlMCXgpP66EiDU6rhxxgGWej2KmogsHV+om2Zu5KcGisH5souEsqW
jEQBGTbHIltJ21rL5kBzTlMZBQ15E8mEJ3WYwbmZTghaWc9rw+FWgpzkJ6hwWajsTVwcJ83yaX1q
ydao6F+6surL92o9pNVXr1C8E6m1Ud/jdF6iGNLSxrLTn2luIkes3Hdjr+/aFk1Rz0ALxdiYTVnt
b5+UK/NjSB5GpGICB6ue75cyMUsS2Cj4KI0ODr0W9tJLnRbjCAKp+vf2WFe2CqKU0BWwsKMWtaR/
hDS8NQt5hI86ccoNTcTkCaRZctdObbwDY/37fxiOdaRsqvPgXPZKJMj+xkTY/qi6OUYoMm71gxrX
7S5QjFmCBwcH5n8ZUbjLAs2gTrQ4fOgodrUSp+FHqhZJ69VBFvWHJs4tdVPPeZxg/ZJgtXN70Gtf
kDqteO6wutyW51+wD3VpTmg5nqQ4leTHCrPN3MP+a2p3MH+NtSv5ytVBcPtEHaF4cIFNAPLZhJmT
hR946dJFpD8i5bva6aS7OR6r8hEFpscEg5IVXsnlLFVOBdcyZ59e1PJmVrI64vWcRR92rWI9AMbV
8Ip65KZWprVjeHUsYjc4Xsp+F6VvtVASLIiq6CPIQ3UPSFnbAUfvHhGzKFZO/PWh4DPIDIYwwSKa
1a2tT1pZMy3EtYvNWMjqFpcF89mR/ebrsYw1JFT//8HE1fXHBSwPpS1Vsh1+lPEwVG5h9VPrBqoZ
S/d2nK8V9C83CqPRPRRWCSQ3Sz57LSmdI2lMrXR6ffK6wEYAKMPYGwdzu/g2IyZyzAkXr189Dp8w
SqKMAOxc8OqUKghFyzb6oGIb3Stp53yAaIQJFErFmmH6la9HwYOXFsx5qjvLy6E0IfANoRp9dEzr
zSk1oCe+JWQYilT/6nOHO4FaMMGTyCJq+ecfr1KnMauHOfyYMk1/wFdKekzbQfWGqVl7yV2bFugf
i2eGcN1ZimSjaJOiJCSFH3M4Zpy1ptHxyu6GJvC4GKxwJYBdXgtCgQv+BfqzSNUtN0rMvuxUM4k/
avQXvptD8TaEpgTXo1Neo6HrftzeIJcJ2vlwixx/MovQQMsg/MiHGQQRiMKMy2cYnF92Y1ZPTgCH
6LUZSrhcCT9oe3v0lckuXzRShMme0wTxh9lHPfUAtXd9sqfv0lDPmB3o2cq2uTYeYZMbnpNP8Vb8
+x9nPvd9SJDcfx9ObQ/HxImll8C2eswHJ+OvmtL/WvXt6oDQdiDkiYbJkgBYtGqRc31EH/3k+C/y
qOaPhRmUXmvP6R6wdfc1phIaX5DB4aXRd0KBBBT5+QQdvdOqHkjeh05BWXMbeOjyYzeF1bDNOzWf
752ukq3jEI1z7NGfW1NQvjZftHeEXjNgcoCh5+P3ktUGPn36D7vUB5qXJfnTZFWnLJeLf1mNtc7B
tcOJ4pTAJCsMuyQ8pqkUaWHjRx9pWfc/0qGj1qGBCtybwZyv6c5eHQy7KNaYKjaU7/PJ0SftIV/J
4Uch+U33VLd9tVeLciq/jYASV4r0lyVkIM0woKDZcWlQElvsVSwPlAFoa/yR0Zfy6Tmjz+eNY2QA
RnLm1kX/JP1lA+bx1HBo+Gs2RG6nKsnDyENsJTG+cn0JWhb0M3DWlwpTeZ6nfZ+WHBylMI0nLXBG
mmyh7+wGn52NYkgXRveU1oBB3Q4Rl14prINgSQNtU4UAqvgqf5xZv80iLe3a5CPOVT/e/D/OznPH
bSRt20dEgDn8pVJnue0eq+0/hD32kMWc09G/V/kDPliUIKIXCxi7O8aUWCw+9YQ7VEE7/WPaQb2x
m8QzfZO4z5/aRHu5EUV5yocqJ3doLe9lmrv+udXLNaC+fNFnLVR+EuhZPlwyCDlgOP9JRpk5MKaC
+D3PrGza9DFtMN/kwz7cfvYrXxMeoQ4jHmpvWgWLdcIRhQQLpOG7bpYjBbqKjvw8Nyl6KBMs6q5q
nNfbK165DoiKFB5MhUzk3BY5u55wvSMfn72nYRY8ThOjUvxZZ4QfAn3+JSpP+dwEWgORCzWP20tf
eVgJIiQ48y3LIf35piZ2lCfjjDan0efvVaO200azRYXTn5IjqWWvxuYrbxEpQdrQUv+KGd9iSt+r
PQNSAL3vepx1w66oIJL6iHDY7coRvvJkSJLREkAUlYJvWaSPqRaCTiyz9zIx1dBPQCNuzVpImKNV
YS5qN2t8/2vBAwI2LSYwJGABl8S/LjasGpGv7L0Wgb6vHebBUzPrv+kuhg+tmYs7mm/thkmyaW3k
XA745RzvY02Z/rn9Wq9EDpceP/kTVTWAgcXn21d6OE+82/eo1j2FVmkcbwQ6fSAHGuddqA4Wikai
7m6vutxy4LBQDomc1LoqbNbFl4P0eOfQLZ1Owgybw8TfuY9FR+wsh/63k3jhRwXY5YIoSTBjI0aR
CC0WnOueu4gnZa5muI9jHLb3xTDXo8+8pXvSRk98MLOXC1LJy/mJrAOXCh4A08IM+x/9ZKC9nd9F
iDD8RkZIabZNMq9N9uRL+jvgycWY65H90YAG6yq3+68YnNIZrPG7U0/BnKTxlkZq1nxWPCeMtkaV
p/NKFLr29qRJkyzzmBgvU+5Od1sjBUR6Kqe61Z7xTczSJwQyjK9zHE67aprqlbxJvp7lA3LV0vNB
QYubffH6qj7SvDHHBwU+3+xHNlONWrXyx6GnQtwUMxU8MnzZN7o286ETHmrXtw/s8jORO4yGAd1n
mTeRXpzvcGWVZdmXsXaC/GFlvt7pxufMYhanhJ75s1e6+FNveumX26suQ+D/W5WyFDaJnKUsPs5w
7qx+biftpFaVlvtlTqnl46Nibm+vc+WFmkgGyCKUdOaCkDRlEBhEKdTT7Axmc7CQ/u63HWLq4iBi
XX3r9cH+qN8EzyZnF1ISk64FshjnO6q0Gd7RXqGfMh3bhT2miEzhfSx/RPzQBTT4fLpyhfLt9pNe
oEpYlv0EcIC3NntqLNoKxoyWudENxilu5uJTpJrZVkXfKUdlthr4rxEAcRPSXj+Z0a4eB2h+em2v
JI9Xvldm43+6/ZKpszxNsdFoXVJ1Jm1hJ603jWsH92rEPMu3UnuNer3MGeQTg752mQMCo8XT53yj
cTMaK2xrjVMSTLP3oGpKtS1h77ZeUiPdZ3m0bhrDKZ4qz1nrMV45wMQHvhjQHYCzl7pBosy8kjm1
eeono8u2APBjc+e14ZqQ2ZUDzNUNy/CPeDyeBOfPmKd6RfFimGCFrNrD7yCODjjUBub7MM3xN8Zj
lXd3+yRd3VbJbGNyTaBfwunrRGEULgIebRjC6dCEJSDMFlaN6QeGoTy1s5dq2340g/d0mNcQLFcC
IpJWEpJMI47pwiIewT/KGTqMXC9ogv4oQW3VhzHP9GSPyv/wMCpDPt03vTd8ttqQWiC20N1ZucSv
xEQEQyk4aDoSEpf1FsyZsgcYqp0gU8TJ46TAsvGddNLGlzqyEw1x8EJ91OpIFfvbe3/16enXoc+A
thpcrvPXLUI4M8iT6qeyjvTkRQnGbNuoONvujLQfnE0oxCyT4LywthZ/WXJFIu399o+4duYYfvz/
H6Gf/whFR9Js1kr9VKlaewRVlX3LaJHs7Nxq8ErIjPvb613bbijG6Ccg3EDauLgMKgctvBAnrpOu
gMbgZk57tOcm/S1uGRTuyjadESszRfjRSb4MIFwqpMg07oH6LzL/dkpbV+sT4xQVdfMjQjE5eI4y
VVH2AjBmtg+m2P2uSyLX7Qe+tsFc9RT0BvA/0sTFBg8NePXSNE70mZsdfFlvHwBxTH3dnsVutsY1
S6JrO+xwlmVZ/8el4HxBdNQZ09WNeXILrXlKvKF/LpwihrpSJS6myXkegbind7XmBXd1YaQcQBlK
SdVl/pbgSpw7dWGclKHQsJdS/x3Cun/R0TxR/VIEBdaikx6lK9f+1WXxRQQ8QAuMD/n8eTNz7DUz
rI0T32n5yWnr8Euf9cx8gsro/wsSy0DkDnneNUbHtesPJIwsIolgYErP160AVCLkoBl4txjM1sqp
t8Z9GpaDgpdC6fwvcUoK6dGqYZzPTP98OatNwwHAj3myuyg9JaUyf4K86QZ+rs8ln2odGbsiYhJ1
+Pj55eKDB0yQlPix83VnPYkKoJrmqcT9+KDEbRxuTK/pbF8IL0e2IaWds7m95rVXijoC+RRXOjhO
GTn/rgRycxqtOjNPqjBf2jLUT23VGQdKSkvOt0FlG8r07faa1y55qlkaUEjXkZ8v1lSAoxkRCfFp
qvM43ANRS/dBi+/CStS/dmyoVQGCUDRKosD5syELiA9v7wBrqhTnNz5SerqZhx6wqDmp7biymvzV
i5JDljigw+g+AAFcfBxhgG24Zjf2Ce5q8KiXXZFti7F4rur6XSnj9KARE90H1H91PwuCcmX5Ky+S
OAS4nguOTvhS7BgIEZZGTmGfmmkc7YPSB3aIFKI5nOp8nOs7xD7grpmZmNYM2688OGcW/2OweGgu
LedEQTw4NhR2VrbMQar/Gtsg1kXrt2XwH4mGHfthqNPkGsYCm4qxEKb68cAkJWlpZIKBpCJZnKgY
+fvCzFTnVEABPfSZhm+hMjLeiDxrRjF2RLGISeqaLsOVC4dhldSeJLFgvLNYVnOZ9SHw6ZyqwVDF
rrKMpEcH1/tPicNO90t7MFbe8rW9lgAuGfaxKljS6CZjVnnNwjl1yhB23SYd4+hn2cVZtFX7LlD2
Rj41ysEz5wLv5drR32r+nzWdiGvPTTNbYgUlNnF5D4y6PqkTikmnuM5qf24H21eqMap9Kw4+45Ac
rTGS1xZcpE4457RKOgX2aS4dr96p2BDZDwFYk62LoGnua3GoVLvbUepK9KB+Z0wIxhBsrbdoJ9Z6
M45pXvFy86gs8c1uUK3rADpszLDtVqifV0Ii0FkGyqA9JT1kEaoMfUSt2gysU5jUZuDjNS1MP3f7
caUtce2hqK+AjSGHCXhkEaSQPkb0BR73CdvPakZ2AeXD12gs8QQSozHVp4/voURuoKcl5fuXB8VU
Uxg3s2Gdigkd2gcRuU6zCUqbsWdc5e6K2tyVCkt2WqBCcJkBn1psomOGsUqUt052DlNoIwSYpgo3
zM91hsuf5XXq0XXD+CHq0aK7/aBXlwZrD2mLfs+FZIydp7QHBts8jdy04NgNtbk3EzOP73XgRvWD
jsAWhPJoEr8U/vcH9RkAO5OnIM/AS+UKMpfUFxwm+iZpW+dkRIhSYzsUf1f7ytxMlVOvoL0v7xmg
VFhxcHy4aUgGzy9VHUuOwRSafgrUsB42StGUv9Cisad9mhpWt3NVAVNarXJmsbf3+DII6LR+2GFo
eNyzy9er6PMYeXZinVTkJw5IwoXZFmkxU/8izSHuhjDV1N+3l7z8XFgSNSK2V+qVLBuXmpFV4WD1
IHSrrHsKFVNkm4oSdqMqIlqbLV/GAPDXWLEj+Aqm5CItUr0ZUnwq7JPeF+JfzZm0Zh+mXrUmr3Rt
HxG5QPtEotXIcc/f4Ki3mh0i4n6y3LnO90niiHkbT45iHWyjcLaJHYxrEihXTg1gF3qhADi5v5bd
bbdz7MZKau/EvNWo9k1VMJKKq9iWOJ0meCzd3v0N67da61ReXpjUv3RbKISlmcxS44pNnJjoghgN
isLyNiiZh3vBbFPs3SY0fmSNO2+nQZvFRlGjztyivZqsDVuvbPjfv2E5mKr0BjnsMBTvuaUmx7Bp
RbxLSvxUt26Hgrk5zW3w4VAoy36Q7bLtjvPE4h27g9t2Pdpj71w5c/SIKVBvbCrhJYZvY1KOEl9c
1n48Ze3XIG67lbB/GQ3l6ghtmIg50HqQG/JXUSEmSuaC3sa7Hlja20QHINiQSdhvdWuCuBnz+BPZ
aYEIf2asZIJXvli+VpIjev9UUfYiPBlVY6epaSunkT7Mo6nAts4SR/nSggY63A4O116rtMgiQ4Dt
fyEZk0K7nPMxCd/RZql9VE/CT14cTNtuTr/oo2e93V7uyidky3mCFOWAQbv0mAYFo+I6lSinNI+w
bUXvZ5x2GZsvdiaG6GPo1xNItNAZ7ZVJ7pXAJDnrLIuUImXxIvtquhCNRjuI3mmzT/Y+6YfQObSO
sP6HDaX3i0AlBTB9Ffk7/jo2vVHGRRVZ4l3D/vbAJTOiSQlRK3XnvjkIS6HDfntPr71CrhQmYcxW
pdzN+Yp11gsvHg3x3kJZHPYCeEB+8Kbaiu7gEDj1fYY28OvtNa+9R0ZD5O5Mc6lYFh9HlgTo0Zvg
hPUWsYZhVsdNpmB3YRWt92p3Vr1rzGzNbPjaZ0Hrl7YYu8tUfrGoMkMu0Ss3fI/gwI5+TDS814WR
vTY1hMXbD3h1LfzdKfGB19FmP9/UmMacAqYIzHw6VJ/URC03AUoy3rboBjVfOTPXziZpF28PxgeY
+UVrKHdQS3QQFHpP9Db7oWpJER7aVFT59uMPBUaEHJ3dg3sgQ95fZ7OJ5roxksw7pcLp9/iBOcHG
aNvQuLemuXHePr4aR4NJAda2pM2Lc2lYiCZoiuqdendQkepspDWv2aq52DWxEf26vdq1PaSOZbzO
owEHkf/8r2cbg9KJUjKNk8Vw/wVVJgBAQKLqZHd7nWvXAhfxH7gVYXMpuiHJW27SpcGJoYeV3Xmh
I56Zk7jPswaIFQE0N+/BQSE0+CMcPbVeWf5aKkBjhIqVdi0i74tNVdXehRZTKadk9tzMVwyM7KDX
F49F00NLH71qzxaLA2YnSbPL8ib/5/bzX/vypdQe51Sqjly0C8IoKYOYCB51ZfAcwGp7TqhZnnJr
Thk7YCTX1Jmx8jVeGWACKAckiaQERA+Ehc7frplr+LAGwjtp4VQnz0VRB36DradxwMbFxE0wD7LQ
9RFX0/VHxmXZS2DhGP2eIwLx+/YGaPJrPO+R0R0DU0z9QDlI8+/8t4R0XPvSK4JTlmKe4tds9x2U
+TJAjkFrH9TeCw+hlrQYrk7WQQERnG0oS7VdwNBs2qROlWwrK19j3Vy7BrBq4mvD4w1k1iKIhI1u
zYwAAwhVRWZuxyathvsyUQUE7yns7hTsYe9vb8XVJfnEMZLmJDARPN8J1Hm7UC9M5zS2M7JqilG1
z/y8wd0Z5miQmkWZ9fX2kn+ixmL3Ae38Ad4BXqWWOl+zRCIjz4bOpo1eutopUj1sjDkZirantVw3
PgwL3fCLWMnqTSSaxNpZsz40OztsmNQl8xi8Bp6KTm9SRPm9VwVj/m4oHbYut3/plUDBz5P0Nmp5
coHFbSWcwgsMKwwY5JRx5XtT1nmbiXr61Pa6EuO0qFvZzjJS1/pklY0xfmx9GJn032UKyXtBgHb5
oaJk04ArQN5wSqLqixnbleoniqrdVR4w1H1aUfreBY5UL4a4Yc/7248vA9Ff70kuzxAc3Vu0FlGA
WaKaMYxyQ1Kt4Bl1pgJ/OL0Lhk0v7TYY4+KCcnu1xWazGpFIzsElPFAOJ89PRaU50iCn0J/LQuSb
qUujnWNG2d5TYnFnuUlx7/GxbqEy1StFyjI0yaVlz4KMxGBpJHbOl7a7qQm7aNaf7TaMH+uxErRL
InvTxp7h+OArsm1ZtvpzW6nGnT25rY8lRLPWPFl8ivwK2S7iP0yQIBktg1IeqbHZxb35FOB6cWw6
dCQCQRoWJMW00XHyWqNbL+4ByJv0TSUAFEQJh3sZbnqPmreYWi6/LJl/V3X8bZDWuslImZSlrbmJ
59i9u/2WL84UYAf4+cwMAZ/CG1mEONG6SgiwOn4eCkU8ht1o//Q6+7vwvGyllXmxnRJWIR8MRhNb
u5zuTEZgqvWgJs9zUsS4I2tBWW2NfJhs1GfC7jtMzXYNVHzt6QxJ5iDplHeL/Od/ZTBd2Tc1A5jk
OY3b/H4OOwVfngHkF55q4dvHd1KStaCLQzkAq3e+Vh+5TRPFdvI8BmhBuaGm/TBAT/w0ctGvZUzX
ngsODgq89E54d4tvs2D1LDS1hG+zRBKothituGp3D64zXinyrr02UmiE5Ig+EoJ4/lhm1BOSgywl
6JTy2Hfqsxji+GDFOKDs4lBr10yXLz8Dog0RhzVp6mlLb1/DiEkAG16aoHv61RKx+9UN3CbAwC5u
+fqLGc0BAE9rElSXYYcTyicICp+uNHAYuRV/nZZJTWlVug5v0OujH7mVmLs+bcAKY3HX7stpcr7b
iqeJTRab83dGAONXHVvq3e1ztEhHiQL8CpAwDM1o1ADvOv8VXWpZ/TQLNrxTx08qO29F1a8kHHv1
vnaL2qeimY0trjThBvXSNRXmi/cNlI1uuWzG4Wl+Md6YHajNbjpMR7NNi/4R2VOz3QExiysLHVc1
DYn4vRW4K1fr0mBP1rxMC5GIY1UAIn+Qzn9tftuKyqxBTRydRFSu7eeVknwxjArVok1Vl33Rk/tE
mKi09O4+a9I87bEILLgStpLZ2mYK3PgX7o9F6/d9MXiWDxjSGR6czEqnJycQuunTxuh+3n5by9SV
3/2nboH+CrIE8NKisTQ4JdrNfdW9CGw9t8U0dXgZRH3hkwoZ7qZoMDN0GiV4jDxN+SKSwjvEnl62
mwEXE3WjmkX01gZtuHKK/tCKz5IFDjF0CvAKqCxIFvf5MZqt1gsKpe9fejF1mGnmaRpt0laxj2Ep
2naHb0v9D+piUTP57ogXZ1vaZkOOW7vxRhNlOb4mFsTJjSp0Lz5qY6xoKxHz4qTLZiBEE7BPAMdh
uJ7/RFF0ZqG2cfKiTmPpbiJDR4Gys+KXrMHdeVvEQ2PuvaBz8Vh3g7o52Kh4rWFILqKNTY6DryN6
FADpqXbPf4RrFQPqAXX7Ymeo53fwGn9acaU2O9fL6VEWSb/NTWc+3T42l49OPwt5TuZfoAIuLBZa
q6vrXrHbF5BQ3X6sgv7enuLR9luU9R2hbwori7fKVLqvpe30KzH9yupMLuCzgFwluVmyKovAHsZO
9bqX0FPRkm0HtdtbjjXoBzpdavgD+nj7iXqtZGLVp6OUs0LsdqXfdRFo/gA6waxKjIBzMRorQnrj
3ADti67Ywd5VIhJ6zZ1+uY0WbCpdqb/d3vIr60nLKfAAyPQAP1t8ELVD/5WmVHxsqLBDf5yAuG28
PCk/aVla/LbR6kkOt5e8DA7c0Ayk+AbJIHnKRf4xuXGBxHuXH0PSXNefimAKFZ+kUjEQXusCPK5t
I6r57MrMVHfZqNjdntS3Lgu/A2j11dLhSj4ZSWcInE7NKlLHlUAhf8J5nID/QyohddXRfrlIy4oh
8vRqEEe9mbLsZWymEEBT3QVfE5TE1sDalycPPSF2mYuF80cXcPG1aQg4jkNVHj0nn7B/VoaIPxlv
Q636UrXuN1SHDR89BvthqoS6phrwxxh+8bRMfKjc+OygmS1nhXWc1TGU0OhYYLx6TPrRMDYwwQvx
abSDCjjiaE7d1wiIRb51uiQuX6I+MVO/Irh/a+pkCtCXs9yvBLQ63HRz4IX4llGO7VM1owJppskC
rOuWTLDKMcbr1nIKfTy4iV4wBbBystCZYb/fqIVhvuSc82dkL+PXzIM67ndC5K9wRnXvUFlDV2+d
UczjtqnQFtgFhZFmIaP5BitLuMrMs5tA+RIXQo9fo9BpfwaYUsxvthGDHQ5Dj5MzI/pAHKkS/S1V
nOArDlee8WDP4xTvnNQJ0t+gRZryMaGfbvyTCxU2lmektbG1IjMMtnCJ+uoha810YCAoCx8gCFW5
h5ZtjQ8gfGrzsYJv8G00mlJsrNGZm3sFe17jvo/jqT5yhEAijv1MH28ovBTQjRI2DhROtYyU/e3v
7crpolxFWpJZN2DPi7RYxYYyymNxtNp2eJjqYnzTsdV7Cmgv8vWZTfVbSSprQl1UExnHLF1r0F7+
AngsIF8o4fgFQOfOzzdN7Y6vmywG8dDuc62k0VsUZe22dlS4nU2KH5pQVPPFFGWwByq7Bni6XJ+v
GKgD0gOcIm9JtE5rZ0aRXA/o1QFE3MeFB6rMQ8kq3ehuInlKXj3b5nvsdtVzh0pSuvUYdSYrN/uy
pYSMCwUXMZbfIckCy9FmatnTXHi6OIp8nh0fs1ChfnFro3kahr5xfU3PsifuZec9x5P1AeWM9B3O
beh+nrn87VMal2X8pgXMWb5ZKQrnj3HaKNaapcTlneBSrEn5ZbJO5oKLcNRUiKWgmFAdNeyOHiY9
hm4aZVxNvhL1RGqureLf22d0SdmTW8MkkkkBnWZoXcs1RYZZkOf1+bFvZm3YKeqQvwm3yetd0Uta
bRpZuH37idaI+J858oxso+fK8DxocYUTpWKEifXt9m/6c+GfhUWZJrIHdIMlbX7Z67HmHGWFIdM+
1UWdei9lEHXtp4kiXn8K1bgZtn0DxMJPc9OLXidrtJRnJyknfJ7Uoo98vY6j9A0VvGLYqG2PCYhe
KW2y6+spT77iRDGUhzabBu9tLLsp3BUonr/UaDONn5EhzcZ9GRihupLk/BFVXDwU3Xzk27jX+GN5
4RtVl7hdbhqf8Cyf79UpnP91uyI3vjh6EB6MtvLik6gqvksvGoT34CELkN6bbdeeDLsq0m2Eu+CT
baamearTqHpyBtoVB1ziOuVJy5M++8ezhJg+Zw7dx02dO9kpDXTRr7RolsxoCceCF8EHRWuIC3rJ
UojsIY+dLO2OaoPkHAxOo0DJVS2K8HM/NI7ws1nxortMWAO+6WlX+S2guC9zaIbGLmGywN8e7bZc
KdkuYs2f+pxuPeMDUNHLsayI4r7Ls3485lnhaHdI1oUvs6iKhwCuwybJ0+wbgF4B+9Xpx7d5cMVK
6nLx9fIDWBtING3ZyyDTB3GhD443Hs0On0QfWxTzV2bXwtoMGigCtY2GlUe+bBEwDJPNMoByoCdQ
5TmP70bEENjEpeiowlb/qQ79wzSH8V6ahPgxZbnnj26C3pnmBMWnhkL3mdbJGrD2slaWv4Khv2wV
MjPyzPNfMY56ZbQUJUcoUYjddlVltlslH/UHBbJQuOmVXBvv1R6N6AIxqPzRGN1YzH5fZcYo9T1g
Ao7KbMTPlt325lYZGgjYmpfSQh+sBvaWNWlrDqyXgY9fTR8VgioVMwFwkQxrsDAAn0y0UpsS785U
739yf2Tzruj0+SVo538dfmQCYLV2dkqjoMYVD/mrUtjKBwG6fFHggREeIusGqYY86vkGmrCFuzKR
G1iazj6K3V8mohVvKq6+L0nalN5He+ms90fiGwIKrMplT2cWkmLVutORcF4js9/Mn8rGNQ+u0MMv
UTdb/jx6fB9OV1vvt2P7RX0rEfWScwoumK7anxP9V1+Fln1NG7u3j3PTt1/7IGkEot+h5uwCRsmf
jCb9T8Cb/Hp71ctPk0qLPi+jA1aH3HW+wThqjl7ZWA7AyizrfVBxyb537Plb1jbxc1eJ/26vd1HF
0D4go5csOimRv8SvNk5fN4MSWcd5BqORVfr41rV1t5FG8Ssx4DLsnS+1eLTZTmrFLWLraOcZRndu
VGPCooLS2EZVNOxR5hOHxMvS3WiM8RGC/hoP8zK5wg+WNiF9e3BzJDCLlkVYICkdM3A7jigbJvdm
VpbNXR3Uc+J3XlXfIbsMIsaO3exfr9PKby3MlPiQtpX50jM4+mnMffxa4Q/VbTBDFfs8iaa14cnl
sTMkrg4lc+pfXGTkAfnr2Cm9Vo7koPqxVAbEzdWx26p2PbwhI4KmmK7M6SFgvlp8dMiAq5SUvpNC
TrTjliMU2zPGOiZBP+JCrG4C1yk3TWQ6rwWN1jv6DOH97XP3hzl9lmQgA4BKLFgv7NL5lyye02vE
aJaQSY4TYVU7JGQVhh8kqa35pQoE5SFqVWSeXdUe77VuAA7bho2ncCHDy9j0sOqVTSysoD9g3awd
KaLG4cmYOwWDqclUf5e6cKeD0+btXaepUwCOq6gSv3JHp8g2ga7G20I3Um8HkmewDl2r4Ymli6SH
QSlMN/H1LJ8kscSZw22jK1byanWWeYDn3yEGpSrDF/qBdf4dVKn+1TRmhcAgeUF+L8rhPmr7KXio
gYG9Z+itvIqu6YKngSq58GvMu5GTzofW+n17Vy+/ZrQAAELRHWTuAKzm/PBYTVN0Ra05x5ZxWbQN
MitQdjkccIaeXRescZ3+6BgvXyKjBrogNKGl79H5eqB1FGD8qnXUOpxWN0ZhkvwlTCb8WrXUg1M5
zXzQJtFlPtV/X+yMnmh9DyxNuYuEo7ffhyIjA4mLGdKBHP1uO+Aymi88DOSQ5Ug0unpNRtp2e6Ou
/XJyWwmawC6Ne2WxU1kJiScckvYYhGDvnCrTo60+N+bRoWFqvYVmp2yAZiv6f1nSJbuE6ZX7Sava
vPLtHDXsnQD7cahLegUAXbuiT3wVUEP3Q/GKYtPobp5+YcfDeW26fBlFJcMax0WEO7DhXSqih4no
7AqvjSOfBBJgooh8NXeMh6YoSr/2FG+bj9V3r0dBnyvkw5NWilIOlwPWGWLdRXTCDsnNk6FrjxMX
56vmBdH3AnAq4srCPMxTV3+tm75fI7HLY7Q4ZuCMQBCA1CQHWl7FSpsqM6q/xbEZMcLYIsEWbJ3S
Ne7KsQm2o1s37T3hMbvLwgLPsdtH5fJGpoJgIsDdSL/ZXS5emIUlXCutjxkk9zu1gm61Ud2AtJUu
5HseqsmP2wteuQFgv3JHWeiCAoRdHE2klQo7m+L+WFQgqrZjUIwwubssROo/GjZRX4ZUClnyz+1l
r2wybQ9JIcTxA9Kb/Fl/XTxtUs2zG3XD0aVOSt/5ARhpOg5+fNshbMrmV03bxXrOZysvvjjB1K7E
rqvrw6LReUDmG8ssF0ZqThZWdEcXj4cEHAg2yJ0xAYqdvDpIOXE2rGtlQijjUCiWujb4ubbtEqHC
G2aSye17/vzGgCdlqiX9Mcb3pAIcGAt3b7p98GrkyO6h/anQ/B4VsdLXuHK+ZI5JE4FgBIlg8bqZ
c3l9OXk89wxISh8ENMMI05OfeiCIpkPgraUYV4IfbB4QBXJkyjW8VDXJ7cSoOL3DcXQdMT7ko5H/
R4xPjW3i2EnziA5/8iuRE8SDlnrBv0Pt9Mq2rsY+2OhKb5uPxqAnykHJawX30tBOStpjjp35SJ52
4EVNN0aIvBf27vYZ/ZMVnEcCyUOiD0QjnPp12aYb9Fgviimfj7EmhlcdBqKxLdH7YpRvBOXTGCbx
pyikO72ZUXeOdopNfrud+76tH5soEgWzUATa/AJXFZBvWI5W/uQxEt6gNlV6dyUsgsanO1saj7lW
6Ml72dnJsCnS0flPnVvtBOud70/QhvYORjEgEjrMIR7Otx/08lBAXEG1Q3o3SsjSos4aU0crDUdB
1cBQ47uaS+mfkOLzOYMHuuWr6FfSscupJ10sPj4p3S8Zp/ZieN5qWGJ7at0fNbdK0tnv8jFmEmxX
Te8bbpd194RBM8FzzJ3N71Enhke+pcjbWajexls9t3AdtUQlqexaJ141e7Z/fnRPpNsT8ZDen2yT
Lj5QJUNZf2zM+ah7kWb4HUaleFJ54qGnPN6jlIzR3u0VL0MCK0p9JQpdoBzLRlg9lt48KMN8bM06
9gcz1R/CUXkL3JIAVaid+m9OJDrcXvTy1dMnkVIq3K50ope058LtM7dGxvtY6MW0zfPE9JMRvo2b
qnfD6NRvt5e7TBnPl1uEH1xi8OkLBvXYT+ixw35pvyOW/J7Fk75ywVxmLhKkStuFupaifpmcJq45
amldqscym5q90w+Bs6f1ZKU/m0baqyR6MzLUMky0Gos5cZONGJPR+yBjkyqHPgLSR1KMAJvOZYXd
icxzpiiwjo421bPPqF4HBhiquwYHtJXP6sq7lJk4oR1kHiFXbv5fd6oZuVWRoyhxbPp0PoComFBi
tFL8cuvGvqfmybT97dd5bUUuUAdcAAeIIuB8xSioTXyMR+2oVUr+OXaS6OCN5phuwqwLt/PQrGUr
V86P7ExJ/TMQQAABzhesw0ZrQGvpx7yfx3lnZlbvflJT08MvR9cDc6VOlYHv/AIgDZTsM6m/Avh2
saNYruleX3vasRAEmExBeOWAm2GtrzTBL7MRCSZkuEEiIiucBTpFicoZzFCiH4e26DZaYzIHSq1h
n2HdvKGqUu/RJIq3+J/SRv7wK+QLoaCSNkToby9eYR8axljRmT0maZXArRXBvREAPMHavtuiMLSK
GpXPstxTeBHwXUliOKyLVygqeou4COp4IOfmZozi8VCgkvGUp2H0pAWxt/FwEX7Fe0R/Ribf24i6
m3aocq3aJ1wJuFJZhyYN2BboJzKE/PW9UGRXuYG93JErOf0y11ryKyf7vzMJu4Ofa5k5bzVFd5WV
7/TaIaY5jf6ibLtdtBm7oZyEVHg7MvQ1Dt7g9sJXZASyjcBZucaurmVBmEBgmTbtsmam/2QmMCfV
o1VU/fcqVuov+A6Ch+41K1y5wK6uJWEU1LpA05b97gLZhEgfea7SyMZffRBiaUtN25s/is7FEP72
wb329qR8JxZ2qqS2Lc6RFpveXNNIPaJY492hVI+UW5w3e69R52/M+mEq1rP45/ai1x4RgAhwoD9H
eNm4Kkqz67p61o4CFfdXTCLUh0yvMCNk7sIA9X9YTA4xUBSgX7o8n23jllPAnONYJHNcPqpoQe4M
V0HpVyiptbKdV0I5nRngcfj9ALO6KDwHtxuGJCaU21bsbRO0mFQKbU//XlWDsu1QBP+g0JS8Gy3y
TUIA6QevcBF65iiLzEJJjaOjuNUW2oCRwyd2463Ug/C12nD2HGltBbZ+5RWCIqNzxQXJZGE5D5uc
uhu62ST+iFL/xrWdaj/opTR3XHKm+VH0FLgibP6YAIGTBekgf8xfIcalOvDmyaa/Kur0fsj732UD
36JNaZBzPhNjzeHnylfBglKKn0+CBHbxVThuXo6CntbRNkq1+7eXmnB39CCt7sCZDuh+69iHbltU
5ucV0c5rS5N7OHjsgu9nZ8+fVaRWjAhGbBwVRyk/Ad7K/o+08+qR24i29S8iwBxeO85MazQKlkTr
hZAtmTkX468/X825wJlmE01I1zBswAK8u1hhp7XXSs+OMeXuGcxa+p0MaWDuNR/+JO6xoa+BL5Gi
CQX3xUe2w1QUEW/4y6zY6aFpnbw7avEcPM+hW7+oXVY2GwW9tTMkBdckv6wkGVksNUReSTVaQ3+h
bKx8iJHgcQ512SfpKbXnPN34sCstOduRV1KCNQBqLPtgo1YxzMX88Ie5IRt0Iy+3D04uKBsUyvxE
gBafei0tdoPIxZNiOGH8PqqU8Il6ivbp/pt0i5VDsYrAizxejiEwi3C9y66RhSnzytmHOLTZ67IX
hrmLizH+VDbzeMGriMc2mSpo7u2BuXFrhLauGpufwCapWSMDU+4Ze9/iZ7+NoKgxU9iQ/EncuWVn
SWvAwjmWaD4EjIKkuzioCCvAar0DAEQ9WB+UzynQql08oeO+4fde38brkIbDRzYrJ364dUuVG0Bs
KfNWpuDQV7/gbAaAH1nWO5hnnHOkpfmnoin6o9Bjc2d3YfM0WEm/8dDcXj5XZ7SclpOc9b6hBKY0
jrRw4Y4fCGiSbj/GQOBGyiMfYYtIvJ2rM5nY1qq+Jdty6zY4jxRnQTPR4WL44Po4FNAQ9olXDR+m
wOh/za4nHhkJapUvoPdxwZYZOuFveyoAplSvCMoRVbipWJpTjnaRiNyXPNTOUZPq+q4VSclAWe5+
yuc6+HH/yN9edplGoiAGfR0+4PV2vnnDozkeBGTLDgoDovzV971FfdQOvg1ofX++b+r2diH1C76H
+ElKtnKUrz+nmYc42yJt3iN4NT925lg8dnXppEdvyIMnMwuGlz7q1GMkUqPZ1/BPfrEMEZVQl2ux
HxlT+W+caqXYOOE3eRADF0BPDZq2QFzArV3/LL0JagHipXmfd3r9i+HekVEnehnlw/3135wmqdlE
Hgm/iWS2X44YCy8uTC3opvcMdbjD2SwibowpSNGtNix+hbNtn/7/LC4+eJDYwpygcn3fMajR7hXX
zB6CULTvYuAw5zjWz/ftLQ+T1I6gAwS+AEw5p3jhq2q7VZhpivPnqjDTR9yy8VwawYsWpb89Gfhq
ChpgqFP4B2XM603L6nwqwirPn2MnoMdlojsMwi8rfTC0SIm7wv6hweg27VMNKpX7y1w+R9I2rRPG
3ylwA/XUrm13rTXqQ+dmz+NITyrOapspwNzdhTadbriqXONXASP03/etLo6PnDUFzCiDZdni5TW6
tjrOU+q2Shb609haz7Audge7cYu9mcAdw22btgbXpLN78/D/r0EwDTgReuhAFK8NOq0mVH1Ug28d
shH5P2ZR9T7ouuChnmrVe07Qjss/IT1o2R+0RB+8fT2HW9QGi0/9+htkH4H4UtKY3JTXaZ71wTwr
32DUDqJDXXgqqU8NIP3nQPm0AuJl1wFQobCpjve/99Lx/a9tPjQXlrY6PbPr9Wv0tfUe6ns/Gfv+
6HZhsq/UwDqVUaB4D46VOv/VRIvvW7NozmohouQ4242y8TNWv8CbX7E46H3bDm3fIoM4GWU7PGRG
NYKmjY25+WjH8fhrmM0Elo6kMbcELeX6lvtP54y7Jbt1N1NYWZAjrpUayjcGzJAPrybT+MisdcKR
R/d34+lYhDivHxsYH8ebuQimsORneOOHrNhS6yYcIh/gcqN+UvVCV3ajhubsgZAnvJitcNNfBMnD
uaiKduvlWrtcsLcCCpSyETzQ1+ad2aoIpOvQDxoUEb0qT17moqj/Tj1mAgjrCnsjyF67XIyB4Hbo
Tprc7GuDhjJ54VA6IaIZgzscZroJRxB0iXEQvKE0gE3FGQ994k7JXpQMeO0pXyv1RvC9tsWIC9Ek
lIglfN/1r5jrqtPKuQp9B97Th8HwgoMxtdahtgGJ379O66YkQIqknjxK/vmbDVasDPuzFfraOKRf
G10S5uge00aa6J2tRHHNGM6WYJ5hPiqcixfa0HgjbYHKLmKe4zOVTTM7VVldIfGuxZb+e0n369lF
vR0IN8ED+dLiKxI8DHPr1sG3qG40YDWpEU2nQWnD+cjo7+Cc7n/JtbMKKp4E/3VgbcmRprdiDEtJ
tmTVMFwOjp4e0qpyP0zREO7CYNqi/l37mDIbkuofEBcupwup5oVZr1bKN5PAcFd5Dhx6WR8Wf3lm
lG2pyazcC5cU35P0Bixv2ZkyG+g7FdQSvwFVifasc37SALc9dnP10E6991dhxM7JSJUh3bkleuMb
93JlscSmPEQy4eJfi72saLmB2GpDX2hT8tB2k7h0EdgP5p6IK+5v5DL1lQcHYxTf6WcAG1zKTVkU
gUhqOwUPWzbFeydUnJ9UTYv44Lp9fcyHpIn3c6pSQu3mWS33tStBfQVgoP5Qt9Vva9bJHwQqlWE4
2acDn3J9SYNwzMcs0zhalTacmeSgaJVH0LVWo+ieNL7BFh5lbb/Za+qpDBw4N987T2OlaSMr9029
/y908jk/UNX1jH3L2/fgzEr8EjAidAwCw31ojC3za9st2fdksY4axGvK8uZVCvXc1LI4QJfJSozv
mTtApx3N5o+Ch//n/d1eNUU5FyYAVdJgyj9/Y8p2wq41vCbxuzhSgr0KlU+xg611qHajmtUbeeSK
PyXHoOmt4bxpnC0cmqmPySgYifCzuTOaT2Vl5eoHO7Gr4QuFY8fbz17f5/8GmtaeG4uaz8f7q115
pFz8OA5V1nZphV+vtgJoHYSZm/hVaE6gMKA6/o/k1vzLMVqrP+X2GG0Bqlc/sETOyeYLVfNFvAoR
HhucKolvFvY07u3RcjIiNtqFL0Eyat/vL3DNmqzK2dSVJQB+YS0QY2OMcZ0iHzYGOb2AOpydlzx3
c/2feBjM3/cxsP+Qq6sAxiT9y/X3zLocwJLqJH5polm2G3gli4Noy/mhdspoC9ayvrj/syZ3981Z
DXTmtrUwTnxDQAPycarnJrgA0bZ+uiLa4lpYMwZKS+rOwe5AeHBtzAJwb/YKAsNFlQbi05hkibuf
OxRqP+oMkFsbr+7azZCwZUaPeXNuQGhUFktlaqbY1xWjz3dWReKkF8CldrlB1e8cDq5XGmBW+/Yn
HMGD+IObQS+SIyNBf1DjXi+3AiZQhpWT+m3bOD9aZ3LOWjKkx1JpjY8xaNgtN7P6fWG7lMR+iAYs
2TOEaXexDkjbH7RGnQ9eClfBTo+iftjnar3Zc101RzMBzhPw97jQ6/X1VdSLCnpq344MJmvbRpvT
fas6+V64Q7MhPiQ/1iJHodUhSw1M9FLFWgR6UyDaQmRJ5nvd4NYXdYpn4zIwSrIRva48Zx6TabRS
JbP4DdLBcLywb2oj94N8tLOTFptWMu7ioZlOVq3M81PpZOYWw8qqUfhhYX/UIXVYBl6DETl1L9Uo
uzEoYEEbAQntlG4c2oMoU8M+aXDkbulNrmwfcq60VGFDowuwTExC+AwtvVZTX7GaCJYajYqr2ZBz
B1XMQG7BrM/9h3R1lfiqV64loo+Fp5r0Zgzntkx9q56Gv71ifJhC3aj2Va3lgpr6ILaSPel7loeG
/hzVFHYUZNDCN2mg35MJQhx/zsvikznz2lJTnu1ub9W8ss+06IHRq2rn5L/vlSEZhpgVznZc47KJ
PDMB5yKvkPnU0vP6ZFUQ1zhpmxvP2YyU/D4adSPudmEVqO6+UfLe/Xr/Y6/tLoAImT54kqVf/vmb
hx3uuB76FDv39Twtf7q9pzzbvWEHewbix/Pv24KKiIRBRiBAMq9teQrsvXHQILAZ1ta7WCuKL6RG
QbBLVPHjvqm1Z0BSaNAbpL1COHltSjEFoQj8934RhNp4yCfhhEdmyLbEBdY+H4gyoFsExwZPzrWd
srH1wRRO4YeRa/1Ds9xFWbIroAkpEMS9v6ZVWxKWTk2Eup+58BOQbdmoc3u577ZW9gDbT/kBeWfH
2XHCtqb5Vm3xegIKp8Nzky+HHdR7jKlmfp2igfWYpkN7FgVPxBnFq+Kv+wtbu346cRqxsMcxXJZu
4R6IvNJCojTtExvtD9XauYypvKQDJCe7bhx/NaYxPt43urpCcDCAPIn34eG63jnGH+ayyzj4Tdqa
7zKRdT8nq+mngyUAQB/uG1t70igOQ4wl+X1QyL42lkuUmKZy8pOsyJxzUxj5tIu1BsiIOushGuAF
M/qn+0bXVkiSTqMMxlk5h3Jt1IN6WYlNZFhdtSnj3eiBpy2Nyb1UobOFp1i1JefHIbGgJmAubFH+
s/VgDnLfswb63jazaMfSGpCV0oxoqwO59jVfWQdZGtDa5eWOTSd27cyGzpHKe36C6CjLwR43zVHL
m8h9Iif+zcafTMwZiwet+v9MLk6LC6K7QpOt8PMWNpR3cWb035Gsauq9W6vdp6GmS3V/91YXKXmn
eJRpDy0RKkkt+nbIROnbKrpcTLqP7wMl1pJdj6j746Qlxec/MEiixCMmSZrMRdfLmtu50ry89CMn
ys8D27mz7Vjdd3nTXnBP88ZztrrAN/YWR2awwjwzw6L0hxq3xwrZREqP5i9i7+JHplXuRm1TXrKl
l6dsT7URKA6QysVbPbUcl7BtSt9R8yY/NPaoM4hXuvVGaLh2F4gQJPc4tD78+/reVWPndSEFHESH
u/rvTDOUhzbMy49i8n4PsPl6KiXclwACmR383bWlWcixmqIvfYQBE/2YAQz5UWfRZgi4tlWSr1BS
+yH4ddP2DoskiXk//MRpwo95WQefk7ntHhjr+1TUjbERFG2ZW2zUAGwYjGpS+o0rFfj6vPB2ZaEp
JfV/PawOttP+QcrJ6BWYBnn62btFaELc7M2dbhZ+Q1pqHpzEMU52kDf1Z6vR0y1eubWTSE0CljZG
5aUIy/W+RYiKpWE0lHDUW86HROliCPTqytpwcSuJLaE5waXUKGUkZWFmGPs0aCer8DuY8IOLq0dq
d84quz5XZC7vhIWYxb4JolJl8qja4nJe28W31hc+T3VaGa64hEazoX4MyzRsT3muld4uhR5BPXgV
Gkz3n7C17yo/qES3yubg4gkrGhvCo0Qr/LHLk+GsK9pQn4pe3YIqrtsh82NYEHbUZSOwFjkFfVIF
HzJapfrXi7Wh+uBR/vlNKpjXCy6ZYCBAlkSsS3XbxBmnco47bkId58o5ypsnc4TWKSuc91FZBsUf
OB0OvwxlSYNosV4fzKaaA4UssPTNMejrXTYE5WEKs/mhqUVn7yPL28KWrZ5R0BYMLgBSpF13bbGo
jbSqW6X0FWVontxybvcFwLD/ZtqCZ25r+xHBsOxx1PF89w/LWtRpvbG8uPKNKAZjyNLKn9vEPSrj
MD1kSpvv0raIzjOCld+8KlAOf2AUzKnE2VPbXr4zkPhUYZS1pQ/nGrxHShO4u2pgIjohlDmoPOPd
3h3MLZe0emAd5MURWAFqYy0S3CodKjrlIQ+OS+/krHSp4x4lyG7D9a1+0zd2FrvpzSoVicQmaBnq
I6O08b8ICGqS5Yqm/DGGqvw5DYV4d/+jrjlc2MnxTzbhJ5jB6zMUw44GZFDmD3OujOcEbjv1VBtj
ZbyDndWaNp7VVXMGtJyyck/KsghcyBrabmy81IdzRVf+QcyqS5/Vzqrsfie7xcnf95e3tnkwiKn0
XxgBAZd1vTxhjvjeSBRMKTUU6jQtIyCsG8/eUohde7HpD8gRMIquMBJeG7K12iqRsM58Jy3jf0Sp
h/NDycxicaqYymIO0DK6h/trWzUpMz+KvXS9zcXaZn0y1MkTuY8yVx69eBZg+v/6UhPtUyjQk9hn
sLY1G/HFEnf2+qyyQrAYTOXe6ojSQ68dNXYUJAHn0PrRzsCET0RTufZLM/tyPuRmlunnrode9SUb
Ms2BfbQRhgXnnjlE3c4pGRY7N3Ubxe8mgr0v97/K2gkjLwXtLQWJKYJfb0Qr7LCrIRv2zSqcPxcM
Ufa7KcmmxzD3vM/3ba1dWfpCYJfYBeoli9NM9iuK2FAyv2P4szmoUVQNn3VhJsFOpRK/99Lku+vO
ub1hd+1UA37jCrHAW4AFHA6CKIRL2zdd5n1laloo8V5Tx2YLZrh2xmQIBHWxnG1dlriKsRFKUk25
38K0FRz0OJj+Q2hZhUY4KL5brTad73/StaVJjhlqGhAy3RS8nawErjzFHGolF+PHSMxNdm5Ktxj2
9w2tnRN5eQxbInJvMCN4MGtOC7JSkWZGtOu1Ju4eXHXq2lMbTYO74TFXPyQ0lVxVUCqANq+PZV71
iMLbQOoKMY7nGGqwizujzraLRew4+yQax+BPPqVNWCCLNMhbLm5CkwIsU3Wl8LUECbTjXAZ0Q0ww
7r/uf8nVpSHqJQM6zuSytpbmFVzEguTXVkRM+6eL0F+NIWMd9roYI/uQAODb0tCTEcYyIZUfU5L6
yzGUxdXLU6NMJ+jb/NFBRcRSk6LbBfbcHpzZnRgHpv/3Drhd8JAnafWBumr1z/1Vr9190hCKsSSr
ZKqLDUVcidedjoGvoiYf7wKhahXDviJkdKoCbqW2dg1RZ+zYX+8bXvvcQJpZOAhgnrlF7JVMyEUn
JP++WyrqkWAdHmy7F559oBncfmlBsM0bQcLqWgm4kJyUVDzLmF2tKqN3hJL7onCG5JR6jMc+KUrV
NT+UZI6gWGwEQlM7KO3SrSB33TYvgcSy8SIsvnOdVdYgwaf+bFARCK0kdy4Ikkh0jpsVf49u1Bq7
3gBJt9ENW3sgaCrQ82fy/HZIRbWn1p6Ulop7AsUlOuBpO15cm4fvE4M6SbRVol4DsIDoYogL4BPX
djnEVbXQO7tpQt29GbSv1hg9moNO1V3txvBd5DTp9ybpo6dEdZqvelqE73BM+Wetm6yP90/Y7SfH
f1I946PT+cfBXL9VWjyWzgxo0FeCtj5lhuJcXJEnEWNI8GnuKjAljAh4Y/vhvt3bk43dVxJp3A3j
EYuApgd9EfeOG/mG01dnPTOD5MjFtcQ+i7tZbnWVbsSjK7hUaZOhGRqDckhl8Y6o8wizFcSRZNoi
dXa9M2cPOkXR4YunGE2zo7VkO09j7LXZaQrSn6QJrRfu9GSstsYUb580fgoJANreNA1uBjAdh+F6
q3NiP6nJbGYmZX5VQzzHT3kNVvkYjPYozgqC9WQISu7uLZGazvn+FqwcQn4EXAuMh1CyvaVwpzRQ
WDkNfSchgoW0uxT/FkZn7aq0tY9OjIwBIpuA1jjEkx/bA/8xC6E2J0tpN0mFbqMByfMpaV/gyQQ0
LO/omw5bpc8CAtMx8ufRtWHEMCstP1HLg9bw/rpXDUm8PY19yuLLu1dOKrglLYz8OmKuF2LjNB5O
mZM1W7iaDUNLt9HojW3VSY0hw6sfYooU8DZDYVFtbOTaXQK1A3OexNbzoFx/ObdR1TR1x9hvUzjl
dlS6VPVsQgY2nGqbSX9YEdV6S/xVJovXTplTwxAqEzsM9cHkeW20plWrFKEe+yEEJNEF9N34j6dl
4fuxLMbsDKoiGnfGMPfnYqrtdGMPV88uCyEgkFOU9pL0Vo+tTjPqGpHHviu/OkY0vOsjEVqnMaQ+
tMvaCIbusEzs+ZhQrTV32tgPdsGog6v9KipV1If7p+rWhfA9iIgM2Xnkb/nQvjm+wlSTIPCqxE8G
q/iaqXNDrwVpuqOdc4/u21o7WJC+w5pKkYknbXFVorbSWm1OUl8wgzQ+QwejQ03eNKO3VfxZtyTF
MaRI6S3QMoZzUkQtqwpNezpUIGfFfwhRVFtdlbXPR6xM/Q5oAf9c1CaSTG9rR0kB9+jZe3WMyr+V
Xvw7zZMTbhydtSVJmmRiWC4ClZDrjcoCmO9y5J59fsaQHWGF7eA1py/QbiDP1t54WAURgcHhAAtZ
uJvcBgdfwAHvx1HkTJ+8csjiHxBYxckObcYqfp+6UR8whKjW3blXRPgiBjvYYvFZc/Bvf8XCwatG
jxREXie+EK360LsZjIQ5gfNBDI35ZGWWfgFZ0fUbKdeaWfk4SIEjcIVLwEZCE9fqqijxnWgo0kMY
huYj/DzqX+CsEKWbO/gr3jEtO2/RyK8dJCjcwRxJgp6bnkHcDYjF13rix+DjL4ApiV90B6EqyW9v
b0HKV61RR38tQQDHXUSsXjQxFz+MiQ9RWXasp9H77MXVRAlvjD/fv/Rrx4nXHcyWxOfTX7o+t2Vf
1KZVpQmDWhFMkggTVGLH1GmS7MM2tPR96xiAcKs0zeJdyNzrXtUi0/10/1esLRhWEpmQkJKA27/+
FY3WdXPPBJ7vBrAu7dUx1qqPZR4Pzs7oS7Rv75tbc21QRNO7fp1dX3oZnZk0MWS40IpCz6/eUr8O
HaoLCSyNX8B0Jxvm1lf3f+bk2/HmEQ9rc9LmPEfl1jbS5oh2neN9rOYZeAXJbbzlxdYuyWtJSaLG
ZcxzbS5vhas3Whn6NmI62btcV4MWrkl0deJzk3jKdyeoB+sYKY1dne5/2NWVUqIA0IH/uCmd4Qan
kbEo4PqWPXxCdEkquChVdnALSCbv21rdRMagGTiU0wk3hdlpAHvbYCuqtWGPuJp1qatO3QHTjw6R
Mzq/3cCW4xYq2G2GgaFTWbzwihlP0MspoT+bZjEeotwOvYMyd+HGA7/2DQneKadTmMCfLB54ZxDg
7ZUu8VtRxy9J0+Sy6KKkeb0Xut7pG8ta+4yUXkAWgsAFsLW4el7e50FXE66P9J8QhZpN64cylcbR
dYfk6zwam75jdYGvgEYXl0xkfn0+jZRiqA1IxC/ysD9lfeRVeyUtBXyksAEd7p+SVWM0lmVXDYe5
HGRDtiAsYXqM/Eg3mvwI0WI57XQ4TQRMebBV3be2+jGBUCEUJ3WUlmhNu0W+vomdyB9oUTwj4VA9
ayA2D6BwEmsfqzGx4u9bpPwIskly3pP1Xn9MjemcKenIb+AALiD5Ef9ZTZB+LOpuOGpDH218zrUF
vjG39EyNbStdCZW0XyKSdSjmkTQOTowj+XH830w14defLE/OwllAtG8alN3IYD/CSGwf/I0/AcI9
W5ON3F7R2dMuqKz+D55q2oNUjQkWpfjl9ees7SCuNRoLfm8X2rSvlHr6q01F4J2J9I3H+4tbS3a4
ApacwodJZFk50KGiGgYqFn6m1epRp+b3UAGzv9iR6ik712hLiLxVbzcjCfTjvum1faT4ySAxM/bE
rYtjgxhepqI2lvqTMP7OlFFNdij3phdTG9FQDdXs2317az6JWicflheGWuvCXprmrVUoI+MZjl3/
orQqikNepsWxt0vjgXDWe/CCRp+P982u3X5KXvwluX1vZqZhZ2GyzekAUnaj/jgOFKL2jc0QU5FU
Sr5xN1aNkWZIqWaG7pd8ccIp4zZUowyUWt/6TEBzQyyn746NY3bj6Q9WBhaVTADQDBDi64OaqXEh
EitDIidkVAKm1fyjq2Q0jFor+pOA4hV/B2QGdP9ywjEfw3zuYSzzR6Wr5wcH1aAfdhUVHyA1snZi
QjVhp/ehvjXxvDikEsrIDaSqxhkl1VkCn1JCU69SIupFYlYveul+08w2QspifjfkVboRCS+O6P9a
c/DwkqANiPTCEaaJAg7EEvmzrQ6ozoYQMuu7Cf2d4FhpYbNvGZ16mmvb6DbOza1hZt3YQkqlHHyG
iq63so6CLE7NMX9Ogmh6CpPyS8dnbhl5CbSHOB0JAqps/L3WL6ulTkhXGxAH2BbomK6N5kyQBlYR
Fs+h605A/zLDa09ZbI686lZgoP03tOWGr1pbKHA5mKlg2wCIu1hoX4eBnnBwn3l7tZORtd6DaiC6
FSK89qGd7GwP9/yW0cWtfF0oVDHMdpPiELwtjIZRPzHEUxXP9WS0xz6eNfMYht38nID+2JqqNvlq
b8pXVF1pbxgmHV0uCloHi1vZ1nEAtMTyjqEGvkXypgcM5+bquJV/L68Ghjxw0xT6qQzhXBerqg0t
yPq89Y5RAGFLMJnmJ5TI+52U+HoRrig3/OKqPaI1yeNskSUu7A2JrilD5XjHpKycU1twMgvysiMg
nnHPQPeGueWmvS5Pen2Z6VMhWpxOjffMjRTdO2ZuVX+PFVEfK2HHZ8rGWzP3K1sGWo11oYVC0LYs
p2qtxXBkY6KWkJfWoQx1sS908ZuTJhwMGqU0GWVREdzhssNp1UMSGMXoHUfky3ehWdpHM0JRQdeK
/GQrkHmVTK2f4eDRj/cdxe36sCz9BNQR+N4l5yZahbke2L137BPDO9na0KHgF25NDW1ZWRx8PfTA
THTCO/KOaRf6bfYpshEauL+W21Mo1yLPHxkfkAJ5bN4k0umgGVVhNN4RIlgptTiYVCwY7nct0R1j
0Xq7+/bWViUxRlQlZDttySzDhFvdmAjmHdvZSU7xTDZLcU8/3beytiqJ77VoH6E9sLSiBmrViDx0
j83s2g8pg3XRrtELh367MRFZg0X53XUhAASkHiyaJrXulqgT1ZmDbhRaepp7t3wW9lQ/MwOdHO6v
6+YSEymghQEbDU8VR36xW2Gq2cJIkcKqZ73eqzY+dGyK5Aj+Z4uX5kYPTep98dzizeALgRhtcf4U
u1KUVkdRqA3r5EtGl/RseZ0y73NNd76beSc+8P7HR6N1o2gnSit4EXZr/wrztkOLCOZVc+OsLp2d
/EVMR4Dk4hvD6b5YfTVnqA0EQ3ryojZ/zI22eBqJmQ60P6CUt2ftaYLieyOZX/vkb43Ko/b2gsRh
2VTww5wgs21OQmuCQ6AA7+8TFLt/f3ep3JNRQyEiycuvTVkNX1eJMGVGZQwHDbKnqHKLqaAanBRb
7D9rC7NweFIChubmkmqyC9JOMboM5Y82ZryaTMG1qUS6rX0CNF9vsSDeXEk2T6ZlkqmefsiSHr1H
cWQSeZGeGE6O36sQhTEpBAdLAvvCKU+c34QSafKwAOphZbAu4mLlQ/Rm38AkBL2p4wUms9ZhJx3G
I7waxaEOicru79si6ZSmGCRgsIUQTIKXFjdFj0w9LLw+OJqFE7pfemZn8wcrjcrm0cxo6+4zlEf0
Dql0C92fvh5QIrv/C1b2kgRJwkU5PzQWF4G2qgkjdJJOOerBYP0MGjvRDmNuVB8CKy7LjUdoZScp
pLFMFXAqALRFQq+GM9NBQiWSSMsRgEsRo7gjHIl+T7ph8OAqa+ZqA+J4+425GOSBBDAAjRk6u97O
IkvhCHJlv3/Inb2ez+JQDXp3mhmN+cCZ7Q4ibCKoRKpwY7lLy5Io5fWWyK4hE/WLOE0ENkJR4Fwu
OdoO81mKSnyPPaN9z8wW03WoXrbe3tbz5pKkEZyJv7ezsv0tx6Np6zG5CBbiet1N4oROgFDoRc1d
t9kjQVn/i6iJcexpq268r/L/9TbUfrUFCBiNdpoXyI5e24JwraWoEPWXsO316Nj0UIfAJDzVj5kR
6+Lg1WmSfHLtcHgUSRE67wgZvPB8f8HLR54fAZoJzBoPIKnqMk41IiVLUy8ZLkw5lA+Bp4cfvWRy
PyVV630EGCJOVq57n+4bXR5pLDH1Tv4mD5ecmrleueDXzE4FlCiqwWv+YlabYs7JY9RJHJVEm8WP
gmck+r1yOxWxa6vyV715otw0MnSImofL0CRz+lWbncw6DIAdrW+mzWzvnrR6+Ov+SpcvhbQJhATe
AtklJlG9tqkqpdXrbTZdCqWd3SNcQ31/QBot1XZu3A5b+gkrHxboCtHeq84Y2f61ub6iplkM3nRB
gs0+95YIv6Qmfruf9Kjad1MSb4VIt+cHCDStBFgEbaKx5WOsaKpXu1E8X7SZl2JnaQK0Vt0K7VEN
VcV+6HEH7wXUABs9hiXQQe4mARloS5IecFLLXj+SCY0VxNNwEaGmfHGboOt2cR472qGZiw+6WzuM
lwEM/BC0gZ2cGjPSvgQKDC6PAAfFliDl7atF5MbLocGsThl0OULg9aYoiz4aL3XShX8zHBw+paX6
qxtK5TOXynmB9Dj5hLvaqjDdPiIyZJQdR3hcpELM9Y7PSZe3tVIPl2AsxpMeG+EhBMf8FcSY9q6I
ouTjQG/72Qzm9kXRbPi97h/w1YUDr4XqjqcMbolr+0EPaNhy2AbqWv1nKOa9BubcHi4L+C3seR+F
cfa1NursF1jC8ut94yuHjzYdLQMidHDuS7qrCLbMLhhZfBbNyhH9mfS58Uadme+pF4fBEi06gGqz
kdqvWiWJk2Q9EvG+8BEjHEXQPTjDJSqj+DiZznRx0CM46GpaNRS9RXHmzdySAFui9OSBh65bUlub
0kXdFKA1NbIEQorAEqDsn+QIHCiquISqM/I+5MEYH/tyDE9War0oMvLTUKI7/8EHBzuAyyKPJTG6
3m1aYbyaUN9flCjof3gwXEWRGlF5p8X3KYji+pNQIu9036gMHa/9JAsHVC3zECm8szAKBYuYNeGO
OPzGPisQcVQ7yDGDn/fNrG0rYSVtWGgI+LyLbWUuXfJOZ5Byt2PD6+VMEMKpilrtRz12wr3RptrL
hMJwtREHrPgIWU505XsGYfDyCptTNgZpnHOKnao6BbkIPgx181fR5sXGyV27rNix4dKhXAuq8Hr7
SBHVTm/78VIhoPJXW0/TF71M3QclzPTh5DhT9xLqjUfuxcjwxoO9skp8PSNr8NLxVC53MZiRuKRm
O110GNl3XKDhovdJ2TwZs6ZtqYuvvIpUZ3kQmGygZuUsXL0RZe4cxu100ZpeJwepjENkCv2RFBtI
UZz/1FXX+M8ek79MI6n+/e2D9FoEh1ccGjoYSK+/sk0SP/eaM1/MPpiCEzEl82S7uKqDcD9OnRe9
K/q4Uw8OwNYtPpGVHYZZFyAMnSqpjrWIrDojYRgxHXHHiNQoO5TkovmdOU8x6GWX2kKTIDutCgVp
tSTui61501fRpMVd5VlkEJOsGpHT5YfvzDQYskZhlz23x1LhWcohNJgUfi70eC72gzJlZbSvAQoW
ewjOQvWxmLWkOlCAsHVoZ5OoPpqSfP67WmRxfUnjrDx0+uCo/YbrWnlXICMGpoByN4DNZQQxS+7D
2NDHi9oMk++agbl31Dr5zf62fLfpxzI3ZHDviAMXx6G3MmFpUT5dKC0kzlGb1fxoGsz4M6uRJ8V5
tDp1I3tbOf4MhEjxeJp5JObylLyJdKEYrpJEn+aLR1kIXcam79/PiaO+L6C1fhFCC4sdmKm2fkzV
TPyIGxUZkfuXYOW607GEOARQBhWIZR/BZOZeEVai8hN6ponUtIv/CtAErGHu67PsN6tG8hvzchL3
gsFCLG/hIhJGAEH75uols8vpuTI6VKMnSUz5WIR5vgW+WvEU5GuSpeTV2lI5DE2GOAsgVru4Rjic
E9ccP8VwCn9VjU59GN2x33VeOm1kL2t7CjEgITaoQVqziycNjzmWWh6plwTJjH3beOZTW03RTqv0
/Aj0DcJAgMcfFTeuXgKjDjec8NqaodiR0levxeuF+WhwIoC8mnahCOn8m3ez847OUPSUVZpW7omw
o/JgT1Jq4/45kv/f5YNCqMHloRhxW+h1FT0K06bXLnZlDEEMj8Ocde8bPDVsAIGrCHOvV04c/Hff
7No7CqcV3oOHAU+5uLSjoRaxrnAxIyU1DnDQGJ/dSW32msIsF/TiybEZ6S4a2fg/nF3Hctw4u30i
VjGAacvQQa1ky5Zlb1gOYxBMAAiCBPD093BWv2SVu+au5TLZIIAvnTBcody8l+dh9IZDiwEjGvZv
p7ixj2lHtyl3WdG+YqXej45CX2AO0k9D3uuu6FZQw78u0FhqbzE7B6CxB78daoNN8J/9x/YzjEEg
Rj6wqIIC0ZvuE5kIDtAq3KWdZthp9jAhA/GoLawvtspu81Js/jofoU+Zn3UHWZSGE79QUXsNt/Ne
wQdY3i5zuPejAWB7falBep92WYw3mbxVfrc6Ed9Nb7xSKcpOzJqoSr2EA3WiZ3TRHbP8Jl/QRgk2
ihP59+3xzmkAag+FNkAFEFx8izltEQG7bAvxjaAMdorRmatx27itggKkuA97Hxz5aWrllUP4zq4E
BAW33L8Yvj8h2m3CJ0zX7cXmnvJBKeZ2LXt0dmjNk2yKoemt4GeYNUZUHQnQNbzyu9+51dGDxIwH
w2iI/Lyt9iMPnTsNScRLa31yEI2TxZyBP5qNafDfc9XduATjbsijwQ/yzQkk3MwrRn+IYfD2vVjV
gXiGEymKDRfeXajgZFoo2/UjBB6iSB7//oHfPYXAFOAYIonDWOtNCPUmTpTnB/jCwcrKldj4Pgj6
nhcZnOVvjMdlBSKCeIhHghLboLdexJKDGfb393hvwXdjVdR7wHQBYfV60w8+l0Gs9k1PApjsTZZV
VNgQ/vTMu/KT30mH0MpBM2WXAUdWFL5+VAQjGg1WlH9BsRV+kMmg6pAFwYe//6B3wtirp7y5T6ic
ActY8JQlGYIvixmalykNs0MwZ9BmDHT2lE7NcAbGaq4ieHJ8+fvj3x5csICxRfEf/ivihIv69Y9E
Jshikzl76ecmv8vSQb700nRffDuyDpEkzKcCqsrkSn7y9lfD3wp+P5iMoKyA+cXb4c+Imc8cQn3z
AhilAy4dSJ28iJi0x35chK5swgQarUI+ySVb52ro0f26Qo55u5X2d9jTTxAuUE3/cWflwaZy2wfp
xWbdCpoDZqakCuYOKI+hV+l/hFwh98Q0M4NoEFAD6OS/rTWHHILR4PClF4qM//M4drIcVTNeEpdv
HyyMXUGky66Jvb/NFv59KLq8WGt85uTtvUwz3QkyTdmlB/6ozEVmge5alvSJk36+hy5nqur/uqFA
fYbqLxDV+LxI9l9vKCkUPl0rsottQLn29aI/tMafL7H2FKtmT/EnqPlP7kok+HMf47H/kjXRcoM5
6JvH9jrmMRna7EK7MD4HkYarNnLQ/INudViNk01L26Tm2nX09o7A+u5gq30svLsTvAXR8GhIoB2f
Yw+JREN0Jm3zvBoTAq+cvy/rO5sVD8J4ANB4uAS8rWPJrJuFQu77MqZowEA8XR9kE4fnEbTjK1fC
u48COAKXAsw6/hB9UlwSlm9ddomdbu/UHIfgp0lRbiHlVzbLe49CPENhjOlhBprl682iQPJKwXvM
L0LH8i7wh+0AGFT8ZVvTaw5v75wE/JZ9/rvjIzDgef0oFIU5pO7H/KI9uj7MLsXxgwj3ZWto+6iE
yc9//2Dv7QxogAA5ju7yjgJ5/TwTcGi8pXNw6Vi/APjv+p9N2K5XFvC9bQ8YJYa+aEDteNjXTwFv
BzATZHWXLOVwFLejUkCapEt8FiDzNscobqbjGrHsGjxj/zL/W4bsG3+X4tvxJv+26V4/OG0U0KG6
jy4iXAJXwD/R3hBYnZ1U7AVNCQBieBwT395qOHV7ZROPVzGsb5O/f18BtkXgjUHJ5w/IC5+wd3Ka
hJdNSwKmGEl5NQ98OMyjWaH6lAwCWULHhsKFA+ZLf/++7618uksfokEKEPRbcvCG60ASQqNL2irY
BBoxn9YJB4R57fxkmZcVCkbAV4q/9zbVfrPuPxps/LfnBdgbD+2sNrhEkI2vGMZ2P9jC5de//7Q/
cj2sLCy/0FqOd9Qskr7XH9efeNYCNh9epinvbiYMaepkUTBU85awxow9BbTNE/eSwoR9WKzjlWL5
NSHldxYYZogES4w9BnWo/e74n55NGEO2zI15cDExWQmtYZ+tSAkBkzEoRxOZfqlXzK9oWILxhjNS
/n0R3tldcAhHXxjD7zj5g3LFolWvifLJRW+U3rExCz5RvqSHFnJVS2mdGf+J0smrskxf60q/c1Wh
p7A393Er7h/i9S9HPOHK9pJcGANh4AS5Oh2XChybl0iZWLS1XDY/pFeuknfuYsjB4JsDG4PHZm/Q
Pw2Vub9Bp+hiINNVN7FTH8FzyECEjpLT39f2ncsDdQxqmZ34uTffX/9AyClQsQkRXryom/hhmcMt
qdaZChIDYAt5yrJFQRE/bMSb2JOEEfR52kQu/vtpgn4IPi6WGh/67TrDSGJGdpSHsEbOh7xYGBnq
LBXEXdlK73xPCGbgS8L1FELzb49TZrcwU4RFl4Xl9DdHQ2ouXCxVTVW2FbpdrxGK3zk6O7gfLU+M
4/AD3mwgl0EfiYdTdFk3330fth5jQOU+sFVkR6CLt1vX5eOVdtx7PxLnxUcY3x/8Fu9EwlXDFLiN
LoOCn3a2rQR4I2Big1iTGoXxNRD4u8/DgBc7CAU4+h+v9xBU1ZC9rpBKZR1hVdoQAzLWPJUQ4hyO
SGD0+e979p37AM0N0IXxOHSS8/19/uc66hEJOu1EchmaNYSsDXrGufnatjbTNUynA0NPjcox7IX4
fOuZwwblzGsgz3cuZnT9ga/Kwardhcz2D/8/LwExEi7aZUgumSSZEGUwBq34vI06RYoxM+nfxl23
rmG95N3UfQJwBEp+pQq51cXQmP5a+vvnoqBsggUYiht0fv+QtzQ5XDYsl8llQod9qClX+qbv4rWk
Eek/9FBh+pCpPn/Ooun/Ef7xbMC7MVBCRwSA+ddrYbQDRQib67INbjUlYglUH6nmfVp6Phfr7ZYt
bC3RfgtooYB1/+fvG+LP+xKbHWI4iEyYe0PF6/XzXbjwgHkNucDanJPCTeN2XEeXdIX0o+HKVfXn
jbk/bNeaBBAWeIr9Zf73w3chIiGZ4ks6MVtnXTsdetmmp2hTT0hAmucc7koPU9ROR6fXbrpyg737
eKwx2p1kb0G9WWummYhhrkQueJ69BSINk7Qxbj5ubQCtB9uI+1YDDltt6SBMQRQq4Cvp1rurDZHi
fRVwU7+dTeVQDktTlyIcx+P4yfrDRxVu/MyMuXbQ33sSyKXIfABdQfb+5qDPjncyaTNy8WR7gpND
85My4h/Iatr/2NEDPmRHTECAEuYj+LJvrjCEWzlBTygGVCVX4hGqS1DSOgA1MJrHsdXwaqxgT5y/
AM/p04uDBu/zf9/Cu0cPgh8sGf+wBmNR3w2xTOJL77boMg/KfPRbqYtWwtfp74/6M3PdB35AdGNm
stvO7X//nw3c2z7SfM3ji0ehgVaC5w3oNk2i6cvfn/NnWIDwJTo66Isjqv8R0x2MKgQRMr2gXm4P
QWY+QJN5bYu+8aOCN+5aI+u93YLeGUQHcP2hw/PmYFKBWCg1nteQ1ZpCqQjV0LJN0ylZJ3Flw+zH
7HXRhR8HUvDeBEAQejs59aRIJcqc9MKzIXkGWX2bLzlcVcZfNjNk/h5u0C0v5mbh5Er0e29ZccFA
gHEfpKPV//rzZYveYr9vksvsY2ReZLGXlYLHcemNQ9cXAe9//PfviFQJ9ytGpTgje+T5n/0yRzLM
OM2SC4SKxHLKhmiYC7IM9GGdx3yrQZe61it7b3UBrMH2QdoNONObT7nKNYtW6yXI+IV8lOu0ntpU
Jg+x0MPJMeqrcsjYdK0v+F4MxX2GfDhCVvGHYQzuzR5SiNhB6UxEuQAViYJ17ofbjomuCuLF2nqD
Fs2T0f5/NH5A2EZHBNhIuHYgdUMwfb3KIYdDF2tZdpkaT5etG7yajS07bNKHfx68Ca9so3dOC+gT
GVQJdlXcPxJ/HfpcBT6eh6ZufAZAL7uFKtP4bYuy4Ep3950di92zKwTuK/tHdzc1KGKJtOjMJSKq
4VEHWcQGlBA3BCvYRek1YtG7z0PnEekZtMYwknq9lN06NEnaoAE5LasEL9nL710yih/Ot+p+7Ndr
sPD3lhK9ZCiTRWDkgOr2+nksXWHL7dkEAMtpqpRZEI07AD9NZL1r8P4/Ro1I73a5wz23B50Omtev
H9ZNo1BDTvMLRMzjwzIy79OYdTBfnaQ9dPE8l8SLetyyqV2rALqftEibOPiCpmx0BTb153HBq+wT
v12ZCeOXNxdDwpBjYw6SI1xB3hbko/bLZONgrR1bhnMS2OiZEEn5AZoJ0/e/X0pvdY73NBekLqDw
YRABjGn0JoqFc0ZD2M7ml8GFPii206SKLc3Vd+WzdSgMGdczyUddew33dBHzFE6Ccb6QobJkzb5M
8Pp5SL3s2jnGNfXm9oLCGpJhlCb72cLM6m09RKUQPZ89aFIGIQBCPO77qER7bFnKtqdjVCRj4w/V
am36YY5R6BfLbA2mhxq2eFCV2uapir1cf4axcBzVugUOoMwjjboqGng8V0kAGagGeh5x7SBNFZXG
EBjyQo7KVOCdWPe8z3lOgRg8r9zipotsCVXS0Cxl1+UQrilHEg6BLg1EpKguNjcGnStXtbLmvnP+
1H/BtGtev1M/lOwwJcgRTuCvdK0qRJfEzbOnw3kJi2aMUgN5mMGzFC482Txv/6x8X+RTYtfNS6C7
Om7bJ0Jmyu4M3J/1oYX9s/8VrQVuHwTjEztHgnj5S7y1aXZqfIshYqEQAoK1yOXaqCMHNxDmU6Gj
+Xgj5mGFSHVHE3pOfEHgH7NmTfAYZxKI117oVZQtoyZxRQxeloBioI8Vcn3v/tHMt4MuAuI6cbZz
CO5WbrOZHRXd5HhrM7GSh5ZC0P8CT2XCjiFRQwaZ6BDqWwWozuNJitwfzhMYp+YzoBlmLKdgmJs6
zG1CIOY32/7EMrR66wgGGLaA2kMcH7xZNVkNa4VgLDH+oRIOLTRUHzYdhO4XBITC6M7bYtg3gwY8
wF0rj+0433sG1LpizTCPfNRJ0rpfsTf37JDBsqS9WzR8Ew6m9/zlQ0qnwR37BPrMFaj8O5sqGEEi
uADdtlJzBvzV5eU8DCZ7gSMjN/9grG0CKK4nqAxvhgQKwD9hkDBxUW3LZllcb+Bbk5JLmMOqIoic
HIYiayfajkUayUiHpcGMbVdI5uBsfQ41ZO3g0Nx4C7/LByuaCr5hC1uKIeLU66BUBGWrW5dMGK95
3CzbKQRpCP/MDYwLVmIilLTsrnFLOt8xDxQ0GJomNhqCiskpcCeDeRYsmGfgQb17Gu0D9zJfwG5v
SyQLTH4Bk0yONwFEdrwD2uVaDnU+eCs5prYLIdovIsg4Q4eb5NmyFYGVW7uBI+yArKvGGYd0LCbV
iORmylOQiR2GJPwMAXyVPwaCRV1SBhoGuvdrQ6n6RRvXsxLaHp0K6jYZtVIlrLEB+iG5THqoLTce
LqZ827DEJeYSLQSXA95iXlfp2AVTHXfOuHrygEgtjPby9LsHNaIdnxjwu3m1HS+aoF/yYqcbjc+9
8oyuFyGge5OjzkWDe5xF/4yeTOZBPr1ZxMFJDPfCMgrbJLxPMeJ0VbMqEt7qOJHx2WYpSqlq4ACQ
HEPbjPJbM2JIcDONSeaetmGVpi09q3RQdJvr6S/BZg1Yjx80LEc+20nf+WXo+Yk6gn4/AfXkpRzu
Nc45v8FdlWkqTp0vU30GNawb7oyvQvuoYqvUBrQrbfKLmWnsipF3KfnV8xDW4YXfbWtXsCj3djjq
mvrNr4aMnv0eCS7mZyh/GnEzQ9aw/0gZhZ4LqDgUWlvoOhH03SH/VcjckfyxmX3t37RgVLpL5yUq
DM8tt2kjCsUxPKhCukBh4zDGCfASEC8ek29tJD36k+l1joEQwuiybkPd6WMvhC8PoV5DeoOPO4uf
AlIT8x28dj3rFwnpfZwFaCC12w9Np94dQA3LuqEIdLyuJ7pBkAJhJluCn+jv+5QWEHv07UevmfGP
oow1/WkOLfTtenTr6INQUq/3QSu99ewLNZpnbJA0KaPNSF0mM1HiuCaBkac2XP32ZBcRDDfdNJv1
h+Vp2rnLvFCMnpJ1CLrzsvANPraWiRWXlPAwEArpzILvKwAM6txlctIHs/iN+T4JBJQyAxgJ2qoJ
z3YJzIjOu1D1JjKlnl3OCWR+G0nA3PBpS/xvoIWK+GZqrbXLYTAQm3qBBhTkH7YMQSE4IOyM+piL
JBcKZlvgQ9YtCBdLWgrXdbzsmm0TJ8RAKT9BGIOrFyDlfMvrREPV+Jux2D4IFkZNKYoc4JfEQwg7
e3vuM0DQ7tOkRW8T9HtIiGPua6a8hJRows+jr5l3xrPT5MltdmOfW4pTffZRoZqT8EIGiHkcc8uK
geTsdl2SZkFlqrLhe5x4yXbRmIPsgrlLb+NnTAD64cUOYktCuMnizJzGGFAFjqDZq+DYy9jqrbDo
aSdHDcjP8hE9ZsIrZOwcvclZxCIRBWBqqFZyCaDgo0Vfe6qnLgPwoBjjkWfwHeUMZkkCWfSd7OAL
Xvdr5kVLAcQyZdUIyrVXTl6WKF0sBmlooSEswk+t1TOChQR8t8S3DSHBMTKSnCicRFyxO6Hkl3zy
eVv3UB1rv8YJz+1NlJiZbLWJxnS7AfA9y79qtXrsI13zUEP8VOk5Os1z2uSFUQsYRcUgExHKysc5
hXU7fCI+ax+I4VvtSOMdVzcx1tZADLNUQCcyYe57rzYx/Faz9PGGHJ3u/BG2MNI9864lfVcKVMyu
tGSE81tpyIJvCg+z3Dy4JY/sAT4kmC79iDy3SlIiTprmqYFswQE2KHIBvEyZ9jiBlxjeU2ZbfsHs
DATXCpyPBjo9wb4iAxCUv3ArTaZe+DhU0DUAKdOGDrrRk3ODfOykh09lNzgXloDX+HHhiTz+PbQ9
e0rnuV0RuWGHdKP1qpCfUaMvvbHNT8kUpvAeXPNkbdvUEyW8iOOvcZdl7F6IKeuPg8rm6ainHgm4
Dw0M8Jyh4XMAsRO2flo0IfqhMGDN8a46mO63uYlTPA1w56PlqgkKsS7rL5ZpaDtnGWXf5qihz3Nk
fcAaaboGBzbq4SmKaBM/mMFtXQ0QiIaqTr/4PD+C7EL6g7ap1LemH2d6CjwN5KZkCKM34zBtTyaK
GvMoZeblX5upD1gBznDykaCB7H30oCW5/ZQjzDECHqxRibSvebQuxuc00RoHF98f9a8eBLi+HIgg
T2rh0SMMkB0p8inM5QUagn1ldyLQ2ec+lDlEapauGoMlQSYMZUykdjCINKWlNuBH3LY0PolQGQJT
2Eg9CUwBGIIClumfmRM5l2kAddkqSxpNK05E+9Ss2JBlkHrjE+NS/OqzbGmOYa65/ebGNBp+WQeV
z9KmfYLd3IrANxXkP+HY026YXH5DgqnzD14v+fa8hFCYA3KXmvHkIJsDqczR68Zb5EkCnWzVI5mZ
Ecwl8vVGph8Q3ph/s2E4Sao8s0QXkPPN/APDdnVjEdEu/d0Au4XiLEd5eKTAroij7JAtl5vlTQ9M
wEr0YzhjhHirA7FtL8TD2KoQXG9TDfsJmp96jqEBkihH6bHTCY3iSo5hgu0TRyatF9KmMM6yMOjJ
A1yDt+uqfXYMCPUShvQuT3ih19j/OPSD+afzp3GtYrzJpz7y8qVGCCNhkWTrah9cY4McVRRBmgDX
dWdzVjmIG4gyHqTsq96u0LfHeHlsq04G8J32MpqKEwe/PP+K8DnGdYco5R0xTDOuKZzvz161cRDC
MKvOxunYR5lq7tu5j+iXPp3Tqd6Er6JjtxGfl7aN4/kA1Rq23Sk7a0yUxKT4d3RN9FB7aY8QRyNc
Z19l53h43jGADCSFzeQnGm0R/xKRNTnCvXkG9GeMrB6LsTd9W+dbwrZHVBbpVkVLn3WAasrAnUMB
4iiqRUgm983F51lHcayjLr3BDQKoaxHP2ZyUXS/1gQLKv1bJlo8CKxoumH2HZmwq+OlsaQmqXSuP
DkStpSAZ7ccvfPaj9TD6kXBVqo22VZ/xBm43sJ3xzwbOcUkdDjP0OzvRg44Y9TG1n9w2pz5c7QZu
y4lDCdzHEUKKRU+oq6xZPjl0UQGkAEI73wDtVcEy6sLrEjqwS9yYNJCP3hoh1G4l3BKDEI35BPOI
Yc38m3QZAlI1UqrMoCRuaYoEFrTzW+nWAHpcuIqg/keM+IctfSRBGAytvUtGyNHfo3aeyI8WX3Ss
NLT+sd/WYEENRwkepfIJMNPA6OTJNkCfVp3WKIIM5LdeMoDkcfZmL3qxJGLmHMhmwLAmbLfoHFC9
zDcihB192Wa2nwrmq/wJiofxZ9h+228xclm/MHKFqOSkrcjATQnsUOMUR3PZJ5Zm3+EZ53elpzFz
ASN1cNASF310jtxAPoyot9AoUUEuz3byYBEmgylKCgiH2KwSM1dLwYwHudEmy81YecaarOSCrw+6
DwATCloDZMPQNeFy6TmxuA9AESs69Ce7ygbR3BZ8N/Y9GdbTqGy5IC/oeOTswFm2RCUdxSRLCWkd
UXdOAMMVZW1KYFrbt1MxZWNiYec3Isy5ETxZpSY/KUi4ZL/zVdGvUws58SIlbfLbn3P6I3GpG8ut
gxRVlM8iwJ8aexd7OzLBH+I1Rc6Rd14tckKHIhQ0ftkwEP7dmnVcyxYuHbZM8nX81sPFvS0FwzVQ
ATTOUf2IbmrOrvM1vF85EMRhNLAYiE90VKqFMGT78IYnQRFBa+FHbLxNFj2GzKaQULj4lMwoTgoW
mqSrTT+kHhBy6dCXG9ij4NxuuheV5y3Kw12a6g/TNs552aCLceutEL8r1lEHqpbEUiijI8n0ikjZ
Xeib2EaXPJxHVoxOT0HJUJy05cbnPC2gr9g+TMa3c5FAiNAdV9QgD0nf7pDzJjbrAeR62FYjL1hu
4XYF9q0h2r2ACIy6b2ukQ3dAGghcU8iEfNJhx3m5paT/ifKMgyXszXY+mf3s3a5w2AjKQDIGO7Q1
B5M4typ4zCLXQx7Bz9dHj5BeV8xaGKxPgEvdblCjuQNtYkCxigsSooVUid+h6hK/bmAPJSCt5PHj
MuKOroCW6lSZQvsfwdJAXbUYKMriwjM5Jqcun6CpqpI5/O0x2CyXgYKMSoldNszlCo3XjwRvFtTA
etG2XnxrXNUyC0m9Hk2LtOiZHj+JKTRbkRmB6NAqJPQVTVjwc4x8s1aaB0FXdWg84l1olyA0A0j1
qCMDt6wp8drvPFymHrTe3vcKFLRAu8d62CpklAs9OBQnd4BaoQsKedsYBZ0B46GGeFWyQqW1B2Uk
S5fky8ZRZC8ZNRR1b7I8Y04+xUUUuyjE7ewiA608H/jKrQM0sDEKUmW5WvCBO5Uhwclci5ogiDrd
YI33DC6Eg0Bb8SX5lXo7RXUMLSvDPpVw6LA4N37w3Lcq2yvb+IdgXfDN9NlW5bOFrI7fTN29XtFs
wW3SZJ8ktTM7zFGCgNsC8SMLCdwNeiDcRS8QKw0GUCligbIcvYMTjtkU4aKUwVioTZmo6CJJ0moK
naX4v7exhjiTAMs/glJdAeBSu1WBo3zA6iBMFMoEQQMe3EjA6Z1sghw0hePEDqhPtqKR/QoeKg1W
WaSiCykEBPk4VsGU+fcJU4uP4OxDHBKQ6TwsadLlv0jEGbhsuPheWNjGrEiaFJqL6bzyD8h/FshV
R3D3LGwCT+IiRDawfQB4sQFAwOK1JE6uLKMlGqAiulgPSY8QcitTNhjykDRA9GJFgvAAdj86XMHo
x00Vs4n9QMYQgnkjtfdr46qPazPMydOEoDyWXLcC9bWftb/9buFLjfaT/TaGXPNq1KjaiqUFM610
8D5RTwAu0/GhTRej7rkfyZt0TdgT6+ZMF7wNujuNID0dXAaY782wSLzkpNOAY7qgG1HTaWxgs7kt
XdkZMcRI7iNMHgny+FOPZmJaQnAdPDwQwpOmwN5yvBzRkGgPgLMN/EDQd7IH9A9RtHAYrxbw8XSI
63xt2pJALnopaQwOb43kYu4uA/rMrPYxUck/+atr0NdMtgGFImSY7eaxrJbQu0TNL5axr0Ptdx8S
5hH/HOLEbCWIsZP+OXg+kNF8mIm+DSRa/OdGg4NwapiDSWiOXEBUsLydn0TkOrRdoNIEkMUUSnSF
USUvpbQqRY0uQnJnMU0PCjNB4wFY6yQOj9QoeEHYVbf4J0tK6Bm5iPHLbPScKfwIChklBqaYNQUT
zJNOwkAhrsxYDJ7O0hL8ddDbKuA2tNnxzvPctFQrITjBISyu/JPfAQTIZpH0R0ihdx3GIMAclaA8
+nmJinxlBQbsrTqOUk8ov/J5i1/SuEvXQ6rQDyqHRXdjgXbosvwUzMQYKHioPcuOZulYTVkMDc3C
ZRPLsAF8Huzt4H+TJu0+OdQ0/YfMhdsz4GtMlEIkeNS0wAbjru3QXT9OVHtPCzq8YSHncWaYQK08
5eXqvABkLN4kv0koEOAmqL+MhWQ5SuAJTtc494D2ePWGqsiULlThWeSLlMcJsItnCszlWK4UdG4Z
xtwdmljPz3Of90thsdO6akC9N0J7BAOdGpEeLcOIqzatSTqmDyP8XnCA223xD30y4LbDdS/qNGde
X2K0YD+G0stefOpl3U1GnQ4eQylH5Dchkrca7GQ1F4gqMrrbu7YSBoDWuXMKQNZHBs6GqjbVAjLa
jziUh8CtkBvHkdZbmbeofc8goTSP0l+orLWIg4+IuTmtmtGfXtSmY1m4XbblwuAASmp0V1H65FsU
fRzQLWWFgEPwjz6FYwb8a3AJgECtBdoRjOKPVLRhVOqEyDP8Fp0uKRn1b3x77x+t80kUPfKB39C7
RHEz8c4NhT8Tg1mEpGzXjcIM4ZB3A+3qpV9zWnfTxrNySNXwk0dOqFpA8QTx19n1ni9x9IPshU+h
HMqHI4qBkWJQPPCbKUOtXdmsDZtqE6v+ykaefE8wD/zdBIx/p7kHRcCm8eag8B0JTY3ggqyqUyOa
YWqEIMttD8elGhaBilc9+gH4zajqChH39mFY1TyWS2fjD/i2qcVhJtMzkSnvoXjS7sq27Ro/jyh2
gjITThOkr0mqS7zbyA+0n1b0DVWG8NVApGMqOHGtqTVu6Lv9VH6GAFYzlxnYZmPdYJThDgkaPU/S
pLtKQrx9nuEiZCrWj06ebGj0E3AsU1uReXGPUiHC1dnEtbswNIVtjTILn4tBwCEvx9XDKCiEPx7F
sq+kKxMoIczl0shoKwVaJFM9w8tnKXINJFkRm6FFqQaBYqxzOyWsdAtx96Pe4V4jcl+Dj9rlEq0C
xdIqnWVWdcMK0Z0EAowH9BJCeiC+Mj8DxPSkpnak5xUyYX01GQxHMJhT0MTZmhbdj47w9qDJhBWc
oFvLCy5Z+6R5gp469u70wgNjkCttydaXI0QeRbFoPj06yaSsoOndfcao3Wclptzun2ZFYVTRYZjj
UvQsezJcyvQonWy+5dwbbjZvXvQtTUh7ZnGrEqT3wfa5i7clLDsgKwxGS8tkK/CK4L69sLY7906m
+SFrINBcxpgceajslvYGvZZtKWKMbm8kAUa8CGc3b+Xqq/YCFFI/l0MSNqLqEWhuUA1LKA6kc7RU
o4LnSzlbAE5KOYt277rl3AeHAH1NtFBXjlFuT3eTEOnoZwWhJlnHmDshH0Mm1lU99ZYn5NN8LdYI
fpbF1vYhCN+gnP+OmgwU4T7k7g4/3LV3cey1283/cXRey3HjWBh+IlQxh1s2OygHW5LlG5bskcEI
JhAE+fT79d5MbdWsPa0WCZzzx2ozrPpeF8qvhBwmkU0GEPpwreV9oLC65uymMvtz2BIQ9KSyFJ/V
Y7v82qdNFNnWJWNxWMAmtpPEPPfuWDyeDqzcZ1FG4i2QTvFFb8CcMPc0YNXbnmLUBX5tMhzCvXM7
+bKnhtItwzufmdQc/GBTb/ski3+WE3jLWKKbpwAfqZ+B+/dLZgladQ/SccVnbQUZ503KCnhARr3X
R0E7Gvye31sv6wqVtIduEVeBXuMBPzVDSsaRiXgQ89XgIjwGeq8Y9bYhjLJoGUjn6VMZVzkW8mXO
Ez+BTGQ15v2w9bTCjIhQdRmWp9Hk6xSyCzhTufm34TIK92CWGYRoCIx6jmnRwnFrNd1exIh1/9U2
VWiSis7+is2wytMWpsLk4EWmuBFyUt6jQDzanmQE2Mt1XcX3BGOvHhBOV/1yFzIMGXy9vgMtYE+k
X2HczMkNWhdrV+RwUw7G5d2Ix21k7txs9eEPPH6nuCz1mPW7Kr+TMdkJE3d1xV8r4zLIBXQpf77z
1uRSsdEkpyUsQdCsW/nnNCjb8ixayIXzNKjBPGrcpHHmqRUQEN7DsCdPTLJHnENjcmCarSv2N87o
E7qvYr0Url5G5hDP/VnbuNzPYNcMsnNXrk0ek11jnyoMwbw5bQdse33QX3E6TSTXt+vkcknQKN7y
wlP7BhKY7uuayShah3OlZ+/YlcGoT/2wUCq+LcnQZCAIqXOJgjb84Ezl4aQkouHpa1e5ZX60hIIL
nqEEW/q03Q3NpEEoV6G3TIBYVZmG5QOnl7WtSRHUSXpYnagaD15dMj+mLMttVqiU0L0eZPrD420t
cjt5NE/0dqHKi0ePf47SbW67ek5/7L3gdUbyBvpo1H41cAW2/tqgcJhqFLKFYyk3z73U7rTtTHVh
8eV3KaG0vm2XPXdiUd7GpO986LJExewmE3sC6pK0PdbRqgfGeiQX6NwcArgbYypxgFkI3zHn1uZA
fEGz58viBb/UKC3hNqOfPBDQyODuuOt0D3/RyzOkodvdJnFYNA+i22b5E5fZKC6ITbjy3T0wEP+D
u32m1TLCiXVELtyFY1XrD56I2cumUBOcUTM5gM0X3lrTdB8ZCD+/8+tjVQ4xx31cmeQk1wKSS4T+
azoVpXe0Vgn+301UOURDy54B3cGN+nAV2G2PKwBM985rWHZNVqSrtz20yq27Hyt3/nshvW77QXwg
XzmRWEl3hOHt/wSTP3cnPhYVnVQUFP7TrHH0fTbW1eNDgax7Oa9eOR8Tw3R/6VXHlTjsRKVkwRRE
v23va2KkO166S0/iun9x1kE5PwLkC3u+bV0wH+ckmjiUyY3ZOAb1/uJUXbdRGGjgjbLdncrwrACu
3GxUEDr32wDykAWMrJrqJcs/G5DvnaWc2KfwxoNRj3+1MYIUHEupsc+D1fxC7Zh4Gry0Dvsf9VyK
7rAbf6zvqD5L/dNA40L6vJvIiJOOejMcSVHs+rsyocou8z0o1Eu4K8dANfuVPvQqWPv7smpxvV6/
pPVOpXsY/VyJqrePLk+YZJaBzAt/7OFMecYR6eM01segYjFmmKRn6aGxw/ZXbR33luHauUyJV7yv
4E5Yj4yFC/PbJYmzcZkmkxeNnP4sBtrvCDfW/N4RCJVH+tTaNDfRpvAb67J9NGG0dTdSLMsBOMgc
Rqd8YaGeONOaJ+6b9yJKikMaTdOfdl2mG0608BfVvQEbJR2cv3c8d+LRXQOW3RkHAG9M8kVV6/Ae
r+FHQ0oH0WPt8CZNUmU8ImPmdwsHVx40vTpXk2zfXW2D6OQMrQYqKO3vOLBpyl3VFst/re82j5FD
SzrqjT5asmAcd3G7pFXSH9DlgIXW00RwjTZh+r0vGqoCN3l1kWOY0mhoAa6KQsZ/Rz+QwYnbPw1e
+3gbvFPJtGbzrpYN0YtOE2WhqSLvQjfYfoY09+/Au8D1gr579ZCinsA3EpWJqjR/A4908xlpBOdN
UOvjlAy1Oa2q1/bkV6m3P9UduUFlSETIEcZfHZ2wJJIN+1iYJ2wlEDlxHX7VqgQGSJbr8SLlVvyB
xh6+knp7QmieqryJKYrIlilVXJ4e9rpsFgqFmRi9+DhJDTg60zu+5PuqzZl+42A6RNrpNBWx3FFZ
SWeqk/PopH3G6Tq1DJKsFtruxuG1DVgWKJxYXkyxzjdzhcOXpSltfjMgdI8oXR1WsGgKLxPPpM82
tvhoMwfZJKe2rcp/pHVFQN1sc58+eUou61my/e0lboXDWgzVd1zySwnDvdQv+E3jDPlcU0K+Leqx
Dm3cnmjSmvxf45ao73WwDWCzo0GmY11uHyTnStaD/QoAha4j7psundJfGwog/7H2lflV7tOiQBo7
Ky5Fu7Q1wpwpXTlWUK9keyjWOO9GwdufaA++cEJNfPaLPS5OoxNX08Mo2jWC7ivD7zLpnf+QxMo5
w43vOK8bUxH2Hb9a6x9b62Cd7BKTfFOHyJtT2Lo5KmXn8hyuMczrxBB2j6SquUVj5ZJ3IlFzBPyu
BDyGnY86bPrhlUeQBXDobOOeHO3M66GK6nE6rgy/Y44pqdffeigXgxbH47IRnP/uxcXHBKQ5ArLl
PmyJud8mO7r858YU+TgXtDxXdUJVO1uLLpnRVTifSjeU6wGBkErVoUUC0uRF7NKp0KaWEX7aIz5V
VLD9tTGys9OSbgG7NjvHcDVVz3O+l80gDm7tDh9Ri4gmW6tgIV9k3OskM4ssEDekPuioT9BFynAT
cBkkooznbELrjxhsjZrqVk5uajM7DOG30EbNj5swDHfBTkokUhR6gBpiSf9SDab7wxxMVtM+JpHP
rAmi1XxTuhVZsdXDctvu++adrpsB4JfDUxStIO4Zt25QHPXG7ZWlNqZ4Tg77eIR2QPmR6jpFchQs
FYOjAEi5diyheKlRF7FIbyNUxkAB6nQb9eUeXWI8fzrX4SS3m1Y2QXms+GHCk7FBYiB9QlVmkarD
h9LW7ctQ2umDhaZg4RaOepWFG95w12gnT/dlZBPd1RWqX1pxM3W77DKc1n19LKpJvW7QuH9qu6WP
weAPK3PMVP3TjJQAzjCw/UEuEPoA3bvxLvHmM3shb3uqnc18O6JqTGYRz/lZN6bdXd3X+mYEaCSB
Ba7rOpm6lDR3rffN0t4hPPS97mcfd02dT6ML9dbMsnWzJpJOfHATbT/bsrM33Pf7HQWfDtxmUMo2
53R6kbvD/4I6WbFUCzfJ26TdiGFeS774uHCQs0Vuv4YZ9MeWHnUSTLde3a7vASnx4aEvit4eq3Vr
by3MXH9L4mgbkMgtlhBT41g/e3JtzJ2hLvFfpZBRZrjyyab1IMB8yo3d6X3z+ug04/JBTeCRrHlS
TNTXoKuqZjUR4xwDmTRFm+k9ZRj3bDW8hUndfXMeIgBpZFs+O4lTHq9X/Z4ni58U3wmSwFOSFBCt
tRu2qEXGYnovSMGAjGUwTs5hWoRt3nSKs4CbnJBCr0RAxEvTBlxoduOOsMG0LtQ24I5FjCHXk0Gz
f5/ulvsFtLqdD6Qd79URiQe0seiNbl+b2lWfQQdCcVgDt/P/n7nW3se97GC1vGUYtrwqvRISDX3l
Ee5Ht+eZnxPJqQ7DLgNtUgr+nsf4GE5lNeRtNAbwC37N0mB3UrDPI2uEetTp4qw3BWARJCnlqeO4
1a8zdHlz1KWs2x9t0eBnqvm4zA4dPyLlRBAglJA6wUVXhW74RZB2eUsXTa8P4d4E4IsClcL9LFmV
cu4/6Z53YufYtsNVIFnolAfeF4nWuTSI7tn9NxJrDtojLifTdauWvI21/s82jSz40AmFoMD8yHUX
lp8/UdyXXg5FHJYHlIS+c2idIv4KQ0sYg4W4zq0cMdv3TVqeYorI79tgnf7yrYpvZ9iG4TiyhDoX
X8Ux1BkSStipQjKExrU3LSgM637+g8SajR0BufdAr/v+c+Z16g9VIczdxixuj66qnT/kmq/3G3lb
5XkVTvK6YjYJMq9tl+kSLTvTbNjpxjvwotQtpl3SCg9+ZwjG0qhIQbLGomdQ6IlpYkEo4vc93IBt
tGf89BIMxVA8z20gq5sNQUd0iAOzdqRWxf5CfWAVeqdKDA4XwEKbaD7u5OrCmrepc96iCI5vctv5
cScuaDw0bjH3PKGo88OscOIVumBKU3MOCmuLy+pNKJ50TQF1OCQMJE2d1P4NSxBWtoW3PTxwVq4C
Izvw32lva/+R3FAEIq43VG7uzDvgKmDsEmcytM7ALK5s+VFWVSJ+7yxQ8twDirUHntDeuFSvDWq9
4YIMTY5GFTzPIj2Kc0pnUWQHZFPFpyUG8zysaxitl5W8n+4QNd7OlY1KTvJMD1wnfdQ5Xymi1u86
1F7LRyjm8OyyhMTXP8ndXG+8jj/gUuvlMIki4U+OkpMaoY3zWsloRaCMBarOAgG3YuO5+1UXaMse
iM2V5clflf1oGj1Vh7WqI/8UsJtB09BJvJyXZbIcAWncuDez4L4+NxWJu/d02A3ixP4V0ywLnRWf
mbFAMWtAPOeCh0WIfFzNdOfrhVIHVXAOJEnD1yvE+J9po2g5J5UuAiaQqtk5cEQw3UeWX96hGyvz
ojvUnOBC4eRn6XSV2QtoXXUKi72WT3vr6zSPFj9YThF3RPzPi4f4HUtsYU8WDjO+rdNk/uPzXoN/
dB6I3BBRjpU5ALbk5HUStco+qe7A8DQ9uINT39XuHJwaYdaHdChdwgW4Eh57mgzekEhSc7+3WBoQ
BSaz/7AgfVjZm33/ZYiDXR6mkezSW0pYg5/hNKZPXTBuTQ7X39HZaEL1AxOg391J5B8GbLl04MeS
QlyWdARWiWzvOccYypGdJqjft0Xq/a2r+6i57PzEj1hCG4LcIgQxZ9F4wz1+IKQuo8EhcdWJ1CPX
Nk5dLvVIRjkqz1VmwaoDZt09ZDGO/Rm7uQiI5kCZGHQwSWmhQdGIQj0Qiir/kRCZbucYz9GW1+k+
/UUVixa4BNvWUBvBflrxYh/dqixuicPVw9H4tnrb5ohn7cpmvm6bZG+HVL3Kx2WpnYM2VfVpBbBv
FnEPI3QtfrfdHN9DVNsXpCjbf3iiYnwGwNwgNIhcSS8pm66/N1WA7kWtJjguVVi/L4MLDLNyE+YO
otstG2B2XtHJLH+tQTnJYlDHz350LcpWJRFlV0x/uFukTW7nsk9/9lDGjzTDtN9zurBNzUSn3NZj
Ez5XnjFP/eQuv5zBTxk6UrM+jXw4gP4hbD/qkaF+1+FiMz1MwXe386Yi2yLrrZFhd9eNu8PchQ0v
D1LHPoydA5XIXdKFMa2y095F+193AXgfzFWcr8Pul07Yfra6Za5pobw8GTmHMQns8QocH6slGk+N
VcN5d2P1PdjWv9FFGN3Mi6PeZnd272QwC2jUgJUoVEOZpz1UXzh7DwgolyN79PqC9PS/UhnJ98GH
UTXJRKJ1mSxIZkLJ0hX7pS3TL/x3RHzUV/5pGM9OPOgndHDR2/WFPjcelJ6wfOx1D6qL8qU+Jyq5
lwMAuBdsQUaULwRzOLafCHnTR7jfU5q2L6pNPOhN7tpDnwan2mzznSTrQTnLbxQK392yIkVQ212P
RDHj31I76kf2fh7m/mcxEZx5qAaUOOtbNQjWK9I+l4NOBtPnKOWit+TagXUM49k/KHbNh7CMYjTi
g57+i6Ldi06N28YP+9yON+sczRLodxpRwic94pHKPOJb5+kGM0DtnahlPu296ZdjWTcbYTaDGx+i
pAl/aW8XLzsG0PcpwRRS9nJ66oWS/63oxRmtSHH4irrA+VhYKH6LSQQ/lejcJ9js/tmZ2+52lGKd
c6ds/JPkrrh3e9MdU4DoO1h9puRl87p/PTJLhDa9LbMkGKLjgnII/t1LHzcdXpVGRh/BWdvfboM2
KmtTt75t4YvPCRppCDPS1t8jtSVfmlv/1oMu/Zd2KI7iRxeeZETLv4BZM+eMJ5QS9oHUSvUmXc0U
n4zjHVAZtvVO7sMPr9DOV4jz5MgYAHlrRvC6dPc+xRQgFd0b77jMU/CW8K5cmtVU0BkGILNqfkju
7Wc39vmrxBR7f6r0arqwoUTvF263nLkt7KGnZqTuaeWeINfi91Tu3T0jMhW+nF3xs9sE7QeXcwx1
V3i3jiD0ExHEVvR00lXO2a5Je+colNkIh4SCXnE7+8cPRPliI3w5bVWLx1g19nWvJ89m/jx6JzN4
1W9hCv+zWqfRYriYthuGNWGwjgTFD7IDuk9LnA+iYTeovqey8Pn7ZVEBjYzG+w0goF8xJA2oVbaI
Z872LX9PDUH+jAKcEgFmbJneuF0gwCJTDEwcI4TWbInENmBW3jfZ448ZVFcd1370HxBTDncaeeSd
h4Aj07Hanyy5YeUBeZ4r8nBVCCGTkqOuZY88AhX2z+nQbDD6IIhvhZyrlwbSG2mpIyxws+zl72Ur
1ILfCgmR3kX/X7nMMp+RxiVZpMOUpSGsaKVw63IbUQwG4UPKGPk4CI0tKcL/9RdeBQWiHyT7W69S
PP0pDi+MY9HViXWLLHQ2X85uIcKzZffK8cIk4gYvvnYq75YVDHhoT4VYvvtuXJ0MYM1598txjtCK
Y2P/LAwK+EszyrX7O5WDqp84unz/vmm3zmHLS4rpyLKyh4dkEc1P5I9hiyKlUW53RFxC8/I4t8PO
BqUil/ihfZhkebC7asKen2htvFs8Hs12w4KhUe9dqzgx+tg+WbkOgh4dPSum6JLXadxa/SaiEpHd
Adq+2k9VPBbxs6b03HuQHYroYxjK5AYjzP4fmdhVdyi3bikvJQtA/6w6JoUTYiBrnVM5uV2yP/Yi
GuPhNLNc1PI8xwB0VZaMZjA48NJhq36MI2Jcw2Wn9+RTwTdE7EVw7xga/GHbMCmEyJTnsz8h4qgw
ze0Uh/YbVMMRXWyCakHvxYhJWKCccO7bHtEiRXMwMCyzvVN784CkGy5pPFiUdVbm/hqV7qOCWEou
Xjfrgm8S7mb8y5nmgZ2u++gafeMVNHR8dPNuxBnlWaWXLDFId33m9WKhJctJ5mSbaR5jRXZOcVKt
8uciYu7hZCFl8hEVzLQAYcy+09AFimPgLXLbRd0YjHUxHAhj9m2AQiBlg7XregikVxB33qLDPFaI
/Jr7Moh1kfNzV7MDaeYl9he/ixLVfbTarwV/rfNzmzgYf8+x01nWAaqyWXPkLDvnkzxsj6CZnUG1
eYkW7U6PAwSud4NzuvfOBGZMCOODCS6GZ6AZ8EHZtqseowEKDw3k7PjHAKYmPrd9ofS/KFLNDDGD
4PgHJoZCffT+4kI7r54HIOLbkfHUVINbPdoO0ys4OZUy3qHCd1ScdxtZSDV2Mm4K3xGaObdDbJrL
hHSjOwehRrFj70j86iQ8v/J/lbqKxQME58avd5rFvD0WMFrJT4ws+AkcVfbE2+59Wj+3KIVjZI/K
Ly6YJ+MiI0x+22+6DT/e05xWcwG5H/usE7vgP1pmfFuJvIhk2SyCJ2fW2suNPyBCBmnsw/qJ9g4O
4D1xkFCoaAjBfGgsm6YnURqgj0yKsZHpQcNThOGZnzCNL64TNyiTcSIv7Q3W9QW2OJ6gzrNo7aUk
yImNOfzltMnifgV1VGAKWTUelSNO4qGA4sT8dI0KKqZ0OfeSoec48BE9N2/1HOizv9Gp6d9wlidM
1Us1gQ0pb/D934MjeEbiuRGeoAE6ZtfOBF6t0ZCVVTCv4qsJ7X1hQGozTjbR5wW/z3hB7XcFPw6+
UAP6CyD4wn2vnd4fn0MUQvVT4Sbw4GOr2+nfEoehumXOjCfcSSVSbfRAQS1vXU2Q+xlyQosvRCbF
9G8a+3C+UR4A7RFVb1nw0MptPC/xsnb3JCuIFHS9ToeLHq0yd0IVRZG7MQLQQ7oGfvAbl2lQH4nN
X9fnGv2SOM0ggHhYFbbrbIsTIDHcxzDWpWIJB/2T434U0hsinlKPlJ3cacrVy9265eE/JSDc8oMZ
UY8KvltY37kN07Fa1hPXiQdhMFVxJe4otjUJxwDVDxDZDanqXBeRQs/OkGPXll1OLdNdEJh0gGSd
dR3kYxyITYOO6M39ISx0A6wSS/iPaMcXgtjW9c2DaDYVn8MWDuhttR0NbRgZ+PdXOhgdgZ3wed2t
yILMVYa81QdKAcfxE3dxvd7I3vVDjjlcrD1JdGGNmSEddH3c+FKW7VKE5Nb+6MceOsHz+6C+64vB
QRfsSwfE/5iAAo9POq7r+vfg1pJ3ld3e29u8j7HGFicGns7Tp6V2+2G4UdiKuunc8pVsw3ukwec/
Hbwq3gYoy3v/3Cfh3EZvXuHjZ85Kyhii3K2WpGKDkmOb3KpBqn+GoyQ9iNbU6SmU2mBYRovv7OfC
+s16TyQ51tedDco8x1vPvV2RQ/MSr8ZlAfKbzh7Wlhgf3ozZ9+Y/PUnrLu7EEFIhOlU9nSFPS9pP
TXcAARX1fRw2IviM957uT0qNFnVSQ0iBQzZwFpcO9nQsdzdjFKTFfRdHLhhES4VecCvwWrdHnwOT
kxYdY3q3Afj3N0gVFgjr0VP9w+gNTXMbc8VC3qyQG32GbGBNeZj21T1FCiT20vqWZkX8MP4kP3zR
yP4CJpkK72LcbfDdt4lG+O1vGft9+aEakrt89Ke1jXQGz7jPqJfoqlKZmZsINVCt0QRZGhnKY2jA
EzzWxnXWt7OfAkwdV9qbhnulXQw2ZCI18XyYyUStXlQCMa2yNrE9ImMowDbbxFSlXxMhgbMEjBdl
VRIWSEb2KZjqYPWOBPRHvnlKwkXtNziqB/UHPwQEBz+FL16GAZTz3k0QT5f5ICT7WbfapXjFqK0p
GFhBKYoMbzCC5t6jC/uO58tvoIh2GUrMoYWw54mJ9b9wj0Z9G+iC8AlhogWGJB7T4cfulOn0qxTI
CALOtSYdbiGAtACChBDrJ9weQcFe0/A9lXmZrNCbzDpjdLAyaZozy/mA7aENu/ZvS3BY+RwRctH9
QyU5lv/89drhSZU8ceQo2hGvbYxolTNi1BpDPJt4Bv1ceLILgV8rI9/xNLT1zYIstX+K0B+UL62L
z+q010Gsbtat1sxAO4lP7Y1fMUvZLMZFiKUz2UMHyhhp3ZdRmkuJaD3NzGPWeejMqR20qPGK63Qz
5zJ0XNnntYEbuGDbhIQvri1td87SROo4dpP7vam2bV6Q5YezQZPKu3fbod+6rT2AUUZz7L+/+iVN
ir+o0pdVZO2CgjofUYHFSR4VQzz8cWxT7NtlkzJe3kNFfoXKSo8gp0ySUkKmCxwOwH1iZBMS3Rsm
7FfWs1Gcj5005jRAtY6f3QS4jhvSce0HEgujMFdw/7g/fSQ13EwiqPopVwFys8fB2xJYrs115Nkh
DAz1SzCsAuzIbYoTtz8HqwEsh51KRgGlaDRs56n16qtQDErUh0B3rHfjenaqzwUD03LpY8b7mhGw
bsTnDrSBkrWqnPQjWHoCGw7AkYW22RIHdfsfI71EqEvcLFtKCP9a3G++jkdSOQBXX6F8Fv9Qo9Vm
4oIzVc8SwdX2LtF8kVEhuK7zPhFR8Jf7ZXTOK54yolWLCgDblAQAVJk/hsV4qtLKGx+xWYrqmOht
CP4rYic28yFwumA91aR11cwk6JUtH1BG0xdgFSXBAUlX9cEVAQhQhtMO7+0Wth66blkJ8gOWBAZD
OEYTJDcrM1A6Xag5vI7LcngTsbGI7MOlqruTnnRc/tMFxxkKUWnb9Sd262Q7c8aTY87CYyUB4wyI
7tUzhpERcSAriecOvvqz7apYnXxoDbPEMhlekEiZLf5Jzv1a3yOuwcVdm6seYIqXqrtU/eKgOaFb
g3QGPTf+9jPQKUZ/qIlouMNGzAol4nqrLUMkvq3fZIlM03kM8Z1ddGrbXvMkD8L+IFICxu40bDNA
zBYaXEVnxdRT5rSoeu52EiuK4nOTSBZcftVreO7CJUI9iXDJ8/GRzbZAEN9vEmPdWnhteM/3vm+P
iy394RRoY9I/eFA5sXIn0ZouFFl528+BtttP1F/B5xC4lltsQExU3ddLCPh3RFZKEkPoLW5553pK
YPjiOa8n9CIazCmnqKjd73U5efMH4+c8fngr9ms6grmq1vvWERg+GcTiKd8WzOLtDc+7mpN8Y6rC
RWtiLlDBCmV08tNp8FYk51E0i0QtWtQ7RVStIiM8GVI7n8Zm3vQPz+/0uiImXUsVQDYMqDVvmhJt
0XyZcYXVmpiifemf3Jg3WwHrzzuP8DARuvADzb0on3fW5e13gyJFfIUky9k/jaSg8abnYK12lKWO
m37xtfbbeZsi9E+YJW0tc6cbtEVeNyas0A6FB/tf8sqwNjGsmcDjTY1TNOGQX2Ul/CzUmoWf53A0
YszIvAhECtuIKpvbmws3Gu93Iovn6Qi8GPcKPcNsIj8PQgtTfQkYxes3uhR6lOSoG0L7X7rLafsL
BODovxB1kfe64FiN/5VLs3rfjh1n02SQoEHrPbQop9f5WDjKqPPoVDPv97ymJk64pOSqw9y1PQkS
hxiRJ26W1tFVe27B94lh8PCwX2DXq+BsjVTJSy+Na+6INB31a6OGJHycRlGo1wlKtf419ki5TuW6
p8OjA/sWZb4Iajp3WO2rrxCwv7gJkUtzj3CLurmhNLs6OGVAFaML5RO87eD90auzMbOSduKr698A
p31vzZb401UyuVHQNXGFQHD2vgm6u0I6e/sRhm2YvuJhw6/Pntx4KncHTuRLWtSRexlBtIJj3HMC
3Wmei/FM2JOPsmdwCA1OSvoo8s3iMb8lucNZr6ECOztISAyD5VDaxsB/RoezB5fIJeKp4kvxl0Wf
pyRFJwPNve44d8Itrm4ND1gU5ZgG4u4GGmr0dnKnA5CcRe6VOHaQNaHmzkU9Nua0dZTIvfowEdMf
8mG6djmsmCVJ499GYYO7YXWVFfkOb/X/Vc1iP0bfW+O7xP27h/WWoc70xffqM44MdElGhT0jm1yr
x3DEakOt9e6XJ9nOMrzoAKiqJHaC3eJ2tjumLnzp/XKVo0YYrx/4rTkbW7HbDUgAVjl6NzivVXBS
u+g0w0e3Y/rvcawlD8xgyn02uOS26Yj93sEfwMm6POh6jNSpHO0SDihHUif6YlQvyRHD9ctKNneR
OkBpU5TJDros4pMFIrQ80YiV7CEIkLLPOVJLSVp3hXHD1PepLSvFcq4a7X8KsKngZWw4sG5KC6Vx
p9D+YgrkzjIkkzSum88qSkqww1qq+naBGa3JKNo5zGheG8G0iYcZy9POH0xfTBlt03km4mr+OSEY
uZ5vvR9H793G+v5NUEIyvC2RajFvFZ6NsdspKNN3DDQOySUR2tl306f+dBorlfafSAQ2tmeGe6f6
uw6OGV4QOgoGOSyJvMaoLTzzIjaSi+HN3HLPkVe23UvSLVfJiju6jP9TsuCQNFG7ijhL+7EYo/uy
bxHTTxIZx2nXtVnOG7Eu1TEg5CIkk2FCb3HfyBjXbxpY2/3og2BIn4Zmh21c9cLPuiZMb25Oiduy
/lpLvt6B2ed/HJ3ZcpzIFkW/iAhISIbXmqs0j5b8QkiWzZRMCQkkX9+r+u3Gjeh2W6qCc/awjuTZ
e6xLdKaLQguv9pKffZJsqyVLgmMWxfpzuJb/6XQmlujI5HvzV2xG6I0XZD4MJnY5KC7M0xwNvI06
mn+/0zgo0OLZ8TpmfoHPUL6v0AhmJjbCshWDfUiCk5xaSnGQbETnfCpYpuMrVtTYvOER44duWjPk
8x3Jg3m9/sFIpu2c0DQRzYiCXXhJY/WDl+usivY2aT1E53T0OQ1CfJUOy9S4Ph32Xoz2nvdmiwnl
jPQ5iFe21TDlmOt5wE5QVnKoyQv7xAZKhK3iPk2C3tlSAB3112KHtTuR026LbVaEAA9ixh2SRUU2
AwDl1oyRMt4saPEYK30SL/ouyH2VvC1dm5DiDbrYDTY8vvKe/UPA5tmgjS2S7kvc858c0yrdFXTe
4re1oVlPtbJIeaztC6/kcpKW7Uh9vO0jh0KZzLxm3bVuquLgPvMEk8e5CnpuNYd9K2z3SObG5PKZ
xcrnVjVXWKPgtUxcfz4vWgGcnvn5DnSBbRIhNJWFfwCK54onVTfF+CQtivfbCCvB+3BjTM9DCphE
3dAdht86uVMbp5swl2kISiHq4vvZjFV9qYqhpRKaFQFXXI65DWaOJ2of0n5JJNfmJGvb64VSvHBR
1qz2slHl+LtNTMcPI/e8yxwnTvFAA65jFdQto8yuoQTSHJ2pwxDeEEak1LcLsxzjH6cuh0tQk7rI
KXVUOmJtpUaQ6nWP44t8GpPZZw9zijDQexhOU/KAqFsXJ542OFAIfo6IP9uOqffD6l4gG/LTI+dP
8RBJjNavF7wZxzIub6itE+UCv4iujAUUufwns3qV54myabAreU/15bbIGgTNiKNL4lmlJJPGbdSU
2fo5gr4ABMdNqJZ8AiHvlI+WHzRm2ic9mVKCgHnpiT1wIFJytTvFw+OKC4XeT0glIXLmGDiXkc0I
l0OiUMVJFONY53dXzI3eK71akksDa1jzUCEKuMXZXOeygkGCEmCzM9PYkkkiqxmaOLuE88Tud9/N
CfUEEvZyNP/YhGlHbnF5rkmrJizV8qJnDwTYgQvsXnPD1m/dv+vQJ73P6T6dC+cggqUyHAgyLT/R
dcVz2NHPTe2T6nK3fgboEofzOVr9oFMXWiZjeU8hpzy0LN/VXwR0FCZsKkJ3I7VT4CHCM6/eHBrW
126c/ywUwnhfZuv8jC4RR0e3bYufPCN/ulkXafwI2dUdnHqz8vjyD45J1l8BX4qfdALRxMUgcGIb
Vkr/pgoWPf9jvPces6ApMDBNnng7aagnUXjqxcMyoFEdlJPm1dmJRXOolc19mpnL8DR51xgHQeUp
+u2hqbaQRWYQMiSFCFLOFJTLFw1hsLnPeQtX3xM9TtdjK0/yCdFJDP78xnM2iv2NG7ahfdeTZcLY
sCp56tAizV1jqMKs90NHH5GG4qqnrae9gcUnmK4bAS4F15rp/5CezXvCSmKhU07Ompj8YeAVDwoj
yoboiReP+61UTuKbko9/mWWUt0fSzSzmEygwwWe0ZaPdmkrQeM/pfKWIPQVWul/bVezw6Jq/k2hg
3kfEol4J6vgEG8Ceio+hjjmroVpyZidpur66lHHje9DOk1rsm2EozW1BcrF/kpxA838RuB2DX1kd
GPGQxogZNw43TfVNQcgAKowKa6F/IWEG8gwPS126oV/Q28MmScjagHU9JmkOOJe/rFOdS5WmIyHU
rA39b5J5jXa3ugQEdyaDE5WH3F/paoWemzj3Q6Em1O7asvFssHjj9T2vZD3fERwCAjH/T4eHq50/
BkRDIUyoMVkvSe2E46fD2zIeGRcRNVFVmpw/g3s3niHiBl9rInKCNYenMPUZn0C+K0+Vi9a6MjuM
RdEgwiZ1tOz5xS1JTSWClAR2XqvqpNrKYK2Ie4FfQyEllps20y8fwTQgbRaj33vV4AQ3jFGhe5OR
vTM3DvWngFxo1VbmVyBl71zchFQ+8rtcBKm3ZJj0SSDiyy8n6cG/cTBBzuexqmiZdklbPRAyXRom
Lj+q9p7UDAzMNTNPlXheQ5guQGMqMu5hwnOq8Pg3s9UQSC7rJej2sWqW8KBQqYMXAfSQ0mBJobXb
kQsZv1ial3kXs4VTIC1n+7I4ZYmCKmYfuFJGNPJe9PPaXksZ4SOnx6dpr+osm/cDlmP5OKdz4u9c
3uj5vVX2Wj6Yy98F/Zz7jCgiDTyPuPM+VNI+9yWZ6lvfAcB1s/CIxNSqtLgoukuMyAwdSOVrREXq
CZGO9iaEJtc/9oKmNEFzFPNH7VfpWfHIo4pkSMU/8O4phk3Mgyw+XeMuwQa8ROfxSYgpigUmDCk0
RcU8PhCWrfw/MzyJjKZowHkfhySr1ZS4pn4gZAwaLe8BEweKMIkGCTg2Ek2sY+rlIMlQajvvudbL
QYLMZd3nyTgHQGi3pXbHCXKF4yTM1633j+epIozUU5qrm0tWEF4NjhTHcrPzUMPW/bDYLEDWFPV3
vFjRDdsl7ttPGJ4Uh4vI1PH1tuHoJHxIUTBoh1Fs7Qgydvl04eii4peeClApx1U2UQi5vc2d9rQu
rrJPQDtoT7FbD/bN5kSKIdE0ZWAf2rby//W+3/6lA+rKYyLj7N5PGTH3ZWGYqtyGHYVVmZWQOPjA
RWVaYMX4IYmtToeMYescZQXE6DF1FMCJtfD5b4OicNWs63CsDinG7zMx+JKyFq3hW5CBLW1xMtre
gb+H/0y1q/nyPFEVp5JfTn1QWks0BYiMdhMxpDgX/uXLoXSitXjp5PJ/hYtx7JK6HIDdgTjA8mVp
5YuLrhRiVsz5H1+F02vEE+6PI4LY3hb9GOn7sXX7N/5GQ/CZ1dVgvmWOBISoPVbNySsm3Z5zpXFG
+7bL0j3+MTyULBnoIXiW8juuSFvtO+gSRM7zojZPggi7PTlI06BLPFVlt3y0mm/OH6vwsOoifTZI
gf6uC5iu9zVBqIlPAVVL5AKZxzvwp0SpMy6KkF7Rg+s2X7YaZbblw81UVLAa9nvB+YXqu2oUECmE
rXRQFKIbKUqxc3GVCaUn5ChpmPVqCk+giDOAG3HJWEh7oOOLZPdcFmu7LU5MX++WCY38t1ME3XIW
PYiQR9fNUnulQnFQleh2pyIgDb3HgLn2BFg3pTvgwG0Senbl3lSFQ+IMDJy8z3AY/6LXOfLHQDL9
0INXlC/4wCQ/Iuzme/xBQLHxOoszXhlv+ax3rXNC5Yx/kJ7UJXEgdNHCCPKO4noUPWXs4uUhHGZg
LPQ9PVjL4IBrgAEcj94qDbYOMAvlaXKz9DMefFqtyIBpXwAbqFYcdt6rndhOuPz9G11RfUwRvS0j
VgVOAyhh596ncHLKc5tIAsWpn63y0id8/fHhvfghc6em3Y4L/soFxXBSTFQdWL6p9Yg1drxodtQ6
xw74gJ3vBWnMaduC/PKIScXRy8w61h00H5h/DvDUK3mgteyoZFHdQ1KldXrMh9g9153qg1skS/qU
Q3XFvLBa5a8Vkg+MP7YFsQW6Gh8tBiPyvlQejW+Hk4V3fRP1Dy4HkdWW81/Nz8wHB0924mh4iIrH
oQgMdocjJTXG7cYrGi9EESH8sauaqOJu8ZQM0YlJAGN0miuXiBn2Ebes5lU/8zQgvLsW+bDsYBet
ZCtxnv3kaMd+vW8i2T2O6RyoY3h1xENMm+gYLt0AoTWhC1DctJzoCvxDwy+qOmGDZCzJ7FrevncG
GelL3CG7eO9e58ix31MmzMkC0Cypf88m9MrbaqCue2Rqq0cOrobpj8Vhu0mNF3fHcS6h2/kUDT5y
cuAYpezM7yEcD1Y/xiduYoS8J5zTAkR4/JoU1Zkjk+ba7LJS8ihElqcCnlWh4CvG7BzcZHAL3f2K
0GW/QJ9g6n/bvm2oTrtpnSsAg13qcgaVGm6cEZLo4xuXfzKqX3HeOt40Uc8jg2gIT/DiyTO2xs70
8sLLyA61ebpYS245y+p3NSTrqR08k30od03BKAqASNOh0LbRNCtI5u7MHAKgGITn+RvhT8k9RF2D
m9QTEzkQu8UzchwHjFDs8X0jda25nkTDtKIczetrJU6/jOajWDy1QAVql2rnAwhL9vj+UHr1LMDl
8Am5uNQv9WniVuV9bIto2UW1nTggk0+m8J45PTJVP0vf9zgIadwB7QEu4/m/CE1x8mAvWI3as9AR
aKmxaZPPHucl2SPJoYIXqhPm1NUjtfA4zcyF4pmM/8QWzMMHz3ib3wKZ0LslISeOm2KWc8GPEmGk
juFDk88ofkQVcmiat6i0+A/9/MAOvzSvCsbcv8HQ96OH3ClwA4L7hZtiaIaq3vXFTIaYRpDNbgOi
n8g55QziQ9Tkc84CiDyck6K26jhXySIPttXKvhSCA6EYqUncXXo4pjkBIZH2x1jXkmZth6y7KVci
tGjB8F4rJEkcjVM35wv5qxiYREZ0vjwQ2GHbjOZFPYVY4t2uGEXVHZZcGAAoquLdmcXJbO6Wruwu
HZ91umXR6hzr7no8zzS9+5T2pRPvS1+a27VfPXLfK9/sG0WSlIZ025tz6VO932XCVAT+bUEMNE09
LNANt746goVjNNwulM7ZoFZH3zZZT2eumRjYXjUI0vwoJhaZTWRlKX/XIw2rTYXg/8MrNnuMBxr3
R6pi5ZMzOwHcg6tZhO6sF02YCQ/e2cDtwJuavUX+jsJrQ4XPCps7rULoKj3N0p31+vxRAyTgn5+m
7NfA8bh5R4/CU7/R2Y2/IQi43kMxGrMt6lFEvhTlDg6XkkTGk0gEhHhHKkUHjwJ2t43t5PwOB2dc
iFZ4rHCmBOFGzX78XuxEQeuKZyCRFHKzjYtxlMnrgl3Z4yrg29JGI9APzydrBbV4/h2irBYPqnQz
Q0XZAWbII7PW42OrtaDkTs+oPOZuyBxrnIn6AYe8GnyEldMiehmoDSwJ4GjqdXVx1K3fmbueSdec
+mrOvqeShzDKqru8Znaa/b2xK/imAveu3yEIMdNAz3b7reICzAlQ+IRan5fmNckKGR5qf57NYS7n
/k+eMGhfl+LxuSkd2dEGdSjXsT/4kHSIzc50h9fglyLUr/ZVZf1qs+QlH+JA8eLfsMnPH0nWRc1O
NY1f7oA8THhdnYiPzdoWFAC74rbOrHobQUwQimya6jfBwkzddLBv3z0BN+cGXJH/hM+v3kHqrLh5
IhsucTwZGuUEcci9rXamPJkuq6/uyafFf3FUs+gcgHmbL+Tr2v4+CWVzNkNHhhRARPJG0RqI+qSo
UZO8Kjt7H9QZlfqiwoLLp6n095gKZk+k0NIH641C0uHoU3fFdKWEeQEXJX/DaartfAjY56dD2Umc
h1TA3z50HChIt0AnkkuVEmTZ0Uus5lM1+eEZIOJ4BFk4UjaY84Sk9sxwck+Xsnb3RWsdWtwdtyso
vxFCF8Rrj4WfcylnJGvH5rfaimdPFbnhARDZ+ualpXDu8haz6oo813QQIQPwBU7BY89j8Yn/6vKR
td2URPcqLFPnGWsK9yhepB4vbtj7w3npM6UPBcFvZ1M6SfJ76VPQE4qJD9juIqhfhcOSuSfakGy/
SYMh8tpXscR0d5ZIflAuL2PeHgOBCbeC0rwbTOSlLZFxS44p9G2Eb7hGTVPvuhSSNpDxbDSfnkhY
NzbpkI9vEzfA0H69Ue/M6ETFs7qGgzdjkzj9Q6W5GXUcFccJz1RAHXscSzcCCzb1BHfWvmKfHQa0
i+1K0I7FkftW+tZMcdP8GSAcPMwjW/dtqkHEEjkll48QE4AF34xDGTa3KPyAxODaTT2pCZeH/2xp
PO7adS2fqiBSf1L+ji9DybJDp58fJKLlNL2CAx01gqNa8X8jC2Qfxjn2QCfJf/tdEyGFZ13V7Ipo
jbtTaMls8VirEu+ioyS6LIP132Vc1PecKwak4xFpe89dAYEriARkUkTM5cUyPsF7oVA+3JGaxDPP
FhKclNCN1+683Gmir3XmOsaFa4NxfiwGdnK2TLThXQevjtKwAwURDAqPm3KkirEVASzXTQT+5g3v
ll9waZuU50I+LeOB6VLFu0pOPiDj1ik/BhnOb2DL0RA7EG/vZCXS6pZTds7wGWYRx/HcKdcHNAvl
3gNclneNj92AU1mUf6ybNbe5Vrr8Owjf1dxkQZZm0I+hm3LUAdOKeRhY5TTZEYdrDtb+Y6YKR3Wl
5vd2Iqpfvo0cSajexnHt72Lc3/orloHsH8lDzf9GKH3lVnmr95tpqmsuMKl1TRZirr476VSP9eBW
BPRCAUnOVm5CUN0b7XwnpEt3iI0G5WRMXK2fklxiNkb8tm/tVBZ/jJ+6zrdLNZaCYqRtdOBjkbLL
sH6pnSciekBYhMFpGZACztBtpuBpxSDuP9g0lvYfVCa53Cg3F/FTRE3e3xHgX6qL19bjz+Qlbnc0
c6LaG+5DKpycQuJONjOxs00f98uEdmcHdzeLEHFpM0pn7V9UF9TJI/lbsfAnNu7ftiqS4CJkLFz+
2Mk8t6NK58tQ1FNEA8LzBvCuZHMfWU1U+tpRR0i3EzH1Za+hwT4vpAFbHAcznJMSyf2lhcfLaQ3f
yGPVDOC/Ge8BLNFGKAlGfJJSC+VdDGi32EwxeU+OiHFj4VQlBC8p2pVJdRjcmExYgjuzDcBC72GM
c4HTFIHjP+qZo4K3qRXkQwEBmmWLCYaqWM/J8pTbjBteTO7jtLV+IT+rRXtttm0zr543dZfWJLMl
mDsiKn1OsYeZAAKiTv2/QYticOcSvPoFYK90jym+RAQ0SIzPcuYdtQvzVqzcEunK8UfCQsPpSxBm
QNHyw97X/JrJ1gyFh7KyDq3cFSUu823eo+sJWZvgIxp743/HDJ/ngXsIqIAcpan++IH1hy1zTkur
gC8EaYh0TC4oDR5b/Vp3t8XIhckdLbgUrGrLUrXNueuAq1kO+rMJvBy7vtVSUhyO+u+kamBC6DXQ
BYbUSNYfeu/646Q+CwQU6OBnrSln3GWzsXhccZViAbRsNP1gBJsam3C74YAH0xrgXUIDk1YOS2sz
AaODuhnxWVKBGh44rYJeg2+bRVtZzRZw6cBZR03sXANGqjgrwpbVXhmDZKFOpCFSNDFDYMIrwO3h
PHXhsOVUbdMj4HjijYE9BLzvN4DEqgoQi59LsxG8lf55llA5MFzd/uE+QMaNCjYKnsQpMt3GndLx
kZKn4eXN+zGHExnPrzMpkz8Q3oEzJMU0WzYHFxyY608knaWVy8ljNl42yDCUO3swTU8D6VWiggpk
yqYnMOTvQECaz7xaQYhWCFdcVgnqsLwr1ghSRkQxgVSvnNqPdcBvv6aLIlhSc/2sVmuOfGLg74A4
cJ56IjMp81rZX/wkcWlRSkcAB65M8M9PXFQNx/fVobCV8028npCX1En5YJaOZ1wKuatD/FX6naAF
PNio5PQYUqgYtlV3lYw9ag7Xdgi40F3iL+K9E7n7MtRT2+zxo8lfV6YW/CamaflBJ6nfJL0/CYEL
p2Yjat9wcAfhBAYVoL0a6lsoaaXW62db9ep7DUUOPBSPhtt4dUCJLR3HFOGuCkMEdKTVjefH9XM+
R4SQ1Ezelr/aFP6xIFRP/NJCu82BdvTU3orCObh52HEO3F6ztnWVd4993YmMPmeB3kDSbeR8iU3g
7nIgdlVbj+3s1TRh/8ibU8EjlDzQqS823LEPCV2/1+5MZn7J2/WXqUMygHwz63wbTWH8UHgTcwKL
tqEHKRyrNsYTZEQBa7bgdVI6dYeUoku85YRz7bEglAjgZP+792kQ6xfIgDKin0l4OsMvhCUvp/zf
dT2GUL+6y0sUVRJ6G1krpjh+3oxsGdKnbbjqEbTGodZmqSW7HNB46EW0gNYFzxtvrmnLI1dmmoRK
rabLXiKGFNuS7/MZnF3cX6zCDd7kYCyox+Yx8daZmsvnLKqZDDzE16epEthKqknjP4ruLMiSkJ7v
IerC+N2zNbq5YoR9RuLkfxJkvd6rKQa+mM5oumi/thFojwHI3roXcaqeiszLvzpzBQ1SsHMODa+d
fKu7gU8X8Jv0PvRq6sMMD3iF/CB4Gds0YZaOsmRpt0tx3UTqpmFIUiJss307+QOaX1n0ZCk4FfZG
uBSznQrMtXltE32ePJIhu5GcwV9ndbK/HP7RAiM/Fuc0rNdfE89Bs00GFX0si6NzPKeieKMLPH+o
WoqY1ldgHmLYSO629WdQe5PLW2tTsMm+JIOXot+GBlQQDjY7v1+SWEeHIIVIjaqSlzIa2l+JRdS6
pPzw/pAiBBsCO44Nf63y6BKRYi0OqgWGQAZgNPvGpNFDKK1j9oOs81tRLzyS/SUtc9AcsnuYhib+
Ywu+LgcKGYmz4WSSqPewIvEXJ1wKZGjMX64PhKyha7fgORm5zP5OSg1TFS/K+/HyyCPQFyxyOBVm
SJ+q2oeCMfnELncLqOJ227bjDIRKF26gNrMvBB8Wdw4uFMycrwT1KWEEX6p7fpbY1gMXIM84X/wN
6P9k5tBwvIkVa1i6m7ZE7t7FiW/5f1D6X/wUL63f4PB4jIxw+em205umn4L+U3u3fu6kcBM6EFu/
SsJR0SEeYPNTBUIy0Y9Kk4zdcECJb2+z9jAmMJmz+CaTRfztCk3m2291/2+eCB5wEaSdR+58jnA8
/6weIJRgU3udju+vMADCaHysWjJvKNQ+QX4CHY04zqC8zYeiAqDpHnNQYQFERHCJczJpcSJa3SEl
kGGYRg6/uky6H5G0SPQHyxIpT9BRcTQx1MANY2TzyunzeDlhN1O3aidtTyV3EBgNoyrnVldCBVvm
fv9V6FDH+zj3FEzlPsy/Ox5MXxHUYGz7sU1yFuwc1W5pRgqqGnnyJ0m6cE23dd5HY3tZte/HZ3Tg
jnptQqqWH7+W2gS3Ey+i+i/XeCxL7TiI5noBSl83GahtNRtFl5jkd+SRF9uhyWaSehmOzFF0TX7r
16SOt9dhDkC/WiiiWToAFDiVHsrtWiA5GJV7VPz9dP7Ckg5IHnhds9xaeOYJpHjBKXl+uG09kxoC
0Tr1z5KSRR/S7Ik47VEwudNbzpBozmbV+q1yS/45rk/Y7qFY0EM2kXLiryQFYsVURsVg0xC5rh7n
rBo4wFKl1XeE4pqcTDTGb46OZ0vcMKRN49et+dfbgI5YDSySX4wDiZej0Cz1e7B8sT4mQ9++klrU
cmMYe6FUNFHNaZxML9HbyEHD1xlUN1kCPxnsyVt8MNYZN3TsMaFH3e1l27j1boxG/x7Lx4w8CpBd
4w19raq/mT1djN8ZLqv71yGuLnhLDAq8Dj3v4+wv4WM2I7j+6ooZ17n03W4+t1Vc0/+GlNaqLVpW
ob4Mduc47JqcejEzhc1o3248+n7OLbsNXy5C0tHPZEaIf/xVHHVbNKufwGEZJG5yWvbyZohJYHJD
qUjLzRjIjktSQJwG8cCpe8bADt7/Cn8zDwnC+VVVkgCZZ7vFdcthcZEMqZd956pUA+kWlT8/8GjJ
678Sn1ufAnRb7nwYRP0N0KCseaHO3tpnrwztsyXBilK1TDFf8DYEVshntZiBwK+leFkR33Ne48mU
v4FyTpZf+VBO7a3rjULc5Vz+5nFXlgHsBOoC6Y0hysc1o5o63D4KaSdRNq7+959K/YCQUAI46spK
7zoudzOqSgyWDVJ7OjzERlt76lWrb3i986qhbzdPPyhiXDOSxI/IHNiUfJlphH7LbNlEd3MlE7lz
Df/Fv5Qp2+CDEqkXPUWgXPlpk0hGdQWMRXaIQ1jmgYd4y2hNxZNsKJcu3MNsTHZkGi+irZoFPjsf
P9NuaoK8wxeRcHRQsEZEHlM7o93B6IEZmall6t8oS8G9yGKdmnscgVbuW4PE/mlWviOK3xnY3gOR
BlU8gRfDIAlCo97JTPbhZuzt/JAPM0CjZp1WEqLgW6OTr2S33ODp9uK9Hbp12jlShxwmwfamwj2n
rlf+wytY/LOmcjE+Dty7695bP+RjgpSC6iEJZPOh/5mxdYkTRTVpjNUbIuChhqg9VzFn0josJQ3X
FGDPBzRncI+6GxZS1q6aoE/wxDEKHb/5sLnovJLESD9jEebuMyjDCdoXS+4FBo2O7g0BlOFW4dYe
kT6ahhA+2YUzzRKYPauHKPkNe1Ni5pB7Fs65mJywfGVgJCcPh19pd9rWJT2W1zjSTfBKB8yHHogM
R4OPHKSzHeBVUBikgeyCNgcZ8FoQhQiPjPvuiWSEil/x/jjB5RGrLHZdaMXjXBe5PUlYB7fznHmv
aVJRQHQoC+wr0xQX2bhIb1gWGTSVomZYSkY++tvFn9Tt0l8LJaHBOnuqHaz0y0j9hj4vbRGqBpMF
xkOqcHTOK5HInBajC4rwwR8yDkX66zDbe1wkkpoc9C7835WHafvJd6qUe3KeJD7YVCSvcKOIcP7m
UDy5ywhFgdNtKtJTzY16i2DBkBtRithEAe/mi0Dj6u+aFvOeYlg63vWJkxAIdGHuRRTSEuqpGvee
AgIU6TzBDh7JSt35ftK/knFqvthho/Qr4a/5ZaIBQbMSosJIKdbmHzU3HSOXKYGFtCxLnp+XNsuf
CGGv2W6EdjBsDVRXYCW4B3eIvRpfjt9Soba9KK+PI0mZa9s7tdjJMujr59R2g3cI1po9dVyIrkJL
mVfLuS83epBxLeNDlTQIBTLOMSKaaYHekdZ9sgvwlPjUFcXc7ibex867RNENP8bRecso3NClaJ1j
EPGqCBp+whvuQIj4joMu64Ry47e81jX9IsHImnROed8Gy0rJeKwK3EndY6jFNlpuR8FVasY0yOXc
3Ehq0620F+L2rlWufrO97q70ttVzH0vEYudOQ0QPHgHlV8HR8G3Xx9jyjXtvBePVZvTAy8GYS6bq
WI4y+czzOPobkyBmIFiT6aeqw5rbDoPpIBDAb3/RY1hza5NTOw1pnGZ5Z68l0mGLybsNGpJSHPSa
c4aRnqbWKUXApHnNdZL87HUSlhABCVqka8GxhWNBA+MrIrdgX65IA/uQkDmFbNrj6e5rW2TFNiRY
WB6V2xdc9qz7PypRbsue7XTkJp1k9k8Zw1q7l2T8b/sEV3+HsO7OaIqdmCGq0vYm5lyph8n2EgMJ
MIr7DgAHCB1walbAKarFerusJWxez086c6rDoesP1kVzJ5vTC7XlyKvnnCq62yzofgmSC+jAGG65
xOgiCEaUnHYpLtiTZI4EIArqeBjIrpqCz6F1Gvsr+P+4TNkvBU1bwZW3OxL2y5lJKMjvhGi7DzbT
ejgKL5QwEAYDjz0T+bCjpdVRygGYdvDDZj44ETdBNpzOtcuhHhJdnOuCyDvgEy9B8ORLg8gXztFy
TLGX6nuPCWG9kTKc5H5MI3E961FMZXsSMg8eUzMF3acsuBrNrRA7mCNmbvSecjMM+JrC7qSVHcNg
gyPPdYJCOOPMuiQESIOIiSoI+5BxO8mzsHsKrKfOQagKB6qtP6wHD3GsewyndfibEHvFwbA29uqb
oc3szogr+hp1ad1NDlr9DWIt7obT0m94nKDxc+eGvsWjEnFXHDwGjuvhkrYMPnoy85TPl8L58nyX
ehtGT1DvCeMZv9hOsCbUCfdhfV5F1ifLUdBGChiwqegLfh2zjzHvr45zQ6KJeEhdp4yaWehgw4LQ
o/Wpq/LA48R5JMDYedt2pGmdcMyvCut9HAbRtG1yHAXC1dpnMzWN+W2HuLqRCzmtbYL0nhxD44c9
sCRQPiGjZMSEu7V1qHmD0waIzizT3kK0P+RFMDfQiXFEVrADK3ZmmCdEX5twqZxfORHEG21UtGxD
8Dj2wOFA7p72DrEBJkomYThG6/hrpRNUH0jiQUQeDUQi4sPtEw8494WLIOn6pPuIAQ9rs22YlRYq
Z6q7IpelrB1ACGr84E4dmQ6PGBGB2CZ9SwnC/cZLFCW/wwUBg2yU8E9tHdcPXh+0X21zhYWsPYjk
Pkmsf1s6Ay//cRULGKWydW/qzrPmu3aLpHty6S8eGJg7dnorw+bV62qZXSJ8bnVxEcqOQeFrEhVL
I9ynDveQyIcXiq/Au35SiljMnPlrZQv2xI9peVpYh/M+5BJJymRiPLRvz8u63dplQL25C8mtICwE
P3+xy5QGu5o0RLRb+C1U+ys6NeARz+XOAxuUbXjTj7p81tad3GNguLe5gYCByIKtBkJjEi49HSRz
46RHvOQQ33DI0kge06kzVy9k8NfnINfLD4ctwr89I9EtEMicfILgWPVx0NG0vpElZ9qQ3pL+aNNl
4532nPSRBw5ALHLLIxQxH1Lrxh+Z8s//nwT5cGfLC5IIvE7FnzHKOPXs9vRJ9oDJeXLWXd44X85A
sVcIXcUPVV7Id7oerfuJt9rEz3PDc5IkJa9Cl7vJaye3nnTX8dNfJtfBNLomH3Z53scpYRCay5uZ
DYCAfJ3/x9GZLTmKa1H0i4gAMb8az07nPL8QmVXVzCAEQsDX3+X71tHR1ZVpg3SGvdeW6lTA4Q1f
keh4kLDYiVpfw+p5F8hWi4IXWDq4peJKAx3Xvgsu3eZfQE/18eoArWrPxgkzs8XoX9+h9BuyK19R
/YWjsyJjY5DhRLpDN1z1AMETpK2cpsvo5GTIbXK3yXih+crbn4y5UPDpyWEQNA5tRSIXI1ek6vRE
fC2a75cKD4KWx9nTELsdgRO4w/sHJWbEx/IN6iCOOAPsdDopFc3tsQ6R6+49uJzqnFPh+Ufb9dNr
TSe5PnpyRfMxhOuckQ+Si+xEF4wYe2Ozp0zP/S16+xFJwboe7MKX9oN2YY43sNFQAjgNGCtV95oq
teW3xf5YxcJ/at1KnW8e2XXX3RYEwDLcxwBu1T+xMEvbToikEAsTI77FAOiccQUH7OC6KMuG12oy
w/RntJqhHdF9qXB57qK8tnbKzLcHXYiA1oFK6jUTFUHQG8OD9MNCzhJfN4GDuwN+mLqPjil0fIol
zdq1acLgvJJk4d8hrmQqGPGKjx8MMXV9iGvXmpN8iEc4MIsatqBT6nE3MLTgNo1uLtikDrxg/lnS
dABHzOM7j2sSh6t5s+B2uw8+FC+2z8RJM+7fysXCA3/r2a6I2lV/zywxGPYdTQUijLymcUfPWM0/
49JqBotKmj+lkeny6E9zj3d7nGJycjhvcbb5xp+emKQ4DvK7m7yKKye/B3kZNkzgGKixyydDKxH+
Yton8jmH+pBP7BMTQ2TI2W7GgHgLM3KKVkUpuy20vvDh5silXSKO0dsEs9NYjy0RZMvGdweSVcYe
3OLeNrjBAX6R/741vpW9EPkhnDMC35BfQ2dTs1dQBF7nHp5+AjA9JC5lnnK2b/MUZuG+KRzrTHAS
khVRwuPZsQmlmpJj5PRJSZInJpwSZRN5HGXpNAvQ4MxW2xWATrB3mbr92nG5pKwj4uGecdBNmwl8
dpthxl75NGbwfPg+qEBMrqGBMbBo2j0DGDbsQMVvoDNBbGQSjqDF3V7OiuAZV5otQ93uMSuxYyd9
OtApIHBXxCDcAoEXB75cEo3WZLPVG/0/oWx09zZi/BYPbHxtkfRB5qD8hE94RXZYXRRwxTVZS3xl
hKI1pTmTq1f+c4ACZfsM0tnFDVWRgT1w+/mtLXsLdfMYW5eSEKXgrrDdNT4Xhd/V8LG8+V8spC4+
OMqmpyYuwu7Mqhar7CZkQfZUxs58AxPbhkliNCEhdcmwJLd8ljQXho0pgyiHMsfRIwZaYqvHXdrl
3ScexLV+4Nts2zMWOnLZlgL62YkdIp4CHnN3+VtS8nBn6GBoEmx9gmACwQh7y0XDet6SqSGVuyWB
iII6rX3CRipk7RL7fbRxNNaqCE6ujca26M417GgQPkzDjmFP4gToQIZZW40UqtqtLEyfV4SB4ZEt
YTC/1WOIB2UA3HBUnqqyBCX7LXKS3JvuecyQ7wSxaayXaMZZyfHGsu+R8YH3ZHXMBR4zPiHS0fOU
EY+Hf/UQWiUaVcnG66drSBjeSKM00oLQmw/W0hRX1vbCO5ScIGdjzyZHGQJ78z72fE1QCgdw6WJ9
9aP2Ad+sfQgIsYFQ2bVq2C85ev4X1pXZK7mprTy2VWQdTDMSPmL3kTpXEfPGp5l1Z/mDS16DtYuC
tfirSov8UzCgPPgsSN3+Y0KxcQ6t3iYic8a0PvVW1tyZFVPuZlaVC9Y4xFefRJie5XnRwLDZgsV+
vQ+1NQPaWUhr4N8YwDoOv+fWItKBqcTENo0YFT97mCDezWdIPvDXc+Ce/8E61EiZ2Os98/3n/H5R
WIS7yoVEgJxgrPVHXacdduqQnaEgkpgJJPuWdsd1qLzDyK2DMYccJ2ejlhruKE4Lfde07KoebYUJ
itkF9mECUItuZ/oSzCALkJXy165HQizNkK671BhIuT4jmfDOA176mE9E1iUyz6uPsYlKdx+RMl8Q
pr76D0vrjOkOm1LvY1a8MbdXVjlPaGhYcDDTdVFDlE78jQcJ3g0ckbG/7xiKhxtkNfIbBF3O5Cm9
gQ1LSjkWYxMGGiuoS/L5Slq8jb9ASXiKjY2UUNilfOqoyuwjjYL48AftsB4uI3MkbrRdH2cbcRYS
NKTYmKlX+1JKwNvka8gofs7DJlK7VZSKsfAo/mMiamjvePL+UlKbMzpRBMg2ZzFklEnZ/920zwRO
kqLonvtA6qcInJGfWJZB/YM4DdvoQs7XDYbdE0mkq/qvMxQI2BMqu2gPscVLX3U05GcHomX9D/uS
C24O96tAyFcMPfxBw2SefG53tqeDBj8xv3s0s/bf1HH74hghd2IoiH8ZQr7Tvk6pj3xm9YoM+2/W
E/25ZV02jRd4GBEgedxEuxX4Pk6F1lteBjggVFpxvsRfRP+FAHYEHEDAJm1+T6bCwiu9uGiPcisU
BZTKuSB4sUBKekmjovxvCAMkZgHgs5GhTFQ6eBRu0Zp41ymKwkllL7NapzuzsCxOOjJo08Qem4WE
RHxmD4K7Znj12yjtNkM/tsWhnSwPIkQ8Z/es1PjFhdJk6bVOJy7xCAJwo9IVy4BBwMo5hdbllwpb
Z/zFHnP3jdJEHh7DGtjHUQ9Wf+g8TPoHUglulaHFov3UN311nBUC/2SpwxVPX+aoCxzZ+RdxT1OT
F0Gldb8U2ku3+dBFoIo18vct7EMfN2oA6wCNPYkNR1tFS0b6gJcSxec0Vfof4yKODFAhOt7SMVs/
yKLpHvPOhtyYep5u3qslXVkz+TjXX+jrIaVaIS1jgkIC6ZgoQ3EkMU8v+2DtAnk2de53d5R6M/+h
sPz/oOuNAKsGER7SOIrAewUN8tsMN31/Ij4Q09wCayxllM4H9h6NhfsKZT1iQxxgqwJLkwlwGyU6
wRUThjoy3ZDjZxbJMAwuLmXy8tWus7JOM8mb1yFocCIxafTeA0QsQVIMHslaIAxWMheM1Q0oAINc
ogkk+hIOgB2r4MD7k3sHE1dQ+0o0O6+DIo3sCPE8h0enSi1uSQYeAFh7YKDHoo6mXUwVraET68rC
6zDrm2vIjnae6pcHSELCQxwbD7e+Czf1TpRuOu1BHBALgwAfDHc32ZHakCULgpQLV9+RXnnjWSHO
pTdZZgtGk1uuW9YIWm1js6iPyRDhRA2DHm3HBAvzQRQK/QY6dyRmkjbgS6uOZbJES8yxDmnNRsdP
StUmpZ2JSVQexmeIVkRR0JNauNZsIc9qMIG6s2mGb3DFMTQHx277e17TfL0s1eR9l1ZF104ox7De
VeVi/wzkEMkkXWX4NpiqpSvHyk8QKSdpnmCfbhYW/LQDO5CNwRvNcUZsQulaPYEidnw/V/YYXYfa
cEFDzXDectPH90yqq4I7L6+Zk7fG3LWiIwsKbMq0VytktGtliuJhdkyUJX2niNazSt3mZy6e6qGh
bSX50Qnj6DozZsWp7Y7ufyXwjYMTLhVyfZCRe6YgVnAGgDlzWIg0f+Qys82GRXbg7MxaIMHMO1hz
AiUMj1PfW5+4+cWfqO5J08So3B9I/6n/SWF1v+1IVhoipJRBPJ1sWbZAZjPn0SeuEsCQJyyUmPD1
aIbFwpQiGZwRGXrqDKx1U3ckqLVjens3kd0mEl5qIFCjXFHzbUIe3mWbrYuvE+kB7dk6xqr2HYM8
N2lk4XpPbNErvZtJbrqt4CeV7tYVsjdiVauRV4oGQv42EwGGLzwwLUGHTC/potx0fA+qjlLMLkmR
wvEdIxp1Jl6KXRuhSd8CP8AoPmDy/eeJKXqrKGsJY55z+QtXErWImM2ir9J0ov9w2fjtQlVrn5Gh
xeIEZPv4QYIHfKYAKeODLXNE60Qzo9iBrPXREP0UJzgvAEcUnPY+m6ppPPtNNNvbSrgsSCpimx8X
j2H3cSjHeTyZoYieIRowN/CYWsT86JqA4YLPnHglaDob8ijo8ts4JTIRQ2geHaPeD5HyCEyXJ5LB
0SLDIBMk+5EY+e7SQ1i/SIxTsFxGqevsmyx7cqcQSTVzu0+EPgh+fB9X5Y7JU86SPau9dvjwuzRe
T3RreoIs2sWQ1KN0tY+KT5r5N+F/9g2a5NfPBG8sD4sOaVNy/GYnLG5Zs5cEZHb3rLqiC+Bdn4cu
wLMDcaEDM70SU1NfGshsziFV/8exz1EEmLSDfT8SibWL19RTh8KD6vGNSF88mJmicOuQgKEToQB3
UX0tsDYSBCA52SSzkWGtNhLgQHXAJjjhg/QtR3B5eU5N7IC7Pk3CDZn+VmZ4asC3MTEefSxc775N
DMBPA6EiuMRgZWGJxWGmHfkY5R6S6i1/W7tYXNeVw+iCmafLMpQL0YBAimqSjlcwAzzYxcRs30Fc
8wJRwXR7M5voicLS63bjOrcXOdT2tPUdD+t6t1KQfNIW5dmBrcHEKLwSwzl2geZtKTbceFePwfDW
Lpr2QOa2ATq0FP6xC5k574QSwV88wprDUXN9bGTbio9yEtEF9GT5GXVkWmxIZNHE46mg/+mUTUfd
d6QrkHyLYmbjsyCjw3FG/xEtZ0o4XtgN0W5UQ9vheeyqk4vIRh+Xrpu9A+MZgoIoIVnczhVC6wMB
Dd3XSmSn9WnbC9HqFlC8mn4mnY6Elc6PMR5fBBZWX3U/loVKN4mhHlDDBh1SQjL3LEYfuWrcbyi2
a3UayQ+4DvBV5o1Il/E/oBZlsF09F7fsGmDoPhI7YYId07OuOU9mvTkX4C+hWiX0LWa9h48drZs/
/AmdzP/NZY/TO7LGesVdR9pzPrVYJTCp1vkpbx3rCXO7wpMWIbm4I44htS/U5ylK6EX0xj90ZGZl
JzJ56y18SeQaCeCjtDnGMTySi3EXKDTgCBCyeQy0EzqaJr+wuV2e0oKH9Iibc+FuDnICPpXPFYqk
D4zOnsoeedwamt5/wRVHSmeT6dzd4T7CRYBQ1RjIGB7BS4DV6FyKgfk5AHRX58UuHOuAsAwwRct8
ayGwl0ApUetnPGnjnyy7Hoo/VVXhULQaJchagb6Plm9D/bhS2fPnwOzt2bBWytmW+DncHalQxO0F
nUdD29DOrXAgcAcSFMX/eIuvCsU+fIhxR7Uf/9PISEfUxz2LoM6jXdj4tP3McVSdfWRuy0jzIWAN
k74QD4fNEkZjjG+TlwQhzGWpB+n+owpZy/3EBfWvI/rmS45kZp/iqAdmZVjQrAgbBFsTnsA2PuOu
UGdCCLL0LPvBeRnjoOG1ZFvh7GvsVOZMVMT8HyHM9p+WKVB9e2HqaIf3JmAJOkZy3SobIDdaQmu4
h9ZmrDcx4YRKl4IpA/PGyqVRzgokW0zHKv3awJexr2nGLPuvrEgHOCxIEvlMoVh5nzyAeC+SAdBT
esz58sWvCkbbOS0Faj7mW3K26mMYunaFd1V4/9FE9+j3Z76iczoHBMduLccb0Ud6TOH+Wn5JAR7x
7pGNkA7KPgHAwk9sIeVNj87CQ3lOMbvi6BCIRzmRBPD51Lc9GRLcito6CVJGuXorZmCxkFPAnLCJ
cy2fa0y7XEJ2mlvBVYJkti7cefm6y2JY6zuoG0Hw7Dg9e2fcLlOxtyd+4nvU0YizzOCrU2BZgXta
Q79mJucFOLUmQF0uvYzl9/usD+t7ntOUQLOJKT3Q4wr+TDg2wa4AjuXxkbJMns92jgiPGbEfhW8N
Fgc4cbUKXRbEnf60Cyl+erQz8euAOREOPgvCc2wGTbhuUIbPnPMWgWaLYdQKmqC9m6RH7ma/Nkj1
AdjEx4ElFTH2zuheNNjg+UCJSbMtrShiuoitpdn60ez5eyQGYf3hlqw+TrmhJH+NcwgmGz1meXAl
WQIRNETpoEBdUDZB/sJI1qd5rxgUBIexB9rNaLe5cSliHzwrpPSQ3c12zSx61k3YE2L6gsDKa+5X
MFXFnkla+tt2MEqxLCJH2zcjkZhJ4xgWUrRIxPbNoZw/rXWaP/PQBNZR+jL0rszUsPIhpay2CkbJ
31ZLDzljULrgXAfHsTYN1m6DtjBg0LSiVag2y2RjmS+1ns2uIecmJsbKk+3R69Y42oHoJJ8FNJfE
GD4RhXTOdBW9klYr7xmosTCJb2r8LQD1oSYLCKU19450v8KS1PYNRfQCKDT1ETCu2A9IJvNsMnci
O/W/KSk4Z4aW+uwgFsYYmxSZA4LbmkyjQxN7ZM3j+oR/KkbfPKLIjuq3kGHeLUdYiwu/1uJyXiIi
2VZpDHbTdQH3xrVc6q8Y9/oCdkAWk/UcDC3il0JDXsH6i4rjHYpvAF8QOw86fINoINgpXQ7FJSXY
GWmu5eXVZZHGa7/WgPC+H34olf5IX/Sh89MObFSPWNSzeN+5g3s/RnQ1+MDzzEqmCtLFmVtoBUlJ
Ycjf6QSt9VwCsGJos8p+HV9MZ3cVmnANhuCsgZYFe+0zGDuzr9DLTy6q6fOGN4U/Y9aJaWSa2lvY
DbnHIMdpsvyEtTq0wALLEG3omE32xVJ2ECUzEYTyLqgn4hVjBnOMlQsvaw0JaJyosC3A0eWJU6no
/raLQctUFg24SQ3la4PcN7yUIs0IEgdzgxieCHE6ZSRSUF9vPU03rWF5mKOm9HZE4PBKBQPkF3CK
XTC9MH2OAA4tMSc+TBPLJHOGkg0FbOxxt3Vjlv7B1zLFT1JxH99V8xrw+QT82fihDPQyvBKIp8qn
ANXOTbOjnZRagrAcLM2sOE8tMCz4fOD6MNyXSxGAucKpvA/nWNBEQLKXiP2KND10QQ6xf+PMfE4Y
KwrQquu2mV0lSAkPvfaD9nd+sgO3daDTFrgTGJsFZ5v1kkVrb3nI5cNKvBDBvRLYZWpoHjv8jA0P
O4ctNptCdgcd9H345sUFvSYrynWPNxvvQw8IaEQMzv6GnZRht1+EInzj0EUjjp044C1ToSYTEfzW
9zCF4m8OYw61EQcocNKYIRLiC9v+yBnHkkuJjpB8clv633NREV1NgUI8PL0naZOpJI0H4AmX6CPa
IOK8XKd1H/ol8IlVg0FOFdkNIafbpk/B+uBFV0AgRBUX9m5B7HRLPgl8+7BCbX1l/cx2pUVpXR0C
Bh2Iw7L/5yJD8sMropWwz94s4hImfUBEs2qob1gbjsSUjmr2vtGmgDBhj4bxcImY1oNf7f36EjfK
37uMLsh26etg3lJQCs5bAunQmwflzCpOa+RfnEoSWjueCUbSXNppAmoj+1eMdk/qYjfBm45X968u
iOLL6rT4pTOCdYEy8S9IWQIeHIzjJ7dhgLYhhby0fjmdEfinAw/hjtKR/M/ackKEZjVIwruu84DU
ea7u22Mxo5VFGge9/D6nCf9umGCV21CF5astvYdZz3H9oMpZ3IWhruZkUb5LUMwSwnaMF8t2j30w
e/A/WBIyKYcFUXBEoOB8oXsfgz0b17WAsq4pfup6KalPm4GqC/Tfalo8mQ1dJegiZIFw7dvqKZRi
Kq5arNUfZ+08Z9c0GB40v5lFM5TQ1a+/1YKy8NCsrpwTNKvkb2eaTvHsMBAckjZ0SrmxqqBDCNE2
9oeaKvPRO33Y75vIOPFOlY7lXrosTj95Jqb+ANzUzz6mGkp3EloDY/MwXIJrs9BpbCNUgGRFzzIj
66lPxcK9m4rXODIk1Ml4XKd31Ru4nCb27buOmJNmC72EeFDGYe687Rwvf28XGz+WW8HOwIDE1jHe
zjEqvMSeh6G54jjpqHPbFi3P4iz2xV58EqsldlSIGVGmbTRwZUNF+GpjB7SfJ4xZxYWUNNl+M0wf
gUWrHAPVwpM4p/Uz/XD2CZOPkRsGLSZdOkwzL/Ez28KgmDVogJvtQPgA0rsuAC6XqLyzxru1DbVM
Frqh4mXye8UhNod+vI0RnuEunBj+wTrDqTIjPlZ9Wnsc6trGMDdYmp/xpjzBqsLYFT4UD/jkDNmh
7QYssbJuZAxIHWCTZLnRZyUTtVLi6umlYWTZFoFG/musyEE0jjePVqMeXKezDzmpJma9YkXOWdP2
Fh589Shk0Tt7+jHZvS+tvRLf5bpyjPdVkQ6Yy4Mc4/IQYHx+bqSn+WDBzUGiQHqssWCy4o6Xs1oR
N+5nMnOaax+1QXBXFiPn48XJvI54FfTb0QTjjnPOA4YgfX1gWa/1L9up2f9M2ZuW7ypvUDiTgwJA
IXEGkm23pZJre2czwkdj1jDXhR0WpSMMqT7EMj8xWK8PTssff8lrXFBw11hgIN+V2rfOpWZ6fVjt
Ji8e+xoF54YxQM9/1BiTQ7bLCBFACT+pu9GZ6/mrzDpBCpu1eIQ32HWbxNIbLgTSeOuLDXzOPcup
hhhlOcsUnjTt8bwpKEzJECWlgslDGywUwV4Pm+lgWCr8oSsyOAaq0EF6RmmJvopLugUNlMESor8C
KXpWLFp1kmpXrHTNcLa3DthP8AiBbdrt2KEs3sbC0vWzXRL8pzZ9QILuVS1cXIjARihOV5YSgX4u
hTu0VwQHy/DuG3piJp5Vlm19a8ZL6CLPBWgSdOOf0XfX/B4rvbhrHa1eEX/bzdHtBciwAIuIzRih
I9NmcakP61YwIeqc1mY/VPTjXTlr4Mi1SWcUKP10w4R10KO+2hLNLOagKvqteL/MDtpoUBPRQiG6
GXPoYghU7RgsOl+MFx7cPkbrXcDnDY5LvA4s4agV6wQdF4mo8JvxKMVFTOYi9yBFG1sZI69zJ2je
2x7CNHm7M4rCihCW+FSNno4+HYa5Hx16YJQwSHOueV0W6701TXbzDXdEFY/EIHASsPc3KyJxVcfh
i6Z767cAGMxPN1gU8p1PZXJEJZ9+ohiWJxBmaPFRy9m89DRZd1PTo20cb4Ua2Y7MoV5ZQ/ThBcou
bgMbSaaTmH525qNGbSB2feOMwWPOw4tNrAb7cW9pgh62M9feb6QQ2R9E4OscXyQjx41yoqDcOq2s
4zNPdP/og/27hTYY+cW+pFZbP6BDAC8yLOeZ79tOjM+4+a5HbYCWAyDteFFSZqs++np1mr+rHy3W
mb8hbF4Kp58fiX+d7TtL2P4HlaHX1EQ4zyUMTpANKE4SWQ6R8zE33rxUB76LKmM9janQZ95Izum3
zF2dEmYTlu8FC1ay1ipePsx8N6r6C2vMOGcpHrfjW1pmmcJ3LxTWSvh4tbP3qdDqK0vpNP3m5V1d
CLms+VE09Hlmb+k7b2b+sTFkJuN6UmEDG0CU5c9YQfG8nZX0RaUvxA2AUvmh2IqoZtyn63RAWamL
wutfDP9YnyqfU5gzlHm099qt43zO4xIuQ8/dQuZN2eFblgEgecjB/u1Rq8rgh+bMGz4a7KZnnjCD
tn6K8GsJGdAeEqvugf7NIBP/4s7yvWMYlQTV5+Du5UfNPkUSO8W3jsN/cZCf9XAH9wLt+IdPZvw9
AgfyAgFgDWZP3JgYkV6kcmZAEjYjg6vIe4cbGZDbVk+W+4Zy3+sOBjmSc6puWCDKKTKNngMfl482
41Qfa4jo+a70HYkbFMncxeQyi4lWwnuxcx38gJQuVnqy5YzzaFjL6peXXH0bvO8gZgPb/WSrRDjd
AioxPuSBILmZ3Zr8bMPUIcd2GrL3tW/0I+wp5tkdHghEb6RL4/vovKn9pSqLzb/KcrlfpE825jbT
qpjPWE6a5zbW0X85TBJDMLswERLZCFxWmY9tlSAYn9f3cPbEaSAkzU0sl84vGZnTShY7XEUH1qwp
AuFWg04pWt976SK1VHiwwFQpp75VTNJpXNYZt1x1lOjlzBCRrNFTNE6IbRo5Nc2+GOdAbQ2VGXmQ
YNqJFUZ+TOjvLFkm53HWIZxRBRNNmJVIHKnNHEVsiRZ7TVa5tat837+KytIoQVa3fOB6YT8/xUIA
mFehzzq/m4M+TAqL02lPtMocHdI5vAHDIW6X40da3RBEtYoyhZrHxp45ZGb4qZwCFlsEVQgbMBEJ
E66EgWmqcJvXFrkO7zmFnLcx2FdAyWKaFsOz0TEigQ0K/FVcJwzG/60F/PBEGc+qkmZhwgMmgYCc
BtRb9uKAcEeVZ8fLO/s+KmjAgBaUSGDtQEsLp0PYGxrr31D2xcVrurg6d2sm86MVZO21rUjPxgrY
T5PYzMXqEuDtMevZTtjMvmZ8c9m5CMD0vVM5lBdtq7a8GWvj7mqIk7D/LL4gjwr3bgqHxxLqk8cG
WHeGdaFPmCr7MI+CMnt3HSw3h74R6C9P0L6b+WvCMYCodfbj+qCZpz2DDYz+Toj7UOdPjeN9mXTU
85XsH/I8Uc1CcQbQ3xEKNmLN30S5kOwfnfYP3ovoSl4usgYX78dLaAQhxCgpPPshshiF9SdntVe2
nlBZ9H3r+CNhMrZqnEd/nQv34HMbxQjELa9Scq+nqjY90nSiFDREMWSFVPCtH9nLJabyC+GUOaE3
bcBEVxbNCot9loi9Hf3FKxV5/BCEQB9R6UwhmccIdjdNMTB+wOVoYOTYw4KJunAG6PbtEoCW8uiW
8OE1eGCoPOe7WBLPvfeMHZ3BTaS/Uwhnc6trx5Wf1JFTSbA9Z8WPgJzxDttEkxWStf9CNZlD683u
O0aN8F/OjUz+hUNHgHOcvC7Szu9jFAeGAQ2APOwqUBTor6flONslDD9JKsg7Sm0OfWx23MZ9arMf
CXvBlCY3gZ9eYAev32hV1h/Mmu43rGN+GRGx7GGuh9FuHyIsuuXrYMUrSHhZj6umZEhwmWBoiikF
P8mJdlY++Tiej8Rz6Jt/kOb8gWlyGTyiqWptxC9UXP3VL0Sw3oEwtJYtHsIQlzm5KgABnRuMS7V0
SbzbIbRAhdqq+e1lYIaThNoE8SB0y/qSArmyoDSTlfLs2/ypcpOi1WREjAKf41Mit71Cda0wG04q
fF7lSPQG4v2CGGuN2423gVjkgiv0zZW29Rd7vOMeQ6Bl9tOcjym3NxoDklRwq3Vb5TZNeX/TvL/x
lhAyM5T1ksDGKQUL2qU6Cqev4FhXKZldf3C4IAkdU+EdNVkprE1Lb74L4nLwTiXJnIDaqPlB3GNE
InKliFnmd+9WXTY0YgVdM4G22OR37tSQwOPpSYzA2HIjv2clVLh1e2dcD6xzq+UcMddiIw+Guf2L
ujjmgyh5v7uvJoAueMBt4Jr9LTFoefcraxqTsroBQUFeEDHCsqtP42e35D2ncvUCnGSY/iEvEa6W
qEoSWbspUbBs7M7q44cso5w6B3Ez9NB5UaKn+9t1DiGmJl5LeONN8+o64rVliZazG12GNnFJWxfJ
Skrn9FJTyed74Fr2c5fB49zYt2+ZcWczFgdMP1XMiKPjRK2z0aAvMo19Z9tRcyR7kgALWqS1P0Lz
QT5QUtp/lUuIxSHmpD1OaF/5fRGlPUKpCdJfgGQFjpos6Cl5UkU+IEun5cpWgziLNPctgJiTD74r
4sh9M2JBiqc9hy3qHLgKfONoLTtbuL37mC/Tym2Dvx+JEKrq1zEXC/7Eteivk831HAtp4n3uOUym
WNO2K/rf2iP0FiWIeqafUFh7cRf9i5re7S8EDxgCDOZC3/HeNyFqXVu+Itcg/RuVB/2LsiqTQilc
dL7Tne8/lGwPV6Ca2EgL1a+/He97RnelgR0zrPcdvJys/8CjALpNYSnghyW/IDzixGEzDl0GEF9P
+4cQy41FeXA5ddrTQBc27RT45VbvWakUYsf36mCBz03ExqnW7rrrme/Ew1Z17F+CA1qPkfPRLuBU
Os+iKunyeuVb1mHs3EUdfDHwKYiCDQOPYoZqpLQW+017vqlptiz0CdJm5rS1iyIN/81rLVOioYjy
QH7WQ9NrgWOjvDLzwCvGZLV+Rs64LPelxHTFswzbttOT5DIlPuHKilQzENWcbgewCf4Pqw+G0jN9
9XjoWzj0J4SU6K6KCs5C4uPfeL3Zw3LuZ6vHPNFOw7W0KHBfNaPmo7JmMTIbzkaqxrEWSABJPsjw
D6FyGM/G4sLYYo3h6CSErc3OASG4EOyHKHtg1g4YyODeMbsw8tb5bSpHglQoG3KYdRkplZ9RZdfX
OINuQCwzfhps3AjER9dLGJZynKdWH/16yEzA5PUoe7cD83JGDG2un9ZsIPaEyUN0Jo6DTEZZpdnF
qawofu9trY81wSDVJogmBBPEgy1ozGKyo+gHjVo9uz0A8hTmjp1sHj5DRALry5Q+um8cm/SqDsfa
v7Wg694iqzReYt/MC8egyWdAR35MF24haDWorVzvKPMFtKv2iSCgAGqjaE/9os2DJCppV9Ogh7sM
PId7N0Sx6neKdBNvM2kgBfuqFFRcEyFr5WmGlfavz2Z0d5gUoW8SFvifWgmVO+ZBCOsbjgsxK0dW
UsV66icDpbAoKdh5kz3S1WFnqewwss9h0Rv2XNH3EpVJ6PJtDHI6VtUwfA/lPPronAh9vkV9A3ng
3lZ6KOQdjto+mo4BEX3DubJF7aDu4Tr9dHqJJ6ExkIgQavUNX40RM/vOHidjgvwdqqOijfnpQ1lN
6BCWfpmQawJ9+UrtujvAGGvsdw+JePUM1SNV9zN0LCJaYfeDHQTEGNyCU4sU851gIc1scYW/gIoN
J/GmZ9BWvgRNiCYhJFw7Yp2fUxGX1O64l6psCO5xUhAOxAbgRm5ZSRxakk4MbBmqahpubpamIuiu
qBgo9quArDGkrXXqC15WZkE1s3Pi7Ubyb9DucvyzL68XFrbpzqujljaKp9JLy73Iib6E2qJhED9X
je3ENyyLNczPMcJ9xBe9L5txUxFsuWR7Goza67fr0sXfvlVX+bZ3rHV4k8S5VdsanfI9RrT5pbDS
0mxwwTLomenio2QAZ3xtGUg+N4pCmY3lYM5u5KLd9LHzP2dWVtDNGJLa90RplqcQKfVykOBrvS+L
br0kuAVNUJlMVpnB/FuL+n+cnUmP3Ep6Rf9Ko9dNOIKMIIOG7UXOWfNcWdoQVSUV53nmr/dJAwae
1IIa6E0v3nstKjPJ4Dfcey6wynZol7dFjchz1zzcGXRdYY8VmlrgZB9d3OfnUCx/dOsbh/EW70MG
oCjbjU6zgCUqQtO5W+VBhcpFeDGQNhUxIr7pPUQnlwa0HHvCPEA1ueFdp9WOoG7LEHFBRnl5wwEY
KKSeoWYrib0e2ha6cdAoe8WQzegDuCoQoRv6t7K3VzZrSHDuqNvi7NM4aNM4LTmXUecTwAVVLSXP
EaEidUBkXVn1ZM/XfRHq6jvDwInpTSCFi6W9tGO5L4Aiod3LsLljmwcHvZhuiyg/Dd9LaXx7q6Zo
Ci9tACw9cZdyioLlNPG6+h6hkZsoo1qR3ZP4gkthU6EbmSh220zeJLF/dlTR/L40Oe69B7aRjjpV
TmeB9rDVIOOrUiyN3k4TkJctIuK0/6HoIVTAqjWCmNEMvHz1DdtcnaNwLAPgtlQ6TnRryEiX6Jzi
pMGCl81Dc4PHc0i3nINZcQs2SqEwhHsXXsUaQcddI2mwP4KphQa1la2aAlbKiD0jHPQsadxPTTlh
nwXBQXZyeLPh/OiZYl34AhDzacawhzA+bysRs3cr2RWNI6u9amNj5fa3FPkQcfgTYRC/+1O/uOGT
wvTAUpEVS+ztSxbOw0erjGzw60aVtRvLxpV7U3fUzAuswAg+kUfwxqZFJ+aTiGWCUWClzimx1rZF
sArb78grr9CG+yGJa/GiWLigdRnCYysbLaB51e44f5SECXv7QbmsSMH04ld+SxPqZuSYdhRuBlVW
M5LL0c+vprS2S8LTIzroIYAM8iFHDd1mZBTVIYfgJRDcQgLh7YCTT7LK8iNhHZj9ymkTAR73dt5Q
gXqB1mwqe78kSzPdAKb1FBM3uDnIgMTkP0+MPLJtm/uzt+9x3rS7CsV2Mq1z3eXE3sO/EY8EChG3
yXDKbo7CqVrShmOVZpx5GH0csCZlMDB4hj9pecSHT/RmWCwWO4YuiEQIpb5PfQMiF0rDDtRgXaSH
HPSDKrFlcBgSqTZ4kqeWPKFErGY25tVb2nWd++TWyGcJYWpcsopGjyjMdZmMkdNiMKejZX/MJMyv
Nl6C4YR/yLbio+jntFjjwWvH1RQGQr2lJmqS6JLnxnMwS6eo9XEOFJyon9xrOR32QvzMdSiaAJSZ
y0p9ZZLahYzZKDIc2IZNUJ+AGGE4oGGu+CwN7+3TxOjDuWJdkYofboHcHn3uZIE0RkGtDAETKcNQ
SMYkmrsCLT0oR08dnCrsHXSHMxuFi9xl0HoYlYnPFkjhcKgTH0IOFo4ahHkdI/+1Rt/xLaOMG74j
emDqR6yRbXoSUmrQKQpsS8sbbxyth45gDJoqNXLPK1m7rospnLX6tQeOXN0ZB6xOD2cXyhP20DLq
H3qqr9q/YJjdQo9bYwWNYfIUeICz+MYDIzQmNwALy9HsSshrdb3FDGznYBcL4QmzBqWPeXomD2FE
0m6SZdilReJlbwFlwHBpuPG6/Vg05FXkoR+PbNGL1j8Mk+zGfSUkqXxWq2AYMbXA/TrKeSZx6Uwe
PTLt7wa0wRHizqbNbZhhozGkqocgwLZ5707HjNYKiShfUr7JEbGxR0aswLwsyeIH5LM1Y349pKQd
1XQN6xlzRLUpCkr+jTX6HZUR4wuataggsQ45tb1qnbmLDsxr9HzwWPyJDRstgZ4iifyDIGj5g0Oe
GWOeuOqqdDqCbdFavNaZsPutyNNixCveYulSOEgYKekAEQEWBMai1RQNR2Kjgh9t6RCxXOnAtD/Q
jGj9TmcjK34SZHFrF22LPhC4XI/3SOqIwuknB+RCmbS5t2OsBxc5rVtrXRK3xrbPGayBXR4HUrup
MPqNuE+IVP5IzVheIhhJoOylC02UpGinHsr0hPMjtHG4GTCluMjrNL5s26b0LyExDCUW5wxxW0iQ
vb1lM0Wl5oUhMSZeEnNjeVaZIOksJ71wJoJzRN9ropPVlfFyyOE4ttzbsgguOQTQTnWD6T4jlo5P
IhMTG19saMjnZUk5XCjUH4ymKBOYidOvrUxqSr2a8NBBmphdngELDCqRS77rf5OQA/Td7FCHbClu
XPQn9CfRBYkz3nCLfjyJj62vO3HpTdmst6RFRM/toIxBEkwLeA3TvH5JDIrLd7cIGcoVGsbWBvmL
E+6qVFrfQqOzHx0284JfQ7bPvbXM+KzIAczXI/KvDwgy+P7J5mWDUAXnTM7BFfUDPuXcPi6kuX1m
oVuV8J2gjiPyq5aYFMFwtNnyJeNlC5HzRzcgDINQ6vvLPVla0W0JBmreB3mu6zUL3nOgTSm8cuuR
8EzwTOMVB6THkdrIqvRrRqAoH+87m1XTrmuIqrpdOgb7jyyrSObg+4lKTlsik1bsC/SeDgmEXtSm
L3AVnC9dxskBnTXoe9xc8ZOq+7C+SFwHHgbZO7DSXWOJmzkcsAMTN5o/DEIN5S53Z2lIXfIV8Xrg
b+uVcuP2sS6mlNk0h9EuQfFc7E1chrdGsdk+DA7DLqJ4Mh+v6kB85NZqaxeilIoCsXI85s+3UZGP
LvjxXuF4aDvDPCZMrLUrY3wJghmrd2TEMh09S6Jm6kdP0SUUIY4fcqHrG1i9RPBYrocNVaIdIrgW
vwzRFL5r7YsmICkjRSiQMnxWiJxwGrKGJmzUuivNBKkQ2E3irFCqhUg1sT+dT2ucbrva5TF+D0Lc
bRsvsPQDsiNA9n0xhvd1LpLvykrEVcGUnDnc/5G7LF+j5U+X5XwgYshHqZjPHVz2LmGSBqK3uNKw
KxCNda1ghYn72ycXCcZZeiYZdpcACDw0aO3C28ZN8/FTSkpgj3QD0BteGR8H4gnOYyYsgegDB0Ve
l7Xk3Ua4VT1fIngPqysUa/gkpiR6o+ibXYK9qvCpxwCiL0YdkYKF3SF9Layu+kgIlP+egN6UF+d0
5yerQYe5ZslYXNR8pHgT4S9nWiPJ4HgqZeu/hJyjD3pKqwz5F4evQJjfiKcczG51JKFn2LH241s2
gUc4oVPpce2hSG+pbYDJTgChgw+mVg5qDtBl2V7oxLEPojbx5yLE8t2wWyKFsV+SvQ/VFquelQlz
oNKb2VL6fHpSq0WIf5VHx6fHFaO3ydF+EPcV6vaqgy6oWI5zpzA2KTU4T5UyMiOVabkY+8EDyoX6
/hqlVRce+QUdQM4SQfSmEDplz1H5NHSTlQaAu7uslZcdxsZ41TsTZivevMXN3MTjgGdhlKCKbFls
nAXkztWyNPVLb9L+hPkRxo5vmTTdeiFl5Lrv5LlBjMPqW80sCBBKzIztrbCG9nuzCNz4fjcSkIRW
JHHNZWYX7vCBHY/pLEBi9yMcZx7K3lb1tGK3J34QhTr/YNFa9Ff1EqDRXLlFEH5KFDwp8LqldQ4m
Jv17VULh4TRFIm/v0Jab4rqvjS52LV2ds3a8WjePKg/YgxN15++cJurJ/SDe9fzQNt3TGIJm2bJF
PfMF0VAQmkTZTqoaUBia3aSIHGxI6NzWY6dwUYRRZL+5bIP1VUtC2PRUYKmGdONEOVG+aJZwQFsD
rB8nsOTR9H5GxEvaUBW7XaCLS1Rl5IZCoSg/E2thGB1T1z+aUqUn7GXhRwAcb9wWM+9uxBw+jWk3
eNjdY9XcBhVF4jqMBkjqZdeEb+C28STBcnLZzJVBzSwoZIe38hirBQhtln6jPYd8LMKrsnydKqz/
hN5756BCZakHtD/sG92YcOaJyG5zl0vX+Q5FYAB+rhrnPYuQkxzwYNAQOyVaHwLAZm/rEnFU3Dp4
SVLe37FIb6TAvXczxo0+o1GBIuCsMljON5k2yxES+wS3MJ/gKIrcr5xNPElMMNWYtmpjt3UPLxN5
YXeoh3KCdgZiQ+6lj0CQv1VOoFEHn2QT4TUWKywfpr8fGzqelWnwr16UrU4ORU+TcDnXUQ00vGEA
sFrof/Q2svqEVqGo5yMdhUIhTLyra92MCm+GdxABPc8W16kzvDIVjcRtXrFG+MJrg3l723sVBNLd
gMI6Dq/Z/REsvWfP4LTdNvEwmtJ+2INO+J7T8NGahI4hNPlB31wVvXaeOcQ9b6ujKGnXs5eFby02
ivb7MmO6VltGuZ1cuyOGbkK8lZO/11HmXvYdngI8JygJcoKhEB5v0ln19TU6vLnd9eNcoidEEWNN
G00lFnC32xbWyDpgcvfAihebhAagW6/SObN9wA2e3by6wF/LPdbcqryZsYtaeCkDINBruFxFdEca
WGwz+F6Y2SC6mVEUszcF9YDpnJQcUGRutk4ttYyXIwdjfFg4oJF5ESUYYkxGY3REPtLRSypvOIcP
uD6HBj64bL1oMT1Hi98oLMBt3uxQFcl8KxEkPugQ59nGy8kUYppiZc8JqQH2dVC5FK/MI1CbMthv
1DNDuf6HzwNMrWz0QEzg5PJaxhDkCpaBhNmuuWvOx79X1vnerfTgHSrJZJmlFlybA7sdO/xO5Bda
SBiGyt2VVYT628P1Gx1I1Zkd9uaqEcWljvqu/84L3o6vIUXwfSW4+M5knVI92ud6/QEhRBg8gp46
LxTnRUEsyGZu693ZRh7txgX+F++40NgHpUM0l1Sx/as3R3O8D0OEy6u6nXCa0ZCjY6eVF8xVIknz
4lIygqtxM5OvE0PNuy4QKMkHTU/PaiEnXj25jQyuVd4AcKXSBdwzRREoSIgOxmgDraia76h6bLIC
DKioa4iP+kcLtWO+Yoph2qdBCoLgGInX6Ic8yzvmKeSk+zGm9D1V2CjcgxMyG0JBVYz40aNlWM2h
tvrXKNKmvChH9LRrBquVYGJUN/6tU06t2DKnFLwbiKwsv2zJRnCHek0DPo2KiAmoA9zzEdH7kB2H
aGRixjjGR/kUouxU9w7607cek5hz3ZBk3O1kQIEBWMHGAzSn/Fy7gTT3M0KimcZ6jeMvIlW7adCc
fDIgwQxOcoC6Qgs4SQDyxBugSrWCKnqqcjO/U1fMw33tE+pMbNEo9R4BnI2PyKqUyVcI0IvqOqRt
Ti5JcPCSm6pk97PxoRqyscYAUjDbQV/u4OLEGwiU33ZArjL/NsCZkGNVtU98ABa29qpE+NI191Ou
g+SpT4cY0T8/C4fWnLCL5zXjB9Zd7EqvaZ7oNEbiSEMZ5iygrKUjnKJWQee+VrhWJsgWPUZ2/o1x
/NfO+HP7PfFpow+4o3p9YFAn41deedK6Y2A+Bg8qTOr2QBlD2uA4eQ5GckfySsl1q4q7CWl2tD2v
fORBaIxwWzdGuEVPzTabVZMglyRQeNCDXFOcUua0RM+Cv7AaNEdqx2h6pMK2CTgyF1WIC2fr6rjN
P6EUALuYIi8+1WoMj41VWcxIXGnbBHwEw7PtMuhAM1eP01EOCUYxFY7uZ5C0S7tumEuTSJRavEQ9
f7BvXGyHAQHt3Kub8xvMPQ9d3VffhjfEvBt4FPu/ElYNKiGInEUrm8MyiP6MsKpxWQkftScbmzmt
IA0Y+KRNYZaLwMPfxMhrAiRZD0bUUANHMnpaxkLhOu3QpzSZmb5ZRZzdz5EfRbipIo1gEyU2OGdA
ea9TxfsRn2QTPosIEAzD+dG6tnA+YF9qeaDW6PGo5tGsqeEcyxu/ILfuvuKxQoxkocBnoVzFmv8L
2Azm6VYMx5wC8DtubHzJGjFxwAoZA+BGBz3+SNTfKJOLcTGvqZsm5aZGbX9C1s9uL3ankexZzIdv
SGpsQoTIVzm6mki77cBc/KVbziue1s7nm4ab9BrQIXPNLC1N/wprNHtfFrs9c9bGwFpHXu/cww8a
H0Y76N7IsSy+7FalHwEZtBe2PfaQHSt0+auJlzneN5RF78xGEV41c91U2wY4g7X18yw5+X0BF08i
f36LMa89WkjjI9TNqE82Iz7GmzwiRGvlNyXyK8huzWebUq2ssPmWzxgq7GdfOPZXGsf/l+DU9956
MXmDOLt3awEOU6bEBSI+ZnkXFnLDrca5OKE8TTcskfNLgzATHBLRx/UKASOg5RGGacGhV2NqnFVN
ohGeSfYYScC5RlIKe6PcuDiHbJVw3i7JjIuijtCurUwr6Ajo9qwMm58qvxpVte6ahM3mB3VWGW/t
sfBiCpgClGdS2N5lh+ZQYK9SLMJNWfFZawJvYtoKz88uXCfrcBtxXvUESKFbNQKJCnLFJBj2HAb5
j3Go1Yc1ct6eKeG5ddFXbv3pseHzkfDlBWmwPvP4bWiBw9r2i6pvOkeaR945oXsgnY9MhxnZLISM
gu9p1XOu0r1ZsdccGyagMP+GMHts6pagSpv3NSm/JTvbrWTj8qXa3noaEQQflrqybwEtn5E7sJpa
VmZphN6EV/t69BM738dBiDNtjjJz2WSL/1yAxujXPXAHxI1liWsktilSEIHg+fVZCN5ZaGbq45gb
+2EYuui+DiTvwlARqgWJIJxuZDsU0DpQkjurCGLZJU6/5UMMVOfryCH/euVOdOEsWCU2WzVM08so
ZuCZNKOsPVlZN4iznYKRcOTnR43WaVj3je7u2arVT0k4l9dJQWTWCskMgzPdeu19BgqSMU3oTV8y
TZCOsAhz907aZeWuE2SW7yyLVPo1snNCLU09Ld/wVNWPphlC6hEpsJPYBo/fjrqJlHOe+3JYC4ty
alvoeBnXY2xgXqGlEytmfOmdKcOEdmghTBVovo43GBuTB5/G1qNqDPJ3XyhE4X0QAqDjViA4q6In
e/BhAPH3kPh4tiwR6kv/bFNYL2FuMWpbqvS58Wd0Krk16quwkoW98ymd6pXXJpygYcMkiSwhDtaV
D7Ls1EyThyXZ5QagbAi4N3ijIRDicIDY3lexvCMgkYMKTJd8R0iJujRaRnffzl120r2dncC5FG9d
5yCs5ItQVywckqegcCFEdwXj+uOQJ/k+m2AAbib22m/IcGiRAq9Gyj8uiKAoHhLqXs8u4XHaqM2j
A+wHluMtptfhqAr6ZxMg+Ab6NLPnangagTZVFfXAwLSebt4TMI5pHgmZTBfvk4D3ZgRupptTTrv5
6LgWScwYQAx2oNq5n3ELTVsLJ9a3LIqG29Fg3aO+tjVV25Cr5SzEYgwGaC57tgRKrxWGUoEmMgz9
ccO4p022AhEQQs6WQfCq7f0zlJ1tC+Oc0pMvhgeYhbpbpPPK7SKC6Md0Ru4imPYdvBbs8TZLkQNs
UU+AgibxOH3VRIKJ1ZKOBJ6nTWsgzg0RoRF1G9CI1Sr1+TJC2d0hjKmmDVT8JHxL2sj5ipE6uSs0
XC3z9azDhJFH5XsMwOFSxOM5EmCUMItpO0JD3MpcvEIDlvOtE5iGA0JgI23k6HTHJuRLXIPyyAEY
2TW8z4TOpTwUTXIWXkKmgAZVNyLcWgCZh0sAliwTVYPCk2mF1Dfu0vpfnV+0j/r8t0ZiN0q4w00I
xXvOJep37Hp4MAZ9lrymDaRCP6nqx3TKvQ+/aUdeoxyCuFchhGxnYStYS8xCr1SvgG/SoQHwMaDU
CJCEwIjima0cixrbzicCEcDK8SRiLoSuU2d7YozLczAJD9qhZ7sGcmmkfN/GxJSUK9gKxHjRHWPA
lTRDpL/ZrR3jVxThRcFBxNSYCJkva+Clt7aAvrDvcCED4YMpZoXKKSF1zk4BiK6E32JAgqdbPXfA
BuGQsTq/YinMHkuIge5OyLF4zYjMTYDul8ELSn3cnkE4OvuqY3PJr4PNXJJWeE7SnMzZdl3QvdlV
/tZkeRFdUkKoW+MtNbLwKok+cCaXz7nJGUBXgQrzixDwBqN5SzAjiNkltbtmMOVjQHAOBXQa6muF
zQkqz+SOb2HY8Z5my6GaTSTt0NsOLun2K2HnFcIeZtabkVWXWQ0JFkmU+m1z69D6YtnXVv3Bo05M
husG5deE7YeUWTQWKFVVn7wbH2O109NL7goRgYfCmtfd+6QQMWxMyuKIgr0amEB5hJGdy07GHd5k
v2aw59mIsCw+W5xJp4FiaYpjFkbnBUCbIhjs8Q4TY8AClvdRHSG3dZyJ25QftLiZ4HB/huCLyMBZ
6rheR10avrToSSee3KK7MWU+WawxeFpXdtpjX8mcpiP4wA9+cIcz0AFAXDBeT8QjR2P+GC5FU2x0
187fJN6Le1YOnV4zYK8hgIPJugmW7qxdIMnu1fPm8Uh+rRJrHgJxxlQFMDVkOKQhvJJpOUm0ztfY
AXFWiB6+Bl+fYPDm6aFCqE8E9QhsNAL9yJdBvz9PEqSXYLNK2ZJautxkvuVcS+5GIlzi3FySCY5X
iZ/TLjdO47A7nCeHcqwjdlKsrbGxWWJTn+AFkos/bpvUcpstKm2+feCe3kumYqa2EeoeJh915Rxa
6/zRqlzWr65taODyaWCS0aF4vp/zs1eK8tZsCqj7yXnUgy+2pqjFOJQpGrMe18ChwXZDjks8DM9E
HRaPtN7DxxQlKb6ilvQci2FDtS6YWvIyIWhcrMMll3sQXmR8tXboVNRKRfqCZr15aQHyJbwez1aG
2JpZWfswvsE0JMR8OUPsfXGqGG+D+STBOpx143sELOt1qVjArlyHOe6WELnYPdQGZ9k+pGq9bU1P
84U8PEH8NWbxi6OwL0DoJK7+Imqt4gFhYYRYB988Rq2gmN6iimprHRXMKjcgHOWRo4uWvkWFkm0s
9ALjAS9BeIObi72Ww+wDWGPMe4e8slwna8yGro81Pw67tcOuG3Z6WI4fecbOZ4c1qt1KEgXYE9ao
bRh4No21YY0/RA9MmEMKrqq0NhNWSHHTTQkbcb/IEJrNhkXtsSN39AlDb3uAIyhYEC7oHVnYsmRl
h20n/TbplwAiA7eEswHQ47z1VgdOsiGXsjtGBo/77ny7aL5enqIt62xQHLSgQCwRDjZEdVmeW+8s
fM+0UISEzyAGySKfypoCKzMKZIRRZB6gUiINlt1qKyAj+uW4N3Ks+zXlJ+8OfMr1g0eEWbirpTt9
a+PpDIJpbBzDLF0VEgb0HqR5dX35zrRVQTOw8aGsLPTGzwmcG+AxkmS9VV2gvtyoNAXRI0SMOqQB
tA29Li7le1fBnl5j0rdvFzBE6GT0SKTUgGiLeNZOcXgb/0ybbaN0XI5ySuJ2V+Ru9mrmOdKrCvgW
CgwKhuzQtZVPtjRWvmBPhBeNCPNDCKYNzc1X0ieYIO0OOdcxt7wWiCG1DNNHNargEDIswfE+kYoN
hii7XuZBWZjewqF4cj1SUTb4JgL/JuF8/tZHY8S2qKyN3NRFMNLAkvL7wWgABEk/tRVjJbZ5zj3I
mKrZYLhM7uK0cUZ0DfzLjSB2iucCLwlJ3IYqZ+NoKzotKkf2HcZOeJcNhdNtCX1S+8ETRC1NOu2v
KfimeG/TVMYrxYtI8PT3QHZaK5WfcJ+Sd9mDgFk3lVU0T+DbzX0uenaL42I3Yq97pKEIlxvaO7YI
MVhvwFRMeew6ecd3WvzAXS7LdSYCTBsEUsplayk3srB0Ye/gWI8tpip0KgD4qO4isjCHDS/MhlIG
4NdpSA38vqbv3HflLqbBHONIlJhhdM6sdvvhEPRaoYQk2a7YGUreHw4jyHCTICSnwsTXcodfiBeu
Llnc4cLqfhiGNA1DCduDsYQtLtgPAts9tAqdvyAZYnlXtZ3aMlJBEsJMj1YuA8DwxMStuqoZy2Gy
yppifMrhHHorFDnsWxDnkLWMjtlmMJl4yZniTyBpmOv40Aqde9zF+QwLn4Fr/31BWpVs2waRxUZm
3nxKOd2/FxxHjzNk2nhdaHfZGppOsPllqF+cPikuRUvAyUaVDnt0R5ffcs9BRwNaqrqDdxbdLo5R
OA36bP5iTjv9EPhZ3iglqwvDxDXZVJD/gFmpLt9mQEhfIn7gB9ZUSIXSnuF+HJXw7Gu/UIjK8/Os
za/6dmKNk5NGhZsnveEJA3VEsTuMFSR4Ap/771RfTFF5KKsku0c1E7mIVE052AwjOJ43Mpp7DhFh
68F/9DGjFbsuGlxvZct5TPHbNMILhlVu2ET360VOc3cVp3bJhhmlVfuNeAC+Ji9ly8yIu42FcwzB
9/csb8q5RnrEYJlNe7HYzLzW0srZAcfcn+d0jc6J9x0pghPb7lnwpNQy9FPFWw8x7HFse7yBLP6g
inSp70x3NjGqmCk0J1h9F9iezfoGuIBLLFviZn34YrtS5Gbd85tjAa0TTR4A6Czolo8JUdGw88fK
6y9JtPPVTvVzovcuOYfFJ6ZW2wMYYVftCJqxKt0tZAfYiReOD7CV2j+UPSz6KJMuNl7GnlN3HZne
a4uD8Ylici8x7LOC2MaRiflCJqcCxLNtU+wRaguhcIKuEhFntxJM+MW5c6DHx9Q3Uar51nKXge/P
92i+Wd5B9uSQzFXHC583VOtdJMQKWutJFiVhFKidiGHFaXVGhI3w2xMyyRc4OuQFr6MIzzrMBZvj
B/tP9Jr4gMdWSYMwlcoiLiQmWlc7dOjUehtFkOmNRltfsvhHLJK1nE8rDNjWt4aR25erVPPCNLdp
1wmsAQqqnPyWdRcH+pW1NsE+fWlLRHiaKPRNXOKg2YjQZM56GNzm66wZJhpgVMmZhtJojPho2UlA
Tx1IpHDJFf3YNH8ZF6c18dj5xE4IXT+VD56GdIsRSxzQFNqaIUTVXFe9pecVEHD/w8vGeQcAnvk8
SRsd2qO+Y47mKQdZ3Nh38duERv9bSH5evJ0Kp2DyBPqZIDI2Y/rA34Ptu7GUWA44pqjy4QZTlFVT
Ddk9XHSv+F/LXKscVwyzQ+0hA1o6LIeTS7W6BgwaNFtASMTGl5qwkXgo/BOzdQQseGFz98JliY+m
sk1RQPpdbj0IVzGh0U5Sf0V24czrfNG6vzRJYz9S86HdCn0K49UiCBTdjgrVy0preEtKCCc5EomC
oaQqWKmscT+iP4ptQ7K7oyyvvujOt8gmwTdj7cU4LTFgKUloSBAkXrgm1yyB+SEX8+zSzbJORUlh
E6k32DjBEH8SMVKnZKyPMwqxiUUWNZzN2KeqcIBzPBCLRgOMwhscQUGeSB81xj20TdFdJEEbupt4
sMdhbXQg30my8vmvwe3oVVKUwQdaovbVRxZKkYrL4ofn2M07OsfRX9PacGdXdgdDfgJnu4o7mKYb
vG3q1RfMf3cFc+p7JGNMmPhs6aFHZH8PeWn60IVTXdsuMbe7mC1OsCXBRvlblHYOb0znTDxyGjbX
G2XjPF5rpM2sIgK3ydaEbTBXA/HqixUALqAFZghm1qVJ8r3ICiJbi7awbmA9ZSDhPNFcFGkBdtlz
Tb3PY3Idjz6e+0vRNenJiziQiQ6FL7gBeIAIEXkzCibZucpbBUucv6LykBj9YHR9RHE6owT0iL3F
j+K1Kz2HcbxiNEzvEwZsa1Z8Hbz5W6aiz25kj2/20pV3geaHYsJYMIQoLHD2JIs5UHTnUbwnuS5Y
1PfxQyrPM9Y4d+YB9rrhflNE0eG/mxjb0O3hIqB4xRHghWPyLkpYrjKNB0wLFiQHjE9L/OrP0nM3
EWpCf1exoq5WFATsCmAta1x6kpc13PMxghRB7hbWX/xzBLp54yfN30x4cj11l/yOdOWJDOJz18U8
btVzFMG4BCFkzlAF70376uxLXnJwNPReBYI4YipuabGmcoOhQPcHZpNNve5dqe/g+EzvGBib94SO
5ZNtbtjT8C3TKcNc/MAGtDtB824eJ9Dl1YrJC3wd6bh8YtiQfBH/wPqGSJ5Kf1uDLa0OtfAiyBqN
D0xw11esgi5ihP2kVrkYCezt3//2H//zX5/Tf4Y/yrsym1m0/63o87syLrr2v/+u/v439grnf3r8
/t9/9xwthNLKR1fpMfJEhMq//3x/iIuQ/1j+IxJx1DYtq+bKybvrAUJ+FUTD3Z8v4v58EU2DIHzl
G2kr7Tuu6/18EYaGHptSLz2RpNq8qdKYG4/3xX6JnREMrST16l98rPOf+JeP9U9XND9fcTGxNvAp
0lNbivmO84/oUKsO75vAqLUzL1gGQNFE+z9/zvOf+k9XdR0iZBzWXtL55aoMCwbTw089+Z7X3Wc6
cR8dp7CsLSFlMSayGaGgyVyxp1rFvP3ni//2S/YcENG2x32gfvklEbIw8kDBekraZr46W9rMPYVc
cAVCNiiOVdOMuKf+fM3ffs3GpoECee853vnv9Je7R+YEDrudyE6EeeHOXljPfGeNG78NC164OZLj
rhglOTx/vuxvvmcpuKTrMYTziYn/+bID4rZK13F6cuvpIQ+YZQ8mRRlEjYlqYKILfk3lWfqEhDfz
13+++C9PzPnW4uLGwHPCGygd+fPFZ3tmtVm06Smza0rfElPNBarvrD/8+Tq/+W6lUC52FM/mg7r+
z9dxGxpcLsOHtAjbsayINwmvQEY549C9jKAm9wXZD29/vqrmT/3lFpbITCkPXU8pzB8/X9Ww4Z6C
wktO3ORn/ik+0JkMgypB6lh2VXT958v99svkceGWVdhBvPNf5y83EL4KkoKsipOhCdm4ykS/Rk7E
fuTPl/nNsyGFL1zE7YbjR/96w8ilnYBoZKegnLCYEuzTEOzOvs7jBYdmq47sYPfnS/7u55OC2xOD
ACpfff73f/lk1lnR26B8OsWjsuOH0aTUjxZXmrfhWKnym6lDMYASpR2/+POlf/elEvfEA8Kh7qHW
+PnSYQsSH0I3n7aa2Qok8H9rmLvh8G/coX+9zi93qBnSxchYY0pB5IenvA4fkdnVW4LYcDdEMaDf
Mow//o0Px3jNdmE927yzfv5wsjIL82knO3l+2Q23aVrbw72LfGrz71zH8V1Usobv8ZcvEdOfl094
jU8TDR8E8lYs4UPZoLn8FzfKb38tV7JQMQ5stl8/EHoAhEx9kZ8QPet9SspKuIWsSg7knz/Qb29I
3xYsX4X0jP3Lr5VlOmDAFxUnN/PCZ0qWSG4d4fig/5LWo6fUTitR7iXUx3++8u+ePvw7/39lR/z8
k3GG4QFBh3eCYi5upZcBeeTokfhcIBR/tB2TtT9f8Xef1RY2vCAU8zaPwc9XhKGVEGbZFqekR0gc
UORcd82U3wsIyxAkSxaoDKnSf3HV352dNrckggPXxYD8y1XjWi3V2BbFiWwXH5W/WKoPsIfVySNA
4vPPn/B33+lfr/XL7ck6uZzw1fFrxk73v6Sd127dSNOur4gAm5mnKyralmR70T4hbM8Mc868+v3Q
/w5aFEFC2h/mwxwImF7N7q6urnrDd1uqJx2vAovkHs7yUwvF/fn/b8DZ9rGB78tqG6ZOYsUlk5OM
ID1CZ8pfRKVoP4oUEu0H9g3RCzVkSiQ8ZWff08fMUsnx3HOyLtbOdOv0+tEKcdjbj7GlI9hmhkZx
vz7NpdNI713j2lWErs1PCXB0GLdlEzv0n6tiX7q43B57+uUbn3Nxh/6/ceZnQk/DQoRWHCOQ6v+i
+TtArfDVp8CKdOsrXrRdcIuXsLmVsC1u0VfDzqJnjbyI35pV7LTIYwnqNYkLFqqgzXj23V4LNmLb
0nBcf5Zlm0JhKWebxq9R8RiDIAEwKLunCG7WLZmhh9J1EnxdX7ilD6oKTrtuWIaME8n1kec6zD2Y
taS/itb/mfgOd6kK2mEXW96Z9/ENiuDNxiIuHULCiy7r/E8Bj3E9ppHQMtB9LsCO/pO5R28pv4VZ
Zd5jGuZRskyL8mF9lmKKlfP8DM1a1QQ3o9iKpVwPOaCQWBuSxrVk1f4vE6hD2ba3UpsBBAG9NRWk
4MpSgerpU0pWXp/0bnL4XP8Zi+tqABRDptM2LX36+6vkZrTrUk9UK3QkDyWOHYodzT2CPrC/eXFQ
5V0fbXFpLZJhXdBEZG2vR9NDCWfEwQ8dFzj0LTzkHEA/vOZnI6HmmMeFdekBwGxE2KVIoCJiOuVv
mgqn+3pUDZW2qf47ZcK+DIFhaKtDRe2yP6zPbulbksiQAVuwsHQx27gxxHKgLW3kaLgS3Te9mzen
PhoLgaVt4W6Et+XBdE6jpShTOnw9qTbr8N2wh9BBQFX7hR61dCdnnoE6rNwc1+e1dDg01ZCpLNBz
sLXZULU6gOuSVFZNyBZm9rSa9r1fDF8wHgHCDymx2FixpX1CAU3TEVawZFWeHcciyeTEhBHsNHWJ
arSf9d3voTIo7DQqdT2cBMu+PFMBEluZ8NJn5ThA5td4esvyLMOxKrfgQhQk+/QIMBwNcnEcU13t
DhYCExtpt1gcTVeoiuA2zQ6dzZMb0U0H0GYOkNpyn1OW/6oIE1kRs1DPEgSuA0GggWRuDN2L1jQG
wpO+YX2pICbe06nUEVnC641mGtXl75FUGLfrSy+mXzCPUuSZU9mHkhIp9PU2wwI2i3FejR0o+4DD
EYy4SaRy/DcCfQNmTkQAhXX1qbUxzkRwVNR4pfDuU04+thzrv2XpGPN8tk0Ol0FFbrY0ddfJAin1
0Ikz/CTRMJTRQsk6ufI/cNe9Hmi+KqHSV1Ge8ZRN5OrnmCMMc1BaIcRtk4F23zhdU/SZf2H8OC0T
mISiw+S//sJypYMLtQqqEHSisj3gXAm4U2mYNJqQmKMciL8owPDgE9pH1X79m07LNx8cxaLpypue
t8p0EF+F/7qvgENDk7zgjC5BjqptC8JIrPypQsjxXzCc0KQXdH2H8Gzlnq99h41WKN/Wf8TCKSDF
5wxQf4KVI2ZfoMk7v6z4bRddQRgLsdu4MW60Wk+/5xm0ho0pL3xvrgAgBdx2lEbmb+q4RVaCMpoN
B6gpX9DaRPFNFAibnHSYBsHBTCuEdVKvKx+kEpDgB+5AxSTPINmgL0xZ/vqTKz3ExajQ7IsA3W9N
dXLCK22Dwn4aBAY6rgZ6+lnHcjDduJ+Wwg0iOIpmmGCHaK3NDvOESStC+i0XozXo7rWNIggz3mh/
yRPAzScq1V76DGsJqKNld9KFDBqqhoyL31FybbTC1brt+gcPoSBsT/KhUR+HHg6Fs74hln+oNUVg
zjoRb7YtVRqUcFsV92Ij9JSdqdJhlC3r7fAFGREZVZWBVpxoLfp2Vt2Pza0LxK87+0HQ06/PW909
ewVXFo7admSe2Q3WWcRyuJHDLW1cKkI2N7DCCdZn37OEENm5uWxdOgm2qAYX7CHAD+MPui3N+P7U
SSEdZkX+xuF5fS1CiNOTsfW+qC3KyzTfRjqVedGJe6lNvQJB06rztX3eCDv4vL4cC0FiOp06J1PV
eAzPpolzRK+QhdgXcPSoOTQ15hddLHj1aynIm89VqWf/oTIQ/6xyET/3yJ2HN+s/YSEhoECk860h
9SCkMAvJMS1QiOmufQFTR2cYqRo4zXmmfWvcETqO0obWT+TCI/12fdyF1IfMGCUtXVU5NPOEFRvv
BmqhcC9wcjoQLty76aRch+S2N0bBGY3iIN2Y61KAQuBYCK4Di+7DLN0atQiRmdx1LxFqzsFd3tLZ
C3F5sbEfhIYLm7Ip6WrB3Ub4zW9/rM94aU/j7UcjwKZSLfTZ6EiypQJumnQJE0kZDjD74g5vIKtQ
w5tWq8vhuD6emP6DsysI9SC+sqEaBERrdta7lt2D87tLubgCMQx/2rwd3SgT372wl5/bIhtewnqY
XAKCAixfr4Q3lpSiupjgbMynSTP5KFmuvFHQXkp9yHooM8tCVd9ezNim4ICVq9JFR+vju1eO7WPE
t6Ghi2pkeGirNkEZsDbQQUxjyK002+0vsY9s1DmIp8+1/qEWtiLtCpneNVVoKjSze8M1KVVhdiJd
Ype2AQ9DPdT+HeMAhB6VqfJA8t4rG9t/YSvyEhcq0ja0oaClXt9ViWnI2EF69qUpTPUuw8Men10c
t62DbRQR4LgOudgzBRDPBW4axO739TkvpHxMl1oq1W9ZaNq0WV+lJyLGRg8YiHmRuijBGtXO4ToP
LSit9XGWvi2dCx2FLLrxqjILLwK8YIGhmH2JgwS0VjoI+cH0W+xAKhRZcRzI2vZpfciFiKYSU6jg
MC7179nUetHamY+RwgUEV3Ufdmrnn+tAiQDh4X64B7JFYzvzOqLO+sCLc/3bP0FRgOgyrfmrb6o3
AGfsrrMvFdrWd0nuFoCxFISSTdk0v7XCQ/LgAyNSfiecqUIY1mwXtTTNB7Q03AuSy/adhD/jD+i7
MHco3CKBjAOrOK2PuBDEuKl4hk+9Ly6N2XqWTQZU2K3tS0QwPXloXd9HSvA1Kvvm2/pISzuUTJLI
xZFU9L+ZzKuvCSqgqMngrMtQasEBBhR2JlI3jMoHVg16LMhimW7lmyiJeii19kSyLlpR1WcNhDma
z40RPqsS8rCnNJPEz/WZLX1DDgRQjL+N2fmVa/SiCeAssE8mQT44RvQR97iQonhStLhbvb+eoerC
5jNSY5yqUdfbsvf9IMTpmwIQUDognNkIfsnvEFaRLUgw63NbWjVudAMUCFkmCcX1YCEq0chvB/bF
YjMedRo1E+QJDcwPrNrrcZTrcdS26NW4He0LKlLdc2zjv3fKVHgvSANNug2WUif/rE9tYdmmjotl
63xHQc52PaQYrBa3E9W6SIryS3Mj+zKq46WMCuNpfaClAiYjWSYvUW5uhPmvR0rSHvkQ1MEvtoWv
ZVKX8iOmU56506UyPSPKgvesbkPwzaTAuugdaH6lyuN/13/GQjjTqAiQregkoea8YFPzlMNiqmff
1Kjgq6EhvnVYS+4ZL/kkMGPdmPbC9+WhTLGUao0Mi3AWzDI8WoPGtaULQv4k4KPlPUWuL5DRUeAE
rc9tYZtOeaeuUzHFJFCejWVHhZukiuZepDFFwB3XsQH73mCqmq4PtPARdbzxBMU2Ek5qEddLiXYg
nmehkC6aVYH5RcgeJGmZ6FJ1g8dfWn0TIaDvjWfFQnJByJiOuwpigPbe9aBQjFyvrEePphC+WC9+
6llHofRYpOgdQvkH3FIU/zH3vQCz7L7Y2jhL+R3jmyA/aAwDQJ7tX+w/jbLoXc+BZiPak8JGsmEk
tJMDAgjDJ6F7yi1liQAEaIoHUdTH6Q/I16hZQ0fHWeL9a8BPoXlskyjK2uzgGiBElNSUPAeyC0RF
gWwtjdUU1YsIxH6oj+Lr+oDK0qpzK5M4UgKCPDH9/dXdBeguR8XKZAEsCQFi6iK6k/AIKm6GTvgm
Wof4W3pfAI6qGJvneag5bQylDrc2jJ1OMpKf4Y2HhQtKCNYogk8Iq6J929ERK0+2oSEaJRLNw1Bg
5PbvLj036GNoVZL4bFUTyYubRY4AjMYdYFg318xjDqzDe0CIrC5/r892KVwZpM+6QbYFosuYxeJB
yhCpbULP6UryZB+nw2fDM7TwqGEZpR2NCKEsSAKuM6jWyfMBMZ70DKTM+1NqUDKqTAUDpQ8yhuuP
7iH/VXVaI13wanfNCDxqYfefEzGkX/s2NZ8SYSa3fWyYDy0+Ucf1j7AUvHhmofOIriEbf7bliwqs
fWDzDVDBr767AeJFONql1S6i4rox1vTfmr3rQFWZpJgmlTYeUdcTRQQDFQN9cC+IaPBURWnCLZHi
QLkJ/enu0aw9aP469OgKbfRO7nao4WvhxqFayLLpNhM9iaIKrYFZzVhVqqYc6ulxiUgbtrY4fXkv
burLz1wocXdoIOU/DrXeJ/+9/0uTW0zNID4AZc3r2XtmAjfJrN2Li8rd0ajgD+N1CxNP9vXxvD7W
X2jnm09tg4uiiQDqel6gKQodcDWcoUssBw7w4+Czi+7MbZAn7oMsASFFeCjsv4gMQ6yTZdUKWms6
xDC8GkFvwxUt+3yjNLb0rNctKja0wWgYvwFqpbjICgzLqCMYVvDQ4FL3Rclt42wNAoNGV0pfTHwq
cBYxULhJdPW7EePXWpXSSChAY2wX9F5mb9xzS9uBRTGoYtBzJbG9XpXGpoDRtJZ7yZUEnXAD2Ld8
k+FpL+9wl8jFTkYPEm0hIsH6Ei0PbOs0CciptTmgxDPtQuS4UV+C2ILEaFZ981n2J6s6j5bCfpRA
gB2x5cbjen3gpRhvgcrTdZqu4FmmH/Y6xvud7qGTaF/UCIVLC3mmndywQdJQ3KIy320s++JwKK+S
F04yRvPnkDxmkL1rn21vl8k3o6cgu8tDSdn3Jkoud9zEQftpfYZLcYZASiZPYxkw2eyIozbR5XbY
sKYtvta7wDXcnYxCRvQppz0Ir7DQEihxURN/K7UqPWl+bb2s/4SlsMpskQ8mdxIcweuPnEFLq8re
sC8Bzhc3LUlbjaSr+U8T+m12WB9rKWuarg0SFuoV+rwMFERU9o2e6erow9xAZoSdxKXc/5PIQGsE
puDSkzHWSHNbOcjTjVCzMFMKk+A/qE4aXCKzA1QJwAolouiXeiKm9UpuFme9q3+1UlEEGzNdHIui
gw1AkFqoPPuqSTQizYVrgTMmZXAbocWD4iVOnydd17piIzIsbNyp20AGQgeOquv091fnpGnlHled
IHDawgqfJjjabnCT+LGFl4evWLbVU1/YtX+bqiAv4Pa8QX/AxgthgxaB06iRCs06DHoEscu6jB8M
b/ir5jcYv+Vk1O7gIPj+fS83+Omu76WlLzwVZabaBRL1b5CRmJlHWICAIZCmNjtAuOxrB/jT0SpZ
3YgMf/tas0vKeD3YbOvULcSkplcCB1U/+08APlk+J6FozuWAaj8pN+ITO65y9Et03uIvddYiXL/r
oZbB84AVRBVa1Y1flpSNyh6C8FBu7IHFz8FicD0A4LAN9XoPqJEGxN/nF6IP0SPzVPqWdk7UGtly
iuGoOK1//cUtB+5dJnLRjlRnw2HPpwO6sxmuhJh9ihXcr049ktioVgL68R80o/m9PuTyItgG2uAm
jRRS/+spur7veSBSPCdVbFBWO7hqxjOePAOqBshjZzetjIzQbY3M0UOa2AbOPLYZ/Y8gTX8rkzNQ
3ioigEnYZuX/WI3WiQ3M89IqUJOZLiyKdxQMr39iyvxxfgW37iP7ECIJpmEmgenBjVQiDrSxBouD
TX1gUJ4TKmn2PZCcNpPKkAJHYA/qfa5Gqa5PI26r9XlEUu6/9c8/Raz5EZgaCeqUiQI3m13GRasP
Jj4HoZMUqR8f9Ars4jNqdeNWmF7KCGlIkufzlhRgaGYjgVDXe+wCURotJDRAI0rev5CMgL2m4Ltc
7EE/oTmhAKCl6Bz2t64a5kewrRl+kHpxg559e1qf+9Ju1wFgc2NRNeLZfb2scZ03vtrJoWP9DIOy
vdNTqfgkXD9wEWLRqq14vvjco06q/+/x9FmZu9IqT0UlI3A0LRTtLXZfTXJq1B7OuWz49wXVFvcL
9hre3jBq7Il4gcCDT/wi8z8QZQ1wqJT7Qb2x/tczn+4SMhcE0pQ0KYYdLrrhYUxb9R+dRur+/V+Z
kq1mUEKVycFm+3msO3uEphpC49FxH6h6M8GmsgHihxhOgV8CKZG8kRMsZCQUUrlFVIpHU2i5nl+P
B5gisiRwEt6W6aPt9lF9FkguPqLT6kWnoOi84dzkiG7i1tKnaN9/YNIGkC2wojQt58Ag6CKNMkQE
tdEANYFZjAQ7Vfb5rceg9Sa7V9ow7sagS5EDfKqwKIBS/VSnv79KGCTJaFyZ4+yomdR+7/IBU+jY
5mJK2sRZn9/SUNReSOx0cj4xb0KXpNHACCvf8REgC+8MdP+OeFaopyTNGvlmfbClshioGB4M0M94
vv89WK8m1vV5A/eKWmCiUP2ggpNxOaSqPN75dYx6A60Ien7IEEnymaYZrg9wf3NQgTqs5bBiFhuZ
w1LkYEerkJBB5GFecv2lA7VJzcwdPAQGJfPOG8mLmkIzg2M+IDZyoAOTfFn/BtOOncdpCiScH3Jd
hp49KfK6REi9LD0nUaJSR+u5Qxd9QFove8gl3dsXktXGB7QfumIjViyPTFvwf0b+W7J79fFlN5Jx
JrXYypbVqEd6unr7DHHaBsDeS+ZjYifok9ikQOnxA3O2TJ1EG3QUmJbrr6xhMyNxnXjOAI3pCbyh
e2dV6H3+avnTrgXxY92Zo1z8+/5h/yI8p5REMc3Z4gpwi5Qgax9srqhPLfJju4DAfeOjuvG9zbu+
RsghjMYPzNaiOciBgpOnzF9RqOvqTe9RbM3wGnhxscx5qbD0uytkNNhOUYLh0s6LJQz61qe7VBYh
WnCvT0EagNN01l8tMOpJOvdtIF0aWXTDvYXU+S2iEkjpeHJtYg8J+T62gtK8B2CLZ7JpHqSCzbAX
ZTMiSCDnyrcaYLX3gayLHg5NcPa9QoX0+nepqCZNyDDPqXscd3ZcrPDEU88NnbbEGGEjeC4daUpy
qgmSZ4ozs9EMRGPYx5rneHGHT3DWmn17KErYQ2YrmkOMxNNHFlxjZ/NCh/ZtTKnZq+9OgQnekhwH
zmS789yPON5aQd7/pyRRi3AwL/iDLG32GRfnqVEFBVw5RfDZ7kbJIUAn2/edcAxGh15OI3/p7EId
n10gTeVBQ8Z2q9s+7aB58CKjpfZCkYDrcPZtkThCtFhvAwdRk+pHGVaTwuVo5XtTTaxmYyGX4hWv
ZYbSyDa5L64/a6YkaVBCHYRC61eoiWDZ8oTNBN4SWa+W8Sk2IwRHyiBDPGv9JC192gkKTNWF8gBl
xuuR1TGseaRx//oIDP1qI996QBGrRcBd8X8WAw2EjdRq6btSYOVSnDCqLOf1gK4UK8g3qL4DBBbc
tYLfjXwXVXpeHxGqCYMN+NFCVkUzE81+HoZU7OfdKTTL8kkSiOcyT/PqocIZKycceAMCa8lYDZ+a
JsKUxIwndaUAB9b8tP6BF+ZrAjecCIa0pGiHX89XRSA6G3HrctA8Uw65kvNeqHXrnwGE48v6UAtr
yXuILTShumHDzO4ebJJQW9KS0Om1FFPacdREfidR/8HN0OqBfnZ2OnzgqqWaYNgTiZJS8PxsGg3m
JWmlBTyRWnGw7dK3EWUU5n8ozOn36FbGZ1eAcd3YRlOgmR1Pnj+8zejPkzvOySgmQj+thNvrBVAt
5mdAgcv2CXeOLtqI6AtHE1aBAXzD4A0EUfR6/QbDVQyv7ME5a3jK7+PYxOsionTrHiy0teMnjJuM
ak+vHnT/+9eTczlRmygzCGsWbDVfwVRmiIFXeF32gOyYdmrDvMZMQFMOtZCGjSi09E2BjkysGx6Y
HJrrqcLTKmKsuQAZtMgK3wo9AiBr5nG3gVFZKp8gkAC4graOylN29pRDbSyVbNT3LmARu9sQSXYE
+6TudjAHaY/kT/RVSRBgOntlhmhyJ/1DeQd5G8+oDRT6dAMdsdGsC2xj1XZjXy3FC3iOKhgIUuw3
hf4iGdG0byrrAlLIlu8KPEm9G8Wsu+ZriBuEtCskrXkGRKEWZ41OkHf7/jUnb6ACB9GKf8/W3Gxb
HaE/kLIYy+A341fDYQCudxp6Q99j7PIBYrAJ9AdEJJFDseZY9jIRvoqlmXupYJf/lnNVyZDaNbB/
OAT5KAVIc1Ixvu9HbLif1qe6tN3AK3CtTzcPkMHr7eYiUU03IJEurgkaa69KRdMisW9Wfz4wDncc
xLUJATKH4rrYJCVoj9K7GYP+JspLM95rFOW20B9LkZ7eKqIN1KZMMS8KZmgIo7EBFBHFw3qPAFdy
r8roP0IIDL6tT2l5KIqPJJo8Mef9oTSpJbSeGUqVouimTeTfkVt23/KKu/QDI4FpAAJFQkvp5XqR
FBSyMPcN3EsS+PUhSjMscfNWfmAPuxtX9dKkqLJRfZiW6o2QQRHp7ZjQ4r2IAD3yIakS3OQDXHJ3
Xm53G3flUlgnCwGpytsUeuz0Y14lskhiVyoeAdLF8D1crQK5w2bezNsRM0/s1m9tWnzjna2O2cbS
TbFtfnHZUzy3ZdJnbV5lUWNqsDpgYIfHSfmL85G/xKb8O28U+0GEvosovDHp8Qd58VBHdbmRjizM
25LJRxD9oBbwpsctufBha6/lgZLY6YtUJf2wH1o7v1f0Nv5pFHbwUtoITm6E1YXUhOcaF8vUMeYq
nZUCIgQRB8+KfCc2rfRH0uChY3WV7u4MKdKeyRrCjeCyOCBbdgrhvInn+7ZGHr3N9ZC8Fnue78hu
u1/6ynsRSRMJLpLY25jg22AGBorC5IRyZ8Q5xLuYpHwzpLguA2WcZ3Qeua9IwtRf68fxzfJBG2Hl
wGDwdKR1OU371bZVQzlJJUxynQp8woudCqvetb2Z+ztzUGsk7lQrQJdTf7dWxmzcWWqASkfYC/wr
HPjdXAquqT8hnJidE4o62DoFMtryg/veu3AalAqOEDbhAPT89WTjno3pY6XitKzmgaefdohKxH1x
0VKekdXM3hvrGI/nJbAm+LJTDL8eT8CBpDqKPIUBh72FI5Gr8g7H2Vz6HADyid97FKfhptIgxTGL
m3eWrmPQkSlmFxVotVvI0fhddsBdKL2hVlaes1wz9ngGmxvn4u0G4vjzeic+g/cEnXM9x6HP8kTT
+8yZCii3vWLfR26A1rHRUeFOilDahX5XbkAU30R2lUF5RRs8+4i2+mzXdm5W+mjFZo7AOMo8+NSo
nuMhlIdDUW++ghYHA7DLUsLyoMF+PUPU5AfUPuLcKch3vjdZlj+ZOUgUhMbl/r0Z8zSxV2PNsrU2
sMpOGdLciQesY46opSP8C9AQddT1c/8mnE0DTZA7EjU+4PwVqYx5SCuqQzklz62nLkL/FcPraO+a
noLsqNVspOhL2wQWukVVj8cAAOjrj9hzG5TAFVOn5nF0W7M5bhGbH7odnqb6vZlV0lMR1Mf1Sb7J
vZnk60Fn20ToAeadapg5SZmND+wMCZPZoMcp3MJi5ntTxN5vH2vOXYtF1EZgXdo1SA6BJwTYpxrm
/JmOXluPXkMGkCCtwE7FVnvoWzS7D7Sz+8v6RN9cFtNESbdR/5uUMuaaYq4Vm6DX68zBCKB4irCH
Rn89S1PvsD7O4geFgQ8T34SBNT/siqSa0lg1qTMOtCTtBDsrzx7/LWX3d5+Z8oAqrO7TSsvTeCN0
v8ly/s7w/4xMD+16/xRjq3hY+qUOevbW99yieGaMgF2Vxstv4qa1v45q3mObhw2YOwGlpa/rU186
MALGE+8odi9Cjtc/QGsQfM9xYHQAQtwrSq59UrC7xmQB48S2V9Kf68MtnBewNYhHElNpGs7LTLlN
0Obso3SUafUul/sEc06LoiTBI/qKMKn10GEDcVofdWGScOp4ATA21Nl52TBCzSS1Gyt1gOqb94Gc
uWeIdekdhEdsFiMkQYr3pjlAlriIQVaDtDC5Q64/a5F3ZTVljk6a19Gx90uluClR263ffRVfjzOL
PxkaLT1SsqmD7LWLFRAc83PbtArWITXFj/XPuLBZeWyzbiwGaN55rtgkAQlBkCVOpeaFgM9tN7ei
Kas/E4raKaIQWjJGBTzGduXkK/McYltpn9d/xOJa6lCgyD64neeF2LIpREDxl7VEyp3SUjSevdq1
bkhI0AWtwcyvj7cQ8MCeWQL0G2O+SXYaIcF0btXUySPMR6SaKLer6LzejKOdphvbZnFy4HhRNJQh
r80zOUUvsHJ1vYxAFDQYXmXjM310+basfPEJx01v4zguTo4X1oRB44TMRYGE6eFvOzK5LGrLh77R
pGqXN52fHqSgt9WNY7h0+NGepDxI64e+8jT7V0m5kStmGVdB5nA6cOMN8XwZXVN+ElbTfOFSH4+u
Wpn/vX/9UP0DAYOWB8WbWfboGXIa4QzPCdGE9WjnAooXWv0/UzPZUgxZWj34FPDm6THJBJrr+YkM
KexuwFSorlFUf0jUMJDuMhzEhkdy5N79KTcS3cWNPbP4VWGsgumiGMn/r0fFbIByNcwdJ8xl+Svo
MUs913If/RaFYn0t3Ogxk31Eqdc/68KVKdD/JY7/ra3My71mrQGTVKvEkd0q+GbjgLqrGyW3DlYX
CFxQU932d/5gKdmNj2m2v5HnLU4aJhgSAZOw05xdQa8nc4WEaFcco7zuuhghtXbhWjupLsWx8Ufk
teMWPe31WS+tsA5p5i8lktgzC+uIFtQ+jr4Eg65MQDFZI1ZOaX4TFpOkOxiZD0xzIjMA4SLc8Y69
XlvYbGqKHyJifUKJf2CUURxKuMlfRrlub/UaFOk+Urx8A+K8tLbs4Un5gT4FXZnrUS1JdlXQqUiF
KS5K2gO6QKRB3kXIGDn2XSMdG1Wr/0S1H72sf9+lZSWNtqjWGfxLnu1l3GjwpqwQKSva2nxEJB0r
OWwPkl2e58NBKZP8YOv5ljbawr1GdJnwAIxK01Zcz7dsZcQ7Ao/5kuzd6KrRPXc4Ax/SATblIahy
rF8inJkxErNd/dkvW/P3+rynfXNV7JrUZYEFAM9kQ9Pxu/4FY9QK2S34BakyWuFd0Cb+Z/onVn9a
H2ch3jPO9E6hayHegG2U0NfKwkRqqMASpdzj3tE0t+VYRhn+cDgh3HxgONiLlJMnaYM5CI8ajEI5
3ggdJC/YSRncLeXBcDV3hGeWxQj6vT8qsW//34CzYD92o8F7GfXuhkiLxZAp9btGsqtLXvIIxD0O
h7k+SH9HRTdugHgWQgNDA6WhjTpRcGZH1SwzJYpMdJVUD4OindFgaH/CJ6T5Xtid/U+Epv3Gplk4
LIw4AalR0gMmPxsRlfK+1jBPdcqi9D/Lqm+C0+pxXMUZqvwvlVob6zADR531RV06La+HnX3jpsVN
UGhS5Nhe+SvLM/M+1eoI95qsLX7lbnkPlOgzTmbNHf6sWXFcH33xM1OOBlaBkBmJ0vVJqdJBcZWa
FR7b3HPAG94XiTf8qmVtgKZudu/Pr3kuANzhicY/8x2MZHckhV0UO0ZT/67KDDcq1ROO1Ap9S2p6
IeqC7KOgj9gY0lzzR4poGje1ZR8N+Fi+c4s8uVNLt292leQ156AOasyIfXdyRX4/BnoKP6+Gni2p
XVhRgP5y7IgyhMJiFrZ5tCVNv9SkgRtfdGnXck+CBgfGQcSbXaFg0On9R1roZEnTYsMyKnV7pxRx
i4mgZNqHSFKwTGsLXKZu1rfOUvCj0EUbDw4E2NHZ1kkbz65jCaQ3iNbhvtehflmQAf5oTdVs5AmL
Q5ED8gr8C/qaDeWiCt4IXwodYMflrVWM1W2bwbaMURN//sCsaKMyJShQ3GDXB0LKBj0asAN1MOJF
NQ07wl0fNdqnwOQi+cBQ+DdPGokU8eeEBXNk44rJG6EcC+wZ22jQToav4UXlx2bWb8SZpfOA4Mv/
HW22Ueoh6pF/RBpRwRIPj7gcaNejcDttH8R4BBT4LLk7JITNc65X6UYK9BbPzZEAHoiICMoG7JfZ
Zx2xUJe9ltGThoQQA/YuRsVTUTq0FKBkYfbp9soDZTj9JcE5HFMQkP13MQ7jW7yNpb2EKBkhDy4x
b5hZbqAUzYANZJg4SVd1p9aPzHsa8+XR0HGi3r1/hcGwIw8DY5iTMgsEmFjDsBJSzJWC5UOQNKHY
50EFkLqoaT2vD7b0jcHhaJMWJXqfNDCut26sV7k0pFno0DetB0C/IuqOgzw2xzYuG+2sGqLp9hWW
s8OdwNvtk42dW34A9VU8rf+UhaDE+5DYiwEGrglzgKBnh35fxQjLBVlsPqRBp9p7U+p2uvvHTaJp
zRNla38v3GQ0vzEsRDdmwrLNvjWdMAMXVwBeBajT3zrQPHEyceY1f3RhWSAKEFhp9P7bky4fCBmU
qqcMf5Yy1EqG6urYB47VpOGdO/YZ3tZ2199A6ZQ/ea0svVuKG4TP9DTVGW5SyJlFQuQcZGxDwXVK
g2TuIOhat1h/xl+giVp7I/S6rQEXUmkwMywkKQKyGfPmlNrVmWy2DBiK0Ng3tdJnx0h0Qt74lEtb
BmVqHsA8urnQZpu3Ep7Re8LiU7ZS9KSEFX7jSaZ13n1Hi9M7F7lFbdFFX6J/78icGFpTE36NMhGo
hutjEwSgJRQBrSftbB7WLXVzH+kmNY+B8kYeWiTYh5d73U7Nf955TKZ9w7XGEw1hRwxNrkdGeEhG
athuHE/QHt+bGHI1dKYNH/p0YPTqXqRjfRpasRUq3sRABp6qRoBSgChSXbkeOEwtK8j6pEMQvy4f
s6y98xp0iLGfT7r3lsSmpHJS5KXJIWg2zjYsvlK4W9u+6URaNVxwqOyfA2ys9nY7mO+NttNQtISJ
OAAcOCXXsyrKTu9bEZpOQ+uzO2YSeICj6uv9fZJiPLe+dm/CzTQtqmBkzeBuwE1dD5aHKhlVqMU/
LBjhR6/yxv+0zhgufiVn36Z9tpXPvjkg0+QUimpU+6E3ziXcx1yNq7KO0h+drydHraxKH68uO7mP
7Xz8iQBZf4vMpv2BafKOB5aGixI0qNnyuW5tpD1k8B+FXRqHNJUleQf9JN4hBpDc4Ltbiw+NqGOX
wiohcjpr4eScxJBmePwjycdu18PrfUzMxnv0sVU85ZnVbYz3Ji/iu5I3W5PKxSShO5vhoBp5J/VW
8qOHEnQcmkA61rLef6Pb0pwwi/WLXRL1IQ8H232nhREXBq94WLXgkYnrb56cSRr6mDUP4UsuSow3
x329ZV405wOR4pBzUaLgWoRMSNJzvU+R8JAao1LFL9EXwykr8/oHpb6fyjDKkJJV/0feV9IpsqL6
G3WH6iFsqifgUPXX9ePyVw7oVUmG3wHc768W4QRwJN5e/440q0GKyGPxU1diQ8p3qhT37T2uzg1a
642NyNQug1MQHNGdkGFKRKGnVjvTrcLu8xhrGMF7jZU1f+oa/YtDgtLxdxOvvt9mBLALhgtG5Mjv
BxlABrCtdvup7IzqX7C6+gXLZLnaCS1pP6m50QR/NqY2xZXrqWGmBjIGAt0U6uZxpzbqLg9cEfzs
O+DOn0A61D+x0sWYmrQXbP1gyt4xQiVavwnUQlOPhdHLsXpMgzQe7wc5F+KLGUh+vBt9s/MPQxp6
A+zOYMzP0pBF7icBpDq7DT2KHlhkoq9zmydKIp6iiD+aRqvqG8iJWXTjrgc4wYGfyOWTWuVUtHjV
WhgB9LmmWQy/gBpnz0pjB83OFlgr1IrtnYy03SCJQVidf0RESwFOAPWjQEryOI+nQZdKMWS8n3oc
5PpZqgYeYjuA8YVxNya96R2LVrO9vQksRjyWDdQxG32j4ai7mUgx7ja15FSGnvVT9n1JHFx7SMId
8K/W2heBkfunUPLL9DnBcDPaddnofdYbuB8PulWrGNbXdpeefasQ6aXSXNe7L1E0GovPY1/nRf2I
EW1y1lR6LM9jiKDkTZQ12FFiSyDleAprZd+e6caUd3KYJhUmw70IvozC6x5To1SsnSk14W+j8rFZ
zLRy/Kql6N4cKqnlTMZmXJzCYejbG3xAI/echa1S7fvYy7CPi4swPDW53Td3vTWWVOA6dXCNT1mb
xH8iymLtzlTcsjiaKt6FvwZtQFC+imIz3MdJpHu7Hh1OLTwZcecGL/BA4h/2wCe7T2mUm/tCT+L/
xdx59VaOpGn6rzTqnjX0ZjDdwJLHyqdSNm8ISakMeu9//T5U1s7qUDU6K/TNohsFVKVSQQbDfOY1
0XlRotXdUizQac27jVEa0qlW+tYPi/AoWGulk1yW1dQ2yCpgfL41kE8T69oZE30/4DVbrBoV3OR6
6qq+WONxmzRukwzONdKqauHKvVE7W5B6se+OBvR0bxC1hnVxoY3NBk5PG+4riToNagaTdF1zmfm7
HLWB1AV+NQQ3TtkX9jpTzMBe1S3o1rNMlosEuW0zdbo1Khpy6IHFHazTTs8Vi+YBynJeWfoR9KBx
sO80yqTmqTWqTnlD9qS3F0ZuZDoYgCk+UVu0A74XAXv2rMqq4UI2qrZ1EyMIHXRqp0rsy04dHC7A
qjTWupYr6VZqHSs6l2M1Ni+KsDFB9yKtP+3q0I4ct7EDUOzplEHK1wfpNGxpyHmdHPXZD4EqWusN
XPPPtllbo1eaeXHF8TnPWqSLATtxNRhPNfQkkgsr76efYmoCdLKb3CqwM0ayBMGHRK58S3WLLuxt
jzvLHLcC85j0YuplSUlcLeZwLVZSimzAuU5g4t9gdaO0+7IUjnKuy5WU7X2csIfc09oyS29Emkpi
M6B7GDwpnVlml7VsJU2+qpvEV9e9rxboP1lpKEd3vhS0ger2Sm3lqpf2YWp8l4EemqdpDsRqb5W5
yGkakT14bL22uZFtSc3ERp00rRBeH0pW5/apqfsnfW8OuJVUoYgrGN1dYkeNi50IEo+Vr8bBSjVH
n8o6xkoPxRgI+TYQlXw90RwUbsW5EO1DjmZlg+S/+urjGXaqK6gDrGCI43SqdpWs3UyBNPZPilZo
wFE6uY1ue6TGL3RJC8ozo+VucjmhEE22bYGja+n3zuAJQ22qVeeYgHN6NU/la5ySo9cWqKtxIcvk
RSOVPdMdpCidPPxhje2ExLPiypVlPptTpt2XSGAoLO8Ar25znPA69gutT6CBWnXt5igKCU8tBXao
pVXnNSpXNnISeloMAI6mUEEyd2pfbKy4U6+OpfSqBrhou4GZ28Muo9kyul0tfMyArSxPT0osqeqN
HDTBftISTVlVDd7prjM2Y4MKnhS18pqgKk9XqNPal500SaVb62amrHTfyIOtpkeqjrmyge/xpoIz
Gu87mEs1WARMHI1HxEjSF7/T2ddJm9TBCkHaTr+Ej9e0J0mFFu0ZavRRl24iedLNk7Dyg3sjicZ6
lUyaESDUr+JSbpXCuIF6HvUraRotbGnRfOxy4ZY2ebSnopl9KfTYbx4SB+SSR5tIjXAIlOe3y4tO
WtHbV4sNUQCCWEXLEfUt79RuJ/eZStJWwSXx0iFIp9O6T/z2Ego2IgkJHN2HiubRL643XdyKbBw3
g4KS1EtjmUL1jHoC6oXKf1JvjWLKrmQndgwvN6vIWGuD3habkZZT5xVmqQ8bieYmCO4YJ0x3jEE+
7hK6JMEq83XrHj/YcDztm5lvbCeG3u7bxpltUOEiu/3UNNlZFYP5WhdmOJj7TOlZz1C2VdOlj5hX
13qYhcUWLFNnrn05A5NeF5aknHUdCnnKqkYeSnkeUyShLmSIpoj+GUOUqGdiLqSCBhDMp8Od0Xo+
2Uxx30Z9kYdbqOq4Qq+SIphS7/NoaNHOoPE3+yEBZ6HmRTVqKXRP89xvnTGeniJh1N0uF01yU6Iw
3V76ms8et7lG8NHmFYdN3jRa4aZZa39RGmd+Cip8xC1US5BnWbL98DlQsMM2lSdfS3BP5tB/UBon
zqCYHBOi/BAqMRS5OxVw2Jpk1PphqAR5IQpEU6hPnIrZQz024tQKwupHU0xjty0UKz5mcLLIWHg5
kxopkGBEGMnjl2WDGFmqmMA2eHYSPTBcySr6C6VLlbNGQpJMFLgJWHmBe8LQKMWRz7uoHMx9XaqL
FCveckJjCbDLjJ7OUCVFz01TDKUXj2b4mFKSWplDkhzLGeapOwisbYDCbz05gELwrRclvboStkF/
KnoSQSNdR3CimnPujjxfKfAZ7JUhKORuM6MznMs0hQC+LuWm7NaVmAjKYi2CWQCnrNz7gPJvdNDA
HWXexul++X1g5/oKsn4b3vVSIMsbeCapvA+dqv5ZZqaZcG7aaX46AXLsdsR6mXYE6/ph4UDXR1aE
1IzNSLK7qDt10WDWyEgZTxPRcjXf5oq4itWgOu2lrmLRlm1eHal1ffh8jDkT2Gfm5CzytsjCqjaz
R5WC79N8a7Uu/Ig+PGklSidu7oj2mAKusUyNmBxKI3PdHxYsS2fxjqJHanQKQvlpiHBC2xSFkrVX
g1TjjW6QyPRro1ImWD18PWOVqYn9A3RGp3o0Z2BLjVISDokbwehMvgclgnfmFibpVF2oRdYqO+y1
Ted6wk+8wCF9dlfO3ELTguI1HAvfIDzvYCcMKG3jPHlbcJOJtY8UR3rh2EmaeirQxXittqryiK5j
r7imXpZgJwu6aCQ5RVSf5GkwBTd6VRjVlcjUvMW9XRvafAXKWxaehH+4ZHtIZPrRPtUBlbp56KsY
HkPalNaWGhtR5zVmp1gblIDxPPcGvbbQy+GwoEC+Tjujm+3M8yajieZHRVdf6xNX2L3jizR7toLK
qL9Yu+KsmomCpHcytBhqV4sjCwXiKOyrfnykXyDW4ZThWBSE9oU1ac9YPEpH+lzLK8GE/UaCDJeL
QqpKS+vwhGyqYFD6oJEfpZxcYWOOsdiMUqxeyYmRiK1sT91KtRMtcuNAK4Vbm3msH1n4y83GM6DK
yxFNCYR221JJtBeyJBInUx+FKTTPsuP4JuvzwKWCrxNyQGU7Uoz8UHh5G5GNDXoC/QAqA4dvHRdK
a5RRrT5aOlFF2EDeT4Iq3PS577tSb05b9DkULwubOymUolOl1YVnl8kxMf2/eXNmnk2PZAWFJnVR
T0uNIGWDJ9qj34ThXoZ5tda7avwG8Eo+bZu2330eACzFq+hLsDkpawHFZrq5LQ5fvBqttjd6U38c
I6f+aTWJeeGQ95in0Gks2Q3byHZWTRNPyRb7L4kUt5Kqdat2xbTye/BpG7AW/pGCxqJ6+vuh0HGF
x0C9Vl8SCwT2Oy1UN/0RGFDgqegrre28bGV36rL+R5qjRbCZKs2X74/Mxjy97++weTboYEK34db8
KB1axyP4Nk7GxyCw/TswJlW6Qsiy2JVBoznrIA/GaRX7UfAYO3l1T/c0WkO8lZUv3jZvz8H4gJWo
TFMTPPwquhPmkdEPxmNbd/ZVVKmW5zuB2RAElhZBp53H7fbzd1/MOZ0xgiLI+QizUX6E9XI4ZNz2
jTYpgXqvfeeAkVxsvsNL50jlaLG8PwyyqFQ1AXxpQxLqvYG7vaZ4QjpBbtI+1jE58i5Lm1jTGqCA
oS7Iu4iddS1/H/fH3mRxTC7fRFvclShyGoWaROo9nyY4UxpXwr/nRdw0t+r15x9mnvh3a/LDSPOt
/a66Vw5qYMkVIymX8Ql5i7E2zoMTAGyfD3NszhYnoGpFUZ73zJl/nq2ilfwdbv8RlNixIRZnDZbu
jS/5oXpveqWnr3w3WEubz9/iDff12Wwtdk4IaBN8Pq9RPpUX5XYTIjbutrc42po/Q8kNH5y9WEl7
kmujOHKJLKuiH77UvPrffak0RK2x6Xm/SGwrfVf73pheyfVsKWsgx+tyg14Y9lpoe0WTXMkoXdDt
knw61RueedVzypk3pLO1/sVm24cnm7/MuyeTgVFFycAaCqzntP9WZ49t9f3zmf/bDQHrDAVEoPQc
4YdDqEGr9pxarJ/YvUlPlB/OD7ESm/zIhfW3a+jdMIvdkI9R6AQxw+S/4l3+Mj5I+3H7+ZscG2Kx
EySzaLQ0ZQm1a7GelynWE6t/b4jFTkA1j0pmMg9xUpyJE3Vf7uNjO2Ge8A874d1MLXZCFeiFVSEP
wrmROW53lo4uOPXquagwdvXin/Lzv/dOi9VfC0eWmpTVn/+aTqU77STbHvv4S02Q3+v43Tst1rEV
K0Eh0Ya7938UZ+o2/2Fe9ZE7nHTVprkLbvXJbR6CI3C2Y8thcTE2cT5UQciY4+ihBFCupMJzbszb
f2/2FjdjVoiEmhiz16+H3e9Fp+0/H2L+AB8XBFHe3KulyrJY12ASp7TOY/Xeqk5y6butfzf6ydX6
x39vmMXaxhjZRyCGYYpg7RjbKD4pCi88qrq6XN6Yd9DihEhngsZARG9x3jRW1Q5VIk+PTm0HmauE
Q/vNt1WqODRlAn2TZzm1HHKHcCcBb8pWMdWtX2Fc6YQdgEeevvbWM6oShA+lAUJpVI0X59LYD5UW
Nb7yaMcJgHl5yC4rqZBWBmZnbmtNw5FIap7F9x+T8eBqUjMDGEK9ZRkik5vyOLET/BD4p+uuH4UJ
PFjfGo8c6/MpcTgOdY+Z90YoSsVs2eDHWJtGpq76j12t2iVq+o7cyidtLk224llFXn8R40y4bzEU
nX2qdDgzvl2y766qRARWKKqk+KGVqYEDs5rJni2B/7WMCdJk1BTHyizLDT5TDhAYgu2B9hbWvIut
1yAtJE+hFj7VqhSeTkEcXpqwQM5pAdmX6HLlZ0nmO0ci/A/fb0ZUz25p0CNR1Fka8qRaIg8SrSpq
nqq9LgecV4FSqN7nq/LD1wNHQEDPjOJ6D6VlsUmkwqZFnSrZUyXh5+fRtMy/OzMJdTtJfXrkxvn4
SjY8khlbBymJatViMLsAtAFUMH0qzKw9qyC6fMtwyzgycctwmMmi+jYXJoBPk6ksTjHZn/paom52
qyh03AvJNM47K1R21qg3qy40x8jTRYzJb5QWN5/P5hKzSXUaS3ZEGCgQkH2SKLJZ3q1NQ07iUgqE
fVsGXAluHg929WQNcqufZ3nQ0gewq9nnpcSgJ7uhfofyt2uiAi69xgk/dmTC32oxB5sTZTMohbNq
PwxNcCOHz8NV6NPG1sVdI9Epijw/rq1sa7RNJ76lk7Cs06rJdGVlaHZVe4K2kePKOivve4WmX/EK
47EdcXmk1hA3rhlkdElcJ6nN+iRVa6NYZZbSdKk3Chr+u1GvI/2LQFCmlMI/rjXq/A+4n4tFUyYO
IJA+1m9HdLMuKAfRgukoI99XdopRFG2kHAbU59/xw4YHGzXDfNl+MtTPJai4YvEGtpnat1R9Ig8c
l++i7myd0JHX9v5kluc6pvD7zwedv8Xht2K/QyvjbUmwKbAdfit1wOcqjnL/tlC7yVxX6HAn8I5q
zdjRqbetbdIjjLkP007ONqY0DWJL79U+5r75cfvA5QBOiL8huxFF1sPH6OYUTLeEdKuXVjZd91Lj
aC58bVPbB03poKBS9WW+zmW6fOu8LAz/2+fz8OFIYipBWVvYMr1BRxfzIEeFboSymt9NMbpu9FKj
YdgYpY8Qataa4tih9GE45hqKP4sL3hcaP4stYovKAptkxXcJ3sVgcOsMJX4pKlA5iJn3IyfEh9nF
S4wSItHVG2Dzrdr27oDo46ESRtBKt4Bzx29Jq7VekWjZtohFjzCo2a7GJBpWegb79/Np/Xg2OegK
zUjD+X9IvS420pDJhl/pSXWnBZV0UaWOc6Z3kXORj63h8dL6qRan6jfF14MLXQl+qUqTbj9/hg/7
ittslsVDcR/qPxayh2vLMdJYl0RJJM5FE7lpqMXrQu3jn31vZCd6KR5DQEXrzwddTjmd0FkIfYbQ
06CBGXU4qKH3czTRGndVkWdXtWjzb33a6903Gq3Trx5VPnOVGlMZXfjB5B/TZP0w+txMJOllfKYd
E4XD0ekjl3Fn98OdmVv2mZ+EWftcF6qTeKEWVbIL5HxIt1xN/TYfaSF89atTHeRWJ+5EBG++nBZT
7ndiMEMzHO96EiPFCyLVPsliu41PtA7Inps3yXiRger5HpW1eZJ1Y/is5f7wRe9umEWzTyrAYbhb
M719saslQ+mdsS3lu7JusBYhQCiqba82SbVvHPyxMEJKiyNV4vl3vj9REdICjg3+DBI2aL4lP7gd
UjAxABvuMFmzV43eOZdT6bzYaSytOki8R2Kp5eqedbtm3ihRMFqmHKCHnzo2kN6v66K6Q1+Yml/X
9OdTHU4byXGE6pYsdDoiaf3z8+U9f8DDl4QaMisfYiEyGycutrWIDa2wCKPuUGZvtdU4GNG9oY/a
sTvx78Zh89AKYDA6TYuFnLY9Qtiho3FOdlJ4MiHBa3mpWlXHRIqWB7I2s9ZnDWFiNM7JpaZeDZ5M
S5JWuRPxgBee4ufrnjanG6DH/tWjYR6KiJ7Whobl4lKux2mjTAeSqtzRDs7PtAmh77bXfTc2WKJy
LEerBpGJ56RzjuEqPi5NYMozah/zDb7ZsjqsQL5N6laV74CaW5ssqSxUQok4bBc/F/NGawGdfr5O
/mZE2qyzUNDc7idCPVydfZzJcd3J4s4K4nrjm1azcZTMQRQpAANuldORNuGH3QBif5Zm5SuiV0w8
fDieyOQuHbN2uotyNcFWiJISHlmBJ7NH9iKVzXWRtw+fv+OHNYo4oIwcIhrmFqjkZVsQg7EssKts
uotzR7qME03faPWYH1k1fzsKYhKQdlAGJD49fDNfgAFpIVjcOcrQrEbEXQFoBsP+83cBlrvc2RQJ
WKBwF9+0s5YtR6PLJiys9fDWlyqpOfWrEXqXqeVl/DyYZVjLbhDLaIW6GqxjJ3IR1EB7Yao6I537
5/Difo5+VI87s8fEAL3oJIATiPZGUXt4uavOM20Qa4xdZ8Ci7AEtKdwbPCkw+8pxdfRrJa7owTQn
T5t6P72stbyNfPQI68bcVkXQUuSKZgUnrx+rwIhXPjS4cfAGyyrSU1H4oCzw5NWo+m5rhGGBcUUI
/JtU2m0AlntwcGVQu35uIJPlIV/QTSAXE73ojF0LZRJI05irpWK6ARCO2KIq2YaG2/ValZ45EXi+
i4TGeNWv4jQaynhtlLUdn+LzGOQPYaTm+fesBLwT7YHD61Hm9absg0Ed8UoWgVso2HajwtFWaSm5
iDslQPkw3erIc6TGxH6mN8pyT1VDie6nSEUBwA38gqzVnfoiMFsyJWoVu1Q2xukS6+OmwvEts+Nf
skbIUZBllp106RtjS8kTgke0qYARhy9+aGbZOgRbp+wi2B4Wv2ngG5703CD+hsTbjH7lQxPLmzJI
+t4zyqkz77TJqUpXM2I13QxhPslXtsA+70wViRGC+dOKNhZuogX43QGtgXzlWjpGexeN4ifwLocW
JuwuiUNL2gmhNd21XiUifcTwHfqXMziJcRVXINoeZZkiy+ApUaqUkydbka5VLJIsxx0B97VXeoxI
RealOoRrP9F6Y2MI8HBbx8kkeTWq9VB/h4VRZ9uRUDfYFtTkx31gFuhFFIPmR6suC0S9smxJ6F7v
92hDt0LDHw9Qm9N7VakBUtX9rqhOIOaY9vfYllr7YfRHp5q8qEMAaT1ISS68sGoDYxuWchoA7jTt
bkM8NsWeYddQEpPJrjp35HeHq06RBxF7Tgi+K3T1IO+t0VXN3o4rFjuA43VXmiVUBnghzXglBZI0
ndCNEs1l37Vq+AiIWze2vW9bze3UJRrcepEMvZsmiAQ9iQhGwhrkWJtmBHX1DHen8FbLN4FeRqaL
hHVg2mvdQvGKoCvXtY1pQtA/lwC8GpQkzE62Md6t8aHKXD0ZQaK5OHrhyKQh+lHd8Ah2vx/IWhME
VTocKlvEltLrvJGm4rUkzY+BI+a6cTXaSmnIXgjaSgHl2luAj1h+QBTLSR9zr4gtY8w8OVGqmq4+
UXGK4nqmheDmJ6BmF4UeWDBOk9Dv/B8ljwSMUQKI7hurBI1257kvM3940rthQFlGIOkw4n7DQXAe
xX4q9rWCpKHp5QV2C4PXjRlqcbJkKTna+JmIJsOtLKPlTlUyISm7rhNV9jPTDRxRd7EaMRMrtSQX
+jkprR2us8ASzvPnp+uH2xCh6N9EKPIwaqSLaIbXiIDCJ9KNktSZ7WpyqmseLjPDuZmEHDVyVoRH
LsRlXANKYVYDpX8ORZBFuwjUxkob+7KS0scosMoGdXvVqTatFGrDCwQS45iy0zLx0OeIUGMwwK/A
Jt/SwXeZJpaiVMcQGmO43nG81i+q4DUetMw+jauO00aNI6vL+ORTU28D1RiUx8/n+MMLv5lSopID
YGjW0Jrv0XdPYFhygZldlNwXwNvvnUALfsJZr7+pegnt4ctjwbqilEmOIwPRWNzJWg3hY2ys6L5N
ImuXFxiurahGN50bpCUWa5+P9mFuQT+RRVPsxgqCCtti9aj6KIFwb+N7pc9BlTtQIq/h8TVXwObT
LcQN9ZEAN8aowUry+8/HfsvT3wf8M50B8yU0Y2YuD4DKw2kNdYOSDPHh/Rj0/k1hRhQuNk5TonHr
ZhJckk0ikADw4BqpL3k1iiGFT1Nggeqpkz4o3zrLl4YjRde3dsLhUyHhCV52ZsDNnObFlNSo34FO
ruS7cPb9CLeBkclQNjKbmOSK02oYkk0zUlyglBNNFlXEKKjsB4HQWO6VdZfUuVf7eMIwnWVmix2l
wMwUK6DqnC5a0cvJV/cj2TC1fOhr6IRb0FkP5xHbpnHWJlUfhlrJzS1Wj7G66wuHGIjYKDiWa3yo
vxCVqsSMxMPIQ1AAmRfVu+0QlqzEcDTkhzSadO2Cors6rHxbq4tNOJSpkrq94HjYqqrURIprcQSJ
K1EYvbapDAuWzufr6MMaxhWAMBndt9kJj0c6fJyhlFXRYNz1UNe+tVaSeIDkkndbI1LqlYrbx8af
jNIbpDg70pn6cC7QLpqpi7NS4gwoXRTo+fhSWNhp8EBCRqSpYajqnxa+o8OQAOqYfrEKgAQbATT/
4EOjYrBMy9Omr6eUoPfBmqx4D20t3Ju1I12DEI72ZqsmXwSxMN7sGMZxzzFEwWMxscj/VFgJDjUQ
9dwHEmp26R26c361aspcrdx6MioIk6mvH1Hl+DivJD/U9ShiMq9sxcMv2tO8nY/64cEIAeidlJEj
ZedBmE3RysoiGHKfL6C/WdDzlTYLTysobIMOPBwvoy2W9l1fPUgIMMk3YUTbZVWXdpafyqPQoxNq
A6jD5oNBgJGmTTOsAtDaoWfnYXysPLG80En6kKAkYaL0Qv14qfOXxqkdxF0fPJAYKqvRMP19rV1U
luYJqlm7z1/940yTVyAnTs1YxyltaYY8+Crov3p0HlAULm/zoleuosJsE2KqSVx/PtYHwBIvhvEq
sGvKZ0zk8s18M2scs62kh7TJBBmVZcA0Cj0EORz6n3mRpOO3nKg+xam3lSVYcq2T3BUlTbyzQpOE
aGj7qHbe0APWcl3ZFCQg8hkeRUFykgJSGx9aANTGbTDY/ffPH34xUZC05LndPfeeOPmo/h4ukUmL
xEA4nV/3baTtYU0nu8aRicKxpTxyJy+GmoUmWITIH6AXgFvwMgJoBMQ+K5OVezpEVnDC0isfbbLN
4FSB0ietvvRijAYQFKYIakxvTZL5ad4d5lpaybUZpOY9Ul/GPbxCsGqmZKxLyD1H9tk8Rwc369tQ
NLrxtUQud9lgH40Rap9vIjcFmnhO88QqRDJplyblhGN9rbsRq2bPrR6txaR/Uc7+7U2hWtKuneub
iGocvmlrAEWKw9K+x4AbqMTUOllMhNEEpPhCdo4pZ37YxxCvOUBpEgBxpdq4mNhWk7C1UmXpxTZa
3Aa7SfOiVogTpqBel3EWHQHvLMdj1WCKRAOczj5V4iUqLQ5hFiMnrz53qnll2504qXA6vunz9J5U
6xgx+sNo9DzmVgC0aGzG8V44nMyi7puYZsXwYjUyDf2pkqEjWrkTblWrCIv1iCDCsVLjslwFBgZR
Q5r7dIE5sJfqIEnXVH0bT/KL4/jZFVJZ2Wkb4YTw+Yb4mzej7I20E2ciHmnLPgOstzDT7Vx+kVq/
u4PDg469UyerfNSjxFWlY1aVy+2OWw1HyyyvSjNhVgg5nMkW2vZQFH78AqNcdksnSNYdhpVuF5XT
kXjl46vRvuGjsd2pSxMtHg5FhYu5rZLmJRvMaiujY7El5zkviE/PxyHrvpjKkLGhIE27mxxD1mgp
HA5HjByVI+JHz0Pfx5gG281G6CLxzNzMvniPoWPF92Ym59YBQctiOWLmpsdM7vBSW20OXT6d9qGk
irMAturdF9cHHwrNMBgj3NHcCIvo1y/g/GqT0b6MjZMgsFSf2AJbHug3TbCrhHnk1pyDrPeHJmJV
bC9wQhS6uaeXix7XHYAPTji8CKuwHnBfxgxDGeQefnFrDdm6pSaGngB4pi96dyKTBUcE/X/+LuEm
SLrDz6f3hTxOdpa+ODkXqkuQ6LsTSbY3dJBzj6yVD0uTkehbINyMPvW8OA8Hq0xUFMbKGDlPTGcn
0Kn+ZbXtdG8nvnHbivzY+fUBwWzMdovGTDeaXb4+vB21syBRfF96RhTRHpBASLJpj2ogghmenVR+
VnvWNMaFup6qOun3BW7JhZeVYR7sR8S7O9ntQhajW7R2k66aLoyyxoXKkEXNacS9oLqKHMpS62aZ
5qeK2+IYboHVSUJHggBWtXRm9DIoupuvrc8ZZDLbYBE/UJvRtcU1J9dKmo5mJn6NvjJeI+qQ7BJn
LNeDasaPhoJnxefjLc8vKLlURIjXaVBCrl1mCXJbSL5aVtoPP4dFBuBkcJEbiLdI5FnHcvPlDYA7
DGUClLdxbwB8sLRNykP2gE6m/QyZuzNfCxlB6tYVo2ilZNUKahQbMWH4ulEjg9vQ60KQlYMbllzV
SDs13ZAlXiqFkRataoBi+tnk6FXrcvzaybEl/aG+gTHRTDGhjoCsDAiQxcnOzRl0iV8kLy3GNf2r
WsL3Q2y4i3vo0hSJJUSgajl+7YQE9R+R10Z8ExBFqWjGRMhim3Hdp8fiksWBMlNX58LGPIFQVzmb
D3ea4euS7xdKc51L0rBStc7ZjEmT7Ic8a724Di1KaIGz/nyRLFOst1FhBGNCQ5aBrNli1FRUkW8m
RnON90+2saM+2CW4m5zkKrWVyui7UwKIbqNzansmopSXsNGOod0XZ8z8DKCgCDzBI7JDlhzhFpWS
3Ned8rro4yLyGttXcD1tR3tr4WJw0YgwSI7E8n8z2RQNEf4DiTS3aBckN8DBfTHkSnkdt6N2leGC
vpW6eMCFy2nQc+DImXxd3X4+2X87KFBLWnogJajSHH5hCRWMokn76jqN4mwPhzjZykoZnkthhj3x
3EiQ8qg/8oUXx8Db5M4ejSwqWIxgrg4HLQ27oLjT1Nd5nCFKR2vdgz85rfQylY5c9suN9Xssk2ol
bSmIm8s4JomkivaJWl0HuWRm+5b6hOxmSa77pxMSQWKT6SmdQ7ZBpFxXSqSPq8BXq8jVUfpoXAVC
c3mkBrc4mX7nh/MNzRlITcxZzLkMj1Tt5Sy/DpNQnEuO0q3bPDgWAS8yqLdRZkMMZmCOP94are+S
tUYJORHKIrse8jE4b/P6ZUql4Xsji2AlHMRCkUtptkUQlTsAkz8+X1bLLzynwNSKdSj2UHNpvh9+
4UgSVtQJPbyWJif6xtUpeU4+dSdGSMj1+VB/M5szdnC+nWegl76IBmg3DYlkpPm11LUaraShuVQT
J376fJS/mc0ZA0I9AnyrgUjf4QuhQuTLdSgV17ECLy8J5MqLfN9cacgCrrtWL3fdqNOULmfON+T0
Y+bhy/MITS4sBljFLGKuieVNnZRxr8FJba4hvSHs7Rf0pGUtlJPVqKnFj8wQ/rELdN6F76JJFtAM
BiUPR6MBWMMSEwmGo4iDUm2vu16SToNeDGLdT1L9E5APdksgiZWLzG/aF5Q0+n1KV+uldYL0RQnr
4TnhNcLf0cN/vAz/KV7zq99j1//6L/79JS9GlHKCZvGv/7osXrPvTfX62pw/Ff81/9X//tHDv/iv
8/Clyuv8V7P8qYO/xO//a/zVU/N08C/rDAHt8Vv7Wo3Xr3WbNG8D8KTzT/6//uE/Xt9+y81YvP7z
jxeo9c3820SYZ3/89Uf7n//8g9X0H+9/+19/dPGU8rf+V/YzryrW6+9f9dfPvz7VzT//UP60uJtx
p+IUpbhOTv/HP/rX338yV965xTAQAO1DGeWPf2R51QT//ENX/wQxDGaLP6J0RFD7xz/qvP3rj6hN
oxpNQZX/Toz2x/95roPv83+/1z/Qf7nKw6yp//nH20H+bgnNQBGCVyobJAbIDi3zVZXWeKNXcYQb
Ry4/h11kXelDPrhkerk3AX5za1w7kISy7NsOkaad35bSLULnZ6Umi62TSGva0qiIIRyXjt2lpfe2
Swc2vBsq1GtCwk2qP6W9odyRedHQvQB++zEJWu6dNH4jnkLRTEsTxIJgTE9qHu8Tc2o9uc5yl/Op
+lEheVcO9mPRUzDOcu10HPxbxFO1TdaMwdYvq1PFJq4qh+y2MJUWXaro1XcSt8yn1M2FvpKTPr0v
x65b1+Vonahq3mw1tRnXSqpYaxQdbLcBMvOiS/I1j5Keg9fx+ryv1ojs1m6mDyG2sKN6KSaEBVJl
jFxc1CYvdsLSG3uzW/lSjpVa35w2lSJtCGCz9WSb06bpKwGeSPuZ65O/QkAL8QEj3bZ20N1ESXGN
AuVPP5bu9c5XmenQ+CUNyok9hMGND+FnF1v9zgGntJNip/QKtCpPps7Ofp8jX9q1N3nK/5cb8WDz
/o/b9eCntq/5vCnq5a/6/3FPE2r9z5t6+/S8OAL48b/2tP4nPXMc4WkYWZjZzfLtv/e0/aeFhRBE
CzgNQMxgrvz3nlb/pDRPxxnBILpL2hzm/LWlJe1PBCPmrU79gSoLKrZf2dOL65ZLgXrGfCVY5I2o
9S8uwlrvktQBMk7rKv9uJLF93gFX+lJTh2tuhsHP5nN0V/83c+e1JDeSpeknQhu0uAUQKnUmyUyS
N7BMCgiHdgfcgaefL6pnd6pqZ7t37vaGRhrJjAiEi3P+8wto6n9PhVJjtBXdBhXEGWtMtvoiNevu
Hsaq+Hcqp79+nP98JZAs+gSeEb67f73XGdROnQm81K2mIncbH1Wy2Uz+p6/2P8/FP5+Df62G/niR
kC4K23q8+DEQ/ltlX2L+PM1RkhJPPp3LZCgf5TarI2bQw7+jPv/Tk+O/ztxriQD1Gs0WZ9+VefH3
a7vw4KiVgTh4BUzMFFOWqbhPpq4WyKnaeMyLoCGGqdxleGjL1VtumfYUMp3q3VvTBS/CPttXoxjj
9yUeL3EJAp95ejawoYQa9k/JUtveoYBsiyne0LvuQ1lJ8UiB4s4nZXvlj8kpkvIQBAsphdYQDThC
FBi/lZpcugdr0vylW07h7+uULkilXXXrEQpa8LveMdTL+BF+A1F94oWd2nJ++pap0RyTr45IAdZ8
kImxTeKbosFJM1uubLgHG/eyL0h8+NlYtAoYTU5HIME8q+hHhO11m61uQQKUEUmbZMSybN+MtNev
FbLyJoMFiBXx3K6NSuO+N3gYcm/crFUw6SN5ZPJXL3RXHBAJbR9rUZg3o7vud9fWwf00CF2nOPAt
LwZ3y+YoSre89k1+RdXLsfsVDyZ/zLBRtD7kMkVfCr8TXwoVzHNa+zSWqbs4pUoxQm6Wr3GD+Zmd
O1WnvnaxxvMNn7sVToEYvzM77l/cuYTY5ird3HWWE5Pp60cEcCuZqK8zO/Kjl3X9wa5Z3qstCZq0
2YfQy4rBHVdqRle+Rw7+cNnu8M1gKQONDkZcV+axtwnND570N3RzTnDq4m2TpBh48bfS670H15PJ
8zyXa8PD9BRvYlrFm3FjFNSeMI/7qCvu9UWJT/0yu1PWi85/dVZjWamzbNNHnSTqzRStfp2ERTIX
urT6R+AJ+UlCO22P7gZ9fBYalw1jwtZGjFKauzgxcCIcDh6ZVqOxf9laNz/WcmibjHzyPzyS5vLZ
Ld1pyRe/l1Y6B/EqTgV8oBtQuN5LE1Vbd62L9Xwm6n50MpOoYsg1bM1nZSe4RrVX65R8mTeCEp0B
ByeUKXu3P5tdl089qqvvQkfVRzmbMnpB0FZ+XUJmbumkqh5YYkI9hdkTJXqKJQs+TBPO+jv0OhGW
KdOIglzyxhl/yEl6RarraPnqjN2wpG6kvR8C7ySdTWEFshQWZqpYf0PUpHZjiQdrt1cf+lwo8aI0
e/fSe3F1VwhU7BlkDx/PkFhCwGtisX1fm9pf8Z0EYUgNvElcrgF9A3ht0dIenGIefzogSViuzUR8
Iy6ytJ9Xchm+kPOyf4FYj7PNTAX0c/FbnaSVrKJvnTeFz+5MOmGG02vRXN+M2NOe1vrZXrAwvAXm
hNWqhCPGA5o+1r89ImTNYcLCFkz8LvgmpVX/iGXYPW3j0gzQXEfWTSJLy2R1Y0dQBxOvczMvLAhx
3wezft07zQRXs/9+GBbQi9e4XwfM+QCfMP15kI7ZfsVrzUpaCLXTWVH1Q5snoogPogSjyuMRi6pU
DM1i5VNh/NeZI/P7XFgxQQ6Lp6ecA4fYtiQs+ve620orRfNV4LpVbkCD5YC/UeYVXl+nVTU2XVrQ
t8B8br3tfugmmFa2b+lH/l/3xbOILwTIbaAecaYZbOyw7/yN6JFQosRgDZUMoZxyUxcWpKU2qSR8
2K19dvegbQ+uP+iXkg8gjquw9yweKf1IKncFpNByio4y9HWRlvHQmKMX1AEI8wYefVpl0EA4bFxP
p2G9hrfM+/Q3pw9G2KxdzXsCjtdtNo7ADseiHcRTQFCef3avzmFJPdpx7rcGo1PmBd2Nalt7SOvB
mce8rqslNZMRKms9zueoKPLVmy4b+azeAUOwXqdSGztJnW0Knua1Gwg43+f6h89qvaIquC7nbYVT
WU4ugLeSSaCp+mFRV9/asay3G0Pr+qt2tsA/lPiMPflt16w5vhyjm8W2Mp+W0G8HPoI/bYeugXxy
Fj18j9QzTBDRE22qyoSzkji6FkuVVfbidbmHLaSVSUs556SHc5ii1Kyn/Gr98Nb7PcobGUVrXtWW
/WsphonYALz/GaRF4dlDHBCm1D/4afm78s7W7mJE4fdxkk24996t8L6hZRf+LSKy9rMt2uTDmoL5
uxObVqbIR6H56lmV90EXywfl2aN3SmCKrYchricvC6qqrvNubusvGB/aH3qozYvv6LnLuN0tcRrQ
nj51fVEPmb+5849RaOetrNYNupK2CiStK47K6dSss8iWMJo+bM62Q7vEXp8vbjF89NCLn4fZ9nK/
m50nroXoAZWOrTPLuEfXiqIfhKXWW+rICq86HaplPosYM1Vajus6L6FJ8wJBP7L/evm5kF31AvfC
bMeZMd5P4RdumDljC/Ekmt2dazfi/Ep9B/4y/M4A/2Ig+pIWBrVyNrsqNplyKpRPLL6PiaehMrpG
ohpXL9rPkYtgKwX7rfM+kcGjcfp6OFSLJH2vd9iRa5VMn8o1it7raZI4P+2rvh/9cMaJzHcVvqaq
6S7cvfLUAYoBjNfN/sbadN6HZPKtdDcOF0izbIIGzVlZTnbfteS4oJ7/xvimFPm21ZwA9bxKomeg
ZtFwKr+7I09p505xt8bPRtSg3wIWnzhG+9A+b3Ec/65sb3xYuChYR+y+kmSIsv7uquv+gEe+hLlj
I7nMIGv1b2jF6+9hIysO9jWwzv5YBscaapTMrdkjy8jU8Yg0LFm5HXSchF9KLX2V2X20+GmLai5K
u9ng4RpBsu8ITd34XJpqEsfmvZzvIN2uBINZHrm8HGe2wzNVilv5sKo9wde31Pb63LfBIJ6dyW/X
W+lMk/AuuNn6z240aZ0iWOG7A92SkkKubLeME376WK9ke9x2HaTBs8MtvbfrkIu1gsEInwAhQr96
OrzMFecWC2dwvAPeP+tTU9IY05pKz7o1G0TD1OjIUpjFlSQkMAiYP481dSe+0AxS00CM6ono9L46
xF08n0dog2Qmd6GU2BI2Tc9E0+eb9x1hPnpLu2G+QaC4aQgFb1Jdia7OkAFU3iP6kMnjIrHcZ1e6
Cuudtdngo+FA7z4pN6Qmom/n7rJ3N76bR6yej+g0mjBvSlQ3D1U0thsCM0lhtxgnbB86rO/f5wYl
QBpwL7Y4jntRlTdNvP7EFbiggqwUQ1BfeQoBl9/Ba7z6SPXpspXxxMJaCWfBDHu9AQyRP5cd+WEa
hEM/pwJqOAzx2efCKeUskQUk9jpmlgxD3NQVZ7A9bPZFt601552OWuJNq2CcnndjpLxXq9ckh0QW
XnIUgb2eW2IjY/Qe1riKvF0h2aYO0/6PSON5fXCJefRRMyQu1tCYNDbeY61a97gklrtfQFwEG6MK
uYH2WvU3iGUMNncQrlR3rIuidjhy3NU/FyF5y2OO2Q1zoYjU5S4fqCnCd6ei/Af9oQnhXrbLPkQH
GnkYYlZRzHWwliLxScIFHEkZTo9f4QGUDoFPsrFfCz2Y8b2um2R6Inllip5GFwkDlUXJHUxdF4pf
fzRq/yOs4v8NiPiXOOT/j2gEje//HY04zu/9D57VnxBG/v0/4YjkH7BHwc+g8GNki2aQjv+fcIQV
/AP6OV0mGOQ1fZtp/P/GIwLnH+ju/vCrBEKGhgq6/L8wRucfZHvCPbrawpBaApf7f4Ax/hUYD+jZ
ISPCGMGuxOZP8d/wCDGh7y7G3ka/RJ1yNk6zv/oiSG76uZN3grVqZ396NP9NN/9/vCLMRNgc+A8C
hFyTev4KGdidNSo8zimy+7nPyOZhhe9aOzakz3kej4Fb78//+iX/5vDE52KIAruWGDbqefhGfxsZ
DVNQD4VNspIJyVhOG0g/BWcY3MZ0d/eIKIIxOgBxwIZr65bWxB8s7qLS/23IRf7QuCsMWel55i1R
no6P//rtXT/xf0EO13cHXsyg1mUwAqHg7yIPb1jCQiFlotDedpmuvQy3vABheAycayjK3uo47wM0
9/8GWPnDnOkvr4xbNWsIwyOcUUFxWLV/ZiTW1D4w6q0h3bhJh2yALHsqWzStuHNXC1bIg71I2kx3
flzKcXZup3oB62x9iSx8BoMQuH8tdfsSOEJZ/5xXAEj+9/D33+QBPBdE3wlvjoEu3CjYI399d77x
yaIKh4EWjCAIIAInfMI3EzNfMHFQX1CZ6IzMMe7zIJy3ED5cNfwermqPTHSW/L4Eqn7ull5Y95Wk
NMm30Er+nUEfmvS/TbfA6Rk3X2XHeEZBj/o7V6KL6zAxAQ+jCYrgQrYV00HPbW6FaO0zE6eftNr7
AWRrfq1K7X9MpLsgIGsj9TjHfXu3YZT+LVSVX6dOv8pny0BBbrZWuCmdwhSSPFEGXz2cAKt8rCtn
y+UaOO/LjKN/1ui1zRKxiepEpkNb5QZjo/1Jb0lrnv2kdj72YqDsHwnQLGhnl7kn7bohhiG1ksHz
npukAxz0ZuXV1wzhuHFTt64o+lJFt74eWzxxmicUnrU5lVHfM47A+EHmisOtpLBUYaQ+RXMw4ule
mPiDnBPmanM9WfKytJY6rlvQ9Se1jo3ICoXNDuBSNCJRbFhz1q6G+TIvo3Qft7UvtstOiiTTOTRq
Mm1nzOyzMFq5N3ulzXsZVWhBd1JfljysHL++I2WHEsjbhThw4PAT93GzFaqA1R/pN3GnmOXGvE0B
7mcNLOh7f4/8+b4n1sZOXdvwq2VaFydnsAYN9ZtIHbIbfB4leF0xnabEANYMzD/mtIN8ZE6bZdsf
ZRgUdZq4WO7l+GUBgbQjBJdAM/Eei9Lxj2rvq/bzKpW8jaXGnVGLqtkeF/g2DSDJ1L6it5JxnpRJ
/LPd9oiuevaqrHMWY7Iu2aMPe4MSlUZjE7dpSZv5FPqKc3ov7ODWWhW9coslKQ03EEbBro3tH/Fc
CXFsYG7ex2VMnug2biWtwer5ByvoSU8ZiCHZgVrWA6LW5eLvVskadBc708r0O5zvpXreYcz/rAet
rXSrw3TeZR+msnOcZ2w61Ax6yEwldWD/mM+Lf01tmL2hSo4UTHihJf1EIKGhJptc1b9ZnCzruUDO
+GkMxsFcAmuNqb27Uj/HwqeRWhFaOvAFkjo49PM6XKZghMEhlHPjtfF711mdIRhvEO+78i33xxgW
8xFKD3rlJsD00goFRxV6OeMcgqWfDjWhArfbHt7qUe0/cXmH8bmgWvNqd/0RDC65LXNjf4ZUS2oH
Y4Se90DSz5mxkPdArkR3KcNFvpEC4+WeKijca4e6zMBuqqQajoFa+fybcTe++Lgk/w0snHCNYSW5
qiJ4qA981q4/KudoOvTFqYwbznEtnR97CQKWKmzC35y+ojtzRK+9jNp6Ps8Av0tacE8cHTv6Faqy
+Ww1fvJ7okneMpQpTpJJ2TIyGqH4AV5F9Y0zGyvbRBzhAuONh2CXeHP41sagTfXNmxhskdczTOWD
nly0nYzJXGJj6Nrsgw2dIe2k5Pza9bbf0BYFn3yg5Y/abBjOGUSxITE6KZOz6DKRmnw3DGFopaMd
DLdj4HKqDFN4RSeUaNQxbPpgPraLT0oGyae/BrJY7qfI7BAoR0CVfiiqG+1vFQOKYRG/B7nX2V54
osm26hqxLbQlnvC8iZOTiYYgl/W8v9iCWQbZNf6tKCUW6ghHqvtNkcBz206WyMA3HQB4ZcJMuvZ8
GHUtk6y3ublse38URK1wqymlv45exGKl5vbuXdC5I5hy+RT3To2r4DUYyiqUPKyBcp8FXUbOk/HO
kYz97BqM9Irj2QBustUJmBaGdcdkdlc0qvRnx2Vq4jN0xwhUQfv1Dd4l28kmllTdDSUxSV5vb6em
AklGdEdSc9X2yydu/pYMoNq7bxxoWV1niuJZOTspYJhQwCCawE9eOmZKM1DKsjzTIlc27TlZRsGa
0DPCJ6gOgBv7k9UbcktsXZPDzGA1Y7IwZazi/bsH5x9+5OCHxz2JrrdPOfjxs1iGznruWOnjpdbJ
npy5kK3isrIVulxLUx0nVix7W/gPEi/7LNGhPqyurfMGyXuGIHTJLQTINwYpOKY1F9RNnwc8E+/E
SqyKttTJFe5pipwfxDO8wCP8JZ3xxRkSPHTdj60sH+ddH+mQnmqm3ZeAhJ9HtONOlbYyXlJvKTlT
K+dTO4b3Cp7nUdYrESetvjHdxO+E12W4TnmpX2jn4LCbv1xje46TG4THfkwaqCXSyVFmehduuigH
smcGPTrV4eordGINRgcRavWx+pO5XXkJpLys8MMc8xwRDk2vQzMXdq5s64xVtyF8Zo7DlvZV9fUN
TNply2YiGKHI4yaRznY7ZmTXL21KD/0Ot/zoYKRU34edWHTuEDVxjDDfB+vigRbluxUYINm4iK1P
Y12WR87nqrzUTehRajHzDs6EkdnxPbJzjH4TkOLPg82h6jajwxMWHbySaSle+smDBIY+EdSkKscM
7KYobzqMeqh1VXC3TsV+jFRtkO76uGQlswmqzKu1eRCaRLM0ThY933nbaA6owfYxQxwHmphM6yQP
uJuvZ6zoggck75Tvm+ePUTYMHd34ZqLNTm0Yyy9NwTPnGMQvNPMrcOtpwW/94JJAle2TTfBL05bu
eiQrMPzCnp3ums3edNZbcWQIcupBDrZufMKLMjg2HmnGB6KN2p8M0rzrM4oO28z4LvdGME9oBHXz
OaK2B7vRnfQzxmqhe4q15T9HVl1AAk7EbwIlrS/TMtbLQWCmdJFVWZaH3RdzJqJIZkkp3C8m9OKv
let3y800JCN8CFX7w0XVOMKn07rpU2UP09nv1z43a0kQWD3Nj0MHyHLmNmkfYysx30CUxhe/Ceab
rbPj55W/vsdx9G2NSZKICAe6H7y2fHU33aVkZynne0AbeAsVFyp20Tq/G+lFX8pllgcYlDDfTRR8
w4zBxqKiZsXw8RAFdjN6T0K7gxnr2MERaWh278D4BD5TP38YdzAH8LomE94ynqUr5i0VY2dy9j5V
QEvglT4vZet8H4Wq03gWyY0zESyWxivvk1lk3x+FvzLOFQMDTVjpfN/G3ISdXE/LpEVOiNB6KEg9
fGsiKr99DOMbuyunq3+n4ZtcEm87+lawUFwRQn23ht5tXTbrDaLGEJA75BdbRx8bKVyA9Wy3hXiv
AvHXyY/3LThwdukH0KxbvbXDy9JiK4tloLdetIFJhelC/IT3hfNZoBq+7ZQzPWzRSLDS2DGF3mG8
HoUe+kPhhPSXtrlYwDHfaU2rTCbaPCfcGiccYK3iEHX+/lh5cMrJ8tPphHpp4EYLpp89eNQdsyvn
dp4tif9agPvG5k83XaKqe1cP5dNki9uykY/RXvR347bYbk4DcFNGFlmss/gaFoN+DwoGRAvFzqlt
w2db1CeKONyCqkGewG4YE0drezcvgcxG+zqmc0L36EzOcr9bXZQHu9twobWaoMAuOLZzog6NbdEw
TthRepoefYi99rT1RAiTJlqRHSyck97Gu6gdnUNSquUhEdHVzaSrbt2ILGPFxC11PCMfPRIkLzpc
Ks5avd1uclQ3I6S1z5RcRIcFvXWLRnKvMLnQI987pO98qiqMVmbffd3KqT3F3rjf6r7Xeb8EH8RK
dNQhy3TQSbceOlGvJ1F4vyZ/HpIjsqLuUBPFdztZBJ5VlUzSvoLAY3Xb8JnhWn/f9XZouKHq6GAq
j2p6Q/u/L0If46hStxv8QDTG2wYFxwry0Vq2W4JX5OdqF78THcufHTHOebmaZEgrtyR6scZHq150
cRoZjZxaW1mU+4Qy5GE/3HVVh+nNUBypvftbH3IVBzOOG8qbvO/CK7asHMeSc0fKh8gEFoFt14w2
O6yzCj+2lNy0lRVNp76GDV9xLU7SF/szagX3c+RXzdlMa39sNQaf6dhPyf3SABgy490ziW6HqTLD
Mptz90dCZfgL3dCeLkQ+H+2icC+dLKx7kqvFaZN+/CXxC3onpfA/sdpxOUB8f433kjM3CBg8tH2d
rYk7vzmDyi1VNDdqSAiI1F5Ia+Vgm8F004aym+jyDh+R4FoV24d6MvtdAUXrqFX5ie/EpJVXe3lR
FRI8U7/GRdBnBFTCXt/sJ+k7+8GzuKSdod+ObQeVfav7g1erbsymkSWyhsOWY0fA8QISeux1zXEE
9x9T5RXhL04aZ4tS6hJTX9DQ9d6PNrS7I55hL54ag427IKne7Np6asurIZob/2JY7d7wbTuHmKvl
ktT1KRmX7TBP6mHDVuWWs4DWTVsdA3F/PwtfERrnutylpr5zl2BjLtH5cUfuRbQckqndTqvFCMVO
uN5LtvcZ6Ks4Uhx/6/C4PSVh4r11TZTcw1CjshqYbAU4LB0jzaxMiuRDJvEnd2UgPhbNzIzQWTLH
QRsRutvZYgOlvfa9OyPi5mfftvpNY9fVpqY05hLrOfU20uUQqpBEpCMRfSq2cTyuKuoIAe9sipqg
Ks7Bvn+tg2o/SmYhNGPBsqVcYB1xqASU78hal0tsQuOn3YKbSypwaiUraQfr9SO6Jh9WLd9CSfFh
t/0HCZJvLVSLn9Ommlv+Y/cYyaUKichagnu/HIHaK2TYX3E99G/CdVgfrDbY3gUi9SftEBacFnqb
zjAH3v3RDhVKlHm8X8PQf299e3wKm6uS3Lf8+9ntvSdfdn5mgzYTFFnbzzSUwU0RC/wr+2W8YShO
UFdJNOKln9sFu9RY36t6Ns9D1c4PU53wR+bY6bJY3ifVGQtow9ffITA6pA6gB8IgfplPAX6vUSoI
WzkT8ia8VIJ4XYIwkvxCJyC9SR8myrovY7TbP/Er3Q/JEm8/PVb4SQexOc7RAPFAVk57211FSYG1
jCfT0gQdkkJMnAoIq1Ru49RQcauZGuN72XlfIkbHywFLKorOXSVvw9468K7weCJ8WKJIXYppepZj
2+DHxCvlzbhiKx5ZjG/nCCBUiPlHMZnkLKCVfiUwY7gp++CnVbcYXG6JJGPKiz5Ttn9q16C+m9Ac
wHPw9mcNC/mtCillIXYsZ9u2qw/hx+LXiDs6uEBImTWr09Da8oYgyeROzeSdbkqMn+N1ip/taO4P
DYvmnDS2neuG+ZQZiavqF4URPnP5F1f3zwbZd+4Hy/MyuM6PVhpGW92g79HOf0OQ23pcWLbCl9JY
4wc0u9U+cSLN2XB1R8/pkoIqtWvyXIkhGr+aOSCWYhDWbRk2OATzwMd0scv7jplKHrZWTzRW04Q3
Xm80LIyuA8ihivWPZECy3pVZmBB6fnxW27wVLwyYhDivXqKs4z4bc0KdHv6KiFc6TI4m2LYcPnVe
YYYfzJXg36Wry0j0ueyidQPVkf3jKtqgOODcpSG2zLZz4yzzRHW+MNM6kOOrGa4zKatecQYLGbeF
DJ2dZAw36AB6+Z5QeME6mKfkBJ/bYhVGu3uLmY//vIoZeCneOrCzzfetxE1LpjBwWqKtQRntzVFZ
HUHwqI67rQ3j22BaCwxsZ7HFzN7RwV/6HcDlbnRLoLTBKlbUblPgNvnsOFbeKEhGR0cTosXNxyBs
0MnyxHHai/eJ0SEwtwhrmDAs2uCrrmiFHvA8aMPfIHCC1IZoW7FY4YErDs/Uav2lOEJNo+UT4Tw6
j37YFh4HyyqbY0PV8nN1vO6zS0OAT0q7vGCmbYpbmMXtq2Ik/0r3NLWUdp3/nelYuJxwNwv2Bxua
Y32CdVExD9X+w8Iuoz1v3KDKiZqtu8NG13pfDowKLxgMMBydVCGfZrco+huIEGSrQJarcwub27u+
JbYsTeLqWm4OrelPfVyRT21hUV0FRdSmHAnwpglbvioJ+7H9jW9jOefXGMfgC1lNiuQpBtXUH44L
e6R0R5BDGN1qOkitIYooi4jfB/y/rgSYaGa4vgNMijMjSyYIM4YrQ9bvO9+r7BLmJ7uczNPKRDrO
wzL015eqdpX7yFSRf46KsOozAZT3uRhZnkdnRfCZjlrCYxa7clS2lxWU7KiYgfGqdaaY6Dekn6vl
hPZxKK/oSONaWE01Mtqz0omWNwYe+ryKqg1ewsFKUvSb1pR5AZno3Btsq09YVMb3VOXVfUmQhp15
i+mqfKgZPWWSBYHhF9VnlDWl0CJjPt7suI0LzB1b3YCi42EJeXR3MDXOW6PqESUXs9pkqHX0vHu1
T9pojDPExVtrYjz70dNPZVBaPJl+gpGHq1qfhY2yJccKcD9O+7353FQQ8fKaqPcyDdeNC2T1r9mn
e68LPK7cjjPDDOPPyp+Z5i403N80AbJP0vP6nypql9fQ1QkY+CgffWk7MnWHqGUGvJurVWFn9Al6
SeCfMfRw5KVqQxNf0AiA01YzNKF01YG8k1dnhIqy6gn5zxZky9q3+KHa7tvmmv0hGSLMxsZpxMka
3mbwJbA3u2WebLDeo1iO3vdJJ0cLpJxb2vRxCBMiWrs3Jr0FBX0no/r3ijFQlTtVtIiz1D4lP/hz
3x2BYWRyV3LfnpASVWNaxwXZiLxz731dk0ClHvw+VvwW1IfFRKw+T7j6ZjZ7/dXdh/lzXHrqwSE5
9gTOwJKx0VFjV0v9WJ6VCnZxCyUDusoASyjOB6/s2rz2O7Zys3eee+qMTWFlWY77FExRB3G/xVA0
VWHgthfLrRlEW+sUcXEXuHFgN6CsLaucLrk1vQSqjzeLg00J2WbtpoKbpVYQPu2QKvFAr8bi1g31
fh4Gi/29Dq5lZ213+pMP3c/LqmFhV9g07uy5pSNtR+LQmOo2oqTAjQpgsIaOAbOkDg+yunKhcP+Y
u/M+d+JBxipxHz0GqC6AhENpNW5h12ZWhFN1ipXnvmZExNMGun+sdzsuq1+GeJ/w4NPmPVy19F4+
Ehl6E2PjVGZmmYfvEtMkeLwaTk1aEHb9CTw3hiyjxPfNnSpzakavfXUpOuGilsJ73W2wgHTpjQ24
HnUCdNGsjzHbr6EliMybswmpc5kArlxsGFQ01tLiHUadK0Ji31oVpE1ZQBdyvdJ+8Oc++Cgw4rx0
amKDLqXiq6tQoFenSAdwWuqVsptXTDor9/yiB+nevPEosFCA8jVZ3R0zzG3ME4xvHlBf8tGW1rZP
Ws0W883CCg9wx0sPL5DRqljxTqEututKjf518MzJDnbiK+VcMV1Z+9VvD2RBwmHt1lEPh5aPA7Vl
29vosHTu9Hglkj2tXMILVj29KY40OF1/R8KwvpP+HtMnRirav4Z+R6gSlHyZc427221Af2SeZdWX
lKedhuq6yX3T+Uwg3xetSADJJgL5xHmzoIW8/DHF2nC76i5kalwtyxiCfQxSJw9rE8/bUUKi7ene
3SuDKBnLT6JZXfd8PTwPIZstguWxJK/C36KafjRWL6hDBucSz7ofDnVS/pKJW2fecGXzDrWfXKoV
uAgNfqxeg6DYTT4vpBsQztAF4NwTV13aT76+KyY3GY+j7JNTYMWA/AqUvz+v0uVmqMIWWmDZ93eF
4/bFrYiTLvy5RLLanhrc18qHOVRs3qDDTPXOJnSdHQhQ4t5KETX7GY4Xo0T6Z6+9BBBu9xwvwFHy
BXXz73mwcOmBTCReR2+yyZg2gkQVdw/xq05daMIXTzqzekcaL/ZXt7hWB7GjscEMxJpEB7wUrOmT
XzQbBBcHU3UHizgcI+LKRy6D+2UfSnAfwnO5Mxii1P9B3nktx61kUfaHBjfgEua1CmVpJRqZFwQl
UfAeCSTw9bNA3ZhmldRkaOZlYualb3QoJJhKpDln77XjAzzWhOPlCMauXxcuK8U3m2zXeUaO1Bby
lqp82n0AWWY+zHKuXDw9vqXI6u4igVZJSHEjNS1nNxclgTfoF1lpmB9lBB2mpTT4yc2z+XuULDEp
c2Vw/BXiAqnw/GnhPLLD7rqPbjRX+3ryxEpEDt2c3vHgP7bZTWMmbWDWhk7ARDi7l2zmuJJZ6zKg
K+veAfvqv2eFGzF8fKzXehw3t/Sx82ckd8PPDql0wlc1hQGirOZjktapf4Ha0rsAx+60gZaNY7LW
cD6vxyicPrm6SvZdWm96E3V0kMWz+1XZfvilA5/2oLH1DdyeoQD4twlwdIrnIik8e7WY2K+GKe0P
kBT1mxhDmbuP0S6YxzGcjHyVV3UbEHqGnWsQYs+xCvQXpZLqWx3XDhO4HDW1nXSrZB1q4idrttO9
lisqAN7oXziWrY4oUbu1Y2j+cYoLOocwe69jH8KCM/W9t1bFHKJKUkSA0wgJjV2Rx/Mdck5Hp49V
6jBFscJdeaD/gL/2yZPZd/Eaold2wxdEAJEb52wqXURK30fLX1SAtKJoeg/pZU+6krnOKKM0tKUT
wkEiTrrbwW/8bFO5RXwzU2+NVknd0VoV0QS51KiHRQ0fFndoeeOf9LKZ7IyBE1tc6Hq6pqRcI4Ik
Pg1EetyPq8lGeMW+tjyOfW11QZMlSMlz3LE6QxnaaxIeQPQQHOx58oszGzALGtlemvMMj7bKaY4Z
4ScoTSVrjwi1dA1ptBKbOR3bT9No/PQSO72u5fDgwnFgKUTqO1HRuqR/Ot2oOs7UWrPb5GPVjwIB
pyerFVXPdA1xSBx7hUjCsTR5H0+29zTlY3VpILG4pZjKwJ9BoW4RC+uBEg1jw48Sc9WG6F7W3Jof
sb8yw0OO9RvbwaCNW2waThX4hd7E3wqr04403tbe0NbtWkuTdhfPI3mAGhcMbG8EHDsu9r5MiTtd
ecUlSpJqRcfac1fMpwiXeWd0qzno39pyglIBL7C6msEUHzgg5490HKBsZNKkyFbG9OlDL7HWNpi4
i7SU1VeVDKxiIxH2D2PtudfJnE5f/LoxN/iL5Qp9oPGpNLSRim7PkppULQULC1puvJUjhaxVW+QX
QmMln0rTibaRbrbBqNU/NdcckKvWfR4sEqH1/4hHY+KnRjE/az51UWn35obX7k5rkbTs2aKwOqYJ
RanOTKN17o3l5m+0OeAkIAk4nAdQJJjgpc4DVlrmS5iK6Bu7tGGmhrwtLgh8GL6PwqTfphfuTTqa
7CzfvuypSOrlsnjuoQdhcmfnJpY/f+U+L2WixDz1NLRLQHnggic7DHJq3kyphcfhwC0H751rGi8I
uv/IgbgqUHu0vdDu8I/h5joT3LSd4/dFTve5H+ylmplWOn0oTBTRCgVR325jNcp7FQLoLQ321Igh
vHRP058T35A5c7+JJ0f/RiSFP3CASnQOr26n6k8CgbF2cDQq5kjH/bQS32g3s4euhZ3+LLKcfKVq
WMTpQi/ZH0yp0X93feJqt3IB9rAy+2WxF3lVfiCoz8FQms/W9WDU8sHjlDuui55tLYpt0nJ2pi7r
fh/LYpCbPh2naZONIfAqoxe051AOG803f7IXBYlWZ8yifHSUyvAU3vuJpIPapL120MMp0+gqjU2N
8HiYD8IqnY/4EHI+Lc4K30Y1stbB66EGy9Zqa2lsLtdNZFs24ldcJ2iIUSVTgyPkLWhj3RAHL9GH
OJi6cjrgz+HMpoSg+oHIpz4amdPQN+F8/QlTdFMGtai0ZxjJZD+VSrnujo5V8sXJSxN6dTp4ILvh
znzPsaTqaw1Jc7PKBlxZm3RQCAOaeHaCvqYSzUGzUkwBVMe0tZ5asjnkRV9nnGYyCseAqtoLf85Y
Zjz8uTkKItT3q8itpiyoa7/lPAbQYhcVKFxXmKGsYpOieCcIZIxzygJG5jN9I5sRqymX7dE2ct3f
NmqaD7U/6Wr38nH8lcz0/0dLLCf9V7PIYqM/MbpfPck26RPZvRaivvydX0pUx/qHXiKWxoVHs0SO
oPb7pUQVzj8sdaapw4DwDQBDfPj/mt01Q//HshZAm7+4IfHCo17sfrndNVPHasvGxEe8CkoRssPf
SFHPWCOeaVJwQAiL4x2uBwa5MzPpnDZ5ibOQySVzjaOGZOTBadI2pqmkCup+o9x2XUN/uOn7YoU2
K30aaSH+bJp4Orx6c38QqS6y1//MhC+3Qi9veSrEtzaT29n8608d/ehkWptV1O0xFM8B7WS5R83u
RusChP6HzIvC740iHfTtS59O/R52f4q5OF2XH+IlLvz00k4TaWNnzaz3Wvzo9Rz4wlI9p8rbIri0
3rnYIvB8/ZxcTPiAk1DFcmHgXKcXw43lCC3D1prDag8g7z9ZNQaat5/ozxeBFIeLlzF2nkkRDyWW
S0EOhQnw+QAQZwgwRVp3b1/lVITJe8McTOQhilEeBXL42eipu6GvSkP22CmqD0LD0qmihqL5/BwZ
85dsrg/eUNzSO31nh/CChTt5h8Bt0HVDyrJ1g0zEs1WzcvyWkxgpXDhCNKDpTUJHLBu95hNdDrvf
huasKLRV+pMVzvOV0ir/PrZDWhTNUIVFINMixVbcJDn8k9F7mCbNt+AJ+OpTYg01EhRT02k4FAb1
wKLBMBD4rLVrr1PWPcdN/rUlN3CUSxQGJVe6uU05zdeTAi9zMOWcI+jEvEFPu9VwZw4SZdXB71qX
nNbWJsjLJ2T6sUytR8yZTURRWtKsMXrpUmBIxRytrOWAC3ZC9O8x2H8bG/zQBn580E1Lps3LnPBq
o1MhBtSyIaKAUHbZFQGZctMm/ntJ1b99UzBBfRCg7M4MCzX+2TBfJC+F0dO7GfW+Cfy+JY5DD9Xa
VoO+xRpfrt8ei6eK7mUsYlNaInHh1XsuGILTz8rRilrImHXTcHGPaJJG3ug0dsCWGy1JhqYNw997
YW1/eEjOdshmTFztpOec2eR9UDpsNaigupm87do62/cIFWn8+rfllLyH2/rDD4dtgV2igbKepeNs
h6rX01xFlSeDkFtah0ofNhEHyu3bL/Il2+7k41o8E/x2zMFo47HWnL7J3qjNZGTiChI3nR4dipdk
O3h15i/SH48uVn3ZloOLQ5EIDiMgdLUkFsY13XuHA9dN0lme9+vH/avtx/+bLheYGa9+nt82GLfw
b2T0lJ/sL5a/8mt/oTn/GMscj1bJgf0L6YIp+NcGA2n+P6Bs6MnxUfB1LKT//9B0WGVZ8sQyirCi
AOX4d39h6f/oBPGxLXAg0PoO5pS/cLqcrg9cweDu9GVpJ7wLnM7Z54EWKJ9tHS5kRHHtOiZv7cPQ
hc0WUWyCSC7hZFLb5Hg1ZZZc6dKJ7169qz9sKV4AdP8ZytwAFF8aK77DV8NtnCdlj1TiyxgPw5o7
1R60DsNEL02bq5bqMBAohHx7Qkli911yLQoNNRZ2MR9YzUAsT0W0zAUmg/oR5OSXkOpJvWqUNd6b
iKrmnVbngmDT0t0AnO3eWcCN5d2c3jrNSjLWeG9YaXC4nX6FjTNVrjCrCV7gpIr9pCeGgw6ztqnE
YPj/PDV0Iba+0gyeKZzN5EA12cigAZld+Ovz+6+2kNOtGa8RKBJn8mWfKMC4YH86ORoD2+nyxkQf
z9EJfUVUSsPZc4RzvHVdZbj5MxzL6dqIUA5QldOpJb/9Qxqns/vyQ+JHYcUnK8WkUyDOZvcGqgMt
NYvmSqZGVAQDvswVx0myl5QRp99Srxdb17BRe4dZMVfbshuGcN/6Ra/vVF0k8bES1TDhIwbsQayW
nmI+xjbg7+ykS7oL1LVY69+569MJe3lvxNbxWUJ/RfXgnQ+/YU4zx+A4vG7QlOAhH+aSnSzO+lVm
5QNHfFSPaXzUQ3vQbgtkBzaHelmpqIeC4oQfMzMfu01v53QRLCP3lsBTxOCPf3+bvGBwiqxiBuSr
5TFebQg8Hx8zccxApnSfeIkSDfCd3mIXrtFxR2vdbHqsRyZKhH06a2Z8Xc8qTnc4uOpwZepzozbd
3BoWyq7G61csAKP5DtrN+u1zwI/nCBfT/JIa85tpjmFuTgh8K6B8Impv8saiEpfGCK1WckJ3EIh6
qrbF4NvJxp0KomQcL4e4qVF72SN6GQCpjql3nFF4fiN/odnatcrGi0bk39IGVwx6zqz9WAlEetQR
xaAFZaNpdtBqY6gjRPMjeyPxmQ837Uhxe0c72gkflOzGBzcUOXYQmgxd4FC9jt4bR8t29mQucLET
sySjauF2zfMcA5ftZDnJBQgTUSJf860g0KZKG6LvodUM3CJscizxo51uxslEn+IN1mXbtxHwA3DU
4boxU9N957Zc6/yrXHi1cI8YPMuJlG/0dOA0cF+lZ5NMh8owdynyjs1h7CeVBv5YNeW31CxwPLsh
rc0Lqh+HEpZiuklHcCJT793Sw8fNYwxqPHDIAwgxaNsubdtHqcvxfrL8z34prEMeJtBqcPsY8Rqp
G+W4tlWXPvgRYqoUOk6zvEkMGysK7f/ySN40bnmMJhsPa859NZBZVYJhtdz8IY9m53pqWyrX+jSl
Gy2s8jXifdRpFL4nHXG1Yfd3+H3HbZtPP5eosZWsy69KbynMmEVVX4xa24Wborb1vYlpPDDdtrho
vZY7oeC7pQlPrhnDJf6RtRptGoTc7TJUaQJ1ukIoqiWNuPKp2G2neSLvz5XyOCn1cWZXtovAWe3n
WtV3hhPddTM634gRsc9VOl/ZKm/oc4f0bpD9EpquHO9Jo6mOmsCKr0LOeoFJBsFXptLjwuANCATx
9xM1RWq8ZnlUDSrKAbMEmqPecI11LqKhCFCHi0+NEym02dodRQGf2mtfHnJjinYGbp0ttr82aKg0
rV3Kcx/rynzwwya7MWsigoykNShzN0jyi3ZH2eoSFZP7uUU49rUdbDL8Cj1taBYSK6gfBW4GcfTx
Dj1TPmt+FH2xFqrbkLCDiDNX+a3m9WrTeLQm6rj/mpg4C3RZPlvqRQLTKEJiVdZZVL50Z/6ARC79
prdGDbobh7pY12OY/sQA5v5oaPTc+rZ0PrUq9J7rdi6BEjgj0YF9rF3bqZPs6u6KfceiQT847lzu
Y7Rg+DnKC110/qGmiYhEhN9hw3bZCmaauX6QqhiggRMlH0bcLYdobsODVRVFtRvTqr0e6JACCHCw
fM/+sHOGsaIv6DmBNtXlzsRL/2hN4S4qZ+uCZvS48f3RPkZZrHmrscjtnRzi8oCiMN/PEy74lSaG
6qFuhu/ADFraCKJsn0hRbr+ZEKwYoKM9b73ELO9E75OFauaCfgQ7mwwZeRU/wROZdjImRJFaVrry
urr/BE7DRG1XJIsfz2Dd8TjxVutFTXuLJ0Hv0VRCNWhkjlTQyWyZ8iVlZbfNlOO2h7hTyU6mtr2S
RfI5wnpw50EM2mgDzCQm1mw/2mbzNab4fNsMZCN6OjghLFADHpakAZuROOuMCfa+gbOwUpPrZJsY
iWmgI7xuV2RZmA/k44zIIiPmcgcEIDAvIzwUjcwup6xBuLQYVqQgpsSMkyuqHXLlx7a/L4WjX1gD
0utE6fauGeW3Wp/lAzmSTQajwFTHMXFoj3mYmlC65cc8HG+JyPnSY6rbKt1rD/7kxWJNk4D+lGmM
X6o5Sz74YLQw42TGB2+0449RN2gHcxhLPK5TuWsL10dxErf3qhF6FxRYD/Zsam75f8ljqpcp2ulB
DKty0NxDlFjRfe666tugOennfspDc112eNgKWvHX02DMewy+/I+K25xW1dT+MCoA1quFy/Clz6aB
Tr2JIyYZpn0I6wzxdB469spC0/mQzeqDBe/0RmnO9A2JSr9GevqtsMWz3+AlWNWUzi8sfDN3Rdtk
19JMh5+oK3X2vlZaXWp2hLIu1eJ9583OngB7fj6LCssYhGos1yHr3EPRzT/aJJGfbY3oGLQCIwZb
yzsmFMbX8by8BMV7/F6k43xwiwLqjc5xhZQjo9ioFCNtJMJuWT3saRcZcbT4da29YWoJ2vMhGRGG
4aV7NDPPuslQ466EW6hLq+qcvaHH2dEM6yejDyGD9Co9iq5GGUZq4nYpsF23is5qPbbTWpZt94hH
JrzMx9Y8TB7HWhUO/W2TQ4EDXKPo3gHs2hCItsqKAazaoKaNSxznLuqMfM0ObPyUZGV/nZF+KnZO
VLUCIWIH0nIidOXGUxxlkhbRx6oQUfSsJzWgpXpB7sL1uHY6DhKj0/sbjT0U//W3YEie4SgOVwXw
NoyTTnsr06Gg18rhuXNA5UTN9FiXPUbrqg9XVaeczzaFlq0d8j1jQ6DNIUOAE+uO9oK2yiZhcLAa
PkStmV2JIY4/GqPZHtIqzKqVUeQOZB5SnQ7I6fVHejn2ZQhf+rJqWPXiMDZpPlFPREpfUA+C+7c3
0JZ+Ryz7nNAcPYQJieTs+CcsoQvVxw2Z0VYhCKDAL5N0302cA+ipVJuso22lWs+8r9VSPyul/UPr
LP/SiwscDzZdjJtEmtspqYm/pZ0ECczYiUF37utKmNte1fIwZ5X5FTnYtvNIqV3H/Ww8ixoDoDuZ
5W1oR+2OTaj6AlRmvq5DMKcJfW2wcEl3cOqREl5TZ/oa1aK6sJJ5uulb9NNDT0WohEUIzmwxxxRD
9DDQLBtm3z9qVqQt6KCpuqxDW5erGATRykuyiyTn1DUzTnZtOqIPLjHWFmrAAgmbCpWVaT7XoK7u
tGHMgbwzt1D3xGIDpvV+qXZH6xb5525UprFFj1Dd8WXnF6D8+27dIihb42Yn6zS0UGBqs028jNAe
ezHp10mVuV+UVbj7qAmNBERi6MO1UbZB94+DUGMM3r0eVu1jE+nWZ21UzPKulY7PBgfTW6dEEYSD
WMIiVD3aJL7mJ6qZd/jn8b2wCCm39+/CTLVf5ZBHd0h47J/jXGXPkV/HH5IkzLZOrzl7rwsBt4Qd
doqs9uAvGegwD47TI6Sr4x+9M8cHmlG48EM9xQvj10GFKfqqX34z047Qjg4la1WW1Mk+xW6+wrc6
IMbXm7sqqTpOFja7C4X3b5eqmfbjoOjSIXIEk0emL8pGkSU/aLGYF1RW0SvXpSa+13oy34XW0NtA
e8LpcRxq7UNcs8EPNFBs2OP9SXymwybQ+hbZ3WCJ5hNlrAmIY+H9wMYNSsxDvrFiRu+AVWAXvRVV
3XHULmrrOGGEvtGSjGfH8YkImw8LLIzPVw9bZ4oviyHDKaUR8AwsZvqBXRUOjiqm1tyS9ut+MSPA
eSvdINxhxfbPe0AE4eqrxILfGDBYcVuKFgevj9daHeMRJs+jqLCC4Z72WTFdIfjaR0LlfSbttrDH
LcdxtA5hM/EHraoa/8OQ1BPs0bl36njfRIjIVoikagfKTT7dMjqy6NJPpmjcpg2uN0qyFOq24KuY
cCLTq/ay6/0Hg/btDyCJ9X7gsPczgo3F+joW/ZWSc3RboEnFqyZpebbpPEnmHV+G69h1QILKkgg7
wmlKBIv+j1Lvsb+k1sCWJ3KbL6y88WVNf2wP4cqPwB4nNp423Q6xq3RYDRghtrMLyRtcLEB1fJn6
RqOt21TaL9w8O2Dlqb4UTeSqDQy38MFpvU5udYCHiI3NvBqDYTZgG7qa05jbyB/yH/1oeQ9502nX
KKX4hyWO6YF/s9KeQpatfM0WEzxn6rnRfabs8EmfFz/kZBHu2JIMWCFuaLyHMcnGcie73P1SZm0G
00iz+n5nkMCBZohteYsxmL66n5IRVeT37Aidr06iDSjocbqTpF51EBEhO0VskkUp6CyTS7d1xrb6
qNhssych1ahY6bhUy2DEOULsSmLGl3k1aNdDJchtWJbrHDBZMo7HLCy9B6OxlNjNGZ2mC03KWltn
MvPTr6Ul40s+5RLFiq7Jfsf2QM67dBIVSiQuI9c9TpP8AntZn66bcQQCKbHaPnpd5pHjgqzPZBrV
GK9m6YJkRAKD9MXQhYaDuawBplnsW5ILsnjdR+FS3wg0xS+68WopEM40HpvjciziFoAn6ti10nP3
g10byfU0jvnGQYswBiD7UtSmmZhWwmzKK02CtI6x1JO1CRNuUzp0/qtZHSMndnD8heaxNlPtyUQQ
C7XRnnlhaY4jfT3W+OKrGOsQaCZ1B1yHpaEAaQbZwPY/AW4UaFudpthUamovJCnTT4rJ+7rK6+En
Pi0EjFy32psxStkPCXplmGtFwZkTIuhY7zL67j0++TmFyObJSWy5dcvZKnvAsqp1WqkFdSyK7p0u
11KGPTn2w0t2OVQg0qRTTCX3rL3WZPHQDcipVy6SaG09Q1/0E1RiTJ1+vQO9CrIrR6WDuk6mztOQ
zrQF+jHHeeoMKOTW8MmjnqyRWbM3hiciAmaNWfTYLsyYBS3pJeZZlTtgOMbiQp8i3MV9PGAOQ+Bf
2bAf0NOvB+z0R/BdtrZjavEnTmoS0p4ezz7k0B5Q1rJfyMQ6KfLuPTrwOUfIccmyo4mCUt0zhYMw
6KzGUCZupXOGBq+ZRt8JMIb2O4Rd9TyNbvSBWxmh79Z4S2LJhp8FPVshi0Hd34vMuMqdKb0x8sRm
1Ca2egf6/FuRlpsjwMGgmu4tDd3zm9MbD11Xw66vK5r0IYLW6+FFJ0CCEdgUw+UYeekutxWp5T3m
6mrn5g0QAs1uOJu9XcVbarCva0QQrUzTpSHqcjuUja3T94TFxYzTYQDnOSFHbob2ovCl2kSO1W/n
LBXvDM6lG39+OcvjkZecjkUydXo5G+LhmCAvX4WT/dRrqn4EnzmDo3D8p7cf7I9XQuWq097zGAhn
vd4iqrS0ioiM0xKI+Mnk68emQCJHRKl9eLnUX7WZ/k9ULv8XUtSWWv1/p6htvsunH1X7uru0/IV/
m0uu+MdgX+EQRugSosnX97+aS775D8Vgw9XpLVHofPmjf7tLxj/YrDiILBgp4FqvxSviHx0KGUoB
GlX0aP+mtWSc9SQMlDH0dJAeLCoA/rFl2LwqWmuqknFmztqGk8JWutm91YMeLH6CgKFY5h8q1uz8
qSwfc/cSq/fGwKHTKxg3mtypxiQGqt2Axv41gv5rp+TsK+SufBQ9gO0JRWLuXnIqXt9VXlFnanzN
30jdq9eDWoIT2FthqLDkJnHIRnv1c93++uBec9pfYHGvvsOX9paFUmh5Ew4/xdl3GCJEHvhAnU0y
51CkG6cUxTW7cScEP5rVxMtYNtDuEU0j6mSM/4DUs1K766DOgewOO6LlUSDksEAnRG9FBOWIUjZg
RUrLnQZtM+4/NZlCFF9m4JpXFnTOpQ1mm59rdi9o1oZ4/hSnvfiqSVdFO4I6mYA4S47pXdn5s7Ep
TDFDgKuSJtwuT+Jsulx2FDY1W8Q7Z9QpcCB5S7yj1Sy/Zp6WGZSR2ew/ht1SpaymfN5ymOToncxe
tKOmkQr0MzK3t7kZy21cRLqzqmrLASSRl+OOEmsjVkoC4olEYUHLtzH4B2VKwPIqH0b5pbEdGjBp
18QE7ZL8s6pwpXVBjGeqCpLMbvERC+XjK/HDHu5rFOGuYvMx60idq7Lf2rHtiDVb2Pm7h5N08eoj
vT9mRIHXLEQU9NkBd1UWlNE43dAUl/XGMSder22ldYy8Nq8cztxu0W+i1sf/Vsa4Nteo9SnfEWtF
MiBHRLJEKs95VFqDjRQegdHvI5gJ14ZmDu/poM76tctgIkcFyBSdNt15ISC+Hr2aTJOcs4u1sROL
Y7Se+9cOzvWaTqhhaxx2VX3oNeBlqzyXJrSTgTia90b06cLCPdA0NlB+LjMESo6znnFnRrWXIxPb
VK1LRTlPevxO8+CZ6ZHc4AUOroFAX6F+QLmpWBC77duf1EtX7tUnhUIHQONLw0Wne2ecizrmbtJa
OWf6ht22dS+zprtNAWMEEwYqttayPPh5VG45jvswlBLvklP3SD1kiSHI4yggbMh9Z3E/ayTS94JK
hkJPoLMi3fRcm8yhpk4mPTWwJoX5lW+38oYOfvvw9pP/8SqoEekOoBxAg3c6eUWKJm4qlx6CpcoL
2AK0SEMgJ29f5XzTxMMsSh1+ZJP+qE/B/PQyTarDsQ95GHrHNIEGT3yUbW8/G3YUyNmzrzlZfWZq
BsVuRx3UjCx+Z5Y+Wzt+u4OzB/WMSp9TlRnBqIyfLoeaoOp6oiFgD3FQcF/MJisoEeVfRUSL3657
tmaFU1rZSQLhY4jleITfoh1x7H1t4kZGKzaSuJrSaPoxlU6CN1mvptu3X/3Z6vRyfZOP3KBtZ6At
OHvzHFTSOgJ+EjCooy2ZDhzfYyFvXdXlMMgs59vb1zuTl/56YAsdCfkvBkPqPD0zIXkeKZ6jB6bf
ZhuNk2HQYRl7wB+q0/hS6QHMN/WLWhuuZ0OoZ0yFLhktEXEWb9/K72MbfZa+OArYlPD4y6t5tV2o
dCZn4s6MAO9VCFDYND8um/APb1/lrCG6vGC+UNQzCG/IqlvUOK+vMnrAc6p6MIIU2ct976PGLjPl
3lO7RstHb5HlMs7Dd7Kxf382mw3VorDyEH6x9Tq9qtQoR+U1w1nUHEXSWGYbqufDO3PQMjhPpkWx
4GoRrhrohNkXnm1tqioSEz+nHtiY6cDrqWZXDcyIhZHmX95+jb+PUwTRiJCWhQhcyXkW3+zF7LE8
Xw9mDqNXJc3kR02VksojB1nstek7ydF/erSlrY7+gRUQudLpC4QrIcpy8HRs2lVDJVrL2VWOabBY
Wd+51Itu59VrZFpm0qPtw0l12VjbZ+sb5bK21rPI2fRNN8xADkoH2Fotqm/0BBuMjg7oKBzhzTAA
h7BHMg+6ihYT/d7pkt6Q3m/6CN/7CL8atlbd6/aVSqiKo2/QWJPf/iXO3gx3y84aFQtlV+TRiIBO
3wx+WNttq9Qk9iFUgdVPoNN70hxwwkXvfKHnYq1f1yJ0SMd/wxHhZcf/6hM1sC/CjZ1MZBYYmMdZ
pVTjQ9E9tCWl0HU3lVSmZnxq1i5RyorWGajNo+FiN1kvQmFO4X2WqcBJZv+pSFlctviYPFyTyrLv
wTfqi++kM22k0CIs6V1MuXH46/fFtmlJ6UYQsZwFTt9XlvnKoAJsbYzJ8i7NpRs2m+104Q6Z/Pj2
pc7mmuV1MZuxtzfQwiOzO5NElQ0RRq3D8kzVytjNhj1/EDMF+tWcQjIz0FbciyaV78xwL9Lq0/GL
m4HwbBZum7ngvORRSU9nKBbWBv1e9zEFUrlQFlpta7REJG/61hjiteva6tBnyuCYXphGQ/JkjI45
s7rS2fdohdwVwmznmKAuhbEvoQphn6Q2OXR+Uh5pXOXiQkW5W+484TVp4PUDDJ+M+soYvP0azybP
l9eIxA7NK/Mn4qezEV7iZepGjLAbs436K1/W9CfV/J65bJlBzt/aUsGimGVzbH7ZE70a2zBxR7La
PejzPfBhZ5DOjwpif7RJei8+kqDdAL8f50t6Zf69ZGF6Z4n4w/VJW1x6TTZxOLZ3tvMoWHQ7rF3M
nlF52bbWBUSUY+w2gAWT50JiISw999G26u9vv92zmXx5uyDY0WbrHjaT36pSTblwDUZdoJexBrAb
bXfQayiZztBQEkOE8M6v+ftzYh7E7UqNgbocEvfT76+wG8ePaLJuMgADl7CW8zu7QEyRoRItVnYS
WxuCArQdZcxx7ZJwHr8zi51veXhijv58G5hz2Gqh2Dq9gzBJ7MR0G544HsM71y28lrr91DsccfsF
FmO4C2nXgR+Dtd2xUvoDEL5hCw3lQ5M4YnxnCv99gFO7cRlyVAF4Odbyyl4NvTZmF05KB95dz1oc
4eVPa/bek6a/PNZ/BjgKMIMLELwNVh0IlRBnj+0Kre+wDIO2zdJwXpmQmr/ThjNUgFzJtWGMzfI2
KQ14aXmPVjfogCaZO0KF45+OqvMvBObSQ3elmnFeF8LnOK+73UXsz0m3JRKjNCnhVMBJ7HjOP3UZ
SLt9BOMLKDkczXI3d/30/PbgPas9vzyUQ6XKw5y57Hvss9HkY3Wty8Q2NwR5bbuIjDMzXWBEsnC+
z2pWIGiMXPuaQIxEsjI0ctcTdeSvlt4okkjygOykFB/IZc4e3r6103WZO4NDixbCQQyJXtNZXGqv
f1QfyoI3Za0b4JhqgqH3LLUyqeB88CJDPP7ltSgnU3wlj3GpudnnJSYpx6ZzqT0HLgtz0HoR/pke
p7nCjv/O1/PbYy1nBQcq/zIX8/GcTcbId3o0cRJcVy+sS6S+BH7Y8bATbu6+cxY6O+bzCpdrUcB0
+GlptCx1z9evMLciD94q18JsfD1zV8xHclhLMlC/+8hdaHNQQqoG0HO69M1jDDlr5TeZvrJkWm+b
LLLfOR7+/vTs3lnTWViXQ9N5MIQJKcwyOpgyKc6wbYd3lnoe0TTgNoa/ftGnlzqbFFy71c0y51Kw
dNrNRFEDkVvOPEkczzvzz+k+ZXnP1CdxGWFvZuXBi3b6nkkpL8g/Q/02l/pwOyCkfKxcKGcz2iDs
AJERZHlpvbPe/f7pLldlwWXkIl9j9Tm9aguXM/ZJ72XjPLp3GYbqla/s9ODPnbmP8hDluosW0oqn
CqhBF18ypVcQ95MW2lYL3R0k0PBxRvb+9z8ypxoIEkuV2DbOGydzORBbn/UuHW3lb2kezYFqJXLT
BJnx3364BFtYvHgLj6dLr/b0HYBKreyxcNwAQby+B0ftXJGSmF3roJse3r7U6SLz8iNzqaXcvywz
1I5OLzUbNVJ2ElhBdzvuWuSY58ije296OK3b/HsVakfLftfkOmdXcTTR1rYVurCqXEzQZmqIL1YX
lReqwDO3oucpbwglmi88OoTvDOOzhf3Xxc2Xl4mYX0eIfvqIXZTNdhxJN5gdSx4ppMttlDX2jVOQ
I5QXsb+LPCEeqWrk2wIg24GNf0J4wohk9+2XfbrJ+fdOFucwhzIqDuetD72M4Eao0qVMPeVXHVyR
7x0+9utCed1+AZ5vXXjnD+6oy/u6k//GI//XHscfPmhsfXxTzPkvK/7pi8iSGSFvpjmBLzR1UWi6
9agWhF0q+3s2/nIriLH6/L/xyNiVHJPglKXBeXpNxACT5im4vAjtlqBpk5IdZ99DHXvaN5bX6WK2
jeJx7CagUYWj7t++/B9mZrrPuKsoTlODdc7mMElIZOqrxg1C738yd2a7kSNpln6VxtyzwH0BZhoY
kr7Ite+KuCEUIYmbcTXuTz8fM7O6Qx4qqbP7ZgqoRCWyMsydbrTl/8/5jtZsE7rOV1ORR+edrvcv
nw91ZL/769f9ZayjpVmtCdp2xeKEYKlanxu4daggVO9ipW9OZztpwduQVRKJZbi2nDG6UEHNfCuN
yj7v8zn5b6whlEV4t2kNOLQF3j94kA1xD0fLCdW5GcMOpwQvdvXGYWj6H4509BMTiAFAUWEkciZn
aLG6uSEgQKNbo35pzFn/rHenVRMjxS/f6uicIVQtGoQAfanV9niJliQmlqPQIQOlfo0BfuOCTQ5E
gwQ0kDiCz9tx3MKR/upa+OG8Wi8MlCYp6x973nvqlCbbgRMaIL3CBepVoI+dgacJDNnn8+qjoYzV
zqmZawXYOZpWEFcBHUmWLyOZzJ1o8UvpmNlCQXVn//lQ7y99f85g5gt+FRQRGFaOhoJN5Co2mNVw
BNzum4ldYkho+1NEbMV2SZ3u8Pl468p7/Guy97AgoucnofFo5sRzz/2gr/g1G80BsZZ2QaWToPH5
KB+tumR/sQhQurM4EL9/EyCWw1/TGGVZNHloxkW5MBJKdYraGjBjUHHCpDLOCxPcnTGiofl8+I9W
3V+HP5qykyEdB1Q/i75F2V5IFGQit4tdMoKUREtpBdSJst3ng374ZIk0p80PZgdSxfvvDENQrRRe
A35JMwuFWYqTmdPLF6N8ODUtWAiIAyjDHl8wYO7ipnH4aplQ3Z1bImxTMTgRSWR98RA/XFx5p6gP
UCyntnn0IyLfBoLDPSckU5sZojSUQey0W5FbPQyzdN5M5I5tF3MPjKl+aixneaaXrs6bmnLuFzPq
w/cE5s/6pfnWx29/bbZOR/QG33vgjqmObXNuFoZ3DvKlCckK6k/+G7/mL+Md3XjUZIZpEzNeDpcs
aDqEbzrjffGMP5ozVAaJOXNtzvzO+s9/qTdEBXhvQ2VtlUIpbjDnxKEyJup/47v8Oso6p34ZBfNX
oaVLzTuP8njXx5WzlfWSbj5/Yh+98xzUjbUXjQn3tzPfRPGyJA8+TEVDvIQTpwjtm2z8Nsx0z/zK
SBuKd9yZfadtNG0ndPhHn3+ED14Oei2rAI5fjqX76OghvMyIBohE4TTG/Wmf9Ms2apKcdHXNfPh8
qA+WGOSiyHlMWj006472ehuLjooQkqH0uPwGcAwXBiUjKav6e8sWthWkfmw/H/OD2cKYMBtUi2sa
d/73v6OcZuCEM2OCgVzCJMs0SGv6V72rD0chWF2lQYZV8XhHcgZ7WeZWuGEvyzJ09eqNnAHxxcT/
8PGhGOA/6CfYY99/FSGNfrY1fqkUvT4Rv6qbg+eznG+L0+uXlJfzawi/fw8n88dmuxr82dNZonUu
eu9H5SRONtHAqKT8QvPQU9Kaki8buevucrTFepalcpnmlMLN+mjpkPqSwozVWDpAXu7y3mkfuymt
tlg6lrNa6bo7xKfLriH8KVDUUd/ltT5DiBPwqQi4/aok9eGjhkKG+Exd15ijRz0Au6osOKchtV1v
xsxREjAO03Qn6pk4sbwYz2fTQN/z+WT9YDngKfznsOtT+mXRSZB5KxyaSAeZ8WXr9RC9LgqG1Lzz
mhBHZgZs2Gg9f3TX1LAJhMDn4390B2W3WCUga3+UN/X9B0jBwHeiwv9oGYRdAX/HlBCMBu10YNj2
QkZBB1Gt0kvzWRE0T/2uWIpqUy9WDNwWOfpXN3Ltw0dCQYPKjsbJ6HgP6zBSgh3g4s+xdY3ztknz
0juhXHBJdi9SoWhPU2/uMui+wLQjHCtWT85Eb893y2iar7KNvjmOiFaqonnSeDGpHBDuLjHEIMBO
3Gj4ojL00VJAY45uBCvWKkx4/whnSyguNjjSjCaoyDbhhmDnIvuLrf2jCUq8FbJVJgw85KMfqkkI
hoKi6YatGAzU/OBDYb5F41Yz4mnnlTPZhwhbF+uLcX/fLUxeiLUuTLWWI9vR5luWcUZ0BpcHV6vj
IEHSs2kBh4KRr+Pw88m4bjzvlwSGwvltIEfiYnH8y49ZTRAcMrdQHcviSo499pBsHKYJkZILri4n
yOqMnBOn+O7k+Om+eBeO1PHrwseUwxC/wgDgGR2v6WPdzwVe+yjMSTHCJpI2+Wuu9Byd0BiaF5nQ
IeSlvWqfWRDQl43dYdAi6YdQQEMCGjZLYH0bT8WwH5otFFJfJ/hn8qUNoiuIrI5YJLUZzOd0meoB
bzGZ0Fs2Rv3CnWNA92T6teMmdtT2hhO5fr3WI59lPCggRRdRASMoJQ7gqmimy7LLZPXFweD3iWyq
0JXocqlMV+rT7ycyERBExmfcsnIrHTeycrKbluLm3y5XMsqqxuBdYa86Pn5g6cBXR44RGPeeXk65
eFtrGV5zHSPm359POt+GVW3txh5XbF3EhZ7sGQmlan3iZIZ+r/aLsQX0YC1kf/TNmz7jXcBr/FUr
4MNHSYys5doWM/qPYvIv6zrBQ2ZRWBSLucuBIh+nWm7YTtOdoc7OUwQmZAcPtsan48jtkLIDtnSo
T1nUtE1WzLgY8+jaqqPx+vNH8sF1Zb3VcjlY9Vr8j6PDXycttjYxUHeapYXBS5P6rY0I9I72j3kx
WTWWjiXXxE9SupTBbzsXySTwmhXVMpG0FxQ2QU2ff6jflzY+E+Q3bsDUUOgov593ZCAmQAVmYi8t
t7oQGebUHg7ai2ZWVTg1y0IAJqyWL2bHRwvbCjmilUnfi/PO+1FbPeElNC1O4tj6MK1Z5Zbr04s2
aX+xpv5lefNIocPCAiwI2AhTgbPwajw7GgrHjedR4Awb1RUHF5WyXxtTfMNy05+lbpoRepGM+nfR
yWKLu6jfVaVrUgJusht9KeqfbmMmL/Wkq1e2AnHBF9JMv1h8f9t218/IxEAExbuC/+L9Z4xi0ntq
ZHMh/JLpqrda5Seh4tEzySML8S7A2tUdVq3preejPc368hWf6LdX5ugDHJ3AgLhjkDdxPvU9WTRx
4t0vWI6/WOJ+22LWQbh3cZ4mXxCVxvtvmXWOlXXsM2HmKmd08A65APeK/+6stYbTzrRuLNl+cT5Y
f91329o6JtpXrlqUk36D4YyNWSe2kiqhS25b6Y9xEbPsrTDysSFYJVaePn+djuSwf003110P11y+
oAW9/5IWATWqozgEPqg9ltA+tsKMLDDhz5nZvk1D0fwoKw8OwVCQANmgHrSLr+7sv71d65fmwLCq
NNaM+KNfE+QB8ZegFMMUbayfsODR+FSti77u69vPv++HE+eXoY7OX7Q2Y2QyTJyynMxD5iQ3S6GJ
/eeDfPQjgsqz+e8fsr6jQWbHJNtYyZRQhxMdbcqlXlwfM6e6iwqpPk7o298+H/G3VZFLLE/JY/FA
JImJ4f2vqMh5RnvVEFEZRfJUc8V87khHXIspTgk16DOxJVSo+GIZ+GrUo6UqJ8N+ELCJwsHziEdG
VvSmN8SZNtCgQ1jX9Zkyy+iL7fL3X5DdBSngaguykEYcPdwmJ5VnSvQoNLPUOTXV0j7TtFicfP5A
f3/3GQVFCkccuEeM8/6BYku13EUfQHB7BBN5yYDaPjFp1KbjYvtIa4t4V+QrSr3KRPrF/PldHGCt
o9sI7ldsL0fM96PnCkdGUVlROHt6diGFK51gKLvmzjbkmd4UGmSBpiZDJXFu60IUL2v+VGDTwj+0
mpecWrL56qL/0QPhqIe1Cg/AKpF8/5HqFPx62TZRmLWei76vyvdk1tsPUQsCIzD1yjpvSnsswlIn
4/HzHwM9BH/68bKIN8RilUDA+psQdNQK3KF4ZTeJ0bmn8aplC+KpWvoNWaQkp4ARHa9JM7Uus1ib
gKhbYBwwRo+CLK5GJ58ldpUWeIDV2NYOIFdKqoKhikd2++SRvutVFRlej6tfS80NSUqt5Sc5maiB
F1UN3eRKmYmjSCvzKel7L9lNRuWgx6hku7qDDZN4Z228NsFIXPZGm6d+phawcnKqFpXvEQKTh410
B3sNZkAl3RcGUqQaHDDM8HYwXvBYTG8lmvszsNzS2xBAlT0S4Uuceklzl/L6tJi3BpSxhxblC9+n
npsHK3fU82hwppIoBA9ga2NY/JU0DHpYc+kQnkYsTfZz6fB8+xYoBXKGstpOsbdUhEY46kDiK5Ej
M1kP1VhP1MBTouEK0YCfWVxCIxO77omNtPQZ8brawlG33TgO7WZRT1Co9I8T0uhsQyYD2ZF27VbJ
tTLqBMi4We7e5cbc5sOmGZu2DCghQQgJLFfZq03sIb0gEFNbwnopWke/12gRcTFy+H5FE7qoBBqS
CIo6uk9jg85G6qprWmiMhWfXE+dFYkGDid0vjaRJcEIVuLu1JIekq0ZOboeW3WutH4uEBokCZuS5
m5L8ezvQ8woyFYJ9YOCNXbDOuBanbsJGV8rDxL1/0VKM9pqTTq+DZajXNX3o12TMHfJiCWkkAEmJ
Yxm6+BaWB+mS8rqFPReR+GSbBFQviwqXYproB4W1phAa2vYux7aGzKNbTZZUcMArQLSqpcWtVc8b
B887sX3LhqgruRw4OwOyo7YtEr92Z10PPez7yiaNNURA3TIpb3PDHJisQaO8Ao3kikoL6QhwLuGy
rJGvyjYTUcdUh4JwQRzbYgaiV1vSNCoLnk9N6waAosTPlCjzC10AJwtnw4lvGoO1x9eSyLkaEDFi
dq+msuEGYCC3UqwifwL8wPFgaHVxyfHSve7mpr5Fi1CTuttUNVVOvdRI5QXk7UM7asnXNaxxOGtI
c7G3o6No/PloCAaIFLAJAI8QKE223KR+03nZ7qn0DOOGAAED51Vstydpq6rwHKyKdCnOR9MP+szD
s+FJ/iCagDgLSZZY4NTXw4IBP1Zv6Xfq3y3KgYmfQciYfSAE7V0ppDVtqJ0OJlrgyLZDvU/VGMLa
TNYt5ZL0tSP79ZANVLh9KdIE0os+dSRWFsUhJ4en3El2fdcHijC1oZooI2rBscnojmP+Dxuag/GZ
K83pRiF/6fsy5NaVJZ0u2dsZmV+cnnIrLIhKz/2EW8q5qWTL5IvScX6OvRdDO+BBqSeKYuvEsnla
VoTujEVp5Y/bC+XwBMpNrxqyJ/XZMF+JqlrE1QA6JiX5PVPGva3OGrZ87nSG7+gTaatJm5ffwHGU
38gGNx6kksy455sWsJcjLe+7m8Vkbc7AjChd1DEgPOADEbW7lTgUUGCM2eM6izNZayQQxgCQwirU
99JKFMybHhlJ9XLoidn+Mc1oyHwtF9lTAnVq9pM6b1mALVhhWOPruxiBvBZ0rt09aZ2wtT3MxdlZ
F4YeHlefJ/dqbNv3etbncmu62SRDoBPF9I2qmTGFw2RapLKkiX49pdEw7XgpIj51aqj9z7RdIYSg
T2Je4yyVDuHTs9KdRCaMYRKUqUz5mpzocXuSQFRfn8njDGoFXdJmjgVEFWxR8PjUblIPcAFU4dtU
zRXKzbn6fQ1V6PdAhgrQN0Ih/sfVuOX4mT2oc+hIcyZEoa8rzbdTHe9EqVr5mg/XOd8JaIgfTCtG
77XIBIYXNEiMZTN5bDLMM1IhTqrEjOOgxuxOHi05tDs3szM3wASS93tN2MaDrgw9WcaV3RYn0hn6
2ldROXk+4quIv45x7Gx7FQTfqW5Pyo6MZfVNb1cbIfb/vD8j4IXwWTfjRB300hyj+7xTZHll6LQ/
dp0AXcd8iW3+Kc7SzK8H+nUhzM/xqQcQUfrk0uVeoBmN1PZljSnunoRDiC1dTvZXWJNIUcKkk/Wp
RnbwLrZT+15tvOXJ5ARqbFhBweYTrJ4+2kaLjzcbMURc5B2GpU1ulmX2I1LYdXxNx0SNEMGjH6r2
glqtoc2qD8y99wLHSZRnAla9gjoMpYlQ5FlLxDkAtu/I/KaLBdZXfsPUHqswiWuiu7UUiJRp9v2J
0UfVs0qLJA/wFy+l39lRzNrhAQkxDikRduDSS6XTWHgB4m1HdD3WBu0lIgIcBl1O9Jo9P6ZFpz0o
gJDqIE5z1gmFc8izS6LYmZnmre6XBIZBUzE78y4mgO2pkSb0T8WYuA8ocjCGoKNK2gVEhSePRulo
MVRZWd4XqIf0sKkG7U1phu51NJb5Gy7pkRevMbNTgiIdjgzl7Ay+t5gOb5ei1qdLSyV5W0ZEt+6E
kxIbZkl7hiRUmlcUUsR33Un0ixb+4hTOc1V190RPp+cd9D/QWdXSXEj+XyRQenVNWJye5D8SQyOc
lKilwiL/GYysb7vZ8KprI5t1rEb2WVar9feelB/Fn1RoUpuBRMA6cKvJOu1gM3Qnabo03c6sc8UN
NPJLkJeQatgG5pCwfnrLYrVb7DbmtZmU0y1ImbndOXXq1hfDYo4kao6UQTnG9ZDhsRpxEMH4UTXs
pIjZfW5BJaEqGMWiwAb695x3RH5ytCkUGQw8l3PFqVBCOxVOcQzmoGyCJpsOkd6ONCyKV2NIppSs
R1M5F0aS5SH6H98abTzNKVOI3YYa0rAD8JqfCrdu3K3qjdm3iveR7MpeEWSltXW/BKIzlScyBXkJ
LeDrzy2B2VYwcIO3NmTNuIeyMqBHtQqQHs5wpfNcTu5ONUSHc53P6xeFru/ANqryRzE5MbnchSCY
jsjqiL7FRGpNWHNBACDVSHCl3eIsBwBb5P8Bwx1PW8g+F0jGyjxUO8e8IYrcp8xILgCEbb51kRPz
G5gAWItw1GuBD3Co2L6hspAWngtlnDEzE1G+IQpvOnUzSIm7TEEvsHHGWCMYyOLEGoKEdzYE9DVE
Pydp82IWU//mqg0nojK2i3MPg41FhNiA+J5oH1vFDOUqRcC1qSXGSwdRyYEI27UfRRTqfI0YsJ6E
BCUntdhm4fQ9eva42uFNyQ2cRiNbL1n6V1XrP9oC7y8S2F9owPDXtYh4LEotWkScYk6UECdKgjGI
e0ztRy1g1ZkqEtFos3FgMi97uKbD3nW68cpa3CacRBrdpoSuniikse69PnZuiFe2KEyn0WnZDqTT
DYOxq3rR7bLMBIdbqimHiB7N+jK6fpZLUubr5v7zq9EH9RtcpViZcdWoICmO+STNMixkqKpRuMr1
d5rdmydERpJOXpvWuU0GbiC0KLvggJ2YwYRh60JCOv9CAvV7AQfLPBd67mfrwz0uFDuTN8IsFF5o
6qILRjXrb1hrOI6Xc/P3L+bvhjq6hypK1zRVRqVDluAhk1yTt0osNMobwF/FjD9iqZs7k+Px4+dP
+oO6A7YeHFQWWQtYitYr6i9Versw25F2t8e9otVJxsybjQJgY/P5KB8+SVTM3LARPRLm/X6URS1z
V2SZF+ILKx4LwwE07uJb21F1+9Kb8/FgXKdRZzsQD46KHB47OtFq1G/MbKpCKHckqtr6jTdzb/r8
a/1+f2eCUMz450hHD68qgPF1Dr8aDbFpnzhRtQfluKA5dBDsxvUYgFNJ7j4fdP34R+86ZU1EAzhH
edn/aG/88otZ/RglNRy7cF5aLZx1Jw9T9SKpz7SI2M7Px1qn3W9jYTyijaPZWIePvmBbxhXI38IL
Id+Zr6MnrTE0rM68pUmuhmJIyzticMUT4SzaboIz+fD5+B/MTkqn1tow0MyViv1+3oxEOubsG0po
6KMDXxMzo2Okw5/tuL9FKPovBmEMr23Xt6//dv5cy39jK3957tKq/N/vGEX//v5v5Z9/H79WaxDF
u7/ZkH/Wzdf9azvfvErW0H/GQqz/z//qP/wrO+turl//z//6WfVlt/5pMR/rVwLRqv/718gi/xWG
Z18c/wt/5W39Y9UQ2YjPaIzY697zZxiG/g+c1ugTPDx5ZL4Buf+PMAxLI6ILnSqlPsAndJMpZ/4V
hmF6/6D65DB5QWvh6fXMv0Msev8GInBifYYRhuIAwg398nUC/fIyqLzioilsixLYrG4isMFF1T+C
sDmNhpbO8pctmj90k//5Svw14tqlY2eCEGAdjZji/wB5b1p+3+hwJ/PnNFl7ldmdjPpbvBLXEPvY
e0fj0eutn6rR3mRp/WPmnMNxydi2vfWaWNYZR7vAbuRTZcxiIwdMq6Z0vyCp8fO8e3+5l6Oc4g7C
y4vSTqXV/P7x9HMcIUCLSOWMxyUwCrF24iETJ1C/8MNbWrm1zSTbd26n37VcBq/zlD5s0o67bFnu
56q0wRZSrRu443DKpXBiTPCWgCbJC46Y36yUAypiujmQiL++u7133ZpGaNicCoAm6ofFvSS4u9s0
ubGVI8fWtnOMDVfF4b4sRyMEPjyHVZTiyPeyYRPF849J7y6mwSTruCCyicJKGxoIBgO9pT4olelG
x7ASEGPc7BYPpFKrT/HZWNNpVnu7DVqn+l6AFIRdKUghwS4p1gRgEqitTLtuukG5jqPY3np6mW49
ot738FFIjVgICaeYhJW1u0Dx7W7xDydcebPZeI1yJX+VlZlt+xiYYkcSlm/1ykZ1CarHLXgr3VYA
TCofk47QZfalp8Wsb2mk+VUMNk9OIj/kZprtsl7Ndw4N3bO18XGSjdGDNsWDr64BFg2HSV/14jbE
xqnsiMmryRxu5AYBxIEI9nuIberNMtTjpliGcqMpg3Kej0L/AY8921HN2vH7eXvST/vLmJTVQAyl
dZ4W5kmRZC9jqhAc5kUp6a9qT52SKvEuTTOiRookJxc83Q3zaORUIFXrxPKIS/UVLzJP3Vk4for2
6bbRsYxWkWyDJqE8SuMJUG9EhMDg+ryB5n2aF3Axc3K5Fv259Noi1CptoWrrTQH5VMVGEwZnz7Td
YHcsidFuex86ZHVBrloMfrdqYFEAGqbGRFqj6OtzMQ8k6bnRW2Yn8Us8Wc9yZksfsI9mQWon3Z6y
X3W9RKSPFZTJ2eyZoRk9NypXHNNjAkzCdkjiLaf9n6WzkALsKg8kPhqXhkzzsyXR5E6vFeM00eJn
Z6nEU2NL9TafV+I2xWxYoiC1w9qIzfO2N5QNupkl960MYF7p1KQjRPWFp0b192aKHG7nIFPL1dEp
wZWfwF8tgdQTTM2pBJpabV8mKBbvOpKgeDhrTDpUYW5tVXaBGoYYdOFZPxzQYxvo/1ag9lO7Nafk
ihJnt3GskuWm8Lw9a19836jTzcrd4QWNxbbt5j1y0n2ajGBA7ZYgcq2TYdTWYhPHyb4lPWDjNmN0
I0wsa1ZfWztkbdWFonrLN44S47d+icxrwVFpM7YJ99N5SKKdnsKrd7xrWcr+tLW5whaI9c7xe5u9
HyVuKHQn2nX9Wp4jvPeHmKxLG1ZyUAt4cF1CEL0+n6ejc2/OxotpSPPMK0dnJysyR61cXaSvZ113
PRSRERhKvaWYYu5UmwvGODpYvRAVyI3EBI4uaWpehol8urg1yQ+KJDlCXbqfkzJF7loTsmDVYPDj
MaoezLJ/XvSivtBy19w7rf2IACa7bwjcvkZYGl1UUovPWYJSUlultoF9UW4kkn+0RR4ZdNWsX7nL
5H6flTLbpczVa3hC9VmNfuRKz3JCDCquW5FtzRs9zXMuhqUWrAD1bCzkrsqq7i1KGs1PUTlfWmat
4pZ3+mDUu+qpqZPvczHxLPvupptVbZdIyzwll93xe0W97OLxTtHNxwmyOOavwg7GqI7Pc9Eke0hq
uh2Al9duJBXsgyV07cRyMxnCq5te1xv5KZ6raF9rUQ9Gq9Za8LF14ZWE4cbaCVY6ZuLQp6dUceEF
O1or9oZT817LYkAESadtD45k3uFN0nSfLkCKbZeS+GXdWNSfjanBLNbU/TfU9lq6FajFoIMnYHKC
kovbXTVXE0+2Ld/Mui/2S6cbGwxCTnbmxNquozPvRql40TuqQ2njVqcm2a77yTPzYtX0OT8sLa6I
ok0JW/G8hDQDAam76Iz2EFvt2im0uzACn3Pu0vq5jlqRX5pCzPt4MpWTODJUBBS9/nNJU5J0LLeP
7qTTa0HaJ5CEqrkeL1a+3KFbZHkdZ722YVqf0CDM8iCXteGrVjtvSW9Ywj6ZgB+DEqg2BbCisPAA
JHaJ5ZEzFjXrExM4F8cQp77lFwmcOcOrXOquenae11701lTmcEWCyOhttRLaCm8N7mdlGZj144pp
nokOqfD31djNhXfWR8nbSD3woWrpmZHUbj53g1Od6r1JZR6YeX+qJ3AIyfW2691IIkHoYOIX4VIM
xWWdReYPOtQUJYxx2QPUvYUFHB2S2elPY6RamzrNFqwX/SuEP3EhJ8SstjNqWynGQ+vIfJMZeXcF
08XbSqt4bEkt8ie7qmd2gyrZwzBTg1gI8uknNzunKh9Ttx/IK07nsfQt4anXFZBbcBHKBFTfdbvQ
qJv1N1Smb1YV+8JSl6AX3tYrmstELulFPo7dyZBHZy470DknA2q1k1WUGNXYJPuMWpZoxUiITFFv
qVOPeegOi7yIvPymK0wSEFs9OlM6z3g0OHcE9VKWl0BOzP3cW3t44m0SZB1R3/jR1WRfjY571ghD
O8lBh7+BWBx9GnDVqUKPdK+Zdbuv9Owtla5xklp2ddpowntIJZOUJVuZxiSU/Yx7Qc3qYbpJgS1C
gYjV7oD+xd3P3dTHQYSEOBClNLfLkmQhWuLp3GyUxtcRFIgW2nxSofwTxXQ1Wyt8XeBTDzs1Pm8T
aJAuWstQ2sOwVYps9s2csmRWWyZbkm1djK3VhKJX6iewCNG+IZNkvxbATxOokmfxMMFoVNJlK2u3
ASUzJKeUMrrcb+DXbt2mzQ7lpNQ/TApAp2Nuy1dlikjTGiHDbkjkGc/HeLZ3hpW0N6Y9XndjT3xt
Gd+OUitPBt0dA0Lo9J1nkORC+OdaZrTU0Mj1bu+y/GywWDahk1XZaaUpxqU7unbgdoZ5BhpCHtCX
dztuyVdppGEJhAqemW7+apnALImZUPdOUu4JqIAH3xPgjT7bC8oWV3mhAUvqDeBE49CU+yFLtQtt
Eo/5YKVnhJHeLGXr3MEylAHLC6kCg/5SVmN1kGbn20ArH2p6w9fxsOxFwrCV2r7QWgkr7tJ+NJDh
katr6SzJrh1lMDcpXY3r3u0lG9viuhfspNnD0LN5SiOuWB2b5rRzMvriY3xWepn9GqGDPZdTqz+k
aew9ul0UcVKYoRrGmNPDOivtq0Qvx6vRgHdPbtCUYH52vIQQapKoSX2oTy0vgxadZk9OG3F41EcR
Gi75Lroh2gvigzgQKoLaeVddRVpxZ0rqw3hqVH9qMmtn9NZBp7F/m9f2OWkchDGBZe0cRZwZxvxE
bjhSD9sTJ5nWD1uixsn/UoetVTu3rHRpUDipt7EcdrIhyd5qsI0ht7yXvLefi6i7m6v6Gre2cy5y
92dtG88khSV3lZdAgIv189wt7sjpUA7Ewz3Rie7sgE8Wpp5GLXd008BTBKfJgsk3Shlv82YYT7I0
agJLq+tACKvfp/R4t8U8FyE+yjxwmqm+XIrltkUTuI2TLkP9N9mBGms8L/OKX1L42dye10Ktb1Zm
czDjoL40e+SlZhW90KzGgiqnJRg4bs5uy7BzIjeWGkNrZwPzM7JiwtiIFD8pZX1nm3lyltPn2Fl2
vo0126dTOJyoUhZk4ojiJK7XvldP/pIhC5PDqKtfqSRa+Bl9pu3YDSLQF6CimkM8QD1iK4wL6wYN
7At+QB2+cwcO3QAMrmYDDW+w4qNNiVZ06gWAgxF1BAwqJ3a+O7Ui91ObTpdmkR6yUXTbOHOX07I2
e2CqSpuczcIKy5EWqiFpllP8DuPZ0a4FlFQQ7cRVmYp5VrdGcZVgCvS1TgfRmonuICend0k+ENVj
JxVyPdIFPMjkvnhd9biI8ofaLNR7Gi44vkFIjD/q6vADyz5nXwcIkN7FPUJMKKJPzmS1NNBatz+Z
+8oMqlKnmSu6YQYrbwBCojC+7xuPErOyn8u6oo9L/BSBa9lYM/W4Yi5R9xbnUI1QM7McpxUKg4X+
i68Pyhy2Uv3WyLcxnsiYLFyXFn86fRvHwbtENuX9VBBQhV1brWGGNNzIVlQBEsbTdsqrYpda5o0s
7C4wa+O6zb0fZaveii6JD2bF25AuXCO72blNQe7udYphTxO4yB3aloupsO87z0VKYaXf6eXNF+q6
0jmeEH6SRfgOPKffkHjkQtHxuM36HPWrM6/QTty5Xv0ZThl6evUi+6W4zWOa5LK01J0Z55fknNiI
JjwIma2Vn4xFH/ltyidreu/AZ/pmzw9ijudtqVWXXNb1m9aZdqMtSgKUp/nGqpxi62aO/FbBt2ON
iO1dH+XJTu1mzTez9ao5WWvPAXB/Sxsx4PMNW3VcH5PLC1vXbRbqKQFwgeALbNo4O9RFXmyZQBub
DtLOmzgCq9MZ0uxsK7mHB05EKTXPz8cyYsvyyIcBMH+PrmVvxh0/emQvZ+nCzZXotc53WReXQTFv
jSpRHjhz92eDYc8nRVlEP52J+zqRgv2BFnG41Ll8bPP+4OSY5OoqmQMH2FRYcT8PFWusD7SPV/yP
Uav3Mh3qXSRU5RwLgU6ulya3QPUsX3CXfV2Muf5JKzDbthBH/yyK/q1y4f8EaI5o+ieHpTZlpfr3
3Wt18Vy8yvc1w/8vS4irgv9flxD/L3EmoDd+LSGu/8KfJUTN+YcGC47jM0HRkJWQ4f1ZQ/T+gUFg
lVvjH8QMQTnwP2qIFArRxFgate61CfNH4fGfNUT7H7QIKL8h4Kfd5UAE/Gfl9OrPWh1F13+pTccK
YRzVyZAgQN2zNUrdCBPRYL6vk2Vx2iVc9MCGEUd2kH0ReALX8ohPIU6creE0B6+VNDh3zL19Opkd
AoTvDqr1YNCJehBamdx51owLy1SS/J7EOi7vTTDHLJrJ3Uz/2U8SaxcZ7LUFlEWNU2Xg5QjDcExv
0/ROzv+PvfNYjlvbzvC7eI5byGHgSQPonNgMTXKCIkUROWzEDTy9v752lcse2OW5p0fSkdgN7L3W
Hw0z0EyGYG0MgdAIVUwo2+hhiONxN3gugqp3rAv10fC+25ZyQ90l25qySpOWssDsUri/HE032jDZ
7KU9FiuE+IzSNNJ17pPwON/Nu6IhfUJFV9CWJsoFGk1dLgnG+oBM4o0e6cKfJJ0ojhIq7WlSPI4N
JYBu3avF/CG1qV/B8G+ERlaTkvltRf5bF72Ps7LV8z5ZyYxEdhSebfxZVx2i573WfPY9aETqvtNG
B3W+GowPgPWGEsZK3kdl0IM5140tvVTB2D2OR7vbt4P6Cty/qbrpdcjNP0uyNKvcy1/rZa/PuEG9
3Fu7eX8s2HPQdtU+UoSDlytbZ6x8PM7rwczjPV1dCGOyZGtON0NG+wla/s0RBpVNL453cUTLz2m5
j3wqEsHlpc0Sw6dIbdjk1SPz0UmeRGav20TdKoazEXp5VOVnMmbeU4GF6A1dmHjRlHQ4URf11vf6
Smn7z9KrQ0adu4ZerlDFh242+56+sLp9JvPaL7s0XjENFiyLPZrD+NEs1NYgN3roeN+LC6bXLYe+
kGNAZ2XYLdPeAo4O8tnYjXA8I7PgWzt0vpjKcmH2JFYrS27VMj9PZia+FzFMf93mHjEhWHL+avMs
iCP3il76SvkKERxP+OZXCu1zSvGgWGUclCX9wvSAgrE6uE/ZQ1dda77gG+neSHx/nYu8W0lO7W1a
z9laZGR99uSpUwAE82NoPv4SOujQQVavOJ7CSTuBYD3pdnNgjIKxh7vvXZaXzDtHyENZGYJuSLdk
DD2xI7/VNR/pTJVVvjcLfdXl3N8e7V51uQPYW9nxqbF3kZ0BYqu0pJhbPNUB6S2gv+WrS+qA5fxk
cenX9SF3yktXAjoZTeBaB0sf1vM4oiBCsup1L3riPafFnyU+xHP2qjcHfuvJNvIhpMMrsMfPpfz2
uif0lHsjGcjG2Qz0bhG6R8b/wdM1AvBr/v3aTGlp/w2kAXYrWECTp0h/7NxU6Ig28luw3yVGYcRs
Xon0VczqFUPcfY7ds7qwE1Iz+OjQnj32QPlAkfeFS4ylR1628JoXmkOfGmdnyGLnRKMelJa2Lbsa
ZEu6rJCZeAxGBDrgotkqnULPIPVBQEBXLW9Phhh+aRL5RKybhMucvdfx4iCfUkMxGggrMrqQaUwF
3LbmP9oi4veladynqaDgoYiqnvg2cF6C014Scxz3QGDdBV3AsG4JzCdqX+PVaiUrtUIlFSjvVe+s
59aob7k7nXKv3dAiVP3my2zRFDFNNCARiyB0wlONnN+vrPjCGpJO8zhdW12yj9Vui8CFrB01aN1l
BQqBzJASpb60m5Wlf2tFu0X5eWhn5TnqXQaZ7MPEs5TFVR9KJNRrZJCDr7izFsaDOwXMvIkv4jAW
X5GkprgGYq1HgD3jdxKIRjJbvg/moV4QuzTDeHeNnqpCm4LZKZok/WFUAayWdvbmrcznUI3czjeA
s+ifWtRPZLXOUWsTor4rtw7TrgeZzVVvQ1yjvWNgJla5s5SgE5c86+Ygi00UmRgLGKTFe6m7L4nW
qpvMUzruiUX9MwrXoIW5MP1uEXOIgDAU4q474j1zqEGOIopf95SouzeR/jQdu0pUOHR9ZquZlyzb
jrwcDS3TdIM5l1Tdmz0CUG/TG3/qFmUWrwaKFIOoo6LelfH4SedyQu5StC1iY5936jrnMWyo3VsM
CC0O7rgKjXT28f6vIBgQyqp+Lc1TgY4YsSG0jMaUOb93nGe6o3wAQQcO2k86e8x8g1DHCQundti1
ppsWudQTt0fdxdVeZjcQsmcC1hB3qkVdHJrSPaOR+uwkU38ySJSmRTDSXjG2z6l+7KxgoHeDh4RS
7GBxn1wz/ihTwN5HYyam3KE7muaz4HwVugo4En+a4KA6aielzzdxLf3J8y4eYnm33nXtsYvfo158
Kh0vtdiPhgNiRd0rsVCj5oSIxIMEEXOuxGf0ahunVk6WLD5Sh2I+8VoW7btLLxzryXzAd1ngZTLm
sFLJqqT4DNTKhgfyeudsNzHybYSjydgKWuS0adUhF1am/Enn796ZS0OIchwvWxo/2LnPNFpsnMTz
GRvPDON4hfiWZ+/HnNt1LPTAdVv0NlaPA5kKTQJ5DjITuwEFfNwwZkD++VY9jjuv6rDoFtlM0n/+
USv1C7QoQE9zkC3i/qmMgjJDUsoTrCz2uu7r8XmotHWSuz+6RGGux+YP+MC91zyyouN+b/LmPype
keqWrb2edU05RIpJt4bFo+JVrq86mEmLD2mjnUUAQY4xC5U5Fe8aeXU7KTreRd19lDlDVZT8MOr4
IgiqJ96OTiklXaO/wfPQvltG+aJoEQ0pi7YWkCGJQIM2pjgwm6VINyZHFbWVa40bPidNql9I3bXl
mj2MvCK/Rgea2cNbb487soX48Bsx0MkFXafqTCYLskxXO9R1dRkyFEV6hshUVzfC4dNhUUBwtq+c
keAaZxWZ0yGtNkwH9WCkOy4xHWSYRLbCoYjKC2yZXmqUkYOq/B2NliRaJ/AIC9VK8dwY5dOsDBdU
qzclqUNJGPGHYeYrvPzPueg/VPW3LI3NUP+Sab2fMDfFX7E1+IlR7SaVykZEz8TdbXBVcCIcG5Wx
jjLA5jS6n7S2qeObxhsd0V6Sohpt9tZ8r7wqFOq8zbPtg52qWNUQlAeK9wbQ5LvTF92ModXKNeBV
yh/EzOXzdfLdmYFUrZcMCLOq5XbSEq6L8jN7DHi9Wul3wM1Ajyy/NvB7wclYrpy3+gRpyqh9wJft
O2NK097wnAHzhWkLlkVbNEbPAD7gEJvTMa3ZoJ12PGfJDgnbQRYzpGypnqUUQTqYf9pB+J5UTSaZ
eqv1ylo1Yk7dZou4r/L1Jg2EVWm8wk92rjO+yW/kutuJcPNVOyo+fP2e6sVdESMCVBe5BrR9hQ8J
Me/etO6kg/ssCKyH9NdR0UUil/Vqdd8l+t5YqitOyRT03KWkts855weaPzXmjx5zTKStDEqYK2r4
mtR7M0ek+4xOZ9SSdKh2kYY/gYPTtBSVZz/KIWtLaa/sWfiqrFeS7yKjNH3dq6Ad3d6wTkMpVQ4d
49eOlldQP8TlhonSfXBuj2CarQ2i5heZfkXn6a7GEhd0+227ah94ku/ElvUhzZRbUXmfaNPDRVMI
QtEu/QyEUP9YNb4Gi8WhRFa/L1QIBm7bzsqeh+W1oizBg5jT625noPpKloeivnZPatHttbZ9owRw
m3rz3Uqmt9zRT0WqHbgnoKyYa2r1QAJDQI3iSQdv1hUdzwNshOyE7jfmOHFmY6ewQSUq3VwnSaZz
EOtN2GTJQTyag80BHwpCXgGFg1LjJetQHSooMfv0ZeYjp4YG1pRDJVuqI92mbkDGBZL1sX91S1wt
0OdJOGV0L5rQESq2zibrv7qULWAa1D+Mru2HXXH+o8hXz3FJdTOlDRXcnYGEdtBMqNhYtwP00hqh
Ko4Op6EIVMgUqMY6dFejGVtSYaxdQcRS2kfPhU1NZyEVCvK6tnltF1zTAPfl5FyUWeYX6poo79Ua
dW2OVUl8Y/NwypjM0psI+QGxnsh+K2/tDAWjv+DDSCrlLt06ulI2FOKSwiWDk2k9R8YO2XOzdQbr
RSrK2aX0igfe5YlsaumuW2XSfEu1oY2qZVu7rH01yUgu8vF7AkSN7NOJPmG/r5lKraRuMbFren6Z
M2dZ61Pe7Yq8d6mHrDkOTCds6nqfe9ENklxd1XWDKqSm97Oqrghe4TKrn5SGO0Lt9MAGNwtFmit+
VlZfGk3K1zSLux/NWrqtW5B8jTfFn1JGN2EYiz85mbJxa6U7ot5F6NJRbdilqS8I5T7aPRcZFoSV
i1dgb43mi64UCZoRl3JQNi1qI0iL179GvTPWdTWILWnRSjAJSG1IFJjosTV2zD8baE0OvybzZ7Wp
VtRiuXxJa8BE/ArLhY6bXeq0T53qXUrGvyQFoc7HH2cRK8rdh5XdxgjbtF8QqGO12BdnEMyavCz6
4Pg6vahhj89p3dbwyctUJRdZoSdCBTKEfc/XFi2V7Td0VK7n1qC816JPr1e7z6bV36dWuxmNvp07
hzZoEfZGdZE82Yc8/RWm+9Gqw3bynF/w/oDwt78tUtu0i76IINnq5R/Xe4sn7c1AB9oW5otFZ8Y+
mpM/imN/WW33WZfdh6MMt9Tgp1dM/UIzaBG2i/3VxLwKVCPOKHzobOvJC2oCoxbUB/9g8poPiV1j
84hABFH2Amzj/cFIlENAZny8DBLZsNxb1YrXtZIytQOMZwjYFYXW6W550huZbI3is9Go14nVsV6l
FnWYjrBDqyiKwB66E61pydnJKgNNCC4fl+w3JC6Lqr51XCFdUb50j5UwHb4TWUFPYyXmoLGJwuiz
zcOaVMfxvaiS57oqzpRVnBs9D6yCYapZfsaUel8uXj9ptWiFZSPAL+RAUDK0zVM40ziiFtmGrfxG
F+maGIocPGP+wpa+h08Zj44b/6aMOVqcHWiOvJKgDOJti4BvlqXfgZ9cqnd3cdaqnTQ+SjaG9iqs
Wve9zUDBSZRAH97QYqY7se/oQZxpn2nWX9Mk2lr4aI3HRaLbIizcrAhJtWdZjdFILPvC9DZtR3Wq
1PaVZhzUacDxMrxaegnzUDqbSDrr0SW9WZuCFNG7kxq+xSi58jipcnvetqQNOTH40GDod5riAMpN
4A2tY81uVi0sajLYjFLOl5nW2xKubUi5CftmNxhAGjJSipVHU9Fq9oojmhB/pgz1ajTGuQfA7g3l
DWEhlJ6Cb0pY6OZXCWPrNu6a4ejUc8IoCgBfzB1bK5KNOxPRcPSE/sfkruuVJdAmRj836cDSxtg6
Q+fCARv0zO0SY07P0z+lM4qR/FPS7Mon9PhFHEwWJGPW0RIPmvFsiOZBqUFW9Y2+n5ocUAob7aof
k8ofsu4bu2voyZ9MmkFe9i9JKs9javytK1g+t57EOTYapfEts50pELVhi9u4BGgS3LxmOMzqTD1M
AQ3kZKLeZkqn3qjcOPDPxsGids/VzDe48JKE/SNkSBryMtb4QarOfxTZrAy7uRR884pX+lMtToma
rvPSrgHeXaLQiB4JzP7xmS9F4E4CT00XJkXyFll16D6Im2FCA2gB5mAMqVUfDwrv3fzeFO6ubWZz
XZmdCKxmIkixq2/tkKfHYZZz6KQVFh5N35S93C8Gl3IuHbRoVZa/iLahK3keIT6mJA+UJodvBApa
YTX7U9bQXVrTX7OBJOMHSkGBAJvIdiLwK4Jk1ko1XqsRjscwlTz2/RjbZw75/O7qAHuU4z7O649h
7ktKcZhfesyWVNTSZl308xnzkXydy3QmI0uNf/MKsHM4i1LZpiL+Y+h9uokbg1STnN5jF/HhCCiy
LxrMy4oN8fVm4flM68iPGyx87mA9Dw4tz4RI5mRUbEZj10nz10jBPvJZQYiRPsm6WhvZsh4RDWJm
F8spGZq7Yqi7UmlvEy/xCsvjrVPHaBVH1i8VzZvHjGLYUxipxyQ7KBrtRLbpm1a3QQHz4hp/DCrL
tKIJPXO4edU4B6UwTs4w/eiT4BYV9W5s6a53ymKrL9EtM8VJ6NpGlUBT88h/HXse/eLxuSRFemtL
9VQ6Ht0+tPzi1zXSexF9dJk86v3NK2/CrrZwzzvCsuILwJSNanyVF5smkxaOLaF9Lt3c+V1mVeGo
ZkFDqaTZyVMafTfG8zyYkLTWOW2N97kJW+tdB5YD0pNL6btjdk4lDcePltceb4hSRaEpupFRZHkH
89hTTLDVNBAQx9D2Ts3tV2jsApp4HiOF/S21Psh2grzL7XxlM6CD0q/c3L2ljQVjan9iCkLaYXsh
3oHU13qipKdMHDLrpYvJc+Ms67liB7CEKk4PRa3tXUwacQoA1KkZlYuzrzDs6ZjEfMTCu5ith2wA
X58evOHs3mWE29aKkIEpJEMmXDaUmolV1X90yqUDlMb06TZ0cHPxzJbcMH+v7C4LTGfhOFoiLw4I
cp7eKxP7mRP/Pt4qe8RCX4mN0qrvfcEBPFbLran4eQ0amaugrXbgoPvOsXZ2omIOTumm3IweGoOJ
81N9Gsr6MzdV/FBjFGI+2nk9x/HUPyMMQeLyUlMGXxNCNvHBZ7I/jaO5efQ9tpO3qeQfqRWfnQfp
H73bgBJQ8NPs/kV8GSiAnwi9gnJJfHtWN7Yz7HPZoysNK1qpdOj5v3r5VbjvczGiUfjhyD54LTWs
AzEJ+UeXvoJoqGW6aYDaVXN5tGSSs2CtSZs8pJp2Nj1lnY8FkFrVHcr4t8FEnGvlqY0kQlV1g34X
bhp9XyLMoLIMBjY8+qq7ipoMpji5O9DhLLl8gGa815PPRDd2FXy4Ml4LDQQ5t4dtW5rbVEFqYtlX
q3p2ja9ioCsU7c1Y67eyYKFvTdStOiZ9s80vaDAPETvbioEh1Gwcp3j4qgWEmlrZJ3uZvksz/qnJ
XlvJrrnCNweZiJ+s0d0vnHiiSneFu0BMEC2zp4Lh3mjJyhZ3MZ4rWJBoetMQkjTxr4RLEDm+rXs1
XSacXV75Vs+SD7fzTXspr4syqPvJrHaIjPMRKkJ29saWPb4Yd2+m41FtSWOq42A03tMFO2AzvRRk
FuE2y0bnNnZ422b6sJB0aBFaqw8zdWHFxwcD67wOVj3xj6yOZp5uUlEc6v4SeQPu/zQBb1K24uHl
rSVbInVJ+LKy6IBFykeoszH0eZ1Z8aNBzc91nUvf9fvqKhIHLzNpbeVtMl+qYVmRL1+eSEKI+89B
38+Avf0OMx27d/8w3vqjuofj0doje5SpHcrmhK1/ReNslOxzd9ely06J9xXTMfrenEExDR91v8ul
sMu1pX4qXOHZsan3MkbpyvyQyBdzzE5TGhZk5CM259nZewjo0pyMH4FIiUfmsRaatMGny0+E49nL
JPKEEr3z3TVngqc63McdPVHrenrAzstZs1ghJ2NNLP+VeoWw0IxNZmyJEj8T6GvlMFh1LlENMSaB
rKXuSHKWvnOEdREMS9Gd438VOVWoioNVHaziZDN8Ktu6BypaG6mGrf6vrN6M7q5HYapz/zXOTZT8
Vq0+RSlwiF5si9FeK5SjoVZ5azX0zilEx4gqVhAt7C6bGfE4+RI+DDbkzrnFD1rFG+FNH0b2tODy
rgh2dwDMs+ZY0bqVDj7wcG9wsKScUfra9JbAlNq3trjPiUP7W1teaXHTISqgP1wLt7xzoFpJBDGx
fCgFy9NYZB62VudOSosRkhWyxVrFjDiFeb3sdKQqMAUBTcSrhC+xEPXAM6c6FK8gTZ4hNLJmedQY
uzoHHtUsVsLlU2grobrlzpw71rPi2GhAtsVw7Ja+3lZKc0El+jXZ9SfiXLDM4W6ZrrhnIworwhoZ
CrW8Oc1e+5HL9+Uh51W77k9dpMe2xHYwUNdr44ukq9dNELi561K5ELOzekDkFBtvWkfhOKbMab5E
Kj/0/KkWt7SbfVNpwkHU6SuxhRcCiI6ziMq17DZSp/VphrV9gL4vOVSEWDrqoTI0ogPEWsPvnL+m
Kiy9t1l7E9nZ0CNMsP1qUVCY85TORrGO9GNpjFet+zMZyi6t253ufhE4fsvAYfX0Gqk9vEwbOsu8
ia0+ZFSY8nqXENg9hEn0rk+HynoG5z63pcEE3pM0b6GuQVcEfSb656XIEl/pjQ9cbmTufLgj4mHb
IJEAnk1gfHUEwcBwXFmxnFS00VX8bQIfU9lah8hgxIrEinQtnOoMYmCARjXSz83xOKr8Izs19asJ
eaPV5ZcqavMPe4lspE36lTesDzOYkpAgZxdMwlM+2LR5qRx4oG74yJfKT/JlbRTGU1yiPFXpLKPO
k+1MP3ljvOxTVHx9Hm9FZ7RAc9WWrJkmIG+AnVADnwYQRdbubEcHMXZl5nC8rfJdK94Z02IwKqp5
pobUPbhpP76Mi/lFDG4H+SNvGviQ9NrfoRe7OUNzhf61h/gC8/cAKP22hxWR8snzMvWrtxR72y2D
u7dblsql94X1NUO1rzyTIqyuBGSJR7vcOd586kiqDDUnppQ6iiWoYCKeFAtV4MD+MVjJq6fHBtIX
cI4kalTeqi7eZqVmPJXaOsIOwYB9mRKkdrOCMrdMjS8vWVKAVGQuBgTIRXAqrdx+nhCImhDpsZpG
d1ZDj0fIWw6ZFvcbd/KQv4lBwyxNquWaxJMmMMt22zjyHku+DTGZEjvAfZrcrZJYX6RErnPbhMo2
9bdYXVjC9Iccd0UZ+8UexQ6OeB27Yt12ya7R1WPvqWeHKNoiU+j00qXc46lfkSaQHCXhFEGxKOrG
40m6OvZ80OoYf0ZRxTHNqVaxVhtnblCCF8VdHxozQ7zutJuuM/UkUPXMGViUDF3hVIlfUiLbSeLu
EuDLPOHvDbI5e2iQQlTS/V4xaB6HxzEOg8nP1ME7gNL2OYEQ2EesNYkC9aZTq5tl6NWt1qBIPSIq
Lk1MsLBRZaiEiZZ4dRBN5hMFiCybtb84pDpoDdvN2KgSSxdgxZKo/bMAdwnB9LUrEUhJ7MvZ7rfG
UsBWUytKWIqNBvlJjAKW3CTvaU0jX7JVTVCH0tCe86j5g5hTy89VRKebX8S18TEhhv8dHzBvTBaA
30xgTUUu2t8lJXbXi5fhL+8gFvrIGC4LBdqhkbfgK2UGHdwo4lTy59AyzCOL1UJeEitMbI4rKAoZ
Qmb+jM3crYqk0K+t7byNHiCZ2UTbDPHGOhkq4wPSHWq6bobLoCMtN1WN06OatEBt1IJk0NR7j/NH
vknRT5+uq/8lCNfst+RSWUfRTcZXG0N7xyge/jLHTiWBdgz3JBigv1C2NK2jo/YWAdZmJwPTx1Jt
J9WsjrYC7IRdhO+i52yU1r4S7V+kVM3F8hJ2RwhJbl2JOYULCrQHRSzT3aTuEoXpTO2m4awVs/U+
Vp6ofa3rvF81JUNqZarKuEHjvAb4mKwQi9FMCXwmN+TygPziiegIQIDRYhMu5uJvazr589BHzW2s
ZAeFslAXPy2ffVSVa7Vcir8eTfdt0AEVQcaOjcGdnFbZU4djfYUgnlwjKCS+ZI/9bnRzxoNS9z0x
6R9aRVA4aVb6R89qs2tyqzzp0yI2emvp55IVgjmnYa6quWD0wMg0slzoIFoBgeNrU4tI2LzXWn3E
wAxAOCXuphEyDU23IqfJa6FUIqS2m0pF/DorcInSdH8aayzDR2hDG9joWy5qXXnfRatoOOsUJxwJ
YD1FjqWuVaaEPRg1oxT36aUbFXl3iPbF76bb106bu7WNjQu4srHsQ9sa3tnNDZpsmh4tjMFiYXjE
vaP9nQRLhT1+FxMWiU2qKGwuSOT81mgrdd92LvenHms3rY8xWTSGU4eRB6HLDoYHLyWkHt1FD9Vn
9N0JUYiJe40AjusABByyao7X3Jb8fD2ut3dcTtPaG/rkZGnwwbGBmJlXmW0ODfgmN2Ir9pVGvbtR
tLRrUaZya5aF+znmxOv5al4uVOypqXLTc4Q/jqP8kPMiARrm6KckGH9VVtBOSDG1MEVOVQFSRN7Z
i8FN2oIclT5zXL6W1NppnXWVkSi5Nck5C6MGN0Xl2CSUNbWj3YkBMa5APB65TXZTaGc7zx9S+ofc
3Qbvp/FWGUJFcTONd1avj6AbIOCZRdifaT1y7bEfz5n75DTxvJHRlB3UFqtiTVmCHzu2s3Xrtr9F
hUyfGrYMoTvlOWOcRPYxRb9p087TKhKxe2rq9Cq9Zt4keYUoulXXAzJaFJsLOHGj6z6axvidQC4i
HCfrPtWVuJh9Ja+63uOIy7DQ8GPRSUxOyxYYqT+IPNLeH0fh2qIL/EIc0vw6qSNfAs/ELc51azO3
DzedpO/Rpp9uZ5r1/GLjkwQ4KjWmQmQ0KQjFk9rqeFcnQTDo2M4pfgh19OwgmUhDxt9qWvRx9eVr
ApcQuZO5Ip9vOkT5jOVh6gRvRKwE5Ne5f3E5wtNYbr+u6arEtMSAJwQ7z0pj2P/JpmQ+Acl91wOc
eec2G28Z4ZL7HECmkEt1dmqPJSrrGPIJnTd3SYshwCb5dd9Oxmb20M50nrtznBrM33WEX6tiL9i2
n5rKHE7QluZaE3I+GXM3h0pf8I5lLSJc8p5vMqoobHOn4TKPltyS/ZG/uTVxWvC3uknw3iSHM/YX
cKYoJX8i45euklj+dfLAY3s9IbK2NS4z3+0jRkQxQggl5+EmeEszt3gi6R6Jq+lEd8L1VDC3/F0D
avDJcNGCRcp629bl2htNYsvHtgkipsZXzxreSSx1w2Z6cLf1XAxvLhH0zqrGrIYx1O4BlBanb7at
IInFIqrqRB4H3H9cq2vGH5ikYoZzMaEqFyjSC6G/CLNIqn9wyQeZT0RkiIc9Nl8+wXqAaOpJfkcY
pXyzkKgvJnsARCchRTbtQlAWXPpDVR/pYSNL4ocJI4QvLukTpTAnDZ2pqAjGSHouDQaRCtPUeh7G
XQmeV6x6jSVmiT71ONdMDmwb2ZDXSKJYay//ImeRpmgdaYFB/gM5SDSB4KeWuJvsGNVJL8robxVr
7nEG+BOoa4IF22UssiJQvZpoLXVS9zyg+dYjGOC7zD3EmdCSF2QcBn9R62xwq9rwPJqunIn/4ecm
2jHC2w8OE0t7p04jNBCF1yzQcx9deNrYztNOFKidovRG5BfIl+di+kJznNKvDBbEX+vei6LttgJt
3bxy05GvJXY1Zwy6Tn8oyZHJX3TidACO0LGdHbXQruT6yh05/RmSz4F0HbLdsnvDjoDqS6Q6aXqx
/J1KkeJgW2y/tkfQ6TyRHdiFJ/foX+F0Ev5/KfPxMmpH123ENTfn6Lujs0+santgPSoU8TP39fKb
F0W99xZ1zrEQKHAFxvjgYGX8iQbDuiic5GsdGGqvj2NaI4+xSDecqypc8CofpgGgfEp6bbvIsfvo
4yUOYnLsSMkqmps3iJTiLhSO5UQxepKQYsb+wJtYK2CGPTKPlyGSyy8hVo8AnQiHSbF45UrXMfJ0
dJb4g4r2b6klFZkzwIWnW6hji2ReiJQR6FjLyW0vMva2MstLv+FK2tlupe11EqwQI8nqJDostWk2
zxdZI+hpU+cWwVCuie7MPhI3Fzaa16U/DMpQB4q0w1ZJlk9BItBL13sItLIa0tWR/Zva8VCtJAYu
YLreOdguvFI2PRl2DGjYIUdQ5/ZciMzY9FgaLpJEzpKKQMd7be2h2dZ2MW3GUiM1pR66J0N5XAxy
LLiFnJKTtF8W1GxuhYBpmd3zQuplwDujHBNDM7/bmA8zMfSY+zMWEO0k7oQu5NAqipfpacmwARmj
rS5IfOys8qXDEZFjY79zmHwP8Io7iGFvZQIwhNOkYBRIZXaK5ox3JIoz3oXJWqYvksW9Jzc+FRHk
R3LwrGtUJuU+br3u5xElFYnoSALtBkR75dg9I0AbLWtHe9zmi3IQMWilOVRQLgdrRHfYkhipmYhq
y4NZpT2+C89inYwWyUvvGnELEwTawIBi/YGVMD+4OaINasUihS5xrD+eUKK3oaySbQGcAX8OSU9i
YKsqDPaZHTiNZhL+XVQ1kWNYLHU32ZRaSzdx+qYCAg6+u2jx1TX2rqMchggnf9NO0Md1u+wKpwCp
icFiUmhPfW4+BiteYRA5Ru7wptT8CnVtCK/B8q3/qDf+f3PA/5IvYv2P+SJ+zbz9/V/dAY8/8e/u
AMW2/+ES8KwRmE3QJIYA9Pf/7g9QXO0fDo2zHqnhumW5//ylinkq+dd/0ax/kPDtETKCdUAnAOQ/
Q0YU8x86cTUYClwNZT+MrP1/cQj810QhTAG07hHOjIEBIx6JJf8thkYzjMZBxlWu0+LfuDuT3siR
LFv/lULvmSBpJI1c9Mbpk1zzGJI2hCIkcZ5pnH59f1RWdqU8XoUQeMDD6140qlGZJTon47V7z/mO
t5uAeIiQNpb6ArbzGezzcRRkF5ZwpKGT84ep4RPLJHbHIUPGwYbH07eFm54No9wZ0XiRYfP+mzXj
nxaIfxQqvyrjomv/8z9+OpSjLyhmuWQgkKDhLCf8N2xK0GKS1Ym42EqghezJVh6AACYyZeNufn2k
xTnxL1wKJ3V0pOWX/O1IDlIEa2ZMuO0FLerbbLz/9d//wNV/PgABptwBKOGCME3j6ACuSrAvNU26
tcokqr8Bo3XMbbd4Pr+5qZbXFx6+XhtX6RzU73nljs6t09pedZK2mAgfqmyoHbmC+jC1SFG1rt+X
o5LSt6bO6h9wzAuxQfMVqKtf//CfninH4Fm3scXoAOJg3X2+MEjDtArBSLKNe+amV4Ax0RR8ke/w
88XngcUjs/hqiAI8ThrMRhHnfcsxVI+k0D7YmBZ/fRZHoLbl/vIgCcpCA84MkZtH4DIlu8QkxSXe
Ijl7rQxUw3Se0w6rRdDfQ95mWktv2QqYPn7xDH9mU/115CUFeyHcwOM5uoA0U8Je58jOeXjDluKq
O7C92g3fvjjDn9+V5Qw9h3687bKfPnot7bYtKBe8eCtWz/WqOgMN4A9+v8bJs5l34R2KDr/wvzio
+dNrw0HJUWcpME02dUcvaAECoS08LHekip4AR9l3+2A7H5ILZ6+dGCe/PprJynv0koJxsjk1oqaJ
xbOPTlEDCVoIwFrbwXd21kG7LC+aE7h6qzeiYbb9pt/M/rgJVjAPV9Em++JkxfLnj15hDs9Ig9wG
zJXi6BmSAXxnMzbZYp04h5qTHU+DExLa192+32ub9Fze2Dd8wlXpoyJC5O8nb8mb9iqu3AvnQp54
J+HaW+un8sT+4sp8XOdf/LTjlX9ATTXMLVeGzCeSOBZVfLvvjB0jF3ZHPfAO2CbFiiZMfosNnNH/
r2/NB+Hspx/AOk1CM/1fOCefn3KJIhdJ6BBvUV3sxdZba1v3AIZxTyF4oT1qj/EpU0Qc6zidr4JL
a2ueaif6ejgr78qr5gD/YPXVd+rnVQUw57JsAd3ybF6Nzz8JHHAlvURF264ti+hct10YV4ZMxi8y
cX4+zpJ7TlmweAbJFTt6B8hIDSLTSVkhSzUy389MVGqsd/HvhSQvK8mS9kQaK19eE4/i0QkNLdkD
w1BzoND64eQKFSHviq/mWX5xO39aS7Aqkr9gSNNySEE45nFBS9MK7APLVlbbebmzMb1DEaM4Lr76
wpuf0V+c1HIoD9oE/yEF7qvPdykycnjQLYwq2Gg300V3qX3vbu3T5jI9eBv3Mr1CLX4534+YRp71
71/m/fx086RukTLhWLRdJVPqI/JYRRmlwS0AlLKtTtC3HGhvrj0/PzG31UW+rvzXX78ox8dzTBZK
QrVsUHQLku64RHNiwiiX96QALdXgHGe0+OsjHN87jkCwpCC4lxmeAAJ0dEGhmRUqmuLt5KNgusr2
5f7XB/jpFCz+KNUIBn92TzyMnw9AF0nUctIQkI8AEiJ7ZmPXDdXm945C34ca00WZb+DLhsX5+Sha
6jSZmnLIkdocbkVdR6cpI7rfPBdJoW4sYUp8Oi0q8OWL87eyL9HEwMOZZhuz1qrzRBrBTZhn5e43
z8WhUuarBVcKpqA4Dk3xsqHtu6lEHpOgRxzYAvq12wRf3Pjj+8LnVzfZaQCA4awgAH4+lwoY7dh0
oMuAe9EtbXDBIw/G/PjV6nBcEi4Hcin9gbthd+Y2fT5Qh08phOXM6fRYpwyoPUBWMLnFOXry379y
RMRSHBo6TzTbo0/3h5z2rmw0rlxk2vU9spfqgvHg/MVRcI0elxZwZQ1eR8pPRnssCUdlLiGFcZuB
ZF0HAawhERYQey+dtkDdhaUjr5gACQJxMFJUFk+9nYboJkZbQw+rdQnymhnexDrLCUvYpmCDJDzC
qO39xhMhniA5OO8dMoxLCmEIWAUAjV0Iyuu7iEoZbRju6FeJIyrA6TIkkxBdZ7V1sSuheSHWJFxZ
tdlMq6y0ytDvFH0GaHRCdauI9vCdA4gH+UTjGvswn4fstJ41hvNep0hcIAQO0DXzkhbNWRLr86nM
hW6uiygJ57WJ8Xd8SGoCGbBaCW+8paU0G0g3jAjYdiIigUwWBAWurRzsND8k7a/bCNrWek7q5Ioc
cjXujNnyLmcVD3cuOLqJ3AxPRwg30vxfjZjkXmoVNmCp3Yxnn6Fre+OQdXVeo1xoceDlFgk7lTR6
ZNlZa+y4mFG+ip0suFQqjzOsPEZBY18w81t3IMdpPOpV/yrQakrg1cPiY1OQBnuMxTiDi9i57quE
2I2ZeTOCoMhAYRXNfXlR8KMWsbRnfgtq0aRcR+ZIq4DmfLyKm64atvHYoPYjINKRiAVt/ACzjFHc
9bDJz3Bi2ldu5eLqiyBVY5njjR+hh2AOWFl5XVSHCT03hrs5DMlC4JElabRyMAU53gB6T6A+NffG
RHYkuvRMvtNXbCvyXhKddAlJS9bvCYyEUI65ZPBzw9ImMt4bDe8ohp6rdO6CboP3L4gRlMme1NRd
M1T1S2ISUoefKu/oemsevp7JFJWH82Uazz0Ydi3eBA+gi0JyidyRSA+5aS3MnWvEeeMTMgt0QMmo
Z8068QSFIh4nmIJClSPDbFS6K1Onu7uuiqGb/CQupmBl5nlzjxY2pt1mKTGf9RO2Rkwui1NFOiOe
SnsATo2bhCdwVdcpGBWjNHdTXmDRgt3uWCuy5THEDV5BzIWGVe6bNBBzGczhXk03t19kqUswbp3K
hd/ZJTs35nDlfkAfdcs7Pdv7xmEeukn4t19yJ08Wy4x0f6jYkyWOQNm/82wxyJsL8ihWM4MbbEdp
N4DdNFsdG89oR/KkKywX+YIQGils8LQX+bOFP3GS4PfIZMci79n0gxHxVh549cht3fvatHm96s7O
Q7+uUr3Ym3UVw8lRrKErfQqIt47M3jutsoDReE9ihQIzyeziXPRFdZnY/NKVPmCjJ8dkbKKTMWRD
jmdR6D/aJI+xl9WZdquLzo6wl8Y6wWb0JmlGzkxNGZhHWHJrB2C633lIJXaxSOC6E0mQYvOfekaN
Cfr4p9QsGd1pcpT35hD3T5WdEAtL311nqJjDCMxDhnyFlqkLV07Im4jWQftNNKbyS7vr7lHy9zdu
V8Clw1DikaiT0+PckY7QnbZahZCNNBj9zRwV0L5BtvIiqWgprIVGtKcfalBDUYYqDdULWSjouUCt
wVlKpjh5Tymu9Y2ZQgZb87zxbaxND1Wz0Rt5s7GVDX6vHMPcgDsTtNVqIkApWZPfCt4vIB5m7Mzx
FuOddm22PZ3vPu40Ex2nZr+FWmF5jNMtfCYu/gl4e2FLM7inuCk2WWdmI8YnmGnADXJkH3xHjQuz
javI9/Aqgj0C7hCtUrwVaKUJtsKtpMsCuy+pJi10AjfA+Fo29bxBr0MwGf6w0GTu22BFxD/CzAED
NgWuhbJAnUgySHZtWKXGujPjbPJF5MXPDeKJdONZ2pxfhDLNb2FWg6CIhnqa8UQ2Cgt5j6pkhQgr
btBMVwarEjaYEGt52b6ESln2ZsytDIHLFJXm3qoN1GZRFblvOEfRQeEybFDVJTUKcPIeFkmdqLEW
9LEzf/PayjN8bfJgscq0qs6ypjINeBNuxpFdZkkrzegDcGt9EKebejSq6EIxUep9K1c9SZCuqBCr
pV7ccuqm9RgiZ7B9MeBkhM0YORvedATSqjPC9MQqejdcICAs7XgjNUgeoQu7DFNA+0a0Fg468IGl
hi9nFHCzEuR8Q2DxRhquHjurhBr6Vbk5hid2TH1DONxAqjPgVeSC5uiytBaxQj1AuIk98zJLxfo0
6RqOzzaDyks3FiVICwHjyZFJJ1bMOUYSFhlGoDNQtonsCFjoKQtKz4NR5R2wSc1NjZqhPcz2/ilU
YmTmlrsTHwKSKtW6QoCR+m3ZxI8lTh823ENYvgYKugKftbwyDtHouEjv6kSXe0M6ZoKCPLOuS9pe
d7PXY5mZ2Wa+Jl6hTj3EScSbJDxReHSEhhPayIfL3q1ysIHmIF7hEM1gFdkCk6QQEFS0NuIGQdGY
q/iu7nUGRlojwLVAsAcYJ4bQesntQr5N0gswjw0YOSlnwpFJZN9QQMhonHbkrfFfD4iAv3tkkCF2
1JeyBH2HjvcDNCGrFyHJPFp5i+YBeath7DGccY994fTaUycNxjNVa0BSJtakeNbKxbBmxjlzOJ64
5LGD5Q9J2KmpOaDCJM/9WLL+1PVMZcWZVG89gbtcjEEnCqLLLLzxaKVmCxCarb87GO7qlRxAKWKw
9fA2WfrcPTW5yNVa09pcMGgy1QNGppg4JVfM1ppZFFATPrTgokCZ3cJa8OBwIwWbfRTV9pmkE4QV
aSF3uLKN8Svgm0UFoI8AEYCOVQ5yXTcrqouGEZC74+tbtltFN+ilQaCAepRX6kQ1iWLqDf7wWwZG
WflZh/Ck7nK4erLx5ptJhgU25MFwXosuGn7E9mA2vo19uvC7BAVgmY0Bz3cwyLvYsSdsAcKNt7EB
ZngLPKcw93PQIHtcRTEd5bPai9RzX3NBrguly3cIfYgDW+Hk5jobOgAxbd+j+iqDQbQ7fFiIM8sB
vKFXE2jChEy3GV1GdjyTtTNm917nVvNOaKH9yHCYTTcZYVG0wPcCSOJOhkREhLMLPqiV41XWoy0i
Zc+qf4QTg8x1pY1VhqFCmO81QjCexabE7u0Mgd0Q8ZX0Z4gN0QVXU06Xd8jsJYlLeN1pxoFPedj7
eI1rs8Z2M1ee2A5h2sH4y0TyHrgVnn50aMGmjLtq2mYWxRCeGYqYyZjyB4cYK+MqnshjDvfBNDT1
e1fH2nRPrxxdjE9hpB8KPdF+kDnalTYIia4f1jNl/7DTTAeFcl0ipH9iH1U5F1FQV8N5X+h4CkUe
Bul13ylUfG3UmcMudYZerNo6GB6jmJb/pnU1xhNsVhYWbQOlY52kvHt+ktU6lcKQjPBamcfG167G
+BgcRqEjMcyMyUP3HKT52hRh9INWsfs2jjPfJIKNImOn1XlqPXSyIPEol5b+ZPFzkUcaxayDT2ln
48B4ILZItPLCTEN035rcezRq9XgWB+lIeGHO5/pspnFFSQ6Etfc2+OA1y1knho29mDU1cMk8dOLp
e2+OntignEbT1oTWg6BdX+1StjgIBeO01lBzsNLuvW4IGp+lG/ztCsuD5Y1r6Xao7dJYU/FOTzKj
+9bZPXA0M7aCFgkxPsjH1FUulByEkCEo6zkPL/u+F8Nes2ZWa2p8CdxN2c68tce4Hw4O7nd+4OQ6
wwFTTFPsZAXqivU+8BYPZ+Ddda6a48ciLKZHRJ6mtwMjQUrPWGj6D29K4hp2nz6QzRb0VujjMmn6
Fs1cNNgo3JDFnmD4NqKtymecXW03TsY1XbVeXphFWnubHj3AiMELK8hKAnDJoAdhP7pBrE7kXt8G
uUSkllvtGxqSYtw1DXXOAd1mkB0SYzaIKir4OF9a6JjMXZ3YJkpsZ0r0b/3ctNaadEo7HXA7p6l9
4lIcOk8x6WXUWINwHNKBeDXOW12x+nZKtM0LYkFkbjQbPCCgBB862ww2dniFriYa2TPNathkIPXI
eVLZiL9mAeARV2RqVJJ5SuBVoTnkwpJjR96aAf+65UKOacA2ryoAAqFX6AHtsu48KRVkuV905aRu
asiQ2RnWgtJlaFInhu/kWgmJSBTyttCb+ab3lHs1wiAtd7mjNz/sXM4K4zT9lesyEcO3OlSetmM1
QP3YeQ0Snakl0Otc6WUP8kcuDAINcsjwZA6TFe7xtpTDBoELXonQCgzjpkvj4jkvzdjYmW7gvRvx
XGWAP9gfXbQ6t2otuZ06aD4zd7ZD04TGZS/REgFjbNAN8jqT0rjC2ZWB2yf6uKZK1Dxwkzn3p1+7
kc6nMZGp9SpEqqHXqgLS4VZqHqoBCs+SDd3FpESvIh0s9R3YkKa7cETTYbbUWh62Dh5auDGWCNtL
nAVGeNomEaahLKal68MViEkIDGiXU+LogUGsM6HmKjgQBedaD6WF4GeVVUH/3QpACuEWdR8CIKkC
+rTT3wu7qdWtXVUoTrJeRG9VwI55O3t1+8PUyHyCCzrh33UxNpHPp+bbsuqr2scxHL51ujWA7Cfp
TbyCaOqDBzJ18scJHDZUCVCI50CdzBA8S8qMIG0GdioW7YNXF1BwcpLrRfxuwv3R/CKq7PLRLHWh
1rYbyuKUjBntCaJC4oFRKcEP2XOV9+xFYuWcFmoMeaMNld5bEMuXaD1zaK7oL0X3YErD8mCkMktP
ihxS/yrXe/dbXcz1t74Kun7LFrVGd2frxN+6LjFvq97Ga8Lm2YLE4/QDhafjIOzbLytUftmh4sLo
31RgCEh3ZRcxjeZ4RkT7QrkBHyL8jK8L59amvaTIL437KGdFwKAep7cpIYgh8bN2251bxugUt2Pb
FfGVDo/CRL4+d+1Zr7EZaXBo1gTPVZpVfrd1IemmdFXvbPKCLQOa/Ypwic6Uc7EtTSe6hsmDr6PA
nSy2VjwnkJj5DmJ1IsBd29T1gG7e1fuJ70qJcecctNtkEKPIZvUH9Rl5CVPtuiE89KrvzohfK65U
Frm9X4Wpw05udlBWr9TUFD/aJnSuHMdEzZJ0cLgoPkzjnb4L5LLaBZC4I94xQsTqWHAyZuXZrCh8
ZjtWAlHALO2EnUKBEGN0XtaqBwYhglrbd5Sc0QqnFCG64TT0ydqVAUFbDjvPK/LCmvksU5He2Kte
I1b0SRIDeDdFyI32faixuZp4Ve3VNNl6e5Akyw0YGJaIy8xEIY9jpOh7jJJLDOYInn4hMy/xmMsg
/LntXNSPKKTYRY+pEiQjJPOTk5nm49BndXjiysRADf0RwamFCR5NfF/Qm6qPmM5pLCzegCW8s7dn
KLTZR6inlSah53PRwQcExC8RoEa/Qj8J2UWJ1djV7o+SkE2galCjzs1YAQZrg8KY8PuYXbKflpDR
YIkbDeYouHGQ6wanVqSl4zpgVLObIw21oEW8LbZ/AWMcjeqSZNqwdz8QigJEAOFYdBV/pJ7aeDwP
UYhcfx05BTeITQbbZQS9H0rWlnbeuGSpxh+xqla9RKzqTts+hwVgM6uX823wEcY6GqDQfNNrwcG5
ydC/VBbJrYJwxGYd0aPswbXE7YlRZxYxrwYv0cZY0l/Rj+hPQICIhG1N7Dqrqh9r/mWp8Yfiqe/A
TAgu0JnbZC0204+YWROa2ZWQBR4hDd5buWqXTNphSadtwigHR7FE1jadnj56k9DJdvkItcUj0uLA
WrJuq4/Y23FJwG0+wnCBsE6vsPOJyC2G0DlPFbpfX34k6crCwfH9ka+LoJSs3TZRWrtqPzJ4Padp
rgZ7SeYdl5DedonrjcOcvZT7keJbfiT6OnhdIigbCyIhcZmXnASN7tobO+rAQRoRDQIKlpDOTFsZ
eJnYR3kDZIt6nlb8cVaWtrAkDGont85s1cpwneoZ6RN6M1UgtpyYUOGm8CL2ETUg5B103YzCx/Ei
5B7R8Gzg88AMVpTh3ppLJ/LbxiSuKnDks+odiX0zsbi51D31O+JIFr2kmAHe5cgzUbt1XfiW9Fb7
w2sQruEli+J3R5Q4eYUx5Pdd5Y1PdaTnlwQtj5DoB9gXo1nALeD71L4VjdCeejXU6TotkymjWe3Y
1yWThXu76vAYa0YOGw6p9VzxpYZ9ucGNjgLWypBFg3CYyseOjiuMHSPTD3Ea1LHfZwG1mhkE7g98
Q5CWYmIoT526RrvjxZV3yARGOuy2S8VEAuZkbfhgU33MQnmPdOro3LoAkZ+dFm02e9eCkBTDwbPk
A5VPDWwwTfmjndICtwNZr6wUyOlBnNm0utADOjV8bHdC+CfHvsBdUHonnoXpE3QvyzV502OG6BgB
6fUU63DUxg7zxbphpx2v+3CghtbVAuUfDNbVg1f2+a0p6V+oxOGDX+uRvAOQN9whPEVUC4PY3ihq
SwMbu2CXKLocw3hQZv1rFLkoSWpJ2AJ3+CWKSaZaUeklt0aOUDkTNcCEJgy3NbALgmXIEB5g/3mB
wBXvDN8kJR0SxyFJLnPX9Z5wnOTvVTC0e+SpQhGS0nUdLBsidJe95cbE2uiglveFVw2XJTuyuxmX
xiV9tuCss6cCj3KU9c+mRc9oK/lKHuZwlK/EBGdyg/RJEGwB/9uiN5rMd43b6adh4Rrn2qCDf8O2
Mb9qCFbBdYV1+xjOo3oq1eDSHNOS6cVLxwmSSIOUFMevnZyxnc8QbdFhxmQosgElhDe3LwjrLXvX
SzG+e7Qt+GuJGu/HPhXobxigKV8Hxvzd6npePN67pvJHlkhwelVbPlsa0T4gKALRIzePIsjR9SBv
hWITy1etUuc58tmCZ5RiYqX30skoqFGa03Qq65NsbEmJIm4rf12iMx90JuyIDvopv4v1trg3O/oZ
oG3HvF3LaZQTxVdi9v4YAOlcQ+zAZJmkcXDRTQsaxSLEvoSdANzKi6ICdw8OEm7AbNQ3QkbV95D6
CQddkyxtCi0pgD03473EffpoIw7mzbSiN/qULHEBo6+S/BCrOUv0ufiRMyUmoKLMsbtb8Fcg4PdJ
vfGwkN9DZlW6r5emvLHChH1wDJAchmiHUo54WJcwRptIgHLVOIMkTAV5Pprq2rApfmNqBF9VlvU6
hVg1fFl5+etMu4N3dZAz3LgKxPDKcaMCZm4TCV6lIG1/SAtbA7+vL8+hPEJFNWnja+s5nUNwZaYR
l1tMoqiAtJSLs0ksr6DCSfmWaw56coT+Zn811AZVUdoZBm9/k3vX+Cfy+1mvsDDxEgXfyTvvCuIW
TVzKhIB47NLMxU4rCgzqhCPTgGkN5SBeMQZ7NTDNbc0FW4w6rhw1FwssmzTYEKUFkbhWyzsrLHp5
G8PAurIZzJIAklENMRQp+gicM/7pfJ1xEbGVFSqZIB23JjL0POid9ehgy+B5qaKYVFg9UGjrA7MF
ScV25JzV3zFXvx52LhF1nwRGEv2BZLKOoMpzQMEdT9aZbtlg+bJNBZl2JOkqsU9mvDVGQi7EvWMA
HZowhuNhL8Hshp7na3a7UcYpDbkLwyzIZ78QtP2Ydq8B2W/t/qSnt9lY40nuns9a+sXc9OeJs9CZ
bFuGMD2JIOtIkFK7ePCwVmWbuayDR1Qj8sKSmrb99WU5FjRgTRLE5XJZFvo2wIrPM+Ckxe5mzHay
sQnKvtOHpj+nTSBPCB7B3Z7aw2/qeT6Ot8gFkSNiubSPR8EdDRQqoGRTiYbd+5RQVKJ8++Jm/x/P
CmEl/0u0LyiAP5+VYuSK1AdPa9HpaMdMrdpbNgWlpbViXyF8/UIdsDw7fxdoMbA3DE4KpTEDdcs5
GtpPYCltmQp3nS8rzmhZ5AM4lNaU9PSXtcsign326xt3/DhzSEIFODuXBQLn+9EpJrGZRYrR2ros
42BfahhVJGjwtYDa+8XZ/XwonkMEtjofENchrvHz1dRwLTgEGdtrzQTDaNUVk/dwiQPqodL++qyO
H3qwBh54AtMxTYF1+vhQLCvO1HG6a430lX4VNa6zbmqD7cvvH8dCEM7jyAtAyvDnU8omIqHJwIMc
NQixtyUf/HKU5hcCmJ8fCwFl3PJQe6FLQmT9+SjV1DKaRlC0pvcvblhwJWWVZubblOSmZ5UVDCyE
GvXfvojCxdjsIZkHDeEuBP5PupvMNYJhontUOGVFHlxmnNR2FW1/9xKilUM2DoMfLZHnHF1CsPdO
JefUWkdu0x/sGNAqy8fvrhcfyrVlCRSkBlhIVT6fiz2mkZl5ibXuEeew09Z7oJjN+IWG6Hi94CjI
DB1SZnnCEfqIz0eJOzY1qqvE2mnmkZlFYGzhXxY4KIFL5npcX/32tfO4angJLGJR5bGy1x5qe6AP
Kcj9MOBpa15/Q6j7+Pbro/z8+Fnoj5D9eagb+fYdPQdzieqb3uOCZHfMy5i4lp2y6/YuKKR2NacM
gSLXpWz79VF/Xi0WiSpLhUQrzQJ/dC09NXthn0WCtdCYsc7TNw0sSKQFFvg/D/VbPpv/9Zm9ixD7
3yduPLx08Y+X4h8+GcJ/j93g0v/lrDHMP3iqyaj2AHUjYHd4+v801iz/hPvEkrs8IDz+/8rdMP5Y
HlAGfGztDN4/vtNtiZH7P//DWv4RWjj+faoGRITu77hqPsTT//p0SnOR0/HeoYd1hCQe5Og71lWa
GQ6jALTLjrxR17F1HXQvQcAQsiMIfQ8CS463OmM7b3+5zTEfxpe8lhtkwRjDaWmTBSdCh1S6euU2
d0X9IKoHe7qPhnt9vojqK0UGWbKjvEd9s3MCf3KvnfIH1VQ4nhFjYxu3H9f/tx7K/5tkmOVA/x0N
8/9JbvRSXfz7Z/D2BYPRP67it4ZQ7Jfi9R/nca3eiAn49EAuf+OfVi/b+WN5FAWfRUENgzHlrydS
4x9Ry7iODlz/z7iXfxq9LPmHwWdGoqbADUyZxfP91xPp/AEjga+D4+oOAnk+RUfJL79MglmO/vdq
jm81CybZ6oR3LLJz7+jLxrZGRDHtnF00I/SXQ/yNY27rNj+TcVdDTIKygkgiBEjVoeiIGJyMp6if
3C3ar11EWNNGNVO0R7tES8gQz/aArELp9cYqXLUM60+tfD4E6EP0Ur9VZfY8NNm7hXRisuWpcrRD
OBKX1qPZXOHlfFWJeTJ41oMblUwKA6g+piofgdI8eEbl+cv/k4R2umYYUjH0D7/nrRvvYzn3PuLf
cdUL+X022jcs0tomcLRxU/cudTHuY/bkxjUnfCGs4jnWzX1JFOuaRivJHDbWzwjuT2S1YFIKcBy6
mc7n8zTP+yRLz5sR77knBn4BKiN3BHFmpQ0SILt+pF337C2iXCM4LKO11ZAEh6mXWyPi8HmXftft
xtuR9UriAqPJP39W3BKI0dT2DtZF5Zdk23ra5ViJq3l2003vls/DxPQ4pGRqu/g1Cty7kI4E+LKx
pNoh2TTu9Ic86qsrUgRd7NeoX8bBpakHz0bJ5DUYSXsr0+9NTk5IXpOyNlTqwiqNb3mrrWU6PPfk
bRHxhgY0xXQ/5dH3YZYns5sg+2LusZlAfkP8di7aOd8kUdMxksiuNG/+Ng9cJxP+PjGS9spW6pqa
4irVa6jMiNL81Js9f3BtMnZmNJmucdaMqmOe5AMSqLe5dFFvELGQgQOEOkZARkyyrjbrNGqeJG1l
OaCxMWDigiGKvwftOJ26GpzKUJnahhze9BBhByY6FfwUHcBrh+lB4mD7iolfPDQEUJ/EQdTdWIno
tsUIrljaYjygnTvv4JevJWkv6zRyxs0008KDObcyNYZo09zSviCv0dfYkSIUURQRE1enqEW7abom
8XmZY3KEonJVWMEhoQtOBJEFKQMQLB2wncZAbeXk3cVErc2EmEczGzQbISgPu2OzeamMzQBZTTDk
MrhZllE8zxUagsJGmVAbB8NKbyj9riSqEYQN3VVuXExhsqVd8vy31evqz4/PL4yRfOw+Nqf4TW32
IrjzPleDlOylFSoZYvCp+AyV8DMSZ2/HqVj8/F/Y847Nc38ejVLaxtzDNut4r9orw9C0KAh30kWX
6oRYyaTaaWXxaCabOUgvBnvwu46mU5y2j78+0w8J/r++vuCWllNlUV0U2uw/jv0MBdSrsoRWtivT
9Du2h3LtIIg1JziMM7PSP29E3vpekJ25RU5YhNz++iccFakfv2CxuurLSqu75tHmkhYBul6EDjs6
WucW2UphhDe/zv3JymC0pV9cbsln4vPiTk2Dm47j0cG1OefPN7cQegvZnJsb0L6mV+agNH4Am9Ih
/VqBTk5ohHl3FuoElGfDQ2I551313azhaAOzSZGRkVm8tTsggZb14MGFydVpnfQARNytMtM9KbcX
uUcs/SvUkcKvs46OZ7VBt0WTUIlrsMIu6it5AgnmJRlaUIvtaVBHG1ajje5Gbw7A/3Wrsucx0+jU
CgOMHQEu/HAL+ilEt9ogtQV6LjKLFwQ+d7CnMlq8ojkl6UrzkWm/yroh49OlX8snbFcp4zqyLABU
XhPvshCwcjnND2bN8umaD+lEFM2sP0x1zEPWuBd4IPG3uBG2JGiMlUa4OqTTj/v+/6xM+nuV9D8r
QI8n/N/XUmekOH+2yBtLyfxn4WS6f1AwMceSHgBIC/P2X3WTqf+B7dmm2fBhE6S4+u9S3nYptlCa
sFU3F4Pn4h78Z+Fk238wi6MEwDxLugUtg98pnNi+fnq3KM2Wt5V2B/8n+HIcG36gUE8Funa5pvtW
vOde5z0VOdN4UunULkP49pYWJPYSBDW6T8GcEbflTmo85wtZg+vxMuuBDTjRuxq0HMJXEidMNpNA
NJfMiyqyoRdGyBdKL32DzJ0Yu5K4b6hQ6E2fApZy0D00BZ2Dh3vb8JHhmvUmlwjD/NQO8DUA/S63
ho3T9FR0yMzQSkTpHVeNUOQmm+HyWmWj7XLb4iM1V27LV6w09MEHBDhlvivGGJWDHdfJpqxjgz4O
kpKVDRA49oM8Sx4FOhP8JA7t/GVQS7kgMHnYADw0CLgxGWF8VR0G5HMJiGlPIIN2CAzB3LMd5qve
C4r3lqn2IY3LHNhVPd7IbG6uAztlCKrPZjtugfJlL3lauurbZKgC7anSvXP6qtOFbQJTodKypocJ
LHPEPLuKTjwvjaEWYGB5YlaFnteprN7bEgc+PzZoCODOekX1MqYt9M0uZT+GHpvZLeIjPCIsOdDa
SGTp5GszaHHoz13E2KeoYhsmNsEY+A4yi5yMolHvkR3GDyG64J45nItit2ilJv1kCCPmoPqgnRsR
ytcDQb3h/VRZVItePszf+jgrK5bHCOm9cqms1nFoYJHJujZ8IB+XCSPUIVbVpme+tJIJk2hilsoB
v3cryEe2ZhutfZFFRMdPqaFTrM2FPBkmnBF+2CfGq1KeOECEB6E6GE1ItkWfKsDIVYRyzOR0uL3C
Bls3BKO9reZeHabcxDqB7T/gkgTxgLTZzPtg3bXSDtdF0xER3pfKeERgSUzHKBuBkNns1wrsk9wY
lcoXVUZdYkw2W3WmUGvBrCkLfkMv63DYK0dO34VmF48W/D+eGYap3y2If3x7rU5rNgAV0Q91yhoD
rEkBjxJcrlmQTlEUZ6BSgmgdASy6/i/qzmRLUlzr0k/EXaKRBFMzw/smvAn3iJywwqMBIRoBAgRP
X5uoe6vclOFp/9XsXznLXCmXCR01R/t8O/K4fIUkjjQ4P1L5Y84aT8PtgrPPdV1CcSDjcnsxw3s5
DtJzo3czctlf9ATd5C7KKzZtfo/49K2p6o0mN/ZdatrRe42WTrKLqRrzXySW83LezGPNDpC8CgkU
jsQZs02CBj5yZqOadXOd7P0MLtV7FvSg3a95gvNvVGb9ed4r3GigCF9fwD6FGFwsAd629TL4cCbr
+3kTPge8wFNXNFb7Gm8j8KgrZ30zlBW4xTKfew+8tkT/hTqI8DWLexQzhP4Kmzel+gzAuljiFuKH
sP87h0VxWV+1NW8AFc/bsb9EMgMcBOApAU6uA3DLz6tSi/J+mb2RXMzQVkN6AMyo2vtegdcocLS6
eA/SHEDei+D5fOhh28HOvbjKwENMAETdQx68mivjF9kzX1pEMllbOMMLJaaHuI+BO4catEI5O25L
85NRRMInogmjOuVeBe21qXyjDl2/Dl+gG6DY4luU9OzqPpxqHMTKHsT12Ad6DtTgUoIYC+O3Wt0L
WdDsIZ8DLoCH9YYJ8qg+mWEQADzxeT01UXGHijPxSwNEjUS6TKYESw/2/l2Ig+xwPjHs+CEOh3EK
C9LyuwRFSp/NDPCjAw/bEAxakB7/6ts1/4HcaPijL+AcgkqjcXNyGidcZQAlIi+NDqJDq7COpD3z
PXoOSIN89duQbcd8mGSCfMTyV14HQweBMhE8bRTVr7D+hf3TGPURKO8TPBJSg0pySNvgNyH3URto
mYZZAANEVF6lMcr3wPEduvUtmXzP4KQWApBuGEBVBxXTNdiFjQifVxblw34kPphPFV7wux2wbvAq
RSUe7qGtDzcS/NnhtYuq4S2cwahI+3bjUOoMKA4YOkZtsx+0ByR6T8c4PmQmG/2Ub34pZ+NKikM/
Vn556RGP/1JDBwNyELqRvSonrOLwpiyg8KWzj/UKNy0AmAbI4MgujjrAl5MpxCKjVA05QmESgfFh
s77oURn1RWADgCA5DPy3nqisx+JRMvggBt40XBV4hV4vCiH75HJqlYYEDWBZSCy6dTNKy54HHsfD
BdQMXz3eZqiUi+COVBU5u4KgfX6jY5sjrZAE4a4cxmzC2++0H1vTPvdRrG9nXHd/jd2SxOcECscL
7RUa6yf+xHdVUvXLeIbg7IjCHGwmcwULNJ+t2MlAaaqBpaty8xeWb85wh2PlF6ojf372Sj9+RIWD
fo07fwCzQZjxE49QnJDKNZtfoWRuy30WgUCzxwei5zBTWJBuEEt1ifoTyCAXUiztWd8xtkLXV6I6
EqDBIICEnTCYZenpPOor+tRChwvnUmi2srSgFcr8Okhw4XuL97OvEw71PI2SrPgmYb0NPz1Vwq50
lQnqCyDM9uGApgwEEliO1l/4PVMPUzvAAXDjg7jhJoOkvQPBu5j1AaBPc1/0UMilUBAb+HlASgYp
RI9M0b71MxSKiKGBkoZ6kHxClY4bssOZ+X+Y71Y/myfd//ypb7+p/w220sk/noo/fZOwz/x2lFBE
du4/52LO/xWHHKlqP8ajHl7a8Er0fzPcjAAPBWwEXvrAiMLTInJ9/04ohvxfBP8LxACEoYoUaej/
dy4Own8BnIDTMsgW2yMk/tN/kVDcbpT//47tBbCyixgOxVua8V35u1+uhWSoDkhbZNP3VQKr9Xmt
TlyfP2ocN4H3jTNW4WUHGMvU9+oXZDI+B1F//u7i8Yc0yEdNb6f8d/3WbQjdZlLTNKIAzpqNzY1i
WebYupVcAatUzO3YMizp5h6lDdchasNPPEF91PPtaepdzxdUMsQFLGtSFM39VQORmZOkcGx7+5vv
2kaRySBRaEhTIL9BsJLfhnl0/JZbyuJd03nkddFqAALhqyC4kmT0MFOo5t0+J65/71sPp8GbowAz
JVO6AqsW3q8LYQe3xq3n2VBRvoAeTVOOhOpW2ParC3F8cmsc8f6+50kyw2K3wpDnQwQLm9ozgPue
EsB8MFdsgA0P+hESG7AQYb7hofyIxJcottT/fqL80Ff+o+at+ByQxZpiaCZSWo9fM5jGMBV+dhqW
0IrPdl77oVZomtdLuaO6u0GN2KVb21Z0Vn3VVLhl0hQQY5g8wPBz1/f6xLv0R2NihWeGx+isz1p8
T7/5gdqtG1F3n9z6vf3JdyGEWZKE/rZm5UuXZlV8mIfshHJp690flnGbobNGig0BgRwVSXMUoYXF
ep8DLAmabnbr1nkrQouwwGlpETRFhuaSE+86n3+4tWyF5xqhLHImBVR6M7vqKZTqcCZwa9oKzmkq
OgrTNliw1WSGAi6T16Mf3Ds1bgPlUMHVgVmemXRCNSVKSC/qTqduTVuBuc5QWrdb3EeTBPgkuJJk
vnBr2gpMPxvxgOZB6N55LL7KuTf8Qp6s/OzWuhWayN1PBAZMmCXZ8hqN/R1eFBzHZJv676InAO5q
QQoLnGwS/FjnBLpiz//q1m0rMguJnJMZ8yWdY7NANKkSFGNGndvmZgt3wNFiHVAvJq0o+5Ql9HwV
3bNbx62o9BrwR8LFRKlQweeZRj9EFpcHt7atuKwioPFHMZpUdPQa2YG7SU5Xbk1bcVmjUAnF1TNK
aESFy64u76o5cVtOtsP0+3myANQ9tWSOUoidUT4xTec0HL859du34jKAzWbHhDFYT1Ar0PHkl4c3
cre2rcAcQAVWrZ6WtCfzT+UNL3l44slwm8V/2Bzsp8I6Mv6alBjt3q/vxna8I7l3Sun5UdtWVPpl
GKlE9nisl7q+BnVnfB6DNndbv22RIOsXLwCLwuDRNf5e0eiprpITO+ZHHbfOs31Lu0XO45IGbIH3
VQGb06w4BZf7qHErLCcU/Yb+BGhONs7nEKk/Do05uE0TKyplZmJvhDVDCiDEQwgKFEPewK1pKyqr
jK7AgXTY0Pi4FdWIm2Iscrd+/9azvFu+y7zPGIXDRKqE/NKw6tqvhdvOQKyozGPUvSNjZVIJds0h
mXCRjRvgBpxG5fd70ruOgzqQQUiBjsf5FOzGApQbYAzcQtMWSIdNUAMCj4kyjbD1asIvOXyG3Ppt
RWbuySnyfExwGRF4LjRgwYSVdDvKkm3ivxuUEhjWzgs1tjSlv5CWAQ1ByIlX8A+Cx8bYVt1awGUH
S0rbI0PZ8PCwCum4qRErMrsWbkOdwqbGFvWo8+LLKJnjgFuRCb4IXHIxzmmIw+wjSsGn17Lq3ZYr
G+3XoRYdWdB6gZlb80wNe1yLU3TbP483Xm2Pv6UBgh/Vi/W2z2/vUsBPRNTpU6Kw5bjpCM+Iehgq
Aw+O8KpOIuiCwmeX6Q1053HTRQidHZQMMPKiqG0zqn4GvcyxbesUm0uqPB9exGkbA4tSaRQeghrv
lEjhiRWXOAlGMU0kzj49/wXzOx9mWVPj2Pj2jd/F5Yy6OZlv3FmQunLodJpvXbM8uI24tWMWQQcY
FcGIF76+DaWf0kE4nb9B3jvudjKSEHXsJabg6v00c/IdPB+nwEGC9bjpoqUDhzZwgdP4RA4ZCLAA
S4lHtyGxdszJXxSYbPiWcbM84vUKDvFS3jm1HVth2VegJQmYrKZAGXVnBr6Zl7Af9pzSVnh5OR4W
DpxJGcPGKtUFSdJ8HoEt9sA4cOu7FZxcAquqSvDQ5tWQr1CgJhBLz/OlW+tWeJbM+LCLRyX82tLP
hJWPeBN0a9mKTR36I17xKbLKnj4Ts0DlXOi5ZdtAij4e8qEHCAjgnzUNVASBFexj+ubE3WH75X8/
4XO7nMELyokJ0sFwbhSpAkmF6PltrmvwwMTBbWisEI1EJYdlbFcU1RdQp0AVHPuOc9EKUUbhLQw4
4JLmsAXbeWr8vPGp3LptRWhugpyDwgE/+lEBwCfBcQA75KdT43bplESpP5NAXqRtqF/Kfv6rU04X
H257LmS8AjEyCLGOz9WPSvOfuMuWO7deW8FZgHLQl2Y1YAG1X9sAHKDiza1lKzCXtTRgcWbY2kr9
aSib12LN3eYItyKzIr0AEAbr1ZCDqWsSFBEuvVtOjNs443ANq6WcEZmrWJ7yRj0R2NG6DYm1afKi
iyeuvAV6gvoiatjTECm3xYrbEVkrFmNFCdJOezhhgRqQBs79tmJy0p6X0Qkx2XXBFcnIM0BabisJ
t0KyWLWf9IC0pHAIe8Wh+Yrp/w4a/Z/XTG7biLQVgaMtUfiQNX8qc/Ztha+i2wxk1o7JBPJsXEB2
3nsbBJnxHuDg6LPTNGFWTOZrGUlJVJBSZa5NTB7WZHRK3KNS6njbWUSvBAFBOK1D9ex1A6jt4/Rv
oex/+YKEh+rjxss274CVCZZ0acVt7AcXXq4f3YbE2i6ZjkVLajTtN8EXEZmnOIJQza1tKypFkURw
nEToGNS57BnyjxxKRbe2rbAEvxReA1A2AlK4fK/U+hXVD51b6DArKlFDLgYjkadOFnnf5lvVAy4+
bv22wrLaYLhB1gbYKauzJpsuYF17YqXaZvEfjifUOsqyWDarYpsfblmFb2LK9k3vX/C8RflctEd1
vGMY2YX7QQ9rQbhFYrcPq69zMB4qnf1wGh7bECPTgSTriulIcPFmJvq8sviLW9NWhHKCGhkeYXhy
lL1IyPW8NnFs2orPnI1TnAAyBs+s8T5nyaFqOsemrfgsI7EMg0CvlVCwJKbwjw9bp7QYVNrHy0qv
+TAUslzhx6zMoawWc9lArXritLz18E/T0YrQagBis+I9VkRv0V9L0w+3dQbbWbevacWoWWClxXNc
OBvmf891CaX1xL65tW3FaFTTWentpKzq+gE+4uVu7hO3dctWApko4YYBC7zlOUF4k4B+Edq4LbiR
tXlCrAi2PRbElE/8NgCbIQ9Dt/0tsrbOsAogaGwwJnOVwYUVyMR+kG5rYmRF5lyxdYZTPQ601VMT
d99qFAs4fcnICkzs90PGAdJN9dzE5/XYlNebv+6JMdla+cMM3wot3qeBgmgG0UFhuGHGO7QH6NrN
fUVX/TgUQBUdnH6CTT0oZw4LO4qfQOPuWi3xq6/ic7emrXlegLuChbzA6Cz+N6/37solcEurRNbS
sqi24TrGY2wGGtFuIu13qJHdlsTIWlg0YXUFNqtJA6LPoS09C8JTib2Pvqi1qjQFasXWFjt/PJTt
JaWArYFZwJmXuS2Kv0vg32UORwCegbsukWBu5VMReJ/hAvvD7Wta2z/n0vgRNLtp2Iz0Mgon+K2L
/BQeY5vTf5jrobW0jCSLclUhM14Ba5cI2oPt2bg93QPCchxI0VwNXpbgekUKVFmiWuMzzCdPBOlH
HbcWl6GMgZxctpkokoe56s8zA7NztyG3lhfj5U27MCyKCZwdQDNk32dWC7ebULj9oHdTJSiDCr5r
6HhdoN4pN+VZPThKGLmtZNLj2Po5qkfSrEQdCYEUCDXtkeOwWAFawBNnQvEN9mY4fwD+X2MFCD23
RcvWAw0DmOITQ/TPZLnI4cIE9Ownp89pexPNEHgvNcfnDFAz1CXj1STLF7emrRnOoJQXYsJRa/XA
CaBwUTmsQeGWfA+sKa5lCGoGnqzTPpP3ID/d9dRxvfpNUns3CfMKOvqmwWjDzeINJFxYctAHtyGx
5jeUdLFI4MGdqiI7N/iYVey5pa5tKZAPcmXb8tmk/gI19DJeQ+HgtoDbtCjGJsPLDUvbROtZNsi7
sUzO3AbE2nxawNtHuFysqAYKmx0yIdcTrxy7bW31Xg+4ri/ogrwyDGhM9jQU7ZNTt20lUAZ7CvjX
4RSRQTh7wYHnvYxho+LWuLXttIvH9VZcldbUO1dLctGBru7WtBWS4OeapC+wBM6RUXfTLILLqjNu
S4ktBgItpPQjiFzTcQGnYaiB7QSh1C3ebWQULhBeV/AYx/zOv0XRyXXW9o6DYgWlKfDa2/UhDkCh
0Tvo53/xxvF24ltnwrgMWak7zEE10zsthusEgoZ//pbBNo//cDzZCpvfb5aoUS1A2EPakDI4xm1E
frA6G18kV6hUHp6mqCK3fDXxg+cve7ZU860PO4PXIgrma1imDd2OVuB4n02oABrPgbVVt0CnD/ch
YagFA1I5u0RyvHhYZuK1TspWbmt1Wq0H46NULIVf52sUZNdUNRf/PB4fHHpsrU4AriZKKNspLf3q
Jej1ZSYBzndr24qbpVCNqsIaHsDJm+rYg14d74G2TGf28b6LejtwVWo/Fct8COLScUCsk1pletQP
oLoy5Y28UR0K8xRz29ptkY43iYZlBpnf2WNwF+kAeZV8dltcbZVOwQGtbIcVTBw+wF0giyvYg8xu
BTjABRxHjSjmXANjoVJ4p9RnK0A/KOsNThzUttPHH0KSWNtZAEq1n9X4mgYK7kdQnl9juNnJgJ8B
0J+4PTzagp2BZ10L6aJK11kLks6ZTu6QQOyp43po/YiEz1KtBd5jYaZxU9HpKk/8E01vU+8P4/Mb
BvPuaAWVh+o0wXIYe0P50ns4suyGLvZRr9hg1FyCFVVsx18YblWigZ0xyMRKL4dprtkuoYub2hCF
bcett0k5RJKCbDBkUuwqrs/hxPHs1nN7mVkX6gcSPSejdy5JcNaU3V9uTVvn5XWafeAXBkyapNq1
43Dldcop7wFaxPGI1F4uYF2WYOGtBlrteJ+Ai2Ugq3XrubU9Zz31UKKsIggNeXQASUHvay8InQ6g
qIQ87nwncqZrBk13uMyvQQkmZA8LSLeeW0sNENZNNSCzmq6kv/EBc92tJHL8nlaQLrmicQNAcark
WKYTIAj7ylDHxq2Tc0Rkt8A1jKKimImdFuttT1unewpAyMcDngNhAgI7BmXu1+/D1FxyETttHL/x
MO8PRF0UdlLGK6qg4NS2gzEy6GYDbAucvmZsBSeMbateDGhdBDL1lvJKhPOJbePPRxfg/47HBATj
lZfjQlEUGr8WjN3Exq1QFkzo46b9gXMTZag3LRJYpML+42fGcdJwGxIrNOFC2fpxj36TMb/kmt9O
oWNc2rqjPvMHWJqgbDMEAyDtSviccXgXu/XbCsyo6mD3Oin4RgKsd0FE8DRHS+U4KFZkyjUwkGWU
aFypl3HyX9dmcjrRQYZ6/DHhxQcfBQUR2TrDhZH5+zxxe+tAufhx00KwiYQC84Q1tTgsU3QW0cot
OQZk8nHj0QqYKpiMNEUNMZDPg/wctKx3+5jciksKP+ecZRyTMCd3cUPOVo+4fUobzjpjc6C0W1kK
tuN6qXsdQZlaBG6rrC08wsckcI1Dx002vSBH/goTws9OE9yWHRUTPG03vGhqZjC3OfBpoudu+/Fv
wty7M1wMKqABnI6lolXXZOmuK8A93LptxeW8xGU5lDMK2LkPLmYvH3QV+G7rN7fiMpcGYMkWYyJX
71rwadgpOEC4ddwKzIJQSNFHdJzEqzwQ5K4X8FT2To3b0iMOh6EIbqM0Xcy4Z7y5o3X7ya1pKzDh
4c7qXEw09eb2JlvBROVuAmZm647gUpWxFRrmtEN0nm8LSg6rRbeJYiuPdF5VQxFhSOjcv2QjOQ/6
+sFtSOjxWgXjoWWJwpmmKM9pdtrbmwmuU25tW/slHwGQnSeMSQz21wPsfV6molZf3Bq3TrIw8IkL
WLbTtDeV2VFZkV2vtNsEB2L4KNcU+14zwRgNE6WLb+EK9Dw7kgiA2z5umqAAr63rzdpubOFKIj6J
OHY73Nt2Cp7gxIPKekMFKA7TG58lKDdtiyunEbfFR3lejLrcpvgS6TMKb/vUy0HydGvcCk3j+Xxo
YWYHwfhLoMG8hVOW2xsesxVHYCt1QldIGCxZBPAd0stTnbhp6Bm1DrMU/k5zsk2V0ZvXZyEoOyck
V267PbXDM8A4Uw+EBt83gDZXcJ5xu5hQKzh9Az0GgoilXj9erct8kWl14fYtrdAcOjgdh+XI0qgK
bqcgT6FLcxwPKzAJXtlEvOV+AOFpLwJQ6c560znOQSs0WxNo4N3gr14F+XU2ls9yqRyHxNox67wR
PtcC53vq3YdSLrtSAl3mNN624MjfCh8zOPylXKziPBnyy6XvuduI24KjqeXGCxRGvGEGkL7WiLdF
eMl3t65bp9mi7bGMR4C+KFXwPQ2H+hPe3jK3D2qrjmBsZwrYEgObVC70LEO68n6ULX1z67sVm9k4
RfMIRQCQAWBrDzFIptEyuIWnLTzKFlOYYUTjIJ19N9wfdwBnOs4XKz5VgHcqkePKBktgcN2IbFBW
SE/d2raf//ekJ7O1OwZsSjyjYEGso7C4XUWZo9i3DuE0ZxhI7W5jb4Vqp2DY2QLZnsqsgO1Dv9Nk
cHp6g8HA8QYN7GKNzWJbBXq6ud7m035my5o6ddwGEQUw+l1XhSlZFTgewuyx2o9mjdxOALaERzVo
XIOMm8qeXgnNnk3Dv7p13IpUWed86YEwTMOJRXcFq9WLBk/3ya11axctUWaVVBJTMozpVzi3nqtm
cMvXhlaYlh5c6XQDTJjux3YP72icFlXrmPS0JTzcKJ5jnrMUxbNmn2k57ma2Oo65Fahw9Z60QU14
Ombw41KBgQQ2Xgu31TG09lKYggIn6iG9UpT0BueYC0bdFFnMVjRWs/DmsELH6ZZV8QsJKvniO754
hFaEzibvh0Qhpwp7ENgNgAaKWsNs5zQTbfFRVAHC3+Q4iCY5MMdZ4H+rWrd3RDjqHC8tpWHFCvtH
XLaW6doHmy1bThUubse2P6y6tt9h4dHx31Mlqc/MFP4i0/ToNiJWbFYmyb0sQK8ly+ozXojvTVye
8pH6qN9WdHZ5qCa4ZWOm6PUyEZBiAsr66587/sFOZMP/qbfUNSTNYCiZonhR8Gy5we4kztppcuOT
MFuGZAJc9+MGYzOAgr0LJNdXSa97t1OjrUSKE8NE0xCM/JjdSWDfDIvdzheBtYEWnQxCeI3gbk44
6t7it7KenOSY7LeA413GzOeQwcGzGZ90ILcTEn08U/+dXeZ/6tKAuT+OIBIp2YwcrxIezIuvZrPG
Z1Q2bvwT8EWPWy9A4igACKUprBheTINECGyz3AA/zLc20CanNUXpDh5UKlBv2wAqUtxlBrepYquR
kjKLwLjGoCci/JbDIh0ljEHn2LgVpHNUxK3QaLwAJ17o8DqWp6RlH8SoDSZSYsxzoFmjNJdhCI/d
KBi+m8aLNxte7Tsu6rYuaYG5Nfxm8VfmvCxv+sabYJxUuQFimK1Maltgu8sAk9KEy7IfJzYf8oCe
OOl+NEBWoLYQfcNgGwvk7E3N41J8Bw3/UA0sOtH+BwuwrVGouEJaPts6n49PTHWXMK1xO77Y6qco
yrw6n7bcogp6+EwHlyVMyd32aVv/1Od+tmg/p6lWzW3SApgdxg//vG98MCQ2qAhy6VqBNY5IbcoQ
gg24gCEP6JZatBVQcAdIzNIgl5tBsAYzKXLVeKubKAwr1fECVvqd1nOLjzm27a32m3tWJW6lnrCH
PW6bBNHktZEHHFwi7gBev+BuoDmYwR23vFbDSjTZFvU4ehxpfRs3XDpOk+C47cDP4wHG9ZjeheK7
cuxezTI6Hv5t/ZOBiQFK9TEk07w8FRq89FY5Ji1t2RONPNUtHjo+mHWX9fWT10qn+U1txZAPY/ac
wmEOSrlg08auZx4wgnuX4IFR9fGAh1HW5BNnURrHgE4xGDKPalidvia1WUV+AbOkrMFM6bPiYarH
e1X4n936bZ1ycXOOWtojLiFGeFwIGdISxTaHf278z4s4tTVDUtaQI0CwgiRx8JoFxQ61cOd1vzrt
z7/Z5u+VIFBnF1PfAxDKCr2AudDoRwW7A6ejIrU1Q7rrJpXBpjnVlYEzLzj4KOIJaqd0C7WJRR4j
jSTb0NSye6RheMmI24MFtYlFXjPMncwQQlKqbFcW9FM+wZHknz/pnzcJuuHp3495kuMALWbcnqeu
uiqb6mUt3MRr1NYMeQaaZZngc451onZindXe8Mkt+G1eURNNVe/3OMup2Tt0ur1emtDtU9qSIea1
uM1xHFXCdm124VDKfUmXn07jbYuGqjKDvDpEv4NE3ubdlyYKnXJP1NYMSUamtdzucLGAeVtLV8gc
ZzdFPAwGjqcJiUOP+8hTpMr3buvmxUTq2W1ArF0TayyBDXSIlhP2Vvb8J4wr39yatjbNya+iuQeQ
NEWZV7ILpZ7SyRFRBifC4xGp4nAM8zbazuL8Ea9QZ4Po3bD91FYMjdPEinYIsBBODYG2RwY7iHud
BCzU1gwVyTQZNmJUckr2UaPvm5G5LeC2YkgHos+DxY/Sla3Qluv+YTDa6dkWPt3H402Kooc1L8Zb
6HLZKRXulrCt3XZ7WzIUxaNstNh2Htn1D6UMq+d40Zlr89Z51pukrzOFcSnrcC9kcFsnbol4amuG
+ikfax/aB6wnS+vvPFgaXMczZINu+4OtGxoSDyi4iEQwV53voqE4JEXsts7avCK/j1YZhz2e5Eav
3bVr8b0Ilxen0LdlQytN8J4Kw/e0Doq7iTByHfstc5yK1p45dfAkJAYdhxHanfbiJ8DHU6d+26oh
WmUB6UcImyctYcGk8268LLkpT5UffbDd29AiypacsgzSLz5ML1VQF3iBrh3nii0eWhmk03UBNaLJ
4rQL87tsdsO2UVs6BPCr10Qd3oZVNwVXbMzI3o/q5UT4f3CutalF2mNSz6qHTjAoon1SqvBnHohW
7BJdFI5f1tpBi7EH0AmeIKinn+Ndx+fdBNurEz/go89qbaIwnYJvoIQKglRddNt6YBKjYMat3BMK
xOOlt40XcEZGDA/SZ9eLDN+Srm4ce25to4PPSiEGvIB2tI/3RMaXm6XgwS2arEAleP+skwqH22Vg
h6nIyn0k2eS2Mto6Igo7jbggW4WD9IWCR5lAPdWYz26ro40uqodhqrsA7rrRKM5IXj+tq1spErWF
RApedHAQxSulzmK5y0Xd7rLFja9KbSGRrKvcx6ILQU6y6H1crcMBvu6OX/RvQiJDzDRzGGEwnu+T
PrknzO3BnP5NSdQhPSylj3QZq/IdJuaPWTtOFSs8626WcIGEPKQuk263VnCzrHLP7QEU7tDH4bnk
8JY0MJlNi2iGyToR154e3YAXlFrx2VSSL7lPWNoANH0XNfkIx8S8d4t+agWoD3/RkBofrcMIckfE
dNd2/aNT8NtyorUxpQJJmUElt5grvup4J4zo3c4Atp6oo0VYhvV2RO+/B2XypYJRrVu/rYNuZxqW
d92mSl6ybxUrBqTOCjcYFbWlRLh71t3aVsiZ5SuEslws/Y3HTPLZre/bBvvuzSyBUa3s8T6E8kaI
WYimF6ACKbcosrVEsGlM6ibrtieE8BzA0nQ8WQH6wf5pQ4AyFTcVXs1wCR1pdrvW+i0OM+l2K7KV
RBqHC+mPOIuGY+elpB1/Da1endQPNLLis5uGXGe9RJJlTERasg7+lDpxI7vAjPj4e8rOwL0zRutN
PRwkLJp3c+tYnk3/piHSRbvgH6SeVl/vSj/8GhaTk1qG2gqith1lwkZc6JQm17ILvsW5dBtxGwHk
wxII1ttIhcDD9NPWNKPzmVP4hFbyNsmThugOK7k2ySFW5W0eKbfspy0fqsKGeXSOcTXPJr03OAol
FenclnFbPdQO9ditHepsGll+yprudj51j/vgZG7Tf/J8SNharjiZi5CksKejb+PgIZuzFnPy7Dbq
9v7ZZsTzcMVKIXm4zIZQ7gTyoG5tW+HpkblWsi7wRQupHyq5+ueQQzUnzrfbY8Tf1TLUVhA1dUdD
uL1GaZWZ8qaBmfQz7ScILFFo4VW7pAr4TcUj/5dRLHRMTtnKIl1nU9lNOa7WQ32zbjkYmMifOm4k
f/5FtrSoZyE82gS2VRQPk+e6p3WQlkncoybUgMuWdrOh3q6B8XS7zzIeAXgYeoPbRLDFR+1SJ4OI
vRC04Jzv4Y360mkanvhW0Qe/zIptIlBSPNX4Vipgr22v5d73Mzf0M7XhR+HYV1GSZyHsqGe5W3kU
HKpk5G7hbQuQ8LDuiWXBJKYluY/UGlywpYvcFiZbegQ6s8kSja53S385Keg9M99t47V1R8Y0UeP5
5fbigwQTpuv8AL1wdQLo8EHw2dIjVNTHiSqHODUobGhSEfvxZyJbPPlOWsCSE1sm6c54Uy149xjr
uHfb2mxdEhlaA69IpHCSMaIwC4m85Cbzm4G4TdS/aZPwHgkjD0QBKye1a5Q/7zxfuq2HtjRpTQZN
eFbxNFR18DxFY3kvpr4s3WaqLU4KBcmlJzCZOCv2Qx6vu0H5jk9ltjYpUDqY8xwDU81zeViK8Erl
cKl32ihsUhJjXlLFCxr3k7I7I179TcNR3LHxbU16dyzHHcvrJ29b2Io4O6+alyFsG7fjkK1JmiAr
UbAXj9IsGR5aWdf3viS+kwYPGI3jjg/b4i7yCjamZMLZk8V/bXU4/zziHxwtfGtrNq2/VJIk0PcV
3fgGI6KS7HAw78KDVtXy9M9/5INV35YlDVIVkngYHemZFxyg9c5v/Eentm1dEhlQRrRMWJYJ6+W+
FhAmNxV1nO22MImROmnNgMWT0TDftSBInvVBXZ4Y/A/GxdYmmbAWTMPCCieX+S3I5A0o6W7rl40K
AlEq9GLgE9LJ+HvQl+/aPHK79NtCGe7jzbkNMSbrSpAcFnkAFNHgVqJEbamMjoaWtxVyW9UazrsY
N3N/cXPrjWytTLsSUpMSWhlPD8/gGd633BNOq0tkS2VquMX33Vhv6WHpoRY0TkU2nkpY/FZQ/v2M
C+j08RKwCq1LMUVQP9R9XF+MOZn5zksKLzqvq6H61JCsXnZtghV0HxeCf/agIJ0OPgUJYdfVshgP
I0Rw2/8PB6WzWWXBKYaB7//eFP/eO2rL4PIkXkk+4ckDNUhxdpMPbNA7EZeBtxv1mPOd6Gv2KPJR
FnuftbS9aNrQtOo8mPQ4rTu1rKDhQhhVLj7+nUFVRxn5xaUY+fJrEQ1PdlBPy0OeJ+Pl1OpgOSuo
J/VBLQ3UyAss7kdg1kfg4ujsNWDsjILvMqbql3YtWZwmszD1oVynTO6Dscne6LSo5iCknD8bomR+
C/khH3dZ3BXdflmm8XFeppX/CmSdFQBglbK/atp6vl9g6xfdlYWM2Q1gXGt+s1KYMlxLryly2Nj+
H86+rElSHFvzr7TVO30lxCKu3e4HwN2Jfcu1XrCsrEg2IQmEEPDr54uanplMKiNjzM3KsizMIwAX
0tHROd+yjfIDuo+xu1pdq1SfOhpO5ZbycdQLjNAJDAHjZeohGwkDKL4cYa29dcDHKgoAIRPlVMCm
tWtOyqEA9tGs/pqc1pULPxvNWFbv4eM43PcKB7+7jYdCpB2LZHOZkKAlt7IdKcsSjWr2tafq3t2H
4yAXltaQxQkRwKhKUBQVcGvtM9EJNl/bMVma3x31qb6o1i6yFCSyaGwePAaXneva3yxUl6glsXqw
ga002rYUMO3Ut26mD6Ml0lwgo6942i+KGzj+iHU7wl0Wptt5OJbCHIK6UuHvk/TcEKdja32x5obE
hnMonnfGwfHA9l3y1emhpN/gtDAO71gM5NO1FqGTd14Qe8nV6Lykv7N8m/EC+NyVNoVr8yzDDHT9
dXt5SLTx+iwGq6F+N7c2VHdVG/I2yIIBlls67Seqpmt4CUT8Q+ePaDxZ021lXbQEowyOSFMdeb2V
SqcRUF6PlQ2pu5v6HkWIWNZzm7neSfNnolw52sM0SGj7s3EwV0A684khuw55REB3XuYnWbboK0Ck
SdB3oqyZn2tV8Xw0mrS5t/UUbx21Jrj0yUDVGdlcu6E900+3Q+wPt9XcBJBErPrkcxlwXV1GPB5x
0jNlNW74Ql4rcPYbApVFvH8ZHH1SGAWaM+pGk09d2Hwkm1LmxJLeu0RFcvRQpq17clhHHdzToacX
E5/ZkMletX5K197GR8WqjqdJADvplA8CHplJEJYqnWeB2rSAvcPnvpFuTXnFK5r2HvpVnSHjicMk
4wgJufgzqN/o2epxU5msp0bkQenGNaW816dRO/bJjdEapibUugNQueEuh9dxZU86DNifzTR7cEJt
o6d4TJSCK3S7lTla/pUq1KDRpZnHrUrJHCbv2BqaXCaRW44Gcif17VIl3tGDs4O8ALzQfB4GWl02
tq6/+B3FU3Ud5Aoz4SLHLqakbNSj9mDhldUUmjr5JvohSanuk/FhWHn3IBR48unoSnq/lB2vc9MS
wvNI8BbObb26UMmmH0rt4bC2hl4555M0j8IMUbHGcNjKFxa78ej1ctXHaaSrOyB7DrsUUhv2eawk
Izek7lSdAoEytFdVb9FDUyCIuQvZdiobS0/Igm2lNAfsuau5ASr4QnI3PtOtwuj0VZsbb64qxJmB
XXSKTh9kHeDX0bEYpqxFn+ihBhufpz5Zw/tlHuLuEv5LIbAAVWvCIwsW/tQNtLNXgdGgAtVKu+5o
7dZ410q01hTwm1mupIBdcso1VJmyuWK+u/dZC41DNmzi2I/rssD5mazbey35corRI7lugrqVOWUg
GIcBihrXyRYJki3RqsCWVJ25FpGL5LfRCRkfq9DGS5p0fPRTT8lmeRiSGr2Qim09/g3AWEYHsOP0
QF1YdvnayxmIoCVptkcV1o7lkBEGs47YcXsMQoQMWEwkuvtskwlS2XDEm1neyNrdlED3osHNp0Uc
3OqzNeMNpKDSzkadPTVCwNs2DdksUgam9xVlNTvOfTt+SFZ4Gbp15GMxdED0Xo7ruo73rpe6RM8J
IN/oQau1tTfYi8rwxkzJ+n5NNG2O3gbi9anlHjQXsm5gsEWDSU30rYojA/54QlgJOmDTJZfCQpzv
QkKdt+vSthqYzu0EFaybaW6SBrZQlLRXmFHDTc2bBrR211fovsKq57AONXUP8sUl7Y6FrWKZ7TT9
PYihPIdyXl9BYv5FN+U91/FQiytW8TjMIYNJygaqGxPNm4CTw6Sqb632pg8o2G85yCiY6HWSDJkX
Q8sOx4MgfhDoWX2MjJq/JptYhpS2Nk6yMinDC90wDQ1+t9wEhtjHpg14lKkRkoC6a9mVmedZpoFT
/RUqNlU2gUaXUS3IRWBkcrWobSK54xGcDDl+qf2sTa1/D8Dfve+Urpc2DUodqTxQmPePAIiZoBjZ
RmS6xIbUx1Z0SZu1TsxhPvg2+kzLJEJl3ZuWLcOqDrxU+XagH7CobJkvSecN15XYakjotZs6dqZs
ghNgVq1OMfXMlQgMFNHJRtuLmsFAOPO4DYYU0ntxoep2mzJIUYx1wbskvoGL3GBT1XhiOYV12wSX
rJmpttm4jOvk0pGsht3pro6DzEkYFuVJJ6oHMehoyLUhzbvKH41ISenYlJlWTKm0sANLxyjq3K3X
JrHNGpN0F0qKvr9a4ngTpynuPPPo+3SzGeA4aPexCilIxdeGHTnXniqato1R+bFBn0Ln58+ezlIe
xzBsTZ6EFb3sFtU2Jw7/muGgHGlyEXGTsWBGOmW6UH2c4W48p5PBHpCuVHwWfEyuGjDCU2jh3rfd
ACPbhrU+Ij0oNF1eL5Sbo4+MI12wGMuUrRSb9Ex4e7uIuk8b0jkCL/C5mDqcIWJH45QpylLcSeVj
Ut4ttvm0atgGsyVkxdLMHFUYHaHnzSbsYzZooe7pLcClP0zE9uFlaeuwyuZFG3szbWM5Z5GpYKik
h9qLjkwPoJdWoPj5NkUSU7kLSmQ8ZGLq2y5d/G3pjppH03DL5trabJp6VhVq66ApvDRJHV9OMfKR
dBj0bL+tvgiTNNgErP1mJOEuN6XjIh+GyidZQ5E7QH99IeNHXpeeyQfKS5urCkadeKDFvEOdTDfZ
BvHpayT14OyzsJz/dJZDn0YFJWky12E2XUXxkNyiIruVJy9EcnUSyoTru2QcRYi57DuSyWpa+/uh
ntknHWofa2T1FDKUpPSGjEOCtkdf3FdNbgwk3k7MgwrBkZVJQC/gBSmSnHFSVY8VuE/ktk/CLU6R
DlRFL6nnYwR6f7rlPg4Zee1cmWRaJPSjjb2lQ+2tiTpZeBYum6lskLdmSdj07FYAoVBnXWPAu5kX
093N/oQ2aB1AxCGNNkD1ijCpO3E11Jy+Q21+jjPETXmKfcrv2mUlU95GujGPGx3dI56b/MF4CVFE
BdGD5oJs8EJJIVLL56/bvHL/ADdv1OmWfnJr3saNiT+AXByNRYS338XZGNOk+sP2E5xRtwZd2rRa
ZPIu5GppIepcR+TgwRS3yVZvIvJYSajr5nac7HoFjSk7ZkEl/SEXFkp2GZJ+ct1UcpmR/Rohr3ro
XH2EUgonqdIW2pODnhYIi8Z6+ZL4cqE1QCbOycLMCNCFEZNUBzN2YMfhWecE/vJtWAMcia33YNng
iTvE8W55UhYco6ttrXFW9Ze16y+WBdD7fIzh2ZSXC914Tic/CLKNRkNQNM7niDezX0Oye5rWqaBb
hGOga+F+/AHvnIVXcBLvx2ctsYWewijYhi+dD3pRxiJaLfdrWK/0gc2erQ+QCSp5LlvSH6Mgpp+U
T6fbmmHvz3062BCnhX4C/4GBVJyLYCi3PJHK2kKbpWU5D1rpXSQ10HYPSESZzWC02Yzveb9pfdNB
7Q0Z1ywXlD7qaTwSXPlWlhsSzL6vmXjf+mFvr1sJBO8nT4SB+jT7PYnu6DI5XqyUs3czC5nGPBP6
Ts1j2BQj/H3CHGk17bIBev/ysNhE+hnIDyR5ZgzYQpU2dHOA/a3Wu/biqJwuA422R7aJQWisGK22
dGjDBAjeGJC7+BKzPsH4Q8DHu2tIWXr38IVCOtCWHlYQXnZbRwJ0KrynI1vJ6tA6gfhZSqPJEvAV
gvFdMIkIkw688UV91sq27msCEcry69SVdPszmTFzzTffx0IlL16NYsQRNeFRmVnhE5uusVrYwQwv
FnFNk7gr25mxzcWC3SvtxgqH26qZmi9BH0WfFhh4vVTldUUi2MXHWAHoErnqaHvsmWvOPPy/hAlA
Z91yVQZuUOs9hcNlvWbJzLpZ54gFtcRLtRySKC0OTSr3W4PTy1SvPmT50INMDpD5NV3Omm41GXwQ
fJICiVNpRIUFKiEzDtsf5g6kcxShQU3s4xxpI4HYexSXAAOnfBZr8In6LYuRaSjqZUEtmupupo5V
zwizg8xdgrl0rO0Q8wsezhpuC2GyjMnnpB5982hrVAgepYq1yEwYyQqnjMrCSFgwBL8YcbQ8hJRW
TQKA18S2G7zWqLna4Hvy5MuoaU90ZvNw5xlG/XxGhGkvlRrcEwxQ4diqpa2DB910M7JT1ArIsw1Z
QA8xAbWwAKhp3rIRKff8ZFZD5jTc+l5crsaV86k2lKHNtfnfgOxxJHWqWr4QkAieuK0s6CCeNiOU
TS2TuVA20Fexc82zlGtpdGp8aIshhVcdZiGFxWF3dILELb4lh9a/0be95qrAIrSfaiJKnrLZ8sKP
Nv6tJTGOqxERcZitaJaYA+uaWNxMeCu6TbvBokqdrlOvRLq1juFN2C28h/s1SG/rFiwpwevNnZmC
OffDwb+PksmXVwztOobcB9tbWgkZjgBwCutDethg04PzZcKO/gBN1UOifdZ9XWgl7QG6oiaAvWFN
E6wtJNiZ1iP6KpNHQC5ZQhHe+Qns7e5DOGapjKEMLbMNh2SRN9tk6qttaUKD+CZqlgIsDZJ4g/Pn
dMEgQH+zWlu1KVylHL82wTriDOUp1pgUrrLRx1AY/idbPDJ9JtSY5a6OwcQ7oqgLUVlfhSW+wiJD
OIEBnVZnEYzoH3CJIbyeuccnxCFKLYYcKnLQE+6HtitI5HoYpluuIpZBu4J+oASVp3SB1MRTR2NU
ZWDpUuKkuUSKX2C/AZ0wAFjqApV1FcHYrGMJ6jmQYMiIN4wNoAIIcxB6mRccAyJNgnwoFXBstq+G
8mqkcoMTOY1LP8MRjz+6ekjilCSOy0xz03yKIIp2Maly9LPK7/n70nKgpQed1O+Gaog+djbuwoyS
rvkC+tf2xGETgYd02NBx8gmSdK5Zch/NZfN7TKyguec6eYGbrPdsZd4BgbV76Kp28pEsLa7PbMnN
KayWiVz07QoEdcAxNTLdhTAsaWcYIR03pAHVEWLausI+Z+E+5UqEzEtvdKp+ql6Av7/rTiPN8dGJ
Cb6BllvVTz3g9WjRUOxSqNdwHB2aEoW22y6ZxLVZQ3JorQcZnwbDMRzGse34I0Rxictiz0fULbFr
SZujfR6W+WiR3A+YYB5FKc0TYxouqCJl21L3EJ1GdSQNm+XQJerWD+P1vfM7W1SCk/VqqpQcv5qF
lNgs+mmqLr3V9GBBEt6wZE5bUGruF8KYyJJu6Ic0iJnn3bNhrW8mVnOSVZOOLza+eOWFkQv0v1VX
Vs37voJ73n3Jm8BHjkrnJbNNVT2Q2IcDU2JsfxuamcGARJRqvVlwqL5ggxuu1tIPbIazE1SGwhIb
6YQjWXcvg4D/QXshmryLkZmkKmySJwZ30Uu0wjVkrOw8Isucm+UDajQSGbQHoiuONq2arrwxjtCY
Hd36kSjnLkpv3FgqkrK91bPqvwkax4NEHYIiWpSr2PqrfsaB72oeedKmdqN2ydZuwTk/lMKDOFSI
d3birZhNnUJGpymf4rDS/MprveZS6E64bAy6xbv0S2s1RjOenmEi2FVpaKc6TukWrMMpgMjUZ8uX
Zc6Qx5V3je/866BMHqytAR6F4B1fcoTN7cawRvvXAk3uZxDp4wcOAYLPK8fh4lLWVJTFSAUJTySI
VnuCzcs4pdPgmscQ9MSHYCrrIR3LeP0M2mL8yZdOXnYTkwci5+Nao9YSyq+OYUmkgTHuE/oHQQp0
DLI1dOsRORW5rXC+vGOof8M7ywAicJiRPn2o6bZcDNg7H8ChMd5FHy0okYqodA9B4m+Xs4nDJl3L
RFxW+vRVby6dVjidLQFxeXyaEkhLZNFLJbimbfXki6r+RDkmV8MbCexSENoTvCNByxsBX9TZ1Hd4
FS1siG7XSvi3UbWtX0oU+d73YWnuVp1MtEgk/ZCQNV3d+C2s5nebEBSF5amqLttw6zRKfmF9FQ51
fYEX46XawGQFOBrXr/lkRtenGP7wfelty5xHSJ7HzHqiAVYINbZvbIPAHFYDQw0aTo7JY4JD812T
WH7nsbY32HXWyqQU0xbr1KzioSVumY+bZkF3qJsVddeZBMNnuLgQHzs3Y6jO994DTbzpgjIywdql
dPJrEG7rM19nTVCAXMMBW0LPv0koof0ZhHOLP42GuctKxN0SdQ+U5lGJrP0nv0KBGhQ7Zz8Pvuz9
1EkGMQMxjlOZqyRux9SvwnJBcrgu13ZZmjYLUZ9/BxQMW6DE48kKh1LjfkeJUMvjHA38GQvLL6Jo
u5Ue62+TlnY3bBvnLo00s3dDlFQ3CNfxH10PM/I3UBevNQ5furnftbKh6zwZHTaAxcezfwHu6pox
lpyngxPuxQEEQWnD7yQQI5ji3ox0S/jeebjevTxA1ehmmNuX5iFti3ZGOKK+O8/qJkh26KJhDhpl
YBp8WJaX+aPhHN5s1juLixDsed+UqbUusY0eoLVJedFEZLv0DTqhx3M62UHy8rK/e6lAq7coeANS
6Vz0SMprP2k/nXdl9uOV17VFqaXegLoKTLpV0b0X+WfNRESuHy+N5hIIHxJzparKP7TrP9ORvwXs
+/ksD/aUbytjUbIa1w6r8qPhW9bG51nwBXvCd2MaEbYLurW1J38Pe/Sxqvn3swZ7T/hmiK8MygAQ
NJNwcghdxNAEfT7v2i8orO+mCJuGOsGpEKTs3n/e0GBJBrqc18DeE77ROgIhZnihZ8beHzCJm3Ja
ieAsEBoKvj8+OE42S89CEDShftPmLQ7QH9BCG85CJAR70jcLVhQQzcsktLS8pihVaLade/HdsqwR
xV3fKYAxrbmN1jbztTlLPgYZ8m5Ulg2F9wjkqWBaPqC0CAf1+uN5M2W3LvmEXplHQZwqx5XdN10d
pG6r7HkBZU/7Rls0Sra6BsveQyvHDd5F3NbnKTCh4fDjqISOkCQiGsJdDLVZ9C4AXcC5+qxx2fO+
52op4w3yXYDeJR/mAT0pFOjOvPZudfYLlPlR6Qa8ZPQLEduDkPS8vWfP+56jbShjjsdGLffoZPt7
0qkv543IbmmOkM+EEDbeZczsljnWrUVjzJafd/VdpsJXAAuqEvKOrU0MDMPHnMKU4o0d8wX98nfc
SbCnfYeo40CyF1wY4Sxyx4qVMFIdyQLYBdPoC6Os1Xa66CO6/MdC67++Lv9dPav7/3118+//wc9f
lUbNAN5Mux///U71+O9/Xv7m//7Oj3/x79Ozuv3SP5v9L/3wN7juf+6bf5m+/PADLHeBkn1AM3h9
fDZwQfzr+njCl9/8//3wH89/XeXdqp//9dtXZeX0crWqUfK3/3x08ee/fnsBev/X95f/z2cvz/+v
327WL7L/Mu7/4PmLmf71GyX0nxQ+KNjbKIti+qJD4p5fPkl8fAB73MhHP4Xgc8wuCVx3jfvxf4J5
BU2hAHoFAUdV87d/GIUzHv7qn5C7QAiJCYlQNgZm4rf/82A/vJn/96b+IW1/r3DwMf/67efpA57x
xziygfs2ssHqAv4kcIjgU3IdTBzdue/G4T+3+/7yL6v675OP7oFqstXV0BFMrxhJ4EXZLtcrjjHF
6hxVmTIxJLDBR1zQLZLyjWTr5/Od7PFrta/iWZtYF6EPblyGwtb0aam7IcK5Ug2ssEOIGt7UeNV5
Eo1kj2rzQQhREbhyBYqlJTqWQAld1cLKt8LDXzjTv48i2QPbhqlF7VSsqgiMne2Fr/2KntzIq48C
UoLuahyb4I9Q+XdGzMN1v7b8Xnuz93WqjUfewJK/xKKfPcMuAnoAj2OG2qGIgiUYMwcwE6pMTtj3
TAZvmVm9dpNdIKxhnTGKKVYFqxjAQY7Tb60YeJBFlafOy+HI/gixaFTp66jWxdDIEDs+s+pdl8Dy
/CxkOSR6flxS04SSTFgrjBQW162Crt5DuEn/jU3utSFCQPg+u1WNnuZpRK+a46W/79Z+60+tBKcX
nY+NvuVz+fOwQPanClIltR+hElbQeVYHD/bkx4iK6I259NrVd8lL23pwsY1bXSiEnod5BuAp78FQ
esvw9y8o/E8m6/54QaVeXnq7uoi6dXF3FUyiyUU7RdzmYTSHPBu01Sg+EjU/dv4AKAl1kdCX8BnX
w3XYm6B5sd1UUFlvkshLly5a1jTuJH3LWe21Nb1XpVrRA1Y8RpgqN+5NmVXo7R26oAr6Y03alnxu
AJx8phqCMIfZm+tLHzuHymWs++lkBhmfx39ExerHCRUGtZt5Vw2F8VyPamUwxI+etMkfv94BXnnX
fzvUiA2AFtcORaUq+chIhwLfOgYqOW+17Y81qJVsHeATuhCh0CIFvaV/H/c1/3De4798re8Ok5OL
7MLaeih6Itr3Xj22X9069G/kZq8Nzi5UWFqN6FV1QwEFBBOkmpgRcLQ6jk/nPf0uWIhtjBNZc11w
yE2WgHMALetDuHV6Y/BfCUb7Iw42WABDS2wK6zitSeZitwUvIE1uUq+svG+//hYvW8zPVvMuXPiE
wLwvDnVRuWG5taQxz86zlF8ZTF1xC9cIILN+fatXkof9ycdCiCIGqEwWgIMBrBfSoJueYros8U3S
lMB+WXxfr0qhNFy7w6/v+cok2EthzTUZKNOlLhIB3voxnhYALPukqt8S7Xxl/PbnIjYuDh1Np4qq
07JaUqD5lAdqPEyT0P+lADO9NODXs0o7ZC+QhX6g9stlGAprwJWHEq4JysNma/n+vOF6mYvfrchF
o6ccKB8Za+fDZafVBgVtQRBWzrv+bsV77aI9OTS6aF6wDEAWDDn2hrfMI/+i8/xkMu9VstBk9vuR
tKpIdLydmJu4+FpX8O49EK+r/c+ex0N2rOPaReAF1p28EWHpVrQZQId7Y/99ZdnGu7Ag/WoOKMUr
8vScfCoBS/nTkQ1tO/QSvYfzhnF3sIg8AEaGcUUaPipXZe3mAsBD4viNmPBz9i+JdzFBirkjMeuH
gjdrZzK0qYPkUAnPlGmlGgGgqWkGnZYlp1Vqu7X7jMYC+/rr7/bKgtpLb9ULgBwAleuClNTvcx1U
UXux+vUE1Iv2nPcU15NSj7++2SvhYa/DpT2/KkENxREKBpsXcICBAgIZl618I4a/dv3d/h8NvtcM
yzQUk1i9nPW1wFQb5uLXT/9KQN2rcUHOs7bry/ZcR2DY5lNi5xjSR7O8tEBzumxiTfxtXkIA9X99
w9e+zi48ACIwRAFgE0VDDESW4uH9aOlb6nyvvfhdbADzBGju4SWvdLOyx7qslif0ufv6BBzGcuWp
9i2G1yvzO2I/Rjl/2ELVKJzLXSh6+R7wNfIElFcdpkKS5tMsNX8/eX0ZH1EHBEKCA4bHzhzCXXjo
eeMrRpGeSxxnL6IGMImMzAxggF+/olfCz94QMNFTCxAyjjB6rUZwoAEGcQeufQI+ukHP9v7Xt3lt
JuxCRCWY9qeS6oLNimeJiWQGWZXzTDvJXtNL9WOvk5dlubCyfNoA03ry7DacRXUne0mvMpqajnCc
UXU1ustwck9gt07HswZmL+pV04APng/zO/i8tukYB+Q4DhU98+ova+e7/XkeYPQwVyOG3TB2FfMB
gEklzsyY96petecPYOpgbqJaP3xpq3q16Uyj80zIyF7Ziw8KKNVm0UXbr+pOwVDlMCT+m5nYK1My
3K3qaPOo9rceT7+6b6ztaNZ543lEWfI3cS/ZiSRWEiehsVcn0QICDpX587RsyF7dqyUQgpFRooql
bS7lDHYR1dH78ybkbqWCzjqVC4QXCgD+7aGCt0E2RcANnnX1vbqXXWZIZVKrCm8Jq+PETATxiFH8
cd7VXyqf3033CQQL0RCMi/Rqkzpvkmmj+iE/7+q7zTlO5mZkGql7UsbsYSP0CsDR8SzKPMA9Pz46
xMPmeUGZpKjWbYAIAogmXSYpsedZEZBgtxcDQSgMXcFkhYn8wXdWonenz5MaIXuNL1B+gEY3viqm
cbgPRn1ofXPmqO+WaS2B5wRhDieyaAPBaZkw+69lH43uzCm522F5OAAdP4yq6KaIbbkuPVArQmuW
j+dNm13yHS5rSEepVGEmvSIQKwCAV1K/UWF/JYrtpb5ovMBnW2BSqqEx4sZFfRnkkaH6rQThlRvs
5b7W2iYbqwnsTjs6rNkkhtUBokehFnfW+Ow1v8IRmnYArKqiZ5IVcPqh12HL3em8q+8WbS1NU4sS
/QDGoyCPB9UewrIaznz23aqdQt2NbYgSxYvc1VMZhNdUhuKsZjvA2T+GBK3BH3GewcjXqztt7SS+
Rpp3dfrrkXkJij85/P5N/SsggGa4BSPjlz4W7jimOB18kkGNHCd52AbwMDooKb2xDF6e+me3263j
HhDRei419pVGt3G2LnBFTeXC3XtvmEpz5uveLeYNmt1zW2HMFm+BLq2uAgDwg/i8ULE3FpxMUJO+
w2TCgo6PGoyIC2ggdecla3tZMAL2FwPrA6k4j8bTYtV4GfPlzGRtr//leyq0YFqrYg0aeh31Q31f
YvTPc1snewUwP56gBLgmojCGLSmkR7fDEsu35CT+2kh+Mnv2Gl8aIFkovBlZgJLc8xw/Dp+8IJrs
YR4IANPgLM32clFlrG7bvhofJDWPXth2l7oU1bWkVR1mKmg20HAD5kfpNnmNzIxSL9Uck7TP3TbX
D5M/lu0NquQoNIHYVdbZJjsu09p2ITblsQya3wcSRk2B7sPSve/cBsbPIgbwdgxw42APbehihFFS
tLUOvWM8q4bcsBiMoRNYL+N8ipYJUGmvDbrwa1JWsBwx8RR9m/Vi+MOyrdUGPP0YA6TcMP4BINAO
bJxfr/i/9Hd+Noq7rUgmnbc5Q0QxQIS/TTmLI3GsjVFhum2xGE6VDNYwI1NQ6WvfBmMJAnA5Vrna
PLcUvlspKAU+DeRbSrKvHK39XQAFTYZ1II1InK226d0k/eYWhaov4N9vqdzY3EKguWM8DTQYheWo
o/OQl2QvvQZdtEY2TaWKqO3JqZzcwRdSvBGFXp7+Z+P8spd+l4eG0jkBILQqNgNdyCyGu0KOhL2P
wKcRF6B7u3e/fqOvbM57FTYzEh5BkEIWgvv9e0o1iCeJx9+qwL92+V00BQUGhq+B7ospDLbck6AE
EJGw887Ve0U0QbvQm/1AFHUwL14GhDAaUbHl+vNZg7NXRJvUBgGaCibqAeoxwNPzCdTt6a3t85Wx
2UuireXsXLz6XdGKMfpcViS5G+gYnwUQhAjFjzOohHTf5EwnCvjjVcd2XsdTCHzQeTvNXhLNus2L
BgqhhK6KpT2tZvD/nGvQZt64/it7/V+t4O/mv1cOi2D+Zopg6UibCaj/Ywk3HU/QW+3PE+kkf0kP
fXcXGjaugxAJvoXqwytB9PrERbN9+PXseWUN7wXSahEsUAqsp0KHFRCxMx238n9xdibLcSpro30i
IuibKVBFqW8sS5YnhG15A5kkPSTw9HfVGZ2/7vZxhCZ75F2qosn88mvWimvpQHCYRdAkbSeG+S9J
uD89SxfvWeP53jyL2shMjCa3YjQ+qmiXnzshXALTGHgRYwl8MGs2Rvzpu4HXOPwVgPenW32RLpDe
SC2usYeTaa6jiiP1n56/XEVugv42/5sp4U8l+ktq2tR1QR1V3XACdrAtV7KYNzsza1u+a+mU3Y3H
tAtQIUYF+Y1ImprUdarZu149z2ru53KFQfO/H4x/vVlhdNlV3/mNYiKbMUZvRQiXBpHZvrGDA7b6
3Oef/+5/PdaeW+FWiozmhArubVn4Pa2v/9aQ9e9fPrjsh4EDA2ZDbl4GAvOnyKMfg5r+puP402df
PMWzYdWQG7SX0TmRP7ChN1k+jOZf1pQ/ffpF7BK5rio77XrZPlvlLaPK1gl2gjx85qJzz/7vRS8Z
lAMvYTlZOEfLvS7F8CUKc/GXteRfX5IwuGyBcVxfbE1ROdmiYRQmZVm1awqQZXrvCfLWz5xO+Cvn
g95/PTiG3ph1QoKWhZWa4ryvvrh7533qqQ8uO1Nqt/B2USxOlos2PxSi2k5W5wafu7mXjSk5IGRQ
642b5b6wjmox2zTQYFg/dXMv21IA2IBeqWs3m5aRucd1N4bTAu5y+0tc/YdH89Ky5rd+MBmMHmRd
ZAx3THyWoLn8v3UM/OnTLw7OhsdMdlkINwMG6iebcn8ztu1+8qtfvLN887Y2hsnLdLWLG0viQnEG
0D3/+8Kfo5X/Lw7mibx4Z5d2Xa0G3llmjq1i6ByCkp+sttjEqbHDzj2O9jx8K8Fs/Pzff/A/8dG/
/cWL9zjPqZDtMBYyUVjwhapt9MZ4K2bxT+tM1t3chorBTbVP9Xy0VoB7gEcCsk2pk5sOo0bb1FgH
uMD2Eu9NK9vnOezVjcyFWcdGaQf6emly9Tcp9x/WhcsOl1KU+7kS7mS6saY19n1VfQVOMf/s+uJT
kSRNbBerwlgHe6RMzapA5ypIF8bajaZZ0/99wf/wcF62s9jCNdrd251s1/YC1WhWT55i7P9zn+7/
3xWt1rRSTqVpZ7Rk9SlnkOm6Yfj8L92bf/ru57vyX+ul7hzoMa3Lpy/gKJzaru6Q0m/Pn/vu57/6
X5/uzMXU+0HjZD2EwytHRvZTuEfdX4KE8xX4l+f8snNlEQ5iPeKurOkiFeADlN1bsw81UKCOzFHq
Itj5VN2DJ+hijYAJVjDk7VgZbdU8+rSJqp9g+LZPPkIXi4SPCEMw42JnYbkaAvSiR5Wym+rxUxM0
fP+LNUGqlnX//BTpKBInDpx5WgbLp2b+wuCy/0TNJniT0TEzQ0GHLF0/SLkZnyJj8+kXb69RDc0C
4obvXgbTYctN6Caq/1RzAZ9+ccqsxxXy6b5C1GF7TyJIBhhDPkXd5cMvX16jDsaddqbMaWXzLijl
xgxIt18/9Xpdut+2sJSuak0r8wexfO3cWtzJVf2tavCvaSm++8XLuzShXPd2tLICwCe8j35svgaF
m39vbNUbMMUMWJ7GWJgvZtkvS1YoI//McY0/fbHdV47tbWLRVhYyVcuNmRWYwmj6TM6FT794l7Xn
KleLycrcqRVZX3tHXdSfjLMue0m2qQjDeu2sTOJCfHEr4R0X2/vUlB1f/eI1HtrAjgKAqFldBNWH
CQf8jIOJ/tbk84fd4LKHZPdcYFxTyW4wmdPrJEbwnsz6/PjU43rZQ1LO4dIRgZgZnXLQJ/vWSS04
mp9bQi+bSBy2d6adQjMbKwUahRavkZ6D3fvkCnoph6u30NIzRN1M11aeBmupsx5Rz+eeycs2ksAb
irGueisb96D62ZW+914RPn8qUQce8uJdpsThtUubW1lQrP31GZiSjRbQuM/d2IvXNYC2UJLv5cYa
XfB1GJz61y6rpfzLnf3DPn/ZRxIYddFVimWuUtq1YxPdwArACDAmWOJRvDMw5q+Hz/2Ui424dEej
MLeenWxztitI19t90S/7X96A8471LxHLpTMOKq5FbcEwM+LzVd86tggefNApVtI43lIk+Rw0PSLM
Wdhp/59Y9VO/6rLjRC4KMljTmFlFGfXedABgT3M5HD/36Rf78x4ECxxCZWfzOhYP7WhYr/W26c89
XO7F/jxXqmgXUdkZqO/hAOnkJ0XZv02y/WHBu+w48freHq2d9yJ3l+XXuO3qxZvq5ZMX5iK47pvQ
obm6sLNBuWZMMZnRf7/5WzqQ0tJ52f+X5+my5cQIGxNBIBFwSa/GgDBkaTfvDFcU9RwHkdQ9qGZy
dVcmtKgw8dYzDk31vFHptkMc+wJFbg+Scuy3D3SXDvx3dyP54OkgspNtaNRyyPvGz2O6lCr44N7u
V7d71AKNXJkK8dJo6vHZjoENrSgw2zlKoKsAOx1pxRBJOEl7S4oVYkw2CtBFsMYATWdgep35FBU2
CotZe3MYexRP55umnJv2uDlK7/G27eZw3S3uMtwM9QiMVQqoc49DQZPmyavICBzKeacuBgTR86Gy
Cdu+mfeS4c2yWPYyC3Qv58dKberNJMqbvnczTYt8sLeUAOW1sSZK7Kb85SzuviajWqolVvVaVs9R
BdQ1NjfLdzPJ8ReAMFCrd5Dea5eCGq2dODfltF0H284DSimTrooveWMpncppr/qTFxhmfuN0xm4n
wKOK/Q7+WYV7xcSN8qNpgJtCXgUrajPMFYURGXU5yB9nVORvblyYHyIoN9ZPy86n/N4Ja589DfoF
cHJjMmB4M4TC+Twf+/p6plaJL8JimPdUcmn7K6ujH5ivaAL6tgLA9YQ5vvWDQr27JQYV8CARhWE9
257hRo+KssQVzQKDdwKGZxeUlp01f91t11zuBtsWaxmTDay8a8dgtiWp2gLWGano5qPqtGgOhdGJ
KHG7CsrkKKfeSkCzL/IAQc1+KDSqkgdr2p3ttO97uMRS5/l0sLtw2I9oou1vlmQg/LrQrrzT9tir
+xU08yvfsJoScMdt/d656/ZaldMPj6D0B9x+JdO+23ijOqiGL7Art2c11e6r3sZJHOzNnaZ4hl8E
RrYWRn0oYGHpuIaRk86BbzxFDECf6onTBEmOqB+SHkHBMzDh3j7l1UTGBCqh9k512TR2akGorIBJ
+fDpqnKrSp6N1qft2hrKOxoF6+bFlXMfHaK+nN4aVakq3TZfTN8EkzTV0dFBsx370ArtZ5GrxT4y
9ZmLo1TbwkM7mrp5DqEYWVcOVY+VynoNDn4NQ9NJes9Yq9Q1UOyAqsdrcohQj28nBrbX+soBudyl
PLtFJQgFwSYnIet7wfsgN4COJZ7MUy9GqhDrhJ8nqdzOcmHw19pODU7+9+U+j8Dpml5c92EYyY9t
WGyY8gHWjRu3bEm+GwzuXhf24EOYnryfdu97D1bnqPUQ7NzdUzirGeHf5nM/91VAeNvcbnladtee
39HVSl7eodkkZfNh3m6bDTIRbLt9Sve+sv0Huv0qALFSCqhtumtNvn3ttvclQ1x16mne82MUzo2+
q4cpMlNuJppuayyDD+Bo9fy+2WSqoceGYXC0oDzdBtFMLhJcpfGj58Xwk7JYa7JaVdVFqd1ZkWS8
pVzAjlSlmULVhNWm2kFGD+deLzXEQ+ecGyuK3urjzR3GLx6XsEwBX9QGeqY5MG+2ed/qZPHX9Tkv
LcP5OQ+84jHcxfNq0lp+CdAZ4dxRl1z5p3yvtAstuJPjje92r6U0Dqpath9m0XNfmr10dBoWPse4
2PdaMm1xqwM7PLiz4VKab1ZfXdMoWkhuGTM5KWIOY70NZwtILe1Ly37X0yv5M1zDebqBb6WXN6wN
zXwnVCXWq9qwPD2ed4egsmIXUB5p4LC0cijZea2SNZgWBSE3999Cj6TlwTDV8GHmUqezQeaD+/9B
qnTC1JNH6VpNUxbYHT29SDwhA7ffV4aUYjHjJigH+U9pahYohjc9ui29b7kneA3WOcwaz1rTalk4
QoZdlJjg84HRLYy2tsJ7Ik1hpA0G8HiN/PnnNnlNVvj6baC0ZdPiUot7bYV9Yi9lkxYhRNO61ISD
IYpiHpmy4FK4JcdsFRQ3ojQWncyDbzzQweKFMTwiLqtuNZzF0XTLjG6YoI5tYJwg53RS0CzFFjAU
h2CYnZSa3ld2sPJ6HVo7MXss6DE6k7t9bSa8HL5vpd5okqTpd+OLnhEWuFb+Y+2V/eTXPt23Cwzq
1mS7KbXNim6WVeKqcXvux2l8b7tmvumEbX6ru3J8d4IuBwtX7YnpBu3zMCh+YG1EJ8dav4EifJ7p
SIlVMKjEZV48XaRhI5Zo7eva8kRmzyCiR1+Ir+gOggdrab8bqiJlu6kcaJfWz6tax8SPgFozIjmx
fOYUp6boJCH5pl7turHj5E+tqJ+cWq5JWLhTZrTTa1/t3z1I8IfVnUi20TQeo3EZr31h8IR3qvpt
TLkXy6Z4Er77Y5j8h6abbiIA7sdhbR72fY2meF/M6pcJxXs/eBhOv2L0KcgSRZDkluXAlEx4qkea
8ERHvcbp4SXuele/ebN9K9nl8KsF6Z1gclDXBCfDoS6HW3ML2awgzb+7NBN9z+fuyrHXh1oNawJA
0L33dZ317v4kncBhIGpA4wLI97h4AOTMOdTPUJqXd/T20PyNKUx4x+a73OE6lUQfgLFlfmx9TjJm
iZKQYKN8Q9mzPaMOQMhg8PhWDTh6sJ/A3wtMP8yOb9nU2d8BdnHRgIF6UT3GraOOWwvN2BE8dE7n
bPeWEcFo6/OxgLBXTBBALfv7FFbzz3J2fjKy6CSrXsbM7II3o9/FabSMOS5oWj6VdNbETuDuJ39D
xxEHri4OvGhcnsl+LysYj94AeavUY/UQ5GIL4jAKi3dQqd5pOmt+yq4ZogPPyCEs2iEtVWnfT2Yp
frj92N/tvgFSV5lHNyj6e9cmmJym+tojUMMEJDusXcJMFCKs2LQX9200J16fplzjuodzXWrvNtf6
viqNFyYI3RMvz8EqvOCw6amKFdhk4J6w3mRfXgPxe8kLuSQMxdSJtNYxrqlfU6WgrR+oECv37Hxz
m/mH03Yq6UxCIbQZa3+gZjD9UB0w1DY0KobqdDWeAjQCT8YWmvcOWYYHxypdNopdv+25nhC1tONp
F07EGD0TIcm+zVokm22PvyvNApOCz20BuNdBmQqbQHJSZ/g9S8f3wl3DIlupmNXAggvHzbzZmPpk
sIz6ZA/hksCZW2PH8nDDEBYk9r585yw5uWluWKEft+FQ1olV2ngo1mG9geHvNin8x2YH3Qwf2B5Y
Ei3Qu9dzsY/rvev4VVySBEpNGkjSuZrYiSZtx33knE2TZaZBxyZlU32vpCtjJUpEOG1gpWswOy99
C5oKsOU68kfsYD91Tm4jlApd9xgNsr+BXXu/bNHXaq/ve6WuZ9XQCRZVk3hVfhndEg+67VMjPGCp
MPynb7Tn6S0xEaDNvC3dF9te9FNXyE2kVt6zOUD0Bq1vhcI6KFJq1e2yj9ERsI11VwMDL4Foj36Y
OHpFkuMaTcRJI3KIL2iYIBiepB8PXIrbnKH5b8WAA60n8n+GRiNiR5vGbbOHECeDGwKg/g5wI7RS
dxn1oTTDb3MxXrf1ZF8FNUGaJPZ7wM/kHnpjy7oRt59y5fvkoDSIcMXAtd4DEJQh32cBsJsETeUm
gReMPBpAiyvXNK+jIuit0+4qI4j71WyvOZ3YjLa13vZPZYotW3PV9KkctgI3sehjw242rCPSqQhe
+6hJQtzNx8p1O5we7n1PCS02CgYacQXJ4xD0watNUfCkG/pR+nyJwMe6/F+cdON6a7h2iinbq7Kq
xjRnB4XD7sn9NNg8p6geHC+B4gtC1alACFdW0T7nO1Ig0+MMFjNKqyJI88MgrwYvkI+7XGfMm2ue
1s0+HXuQD++tC6i906DnQ3BsybztXdpYy3gcakEQtM/DEaq687Wxu/HEqtEcorFrDpL9Guz+Wj1L
K7KeLGIKQsUNi5cRBNFVBczpK32oMrboq6Ijpu6qq9mdhkfOaMsds77si+EegkSl79FJXAlXOF6q
0P2yDFP/W0+NTnrZ2jTcO7UZ5w1QXoCF9m3eO05Srb35jBJVZo60TIboePCtYCzsc4tkH4+rZ8WW
3oIBjGjXfpgWR9poX1487NepGERHTqeB4Lr7AvBGU7yeiYV+Kru2xE8RWAamAyHFr7HQ7RfKkOp2
0AvRcTCO13bQtDxigKcYxbaA5DMYkGoBGtfBh3TVWG1wIEMbysdBg7E/yIaSAys2MwrJYHaHfHOL
Mg01hHWN7CWMeS2n92graRZyQ6u9ozWl+grrw/yGvJBrVw5ILx2HuZWkMLBBMQBuUSW16ze/aYZ0
ic7R9ahqf4+DZvKvzGL0b5Acd9+9gkI/5xziJk6VIZZLr+dfAj8yakRo+Ja86ZSPM1awRqjpbnU6
E9yzgY1uCidQrMwPM1YlBTY1TDyIPtY+5/zkrBHnFz0u1ygOwnuyAdYPWbAZ+IvseZgLCRvUH4pr
LIatFw849l7ZdMIu8f1x3QmQNXa5JrLDTOmpzdY28q5Y4sIvkCbkm1Xb+rZVxl2OGIYVwUVdstMp
D+qg00Eqx4gV0+3X5shWrLtEVPO9MflIFQCV/95QKrUHnspR3EtIUmOqV60T3ZMwQGAZsOXa0T3P
yc8GWjxtxtFjtzEIZGxiPXj+HCF2wPEzx2WwixerwuGgylNRTO3b7JBEiNfFxFozjqJDeOpK+8kK
nG55X2qvWY/0xkHNAADyslITTsDCm49rrc6QQLuv5hR3igcpXU/29y4atm8aKLaMt7aNDBa2HDy4
rgpOJiAdXkqvgvhMQ+KaLktXGMfQgd8Xj7s33pf2iBwQJzqnQfIhnhkHRQGrFzjOdoQ0Q8+wP9Xd
a97vYxqA6G/JsIjtBvsJYYzteB8tgQhCkLw5lKws93KxJfdndLwqya0iOIVuvl1jBpKvC9WlQ4lT
5sYbylc6kMKbriRhJFkTYnABckedQSJnqPI+bZuiuYJVgWqOeB0VSSsh+7utuFt2NaW+vTXpCFTm
iJrCTxwDalOcA884TGpo7nuKTAlBsnwdfLtjCHTtE9IvItVF3583w4Esg2mr76RJl++4BobM71WR
OiOqlI0FM3G6qbgix8bxbiOPSuqljDAVdvd+5w1PwlrLFGWI/FLlXc+Ekx+UXVKa3etC1yQg/mVv
AeT7/nFTxn7sJSvyYo24nCzfOSjFZy8z3PyJFeXBC2c0Y/TUx6h/tECzVjkytVhk09HOrSv0Qt4/
nul5JwKl6Ep2HBz5wCdX8pWqLh9SIkDvYM3VK+dW+ziAe3/yg/AhaLrizdibb6hyqL/UMvWUP6JD
rPOXaR7FVVvXGIbqVee0hk8404kyKuDuC4cd14RDUk4OMqVgquPW1qyCeh1iMnfNnY+yJrYDsSTT
PJEykhXKjmaWPxcP/tkYreUNg7j2URpufvQFdHzmUrr3YhQE1GvdJlDKvHS3yvngy3J8QhTtPXbs
wV9DT9VXrM761NskKnadn4KhrO4hham0ABadrjXoatcyY5dOM9Zwt76uaHp+6/rq0BB8nqMxBq6r
0T8gmvUTQOxfWf1xLZlc49avnuouGBJEZeUBZcyH7xd+NjU8IpXdn8RqR9gECMHwFS2HbRr+ATaz
/Ag5VFz77qaOrpSQBBhUOlBNGB7oU86E9FYEM+p96w0sSbgbj4h8HRjzUL6NGfNbLZwF0R0/yxTO
lpGZt65gcz1uhFzZcFbZBE57E7jur01p2N5V+GAGml9QdI9z5d0HLgdF7S2kjXzjvYg8M3MjQVa1
Uuv90vuKxAgp7rMIJMsNG0lDOOt4DMzmBcz1veWcAyhPWElkGQpE5fTNNypCylB+dxaaua0p+FmJ
FtsDjab3LsRg3pJxZGJgn7/V4PEPwZY/qEraid5aL9GFG2Vb0yAdaVEDlmu4Yc3a6zviE+4pmwNN
yrupoEj7RF2tx1nCVBY3ZzKWNDCLY76tYaKGUkNlkGwXYWjFDJ/bb8Iw+2tTh1U6+Tb0acFJyIjE
O6PcZJpWEMzAXh/gRxGWiubFWru3CGssEUMvkNPZNT2BBXjuoR4Ojcy/16Z08CYjw93z8L6Aancy
Fpi/Vrg+5a4/H8plIYIrpYiRp7GqDuHRKNYopVkZ0HNfWzEQ9neRd97xLDZzEg+x0pvPTSBVvZQv
OFquZm435sfNp3bl+kcLS1lSdq1KRrvqj4tVP4eUvUdRqHgvlw2ovlmH17O7rY9mJKME+AFLkrcs
Dgnxtr8a6S2+6SPoljitOB61Q8WPGCkbQuYYEw+Fx60wJBYR322Lb0Q734lZ5fXoiO0eaK2R+Ma2
3SjLKx8Boozsf9POjyNTDPzL0J5zT5JV3s2F8zbgrXqYcIat51xxs37r6QeA9tfkfHHp3NuD1vFC
J0xMp8fynTlps4wD0XOpwNqxOZGsHpXQzrXKI/blxTEng5RXGTx6hYxUtvZyUvB/ZiHIgufLk1Pu
Y3tchRztj6LahwSQrGNfN56ecc1g19zi3CbWif3Kws6gdKXLW9cY8Xd5gUq5swOvIHuu/L6WflRe
TagWo2O7grj/spiR+LnlzRK8udE5vIg1Suj7trG2q00ExUKYwgb4fVL1Yl+TR8c8hcrk/ALT9Hk0
1o3foNcZR1u4tWaXutbCcfScjnv12zkY8JqWLh14nuHdlpY5MKwYBDUMsK7L4cQXRZc/IsvqstkQ
nJGdUXLURDHZO3fV7g3XwCgbwYvgPZom3qw4olRUPq2VMhoydVrd9a47MEmAa2lIR6Zpi2sTEUr3
pTFn9tlabvOQjY5rYnLBlpu/j7lrDQdSoNRX6qn/SqOLzYnmHGXFq7DG4tQTCbRP5mgzeTXNq//g
nvGV2IgapY9BQLL1Y5xo8b5ZKwP6a7HlHLBLY5+Xfyy5swnzjvj6GFbIm8YoKk5zXrfP0mn39iYM
RvFQsCvxYqDh7K8mY6he5rbg8O9Gm/sSKuV/GWzd7lmxnKOLogoKvi8Imz7u/V57DQfS2uVEt0bu
o/In6wG3W4tt289b0u/T2m5p75vrdBWUQF3v2Lt7ebI7tcgrZVcW48a0RGJtoBNJVGp5qMkX/EKH
KW6bQOO0GWvLDeKW0YkQv90mcaZxXsKw4jfo0kJdC5EqbDDoNlktSJJ6BWOca+t90ZxknKt5HA0n
M3y/fbQRdHCf5nzbryP26vMKlfcfDXitF9EO8/OwYsxMi447RI1/GD4mbzaNlGO3jSFE1cFJAQYh
R9S63pcBq5j4RzetaGJCR2895U4UjXHOpUfxGmiEvu5KDaJnEk8TqXX5t2pum/JO7hQn0miosOqi
OBuam8aQ4jrqe3lbGyjXsVtaHTZCXET+I6LJJYHt3zn3neEOU7qVTYSIxyg/HIoeMsHfIpCnj175
HHm+k814GrYTB1nbimcPb+lpHqLiyq7Z3JCJNfKfAkRQG5cRjEPy2jseVy3Xf+ZtCL6UdomlWVCM
u/assjb+URb540MZjcMHfktUgwFCiWuUnQ7jhjmzeWZDrfF2A4erk85ZrelXu1U+aq1QCD3cQyBp
jSt/903nSYI5LQ+60WihkPPa16zVwXLdFc1Zvov/tkk20DFesvpO8MjNQLlKcr4nEKlxpx6FkuGQ
KuE9L3rGGq/t0iLDgHqE9Jo9tacZf0ST4CoRNCb1Oq/EzeTmvvlhklP2j+02YxGMGYrUqE0pesgb
iie982QYZIDScrJrlNz1TolwZe/J/AYG2fl3lEdwmQHWUddk7RSDdOAGqF6+0lK6veU4/O7CRYfH
We3LVxoSSGCPbN43W+CNbWJyq9G3NHkTPCt3sX82hIzPHbWyF0RZKrqqq27heG/BlHoevGG8Q47R
YfipqvI392D/pkXoBScPgtV6cpq1SWxDug/zKraneqXOXipOl7GhBEcJWzlOdWXInFwTuX2EjUNB
wiZVlgheI2ucHwj+nUfKQrmMy0rM8Fa2JerfnG5FpDZEe5MnPincc7BRLONvRjwX4+hYVS9iXFLR
U4laIws4GcRFUM6KbLmW937kUUCw9v5oam+Dna9W5pzMkmm8xBRebVxh6rYqyrb9aEtSLJ003hqf
ybe4bb01TxoD9+ot1WQ1P24D/J1k3gGI/6qgDn2PSPjeTvkSGEmEXNS96Rp7pbufvLVIsOo5lBRF
aL9yjhuHw1YL72UyQLBsnIC3LABi9+pgODQSS07dFdOlSv0WruK0NTbDudhLVeBkrubOGWvbMfgC
tipeKnyv4BsNszzsfu4iPF+ozMeLzscvmDH3HxH/zTEzeDN6q2jZPzZZmk02IbIzDwth6nNHFoKz
mqywcxkS7dbmrb11XbCGsQRsISmxjnVaHLC94Nitxdbj8THqltnaxdu+aF1EP7FcEr43tp6+EIeW
X6y85kLk89qI1KEQ+wsDNH2Fku0AK+hkhujdwpnTnedScqmLHM6xXlDAnom9j5zo95sBVeSNrp3d
4F5o6dlp3Tv5zjxXbf22ahcsia27Ul7DFa8bbCqF9VGqZvplt53dn8vrzXzFrHD7u0eYnR8sRUr6
OFqcYMk0K/bedpQmW627Ws9105O4toJu6FLq6S1Ij8hnuVCOwda0U7HPyVRX2JkKI4/eSMwVxU0h
WT9IR7VGcaKfrqfvswLRfCBVXv8z+6L/KdudLYBq4Pqx9JQsE8/s9JMNyCa8ZfOkmmFNimqgU1kO
ceykrwxDeXdnjdV8PQwWgvHSAFZ7GKeN2pElfPG1o0Jn80TT+ZgxwWLth9asxw/sdesvQ4F3u4ly
FELpNpbkjRmeZg0nwVqUmengE0yimqJ2wjtruWlxZvYRRu7VV1W76sfUYL653hVK6mNeh+0HlXrQ
Yzui9sSRof1xPn4g4zUd9HFdm+sHExGOTEZPY8alkM5ab+bTq6/ovzj2dTirLJ8NtmVU391ZdeuT
BDYodhNtBUg30sJEgXAYcoaoD1h/9uVAdK7eV8rMMauLS1V7VN0x9KRmpRVrc88ibNzAW6CiGy7r
T/LGUZtY7oxDujbz7ktvsFfFPawsLqlefDMbrLGaE+0ZQUEyDrb1S+X4YOFYZFGBWb4x0Y1tVeJr
oGfzdTCMuf4V9HRyMJCw7yNpC5k36b6OAQl8xHh3+1gsGtx8Pt17ZbT83MkdYACums06toPmhNis
9USBWHvha74ryhwy8Czjdp3NleMveaTj1CD/ZHrabR/IXZG2b11LhKdG1G1zK/n6G6ui4I0osc1Q
zajRmQH85sngXL6u6Mu1obF2EWc2nLNbOf0WocEhrB/dVcXGCjb92IRR8zHnHukAcx8cN3UxXr9Q
PNYOQky5LEcqDpSnjD2Y6ZBxmu4V1UCxZ7mzRL+KxWzmWPrRYB8W2N9jku9uUz9BvxypS8iKzJ8h
SErwWMuGnEzd09zLrbgbpVXddq6izd2Ufr7Fo8WY2dW4d+NEeQQaVbYv2ukPYdnUr7wfpvmyhJvd
cp3CIUxXjt924tk2it+WY8Zb2OxWdJoALnJVQyKaOK9lMDyvCAUnolGpu3/Qq28Ryqdx+MbiFtWH
UtTUrDCoubRlBIUODgamSRUHuqkCOng84R5xBC1zQv6i/TU62l4PI0/CEpPLncvE1FSyDm4xIYVG
9MplnXAiE7QH+/arsArHu6t7Dm0cP7tpP6em/HW+D0i730QNVbBkdWw5HeqCgkdmbnn3oGFN/T/O
zqw7bhzL81+lT76zmiRAEpzT1Q+xiCFZ3uX1hcdWytz3nZ9+fuGqmbZgSzHDPtUPmU6DDBAXuLj3
v3xQYUymnPW9/JJxPe2uOlAh4wF7UNyJB24h5ie/nvvurVUtk/cibiaJySVFWulcGX2ErEtXNrL4
QHu85N/Urir+NrwYwzC6AGq6WozYwQezouHL4dALDibhilJ9SjLSCBAn8Vjf5Auny8EvMslFX4H3
QC6cg+ZVQSPcoB+SoK/sAAOMXi6pwcYpcqN5L3FD+1LZ8/AVIOh0wioi9vh5awWWwEbB7HqyCpnv
l6Xwzo05nHPv47RABY8bIhndSrbHDAV4esLS3fXmqopjuSJJeuCcPPcj8uZN1a/NXVLGtLwNYTev
WiPhpd0qiWNqwuPwsTGi5FY0c/txwTggOZSG3a7XKirqz3PkyQqF6jleIfNPbKUzGtUzKXphT3s/
xvr2YI5DRLo3Icz+1rM8s36dOKUaT5BuwcYYfVJZe06A+qUqU6V2buZEf1OLmcK9R0pOAQAP6i5o
aNvgUzvMdX87lGnyOl09x9hNrc3ld2K7PbBFlesLzn3Ws8NlEaNwl4IxcD7/3QQ6PdsPqLIm+ySH
6bCr5pXyVSXIVW98PHEpTC9j0WADNXAd5OrJtqvWekZYyfbr67SqWdqFZUj4iThEv5Tjki9BtMx5
+RmFD+Ve0z3kUPHAIy07KrFWeVQqHM3AW+oxP6wyt6xXI3OhAiu0U39nqqYfP0BvdklAE9+bK46N
1I3fVFMWgcWL+v5utjE0qpXI3mQqnr4xVaTFDrSB4VoNS5yRKdTuN0CEApiC6/RLgM157R7phfpG
UCwifICEv5j7acbjBYPqyvuKc/JCezTD73hXonuB0SZ6/IuT0j5xhzE5VnZmf23tfHlvekVafrRa
2nanzg8Zkhqj154mM6yGHwpmttzPIZ/t2JlD6b6IzNKaX+PY1/4YnHa5V1k1hiCczvd0g70Ay1pM
rmfgdmaWH3pP2IfQLKLyaHRu9UNZkr63i9WnseOgNb8AHVx5xyJ1MZkdwiHal0MlT0sa4njpelmg
hPOjnKeyAHBjmBgk2gaHnuh6q9qJOV/EIQPrUb8J+06lLzEwX9xj7tvRJ1SJquZODcg/E3pF6Bwy
UwqMn2VjvgMqQ5aLR6IT/5gQ5nkVebYvD2uLYzzaG/knc5Si2sfLXBhHnFCX9x7YgZEfEXE7waQ8
LY4yzesIg9zV8fa1m6zsCI2Iq0NaOGWLWZ1LydPinIp3qCpTeyoo5YTXfW9kX3Bc7ebd0DUI7wkO
NycY+7SZj21s0tTBoSd6keCrMx/TXomXbtzkn9raJqk3O9r0tumFK4C/ha7QtAqcXB2uLO+RBF3E
dWp0cUh3pwnDE0CXlazNs9B8qSJ6kvfwKyrqyD7LeS/b1RE3WXX+FVzz83fFbLhvGz+j5ugIvo8Z
pocqtREvpSijrusU0FiLYFHDNFBdPcbd1E2c4cJrqXIhZnLKjCF7ScrVT1ejqkLFS/rWPUYvyV3d
ViH1i9loKeyZnXHFuZOUV7kvcwALNQSiI31q9Skeo5Y2vec1pGJJDlYpX5z8q1Gbw8e8PpeUgH2j
mVLGaxkHWVRTmkw7lbRXvjW27VU8GF5yEPQSInArIufg6932Dv4B2NI47drzvHPNv8tV3LxfBr/o
3oYOJog75ZZYFKYS1t0uBk5SHly/SR7I23q0S0TD9PdOTLqu3JirNhVDezmyR1DVj1WWUhHuDPmV
zFXSxgoTB7dzlVsfQ9KuhPKh1QsqrLWdX629N78qHWCC+260u28TeMhP4SAsDBtd0R8kUkty34wN
DqKVHWb9IUtKcpRlxi3mKuQKyU40WeKDZ/QUjRHTHl66Y+mlAXelqMMlmn7zFZ25tbqJy3aYD/R4
JM3HvJbmySJ3TA/OYmDDzUpvfsRD7L0bXS6jQBFUBxKvXBnWEC2Tv9p57ONgmspro5vc5oWfLVjG
R3CmjrjjUoWbIFwXh05F9oOR5fN7fN478EytVa2HAfTpQy7Hoto3riONQDgxBbRhncPsaPvG0AGC
XTtKKVaeYPVr8itj4eb3mZF1X8PaI5DM0QF8VdNoBuRW5sdOufOPpGu7kcyr9vpdt4TVyyxEdGNv
DI1hHfxwiMcrYXtVc4xGoyJRI2lxryhwzd1VMvp5ySV/9epgMudmpr0qWh+6flV6rzDKDZPbOOnZ
leyycGbahrKO6FFnRbZrq2l9VymU31+hkFTbNJKkPV+ZWer3nNDnVLtwhkji7+nn1ccC9Oi82wa2
17gW4eBY/CL/TIaoZzJsMOvfpSq7h23Da9yoBdVgbBjpUvTWWuySeR5vi7m6pHbzUzjkT4B1jV4B
Yx6P7yUxAzckYb02IqIU11SgALusGOPmUCClzmXDyJfvXKbre6vJZXtICkzbr2KuWMWR8730rjEH
3mTLCZlW41TRRUwqD9QtmwiwaJTyloOVhhfYC09wV3TlQJJ/O1MOFZOmlMXntJia7zMlc/St+qZe
d5bVUG7a9Ol0DcEIu9Ks9MUaWNMcvcA3mbiTrf1+2+gaDcMyxVQi9LcG9gIJ0xGjeW2aVXKB4vME
D0Ocp+8XorBfJmZkp+4aLGltHs3eKq9S66K3yVOjazyMvPUrU+W8e2X5BY5jrvTs3eqk8QWK/1Pj
n//9L2+PeQwQB29aAhr238183A1N+XbbtGvhzj1DVEVdrAGh+CX1/WM4kjxuG1uL9boZBqCx5wZg
5uYHu7StIz+jOm0bXQv1GVSFU5splgJkdS+qqGmvmlUmH7eNrgVtttZ5QoKxBE3XJn+7yOe+bkUV
b1Kz4IqsUZoM8iIzcTuAH00j70CUHNLcz7e8O4NroRRWiUDMsmFwetmnRYnkaNnbFGgYXQslh3qM
47UiOmUr+k20+uL+S541XhFsmHnG14JJ9XQVEEH1A9Wa5jFLTNweC7mJxcnoWihZeFYXTU+PGotN
+XmaLT+YlbF+ev7dz3Pw2/HD6Fo0zUVoe5LieJBWrnEbzVkz78hs++wwVTSZKHPXRn14/ll/3BR4
lhZdfgMaShmmYudP3MNMfniKuLFePT/6ea386Zdo0WXRj7L6eopOWN07yYMH8qq+sUCUT4Fhgr4+
IgGNK7pnQsZ7/olPzZ0WcV1BSbbxxzBIDPg9NJykg19jgllpCiA/owLujtHx+Wf9ce6QlzpT0n/Z
UEdoCXnspEYAwoXUIPanNqdebHbWpq3P1x3y4nYOzZmKTdCWpiIf9/osOxQA99eND9BiHEsju61T
IwxGN0w+T0W5vDVb0984P+dv9Mv8NI4NK2cpjKBrKgQ8x8U60P+4ZAnz1OxrUbKOczLZcilPhrkM
r52FDn13bpZs+7ZaXGRUZ9wsRMXUsZzwukWu8WXfbzzqfd0nzo/ywqGHD1sUL70ZekNStkcpGnlB
L+W8y/0Wd6xMLQpEg18m23ZxmtbJd3a1F07fEcXD1HkGtLxp7wCar61/lS9T51OKOYVLmpw8ZP+u
8RwOt/0GXSOrjAzfwPkmO8GTL3bSNPrbfDLtuwjY+Y9NH1lXyqpXj+4Gm9JJTkl903tueVW0ffRt
2+ja8g/tyVS2clNw0yjeXpX5LAt6HiUA4G0P0M64oh2cpp55gNl5w0cuHNU7Gs3AHbYNfw68X8I3
pUZE8IZzUMpqeQXlc0ZzBNu1TZ70LB8tgKkVLANQ+xSqwzrRB14oloLPK90L7/9EECgthMd5rV03
D5Pz8iyvBlOa+QHlNWfZV3CiLnzkpx6inXBeG3kiB1V/Mq0qxi4FEZBwb+cNAFUooWKb5IWv+1ZL
QN2mbYItEwOW3tXU2Hso4ZtMKhR96sdfOoPMF1Vzi9QX7E1YOaCL3udp437etJB0XSt79OnOlAw/
t/a3JkbzNmrkpkuNr6ta5dEEjI+i8GmCX/VGnL/EAllz2xLSTdmgncu1a9GQPl9b171VLsO8hw02
3Pkpd/4LT3niJPO0OE4juTZ1bSQn14wBw2aUPiksG0JtMmbg+2qRbMyTF6eOik8pwNxjM2AEOM72
ftvX1cK49mKlFoxhT1a09IFownY3ewBZt42uBXGdjRM+USI5DdT8qLHDHod/n8Kf2Da+Hr+mY+ct
wn348xp3S+EbtxactE1yKb4uZ4V8nk33KUpOdmUZJ6vkuoPDhLh7/tWt82n+h1Ne17OKDM+KXDge
J29taHZGtQKC6WWInI5NjZBCEg/ye3fmPIDzT41vS2GZ4GMWhYz5puuzr4te9Zkx1UD3otMKr/yb
M/XZqzJKvQ/P/8InAkMXvbJEOzoZBjGnHMDDtddBkwDSuvF801WvXIqqswOn69Smkf9CTI4T+Et2
0RPzqZfXohqxRoGAEJ/ckKn/wokwLOnHsNriOKF8XfZqDhsnauoqOll++MPplnHnSJxwt827HtLu
3NNW4OrfDKitmyFX/3mKL4XceQL+tGy1kC6GpU+UaYZBWOK1snP9InxFX5YWKD28TmwLbF3hqpXS
hoXesTKnfI6ClM5JB1In7y4c/E99Xi3FRpfBTUW0GmgVOQZ8xXOHakoPmz6ArnAFRApp4XIwgpWu
1T4vZHpIl3BbVOkCV83IVpoqBsdbPj60VZ29qBZIwdteXbtStnk9jVZq+EGcNDTp59W8Bo+zyeJG
ARV9nKkUGDOsVa38YOgL98qjK3UV9m2xcdrPK/aXjDcpXCcXfRmdoGT+QM+jonlmbRSj1sWt7HRE
GtPomPbSj2GOTWo3V2USPD/tTwSVo4WsQLoSivdKvav25oW+cxv1h2rM+6AOl2raOEFa6OLDsE64
03Kjd4V9gsgTHQEAD9tyOUc7i4e0aoSfVn7gpWlKX9CPgqmwyws6/U/NkBaw8DF6NCBCtp32zHl1
xrSf9/jsjfYuLhFN25YO6SJW0Qp1NMY1Ojj3OPfI9AQzfLVtm5rUCr4e0lVYjifnIyuDtdpP+dEL
1SYPUOVLLXSTMh0bo0Z+vnWt6XPrQcFE7aN/8/wKfWLD1EWsvBXL3iQVYTDVk4TrUX/qEILZOOta
5Fa1M5ftyuDzWZBEFuFHmRrft734+Qf9siuEA8JekZ9Hp3oNs2shovjWqLx+m2i0L7XI9RfgTl5p
h4E0y3tE3a7zGnDbtlfX4rVX9ExEkviBP6XZbdeWcEDMxMK+ctv4WsQ2Z+EYVLkMNAZn52OYSP9b
nsGP3za6FrGllBNUP9cPVhxdb3MqZad4sDeesXrPs1DLtMwzx+DUyPYaFJwBZMHuLuw25wPpD0mO
3uakTSUnC/pkIOZCAJ0Sgk3Z6pyrGoGnQx5n2yQZfaEFrZ3FCJ0W7flYyZLrMEGbak2SbbcvveGZ
zEy3HbLf57U9B30GN2C4eCt9aoq0mAWDnBo0U8+Lx+y/IPhjgbIYF9Ej0YWN763TzGCuNy0l3UEN
7JOAjpGEQd5Y0V5KH5YgBJZt9zyhhbDrjwuiW0xT47X2vCODKO8bS4Xbcn2hRbFTSNtHJgBbkFSY
1y4SRfcUJaJtVzjdKW0BwTZKEGeBdNx3aWtWe5q3G0vEulEaGswmFD1aWbZKmmMyWMkhd4Zl2/LU
jdJEUro5BHEDPBrIurRDYVbkvdgk7wvP//G+X03whEcIpdQ/RfM6dMcQRE0VbStv6zZphbe2tWpo
Hq1WFI6QxMrcQaDJQlKi90Iv3bY07XPw/XJ4wYeTkGhYO9Zoh3sRR9P1bLrehZV53mT+sMvp1lzN
1FQ+xAgjSPoEjsJMuta/6KMs6sAVxjLelV1uwIZDZz69MG9PpBG2dhr3vuH0ZTIZQYzs6RsfxM0J
O7Dp3fP7xFM/SItk0Sdila3nB0aiMCJYF+eu7lzrrUkyZ+4h2tYfzTyfPz//tJ8uTn+aPy2yGxWy
wa6c/ZXZuDH6bKIKD/hIleEbMPLFG8sFkXnd+p1j3cZGgqEkuEDbv1KVWD/lc+Ene3BzuX9cstIc
34Fakj2KK3FiHrDacadtB7GtHfNtt1DiiwDEIS0gv7Yg1tFw8vrq4/PT8NQn1c75MxfTsmDXBr4Z
iTNX0z8BHTPebhpd9xaTdU5CLpuQlx9/+DJ9mLBz2TYxurOYUOkI7KXnsmvOxcmcWiiMUb6xQGVp
R3tTmKqLcGrE9WB87ebG2zABZrxtVrR9Aay+g/TM6Af5ZN2jJfHBCZsf24bWzvUp6VUhVEZGEg5A
Ucd8uZ6bemPTXbcSc6cxmfuKF1dWd5/Y6V3qthdytifW4U844C975ZK19AKRNDtD+xNIZeYE3EiY
2263P50efxm9Gj2Y/GbJOZtU8pPwDP8NBRg32DbpWohC7+wnpLT8oIwQTCgsuHhxi3zSttG1CJ3R
qXDohvvofLQPfd19XcZo27TobmFseHkHkhkOApesT2eM2snGBGbb8acjpFQch2T3tRFYaNZ9SOKw
+wSP3duWIegQqTTsaGbZPlmlcvuX1OvgZLm5OG6adB0i5XtRiTtlqAKzLZ33a99Wr03KL9sWjA6Q
sl1ZTvBmuOz3FUQnw4/zl32N8uG2jFuHSBWGPYCVZReIXBfsHl4nr1yULy/MzU/nyT+cnDpGKhnp
iCLeBu5q7ot7DyxC/nIdKvE1NpauxlNoeWOjYwUOoviGYtkIOxsA/9GOw8XYz/5iY/zkrvfoo6AV
4MohO6EUYyRXsBAhbxT8G1Rf19a5S7pOyQtv/cQGo4Ot0nx2hnouVADzjLpuZfhtCb1kLrel8qa2
CcyzMRRZ4nHUJXK4oheNfCjcnY2Rqm0CuWiidFpHFURTQt7hR69Arm+rPQFZeZynZup851us8ExO
ggsFlnRXOGu9af8Ca6CNPqKerlIqCf0iUae0wvBoJsiMbQlU+quPRx97DxQw3OiAesJZwilW72Ox
0Z2IVs/j0Wk0I/5QD7y7tdhnLW744J2xDYRBRf3x6J6KBBo/bL+eZ6lvZhL1V3Ydh++3zYyWrA+y
miBZkU5nETRYGyWztV/yw7bBtVy9HmHRFhaZAEqyxa4Z3PfTmf++bXD78bx0rlEhZU1mZ+Ace+UN
Xf1yXgfnw7bRtUAVY2zbKDOS8QqZBUhi1jvUXS7h7s7f7ve9EV7a43ef19FwZD2AgYQG/kn0rfHN
XgfjRQMdaptVB4Lbj59hJNXqolChgjlv8+vaKbvbynHqbRGlY7+yIlzKCiXkIBncr9LKv3hFs2kP
Rmn78YtP0nLqqa9JfFfXexHlPXpgdWZuyjcQ2388uhqttnEzkry6mIwr/JoiCq7CFNvYE0pp4Yog
tOg9oyDNwxT9YJjmLY66l+CmTwAKlO6OOORgjFwrI7c22xwlNzUTsOhenOVIVncKcmFA8mqRfxmu
cSPMy6ODdhfqayWErW2Bp6PCkFbhToxmVDAZvnmkaVMi/YE61abA0zFhxuC2VmisKqD60n6b+mU9
odC0bLpAICn2+OsXswV3XrFspZFfuz5qco07bWt9oqn/ePBlNGy0YanlV7HoDnVo3w3ovG0LOB0B
ZsTuiFo19VH0RhrERefqNLv1JXrRn/Me3CUfv/pauavVhh05fhMhDtMX9jF2t3EsMI17PDj8h8ml
7OTh2Fp0Ga6bCcr0YVXgNLJpzeggsGgal2KUSMJXML734MyKd3GR9XfbRtciujbydlztRgUOyssn
IC5xMCyi3XRDgTb2eHKoxM0Rggo+pnRVcpUmI/pA3VxsXDXaCbziGTz4Lt/VQb03cLsan+d2nS4U
F59aNfoRXDoVQpCw0ytPvZn9MwHUNdNtx4CnhypgGRuYphcgbZ5+At4t3k5DXW9KxJUO/GoFPit1
6rrgu9fkrQe5+Isvqn7T1U3puC9klc2pNmNOR+VDgJ37efyCHyl586YlqYO6zE5wuULXO1Do1EXH
hDtohEhOFb3bNr4WsQIFXA+FOPoZanC+5KjL3dXzGr3dNrp2BPeYeWIAkHBN4VR6b3u5eoPaxbot
XHUzw8qT6DAJ8uXQrppdOnXozY31tjqL0lFdLuoq2E7EXlDZkXX0i8W4RTq+fbNtZrRwbUJfZGks
veCMqD80EIkPSCtZ29a87lc4lmy/3fl8qjH9QJo9RUF5o28zqJvH+5gUyFqkMzfbCc9dDNV8O74u
2q4yNi557XAdoyFbzfp8uKb1x6VuvviF+P78rJ838j9k4zqWKwvnIu+zNQz6Nqk+lV69poGPPr8V
+G28MavVMV3dWuaTkVIrmjLysb7G7Emm07ZGPDJuj2efylwLUNL1gsgUGVctvzQ7NBvTcNx2kOiw
LhTKlqSouE3ggtPsxrgIOn/rVc7RTlg5i3IaFk8FvVRpdlBh5WJXVCuZbXx77ZDFEUvlfatI+1Aw
3TW1iVeZj+bc8+vniWNQR3ZlAniIithxaiOL94PKPtuTkW8rjDj24y/biSGtm5lsG0Hy9tquQey1
ZrqpYKR0PBeyrDlSdhSM+tVAga80XCSW20vGcj+bLH8KLC1mw2lx8yKc/CDJ/Dg6dWle9Ded7c6v
DVVn4Y2y8uo2lnnzMVrGdcCEoEMGMzQK8zPiSn5gDaLvP9T4gH2OpnqoT6FU6OqAn7ufQ8TeAbTn
8/3zH/GJTUBHaRRTaqzIg3BsTPn4wRkNK9thpOm36EDPxufnH/LEStGhZ4gSirFYZ7yLKiiCGAXg
CbSP2hCPlm0P0PJ4p+Zl7YlcdS7R0rYXp/wm+3Eb2lvp8DPVUhqNIuT2ZRO/ahzcbcDXftv25lpS
0C2L4dZdqfAfctYrx0u8T104im33PqntMMritDbBsgQxFD7U3fEQ89D8q0GZbHt9bYehCmLndd2A
hOqr9YsjXeezKsX4Ydvo4vEmkKfeRKMb3KWa1+T7iILpdReiH7VtdG2LCb3IBgAfU+sKM4wJohRI
8K7JEnyutj1Ayw0W22tnv+J0MgpDBolobRSakkvbzFNBpe0yUYNBZTiA50Rfb5/Rn67XblvGpCPQ
fDO3ByTUnSBsagSs2+bGSvDR2TQrOgBNxOUcjaHhBFCUJxoOVnPXOWtzYcmcy3x/2Ht1YFiO/y+2
9pMX2HXpXE+LkA9233a4nDjVVQlPo1qn9/GAaxtKqBtr1UILM3jxSBWujRMoY0IduZBqRkl7mra1
rJQOElsy6SKRmDrUwjOyD2UuzpchtwrzuO2TaHE2N2A8EsWkmdRX9kI02EYa9bbuNeosj6O4kY1E
nA2olTArdxdP1X1rzea2GNNBYvmCLUdXMbiU6Vzv5iGbcaBrPPlx29RoUYaBj6JUAWsg9VT9OlWo
Xzm1PX3dNLqOE1O0USXa3G7QVeLlEJcrjt5dvC2F0mFixcptcEo9N6iWxULYes0D1KfDjaNrqbe7
JHndKukGPkiTXSQFCtd+u+0818FhSS9wN+8tGQxF3hyLPALrJsY32yZdi9Z6ruTSl44bOMvwKhSI
4XU1dgzPD/4TA/OHDUiHgZUNGXfchm6AZHBenWh69je9G6t6Z6918y4cJ1TNnVjW9S6xM+y0lJu0
w+HcAZG7HI0gPIfSrKp3njevL5OlKXEDqQ1MKHArnnbZqNJ4Wx3L1sI+p2JQYI1HgdIFtoZ161n6
c91GkFS2FvYO+H+wX7EbNIiPc+x9zGS38cW1gxVeKnLRDpXVaQ3tAO3MISiwMrjwCX/+/j99Qi3m
XbNsFrmSk41o8Q5HnL2KCDv5qovwLjvbyA2JYb1JTMSUYVQ7UXwzJujt71BmbHAgcaLBPLoWdgMH
Azw19kNeM+H21pv9EUtpZ9qpMpqnY7su83f8+LyDYbtvZgwiBA5LRvHNKwuz3YRK9PT2tWV4lOc9
0w0mP44bZDnxx9qVopUPz6/3c576+1x5egPbGJsyricKimutbGOHAr7y9nJd/bPXqbxb6Gls2ok9
vZkth3SZirhF4zEr0ys3Htqvfm+12xpYnt7NzvAyItuxqS0a7nDtFCFFhXIjkd3Tu9mlqrulMG1O
8ImFus+Q3XyF/h23z+c/wxPJoI4lbBEP9EGGklRVKEEjdhVjXeRsrLvqaEL03UzXT6UT4PNwbxHU
iAojW73t1bWDJDvXdLGScwI3CqNdsUbvfUvdbxv7vGp/gbblXi/wD6DCMiqne1FG7URImmrjm2sH
CbVi2/La1g1MFfev7d5wfpw9fL9se3ftauUkXeqhiconHaX9fcp470MEUOwSReapbU5HFUJDHbDP
Xl0azl5+K7Jp/JLldpsdyzhEjNMCTnsHBFy9KtCHlS8oYpT9J0RZxbzDWbV4n692+QpJ3rrForOY
3hSYeZmHdcFhHIn7RRl7eo4djVpzmF6hNuqs+zEcK1T3faSmD32LbNCF5f9Eg9jztckCXZy4Zcz6
R+zdA4zsRuuPuLJRsQers3jXOMjn4csYsbCPdIbWW2AwFTy1xCq2YWK5WT9earC7okSGULVt03B+
LuOevXDjStMOvDkKV0BithdkokVv28qLwcILNck2FlB+zusvgVKhqQ6il85K10sZVEjEHFPVetty
RR1K6WdjNEus3IIVw+lTIfwSN3Q33diZ17GUS4hKaN+eqxxmGt1PdUuJk/6HuU2lQuloSi8a2n6c
ZocUCTcdTnCqNUXcbJwcbY+qwZYni9u7QRiT9KKQG5VfYvyRLyhoPnEy6HDKxRtoPnc9c19EzbVA
fn3vuX25Kb1QOpiylu2IPVHH5p0vNBVpmd1UzUbypNKxlBYejKRCSnJz7IF3TKuxywUyy89vsOdt
+vfURemgR9WNTYUjlRvIzmxR547LBSN4mM/RTeYM7o/nn/LU/Ouhu6AZ3030cwe7Gd/PYxyLPX4K
8aV+8RMFD1NLVsuCuiF+A07Qtt63tppze4fQhrnsV5iD+yWMnQf0gKvvaMXbCto46dnPH/af9/P/
ih6qN/+aqe6//4t/vq/qpU3wZtX+8b/vqoL//df57/zf/+bx3/jv4KF69a146PT/6NHfYdx/P/fw
rf/26B/wMMQF6e3w0C7vHroh73+Ozxue/8v/1z/8j4efo9wt9cM//7pH5rk/j4ZAbfnXv//o+u9/
/nXuK//nr8P/+8/O7//Pv67bh/xb+bf+Fx6+df0//zKcf/jwk03M2RVCC3CVWW3Tw88/ssx/uBYY
E9MSaJYrcc6Vy6rt43/+5Tj/EMp2hKekReqpzko7XTX8/CPrH9I2Bf9W0Mji7zt//Z9Xe/Rt/udb
/Uc5FG+qpOw7fsqjtU791XOl69uW9DC+dn9L13Em7bpuwbq7se0vrkXJ2a9xF09XxPCcEo+5X2bm
34//9XHaLfhfz+PNHZCtpu+5nnYqYp+wzmXM87oyi6Idtj94kNuRfQWqp7zq3bGn+ooEvSccbNRj
ysep00hcOWV1TVl8uemn+d3s1NlNkg/WwRjs7JiCy7+UBD3eA36+p4OzJ0ZtKKnjMa5twr5frSv+
JjUpS/u1qab4hoo57vRL01woxf/+BSA7+C5P4zKGbL/2JGvoLHPt6nY/cm8Npnl2AztV3nFMVfXV
mxHFe/4TnNPn/9ndzr/Mc50zRtZidVmOzsxP7ByHCLvCUD2jHrmkK749Z0cUjB+XlwPqV7tEGOrC
d//Dj3TPikcSkWHXsfUCck7Hq8tlgtsodJK9kVMhqjskInE4bE6iMn48/xt/1hL0H8kSsQkscA6/
yZ5S1opEnmQNN88yTrDOzcYPMR6OGNaZZfc5tS033rGAjPfCqy1cvdfWfY8HkPM3e2Puc+jWKf5J
OGeVR2DS2H7GxlCne37DOh9QbXfvcmsU9/FUml8bTDlw77RXDJeLymouFN3/NHcsEIEsoXJtqR/Y
GNtZuRPXzR6nZHVbngFMBbbPtwiIVsdysN3j85P3+9JX2MfZuG0LzzOFnrhioo3XR3wWnjCT5oWB
7Thud6l5xErk/w+Hfl6LII4cQRfINfl/vY7tW/msuqKq8VJNz55ffopRUlReSJKt85H6aDWwxVrs
mdKWPmo6errpOMpAO4vHcGvF+6HGgxVFcvV9HoV1zCrcxOAMzYcydtajk4N+GuoKyxc7dC/kXL/F
HkkFS0sSfBKDDb3yHXluawxOUe+NMcQYAZHZPRbwzot8xsurS2aBAZl/ievNKaL/elvYti/4P9w2
HC0h8KZ2bJLWqPZljosxIHqMdhrD3uOkm+3oQkfBaPbqgG1esmHibYC1ruN4vlCISPJqv9wirKUQ
joGw/j6WwtuZVujvsf+zz61t+7Y1Ims/+bbNnbG1XwxjNR9USrVChfhGPr+m/zTxrDGTnVzYliW1
pMsaQoyzQMzssyLpMBqrbos0wROh6+g7R75xs5qqvRC3v8+7VK5rSrZblJF/U410S/JXGkzR3nPy
OlhGu8Hr1HRuSuhjOFpWHcVDgUfHiMP387/2Dwvekfb5NHdYcJapV3/6EA/gKXarPc3GdO8Xbf2i
H6wY6fAo+Tj3bXZYMsifWKbEx8Rt22M0YLA0tHYUPP8mv+0lihfxz+kKmQ7JzzlJ/WUBzKnKirZQ
Fd+5BQxVTjNyNniSpxinXTjX5G/L3JECDx+eIqiC6Je+fEIfp3fwP85KlZ2aPA9R1TeXC5vj709h
FRFO0vJhQf5WPl2sOJbDPJX7xjTbwE6K5N1sNJdaob9Pm8uOxV7l25LUUC+i9jgOKMRjy31dY5AK
yigLYpkteHaU9oUf9HtkcKZg6SgpTkHZ0eGlYdqM8SB4lIFJznCcamlcoXrmHrEOGvf+ShV6n0fd
JWrW78HBgeY7vrRsh71Qpx8kMDy60h6xhvSM7GpxDPFizsPydsTh8bbrbXNXkA7vsMC9EBv/khR+
dBp4HGuk22Q/puc5ehtsdVy6SXmNE6DhdTdhlFblTjX28CZJzDo+ZDjwBdWAJ8quG+bo2hW5+Dy6
lf+iaiIMmU1ZiPSVXNTo7NI1xSkSu5B63NuGm9wYaeQuR3rjJB2Az5YHUTTO52aQRnGNt0v8Mkb3
+2zOYssuqOM2u8m6KBXHdrHKj8Rfj9048pdzgFQlakmRdJyXZdZW3dEre/umFm30Ng39EWaVh//8
XqoYT+XKtqiUYtKcvpuHtX5dd6P5v9k7j+W6kfYM34rLa2MKjdCN3gI4h5miSFGUtEGJCsg54+r9
QPOXLR7JYo1XXngrkgLQ8Qtv+Nx6q0NUIhCN9Fc8Uxc/XXt9P2wuawjtsHU7WODEi4CE3ULhCwON
95okojugsxbPvqjT6dhynyS+7Bo9+Bv2vu65MzbGlyhFRIeIval9Qqn2QwHU4C4fexc/GhAr56o1
nbdbZs7ZAeUt8xz/ddu9TsEXfqzrAX8XfK7a5wiY0aPTabWFZRLrcLbtxfBLGmROuIzuMoaQSs0v
WARZHx1YKsVdayUI1SYrwHDa9TkESRSLsS4qEYyufeQj9zNddqYbTHQiE78TrpgPdYsE6gHkdFtj
ljcnN6pS1mNXNmr1jXSaV7/W+ATi9oQ952FFK7oMVqyybwwLVXB/m/IEz+Qi9nZtz8ZQYeriQIpP
VZStvkbR+HG2gLwEyZIYDS7NqfOxR1EZc5vGXPsAlufkHtZ+6j6VJu1cvMfrnvRl0RmW66qOjhsm
KlglWoLbaEva5rapvJ6RsCpMNTnJZ9OPq81xjj04sPmYDf2Y+hprsOJgNVj/hIaQaRnsymrvsQif
Yu7RLCtD2egx8su5xrBWItqEVV+DP3GnO+NjUekR3+clRt3NrsYNyzmV29dDiYkFgIJseepQv9JB
7el29O3VnD/O08Yq6nS2fFaNqxq8uIb2LkHTUTZ42TYennneFidHx2m32xVfQ4n1SEIykY1LcZaM
EhxBu6tUBdNQ92Mo1zg6l+uGNt64A5SDxm0VojppL+6sQsfpIce/S/tRlKzxYUzS+Sadi/z7ROM0
xql5Kp4K6c53kooydrnTZntg5/L4Fp0NrJwRScJhEL/WsvTdoS3eNKVlP5ozofwBu7/mIiltzIdi
DNj8cpqh3mq5oIw4o6/9PFdTdYu/Y4pleVMJ18eqnYUbd1hgYztbpV/VNIrN1zLpZLgxPw9irj0H
bzqsoQ9ekaxtmCgDrHvvtcvFGCN9yh5d3OqQ4n65gC9KzO8MP2HXMDTuRqV8Ft/xvE3NoLMnYzgM
Y7HqcEOApT64uS3HQLvCuEoGT1Th7ERxGS6VuW1BmaSu9q2pYscnbupcSzefEn8aq7EPDUcuBc5J
hdMGY4w6eViug4lur2ugilcZBQ3IfmjW58x2Z9un8ZzeDYY3IA+Eo9fgpz2+zD5ulPKDZUx552d5
0VVhVVMTVkXbOgEcZ/11FCMvGyWp8a4a8vVtOZNG0PSWcRLMTXneIKR5v+9t50yuVSsDTqnpo+E0
+qnf2FC+oCyDx/ZazWmAHzIA1bUp9TftDclGomjOV2Bu8axKMN/EajShs+IDqaGA0GMc95AO4zT5
eIIDtbZXq7/Oi8FdqRCYhfRX2cm3fTVzMsilyvug65P60Ro2QMIZnhxfXST3Pg3kxfXZPPXucBGx
vUMRm1j/DRTDccZV62IHdOLHe1mlVRPEQ7WMx3nKKssvPDXFwTwv5nSR4BH3JndSp+cAwL89cBWu
2z6W8BzVAqPbM3RusCNbith+subOe9eskTmAPrDGT3pTbXGBqVqbH8RsOB9WuhaAZPLS7Q6lJbbK
j5OxvRnWTqU46vX5t0Ql+oZd2XxKprX+IjML9zicsq2R01/NRVjgdnm1TLOxXpGRJW9wTyzygykr
8Gccz+7XzTW6LEiNxvoERDiJg6TXYFuG1h79qYrXKhCGMG/E6OHFk5DK58dJur0dqNVZvO9M51zd
o6jrijByJMIueemsGKkOsfU1ixDC9DvWTYiGrXrsDaP4tCXK3MLEEEseLMU8mpcwZ5whKIZE46Bc
ZvMH8sA84jbZ3DcbRoH2bnNa1ufRhCKrn5orrvD8aw9AT3fLdZN7cxmIJnK/TJ7OikO0shn8vJWR
FaaNNXkBHEGy9HIqY3XhlXXncqEZeewv5mpctFO9AtFql036rah3i8LGsBIfu4zqOoMaZx4olaUF
L5Q4HOxqSza/B4qBdggOzG9QlYvWsO3SwvD1GkWPKzWYPliqFoU8z7WLJy4w7Nzk7DaHhnJIEmRN
tD3DwEQLlxW6PpSjiVjNUnZc5auYmvi4yZrWWlubThyOaM10/FTWgz+VeWvTMi5lG66VSi/KqJfY
5JW5evbwIbe5D+Ym9yNn5ogXqGtsPnNrXdcysbqgL/ZPoD7SvQeKhbBqWig0GukkgvXSxsqmjKfB
84e+3j7YEqyJbzsFxGVnVfb3copKDO0SDMeppeD87Y9GUX00pWVkeMXX3hdMMpPkeptV82kSY1ty
OK7OvbPxCRiV29k1cRb+dlY0iS+qVeY3aVR2qLA2wpu2n6LvMR6Hys8Zqvwou62+68iqE9+x7cYN
sWCOrlNvtL/a24xfbbXVnxDqdd9EyaLx1aMhdlfkhnVj1EvWce1ByZXGcuelRkJJI42Aa6QLyAsO
mPxYZh2XjGknx1zF9UWKeY1PMxKr7NauJjCgtTF+q5sUKCsQnXdG7cxXlkLXknpp3yWHCr71x5lW
vhvgYziGZWS78saxK6c/zzZ3fpo3QdbJwJk39aKsNcA4eXyaCJg+L6PuxUXSbvm7qK4szlVsAtNg
Nov1EDnF0F63rso+4EZN5UK3VX+02nxiDKu8QJh+Iub1xzhlY+EIigV3o5o4QH/Q2kJv/52AC3j9
Ho1lSYCEVaYIUM1ErWDIJvGw1WsE6bNct6cW75467Bd3vUXXVEu/y/GEDUaWkKbwumisi525qn00
odW7FhntysfwT7qprxK3ToJexL0+ZlU0LCH1sejzaNnd137u83dSC7PxCzFajW9mdf9YJnuRJ+o7
9wOLVr0DK4KfxVjEytelWoxQLF5ZhYSGrQ4dPKOU32Lf3iKC5w3CN612SI5RBgf9kIkidn3UQNLk
0sQA/AIj6iU9Qz8cErNVWNYHY1VciDjZNtAojA2o84rb57WVmDjRKze3nikWNHipm12qD6kus+fW
W3o39LrVJp6SrqAAXLbplbOaS3HoikLfm2Mr9bnTW3XsW6bbPwwRfxhoncyPAhO089GckK3snaz8
uNaudU/2o782pbm+Ewoabzhlqbn4lZnmhGIN9swkImb0MSqmyfG5CIrWtwvDis9THIfe9mltIkWn
UNDipkrsN23SOyKIPLwofXOOOd+9KZ4fUZgbYdglKzHbkI0tL0cg0Aa1q407dMMJ12RrVRdTjcmq
bxtG/hVVAoI/dA6at+hZWIp5sqZLbOVX01fjhAcREQFMo0Vle8hWIjN3yG3H02Glm+0ON56uIDpQ
zVe42AlpiLAinLXTflv9Jp7EhYeiyrmsi/5swZAdc+q1ypEmW+V5TTmCmRnH6W7ZJfn9aOqxn62X
3slD0+rXN3jZT1OwWhRn3kI1szc/2pIZc2aMQ76B/aHHkhid8kEZSVy145YKOrhb2vepM+d96OI+
Pp/X+YxNNmCA5SCLgraDGtvxI52x1Q7MyWRMIw7Tb60XqxDmLJSeJsu3KvRUmRoHCOupPMppTBT2
8xH9CkTe1y4YLAyu/bWL6s8TwRBqe1FOmowbVZkHVSfmLii6RN1kbZ/bRzUtC+eATF2/U+ayBobo
lpyS816OM1bTfOukGOZif0y7N9g8LJrxZkX/I5zbdrhR9golJNYd12jeT35uc98TofPbftS5c0Q1
zZ6+SRCXGSmQKyoi45IpXLqtO19qrJ7CpLNRi3cnJUx/ktPyLvPK+drr6tz2F+L+i1w0a+5PJM0X
bTWx4CI8Te/HaZkv8QQSTxN6/GQLbE2bSL9dPkVYaGPk6ZntcWuJB2kkNNaxd9uhI5njqj40+D2/
jZShItAXuXq3SmlMCEl7ArFq3Imjg6Ct0gduyZkTIDdNhdLMpuUepyROti11xF1cb+63AfXgO9lG
8PRwqC2/a3vov+RJ7C23GaaXH90qG3fr+SymwBWlQxfUcFrLt2Nf2h9GKPkq8DB+NXxPi6EK0k4L
AioTs9owrs0xPyTcuUlY2ZnZhlHfbE89UJTlyuoW+lJ9tti3AknXIjBtSuNBoYz2fOtWMruFZS8x
7FZOdOiJeQX3W1ke8Z21MPvdXbLxtl+798ZqQbBg8sWbohNrTg2sm8Ji7LMtbMzevaT1J50A4W0M
97ZddBvwRS3CpJYzUSXauMQmoq7e5W4ivbAclvxLWwh9s2TVcD009Tz5bdvJLaDEWXycoRm8nePI
+Jah24hjtOFG+aU95bMK5nKysFsncr3Z4v1MwRFsFgfiJG35PeI2hU8CCp4BENZHraqiPzfXKr0Y
7H75qvVqr2fe2o0SY1ojjcOtEZQXtO3Gz85om0wYPu+BJDqyg6WFbBZMhZhztJ83BrQFfUja3JpZ
4ORD1Qa8U2wfuRG1GVJERCtm0C7uxojgIbfvOvnnjV3shityQdeFETPaSTKlt5YzOd+zbnW+9anV
XXmpUtM5wRvZ3DLr9L2Fwfmjha09zshRGUVBk1TZm5VgQWMni8lyUAFTvOgwUJe+zKTzvc37bAwB
IC3xx7VysSr3LGE54dR35iV1CjggXQ0nzB8F7rMUcLL1om6X3CF9lKZ7nDIMjoIajFZxxs1aYNE9
51NN1uil3iFXnXG1OClO96RDGWdPikmIb3hcl4RwzRegQVkbunU83+Z2vn1ahmG47tPV+NTilP2p
oMrsBc5SW9zqq67sS3wUoZlrbs4hwNkCRkaejSsm4cXafO6qIVL7/l+toBnquAhGeJberQNU76FK
M7UeJm9uKDmUnfl1WDzsnga9p8y1nUT3Rd/XcVCIQo1+3ons0R1m50PPJl4uSjjL39YUu97W8aw4
0IWTZGRTsWxYfMId/NqNPGoxLRmIX1Ciuco5hPnnvPYebdNFESR1HFGHdj1ypCTsgnw3SylYm846
5RezPXnXGolgRhxwxAUsGYllgZO0hKTVaD8rmdHCsPC0ry4UlWAEcpsuu+xxdod4jx1271d1oWhp
R4upwmrQQh/VTPnN77OM5k6hZRngHT+WYVea7S2NsMSgtVeuLoJ6W/8+Un33pk1tCtVmjsYQ1SBZ
OceypVqDRKjVfcWYlKNzI9jLfESJxrfAFI0klHGef6D7Q2aazoO2Lzo2M3dMjVrJwRzBcl9ilU0o
6Tsd+aXv9gJtp5XLZg75qTe8mbPafU4FLRu/GVaDy7AasycrGSpNUx7Bz1CWUYE5dbwaNUvSqPMz
QdHvOx0073ojtO99tnX5zBW3XPcCenO4lycRODVnN2HdZzi20/1yD7Hpyip0hrrEIBixEbx6pRPd
tV1BZBNnltdeUkvJrkgo1t43sJ8fg7aHeXJtIK5vB+tETQH8edMPAQyylPB+mbTIHxa+rTrOo+EE
YlK93w22JDmyvdEJYhSF5oNcremZ+3ccjlpZyc2S4+Z9UdaZqi6yunCJgJSs3UMS74sywzrmTYFD
34f/wHRLmCjKMLlUFO+aqd3uZy8ebv+jivJ1k/gBB05RWUVocmmfdwU1kuOfWxq/FMwVhWOQb3vp
WFrWKa9etl0fbXPd0jWHxDVTY7k2DHsMQWfmty02ZBjGy/6V5sYJjvFH196zPTBxdLQldix7k/in
RorTlvMYlVmLb9dQLDvjZ/bnrOjOOqfNDqZRRBfCatNjQVk4TKvFOna9Xl/pov3SluDT6VyatLMc
WgbSfvkShouLuR2jnbQht32ZtqOgTm27twWa9v8Iyf/39xIXu1pQrKfdctI4sjDSxdGeI86hqHfl
5Entt8nYvNIM+KWbs3+QBgFjqx19cUp27d2kF60iyLdjsR2KoTYeqjr/ZzynH11uS2pSCQeoIHn/
Pqw/zV036qxq2KnBNE0pvJXIaoh6svwfd41Q7GFehLKVIy3vlCJdJUVkz8mAdSK/dN7uH1Lj2BWU
w/qar/RvNgHRiu3S2XRpu53q7GI+RMGj3dvXpowvtw2NQCMusiuhSsqq26BR5un+BSx7gSv7GTz0
S8+Ixo1NnVrQS6b15px0k+1yThrBPUChm/xtnIjNZ7zfzjq3em4jsYY9ndYgytVrxp0/IA+nLSPA
EAqvEK594AovZ9A0or2iyO6zJ2sWflzMReLTVR0uBjioezKmzo3FokQms8bvAJxe1TRozKDdvAbp
ivg1ubETKvmP/YEYji3Yhq6CS7OP1U9ryu1LWjeoMqBunDf3eb9gOD1RU8MI7ts4zbjMG3Yf9Bvk
js0YpovJ6Ypz7fRLkCd7AjelzbEy1HdsC5qrVTcRXZ6ooH5gV/KVA/OXTeaxvfbNpSwQbdapSIvA
CzPC5RjDL2tZ3hU8MVxtMz//87H8u6fAxGaLea42aSueDEi09I1syjpwSsu7qWr1YcmM5u3/4iFK
7F8BaMtSJwfgNLKxzHF327Fz53zGWO9u2mrvlZas+OWcZcRQQAL3Jx088E4X+mgv3VRWEU60anRu
7Xmi3soJc02Ibfg9nQBf6M48ShTT346mlQVbP0ITs9zMCpMsq85L10qvvH4xHmt38j7/eRB+CBe/
2A28ntauZbEdHdM6Fcmy8LO1InKhoCnd7wgxth9HiGxy3uorWxOJFf1aBxvi+ZmvZjXeIN9WHYQC
9C9jELW1s1A1Fdn89Of3+uV4+PFaQC5ASgH4OQW+dnrEG0phLFc2ojzGdUpRaxJxqEuZX27t9A29
6/IoVv31z8/9zWwhxbefDK5NmfNU6Y4EBPNUFByCXBJ6TpFH7Ag835/N8rUT/tcwgBUhYB6BTDQd
hwbay1VOcXcythbKeJuX9FabwgzLYrVhRNJEHtYc5fc41bd1X6lbV2+lX+jNeGU/n/BDOHt4CWA9
GsU8rk2ioZcvUWicGAhOqwAeShSAwLQOBVAfX5l9R1a7ZhdiXfQlJZ3lc2MM1idbL9+7QQogP1SM
WstI3uReXx2StlV34E+3xbfKVj4kKyWsuOkMEc5irkSwmI4+IsiGFIdszdfAqL9ZMC7YV1cjUQdo
5HTiqKWuZiNGsBzCGb+5cerdR4TOB3dwq/tNRcaToL9ys9jkNn9eMvs0newgV4k9IgAM6dqn+JzE
MQeEpMsqKHny8+xF5pkJCPYe4I553676ta3xm8NRAsMCSOKCIQQM9nLGKhqvlplYZYCSh7gH1za+
WfGKeOWrfrMRsMmwbMICD4DM6bkApiPNBHIyQcXEPpiV3XJixekbL2/EK+HhDy7SyQhyn9hMHuhB
QNUna3AZXIcTpiuDbhBJsNu3k4Os45WYDNpXQ0y/bjYFBX1cQnBZbc66uXwv0uiaUCW6sqb2lcPn
1xFWgiOH6OBH5HXqjdQUbZyPU1kGjiEyCAQAuxqgHq9svV/XDSgdgCsEkRwDAIRezqO24hVlS7zb
0XtJn6qOVG7q9HxeAdm9rSuKJn9ep7/OKM9zAVUBPwWE/kPT+qcowzFyE3wXz3OsKj32Dj0IqvDR
MakRUPhfPEppQOGOhSXhKXEkpRxatEtTBGocuwt3RyRtubdcuNhbvPKo38zVDkoDWr/DIoHHnYxi
TjdLFayYqUjro4uE9lkyCeOVp/x2rjSWvmAuJQH5yVx5IjHzZeaDIpqLTJPbXVXUgoJhcWjNyXx6
JQD67Vz99Lz95z/NlVpaM/W6lq/qxu2hld7kgyzPjslSvgbb/d2jbO46LlrbFepUQA2Xj2g2BJ/G
We35jqNE0A9Fd2WMsfNKhva7R3HRueSduD2LU+vT2JqbRUw0s7JmcC6mIY98eynFbW0ORvjnFXji
bbLfa+DhSSuQDaOk5JzSumAy0jUewBNUwhLPraxBxjqZd9dIy86Odd3JYCyd8TG3Nlrcfbce93D/
TiZtFGRu05Z+1UZeOAA2py8yNG0Is+I1ydtfF+/+kiwqAYhNu6cOTuZA3NiMHLJyyZtwQSD8GFNe
fuWg+XXYPYtAWlpaE1TLU5Y4BXvA2pMqAgsMxlkSlcUFmiBb6OTuazS3X1JJD+aLRbzLPbznrSd3
U41kUAEVoaA3u1V5SDtFvV88Wo+rGHDQNQu8g4PJW1+LYn/ziQ79Oe5FD1quqU+eG2lwRw7BdDCt
s4z8Ko57avtiOF+s/EqBCbpn8vtLlvp2a03OdIVUUo2tRBSFVK1NylJ1VX81aaq8Ey0qIH9ejL++
HcBnSZxlUpyg0nzydrEelsYcABx0ljc+GGZc38AOB5YQG6/B438NgzRJGesJzD8TcKqoi5ISLcE6
J41V3QRUzy6P7dC/5dLtbi0r9/yJ9vUSzqbz2o77dS1rEgnWs+CUNKkrvTyysoY2TduAUK5bp3/0
Znu997pNviYasteKXsYKRHe24BhRrDRxSj5p3MitvXwB+0699XJbSvBsI2VPgGbo8gBco404zd58
YVCm9XVBj/zPk/mb76QuQ7jsKNckC95//tPRnPeb0FYpsoBYWh90PWaHPFnihz8/5TdLhnByV20m
pEQufP/5T0/hoOwAJQwZdW97uh/W6S2EiPKDW3Df/PlJv/seDRtFQOThpj51u14R5MTXagLvYero
GDXl9KxM3bz781N+k2cCGIe3AGyfeo91qk07Fp5IR+wrgw6UewHgxVtCtUZZiIxefJB9sYbKthNq
FpEMFzl/GVwUfvEqK45UZIANZusA3mJ4zYfxd+uJFbUnYJ6zJw8vBzoXMz0KmndBu7TudQ9iKqhy
Ohpbv9BaY0eTisuoOjayaANXt23454H5ZfgZEhYMp7JUNpNwcjZwOHbR6NqRn2VT/pgYOr9RffSa
VPKvw09oTXxEFWLnbhBwnnymMRc9F3ISmKAYVqDYSXKWzREYvaqgqi/z3DvXmQdIRgBPO5TJ9hka
63SWg8Q7GOk4HDqjUI8J/Ze/B+AfMUxv0i/Anuvvwyl/9AXl9E3zrXoYum/fhpvPzelv/h9kmu6+
dP8z09Qnb08//xtk0387/9Zt3+IaHRnuvb9JrDtTdf/7v4mnQkMu1YJ7lQANfMS+Sf/mnQr3L2V5
HIUsHsJSsrX/op067l8E3y6tVgvOKtEdc/4v2qlj/QVBi2KP0CR3FmyOf0I7ZSWxev77UN7DF0ig
/Ifg83euyqkO7DJWjYtYOZ3gqes3IFlOZADGKLwb6JCF4+uq6T8OqDpTwHRj5frcDKMMSnTZa39Y
hjk7ZmT1hCT9OH+Oh1k89omasjBat8oN6rLrssMCCi0+DJMr4sMCorXyXaS0vQt25jxSMF30Ei59
OW3+Qu2mu3XNpYpC3a/md5O6ZcGfymg5jFNBvVfmRvHecPuKvp204g0AbaZA7DjavlQWzB4QRJZ+
rw0nfUL5Ir+mIqUF2gye+zDDxuHzXM4Kv+YGugBfMc6HCE8C/iG2xLlIJwxj20qbl97qzd3NoHHU
OyuBmV1500zhbwJYfIjV2F2lTqEfzFIL5KCiIoR5yX9rV950S5Mou01Xm4NnzKampEVJUgrQZmsx
RTWtA2+ffwDJ0iHfURuG38oVKXqgSG7km9uacoC1oqI1bWftfWfMw/c+qcroqnAY97DNsTqgoJbq
NLRn2uKHduq1fb7BmI+u8y5Pgey4JtCO1iwgOUnApL6iN/hp5nKefJDV+g1EUxqR7TADWU6mIr4x
sl5+MqAJzf6oqulLnZvqC8BgkFFg9NqrwdWUt6MOYkEcZZ72bQ+1BbK3KHlUBkRhf1bVAoDHzPPb
0iuH297qTcO3vAngs0qA8gaJNwCSwP3GupZ5E32yujFafWzCrfdWZ5gXOZAy1xdrgRwFtd8uYPDH
gRS0GqUvSid9nEBttj77onnMVBk/V4mcwYaDifP8tiy3p9LrBHo1cVMahx0Yuz/aNFua4FU+gTEz
3bttSksRwq+UVogjqFqOsdNZ0ZWUo1X4cBg6dfAiKa6ydV1jv+lSQEMNlDnhpzIZHqaNoAwM6mgB
cdbZRdHB+bho1nZ8LrJyvlVyy593dOPtIsFdgXaNBUhMsHD+6MroYYCFJYH09r3wJ4eK7N74tctL
yxhn64DmBLjUss3Km6EyzMd+UIPDcm3mT30M1Za2X99tgVOVqwCn1CcPBoE9oP909b6kuMY/4US/
wuMcs+WtVUfibqSAB54/w9cw5EIr5qPkj8+qhKZFWCqAiGi/RNI+mFFmb5dLLMV7t0WOgrZyP7zz
rMiZgg4s8RJ2IF2BAZRJ0vng+lCNcc0KzFfcGnF9p+FN05GmYvLVLLIa9I02trs819VTigLCFx2V
3bcKJomA/lkycGu+w8HnD+Cl5g+4ieT3tM4At0y9WS1BT1dkPqunHKwx3BrqghNhpR8p0Tu+cJe4
9BdgbOXRLrwOTmNlDhPouah6O8vVQbMj3sxADUAp7bF5Mvph+5L0CvzhaKYdxARAkTBKmsoIS3ea
yK9A5fkDAcfl0OMCGXpt5XwFf+l8xFq+SQ7WGomR9TwrN3DsToMdLyMn0MmwPnaZWBPEWXJQ8lRx
VuforTAWwt4Q1XOxluI5poGfg3gCnH5YnBEPtSGCYHJournyrtxIi/fd2G4zHqgyBa2gdPK+tOWS
0hLKYzcEOCuvVT3i1DdbrYGY/JbPwHw9owKy0jZr4JpWc2XoDVY5m0ClAWIuRXIwPLE8AUQHd63d
1KQmR4F385t5gYCZ1cnqgpKyFzcw6NWoINvMobwt4676gnwASNx1nse3oHrLNMi3Xt6DvDW/9Utu
m7uimMhC6dncBtuALYWPis/mhmmvIVUpRmMJVBNlRpCk2JCAftgEtKMmq9cdrOBypsfSINtZujlI
XVYXEkWx9V5oXSgA+rjOnVd27D0YRd5pv5RN4R4NzzRvWVilDmQ3ZM1bHPpkFqq+h9ku4hj2RjUR
qbbA8LKHraGkddmtm2E8Sm3w6wkXlg7Ajw3iQLw7eFexduMmnBuhjcPIpf1Jz8rufTGnO/ZGqUEd
jdGwbk2Zb/d1zZyG2khGFVhKLs9jVRVPEu+q8byGpn0VYUA0+FXaj18GyDJv4JDI9goZB7x9Jv0G
fl81EZQlJTyJPo/BII5J8opy5ctscr/XHQ9uMxgF7dKIPlWwxKvP5SSnQ6GHrL8rwWxdcG8jaaeG
+GBllRsWk66u1mxSf2cl/x8V/vue+fzPUSHQQjRoXoSB+x/8HQZa3l8UN3BDgl+/w0Z2QY6/w0BL
/KX2HiMFUKZqByf8VxjoEjtS/CG3odFEKWxX6fhXGOiqv1yTxIAgcK8NgTv7J2HgSY5BBYsaPptG
E3NSUKL8+zLH2KzGwmwgE2FFH/NKbf2HJpb9mQGQ+nrYVn25C3Jd7VWEM1ps6szuVjB+CtpRA7RO
ac6faLysqjh7/GkI7/4ORH/GGrys3v54MY/GKy9G0ZFa8cmLKU6ObC4cM6Qm3V5Vw4hPAbwaXpTk
K3ANqDx/fuDLpG5/IHmuotSuXEjq6lSZ2zHnLqWLbwFmi8bA7LzusrON4f2fn3KyOzHwcsmjKae6
VPN/hVA4YIhi9Nm8MLVH83qJNnvwizY1UwI+67GyrPgxHlvrrlnn5JV6+EnLhmSC5ihqMzsDn2AP
GZCXcx15NoVwtcQHe5P5p7isi8ueixwmwwJeqivsCuNjOUPCy0rf6L0KymkyWniAmPKWjFO+GYhx
P/55QE567X+/FWVUmnD0jKm32S/fSjVOrO0ojsJosY2jy9ScQwDqOUaNChg7puH32TK/AezUXzWr
4h6FA34u5WQ+EdexAIV+CzoVAHFnK3CJr7weO+3nNOnHoNF8oUTKTqHsvP/8p6KOh6PCxoUYhUus
veOQazs0M6f7vHAdn6s1FxCLjJqbmk7XmaDYEejOTc6iRdZXTR8Pr8h6nW4L5nDvIGr0ggDiUkt7
+Tpyk8D1d+KLC4IcfgCcF8KIxDuoxjQ+JK5e/1mj78f80CrlEMJ8kUv3dF9w5RcoNbTpQbd1cQR4
ptCzqjvzoevWOUiqFAEHArnvLVPgA64cbtfGzQ9QoptLI0oM+J7ID/55Vl6WrH+8E0t5L5q6nAw0
IV+OwtKDc7cKmR4iJdXbbiBFhKI0hU4cLfTipj5QXalfGfrTA8IWu/Sr5XIq7SIwp+gua2zsUUdp
dqhVFJ95dj+dbYiVvDLev3mKs597go4LvbhT3aMK1J1OQXcdlrzfMUFDJoNitMv7fziC0P73IgQR
gt7Fj/YR/mlZVynHRJ5lMswldri1lTgXFfgjYp5xiM62MZVnmVHKuz8/9Yff1E9FB+oZ/8neuTTH
ia1d+q909JwKYHOdApmp1N22LMueEJZscb9vYMOv7wfXOf05JZcUNetBx4k4g3KVSWCzL++71rNo
GIPaYt1Cwknn+PSy0qp9mzaZFTXVqsVnWmprzxYxRvW+Wbp0X80GxidOz7YezVq/9Lu4Jp4tJCnM
nEPP0/om0lgbOc35vfxUgGhOD41AVr957+1wsE2O85xX2o89HvMucK1VfcxzO7ncarY3+ZwbHzp6
m/aulYhYgm6Jh8tkFYYK89FeygCbEFRKgl/UYeRmDoOem801j9G2g2lK1U7Wot1Db5kwYisTJ0/i
D9ANndSQ92mrnGsQsnO9J7azOWec5PgbXZ9kv8KCXxUWWdHMASz/8tOAs1kPPHLuOIrOYzsdSZ93
6g8Kw+dZy+HROwhjsbed91R+k7aNYcMXS3mvfDOLQ1LTtQkdcWrgFdElbimhze4jjvm+jwguyak5
dMeh9eNPcxZ396WVoy+u+vo9BuOrb/HXK93IH1upi8np9JWWeCjQM5h25JqVFjVZGR9ggzg7p0Pe
LdZyuk5Lr969PZC2D/zVOALNYVIFhpD3sgk3x3EyigQ3YiV6Z7ealb8jWbKNTK1+L8noD/fHngAO
iDD4H/KC0/sbhqRg6+RzKb6KC2NB9xWnaRG2orXOGefLHl/Ne9nGf7qoQc1QN5nrHSR1pxctEwIZ
1IpA1Wh8eVUsCnelW0aWEWM2dNmfOLJ/L2vgD8+UpqvFRpCdIBLPF5NqYyHCxyjKjWaZtUf6iEM8
8+o9Yc7u2duv79UqRr8JGQXF660rxEbo9PaG3ALTNTZ2NDiqili1+qNeZ9mOguJ6ZVSVeud6L9Sa
LBgGCjBkGyzhFvvql8lIpWt3zQhFgrQx+A0U9vxnj7LMY5au2R3p4+YDDJFxPuhNbwDD6FG1a+lQ
fLH9lPlXL2zhhmvrNQdnM5VEfGT6bZdAtIiQZCzHocau/3eN/R/Ftn94HeRKOBtCiD4/VpfTZxTj
AJ812eCfoCZ5OY4bX6KN9dBph/fgTH+6FJtS7FcGLXgU7qeXQhU9YG/FgWek2PdmjEXHXNM8HBnG
e2/iDwObxtj22W5iXtSLp5daUnPw8il3I5AD8SUmtAEa8Ub894bMoTyJhFlY4t9JM369frBbcOgQ
pjqbOvX0qo3vZ6BBVjca3aKm9WdltHWHzb2rzMO/HdocI9B/05jaiv8v045TBboZ1IiDnc2zotyK
5a5bx/5g5UgFybgq/1Vi1nZr9KKQ3WJLAO5HPvDprcUpMWvYaZyocTp7P2iLvPRZZt8ZjK8/WP5m
pN9ciSkehdXpVboMxwfiZco7zuLjn8zGg6jS8Vo4PsrAovPeuR5/JX/j6QzPBEPhXGzvi27HizFZ
Fj41Z7PWI5CUpA/mmaoluhBrQo+IJZqc4c0qhcAjbc8H1a1JMM4SE348GMsUUCTOYV14fr8bgO2V
dCcdgKkZrAi8bCIuwhmTS9gMir3E1Elx5lPEumPr3pH7Ra78UxY3yyHNxPw8EJVwk2CeN/cUflm+
S5HO476ZWWBBi9hJsnOLLrvG/dZ/U7nO3kVzLYCgbe8nQW0P5dcuhyoZWHpCIGGu9+PPtNmgdzAG
MJLPwpwf44Y9WOhTzJacq/PugpOa/mQRdKVCXn31eRjH7nPB234u0iG+htCGd3Ca1rigMSOpcmed
Vldh0blVysdkWHlAM6V5tBtLxue+WxK1mGNzvbW1zIVbhBs33hPCSGFyAeJ/bWm9KoNcG11MlMVa
cgKUmXshRtxjga8S9dOUHR7mNHGq704ru2qnsLrfcWKYvmAzWxLgA7ORXI6lUAkMhkU9xlPvQF9p
PQvzCJVxiy4/xHKYO3W7l6vgMIejrir3RdYNK/hsTF2HTLk2+yclpAj4UUxIqi+rp3UZtI8Y4vM8
arp4Y99sDKAAe6lj7RHO80/YF9pPm5X02TGnmfsqsmTc99mcfCyXMm5Ds5vbG3wt7T37NymBn2Y2
na+JZIlgqDpzpY+gDUkwF5qA2d9AH4IABeWGgusgaQBJAgIDR9S6e1muKh6Po+PJz2WDySuErlNP
geiW+lyaeFmDYvX8jz4EOp+sQme+oKFV14AArHQJW9/HdednFC6DDOP+BW9QGSFb0LkJFmyUsFcS
jQQL3i3/IojMbA3zWIzXo4d1G0pE797leq21UdYUnncFzq05anad/jAb0y8OOT354yqphu+KvKuP
maixe05CTz5MzmrecSG9DGknNPezqtePjGtaT3HaTj+7hr7ZoWgUv9asWOQC24u7G4f2z3u+jtNG
/q/Ji+IO6gKPEgJVy+3PfzuFALEySoClZtSlsMi72mki1mHzanS0ecfeowqEPs+RG8899Yn3pG2v
CyLs6KDIgSEDScn59kWDvYac1ZlVY0Y0AtKaLtPaRX254RsWLEmVtNv9aEG3HgBkRO3Q+ze+1bg3
Ji888uxxvmwNbXnnaPt6Ld4MZpxt2aqwHbNfLFVSowunVYYTdTTPAoyaxa3mAS7qUr/88PZS9ar4
x9qxqTq4+c3l5b7cYvhFI0bLlQKrrTMfVTMt0YKo6nITU14sjhq+A16t4SVMNF16/PicQppwAXHC
5xynKEUXJirMBfu3f9jrYYFaB307Z2CMbq8UaVkJ78XIazfS+0Ze6uPszwEacG3feC3TY1FzFsti
I8zwYIeYa+bd29d/YTfaxiXUP7w96Ow3KN/L5W7NWz2z09kBJzIl123G1E9VsD3WsMXoyTjjfhWs
Mo5WuLduJt1juWJ2hx2RDd+0dq0e3v49aDpfrobUj+FUo14SxuY9eLFhhlegYAyIhL3ENJ5babna
+8LhlBh0IoZfBdUgMw890t3rBKxVEZotAwlig45TmdH8Y1oooUITrN2jKuh+hRVBOHxeq23pu65n
pxluzfH2yAmaWa/2Y3WetJ5PDhImmzZsE2HfF6Oun5lOAba4NrqJrsxg9GdmnibYbeOmbIIR/fkU
xCbTZTgvtvMltZOaDTR5VxAhClPEfFZjdk1DNMWqYRq03Sqv0Acai5rz1NaK6UZW3ayOwil7J6AT
PH9urE5gjtdaLQtba06OBu/hQbQC77WYgblFfVd5C/8yqKynLmmsclcto+6dl4QBs8JlNMJwXrkK
l4i1F5lr3tiiHT4767zKvbGK7mZkBhZhjEki2Vv5gpMrU05/N7hUFugMIXk9m8nTWSNp61fQi5z6
FngtVD6lXGGETaqX992YCCB0UEkPSB2of6XtMNRRh81cBFtOURKqZUPViLGTt6qR9o+88WrtwApZ
Vj+radHlXbYyPj+vfmqbZ93SpNVGQYb+K+Avjecs4cNxBQRyvdmtpsvOzX0rLES8ghQtCdI65rPs
+sOSyiLbu3AOjA9ICMe9BgG2gzDq6XGg0ClD2xvbDs94OaQ3Gz/Mwe+cz3d6orDaOyn9B95mshGO
xl7DPp61RgcjINZxtgp9eErjeP7Akp08gYiyMsA/mf3I9tcBUAF40cRmpLUPqJdZMmtoD185XqIf
KfM+Rg0AUSY+esucgZgc5onS3ZZHZ/syy4OsGDRrN3epvBsG+tWBUAtJaUtDy3SuK/eu6WYXXG9f
qn2bgQwKG1eMI+yiuCh2UlOjvl9rhunWZGtFkCKkvcmXzDPDws6rBVqIJF6sNuVwz/5h0AMt9xMv
aAjtWaKVr8/Y90C6P0vA2NUunmebjZ42tT/nxW/Ss9ZCOhJihMaPnTlFWQKy7nECd+QnXuZr75cB
pizPxES/XcddtOGsVlY6BnazIOSyrME5tLGElShX/MsRg1C1l2qIdRjZNQOQtoj26BAV5wa1Xw1u
1K8IZc8abLgPia3mM63yPeLWY1/pkWvAx1zrxfk6ynHRgMbFG8uioLcQLcTLwfNSEJ+286uG133R
l44hVatvs0ZdMRKqVA+rRgcXxgkjLUBw2By6Xm17nMR70BqNRjSQAL+OaJ/CIpzaQf88AheDpMig
Olerlf+03UH7kAygd4K2zKZH+N69Hs5uqX8tOl+7w7MGL439pfahkgLMXUbV5hOfeiyj2ZnKr0Xu
OQ+T6Y93tpEXzzOYlKs+aelCa0MLG6yyhvWz6bfJYyldV6OTv4mw80JaIG17wl4CvrOx2sFCa8pd
2RkI4yjIdbSbPVv2pLop8FpxvCBlml0FY3zrO+1MC2RAZMYbf1IQ4XhTsr2mgwzdpUInkYlvU5UW
blgW3XKODggE4Whjzj9qWjfVuxHQE40pfAVPg7KTeTcXslAXLkiSab9yxryNVTc/qKp2LESJtfe5
GBN4I11niMgsJ5Wzsq/JlTEhwAiMwjWWsCtnr4zaeTDx7xeV253D3Rf2GQsLSse5maEI4T/Rs2M7
up0Go7HKrqu672bMOBtaQXgoN3c9kTtVVBtO/KFtm+Yeci7q2swHebEzzWn4ITSN+cxLcu0GJ1aR
UOGvxymUPFhAA30OuURThX4/S82HUclX2R/8lXpnmJlWeq/HpsD0s4JYCBvVLocm05sOmXJBNyvx
EDTfuJasnchDS70cVt9PnsXSFc7Z3IzaF95039EmEKDou5SQlcBOSoi3OEGyjYRj+A/A8GUAaTIn
YsDLKRKUMHHTnV+MzucprlmzkrEpf2TGqsPc0dzii9ST7kOHXTiN8JXVl92SAUIB9GbZwGQtFYfg
D9MsQhWj9btZ1HTie69Rj4ljNlNgsoN+iI1ufexTLZ7O0qZmFZWTKOqIlzleKnhttJywOesBZvXF
3cW0HWa3h3jlyW2fNjaj8VD1aJrP0lo4CTAliG1RHmezBXdfiykIV/QS/m7u/f/e+/+mMf7bbmnL
FjkJ//j0vf5fV9/7rG5OZJjbf/QfHSa6SZTSG5UabrTjbQXc/+gwzb8s3cJBz94KowU13P/bgLfE
lhrCmcDD4mZRfqDg8V8dpvgLPS6FWToZJoV/y/o3DfhfaQ+/1Tm2tj9WXrb8bPW3ZsyLnZ3MoQE7
M8PTdZc1qBH9HHwgpYFdD17UAAw+gNzdxUY+3WiTfTC67Gjlst2jmLorc3M31vMnO+Pkaau0u+wb
+15UaNYE+x/kP0O5S/0uifpJ9EenjCleWAgWBxrB+5QZFy1M/LM0Z+amCRhW67D9gtny7LacSye/
OvMQcIG5baNJIdV3RuPT5OhnmsuOjyYIJYyKf8cevrbJeKy7byMAncCQTgX0NL4DdfR3d+xfDfN/
yq050R3fvZ9/848C5v8HZckOB4J/FqBEP+vqe1/8/gFs/8F/xr/9F3oGZCaokTk/4Fz67/j3/uJM
gYMAGT3nP9oMDPL/xt+4f1Gl5c/wmJt8CJvE/b8CFOsv/jq0J9i1+L8N5f8v4m9Oj7so6CGa4Znb
vjKkCRxtTisATV0gPYNmw7LWs3Hs0LXGGLd2C+vv2W/P5Pbvb+p3RcnpqfLXpXC6cHQFnEHz8WUW
QkHw62qNHANMoaH57YW5B8hdXCp3qi9TPWkPc1+Vn3PUGYc2m9Lj25f/laXxP1/639enTwi6YAvf
4amf3uo4p+SiJatk01Qk6a1h0rU3FTuHfS6muoOEjRybR7DAc0oMp3PDNE2MT66Y3Kckd+NbIC3g
h3pM0zBz8YH5wWr0brePCwoGe3PNq/rgYut/7maOBehbU/JjO49Hig+gAng6QQwO0r6rn1XcrKhT
zZxqX8JO+47x4yUoPbv4MXGX6cs02eZnfdDqK39aICHPdZl+fvuBGJv06bca73+eCP0YYDbbG3kp
SFlaPe6dBcnEnPnwt0fdMr/Xk80+EQkBqmkNMNgXos+N7+VAvSRCG59BVG9aPQkcDm0/1mpGWZun
sc35pkyAomVJ+zQYCnWnj/oaoVCde3AVk8TOD2T0iSdD4bc9JHYh72JJtxheQ1k+2mOKaUWbvF6d
efDcHtTowaDNnHj5aHdVX7BLSNWISl3Ly8inKvcE7UvdDYU7VDuNu5ivjWVMryc1dOb5YBFZc5PG
Y17s9cqthqPe2czRWq7wNlV+64xUpFFeET/rOxxIeislbami9hn6RS2/6+BeSYV1FqM5DiOqnqsV
JKsWDYPwvrFBIWChcdO5hV9Ow2qfsVune4N5nnYRsulPoNuS5FbUuTKxv3rpd7en5HRGbdBWB3a/
1YSA0gXczvl0BSopY7EFAtmDjHTAf7CVetJ0oxzzrxWsOL2h8q7wGTFugS0nxWxSsPo4vUAsn7TY
dy+GOCadBvpw+TFz/EzfwRKtjcgcE4T+llf27llm0Lp+4oYd+2KJMTaF+LWS7EMRe+58FScaXqY1
A8e9R8tslPuSUUFFW4cmdYzFhnSLp2Iwd/Dr/fomN1DBBkTGmzKiVlOKqMyN/oY99grbrHRnP5zx
CjiBDQchfhxX9n17SwoXM6MaWGtzYiO6aJ19K41cdD0kC7DbmyO/yPt2Z42IpTVSabK9vnj6FL09
+P80GQE+oilJk9fQX9rnh9xeign8Vpg0rn9APWBRZRy6mwICKILuWardOmnNftLh2XjlGD+/ff2t
ffJiMiIVjaorznL8Y9ui8HvlVRpakpXQpMM2T+qd7Bvrgv1tdm5alXFoDD+/fPt6L2Rev7512Ojo
Z7YIJcSNL/pUTpcaDfCgkcAAStzScmTYqxorRd9438dO9WdUjSyqKyqPlm7SjygMxWMzF82yVwvA
yCqPkR9tORVgCqHVvvP7TvtN2++DpELTDn8g/Sb2iqcPxHH81gBRL8NKW+rbxgdFN4qcMoS+mYkT
lUHvTVR6Vk+V6weNMo1QSGvdN5UmD1ZPxsLbP2hbDU5fEGs1KiMqoazbqBxOf09NOgf8p1EPh8rq
zHDK58SnlJC/6zJ7PQlvesctlwnzqYe+7vRCRlvYZCUsOjWZebpNy3zIwcPNNDA4cbs/NdUsWaBy
iAGBTo66EWBSYakm3QF/gzHO+RIVKMEeOhsZzX50+o6ShGaVB1opMZk2TWUPfx92/rE1/nrw0oMU
vxR5PBk2Iac/mQKN7U7x9pOntX00RDOgt4urPY2t9FO2QoV7+128oL7QGrfQ2jkmcdCYsvlmtvLs
b30KTpbNmGBODSettO47HEccpHtnHkNSYkTkdHOdHipwyDe5XxT389wLmtnd8B755XRQsG9h50IF
mOOIYevOr63c778jXe3WaA0wWJanzR9KTi+BPhXL3Tu3+6fLoLMHLoa2Bn3Yi7FHg4KVscDhA8Lb
/7h0FWX2qqucjxl0yydaIvGegLf1c9WW02WcoFoNlV6DQ7ZyTInM4VVRHTDx4E6Synyn4X06c27P
YOvjI40wTQ9thP9iImnxJQwWyaykj1bxkehXbadKopXw+CCdLfKdZ+FqgY2WXgCpHz69/Wz+dHWE
qh6+dUeHKrFNI7+NhAzZQGKN8GjcVeJpkyX94KbIiABe0mSIVtVoVwWMsioyWtJ8ened39H3n36v
f9+/aeIQ5OjJM/wlsfvtF5DnlrLJYwxMdV6voWxjQM4y7xQNZ7qtcV5mZyYKhN3bN/6qJ8IihXiC
jb/NLImP+sWKIaCUmz2wcNxEokF5Scfic5l0bI3oSxR4yBx3pw2NcQPPAylerdJZ7TM7K8qoscu1
3UNpTd9TrpzOBNvDsFF4bmeXLcrIfClfZ4zopANpY7hC70btl8jjqKvx3iqt9WJKe+/LO09hWwb+
Z1r+dUEO/nTLfm3it8P/yfsX0zAODW2zEIgpHqw10yJ28MYeNZ69K4yiDLTek5+ItvGoYCfqOOFu
+3dr6d8/gnMMMxEGZOTqL9aqmXoC6oWeXKg2rc7QEMRXohdFCA+yvhtLtz8Mo/Y4Doa7typybNLM
TT77MtGvrMXwzwn8K455b9Xf7cn23vlAfqGTTp/QryxVDNLMVGgxt1f22/iEXco+ti/n0DYLowxq
2UDFn0k4bULb7ounzM5pA5h5vt7kpjIwcrkxHNs2XUwZVJo5Etiz1NSxR1QWkNXcdPzWt2U7BLLT
ELYgFyF3adAXypNsCcoxevsVI+V9/Y5JysR9oVOW8XXvxUingkfd1ne6cGjn26QT3odMo9uChQl9
LJv8PnJL+pDmKie2idc2RWe/qCI71w5eWpCo4eR5cYGVEGNkwkFUDwS2iYxmW+xgYCyl81SZjczC
ASh2E7XkT5GpVBjpg4MULt+VA5t02o3lgc9rvUUf/yVP9OQSnqER7wrNw06Fj81lsbaxG7G5Hp/t
1E8fLE1Rv6fpQIVXt1Gfh9Wg9/W+pjr7pKVxl+4kTazjTASiitZKTkRpFmYc9bVjM3F6S/vV6mb9
RmsN4uGq1Jk6kL9c/KKYPLgsVMwmurIyzm5MbSYufGgN86g3rT8c2ZmTRgX2x0G1ULRYbht/hk42
E/4U9Nb2jutlmbSAYhyFc84goj/UmSGHc7Qico/KxkDhmGbes9dp9NU95XT3jjHS/O04HqqIEDQ1
BAQJ9T9N5JDUue2K1J621DIy/Qb27LA5VuxNo7xTtmgeSlD4P71EdGtI9AnOJ3vo85+pwUHjyMdl
UdQeFlLEll7Nj2wO0ZOs7LvuyPuo1N5ZfcyoTC8w+nMdIx6cbBOPtNEYy01Nq+Dn6Cn1CGcoveYI
Pok7bsa/nwjW5aCRDdbViAOQwzfKHqppWdNQn1fUu9lijoh3YlnB/DAxixY7x21qA2Y/M2Uwtyu/
jPWn867LVmQPVelAkjWNhRcq9bSgQxqPfRcpM/UPq+OSHdu0LZ5Eg0yxMAaVd6z70iX0ZRlpTs2c
Fn8sY7HeWzGzNhocOz6qjg57oM0L0eBFu0yYWm3N5/2h5733mmX8nk+SziJMdv2rye73B4cVApWg
b6/PgKiTh7SAiRwVujLUcSkXmz4bMSJ3vVZ0X5tx1j/gAMCZAXwSFvAi8nPowlQNi5pnHpr+jPO7
dlZ1LQE4kgjZisU9cl/uE+1vmjOEURR8Y6hSz+3Cc+IDJyNqBD1zb78zWzuZLhJr4hCqOYOHTltp
SbKna+AO4O8BAUagioopQEDdcLwtlDrmXorDuET+xW2M8PvPhYNjOsomWjJhHXc4ZdcY9HloOE33
3akKCRzfjVuU50aGOEi1jW6EEz2lZ6tU6XfSI/G/2modvXDJCm/aVfrYtPhpKHTxJMe+2JEuN3rn
S08MCsjAQjtOiwnrukhL4IyS3cRjrKFRD9y1c9pz7rxV14SpJMahSJetBYuhiJpPi64skrERYxte
6UZIWkXs1A8WjDPcirbd6uA5HGuIxhhc/CEbGCdBgZhJ7Euz8RnYsjEfKAvMeehlsbguGKxI2HVq
tbT0J11GGCqddodkgMQeq/bEHSQ5iXs8KeAZ8o486OwJTZiJjxstFbzpyw769RAlCJ9E0OUWFeK+
SswHQH7ESXW23xJOYOfO/TygbY8cCXA8LOs4f7BE2dCvp2GnHQtoS9/aRmp0SfzGeFKObD9ohFQ2
4UiHxTlomYaODwtufdGTblbtKPK4HxsESWWoeTWfUimF/9XUhPcsfT/GU1yvFIjLcXuuBDCEvfCH
u2XB7RaatEGBYSrNtwM7S1giafFrX8m1YlMnRUHzloR2cZuguILDk6e2PEOqY17JxGq9nbPyaHZ2
u9HSgV9Tqmgn66NvlwoBfO8Na9SoDqy6WYzzp3ZheQmayRiWnbXkI15m0+4ZIOtUEcJjoC+aCNdq
A+5bvxB6t97SJi0/6fq8WZ9KEYP3lr1NsahMkwbYB4nsIUY9oXae3WpnpAhOxL8ox7hum1yoPbWm
5MxYt5FfD3nyg+hH4POqUPp5xojwgVX2hnVlLBaHN19W/kjS16RpUOUctnNERHPWBZfzQaPJ+FNf
Rf6Fv8F6HrR4nKNcdfVXr+pneOW0++Fcx5lOHpbIEEIvqPwiPXWwuopUpx8GniD7aGS+s144qH2i
UZiivvHMVsbwhpCPYrLznY9gjJf7vFaTG1I8UETz0Ew8XwYGyxloiaXYIWKwp9CTlBciWsFleaaM
1aHqY2G8xao7r8/MnMa1n8fUCbrBmxGDTmmSRWsu6PyOMJKP46zcMTR6gg2qQG8Q7OznoSnare3Y
FubNOFsIugg8H27LlGScaDUaupHECQwwDnvV5UFbt9W3el3dmclbp9QVkt/BLnAycJwcMkzH4spA
rA1yIseNEiWZ5Wo7Ya6TCpfU9lToTS24MDIvJkz5rZEyb5BHeM6X44gIGe/0oWjscW8UmXPfmYv2
cW2MVR5RYxZXJP6wEqZk51DJRe4wHgjU2ZVzo10CnWizMysuujwc+o94otFcdFNShWs3XFV+Pfys
yrL9AibrtsdjgmjIO28xAL6bN3xaRdl2ppySt20fpVikWxu+5PfNHxrGtiqVo4hL0gcwESI/tEvl
+8D1DflDd7tPVmbDGCUKvD9S+dGfWttSd5lQlHQniJXqnVIBV321m/ulM0fzD2Zs+4WnP0mmbOfr
okD85DOpnU86IUJnam7EdzCrlEf9NvNbItq07B5HUILCqEfPHOIAz+8rXYwEQnnG9MGvCduCK6BT
1OQ7cLyAwknm3QzCSH/iqUiryC/l1JOHRHgRxzBzQnmAEIbdoqalPxAn59MuTmerDs3RZDgloi0f
u96PQWLVPs37zHa1s1FnrxtAQ0RzM01L/GmsDFJa52ZJ7mJGy3dAH8RUS/wvz5RS9a+INFDfFD52
GxZX/FKhPlskOdNwwbYPw0NBO5zZrZ/BYjGyCyepnM9lpqAQpLHov6a0eD4JdAY2kpap6ykgZ/Wh
9BIySYWUbrezqIBrF6LJgb3YyYhk1nEQPZRqKZ7J2+hQDmUspcHMcmxHlrBIJUDL4lziO3a/eVO/
ktKzkAnXN33VBO7g61pUJzaUkwqKVRF6ZU3Wn71kcgrZOoCErKvKCiq9iXcldtgvow/ZIxptlxyp
SlI4DevBL78l8A75FG30HpppT8bBc4fimQyF2Dorx8naS/ZcfMmrIGpDcG3CpHLgIyFxb/KGpD9i
IqjdlJesAN4QdnrbDpEi2SYPOGu2V2zvbJKeGo2otdlPG/+douPrYoJNNwh7N2U3Ewn/i6E5NpqP
XaqRIZG35S4xWD9lvrLJa13tguJsvTMlrgF8evq1Q/zs/u2Tzh8Oz1CJbJ2TM40+CG2nX4axmKUe
U6Ujx89frtc0bg/a0lsRqVCwrZ0sf6ek+bpygU2GxHm8HwIz5UucWKtWj2AoVrBadcmD1y4WMsJR
7T3WxM9+n4Pj4Rj/4e2bfBHFvX3wfPn0lkBgYHO3Xvu36h4BqwOL3c/aS+jn2pccmdL5AhEDaTn7
3zkechgbY0zvr6b+r3lOmPpt/6+y53/9EAvVCn57Wi0+yoPTx63VmcdJPeWHNFAxBqzWO3+ep7PJ
shdINSiOdfjRx7dv/xdb7/Q4vhV3scpSINmYdC9m5GKDSML0GUJRDtOPmtGwhYL0TMlz1tZyL8ll
JwWLMnx8QH0g7SD20+V7KiGMhx0bDpQvrdnXOyXXZN8ZdmaH+ETHK98EoAMGA9h+aAHvk3sow9pX
XQzswsy2vFuXtogI27HCcSXWt2h8ceXbE7FKtXQlSni3b5zQHiaEN/jKVYsRAeHmWpMbRH5uS0Th
gD/TiRK6YcPB15qB1pJOcOusZyreNZIUz3e+yNeVT5gZQAbpqIG0ox5++o7yakqBuBZzOGL5/kKJ
obDDsqzRY7z9Wra/58VbcSkgkiBAkX/zC51eB3+IB74EH18mt2Q19k7sWtGD70hP/UBsJDMVm8ae
GL0eqdzb13792W92doB+lLU9x3mpekfABalapXQAzdQ4+MgJdwmUVTwJ3kJ+tj+/U1D5w/UwFaKi
QeUPe+9lJ0Of+obcnAqBceKv16x6eMlJjY5vJB9/Flb0F7R3bvH1a6Sp5fOEBe0cB23P6ePFpcM/
byWNZUf00Kg92uuMZwzBbz/K1xM4RYJfPrbNGMXHfXodLIzD0FtM4O4yZLd88/l+TDheJIRyPYwV
52lI3epIGW/aiUrLb9++/OtCFQc2SpHUZNmrcAo5vTx5vumqTygKJiW9/TgK/9YYScGqdL15ePtS
f3iJwOaxim/2UKzS25//VtXTvSEpmaG5U/ISP6VjYsZg09xmh7ivD+y0GO7//QXh3G0vj84LipPT
C5ZS03F7GxKjs53vPYr9Z4izqzvgVMtlhzb2neuZ22J7+kniNHNgtWygA76/F59kg4B2cHTGDJYj
NvVFV4PmqCqyMDt89AdjMPz1UMzjctc6tjZA7fCte40YsiKwwSLl2ODytN3H9jReYyujWU8gngWP
iRz1j7nU7DzSyfgrg6XxW+ztyWC8V6P/w3C0/a2fy0zhItB+8cyqMcX8JihjJNQbz/tRFTdVlXHq
7Gx9y9tMknM1awIGXS5wm6vVfud7eL3CM6lhId6g+vgUflVWfxslCYWbscbyGILDTKGGVuKg9KV9
ljGqTyETFGQ6EoO3R8ofPnZmUpNlHn0I1tIXc3bru8uIN0eGymRQrnRjzkWar++0nf50FdRDNB7Z
D2+l99PxSJteGkSiy9Bp3PVDz2YpRPbQvsOY2P6WF4MQywk4BgzY7MtejvqePeCIjH0KFapUojKq
NkIXzOEa1CHnTwwRbz+7P8wgLtsD6EM43DfQ0OldVXar23Pvcc41a/vCl1r2pSEmeW9YDYfot6/1
ym7F4dDdUmg2wz5L0MvMIuYMl/JENYcUAr5RlO0BpHSUkzl2HDMchaEgnvCWSiqlZ9ktO7Aj5vUE
r25f6A662WQqe/29H/WHzx5JKDMbhzt0SC+pHhNy/S4r1BjKRItv8DK1Zx4mqHtptAs2e312dl4b
VzoUwCz/ygDfEJboo995NubrFw8LlPYa+w70Ly+jG2qZiDSbKk6pY2cRqkr78/OAL/1TtySDS1Np
0L66RPIBiWyU+un1k7/cErxrPHFEIJt5MwEm77T8/vA1k3JCq5mGH3k7LwHdwzR4FTA0JBta/L0m
PPYoBkec65Nad37GIfH/sHcmy21jXbZ+l5ojA30zuBMCJEW1lknZlicIS3aib85Bj6e/H+S8VSKl
FMP/7EZUTjIyHE6AAE6391rfGtAonHkQbzdGizaEpguVMHpspzEObg7YaSRgHcjhnO4isssDzYRF
TpVV+A7r3HpOe/U6xrL+/PEreOfXemBuKBZwQuEOTibPaGS9ST2v56idqZ/wI9IG0QlViQY7upgs
2T5xSq1+fHzRF9LB8YAHBAsIwUJ6wRp+Oq1USREt1SamFbuSrq9Ynd7esmdL8LewdwiJBG272Y+F
R+sDf9nYAUkAZ31NlHD71RmJLKX4b5KsPZEvIjcU67Cdm25HRh114iGlMFhrt8jEpvsuc81fcWsx
NRtaSH0GK4lFeizWq9XEbt7exkOij6zrzXRTYM0/s4d4O9kgSGDDAk7aYKifVmKUPHfryqUKp3Qo
maWZ5Ws2jc0KqE61+/i5vrnUy6naYd/pOShUF2Xr6+1KFqZFGlcu0Wt6e5iFMm5DOVg0GWPrTz9Y
diic7ZZOMw0IvILHV0rcAsLjQMWL2ngSDBq2ppKyj6+SzwDaVgsDgdPss6ET3fHxb3xj38QfD316
UW+BzyKVbVmyXq22LAyGBQhl9j07J1Z0SYDGlVhcS9euLmbCGD/lJYo9ZaYpRkvCuG3SpsKyJcxV
10YOyFXR3DbVMn18fGdv1kqM+4vYnjG8CIVPMyNUrzAqfjqOZai+0HQ6+8qCgXn58VV+o1eOBg+n
F+TLi36YiIQFhXf0AKysI7Wo0kd/rNDobRIgjqA1HQCea4dG57fWyatv6mgtKioLF3kQlulA09FY
VOoT1b9pNdDww8QSsyYTkxnL7x5J2U9VWo3aOi7Bc97oFCVKbD2qul8sP3eF27Ris9A0oxW7PzEH
oZ5WIRVEfFO+JhQ73pmD0LsVrXCykMlfnundUISK16COhdxofefeeKkgX2x2qBev1CymtjiZidqt
mkFy8Ia2Sd0wybrHRtOQaeqFRH1ERa+TiPCpRwZE8WGEi/NYvZIxBEoCaTMq24PsGgyYHDqb3ZDZ
Pem6Xk5Ubu0pIc0v5noFZ5HRNRcdDUbnM7ZJGQYzeAPMOWKwHjwx9j8tt5rLi7goUoKuHaNGFwjt
K8bWNtbGhkM5rSeJhrgMir5vn8I81L/Tk2m8Fek/BdvmbqTCbfWF+NQWbUgJXi9CxMmOEmEUw3xG
/14klN5tYT4nwiQReWrJBc+q0Pyb1q1+NY866k5FZrW3tiuPTOOC9OAbWilaekmoHq5AMmtVFDdG
1O5poVkx22uPyo0OQjjmPlIbRyBwKwNZZ7OgoBI4PcE4GNAPGrOW+9KKpLqtK4TCgdW3yE6Htpy/
lHWpPrhNLB5pixL0OvMt4AGyaautEIWKMOgaMAKROQ7Prl6O6rr05PS9ncNEXwlRFw9KJ2yiU8Hl
Az+1M0OsMk6rxYrBooZo1oaSQjKC3PjCmbUs23Z6VF6o6IXkBXURFxyCqDU1MFNVtPTIOEsEKLnp
7AtAQBXb6lb/myhj2fghVYqO0x8zHInIiksKuKrJVVlaWbzyBr26gWpHuqzN3kbjMJORZg3iZRFd
AJ+ud6Kt62iN3myYkPV0nRmEcali9g4jx9jG+TA+1bRNjetYD72N2tmNue4mKdLrSrHhh6aJKb9J
JrlPlR27lZ/HortBH1R+TWOhHzra3NW6ySElBJ2y1IwHXXqfvUKPD6k3kjo+UI19UunLPTVzj604
Rhb8rWCrZq8moRGfxgBDfknawYQF3hWWFYC0Rb6PWVIJpEYBGGGooj8QBFyvpZzFM2ebbldkhlGs
moI84yCOO++ZnbSSrBpQH5vSnKk8t5bJg+kbCOcrOTiuwA9TUpUyifXN/ZLNORJyF/XyagFO0twm
Jf2nVdniG+QHznxtbJhIQnSthgnVer+moY+YCuwYW7Ta2HEWVJ27mCWTMqZPa2JfDwwETGXQulav
bpoIcfUV6MfslpNN2K6kUqGj40wQ6WeWqLfT8VJ81NGT2qhaCPE5niaTNivyZGCTb0aiDzBM4m/A
pX5uOXqzdaOihGPEo6iEJhOJ2PFl2jCsPNp/dFs7IEm0ljv7e67N2ioOFZzYw9h80nO3v6pNvIJ5
XIlHmvZ8M5DO/FxdNFx4UC/GCeWJjo5lS0v2kdRWIhR5DWe5jm8fCuumDgBhYaiiej3Z7jWUFHva
pKrfxqZTbiK9dB5K26V1kSJWuqKDls4rB8/oZ+ad8LOgT4vBKUvuh5KgsatFQGSv8PrJrzRE0u7M
CvrO/oXzO35/7k5b8JPHz5ItaF7i4Rh8vUiNJ7KnkXhAmnqsqvjMDvSNtpXDD2gfjproKqgbnJbn
kCNUuBLJj43pm2KERWO/5NCnpDVK+66D/rytusn16RtFN3EyVlc9rdI/PfdyE1TEqU+zk1mIRse/
16orgzUT0VhR6Mp2mEJQ0WJ8NKzWvO27WjtzsnlzzF4ux7GXlovGF3v6m8eeAqvrUObt4964jdSi
eBrNOdvhHcCJ5CXhmbGxfEzHGxUH7itiMs54YDZOZYoZi4yiJlTmdKUSqKOKGoZ6UU43pRpH69Aj
vXYIZ/dzQ09qLV3M/Ge+pzeHG34wZ1s2SjpYDQolx8+3cqNpAB4/EiXiVEHSFc6lIWfnh5Wmv3rA
9d/G2LS+frw/e/sNc012ZZQWoLpyXjq+JpHYMeEJ1eiHSZbSS0vq3Yi+AuVodC6Y+IWKefKANU1n
ebc4u8E0We7l9VbYm+Ab0H71KWYkiZ+gAhlhA5n24zB4TnflxD0AAvzKESAuiwK0rSbJ9RyGLO2M
bPNzHUfd10RJ9X2rRMhrMIjM3ba3au3BVrRQwEywbnErhfcqesViVVkFdiMDVE7JBrtWn+bSgCpm
I9bb5lQRH8rai38AS4iQOXFMvhr60ruZk96NN7rZWyiTSC7+5BKRA0dkJC40qPEdb0fLy5MgzSGf
g+VIyx+To8XJmjDh+slq2N/Sdh1Mzmu44YNWSXGHJNAedX9QgWluHSPq/6asPkwrvZklrcSBxIGb
HimMuMfI7hb+NKeE7rkG6hVf4P07VzV4Z2yRiAMSEWYdL+P0VEJXpYWELRbaRv5YFLZ+jfkd/Hg/
oGlCKlGe+bTfuR5zBjVbznn0107DpQD3JjMiHzYwngadZSLGBIWTUxe+wswW8GGr56bMd75sAxcL
JawlOc1dvJbHX1tiKRrjCf3tPN+OLGiEphrVLZKT5kfVxtmSz6gFaFbTa5mOiLU4UuMxsr/Vnjpd
IABz132qAuRSilSemdvevTkWethBHLbfAOgUMeDZNTkUCY2ISiP2oAS3vUMBy7bnM8fsd6YV5KuM
7QUdzrx2skwB5R5ixXC4lpeCtBdCXNfdrF4h11yAZBUcZEIGzvxA/b03zkF7idhinwEW5/jxd1Ua
J4rFL+xhIvW+mGw7vCozOzY3tamD3uuaMAJ+QuzG1xgq2t+jF9YqtmQUhUGcJP10zYhkmZtS6lkr
GRXZc+2GRk6PMxVf0Tq1e4sK3OzLxhTjZi6Ee8f/03TWlOW6dW+lmdjWRBn8jcaW9men9K17ZtP2
Vm+/7E9wnuPSMm0QxydTds/AHUMKfL5rd/JLQkFqQ20aXkGtld46ColeRVKg+BFYWj/ODQrEmdKa
C3m6uZbCkxcfT+dvN0zL/QDJwihPUtypY0xqdeihQkbuVNZZwi6W1tOKrlh05lj/Emt1PJcvBiz2
PjS0sCaf9icldlGvbobBV6Mpueg0tWrXRP9F95NTDtrKLlFD0thL4x8zBaA20OxxEOiyi+hHOlK4
XuWhEe8SsllBwlV28Vllb+FcCpPtN2fyRiOax5nGewpH49ckV1Tpz8kAs85sYgBDlh6HEYnytnNF
QsMMtAEs2U8OvtqvTB8dzuIq6cQ4btNrZ/LiT1mOJhcUVNuEG1dVETun4HlILq5Rv8PzEKWPoMj+
Ow9FPm+mWEQMDT21zvU8X8rnR88NeRxdVtZ46vkmxu7jYRG1jgtlorZ8ZMGEoYG5q74pc2gMiGPm
Hgmfo32lNqd/dhU4O8xO41hc1oVrfkms0LjPerOM7tl6NPD0aCB210o4Fj/KCeNyUGcOdQqPu+/W
TiO8au84qXDWrKiJ/G1v+COP/796849M/v+/hYstxcF/d/Fvu18SJd702sa//I3fNn5Fx8aPgxJU
GyV54LlLTORvjgV/tFQCF46FxojBzc/f+sfIb3p/OYDkmERYH9HALI2F/wey8MBfoHLgb8Hfh+L8
Jz7+E5kNVV0a0UvQLC1bTudvKq66g5x4dujwEYXlXdlKmH1RRJfeOpUSX8EZQrKGvg0NQN3eeGrT
XEoLUlhlJc6ZvfaJq/z3nVAWdUhX40m4Bg/j9erchgWebwozqGqzKgn65Dt6yOTaE7P2d0IZoly5
evzdnaz4Dp5S1K46w6EcbQ3RY9soCPCjqbXuzbkxL9oetA6sOy35rNTTfAb1frx6vtzo0uuAe4A0
gpS40xnebowQ7s2IVLNLN0qqGFspFmi4PyzxWoUbnmsvasebg9+XpEXLOR37GFjV5aDyap+sgEnr
Q93Es5b4XTFTgVKreK9ohHVRK6s2kT0ZAVrfb0kGuqbSI8KkgF6COYXJY+IPWXG2T7ZDZsng5Vv/
31H/Xy8v9t+H/ZcfZfej7V6P+pe/8Q+9w1H/YrADIeQjoWWyeF3/odfY9l+clWmnUtRB3bpsIP4Z
9IpmgPbgFITAEu2/jlPwv0c9LtW/aM6zWUOmy8aZ1t4fjfvli/mfVQdJD6oXMgyxHS7o6Dd2xHTQ
iRIjeW3fW6P91Q1N+FWKaqIkjMuLFpYC7jPDuG6aTGdN7tIrWWb6D4dzgU8IVbVWlEbcWKkzU1FF
h2tExnyHXd7ZNujJafbN7dOrSfXT71t7jQE53j3+vuFlvqPdyz/2KYGaYDDWSPQq+3AKMQuN87zu
IUrwsTeghfP4XFjpy7p7+oQo4yAu4anzr5NhnjZW586Um/Y9PIMvpvDu7GKeqMDCOO1G92uWU71v
yzy98JykCzAOjKvS7PN1yoq+qpX+JltQa2mOm4oubXfdox1Zy5aIQboezaryUnx+k+lsU8zkOyPW
pzNbv2Ubf/wLWCTQxCziRU4VL7PKq1lj1jrbzKai3acWcGGvILZuSlFKeway1Sl39moqm53SdPuP
X9XJorK8K3Rj+BttYJysIKd1E9AwfTGXY7uvwqm7nBQ92epRnVwVXdtdgrleggeVbldF4XBRTwpp
bqTiBa5LJNyf3wnXp9OHA9yxWF6OJ86cFbkOc9HtLYDOF2leGdduPPfXSSdausNm84lqr4YtWpU7
x0rbjdmQlG5WdLLP3Mk7L4MqEq4f/NkGVPuTw2dtLvzOsp732VR1PvGTyMyHbngQfEFbBwbkQY4o
BgghRMQ+lTXlZS1bw4QiKbOnO9mpvXs/kPf9VQd+epM3Xf/FpTd7q5LDsz1zs28Hm8H0xFdDPcBg
83JyVDMK4IR5m+l7VwzJjROL+jmuiwgsS9LcxMYw+8Yo7S1RkOU+rW15iTWQT4wEUW2jVtm4MSp7
3vDHybbEDX6HFeic4uB4SVy+MYOyHO+VstyLWPD4zdJBEGZE0wBnQmNs03qaVrOeGD67B33154+D
AytDCOjwUu9c7uXVQMq9NPbU0dT3vTApHLlFQivIrmi7By01et0Hu18c+hLG6EqLVPWzbmFb2STd
op5HkSwFzolEb9bs9hBOO5Gw7Csl8bSvvSGMnx/f7duZfblDi9UFddAC6Tm+2caS1tzGmrEnjzvZ
yj6cN7HZ11sVH6Av+lS/4kAz7WCr0gY0wfF+fPkXycvRrEPtENE2mQQUhcEdLAPh1cPqTBJac+oO
e0PrrcccHnF42RcR3dCqNNV9G0YTG5NyzCCgh2bGNirn5IrqjiArDJuN9b3w8ol+S615Oy2s2dmN
yhg+GGbuPFOhyFfO2FhXWYFnEPHe1BNfZLtj6bs47J/BO5gdHuQIWU1TuN0Nlzew/3pD2uwI8Qzr
FVIdqrnDnC2po9SUKch1+jyj78a+4OvhaB56T3AKhT5EJ0/mXfZTwFb56ehRE4KZLyK8D27WHBwA
NrTxPW3+lZH7SCTXYOsiqM3JBaVoEhy7ndJhRk5ag1zYkJgOubIdinobYXlEIwkHo/RzHbWfP+cU
ZNZAy2dJD00mcGE7TEabaJbpleoMSr0Cu2RAf+I0kd3gVMqoYDiNgRMyTAqLcmV9SDHXpfxAIgpN
TcL1mCTium3fUs4ihHZOlV1tDeluUEHHbIRexHd1U7oIbvXBWtwZQ/5P5vS/Qj9OGhUMVOQ5oDr5
GIjDZlI5mfii0myGNO2cvV2M3lqZI5U+s51seqU2v5OQXXxSJb95rixrD3As/jnGuXnmo3wzny3F
cwoDhoUdmJnjZExo9F+KGOH5XilEtsVLCCpZcYxVH5XVReHo57TTbyYnrsemj/L5IqPAOHA8Bpw6
nacWUBjSg2S4yOM8I3AvcjYuHM4zk9M7Pw3KCX4UjpaovU6FcMyxqWINs7eXVexg4bMioAYa+5RG
jzaF7uWbj8f3Oz+NZYyNI/sito2niuKyHjvSulxvn81WhFHNtBm02S9M9uf6n+/9Mm858PAoTdLC
TiYSYcaaiYIv3BPzWe3UwYuCqCZ9qmdBCJBbjGeaWe99qbAyOAsvdSz0osvB79XMVdTkJydeqexN
vLcXWSONdZ/k2V5zGaUlZdgNCe3OSgDeX4tcmBcgp+rg48d7Uj98GS6Uf4kapIZPFe3UbUOobA/d
X7H2yOuZ+oRCG3CXCaHKABuKi99qBPCzkyEn3RXFT2/wMc/aQOBKB/50a2GOQkoTWudubBmnx/M6
ABXWXIrGVKhRCR0/HRrzLsqj0ANbCQiC2uyOymK50zhm740yc64IXaf3boR9oCoozPsKuFpvx/aZ
D/Dtxpz9HNohj8+ewxD6/eMbYfYTdoXb45C3hfIcRk3yzao8807ERvuz42FMAa199NMizccfesU0
56sdnuEAX4eiffMaL/sStyAYUsOKvqRKIqbVBFFTu8maWn0wdH5gkMSUygjoVUNnpeKFHPw6N43I
T+oaRcnHL/3tl843vkQE4uLh0HjK3uhkDUi66cK9EhsxBf8KUMRsaxsixLvNaMhzY/i96/Hc+M5B
kdB7OdnPdEZuq8VMrrWnywtKq2GQZNln+D93snXPgTneeV/0qTFxcSRAqoyN7Ph96drQQI13lX3p
mvm+MlooFGEEETnEul12U7SLQS6tKHnB0pPtANqac4HR6c8NM/NN1NI9I6+93+a6lWOmtt10FZPD
4RdhZDXkSjbuzpHNvM5rMV9NdiK+GTMD5c/fEZ8b3z3lMuqtp5MDWwe1U5KIbR5WaQiD3/t0/tn0
+hNpp+uPr/V2juWJgQkiW4NTm/XijX01ESHEIfKksZQ9lHxsd4XxHWZg7NOFf/z4Qm9PakywkIGQ
4dOXoVRxMqiHrmmLyfIiJGmi/Q63fv5hkDESrSp0Uoo/CegoPi7PJuGgTWzNKoIS+33QCg8eoqa0
9Rmz3TtzMDfEJmHZKHCIPHUFmGWrJUVdRocc0OGFo1TDp3aaLRrETnqhpk27boWaX3cIvvGwhO4d
x5L6DKhn2Q0cz3SLBRqB4lJ9xTRz+lDiNIXAG8cHL8qHHcyAYW0lU3pmT/LOVTBcUPOnSrSYypZB
+uoll41sSGAak8OcteAs2YDR4M/+g892CcXlIMdJjknTOL5KIeEU6nqSHtpmFmSzNntrMnZthaJI
66ZfH39OJ2acZfHi7MkSStUL+t2b5tdU2jpqtjo9sGJjFVbL6HoYCdjx7WSS2laiYr418153ArSH
RXo/67qS+rLWpk+DGIjGmz2S2XO99j71rlI96WVt7uzQF44guIrCK5vlcmn2tM65PtlxVffl1gHq
McBRvi5Oh5Ntqq315LBrQ3poVJz9dsLS6zQPVW5eqVb+rGvkhHz8sN4Ockok+H74zha47ekyZhH3
MceNkR4GNBZsKpSIPKROXddh752Zu9671KLPWU6vNJpOt785ksnC6LTsMNTo8eLRtVE8SwA6GhEh
f/6rFvwSnwBqYmaW4+9N6imW3obFmf1vGsyiira2hJ8S61p/5gG+dBSPxymWJRZNXhbzMRX542uN
MYED2KaqQ2aK7t61JQiT2XWebBCMjx2Wqp9G3yk3aRlXmm8VmfMtloqZreD3aMnK6hLloa947IBD
nXg1yKh6zugcZn6kpMXo104qwV9MlmAfOA/tdVhncg74JI15PTRJ86nMiOliHJnIOcq8lY807+wn
KUPYsINBIqjfS+y3lykaLqg9qjbcKa1wdmk8Ffl1ZPfjtYpBL1vNkT1wsoM3Ay03RxsLuTFGVYW0
zkYVM+rTlRrRjIBdmbj3chjV2e/1EB+wTFUEb8gUxaNSmPBzQSzF39V6NLC6pZXM18JZEPntCGBY
GyKDZUt0mxSVT7rqK89uVkpX5yCnpqm6lUrdZHRmSUDzZzrUclXYpLUGSeo114ZoF15eO463mSYe
AL+EQK+cabrK21o9g8t7cbGfvFwsTqiDqFSzbzj1ddChNEWmyfqA9QgOk8a3OvgVGYTjarTA+wSa
OoMuDNGDI1oc3ewptOWkkcIg5X3Vy4EZwxDO15k9ext0ZatudBcuzIqEzmYHqRHa0hTVX/Kot3zV
LJPbTMb4d+3OaG97MXT5unWN/j6xU++5oc/cIOrD970aTSf7hTMvSaDY5rrrD3GrjWtnaNNvydgq
545BJ16Tl5mJ4yTPAtk8JcxTdx7mlrQ1jVIezEz3nq0S8tJKNh1h31pf1zTjigRoEJHfESZFWAjq
lhiutl0ZFPk939SKalOQnNn6uVfAAVXHKnwGjWnAqZdCh4hpqI/tmMORd4VZ3vCTajSnNXt48tMS
C7m8klHDbvNIgx8KpOe25QUAbEGZvft49ng7CQODwa6HN5aQaPP0cFmjESEl1asP6qgrG80rw8tY
659bZFTr2J2cKycjT/7ja76dHCmNYzhGs0Gpk4bI8SyCF0K2Xt9UB1j9RSBqGW70As2IKodp//Gl
3i75nOqWKqJBs5XrLaW7V0u+7MGgVHBAD5GWxWtba7q1N47zmSn4TaWZS7yUK7FFIXU6LbhQQLZa
KxbiMNInDRrVvYs7RSA96QnwaafPpeCQYfXZuP74171zdKUvtejH0GdS5z6djyfNrJPCcZpDw7bj
h+rM6o1TqfHN5Jh8pbOifaoJ0oRSW+TkV2fuLbVS71caxzCmZRFe/Ae3szhNOK++PPOTFb3tW3aP
uQ1UrtbGrZkUB11K0r6sbniaaoz0tNmne7fSyo0EL7Ad56m/L8JMvdTrpDyzsX3n1aPtQmAHSp6T
jHmy27PJni/NUW0Og+h1qKyIM9QSzfnHv/mduQKgL3ZEtP9kBNinZy0RuVo3JP1wSJJUu1Gjfnpu
M4Q4rZeb7Tqt7EmuWPLEWq3M5rLgXqc12rw4gaLSdagU1ZyFyFazinqq0kl3J6KoLdCCJ/NzlzdN
F1i2YgzIikUMomXSmysceBPBeiH/EehxX2cXspDWcwgjwddbIo/8mXyi6sye5iQbmK4BTkN259Qk
sMa5kJaOB1Onub0ZJcDcPTpsW4JxWDWzxhA7gnk2LXUcDENNc80beZjLPn0oSr3eVqiACJbKpk0R
pRMlC1FdjmHZbyo82JdDFFZBNqjjmQPFieXr971SyEKDZS+Sfnv5Ol4NfA8QdtLW1niIVGf6kuPV
8ad8gfyBWfXWskmVIHMh/aR5BsUuNT8r86jsGnx3l8KJvDukQe1janXt5uPv5XTuW57hMjYYsjoZ
K6eC6rrHem7Z5XQQZRwR2ZP0V52OccPtpvg/uBTfI2HFaF7Yh568rkgZjIWFMx26RHg+/mXhD0ZY
bDsjlmcmwNNVZPlV9D0wKzLibL7h46ettgQJQbOdDsvK6PdO3BymIXT9KBX9TZln7o1ms6n5+FEu
A/j1fmW5KKEY6KVpeXhvsgc1QE6J7fRcVCwwNh31hTRHZd2TzhWoJCWdud6b2ZYL8tU7nNp12rzG
6SnVxNbeNsTfHYrGmzYGmxMCtaIkvq57YEDkiImtujQT5tGiHtJrDwA9uofaKLwbvBD/qL/+tcz/
zjPn1VLhp6zEYz8VxXQY1RhbpnqgXJn5fdKNnytqDqthIONCSH1cAyyZzj2D06VueQZQkMxFEMA/
p+PKlaaR6bU7H6xQUa5mzyrxbCUCmF/UbhvdstcG/pxDLct8o86ZemhovQXUkuorWP03Cu2OK0ua
6n1XK+1OUev5mp1+FQhbOcdYeGeo0RijC4HewqLecrL2zxl9kMyp5oOMk+JLCqx22V15G9k39Zmh
9s5TYQvA3tng00BJoh9//5U2MgGbuXYwnW7e0aWYdvkU6RsrlwYqqR7QO7C+9Rhm7Zn92zKPHQ8C
hhuOWgRrEPnfbNqRksBvyb35YPeTetlKnRy1VPnx8Uh7+/NsuFBshanP0FB6KSG9mkyJhiw44ubq
AUFrEfT851fMb8WKkNdsYzT1eEmsZH9bRHB+P77yCZVpmcehdHBWX3aLxsKnOn6yUx+JsEgM/QDr
dUJLq5ifCytEmhZ7nQ4WzUwyCbdsVn+UTcTOua3Q9ActZufOD0kUWdPDVFW/dnuDFJgxrh/0JrYu
Rlr/0q+imf+TmXq3hlNJNSAbcP571C1CP2rFnfeunXTQeZVHy5rzT65EubDhM0Dai8ze+BsvZXXl
oSWZL0mAjsZNSEz0d/j3yY4IYCv1TVqMX1r0c+Mq4YB4l3uI/FYGkpVzfJ2XYsnRd4B+fcEU6Uz0
LwHnx88JBtrSibOzB5Bd4iordbUjlKQakd4meUS2VS70O4WuRbEqydy+Lxww9H4VLsR6I2kgOJDK
XVkrUxiRAnFXIUS8N8UPpSDbkqYtjLt5zuEPEXZcBmnZj2Q7xENRXSlti2xiGon6wzgp+s8z1Jho
4+mtBTosRDaoWSRk+9R7mgs6KW5/a5Yiffz4Q3npTR0/ANpjYMaBBFB+g/Nz/ADInyTvz2jFg2PE
8VVdF92FZqWo94jmBJM1kRueAGruxC3HmvQiGvIWXHJnL34IKMpiVWGbAMUykRwOgDrvL6IRD05O
4Ccx4ZjCAPbR6LhxhUur2UExWQdkC8RPJn2pdu3KLN30M7UTPywdeZcNGjXGwp5NYlNxpJ85rC9z
18mvpYjJLptrcuA4tYHRv6j7jOjAh77HJx2xusCVNaL4Mkw8c8tXUq0Ly20u1Cg22xUx2eLMvPOm
jo1hCZEtvrvFDeeiazt+3maXdU3nJv2DZ2XDBY5qIgqdNrto1dbCJm11OwWG3bZydRbjnIigobLT
e2DU0/bjN39CS2GKQBj6u0GFBGORXx3fSa+OS2Z3NT5MxdA+Ohrgbn9sYyvzM9x5uR/VFv2jUa/1
b7M6czCKnCy6K9Hw9xviztv7wgCpqmZT/vsl/a9S879eCpr/rtQ8dKiSEhaZXyWc3Wn38//8/hv/
KDW1v5Yi7Eu/5YWAygv7rdR0/qIwQCGTbTERzmzf/1uoafBH7K8YKZTW0XQtntl/1NkGMk3swHjC
Xzb7THN/ItM8HliLz5VGu4FAHIsuTc9THVaKuxEQUwG7RlOL73k6xJezmXgBEVX9fkD9FUxyHj85
pTpcacBmznzMx3uW5fIs4RzlqSEsIMbTjTR5GQCMYmxSCOLUTxURVU9JE457Txrn+t5vLoUWFqkE
2lc89cYbJ2mhhObYDA4Q4jLNDxh6bCKOOygcWu6d+VVvHuqSgIf3iTMyOgb8lccj1JDlCBh4Sfu1
mmRFpBLrSOb1BQdDltDNzCXZv7jsW6co9n41Q0PH5Mws8fbnAr7gm0PvjhrFPsU7NgkOdVVmxWqm
KlNdkJQOYNIq8w6jPEFe3sroFHXfoAt8tCJaLoR1ZPUXr+tEAIcABnlklN0XuFcsjzaJNfq6HGR9
rkVxvJ3j/QN94Us2lhUMAujpnjWZXIzgdk2imTM3N7WS9pcIaIozziEcC6+Xj5fLWFxoUXnoIKVP
PzPsBrUntBfweZmEK8RcE0mYL3x5S+rqozNGyV3RKbR8zbIY5m3bh9Yv2bf232TJyPhegJj/lDhd
QxmDiExljUS4ywMwDd4+yhwKx1HoKgSI1W28BRVe3hae0y4WMsPpt1T/rAmHj9GDakhr8/njd318
MGTe5jyIEI5tEN032mMne0bKnMXESMMd3xGyY2equxGMudXAArFuSJr+9PH1Xsio/7Mav1wQoTRr
ocoFoWKeXDDy0m4ABEJ5OFa3pkV7gbN/0ANz0MPsuxvKfeVaWyAyK68yHwfVvlTplqMCAyRa3kSA
fWnH92e+eGbEV1uEf26KxhCNwRdU38kC7ViKaik9XKZYWskeTkaxLsLp14xl/Wo0KYnlAqDLx0/i
9PNFDgXRjksuw5whf1IAnPu4HCPTQxCXuRUdKDXblNBU/4wwh2V2GRrL0YBWHqXPk6t0CTubVA/5
dnJkQsbQEkcPkvDM83vvt7AUYBjAH0PL/qRKPY2mHfYg+DGd5NFOs1o7qDwn/6MqJW8J86KBMwH0
EnINFr3jqVF4ZUEWSUUEQSJ+FKYxfNeENH+eeS1vBjx6bORq8NugCVMvOVVlj5pN4FBvPUuvY8ZX
44GQdDuZvfqXreUWw1SNvjbRmKsXkWkqepBns2NB5+wjJRBDnQ+3HRnv+q2VJGa66lTO1bdGYbXN
RWOnU8ThgQb3rjXbyIVlJNnu62OTuOTKO7l1X/SjyK90O3eN6whTe3VrdmKqL4mjrFl/QLHQXGvC
tLugO1tmQUnbGk1VXJp3s4j6aDXntVoEYRezcc+k521FmQBHp5vmYGgsKK0HMkrHpxYFd0o+w1CW
bHplGjGw6iG6q/vIAJghx/yrYpGf4beVozTX+O67+XMHYU99wH8b6du+o324HjxNPsM/plNJ/Xp2
fRUmeXHhJDnazyyRcR+UE/BwGtZwlQICI2CWUFaYyEGoLTfaTuYsv6o4Eoh1UzkCbQpUtXclGVDq
epKu212Gc93PQVZaUH7bvAmnGxPGXxwMOg7twAKI3wRIheODa8/EIdBe8LSNMpHvtNLMKRwgDtNc
2+pth2U8rCQSXNUAqeRXWmNp60HLiepoes2Al9OoHBFmlPg7F0RcGmSNNe/cDEPAimao+r2ayDla
14nZhQurXREbjf1zgfZveYJWXuT4Sm0ruqcRyYoHfc+6nfREjpQ2JHbQtG5xV6A+U2iKpXP/OAI0
/iUHo2/WDpnk3rri7h9kL/kIctP8rLWTptzxPyOlPSOKoFhLotnHrV6P9bROsnD+munJpN6MOJjb
tTaWqrfxprHcTGZRhju9YRK+1N2JI5xLnlP+SembhReV6Rhulz4/aTxap3zTpFdNa6UWhSAlQhaP
9BeLJ8zC/5e9M1mSWzmz9Ku0aQ8Z5mHRGyDmiJwHJnMDS06YAXcMDjievr/gVXdfsqpEq30tJJNd
iWJmBOD+D+ecj4krTu2iuNFyydi6WSzYEk5uQt1UAA2GUYHZfofuU8rtCGniXGR9p5K+AKrGgqeR
39CRT1Uc2YU6FCBG9CaT/kqXM9TDsVvztuSb8Nol4eHS1jZ1DZpLFQZNkChZ0/8rB/Y5xaTnOElb
LM4Xr+sgtOXjCAkDy0s+7fJgseqzsCo1x0SclKfZmKovUnONJd2KLgjhmjvQ2gRyZIXeGR0HYYuB
KCm6IPvQAcGrB1/Wbr9tsIR8CcFbEKptdt0VP7IYLoHRzXjbIK8MjsLJ2v5UwphQ94Q3ojSVwDXs
xAZ7ZCeZ7KEymGVtsS5XUZDulM79Ypu1wgZg5VV2C+aJkd4tMxx32WOGXYP7SQ02G3opxH066Cx9
scbBK05y6orTakrlQZxQBQa+QbXQOarlunufcx8h+GAsn8t5IHO9UovqNukSWGo3REP7rqNifnAI
9LIzdu9BSPM9S48kiiolANcdRt/fCiUsP5GdrtY9HCC3T4pqHWsQ4QgINigTB0nujgqcQ9hO6xhT
nOLuI68LXl3QunOyesFCYXS1hKI8zweXCJsMVuGyRsG0ZTccnqVAiwa9BmxEsk6qvYUKkncbYo5R
zC9z4673djiFiO5t6X4zSye19u6ii5zBqJ19WkKpLEhPpfxWOGNwY3cOGVCOMLmeCZMpt7jXh6sU
LBRnH83nMz9SekOgWNjFbdeS4NpX9eBAPJHyUNS94m0uGbvGymv9p8Lp3SPKIEKqfbN2byqBJzyW
adDMGMNFlW2KulRrgscrOtl53fU3hG5SJJW50ztH2xTpkxus/MaqcbJvUTZZt4SHBfLYAD2aGYDV
g7lhPDGR9cv8EUOaJ2Z5r9Jx9Y9kTLmQgjy4C+Q16jpF1TDIj57l19lsLMT3TA4DHPIqr1+thfxn
RDhdvweoYLlx3eaO3BVRSKKmV+IQyJzUj0eKy7t1KYpsKwzvGsOzct0x9/eaDblu1ikshsa5+BFz
6VbO9soHEYmHupF2tbsmwsqYSNW5JkrOJq3MLi24J2VYjj5iBtv4wRsxvGk0AR8dYUoYplbpAJuH
7cWLu4wjRpNcdGB+wlSqGHmCrpIcoHTLW5hFZkKY3zSAPgq898iFwQSUWoXDrgvUWMbeAAMqIfLN
uIfs1VWgJwwMOit/51e3nXHES7crLBJSCAFMhqJBmTWXYsa84DjZW8md1Z7cjBzyxCMZhwi+zjfu
svRKDGkm3T2lfkE6YWkVOQ9OPRXP1biEL9Ei0h/NFJVwoyQ1+4VOiyAXp9KEkq65yH4Mocrdo1c5
zaumsItiHBdgdPLl2vL48I+QHRgIYeI07fubaUqHi8GrjTO/CsS9L3yyyOpU2S91Snp4woESfl5H
KR48o25fgB65JETboEUSBJFCJl5HoMSGCa6G9MP0PnxAul8vB1w6brXXJEoZ++sHcuu0QTefciz0
apMzeq04ZeT8FfJ3yzfhm7LiUjUIL+Gwn6JYlFBVYwJy49QfGeo2qlEhf2fEYWJbkwkCiGaA22vi
8XXiFDkGSbb29bUieo1vFbB4c+uuVw6ZH1VLC1GqYJ0U1702rN0izABMdOa2CyZgt6x7tobBGJw6
/tlEmIqVaeBnbaB5y+zazzSBKgFs7CN0Jo+pQWezehtv9eD8mACJNBvIDmHbbJkY+36z+Vnv/c/g
6R8htf5/PXfaffTd9/91HOqP9tvw9+nT9Y/9Kx3Ax9TLQugaGmZeOQ+0Tf8KBwgIByBA5CoPZARF
lu//mz759j+ZHNgE7tJ0sG/8WzaAb/Ff4V2AL8malaYk+u9Mn35jQl5Ts3Fy4dtBoHrNff5Zx/9t
01J2LRYMksGTIiiGh6GMrCPI5Oc0HIutAnJzjPpi2NrTSvAVp+DeDsviFrijfYLX0u6sft6Ews+f
MrNyD2uR34ZzMF5M0BUPixX8oe91fm0x//pp+Vxw5DMMRkB0nfv87aedyXsuO1h2yZJaw2va1laQ
CNJ5n8n4AW7YuZyMhAscbVuAsp4p+h/J122AtwSldRyLYhi2CLGaHZdOeHA8Iihx7oxdHEUTujGv
WHmzS218r5ZyvDUlL1ApA4pUjc4mtt1yfcjRv4JOXr0ngmkyABuRASaiTBu23V1jrmHccSW95NKb
ytj2jereslMzKepA2Enbp/U7REo2A3977O7/av3/bp3+TSpx/WT4Fxo6tGRo6tjI/PrJjHO9uh43
z9XiHeNy1bto9pvPtR0ZwwHBDmuJkMyrWOUAyUQxBjFlx/IsRNBx3bUFSSuiCLa1qXNr2/rCfijI
P21iw+O2067zp/3RzxS//z/C+PkDe0Su8R+uti2+0l9/YMLJhnBgapb07H+exjatoVV69texDts+
7gsvP3F+py+o0yi1AJGGB6Aiz/ZgmYLfZVUpMj3vEpS4RK9SlQAQkGPqV1M642va8DsmU1rNsEnT
IX9UYlgeFjVNS9JTHseLVlqAEIyIXkXGWb4TXOr35NPUxnbEdAnlcUQ/ey1O8m8YNSqVlNBg6GQJ
nk0mPXLcDvQTD4hGxy3XwkQGtqGrZTMH+TOVT/o2OVaZYI5pHtnViY/J5NfgzqCcpwueDswtcuJx
Gwh3uT31B22Fw7ehFgY6zhqxztQ1vd6w4IluHOhT94SlibuOqNUCOpxVPPz75+d6Pv1tePPX14HX
BmXRFbHCL/jr10H8BJpWkpFRbEgspUFatLQAfCROHaZFsmS9X21nlKcxoTvhtrWyaBdMk/tYzg79
vGEQZztA4XZ7xZiuDNwtLhHrWapsWWPacHmXhXaEm9NhURKTZ1jeRJpSPpYr4z3aR6FvprQ7iLzt
57gXBV+S6V7j9gf6ytlSF82yM6c5nFz+0HW/J3Veb/O84nBujem1Vt0K6abqeAOHLL8BtLnmcQb7
4YkC3QnjJdV94phlSoqiyiiJqKj0ACHH0JdAVrFFWliJYVVTFOeOuXVMGptqsJszZdRwc0WX+Dup
DHmrq0FvOqQi5ynTMsPRPWL/W5GzXnL0oiLB/OjcF7Z/ZwwhKXNTO+UHWT3YkzRZYq8U5EJnu1ak
wSekct6w8zsvf6LjIQk5KIyzYacjHTfRZH1jha+0VMvFbZz60V4j2qI/fPf/yVf/c52F0IqAmN/Z
FDVxvkiaRhtwMg8XKn7zUmHguJXMt/frzGAR+OXwhR7T/MNc7TfR1F9PXcTVyBIEPSP+/V+fugYt
d9rMpQ3kQHRbzxD0YNePtffsM4VifXTHSe494op58QBURobYYN3Kb4xIulfb9RzPg9n+wSX4W17T
zx/LJ3mHnf0V3Isu99cfy1qgtIU1SuNoLpxt7jJBLsXQxykDaAYO87pzhOOTiAnCRiIqj0lPrl+y
DrwGIjMn9h1l7ieyaTfEtJgnowjAVlUpTgmzXhraDecrVQFW7cH7E77op5b1t3MVy8l1pcWwEs3Q
by+yntymr5h+JNBLy4vflnrZppat20NaWU8tRTOBFWUfvZl1Y4wJFuO7SogfeVOS7Fl5uWIONk9B
iU4wsvn3pjEJ47FkufMXEomvU5hdPa8l62sdrMk8k6wXp+0st71lTVtdrNdS2pcb8kYEiqCw/lR7
gU6saGZK1FnMNwthCiDMWn+zQRBd3QrrfB56465M57vV7w0CxvygeLbHq3rArKL+jv9d/eHolFwJ
5hrBTZkuBfPspj46pZs+UvAut01b8OSaOnY5rOIOYsfZ8PVqwNKNwjO2FrdMKAyK3RCW66GvOKlc
Z9Bv9hjmT3VaWm9NYTGPoa9RKlkNu9qvgzLjtsxh9xpOD8Zc1xHOw8GH/XG9L5hJ8N/9+9fxP6Qk
cZVfM9OvuEagHAxSf336ypULSFuWlVxv+2d7skDmte0ECrpWbBOwxHvrUCacPJBJl7U4WGbOBMcI
9b5x1RV1m9GYoUJhpjSJLanr1tY3fHf/73/On0LT35604Epb/2kDYp3xmwZpQHnqTDnc3Vk11Scp
nfBMRkJMf2Lt2tL3dzxBzt70O9hZpA8nvZSfparmUxTOJQ7tgsw3GrKErMwc7y246nFS8rxaYYy0
ptxZYe6+SJxhm2Edgy0UWH0v8tLYwsz1PleqK2/Hxs/3TTA1h96Qxp++iF+XVhwDbH65DNmMkpd5
Db379YswCsy4yHj5BZnz3WdgEU7m5E4ktaaQffugP3buWFysTi7cVRuM+ypaCDBlsxi3E0ER2eR/
M7nP/vSS/6aF+Osnw8N0zcg1EeD8XrWLkMx202+sxGrd8p6UZLWFDwhENVDHKrRqxNaEwo3hG6OY
LQX+aZnm6A8StP/k0yGq9xrQQe4Z6rzfDhrUx+NCVgZSJzF/ZX7s49pWFn70bP3TeXz9v/rlSXN5
utDW4mOjhaJR+fWLWAYM8MiWreS6MbhPmYPdac60UzcUTgoG3RP3g90O7x0hq694LLKe8Z3NhNjz
jDPSgoICMqqtL1U3HaJ1hEzJjFL58arNq1alXvdlh3SVyt2pyr2vxIpmvC6fTXaFaVJ1/UdbB2Md
W2ZBClgWLeHWdco/ZI5518fpt98S1wCItytTFmPob48bTZoyi1aayUx5s2kXDdXd9tvLnIfry6Rd
d0si2XU3UWYlw8fZvesU3IGNmGbI5SiDnoYy8KhZG4WCKjVz8TXtI/1UgPMxp757bgi5wzIkFLIr
TTDUh3TX8JVoco+khqxDN1VXFNMeg73ZSkNrW86+GwPhmTYhg5fEVVo/EFDsnDAgTa9Z54dv9cx2
zzHs4Ms8uhTMguXvpcJz0sVGB10imDySOIa8OlqMQ2XcyLryyIt/9sdpeROA0YlP6V7ou4CEinzo
9q5V3jlkAmy9fLCLvx7a/xlU/AMV9N/O783H+PEvMcztR/P9f//j/aP58ptA5voH/ppROM4/WW9e
JxDImtkpX92Df80obPufSFOumm6UrWwNr5vo/xtlFv4TDGN0la5cc2ZRZvFa/ksiY1ghMWf4e01U
lLhECb39b00pEH7++nL83K/TKl4zujltrN8vxZEMqclAA8YMOh1Rx0B/K04Ry7C4toeCITTIZo/k
Dav3mTH21vJJEjcYufFcWNlsbIo5mL8tTqnHfRm2mTxFoPgWKxlVEX732sktmMpefWi37OgqMzH8
oOteC+zHA04WXvnjWpa+9W5DIanvGwSGbH9Ki5FqyN7oYU0rJztGRku8fpqyjbnJCiqGDQa3ddoS
y/XmirbVu9WYwKGEGUNifHZN1egEP6VFadGOC5V2Rgxxz86q8d2NwFVPtdhk2pAPaTO0UBoKgyt2
a0qfEGqAlJN/CPKgrfb+iunBcmT23hGRFHeMTm5g9ubPWHLUOffM4WmBTpFg31neWMOD8Ya5zA9G
Mhi+erEr0u6zK34CQtpvdUA7Y2trPs98uPGoXex1RiA/ApOPmH3vekyjhluG4nfvsTO7Mc2JBCi3
5duYoMc3DZTMKB+2Vb64h1bN05ktUbspTOczuQ0qIfU3PLfNENzb11e9dM0vMEunTWrKa2vMKhix
xqcoWNXZ8Xx1yl2z/ZEv3nji9Hf21G7cO9HsbFi3dsx9IjvOZTC+eUQzxgIFbAz4ZZYywRMjHBV7
M1f13Vj77I2SchQSw4sRlk71svhCgTEDT7yCmxBm1z8Yw7pGnzl2q+EcVcN11dS2pY3Yt58C4BhA
XBBfBzhfUDJNidNn6q5UhHIYZXZmdGfPVJccdLee7u450NNsS1KwSJmrEOijuqlyIY6wwopxqMNs
tlvOyxeGHXk8LONz5TNCDktTxWbYGwlrM/guQb9uy4YhVNpLsCaK1CIYhvwJl0A6AzWoCqPHomAS
vPONaLrBb6I2S2rPD6vbtkGiVSidpzzv0dVO3qQ+qz4N3YMjxiKF2pI75Q3CedZkfOFVcLHq4As4
c5OVjpNO1ckTXCdMSvp31o3TU+e3XrDL9DJn+5rGXhzSZhUHRjcP9koUVp+L8fuKR+1YEWL1WrkE
mZDfZd23ADXiiWaEUYQQSQTw5MwI5Do471lAe53Tyk09FxpaJxPzeHWWdvg6UAkVLBFyyl6QJXtr
Dso1MVSA332udU+Q0lL50ZHeXdj3fi7CMaaUx5Fm++vFVdmjY4tbOa01GfPjdwTkdqLwHMckhzif
CAwPurchxMl8FkNVkohumdXJ0Dptv2T4SYHk1K6YN4F2ax8KdevJcx34cICKoAZ6m44ELn1VdVVF
iTkFt0YHlzrpZ+VBz5mmuUXTpIgNBTX2rksvJ2hBE2PV2ccKZ8CFA8oK4mYd+E7zkK47EZksBhQg
pvfJJQmYtZhsd3M1mV+Ubh3oObPqUbSN2lm+cRZgCYYYUIebcOw188+aAmOXNUsBIk3Zc0MiE5vx
UxEVsuSZIJ4+n9u8/6JqlQLpdlqsg0rBRQewvHI7k8zIzpIbI40OcJVY8PSU17ESkxtnlAuXsbWs
B15eHB9s8m8Qz0x7kRXlvs3q9bN2e0LhRp9wiUCxszNZ57HAiJLJgc43SNc85gaZ0LGa1xdt1ndG
1w9YVMWwtyuLIOap/t6KAOsWh/7OZnNyZmnmnMcmd0+uLIyvIYocDs6MMerg+dI8MsLWctdbq+vs
ArrqHWGM38mIplmrCv0ux5bscOXt8C7qUy07grGGKDhbTBr12vF7Vx4hHI73bV6M4kYxg4zXuZVb
Hg3302z2Y9zS2J78Iu+3M+ISOj/8JyhJXFVdkDxCX0+ngTbN/M5yJ3/kvE0vUbiKRKaLRWiY9puk
R6i4D/yGbWVDsTUKf30vx6zbGfgo35mVFvWmxHB9KeuWyYfnVw+4X9pTuTR3KM9+LLKpKGTDNDz5
YdpdIDGuJ7IXxl2XevZjtYbTG7E5856TNjwWlcpOoWKC6izo8T2OQRnL3J2P9K/zXcEV02/FjIU+
aW3vo2J3+dnR5JejMJjvlSzLB+3KvcuAZkdUNmqWumgPlSmNizAIdmNQh4Rx9vkQVQL37jQH/gW2
1Llg1H0bzMNzC8Hc2zgyAk2Ec+FHmC+Pnte6x1KYat+X6SXXajOlis+i6w6dsD8EJgqUQ/eYAPzY
475sZGs+XRnX8MEemkWes9BhYT4Q/R7p+Uwa4LorheiS3BkPZT9hl9BjhlN/Gdk0e7vRZtU28bXt
elc/2pozXlc+K3M5JbkZHF1rHbZ8/u5r5DLWKedRJHp2o32Ov+JmSUNzx63PaZHX6clfQCVnrpF9
ca1pOmECsfeeruAYqaC7sWrrwDDdSwgSKuLa018REs0P4bwe+yJ/7gftxq1h33kCaKHoZlxyysYe
aPggnrJ83RNi96NT3QPjmDgdAI6NzvvQ95uszE9DJ+Iqn0hOXsLNsuafMjlv1GTeFb11CuySS9oP
dw676htC9qwYQMVjHshLVLLSDNcSq3NmoTjtXgkhOeR+l3gD2/XYk+XJD6pzKSN9XCph2yioWr23
u/WlLIQVs7xsdkg77/055HdZdlHnmBtP+9y8PWkIDqEZ5UKyvzeyS6Wj8vJtAWOJc8k1Hxl6Rc8V
SXvJqgr9Vhsyew2RUhmJ48Lx2FkiI/kd66Y7bMQS9M4uYjeRH6FxGLJmN+PUCRkq9YdN9qygz9sy
T182jt87m1ANfQKBkdewLfv8qz1n9VGOVmeON1ZFIKCcJsHCw6lryFq6Yr9vWRzWlXnO17T5FM6h
3kTmmsYIrBvmejJoCn/PGySueFe0S3p0udKn5m5YMVFet0vTyY669XOP22Xn9TqqN2zHiHgFIvMA
Rb4J4gH6hBW7EET8PYrF5YOeKYTiONvQ7DZradkyKXXL0HitCucmc2wVfFKZL6OtNaqy3RZqyO5N
exzv1sH2DzSrzt3UIzGKZcbSF02prPw4F4qIv8jlH7t10B0Hx1rvo1K7tyKXy0ZVTrVdl0omKqum
mO7fO9iNFcVZ6+vNkNbudpwL805ko3lj5y5rMHAXm9lV02tHNf0w6+qhF7ZxV2XkUGiHZ3el2t8r
W+izp7z+RnvTY4FmRmJhfAgpwa8KiztKQCbVkwzrxMkqD63I2O5q0TxlQ8kDPVoiCcv+1fSXfsMI
9GKba75f3Jy9dOeam3YOsjuqFjOGBXfLaHe+y3ihk64zD2bh8Omn6/fMNz5q2CunPFAYjYLiwA7/
iCxw/vDCUm68AQHYbK7jcemkhgHIxYl8Ym6f+VrVZyw5SAqy6CvKe7lTEjNzN3ifhDH0t1cp93Gm
ZY0JI3+i3ecK04HOtxXj3y3Igm5ODDEyJkej32x5a/NL6HGfJMoT5aFelHPfk735NHtrBevYcTba
Dm9qS3t7z1+yo3K4S0ga0s/NkrefyL5M97Mf0OmXQCmVwC24lNrbRsrgco3Gb/PkPBTdIt4as6qT
oDHfndEC+TSbzUPK3mlrNUv2NSrt6AJU03zz8nGfZx21ny+7N/grJtu9LHxcl/aJ6ULzNhbTN2Mx
j3XI1C3qS/3ZHNSuVHNxqLPG/YKCojsxiZ8ex8nqt2wssy9iDIIvneNNd33uui9R1Q+oAlPC00SW
ek/tzCuW+d34NJlrfTaWhYRKV0XTD08beucZjdqTjDvsDTgfD6E9GHvflsE7kr7prpZzy5bGZF/b
FdLYYvt71h4/doiB8clU87EuJntvCtf6Wpug0nAnGZ/demnfh0rm204zqIASXN6hKY1YJLjNXR1q
83MBsGpn+nW/scOWFNbF2i+OUpT93b6bCVJURQbJmBCq44SqKBGodJICpGQCRno91WbQMf+1ir1U
Bek95mQHnEhRn55ZPqu9ALHyEJE7EvYIaGy0fvAfO3O9r3B4wbqZCub+RvWyVsQQFJnv7XlRH3NR
DSdtekOsRfqQa0gzHdkim6Xs2FcHuXdeKOQ3nSL6ujDk0QyqbYl4/q3oTeuBRM9nBy3geXGym6xh
4135OPpDes2DM4bVXWc43lb0ZF8aThZ9IALifQunzyjk8vvGyvyzWC37yRqc/OJydSSV69gbH63h
lhxnJKnRifjh+VB2ufNYUiLtMsNkI24t9eZK94iXum9ZqnlRAfg61c9Klbm7rSYLtOXUancHucM9
MBfuvpUtGk9K2+Ieq1b+SJtOd5kG0XBLJtbXEu1dMpWOmGIvzLOz7Izo0qaGeSokQypamOuizKXn
0IbgBEHbBh1GnQnCLC6TJR8Vk1EYSha9T8biG2iXd1vJOrsJy44MM5os7kckkKkrQVg6RXSQeuDT
YF2zKexx2JWV8B7ba/0DYqSLXVt8NYOUN1RaZOVF2NtSxq9xyut5nGfuVNRE5s7ph9dyIU3QzzP6
0HEW9N6iO+jaZWOKrjJKvMX9LrP2rQT7+7Lm/RS3ErVsZenlC9+Xd4IFc22Ui7eBpv+Nx/mYdmR2
B2ud78rG9feGUkLy6/vNkZVkvQUP2fSbMtIZG2MjLTd1H5kFu8yB3Nl8YYKWLs4Jpa1HGZ2FsemX
F+Jnw33qpTdo5x9tG11taRrF7ZSHL11BMpjZRaBHwxu4tFgxZaghPlZ8Um30wFI8SqxJpdtVFh/M
SRpu/Xrc+7pyz5bKD9OVwFfK9Whm9btq3BnN+jgMd8qMXo1rWPLKjuYOOl99hqAmWP6sIaETX3O7
zQ65N0434RD4B5thwXsaAHaD9dJtlmbdIzg+C8yGT4ZfFl/U9XYenWU7GaJ6GjJ9qf1AXFLLqHYZ
o89nGVTPGDOG12GK5ruJe4BIXeV8oz/4CIVxS/DH15aIxY8Z9+2l1lWHDLeczUOXMc8krNuLDaMa
No69hqdAiK2Bmu9TbvbFHseU/1Favve2zK65N2x5qRUbew4ZzP82AU7U9k5/mEdlHWjC353OIpXY
Hd98d/nGI5LyWjgd4btg80g7NC9F210C8iW3ndOVO2+s3R9u6s7PPkOdGEoTuoJIBXGnQSqu6N7i
rKiWA8E4X1VDngSZ1ET02RhLNq2lmpdFVSPndt7fl4MYj7Rs4JXkFSI7lcxhBQo418rAOzJF2RqR
7pLIq8ed36C5MDvT2Hgusj5MzuDrI0u+EFqCYHBZr3LIeX0guK8+icqmAzZ/rEuQ71gDZLvO5H3Y
iJKUObAb31ga9nGoQ5e4Z7O/aY2GuzKUUEw7u932BvtN0ltwZZqy34RaLWc22OY+k+ut5YeXWQef
KI8oyt1muPKwm+NY9+4FwUCXdG2t5zgY0+C9RYxCaZj/WDR3eR0GcjMoRuNjuYhtkEbBpeOXS0LE
3GbuvdY5WLipZ/0vGjaV0QQx1CucZl8RSv1Rj9ZyO8iuPqCFJw6oWd+mVbLT1VNwKday4a+23e9G
Bq7MbAz3oZ5gpgEFI5CKoJQbVrzw5Wh/T5gR7aeiNbvdYJvYl81rX+espDRMIT2hFEa/lwXU78jg
jA/oM7b4uB+kIBoG+7cdY7ltDjiZSDRpWuNojext+8L+wQQqpIUonwa7Qj4xkxBvSgS4OBSWB1X1
1obp5g9bldG5VY5/aOxgPNgWYVmyl9m2ifp73y4DJi2wiWe/8LgDh+ZEWFR6G4UjsguNoeWqka0o
Ixk0blwmmok5jxCYMHYnw9JOD3Bhu91PtXEqWNP2TT1AZQipjtI5Ak2MRnSjBoJOAq9+4YLukIHo
ddumqIvcVAzQr6HQ97nxzo1nbNFkmecwyLpjZs/Orim9O902R5GH5dnKFrEn3lgzPQ2oHTkf6O3H
sER7NLfbsAqLAzYPGRPoY+0dOSwbUiGs7ZjKAeMxKX7Z8qozJouMFyEe1/2XuvPvYBv3kAe8+RWV
+3B9toajbRXTniH43bLiwK989zvezAqDRo7ABZXLjlgsyDO1Rirkz/KEFKO4pA7cYNGWAVCpkslr
pvbsoubjmi06UaNmgujmH4tKU+dEzz6mZ1vn8GOUHPJuX/lNpS6ss5cnmbesW6qpmtb7NGMSDyQ3
BT0bqCvRZSA1U98NzlpeiOzik/VTNE3JFQeeMjeLVP4qAwecWJoS5qKjsmzflqHy6aDNxVkQBjfh
27wOnSTKNmDzbs3iuVA8b7FshbEcJ/TrEuuK6CZ0cgs9YZhb5jLEgzMAK0P+lNFXAh1Wu6ARHHkD
VuqbbNblk8C6YX03RsZ1D4E/z8ap7Dvb4NIjN3iN+etH+2FUJg13KZ1p3VhROokbZ+5t+yQtGdE2
olzCKq89R209q686MI2WtZ4gQttws9Gw9id35l0i6owo8Uvjm5MTr0Zq341loH8oMjZrhl+mbDfL
MDL9JAdpumfyHx2QuOkDxvvnZgXZo7RPmdbcpFPwUlspye8AkBM8+P1jm3kn6VpfUrvVcVVb45b1
9UBmWvBNjdb6yoMwvzC/ZRFoLtqmqKv1J2vQIMNIIUgaI1p2w7La7tauMJSKNhQgwwcza5OuWNtr
WR7KcWPUqnxdUtmPD/YwtTwP/RIcIghIdmLi83osGCCV20y1dfPEjlicTQZCV72RigfAd5+qKczm
uJnFdDOLlbVEbh1sA0QayzSVoNoxtlyd3eui1Ke6a54bhIoffVi5j6Qeeo8EbrbwxvRlsSkRfem3
n0e3pLYYvaclE7QFHJI5h5Ld7OUk2vtmzMWxioyAcScj89d1SIOjI0JvJ8uif7PXXP9w0lbuA7JG
dewIMj+9Ln2rERtus3HJY0dl1pEBgHdkfVj+iPrJ0PDvFsTcgQfdDdJoL4bYW2brG84LmyNkFZ7+
IMensQ9NoaDDU4pLD+m0m2d7HvqofEW0iQ6xGOHWH4u8sa4BJ0L2znkB1ca23YMBmpAI09NA2Cx+
aJF9MuY2kBb5cVnJl9uo4ECI24UIuF3VBQ3ilambWkIlvX5hpoYVzvQ0KDvo6GR+oDlY5SEDxz1Q
FmXBPF+AZHywCgIvavPd7MY1ypNiTdftOq2flry7/z/sncdy5Eq2Zf+l53gGLaYRQEgyqJlkTmBk
Cjg04FAO//q34vZr61uZ1Tet5j2pyS1mREC4+zln77VpTZ+yFfGJLVCwB2srD5amU1ubRXhsGClR
spNtrRegKcwocpfwHXwVSAqXvd/43s7JaGN7rHYbeyn1dsoIop/N4sK8Y7NQrrxnUt5V6CkJeFD1
3l5cqJbV4B/MVhl30pvauKMpuZ0LQhI2rO6WdyVg9Me068Jh0w21fW5M3X3VtQjesjkN0Oa7eWJp
LICiD8VJ0SJtaRHSlSUqhy5vrYmdmqLwEOJZOk3Cqafd0o2y4/7kg95MhAskxLOWRlzxyGxLWD11
EgjTRmgDoHPjpeUjQO6vOkutJwYDN7VlHZdVdNPOU2L5qaVUe0tyLDdTsFgcwZtktoHBVsM4BNs6
X9Gz5mF3N3u8uhsNjGXT0anaYXFw6Me7a04Pn5bPFz1EHiYegzau4nj77vfDj6Glx1zJ0b/pnO7q
eOXgzCklo2FI/DqZaOPn3IV340LBVUw52kFrjY6FqRTODtFBeKrtB9E6Fz/CIyDHdR/O+aUvh4Ps
/Ohs+ekk2Y+K/i4K5+zWZTqAGwuKuESxZG2qrLO2LS7DpBnXfMOIfHw2gvTCtINNkWL6oQ94Kk2a
gI+OW9z6PYEJ2jvljPMkwLarubd576+xxM1KHnBHn9p1mTKJqMgeLdxQB7oA4qEKijaJZtfe+8qm
eyv40hH+ltWOys9OF8chmj+aLrvuF3QoHd9ZEAaxSWcPdWeqb6y39ZdZBgtvY5/ufHO9c43Bi7Ng
JJPWoEMQS6eki4QaZTlMnfSeUDG4FlkVdXG0Fxx/TgECZ9Wljbdh/bH42UvtmYy/eO9uvHpVhyAj
gmMN8T1FdXTxU6wNWcc93OTXs0LlTfI4ixrvgmLWJAc27aofNak49bppR8e4TBaxZpbV1Wdl9AuS
PNZnXmiI41XY9k/zXD7mNYfYtHXnXchskzSW0oqNztbHrEIUYQV1e2ym4At5MuaGdKYOxcRS39aG
TRGYSsjj7vCZyZGadcougOFbBG0ySCjgitisnTXOOc11tfEmwe8e8FpzfCvaV1HWWMZCq6BKXj6W
AmcpPvRrtocoQpxPA3NOp6lhnHd+7Gb+tybwGNIEjvnc4O3bOuV863uCWsuq9dHJ0h0/kHa0X/zV
Krs0ZknvuFkTsjSNr4HbGJuOReukZoTZ1qTrhtQPQNazyy52LheIrpg+OCZleIBS/1zT7U+/SkJi
vETio7PO5djDhZ1RBRmFM2xTJHxqbyjnbC4dpUfUcdrt3cU/+Wlt5y8MPkSxLSMK4UO5Lu0YUxGK
/jPFAXy2R12Pz38JE/6/RuN/XQPG/t9mkv0PeQ3t/LuN5PoH/8Mw8f4LOSBZIyE2DfwkV27q/5Zo
eP9FtjaqXTCY8JgYCvI3/yPR8PgjGEV41wlmvcJMUFX8n4jJAPUG2A9YlSBR+fv/KGPyX30ZgXkF
HoYEXEL+Qwbi/Uqf1uRud86o8y3JbVmQbQa/ATA/uqlZxLmraBdj9VPf8NUOx79don9jfPhXadhf
n8xVQQN3jUOCCPiLCJE5U1kYGXr5Yajra4Fkmp+9T82YZE63TjEuiGg8TuFY/hjqqW7/5Lu4ijH/
r2jr+vnYdBCmEH8QINr8lcY5ukM3dH5BcR0ELedWhq8OucDomNpBRS/4jqsfLupbOzZKbW3zEWz6
fhyI4fvn6/Cvary/vgdCRdTb5lUlw0PC9/ybM4ZjN67MFdJ6UWjvDKBPvLnOtLBrM9H8w4/mUfv1
NzMCdonnYGINcf6Xa94t3aJng1l8Wafu/MzUPYy9Egrc7ejYXHP0ZeoPzp/fHzBCM2wPHYd7FWT/
yh4c1KLGySwo0zTqAE4zyiuP1TizS45MIfZS5WZ3CfRgfv7n19WlrLCuAYqwNq7X/W/XdWj8YKXQ
LMkaJmP+4qsiLU6OMti5jWwo/3Blf3+aXWJh0MKDfURw9dtdXHNOoKWstmVVeeehHr4X7jROO/Zr
TtdWiSFfI/CrwA384T36NxeYFYQ3F94RP/RXQEs3jU64Ysrclsr3ziC4S0oTy4yrrPheS2K6yutz
9c/XloXp1+cIoboNMQRcIiC1X4TOSpuTXzl9TU/NMz89q+VJpRL808f8/mpcMRfQZ4hgYOn81WkE
IpaRQac4nHksDxsDGQmC9Ul/15zL5R/u4C/MzuuLyOXjYzwPpc/vUSiBYZXIeWwmQoVbvAZzjfK5
tsxpb9F3GBKFg74EwIBvZVNMjgFFfhzxsa4BING+bVAN1wI1/R++1u/X4IqXCs0rmuXq87veir89
xpBns3bE2bKdRO9giU4RnjVjVC63eS7+RF/6dx/mcEJlLboGbPz6YahqXaGyijWxW7zz2Jv53suA
5G0Gd+ne/9Nn6Lq5WZxnWBlcNLL/+sN8VqCCdwQOQj5Fe3q7PEOYv7I/hR78/maChETlzIyYuwoP
7F8/Z0wt6ooma5H1NPMtFsEKawx5HpUGLrDBkZF9Mw1FFZ4aMLj/+Tf+vt5iROEjMcqwtru/0qxG
1PCEB/EbBdDRTyC0mjJTM7XZ0uSzy1vG3Gw9//yZv7+bAVJLFyKZj+zzt5emt0IohimqFWFDHzN0
Vb2y8obxP3/Kb6uOD0GSJeAaWw9aMLz+9789lthMwHfwizeNtIz70C3gDfSheyrzKd0qN+wYVdnh
H4TWv/D7eEVZW4MAkfX1ReVTr9f7b5/aSmM2nFlNjBgjEZ1TRiaHqlYoLAahw4NBdmK2n0tGFknT
Egi0WfFXf2d42hwGc9bXGjEonUM5XQ/7/3xB/no3/uU8wY0mWgM/mgNB/LfzjNOW0Yhhf4UH0bV7
PMUF3iNQKGJj2dgKgiYozqNqxH1aZ9F2LXRzHAqqzzzX5Y88iPqZ+RMT6SSkRt//85f7axP45cvB
yePEg3w04tjzy4WbVa7RTNZ6O1pF+EWOc/0VP5rlJxAX8gddNIZ5yyiHB5NzIsdASwM6SFZtB5uG
A+IXL1iagz0FcxBH2WyfgoDiI3FRVWbxUEl6L53uWJJLz/ZVIgvsIDQ9FwBA3EZfxWvXlN9Bz8BX
ne1yRiqmwnHZLU2N564zXA6AbrcyPjQzZd4uvgp/zLXVqAOFUFHskANUy66j555ubMrjIIEXVdG2
iaZ8l13fLWmirUfapPgSzHYflWR8SeO/IS8gR3xpLqr6FlgEu5oUjwwcVC0yZvcO/2JuzOq+LVH4
YmjCC2Nnbk/7CXXpFFMlheV74RfqggRWjck/35hfFydWdc7xUcDNscBjhr9upFWpRD3DczcuZFDW
IKqqxI1b2k///DnX3YJ342+PAPB//n08MfD1HAvB+C/rYKHgFUVShJihkfl8GLaBG8dSa0t2hpnT
P9JyIICjsfJEm3B64mJ07tMcj1xK15M+8yhBZqjMu9Cr7Zo48yNxrwe9q0px4yjbYBDr+yUtr8Ld
sqelj7qsdR87vHgiEbUet/RY4aosNfU3Umu5W8b8q7Znhmi1BqcyLLmftN1SJTkQhQ/QfodW9cUb
LD6q2xBP8FPukvC14cATbkKu5rAV3bXrulq6iP2+f7guifmub1P3wDiiu++1HRIonJcIHsLWl/ti
NFNM5aFg7c8mev6sB0EMPgpEUYqxWm+rHMh8ki6MexZaJrdlJSDbGKa/m4RB0F8aQanZG2Xn74VY
1Q5XNw1Ma7L0FyfLj1hRHf3BTYf8i0vajnvGvAgoSEJg1MbOI3dGVc/P4CuRI+sJyk5XMu8Z1+LB
mjvSH0a+xZpYYK59PC+hcSIOroXQWw0Pqbl2jz0ZJ0+2Leof7jAh4opEPwQ4QLzBAmBaqH06ZXfk
dPTOXlYho39zGKKfsrNky6tmeG/0sJl9tIx2kaU7CsSVM6C6kkAo7s087R8sDwOnz3Ny0/Tpdert
7HwZhTvp0Gvg4psXBANy27lGsc/DieQnA+iZBPED3/YAgfqHSNevmMNol4zTEr1JnqhHYdDoa6Ek
luhFEI1UNKDeR7O3ICyGGuVf+kpP1b5HL4EBSNvfrSJrkiIPQ9BNGkHntsX7vYtkBfaIIbJ9u9Z+
ca5rj555ZC3X2WvGQGVGHL7hwyQzx6ANt+11SLGfQzKWLlXafQsEzJsCHcwk7WXd05PVRKfoSoPW
d6zXbimbbM+Ex9516B0f7MJlLmJ6Kjayjg42WQtymTmPeUzmhznXgLCc6TGoujGpUMzt0ZjrMqZ8
wxHTFih+eBDBN+Gh9rblxBUs8Fwng2GMJ4uRXs3YjanQNs9l8GxlxbNgbpWdKFqqYylNBzQwCNW9
HXVekWjs61+QmmuuZOlVrBhZxjZi0MBUVTvd19ow95VazBjzob7FxqZOlNkYpmT+PjsCp1Qhn0im
ZO4E2aafnJ0w9assvNeCynHDVQUYYzTHVaUqWdjHMRRFKCjIuIt9oy535HVbXqLnyPtuF5GGyNSO
FpZ6p1F3XTtg7tciI+G0dPJtRvZpkleqRzKnZEIkhPswK3hethT36BK6bcrsDAWWeGG2Zh2DKHvq
+rF/QBOcfxczKoqmrW6KcXiOoAnEfm3zmHofndIfZSCrgtl1OX/ltPM9ctnclDF/Sqxtb8WqUVZT
uRwZ90C8n+tHFWV3xto2Z+SNxpci1XeeCpZtmeXvlv4um/wlzKLvYrHUVocrSp/slkWKdt80J8E4
7Htt9XHk902iBvc9yyImOZ59ZxkAGkav2xWNfnGCUW1rU50zX902WVqxm7YvmWE5V7XpT9Kq4i60
32l4f5oiB4e8INn2W/zIjP+vFrkPkMXAJ8pu/cb57lE5+jk0S3NnDPQ/bMQT17BiplUNspliyG46
njFG5ptZWo99ClBPsPHetDX0TKsbN/as/K1siywWvnVXuSt3SM9qK4rshuNntUmrljZP59vxApLt
Uo8MMaaahr1FTi+fYHon5QvgTeECMadumX00Bu52p700VlRsgj5dkHkgY4eseMBDYzBTLJ6zxd9z
1NEcELw+UbwnU14x/e+yJ9vhHQqb9q5czW00LjUn4fxHKCALcXrzwpjUIxfLgeV9Lzl4dJsC6OH3
sfLGN2+0mhMz5u7GbdFnu02JCjXnqysDtXs335WDZWxnw1ZPriHHrVU3LybCIx1ISQP1WmRkOYIv
rwe9pI+cJm5xCQNm62nXaUR8FbLMhMDn82wNb02ZngZZpfscjPkGA1PCEK7d0upDJ+QpJ87QBgMP
C4cL89qXIMvBcbiWyY2pg+dea4PQ5+mlGGHxwcOrOH+Rv8qkt/KWh7IIv2X+iiTOpdFugCQDVCW+
kQqcx7PNiojxAzMOAyuikOnoR3aJPLjrvtlCnnpRhqcIxiKaruYnQTAMUwnT+El5KLZulZpJuLbi
+5jq5iwrr96RDFg9uchWXnTac1NsEXG6MXRiXgdbiAUFPqlyRwTDnlPzvlvslXm0/cO+BknaFk2N
aVjz27xGnC679VHga7aW+aluuptx6h6bQRVvSvUPeZYDlBB4xu0u/GatqNcBnDlHPUubftZaJGCi
wDX0MkkrpPhizC+a1flR9vMjMhixiRa1hwKGIlXdOn0P2KVzQUNRXIRRtgn77L4oxak3vBut5gdb
9Cx003yx3fICZOo51WBi8a2EB9rpP6FKMFns1huRIfCRTXMz2xPUkEwwvjPMn/4QdSs3xXbOYMER
ZNnLuWwHHOi1Dc2uYng4MMusW7hdiH2PKSQSXC6Zs7O4kBtGt1u3BiOezUMcKHdvsOAgZ2tEeTGz
BT+16W/sqGleorH+RmWD4lcOCzxju8UTTuOPZ1GjL8uC9dIP62mUkU6cKXpnAfe2Xa6/pjMzVFLr
2cQdn8moMLIbsurNW1dVwKrAdyAdnR6WmoeS1kWNRL5amU+mcN/mlOg1PRqxaNd0C510N0d50pvl
XoQCFffK/2fMH4ktYyf3FiZbXf2xGFGwLXXzHQHtuKEbEO3CadyELtrB2sVPM8wOPHSLlsySPvtN
f+NXBU0ZG9doHXUf2WKdCVVRd2VaTgfoyFbMpKKPjdX4Mnd+flvVIDVxVF3atk4TdLr7qi6PZvXM
ZOmQEkKyzl3i9tY5J5sqwMCCk4rdGBc9kbQAcvqyb+MxJfSvAoY3i2+YL47Z9doKn6QRUzb4Qlx0
f54stwNstA0ooGknbbLTS+xFUEt83Kr53lgqpFzSvg8tnjLzqffcdKf6Ye87xisJuJsFg5hlu/ec
NHZmpOeNW3Y4YtzvdjWfhrw9a5PZoglKDdRitBk8Y5cRXTQH4T1d5RezThFSuqjFkJ/4+CimPGnb
AH1xjT6c8GhI++94w+LeWV7aMGfpZocdsNy7s+tif5DkZYTVPf3TaqemuU3smminnnhgemCQmK2J
2wF3P26bYrgUxcKB3R82DUo34ZDRGymegrxx9sKb1022yKcexY00EGWG9NM23nw98BjtqzmG/iZQ
5k1loDfMgotb027ylXG22pEQQbMcT/6KR76ZXbFpq+xsoJjct57mApH+gB/Pj77mdHuStCTCiq0A
+Xi03q9rcdZhc1P6ar7MTfstWD1k2QTOo3jmRM5p+gs2/fsgXJo7UD3i4OGAxNLK1o0uRdpGfoAc
YbzkVCXPWRh9+lNHuyg4oiN5DH3jmiyzHQcahMp3f+ZBOFOGOpRuQfDVjNDS5T4YtyXorc3k6Ns8
RCdnswlwxJ7faa9/TGMY4MsLcCc0GJsXCzOiZe/Qr2kSx1RxCmvnmfAE7HdGQFujf2B+80B+R3vB
2g95qcX+g55GjvjSBIreuHKCR1Xh9Q7Q/STE394bZV5tAbNXdEiDI4e0PU6yYRcpMj6RDVcxTfO7
PCVXYGj9fse45aHti89SYqRZDXHXdhXnLdBC6AiH/qdrVRi4cCYp+kjoRbvXwSRDG0bu99ZZHqwu
co9duDovhoVT0l5GD+hetm4na1AnfFt3Y+ChcbGzeedl+BI3/Yr5IRT9R1FPN3bV3eZsYKce7U7s
UPXE7FfEddMLLG957vRZMaQfm8on+nhlneM4ollCbwLsU2lcWz64EtF+AyOmTki3xm0g8js0b3fN
kJ8WOE4o+4po37VkXpQEeyeGu5CrJbtlAzbC3rYlA1nT1jIpHD+NC1laSCzr115DwwoVyxkrC5q6
IFlro7lBaqfB2YJmmmAI1gbexT68N7NB3Jphv57aoLd3dc5tVi2K48pfsltn7ndmmR7FYiMnc4x3
kKL21q+MfVQHvEEhkWVNZdxjN96Fw/qazeNrG+XDdiEOOwgkWlcjNscInZtybtpxeCAwCGUpqitH
p0l09T2UwPnZvDjklLV4RMb43BIYAP9D3qNYeUOsexdNzmGqTesor/mPRghvqJqWpMiGF1cbLxbS
lnMftg9LmD32VvtYT4gRSp2/mzPxmQ3vnfbcmxmx/bYd7JP0IoxNKgn77laZkrKECoateieuCh+j
xewyyf2iVEIf41jp0WJjGZoLqkAbYknYrDe29Oakn6NjXqcPltsAZQ/UFUAJTK6rd069vNZVHcZZ
ZSXKoqhVZUilbP0cO3V9d3EdYc3ykwBkGogQi8HaRuIJoWYF0IDxoLJRjvXFsvg7Y5FgL0pviV4o
GMenyExFte1Ng9ggQ3WCVaUoUrQcDlmiFw9XVvno55Jteh2jajh45SxuYaGXD1B5+59DO7P4GXLg
yNg7uXNB19/SzcpH1zilip4P1FvP/k4nx3s15lodDNDWl9HxCaOyVKBeAdR1d10emunWtHKj2uXe
ZN+nnQGbXVpz6h9bDEnJ6NllGPNKhX1sDsuUdJP13M5ism4mbwyefTD29zZd5RjC1J220+eIIEMw
JeanUsqN+/CD9Q4Q2vrpSH23YJ3a5L2NmQsRHXs9+dbEYZnm+E4QwsQTBpUoSlufilfMD56Nkieg
n2UMFAuFuE2NjChJa6MbvrdS1SN4vU2lp3s7ix5oBDfbVS4TzjbvTuGEU5sVz7etjDIFuz+kn54o
yjtRdAnCq3JbtGTS6CKM19797GUYJLWd4uNgSMza3i4uf0Tet4nI39l6kl1GLtlJO0WGQ1q1d20j
z/M0fylz9O1Db07PMrDf0dm9BkFOE65qaIV3IvgslGdQc6RXsU2hz3k0ctIPxBeYuxisLGnOh5q1
ZFMNaIJJOniqu+yNFDWbZ64DglHym1wgxoRloUXh1IcpP22bMaRxYFF4EoDoxGKGcVhnzSEYZtzQ
/WM+OXejbnOYpXZ6ZryOZ6Zo99egwifRYXa5mdTUfFCXZZ893N77qiv7ncrD6jHrbDq7udrm62h4
zBKWRxqU8YpMWyy+vr8q1JDcZOseaz/rGZKSDWDC4oaYbe+JF/xjkOo+5zR/1+DdaTdhhMmiaJRB
jPVIxzVlsPO0jlIf2RbB6LGxPnc1NV6ldXEfBNN6CnT0RZuNcQqt4D5zii8u9+Hcuk2LlyrSrwZc
mY3m0DYkwxCaLxXGrM0kSDMlBbd+iTQNBD+vvScry/gJviUIJ3bCoxr7KFaev9x3qOO+QcL0v+EU
m1+nysNfNrqvvYXpn2i06q7IDM7hnipuocvNHCWYom9y5MtFr9QmWu0zhnZsCZ13ZcUNiLothviD
+lYEwy23hQnaIj+YbGPA87qHpW+Xj07QfeKN2dUKtJaNHvfMeAQReo+qfG7G6QjTpT7kc9rhNfVm
fLFrSjJ55L/Z1mgnPYfoLUcpa+dGtYWUwJ6SMqrLhNCWBGgxrr5+tQ+wrcLtrFZ/BgMYxuaqn/yZ
DEJ4qyWMabxUvIDlJvcicFEeBxkZDm/LuvwsHGjioZMmFWfFbTXZdpJfDWJVixZ7v84YD58yieA8
rm1f3o6dpmPlOLP54nop+wLkKhRuUfFOk2SloYI6dXuNHcEEq8w9+FH6ZwaxWmKc7leHk3Tl+dVx
LtMmHj2TLJReqnk3m92A/dQLsFtcAYedXRnHdvWLi6z97pRnrgFHU6ztrvWxOKxhlj0FZundQjq4
MWq7jn2wme/VmIv3ZijQ91sDvs+6C8wPWNdyB+7N+RGS1MCQgHzszZTl8oN8Y+HeFEPqJszRK/BU
crC+dddOM/USrvQ2nTio8O5k7lbZouCBXL0o3KycBTkuwnf3nV2np5kGUhiM2DgG5RrBQ4unDR8y
+I7awwYo6VQYdK15vxdv2mZjEX1oEzEwxYkWESfuMOvSkyVy2R7BdIqGLjW93ZMFUtH9MY7Ip24Y
uEtI3LVu5NeCf3N5cyLJXmCVo5N9RjYmnxvchX5+XOBnZOSs9tUr5qa/phI+q90Eks7YFIQswxGZ
Ob1twYfSSIEKbO17XCPekb3CbymB/Cx/MrH8fGZ15t/3FPzZIfhrnCARGhZHjqery4GiGQ4T5Ozw
oZo55J1cjCLOLh0HkrDasR6/tH7FQ9UQubsc1AznZNysiik/jZDAKE7CJotgK9bJccCe28pVp0Wu
VX1xelfdVyuOkZ0zmc4B8hn8AYkejfqKviP9bFmv5ieRMCa8OzNsf4w4Wd27dfbdOim82vUYlXlm
FvdgVtROqnbqD7TlibRTwjeNhOFlDeU5NA06PXMX4YtE9RcmBV3VWBL9QLm9t7SB3VzRkQ37TwKG
94697KOle1RLuby1Be3nyPpmLAWNwuFOlt1uxhdMX7hjucG9cphpMT9o2q1xOAgLm5t4F5xqxTz9
CEdTJ2Ww6PehymNyZjvcD2hvS03vjoqLfkOyLlQ+o1r8eC1ouFyLeIGttwsoNb9KgWlsa/oGY6Ns
sHZU8QiBZ0fDwJffwYYfZmP5ijfEv7T+bG5KFOJ4v/s7/sR9omWOSSmavFfTwiM6eeozHF22bqGD
Q89pO6GEEtOGvDzoznzXTVEGIbeYNmUySOgMZHXMUQS7whxb/wGzZRhgBptZDZT01/3gzqHYNN2q
eEX8HiT5FJiQK9wFmFNZ5LN76oelxv5fXcetO2uxCyx+6OVTEghKGcaNGKkLoGdRnlA3ThPdHTKZ
yAdY3RugERAxe4Tg0VbILm8SZ+n94IyLe6g2cOGbmnBlAXkcd6Uyz0E9GN5dOs1Xh1ebG3heDCQG
aaO98taaM1SDS0dI9pHbm+uDNdu2Btc18r2DoEc2hmaEKSxqjmzZtf1olw+cmFX2PJKd5tyUymQp
8GeD/8XrwSTKxMo2xk6HBJ8DTHoj3SgddwqYvdgJz+1MVpcQV1yL4cBBgqxX56nElmCdo9EbKozF
lV4OYe2VHaENfy0Tc4jt+yt2gz6/d4kIqW/LnrFObC7TACPU6TLkz5Ffm8ZtBCs3J47OwbAFybQ6
W2Po0c2UEE9dSYVlB+V68tqaLdEthzueYTClcnZGvK4IFZbXKYK64EjVQXY1xHCoUa1uKxTV6X1p
dvKAjmy5znxe8djBxsNYE8USHCyie8e/4H/Pj8zifmLz+sKWSpHFAfyMQH69Y/GGx+D6mITC6lCL
yN8jV7gqPwh7B3cx7muM/gku5nY7GNLd4tLgbEQcwVEMhtjI6/B9xahMyeFP2OrCwtgxM0/f0sYe
0Hd3rnjDlSaW3YBttKHKl7I40ILmbDmjmL7BMyo41AHAPHiDc8WmODSCROVHl1ohDLbzcKDoinAu
aq9Jk7Qt1yLmWebkDvFoeL6OVXZTxCatkFXzmDth8603yjXBFH+TpWX5iYtlfTCsyH6Yh3zJ90sI
ZScwdHbUpvk0oUSHYmzmO+QZPo2cCmeRTQDKdoVMsTOyCZQ1S0R/UhRkexv4SJUZZJZEaQ95wqaq
oSHn8ktWvVD+ya8RN+1JMD75WubNQtZgNMRj4zZb1PmVtTGJxdBwMIFlNmQSP+Mygow9OPkJnTFB
blSq9wHP3ZZUri9uA65py6TW/qzoIjA4C0Zk3pm7vpQMWlEXOwAhrODNWWjsLFYNswmXER6TqVM4
7db7GmwvK0OLOdxuuttQyoBm/RjeldG0wDagnY3cGZ6TaIZyPsqIUApiO6PPZcLS2c1Le2MtzXBx
UogTAR1Kqm8P14u4rna9eLXM1DkH3fQpS7tKkPodgzxVN6vqsRuazniJRoBwyIs6Jkyy+wjyMsco
19trUuIVpkdaOHO7Y5roJJXXp8SlkIH0ORkim7ZG1PQWSPqaJ6xc/PUDQ2exQNM2bMr+IgdpkIdv
wl3Ht6UK2SYc88HgX7oFd+DfTQ6TIQ4YjT6ZTI6jeGVkdlk4iuwGo5m/u14/PDRawBOR06mwSKhi
lLIEBxoKdK086dAosgrPJRSm1c676HHdjWvYJ067NpfBzcyDhCRD5xJxpcYSW5T7ugCp6CPUyVh4
tPgqUsAbhmhNnKrMtRnBdjAD3RCfYt0p+sTCHtGc2Wct6BlaUM1pk9RkmCydhwkTnazFqxKGsU1O
4JNjNpQDKCr3DCQjhnoitfeisqnZAxCIOJgavdOu2d9mxiw/g7VwLkU5/5jMJgKzhyWXmibbBqBo
czyKhnls6lYd+2sovFdG3tnK6WWl0ML2br9cGUI6dR+UHSzvHVSkKE7nfr29ph/ik1o4eciuSrRu
wgsNnHBTtulh9vSB+g2MqgmOrTPVI5oQ43kl+vtBMhXj+Jq3O55/5BGRWez6Kne+DJZ3rdxSzzlm
Hk/iRqk2eExzFABhW1RQ5ufo0BVTepiKgA4dAYj4WAhuh5ZTNkK/o6ajq53RezQLXz4YbjrEgmM/
Fe1QlE+Ts1hvi2dnF6/MZ/ZmW9DH8e07W0WvpX/tr1o1lq7Js/LYbNEWIMeDf8ABn9pusA9lrp19
KsrpXndTxTGjwnDHiOOHs6TD97psflRFg7UDqMjHXNjBpW/dHlvNhAI1GCY+h5kew24yaxiJYzO3
BQebojqtwbALKwvugOXtCH49XLPoySvJNN1S72TbS791ghwWVru+D3ZRJAhJXnB8f/NGZCbEzG6s
tQMY1pg3rXfFHs8avWBqG5yJeujWCIPqcUcaLecbw6gIimq6LX0VdVNSjQ94PcQjrfDmrMzqcebk
PIdwTmLYmQDLJsaR8I+jU6tMHlZvpWQmM2QV50HiR4nmOTuj8xi5EayJ0RKxAdf0sKpZP2mYDXHJ
IprMPMTbahmQUplRkk3uc2AWnzV6sZ0XWlnMQDDh7GW9ENx7oNVenOpo/doN1pCEXJsfRst+lDtL
7m59Z33RYbdYm45gHsYFg15xfyn8SYauoy9pTTrzxgzWnL+wQFa5cz0UcZhSGEwLO9mm9xrjXBmU
1e28GM8Kc/TJnpb1nLE9b6SYygMEfkETXg13A+G6eENI12BM/N/MndmO3MaWRX/l/kAYJIMj0OiH
ZM5DzZP0QpRKVZyn4Myv70XZ3deq62u3+6kBA7askjKTSUbEOWfvtaMTGVWFHyHUvHIz3KUmbefJ
dLUdPUWKEMouv3Alyj8P/FxS53grNYFciUV1g43P2pbsgltzNpLNJHJs0vReLqFu0wvWclqCsd74
euN4p7YAAxJBtr/TAmc6z1NXP1oBRSwUlvRF2OIwTeJYTp1mrHvQEGe62L7Wqq9xZ+U3XWd5J/LB
gLXplr6vlWgegbnpJ1Vr7rkM6/o7zWPtBEAiPOnwmWB8xR165US7huolgg3rGVMHxmQMffAtWuBq
9tWEiNBzlzNjOcc8oCBksPB7W8PAVsXcwmpvOrsQV27M2CKk8H+oROXeBChONxkYkj3k15FctSkr
7zSjenVlU5ybjO1w20x9uXeq0t7E5pT47Ti13zwiHgHuK/rTlc3yjD/NHim9LhNt7rtwwObEdCOs
Ce2h1XsUmDMZ7FUxE6Cy3wS1nkILdMYdPRMQSEMmVlHAJygUAqxkoLO52OMaoE2jV62ATbvHMm3j
ZchdQmHrgnHPU+3dE4WXwUaowApFTtNMTDIFOIcReH8eLzlkyNX2uTO1ZDCNPG2xpdRzoDhi0vtw
PbXutR77KJ077TQqYR5DeirYerraeSQ/R/sg/dnbt4ozGbRoU3usLLu5HUxTPBIpZ1wU4c3HuZ2f
k9rNLyMl1q1MLHXMA7u8E/mUY2IPoRHZTt1hi7KMOQe4HHprWfRU9lhUL7T2s41FYUiGKG388pAR
uJSvbOyY9K9D1Ztr0RJVYdut1vklEXhvkyyiDrPYHJBU0aYfElATMxXM7rg1mTS0rcZtg3MMF1IR
lzBAqjJOHqD/YEVHFWe463hJBfJsvTmBfoBAGc6c2TJrRgNG3Tgg+XX0bdPODv2EGSGnTYc5nbry
RkRUCw/5wOpnTyjjFra2e13T0IMaM+tKfzLRVHB4SmwIZkUR+FTkttwbBY0Grcqh+eK4ZORhjj1e
9KjH6urrZhe+a23SMxdduDRVlB4NWejfZIOHu/Vm1gdLjkwx5HyuPGaAYdYXl3IQwbMxz9+ikVwH
y2L2nVqsY0Mcn9PUGa/kSKSkU4kB3529VMlm+d10h0OrVcGq9pJL6XRfYm5yuokj5Avob2AHY8vd
1KOZUthUFXlSqK6KawvFVLhBhMaqx2l7rwdA9WIDLBVzpQR3shGUOz3M63iFIZaYcN0WDhIk4Aq9
7bzRxou3qi52jWXhgOuK5kKglvJVBq6UyoB2IdT+laajbkmU5W2jSeUHg6LBl6P75jkhIgfElLu8
1tvnROjwSsuAiIGsrdWedlTNA4QQgmJXrCYcnzdcb3RE6PFOxKEAciiGst/OGHG2aQSSUsx8SYLg
xPXMFEOcYGnlD31J7bm28wEqTyGKywxh7cb1KkBe9RQKuDqVzozWYXrMCYqmF/NRk2EQRmdhupsx
bjEshgVndH5P2zQs0gyQc6jIWYdEhYIk3Pe2BK1qaUO/CRGWbGn/ic4vBvNuYMy4xULBfMgxEWGN
1ldoBpZg81/uPsNy9lRY7ctcxMNel1XGwcElQKloRPUiO4uBalWazouyBFpBR035pSXj7TRgCm1W
HPoCZl7Uy2FHppTotRuuNotzUyZ8h0U5H2IasH8puvwXySUqHVvT8Gq51L7uIrf/vVy57FqzVzCm
fsjpZ1dBJhhy2yYui0WOZgxHBNaspepsAdhMg9u+Mqx3GAS3jcIg41EF74cgIBWN5D0ErqyG443H
RJLTWDIWYDZb2RnrKmsj8Z63sKHXKfkjw6/64b9l7HvAiV7m/7H8mTdEEyoOo/Y//+OnX13iN1U2
5Uf7pz+1ey8XsnHz+Yd++pub//zx2+F7uQCRf/oFrtu4BVf9rqa794Za58e7+O0n/7e/+Rti+WGq
QCy/YRkHsHn3jkin+L2LD4n573S2yzv5Cc18/xoX7T+e4uLtnX+TJPWPNnr/x069F6+Iyt+bf/mr
/jtYSv9F1y3Yexp+L8uTDjfGr5ZAQUiUyaF2uW9sqdGZQab7mydQl79gAEGsQwY3PqPFqvebJVA3
frFcifGIDGMNZTkxt/99TZDRTWFZcDn5prhGv/3694lExqIE/qdS2LKwapE1CyCH5j/J3/KTth+B
q3IF4b9rvS8Yqg05bYCV7S0TjsproPslkHUfzVTKpwTDLvFKQ+PewN5sHrW2RmptYN82SyPY4tKv
CQzgQXxhqMwWT/FwJiGmjXydEfSDC1NznQ+yY/JR5nQGwKrQ3zLOv/tW/ugT/ax9/vGJpMHn0ixQ
N/zzSfscw0ZwzCUudoibZk3+Wn5jVkhQk4SuqrXozoOmcR4arzWZC5TZRarGvO3ciiCJrEL1Ilua
ool+g0lwOGZJCQEr0h9TO7Q2wYxOmWNhs//zN71c5U/fwpIGtdg4MHfhEP158XAVxjZyibAjyxxu
wcBoF1HR0zCDsohz0FjEIw1/ZWL4gwsFnhSZq+6Z0tbtTz4BviRPlq5BwUCp9JgmE3JYZAR6Z3jA
1cxr5hv2NkHYxADDibdVV3h/YS3Tf/bM/PiugPUtTiduQoYfn74rp66Gyel5CwQxOhtbRrg4TB1a
ii47JJeRc9EaVzHCs+edLgiVSCdj9D3GchuUYxFjKthfskrZdtFaUeBqf3GRjJ9F+z/eoQ0BEteq
S9qz7Xx6PmYHWBJZulwk+RT3F7Q5vgImvBxz+wJ6JTrrLLm2EYbO2ng0cvucye94fVeJwKUXWGiB
dwQT7Sh1SAN11xAT19L7MqEQFOYzNM0Vc22gl/cKbO+f31R/cHFt0pr0xQiABv/zW6+jBN2AYYNT
ECWzwlHlyIecpZymRdaLufoLc+InV8xyrZgqSVrzjkVJY/ygw/9uC3StHkKfpydr0wAoOLjZCQl7
sqPAyzcov4KL0clvHYwYhsPlsHFTlM2cZlH26p1A8GKjJA1Qo//dy8C7cjwOPDrmZ/7987MFGUNl
Wse78pis+bO56E6qVu1ZY8s1vPpm/eP1/tb+eV29F/eten9vL6/V573vp230un9XlEvv/+AHm39s
u+L7a8vG9PnP/H/cLxfXyb/3yd+/F+/ha/bTtrj8id+2RV3/RbL5YQonB4/vZll9ftsWdecXiz0P
oyCbn61Jy/jntmj/sjhusaDZRIzYcnlc/7kvSr5eAqpsbr5lY/w7++KnBRm+BkNZ5CuY6zCumz/8
o7+7lUvUTyR7BLdQ3/QXW8nsUXragM547GLpm607fitHJ9j97gr9wd71aTP+8ao2nkxSrWje2Z83
Y8cNpyXP7zYOdJKqQ6u+G5gMHv8PL4ItCN4AbR1OGT8/DwDKajds3ds0NM2XyVENord6nP7e4vPj
o3Dm0bgsvIz2efHpSMNlRXNv846+KFHHuAFMN6YU8OD6aYXz9c8/1PIQ/24D/fXlaGFwyxBBY3xO
R0uRYDhz59yCE6lPQLbuEada56ZjOP/nL/RHX5HzzxeSn3Zqu/CMThuwC2Xg3SLsiytNgZH/8xf5
o7uP9rokRcdcrN6fviI7bPo8iuzbHCX0HT+ExHAcFtrpXInt5CWAXE07jH5duP7tWfDzbvzrRYRP
QMiWhbVR+/SyzB1jwvrcW/KSF8qwioiAaU1zHUSW3M6lRwOXjsqmQPL1bLFcby2Zh9+gppK9Sf7A
uLKItzwlRucehwie1zrDjPlXWIM/vDaclbFekmZCKuXPt29Hs46CHk1BVzPLTNPZhFVMzAMtmfgD
ALV3U3Fw/ovz2R986zgqOalzTMd2//nKTEwnonI0bqWCAFYZKlqjHRv+4uT6hy8iefiZS7DseJ+y
NpVQPbN/7dbLewgKFnLmGcbbXywxbHr/8qg4psNLsPQuYJHPSxskqEQxID6Pc0+Ah6JN8eIlYHyP
yiXDmw9G3xU9X+KAiDAYphA4vnSLzFrq3X7StPoDtkgQrmHa9Ew8HROh9VDwlezU3BB0BOU7ONsM
aTxEXyOsi3j27Lt0mFCrG54MbnCgtgKCVTsCGvLi6tGx8+pRmbnNsWSs1UfUNy3D/dAlXMMSktEY
LUukoTTT5fPYq55se6NNHtpK48vPTf1ADK1sNyHbPApGZPTQcsmUIIatLmhHGt14DsUgb6vRDYx1
Ucbpq6UnCLzIbEjAPzm2viN4Qz4Gg1kgZxGevFOyliDkigqDmdJVfpsIHsFdyv8wVtOg6FI3gzV8
tfUKNmcGAZ9EV0RMZA02JH/hX4v5EcSw7bsZFcSepein35hjjh8KL/zBLUi7XeMKsnqfAJHonuvo
HYyxyD1CmMjE8XnEwpMNtjpH+hO1D+BCjGQbgi08FBrnJr8iTgvpnRUBk1wUexGWDr0vcWs26Ycb
SrBM+JGMcBODaSrPBjGJ6LdYwmif0taOGcoo8c6paErXijVh7zGocI4B2Z3uFoKksbit4hGx/4gp
kamIJH3HJVh7ZbX0ZGVs1TcoYuorHCn1ElLoZA9EynlA2MFnPbKphCA/evT6bmUPX1wxdGcmCS55
MDJVN3PfMAHXvPA18hbaW5JEhb6zwSa9YIIrkm2cWr3tN+bYnRlA9+nG6CsMKtFcIdrVtBCNPjXM
wNCUjvM6IQelx8tiC7F1XAUfmPFN8RpjtEShJeKG/hL9xW85xLzFRmqVwE1BwMN2Ggnw6bxIgtxK
nIKvd05DVHGEyhPcUqGVDJkrv2lD3XmMOpx4I8fUeGbcSkQ32KURyQwJDLNf1uSyrhXxiVdlikz4
Ug+DQ+i4NZQEMKfucN/GaXuuZSk/NO7Q6Sa1iO8xwnS4KhOQxquiMyZznRaYaVfZFHFQzzs9y1fF
7KUtQmULmqI3BLrYElKb4Wcywd76A41rWnFI+TG0tZ2GhDhH21RrixxU7wcYfr1X9gBcwxH3ZahF
zsfgFoyS654QEtFoPDdNzfidfQUPJlwvjREXUQfjWzzq5iP+seYr2NH43hmcHJNdYk+2b4hOvg71
lD1C+bVuUznH37wxR5kfmx65Kwmyx0M5cjcfvDwar2hrlfEuLszyAONHjD6ftfoWG5BqoMZZ+TeN
EJ4vvIPmueid1vbtYnaOPfFR6drVS++rl8mAULRe2RjJMdqQ3DR305egaHEdG1xbpEahRxkNxFW7
0HFlFGPORAMWY568T3wNySpg0vKgG0n5Zqci+OIWaKhX5WCEy6TLfBol4Utog5LiOilCZEKal5J0
aZVlGuPgYieE7JiMN66wDDIraYF+CUQUXYzGiHB0i8DCXzEAxtwG5axwvee1DKm7JDNUETrWI+gz
DMHZcg+OWvc0YuhEwNdo+FyZ+hLc1MKtZoQ8m8OTPtrBLWr/LAVQ2zAWmfUujXc5vaGGTiqiaE3G
dG0c4VpE3TY91lCUhHgD+zrUk21qxfrHoDoLxwzLMtZ81TCTMNRAdz4yjOGmrcLsFj8gHfXYEvoZ
YArGXQvom7bp0Pxh7hReiOMlK1ImBEOf3abc98T0ulWGarM1rRtUS0Ki4gvnRz00C/PYJ0N66Ge4
Vhf4n131NSfXbsavZsSB2HoFKpBpBUXFw39EpG4en9FDhA1mdWcu2hU4krxDMeCoQd5buXKVX2qN
cdUqk9CQScgI1Tj8deMoPNLnLk2G63VdtAVPrlUZFSMS/jvYLE8F/XCPzs4asVK9bHYhUU2VgfXI
HeY42/TCMU66jJ0PzHCLIXBM5h2oxQpcQFyXqKvNGhcK9iowxDHDOgEYdMSDENpflJVNZ3RLLglQ
s90Xfidt8b1PRUPIceBZ4EenuUVrrcVfOybFNxrJoO+MVfR3zt+keoxos0K/UlE0HDpcSMlalE02
bkTtmreVESF7lCCONf3JjRvtoZ7qJFsDTgjjfe2OYbuZrZihQgWNgjZ/RMMZeiXR0yjkMivcOlki
vyPe1ac1tFAY1fQArcQfnSQF/T0E2riXaJ7ppLjKucqaMURy4WaJvpkkEn5f82pBunyVZrh2c7N+
TpLWGddG6+XPgUbsBtabpGthh3P7rAVNzHSFJok7y7RrVGgMXmmDmBLpxboce2PFsM9+HRWW6w2J
Vw6uzrTpa98Lhy5eKWhgGe25Ou+3I6YktnimJdj/7bQSqAkgjWKr6mxuRW20sccgcH+TIz57QtU1
QIKB+pErx0a05eiRBZAVg4igaGIQyKLxaO5CgEAxSeyZBFhtxcNCBOyht/teV/Y67ngDDcgQh4z6
0Vx44cZJwQcygbZSvLB5xsw1ERHbvK2Cpr5oxji020YfULwEiyUBV4k7Jfs4KGxxpsPRA+tkK/A2
pZUm4yFvSvnscDI72FGT9+tW2OpF46iAq1abwsC3EBRG6z6MUT0VguHlQw5HoKiucSOTZZHnCu1k
rjtfjXpAVhh49cT5BNef7+pY8NiEZJ4tIWopZG/8X3yyWVIy0F6ZsGGjPZ18F5kceGZiNMuVJBGW
yxn0pgZAtNXpV1mc9/y6A+S9Ug6qJ5qhA2oZJwmBTysZ6B9jJ7tubwRNRk3CgHFnYNpC7D5Bl0RV
bCMzFwRhiP2gJ/m9LWTn7tU0ODiJMebwhxqvNPqjsqATPsKhw01HuJqXM+fWQ4CqbCJEkbSqQ87D
g0G+HnLK0W9U7MZvPWbXRdE/BEa1GXSv0Yh9CGuzxNcrQSwYM+aUdMuQ10mvpyQ9l8SAHUkRFz3m
cAgmvuflOUHlIJ1JQknC6r3hQqe8hQiHFpMDq/QBlVWKpR6VGPPhCasH5LgeNq9G/ARn4A7NNA4F
HDmE3ywzWDROic7+usqDOXtMZy/5EZYsWJdpfEa7UXDORhqBysHSbXXK7b5vD1XipT1p5HHy0sW9
81vX6291of53I5o/7VX9P+w7LQOUf9928uf3t+jnCM3lD/yGZ3R/oXI0ACDSKQIevoxVfm06MVVh
h7WZt2hUXlTC8n96Tpb+i8au5y6PJrgw+sD/03My3V+WrqLmmCwCNifkv9Vzoi27cLD+2cagSStt
Gl+swzQyXIu/9ufidgpTV9i2V/go3917zJ7XMKy9PX2yR7A9zaGe0I9NicZwEN+vrzrntUZ7uCJW
+FkVWu3HnKwPmfCStXK/aWZ6G9cx41ce7cpszmgy5Ipci8tcWsUVgiJkwEkBTI5oCLsgD4ygaHik
5WFuqI167FVhM54yxh1VpKP99JCSJ9nKKy+kul3YC1dJVF48K/+KyPYNedDebNVHI7yL06A2rEhS
MfptZ26i7AmRVjmeeu+pnbW9FRzD4Vgk8Vl3H9NaXjUJUOaa44sG7htdnVcVWLusN6/6xrsjH+mi
2WnB4W3e5HF+03rjWjPSjUukVlyz3wKxSMeN221lEJ4aq/Edc/IT1E/ZxYjVqk1hF1iCPBPtcbZn
MpnmK8bdq7HO98J7GJBvAKW7TtSXucCNDb+gmgBZ5P0qjI44QC+TiY6EuAn7mxkRXvEU5tWOazng
x/fiy4gFrT3WZDC14A6oyN5FKB6wUTY0mJFZiuZBha9U/cTx+GF2H5RYS4xkr9fjdtKpSO3gBlXU
xooQxivtEpnVftZCqPMQni8lxhOYGm/I/Hd5z6i4HxkrjMPZ0YZr5AP4LqI95nFspNsxfS1BlKxS
LfenDBuviNeGsYvD6nYq9L3Xk+klrql6KkSKeXvgeJHchrwsOSl+Ko+yv1HGU4LdsbMmvxpusvaY
JBV2YBwzyBcJ+/KiA0Cdc58SuJZygLECdRdmBKPoN0Fh4U7CLKPUTWj393DOKTEsxO8Sh2SV8Csx
5V/GMixXjj3dhqV7wjqTrZyYLG533mrt7PmjZm6rQbtrLK7unKYvWIBa7POlj+7kQ9feTb111kbZ
X6bkSWvyXdhjunWI7uufKwZdhxaOdGKla0iUYE8m4xGp0mpRXUAj8vGkU98d0DUtVSy66zrxmXZe
29OFzMaPBDVJQ2JYoSyCGkv4OjGSzC95hYSoG9aNm58ABFIWnqboXhHvVhukrlqvxCE+qtDbhwly
qS5H99DfNElFaeGeOQP7jOE2y5SoiL5HpCfi7H1uje4+iIsDHnOcbO5aSHWFxGtjxtZtw/FIr7JD
ZrKTyuGC6uvNy6wv0aRzH7x48x4txDqAvkzI6cEs4eHjxivWZVkcQ6ocBkOn3hgJnEeNnWvmDU6o
vZsiSe7zjyi0+FrAXfvmoOvc3916Nqyrbu7bV8dQb54qlzg6vo12WxCzAr8fCzLgLvTG9ZEzzhdk
x8+ey+MhLPnReNq7btCrid3eQ2PGAhHEyNWTkyEyBODhOgnzG48STRvd27ET9Ta3gHrAoCiwOYz3
HC/gpCDDwTLmAG6hwSJm9xCVJqFmIYfLCVbzFkvj9eh4JZNq9TjxIKmRVUHDGcBwtyi+zNUmtqyX
NL1JScmqA5T+tbyP2zc9mOYVmHSykTh0V9E33a2vIpgbxoB7LeqQ0aWks7HxC9afwJyvM+wfdyyi
w1pH96cXPNPAtGxi9jL0oAbJv059X0biHDPEOLCmm7t6euyKlPGS0d/UofMS6GBb+tK8Tx0IWHMc
b8yW9CU3UzUC2+aeRivBHpOBv5tKc7TDAyC7bmuH1bzHpJ5vcDDb2xll+dHphmQzpPHX1GhOpett
ujK4dvuS8jM9u6U5PVi59qwyuglJckoc60ovAEabp06E87rq43cEI3ec+M1V7NnvmHSpAqCSrJsp
ifbY+MwNsu2ERAzUdTlQ2L6zxBfZen3GF+6m/mQhVmomjmS9SnCtoyl3Jh4jUwTnYJjVVVwTfIMr
DKWtmZ0dK8BbRNCgyypatFdtbS5AkcCgrO42bkwXCSN2fzBc0rS0Sj46nKYO5GvYB7f17HuhrG7t
qBFUA6Q6zojBS4uOamvbY/yE+34gPTKqbrkxEjp8YXwmERAMD6O/ddiY5d7OEC/gQ603WATIMmdl
XdeTHbAPgqat9fniKG9bz6S+TILHrot2oVz6c8YbaqUOrbmaSKPU0vuQKcZGdcolQ64qacthUTbK
71Ub3uuCMC+w79vJuAMQIc8BxSmVddVtFEvVjXLiRdvn2cWVkma7lVHbf4uER5I9bB4CGByEVRxF
LBZaoyCJ053X8HrrJVak20z2A6E81WFMHBbGqVP+GH7IZcMLja8mrcZ15JKHOsj8mFbtuCNVlotc
ge2oMROMaXoALGZubMDj62hKv+AK17aQzpfIrug5C7PVpMkzaS7dwZyc+xgH+8WkMHxDUAi5HPfL
MSCpFDiK5fo18T3rSaebaNaY/cD76DvEXDbZIzEHAdv4lidLUYGEdjvbdbaljL2xTEF6CJwvwqxF
u7Eq1M95vfxtEs19wDZ2Tb3+KvVs3FG0UxdE0T4ncX6QxrWluYMvS6s+dxpHA+cJCY23m0NSwFSC
eFWU0zcjqTpWhzE+uRa6ZHQC0z61Z3Pf6V3ti/oyjTtcWiqeP8I21gn3UajTbPU8F8X33g5vcR9r
m4hYI+CZ2UWfkkcZN6japkuU67ezcLZSFvvW6h4MJuc6tKQ6mN9GJ/1a1hzQBEk4XHZyVHeWdHe2
26F/3gbmeRzttY6A2ytJCWisHQWoH8VwZCmh4KD4QxMdAQ0S/626XRZAKZnqCyXikdbZdUiNkQ3X
dWOBBSIZq6oIHLU3ok+JAOao1pj6RsARXJl6dcW15+hwL0yEt3RjnC9l0IBA6ucw9L2I+z/Sev06
E8jumhxD0wpZDjVvTiwZagUzOADhdHdpaGAILPpx3UalkNTTZhFv2nrWaG4OHozCucFyRfKMtQ+x
V/kiRmTqW+CGj6R8E/vLHPUbbQ9YJFpQnujOpX4UttquxKZ1i+qFLTEyymzLVEusxYwTxg4zFMu5
iZCih5kC+1f3kZCzPXr1fOojU9zpKIt33TBbe1zN+hlpXfIVyH19V6JK20QYh0DsEe5xbyJ4hCcB
eW3laok0/aIe+2sLQ9ehrixtn8Ake1bmiP95oJuw0volf0gUxb7SqukhmSf9ojyrOzZma33kOi6r
sh3aW08Tr9ZQsJlmddJeua0DSwr5lbVC5yiukjyi0nSL+EHrBu0g+eirPtKWwRSnE2Cf1gEoQrXH
5lxvKEABiAT0F2C8ybWNqtYf9CE/qthg13DAOW1ZPyQhDZXcj4BMjwB8XowG/+xWbzXrGZwCEpMe
fFMDNezGs0eanV7eyI412sGqW7nBo9133sEUBWOKcGEeYtpn5cMQoeP2O9HBI/o18eQzVrngJZdN
dpRyGAosozNnxIr8ipnB40rUmMZZnJpuR7e3u4yFSF6Ul+Ee1y3aAcaQY1Qusqr/jmLKxMoqTFBQ
7VcL6TILohQ0YDvzYpTuXeyRqTkSuBWCu1KYcGpl4EgSx5pMHd+KCUnhSoqVDAXIkfLKVeOTmY5r
vNhXxlia3Er9OJ44sDfrugfZCNSX3mAafJXmsM10vGIyLc6xpp+9iB0QfsBB68oHd8gfaX5sk7Zi
U4JKZ5YP7KtH2bgbRNPtelQk8kFF+YK7Ql/ZQsf7Dxum1rCFDUlzg8WM7Liu8B3LwvLHesmAIrhk
hJJUenTwmlfuQcQ/6VBtPDt8KlOCnfIAr4IwOPlpzaEso+iYuHQ4UqNH4EnuvJ+H5vM8aCToAFaV
0lF+arg0zW0s2DhukBTH8ZGA2OoBpS8dYboWD/QIOpx99DfsgaKPDFKcComuyHdTj6AMvbs0JR6n
CGfXbzP7yExk3cVOuEVLWl4zhofwheWYAMo0WBGeWIG3FsfQMbf0Su8m/StCaF9WrW/1akfKlc+O
ssEfyhpi+oMpNuTPng2Hi5RwoPSMatXBch+nlL6T9UHk9qb2+m0rXOiDGDZUcqn150rH3+Dp/feu
sejCcdReR/gOt1nMra/jqYLw2IL4WNlcAIqBIT1pGMfXY1+Ga9o33brjPMq+IfJTASLR1Y2rUDTd
kanFTQW6bxWTcbDLPEmIfBPtKoHWuDGDdZMsPagATtkm6/OcikU5gGETTMKkZ6Pxg7tGL1fKZ02x
RDSRbYPAS5lmm7lmXZGEa2/yJquvI4lcQdcxI+cAQE5NZ/BQ6IGRb40QnFSpZeYerTGOlzgrHkch
PJwoenSTGRiTWvKFnmXWTTsbsyWypgoXF5Qh7xnxxXxj93b/yAwlu3eszthrNNy3ncINtsCOrWcD
ftsl6mvAC4Xw7uHTRD5JeKaxauD4UtcM9QGcVv48oN19CBmzv47AMb71nDeO7dyBEbUjvdl2aMgf
MaF3111aJEcRudlXO0xhKPVp3+/MQkGLwsDmXRHA0L6AOwnuU7Xk1nQxGxOpOJx3jSDOHzo5ya8w
oCMmMchJlwFsDTPIgwWD3S7wDaNwHhCAGlu3SMer1Kq0E3AOajGHG9V2cv0+MGqxLmMlLoUZTodc
OfVVkMaWwcypYuknEbvVYPDW9plNYD7Npkn55lqqeG6JMOCmmQhx05R5z4Q+ehk9h9RtGU3Nc+dZ
rYGhZzSeaCGMBxUm5sbN03IjrORAgzQ+jPANmDa3yriDSTnTqeaQuzaKKeXS9GzUbuP5BoFCT1li
mhtyuMIbz+ijj87sUf43oUmYOhMd5hKBEwU7yEMA/QJD36I6oUR0BInLqReyR3gQ+4jbC3ChFpui
buQmGYpzxF0beyNIAQaO2JKlpjfrlMTJldnaD7lQN+y76G+JDfTJA10lnQlyIKKOSdFR4HTY6yMS
Qo6cJHgVs/4dlYC9kipY0wCKQV0k+ftEPNJVnyXo2/MeU6IXMcNheB4IF0ZG+lIGBkheMiIX9mEi
WcOdNL4FUEW/EqGBVaVfihJ/mZiMF5XnV5UFGrkTGtpdU2UrbRk+9gWgmtzBGVkhCzhlZNbl0cdM
t8R0rFXfac8YAA5elwEUBcRnNGT5KmM+gtoJAOrL41jAhI2ZkK1wnp1LI9v24D2JUYUGVuVrqtKl
jrx1HfKz8YP0ewKc8Iz2tzZZ59YM5Zu2Ax0lbNrrsoseNJLIV7MsyzUn1gNxwHtLKXT+A+3kVatX
F6N6b43rueTkRaYZ7vqcKrtyfD21LT8aIfOJgZYGWtSV7a497xTXW2nUGc8Qswzs6u+JXpD46rxX
Y5w9Frm4EHShNk7dcMyCbL/XjYZTt0F9lYIVorI6cCm/Y5dh5tEFYhM2pFYB/GTie8Mix5qPn4ZP
+33qC7iML4GYJ9+mb5IE/eAXJZVBCyUIETJpo26WWjt7hvgz6B3LpRBPbQj0Ja8pTL3qRIBmd9JS
W9/WUbQDoe1tlBuOa4DM/TrN6RcuXBKC5beme5bZNkySLzWEUKbnbzj+h3XcsYeGeLX9TAQu9uDS
3LELAWZj5rdRJRCiKKKbwhxSbnJSgvc1j5CPJ725DWcAXnXjsrTkq0pHSlaO56BzOWWm5ZMKoahW
7iv5A73PSC7e6YDFepx9nXPftchoyc28AABiugLCPvEuYaBJv8vbdF8nNbOxoLEwl1T0XbzpW5Bp
584L7CvW7AH+cHMy435egTr2NsiysFia3iIaPms0hDZ2aCavIfIODkg10WPl+KEPrbWdl0JUU+RD
hq5xlbbmkfnmmqbGaxbH2pnsp3OHL5kOmq5fd4XtXcZBwjhslLMbsE8T1ncqq2DTYQtjV7IY5MMM
zRzvYnMfrBznHjdu+SSHGaRCRit3EO3AZYDAO/Zg6rQIvQwgB+ssaD3dS8m1CeshwhzUXql03pEY
cJsXHPFlbzxN1N4wb7wraYRcL3QBGq2Zhmm9WWwXnVBRho9gDbKdV3Q2KJ2AA3wRHRpC4XBbwkKN
xhsEBNZDTp8xdiXgwnyeQYdGDuSI2tka5ZTsEjRdK8717q2I0jfwDjfGbB55J//F3Xlsx65kSfaL
kAuAA3BgGloxgpq8d4JFCa3dob6+NrKrc2UNapDD7uETV5AMOPzYMdv2yjvxzugiHnn/IyBneIgm
m6MQXsU2hIDtEgZlyZEAASrNrWtU901If1kA4Wfls6q2w1yzxlfNloTmmUq0dQOP+i8vK5byICp7
JKGLzsAyYuhPN4M5tfd9YtU3rgZ3lurO3vJc9IMj2NimD0vx4akLox/6jbNt781fnpsQg6dB92nM
Zx77rHpAR+OQbEe9i+CCPdBjjUMEFh8YDKv3d10226fard3LlMMJrgzAEJ0VJLtk0GgzE9iqhnYg
Xlz3uQepPKm9V6Gz/TD5amPLur7nxbMvWQcdoGq7N7VkpkvOYOmmN8srnqia57wS3309//OtxE8k
nJoNH9FsTV95tilTcqRyzA6Rw4k6qR1tQRSM2hulm1fh4VlAi4aNL26xPkZhtZFAE+IcbsMHwFHz
ya/cZeDxm5PVUjTDJOY8TfaU7X01988ly0jsFKPGwCCMrYUHoyVKfufGetomqf9H+wCIuXu90qC4
Qmjn4NUl8SoxsJ7LA6wVzRTzlY71JTXHbBOE/EcNNugc1+GmNG+97Y6ndKm8a6GZY0/EmMMCvm22
plfRMx7zQKSeCLjyTjkXFdRZ3VBaGR5Ny7gbMB717CxqHwNI8sIl2F73rX0gIJtuXei46cyAjP76
Zvped4fzzl05haTtttEW5Q/9vuXMxfHJCtTxYUgx/Yvi0CpEknoJmr9njSrxYlXuuaw6vQkT7RxK
J4hRELh2VQQh73hdwqzqJ96Daf0bG81mrLJmi6uPaCF1fDvP1h2TH2jxk5mxmwhJ+Ow62K5AM89Z
U16Q7MSRhtj3dopMQGhee8qy4ch6sT6kZiFXGmJOBl0g37C1mFcwSVj8m9AcBltf8uXbbhQ8JaJr
Tv0SYbWmadvbgu9l+xnQzMlWJxzZBLvDZfD5kCehPLGoaXeF7/Qb0drRqbC6L53L7jkNvR8qa1ke
OyeNlDyAbt71OuaNhOGWBnfNS7JUJhX2WdF9Nr77AUYloC+uF8+1PzzzMbjXhZdsahH9cPuxSV+q
kxhoGYLedo76tFibEVJwMA3JFjcLuMAx3Jp4bDZWynpcG8Mxqtmq2jMDJVTqO3be90wNNy+K3gxw
Jl3hFHt3jtJ9k9qnIqKIvW24C+RFfAF1c1r8f2sDhi5jPNoZyqdejSlma5CYQAFOWTcEK5Hexfok
iwOV4mUGfqu9MbZuiEDswmnBl7RevpOY0UqAvaU0iFe0lb0pmIbREHd+3d45ZnzrHetBG+ibcZtt
4bAZXG6Cm5AYC+iFZpGd/xj+yi344FeE+9fViOmpSrqDMNX9qNInVxXR0dXDzWqbU4uBBnPLdNUZ
i6PG/MY1twBJExfbjiK2zP9wk5qeWDqAWcq7QOZzqgpzyKWt+ctV+4CDp1zCCDtj8p+CJr0wVt1U
qL9LJxGgiZ1g4T7XWztyh9tkROd2YqKrgclgEzfx11W8uK+FkT8EkaK7lWNrJo0tpkMJynozB7Bu
x+A0BFBp+PYna2gigCimh943bzXvvMF8aZY4ZxmvUyKFtBTSFgbTuWi7J36sKy5KRIB7LknUvd5P
y9KxDjiZ4fZFRZvdwHSf9WRvJD9N0G/lupx5a8gw/rbj6M4qmYJtqrRrYuewJYI3agnLlWILKal3
9qN7bxHpLeNNu/RCmFN666t03viCh1+n1XxLLB6pQYAdzbR0j2gs70FTPVQ9X8s4BpRGspUC4DwD
XID2uofL8UfwW2o+0wPOFEPp7z7m/QxFunV3uXfFCrCLyKUG0r5rKKf1mniHC2ZLMTv21z+5DR2+
8D6HOPwb8W7z6mE7l1tIM89Te0fCHi6zPrEaXsPMOsBRuiVJeIZh1PAqTlOugAmeZNPatmhvT9QT
KxoCSKXGTYMc52FWyc35KWDH+9x0o/tUQwlZGyKynkU1pJhL3QioMwJWdWZYPuFLBQgfhKAtNfPd
5LjDRvApTpk/UKydbmM3uGqt2Thid4gOjeX/BCVHo8X6dlXacw7Cbmmz6jG/pA0x86ywcDlMq76m
twC0vnsi4ZUfm2IJhOlblrTcqMyJRvEcVmVYGQ+Zbk9GHj20KRAz37nFRk4PaFxQkGHi+gnUmXKr
+BQAp8M+Gr1ldXyb2uwI0xrjUj7KLXKeBIHd6XXa5bQ0g88v0BRfUqieponEOknmTvhXMZfy4Ely
ApJghx7blTm4OLx5Z8NWh9TJwUbMj6C7Vz6TCkghJ32IVcwmLTD4mmrcclc7MC513O2KTN3mBtov
Pl0jmfdq+qKQ/LbAUwClaBBobpEzx7XshPNqh5Nv70zlo99C3VYB89x3p+Id13rsURknC0fXMaGo
ptT9npTKLkF+a6KGPbe3C1LBLYMWY3hWg3vBFwLlBZBEvYmdZw+wFDCcSxQ318Q2NqNiAhNk1vmp
OX8CUXZA6TJnrXRmvxqKSjKIpcwy4LcBvc2arw5T9y7xnmldoMf31cmnXehm15iW4ag9pv0mHy/U
p+2d6CtgDKeEADfyYg+gZKPFHZf/2lCremxxMFW2QFjePTXuhPqKnZ0palqi249wMu6xumIzgHtP
2/iMr7HOCrx+lxznmJl8lMBba8ZNcBQctbvU67Yq5VWHKJN7f4oi57josemkwZo74Ane0gbaT75p
3CR8rhtKzTFhUqJN9GHt6dw8zj6jNsgsz3xMcxk9YQZs7ssCgbCem/7YtUawx9UBp120yacZhM6e
Zric1Q3n0LrtBmvLrr6Cb4y0wB4yMf1z5ofO4ibgS51i6Au17k6hoMdZ9S4EVFhGr2ViM7yNHUd9
aqMvBq2Tbce4vhEftf64kifYrSeFkJtHv50jo6OZcUSnjlm9aUv1E/fVeGlA8iHg5aG3nokC5hH0
ryxZaMup408n/HYFv313n3EdeB651OMmBgRtdSz23PcmCA+yqJ7S1niRig4KpNU/4VRv68pkC5Zz
iFa2fqCK0udl9crmnM7KCcdTOJThqmBMwEW49nwoe2jV4YlgVbPJwvzLTj0q17NXu3eOeAl/B5dQ
QVdTOYOFmmY7ZnXvUfn+KQjReevRvQUSbReO1M1MeFq6AAdczSasDt855ZNNBs06qcWmYH7pXdaC
1EKNq8bkaRniQ81Ww7GrYWUI9TAN47IsLe7bQR0gRl+j3Lk1rvxr2O6jgKGdCnWZcxp63KFFI8DC
bejZOERZep9XnuReGD2NJgAaod4d3q6rqZ15g2O/PdQ5FtKRqEDgxE/NKO4LM974Bip1JcQagPpF
atY2VnYXLqCRROpPN/ttLQ2ahcv9mikVLwmSL7bvjvoo+ati9Kxw4NUWwT+QlEMAx8zX08jlNO9d
2A7x1RH6wVc4cMM53OP+/qsDDHcU2P3oMP4UZsX12ktO7WiX4JqNQxi5eAnj8YDZdS+cZifn6BR4
rIFCt2KzHZ3TMHjlYngV5Fq5IST3I/iOPJ6upL4BarrjKimKC5nlS1QJn6cPuKEnlzPZgu4Zwi0a
pgkkAgpJ1fCF4gB8r2e592M4mc64LBhDau+DjQlUfF+7jCyh+jvVxS0NO979fvxkxh62vIb+4z58
BJq+NnMs/850dJS+KQz4EVpFGNe/tmNgEbSD5wQ28dA1iL1y25q2uXF0s8dCLQ5yKqedKkaxnVPy
wzEBl9WQO9eRm6IqxD38n6OXko5gmPyw4gIgoGf8tfQENqOzfnGpBusy9U9swaNV4+v7eLRuYTBe
bTOCxheCy1fv9kLU7SlVktOjDD4DvaNq5Mr6sMbym20JNSUMMAHlHi49R6SF4STlafIDYROo9goY
zSo1+2hNjZRlWHc5C2unQ2Ip7OMS1x2t/HHST748Tol98MviYSyeqIPaKOUtfgA3Ym3mtmuGVMa2
MKOLYDw3k8y20MVdcCf4rNMyOVNwmm8bK7ylJD2XepN5Nc+QISomWxRlLrcmIPtd3cg9GC0CIxmT
e0D1lJnm+HIK7xuI0gUbyJNLkYAxWwXWxF6sTNQ61dEaZaTTDqwxzyHvtDVIy/e8nk65dL6jFn5/
YD2yatvI1L9D4zgxrk4rMbHnZL5cVR6R5agvgHc200aW1R7O7F4HdCTNKZm2VGl7X1o2ArvR13zk
2EhyDQNMWwFd9c1vJ9V0RIgXsi60SxfnKeh/NAUNhkEoAx/zxsNWsLZ1+6X89MFwHbQo3T76UDto
+TkmmP09O7oEKZQlytlGDW0z/jUN1W8d+dNl/gsJkCue1UXxKuxrmzcXpdQtHmbgpi3Yf/pk4XBx
juq5OlcxEmQ1kpGo0/ydS+7RbNoPMCTvQxeKPZPjeRysV8i9vxSJEiJCwEP+Np5NHm0LAWo/Tz+z
22mwaZySke2vte99IB832JKogkni5p538cn2p3ufNg0uGPvFpSFza8eSf9g4RTzxJWYznSWS8h/7
kpbFDclOruEx400dapi8WJjizACJbU2/iWaP1XJTVYOvN7nJpjbv6g24ZSgltdyUKGarzlYTq42k
WEuNgkdnz9FvetzHOGX4KI9QgAv6S8Hc7DGoWLvaC26WG5iXkKLxNd+j4qXz8nVlG5+zUjij4mdt
yL2V9PyOfRpvRebH52RhxJCH5vCzRcXn0QJDiSWqbWjRVG2N3s2zyuvB2Nd4fPat1ztgzZJfNw2e
JkcjTqc2ul2xpyvwr/L0xofCWLOCgWtjIOolG9m3f8t2vDjMCfGudqal/w+Lhue+BvDvWJq6qBxd
v536pcWxpK+uTV/cETR0OQb2BqKh+0m0/9crKZyIrY9hYM4q6vqPnaQXeN4524ho2Up9qs7+U2GD
dNmkprQhUFZh4SpqOOHeZ5KqG7Cs/UrYxSUcG4wNydHx7Xt+XGf83jRoSHehPmxqk08TNL81TT7A
ryDRxjfd3QXxdVSviUydjfK8Y2rXp2huD03TP/p5Xh/NmkfLtcJnV3mYJTSmmMnC1hgMJ0+M727a
eFcQiHLDRvdprklnBcXZoi9DJfK5sfkWCnsn43bnoIitgMcYewUqzojEn7B6aA1Mb3Uw7wwgkGwm
2WfRNgAybockt6K95cHC2aii8S3y8r/NHIu9GtInqPlfPc7DUP5ARVp1LH0HV7D/gGqnaEbZ19lx
cmvcC2xhs/xueSzSapfH8zpKX7Std4F+TNADhm3mECBhrjVZcsBXnVFExITncEIzUkVin0pXmyd/
yC4x6RbDN7cvcbC2bkCvuOuXSM4PTezFz0kTh4+tyReKKdU82QBif2RWzodCC+OHFFm2zeO+fJrx
Qf6K2OcNY6udRaXLbzEk8RWKNAkO27UcVq+TeiOtM1wx1Bb70jeJIsw6PU+G8o/T3IidD8jwMnEF
usCOjT/DkiqV2GBuFQvVzGKnuStCsz0Y1AnSF5SF74MXfYQB3hY3/ZANuyRbEQUR5PjRbKS9xRdY
X/p4bkE70f+D7d48Wl3/SliQtooQFXQrjPJV1pnLshzowcnKfToCdPbdAvjizN3GkbGbLWczag/k
p3Wruvht8kmZmN5rl+AxtZISGj2DMXk0Wsnh1q0Ey/bnJvWMBx0gfIqPiosF1UFylWnzLq2z+yZz
l6LDg4EAcUBHMvZsmItt48zikPTqvknkI0a25HHw6g3GZPxTdjlixucpo7gwXslcA0e23pNEnSv7
K9XmOumZQNjMKLbPiv08cM1swvvPjio0k3ffvBvCYNUPF8sjc8LOJfLuK2BsLMlXDRc7CThwYLcY
G4dUGwBOmr8i/ZyDAA35leeWbBYzphPNf42Exj8NosuJyOrFdoelxp/mDyHDM9huJD2P+jSaIWtu
i/KUyWiLUnKN0vrokm4g3IZx0E7eFurbMr00nCrEVNNu65DQs9ISe5ZxX/lMDBx8NpBp+1gVxX0j
nX7nJ3orcjN8z/A57kTFxdrA9Djk8Ybw41tc7vs6OVfJ9JAuYtKYLgEjw++OUxcw4Y6EHNv+KdfB
JSSatIpUUG5mPxmP9kxhQi7bP20hP1SIBGy32WdoGv4r2mC8I7HMzR8Q2ppk/K4vl00ATrasznCF
OoIOVulvrWy5tbSJt258Xq75SLImzwFduvFdlM07ivbeZtWeO4VNt3T3yQShvU2D78DmkERgMf5I
a7TWE7HPu9SjdgHozxmg477Pp31meKQ2kswH7j/23LRsWFvzSFQmCL9jmx2gwvJqBP1do+OLVD/E
kbDqOFySHHcitDHmH7x0eXgG/HDV+F7O1RZOEdtsXuosyykKDaoaVhhXs8L6kulXW1N1gdh3N0gm
AM0/uJhHVy7XbBg8iq5xGH9hnqccJYO/TUQdX/HWUarOm7GQEm1UV8AEoudJRdTo+kL+FC0ZOxPF
bRNZ9QkDwF2bmK/suGMg6fmA+doFO0SSseBvwaL2nzGD/yhw8f9alCIILI5FQgj/e57ijJuqr/6d
4vGvX/R/MhW29Q9JJh5WgW8KyAjBvzIVtvkPE7AP/xqqswVOhaj+f+OtHPEPWwoBO8j3CaO7HqiB
/+Z4OBYZDcl2gGT6Qj9w/iO+lWUtaY9/z1TYlsQkb7qEOzgFaFRaMhf/hvLI0zAtZsIDNN827aOb
1vMJ6Et0bFp8aQCdWCPnnMF8wiNc1rve7vJX6dbfUZX/7ScBlVR9pIB7ty7g4m09UREgK27jlest
lg4pHkZS6+SHA+QXu/uIknHYTay0KxT9jU8XJYaq4Ralat6JMnwdZE9Cm+Os7AqA2CI5wJ401kNj
r6c6CpDZrRuJdeZaLiB9z0gtmFV8nGJP7XCqfOs0pm10Ysf1AofvB2cLPXTsrq6ljd4JUTnchJqS
WM9ykT0T1vVeHH5awXCIveZasnjEw/iOMn8Cyhrhm23ERhX6aNVFtO2D7BLalDJor35EsOWVmubo
EDzih2HOr3PX2MfQyM/U/Vz8iVkHBzS11u4Dk9xTOaPemZNXraegqnZNlt5SVkDbnjU4m+TunqCo
cXJY/Oh2OqS9Ad/YEuU+wPXuZ91eVhJNssEnXUeCS533qjooCC1dB4ILeoopPg3Y4Y9CPEURgeK6
XwcOHNNg2ja6PiQNaszcHpNxXJPTP/pmdOnhnnK4X4aaAY9ZNyxY2xesM/gkPOdZyP8JAzTo6GNO
QvE64TBfWwaZBBsoAOb6F3u0MRyHxkHNdkkQxMm3KYUJBpE0EtL8ZYboK2sxP8p5j1okSW/H9jEG
xb9Ju/kIG/qp4BVa4nkHzzqTlMVEUy7GPdeh+IraO1kQXiBAsMn97Ag4G4YmS3bXu0ty1MUs3ZeS
IjwsKMkmyrpzDS92qEOKRPBwrIwWxx4/jXfLwtSQlQqONanKFjOu3cmfxMcH77CvRn3Sq6oRJN0T
uQ9T/cUS5EIIDVMTRvAFyImolwGc5rVbWfnetFWGcz0+pE2f0oU5feTm9DcYoj3s7Y40SImEU7wa
XXZfePrWYExiOfccFtw10WezsdxaNgEFW6ltl1poRzhQk7TG2+f4n01e7Ec/c3bsmlBm8NivU3Ce
+F6q0yDNQ2ipR0KjR1N4F97GR8/ADNRPFndUjRWvdgQdh4b7GhJbMue82fjIWZZPJCmDlW4kIBFY
SB6yUVA8a5bbJdK/xmw5rV3sJAWzATpFsa2d6Im68l1UV1s5hW/DhDCf2eqzSVC+5vgLlNXrVJbN
SUTcfnvna5byo+3UObLjL+y0CNWji0NY5l+sGp7cNjyO0roId7oIEMjZ1BzsSMv1xAZ4cBNa4q1b
W9Z7mY0PwULshTt7qfIRwCtBnIa2mUo8NXb0UFvGY1LyaQlQyBrMdljJn+1UWKsws2BVL86yOWU7
FryJqqGCWFydLvyYF1fKLJqHFpZHHSpWZGSJ0spZmcixGOoPVoolpwzcQ1hX31Llx9Sn5jDClN9V
T4NlsF9nvFKRE23aVnMzKjkkMo09UHnqkA9tufYK58uXbX+ENFLs6vFVmNE5jKpNVxR8g6nwZsy2
n/mHjBZk2tsQ/IfZ/sNHNMQxaV8LudSSNA0TOAdOYxgny9O7UNj5rcFtc/RY0XiVfm7m7sUeiltv
RTV5j26fVVazVqYqWKqa7h7SNW0SdfwCW2LjJQlSSvCWIFz72DRpZ7Q2fp8cijP30MB7DcqX2H8p
fBzkk6h23FAZFsCC9Ini8J/7O7rPkVTt14wFvwrwEvrTV0Uli+JGiozcOLukC2hOUKO9tWjFU5HB
ri25mikFp6FDbyVx/LPw5N3SI1rpxVfJowvoeN7Yvs3Sv6RUgIdNz+xMCbEuMpKiOLQTLBP1H+bP
Ryef16VdwD317m1HsxBbVtgC2SmMWu4+Lcda4VxjAreo4/03qeJ6L2APr0SVPuix/1tUkbcfOlrJ
2hYxZSgfQJK2/EmVy8xN72ec0IFdtFQPMvosCzPb5ciVU/82aP4Joj65DFANB2VQQICJf0WT9Wkw
y3uOAqLXxvDmZdb81I/xKz6UT4/9YVA2X5NjwwPJwckUWA7MY94HM2EoRDdLv5otsWHd0Tmm26Os
2KwuHTmrdLJ3iFeaC2dIRM+jBqKhiQCNbTzR6/FpeHg5vJh8NojihX16N9n+V96PJa4QHW+DVryW
XkFdqscOfal1GweHNxOscCsKfgcLvsVEkRqnPE4gIvcRlTZef6ma6C/V2e8+8PeZxXRbJUgujZ0x
lMuveezPlcaFIkyHthJqNOt+rFma4OCWUflWWksOJkruEzFhkTF+MGbbCD2KOIX1qCYYmq0nD2EA
KEpmd06l7ou8+YCw/GjPFp4Jv7861iJSJnqDFnj2/SHBMCMP1cBkyuu8o0EiOCgK9ugKVQTSsTuk
wv6WqX3Pj/OFg6uFfVwfMoE5tA99bBu1fpRDTcjIIPhA+A1QIiv1So8/lG88KSwFa2X0ZxXUV14d
bN5rtUjNJhsMMNqKMtzGrnaJMT3kxCwQev2Gdp3s3vKdE6r/Q0INOR9dXBhEgyg1dZpknVCf1o0+
vPrAuAkno9eYlrSARcZUzukdNxq8lgGzoBfIt2EBEKiZHvtmmLZVDLSkTqrHpC7eLbEQZIL80Pcl
e9Agq7ez1259q7/iTt/WSl/sPKfmrPuFznOoZtCkcSl+IQZvQZieKdeZjwV1kzj/aNpweiwSEZov
AoZ1l9R/PKrM9AzlwsOcQ8OGck3MX8E+VgMmNTUDirBmjocOYse0yyeJeBeooxsJiM3Z/Dfx/E8y
MFRcRtAvtGveJpkSU50JXfBz8gCRJ7CzV/WQ8iPJPjpYIWcxjec45R1hB/2jsBHTyPftRe3bfO47
Ps6luCT4ItYOZCN2ETSejlXRYy6KE6yF7odg5t+oZMAHPJv4nVzA2aLbFxhjyOcuSvmMUuYXx6mh
b6X3LIrSkrsmYtSzCnB1rUoOHksvMgSxsyET+WzgcbPdMN1zkOkt2X+ffqKk2bJXopbWXOTVxd3c
OrhD/bzjsKV3sikK2DEMaXjPT+BXwnUcRm/D2Ogdzk+xF/hvCULSx0y/VkSdD5h3NxpsKsrg1DsO
Dih2zB32/lLaH9bSRN3yLgA4r66cc+de9BdOciY+O7mTfvkhc35ciUGl3eB3Bj183LdUSm4gCtnk
K4OdLvYRHCbutulyspsCdofrvyh7evR08meYqceAK9J1KDhaqlVLYQs39gyrUoznxEVG30xBsmz9
a64CYU6JA5TPrRVh8xQaC/hMcjbNptvAGxej3kE7zV1ThyatyMPNsAVmtUY8qJGD2SrN68BOVTlC
nf1Rya02jCfQ6ftpVOfCFkQyaWAO6eapJQUAchyQ//yXDpR2a/i/w4xx0Rtd2lvrnarCHZ1Y2WZ2
i2pnsYlaQSmBn8krXPgVKy4M1uu+kvmmMysOnWn4wwzMiAuFDT/nZWopOeEwJfVcQ+LxpvCY5uHj
MGGKbDRqSNCmHxlMJcvqFI2b/kD6c7h6kr9EB5lqLeJu3i1VihkB8nXWMJJTz7IaQ/tbNdVLGJbH
dNKbtBBUoguwGtP87Ps+nuW8eS67qIbSKs6dPb0jqTH8CDZl7Tg922F7wdDzDDP/BvvzsSv1mc9w
wY91eIZiCl7Dcj+h2d8pHO5r/I4nkeYHsD1nJ4aB7eF/79ViDYCnMKVcqJxK3/c563ek5h+7au6K
ksswKT1cDWlwYwdH7CLvz2xGs8WYBNmpyzemnt2NQcs8JtXw4BrBPbLqUXXRbyhivaf4ZpvzVoG9
zlqwI8XVFMNb5mNcyqPirzZYNLXB0cCRcTF9Veyxq+pTFntXBzLflu8e5IqZfuj0rm7cA9cuGqTi
90qOnDomiTszL9QBxGW/8wxTH5qa+Ai2UPcYU8vIYiMBs4a/ZQ2tjGKSWJlb0CjDSbTliS60l7Bx
zpPonFWTBB+95uLaEVrYTvQbSbmYOACNl/kCldXEby0u7cBOUL1Rldp1p4LTKMCvg99MNuYwvXc5
jgDbdO9jR680JYdbPAZMoVn3JlRxoRvs1W/ISYc+lc+VkBRcZx+kRaC8VtJfy4FkbhsM/KqWayDi
cSvKdpcaKIwGm++pafP7fqaMJInDEttRkzy0cfpp2fF8drR7KujoWfcNR+IoDCwyUbs36X1Yhx7j
qIzMK7ifewzIH8pd2lNlelWGs9QkVjvDZZ21/ImD+0ApGVVxPttT/A6p4jehkLA1sCT61btNrw2D
HzuCIhZAC9yg5PY8/fV6QfYpeeFx/bJ9eYuTZb5oC1wlU/sd1Em9Nub4yVuaGPI3T7R0qIli53C3
ZoKlhpSo5bBFoy92gAitv7FVlWuf0tMtXmCyVjVcpCmr8wuUXpaeYEUAexLDSzwT3SV+UnMUc0az
LJmJEnpZbrI8MxggAtaHgOkKB0OedyH+/J7GJIW5K+TW2S0tl+hb+TxjJmMMgdfdSgJU+ICQU7uk
//ar7cxiMOy5gogjydT7erEisuSxwsihPpB6XXHDpsQOBP1mZct2U0zdsWaL6FTNyTNHTCO+u0vC
bt5gt6Y1gMJJy27fywiEDgoBh6L2pq2He5Y3uvOgzPdxaMKjXTu7kiF3XsowSo0tyG9g9rnJOmzm
10Z63GKmO2LvbNyna9WJdhdKcbML6u0DiXWqOI7V8FCCTl5D9LqyNz0jN96ZrrhTXMFir3zpqva5
qN2nAI+5NVgHoqN43qzuoGeCAfH0jIzgrMCX32PhgNMckFao7AEDrc0iBXKz7maqJgv9nqbXomte
2sI1N1HcZQfbm75brM8NPpydww0sHJYxHnd7VlNXYLqxRWmuZ2MMoaUCjhaDMYQZFhCrucO6CFrN
ZbGQnBQaqgGhyH4bOBD7uXlA3Y73fZS/A4AJ7qq6uOt762SOpIXMPrzFLeRj1w9PJX8ObY507nrx
TyebS236a8/EZVUzTZuEYqUu1o6k/sFL3ufio9H3bv3hANMaVVYSvSOMVXMnMVNzrbuEF6kVHgt1
7cCFEAaoHkeiVdhGCigFY/w0CWmcyT2rjaJ3edf0PXd9aV4n6TxXbGMJZ4KwW4LRLH+sA/BorpTb
XFTfLlkq+ibma5tgT7L1sNdtzQbDutakaayQ7EbbPSdx1e7K6cNNXbYpUh6z8ZdM5jFFSShwEze1
pvN5xjBbGd/kC+M3B76JafrvZTNXB62y7yrkq8Ct21/xw5NMdGDPefGwkQSKVypJ7W0eIMDXQchK
lk7paIpR61KfsnqPCFuljb2FzidGopBVxYMSYP35beMh4lvGRcexVYjBiLZkjC3Gye1kevYUxIbR
QgYYMLxvHEIa2Jjdp/9cNf7/E9NjOSB0/ndd+Qn+1Uf2P0E9//wl/60q03LgucjJJsh1Z0H1/IvU
4/3DF8I28cQ7EnT9QiH/v6py8A8PnZl/Z9uwoBccz79UZfkPUKeWpFMBHIPlmN5/QofmF/Jb/buq
zF/of5B65AJz/TdVmQqiDF8k+mPI6yL+E8YVim8ZmL1JWNuic7S2WwtVAc9Pgnrp5t9+ylDE8MQ+
XFeHgcx9i0xKhffayOFozaEg4NzDAwkHu/lTDYqVbGEF71ERjq9F2pF9N+dncguAplzuX91YF8+z
0aKC9MGIoiGzn1zV6bl3MswPEn9k2tLS6PfRpfBxV5kNiBxUm/IL2yeu2HLsX2sYnNgWXOMhrBV2
SfwoPGkSi48rh+Jgm4ABpwZvu6PKz9Z87fkasuhvHstdkjpfQ1rSUMLVgUb1sHioABhsgQL3xznq
sPYNzjdCbvHkdMl4G0wiM8AxbXWVNRe9aOrtRy2r+UGmsfdeTiaHF9ySYm9HwXQo0sF7SNGljkHv
AaEhsrNyXV+dasGtw6Vskz5tuTY1vsyQnPCqqXNv11JcuoXn1hyGwQ3fg952riG9auu+Rpwa2XdR
FLYrQCitTNufr8yoL1rW+A6MhqqhrYeh7/Jf5J3Jjt5IumRfpdF7JpxOOp1soDf/PMQ8hzZEREjB
eZ759H2YWRctKQUJd31RiUJmFZT/RNLd7TM7ZlFLwLZ9mHdFn0B3sYPwAhnG3/v4KZxGfZgJhIp2
MMebXKvxsreyHNcFGXbfNnBq2NGNa5XmprXEuBN0zd8OifcE/DBcjzXWxC7DdMSoFbxG0DSnwq/H
Dba0k5NlJflZ+6vh8rGjmtOei+hnKEPhPSiZkxWwHjQiycUoyxKXQ8wpbEafwaePjchpnMc4Uq+V
CNSN0fo+GARtUTUWQhGIIk70iI3lys0bEl7oNagl+WqYMuuQqNk4yTDzt1ZtFW9d9uQ05QTbJ65v
HYP+q8FqoTB57WfpyclAOejM6wwLFPyBosV6R2LYqEDpg1gh+DkqclmF3aZ3boAoNvY9TtEkYIaK
E2g1TfTQ9dB/Wbz18ITKyz8mk3gmF/moBPt1oRlM9DnJiBKT7U4q1L0gpZGkhPeUVVLQ3Fexwqua
8j30+eHkD4XcOVZofymtodo34eRtwroUl3PITMBqsf32BeqqDQfkOi7c6rL0XOqX2yrOAHPG42su
x+mgzLSj2F6zweyn0dz07fTMPMNfz2MUBEfsiNmqQRM6+Aj9B7rylq2r0tc1jkTElcQrnnKbMF9S
E7XPXcaNcqZiMMD0ceo8g9rrEkxNjVP8EYQcV3TcTGfZy2qXGB6GKerdObWZ8ErqwHy0A6s++j7Z
9hVZ5/xU08pEnKa2CPElr4NuKVnBpkcLIiSLNIjv6JKmwlCUg/eVq+fNiyklbmZs6uFAPtJqQFXG
E2wYMdhUyZZzvg/tkb8TBZv42fkyuyGigIB/vJ0Gw+QWiUNSZlV1znTgHbGQggfTFV6AmYnaZkb9
fZgTJvYgVnDmDWV9n0VRjyu+IM9XJPFWRn1/xqiRnX1pAwkB2vfgxEN1tiBxrpgcar4m8qYrx5fG
sRtgqsqilId86Oy3kGPnuiDtuvJGfBOp2ZQ7FabV2cXFfG9EdLNjLL2QM+5L14lepePeNUXyCuu3
wz+LzqwRVi7CMAiPRhLcz9M8cXxxrsM8YzatSZ/j2mXSM4xMm4ABbeiEz0gOEfSqsfWtDAOJRZLj
3wQFrhZfshMDy6Xf7WSaHsdmjPAh2fo+p1oN1Mgigvu+2sbdACyEheiiBuDFPdFCCxwWQFlR9uI4
OeIGOuv7Mj63jWY7abkDl/AlMA6OQ+WhU0jMKYnejWX1btvsS3ZZyLk+pBMxrDJO01C9jDvGM/O1
5U6UzDPqAlK7VdrDENMz8RNt0G6o2Cy3YW36ux7991gznFx5zfBsJIpDHnGOCDUux6+iVvic1qSm
bxyLCktTGxtYM/05MGV+7BxcjV2bywMIhnsY/tcTbuB1oXq5bawkI/Ri9DdDFwXPwm/LbSeNLzSc
0v4WKJdMUWztaiffRr3/kit9rCSW4HqSZFFs7+DY7kko2d7D4d6Z9HpiSNJH3eIwDQxKqj3+zgcB
VW5FgAU5mKpiF+AfHi3v04rjG8XWbFtXlOBOY/AmPLbaBieCqziqyhMg4WqjM1hX6ODzR4utjdpx
7tPYYYaLDoRVRSUXS3iBWiPfIYMHH1uRc/2sZfIalj3IUSOTD0ZOelaAQU3oHv8W2QGecm3CXLP9
9DDTu/gaQU2+wFytt4YDWMrmiN6XgbstSMygnvOsGiMMV+Bf2Pe6utoFc1JduCWu5ameyDMtE07z
lptsZ7KxRayIYLrq+cp0maF2C+jZqVpzCzrTwtWEBLTyAwL+bu+m+7G3O7FzQPStqLgLPz1wtY+K
3rQDBUbDXs+WuKLy8kvRSGsfiEAfnWbgdBbWn6QKUwxSJFYBhUEcTEpM8znseMJ2UXDG32Lsm1Yj
Nggd0OQI3viuIr90FXhdeePSC4TTJZ+YCIbZnWoTsR8yEATd3PqXmYv0TtilPM6Efs4hGK4jwjZb
7qFpmWPExqPoKWNRxcC8fIpZ7do54sQoYDY/ekFEAo4W+OYbLnrC4Yxf5KZGN15r1ol3zoea1P0S
380LYr+50T6RheluYkh4KzrFhq9MgIkEEK3AbC3S4DKLE5cDawv5rr/QMrUgPpAY64TYpXgwj6Kd
yp2W3caOw3tVFvbXZACN6rBkH1NhZReIXT0JDXvcMlE08fu46WLDcQgsAX6+HuNJYQYEXhJSP3fo
8Xx9aYyZrZ4L68o7j3I6O3pcJbYBQ0sQuNBgNxQKqfBPSdQdqzg/1F587lwp19XMw3sAdgy3Kb1U
5bCO4B+dir60OdaMzcZKrU2UdOlFwTxoVzX5PunG0+z5oP5oIrztUFB2Y4YlxwmmD0MYR78k3ob3
W4zTzdSeiaatTIDcVhnjFQ5exwRWAayWSxHlV0TIOe8Y07lV+NMLLuR9p+pnpHDmajk0FfKTjiBa
BAp/PePY8bP2zaOeaW0kPQXdaPxmUa2JfdCUbh/TaaZDWItN5Xkfoekxr6GiizE/A24KPjdG3aHF
u8G2S4b3yvjSljm6hgzN8dJlKdtYM9zD2pvuOADeuX69c0a+ybExrR3Ahou4Sx4Tz0x3oddjJdDs
uILizBSoBDd+TQAEhPSs9sCd4tVU4EKPG7z87QTiCMj319qUpKmGtlwLA23aSkm/WO4mAFtB5BBJ
wpD+RwG7UjmnSXaXiMNs9i0z3hoiu6sBHBt1f7aqGH2S79hPW8zamodMCBNhSMEY474l/ObBiJ/s
iHiO+ZAYmlGsopaRs8S1H7Zfw2E8j2DCNsmUOdtBh08IynjYuy9WXtwXbfq1r9EoiakOIj6EOQbl
EmJLHbFbmZBcN5aKqBwH+T7TZnlhCKfcWT0b367vLqap9TamyE60ne7CzkE+DDGXN3A/Tik/PBwW
5d57/NacBvp16VgMxfvn0CrhgZlm9TRPwa4Po6uAkchqRPXRheuwOkNEKOANT2X1FGh5isdNP/I8
nVTW3o5BzJw2OLadXZxMOGLXYJuGZ0Lhh9nAulG+G6310DNgI+9pRhcGd7LLRqckejuN3aGuq4eS
gPfWhKuJbKZAIqTxVa5ygmhmrg5TSMqfvlLpvZQV7uAmM+RnOsfqS4p9bSS5GU7Zid0+P2rRbqsA
cdBCvUnH8irhMuRsMYbkHO1olYeEAXn66/pbb+GyDboK8zQTakfa9s6qNG3xIu7ZvMHlGuqoxANs
vvPpTqlhXGZ9CxTPafpr0aOZtK5DxUA2CuKNCv9HNNM0Cu95DZeJggC3poc065pnM6bWTXv9dWZ2
5i6c02Lft5VxNhSwMg0W+bLyAufRTRZDsuOUe1noYtuWd5M18rYJhbbENE103ZiAMMBrpM83yvlI
QRAC5iechTNduETMGLWsEdCvkFJOJWhzxj55dGrcaD/18etUt8U1hmlmJEl/SvLlyTT1yS4Zgi0e
9avI9MS5sftqF9aVecmexIEzTd4rpyPDSeGj6u4LaQsgOuN82RDQWkHxtI59nLaHZh7iY1e5NywB
C9kRNydO0m1aVOOz7ZucK6rhW94xcSTFJOCh+Kd+IB6d1WiOQ9Azk69AnxahdRlGzV1bLfQd2Trc
ziXoQh29pL1m7cDYA1Kx9q970TovDaB0DueQcLVhNwDD2ncADw5ZhoDPlVp6h+y+a8biwcbFkguS
7KnnfPamdy+L5I7VcJNHEQFqQx9dh/RRLR3xmHKdr7psAVOm4Gj8gUQBZQcMXAbeZ8k0ejW0822G
RR1lLH2j2oHxejgZm4RE/Dpx22grohnSIEd+wH4M9+KUkY7aixzpL8GKZpg8wgK3DLYB1LxnE6CH
Jul5apTaqKSD+mmQetcxVDwzwKLuqVNSwNVLvYtQkoXoPGs8lmYJYnXmoTrDfuwnJ9xSCXuZupgx
JKb9xghpdE4VoDdfv/pcfaw1TnpZF4i6fSQ/gJM+sTG67jLh3+h5vpUqQnm2X2Vc2RT7sPvJFLRa
1/fZlWDvCU3xbEMwB5mfsy93pb+t8B5wFCqeCm9m9h6GAsQqSh4b3nTPlrP85kbZdGqsauBLXDBV
KiWboFT3tYtNZsrcpkTSwLFi5V4YZIXrtpdq4ZLpKoXG1BMUhXwGtwwwhtzXjk1kMEuT9CQXwpkx
99bzPOEkVfR4nclsMlUKCc7GCx2tsIJ5P4XUrdT1XD7KjnsMcxi+LPdvuJrQbDCnhbgWxjjxRuax
zwSsB3vXedFLGLeIAjNP6ZUW0qFeXkzTlbOA3Poyzx+dyv7SjU1GdWuRnapCKrgCMBt7OgHYv4OD
A+WIpzfER2dEtk2AGeuYbgt9KxeUnEgKceSpFz3kyol3nPCMK4+SdbXSC4hO+XZz1VoSv5MLp27w
k/a2w3OMVQWInZFx5ksWsJ2HX458McM8EaQKo4eaASsvMLyeOMJz1I8CoXimpmOB5nFDSUKTC0oP
mBgWjcbO/HtT+WABywW755R5dTcsKL6ucRgkz7U6AC2GTxw2xl2xwPtcjgJrMrSMoktwwFYG5M9J
fHcXCF/s3bghTlVEhPT/5gKWCyLQkykbxxpsoDeaBa3woAQbq3He6xK8oNk13olvEeZguOAH7QVE
qOaGG7G3LACzf5MKx9zOom3pTgBQDBeTWRyANcQfVO+qbiAOmowu8aF+aNjV6GgmJK47htuJec3A
ptpiFjKMFewMmEaRcl7pdhbALdt2PfXkV3WVVCdYCsamBrpwxDWvWY8SnzmajB8dO3ir0O5uR43O
DV5qTT2xsa+8sD5SlQQQmen2egh5XIGOsJef0N4S1WHnV2ycoKMPJ8MyxFgyEkh0/gw7Lkcimdcy
43jvzDtgPrzZ8MF2IYi6Sbgpx878qjrtntjkextGovOBJnn3oEqYkdhZxRFMlvWakzbHq76AtTM8
3IBOlwwcPvi8CVtvbY9ZeDJEEx0oRfc+gB2U0Hlq473spohZtOz2Tr0MtFrPlnSEZs692eC5ig2P
x5XGDZTngXU3C5SkHnmGAGYd3Bg++gLLvbExM5eADKPPm5HR360tS/3M4yV99hgJPTBLwr0nxnBf
YIG687uAh0AKn+uODKF9nCMzfcoJzUg7MHgLyPczDbL+cJ+kNls66h4Nj/0VpUmQBOE6mWNpPVvM
aC5Ht2ISHAU2x6/Cj8XRxv9zTbnLAJUnmJIL0qy1Xse2Ee+1noqbgJHXHSPdBRin0u51KGxq3TC2
Bi9EjlA9bYCL95SLE6NlRiBMNCYrkFsS2u05tWLnf4CdXP7WSb76lr7VXfO9lXz5A//o/Zb8S0NY
F3SsSnzhQPD/S++X1l/I9ha/N5MAFjoL/P5/9H7l8H9JZgQMCf72l/9/FznQfglOy4XZb2EEtB3v
v6P3a3cB738P5sekzu7IVTTAmoCEvZ9M5P3IriFi7AnyDiWCZSMqYKGU85TvaophvkmKeb4wSu7C
XeS24V0PZPmzKkXn86CdOKp4GZu4VdaOyLBBjZk20omDAhF60ZsPgQ3vlZbYkyXn1wnyoiSN4bWu
dT93AoEtJCz04HQuepvJlUvrRN9PbGo8bGNRn8TNqilk9aUD/jcS5wtqpszw8OKVZ5UaqmUpM3jT
xtKAblcYwHAw9VCwR5iyVwl25hReWFU8jGj2rwCarZcQEt1DxGro39JHEuccNUr49qborLPhkHJF
fo86XPBdjX6k8CFcS1RouTHnynkVdrG8A1IBD0ZtDnwJ3d9Ygm5hvFppEjbrSQu9Tyu+kH0M4vY2
bRsiGl7GFHyfQcmLV6qzgSbGZmZdzELa5cEpIAsT3Q+zF3iSo2Ybn+n3MfBKgjfYQ9B5Omw+2h2j
D8+ZjVs9ZWaExaVNn4HoI3/hkK0J74SiQXFqvE8nMNWVqvuGdJalbea3ORaos2pqk0o1gJDhpqjj
gUD/PJXMIm1ixqvenwhe4vyHoxiji1PtIidxCcyHs9IQCFlds2Lmz7050sTUdhXbaupgJlzxYZWe
ZRYWb33aylPLqSFm214JB65RaH3G4XIOL3yrGhf3GmN7G0LPsVzeNfDXEIdPXDcuc80kxfBp1xkC
pCZV/oyNdPC3CauLAZ2Hwci2aaU6cBZ30DuKBZzXOXkykf9b8gI+T3Zskw6pIw7eNHhLCuvh6Y5i
aVbOcXdgvYActMGRZ3oYqDXeGTxZ2WOSK2ITnLJtBM+4cRyaoDQ0AXxQ/XVghlAik8kbyUaZFuUT
qYOwOJr5lZ+7/v0QqPql6xjurTsTjO3KLBN3WiWmFuWhH4n/0XBVlhUe0SkzEEiakTF0oNjA5XCi
0cLS/pik1FRyERGEPmDzZUfkNzFOiHFOYKxJl7LxFQ8EQoQwsP3XMqvhf9cpQlmXlypD0Ew4ftEq
GD8w3rIvlNciRWd5Wbw6nUxfkkynL9E8OHuwY8vBNGjMtzpvYJcRATNvxEyDKpU9wFJ2HoielMGL
KqAmKt/BBcxy+RK5dJ2Da/DwdzOOWNQRV/XVKizNXO5yAzIIQDsn3MxzmTyKIFtY/pI0BnlZWZ0N
mF01GtPgge+Yq/Zu0GRB2UV1Ed8mLVqsbHWbv1E8huW/MuLkzhwKFW2aYsxTBjGW+jr7ZX7T5ktg
eIzIjHhGBe/FMXw04bkmwEIvnNu6W8tqyKXkgF5SLA5pCAwgGat73E4E8iQnBMC9qlfrThQ5joik
hZDiwx5y9qMehpfGq6bPLMl4lLWaE3/bTVW5yS2rBHoBH+YADOyCvbK67WvV3tLe2vQUqJk27jQl
F28+tJQHmeewmEYmLTOPknF8ShmRAsJu7G5YU1TH9WX2sM5wlczze1RP4qwqz+LpYyuICHhg2ktg
xxM/RVeODDkAld4OcWHdMXkpq6OyVXfT1mRaMNISA1p3RTFvurgvcN64s/ZWJtrJZ2RpDZchIORt
hy6Oi1krgdfOrMMD6wPWuVFmoMSzsMlfsWUbDyELz6dDEsjZWrOWfLQKCzx1V0163xCq4Q1hraqP
fRnzYAKtOJGyLyKOC2SdKdkwy9FQBxy+Lp0gHa0ERhJG24LKV7kN7YFr200MQh6SLMOHO6rEONUG
Fwoowcp+tzGPfBsHhwKqhk0LV0gRxk/DNFIkoK2UZ0tjaS+l2BMXPDzyJZJZ+mio8ICpf11HudRn
Dg1WDZe4RwqwCZJH22pw628NEW0HX3FRfMo6ZX3wGmEQPvdiqoJFPNEHQqXfMvN24e0jJuFA3fbQ
k09KQubnKpr411ahieeE3kyIcKGTtOD/YZtUK1c1LAR8/eADGCChLAO5qHmUUT+26XwMTyvfapKz
1yGUbo0grfpt0syY4jjDo+FApJKfri/YkoKSeYTK0sAwNRmh8aRk1fPnms86KpFcTb7tNASuUu6a
ye3SjqMNweW0QhrYNqUhMwywlJOuC62xtvROTuQo49sDF9v7Jbv4dB4/Jl3w5G8SHhpxUKsB3wg8
vzMKYgHWvMa/nupE85GSzqzApmCC4bDPdYFO5ahumwVe/socFqlTFhJjAA9tLbaNq20CSHIacSb3
DCkx+lO6xtEYR1fuD+iIDjtvumrgbGOXTcZL340X464bua8pSX1kMcsIvo1ejeJTERF9Z4CsnhpU
kmCXGtzp5JHYrq5jYRPMBz9jbcIo5tg6ZxFniXTummsnDEZrZ4wNYNrYCqzhzky9+WHIO3xawVil
9jpN+QI25eCwSOfjwoezEO+vm8nAkGebksAPEue3cpwArQxFOjxM1eTSUhgO1mfXsOlYxaM9fc2j
3uIZQ/juOpiDDtIphzVqOQKmZ0QoBt/Zzh0hWBg2NF+u0sUpX1p22G/IhRBGp+2tBZ8cBK9sJWlB
CfH+r4OgJn5aSdMMDtb897iF6carQH3mAJaW6tmLdHWKJsobRMNIdiEuueU+63iPp67O6wunpEl0
F6ICNAfMi4xmIzMCnYdA1ffbCrAzYnkeubc4Q7qLOoAXg6m4d0skZ+5O0DG8s3VVmsWNlRhTT4CO
4SYWvNTkuY+WFq6zwWUTxvYxVtu+CV1r1QsHIgcIWpTHKKXogpoHdhUYB+K834ZIvh8p+R/W64ZP
si7AEhEOYK7xpAlwyZskCRBA6Bqsh/UMIPolLwaM06MQ/Leba2KJEv8JsmNS9fM13kWJnUNNbrLD
ZKciAnILYI3qv/bO7JSMNxOYzDPiQkbNZVZHN50sA9RMDKy4p1ppr6Zo5ARpzwocTVTQpwU9RVTf
ojryzm6SRl9d4fBLOj3uilPfhgHQoJGr/yDRZ11sY9SBc6krLF4FW5abFs/iAmNv2wcZee4NhBs7
ubCCwSfLOAayWbOXHViFrJbdQQVWBtReYAC/c/JpYBxdWuZN102cr2load1T7E8xA1DbxmhMU+WH
LzDtoTqKnJlKVo23Vg0nZmuZDV7yHt0Ifxz+FHnVZSazt1Xbw94hTOOGAKOdvuF/siAjFruh7Cx1
dBKPnShaoIahgOfnUZsu7XA6sJtuiajwm1MHET/mbNPjfTQnM/m7FlCZfYowS4Lnzuyp35d+X4y7
OPLgtDoU8+kODM7sYFHkWHJXucj2SwxenmRCz+f1bFsREwp/Gb33xMYvmtg2o2XqAIgjZxe/7/te
f5A3IbqzkLU9tmUN6Y5euLO38mlr7CiqgpSPjJnOB5O1Gv+Eb/Lgcv2ep7NGnbpzldvdT4YREATF
2vOAwTEAeIaqd9uFgAsDrTgeFyXPl2TE1yBGlvwqn6FkxHjT3Y2VDMmX1vM6HLTosd9aV6I9J2Xv
IV+WgsB6LXhSN1mqnF3Kkzk+yKYtb/OgEGpHZGF8zIEvoWlXwPZXXHHUqTqV2exnp3cJkWWqdOAU
5x0ZjIw4FWKVpBQZccsoXxjzjC2UiorlikZq0e9ydJeNrTl0MpUYSm/LtznOu5IvxEAzxya5EoO1
7Ok9eldWVRsTXTKTsrnEldsjgEwYUjlW8EscTK/V6lBw3AgB9oYlVD3PmZKVJSOIPhW9hsYhS6hU
PEfAQ0k4pF30ZtdaVTQ65cxtmdqGau1pS7xALGdjIXkMHswEX+45jlr4YYyXWYjM3qBZwouKZpXR
Zx8cCGVVxUk31JAT/uvgfRWhb77hUuRlei6lpyqfcC+EzHiczSQ671jpEoZr65kzIO4OIi2dBj1Q
RVMwJabFCahPVxdk8ttA2s9o5xMHCek6dDO4Y+q+Ac2368Nk5xinwW4BTupw/8wki12WRK8MFS7U
bhCbvFzQY2Zp1MYmpFqT3hbDADrQWyXNI70K9hxqIqJT7eiOW4GfEnv2iIzF0cmubkfAefLQ03MS
r2xvZKcecfe4uCqY+CHELihZKtmqu8oEPLPqgfma6OKevJsYPwA+Y+0dyC7RoHwAreuU8JWc/AzO
mE4rTBBn8hYRaTLXVjz/M6UOSR0ntHMPbfawXPP+nkUzYVyBKIFHnAd4eyx7u7F2LIZmuTfixSDd
pJHfHjpKqQFMjWH1yIY3xPBsN1+90XCX57wXDPjyOpBDpdK1f9maMRgen+HgvVFG/UD+oHXCI+Dk
APOyAxGWKF/5NtvCeDQm27nHd+FezbXBvwdAHxcWfiHIZ44XTIwUc4cqCtWW/rueKCHBjoD+Dq8D
OO1GlyKMd4yEOAKXVtzeGWnMNKULBOdnXRntq98NxoXXlxYZ3pLJZxENrrGGfG9dyNYuXrKIZ4rT
REmNJc1OoGzUg5iYqtsB7JyAgB57yyj5ljQYF9ZJH46kj/NAbAXFyOHJjIt0HxjxQloY0+RbJInc
7bwiGxeWEYRamE0zlI+6jYEzqlhMBcSTRH8GcDAZlICy94mbRfH0P0BFYz/4O+Ps5Vv6FUHpBx3t
7z/yj5Cmrb/wzbocTByTUkpTOf8lpGn5l+N5jhCS8br8h7nwHyFN/yU4LVGJaTH8tFm7+EP/wTEY
4i/NCin4k8rmD3JC+29Jaah13wtptobGwKt4roBb4kJm+NE3C61porG6FZuov/OcuwJX4FqwWV2Z
KQYbUGXR2fQuvvuCbv6R6f5X3mU3BS2+zf/934sX9zvxzibnC0wCDdFk7eAD/tSqCUUuxCMSUC5R
5cmGrS3FURCFtr9/lb8tv/96GVspYSJlmjiRf/xopl9mFmVjYoMZjUgFewz/0NDOCNUTS1D0WiTP
SXoo7TUIpmregl8mXyJAHwrQNcfq0TBJNp2c9Ko0NvS8MHogqsBfIli7bLopbS43FZORbjMUaxQo
+mlTc5sZK/fCvEINYzI89Gdu1Z67GGYPy1S2Jur11XrzCsjLa4MiZbkh3BVnm+ljgvO+Ak0f0wwQ
0m8LHn7GcXWRY5RbNpHD1gYSlGxh+VDN569//2396zrgN5HaAQCiSZYpyRX3vX+aAXolzJ7roCKX
xbRrhqHnYdSJ+7tEEYkAFI2neXZuf/+yv7oUsI17EEkWRdf66WVTFKCpCHhZEbL/EtixWcWb8ur3
r2ItcvDPl4KWkg9mOUR9XITp7z9dT/htrGx/Zkk89vWm0hsbr2VzCQaHxNIH0/OSU6pTv2X5U5Ne
meqaYgUAdmCIzrQ0k+sfV7V9NB+qYu2ON7X3nGiaIcQ1DgtTn6P6mskd52pgA6T/rEeHskHdvwbd
1Zi89/kf7p9ffhwX2jq7a6z13EU/fpx6CjVKa0xGxl2bznUB018zhA+Di4Gq+oIFNonbvcIdzUQI
krqHOeAmVvwjV7I4FO4eeTijga46p/MbSosRHhEwAGCP0FsfneACSPG2HI54W0JoI/EVtkllYZLA
GT0kt7ABIo+lrDv+/ncCQPOvnwksjYA/w0Vo/q36f2fiD5rZHwdK4zZgPjGGVPMuYpeyAR2LhND1
3C2V/Yfr3jR/8ZqeySRB8ZDGJ/HTd2mpOQtzqSi7tOUl4n/KFPEqJGQ7MO3HhY7ZGFfXofB4HHbY
hvboU5vff+zlIv/p6rS17TiOUqSuIaz8+HMWll/ifXXGTadzm+DOhdXUxM3zj2Gite2//1r4uizu
9OV2/3lwYhua1ljcsRs38idwZyvhak01RRHye7ND//2r/eK+YxVj6cN/KYUpltv/ux+UhpJilooX
ki2+dzDXq2LZcWSSpCBIgKeEWHecNPQGu3+45X/xYOGVte2xFrPIqp/WtXEcmRAToNqMMTVeg93G
GGuc4A9rzC9ehYXdc7gPTWGqny9YfJ4yt/mMm7ANiAPkUE58G5L8779F86dp17JgKkGlImsZIoX4
OdySRFaRW52YAYGnW3dKGigO8CI73HC651QJ5jjHRQz6pCbf2w5/eEj/Ym1QJq/KwI3FmufNj7/i
7KHx2E7PWYDkvxuLNyZW40ZMPQ3PzTSdAqRuruA/vOovHgbUr0seA7bgVX/emXiozZCqaUwt8jHZ
h9LE/4hECO/a8Xuk89gv/9mdfoz/J/hW3Pxzx32/L/nlK/JUxSCCc1yI5VHx3dWamFUSDGM5b+Ki
s1c2A/IV3VIa9RKpvjSofKStL/jDj/uLmx/6pXYU8C2P/yxv6rsXLf2sgBI3TpsMMONCVQ6cieII
r/icSPj+/kL65WvZmvsBaJjgifPjayHnIWgnvJZflrthioxtMbYFPXIzSE3D/MMt+KtX45UEZ2cc
N1L/9HXSnkaxKRcIDQGP/UT+0kZqX8upJ3YFavH3H+1XdyLfITs9h794kP740QDeYOfVJk+aaOBs
N9Jnp9LQ/sMV8u+PJHEBM3zgeS2Ygf/0pO6CmXmix6v4SY9jBCBZn7xPWIZtSeHM7z/Rv56dnsPr
2J5NDzmsNPenCyNioNINjRYbz2b5G2J3OHQd+eQhEU8Too2ozfnYQFFCEjv9/qXNZT/0w4rEazsk
r6TWbJd4sv34bYbThLg2wJMO3Ohjron4xgsa2B6AHBQDNpmKfDKlieGQ7agZrjc1YKAKJ/4fftV/
3ZG8D08oLYlKuOxMf/pV/TFA/h9opBjm9qvk7tiWgqyUD/NSgo2IQIv+4Vv/5UdnO8pGgJpopZbU
5Pf3Y1whlI19J9DOMAu4ePOGyrvF7U+ExCPDriN5G3VQ4DyFPaDz7M+clu12IUL94UdYXumnH8Hm
q+f05zmmQ+jyx3cCkZIcpIYWGSUz2OOMCUggqRKMK+OpouiIsl0sea7l7jyRPozjYGyRF08KLK5h
9+EfNp3/WgQ4cHJIxJFGnorn8U+LACOmLppNOkCIrAXrBWnM05j2qGlTYRVbAXSFSRN+/v47sP91
W3ta2J6EvsDhgNPuTxeiDJxRppE7bcTCjsk+ew4IQfBSlN+4ZwD8LOHunZ9vsSPRGOnNT5lzZSdX
ovmS9k9ddyT8Enr0YaPelqvb6Fqd0uEQYNCiP0bn+w5+i/om4b5yC7tHnd4Dcp/MbQmJNHiKp1ca
BzOXuODl2Fz//qOZfz//fvx92ekuGz9LSjbPSzr2+yttNoDUjEDYNnF9sAW1lVDT1dfJvclgONTN
a5Vrxl/XPvn59Oy7nFof3ATSHIM+jjDqqh6eTMSpABsXU4uofXG6fatf3PKQc6wtCHOvJnq1q706
goxeSDLpGqp6aayDbeXcBMO2bo9Fs1PDzo+PKegbeZt3t0YAfuyyl2fUsIIa6mFHEoGina12Np1z
a9FZxPDhZaSRZde1z314n6ZXlICoDob4itRO8b7UQUYv/cx8+zMI72f7CB2OUjKPqkIM+P6W3IC5
hk0rhkMugMMqpsHk7lZm9Vh4B4VZLX8YPhYKUnQH2DUK9km69uONfKQTJxc34XzFdjwN+Ry7Zt56
5UZ7O47ZyjqXwa1LN1W+wwi3ModH7d9juXP1he73bF8M97hsRSEdVTQlI2mKQ//aVFsKEkj4eLBK
i03/YV4on7zstZCQbY4w8UvCSNQkeFfx9OGYN6Gf7KL2OPfvWfgOWG9iOlheivlg1zudlSsaYygE
81au9SacS7q2MBIRMaWjDUB9ezDVxrePI8xW9w8r/L8fmFxT2LNcpCUhOPL+eE25rE5ZDvV3ExaM
9UwzPrMlpFrPyJ7xfsv1/+PuzHYjx9Yr/SoN39PgPADtvggyZkmhWcq8IZSDOJOb3Jyfvj9mncZJ
haozUL60AafrFHySQXJzD/+/1rdc5vULa+LffaKosNj9UtIhUfXsAEXDt2qacdnj8w8oOnsTUBFu
tgufy6+q0Pnnws5MdXWyNThLnE0FNUG15MM7hHz0p1xwbvFt/Y5MBfSb83dYWa76VTSPU3c/mj8M
86dc3B9y51LI1tV9LAPoMSXYK7Gae4rqa0Xs0H5b3nbQtg5tOOI/bfeVLh45Muu+f43vIHKF98oR
maYIVyCi7zi0mDq4xtV8bK+ig3MNmCS2N/ERqp8V0LWgfj/Xvre1rpub+kF36Dn49uSXRNbaK8KR
yA3w/FrbRqSCXoluVxgbr1jtDQAx9HG+9+2jmzzQI1lN7xgeVNJKA+xPShXw0QtO8RPGjiFBO2q9
CAx0RGuGR0l8bx+4000i94rceNFr09yIeKdra/Kgxv6BioCLHB/5zbjtZiht17CSZqLLkQDAEyMc
VX6x/Km9C+eXKn9a9MHmkjylfcXHRKtsOLQa8uQarInyZro7U5wMaPGtXWL/IkfiUHU7x7jLph9/
fuOf9lqcGaEKUONgilz+78eh3NJtdera5H3baR0g6vtuNcAmFMs8zuEUBv/8ahrAA8/1aD5QD/h4
Nd0uzV6aYMzLwUCGShVvqHXigGSoYdlPL1zt84mOki+1KJcURYcv1jvbGzeZVAwAW+QUuG7kT0Tr
BJHhNJtshk7XMfLszBk3bp35odRIsDStC8vP8vTOvia2yexlLQ1Ng/2rLPLbsQN0a4V/lfsdZ4/l
PE8gE+ievPDV/s071Gmg4cRwqFaTvnz2VHOvN0xcXkHhkPGFzsnv+hJp0iLgddxZv/BYP+9RlmtR
xzEt1aLmcLZjSuvKK7qeGA1sEzWygYOnUuHiIIK4qQzC0mKFRV1+Yc49v0mirs1FEEsZgEIm//Tx
Jl0RzrU1LoC7cvgiKvx3qnutz99qmSgXbvD8TMCluIzOlthgR2x4Z6M0BbMY2UNFxVnzumtWPvR6
SFJq78mIqXFj1EmawDGSafPnr+N8WVkK9i63RtneYOv3a9P822hBAW7oI+mvJOIyCdYFUkFaoTaW
GqQ3cCDVWXEuXPLTJ0LNA5A1vX8iRclLMs8+ESNWtc7tHWre9JgPndIQhUB4BYZTJC0Z2W8S4Jyu
bzuyLEd11v7h0OXyHqcfvLV0GokaWD6g3245QV1ZKQAEAg+YrYOVFNoDO5pmogzQkvH+5wf8eQyh
YTZYP6kjsc09X7d1A7hQrqQwuqoIxz/KV7dGMZVCXlgPLTK8P1/u0/vkL+QbcYCzsPf8xQj//eaE
jZeB7SV4dndEFaYDoHcIQgroTcb4RLr3rKiSC2P3V8Hm9ynH1Q02JJQC2Jo7lOXOvpPEkggpuxA5
nns7J5sl8UwNr1wkG7VxwuOwUgX7OBz+DcGQ3uQLEjyKK/5Dr9zOw9cM95yyi5vVrH6NSWuHV6hA
x0TcYomrDuSAuJqqdD14HEQRgOC65//XE7ed9sTfgUeWv8BCP8qON8+W/6pS4IkNr+bq6c8P99O7
5D5RrBtsh6iX0aD7OHLcHhUkkh7yI+EvwP0j00mYHfi4ql9ZtjAuDNRPcwKVFQbN0tzwPOoFy7v+
baAio5jsMS6SgGU6mDrEw8gJyDIVUJjy/H024oUokdz2pXn75xv92ytDhWcv5hhLEevjlcmTt7W2
qpNgSrOf5EMNa2cAmlj3MZIElb2NnAljBLnhXbjw5yfMLVOmo47Nkm3qZ1NDhxsfkxpRNtD0tpOK
YcdFT7ZK0FuAEbtU5P3UInB5tjxXzVwqIlRCz6aC3BqQrIEkBUwvaR9JOL62vSvkuLcGe4GmjQhb
+hLudUfaUi4rAjQvVUJ+Faw/fj2O6dClpAbMb6FF8vFhYxuwxqIZEaJjXy7IhVSVVdQ/aT17RF1Z
oc1fq8NTsVO16LFHTAO7DkGZGcstIZIM+LkC6KxmRwTlU/ZW4HLz0GVH5MLEkc8HUmKmyQmI2Kj2
rVfvOW5zOiwQvmihLwBat+kmrN9oiSDb52PiTz5CrSe8g7KDiPZz/jwg0PF6dqo5ASVc7Crkr45b
doj/uGvDKyHgl2I4fV1qEt7Z0+ixI8JhsnqKw5hhMSW6+JtxqgF7gNeCgVNdVV1lBU1k3REwjO7O
iuMLE9r5bmM577CHorWvGuyg3POKSGglbQ1mLdB6tL5zoq5HdLKif3ZGBzFeM61nUmX+/Ml9Hvks
wpZr4dT41TA9++RQzdfAFOtFTINgusM2OadJ5EcmxQpTvbBK0FpgUH0YdAYFKEq4CBe4LAvUx0GH
4BSxH3ExgXpnfK/umVvUZ8vgTLPOorvQCcIJvJSvfC8Ln16E1QRVRxDPWsrVCDMDgS6giqf5GO3B
QxOTV4SkDv7gz2586bwTkNe03rrahgxRJmyArcbb2N0A4qRGgbcHyxlE7gQcSrMu9ftq+jISNB0v
OU0Urhl4BJbimFvxp0BFZfuo3tEaEsJDpEgaB15NmYSawNrSfQciPSy+bje2gfQQx+6UZCspMBAy
q+xqCwK/b5CjxF44xBW+Km+N03wLZGkmffbRedHA+KuEIPuTstPKnQlr2IQb8KN0wcJsqQjPN/gH
Xfhjv0pN+oMdBZW9awSG4BthbZpm08BabljS8Y9sWm1bqrtpvhGz3y6RVJint/xLc9rAwsQ7O7X7
rNyQcGcPm/SrTE9GdNC+iAQwqR9f6Tfj6/BeHO2v+la5Kn/WVD8yCyHWKXJXw3RVGS0CsU1mPIXT
96Z+Etn3pLhbgtZIXbldrMyQDnEpJoGt+t6P+Hq+MEN/WhqWgYMVzAEVt/QazmZoBQklVtWZgYNI
GsewcH2DFIHekChLRoNA8QIRc+LoUaDSY93/+Sv5vHf8dXlUH0vrAYnLMq5/WxMTqxpdQNNtYBE1
gGMIpTnnSHSeikxd3hbWbSr3S0jjQNu+L4p/eiTg+jYNeioxjulSQv94fY0bTm3cqvi65aEAhxnY
dfeQz4Bn5nK8cLFP8xBbcsovFmuTukxHZ3OCm8RO60ijDVKziXZyCq+pm2/EZKE5mfK3qGUwQOft
L8wOC/LvfHLguov8k3XRpUD/8SZBPtdNA68iKFIr3Go9QWpYzXVgt6m5ZdYujollLMoEDcRMNp7a
3LaA8SWaT+cS4yjbtHWVx8d5oDpTdvrPYi7dA/s2fcnk7uNNmyhU/VBi+i2R9/909gY/SBmbQ5RD
gxHp08dfj4NNx/IBbLxX6mNjdTsaY9DT2TN2MkclNFQvQ3rh0L28iY/TKdfULWroS4/Kc89WLRto
u/SwArBNq8k5tMatbXeHvtaPtFcQT07FJRHUp/XCQNlAhZnAH0fngHp2l32IncTsESpRjgAsonxD
l7vCEg4yY6of//zVfR6HS4fmV6/a5vStno3DpKp66SRNBb5tMre1So3MGelXeAqI/w6wi+cd2BaX
F5bEzw+VsadqrMDoYSlAnp2JvQSRLUBpjBx6X6+kJteIYNRtHurTOtfU1yztigtD//OO0GDALJVI
GtQ0BN2zukZpSc2q46wKtJHkITozoIHwFK3suQv3BKjA4LVBRGeiAKLUgZMrXXLEei37x9Osx9LM
3p9jKobvJevp93muwzeEAtcoAjWD17zwQogrJtaGkMqwHpxVzRAe8bWN1nz355f9eWB9vPLZUydB
A4y7u1wZSsLohuveS4CmS8tZR+mFx/15Mfl4rbPPRlAVRj5tFYGERDS5HPXjjmxhJ1oZ7c3cXmH5
rzeaRXPuz/e4PL2PnyvXZVplKqDdiw7z49MtktLyRBdTmos04cPixrqPyvbC+e3vniTbeo4YLBRo
Fc8+0Wi2Utz0ehlYhUbmkYpinBQj2cASca34kgTgb4auB20VPSSnVJCu50sTOQcWJoe8DNIx/57Y
2XulYP7ttfB6YOWownoN6+Amzh0H+rEa0au4tDrrn3eVy0+wmAANvNvoDT8+16ihhcjiWJIZ/1XE
S5G7dAAE5ynUTgFlDMsv0X7KkK9wMr2ZGCAIKJcBEZjhKmu14aqhsOFziWbddRY4OYTOa4hnwo8V
ABwyLv/xCssPdvRFGMLRi8f28Qd3hkXOD2JVyCPKSZDmpEWmAESWBbk9bahUkZSSkNX75+H3aWCY
dH2pBiGRpRBu2Wd7KFcJC7QhaQbYKOk3lUi/KsNIvpbzYhSZ+9+5mMFGH/8jOF/7bCapQtdsMUGR
y5M0Eas33MUh0750wCsk3dR/emeoFnHtc3hjAH4SAKMmUocG8nuAzexbAyptJ1xv25EaU2q1feHl
fX6My+fLHpSC6VJvP7sz0tRjiPAuAd1WvXNte4udql/p7E9x4trvf76zT4uRycWo7bMfY73FZ/dx
pEwKHoQWX1pQU9LfOCnO0tpz38oex2zh9HvAkf8iU/x/VUvapWueLUZKQQulT6iGuCGKBCwZ20rY
7SqDOfLaSW1N5YLmcq1tMs0efS1udlEM7zFj6+6X+cs8czizR8U8OiGMH1hTF9Qkn/YFPBNa+NRp
aOPY6rl8DAdiyPwHOp9TgBJ0uZGfdAK9qnBrV90UeFl8S8q42P/5TSyv9cPkjeQGu5vJhotRpn7a
nY52Aw8kT6k2KuE+V+ZvGszeC2PrV3Pz31dxqQaRHoV+nlL1MpDPNU4uiqBI18MkyPJYbNSkQm5L
vu1KLYY7yb/6Vrb2HZlu2m5SJgJTPO2HzLrXyZyPgPGRgA+z2JOF+8bEK/bDwvkXmvEgGyO98FM/
LqJ//VKX75poAxXB+/ls0lVmM2BQx1Io7GvDK27aOiRJVEbpXnDG9YwvcRJdJfZkXnj9CwD8tzfB
lXWq5xTTaf8Y7udKelxGJj5+j28iaXfpaAOcAu3b1KAup6rRiZdot9JC5wu8LVljvV0n07Go9qXV
NF+jYX7+88A4Oxz++j0gx0GW86miaDwPoBxTmKZqk6VBYlp2YNQG0o9AiZxmTergGlBhtZ1b7xU9
DMbjjPryn6//8XP91+UpGpl4Ltgln+sak7BT+z7l8lAuqmCaxkeMvkj81Vs8a/FK9sp44YofP8D/
d0VOaRatVBzmZwc10ET2REshxW8B4kqU3kiQlj/DqQwscst2de/sjZAQl183+o8SWP9nsvQZOL+9
8+CtfftfP8sWiOnNW/Hzv/7jMX5L8rfyxwe0zvJf+csSxPf3n3S1XPxAbFz/IugMP2X7X//hOf9p
MOZoYf4FyVlKiv+yBBHeyjGO8aJiJqLYvnRP/mUJ4m9bmDtIR6kAsDmB1fN//veH5UOe/effRbC/
lqh/T2kOyhGd8yJaX34fDRv+tg9nClV0hJqPSrvL0mS6tfS+u1aszMUv3Y2qEQiBv33bQp1EVYNr
knhos7eKrZkYUNujFtVqMDSt2wS/PcLbv37A77/r4/y1/CziaZeGlclJdmEPffxZViaIIM9jflbR
hSFx0SB4AruLlTHQpyK+Ei0KHCUOEwmA2MhuS10d6gtzqPVhJvvl4qJfb+L8Y5tE2ePs0UDp6BxI
GCPeusKwt5ERSRI8QJtM8DZVbv/Pt3w2Uy3Xs+giAWFi80eNxzz7cDPPm4gejZ2tObKNgYlmvGb6
CAEP0rn6dUiK4ZQTjL4SeJIr3yNOS+e4OTb57sIPOSv1LD8EsTUHlEVZxMR5Vk8TGb39iZ0jiUst
3efUGfVbU52iH2EbajfwAM3CB34PATVR5/GrqojyITcof68BAGkF+XF9FAboOJyLXcXzV8I5hn3d
olGlCOCcFxqjGi9T5Wb9FgvrEOKcim1z16RNGV54Gefjj6YshRsGHy1pD6vS2bvXwHLYpqi7rZZz
wXVUq6a2aUEIvsz1YL3rGQnlXdrSAapILCeTpy3D5sL4O9vKUl4xKCuyseTMjy52sQX+ftzXaw/b
61j222p2IZekir6E1Y6TjkaV3c6VCk3lwmf3cbViCC6TzqIBZr1Cyu2eHUIGK270LlahBhBM9SUd
chqNhTNm+KBocx75XxLZ3dhoxn92RuDCzGQ2bxQUM5Cx8+99wmsAzqtrtjD+VbpUQmXCIRldMNLy
ECJjlITzpZrm57vl5dIbZ3Vm90jx+OMDBiAwm4OhNtuaes1Oeo0GNqfPYFeD5P6h2xCU6yzr8wsl
gOU7/n3K5V4pUttEWvE/uFaY239/rxHbFa1r2QZFk9kaoJu75t0pGFHbKY0S6JpSOB6yh8gtNx7J
efb2z98358ll+P77J7jsy+1l6cBtyvjGhXQ21cRkRTHjVT1BFEQ0lWH7qvVRcyD6U72OW+tRDPXG
mSsRGAlxj2NaRwc3Djl0RJM1HnHk1wgeDYpw6WjcmZzp9lGrebvaG/PHLIbq2Ew6R8kh+45xLVob
5ZKzPZfDWrdhRRGqENI+ytsA4E51QhgVNlA6CuugVJQEAhe5wg5qK1aeXhVevSriRHmbqXUtsFo+
xrl+14F6rgZtPpaj4eylFsFx93oiX7Io2RVjhlTOVdygasviNRZjvNdH451EI+3KMdgAxxlfFLwB
oOsqgEe7tuJTPnLjahTfRoZ16vge94kbeYdE9gVVCqUuv2qZ99qOhRnIyNavMlE2fjnYS0lDqgR9
G8SW1l2788KudPFVK1hHB9WFmZ7phOIZXvrQjymtaz1Re7R+1fA6zkmDyQWzT251yWZ0WAE2kFNL
lIGtiGrflRpS2tnpF39aRInHa+h3trUTbyptICLRh8DOBNSbiISOfQtwYkNCNMIrxOIguYArZWJZ
qmGlFfCgYcfBiUww2ZDW1TXS9G5dpcEBsHgOYnjGJPOhqLWdGtHGaOnAukYOK18y/kZxpZrEMcUr
l0BJ5Tp3lLCuV3D/y/kWtzkToCCYABwaXGtzl1NVAOBmTuOtLHrN3qJB48/BIUbkzrRa/pmY4mh8
gnHm2ockJux0k9gjC72OFAgEnW1UvYObVp1b8EFuO/G8a0KmjeCvFXnUuqLcgl9RzfeWTIfkTrMr
s78PFY2/ZPZG8QVo+2LG7RyzUzmTk/B1tHKVSSyPJPMM6fSqFuSdx6+OUsHvJW6LPxs1pa4Z1xnJ
eQpjCERS4fLzvBL4d8ohv6xR48uoKYubueyJRyYfyyT92k6I2gzBo5eHUat784thFwTBh7qBMybp
qwo7JsvGlTk1dR2IRrEIzaN3nW0GkhAIbW/UpjnKqBjloVR7xrJaNO60ODTFl7rLXG2vmhB7fYPv
jQfFdgHEEJSvslQ70rzTCIUWqQYIYDWyDfaWlub3WjEaIKQIvHauCsXuws1gQcA7aVE9Kg+RF+bJ
XWJ2ZruZmqwovyeK9nMGBxD5rTebP7Q+Gb3rMbPESdiWDgeE5JGQ6jfthsCtohE/gDWp3xWjVaH0
iyioTRm/QxQEM2OLKYkCqzIJ+lTpL1v3eTqX1U6JJkJzqWwBj1YTI3wt9IquK2zDY2MWsLzsMVfW
9TQ3CHJra5mPYluVb12UCPWI9tiZdjnw0kfHBgG0Gm1wUZtGXXzWdUvydK9XqXOL0hFsM1mG0Qk9
DqCQHCZHsgPdwVwmrVAkflpAOevSXHQbkN6N9IU7j2AK68wmQjQNPQZL61Xx4NtWAmqoFRaa+7Do
zVtDLWtB27UDuoaKb/o6V9Fc7rqsVqIgywaWMGF0LFvEAum+MAeVRATOYMzoVquSoQR0wduWBVDV
TZdZTniMiIsAUtKEIfHR0tTXjUO8zLYiE8qi+5AsQc0zq1Qhs+sSwN6uV5O2vCo4Lmw0xQ3vKfMo
G8+qypOmKfahH/OBPrSlFe+EUsY+/P/spKN8vZo9VS4U8jn+0QMN0p4qEULr5qGFfhkl8OHVXuPx
JG0rd5UtolMY5bERSKg5od+RWrG2EScvGOsFxqk4ITCiimSLTR2b1rdpKJdvqS5GbBoE8WhdaJIN
jcc8LxsTX0Cyd4TekN1teFtMeAZxAwoRLMIcSZ/MxtBZF8SOPnUUL2FR6vMd6yj6bnNIt2VPLkk/
1WG+V2G6kDvs0sEnjn1HSLtyyOEUwHmBGdTnw4Bnqp6+JRx8N2bpJcfULaPrSptfVC1DXw1tt/MT
AxH9ypLztJ0LMTz0Bf0VMHuG58dlqLZbtwfgQ4rRsFEwcXBqZ2M0MjXXGlxgpS/3zH1Zuc4Gm/wB
t1XNnx0HlpUibectM/QXVdr9jSnmmpDRGbzOTJwP8b3umvjvrA5kY7bKW64Qb6vJdjjKQsOgS1pU
ZG7yyPDCm8RU3IdSqa3bLIIopJkENLt9aDbrNnHsjjwfjRUU9Pbt5DVV5Bdp6r021JNpvVc5kAc5
8WX5pRelV8OAXgBEr/S+0x3ofhL/TdJzGCUAb1rHXQtFaoh/ymxvtant8sZBxhlePu2LSoNKZyj9
gj2lW7EKK0XcDV1a71gjtKvJEIeQOiMzp6umN8nYtydCWVExVCQ+Dn1q3fIM0yAqsObSd2WhTpPy
wTOIo5/VjnQHW6jfDGvx6Xsxd0/7fFACj57yrVG21c9B0OWbenpxK91ozHxNDnFBnoAH4j4DLPOQ
xEO+GRIRXydR3e4JPUKYomce+4g2R9pRySsvwwy6Zppyf9oZkHyYgRpTtgTb34y5PGVNRyvC68Db
CBulpN5XE9qFLhZPcOuVXYToyVdTO7ttdG9O1qE042d1UO0dKKhmDTop2lqSfYI5w3qL5Q9qfmT8
8nWe1JYMht7V7yxwLn5Fl3s7FoQoMwHrgYqAImC3M5drO83QOU2asgeKmgf2UKjf2QzKq5FNT9Cp
zHgwOpfg3ak3TprbHGJHlgdCXXklOhGnrQuayI2ozhFRxetGkthnz+Zk4QIovbi6cUjuOQ3VUBI5
0EQ9VjNLDsRExl62nsy8BiDFzt+Dc4SWx0DuhGadmS/hVLpEgrWSROgcxDOyipMZZtqLSekf9OX4
qOfiKYc/RwYDcLy+IpUzJRGCNk0ob+ZJnw/qWBsHSw2fOb6/p7jpoL3+QAgKMT/Wr7vOyXYNE+Ma
H9j12MdvVoQR0ClIszXN6CkZFAvyvOB7decndBYnkv3oS9YQndxG3KQlxn45kpEEjmrXW15+rdvd
oymSeBNR0/ErIj4AQZYIUyLCzYYuf+8yRDnszNYEJ8UgPeDjhqTirZxGL8kgcjZTbLd76skq/760
fTNtZgwYi1bHq1U/BoT/bBbue9u5CUFP+RfFspRDW9IFtyGIJ07DAOzjl1wt37waU0mCBsuf4wET
ilcMz2OVf2MKvmZWvy2MWg1StwP55MHySzxojnpfWpvZyH9CsnshTDjdWCVaflb5axD89TrTiU+I
7R6rPXsLAsAJgc0AOEVttG0a0oWYh5LdnIzfBehZhAdEinbMf4E3gZp1nYX1RV0Um0VLTBnAgzaO
va3NJgjIhYzgFBcgEVRkT45HnEYHBExJvN1QaTf9EnZfCraoZH0Vu7CTE1pmBKIeOHSy5gQtCseo
mJ7N+TWTKkhNZAPXI3WLHVWIu3EKxZHJ0yC2xZJQEXv1kTnxCU1BuI5TEpncbCI02utdwoQib3yy
6sXDTOiyHyrQGjwTXElhhwpGPpRhxH+/1R6RNXNKkm8mEAYOOjSPyvmuZ/qtVSoP1hJiWrldyssn
mtBLw+e4J+SNTwIhCDTRW2cYd4YgIkg4w64XTK1JKY0tsTNi4xJ1BS9RKHs4zYeJTclOIy98rxCz
tpKt/SQnhE8Ri75e1zERKXNLSniI/IruRxdkWuXtocPeOAM54ZUkhXIB6BMqlOjwAgsx9biD4gmQ
onOKCvnQT0Z4o8/9fBB1a4JOZblP5z5djx2qy8a2njWRTj96g4wxpVGNe4dV4H5oYZVmaaxtqKYg
f3bH6DGuy/KhTOeZ2DbdeEXA0HxP1KpykLrhrkQcOr8AhVW3snDYYZjlt2nMGtR1PC9IKfZzwcpy
QnuPqEwvbF8t3P5Y5GN0DYiYZLZZxyFYkVNFvENdbIawblcE6b1OloMW0BlNXzSwnNMJhxNJa44f
Q+vZZfDW1pHevJIQbNyUhSbu4RPllKprgKi1DECzpC9OvzAVZaEnq0E3ixtKQOWp1ABS1opxA3eZ
LIeudV3AMqoNlSXFN5B35ESnDft+uGcqQ0u7C7sqMAEQnUgfbIJWzd6JyyYhrlkPcbYIDByHOHtX
x9noAKqVK/po1AAiw15zPCcWpzawZIM7I4XZmCI6P7hNNNKoZac/ko6CfbKoN1JU06HtSmQhjcu5
BTDqERSjfTOi6jiSpCAfokGyHImZpgBxUoTkoC6JvpkJVJa281zAQVD7OyBfpVxDU3X2ZGbAp6ws
UiVIx66A1cmZCXroI6JgYk5vYJlRhppZCpMUBIy5zXvOYNB8i695XczSz1lPQkSSmhMGjcJDoG6r
yPaAFd1CsVKr+rWaE/6iZM3AQEyM5K63Brg3tkkEUBZ31WOvFmm5DScD5U0YQ0UqxtjhCOzKwdrq
YiT2UkD8c4w427F7bNAuVhXEUuQ15SnsRnGbqaNZAuK2yGyxGdVrDlImkJlQqYPOZO+yAdvxPOQZ
e8xURPKgNnb9OvVmPZNjGdUbKIqlsc0pVFh+iEpaxbJW6XvCCd1hG8JcF6uwEQNXc6dNY9WAjR0v
c4jvU6M3V+ubN68jnWMsXEK+Y8IqhF6TfGICXwp7270KpZLt2dbxCLKsWCds09/bKTXRvnogB7Mq
wV1bcWabJm1A/U1y575BDEBwE3FLKXeiDuhZe/enZWbJQR+T4osbNT+EdOQbt+Xu2VKNvY+emYzm
xt4tQ5VB7kp1hyzEIqYiU08tDefbQmmdq4Si/aubpzUrO0vPic1LvOdobl4PmaXzSxVlC7ffvWtw
EGWrbKQ6Si94djtiVsmjXdmdZMFsCkXuYkVr8QjmYf6cROlIis+YfpnVcFyzLo+bOppNDNaJp99C
3ZuvbUkzrBJ99AQDfkQoB476tUqldlWEAttsKrp7ZXSHH9nUiTdOkSeTutYd/f1+V9otzMc+J5BH
0UTPEDQfs6pKHzBXzQe3M6ynLHGmR3V0y/XQZWSotihgKLaOOJZJ9pKqXjx41age0pgDdwcpFC2t
HHQfCRwuJHLt8ThauiR0aYZ2vxW9ngAwIo6nj1WX9FH0IoEys++0SQduQMDHlkEmTyn0gDmLCI/B
c1hZcSjPjfV96N37REe36mTawloni87DyCDyqVjNRkXl0ySpum3shPpnD6EhSpyHcSDmihN7/Q2u
M4fcOklt+Gn9cGcptnsomEMg0qdvSQuOn1xe13c5uCL2AWG/HWuLAzssx25dQto6xTO7BGeRDkR2
i8uVfE31sbYsBJdzTVpX5yjt1jNk+MOJpTwBETIPmA2/tQ3YgEDHFLIxisJYe/D9NllEpkiPHmE8
QsmMN5rR6DyIqV8jbH8WEjcsEQQAzErEH1a+K1uUnAaRJC+WliHpGm4HJtybcTS2qonIW3H8asxv
wRb5Q9SZu7Ztv04VOAZCvfUjlduh9hVIz0CfeVupyCWMRzcKZhqRk++mVvcUu9ourdXwm3QnpuMh
1R772FynRYJKQdNI2KsQIOVbnL8LbFVOjrwhT9gFJIKjElInkHLO79DrWo6iMqQTlWeK6oMjWGjP
MyMhqGYq5reJZMtNcGiLAnGK6iJcjCOth7zayMg6UQet35sjW4hTXKkEk5Oj6RTHORZdtk+M1H2P
oI8OGF1HkmeBd2Ibqu2Vl8lgbtCrtqVz7KxR4s3NXoYSpUMCRbwgCwJkhjyawviWaXNMBGdSq70f
dGQXxtSsplE/jISyiGTcJJbzDDh+T5z7q5x7+2jOpulnxBxfkXtFSs5YEVra9qDKEq04IQ97peGR
r0QyOVdpG0a+QWxmEHocid2UiKp4+okd5trQwyND/7mM820/xFdNhX9NUUqoCbKq/Ngq2ECP92Ft
lCh11U2oNw9GIZsVnY23rMB5O2v2bVHx0szRfJCzt9eIClwbAgBYUhK4KBdS6rzEdSYs/+zT85u4
sL9Vwt2mxMMFsYdYXq3T+7pWHlurY8bKrkEvX+lSYG+1vfkFWvmePOLQl1pyKGT5Y7KbikpL3BGm
iLQdNwiUSk1nq04gFUDVctVKVrS6qI6SCWdNBi9Cm66JOCOwkVcjgs3SaXoluNnFD0DwXuRSn4MJ
QNTmwRPD90SDCZFS71XXCTE1LMpueOXkjX1ILep/Jp5RL6HQE8Kfdol2XTkO+2ihvcjUe4hEpG/1
MNKfI2kiRHPs63622vuuUoj7NlR2+AVzS2nZGY4ZQcTWHLuKHViwlMHoWwaS2D4ux/lI8SQF91pX
07sGVcV7msKUaEODLMiAzaqMbwbJWWOVdZrZH8m6W4hdlccTn1gMpw3g4OhHCtB03jhmVXW3Zpk4
7VtudCmCwnLOleMkTKoVq76B9bNVyIgYADZpseK3KacizJzEW2HEazKxz/rxqZHDfRkrt5rbPVPG
91HPazszR+umDVhoWOX47Zb7SByrTfQG8DAiv8Urm58lUmp4ZouYbWRDpbGvnHtHAXJYm2pzTYrU
VdxH1q0NU5fc07klCgGGCtq+gmUO8G1X3DURm/BxxGe77vRBfaGEyxene4PpayFhPztMP81Vapn4
n/ATNBRqovQ+csrl/mL9a8SjhL5ASAeHmtxp761eViEzlOkddBXPNXv6qNuDZyXCYEjZbcqcmsSq
kUm9I330pdUnezp2WRjrBw809JOahD8pOvc3Ia6eQygQMvl5ryLp1aKoK9eCAz3nJCeilqsOr64q
MoS4bXvvGF23iYxW7MXYWLwj+O+UZ9KbOXf6e6dsuntyl62NBErnZ3rzfSrSbm/nCuH1zPd0FRWk
2lmXgb2WQqU0rZIIuVWJNQF/0B7qvJko79aU9dNWgoiFCF/cJFFC4p0F0ZyPsQAYJLMvtJbnrbO4
IWKSagNN5hWAveoL8yPCMM5Iu4IVa6VMEfGQs9ZGV3rY64QNeDQYOrpkp5LsEb9JNGIrYo2SQt4Q
0l30U0K8aSc2fQGIO7R4y4RzDKFfTI79VFL+fq67Mt0A9a3XTczGV8sLNh2uLIEgUMRsuSHaiHnp
pzp2U3Ko5oyEE+kyQOPhYLDCBbpBzEXsdNQthENTSClyWAlEtbXlOk1GaDCGGDgr9TbIjr74MiZz
91DX41s9/l/yzqvHcuRM07+IvSSDFtir4036Sls3RGWZoGeQEbS/fh92t0ZqDSBIezeYhrqhqsrK
POeQjIjvtRRMWjLxH3sR02lSz/J5GjNCOPv8qayn8kZgxXjKyyp3sIkaf9uhsjjqqRI/xmkqLyIN
Xe4qbt1l4E9tQmQO4xQPl5I+1gP9yvKXDpb0qupGfbPY+zZpM0w3lu6/DwCgj0ll3RZhfbVwHxAe
bAoOg03cp08eizR5wTHqUQNVH1XMSkVgbGIfGoTOG4czMiErTv4qnXYZAU1zsaeyYz6W7KV3Ln0J
r4bk1c3QFgj76aEGFYtwZGN5YZsw2ftUg33MHHuALmJn7xABTEmPs89wGZ89PT7Py2SfVNAFj5kV
z0cXQ/OPMWnaNzdWa9tlnRyb0o+3lAcLEAlAU6VCK+cecadr2Ing0wrk9BgWo72ViZW9wCz4h3Ro
uB5NY7ZRWhKVmrkBtri+e4qTqGUJNN6vzm0jpLotzi/tezvhWiOdn2O0I6q1evWXQd31ayVepMpp
m8aNd0wHXN9GBSvJYIqXNhgKgv+74T0dBCXy8USReuWNJJuk1W3YpsNN4XTF01wSwDEE6bE3Aeml
KDH3gSDP2OKA97UWVX7P1R6foqAVzyMiW96bGw0vA0QOjXuNa4V3XUQdY9tlAGAwURTuDQzoVZ1Q
MzR5C5OHcJvvQdEzLneqpMaPCjWMPllJOVDPoLz2FjNsNEQHbKrZIzozF4P+bkMc2VuLIOq7UbUT
OI2y1OckrPKNBIbsji2qBpdPq+80LLsdlCbp2gpTsdzFlcJFV+cTufG9r2jxHIBMofPk3p9Hc6CL
toF+G5L7Enx4n7iclXxHW+e4QGpJ9kGWfQyuiqmMaqnt3oxwJ9VuLL3iUE5t8KjIhuOBCltQyNC9
zXjf1XlsZXANpNUfi6VZbdR11FOV6cgXtilrl401TVYC7nX22/YVRmN+crSHtdwi7gdIwLzklLWf
7aC3bn3h5Yc86DEqtFkfHQQi9e1U6ZDddP6cXUpITEhPSg3qeaMU5iwxzuLol91yEETJbR010yk0
UnbEgNaQeNA0FBBxjooWn3EjgTGtVe980Xzo26KywnuwZG8f5oM5QH1mJy8eKWryU4hrO7H2PMHh
ru+qtynKs+8Y0OkMQZSoNumoyEMdwmI3+styrpJSPrhNTDvAEOypzh1OkHQAjHUiOCLK/gRaE+yo
+wm3TNVrgkycHfAvRdvcyYd31dX9bZAR81QSL3YEUMDhyPi0iwnkO1G0kJ6XumCGkwQZMU5Ejyih
lu0q7L2BOUhvfUzBuzIZ5jed2s1xirBaAKFGzXs4EDQ0+/13zlXOVmdB8577Wq9dHeY+Uotzx3jp
02VF42ydBf4uctBhorvgJgz66FvvNDNLdv+aj2G4r6M0aDYjdwIOGmF46KLnMrKBYqPqQ1ShQzX4
VB2zOfgBkVXvRsY8uspp8onnxtswHSELsyhG9OuVZmqjYxc1PTpkyTwJMXwtXY7Fi2HDgd3Ln1Mx
kTpilaBmVSmqX04eUZhGhe9RZ3551rnNocPHjcVo4tQH9B9ra2uDodNruv48LUv+Ql1wu+xap5KM
mQR/OCaZH+a18GMz09/c8iboCvIUAPXeSX3Ij0V1ZUI5TF2fCSRQXyejK2AcRCnZPjT2LTEaS87x
lfhocuKH5abqF1QR00j/Lmen98rr9dlo7E7wAjK5z6qWObTr50cf4OdsK21eVdHzJklTNst+zXEz
uBmWYFO1kly9QDLk/8pzGUn6HSNi+cdI0ezVUeztrYiWtzVDM17xuRAvRPn3j3LUZAfJthDniPuo
2Y7BQkSx7Gd2pSn6ZdtyfmlSnz633ncuDmJaWBfjeefM4qJsqKWy3w2iuISwulJ+a4h42IeNdO9r
fA+PqagS8sDiornSJiV3RqqFQHBy90gD4vOnUiAlO4lB83ePUcgCq2HiqcHgYRFo7E8Tt+g7db/p
98Ib1d6FHd9A/n9Lw/T7HDpg0bNM84eQuPmNFgFbtyt7izWR0pkst6bL2EWGIS3z26M7j+5VFkX8
Uns52duhJfyP2lHRA3ZyPV5VqrwLdUXeNSktJqK0Cj9FVQPSVtI/TRjQGOeH3tyOrDDFhiDI/uq2
nXuyJVSrKSUkhWhTi8vTBG9hq+0th4mRRrFSU7DahuZZUBvzYBdTeewoDSajrK5MDckeErqY4uxc
+OxS2ojrHjvSCgVNOhcnp7EGwNUIj98S8vUNi+BZlqgCgPHK+NpFDgEb5UhFtMdR6y3Lk4jQqDms
7mstNUj8jMeYsiacnJPTUOs3+/F4dVRN5HdIBbJbgnqCXB6jDOTkSK1KRZE5rK7YU9wkqBF3dfEa
UgBQ0zMH28dcE566kuvYBu5w4pyO3wdrG5ctmAOCr+TQNwninSUqtjZE59Hr83s7zXDP1dFAE1RU
7onOXjHuVH3BF8cJ14pqMqF0SzYe8UG9vAMBs646dEiZs4FVvvSjzI5uRWX0Jslsyi2qvnqmtxCY
FCNUegCGJE5BM7Gx1kgVbtiR4+UefQAPemYCAtojSr8d9qL2oDKbnhNrNtPLkIViYLDx5xmaos0u
oSvK+SggEWHGa1lfTALLuKmIp9xqXcZfhgFmLSXVnDpChyVqFy1saorFRu9s3Qh49hZSRLrNmUa1
oMPOU0fO09C7/adVd9kjivVw3jEZhush0IT+Zh5Fdt9knId00RApB2uAeskaIMq7pHbH7dwaqkHa
gZ7WfEHQRdWhOE6TXp4sUiNOQWxNZkO2LZ/+MNcj4hvbPbb5HJxdBqfxUIpg3FCX1pLPMvOUlblF
2VMvjGRG77M7PSAVsNssOerC8L4Ku7x1QvNWjKP/UcU4/jZzODKGke1w4qiC2YBSQbzyWKiCXd5P
GTWHcW14EkBNpFjc98WZ8/3iitvIAljjtqcpmkaiu5aJhkmUvQTQYwjbPVRKD8LG8X6rA/EUVBXm
Xd7La5gE5aGAGjggG0Bz0jjzY2Uv6WEZxY8qo/cwbSiih7HUtOXq9NBzd4o0+pJHTnKaqPXdEKXs
3KjFHFrTfQ8nsvhR4Hzxgzl7wXVVPOYCSs52RP/kehTKotkKQk6DVYuXf5HlOF8YeKEqrKYPpksl
YZH2zAEgfBsKHidEg8HgocHoag4Fp3jyESiVaYd0paSRzdllbZiMT6OT8Tt+1Ibeua/xob1MI7E/
b3/8TpXOwF2OLuz6RZIvNTwQKuYReTFx3AQ/bEv0Q65d8K2tQSNDtcpsVS4WVILtYbOCn46XEFGR
JsmAhon08YiYg1UT5WRt3lxmn+eR+ATMU0d7ZlXGo+G101eebdF+WumEMigILfURuYXVUTlK7duL
xcOi7+iDpKl51ITqXxWZ98FxESpIrn/oSco4D72T7jkR7GiiQo0x2KWGWXB82q2IVWRRZrMoGByf
nLwgq3usk8hsxe9iJHsKhvpYSZUiXlvlefvaiVCRVaHVcQliXD5nC2K5va/Yk9z7xApTuLQ+d9VH
bwVsWq3hY0CeZINBR9XEbbu4KzJOFzZ9qYFN2UtHgL3x/e+r6w3Mw5niEwXJrKIyNiG/Du/EqCpo
EkVzHZGzwH+oFt27pO/spzRgh0Qhlo5nhoTa2aiwld+d0ozPTJO3BlYFIqgvcnIvu8BdS12NPgpd
2+8qc+MnPZrsLsvZ+zCKRc+k6Bdnz+eEO0RLeudo4hqtlON1pLLyp5q8ouAM65hhMzYcxyvp2Ods
UPMBNYD3bez94rPhZPvSVxkjunbDdfSsoUfgxRbvc8zd/CEZkvLeCz3JkW/Or8RZjXfBUJFhEpnp
TY712ozk9NQq8nhsID/rU9tbT2lTPCxWsFadOznhkjQxgtxKo17xpb2bCnA486b2ZjAgwtPsiXuT
WKyPswMylHfvGBSSYzhU0fMoBm9nhVTLzuMYvEJ2UxXvtPhh/FCdMk6VX3vMEPsy4ORilENEFCun
pqQmQsPkBtkly6zmtqLrc5c18VORUqLHbkYCzmS6DxDab2XfV9e2KIubkif7I63Sx4iT3Q0S1Xed
YJ/ae5zxtnqhss4rcFKO1CpugqwJaePkkGb3K3odq+vvXYRkwXgHfyjdm9ytum1qx9omM8ua/ki7
/Y+8K89Nxf/+7/p3vjdq7jKZmt+NFH//1b9nbzn+bFZjiP7nb/WX74xH489Xt/pJ/vKL/e/eksf+
Zzc//dR9+cerINN8/cp/9w//dKg8zwqHyvemr8363WTW1H+xqawRMP/nb3aR/+ZsuW1q87P+Kbvm
v/2lP7wt2FSwpsSCCuiIAOVwdb384W1xot/Wohnk84jHoohUx//ytnjiN9+nHhBzJlJFUpexH/zp
bfGc31ZrO1VLeEVXH+x/VHbD1/9F5owvk8geYjloI/CctQvknwTelm+5fk/h8RbC0M4oae5sQyah
8YgzSif49smo6SvoryHdmtByaJ18QNPGYGfkqXRccAQ1UyEzkK9FQKeMghutoV4Bo2aT7ZZytp89
cCxnUwVd+INezzHe0kEalze+S7vLWPoUkhItSeCw8bqfoTe505He9BB6jhTRCJCLPtQkxcbPjD7c
e5yA1QZVBHG+npPPL4iSWSuZeNgZ2nahkKL3ogPZdKRtcfAWL1VlQcfWWT9xYGE+Iv1k6r7OGLlv
PUGZKiKDUL8IDzfB1uMTsLZhQq3ixlPA19uyWihFRB/YQ9T5SjFiWPYpF5Z4bNg1fwZt2Vhbx+ua
i8e+m6+LIiDCshZgGtLka6yEZHdukjwkuw+1Fj7b0SecDXtBceE0ofq7cjZudAzbJj2JDuHcJl4w
3Jy82ZXP5ULSDUfGZaLlixJP+DdR3VEKEvC483F/WKXx3zQDPmfyfm6u4TIxWygqZCfUqUjT9ipu
9s7oqnnLmUqZrbLpC+SzcYcHO0I6ynraDi+tFZTkt6I1l4idEoCYmOJiuenDiDfBjlz8gn7xbid/
Ku4l54ZPv+5Ff6yqyDcbhlq63Zq+irvbWVbOxc0G+hrHsndOceWUuzCKp0e0xxFs3jJVZ5dlGnnU
mNIcnFmdfqgpvGljHKFc57S4iSwve2sdFb8GrrH9fc/Odgn7HiFGSdkK76U0FnoeP34KC6t85QYH
w+5p6pr2Eb3S9AwnqPk28GAq3pmuIAa2mOruYYFrvLpqwWBJhx21dB43X3S2QuW8Vi7hLP3g066N
MhINngTDIS440QiYpSVJL076fGfp0XnxAmv4liFYWHZ6MmNOZavErloMnoGN8Oki3Kg55lCc0gXx
YdtLiVoPVc+tLCyEppJaWw6WTWGeCmlIG8hnm58R08WHXiCtCO1vsvKMrIRmzQy8jgLZfmHEtZA+
Pei4DpFUhxMKC+4hAsXYlMN8Y9zO48hDVCPYs6X5CT6x6UzZbhDcRbUV5oA1nrn36Ba29moa1/af
yc5+pu6SNufFVsNtbGl5WQ2+p9C18pJmNSwCu4YZbE0uE+qsmxARB/EMCCbjWsKUOTbSxc3Si9s5
oXRPxvRYhmMEJEOijMWNmXmVT7aUth+pBLfrM6a56aYSOeGgaW0zpOPlcbxnU4VEQrGKwqX8vi7/
RxvYv7c73auf9RfT/fxpbr+p/wFbFMF//2qLuumnn9Vnw+T4j1vU73/pjy0q+M13V7/Lapb8w0r5
ty3K/w03JigF/4A72rTG/NcW5du/OZFHtgIuS/Y3YiD+vkXFv3neagCPqVIjZwfT5t/2zz9tjf/K
fom1769blE3MoM8WGLBRhXYECs2f/0N21az8VIKJeBsXYhujwjTvTSVZVpuy+94qFW8nNVanNEe+
NMeJ2sKhwQ/YlIilDuLCoViqPQ31KHK7yD2Snxe9xm75iZrZHBdnhEpXUpB0Zr5lVfANVuW16bwP
1ijGZEEXEH1Qwg2ebSZTqikBtp1UAcx0tIMjNTNIdS50HkLtRT88DwE61dQksC5tuIEMC0nRngIk
tjCPdTzTApwmn+0Ujx/G6WZK4dMMlQSF8UoS1bZIO7wlDZgM22CuiQiyK/pUXZZM0xS8T00vSU1B
WsTpmkjzyru3Ec6dkmCcbmI0oVuJBmunTX0MxfwCGPtVVoO5IH98TBMBVGLzKjFGDu0x9+eCFFlW
SHQmAWZW52sYu49umk9HMom/hymcT7xqgivd7CcnuUYpGpdE0q+An+bTz0ZxJGuICmXMTofcBfcc
gY8pLQMm5eKQi8vQha1a9tumYo8Ogugb2a3MniO8QB6kBra/kldtoq8KAn87ISf9bGxgxl3S0WXq
caS9pvlCvQ8MxEaO4UtNr+Smtqr5lj0T/bELt5wLtwBk7jqU9iDTkXUzZgi0adBu78ZmdnYmyskf
nOdxRxXyU+rh0YW3Z+pGfIrTyL1FWJnzQjtn02WQy+2kq62vulcxQ7QndDDzH/TtWdy+wJmUNN/O
Mwdx/zXom2foBVg7f8KglA6vjGKGYIn51h81uYt4ze+IQ6CLGSPwlk8aHVqKQg0M8pQlUm68ZA0o
dYY3VMgRW1H7RTugJ7Mebo3Xm01D5Tl0fsXdyyylanHw11eQR+W3hBh27KY36D29Te5U2RY95d3C
DLXTifuJHTXY923Op6eag/LsDxBgdhzXAiFIqx2m6isSoYX+iNkgenY+iZmRm7Je7plBX5YoOBRr
8bOL93mj/beytZID2obpMDP5783gQobD5W7RALv7SvTd86jsUwRPuOkS74fEQrNt6vEt0KC3eWNb
pM5PE9AC4HPc9R84NJ9VOiVffKsdTgiuaCRMOb6JtSTWo1pYRydHIF+wEhWcmzZEpsq7dA4ZG9I+
Lj2EQgAnZ7smazHKug8dssWOUQTM3YXJKe/x53RmuNgDWtrBiLOdR9EphkBRoPHHgfvrzTbdpwlA
VpwaI2+zXgSZivEQWO18yIboq93L79HQvgwrsEhYw7wjzR+7AK+JcKklPjo9YsM05HWWA92IlDlu
qUNe1lPlFZlCfIZhWm6mVKqLrt1lRytvvMt94uvFlA6g/tlX1gSUgBHXNZ0Aw52geOuirjxkXgE2
occvBO58ZNlIdAltTBHltUeLg+IuobCdYPq5PLM2ukcOr6iQUH1v4wrib8cEER0iy9zRo7Sf8Tpu
zYIRJKKg++RnUEOtAjGQIUzrGBXeE4Ii/zms62hH71O565fSGTaoDdwdVqlrJQz0g9vxqMEKIBhY
EA/omrEge6R0/OrWI6uKRZxd/c0bl+mpleUZBaILmxF22MOATOPFDkHzzR2lsZ9dMhZHyyzQvX6S
/EhXqr5V/JuFL3Gc97QYj9x+MjGbrF9e+jr8HJLqphzAQtoGWScFauKQJO0bTFbB0To91UUs91Vr
fy7Y2o5lGCDOLXO0PbSKlJ2BSbH6+ZqHlr8bxyHm8eH1OGaSpyQLf2JsQApbFmAaYrhlDvnREGCD
N4n81lE3Z4GkbQ8iFv1/nE3+Nw7XhCX+q5PLGfRl/suhZf36PzMjmJ7X8wVztfBCrNFYhP+YqwPS
H+gIouqOnFY/DNZ4oD8zI7y1R5bBibHXw9Psrd2Gf87Vwv+NzHoM3fh+CVYgI/A/ObTwI/7BPIzp
nqYqKqooaSCnirClfzKJN36FTyKOmKYyzEp5aH9DM0AbqnHFaXFzjczMSW//4bP58+D0j3kQjiPW
b/t3zzIMJdGeOPJx+AvXddx/riRC9l10nmNs+jmYwF/UGOX1ubIiFe7iJEfPPAw6D26aZFbYQPKo
Ce+XMXGosfQQkl/z2vJxOCduCeg/dLStJTAY03awl2w5eyR30zYVuj8c6TrJDmCQNo+mQ5RwyMtw
tj+isrHFScVdqy62zqpm54tc1fuwHeisLIpEXFVR6Qz1o6veUAvNP6whF+12IY57JwsbH3MS6uF9
QJc/HEYYbXfrxunYPayz0Zcgz4uEvg61BBc8+qbCkAYney6X2Hv3rX6RRysK0pmXNmG52sSALmKv
Y8F7oBgb1SqOxYFYW9+xBN02c4HzbyrmbN45S5eFV6QVAauqQfaGfarrvPFskmqqnjQ5A+6ukUN8
rJy+f8Q24Ny7EuyAfnc21qqy77H2ENtpLXK8VRl1O2kHMw78OobvVV1p7AON9pqHZAyb6oA2CV+p
FmIWezOKvryxl8TGUxQgETw69Jl/jE4dvE22lRD12wUe55EKjFtF3b1NeOInIDh2NJ8gkmSXZAtv
tBmzWG2dkGrrT7vR1bj3WtLGNiWbar6JLE7qWPEq1znZhcXvdyKNdz256AgVWxt/zDJLGD+MuF+G
pKCfQtQlR9wkkGYvlWf2C7YvgS6qiNv+gePUMHzRqMTXL6naD5q2UwKH5xlSUAuv2MgpXC70xjd3
hdaWd4maKnuGpXayQy71SEkQ/Nd3uzKEdCEERVvCGA9GP6ERWz0fi2dz2q3qojsug1subKvRIpL7
Lsde9yMiYcERlzhu8xrxg2RyvSCErJoD2FVfbXukxvqhshv1wWzK/y3oAGMY8FqPtOGsdDnqDCEZ
nff86LnNDzhK62Jv4d/pHgrtiOKhFb0pEPNXk6q37lSn+dEYwf3l+JWtqYanCx1x3dzUPTiW64rx
wV4FXi9AYSnwFrc9d2FQrF+9QUfbC3vz529GZMUPpyl2SbMDs+U7o8wPEVd0BUIGmpyUjGhgd0Yi
vamZZMjuz36RhMFXDxQCYxMGQX1QOHutt65NV2YDQS63draojwHxl9hb7VhxIh573nUtNH8olYoe
a1XDsvSDbvUHSQXoUhKw5R1PCungYxSaac+xKQaDGDz+vtV3VK424eQUL4jVeVRsNc351uubMn8N
TdoVD1jZVfVssqYiaqbKWDeMZtDc53GcZZzzc/2crdDYuZ3znHq0WUR4jQLoF2LWem0f67Ctf+KY
y36VnRM/GbdR/gesI4L2HlHEwUdoVwAXHSy5RK8C0WiMP1t7z5Kjwl3TO/ZtO5enFEFwC4g5sVAy
unXUY6G542QcEtaBQWRwzdc+nLujQ1/vIv0XMRfDyZdcKlMPG4EKAJFBHz7EsikfWt+mgb6KUGIH
GMOuonCS1wHbQIebzMrCx8CtnxFO/SK4beScTh3TEXuIc8bOXMcr3Minn4m7lMW4xFbsjV9qh4Ww
zNzmh1uBLxaTHTwiUjwVU0ZNlvSppCK8BnOTx9nLeVVR87PiOqPigj5PPedEmp4+zq1KzmHdE6VW
3Qvbj/bgqOkO9c4XK8eXM2ro2Xi9MPFMtYwVtRcCJnetNb0wdx2VsdODTmFfomwMbwfN8aofhmPf
Qc3NGS1JiI43DDZ3nARZWKkhxLKLMOouztPXCP185i0L9AoF5WETkUCZZ+rdkQ46lOK19uYrvRd4
nxx56ZfoGNhpezE4DTq8pOc5bg9lR8eEG6FD9tgLEM1c4eXLQ+UvuBhI7znY7QSVJMxVmJJFDHki
O9hIhw2PrPSqi6tYRvMlQpst/LcFk4QoA7IqKhLEU+3CgblLd/ZsQeRGiUOpWW7gFr+qxSKcv8ba
1oKAbQDEGpIfRsbhmNFR9uLYZ+jz4mgHw7eTrvhBEsvZctD+Z67YKF3NHwnq03SbpFyldLRtTLNQ
Uo514+byWcT5gZ1/2XTxnG9wyGOZTKIKw9Kc5YgYxiXtD/aAEwXdD44TYdpbTwYXWdTxXY8uE+xt
3AL8gRXH/dswhI92jiSj19mNif3TgL8Vjb28c7OEhXuKK2Lu86NUENWicOfzPJcPvsVk52h3HwRg
2xfUVKjzfc1GZRV1drZU/JkPGvkKkD7onTcQHbEhsEFveLbGxzhChuKw9uzpeHiER7PwIq/apM5o
M2ynaK4Z4ReWJkuR3gFvDc6aITVjIm0HkGZSfo+DU/unsQ7yl9lOxoqXKiM+6m7Mso0XyPd4ZhKY
s0WviHqfqV3q9sWlSyb1jGPfwQBaya+xpTBRBmGH39aZ1Q0rx3zfaUVIaulH74xbzsVbivobrtnO
oQJwJv+/yguznxWfGS1vOxDY4iSDIqlIRBUqZxh2o2et+hWTzccUI9SCKlBjpt4n7Be3qSS1kFt9
IYR9GvTHlBrn1Nlp+FUF7poDSwpEwemRbaIYhkMwzcE9A94322+pIZaWt84uTVkcHUc2wadfxMa5
iQ1/jd5MKUnP47Bgoxwb1FEFQ4+lpw+o/bPS+9aR06+4Ja4obpqi3TJ4ZBDspOEXbpIHuHkaiNje
8fUa0t66GRIUEQw7jXeHGcku5xHLdR692Xlp7qpMjv22dvH5HGq7sB9lZaZxZ9k1b9rFS7aTubbu
qiWlISBRXXgku0RsNJrx+8py9DFxx/AztofitGDcJqW6CAkMkGLfgcGRDIJefBtM1cy2SGUjgPyK
9thBywkj9h9Dtdqo5x57d4BbrL2lxSmjnRC5BFp0rQ5+V7RfWqIrTi6/i2owaUjtyCZ3pxASsOtL
SecgEVvQ0bnz3iqHdA7GUeJtam9KIXPoez5JurPfdR8MeyLQjHuQ5Jfj0G8z+zUc4yNOJ1QdFfWC
yMwrqnPsKd9g6MuYzBN/68vRu4UuDi/SrZov0RRiHO7sndaDA+FDVV7RK0zmZL0D8wVHgsqdoy/d
wt11wnKeOzCWPVss2u2kVtulncYjsUXiMUN+d/JYQE/EC+aIIZvygC3AZzmkukGxHV7D1uqOkCcE
O4hyOJsOA4fIiuBx4Kz9SODCuKllG1zh/n9N9lSeVbkuwi1CyJ6q667BFBQCIMSNdG5zdHWXQPfL
XepmZbWz4pzqDUlY7vc20iQ45pr8hWgtZFmm+NA3HWR30dXFNl16zaMtTBE+GavjhCVpkT7SbmVI
LcmtTzRt6bvdaUB6kp/Lc+gQtXAKByfeTaqMNjHq8+3SBbhOwtVarMb0J3sqWsvImPGIS7i7YGXs
LuRvxlsxjhgiZ398ZOmhNZBNyD+mtpo596Zdf1roDTkOVNhGW6Xp7TICQqPQ2XRJ8DGBMC7mxQjC
FbZFDnyWazu/GpmbQ+WO4iNm0Gl+ek1Cg4Nrgri/DsFi7gsdj69qBZkPqgoCtEPYsAfkQIn5AqwT
3YoudDjOlHgQeDgRoFjheLQTkMsUw2ID6dazWBNQCglW2np6Hm1nGHigo/RXUNnc0jnaqq8ydGjZ
7AKJaGyOyRPwMFkeeoofsu0w2vFRwY2SgDRhwR1a2lZbMcyfClYup/kpHVDBBe50H4xWJC6FBM46
BcYvx82Uyya86sV/LBFRkTVEB1d37IYuvKSOqJ4FKP02xUhw6QsxXeoKxFYTobMvw/w7jmgH5Z1x
hhsAJ8va8qPaR2uaR2w9aHHiTpR7l4CUDWJZaW1KOTqHxdNJsRXgiMAlLcU3bjbnMxzsIL39wHFH
3qdc/lWpBnQz54zp5I+kxQYKtULl1ofuLuHOPBG4/U0TDvGE2InGnXFE477jKGagelV5Oya1dTas
1Dd92qfQbtlrEqTZlVXduUbV4t8hOwWSZdU8xlHrHobeT2gDbN17f6zDvRtlFmcAmb34Y4tbC+53
39C7ewvxqAnlEN73qF/Um08qzg0hgMMj+SHFsW6il1yU7Rk1UXHj+1X90k2tPixqyvbGlvpoecTv
JGjN0aH4s9qRHNyi6bbRe+ICG28Lg6YNjaPd7Jss46C/cDf3GIFrhElPyzCRXgOphYyzaammTUvC
Cq8ERaFOonZiJzzMfEBaiX+c3HYAvxyEubHTxDqsaMclwhtabHlk6GGpxuYguprMFOrSyfOeszXe
MFZo+AR9Pq+BjrxtUjN35ziIdr1vXDbxRa9TpUOqUskbJiJcPiRTEBwqzwXspujsVSbz8iuPLcR0
BmryvrK7ewbIVVLLqwVcHVD9Dyv+V7QWzIOx+viKFYvWl8A09hVXWc6GE9E9WZCB06EPfjJdTutn
zcn+WJLV9BCEDRCb5cmCLzWKBUz6MUxLKJz00pfjWlkTTsvepcJnOxKx9KNtlnlf9WSJz2lGdexI
0oTBeR2IAVzTXW9IxswrnuuQYiFGyxsLr+F51qjC2qAcKGbikffIvP4M5t7/Mo/zcim1DoqN3Wsi
wDIs1Ht7zvFySgaMjEq0aJB7wOliN7lCvgkyGz9Q7wGId554QlrXYiWQyRlyKrvUhO5xQ6Kzeu6B
98n3rydv3i5FE//yWYqeSSv9WcmJXXeQHIJTVw9iy5WPYRyAEN4whcFDubkS3xFahDth2OA4BpTM
n1M6MZ+aQl3TxS3OuiPk3OpSZH2oDWkobm25RV+Q0XCsTXPgJ6cQCvgfXNyOG6/rxc7ye/3G5lad
9diJOzQD5tRZmOk2xKYAxE54E77E5FLeEjqdPVfBXODTRuUxKLPw6UfXkMtySfLu/zF3JstxI9uW
/aHCNcDd0U2jD/ZMilRKE5goSuhbR+tf/xao+6xE6pZU+WpSE1laZopgBAD34+fsvXZ+aOUyO/sI
P4fmANRRKHR2nr0UutBgg4ZUfl3I5fxSlBZ6hXjxn0GHzBcNColjxszibHdh6u79sMscZKF5urAX
x9N930UIEovEL2fcGo77YHx0CKdG9NXHfuSmb2vWsasptxHTcZpOOQRSTF3mS2sXB1P0ob0b8jQ/
opxr8Sb0OYpUwZloH+XC+1w4cTFs6dmAKBOmgea8WbK+YJKdG0ZCvfafpyaY2qvcnYy/DTD+SMYS
SfWlqJb2i43Y83FGbIFpDaky8KCJupRvLyFuccKpiyIa17u6zHNkqSU8uI+owCl+2ENJO2ZolX+n
OCPUpwbVUuPDstJrgU18YNzCKzbL0vlEdwrfeO9O8aUP1+tjW/of2L9tdg66zC/T4KP/aqqwdXmy
Fv0lZ8p6MSUVx/Hotb/lFiP/XNpN9ZV9YUzOk2X59zB0x2bHatk9pvmQ0cGCKI9xhpbLySQtPu8+
bcYLKzDtPnHs6UPaWz4x6m5H/Rg6ycehCYqLrHBKB9kuRIu+qWksuFYEM24TjRa9BsL1ZHEeGMp8
HD1RYnEyDt01q/fpDORLMsdI+9H/YO+SmEXnNODPlkWdNkWi6GL1JeOOWRVsMN1Q04lIwopeVIDl
cd6C0nPgI+mwbzBHJ91X/jZFP/I2optzcJt9YqHe1E00cXTI8ibfc3bjhzQuWxTIatzEhwLbN5X9
olFpawyLgYMOiJ2J/413UvLwhqPhHUJgXa47Fv8+e+07uWvvRKQl0swgvojjKl42YeaJ4pxGrl0W
m3zq2K03HqwXlBolfQdzKrSYc0hF8djUt2Wc8WUIQuHtZYOy2JSXBL5O2OZw6dB2kn5j4Ust69za
oIWM9Z1nQtozSzg3n6pXcmgjQ37EFET86WQlmUH0rO36UYpKC2hkShaPyLa5/R2s1f7UJwO7ECqN
hV9wngD9XpNnIdpnUq9pwZQRHdZ/t3LoX/EliT6jFTSUXVrgubaAv1WIfOt9WMopO9mThVPOc4ds
vn+FGlqu5AcIN+Nr+tHbYVjOb2VZiasPk8beuQd9xofz5Mz/E9ZTm++1G6PWXVzT0vKaOohyJ3yb
fKReS35+z32i89rgFLy1iAAhQ7rPHVSRXVvqTwVZhyzPpMjWj7YYivme5TLOjhqpTX5tqY6HMuG4
nl+Xy6wyopqDbMhvHJae8moc8uEjhb/unyoP5tijo22DT7H2kchAC4z642Arv912QcNPKzVu7mM3
1W5xE75+VPT8g4cYKLTaLQ4HXN5Mg6ubrMMQsxv5HebLYE5qJngoa7MjCTyR2k7wfYc9TiM+4lyQ
grARYliTtIj1OKaDS3agVuUVilustd2snlLiuDilBtmpdMkhqHxTflDRSBbC/7JFUtFuAzRR95FL
jrq9RIbNLtPNrZoqpz4HtXY//X548E5jIeyAQAKA6LzowuM9fAfzzaYYOl8qeWoFimWAoSl2RbTZ
KNFsv0sPEo5k/wfI62tczE/jCq5FBIUg+AnXAlMZ7x1ilWK6HnBEmc2rfJvu3Qg9iqfhW8fxDsKl
cS/UolumcSMpM5x7Kss6IEFk7Zzy9r6YygyX1Yg2LBMV3L/ZLg+LbN3P7RSgLETkzNG4NQ2b/dLL
quLg0gePq2zrwSdM9hA6rXPR15bT7UIv6/4UirT++u8+HoEungqCgPEns6C3uhVjicZh+1g2nIFT
nu26O6Nrg2Un3fmumxS54/6E1beO2w//8G5C8ye6BDQ1Ta51FPX2yi2v2piCzNiMmaCwzAvvTNc4
+Za4DQeIkAlU9od76aBIffdhKVpR/LjrQA6p8koK/0mk01WpHsaSNlJXFtGNUShIUJ6FF3Nm3GbT
RmFwVeatf2u5Y3NRBYA86N/rGBFFoK2D1deTg+BUYtj9/VfxjlDOMxYgEfCZ+TEtBIvw7quo8Djl
6Ns4NUdivgvKcr7LXg0OP/ilv7/YW2YwF+FiwA3obwYM33if3n4J4RJ5da3Rp48htlhog7Att+Ec
q/Pvr/P+QzmC0B2BZnd9skjYZoz585e9QFPLeKdAANqabrtNr6jYd3Uy4icABtX9GE+/IeL/PFl8
/yBzOcFzJCQTUuYAq9Tr58thbU0r1qM1iWPdeKCPMHtAJbouf1HOol+AZKAJxcZAZ9lQY+1+/3md
V7D7z+8Ss04Cf+Dcu4xUvR///afHK51EOufMhTbU9+3wMdGFIURNrUpL9LrxLTWHGvfoFhumBYnO
P0VmVeW6cYs3Z/A76MGDHdMx6Rkq3ug4weEVVX7Q7HuRE8Ahcbtm26iXCl3sHI002XrWD/yFU8oZ
wwhzmhEr+hyIk6WmAVz5xWZBlIRrHNIZjsyhZ+3/MZZxx56NlkHCWoNi4amJdynholZUt5DYSLf4
HAC2Ti8rCllxwyTCI+ea5CRCQIre7u+KiWTbTagxvD1ytmBDZXLDdLDNZjbdfrT5wUFl883rIarK
A/rNdeudIv6sR6vO93kduZetL/37OFz4ty05CTCOJukTB8qK5xwn21134iyhGhBjyS9fd3167CVk
OyanMv4SNyScH9LMgdPTaRrBqveHqyzIw++2TNjA+Y5TaoCIMcMFrvIo+ljBaaQySZLkyXS9uffx
qLGZCsWv4BYRUylB/724SjvUbsgzRoqQPrBmc0owsA3f3EJRRddhMlgPcyaj/rzUkBeOenChq/A6
ZQ4EmyAtD7UM+DkypZNEnnJb4Y+DhQQLpUuoOFGZ80XRp0mP1pzxXUZMc8wJFa/Vn/tyZoMu8Tcw
z3utR9w2D9OLuVYW3BnZ00rV1QwQoHcmu7yc/anE7JG2tK+HcEFPPb7+hCFVXGRgQAPHQE/I/eY4
BfrHbO/1S8DgsvEZg3c8NDW/rKHGz7ZTOSb6rp/D5pM2Wc/wppkjOs1TeEjJjPkoZMdTk9nMORZr
am+iHvHtPmryiKm+FXyJ8vlaZxWzBVDGy43jKQ6QhYYZd/GjSgPtBuyjz7DNIqsqd4rO5nenzsX9
EucQ+OLAVy5qHFgoFxybqj9te++0DwSpsVRQQoUsuy5gIYQZP68WoZfnjXTAZqYaC/g2ZqZ4z2dk
nQpUBI3IQaOWBQO34PeLxPvF1/F8xTbrc31BOfG+mhAT58MomJh3FyHtgNiitfyDrf3766yL65ul
CMUrQVZAnwKCvlFcvP189FXV2GdAqpS0/KckdMpvmS07cOxZ6CInrHwOroWx7eAyMk79d89L8f33
v8IvXzG55p7HZqbwiATidTP+aTU0pGBYVekxuJmC+a5eKONpNfn3jnAQRUh3eSnjhe/g91d9XyPy
iVHHBPxJ6AJK4XcfnBlcQvAiHaBKBdmldDjfsGqt426AxZ8AcY/OH9b9X/Y5Pif6iZCoBRdByy9Z
C7y7M/xrAyojDW+xfEzNLp7lN2S0LCW//3TvHx9hu+wxTmCj1vEcFERvb2uFaCXswfiTpcxRBFZo
k1skZTemev79hf7TzSPqzwtcBNS+46+V1E83LxniSnXKN5vZ1Pmz667iUEW8oNkA6Wkgqgbzyw9B
x++vy5v/7skVtiAU1HcDJSm9lXx3A9n0QGlEzkQjpy9ubVvriwVGDZaFpagwqKvae0n9fP7uprXz
4lo9uQ4iC/QXncBf2lvB0r7ADO/EHq2Ke5kzQVx2MLGLe78c5WNT+eVVONPd3KRILZ5ChtFfylTY
/Y40vYBjNt09ttpxoZGZpiB/RTzih0uDVbKThjOgRbjcOzGFyxfpjhpgWma12RWrMyOm1qufJ3x7
LZptMZ/RZlTB3ez4bFcLEX3p3zVUyB5TrWqJ6N14+F7l0X89Xw8UBqtWOOLEj6Pbj849PbHhWyh6
liEdBaa5mDDP+4zTqtE6Ibhh1U4UqNhNN1hpzah67ROQecG/r16bSxbCRnGNBcIEd2pc+Alx0aRk
3vc1jHE/dhjjgjqwy4vBi7Jgr4O+QT00EGF4awlNXoKqklqwcYbmLtbSICsJFGIVA4d3UzBfvG7H
rgwOqcGljLiRpEWNPuCBOLX1l4uxdhTMbF+yvlo7bABzb7Vb9nwQZDr0nMkA2oXAI45uXpAALit0
PfgPvxeFxDzu5WPMxr8Ett5qRP72lQaSBDI4Vz3Q/QZLb91UCx1Oy40+pklVwfgth/A0m1j+rZt0
enKh1FGHWJ7bkEoh3Ut04CoGXZkF6b4KA33ssnVlIvBGnRhXB942rXHPMDHA6QUNEu/Jpc7hjcAf
c8GOr3uCS3cQFCEjShxAr02hDEOM/tQk03qrwoCaoIkBI51+/P9MgoL40oYWF1ylwETVFbbr/O/Z
rSWOI28G47cY9MR5oa1P+GG8DxjxcrpHyo7MZ2Qx+WXlWDUq+8Zq6ZpT5h7dJXQP0xICkClCyL6Y
xoYhus4qGtCHrux1u0cFUpbXYOgWjKazp5ydi8DH2iI75GH+IX8x+EsJf64gRxy9MqBjXRC1IGh/
N4mN0FyNGAxeb27WpdLA0u7q8LJe5vn4+ub/I+vL/4u89P9DW6azGhn/z7bM89dv7/PGXv/GD+2o
5UjEoy5OEpu9k3PN6mv5IR6lFP0XEVNsOOQa2b7/etL4t3rU8//lIOnkRI+j3vNXX8t/q0c9+S/C
pAm65O+sDQ3UqP/A8vJ2h0DA6TGGEWsrhkzlEDXn2x1iRUfZcHhH5DXJbVfX8X7J2pkInlnv0E4U
2wKeyj/a3NdrEmVF1cTxDv8LwVFvrzl4Lv77pEHARcn6ZZzm6uBMzn0VBOMd40v3D5d7u7P/uBwh
Rq4vkdmwL70TyHLIiepc8sJV1FpHDDPNphMGinXWeP+oiPj3pYjC4rTM1eB9vv1k0VA09uDkGh83
vU1Yt7RA1LBE4cauVf6HKuJtcfjfF5Mkg617u/P+a9QAoGmf13pfyy6/IQWKnCiY+J/hfZcPvTV5
u64Q8NmEN3TXChXyH67/tkb7cX3X8TFzeR4Hdfnu0RltG39GAQYh9oLyshm02QQYH696g2sRJ578
w338j9fD62UrHGCkMr17bEIqMiFKCcgBGf5fTBbaa28m5IfCNLgMC+t/dDmMgNTd2JXlu45hywY0
uTGZDsDX2Dasot2tQ4qt5lE7TWHwp5y3//TxyGW2cZw4Pm/+u6JQL+zo6bR0mCdm79DHnnNnT0V4
XYq4vZ2EbP7w+d6/FjSPILV6nr2uQNIL3t0+hE2DUTkZCUDIFSrUJDvo9RhTINr89NOCePfjwPJz
U8d5KxZf+yhvr/WuDg3FRN6FbImMBqF9zr0BPk6B0sMmMQIxWDzcxLG4g7ox3qs6tC/p7KtT7uMz
/h98aB5YW65tUppZ79YCfK9gazFr7Re6ZrvFh5pBtkV6OQ7t9Pz7D/22k/X6mbEB0wtk0XdZZt99
ZkryJnaZhe3dBAQih/Vu4xpnfuiXusCV3k9fkf255T6J2+jw+0u/XxlwI7hsOXQFJYc2L3y3DDUO
qumljct9+ZTurRsltsPf1pG4X/Pw+wv98hlZ6djc+CwuHofwfdtZdhjh4jZM9ozBerQdqXvbOJD3
ALZii4SW6Z+DPKETM9mMkv/xtfmSwR2ItVmH8+HtWjumHgQ84jL2qiCxXBJHdDLuMF8FKOvopTkv
U6L6MwlA/h/WvV++Xc7jBIWyP3OuZiNeX6yfDlVDoQjK1kmxHzmLnrgIJmII9jQ4FnuXroBN7M7j
ETgoAbdx1J5+/7l/fZngJ9jESWG8YN2ldnh7/TYET5NFOtkzjzUHAUFoI6NWbWXTe85eFPCXA7nQ
QvX6PqAPRVJJtsRILZM6/sN+9+v9xw8jEZqRUMk79f6YrosqtZOeefisG9xPQfaSqjXfxEsgWXdj
vYPoiHzasbs/POH/+cIBEgfFMdoL390DZrI6i5yGg2ShkVVPZbAK+qujsWV1g7lVPQJt+cszZLb/
/tv/ZdXEzMwFcShTl9ns8m+/fOZjjpMuAfQ2Dqs7xE0ETwelZtzd2T8wKP+XrXCebQpCB0M0pmeH
De+XjoRnZf3YLfWedDPYPAkHBQ1FDHxWCLdRC+cvTO/kEIW4GX7/IX/9dqk9AypDGCIBAPd3Txja
OX/W9lTuZekuuyi36k+xnT810GxOsrbiC9XzlCdRFd7//sLv90ASPum8cDtdmmseFqO33+4kWotW
egznr+38bTYFzt42WEeDRd47cWidf3855z9cT0kB4ITdABv5+2lDWlsCT4e2djR7zZcxBUPli4TW
v59OuEuZ6V7BUopRQY1ZckXWU3oNVFk+Ey3T7du0wBCpFghSU6M/MCzGWCrC6Q83gxV1Xa//dxtw
XeVEGHBmXWsfqr3w3f3wYfj2ceF4UOjmiiOiO3bmsyNrWXxXOcihGz+sKxAHc2rZlzGtEvwQiNa9
4+gmsjg2ZhLZETz+XDxoFOqECJpY2WpnD5FIPw/RYNs3K6rTeYD6TRKCQvs8b2Vbu8gD8aJoVK1t
5X4eBf4TMH45xKGFsBS8uqiZYki3fhERJADHsDgNtL6gsIlG9we0AkUJN0oGX3RrQDzjFUvi60aN
XYNsT4IcJSCSVAgYa/0zmKtFXIBNG5/MokFkNrBdCavhsUu3UJ/NX7GEIbVNZsyRUCbyXO3RtCrS
wQBN37UywVRR1hRpBxzGsGCGYFLf8qaeT5VbLX8vMUgOZDjo8hEAhiQpUB2lW78kZ7EecbAhRQmt
6s7gyQWolbTIfzCtovnVprGuWl7ImPFhqb+EisQqkn266ViGbO/nNs4gQlVm1MPRgH//eyiVfd+1
UPJAbbnRZxBP7XgRd9bM8X/u/Js5mImlQ1oYlpslgBtyJGWjISQBShWoRxq+GGWi1W2cxwS47OdU
5MdO4PIAMyr0l4q2kbNXvtU/0SDQYtshDZWoY7p4Pmc6m78Q5jDeDLVPMNJk9dF4O45zm5OdRcjB
IU1LIrUWp0H+S/1unYs+da8cQ0pMws9rtyLI/Bvy6OrviInw+IuOhtl58ax+2PK5U1TIU2Lwsgap
OMPNMdUVLWwaEgTWNu1FEtvW3i7z0Dp2LnK1g2MsnAoVmhfsZf3iqV0HavvGp4Gutl7Xt+muoVea
7cNgBGSYTMJH7ZwkgThM3uznF6nKYsht1qKJjnNkBN0vAR4oGbNOO2eBy7W39TJdzioeEhxJWdyf
PV1W43aAQkKbnAnXcA6d2ksPYmmibyQwQvzSNhCiLMy7aR8Qrg241jfjB9l0S4QLvqEgLieBCjzv
LYKtIm+sPxa5WjXxXe9U2Amkqg5Ky/yDJKiP29CteQDYzfqDNKgG/xIDkp+d04s4u7cnqffCzefy
0l5MWh5LwVjmtmfONJ4lZ7mbaYpkfNk6rnqYPWlZcK3D2mfsakfBAzHbHYi+uZX7kKRJrtBNS7Bj
/gIH0ymJwMEqkkoUu8ShHO1qyOojFJ3oThVISk7s4VnNZCsbeZ1aDWTOLRvY5pjEfdpDc9az2Bd2
ho4ljJ7YW1A/GGT9pOuEUXhHAAODRa/31igxOnty6zUCE3MWL/Wzh8sOwGvgWmqDIH4BBWzj0rhL
HDI9AT0UZbun2VDcKxF71lHWdnMQwFnKfZF2dc/XYQ/h3dJ4bXjHASRsV1m2bK7B4s4PdSOc/CIs
7YFpnpN0e7Hk1Ve0UPm07edhjHZuUEfnCiQ5wTRUT9k2TNdkHTcXAusdVEDE3W5LglcUSaDVVVgO
iD9xd0xwnKbR2lSjB8u/FzZ5TCYQ11bBQWSXmjA5jYhvGeaagCQYZqpRptO7JOmI6EKrRThpRRDl
JikVUmO7qAB3Yw1xuo+xlQI06BsCWA5j3kBfBGrYJ7dD46TpHh5Rk1zk5dT0Z1J5GGElNbKCw1KN
NWQNARHogBwY8kZRhu7NELKgPeZjzuS5YrEhoKH3fe8v5bbuSIgSWXbbBVTCN+Kake2jgW5qNELt
CvfoZhtht6YD2MvGPJBFBRLdq5z5YHJtkU80+YM4tN1kB5ucORTAvCoEcMUMprHP6Dey22ppSL5j
2BXLWyRNwxP4f98+xfaAjSeMkw9RsHir9ZSTzlhpfCOcTqJTToIMMvQxstDekagQbjSlWbqbQMG0
e8+fpxw8VgUWc8QJMm+BMmJCke00lcBY0+qRWAp32adRld15XYbTDY3zMqDg633O5W1QPpCwQybM
snjOAxay+KsOxwZjagombOd18NjyhYruXHu6XgglxNJ0qBhT50cz9KM+qzAPEGwlWL48DaUAvHEa
o6qFwLglACWNj4jaIQQgN+sZFji5ZGFcIkCqZTSaLT6yYdgQS3Oc4aBckOWKP9Sukfs3c52trgNr
ujRaCWwmWVQQA4v93xwXbM/llsBr6+9OG/O9ItEHVhJMP+c0GAgfGpCxC5k0IViP4fEMK7eZyvTA
I8WyFAuTXZsVwfLqr/kGVrm/L5tyac7LGDV7V/qKLdUBvbVRqDdq6Ey2wMEk1bhLcw2zQ0qo8JAK
Il6MaRUJgXSW7EQgN+kyT+uoYxdMqCEZTknkJaocrYGUHYoO3o9FPE8JJEI70eGzm7h5e0hmuvAI
N4v2sDTdnO1mgDFEKISpeY4JFUNk2QD03cVQjYnItXzvthWYchDxeSPSXTsPEv7jSgzro8mQY5Do
C1j8L7GirNgjQIE/KX39gcDnnNjZIrnQLjSnnZmAs2+pTqpntJsElFujiq/ZBfW4y0ekwvDGNJlv
rUOc0DxgxcU2VMAwX3J8SgzGgtymm9+6ep+tEX7KSc2HGEbnJ6AvaHkSo4PuAaJrhK0iCIA8MG+J
XyzywL2jNYAUfiw7k9/WJHtO5N8JCDKWWwhKQ6vIvwK9Xc44NQYPeXMky+MIT/PDwmMN4TyzEUqQ
H8H6YYi7w7Y45l+jKEOG3ThDAk8s8HKib8Z5LTklpY+vvDYnBrBzLxf4ZCC71IyfcTJhfmGjCvk0
4XA5NQHJxJtMzRQLBTe83DVLVREd4gTxI1ZpghYViwsxa5HzLept4tlqq2dIRpMrvJs5xicnMq4d
mkGFDRJcW4ntoxL2yf6jYgou6srqbcw4dnzfqIK7pQOn4xnC2u5cQwLR+lCg8OVjdRJIBgImCBuK
fKMYP6wFp2hWUjaXuL8q8npwXH+pmRy1aKnn1XTkdZU6tYxyIK/wQtuQokdik8QQN8sFpI/waWJ6
SbDBM9WkktfSYYrIVkXysOwtyU9E1OzOzceRkF5soikeQLCKhOH1jY+EAeQg2FZ7qPdqTIMPlcla
ZHlthFMlof5+mShEacx4ifhQWWMMn7PSZCTPRfnRNPXUvCBJcI6h6o08oJyZy+sq8oCXjSHk5a0h
NouEaqR2/ZU2SXY19Jqw5tHt2guI02NzaHw4+bjkGzmdTTBl0O/KpTwZq/QQc+f0bsC7SDDFizt6
1UVn6tXu7jcc8pFpoGTDxAs3IYmw2N90oz0mkFd0YraTp8fh1EwtPrlWFzmJh6RHSbi/Cu5yQZYy
Ps5ygjtHI2z6VIDeQ0mSVF1wScnbp6esC8lKdCFGGqJfgv5LuDDCBBw0ot1ICdO8FBzd9BEeQ0ll
Q07tCV2lBBeqIf4l05zIkzXJmm190oy+csfRz5YcnK9NH4/URfGaV5S6ndxNQ2XCLaFTZbylw+N8
sLMU4b5nSK3ZFn3CK2rs1EEEr2LyKGZ/KA++2043VgsIbDMjqp12ftiSqe4qw6+XiCTkB9oGjcyM
nw56fE+g9Z5ZfjDQ1myy+6xlSAom2KlOQrMxnoiix6DFKZBrVosIXvpU4WjGaDF/tQCXa2rdlpXP
VxOAyQT760yqJ1GtOydBpHPq47rECE7upiIAy5/63VQKkio6P5OfZZVmX8acvsxRLxoGPcnm1XVa
RGj95wY5PgIqWXyEDEwh2eOSswiOIXCVrtEkzl2DaRdaBqUu5aSj2g1NgkFt+o70RgjdbRseLHL2
wAVkeVJSxcEVphCuuuyMLMg/2pqp+AY6gtvfLoEJMNI3qPJPWKEtqhCYNLvETb14x3ihIch3sWx3
R5xn/nFk75oJbXN8Imhm8I2kxmHBmjH7QRzLqTMv5sIe1V5Q6k0b8IbjZpR5e5eUg/8hnm19gbe/
sw75RPwfS8Y8HWrlWvZ+4NXumEikg01xZvUAcN2ZQKuQLJbK0mLcDNYwPOX0J3yaiM0gtlljeeOx
RhTIDeVr5cH0l5oW42waeKCxGF+yiU7ghbIqbV9maavlSxD0y0mNYT0AD0qr56Al8+4wRHP5FRXa
zJuiBsANVuVLLFcTI7iNApRc7draqXKoaivdCREg2T1hD47U43uyjlUSO+V2rubsUCEWx5I89fXZ
WrzCnEYsyl/5TkcoiH6VoUxrOPtiHh2JPavn5S9OsQMbuMkojpTHW+ZYGFpvLVQD506UIag3Mv8u
23XUTVEqrekE1dxM+yKb679yXDOcXSc3RN02cD82ZYrvZueXytzWXa40q689PY4ZdQJ/fQkzfqVx
uHMoPJ6gbbrddmRkQwKrI6L7gZG0vyXAqGiwVLcSUlS8RpFCyCqvBpoHcquYcT3mpZ3ymMTYOtZe
67DhHJOKjQAOWm1nXtvuFBayJyp26inpEphhJa9gRcXiBCOSrH4GC6V7tpyOI92w8wtRYOFy0+QB
cA0lA7Eo9mMRlDFOxbgOAELo0RxVpBX/2Fr6giiKMCR2gQWyDkq73cbuTGZb3yTdYYhnDNj23At3
70hiRDYueSD5lonYRGgoPBRIr0nOAB/lXMt7pQrCCHGBPHsDMjjC0YX/EGBZvUpVv5T3iB2DaAvC
hCRBv8YqsUEpRHai9FN2PUlbJL5lLuR9UINBuWd1sbyGAOIrFjbRh9i5g9LfexaNi0vsqgvCiwSW
6CYlWWrCL9h3I62kvrlJQn9YyPURU3xYmz7tngDjike+EkgMsBv5w5FFH7R0VaEVPJYQ7EIck6G3
5xuNoofAhU/DAbUGZzlkJZ4ItzFNdzt4mI6/FWkWA3KGtmtrxKhlwryFMKdyP5QLiaRMKPPw3GY+
rpOuxe1+ck3fEf+SKbvdF8JxzZGmQ1DSAmuCD2gFBvOhHSPspST1Lk+BnU/i4DrRdI7qClGMNVPQ
4fhK589GNNZpJqiq3Hhxxp5kp83wTeXaXMVgc1hG4HpPV6nxEgJTEkGgVJEjZN6llB3zVS2A325p
2g89sHnNALoOWIZ3Oq4j64wjMhsAEIztfWTPGtYfu4e+rSx28I0rB5ne4DNKSHFhI8O1lwmfWJIh
ZjTZ5tbKg6A2hlVWhz64YKtbMAFogkUjT8USyycpOjtLzuV3Bcr+ugmFEQcZr7fE7lTMjj+23s7j
iEWcVkyPeCtj+oUbHgP9yacdRrxSTkrOllcTgZoM+0lc4KhoPwfGp0LDRWd5j7MpB5ejt3AuZjhC
hNQwK773F8JsEdwoQI3uEKb+zlEOKehVUNP9Db1ZfEVtrQiLaMCIb2kWAAmenSKWqJDweVz1LvJZ
IqjYzJHnWqE4sFvB+xt7JEHMm5r40aYCQzdSYb3fVb3GXwTSp2cYZqYgOSKKTiBYEBpExldrQUs1
pW11O7NEib8n6CfTHC06EZ+mPMck6FB6nnPJX91l2TRc00vwDW2EaEp3GIzceUdyBgFqOEFIhbeH
FKMbE7f0yyz0cIMVX/Ki1tKD60o7Ld7Q3SAaISnJy9g4YBueHMIo6x3upPmqIzXEgyWc+FdgFHCs
Zl4TfScIp3guey94xGpPonHZRnCKUjUy/DBB0z1wSZdcgrCtn2SddCQaeQnwt6WrDeyoxRKnhJMk
O4qGKrGtGkwDVIhmOXljinofpG08b5gRNs0uI1J82ea0QFh7TNDBZc96fZOh7562JUb3Z99JCTAq
qcy+WUvhP9sIv24V5Am6Fjixqebx2paU1HRdLmsaNwkIQte9ymJmvSdYlSY9t21jP3VsOR9R7ACk
W3CfPJJ0Y7+0vjOLm6ataJGNoL7kzlb8xbMppvhYN+REHZKizU4KbADjY3pl8EuN+sroDv4DJfZ2
dYnG2yxr0+OgJWfYGqU1mRCWY+68KQOYki35C8kseE2r1nKeWT6G9i9q6MQ7aWL2AswzFBA7+gw5
zzvHsWSPlJ5qhNbQQmeRUdBLrK1o3nJqzit4iI69d7WkY6N9w40mg8f6rDkacmBGQbccIeSo+jI1
RWtvlD1iKyXvDFEYDRO9YyM30AJXoNNpIUp63wDwyHa2LGbaiZIIPjct6TXQexz1vikh+W6nnMC4
rU8O498lITLj1pLsxofRGe3nIURMuqGFyWDKRRHykHkqRznbzVD2hIIEtXGyAi0d4bJNeem5gX1A
1F8xFOhjfFF27JNW38n1nV2sbrxgYyrzA89CcKprQtOQ+cv8tpBAsTdD3aN2BD4loqMILFiaaHYH
i1OZxylqpF38maUur9bnIb4hbSf+5uObcSh6ddbs6UNn3LLWH6YjpIMQnke8ZrMOyizwVdrFInvL
K3lhRiqMYc9ku97n3MZtDWaLGKYW1zkjQbKz9u3YA7oGOAgZO/baloQWIIkEpZBDiMlXmYOHHewv
JJXjgkgG2PdGx4GDyz2Z5zMyX2g9ceuVwINwI8MLgQcGiqfKm6fYZg5FiByL/gMNmy7cl0YBOq1o
Y6rDaAZXbzsCXOlUh3VeAytNlvRIJ4STOyuFQ4gRyZk+cQZ93BOJO7QcXKoVkQt4C0IDD11/a9P/
3jguIdnAPxyy33xjIPpEzah3i0k0ndvA1OE2JYODpJTaKwEhDQmtqMQ1T/RyGGSRogXw0kT0NWw/
I+ZVtXQahIcTNYTBvXUzDyxCzzkEVa60MpAiOE2423SNI0xhC0lWuC/kS8aCRVPJVwsYrUySzQWg
9DjlXfvIt+M0W7LkyCVkakR+8Gj6S7+mBCKDonKPLAicZEZ4lcOWKIeApIbaWJg924W0moJUV7ZS
pHkR8xbh1+SFUBtsF9MOzmF2yN0Af0v63p5CJyChj4RosXXIIyLWIijH4Qp/8nJrpVEUHpbCwTDA
Qj/WVzaM+OAYGC9EUomhg6om7gNM6G7a9QfhNO0n+rk5JyDjuWIX46c6LT6Py3ZiTPVf3J3HkuRI
up1fhcY9xqDFgpsIhMqI1KKyauOWWQLSIdwBOICnv180L43ddclpm+GOmxkb6+mMzADg+MU535kO
FsT8l4FYJ3kMQI0fc2Q4DuDsMf5aMc2FCWCBKAs9hV2+rO3slu9+IHAvFta9QByJQ5eXgth2VW5T
v2QlWey2Fv6lWIhx3YTkfBDIhuoV74mRoD4HXPtXLibu/k0Pvsrfw+T18i2xj9VTkklCF3Udm4+8
gPVLEK646h2NN73hAbZWois0xuqVbVDaDbF6t7KWdnth7iB2GSvIBtB/0Og01wEdFgDUgiFvq6tv
alEO7dCkm+Z2KBGfbloMbN9dsoRaNlpN/D2sevfFR+SJyZ9Z7wj+CXcFj7lb7bMl935GGvbDdgHi
8CVUHkiqPmaUmAjLYr8RSWhmOfUb6XQ5rrod22RvRlFk3tEZTJ9EnDEnEYVor9T3vj6AdlzYjnSC
05n4udzb5NyW2XZM6jrctU2bV7vBYsN1aC1Z3FQk8gTbJFv7+Cj1EjyRBVSUnKNjqB9yOmWwkIXO
Hhlwr09Bost81/kkCBwWHxXLLdXfNdOZgZw4YyWaxFPBfkKndZPb5hdohgSvSTJHOnpl3ZIEKXkL
Aa1Zz/N6tpa5zB9diRL6bpxJBbiPy7JLnlpXVdHFr8Ji+AakiECwCh0zMOECTp4TVJJEQN/pwF38
893uf1ntehA5USfgTYt9UtLcv66SfdktWGRJs/dEYU7z4IX39uySzYx8fO+Cjf7XP88B9oDUBy4N
uTe/aW6qctbYgQJmaGwSUpIO22Po1+VR51FP1mgm/o2QlP8/GfOuz7X6v+ttX5ti+Pnjv52LJvvR
yj8jW//4F/8T2foPFIIx71+Et1eNkoOO4z9Vt/E/cHkgeGVaArgT2SsasP+lurX/EWMiiuIA3dQV
2or+QDO/yv/Hf/cT/hEVfcyTYCd4iP8V0a17VYn8eaGP2g7pN1ZR6HQ2RujfbpZVitbHWSa3+/JZ
3nabu+3x/HhOfyXp8e9kUs4f6oC/fhgm66uaGGHhH3/cX5+EtRoAJ4xE3+GoWfqciAUKFjTnKGfI
+rTY0C7VNR3PyjSTeZU7FN59wUSx8081Y4LibjVZ/EtUrfMLe3p7wxYiOy31Eu1nGRUvcUbi4Kwh
5D8Da5sPUdN3DzZ01DPrfP8dUrM6tAkO+E0wdEIAV1nsb8U8FN9Cp6RiNgx4voDfawSTqMZl2jvP
kGv6usLP3JOI5R0gFfnPpirH5L5KmrZMq3yt15vMm7rpxAshBMpWlfE7ryQLaNvgTkgN62UdqWxk
8rMD1GSY1QUZ8DVh+axPF9uZD6qyy4jhGg7brXKumNBm6rueok/OAb58AkSeYMJC8RIFXQhYWhlF
22LSkml7ZFGeVGPWM/Lz5kMjTZy8CppbFk+kcxyHJFz4iGSWX/N2re8N8BofV4KGdtrENbD66yYp
7YClImbolulWBrHAtEeYGhE5sp6jg/R8QZIsJsdtQzrppQRM3m7xFEXE4AqoGMQx+brastBYfgwr
0VKsd8OFip/8b/WQA9zF1ljaONR9lAb4aelMnluThPcuPrliNzdtdesulOybIGdDvicaw5pIgPKb
r5MXFN2NuhomqEEgmmi9eJ+Ug2H8WCcoVfdDzqRoG8Dg2Pmr7bqweW1DPHyVd/fR6jfjy9rOZN/K
pGsIr4tkok9DN9iftjMucK9yIhaDpaSFZWgZmbMqVfw197OI/k5kbLBXvWRHXpTe6+qoot+Wsh0e
gfJ6KgWEXryQTAa0KcKh9t10gfkxwZh7bxdj3zLAK4491cp5tCoJ/iCboig1yRQzKLbD9USJb71U
iZZPyTz1Y2oWWm5P5v3ZHzMW30Uduc+oP9Re9O6y7pBtgnjTJqveWkf1Dwr1TQg80RBRX04xsZpM
2hE4gMT/CKjUv7cMr+A9xno9EI/DTNiLlJzSkrzWfjeWUQ8uRTqCwFY4h3Itq2NYWt5b74zXNyuU
up+AUUi478ooZA3XytXeKhN9ZHngsiR1RPtYKGQjJCXDC3TyKLpHbeeC34EOQ1tQIHXYYESOsh2c
LmC7oyfKj9hy3PGgRm5N7u6BjS9iXAQiAev/jcJ8fUuQCjPdetEjpiI764JTCLHi1gJebO8bHlZw
R05FkoOcqHb/dJI//M9D6c9C4d9cY4ibOFtdJG/4JEJI27+p66RTDTY+a+JzVdra9jEkifPf+ATU
zp7voqsi7+qvh6HWbHbHik9A/aDWCDFT+f/4CVcF4Z/koQmKGk8iZQEOuCV+5hgN+t/5hKssnUcK
zEDwm0rOWTPNrRI4mM0Zn7MpK9XffMIf1cr/fmdg8wx8G6EZ0l5eg4hrf3tBZUxaeq8U3AcD+Xe3
+djZzysA5i9F5lsO0zDMvPxl9GxuFTe3rNgE5uKovnWCjBlaDGkq3PfzSLZzz/59qzP0Lu+gImx5
7FFhOQcRFPZ8sa1rdAoZ6QCj/vmF/mv9x1/A3YNsMgpgFhBXGv2m9O7bilBthiYgKJyLPfyImb/5
rQ252v+bT7pe0L98V3wSmj32XkhDMZD+dsEt39G5XVtE6i4dQghVnhnbPza5XP9Gbft//iD8AeDe
Ef/+LjxeayJE0AS4WErCVBYMAU37ViTm/V/95pBTI+bGL8q1/y8P4RzWaCqcxd3YIUKBibRjsmi/
zk3IZq/6m8+63qp//e4isrSv2mF0zFRdvz3wOEAH3y7AgY7xfGJOQwjnZkYD4upzHu3/+d/1m3D6
ektE/FEYLOgJ+O8/1KB/ejKrsNEY1HN/M0v24uGb7YFtPSdWC+zyI5qeVHYTywuhlH/TGiAP/+vB
9sdHx/yBuKjpWRmJ/XY3Gr9TGcNQmK1uML5EzlSG5IYkBJYzUM/uG4OXFQ5rHf0gu6e+yYZmffLM
1O4Gze429RWt7pGXfHFftn7obquwI6cesgTDdwhK1juNMzzLAMkH8T9Wcy6dsXtdEpe7BcDS8CKg
LQOq0Mk3sF5XZQqwYPCsARPT1AnrEdS6xC28K7zQLKmfdSTTlfQ5l7JbUSjF1HRQ78z0WXfQdgFI
u+Y17LD7b1XvhDtCbeKnYJRGP2UEX7Ju6P2VFFgSg7xz1hn7c+i64qGuBKN4C7n6yK7aWm9s9vE+
ONKkeCJ26SfvB1YSM8q1BKR70gGhWrBFpzHphM9Gh4V7HuPODW8AnQB1XY1qT3MXKDQnlv5RLNnw
EOB0PUm4RkcZZWC5gID1EHhpWFPdTa46TGOIYsA3euL9m3T2ljiV1mbE01p+ygAosvdz63SfJQHy
BTFjKyPHAbHIfN+tPTk+wu3lrVTL9MFauT2TCu6led/bj4mn4wdHuW3aItO4xCs5KzSDhc/KfSzL
K5QNOkfSTnI/TUhLnrO5JsO87K/6lLDSLbAFzMPmnLHFt7KtIzRhTqUeqvGg3ZydgawiltNe2Zpn
xBhZjhI0rr6SC3NTct4dg3YW+zxW3iNFYfJsGs7wg5OJfS2vyacMH7ntvIhtoCMulkqYgEkxZpeu
qBpzw8V097qP5nSOxXQzttj6NzZqUjY2Xdm8wAm5gt4rMnkal+PjMibVBK/TzaPgMpDhcljj0Hrr
0GqgzRhHvZtC1F7c1aHKHygeom2vyz7eh8zuCY8rWnU7DtO60xZ4tc3gqeLkdiJvn8aBBIY9I2W4
qpKv8j7J4/6EAIeXR9PAWXypuHe8g+HHwVPJGaNSq9RsTpMXmCv1bnRZpCpAuim+BMN2S7fcyxtg
6DFTmhaqJdWhYS1pR/UN8j/gMkE/GRIJWyzk7r2pMl1+n2wPP4WYUVkclyCpzXNoB+WHhtXXnr1Z
RCfiixrGaORPEcKHTO8lrAitvsB/0tiK2FiyT0e39o2AjrIbUvZYCZkSvNUPiAz6KxFlqD1Gmyqy
To2yQzKBqC2/ECyj/D0iX9LChAeT0l+SZ3QSFYpAf4KQaLvDh1uT5O1bI1vixaiHmbQRSme/++U6
eKdKW7rgVKwYRYcaP+LeNrsgKzQP10zcMrulOlGs3Hrkv8BBp6NeYuuVjAT4VY2BNMtIa8x/kLMY
P12zki2EJ836RXmeqTdRV68f5Ai4LVk6QMkjMwU3muAhJAKcuvsr5v0dYln8sSxILdjUwzsH5Tk8
TCMBwIEF/W7jql7eFKFyrI8Iz79zaHRh7cbMuqbr+GKu086dM2uHQ5YFS84hNx2qFdEZA/AvpErn
H1LJ5uLgXvteFqGID4agzxZJQtwDUpOMrA6z5QIlVJ0oXq+2fY90MUsdAkB1KsUM6xc7u7blLzP0
pBAhxkmeJiYFRD/DHw7O9tjM7n0eFdphudxdoYMBoJlL4BdXPg7RCPZWBnPSHy2IpJD7RTM/0l2a
/laxRxjfWPOBnU1hhTDbTNmcoLhvCoIoR45oxHc5UBw41PMLv3eTsm83H+SRTaAH6ZRQkfocHU1I
aCUYHpgrZ6+M0EXlFsXYRslyOjQ9Ml9XGKc/RKTO/whbv142EblJN5LACLMdF2vdIbEu/M2EZfwJ
GZfM9nbSFK+rkMFrM84Bht+mu0k6J8+I1MyytEc78RZ3XrheHF3YtxbcyvGlh8jpglJomofBKvPD
yPrn04wOXNMx6XJ3H1ZrBx+qzWOPff5QbJs56861ylR0bAesLqceHgSBBu3VJL8p1qUzz/R9JdRU
mELtPgJ95D9ERGrI90H0pt/7hTsWj6EdSqTkgKdZdLfON3Dc6GXIMe79BxCCMBsccLt0XyvR4L1x
xZGtOmLCyc3ukJCFT4itiKNaQ6RxW+LOJwGqeyB2bNcvZGx9hIrrehfh0202DA0AqpYkImRHCIeL
+zZUbP8OitC7c6Qm5E66S7LbZXI8MuTEpE7wUdpn2U2MgRtEQvU5C0Y0uSwckgcQx4wcZ3eRBIbM
EnuCHyXI4J0hu8aGCKV7vRFXiPY2Y5e5L3VtI7G247U6W8GKv6RkdvE0JTwtR6Ko3PDIu0EdA8Yt
KL+SVh8KOwu+SGhYclMycDB74UzDcTWORIFs1veVAyDaZ4AN9hqqBnmiVjmdelxiPCVhoPNN5ebO
IbPV+DCsxRRdJDlpUKonPGP7Ss+qJ3Yk8Z5Qu6GaMpDHSQbMP7Kr4wn0pSievQrdja2EtwtLV+xg
astls1BVHCJZImZxyplyZKOCkHY/DzjBImA1h3wl6gJ6TeSdlD05zqVKQoOUhIVL8+S3iJJ21TjZ
zzIPrAYkOtd9oyG9RneBRwQieSicPQT0+K9rnj9xTDsl+SbT2B97QRjKe1VlibmTVl1uI930d31n
+YAbMm0zIlK1Gs+tSxe1d8OSAcGAcmWh4VULL1N8f4xkSuTiCL5uJqh223altJqroZbfEAKSPOBO
uEvIzjNVvWu8oquRVcz+zmNhOHxasKx30qx2mGZeR7puUI/VRQpTBkdCSywi4GDVYj7tcTV1G6QJ
C+MaVjZmI8QHXTwKQMc35ZsZnILXmKqT+C501lKe1RyTmAIIEFExivzsVAqbH6GmNXhfE5sZRJwN
7WGCJ1Rx1qrKOWbILAOskGPV3IDHLdO4NwPbZ6mr7MkR6wjbn0FQT66rVKkEgLhPgnClguqWFwyN
enpGqYqquihv4gytZMNcJjWZd+ztIL9Dqkd0jUnyfTawdAThmu1JW78mpCAW5wrP83EGdrCrY8Lh
iDYK4wvScFuzU5iijTshzTF9ERx0bVkN79qqHDaR0HJ6ZAkOkUxMbpUcxyAaEM40RCChb7xyx8Zu
Z6EMPUvsSv4mHhK/3jLDnRcsI9qv3w2zE3hkrXQ1mPLFITpdK6peFAIXexla9zbBymE2M/uUz5KX
K4UBIZWnpgqrEiGmCc/zZMKHUqzyYSZZnUzJasqyt8RuutQl17HklRZGX0UmkGOirt/VrTEUE5b9
1ZqRkqIWT/TjDFG12kipwzObs5ihQ1xCQU1ATpOSfLW4sCpDx7Hk63zqJsrFPfvkuUGybYlPjE4U
g9JtrK+0USNB06QzWsjd8xhiJy6SdsN3v3wMpaiWH9hmRP/pwAYo9iOatDG1cVjI5wAYO7mEfddu
R4Xl+eQyvCVoNwbqzJwv2bkemJqNnogURKDhvYyLpE9A1LHcIA0UhJOwbdtcuVrxhTcGLJI8gXgc
+X3/q/ErKmimmhgNqtNSVWfUdRi3Gs+HzoKshD2tsk5wlas9oInsCK5H3M+FXb90QOYo5TWTITIv
Jx4Ae/YIm1mDgfk0TmY04tSR65qyd0ezpoC4POJn61EGIM2+i8lk2tFl4JGAsX4VBI2/ajLuX3nk
iLnuWPBrcNR7C/bjL9LEFu5yGy8AmHxhbgKR9/Z5nSENIzfDPxD63XggD6qzXqG+egTyETvjbtvS
aaCUespGeYC5IF2cMpjeOuBddGGgbwjYGeAiBhbyYtostNxDVV10DQ11xyagcbYsf90DWgOxnooV
ONEJTZhfbB0t7YM0SPG2piZW6WSFQHxPquyz5hLXYettAm7a90JFTb2FUNtdkxnHtrlU42rOLQak
5cSxmJ9oqhCx1NqzsZeUZvnO24DYFRJpPXKKchwAWX/tuwoCRxFeD/k+rKcIlvtgtthxQn3sSsQs
T/HsQ2onIaB8WMq6/+wjPYEPjYODiKoEYXMyskHuK9Fe4BWZd3saJizQDTlobtqMIVGpIhvmaGfW
uuxRdOFVuhlEV5LbRM4SpT/XM9r1Xle9ezTF1ZZaZHoi3cV7tGahv8Xasecde1LSenJ7OE+g+j5m
OAiKEBppN7erMTbIaRg8+VMobDfkNemjAPdGazkj2F7Mrvft+a6KhuYIrBGbHr1JBTq8D9kXd5P6
jsdovLcsBY6AqWP16WcIAjY4iYagSbr9ujiiug36fP3Kwk9FqTsor6RRhTGEN7H8UkJzmrYer916
y5Y9rzf9tBJLQKYTP0doN0mtUCmkZmHPK0BH3QWmowlP5VUygiCcmiEZ63SpK/5nkkz7opqGPUvU
+qlzQFvbdh/tgF97zcY0dnxIpjz7BjUpeOmWbuLhEkgA+oGUGGQ8aIbA/H82q13dB8yidnCCtE0i
YCu+uqqLGNA5/Tl2C3WXry0fO3cZrm0/N9OXJOzIwsK8QE0+JzMit3y5C6eFvnxAIn3wcW8vacP+
9h4zg3uogtDRr8h5lxtY5sjoHLbJex65INvWhDVvpQm/h9q1bpHpkUkmM7uBmq7ar+Pk+Miz+OM3
ElmUhGAkkJQCOu/QagwBnSarIPeE2zw4hNOsLzi86gt3tJPi8ij3/Or9o+e2zovx62fRUCYETDc2
pVfYCfdG7eh0tvv1FweNc1MmJvH3pDyY00L9TuzE2jRftEIZfuCn+XeQCaoulVBoCFJvve+xHVU7
o/r2ZNbIIWGh0wYbhaIXEZGffI17aR3buWNGBVeTFAkPZRLGQo88tV3k54BlnKFFt8R58GaxLt+7
dJLvYT747cnVVs/QvEfPX7hdnCa1AEw7ERn0aBXx/BUtqXwKiebZBlY2n2sWNRd48C03nRM5d20c
yuO0eNWTEgN+wD4OtnBB2/sBGtcxrJKJ3B+a942m35MpLj3zbRwDScCgq8NjOXO9Um6CYNznOQF8
u862kgPUE8faGGQTdCJ9I177cI4Pq+NaKSoUh53fQv1Nssw5L/R6RB5cntScjGjHEm8AFDbpG7n4
80vCGueRoEK2KyaYRbjDX4qcSgbIMSbm8M9jbciNm/SMbDicJNbOYqmOrSuYWODQIddm1ISsjo6B
BWTx4kHjLYDyi3GqUpnD2feVvURbg7CZNl3jYURb7cyPlov+kIGSuvjjRJRMx9JQXEVGgeFcC4hz
8jaMb/mXdCLlW00eAykVnB/LVVKU7b2OvDLDFxFvcaRPFxy3ShONoIKfma6IQybE7ttVxjQUcfkk
COubbjt0Tem1eH6Nlyp6Rv2HFtNpo7H6vsZJ9wVntE+eAo7B+oGvg8dn7rAibZy5JcZ7jGv+c5XW
PVjDkIXfdTZIHTDH9sF324iw5nKwl0uTOcFHW/iIpBDptqnyaCww7lrKIN2r3Z29VHaSQpaOUJUo
QYxCPvE6Gvrp+yTCcQfY8cF3ygwyQ0cnheDcTJdx4tGJ8IOhQ2r9B91gGgyhy94v12Sb7eDm63vS
CP9dYKZ9YghGL5mQ33KOebocxpV6jDcNalqyRkYAounKwmZnirV4FslKtIRHbm3iNGhcOrbR5Wau
uQl2in2St4mjnKABYnujSzCxQAVUobJHfHqo7Tv271S/3HnEjm/m6VmsatO9WReWeKU82NjZTrpl
tb+vKho13Gcw8EDJWz+GZUSdp+jHfwr0z84Opy7BwI7J9wHG5LNREXk6AyCJnKgwpT8iX/oHO2r9
tCcXYDkug8NHG+0h2LbsST26VufczzUXLqnscVcl0qS2LAz1kDOIO7/FoHpNdsOjbhORHlxTOF8Q
GX1EsZpukdcsT5gPigvqnZVTFpOduiF+6LHi9jsuZPQNW/TE63iIVDC+rwX8fOxbuJ8Oftu3t8zk
F8rDlqZpdrP8BDPBb+if+vCN3tDcmLgxO7cy83TMxnr40VFUDpsARWVKNICiEzH2CLV3bdJVOD6c
QhB8bwN18CfqHq6DCmkddxUBk9D74jah3Ea769wiNm6So1JXn0dOnDhKQbfpb3MTc/pSsvnetlyX
5jWRTo5im1H/PbHSCcj5EfX9ofeHNtuUST9dzXp1u4+nISK4W9NbIDUIzKc7Esx2qHU0nvAE6+Qg
qPU/SJAAs4/o88OCC92lpHQ4N6jrZntP87CYQ9En9zyWj1XO5CAnhQid/xyIE8nefoAFq6hxPlMn
J3uSMLzbjtAcHF+ig5zfZeq9KyZ/q7RmAX7ltX5RtDzJ1h1jQ0gzl+wtZAiLCWsttffktSyKxYTi
CpAer2TbWFKkCtyHJKfI1Uta5ALr5VD7DAY9E6pbkS1X51D7s3Xlo8grorf0HLv3yxVuuV9Zw9e7
LBL1szf4QLqUW/zy6mohOUILCs/Ykv6miVCQXp2sibwsZVUGPAoo/LBxBQ17irBdgCTjf9jS9sxv
vkBlQUJHVZ4dr5kYKY21453cFf7YYVytccIropXc+TIcK1w8hB7s6kyqcl9Cla52ypHsJwfbmsTL
DIppSKMiW6c9y2WxbFgIits4SyKsMEVX4fcinvViFYPrYVXLluSI33md73JYHgvWuoBYFx0vxXeH
4TiRWYjRLqXf9LB/ia+Pjt6ylBZJdW74gbwBKmhH5RSmCfkph65t1uoxc/r4pSPjCrs+d/ZljEZ+
j6iDO3JKTIVAUCGbnrDD5qSaPUAuAcrFzH5k9M9XhrZa9+YD06hxSbvq+4+JMd36Y6DRqh8m6t5T
wxkICAKxAAnzkMQAirQhPr2qcV6sa7V7zHzP0cekxXAFCLnZ+ZYl75UI9TNMt4C5eW87P9fCy/cz
7mlrkwSNZAY/e924tUOMfjXf+372VMgE2rH31CbFLQBfsR6gZ6pHnbnj0SAjoI3CZ3dPIHjxQFln
7shMRX2KwhufsLYj/l/kSfxoltFWcEnRKm/Z1WYA75symA92K41/hqxppXmoxVuDujWVKNPjC2IZ
AnjAfyLwG10e7C3Sz+lNopAmfH3NLUoDJ5NvCACqZVf1Y53v1slCaT5mzE9xX2XlG3Foml6DaT7e
jFqka+jrSzYIDuao6gFy1DEboHb+4MMqsUPq0z9buClea/J92azxxvrpy7J8qAmtSRvOiuEwhXG8
q0PCpjYy1rk8t4wLYWGtvtnW4PncS4Hr4ReZpqimIRI6a5oLrc3Bs1dgAuQB+ngD1g6nWTYk9XFu
8LBs2znKT42sfIuvZmqxJZKoBLMmuBWj1Z1sDBjPtgcOoC9rKCMwH7rOepSWVvsygT+7gb6pnJRF
J5ODmQKUpMHGbi3WMY79UzsGDsE0k7wDWhNP1BmfXf6lhF2odsVY05rZivuZnXLyylTwfsrrFyKu
qza9+gz6jcl0x1VsUY+AKaDR6Moz4ZHDUbdhhERFL+N5aRiEXGzhJ9neh26ubrrBDN1pJNiIlQGX
+s4f+gbb/ziV2KVFNbkb+IUWnhQESu0OuPZw8YVgwMcVx//ANr0CudugSekaFkMpepZc8EvmGQP6
qxkSNYnqjjY7w6f++tJFDcydFyZdhcWMp/sbiz6nBEzuEiDFnervwC7MFJjN6r5oWTb3E6L6k6qY
O/JV0b3tZ2aj1aGMat4LTY9BaGMKtZQ3jjNF707lFmfLIEkFMTmMziaYvd7dNrlzk10lqiA22t7d
VOwjPiunb4q9UvgavnQdO4tNn5i8OGCH5GVLcna7myxhWNUxtXnszLSe86ScK8KG0UkDL4GU8+AM
QfxYFOQ83dQI462UhBrrddWdfW9nyGM3NlL3M751ae8aG5vpZnVDl0IHnw0+ljX64tnXUXhmYcvY
kU0dXriXxJ46yt4nyzBigBwc/5OKk28IFlunjuy6XluSEdnn4IiLNlrieTi4EitiisWjdF9AkvTO
Fi6dA9UfcRqfN1rzlsVRFrIlCGPcr7HFcV2Hk/XWirk/4g0dWqx+9fLJhXNuC+zL1beKP3vjgju2
nlmK1ixXJgRxDO4i79nAuL8OHYVOKwerP8p2vHDX3RPZjxDZSNnMuk4dMh2sL2UAfCclAmB+HRYP
hfKSeZeFcfUjW/TyWzP06li0MIBPkRy66pirBgXYHLjYgbhXNxJXiALApkvyhheytU1XtcQfrCZ5
xqrnD7c1IMr6CU5xBJonrld64yl2lj0Shq4mnlcnVwhOVttUI1H4y0L0Up8GqBgsayTn49ZLan3K
R2qIz44lzvJqga7In7SQleGWzbwa8IXPSD+IlXmdplIWqZiL5lWbOaFG1jFTdLbroFTgg+h2v07I
7B8Hgd8dKl+lv3pZJk+dveZHtNAI+v2yXt8KYsVRO87VM0EmzJVIpBeI1L1wZNo2uqTU4qOZFcFC
prMvg8mc4q4iENd+yiFU0DVyb0XngFf2SUpCLW5Ktsz0pCBzOONjd/zww3i4IxO4R8ylk/CxcDmH
t6Yf5EOcRfrZo+33QUtPXXEjhrB7zDJnHi/GdZs9jrnsa0ghpIEJCWaNJYE6NDh6+egr4OlbLG/F
tM0UL5ety3t7PhMWX4xbx88AY7TzWDx4GUaVUx2Ivv3Sr6W5q4sQ3kFDLu2XxkaBsLEdPbwMQahe
ljDCoOWHuDy8qmhvgG9iIVsTiwDkBC4BmZUrPQQGrIq0QgpheWGgVz/yu1tOir578L9Xy6jOUxOo
ByekMEHvv751/ZLfErYXE4PsdKmz1tNNyNjE5nKyOQg3gbKW7LCEAa7Fxatj1Wz6uozmp7Ic2HxG
tnIfyfd0f/h2l+Qp8JtpD345dr8W1IDMPhd0ETBrhuioeV5OKiivbiw3+gb5CNN77AeM1ZXdp0nT
i+pglF1IGsECjbgPuGZq3engFuE1krFY/FehEdBvppEDKRrI+ziO9MRsLaV2ju7o02QVTTL0OxSz
yS5gOfGLV5aTDlgz41QEZf2hR6VukRXmD+1coSjktmpA9TH/A0tjoYLcNMhkx6fe7d2HK5JkX8hp
vgOy7r47GKou4ewEu77jR/Vs78WWNBwokkXPCrF2DWmGul24S3wc8cB0gVd5k1XGN6x+5i9Mipo9
lTM5zNBChrPyoHFFQRe92WOIa165411nIG8XGVaSlPhwTb9CXPB8ZDHWUJOy+P/BsyR2U6eTh1KN
TKpqwS+Uhd4+k4597xUj8smuBqoFkcj7MtoU9za35g49IzCJQeSu/CUyar9LYdA53mSxq3PIQ5zH
R4p01K8Ehdin2gj5XDraXI30oI0YjGqq+owc0Ye8EB2huaHT3JSDH5JuT51L7Mfcckfblnxa0Dew
ziz78qftivWrqwM2IzabNnVkXLm89qs92Lc5G0C+C9wC4mS8EbWtSQrvp8djeBC2L1TqDSUexsaq
6qcsi5k6IGSBvMcMk0qKqRt+eHdq9jlRqrRFQ+1us8KLX+Uq2mAXEszS7zR5L3RmUo6pxL/enESS
EeOCV76z9lQUnYLr7S7Hps7W+oWw6hl2iDQXl7ougVPCKbcnmj44o/sbnUO9yuYBl3hwe7WPxExe
HSwhXFpB3XK9cHuhKarvmXPG2bdp7V0eFBVcl1tsEdJMTjh0Csg/qbc0w/QWEihySLJF41/rseOf
RnclXTqIGaTxiAMVWK0VDxzHpAWZBqp4zkqXdMRpB6/lwHlRkfgZVfhPsqF6ymG8XhitzOcgiNZX
tu2ZvitsOFDMD73syP4ze+msgufKjOVd5oCG3SLUy1CUUKeX+6ixaGFp6nkuVr6wcWtRPafzavUz
uCCi+tRUXQlB7TB9AyTPoSX6XD7odkjmtGK/VW8ZfLdkgFR28zTyqU/+0siz4Bi7o4UhSHuY1SOQ
IOxzrt2wsZik3mPSoV+Jh2rarmOXXGv62t+XrfajXe4G8gjuggygOLLtJxZnDH57flZL0KgvTgsv
m+kGNtZ4b/oJfSOQWS/bqyCWxDsyWQCfASzeRXkx/gdp57UsN5Js2R8amEGLVwApj9YkX2CU0Frj
62eBbfdWHmROwqqnjM2qarLoiAiPCA/37Xvnj0qkyndDJgTKDdi6fDgoekiKy6zE/BGV0ZjiTsdW
odIf8tYoqwe/UjX2Rp/B++QnN5IXTN+9Ku5fYBvTqMBPWn9bWe00t0H6nuVoBgHWtrAAec4Nw5CL
hYL8rhN5fwA3H8nQawplB7WUvrc52jrcHYmXPw7FEG9ULe5MQrRRPfZxWFkfySBWt5k2DbEdsCzK
tlLTMqW7UyhK22gjql5iEj9EHRO0JUyQTHJLWY1cEln37IkqRDBCPCgm1RfCngp+nLQM9loVxH9q
UTQFOPSULnjkKW92u5Z4xlXqRIfnsFMtw6ZB1ITJljKuZpe6CSsKKmzRM8dADHJJzLk/xiLdVVMj
vxlSO1At7PMNMy5+BdpXcApq3H8yfZYeAT83d88jdtJIR1AzTTiW0y7yqA/V1HStnHKNggAtIugN
AUBMou82CmX1lk6BEj0lgHFviBKq7yoElm5M8/cvU+ZT9pU6FDUFCMSQeS1KZKb44iG4Gc16+LCm
ONS3oaVXIi2/VHztjsvQ/7DMyvzlj7MCa4YmhHYHOrHKNgTwQ+xoRS7djVZFaCOZ/Yi2ixr9CIdM
+Y40dy0ABsvMbwHIpgbGrCKtqOb75q+A8gXqPgP1F1KoM/+BAKaao4tm9wMcz+kDLG+0QUjgMnoY
RcZi2tM5YT2RwgQGIiMG/YLgp1jcx57Y92zDCE21Ue2L7iFVg+kYSN3wU+Re/a3MZFxIlMqcO7kl
z35OW+IXGQbgF5gbaDbNqzD09nN4ZlAtJLW0JZ+tj3Yv08V8CxYN2jMvNSE5gzez+YLsvHcTDUFc
HfK68wy35aAe7aijmDzzqswntd+RPUgbf6ZmVEuoHmRkEOLNRGfnAFOiUL8r7aD+QLeiGx1kQdH+
DLham2PoNbl+oHY+PMGA1ua7/9MMU9bSTjkLWsQKLXed2v0x25rWsIAM9HPcZuZO0tvodhz8/jtM
fSU5WFH8eh2Weo7qNUwTYKoF26QBhngBDc17qauDdlRsuX4eQ/kuZePS4bpCdXoBaEstUjQphJqI
sqgLQLdYRB76WBHVeDlwROE5hEfEyu+p5Rbq4/UBXcC6WrSnottF9UWUzcWAwGcVSZ2S0YU70IEk
/hWBsKfrJi7MmWWIOlkehfGI5gJyrSmFABEoJpTiqTAgcILPewVsfY4fN0UVonDwZRpdX39buE7B
wrRFdmSrVYrSvTuT2YfxTgQmCznoCjzYPMNAmyJs+tzmlmFK9OPz6yeWkESFXjHMwZIUnh2R1utD
kSfCXh9+puYxhBjm+uTN8hUL0DVTJkMpa5qgyGHS/2wwL6YY5q5RpYl2ghQmINA/ZtUutO6i8A7y
XeRgFH0FfH2+YjPsGQybrEHwKy6x67JPUdMCGwfl0bOct/sug72y3Vwf2V+4+Gc4uSWSAddZLvrg
qMl9HtlgCDlAEmLowkVXbQMBrju4gg0ZjR1ucocg00Vlhv+Vbuc0G8RvXclh0m1SJY7gUn7YGK7m
rglDnu8IPksiDQD620Ckc7HCSB23YaXzWZL1MLTvjbnCFK3QILlYUQwwszJ0NPQ6LldUSHyy1CZt
O+VmHnfndq7sIFXAuCf7n3HTu+ZQIXXAx7j/GTVYS8d3PYdcqlOs7CBpnu1PqzGD7enpMXQRTYS/
3ZSnji31BSJpqP3Z5ngIKUr4LhXPqHb0l3or3Xt7AY4Fu2UF3gL75dfapMtnO3hhft53J/uqE9Gm
8yLM01VPf5v8ZMJ4dPj2gGAdLf4O7HThwdsW+59AWezMpgtztP/0duT8S8FS0P/saw4qGlIAsOuc
9J+/BKUOnqyVrttwBTmlJEIQ/xFpulOhPA/xBDBxWIyU7rtcv9fkU0hJH8LIuLu+Oc6OGZpT6OTh
jkGvTjrj1pbylG4AayLnqWgPeVDAC9Q8j5FeO70gPcolxBpNen/d5oJg++/I2fMiHYmiZrLxFxtS
Tywgu4FEbSWy7qvyo+gJImu1f6qF/HbM5E3b6/fUcUltaxXwWLV5HEwYjpX4Niunfe1DFu0Pzytf
NXeVfHZMpoLOJu4QJoO2k8/rUdUjxU66v2yv+ZEX6o1I6K5FKtL0+Z2pt44/mLaQtW+WnCAiO5eW
lB9oPaz0vlxcEEskz4MIjgKb1uevMGSKvHClGXaZgtTVBNeyErsvIcIypX1M5g7Q2M/rIz+LAmYf
ODG52BIyhKh+mWGywvE1EmViYPfUaNuq3+fBypF/duotjC3WftB8gPE9xjpAVcR51L8NXqHXR3R2
r2CEnWVoSEorsxzS50kERztGbaYYtjhqG2pNuyIGm80T4rqZ87OEnm+Dtm/Ob6jY9cUO9qHZboRG
gQdFMx/HTPyD5B4ptbR+myYjf79u7GziTEQNFItUimGADxTn0/7k4JK1qquh97LsLP+qqDfRmkrR
pT+fyAn3Z9o4ERbuX1hAS/0czNo45T8aUhpTb6wM4Wy+GMKpifkTToaAll4HngUTcGW5PEXtqDcc
o3UbgBLXJ+vcASzUMEST6ElXdULOz5aKVCmFRoOjUgjFHewyjq9072z5laD2fLNixqLVWFYUSGCW
2s5548tdM1nQwknvTbSFowxyUrGkA6D9YhSac31Q5/uUYB0eCQr7kD5zeX4eVC90QWOVPilrrNpq
2B46r9tAG/4UW9Omy6YVe2fLZWAP+gSZc5q/L48iyO1Ip8MLaKv5j06X7pOhec7GxFYz/+b6yM4s
cSewgRgUyiU6ypSfRybMleAsgm4xqI0nfme+9xEzsMtIgZivEVe27VkEQkQkK8YcxMPoQBvoZ2ti
NVQtaFfOu9ap1RdJ+9PTa5WJVNiNTdp9ybo1tYYzd5wtqgYuYhHxaMvzqC3TNPZFLOYRPPchNATa
b7ix/q3Twx/BuwR/59yjH3QxLlK5o2xlOkCO4X4ovmqVR95rJV64sFLYMFkrlZeCuNQvolhcmLTi
8/ARbk0SZWp1NJKPsX2/7hB/NXo/XcY8CVQiRKqViNDp2uJl2jXKaMITzluuFqRbev0btzTK4ZAg
gn0zttofT4GSq/TJ5xZdto9HWhorKqQbOfKGFe8823cmz1WdesR86hKsL46tvi4RYUQNDD4qtQec
A6bFTFXlFeLs5DA1Msk+tc1Wonf2F264mAI6GOdWbtDp+OniQC5BQ3ZKSUuo67o3rnvn3tzxT9v5
x3Zrbw8H2+Zvd9vtln+yD/ausQ+7nf2846f/+QsCneyH/Wzv+OUDf3/m9/F7N/Ov85Mz/3D4y51/
chzbdZ6e3D0/bvbYcuef+J/Dj/m3zL91/hf318370/vNr5vCLfi3mxt+/LqZ/xO+82Zlt557nKKK
UKxoBkwk6M4spkFtSR1TVgXhA5VmXP2EjH/rxbee/nrd5c5XWVEVnb1DQzCw5WXDtg/L41Q1oIZz
vK6D/xfpi5sUcFcROoX157qxS4Nik87awoaK3cWgUqXrQwk6RztOikcaxQ/0VwMy7m87WdhfN3Xu
RojYwJ0gMjCdCGIe98mlG/tK1E0+LKJpEiOD+16XJRxXVOVktA+bnyAQrts7P+sUjTgHnoZZA4qN
89leABt+oUSBYU+dWt2IXjrz2k35cRDSbnPd1PlBjinL0hA2I8YjhP1sCnJUHwH0mLbEzowPEsUG
O+zG1B0geULsVwz1o2+MaAHqwbsBCmflvP07dZ93KFi+OczgUFfmG+yzfXR0MhH6b9Lidm5/+8+r
WnkANGUjT2CHu25LH6qbOr/hlAXUuPFe6Grb9TfIS9jvhSvaf36ZDlSv7ngUVnbNfCYtP03hoU3K
Y94z8iJWmEBoRkadm3aLtkggwwqgrMVY5yYUNG3/UkIYsnq2YYZujAGEtQZvVIuKNG3B5fH6+p7n
pHiOnZpY+FIhQXwtVR2+G0LOnXfC6Gojei0VAFunHMG5oPP+C0LH0umz5EFpxfLfxkDzF1gwasyE
TLyPF1+QJmiSqh1fIFGScyA3uc1hvlbRDUpg8Lo+3AuHAs3IGuRP5GN5ii+eE3RkjJRNeBrBc+5K
wlFE5hGtBjjp/v/sLF4SlQAT6oBGIXcrIGfpDlEoO4SVpkxWgoVLHoIinYbcoMj1KS72R+klsd9K
oF7gz36CD+5nZKz5+YXThsZmwh2JFMrs6p+3YB/EYIoTUgkVwF+7VjpHk4faDrRyZbNL8+x/3lEs
zImlhScMUAiYQc6stSodjuHjhOMFvxuUbSQNzvCKnHD7vQbnr69pjkoXjnBMa9x/FAL4h8Ugoxa+
AyCMHCvSa+g/ALVQxX1ZP/byTgTIoIa3eXcUBxhdt031HFS3AKtaawvX85R/v+47f/PO59Pwz7cs
pkGNmhDaK6aBbxnznd/c5+I3D04YRbul4VvXduHwkng3XtQBSNno8XYcV0KjC25FZKjLIHpJbyrL
iEDqdCXXK6ajqESJ6lrBfQ1e7fpAL2xGXVK5MKF+I0W3FJ1rAeTDPUG9jF7DP3KubemV+E2T8gYZ
w39vaiaQUzhm0HAmF/PZh0u/L9UiVnSbgvxHF45PRY22fZb89OJi7dA+3y+8ECCao9jDrWAs60pC
L5clHEp4sSLsytL8qcQyrA7W1387e5jhQYyKLOeY9De8Pwk6xg5QJhrSVBub7jYYUtA+dH/k44bc
w0o28dItPL/0deolpMv+w7JyYstShbosuoDkHOkE86mgwnqA11zoP5KmKKOtElGv3lCJND9UpYGl
Hw4ebisBnajRoeIRHmiK198TSDCMO5QJ+t/w21nTLW1e9B4ZACFSF0ZRHjvNRPF2C3Ih+TN6tJG6
OqIV7zJN6Y9ilVhHXGaYaYr77hUeeloGB2hhye8ik7RTlWgABBiE1ZuhT/4ryg/RVwrHzSHKhva3
Z0TNgf4wNHL+9UoQA/wTCCz2azN1fU8jIZT6PoJjaTxA9pyL/X6CPmJT5+Lwet3ehQOCKrcsEZiR
pzKokn325jwDuN2aqDIBm7R1pTgWcWzPKjgQLBMmSDfgql4h2XhWo8ExA3qT8uwmpzXfoOtFkqOn
699zHtbrFBwhEkDOkayJtrhUrWpC6sEQYEjP1GdV9elSruAjqPcIxX1BEWMl+j0/mxg3TT4UtXi3
4ZKfR+/HhS7IrSgASgi926g2/vRTM624/Nkmpq4zP1RMC3VVIt/FmMqhQcRNgQ+PJ5ErtcepwU/N
8d96zsLK4lgaociaYKSOnW6k14h6RAs3yUjVzBBXDsDleMiSz88uBFpIAEHHtBhPl0aVZZZF4njI
LE5uXD61aybOyk5/bcAfNz9LqD8v66ng8oSiE2ug3N8G6JLskuh8S25/7+8MhJfdabPpXWAFTuqu
nbmXbXOwQzurwu65TMyYNExKodkkTgwe2B5esq3lBE6/qVlAh2Zv1/o9IYBz52+Hya5v1mpeZ1vy
79j/sW8s3klI6BSKSieyA43wk3HQK1t1THdy8l2/OaB6QrTpvFzfdtJy3y1tLtY0HLqoDVTmO4Dv
/BDa8dH4AqfWD1SYf9JM3rvBBlDOR3G3Wleb/fI0QiFFA0yJLCk5E2jw9MWDt6CQXJgjIJA8/DA8
lCYOZbcf/J1m+nYu0Jofo2djZ7po08JyfdTLoGFpenH2Fc0gNX+lRmRjOAzSpocEa+iep2Zla0pz
fuDaGOeX8cmd14SyhKgcY6SB+Fe1nb6kR/Wg3CFESL1jG9IJt78+Mnn2kSsWlz4UNTUIaEReHRGG
kG/5Hibvh/HOf+72gGDvBkdyaD19Erfhm0SHzrFYmdkL/vRpVZePoyySwH3r2A8OwoP14r8nh/Id
ytdb83X0N9OepiQAg6/y/bQWfp+fTp8tL85BKWl68k8BDekwGejxR5AV20ZYGd8ylbHwnKWCdAUd
dTTTiDq02dpZCzOFXDzXSM3kjfg+qzakVW/XvbXyvD0rxS7tzvfZiSMhyRLH3iyOI+5gv4j2UKs7
4e8R0ZrehvLKHY7yjbm1XOX1uj9dnFQo8dimUN+ZSyBNgQ6YOCHC43hov8jRrsrfPW1lTi/uRtBA
1BWAmaB4/3lscul3oLewUVp6t+8163c8SQ+NMNLlYkjb/2JA/xhb7o8ODvNZKgX/VH5r4maCxNZX
VwZ0lg/5u1onRhaHqhFoGoEBRlTh1lPdTr+NDHqAUsCX8hFCqqn4KQtfrg9sZRaNhfsH0WRBe4BN
K5Qzt0qiO60DJRRbubDJFblbOdouOsbJEOeT78Qh4QbMBiOPcEjlKfAeIcBo85W00pqJhc/TGBRM
yHezVOYPkwrDBBnZGqPs5Y011yAhlaStb1mB1CZVU3vqtY5m3QmSM5V3YLkabn9l7yUHLXxF18Px
RRs4cKk9qIlLol9uVgLFs6TFX4c5+Yp5cU9m08poZDd6vmKoDiJgQsJtudoY8fdgeJj1hnrP1YPN
LKb4XzjNiV3js92g4lld0JTkjNGLrEMHu5+K0IWb+bqZixsCM1TViDcgd52X+mR89dRGGj14sSOo
bWirjIM2kr2HVAINqwO6CKlDe6Yr1MoxqB6vG5/dZHkjwhXME2fmKDXExWaECTfUFTHHjfzxXhFK
up+8leN5nqYzE1TbeEPPsLylxHuJlPDIkyh24tI8ourtIunr9IPyTc+Ng792x1/0lrm49x9z4Bw/
z+YASV4+IqAOLBfhuN/FILk+1d/6uUAhB40RN8i3adYfCBivT+WlM+bU8GIq9VCsR9nHcIawRKno
Bz+stoYMx5m/lmw5qyzOW4KyNgAHCWa0s/AwaeuhzUJs0bqNDpYy2WY70V4D6wqM2loxbOb/v6qV
e9io9jifO5kredHLE33yDYs4EX7FJkvQy3IEI/JeKwM94FSncZc6CdpuYgGziYAiMIij8UiDcvWQ
DtWuMc1+JZP2/5iMuYgiKbwjl2UCKUhSSVP4EJHHt9e46IRGxk+h2cYa7HB2rgOxZpIqUNxrJ+TF
NdfEGQFmwHm1fCnLIzJJPbq1ED98MyHfUH5ZMNSsYSYunfUU3C1lxrbOZZrPLh0J9PjlBWxCNBId
Wz3fBzDD9OOP6/4rXToL9BkkQcqLo2B5FhiQTkgIowM87zhiB898p7U0naUN0JJrE/nNU5Rt1KSe
45n9j6HIv9QgHUqVpgwpVd68Rl2Dplw8GvUZBaOIfBRApc8j79Cqk+Qq5eyokbJTkG0xpn0zAf1H
Siv2wie1TTfakG78ZCViuBirz2kQoBUWgJWzpUXAvEPwCNPFY6UPcBuoPxLgDmnzPEmNK/nBbzPm
WWi9dX1LrfVrg5Dhpq/kQ63FBGq0D68lJOcdtTxJWRdzTrTyYwm2HA3KnpD1I0c2RMe4e6LWskP2
D1694T5Hi92D5+66T1zy71OLi7ip6KxkBErFEy2itVghXKvF5GuoNVD55Cvn5yUvP7W18HJJaKZB
7rEVE01b1KyN4r3o99cHdOkyOjUy74GTuxYWs6CW0OuC1BY6D6QV0UEXrKPHQ/7fFnbnM/rU1OJa
z5OmDQCjxggUgldG7xl62fCbF/uuzDtvhB6qaFfO5EsPMMorSPSQVAN5uXgsRD18x53O6ESvxFIE
pZx8GOEHbnXrHrYHW0sfYmF6uD6nyqVnNXA+ZU6VErsv01LJTE0jJ5xP6i78QNXL5hl7m98pduLc
CJvRgc3kdnBVp3FRhHEn23v9gnjpYTiGr96X8pe6ssaXzjGDfCn1dAAplAg+r7GQ0hEYSBzK5Its
0TDvQ381ZrvorIBsKXdQniZL/NkGjeOTpiXwNHhP6rO0pdNz01ngz5Et2fnb2KUD20lWNuMl350X
Fckbk+rG33zKie+iMh+Sx0chMtNpbnpM0blO3ZhTU3NDuMsd6O6057pGHmUlEL40WGBZtKOAESQp
tRhsVaTc9WIXO+n4ECvbJgNauxYlXjppaKvhHqX4QaFw4bpiM/Qwefax07bfheneD95C6w2B3euu
enEkMMuxZGgn8NPnZZuMYUy4TtkgNIO1bfcewVls9tPmupmLIQk4UQNiIjyE19NnO43leT5knQSh
1p0WUEC86bPtWO1gohW1TS5tKJTJ+q3UvV43fHF8J3YX5zXstm3QB9N8hpKfjaODUj7nqbAyi5fu
odPRLTZY5KM6nwJ3h19eLZxKMX7PRvdwMaPYDX37NixayS2z7Nv10V22q/FSMjllAJF+nlUNKkml
bhgdzKAz+8tNZ+jQbyLFB51LJglbXf9z3eKlo4QT5H8sLnvLvCYNOyUTOUpy3zGje6tda5G6GOKc
mli4Ci88Fap3TJjoM1Mq7b1N4D/6UIToTibv5awmpl3Z0JfuCYsAz5Bm/bize8LTCq2eIN9xIAfc
mNrXPsshAIaTvWvuw2o4Nmp6K/bj4fpkrlhdTiYsy0PcdVg1h4epeIjaRzl4r4THWt1X0OSpK95y
aS+cDHJZkLEUq40FOijpmH7JkxsoJex2rRHgkkee2ljst3yoct2XsYEKtA2KQlMDW4b8DXq1sdkg
LHV9BteGtNh4Y2pC/yhizgi+JxmSTMOmWoO+XUrLIx/HPY7bUwVcYugVWt1L2GA4icckCbeQgfpf
kQ7QfyI5bG2hbstehtyM742hQV94rHzhIc1ApyFQ6/e3QZkkN3DUUJb+12PnOp+L8TyzRAojnzc/
xdiwgPuMzV8ePP9Y0xRrdt7Kxri0G4FjgNXUKeITYS+OGASaUb/qSBT2fandQv8kP/qpdpPAAIve
gLUbO5kGs9i/ozQ0Ir6Rr+HVLywxQGFzZmWcoY7LFGxlGDX6qTxmPfPFVB9zcw9d5/WZPIPiEJl+
srE4cpSumDKLnDnEj5ETx/D4wcQDo7dreNWmARQtA3cKOpjspdKJFctBEMsWYQlGCnIPq5M7KLLd
iN8McoLXP01nERcvnE9ftthPJiRcHn3fMcq6G0t571v20NFfq3BdONVxbnop6RijX2yZcNO7pCaN
wKtSrv7E1WtQvV0fxaU/X6FXkXmmZE+i5rOr6jlveN3gz5+Yp7HPHC786xYu+imNoDOai0D3LCSD
6MlroOChPqjfWM1+qDcmYkbGV5XGZOBLA6In4QqC/FJ+gHzTPzbnw/Ak/qwCTZc6K+MyfEF0edxp
9GCqX/OddT9Rc36vby1XXcn9XtoN9D4ZYKRkOq+XyDjgLCkMs/NzTbhN9J3Aow3qsOtzeeFa0k9t
zD55OiwJJR9I8RhW6UoiOSJ3Su/Q1QD4Q8NVuxaCXtx90LLqtCoSGJLa+GwPjjVDQvqI89XpXPEN
8rHOpgzi0FG0DW/NB5EKvnDTbAHZrpxuF2dTAUgza2bOsIvPlhE59PVW4Z0WSkc1OBbDNzNceQte
vD2UExsLJ8mzmDYC6GWpxRl2uPc38lfvtt1aO9Scnn1XWslfXx6SzolN3so4a4tOSzUMgokhmRK3
ws8+vRubFRPKpVSQPr+n54YlnnvLtv8mguc2DoXISYSwfIOJQPuhidCOqmZa7Ftkk76h+m0dPFRp
7mGPa45RKqWbCLLnvZeLwcGHZ+erCpvVd8huvb0o+RNclZpP9kHPlV3eIWQ0wKB4RL2xg1zAyKav
8dggj4yOEu4xQAFlC6WJgAEtgXcoceAjtV44Yd3Kd/VoCA8VwhCNLZrjtCul0ofSQUru9LQtnmAT
Gm7VKGweE6FqyUoFBSpBcWoN27CtIYIT5R+IcrTRJlNrT4Z7vGhe2zYMuRW68F6DX6d2Q5Bjk1Mo
oEDsLDBqE1DmWL83eqzumLj+mSvFP0ga0hBwz6Nz3bYmei4FrMCUpmAwDhVl/jIvOnSgh10ZKQlo
r9QgcjMrB1muo3QlohWW7pAdbfeUCvoDAqeh78Beprz5yWQeex3JDjj0kaTYeMjBFDaU6eqtXIje
3kdmLLKLWqxrKGM6dQs5luKiySB8HSQdcuuuTUKnNbTO2qKHHu5SlFq+pE0A5kAUhdeIK+7b5Jne
A7JK6kaQAsh5QlItCazexqi6SuKr3WYUY+lDmaBAH/xBv0nSFpaZpJJ/w5srPvZGEm1ypCZ5U3oy
PQPwXyUfaaz3pTN3jP7KPG04RoqQvkdS1x3yTJoQvhzTO/7z9i4wzcxpEkO5g9BCogCrBAeUq6I7
GUEYt8qnEKEyykIfVinrT1DLWRFqVJVS2IVqJsijpDBP7eAAlw+5XDdPcaSUWygFoMqMFAV4fp/1
34wuEDcGlCkp8py5v+slFV0WFVmBRzOBzijxyqiYSU8Ic5Aie/HjNHuGx1TPIZwNIG/My/Krr+oB
RXap6r+rXSTAPSuNk3aE97b5EsWGsI2mpDh6rai8Zm2heAcVup19G8vTk9QrGYq2I1zJnmA8aUbp
HRqp1ijdq9TwN2WLlg6kYRRPHDWKxw5K3Xp4SmCZ7iBctrzbXhPSve4J7d4LC7QJjaHMf2QAdV7p
xgTXWgaV8ALBdJ25mdElr7SrDS+y30jfrMKKHD+xxAZWfXS/MqUrv2sJmUdbznQUQwOUJD7yPrGe
4LGCtDsrFGXXCmp6Y/YQ16MmMmwTOKVeZfRzKhvmmfzP0PXDRgLx8CrrYVo7iUlRGXJh2NQ3KVwk
0Mp50W0aagFslLxfX2Vkdba51yqwU+RIrduBN/TvsEX3Bw/2NHpje12/6QvZu/eVhg2ci9rALhrV
QwBP7E3fx+JXmJ9QZYzhIUTpjhZHlz4C4x7ttkCyJbwMRaKZ0L9DAWjchcVUHdVKiFE9QF/Bhge/
PJTIBmwhZCOvrk1BRZZSG24FYq9fMvIsb4VhQetpJhaANooFDxlpjMxHZNktqrz67ptecM9p2LpC
lY4/jFQut1BrCTwhswExG2Omkp/G0b8Ju5DXnTXqHiTKUfoycFxvxaiW4XmkWfeAfnK5pQc2vlOL
PHoWvDHYw/+nsR3igo0Ex/zGVzJ440dIfPNJj78itivY6hi0m5Qeij2N2N1g677WuVU1zrxAklyX
W6OlLK2OhvnQqWW/CaNM3eRdrKHyAxGf5dD+psE6CjGuZfd5WDauHNRJQN6iAr6iFSBD7U5Vsk1r
hI3iGGj3bnQpTl7NSCGVmtWDMHGEadXoTLU6FY4l1vGfQM8suEjzsnkvc8vbjEpVfDVUr9lDoQqO
HEZJaBmFZl9qCC5XQttsKqMqXAgW+rcgE6YPVWrFP70aQ39mxPkTMDEDilqrvqGxbDpIOOJbmwog
0q6HQRdD7zkxJurKjPBbBgeaWHtjzU2aWpuytBuIykbkTjNhJcS/dGPTTEFuFroU4pBF+IO+CW/L
mMhV8Y6y8LvsduZay8aaiTk+P4noRG0sox4dHac1X2b1gBZNtDX8/pqN+ddPbORx1SHOSmRq5n/Q
8Ynzh6F4/m9W5J+ZOgtMYWwqoB3l3uVU0z7M/JuXOn21lt699Fw5XZHFyoeSHPi6hp2sPWrKW9T9
+0QMTBT/jGMREiIO0VueylSV6aYMEqfW3iXz/fpcrS3H4t0exbLSJQVjaOpj1H5U1ku8xsy0Mk1/
n2QnK255mQEtIiZk9UuQlHjVv4f0EMgipUp+gwf6sqYwii1SkvCMOql0DIcNTOPQRa894ubtdfbC
PjGyWIxOSXpDbDCiP6Xfy3v/ftoL8Aa1W3h3W6f4Lu6vL8zFV+PpqBYrEydAVuV5VL0jcbc9TvvH
7gbo1aOye7Nc8XbtkTN769kAORTnrlSqpMtiOaR7cmk1nGOIPNFN/WgKT61255sPoJOvD+1v39zS
1Om7YJGtUNRkqCBwB69qA2HdVl+aw0O/8U1H30WPums4aOf0X5qjblu74k/mcEW8qZK9h513NSEw
5xSufcviWA1CYYwVE836Tnmewq0IHEQyvsrWhwhqkKGjoxbDTdxtr8/BpU0BRNkC+U516OwxW7Vo
0kozYlCodyW9IUlVrczyxef5iYXFYe63BSyEM1zQasdvhfQrAelmoTmvK1S8wp9WkjyqzbByGV7M
r9D9Q78aiAhNWpa8auQSain6u7SykwCpIfGwh168cWhd+3F9DleNLfZkWRtROyBe6MQmubXwoHXb
ls1vIokS7Ifww1N/ReWfFaOzcy4d5nSEi32ZVxHJ/xSjEDUp++pXeiSt7Kg/RTfaDLvsbcXcPIZz
czw2ZkYb6nyLS0YVy9L3hBlc8lTdKm5y+BE6/h3qHLCHOvIjBOQHihDmvf+wVq265EDgsv7X8mJ2
aZ4JfKSSyCkm2+KQ/PFvxZ/Ve7QzVnBI8qUteGpoMaOZFYceelkUAzTbesnft9MOVRUbdmlb/5Xe
ac/BD5579/D96vfVm7myTy5mKYAcmCQc5744ZZF1rHnUyWrBgt7lz82D+agWNrolhFmO5dAv9S1/
HG94VFtu+vHfrO2J5cU5qFnoxAWzKzVfTM1+ICyWdroLc1H+E32BcVvZoVvfhD+iXZc5a81Kl2qt
sOL9M+7FyRcKipAROKOE8N7zJts/SDQfv/ducRR2CAWuTPOl6wWABayWc6sjWTT8/CQKCOsgkfUZ
SZx792Fo93SrFsg133lrpaVLEc2pocW5R7/SaHUzwFeoXtvqi+IfWnFlLJcO71MTixg2KnFXND/I
UxuHIQW4ICn/RUhDmZ16EiQ1prFkqclprFblGadoQRgw0qS0sbSVFPEcBS8PlpOCyRIgj8hgLSI6
zzxN5m1vJscmRII0h14/kt3rjn5p7aG6+9/QYrEkJc/QIAvm0AI5q2DvVybE8U8ohOZrFJ0XrwSw
NKo6kxLAzbQ4S6Ik1dASw5T3FD0YEgrXNhzMTohkwy/v+fqwLnnaia1lYCtLhVdmEbY6yTXV+0nd
dv3TdROXPA1iZrL4FBAgi1wMpxp0OZHopHea4k5DVKlJV8Zw0Qv+MbCk2kkyKHDNYC7pdG9Zv9WD
m9zb6cpKMHtxpoAw0xs697Av8fCGGGZl3c6lAmPX+1sk42H/WtmUl0YC7ZEpzygH6wy9BIWpibQB
0JEgyCAF3sawCiewGkeb60ty8dw8NbTwZlGIKjVtZkN1U9ySEI6PGQnJjdHU9aNR0XVWofhIColm
QxH5QX3StgnyAU6rIm58/WMu7ay/9I34IYisv1fryamaNMqUTwhvOka8FWUasYJnX7xp6LwbpJUK
xSVXPDW1uKyyQi4JFjA1N+2EylMfrEGZLlvQAdMT6NB8Pw/2ZDBKkqRGNJdZmhoJqHulW9lMFz2E
AvX//PnLgCazTAn6L97T2a+ojVw/I9NpGRslXOM5vdQwR52KsH7ugVbZwZ+HgiMC2agwZXa6S+MO
0aiw1ZA/Lsg3N5MB1hricT/c+HF+S1PS/UjefoIKtOI5GSkpaUvRDnsUjqX71rNIWq/MxaXg7vQD
F07cIJM1tfNctMKHqT8G+jENNkEOx/mxLPbKGsDy4tSfzMfixqReQLATUt2KwXvQ/W7rxejIML2R
3L2+Iy4dNacDm7/kxIkyK9KEZGRgER0Lylsj3Iviyglw0U9nahjC8ZkzeeGnvZDBfiCCJ4zk2yCW
qLmvgpsuz9c/JhauOuq5SgGD+Wrp/nAChOHvs62/QSLXRargILjZn/C1fTFXYoKLSQf9ZGiL+6ab
jEBAuJCUFhRG982jLNgUXuxf4q3sCjQKF84ab93FE+wfi2c0TlliQaqDxSQUUSp+rY1tlnxJ6lsY
o9zrrjFP2mnEA3JxptSWLZCdEuHBwjW0IhmVMkSSKC1/hFQ0IvNXGdbgYu6j6GDIK5ji5cD+WlNN
jmUZBD4sip8dkaQzADiV4ohgTntF8Z5QjbCltrtT4fVRprXDc+kxszljbm0nOwxzo7nY0CKFQMpB
FrWYWrLJ8GtKvzUmh07hlXt2ucE4l2GUgCONIh47etlhDUu3l/sIJtFw9T3MRQQYja2g5K/X1+p8
9rCiAwNlh2FwWeyPC4qVQxj4TlFLP5si23nozg+CgT5uBTBEqs3ddYOXhqVAWkLXAukYOtQ+L9fU
ZmMnSMiqG/lrVqAqHxqOpP9f0s60OWok6Na/SBHal6+SevGGMQbb8EUBBrTvu379fcR779Ct1tuK
mRtABMTEOFVVWVlZWSfP2Zq8i87AmYzbUGcmQfgTybvmzzgJT4k8VGkuJIFz95YC9/Zt6PneX52d
87RVsFxGKSzR4USEMtDR42FieQTBa+Oh/BA48qFyIQo8HO5rN7Hh8Ls+cX9m5nxbnRtaeF6vyAOa
wF5AaOB8g2W94k/k6DuFfykMcv6T8uvu7c19sHYPj3v7ZpgHfvj4rtr3ql262q7Yabt3+yNtklz7
E/v1sHt2jk8/f95tBZzLjXL+uYsVQBs49iufeRGMLnJC2sEOmVTkOyBynwytlzaqG5eOPJsz6TjT
dajYlUUkHyRNlnpaaB1KVbeIVe3F0rg1+/JhGBoe2/uNZb90Y0iCoaOj5cmE7EJemCtaOUPGPAgd
tPBu61JE4nrs7wpZ2AB3LPOH//Guv8Oah33qx7xBN2bJsALTo7/lDZG7XVzDLNMORwWeYp3nYSAT
mnvd2S6GRy/3zOqLigShXFs+tk2+WivmjAHyARDqkPppsW6bykaqu2bFYtm4dgFd4d5yPjjZCyzo
RAdK7/W9VhW2DHRaCDf2zcX+5MFQ4r2QxzzCwQWkvozLQlQygPtG2x41tOgIhcd/PVsMgT7UOVrr
iCWfj6Od/FZJKsYxed0LGt/7GiJfMTH+vc9xvFHW4Qlmru8sQqfqaTWQBjhiIjO2NfSfW/E+3uor
uzy85zP0r5HF9QPp8HFMoN9yhpA5k3wQFdxy1J7zGzKrxPsdDNXz9em76NTEyWlPpDmHMDqz1Czm
rwuLHom6IYRWLnwKenmvIqs9VOK7JPlPJPhoSIqvSDdCRVu6oRpveMhF6LBwcjo68BJglRdu2LbU
6LtADZ1e7HhY7o13KzO076XSSo4ECb2blNn45fqYV1yfjSVyQgG/nH3/3GWGHlngSKcKVEVyudO1
PD7Cl8Q9pWdTXzd1cUmSGN9cpQGZDGoYNYRzW0FkagjdSKEz+vtJgi0zQ3pzevGS7ljHL20Cy4h/
3xnCXZDMU+2kKKENBz2N9kUs3gjth8r7ZRg3Wn+z8WErWxNZBiDcNNRofORiEqZq7EGI6KEzZZIp
w2AakUVZWY0SpA8o6iEe81B3AEMgjhoKetsc81zWPlLhFHZiWLXeMQ1NP7itOBlGm9wPRFVcyk89
qnlgLbqxEPeSMAh3JoUR1QEb0QhO3oNQgPi/VN4ATqDvhvpA1G7Ez0uXJoDOfImSKELBxYY6n/NK
85C5zygsRsiTKpIrBc6k34iZ0030XGdu2Ra2Ve2CbMPwil9hlwI7+TACIMvGnqkMMk8oKGSh3O4o
sebmteD6FOg2lm6ONWfJCOPjbID4lFwY7oWFT4F0s7S0otLUJSwWOBghfLLML2q1A65dQYrYhLvS
u1X8Q5e/0HAwmM+V6ATd96K4U2d9uN3QPkJZd/2zVhyKvBzlk3lTQRa/mHWk1kstnBEJcX5A1teW
CFvXLVwUPtlMZybmTzg5kNuhpGZcY6J4h2achqIwp/I5vtFw/HULJ7ISmCg3ifgPaBQechex2JrK
oUxybJkt8uQIkNaPjUzDeO3WW5Tja34D0xksD/OdA2z4+bB8Q9f90OLARyT1iGy268fajZlvVfQv
kkJ+PDkTzcG4J2fyRTojd4MgwqBUQMR6DzXiRCeiVwCi7MSjFPr6xsm8ao83Lw406IsvDv+4mjqp
1pGPs4LkVm6++qG898kN1Y1L6Mr0AYCamzJAgeMAi3GFCdLQflgzrrH8wIn13njlwRfMz9e9b204
JDLkubztoOqzWCXi4BSQOgP0jb5J2s+u2+vKzyJ4+y9WeFSmtRxc8bKKHIaiFLShDBRRvGmmnxPO
5w8fw+7ndTNrc0aookeVFwtmbRFCoqQhufWs0InIpA9CqKW3M1w6tK0wyjcKLhdvn7Nfz6obZOtc
3S/OwAji8dwI6TiWg158GVLD6gAKR9LTMIqIXY5obcq2KMjijzrrKY0gtvglCf3pPkUP1fhYDUmR
Eru5KR94OxYRXwSO9rP2quEzz7fJO20x2tEwM+RAx840vqpRLn3/9/MFf6lIqkJlFWWn8y1atpxT
veiBElZH1wt4trXyo+VtPe2s+dipmUWWmcleTL0MM8gG7sfh6Deio8WxO3kv18ezamh+P6KLiHi9
hDBYaikXk0q+36YGYjjZoKqvkhmXnyjaKO+THpAYXLe44nE8KFBLIf4gd7C8bxRiKo1mESaoDMc3
Aoql6hTtvSY8XDdzkUJz44AMY47cDA/HO18opZI9tWkAknlqhTR0iyaoLN+OVmvBVYGUAkjOtv39
X2wiYUBPGNfR5bnfeJU3+gY2rRBa9A63vSmkpyrn0ph+jLeYh1YOJqqX8zUBMPzMD3w+QkjPNRoD
4sQBcH8nkiSmneHq7e+w4T3G2MLwrC0blRWycx6cIBpbeGQJm0eKCGzi+IDsRQ2WUVPbyfVGiFhx
R9gbZ/JI+l64XS3G1NLbLVhCljhiDjyKIkKUFnafBiBp+43TYmX6ZiKlWS4ASboLB6ktXl+GZIgc
WFxhFhM74YEg8mPIaoDfCOfuetiKN+ojK8P7H00jSGNBBv9JWE/yFsEzhRI2Aqg3e+U+KnsnFQWk
DtOj16cbNYstU4u0xZxg4S1jCr9x/lIAsEA7F8Xgt0B1r/v8il+cDWmxz0JRbDSFhwgHGVrXr2te
BgHxT+q/jxpcUvhFQVvmfrg428VQrNSKzhBmznRbqfrg5QV1+2p/fTRz4rjIqFWLu4KORiiBY4mu
VLoqj6KWAn0evfa0sWjK83UDK9M1s2iZFA7o34Tx/3zTFl4RB3regqwMenZqus+VyEZ/99879ywq
wxslp6x4obgnarUZCDOHpJHk91A3w3ov3rbZTzQk7DD8t123nOtnu3b2xRO3DlUhIn9m1yqV9Tmp
CvphCm0a3Uofqw2Y8MoCYYrwoDAo5nAxf2GXh8QPTGmlcGOOxuMobb1HbZlYjGbUgs4vPExUxWB9
mvwqoqzo+5+uO8LK/jwbyMKhg5HOv8nCitkL9kTsUXnB+KQIW3ellTCHnVl1yqCdFX2U87XpK0Oc
MhRpnbBUn2d5h87yjpMc7MoxflAEc6uOs3bunthbtiaPphIkvpdzBtJSZtcVz6y0rhm2L5dfPc/c
+3DpBHm8sW9XrQIgmgvPXGyWd84+8bXaD8vEmfLklnehIvklo3yJtm+qSCD8N8ytXUBJXv7am33o
xOPlPjNqocSe38l0t9OLWdPoqoqOPz732mNKnVgbd9a/hmP82Wkndhfur0qFL4p0z/PUNR2UYK+W
T6PyuVcPDaNFpCCv6TMJs31b3+hb5YZVTzqxvdgXNFOlrZ9im1clPEfX6LITPo6J/yBpPYri6b8v
TJ/N8WKHqIPFwZ/PY5XvfSm1yzrY6320UZhb3Ycno5o962QlpyLy22r2HFjadoPWfOvrFpFenz7B
cHKv7/nLB7E5UFJhRf+X+gUEAufGkibxu3qmim40oNZBW9lFabxnc60v9D5Hx7ylY+k+qwDbijei
dgii756uO53/1uUb8ecC2YOID7dlXhhmTibeGBaBQTTzNkq8HmbMylI+ZZMES/TYa3eDNlXIQFmN
3eYTRN6ezCmSAZhoW6+1gZLA5q2E5n9ZbBMkE0VStJSW52InS43RFhB3D2H9KzVD+jNq305Mf+Ng
XF3uEzsLJ1bMkhcIixUQZKgHJ9kR4N3Kpm/0wW1kLKvHCIS8vFDBXM8z/Pla+yWZXjG0bBcBkmEl
t0o7tfINIyvpBHepGS4HiGhFIEQRh1QMevjOB95U/OJeS2ikbrYaZ9ZmjSsNbChA2iiBLcZiFJ0Q
8JqPN0R69lkXx+Sm8vz2PoBX6kVL49eNfbJS2IQjH9oFXAEs+NI3gy7kCSQcE3qpY7drbiiD5N1X
ncvceNsKiV0aD0nv1t7+ut3Z5RfZ38yfON+qWDOoec+XLO8zvWt9kbNSoMe+KdRDXI+iLeZa/dFs
boPkZWjzyjY2pWbmH3xuGNUliSI1ZHBznXphuLSmETZ1WGr92qIkPTXGvRAMb5C5yruYSrudtuar
gLrZa9MXo9tEo+rUcfjJV5RvveS/KGYVfxB0+rpjZJ9tH73WjWevS2/m++Ysj/c1uFWWtbVEEGth
Vta1S+VzU7z22dv1qb88wM9//iIMZ2kdqGkgUVeVDrHwYsifh+QpSaGydwt/C559uWvOjS1Cn0qT
51RQDrO9xBXhXU3mHlBd3oA1r0VYehf5zQ2dkuQSPEJ3dceDF7Vi5PFs1XjR4m+K8kXIBhvWmFj+
UvZ3dbcXvQc53oRerKzXXOMFgj7roVPYO3dleprzpFQajfbZr1LsJh6bptsZ6m9DcwDMVHXvaFq/
s/ovXlzvPeth8135D1x34dR8AjATXud5XFu6jKADth06nBoeup1UwMRZ2mUIbRQqbQgNCo9tENtd
xDbWnaGUnCzfDzLt0zthcnv1o1w4dXAsycBHD46N3mnoDDA+Z8NzX7mKGDiiALhRC/a9CZug56E4
+qxWMM+E9mBCQFB/R73VjYWHpviWqr/q6tkyH1XrEIHL9kG+UGBM0ufWAM+6dclbSQ/nEPJ36Atv
DkPDm7KEoZd+7AZ6Yg9cwXyogNTHoXWVtnDH6JPWbsGiVjbRmdnFokcD/UFJj9lu3Lc9j7fM4zM1
OJzNv6fEtpE6XYbLs1H+YXw8TZ3oMTdrH3P5mNnNONpichsPg910jizB5DH+FM0tsOnK1j0d4vL5
HdqJTheyTrO1QXf8YoJIi96gyd8YmixfRmTsQH02IwlmMcnz/eONo6fHLXbGaYCfL0Ux/DlLflna
rdQ+GYYAK7w7weA4vvZV7OrSXlZ+Urawew3OvrSH5suyC+WhHw61GNuCUOyux8s/R+7l7vr7gXMA
OJl8aBxULZeYfI1Woca8jSZ8Xk0xx543gKb8SkbJrhJ5Z/gfp/BbXiC0ldqNCAx4sJwR5QzRekIz
ETHDR7ODB9r4INf6Rrn8QpBlmWUuTjbqkOI41syjPwGqNBwr/hIGNyVALfBIkeW7qvHJ5AmWSrpV
vvIe2w4/1dzcmK1VrznJdRf7UYb3xIg9vkKEs0r1fpbABrM23UjGVtJ7NgScg5YJKBe50+VgRWsq
MmnQ7KR8SuV9UN3Q/WkHYWoblttab0b+VWTCuRnz57s25DvR+tpX4Ec+b3jHSkJx9iWLAQMyhX6n
5kvqbrKj8tgCx8zi8s6Uby2PpLdyJWXOgR/F+pMo7v3pwzB+UQXP9aNjywNkBG8ZVDMV79e1uUuh
8o1CxR4gkkiTN0MPuWtu6p5cJn3z7KHpTCarIqg6b8kTjxZimo6tftQAdb558sEwvgq0tFe1ehjA
DXjd5DTgCdBzk7aYDlfdgyUzRFSIwagt1s0Ht5534aTZbdLndtvUuZsK3U+14c38+sJcJtLzGP9a
WqwLhBieqlRY4sWPiwFqisEeSo0bvdU3ItiWpcVZIKcsmhdjyVdE1+OonDKeIWiDbTeS5j8ou4tI
9HdMy2NAzUrTGAPCTlh6rgkzkcxfk9uindw0fGqFaCcTm3yUIYQPkniQlVs/vFPRhWpfEutNKV4M
c+If3/rxgbI7UuWPmZU6UbnL5RdSzdF6ur4G6zFpriAi6Uqp9882PnE0XUk8Xgr5YF3wPgwBKraV
8eRLBtfyQdnHsrofxIlKjuGmlvUt9t6rCgWLwgsPk9W5ebPFAb2CU8ErTj5o4X9ToJYDEFoNqaZp
n4+FA+DeDqz7OpAdSyio6NzVEAc1OtzQ7vXJWHF9ICQ0EM1VAKg+F26SyqnQhymBImtQx4iEB69L
dk1SbDx8rA0RO1C0wVgIIGeJMhLqeOYyIAIPGk2YwtwKEY1BAVdVA2bWq4U9/6938BBRdkCs0tQE
q4+ddfQ6/4cBz4AnajCE6eULkwe5jpXxEg1jU3STGP0+nLJd3myBYC6aCzgENIoZ/9hZJBCJ4o1R
kGInqurvg6+4tDm+KI3uykPuWLn27EHlY4rxvSV2TqoGT3ovPYaqute6eONRbX3yT75lkSu0sZUg
aswit3OxQzt0SKToD/lk2Jb/SId8Jaa3hnbfphs7bf65i8gAv/Y8C4QHsEALv0546pDC2W4c3eqS
71jNxmvA+shOLCziqdSpYyhmzHJqffCN10G5qdNj3L8qw1Oa34JeU+X7fouDfi29PxvXYtPwNu8H
qsm4NOOLNL16gndIxFsh+1iFv5MGFAXYlq1y0upGhbNd5owy5ifY89NRa7i16iMjVdHuyDz1mEJI
lWfWxqV1nrCLJTsxs5jQSqyC0ZjNDH7qFP0hiHdetlOGT7mig37aqCr82fbXzC1mkixbboSCUyrO
P0rpXogeAI2H/q9kZg5TdmnGyejk2U8JRoy0P/yHUPDPWGHhP5/SJEoTqUkIu0qNJoMlPnZK/tAl
5sYuuL5yF+o5UxJT40oYYwHxevMY6W/TVnPu6kY7GckidYJWLhDbgVWL0YQTIZLrhE//f3O1CGcx
4mwa6AZCSBAclIHL5eDfWnm9u25m9uKlP4BKA2sHrcaMRT5fEr8chBQKEfLWStmFZWR75oNUNgAb
7wR9Cwf3J69bWCMHmJEGFEnolZpX7iQR8FUTiuuIlSml2278rQXyMYNzKx8cPYo4gB/FqXXKgZzE
SJAsPohGfTCHZ6s9ttpPS/0gKj9z46eguKr80Woyt85zV+3vBOM7FIhO3MgbOd1auDv74DnpO/ng
POLls5hdCSqj+lGO6Mst8+ZdsaAE5z+gNFKm4YvvR9ldME4hAijioxm0ydZ3zKt9MXFw8P65HQPF
XCyT0eaSpwaSZjdDke4C0ypdWanEe8nLA7vTfMtOsr53VCt6DpI0dfR+omMm1GSOeoBskrG1AdZC
MrAyS+TqNYNT/szcycwILFplNIpmT8lXKxFtLXvzY7Q0SuQBbsoBkSfjWVCFf++uZ+uxmAdKbNxv
c9YjKCmByHojctlqu5s45dEYSElh+w06T9f3yBwTLyb/xGsXIdpPZTNsBIym0y6jhNZno12F2Q58
mNNGqi0qX0wj21ryldsZxw6327maJ0tL1KOaD0qmD+xMDf4M6LMSkyADotM1PyTGYzZWv1U9/VTp
ws310a5VUU8Nm4so7UNGlTDL86X6c9t/leTfviW6hfk5r26aP4wOT4VxV7aD3Wobh+FK5Mb0Xzdf
zHQgtzUFTEzr6N6n3dee1pgu24isK6hI88zK4gwEmV923ogVGAPtDqXWcHxBfp3T1lXM79BHSPT4
UyM1crRcRWeKA3eC1j0fn4sIfaNwnzdvskWlNLGn6W1j9teXfX7Qn3XH4Tk8jzh1lhVpMbLT8/bL
MN4lyo2S7DvaXobp6I9gL+9S1YmzjUVfK78xJ3/Nyudm44k+FyvjItlbFBNn5ryAO2W4a2gdqmrX
lEyoVb530UEKKiS3eQ0yHNCjCOYcEuFTKqOeQ+u+E1GGbMy7euv75oW/2IK0nJGKifNxtdz3SFKX
gcCs6GrvRiNMuU0Hy+pHz7ip46/jtOEiF2zQXCZm0Ow/9haOCAVrkoc10xGFw5EajhT2diDtC5iK
hNuw+NKZz5r20PTHYGgpPT6MaAdF/q9ocEPpSS/KrWAwT/+18S9cVp/0FDaVeXm0t6ydbmDE30uE
vDb8IgtO3L6MKqTYyedy5Is2Yu7/Eur/mYwlwkQFlD1ICsYFMuBCu0+8Yq97Dx4PXynXp+KnFbxH
xkaVYxkK5PkiR0sjuD16D6DGPnfIXDbNLlAQCyyreTOWjqa8NvFW48jSr5ZWFud7UmWqGA9YEaN3
RE7r1i2Ddy3ejXGJDtXGOXKRTSytLbxYE2jPNWKawoWutkfD0ZqPouGGXeu2NQKIbqsVe6N5Cf2t
4vXWZC7cWW5LUdAAdTpNe5CjuyH5NQRbKK6tqVy4aKOMuZSW2LBkVAve+vQmnQ4md5nKkPeTvlHf
mH/a6YZYTOWf7q+T9EMbq7Dt5oVLzZ3Q7sLWFbOfAkTWk9yBLLkbtlSUL06NpcVFYC7MQgjDisVL
bjykTm9TMHf3zZ21g4v6od5Hdq04n8b9l+TQ3fY2j3Ab3rO8ciztLyK0Zk0esmWMWIih3oWltsk2
ttzsfpdzqvFCCkUjuK7FlaNrBUAP8EJAnvrSBjeGddeUL0GyM5SNoWwZmod6ungD2WPqYagY92Xw
cxJvM958erfV243AOe/fa0NaRBG9A9E0qFgS8/e8t3XDIYO08y3Z3/W1MefWHm416PKeD2iMaDFK
9Lh2It45kINxTHXjgF7fXX8tLHbwKAbyZOozn4QU2WNY2n2YO56h3nfQWgPGc+ve2Kj1/GlAvZy8
vzYXO9rUgsAqRWzCr/Qay0bOW0RW8oSSpEf0UFTFLlUBkdPEVOX3sFVn7vKyukvTpAQ+DgPcD7md
6vd2yIX7ivIN4kVD8U2lR+BTJ0TqA6+2VBlMuICP6VQ3MJnrFS2Cjfk7oePjpR3F8YcqK4FTlIPq
QqQp8IzWCDT8675Ph4bh7VOw0LltFlb8YHR+90Alxb8JRX14iZrmoW7mG9AI24lbWkr43pljcWPG
lnacjFr9FYi0SMl9nJaOLmgoAwzPYmGkh7jUnpVBsI4qfZe7Sgg/5la4lWav7gH6WthndOgATz93
GSGTjYp2+trxpa9qSSsOyoqKrcb3g7HbSCnnhP1iHU9MLbxTr3rLFARI0K1IvtEFLtrmsbC+Cmrk
SMZdHBS2qO6SLR7WtQgNCmNu21Yh619yBSBEGwkZAkzOCAFpVSd7GkOdPm9vKi07BDx7jSkdfY34
en20a/NqkiZS36fCry7bUDIQt+1oJshz1Wx246lDKBsHqX9EYC5EaYvvYe1kPTW3CGWohmiCOGAu
Fp/6pN7V5peo+bcwgzn0nxpZRDGjMi3UezHi579o24JJr0ueykqCgexO9vSN6HxxAfxjjiPAoEeJ
VldtYS5Mph4gdlE7egxUx/veA++tLFcBFdJ/btl/NGxY3IGtsbE96cf19VudUISWZuswCyxRfImg
FpGZN9QP5J+g+p0QCFa5EdnWgimsJf/YWCxamUIjEA8VixbIYBkgjZNdIyKD+Cq3P9V6o+a6PiK6
F2nxBw6+vMibSpz7iOTVTqYothgYO/XHoOUb+dDaCWRSivm/RpaX9rhXRVWIc9LlvH4JMm2fVdbu
v6zMXxOLBEgvJiFrBcaBDBklKMEux8bRt/oj/5ck+Z9TZzmS0ZuMSq85dTJ/JxQHdZjsNGpJ/99K
0baE+yn/YoD07rY22doyzQf4/z3Dl3IyGRoNcpuTKmQeTKmgOz1CYmxsJCRbVhZZnGAkGcK9RMVy
3Glayyv7PvB+XV+o9SlU2D/gB9kjS2yvX1pqnI0YaaNntL7F/sukHWKu5p5/SMO9UP+oEPLc4kZb
21U0kP1jdXGiqYKc19CBzJH3e1i+hFLkqt2d0N0o8XOspf9lIk+sLQ61xAjBNChYE4SvofKuQiAx
bZ6cy2LMn5z7xMgy6xryyPcsjEQIfrSPsvVhEMEr5Ldj4NY+1aHc6YG8FVtqDGuHGEy2/yQHsxed
JMhFADfH1HBiG5V3mIbBScPgQ9v7Hypj/G7U6X9I/Cnl0rICnyCg5oU5S2msMOTZFKrRF4jnZATb
wylyKdbbSLVsHC9rbnJqbOEmCqSSMjoNZCPds6d/lECs9doPM8ldzbgJmn8Jc59XkHmkT4VUgJi/
CFpemxWGJ7W1o8jFwTcqOxq0XRZvHFrzNy8zrFMri10diZEGZJlDK0fQOYZ/0DjE8sco2TCzllKd
mllc0Np+QG5mwow/ZcekUQ9119qVYsJYQvWHEnQ2PIqooF8PJ2sh69Tq4rS0Ys+3ejA6ji9/tdrf
cnMrW5+vm9iav4UDhoal1DQkELCaAYETawzswpS/AkO6q6VP122tDscA5D6XWEFQLwJHZiRp06ld
7fR4Alxtt72qfa1owL9uZnVIFmQc85FPY+3CTNHk0QiCv3Y0rm4QgVgf20L9rfj5IR2Gw3VbK+GC
VwKomDjkYXReQiyqKFTLLIbjXzOPj3JVOH33QQm3HqHmdV44+ZmVxcbNRjXnBaqunKQ6FlNjV1tp
2Yp7Y4DyLhR5BjRBC/ce9TEcYw8DWly7aWTYk6Tu8/bzVIEj9IT3oE7t2vQ2GlRW4hGNAOgY0lxG
2/qytGx5ga74VVM5pUHWhITBoKtPBtwuUXbf3Bda9HR9sVYc48ze8kzx0cD0BOwJ3V5p7ajOj0kK
O+sWt8kFIIbQd2ZocX3PAl1P6gBDUnlTqDea7DQ6/RW72HoBhSNTvE/i4xAdtAkBhRadQ3Xa2AMr
W+30C5aFYy5GGoJZfME4PiTAlWXzGGfH69N5UZ1eDHPJAZD6Lbejef1iYdx5Q4o+mWWHQ31fA2qL
jWjXEk0CqX/OufJsDPB/MQ6zLyQrkN2Liz0RT8Y09nJbwec/2dBZQce5T8LXTH2uhdzmdYK3cDsS
NsyubhTrr9VFbIHpSJ7VtSrHaPeS72YyfET1XoR7JbeLNN5D+HF9ktcX8q/Bhc/2npKlwsQwq/qh
NB+tgUf6jQvM6lTCQyDNtJV0gi+xvKNqeIVf9LirGDYfBisYXLEcvZ0nKak7WBmShbrc2lYgR7am
TrzcqbnyH8YJsgV4Htyg9CguzqFUb0Yh7mnH87neer7syNOHYKv5aC1anxpZ+IyQ0Jk0ISTgZKWP
vvdbIh9Ez7UMNKQ2zoU/ZCLLkH1qauEojWhVlYd4sqMPO5+mj+Ip1F6D4nloDtbAQ3axS+KHIPmh
iIepPdLVNil0q/OW9/W6/6zFvNPvWPhPE9KNlVR8B1KxTqG8ZOLoklvbkbVFWb7mqbQAcdXW4Iuh
G+48c455NtKCUmbEiuaMULnwPFbk++vDkVbHc2JlkRIFVhEkaoKVSEtdSNiH8Ycp3nbiXVAePO2u
M9K9J9+H8YNkOEP7VYt/e9MPummvf8Y8axere/IVC2+F503sG6gZHJQ3jZHlzJ22BCISGLZeUbds
/svuAJEAsaQK3cpSNoJGWy8RDOxNk1W4qDXzvmPI37VG27olK2u5BrBtKIswo7CO58uYRGWAzCAT
DL7ELXeDC0DJHuGAjT/w0Hoz2eUO7cDbNrKT37QgodAbvf5C2fFR/hC60oHD7DVxgnvx+G/bYebT
5uTDlthraqkAH3o+rDTRMgugWr6JtwhC1wIEGibQBwCZ5Ta2WNdJ6ZF4z5TKSauXUiRGRMdmvNWm
nSRvPSyvzfOpqdnRTy6a4WhJA3LYldPUO5F3CwTbNs6qLQuLEJSWTdLHExbydLRrqbTjrdek1ZPj
dBCL6EIXVhqqHSbC6Ear7gJ116ffA/EYqbtWuPXqe2n4lziV2QuQmeGBGuoSk0rp+bS1VYbkrzR7
gYqU664M760tE39eMJe7G2EObuQW7eswZp7bAO7FzQHKHAeM2W29rw+W5dbv4eF1RBausFPXczyb
l8jUsOtjvhM2zuO1EHdqfuEZQp5q9DPNk1pUjkicJjM21Ntw+i92yPVN0aLpC38/H6ap96iOhgxz
HB5D3VWjH3r+qMnP10Pl2rEw3yj+n5VFwBZloZ+Z8gjYkUgXwlH3aXbcasy4ANfObqHQGQ5ABXYo
/n4+ll5O2rkNlNKGmX4QxENFb5754vkvyL4pWn4XWx9T7Kvm3kp21tZOWzMv08o803FzhULT5dx8
Mup+ICEA7cjDYw1OZjCejOBVG97l7LNQ2sHk1votHJSt8ihv6ZSubPO5fARUDZwIZHOLHVEb3D9h
jq+Btgs/zaKEmUjr/n0okWWayjRaxeFqUxfja+OubkZLp3ZaAPSTRm2vGfHG7WzlTAUGSxWd1IHX
hyXqW+wlPa66oHG0ADXtcDdNql2Zv9twV6NyHW7xmqzssjNzi9ClB2MqhhPmhB5ONsGE5mOwq46c
XhuO17fAn6NpEVBk6NkgUoTGR6f0ce4egal2lWcljdPf5jZdvI7n5rYW2LHb3uYHugMnO9/9MN3S
1j51TmAbDo3t7nvqxveKI9rG1y3up7W5Pvmg5VkqWInaTyofBOhXDn+NRuASsgMkbjv/oajGjYv+
2oWYCUCUDNJ/SC+WuWHna7lqZNiTJNuyBZpAIN913uu34GjF9tc+tXMDSo6NrEmZd/3lvP81u4g9
ctVRnqwx+5LuBhG1abs90JFio7/9Mbyfjta+u6Nh2UaF6xsl+tT+bt18r4+ebyu2v69/fMgnt9mP
jre77hBrWSzzYdAhxNVVAeB67hB+E4q8VfJh3hdhX9z7bvOOspDpevf+ToIpxQbm6qQ3WwQwa6Hi
1Kx8btbzE0GaFMz6tWJLSmebr9cHdtGqy/KeDWwRhxWx17rSwMLw3rnKUd2FH/IP0Vv9JXS8Z40a
sO0/q2+z2ghwBPc22MX27//PT1gselrEmp/4aeOMTm23u+aHdK+6+ZeP6cP7V8S2Dv2r57DSgmva
mjvebckOrqGVzqZgkT1Ysu/ztsoUCMeH4TH9DXzzqOlH8+b9LT8A3PMyW/hGr/qzdTCeRvvn9eGv
XTzPzC+yh6ECR6SGDF97fJyFV7sfkjvYcCY/vc8yL81OcarB3nhovegz/LPuyHmgf4FIATW9c8+y
4iIs0ilunNbb1cUeXnWq4zDc6PBBO2LzIPi3PB2KkWM2jvgtDHbD1kPA6hk8s/voc98QZBOLeR8L
o9CNnnmfGi7XSmPHsF4QlB21PCgKsuqPZm37LSih7MNkfii27r9rBwo0LugH0mBhiMszUhjkKVdb
7EMsZCJCFd0gfE49+OX6Am+ZWezhHlUAuRZZXw/ilqnM72VJfxeq4JPUeBu59kXTyJ9VBZkMPxsN
Kqq4CFNo+zWSNvuS9eg5jRscvCdzl9wMn83P0kE5dnfDJ+Eh+/2s/STrQFlS3tfuaA9O/bq1q9Yj
5smnLIZdRbXR+wKzG49s2447MFfTaJ86NM4M0D84aNMfxP10a9xcn++1O86c88AwIsHYT/Hi3LWH
URIha4mYhAbCMWM4QA7jNBVLO6QTHe/jIwXW702jQBG6pX23FrD/aDbTSQpHz/IpIxEqpYS8rnFk
H9Dvr26rl2T+9uUBqSMnMvPdiFymFrmjOGpW788HpByM4wCvem74+0HyE3rhU7/cXZ/K+actrAHu
Jr+jNC1R8l3MJFxhQWaIvOmmdWI3gvVcVqYTaoltht+6YqsKP4eca9YWgbDypAqK8Rl7lflOljyk
leN5hpvrn+K+tuP6QVU2XGXdIoUXkPLzY/xifGB21CyuCXhGmOzqinui+hohCtWmynPf/k483+ni
rUe1tdxqVlMit+SxFbzX4siN1KhrdA1wiNSgJA+xhW/LcmbDjC/2N3ICxQxyGgKP5t+1Nrer+Kbc
UoFcWVfk2f960SKVjvyy/j+cfdeS47iy7Rcxgt680kkqSeX9C6Nd0XuCIPn1d6HOOdMSxCvETHXv
nonpiJ2ESyQyV641txN2UTEMu6qDAmyvBbM9og1Kd+fk4/ouWj0TMAa0J2hFAfk8P4+9pcSU0HrA
VZICmtgfJrkQvIzX5lRFwzQTiUGWD5nxcxtxVs+yrDWDV9ezCyJOFwzRkE+wgzyq92NV3UQ0RvNB
urU6kABA3q9WCiSRNU81RI056prDB7bVQj0TPMsXtTl1LGNtJN3gVZIdNNOAVjN0oszFZoqmrVKo
YVUVoUWflNoEx662Kci8q1TFbe3G7YzsgG5AL5HqHQFNDok+s+pHjmKlQcApmxfHObXB4DIUKJxb
gvB71XOi3xDvHs0AMTWfR8l1NZFiGV+utO8WPUDtXh0+GntDknujcadqb6L3//rmWEPQMSKof2xy
p96MjE6We9iMGf0rUAeVJnkxDUpNCuX6bnKOSlGgfwXoxJD8h7TwmXFu2yRFpE7ZDOOESi9Dj05w
+7lXhgDqte4ESih9/ikY7trROx0uf/Qq2+ingQ23AdYSOb6k+siRkDZ134xNl7a+1m1lMDxqOtIu
g1vIm1SCN/xD573l/BF8zdp76/RrmIM8yWmiLlbE8oSvsdAJ6EwQwARi2AANQLBEeWBF9231LoPE
qMrf2uKPZD8J7K/AbVULyVtwkus6ivGcKzRypWvRyYb5V587RLl68orsi6ruDBN9raGTA2soqs2v
PaVPbXLPDT1VlGbSR/je4ikZQ9A5zpLpOlo4To1bxwLPtOL8zpw9Zy2ZqSbFDi41zarfqx5dUc6g
doK4b2VTnRnh7jE9pVIMgkCgz8d4F8epZxoPHcjxUUkKB/0/gNdgDWU/JsjDjg+3abLBKqcFt6aT
yoGlLp6dvilp+jzUdjhnCBCUZnd9n7Dvv4gM/lrktZERtinZSBhiE3jeRi22EVQU8uI/ZPgxMOB3
dEQ9aNPlvIEEKnZaZwDzSniSuY20fMryj+sjWdl8Zya44x+pWkNVhj2Vs2qLxKhrTiGDHYANboJW
nCq9X7e3ujNA4wcNDROVYj6Po00pAGR1iyFV7ihpYR/ddenGBht2NfvXTa3dwWD7/2uL2+pj5cyg
7oMta6nl+xlC2U5qPpDF2TQj0NGaKj2petq7CjLK7tQX832EfE8AmrwbUpTZ3WCX5Yvgm1Yc3Nk3
cSfDGRs6Oim+KSqzV63uP0u5uS2K/FdEX0sUAPMo8ikoMow8cxcdnatR/Es1Y5HPWQkJHAfpWLx2
wbUIGujzI9PEGmDiLaB1YJCk7Q8y+E7+VoJ8TTBcdvT4g3Jqh3v/IY/RRnIPTaPBBz1UHKTbyCco
Zru6a2x+SMfZ7++WoPTjJ+lgBteNrx3SU9vcg290xmy2amZbzTdGkUHFytmVoFu/bmZtKk93GRcv
1LVBMpsh7vvqdmSUdz2oMqdXi2z/ix2IjoF1FZTufIfX0lc1Sn6wk8aeLW+sON/VaGETAkq/vQq/
ZigF/GOIOza6MU6pRrBFR/uXnJCNOQ/ILkfWS5xUW634gNL6VrEnV5sHv+zfenW8J4bz1mCzKlV+
m82ynzqlwOOu+qmTj+LOTQ0sxAQub/gpxth30BGaQei1tABVRtPPNAsWdW3vnM4Bt6iSJBGpUzHZ
ZEYZYfAhzlYDmvRfVhSrCSQjWkT4SiSVp6qbMiAn28ZLrCaM6so1gGPLFcF1vD55fw2xvz+JqurM
jMY569EzUf3WjeXeAtOYHUImkMy/tEgkkrd+IP5a467jjiZ9CtQuDoSmIQngyk6/kSBCASKC6/O3
5lxAn/5/88ffwjVEeAxIuvVekn70KEAUsl8OpTcYb23iW3a+n0QkOGtZSkQZCBFtPJihRM/dyHkE
EOh3H8VSTtupnVwFyJAqbdxCr29zbfIkswlt4zfUcozqj4pOZDy+XLlyfJOUm+vDX9ujp9/Crepi
qC1IKnF19zQD6wqgGD5ttcTX0yTfXje1tqSnprglbYy6sDMdpnIa74pRceOU7LKl9JZJ9a6bEoyK
bw6eSTOpE7oRPEORjnWL4ommbk3r4bqV1djgZETfOfiTI4FdU9RWBDORVGxIqr9JNcDzxhBIseYW
YP7KFYACqbmZLJS3xyywQHDf67qbUhHf5trphLNVwfxlmMg6c3ekLVMitQa2cR9TrwBltjlYXu8Y
Bzr8TBUw+FaL6M5ai8JA/wKQio2kpMZXmykCvi6x4U21WXtxOpK6fZ0VMFq1fqup0KaJFcFhvRil
AmwgSsBMYxLwC/5lNcoU0saSDW0LeWdks0ehU2AcNOW1Gx+FPb2Xy4sKAtOxBCxYRh6G76JhCl7j
ItWJ9x7+DHd/7n8Ft0+xL6LGvqCaYIUKdG6B7J1J1ECL9dyxxlKjkWQpU+/VcCGk7boHSFe7XrAV
VEeciwPIKiJsBpH8ROLT4e5kNVKLWo2b1POPUOx+P/7PTxgew6MLs/iNn+B//4d/2bg7F78hp/2/
f+cGgRtU7uHg+duHh+3Xw9bfP7w+vP5+FbiKbxLEs/ABxVkm/o4yIUhQEOefzwlAQ4Ye1QTatF7v
hWGYet8/20Rwe16CbJghQOYBakPuGfvq3JBM6zIvZ0y+v/f90A8x6MAVeKO1FQbHPaQfoMNs4mnJ
OfxOc8qyTdsU9cb9/nXvHz/Dzdsv3X0LBEt82fjFhnNiiR2gE48kV7ESOQks7Y9HLBuE3wUu7+K6
hAFWg1CRCtTga7ihpLWDDrkURFf7o++/H8M/7gbbwdsKDvp3Ep7fAKd2uIEoY1kneQ07x8/Pn8/P
z7G7uM9QdUcQCZgC+/UM08Eh8LZPX4339PVEXfbra0bROmH/EDj779rh5RcBjefY6OYA5cn51ALc
YlQJkxP22XHZ3e0wvUzu3ttuPU8w/O//s2vGuNCRWhWg8y0z5mP3u+HjBicTlvytLzBlMvdyYUqH
Yh3SR+iP4guG8tTH8+D0zNSRnYBwx449cwQYHsbns9/Xd9H6XJ7YVM/nMnbyifTtAJslMA74A4V4
/PmK0eZe6v3ZvG3uD/eHQyBYxMvQi23fE8PsZX1yPkg7qomcwzA8YO2G4fPmw7sVOZXV835qRT+3
YsWKCjENNjz/CMZPeM/7DXbqi2ibXKaZueFwe9JMi46B5WHo3Q93G/dWZOESu8IsmLoOLioog0B7
9XwoWlZXUg6pDLZSe8t9H0MS+OHm/lcT/Pp2ld6WnQHBW2P9+J+Y5Y5/rkUl0mMwy/ZH7r4T7/21
DyiugxlZgD4Yfd/CqXBxU+rugF8F/vUNIBogC8Ak4poueuFwOn3BxeRc5Ha5+eDuC7tKIGGj/8/S
smvUP37/gYPDDg+7UXGNssPK/sCf+Dngn9+HCccJPz47xtfPk8nOy8UZ/jtd/CNGaqOWyGdf9f1t
of8/tzf7CvYt+I0bgf2IvuASr415AQQXyHuIcCKO4ealrkF4q3dQmWCGEVF8/8BFPrpvGP2td8Pc
pP8QioKai5gG/KzgmEA7HyvEXQjcal2faKMNuyOZO5eY6DFy0COSG4FWiATkvjuJzqaZM8Z55SGr
pCyxNVx+tXsXu7ELjjpvdP/g3xbgt9h/QeQWYLwuhr053HuPu8fNLggw/K+vh9+Yll3IDtLrw377
4D+8vu4ftsT9in3q/halzS7Cc8THbFIQEKAvCeq85yfXyGlZgSIDDxL0tAFEPCNjGiyKhoR6O0XE
2qB1Kd3FXVUInOzKkoA2wgBqAyA71As5p4TetnZedJp7kwJucqBFwW5VL+/GbGQ3eQXSCsHm5/c+
cDaInbH7oe+l6PwjrCO11Y3LBJ5A4JlaKLI7geowsdTgup1L7AczhMonaMENC61Q3Lhimspo8oIh
Be2IionqzgRinMRdoPShhYn0HkcvfRVO1ZtqbaCVMatPhRTY5kbwHez24Hbh2XfwuzCfHJlE+A4z
i1xbjcLCCa3yHnhfvUFzFpBdBwuOUwnaCtA6INMlAbs1c77XPoDbWf2C/rNZxQfoSgL8iR27hgx1
BwOS8JWcB2UcBR14c64Pe2U7n42auxEirSFGRmF0mJIga246kMoUSSiNW2n6+A+mgDaCSBD6T1S+
/aKPHKJC7j4HE3wN4vRNowZFh6ao0Y9E2Ca2Zy6mEikEE0rgloLnO/7+JB6x89rS4w56b5NztwzQ
E35bRIzd6yYgkIxXLAA2PHoqk/WxalXwaCZzC4y9PytfRfx+fcYuAxF2NqD9/H9GuIAu6ZJogfZo
7sk9FMIh+CH3gaTF5L0cgXQ3kffZxvkiP1UTUuhF09DD0IDJNZiIlO7yIjVED6HVQ3LyQVygh/rr
0qSg9vMSMLvIXpcgn277RrS3QDqQPDjprnXClCClZh1Tw+sU0QcwA5cra6GWCDSgjQfm+cqqQ64v
FoohrAjtDYpXSoGm70z5aKBeYqRuLfkO+jcphJh+6cZOsB4XYcr3evy1zq2HNOuzMbfYwrW8SYbb
xYpcNf1pzz6lbzI6VLuw7wQjXt9nf01yM+7QvB2rDgPWos8if5ybY6l/XR/Wqg8AV9b/zSkXV9et
vCgNMwF1Hbn7hSJ3ad+NC0SqRErfosGwvz85l3pZo8pcY/60bL6tyafkyKGa/GvySW6VOE/u5OAv
6UZmBbC+BKhYfUNtzwL1rdUFliNw2ywEu7YjObddO1VuAJYCX7PcU+rqzq1pHqZqk0IobLiBWsj1
xbosAXGj4zx2C73SjEiwV4GZ5T366l1tu/wsfsa7epc9AhW0yZ+xIX8agmh4be00tL9ABg6JfbB/
nK+dqbVFF9VO7jXodqU/4gwqGyJecIGNb8zRyf4gaq6UqMGCDDyPIHGUuyq6ZyFrcX0K1yKpk5F8
Z3tOrKjQqaFmCytloT2rVAtQYpVHmgM0Lzi8a1c64ndIxgHdBWV77vBCUUvvnASaNRCtiruwhDDG
/E5S4hJjT6PN9WGtTt6JMe4YK4VhTqMCYzSigRk/ZDqEq8ef142szt2JEfYRJ3MXwQMiKoQRC9ee
Oh5LMyyQeZcjkatdHQ3Ek1jHMZrW+ZePPVTxMve4whvAe+pf00jd2Sh9Qwm6Vg3s5KmAHJBS44lQ
eaTzZ+0umX50RPAZq8P9+xXfec6T4QJuMKZSg6+oskNJf0zGjVY8RZLgaK1ZYe35kKM0wc37nS04
seI4uMPNHFLTw3Kr575j30qTb4tUAtZmFOE1o3mGLhUQOedLZzZj0lOAc1HLmCCe/dFDf5RmAl6g
yxQb3JONWgJUbkByd/FynKkCCXVmRZGhj0OKttCh1lSDoUJtoUkF/w8eH+jxdkGc2+Ro20uDzgE6
18fJtHr0XNuF3f6hEnKl0FSsY0f1liwhvh0X6h+5L4wMCnYx9BVro5LbsJ8h4BXodjkMh3HUJnlT
lMaEyKTTG93XtSoWVTbXFgsN1IDiakjtXeCcC6AvJZJC4LdVVL+KglKBnJjtkvnfgsHYRBrAqQLq
piDS5+6VplG0VrIwkW0XozE1s76KxhARbTCfwF9eNkgCIDTAJIR4yE9E9ESCUC4ePXW/T6EgGleJ
wAeuzpcDpTAmB8v00LhtNyakXZYUWrTAevjT9NmhB8qcDDAVtCJY0dpwUK9HryaDI6BR49xWhLpD
O4NqAn0EpWvXD2Nxf939rRpAxk4BOkoF+osbDDhVDakoMBg05+Ny2mXDr/9iAFpDYNeCL+BZV5w4
m2JHT8AYQa3fTiF7NnRsBE/77wuOX3V0BaPDGmtvQG75fJrqTi3bLkNRceqjjZIGjooXbelLpq8Z
r3FG/VY6VDZjBRRYXp++v4bZ3584urGJwc9R5IVntdUPMIp6eqwKjs3adjsdG3dBKX1hQ0gaYwOr
FjqTfW0KJNsIZ0Nw2zJveTGHDGWgm5aChya3E9BGbtmoshdeZymRl7S/JtY0Qt+6Mbt3JpCC6FVx
kIGPvb4/VocHsTd0murYI3xVs0T5cYhGmJ1HMwH0WvPzzPpZ1OD+kH5fN7W+TXBPMLJ41PH4opSM
ZHFlMt36sdE8MzpY9d1s3ibpTtX+1O3WMB4k9dkat9fNsjN6MbEmLg6Uo2Ud7/fzPaKn9YygACM0
u+ReRUNn9buF+Kidb3QaXje1eiOC3eabDUAHZdC5qTbRVbR1w5VLrXNLU9VTqHYY4jy4bmZtzZDo
/8cMF7EXvU7qAZ2qEPfVRlejoB0E53MKybKMFILZE9niLnk9B482WPCxZtWHXeyr/Fg0t0Qkcn0J
/meXE6quQChCRP1CRCUu07nXcBt7eIz8IX3mtTJxrSJBqlh3y6S7z6vCr9ufaScShF51Iea3eAGy
klBjO1+zWh8Tq1WxPdoBz7te6dDQK4R9i4xw7/xMtirsDBhJaf5KI/nZAiv99U2xus1xV6GlksWX
fJOwNFvOtEi4SWaJ/GnjdNfQGVhiZ2vTz7YbBTt97SECcNQ/1rgBaTIe+YArFx5RFgTSMgmQcnVj
+sNOpLdodG4V4+36+C5hHtgi6POHsC/6/iFTzh0uw9KkMpVgsk6aBwo8ktKkLxYo8EFS5FIIlhuV
4g9V07iR9q45s68S3Sd2E1idiERhfa7/fgp3ACOATYuixbXjGNRrJRy926ENCBBFhahPdGWiIYym
IGmOmwEvZW579p26tOW39uMEwfd+k1l+YgAjBRit/SmJOghF1rhlTYk9jEtZ4RjivWwuL238PsUq
6jR4Mjk3pogTbsW5gDIFUAtASIDfMznn0jedsaiU4Po2rA3yfkT6bQyP9tIKLrmVu9VCFIcHBENe
XjRF6RO44btyLLwcqizds0m3hnRT6eiH6t0OXGWkERRG1+YR7GQq2AoxMtyr507FLgkUjyPcdMVy
P7VeUk17NdiRLBiHXsCWsLIX0S6ADDi6vhwVQzw3JUtmF8sN7pye2PsJcYU7EUirG4AiRrl1b+r/
Vm8RgC4YRLObpqGJEAD3c4NLXE9RLsFVZ1TdEMl2B5Q0KM7Z9fO+tjdOzHxXeE9Cu65XG2NgZiI8
i7L+CHxu1KjhpAo82VpUAlp/QMggZ4VOoO+/PzHUOgYZmoVxqjUdVGXRNpy7Q6W2+7nQH6SpTx/s
dNZ+Ra0JfGJV52GSmSRBt5BZtd71Ma9dgyjLOigHMikxgKrO51ZKbLUcbHQHLtmhQQO6QdGgHrHY
3dW0UJLh0FBPcdof1+2ubtcTs+z6OpkC6OCV05ioiN8n6aGtcRAT87VO7I3kLPetlUFJTSgVyobC
hWVnQ+XiaiOaIq2vtMJr1D9TE0zjRtV3sXOwnJ2l3znDCynDFt2+RrajkeAJueYPTqeZc6poKlMs
0EHiOp4+U/mTqmGxMH3lG0P2Yqd3U1GSVTTBnF9d+qhNaxMG61mC/NNbu7yU4A1R68yj5aeSbK+v
56pPsE0TgEXNYTRD5+tJ6LDUMWsyHWQ0nvbbwUKDme3JY+zSXpCuvmRSYP4AOQU0hKNdG62U58by
eIpGKcXYNLORkRtPAQChMxTJSh3NzEr0S4+zJsgTqt6ACfBJAk+kT63B9JAAdnCJJ6L2gbXRA2QA
ZRwUtfG05hyUQ5s2MyodOyuyA8to9nq2yfrQlvJNC6mj61OtsqXj9/GJNT6jV2daPDRoS0cb1R1R
wNbRdiCOGR7gvLyk1n1aZn7Vqcc2CRvFVz1rZ6bPTXaAk5bKRxmso/eTL/lKJviwlZDTwsqgDo70
GdrXeFei9RJSapiFCXXRvG3ucDXsro99zUWDFQldV8gv2OikPF95EE4nIC9k3ipPrdyf0WjVQS4L
feTd0qZhOjnD07+3CPAtQI0gW0NKhttrY4uKmV1Bv25Ju+yOxD3yZPKSH9tRSf0oHnr3uj02An5x
8RoBdAUYCdA2c5OIx4chAcmMR3kv+RHZLdixyZ/rNlYvoFMjnPeFcEIv0wRGRslx3KnJvCmWgsLQ
/CGjbj1OmwWZlCpzHibLSUF29VvwAStVSDB1/V1Hts4n7l8nQ64inkcw72Re3f4YyYu5BFQBWOJt
Uo9lgofEx3Wbq7sTjgk7EIdU5+lXSlmK86zD1ikoCJbK/kAjUSv86u4E9BWJVaSlAOg9H5USKfkC
YA067fuDXOwtsI+oG4c+XB/IqrNBBzHQ/AoYPyzuDNi11rVmzZxNXN3nmnTTJu3TbKdBTMhtEnf+
dXOr82YhqgRpHXpheKy7PMR0KCGa7LGmrX1v1s7BXOzX60bWdj22wz9GuP0AXReIOY0wYhgTegVb
V8pyv1V/XLeyGux8M7sD72CpF+SMBYLZKstN7Hu9fOio4mVOs0tpspWiBi5F35LG2VPjj+X8pzgL
6VYLHhKbT7O5cw0CjMSJUgcPD4JTln4oaMJOOjUckwg8sOWmND5pPW2A0hZ45UvMKQjNvm2ynjvE
newsnpw1ZSJgVzQWFno427oCucBk+XH6qs3qVpLMm7557uJkj9KK7+hgjlR1aGmhyzBDgDJYL3qW
bHWiA9Lz6/pqaBchyveHIdWtsBwuKgTnH9bF2VgDzlxAVE7qfYnE+U1i1LLqFU6avaqRvHzYTuHs
0C5Iwdg5535HBtSnwRuee/GwRG4LAda3qmvk+ypSs8gH6a3BuqVzors1nQaIx6ElGPKspuZbatL8
JtkYU1+Vyul3UWXQ+Yq6NOz1CdwyNDXVn2AIMHYVnfP9HNtk8qK4Wx6J0ynPzSDnH1HfMmBc0ofQ
du7LA1RvnGMuj7UgR782MwqyhxZeB2uAMkA2x7LHPrUg/rWRzEUNUO3dNU3X7TStLv3ZtiOmXjYK
XpEXh53RWzOSKt1C5wkAbedLMtmJlS0L5OaH5jmqkGbQRODDi5POWeDuUwranTkrkxIJywZR78Ek
N5FIr+fCQzIbOurVSLKhiZ3nuSln4NkdmmEUykGefDJ+jFao5buZCtzW9xY9u62/LaGIBn4ZGcRa
nMcnWmbFc4TogIBQbvAZVN0K4b5c9SndLV7zAK4pwUviMivF2WSb5+Q825U6jCbejN4U6l/5nga2
v2zqQ3Hb7kCzERo70ZJdvF04g1x0WxhDZ1ojDMqb+LF8SQ/5bgoaT3687g9WNj1W7Z+55MNao0kT
k3YsKAmtEPTNfWhgOKMgDBBZ4fZfViXIzbP4avq1+PFDdADfqeT/a6al8yn7DuFP1yhWI5Abw0p2
iMDomLz1/hikoSWoFF1eaJwd7lYhij6g3AY7+oMSjtth3wXwC+/FRhR0rB7bk8VhjuNkQItqlYgP
YMiUt0vkx90uUl+ur/9lVIqAF1VDBU9IeD0c4XMbqDCM8rCkSLMWHw3YmRHK1GMwm4+RFdoOZHO+
LDmsLUE26yJo+7bKHpPs/Dp8946RkMiErHnpRUzeOh3cNNq2uARq0bllO4vzFRge6HcZ9x/yWNzO
UwpS9Cp6yrzeJEGttYAdvtXyO259FzpEgT2CM7yXyAYIBz9ehPSDKyuIoMcG1QcEVMCTy5lv9Chz
9BohFhTTaNCE1bY+aJnX7KMty7duwHhUbZSn+O36qq5M75lZLg9RZIOiJw17rPY3y+hJ2m/gJCAT
LXg2XWLKEEygwwCNBmxw4DM53zxI+o4DqmFIkI8dlNmTJBmPCA/oV0qQjpB1AjCymTfTT7vSyW01
0QaKe2OONAF0yW6oNXWPBfpWY/C+LeVLl+r5fVtI5GfjSIvgdr/MX+BbkcdU8KAEE9tF4SQtG4Oh
TwpPfSCvjlsGmuomvrxbbuqwHl35ud9eX4SVa/3MILcIUKBiaWMYdPoHDYSElogMY22VT0fE+aFB
jwdbQrDmKVoAGutaQkkklb1M968PZG0TIwkMVImFvPNFM4nUji1JFcQntonqB8lvKw259LETQIBW
5gvPY4TpjAUQtIrctV6VY5tRtEl4xKZ+KiHwnLzrA1kLUdDZC54NjfV+8o84CsZGOnYYiDoDYhyo
VTAS1e2By+8UkXTJyuIgV8JQUwqqWcjbnx+NUdabYkQjOpJD7lh9dtPdUAdZLtrVq0M6McNdESOl
LcjFEAvNG+cJlDKqVz9a++Iuuk+94auK3Tx1VYhhS34rcK2XGTFcgzbE4AHNwdselHjnI9S1fIjy
HCNUnown/UYPpCD7qT/8NG6RfwTN386uXAJVWddLd5o3bzPoegoc0MqWOfsE7ojlhpOq9swmufow
7WMmEkxaux3PDHCrmMnpaKQODBi/tNQdIjd1R1f3UxXCoQH5aYqSrGuB0umccsuZpEUyZgl2aLIj
xxptcyB/XjY6cZebylUepM38Bokq71V7HgQh2mqEe2qaeYGTYEOSCq3QVQy1ewdJ7S61/fFNd9va
VdhG8obHPPz3DvJsctkROrGYABE6FinzK1PlylIQT/+66M9tUc6lQAfQHEo2pkrNd+aYbetGMIb1
Y/73ELAFPRlDC+GZdpkxhraKQ0cDnd70ZqIDUgmvu65VOyDAZx19TNmK24jGiAQ6aEfQ4aY8LAZK
8PaPQbt1skTgIld8PUQD/trhNqAJcU1okOClGEv383js6ZtERDuNOQYuJjuzwe203IzUHnUoMI3E
j1mEKlwZVCg+xXQ7LEe1e0irnez8mP/DdXlmlttuSJ87UmozZ6F7BG0fpJUhRbTXREslmkJ+0yU1
GrgJhhfZT0Zz1wE1q+X+9e0gssFtu7leolIdYKOLHxd7W4PEUxf2Ta96VzRzgvABT/eLJCRBH2es
A+3rtaCsJobvgOkLFPRF5VnyC+Tj9PS1K556UJdHClRYi2dJFHmsPrXQNQC8EOgnwN/Nbfu6b8t+
rLHtSRtqEA8vw0oBF3ELqjUHJETUladDIZSTWptdFIqBvsdJYM+H80M9GInZzSxt2PmTH+2anwta
4lvXQSdzfGd4zVF+hB6xSMpoLUJl9el/zHKLmklahlkAb565sfCunMLYdbv95JH39qndi56xax7l
1Br38LPMfJk7xUKGstw2+hE9qXYP3H9wfaOyb+bP+okVnpSuc0obdOGwYnTvVePry9GGVgjYnvsp
jMr368ZWQ5JTa1xIokjttLQqrIHTfTP5MZYsu7NuEQJlbrnB+0d9j5EvSh6ftBvoZmY+5O1GkZ7C
Wu73dB2/28NP7oR6Is0QQTLYW+4+Uzc/LlvQWT05wR9114cRGm0aVA73e1Gf5PquBW7KBGgavODc
rl0aJa9tGaFg0fld1yGN7FnS4/UZ/v/s0b9GuD1KF4C+uxljG8LRN7bkFjnFH+WB+hGY1umWiCK8
1QgMPuifUXHblIDoQ+0VGFQ3ShFGm+k5fqjfp8VTTFd2RUnM1TkERl9B6A5iGD5dgHYC3WlZvJdW
CJ4PQ7alomfOuol/sr28/HxNu4ymE1yaXmYuANtTHrv9KLjGV1z3WdqDC4zHPJclO0Xao04nt7Jv
FVH0v+I9kH5lxXcV0GFIAZy7yMKC9g+1kcDp4YRz6WtC2S05JqILYGWyzsxw4xgSbUg7B2a0+BBn
hzHZGlF4fUuvTtXJSLgrZlElu43zsvQg1eDTXnab+Pm6BdEg2Bec+AOpizvkIzAI1F2Ar/tKxsE1
ms/rRtZOpsl4jhW80W0m+XRuZQHSGR1HsJLFugvhDTdKCvBcu1V1i9QM7E2Gv/RBU79M5CUSdWiy
Y8j5+TPrXHCVS9qYobkQ8emYbXrHepJHIKsggR1rZgBiNj8DoKmy+831UTOfds0s5/PSIovx+sag
F+2xjw6FcZyUD6371BbBgbpcQyQOLBCPgUIaNUwewliCc9bsZQtC7LUMiSbS3pamBOLsRJAYvZxH
4DiACdMh2IGkwUWcP5B2qGYTPYYV+rbJsQFXXAtmNW0nD2isva+ooPi0NjB0vLOmAB2ngIf5TU1p
ogHcyr0CcHblJU8epf7j+iIJTPAQP4OYlRPVMNEYZNPp7xox/V7UwrPyfrVN8N+BCgoKlcA5cPs/
UpwBTyS0JC0Qc/myG6/8ctxmD02joXOtT+loPuV+vb0+tEvncW6U2/az1FiUTjDaWuidBL85FXny
lZgGJmwGWYS6AXqtOU/bDkOcpG0EE0H1PIaFV4bZpto5h2LXA67rgb+1erU2jfdAXeeQbZyDqH39
0teffwHnhEtdMis5xRdYIwird4YajNqIO+v1+lyumAFTDUswQsCBOZNzB4bjBXYCkmKA5MVw9toU
WvIzEUH0vmFh5y4DVGnYIQ4EadEf+h29nXhjuVedtixKRKRu+Zi/KqMbB5niIa3jpjfpJvILV4u9
7DgGcVg+OcLocOU0nNnnApq2WNQeSlCoXt4soeIXof6h3M6h6hYv9vG3tfnx+/q0rlwMZwPmS3wA
TnVlZsNg9GkoLpW9/HXcQ3EtMI5kCpUvwD5dgclLt4yChwPAGCDtLPfJ3amZPEudAfgwHlDSU3bf
3o5PALSbB7NB+mzZOJ+KB6RJ5EETWFTQXNtFNqN4QCmfZXo5N2BIs6nk0DRDk3ZUuEsbPRYyuaWL
1O8UiNYLzv/aQE+tsa852Uy5ZWSLpKFxsErb3NWbH1NVPKvxh72o23n4uj6tKzsHii7oxcAFYaAj
kp/VrEmitsVCOjVEaOUf00xcs3m6bmTFo9nsCCogYIRmFZ8jn5RpqC2HIC5laCgXxUHrASGgLdiV
a2ZMDdEKGImAL79YptQuM0uieGIj0Q9BmMb+96G8jcQFaJhBjohWRR4lkDqpVKo5gC5L1fuq9Yrm
YjcRtdWtLQkoQoFCZbbQCna+/rpVpA21UWiT7IexDwviA853fUFWIgJbBwUAWF3RvXRRoJ0Tp1Ta
cQAsJQrz5T3pqJuh6wdlWiVE7xiKC6Xo+H6rA3E+EjcOqiRo1sKo+Lpeskilk8ToD9GATl9cWY9m
r4zk6H7SLOxzK0EmDZPZ6J5lj8R3aELdVrGBXUHqC+IamHmp93QqIeOfLj3dUSrpr2XU4zWSymOz
zRotX/xRQ0AlQ+U92RBagOt4RHB16DtKDig3dretMsdk31ipfm8uJm6eZV5CdZiTvamW8qc612iF
SO1+R3AQU09R0MHp6ouutGhsyaXObWPH/CrlegoX3Z5/ptJsPNR9VD4lUp+/NWgk3+sgPwwN2Hho
7NjcN1WlJn45OeONXpjm+wic30bN54T1W9Bh9pVYqm7r1B79RS6gEDF38vgDcTeQx2qsQFDHxH5z
OwoKKFp1w7IHNo1G944ka3fZ5ED/iDqaM0DoJql3lpHMrw3pktBKRyd2a2VAEwTNzU2SakuKYnXd
gLiXzACILtDNuSvAHvaet0v0UA99CtyYZbSgKZIy32pm2t2MOvjEkI5Oqn3V5PUNllGLA83J5z9q
q9alu9C8fE6J2iB9ZshyWPV9+tUPLRSDJKurkASyLJIj3QayIFWnw0e9xGPijomd/VTiTgvQVK5D
ObAqtIOe9MiqD2YkavdlSQR++8G4gswjGvXQQXp+qlLEqsn/I+26liPHleUXMYIgAZpXmjZSy5sZ
6YUxoxkR9N5+/U0qzj3bjWY0Qns2dvdR1QUWgEJVVqZSFXjzZ7NLoZiiKe12jqFS05Yuplj/xoqs
zqCtHUgYrkGrDgk+DgzBZp9VFQ9bnHvKEwpU+eFnAYkJJ7uhIDu97a8hd/LEbhO/8rr77Df3LaRh
2qIIenmzr/4KDKGDnBZExxigPfWcBaFJ8wybXU82Bliru1Gaf6xckBaYWP5rQriy9CEYC6uFCTvY
sM7Rbib3N+rIpqPd27mnP1T76FA79l52MctcE9K7Mk/Noh1gN9QB/kkxy5fv/7fFE2pT7UQ6sIws
JyX2VxPdjtrDZQNrqRRSCuQVAAB/AdNPP0+L90eRtxNyx0JT3s3eNN9yHqKIWFk5uj723KSbLLDB
h0Azo5+dlgeR5gF2nf2pQz1G/EbNdRkNvWzybW1xj69TITVIw2AcQorrdOheFKS0Bpc059ei5tjA
8gOOEh2rbpNCg5ybWw3aa6Ll28oGnftUXuXav7B0fKUKrw07y3GixIBhNuN7wgwv7kqvzgeAWGRU
hbLLW1g0teiKclBweTfTjtRXDZ7aMub7lfwQAxMU+SjGJtjZ2H3UT1qP0wzZaJJvMlZssq3xBHZx
nwZkezk4ZaaEdRsLNUsmBbXvoIx2oPTPU8ASW69Vb/i3544oUqsjr4SFG4kZ9kmARgVGBL3WgOAe
9dLilaqVlyuGe9mvtcsAgnsQioYsqwEV1dPIq8Ki7xobSziUbtRETsldne7sWnfYuB9iWVCsBfqx
OSHQG5LQKYcUtjtl6Pb33qR+Br3Tp6+XvVppEixyE2hsQR6AGkwcW4CqTM2Hsscz0O98c2c//UUP
+QNXTo1eU+ToW3U3XNu78udgezJs6VrgI8lH2XZR5j0D9Bjd2LGUwTZXWgfYbgs4ETIX/mUXJVbE
d+cECh0jmnCjxjx3LI4R1Uej21y2sfa1jjwRiyPZjAmkZIInrGTGdgB/GxqE5Aa8qgRt5SB++t/M
CXssmmiVNinM6fpHan5AYxHDZ6PD4x+X7XwVa8UM6NgvIejjKrOIsrzCol/2s4paozMfUDTD5Xkw
fTS0wLtya22i3xKzC9L8zCzSDqRBQEeBV/V0r9U4QuqgwyxNjxs0Y5h7f+y0JzKhjBt5vNi0kxzZ
sLa/F4AkWyoFmKQWXLU54UO4TNboRV665axfF1331A1lBtHz2x5NZsWWoKbWjkpoLxhwUbVNQLRO
3UQmPOjmMheqDLQDMeY9Szpwt0a5ui+t6icUEGS99FWLC7YfrXQIv4lCT0bX0qZKcNUUU2oCD0Ci
eZcMEXnXkkDhbkWrIN1mGEmRdAVW8gLMn2BCEuy/eFaI6F584jwxQJrg5pzti+7GDKrt5ZhZ2eVQ
7gV4GDIH6NOJo3MKANcW7YAfVpMk89mscs+omxFIRPPvZUtnawj2JCBoUf9YqATw7+lXw4DcRAa7
y13ato4GldPuT00fWPRhyMhtz06VxdKi2I33L6aHxK/VxV1rkqLP3R4UqrHaenq0M1AxCySXwFno
C3YEj+LG7lARhUe6CbHWLvmwMFkLIrRNktpvLKBXZSIDDMpMLp/zKI8z8wEVqxkm8cgAIZrH+WMz
QYG4AGfCB4em7eVvtr6SwAmCCEg7J/OYMLmZauaQoymFbkl/Ww6x00cPLPl2orUsJUNkLKUetHyE
QswMMSxNzWCoSX+w7EZJNzVqC7ntV0Mk8Wl1CY9MCZdAXo62OeowNSkgatIcLev8NL0KwTmUJAf2
bQyb4JlwPuqRzlW7XpYQtHUJD67DYdhd/krnyYhgQwjEDNpuEe2W1Zvec+NxIiBfGR1rumrjq3re
JANonJy03KEfrrDJNaKXwX402ns0qoCef5b8mmUBT24h4dcIMRprXVGoFL+m7kHReA3xOgcVSacH
Trw0ru2gdjR1g7FInvtSsd5zvMFiHDVJzD5iyh3N1NMNohhVElrNlAO9pb0lSCNAP3irgAjCIsl2
siH6nAMVVL/ndopcNMhkn2L5+2fOg9AR9V0NKkfidYjXwjREykJOSQyMnQGaDLrFvHtRDXQoMn2n
AOfVZ8EvatQ/qSq5GM+baPAeqvKovOCq0jDqeup9oXe9kVrwvh9+DLnhBRooMq3MZWH1Gtja3ixM
vxwhKjyNfsiSn8OQ+4HRHuoMOneXw2Dt6Dj+KcI2YwHToR6OhQBfbRlyX7X/6vxGrcJ/s+LHhoQN
BkVQFU9yGKrM0k2TV93aamoJ9axnA7VNBU/dvnHi8l7nUl3qs3zra7mXqxN83SpKCqfLbYOqtq9s
LPdSE9FLnxl/dPUBXPHxyPwkvuPTbab5/2Zd/7G5HG9HN8BMsbO6CjZBVTFXvgbSk9Qz4mzY1mk0
vvV2OTxetrh2ccPR/3h5RnnXz3WXUiSRoDuHJnpQ4eY2b/LoKbNzFyVd77K1c/Lzr0XFACIEKJD1
iBpSKQhXik5V8be55fDZVdUHRlOnNJ8t43e8yLFBvZ3+LIK77ttER6emxanfZlRYYk0w3VbjBnQj
Wdd5mY4aeCI7I1cjZ5GXM6B3jyRBiByzHpW51mApK155sKknVwtvUGkGF/EVcG3m7M4ygr3VoxEN
qP/aFCLHnOc0JwVsGlDaTcxNqlJXCQ5WvFHYtVFt58A3FC8ivyQfdNmA4pF4bFfomEa9pXQpgV2M
iLi1va/bW2bgIHTb4ZB1QI63XpBu8DzBMEdgyGYAVs8hvMXQowJxKwhQTvcLaeIpsTOaLzJ+L90Q
g8Qawjf8NVVkQvHLXzrz88jS8kuOdmY79qk6DrBUgOWs5NzT+2hTKt+msUaQLik7CIMXUZAzABrp
R/C4EDikoMRuxnHoWCHOnJzS94R0kpGGteVDjUOHMjT+o2KgWlWdEUVVclfRchdcQI7dcrDvVw8B
lUn3ra3fsSkhPnV0YUId7RmUNbLaS3RQrULi0vBKQ0bief4+X9bwyCshJE0QC/R9BlNFft1o75p9
b4AusTrw8gN9LR2i3uSVBDut/1Ekj2QEUH97eVOsnalHP0AsruQj4EiY/kKaUPzJsivVOhAau5Z2
n0Wybv6ybGJYHpsScoK+Cmhjh2HhNrP5mfDXJMdwv9F7JZowVsk3PU0lzq1ZxAL/91oUVpfPUZn1
y4XB6J9YuU5KRwkKh4+urt7EqWyDr4XNP9Zwnp5uu4BUU6yVuP/NvLiKimZXNgESzr+XP9iaFeja
YsdhGJUBd3JqRYkNJWn6AMGZs73ddC9dyb2qD/zLZla325EZIWvSLZ5GhMIMssjrtqCbGSaike3q
TJNA1Va+EsbvMVUJ8KJhYCxF8ChK/xOCpj00fhpQ2xvUrMZIgnkft4rqsXrkDoCitSSfWF4jQkAy
iCiB41qDfUMklcnLzuBZxgt0YSLlUe8yE8SoVi8JwiXIRCtQccZ7Ese+hXHBU/fmSg+KTMfDOKte
oZmkRodpdprg3bInB5PLDpEBg89bkGBZR50bEH/w5i4kW6cWq6IHyV+lFm5klY6OIbq0651uNt2p
QyluYDtbm/1Io07ClL3eEcc0Q5+10badQW4eDrdRDhy2MfizYT6rBXEsK92mdrKJ7cQrc9tNQKR9
OdxWYsDAN9AR1UhCkBuc/uQ5QT0hVQh0eUykyalTWb4R+FX3FuoV9AQk1s7HQRZYCqCt6AWgcA0e
v1NztYWCgraYMzPM1fweMM+NdpTBHsx5RwZ/6LYKcy97uHLQ4hwyQQKK5h7mHIXXASssi6YzLVww
MnhRiCaf6RfhbW0dKhpJ/FvZvAgAG9ck2IwW9M2pe9M4pNVYwj105b0yQL4aO2n8J2sfLvu08tUY
huHRdcDYNmaeF5+PEg2zz5Uo6eHT2G6Zhlod34fDs5bghdnuTJz0/5u55eccmStIPavmsoRj+FLY
3CH2bdzf8eAlH3on+zePKniHofSltQG1RGEVs7KKxkY1ChekM6kFEe3WiRPiNdprZDkN28/FTRE4
l11c+3ImPhv2ALYCaGtPXQy1jo08HQq3r70WZId5+jefnge1lizlSjSCzOAfO8LxHmY2FEgIDiVm
7XowtRoOUyh6N25aSlFAS2SLByDuKfBqaQABofN26tMUjnVNI9gyyf1I75XR1VCOgLZf1/YOszcm
8YpyUwO4Fetbq/97eUXX9jqCE6bBBox/RcG8zDBjI5vGryBt1Y+kejfZRut3pe2qDECWbpuOkn2x
nFZnHh+ZFAKVt8GYNwa+ogFBiXm2nzJdNkCz+gGPTAgnGDf0aWA9TCgVP1Ss3ihhtenr6IYl6Y+e
TxJ099qb7XgVRey1ZqRNabVYRbMa/tT8zkxV6LSFd6goXkHo+kkJrY2Nsm9LfzaWLLNae4qfWBe2
hV3Y7VTa8JY3+6TyqxiMT+Wj0v0JwleLH4ryCbqAtf5cUsmr4xypgbv0KHpsYaNEiqblkwXLdRV7
So3+WcsPzIjvaqN4acp0Mw2Pk863StiDCf9p0gEETiXHuXTxhbsj0Y2pGEosflL9SYOHrhq81naz
+K6v3LTf5zNe6z8aGfBx9Sxauso4igCiEhOXaQrVMaewyomXt09mcx8MmziXJGFrdwgYmP7fChWy
5iQOukJhsMIoMqQOucpmJjuNvWsL+u358mGwkouhbATllIXEBeMXwq6JzCmnBIxfrm29KHmyNcrX
yVaeahU8nIVxiBnQ00wmQCIxKhZzwGBDlKGF0b4AJc4LxOpilBw49DvUgxlGjiHTH1sOVOH4wYgr
GqFgywMPmfhEwJCVHWo18j/MeJet5mj1fgL27vJSrkTHiRFhY7DMyIIWvO7uPN63qOOA6RLSJ1g+
yU0lc0aI/UixSGGWix3rNzCr6Cygwyrj7Vw5TZF+YnIFVQwMKIuhnleYREzQqnPRWaXpq1341uxD
2BTlWtnHWV23o0xX8MfWMABRqDBVBndz/7canszwibWSN9VazIFIBx8fEJsFwX5651oNL7TAQqpU
ZNwpkr1NXnjx0xpHh7UfM9CXODO+Hw9I3QHowRUPyKGwtabKSKHcAotA3DpKG0BLIDwQsE1p6beh
Ncjej0yJNQv0HBJWJYspENqDAWinaD/AkejMhXV/2alzcdgvU3hCLYJz6AkKGW4DKrByDFnhTm2d
/smDsPhtlUT5OWhN+dSYWsD8qUhD0E7y9JDOs3kwJlBybwmx+T7pzKJwrDGi7T3Q1aTzo5lXvafq
WS/JOFZOUTSyNYjVA9+NdpOw+iUbx6abzAI5FUS1tI3R3DOQEaWYCdUL7gz12+WFWdswQD0ACqAh
S0XD/jS+QqMr+7KBPd5WTlIAGfw2IoE01Hsr4pLrb9U3tH3RtEcl/qy5odC66PTFt7mqCQhm+eRr
ZnlThyXmLOfyNkmLaAfnJZCHtWc0NCnRwlukPs9fbDzVqwhFzRIj50bwakE24tEMKXmao1Ejrt6n
7dtg6MlOoxn7rFhn/7JH3vtND2JBZ0TPZw8QNfuJB0s4OeAPsR6tOGHJVinoMHhG1XPu172R/GAc
cmuZoTderNTkM5x11DsICYk0FV+p9oPhGTNt0NuCepQIiA5K8KgMCcDPZfGm0RvNhgqG8VBqD5o2
eny8aqiPluTlUFn5fCc2lwPx6NVGzbnuqdWUrpKi6ZnOXjb9WuqqLE2dFvDdFu38yxbXuo8nJoVd
O05DOJp0MVn7Kli56BY83ksPlpi7koAkrtzb4Q3qTG21ycuH0n69/APWXQaZGVSScGaIaQYuW3A2
pR1YFtWbsvCa9tFq0ZcDRzJ6DwiGy9bWclS4+19zYoKRYGSoDAi+aqwC06jtCvt26vdd5SqYTlsE
AALjtQTzH5o8xp+xlmm4rb2wTuwLlw00VcHOEMLdcN7HkI+OfoCTOlTdKXrh+m5kP8swlvi8khWc
mBTOH2h2oymxrLCmPfD+rwrdwu7z8rKuXKEnJoSLuuz7dB5VrCqHyHABfIZKNgztVTvbZbNXL1/W
v2xx5VAF+xWoQnQwpIEOT1hHZSD2MOszyIztq8mCJKjl2PXvKNia0m+2ZgrvfwicUFCtogdxuint
OsMoTggk7Ki8F7nHIMZjJWCyy5xxlkFqVjIeTP5gtgl5FbHPahq0BZsOiHqgg5uhi5kfkJv6cfzR
V7vLy7cWh5gqwVsCZ9uCLBa2PelVI+hTUrq0Y8Av5ybtUoemlHtD0xazMzWqxh3IrOcHQ7Hawcti
jAt5VThmEuz5WngSkNdCoABSl2cjqH3IAyufYsROhSGfEPyuGKAPLFOSG698RWhiEOg2YNyVIORP
v6JKVaslc1KikeqkYFRWtSc0Tu3kty5jEF3bDCDI0FVMjqFEL/Ln9DmmjCioD10LzJf5aznFjtpc
gVgvU8ZtVvA9Lj7J11yiXXjFLJR3YPW0IdyI0s2pc5ZS12VFCly/6qeabJHSOqSLHMzo92OySey3
ongN9dc4l9Gyrq7qP4ZN4UU6ll2itjoMU6V3qw5kB4oX2/cs+KWlvVMNmyi4sqstm3eR7Tb0vjZ/
RuHbXNw2UiaflULS8RqIJ8LYTlnfGfgpilK7DME7EACJoEKr/orNxtXrnZYdwtnLJydUgF12g3z8
FyctXsoU4yq4zM4mD0w90EOqV/jTlu3H7I5z8KUUb5KPvZaYANe30LiayEFE9gDNbLUsMGClRzdi
2KTaryDbWksg15t4uqrj3jXMTuLaeV1lEbwg/8g1LNv4KDUpIJ2spBlYWkIl29B8a85vYXBLp23b
hH5XP2jqs6V/QiP8srdnX1UwuxyYR2abutWtTAeYlsXFRkHN0xi/mzIvFoC7glQCWFUBhj61UIck
1JsG80ULvFAnPulfYmVLlV2XxG4ayabNzk54mEOrAdO72KzAHwkXF5tBO29xwL0JOeAOc+OWuk38
XiiR5FBYW7ljQ8K135QsDxsTs7i0zJ+6OX/Wpe/Ys6N78QWk9iZ6kWBy+xppPfo4EQ1S3eqB6ebt
TwsCqxWoMiTH9ll6KJhYvDwywdQ2rbIvOaHhBaoZZgRKRsrcLgTc576SwV5WP86RQ0KQ24mtVlGA
jzMlVwRISMUsncHCC0UGJZAZEsJ6VAC47BOsXBxcEeulT2/q5tHk+8ubZ+37QDcVs3PLSUFFzP0Y
z9ZsLDNDYWqBEVV5K8sKY0r5w2Uza5G2QE3AIavhP7GGFnCVzdTE0WAlMb1WA9I5YUvil8tWzl8q
CAUA0W20vikI70VQkNrGZg68LOYzOuW9q/StpuiOAvLdiSXOMPLD0OAMtLxqqjd2F/ohtpRVhm7a
Wf/mMMSAuI4WCZKWM4o8vTQGTBnhxVDPLXXyqB+dBFOjNS0gwVC4g2KDBArkdWXkNPHsFrMh+QXL
oXRy4X+txT8/QNgWhl2lmbmMwhiQD8m7TWJe5+Apgfx6mKk+sLwQo5LsxLWQPfZZ2BssGPC+D4Fe
sutxE7W/m2hbDLo3t78l33k5mC75JuwNlttTZBL4NjFIWuTgKS0HEFmY9VUIDngHT0jPbH/rc7Jd
kLCxhjxHlwFhV6+7Y2+F/JgmvWYNywI3GElLtS0dModaf2f2URm/J37TAlaZ0G3TSZpHa+cdakQo
TIHlFygIYZUtfeIJlNBxpJJ4F5q2Yxdg7o+fWsuLgaTsvcuLfZa/fcXRP+aEta4KqLMoUD92Qz7/
yKfK76lxVXZoJywih8T+vGxuNYYY8paFbhrzvEISjlHc2EZ5A2KRneVNFXqZt7O6jSdZMrjqFsYl
QUiyoLrFZJ9Hc9HRCHaq7GnZFH21HUnoWdWNJdNoWzVlg8oJqBwV8AHhPi/rjBt1XOEoUImrhjtd
8bJiMwW/Il1SYF0LjWU8nTENnXbkLKdXYTRZY9tBktslrd8yzyAPfXKnGgN6xYemlez2tavj2Njy
Y47uXRIlwH+bMJb3Tb7tY6I6mDlq91qnt5IYlJkSErAkmSuaEZjSh1tz+kiVe8iOSWysBR4IXJDh
AS+DyWDhK5EGgPMiRkCUHWqwHbrNYPEoNQXISImlVW+OLC2n29HCxdAemu0ClkJMTCk6MEvBbd+/
Xd5Ha8f/sTvCPoqrnqqY3ENWTCOnAg1bFTmEoZL+nE2V04x3VeVftri6gDYFQBAUNHisC8GHyybs
8glz/iO/pcWmVPcRSHdiSdTJrAhRhxec3Y0VrIASxHZA+/GOIuhVRLS7lMvgI+eNciiBYsfisQZ/
cCAtX/LoS3HgBklsYX4/Q7JQ56BkskvHqFKno59mquxBtq7h+mFXYddDBIQA/1FLrvGVLb2MnagL
vATNVnFLjyXagOXyE0z6qZk+gCwl2/dF7ajmB4jsJaG5clQt42AA10G1EC0aYaOhrlQATqrCYdaj
4KhsUIB6psa4s5XiOgsxbXc5ZigWULjIl4WluM8gZ302pjiTeux0HV9zVg1/MCwfspyXLaxsNkvT
KDRNljogyENPPyEgW+lUo7sA9PF7Gd4CuuLEqYRzX2ZDiEmaRqqZAWcHpdgabIrviakciDVuLnuy
EvknngjfZogSpoclIqGOUf1u3BSUIPoTaU3Jil22g3GN0xUDsQzqY6CAd1XaO4V6xyNIJ6MaLaN8
+7rKxY+PmgBgg/ifbYqkihoknCu9xrN6rkH76nT1VCYOp8T2AjKi72VbBS/8rKtsPwDV054P47CP
B9M+jNYyop8OPPFmqxq2M+fxBja6v7maqJFTo1B4b7V2kPlJHUN+MBrn0HSyKQkGv8VeM3cdxG9V
qK01up+kpQbA1jz+CIZZfYvDJjzYUTm9j2FqBg9Jp+lvFB0xr+AKJDYH1Qy3VkqMP0GUzPdmqmWa
p1h9vi3LMh8cYwyHGH38ugu2ddCa/cGuEwVE2U1C+JaEIf9RA2v0Q6krXXfzouBv5WSRyFHCIMtd
qwWaClrL+WaI69iWbPC14wTY2YW4AcAFDBwIH7fE5ZcRjHUHOUgo2LZG0lrS3VgdSuqjp3Y5ZNc2
xrE17dRaGHcRQNywBpiTA2Q1OtmY2ENJ47KZtYg9NiPcdU0Cbil7ghmi/yHZQxI89t1HJdVMXtZG
jFf0n8DzhszURpZ16k0dMG7r3EDCX32UuqdlW53eJTwGHde1Em/N4s6u7g3j4bJza+8MEMf+Y3bx
/ugSGloepngFYPpf/9P3zCmyx7RJHKP3GUYwVXrXKH4buUq3lxhe+Xr2Ug3HoQlCYcCfTw1b1dwq
Nm3B8m5GH7R4n3tQcrGHsH/pIBNkhJNv4RkQJmw/trdzArivARgnL64m3dxe/i0r99LJTxHWoK2t
FFK3+Cl0IAZ68MxTGGjL9RYM+MBjgEJLsk9W0ic4jnuJAPetYsDo1PfACPKIZkOG8SLjqUiBYLHK
xGVZcNspxSfURXfN1DyVVEbA98WHKgTZsWFRdZBlJBlAFYSyfDHvAzVFimMBSd8qtL3BsOk4IPFJ
4ut4BlzgKuFKcK2C7S5ygR/gn8Gkq4rbJgaBtGbW36vaFO9ikFYUDlWSVHOmLmjfeMLG1z6EBLcT
U15d8aFnV5OqpvdqjGs4D2USjmshjFwUvRUQiYK7UMSsxuHctLwfoWam9D1K392NajUMpwJ9A8I/
8es6eUYd5p6lWxCH6A50Oj8vB9D5LDXmqvBYBleNis8J8oXTD2qGzGxGu8tcY3phpbrhJHu1h9zp
4/TJRjMktFRMXvUuaWqH8PE+AtC/ZdFTqz3RLr4JyPOIOVRFl7G4rqwNVLrAtWhin4GrUFwb6Cnr
tFYrSHvkoJqr9FZzI3O+Q0XJCQrul7PqxNPvERoLafMRVOzp8sKsbXLw3UBfE6SgKp75p+tCuQmm
zEiFtI2S/dABvbQb89Ug6feTClB7LLUwFF/wQhDvnSEeDVYhrKdhdgxIvS5KH3ybYYL7sj8rH3qp
M4JeElwUGA0QmzwNQd+XWBNoe7S3Ee9t+hNAwZp42XzVqy+02wSdA+olvRqdFBog4P9Loz0Pd6ru
gklL8mvOV3ep36OYAUlXXLqGkBmqKXhIsbFQhGMgfefA1WC+T6aftXJm4MvhcEVzy0Ih11iy7KMb
QkltpLUcqrbe5ubuefnnces47pX7NDk77ux2knz3/L6FghrD5AW4ALGvRU7njvemPla4kULI4kL6
ewS8VHsdWwnU5fxxcGpGOPSRNOpVs6j0gYHFGejtZMsYl86vlcUCXjsLgZWKHvfpwrF0ikjGYAET
9v6kvuSzl+QYzpn94NsseF/nDx6T6PsBdyX2kAxjDhAKOH8SO27v2zyC6HabfR+SBDPHp4mwZuDz
YL3R1pB7rexNX6HBOikTiG347Rx81k20mQAkdGa8IkZZ5W5tMdG1wnWJSxOHvHBlFkVAdJBs4oTF
Qznqb9BYXZKjYLyek2/DIxc3/7ElYhajARgzDtVhV59bUDJYoDy71qNrS/ZGWfWJ6ainASlHNbEa
mXADFW2AzcDL0jpELRwwwnTTbdq+58pWcnCdp5fw6ciWsIvHnjYgTIUtPFmRk/9VCXLynREULjV/
zyhrR3RT6Jt+fL5seMVHPMBsMGtANQIuCmmeZltRY9Iid4fsMwRXrJbjZqaOGl+Zduz/C1soLiy0
UgDNfV2GxyfVUGc5mANz1wYendCtpm3VkmEOoXPa77dRCSY60JFGzgFAvJi+lu1UaeFUwVazNUA+
ltgoexFMqEjWb6XrdGpI2HOlPtVGOsJQl10n/GYut6P+R7N80DLm6LL3+TU6Lar2WhR7q/G7RPJA
OE9VYZ6ig4dbD+NpYoUoZ3YaIhkFNQobPCVr3DYy3GHpgppPOVB7mv4nkU1ar9wAJzaFe03HaaZl
FDZnmm7seEOyYGfqV6yV9dFkzgmHSlm1LC7HGm13oEDBhw+nJgeUTISB4pD2bqRuIuvtcpCev5FP
FlScocBdDklxDc7lJiptV23jzfR9bige+e4Y1/vvW0NaqoIGDE8s8Fqd3kHTqPY1iud4+BeRr0+V
m9QHBfW9BFwVVTc4ANBIkpK1DX9sUfh4jHWYSDVB3KCQctuMgI8m7mAZm4hnYICVZSer1jS8YNFk
IaBTETI/wFNintTwD+NO3pSbDoNCRzQVnha+5orskX727QCKg+olxtOWJBNJ1+lqBoM29F1HFDRZ
XXBdE3AcckMDlPPGih/wYrv87c4ylMUaRF0gBIH07ux64BHLmzSANcX+1WShO1BJCvR1kZ08BwUL
wqUQcNpWRYwuhLGdP6Jdut/Mu7/6VrkqXyP3d+8kLvBDHhZ3823JE1g2TBwpQBoiOfoSwDg6qvui
MaMqNRUnV/ESQvWhvW2K1xhQtQRzDxnm8Ydvq9UIJoWPl2YgLO81hEc4vafobWKOqIidPN2U5Fdv
Ydg6kOy9s/RcMCisrtbNbZ+jWuuM462lbXTon5NoezlGzo5KwYZwvQZzOGcmhw2OIzmAGuXQOQCo
V1Tiy1os4nGFSg0KnYhG4RwB2L/hWgQ7dfmc6qCOlkkZrS/WPwaEY8NI2mnOisXA+ISKBCEPfJSk
BzIf7NPd27JJj5MWJiwOllyQP85UFmMSE+LkZUFAqZQty9QAeUfDV9WWfIf1ZQJPAFgQIPdGhWwg
GDWjx+gsfIibBXxX14+a8Xg5pr6OMfFYMDDSjOqIBepKMbcZDG4oRg8vjBdt+xOzkq8pyPy3ZJvs
822zk2KBV4P4yJ7gVJWzTtVK2Os35In87H9q7mPiBlBwuD8MB+1geurW9CROavjal5wUIpq2c8IB
K8NKhokXVsyta2+2r/sOWtqmY5h3fNESAIg1aTxVRqC5GidAVwOCx1AHFImASZgYiVnDYzO4qbI7
q/nuG3o5Fo7+vrCbwr7vY1Bk4OqYDJfqvT9ZjjrfpDIpDJkfwpaqDD1k03LEFXXqZGQXqDIcwPlU
16krIsK3pp0SDyFMoM5hht579DAf+t0HaHH5Z36dOsYm25QvMqk7qVkhsYgCO5rHAWZtzZ0eH7JP
1Y2cDBnh9fD2Y/Ky/YvtZUySO329Ys+CEp+OQEsSaYb4gunUTlHRS1Kc2XaqK/ahbaetdVN9tt7z
fZw60x3HXgi92olf1GuZVu45Jn9Z6iPry5Y5upTB7g4kRIAtMTFn5n7xCk3j2hkDX9lqP7jk5voi
gTr3FaQuKPUAtyIijYosIsW8pADxofqsXjUX5fBrY0+24yO0Hq9qB+iZ60R1ZDG76uaCI4aCOv6B
8PGpm1Y8j/Mwws0xKRyDeSXaDPFtrbv6tC+ZFwe3lazrueos2GVxyIFYBPVYwWaTBH1XKnA2y0D9
rfp551Tb/Jo9YgLwMG0wj/8w7MZt7H8b0YBvemxYOFuNpmqrXoXhxL5tVWcizxRoxYrtLh+nawfB
sRnhNMW3RJ9AgxlVe8PUGvpHfy8bWM1Vjy0IR5piBoEWAOWJsTS3crSrckPvW8cJD03oGY7lvDS7
fPug79m9bF+sXE862pkqBSMMChniqIo2lpzN9aQ4VfNC0KupQH2/H2VzaCs3O6zgMlgAEphEEw4c
Pc5sltYzzjnq52ie8DpB01om9b3ynVC0wDC4iqoksCfCga0Gtal3OYSMY/vFNh9ULhnn+xpWPtnV
qECC+RcT+1BIWvSETjdXTyqGeeaMu9ejZ7nhzr7THWsbe8GmctpNdJ347XX2QN3QH93WnV/vhy27
NfDSyJ3svrnDWXMd+PT2dt6CZ22vOaH3krqXQ+lspYWfuKzR0THHrahVAOPlmBm5TYbrxPD14Lvb
ASbwDfHgBoEQRtWFZe5DzBSDvpe7ZXxQ00eqS/7+sp3EVTbQ0zEAxzNMgE9OXVB6NYyyoeBuq3+S
+mlorwa+AREUjySGzmJ/ceTIkLBWoR1gX4SQX9AwkzUEV5H5TlNfSnGjLbtXdOgrF9J1ZLVneyyd
UZbUiw4Oecbr6IBw9oARt9v30gOwwg237SG66t1sz534lj2kj/Y+85ABbJXnwpc1zc72CIDqKjpg
qNpjJh9diNPF1bMcjGb5wF2ifbaR12HM5XIArizqiYFlMY4CMGtjYkwRDDDzbg42PNuXwKHKcAsr
MYKuG2KPoS0AIXchBpMgIwFrFyvVTRo0Tq7tFmILK0VHxbvs0MqOOjYlCn6T0S50MsLUON/TYts1
V70lyWjXvEE15EsnEgPe4qWdFpwOXavjo9APWkK94jpooDmGlmoiCfm1z39sSbgxc82YgSqCpQJK
eHGOLrZ0CPfs7YEIOzYhRJidW6palBTrtTE1J2oczQ+80m/C7QQ+Bpyb85/LH+j8Sfd/pF3XcuS6
kvwiRtCA7hV0bdXyI80LY0bS0HvPr9+kdvdON5rRiHOuXjtCxQIKhUKZTEYiY3KBOTZSOkJiLbgL
uQIlVmXl++BQIdQiH6ph8VqgrxPXjEjG/lphxhVBILLb5cKxRMnU+jKt0RLfQBygTlTKbMGevNuK
rlgiMtWwd/QyormELR62w9AnpFGBNooMXfJCNCeuOW3Q38U0xldBBuaNgDZAVHity+OrCNrc56MW
Wr1d3QVUp8ZOP2WPYLmzgLnzR7PB6Wa1NDnkd38UZ6B3aHYDdUdGfw00+H1b3+sXA+ZGzz+GsVaj
zhoV5I2hNVkx2E3N0CYY07fnA7HC363juzkdK6uwfUumWkF9zn2/4souxDOWjKks32h9rEWqfBmE
BqVKq/ixAGr7bT2vq9CMnowBxwsTVTND0OQoNKPNXe3KTvoM3JzHdiNtZu+lt4gLGleH2O2d6Zm7
boPiDGfedFVdBWgMeCUhkteZe9cwBhMAN2aIGU87VkBwYGvGaeYh3Kx4IFSL0eUMOCBgobEDvF2k
yJE2d5GltuhpeY6yl9uLef0awWKeC1g+4OwCqgPk86IWAtqPBk7OpOk22geOsQ1/z3fiSfUCKwsd
x9xKW47ktfN5Lvnq7ESVXPWQ3DhFSvs38qfz5hNIOtHdfBR+Vocmwr3Oi+B5C8ockl7u8hCQLpFV
Jm6T3bfln9tqXZvFMtKN0vR3Mvsq3ItC0Ds2dYBe01huN6bf3hlkbrZtgfbZagx57WPXbyEUBJaa
AGrG8EDoN7rcvzSdy6TrkRAJFWtw0OOP2bfWHn7N1LDbzKnp5Mb0NXlGyiCwPkVUeTjHcfHdly4Q
H4DRHfhvTK4SwmwjMUYB7Jv4gD6Cs1m8HTkF9wPlJgmud+5SEKNpReI0lSMIUp/Sg44FpuiPL/fR
NrN+yB+ya5iUB6X23RN1SznGpyVZPquNBploXn0Wd6JF3jus55dxiiw06NLsN4/uY205vwllQcGE
o8dCvfS6DGLcZeJMrVRKYicP7dG8RwukGNvgT6Q+r1F31YJwTZqAHUPH2hWcrjj1WizMIeY/D4od
bzNncEwHNweqI6Ahi/8Ez/qxN6yJ6vb40QGpiGNAK5fo0q739wOYjY1MDVPVOj4go4orbMB7Kh2M
P+3h7dNwp91oB/txj5kEB53bBc33yTNBP6El7u7a2ap8ir4MzhetnuGzD2J2HW+gcTbjCMmFydEa
YCfWboRQGaP6t33F8n9Y60I7HmqVBqJYma2kNOnc+V0HmuxoPElhg3ZfdyjvO7lxy+HXbVFrZgVk
WcAx4SkKvGbmtkoqFR2YBKKMojMfklwcH4a02c9TUm+KvokseRp+K8007pNo/Lgte/XgipqpA/ca
jCbscMsQKKNQG1hOFb7J13On4c1KLzc+u5AAAFwe8xhgQfvlpRMMYqCY5VqM9ioVZHoCYh+9BWx4
9KPVJ6tH544OzPJ/odSZ32XcXqx0UVi28AxRdR8Dr7n9x53I6LA7R0VhopwmbYnYKyJID8PxoZk/
iuitBafDlADVfuZF6FcWvwgzFQzQYxhSxGDa5QKiLhvUcQcIFry+ERnqAsFMX/5WmPqbkKId9fba
rUhbOHaBlbPET+gnuZQmRjrQyYq4skYj+2GUbb+RI6N2QlxlD70/8RofrgINACcChWxJdKFJ8uqY
hUEfGZWZVJaIIXTaVQk4ayQ5oWOLF8k/1wyQ5MtE+NJ4xOLORWnQm6FYVxgQKL2wzp2877djpG/a
ruHEn1enClotw0a4eGHxsPzLReyGAdDqDUQZcbvJ9NEL9ca+rc3awmGSCe4CpfmlRn8pwg8FEWWd
vAIwBMAA+6D51EOhs+VZ/7ot6DoPD2UQRWPNcIhxES3u6ywKrRD9lmU9VGAtAb+b2O1BheGYvb8t
Rd0T2/oukaudlJSu5PMa4a88I+bCMGOB64cAlwBvOEa0qUzBXADmSOyUOyE1HKl4N8dHXX6V5y6j
agckp+qfz3RDYUz/EISJIuyFveYB4dzF6IiuLNmfnNafnaJNt1LWu1pVH1F1BdBZQzNBsbNM9fIp
jDlbe3X1LPJRfkDLMFoOFTYrWXd5q1SKWFnloKE/eZx0jLz2d8B8Dh0SCxmm/jrJub3La+Z0JpPF
O+uEHicBWWEgc9lgvvspAv4oT8GifVvMmnfRodGS50KTIWEcZ6b3KSoEcmVFkemJw/hRSeoGWfsN
MkrubVHXPfVYRnRUoTAOp4mXIBMpRLWZkhndw1YB6uBlTpT0xA5AnCVFrZ2Ajd7oKjvrXxPAqvV9
4P2X4hlVjRHkQkEF8U036k6WAdecRAOCCAIqErDdW7hBTohbJrzEg9+6Gh98o/7N+YgVDCB0g6Or
DGcH5QS2UBmhUgEGCBU5pDC+11RQ1Q9AZTD96pc0ybvYV7wOvHhdiKED+CxO39LaZoOjUUWHggSu
eJE5vblRT0Zt6pUFJKTj0IyPZTA/CoH4Vs3m+21F18z3TNS3DzvzUct0LKhPDIhqy84upjw7xT2y
EFpNeEQHa74d9QJMfiEHruJxdemT5Kk1FFAn4sYC24BSle8DUT9ua/OdObiImWC6JhoBlwl0VGhY
555h5gTRn1wCU3lbEfQ1IBj87JJNmio0b97CVttrwctUbv3xqZI+Y7O0qvQolG42b/TcIxO4u5wy
8NTSHZTt7Y+73lXM6qJhD4M8iIsxznGpfzOqASn6qLSkypalmXZoeZvkj9h8/BdyvmszgB0ExgVz
wY1mr/QACC+tIvWpCoTiGD1TqbIjOY/FelUjqLQEwWihZYu+oVDW/hClpTVhkqGdH3XyNvmnMeOE
+deGA4JUpFKB7Qp8V/SSXy6cOapkMHwgy7VDqlmV0GqW7yPq/+fLhpOAEjYmXIBYzZhn0wlqU4eA
WOzLMd0Dl084FrWs2TJosTDt1XBAka8P3gKQi6n0pboF4FpmlyR0koyzD5CxWvcRtHWe2umWVvAC
7rW1QyMAwlEUXa/buBHNK0m69DGP+ibzP+X07faqLc748sBBDcBTQRdMviOkvtwbPQn7Scv6EiPv
tlJSHzMZJNxLsoqywpZ0X7elrWvzV9ry+5m3kiQ/UtIE0qJBdWYxOGgpr29qOYVXCv0ncroiTlJS
o9JQVSqBMbRpOjdUvUm0hDHzIg0kEWiXQvv9baVWLEFWkHFdptgkZEcYv2CMYWz2owIcXBR8zNkV
ZtEG8s1tIddJHxwcE9BRCy7MAorN2Js/DsUEhAlg9KuZrRWjpRsCJpBivJHjH1OsPffFK56yduI/
AFDhYxLLPSgxa1OxK5k3znaNDMF8jHy5j80ASEp/icFN80GY4XFbJwAZd4LbiLbGj7wr9j2oFcxZ
cNLhOI4Tx6OsLDkehGhOwz0EPmS2vCyPyBvEBeoGWWA8490WWEALa6ykSXnB1OI1GHMi4PQBkdDS
WoGQ4lLTopSiCDNDNTiyCcZMhRYGNIv3lR58qFp3SioAS93e6e/WYlYkYnAVWF4YFkTG9lIkCvO5
MehtbeUH+eeSMY2cj/fYBtKwk1ihWzsA3XC6zctAVfrwzwcIDUxiSpgYQbs6whc2eCSGEKry0NVW
M9GmpsFdfj9DrK06wbG3lFclpXjV3WXPm4QKvMh1sRtGdWAEYZhvqbAjH8SsdoCwX1AK8JzIx/KA
voydsU2sH8VbsU1cHinZmhEDlAgQDDgPeOKxVYxR8QGB1GKdhafGmjfgwPAAQbqdHTR2bGLOdcGV
xri+MNWDWTOhWuVou2CHhuhTakcgbDi9k33Oe0mtvF1xMM6UY4xIN9NKknooNz0AMwWDcBRNC6mt
ezE/H73cEVe7diZrCTPOvLomxTiqHWQNu875jWSd172BsJ4CEckdT7wwbM0TXqjGXPQS6TALuqjW
vmFs8Ze+72m/wwAXoSUNnlqvfnnIeGfy+jlxuZzMmyYH2dggFZBpPGSb0Ab8lz1Z4cGkLoobld06
xB29d/ABu7n3etsfXJfGMVqBBMSSAMNbBk3Pl8s7pKbQTDVkSx/mZ/LL9Y8y6hmdi+zAvCu23PLC
isu7kMdYqhp1YlIu20mOeHKfwE2Lym37VqHLZQ6ofAJfjJUeDSvnXHErN/eFXMZk22EyQcEJuZ1V
usCU/P2oeqLIN9d1/UBsgPbmpYWVsZ9UkstQMnt4uJ3sdV/ZUbFDG42PlmnVTv8r2v4Kd91+4g6n
rgQ/0O+vXMaGzBxDXCQewEX4lvxCliGg/qH+XTuSNTp5Sl8eeNSjqwKRVwc9nYky2LdhnZ1LtVXU
XF4MZxDmA8bF923OQ71SVj32mQzGWPoZA9l5hOtisgiq2Y1zkraTdXp889FRhyoJ1e/k7TF6+dLo
9I7+Lxq4XriPbHJnPr8Y/zwSUzHKSQwAgiBpxibshkiNjFiWcVKK53J6THNv4p2OlScT0n6I9kz0
5y7cJJeHcVaNpPITtbZSMtpAXpRkoHL4x6DnXYWrgr4HUvEKxjODOQ1CEUtFkpMahW5r2kWbmcrv
hKoPGihYBtrY1UFE7Wu+70TOIq5eHQgx8dJVDPROsLXTkFRd1UxooRvd3tiU9wHCDkc7CR6mDW+7
tlUdzyQtv58ZKHAXMIA+QtICq2ih9YuCD/JfiAAdD3KKBrpW2TMQdWkfDCn2q+pfQuCJ+MqmirYG
L3JZ1WTB1UB5FMEEG0vUORLW/QTLC4SDlj/KFQqG1sRj8r6uiuIqQEYJp1kCwCuO1uWCJQamTn1d
w9X3MdrANaSJpzsB1bbGIUzp7LS7kN4NtNj4R33Lo1ZdLI695vHukFHNQnYGeBaXws0pLMdKh0Xq
Rnc/acama003Gghnx9aV/CtHYRC4slkCddcIOdMOQ/S9YgGfSrAkDz7ycfBMZ1ZpKKBtqXDCpeRq
gsHF7nmcEN/FpWttAUONXIKMmFS51LbLo1BKChiOdmx+GY8BHl0HwOXa04fu1pvwlzJT5WftBM/i
Bmh8HxEI6zgLsWpTeHEsXIPoWGZ7eZKAZKCnwRdk83YYH3S/wjCAY4BW4V8ckTM5jAufssqYihBy
/ExxQ2AawcJeujjD+OHEKQ+tXfELSsf/q8Q4tQXDLTY6iJqE+qhJvjuopl1UhSVL/WutfaR1iWlH
TvC2GkCdS2VOjdDmytzXkDovWCgJJma+JolWmDVGWVEnW+DMoKzQAnrGkLdy49xe3pVbGGNwJpA2
lhZUjP1fGlKNmD+Pcx+GpMcWaM5A1/vPN1BHhRmdwEgNoGTFmCraaAH6voD651JIJ7AK6u+A9Ylm
+7Yia+uITBRwR5aLYYFzvdSklAO0THRRY2XAZXLLE9n6rnoUP1und8BOAQYgnsSVsPtCIrNzujx1
ZgOwEHRjpejike+He7OhaPZoNjUPMGFtn861Y8LCXk66slhkRRV6I3VrQF7v9gKuONALbZgAUO6b
uc0CSCjNrQqUC6EBFSJvyRZzYvzWhRDGS2flqHW1ib4N0dMeQrtzwDSZOoP9NHn652191iIFzIIA
YAKsVotdMIY3Z00q1kWMQfMP7AomXzKKi2iktacd53eOsJVIE1GdgT4KTGXLhC1OjhEYHQI1bSzZ
M0+iM+9917RKTJr9ArOex+34XzWHM3GM6VVKqQxqlgNoslfsBpQRksHbqpXc64VGjMUlPslnsOQ0
QAKzhwfihQWN3VqnkmfYnUlbR3lYniQlLQ7RH/WZs548BRlrBExjpc05pHdWsaSW7n73rmj59+AK
eio+ayv8ui1w5dl1oS1jmMLYiWNVYkEH8z5KHSGnsgIOZJ/mCqfnd00SkEDQXoHuQ/ByLpqfhZXK
OMLbi0VjTdm+BhS0jxToZxHZLW+K5rq5GdNW55IYjygLcjULMiRpx1igw07zVOd0fxJLWm5GGngp
3YHqqaO+0/EKyitV3kvZjIHOda3LrQnZxUNPJWpa/inxeudPh5bOze2tWzPUczUZQ62SQAbaaNlY
5Gd+CE/tRjgKDw1HCG/XGHtsuyyM6gL6mLjFBmkZRFQq0J2Blo+HS7YW3GHfljkzIMmjjZlRqAVD
TCQl1aLQ7AIyJkCuCgz2zritN++hW7yZR/k5fJz2MZIEye9k4oR2azmsiw9glAVAa1ObAz7A8NFz
X79Vxd0y1lp8qJOdA75q+CDkY27uUMRV1JqCJpzL0XA90vRtvH8XgTmQdTZ3oK9aFuEYb6cHzZP2
hjdiwlX8zLY9ReuT29MRHfoSZl0jV8fAW+iNJ5O+6tt/3AB9+S3sgE6V1Z04TfiWGcTovfZACg6J
1ndWh70XtYVySkMqBAApzJYndVTNkVg3Vo+0BEIYL6PdXYgYJgiRFSUbzFFt5nvR452dtcQvcPb/
Cma2OhcwWtyMEIy50Hkr4q0roksYBLeLj49Kbkvycu5vKcpsqwDc86TOIK+VZDqgclH7VJaAzGw6
t73C8o9uCGIH3w1hAmKXgT0TJ0uXrMbfk2i31KpRp1aJq4Qft+VdD+wsRvJ3JdmSK1q94hjY3431
M9g1Ff3CDYJTO1sIem2RdiBH5QRsPA2XkOTsIikKQJEGGjTs4k1e2jVB3cfNVMw80DL7o/PErcWH
5/ox4ZShgopWbRdLAR6YaI/176C956zhWkR9LoO5G9WxyjpVggzMfVrdl/+c7oWfMdXulH9RFr3Y
LeZubFqlIa2ExWs7C4irmXSX9hwLvAZBYCyCuQNTjbTB/66YC9Y4S97lduahpaeFRSTbxkU3/Eb+
QR5vL+J3Nufa8gGvhskCQCGwraJqlSatpkM180nb6Xvlh4nscUPve+RiAB3nltYPeE4rRWpX3Ii2
9P4v0k1Y278fwOziUMVJlEfYRQkMbtUB8Pyh4o08uLq1CBHVZrQwK2i3VL5X/8z8QXOoCzNygYD9
EkFVn1GTO2i4mPTVShIdqVTMiwBqgTH50BxTsTOgiOahLmbFnyGI+e6ie8FOndQbtoF9e+vWo6Yz
gczKdbER+6EJgSoCDDoN9Me7TJunaVNsBo73WDeTM1nsCaiQyqt9yCoc0Xc04CokVLRGSrYtKvZU
o6DTvvfvP8rHwGlRvEoOCghSOF+xsongeQE6AOoAoFz8zradbWKS1H5ayQBW01C8pii72r068qiP
ljuM2UbMaxnoIkKvCq46ZhuJnsxtbBKUiKraFjSvTt7Qkjv3GFDpTiGP9XxNJWPhcoRMcakUX7rl
KiXaXIdoRNNScX7S2uplwpbyCrYrD2l0D6KUgOIlUDFYJAIAj1czHjS4PwPbH+20yexAo434Krdv
beoY4wFsvzMPRnTlDjiXyl6q2QxepaZTUGgsPstU/SHXsmM0+dvtY7AiBa1Sf1eQiUk64H4VRYoG
xSEC3jORd61G8BbTNrfFrJgFUHKRsV5Qp1HCZEKRKvalOO9DLCEymW7V66DATMAhkufFqapN49En
VfUcpVy0j5WLG41zCPLQtYHWDRarvu1DvzPACw04nG1gOJ15XyO8jY9V8hNEQEnycFvPlafLhTjm
GiIB1NcJxNUTTrnoJELpxFWN/KItwUxvC1uxfgx3AvRAg2Wi44jxKgExyy5bypdzte2BXZiC+vq2
hJUI8kICo46epmoZtiPUKcFynSegX3wk2bFoRvu2oLV1O1eFOcjhgDshiSFIEx+aAWNUQenM1V4q
MkDu/Ys094VWjM2XWj2NhYjyazcL1SkLk9HphCp4KGfzQcxbmaPbyhHDAVs6vQHls9ygl05qyjpS
TirE9eZDnm3r6JNbIFhbPmSW4QIJvC66bi9F9FUyZpM8o5Bd3EcqHbrNkIAQ/anPOQHPWpwF2PK/
kpi1G33wcc4lJE2e72V/Zrfd/55RlNEd9ZE8BfelRwJk/W5bx5r3OBfKrCDQdMCtmUCoEW8yuCfx
Xu9t0tlT+Bj2nOfh2qH6KwsJxsulNDoAKYQFZLXjUzTsDF6dfO3BD7++hDhoghXBsXwpIMj12ZcS
+PX5VBiW6GTHwRsXjH28lnDxD3jAmDYeMDycsDUzPJcrX8qdgnBEQhhyo2AhTfoR+6ktCpwKy7qQ
/1yV7MNsKFKzzAZclXhuekmJIDwtdorBo2daMwigxC7t4WgOv+Kj8k1QrQUEuujinyLdDNnjXCS0
rwHojXv5923rW7X5c2mMF5RBxdMmEaRhqEP7OXWJuk/AetWiU9afgYyiKM4I67xvpUC1gIRaHHRQ
LG8xK9Q4YAKOrDHtm20YZ5o91K3htEn5efsT1yqlaJYHPzkmPQD5wdIKRIWST5k2wagS2enbHx0e
310o23FsukP1IesAaQNeIFi0LEnsj60yETpUyHh177Nxn4b1VpDIDlWjkyoC38PksXetruH5BzLW
N9YFQPtNfKB2HN0YUErBJsULjbSWvyFP2TbfhTjYHiaabq/M2nE+l8vEo0Ooy5UfoyZQJD9acsx4
SZ01Szz//4v8s6C6IDFJCIG7kHGqFPQMtr2th7s4vvd7amacquna8TqXtvx+Ji0ve7DhYlYIk78/
p3rJm7+qPHSvtTv/XAZj7VpnzENVYsWE1I2TZwX5m8SWp8fb+7JWMcKwAZC9MF4GHCX25QwCr2zM
Uqgyy68ATbTqaltLLS2QUVQ9rdkRtBNUvKTHmm7nQpndakylMnwVVjj0L2nyrKZ4LR813qtk1cXD
tYOnDszjy9Te5TYR9LJEEzjdrNrGwZvtU+NFuoPdcsqj7xjI+Q2UPPLKlmvGgWltHQUxjM1dDclG
etdnsoEVHcrEiSpU4Jr+dc41Tk1lzeLPxTAn2cgMX0wq2EfYenNh40zTfsakO/DIRTGhROFcyOuW
cqYXc4SFWmsG8dsgp9YagV5PMCiGx8QhU2J7KEQdiC7hCdxE1Kx6TuTBW1PGYOQQNPWKiDX1xYeo
e086rx45NLZrsdv5ejLGIsh6MYsJjCUa08feADeRAehavX6uw95BJxFn+9Zyp+a5POZ8o0GgNfwU
8pQnm+xSV39TQDT31LizNW1RX3Sbyb591pdFYnICpq4AnQxziJglZRvYUBhTo8aHRC0VvqZ4+J2n
hCNibZ/QJr9M+OGZfoVSq0QpaQcT7VAkux+Su1R/FkWex1rbqHMZy8E4c74KguymzyFDl61xj3nf
R8GKHG07xHR+6Lb9DsxE3vguffKQi1aVM9A3AsR9NFuxBYveSAMjyRB/qHPj+n0S0aIpaeb7nETH
NXIREssYycFbS8WEAwZULzWcVL2dtHEAHsGT5hWO9CGcfJxoK7gLI2TIbMlGo7onbo2OzhMlb2gD
3hkf4kf4argRZ0dXhh+WjwH9JhoLgOTNZpLaSA80kKi1aF9Q3QKvDQCpgHdTd6U7DJTGNAB8UnNQ
vqRtkNLciz3thefqrhf+8hMWwz7bcUx1TTWg7YHgEe9M2ZHRXcd72lzfSBCBQULMwgG1E6ADlyKy
hkiVWCxalp9d/cckPY2Qyer/3D6C17Z7KYax3QT19lCsICYF+Uf/Wxy2fnEs5JFOIg8vZaW+tsjC
CwfJMmTl2SG/ZE7GOfQhKxhjL+0+Z6LtW/kX8vOWNpRUAg0zmtuBMJ98tVpk61N/NFVwS9ToMo8N
V0jvxyB5vq3/yiVy+VGM1yPgJvd7sWotvF1APdI4Arq8p+0U2Yr2NlcbQ7xTeIQoi3lc+j3INBZY
B6AfXU/sibU5FYqMNFNmiA9Jpj2lsc4Jb68v40sRjFpKmAjjVNWtJeeKU8fWIHliYgtlsJ2EXQjo
3tvLuHogzjRirLXpzFYIG4gDUxodML0Xpg2w6SuOmFVrPRPDWOuglSC+87FwWiJtgsYtYpROlGV4
DwMs23+hEpAw4GVkDDuxnUvB0IdxD3oVS0IhUa2Ahd86GFa/LWTV/EwQXgEpGwCXIstNo+V12o4Z
NKqlPyG6iJCpQ2Ad+RZoqmgWW6FGZXlzW+ia+ZnodsREKjL+YB25dC36PGqVoWKzygwDt7Vylw41
J5hY817nIuRLEUIFoJQqglpCFFsC5pjAUoHUuFK+3FZlzSDO5TAhYFQlWNUScnI9QVh7wsN6Rss9
WHFbgWMPPFGMz6/kQkoaAlGJnNuhQctaRiu3VbeHNPq4rZXM26HluJ3dL3WeaFMmtli+TQcoRJka
x3ZLHNOST5jZtIAbC7RhyZm9nXEKH19i6yWwVfv2R6x5kPOlZTwI2i2GTmwXy+xyJ8udYS7cAf0I
qrQXAlsQPm+LW/Mg5+IYD1IBY2MqDIjDkNOzIM9I6WGasiqRr7gtaNU0l/YOdCXiELDgVRKyG4rQ
da1FKndWwCB2NIJfM89aVlfvTArjqUwzSjMMnLZWlHmD0W8EgDtF/n5sMqc07oPOva3USpsZxlrO
5DGZ0LyqSh347C2GUKnxRw9o9qbY4oPyQ81o0NMysIRXtEBs5LvKbTEfFjzd/oDV7VMUpN0wSIGO
KcZie0UVxnCCvkIMzp0gsiJiaTxKiNVjcSaEMclg0kLhe1F9tOqJ8o+o410wK604y3jQMte6YEZL
bKP0nAAVZPSxjrlwqor7PHivA08fPyLyWfcnLd5p5TEQvER8/hfrdyZ3Uf3sxPtAi0jC5cQ3c2BL
oFtVdURE2eNtKYsVsIHHuXbMLgl1n/WzDylVfkeKLzIdZCTWUNgLyhwkIalTaP8Y5+RyPZktG4uy
MpGdgl00OzN+B+th0LyrvLt65UwvHb+AwkB7NiJm5hrokQWYWxlSSl+wYl1xU5SKEuPUSxHnFlhJ
4UDEmShmowKQBA96jqcQmPLMJ6mn8yY6zp5wJPd1TbMtAD/25rvEacpZcSeogiERioQYiizsjFLZ
CJ0C0vTWasuj4Y9UA9ELmGGJVCCh7nQFJ/WwcpovxDFKtsqQggEB4kr5kAmPUryRBI4pXtPQAu/j
XCXGFketHIxKhIxafQT9n1ADb+jYpXafg6gvcqT+T0vc2tiLxkPd79X8volO4Eno4NhCzuquPSnx
LQaWlmBmQWeLwVIjgt1+SKCvHdwppw47W/wi1mN06A/tJnzs3Eyg/maBQ9boLnxpeBQXK8HFxQcw
xyT3BVTyE3zA6Lv+6JahHZrvvXlXhrp12wVwdWUu2roSozRSIUoJ7CreiCqmTMln6H4lh4/YjX8U
kh1tAwCh5oeORs+lB8jn25/AU5a5Gw2jGPUKJK+gg7QHYhMghtWZEwU/lfj1v5PE3IqpXkxtDl4u
C6g/vb+v0t2UPjbTkx/xLo7lRDCe9XwD2e5UAkQkEteQVMuHmvxsE05AvdKVhKFBgmYyoD0YC87E
5QXRkBLUISRtrWk8qf4JMy5j6laKO+f7abShnBKEIJvk0fl8o44ximGoHIdCAegamqGZx0IYNE0J
1PXWMlvFruHfRsCfx17cmlQenNQA9lBiBaa2ycp90B+FcA+O6Enda8rdoL5pwwO60Kg8gfov8BLf
joveAdj0IO6T2R0KW5/x8lEo2Ehiw993/kQjY3R6cJ+3uWA1oGEPS8xd/ZI7L800S88mWib7qT7p
reiOoWXiwRQAf57nAVdsVAajjwS0IIQCV8SFSMigtXNWEQfAA6JDtjCPSWKZolOptX3bSFd8+4Uo
xtkWA5nbVF5ERYdIs5sQiHbgsgWGPqC5S45nXxWGaUXUV/B3BfwezEOXZgqEpYDMHrPZFQWNttKb
MByK7i4uW/e2cis38yLoP/IYx9Y1E6DHJMhLhFcRQyyK/Bw0mjt3zm05PL0YryYBa6ZstEUv1Qf3
YuYa8kehesoceqVubI2Z1wGzIlBZYJGW3q+FoYIJOQQ5NHxZMzpLqh0xKLfR/HNqj0JenSLJ+ecj
5UhCyJioQwIWuXL2+s9yHbBwgdlZsupbU/kyobwcau6Qc6xj5d6/kMOYYikpIWmAoGjl5mlMjqn0
HPUcl7ziKC9EMNe+MitmhGJbZ7U+AfPuYGk8nsdVJYAwigQj3BW6AC49pTwrWpCHWCwSdj9aMJb3
ZfiYx5yYYVWPMymLfZwF7L1kCFokQgqw9aiCztei2Nw2aZ4ejMePhdCU0XnUWVX2VVZgvkWuC2nS
/0oIO0lN1EIJcEDQAQBKrVbdDgaB5+VUpzlrxWL2GBn6+kgBTcROPYW9bGN+z76tx1pyGSOG/9n1
bxSKs/2o66RqVWDMYKR+PkbaAZx+1lAAs25S7DLKD1mLYkA44DEuAsdOdyoQ7o6hZId9TtVB9Pzh
qU14dYJli5jL8+KjGCeRo2WoNQWsbta9GMVTNd0FwR7w1X1wlBKn7zhNhivO9kLcsg9naxD7Yp/H
8mKT0eD1kUmF6Ecqe37Cqbzy9pM5w11vGk1pLmc4ie+7utpn+fPt7eRJYK6NogpMYxQhYSBvfu7J
rcSx+7XE68VaMV5Ci9IZQzBYq1QVn404Bnn2PABl2Zzux15wzMRwx6igbfNoBsl/K5xxHmEwY2Rg
8HEgxOfMr2mIQ96dsvm+0XZjbAKNZZ8LMkfqqjEi64WrHzUHjLRdWkdTG1pAhBAUVPBYfu5EJEar
j6WPgI78pT2K7dftPVyzxm8me+SZ0f9EmBU2RtKUowl5ndn/yerieUQurJNyW1S4CyqvHLRzWcyC
Di0wD6okwgjuAU3YdYB+ufKXfvSfXuTH+qPgNLOtNC1hkhkMwur/qca4ZsMnKQjJIa7/EO+iV/0p
uZu+KhOsDsBtVxxb3b6qD9zBhKXDkPUmZ1JZHOJSl8Fjn0IqXqfO8Aet8+qRbIHqEdKShw7G2TyW
ys+QykLMR8hCodPOAXk+51YSPxo80MK1S+5cp2Vjz1xWqMYYlIkhJ1PMrZaSfTiAgmjiJYh4YhhH
3ElhrWTtIkYVLWPYxciu8bL2K+AHF1ahMu53MiZ96hYhAoDvDK9+i5/zg2Tn++KNPMUajThuePXO
O1885kQDzUbsk2WTmvw1+AXG358tcMcEJ/J6C22jwle5l5/R/Gg+pK+3zzZvPRn/DL+Z1lENyYry
MRivstLQSny5LYOrHuNA+imRBHGxDe2ooB3wp0TbfbRTc7sboFLxNu/G+8RWSyp7Bu+5zXEoKuNQ
cGtr4VhBNuri6JiSTgSFeKph0D5w3kW0FeicGGml/UYDqrqsLhC43+BUlyfBn7LILFsJs7ZlhLf9
KUt3Seykio3xfzuKn6bqmPubrvOqyRaquzjxOMu9vOQv3cvyAWjiRrc4CtPsiwaMsoGZ5gQja0NN
kx5dmKVqTSLF3gIjK8YAcKg5s+9kpcORrC+reUs0c3IKIzAiNAwAnlPbo+WvrTMgCG2SYRslR8E8
ZcWhrt4Kxav1VxNkT3JEhcJRxC9J+qXhjaJScUwezAW3JRAdpXWi4WhU/mbuE0svn5ElkYW3rKht
s4xpA6jDtv45hqLVtqcAsMak3ChyiALltif/Q9qXLceNA1t+ESO4g3zlVotKkqWyJFsvDMlukwT3
ffn6OfCdabNQnEK4bz/0Q6ujkgkkEolczsFAINIX7aldUhRq3i3Ak0qd7k5zoKh7ChjT/GDUx1Iq
/Ho8FNIupAezWJwODZ7Wzpx3zXBOp/tQezSiApS8kZcXPyMQU+WAcURUkaMvbvmS0cdC9Uw1QMNh
BRiA4pHmBzoHcod4tXjN0f0d7inZW/ZrWT1pHTICoImenzJw2SipZzV7Up+tLshTzamGk2EeafRk
licJAFbkzUbBfzmlzV2pgQkmPZDyOU93RfsRjl9RNynsMxn2pemQeZdqjwXOjzwAICr50YJvrXsc
lwBkPn4CSPb8m9x+L0nioiTiIChKzfvYcnXlpaBnqfzQ5tazMZyOgKUzIywXAN5q/dhKnp38UEvD
1aPv8vyQ00epArAuCinqgD59K4D5ubR8CWvgFQdL96sDU4N9ksNHpLGG9sVKP8cGREz1aQCBQQeK
YQBu2pObDkGk+63cHqS+PnXRvDPUx0wbHbm0dlb6Dd1CQZ74uS2qO21U14B1hq5NTK/JKAvxwCK5
EYWNEfesGcdVDuTQBB1gUxInO7UYw3XkL9o9eWl8WNgZ03mzIHDbEo8ZUhD72ApauNHwdeka6swo
+0aFeHrKPNUdXVDNPjbAPXTezuYp8orjDxSO3lpfNBqwMZ+IFP1KMncwzXI2SYNL7Xd7UOirx9pZ
3qLayRG6us/EJ/egfDzN+/hAvMqjO2lyZA98twIHseEfLj6DXUfrKGFoyy4Cd6arMigSiA49cwdn
PAKH4aVwcMN55JQ63+yftwVfR0GX6nPX3FCl1iwT1MumyIvz90r126pyek2kH/t+zv9d6MfddHKa
jzUxUL/KnfxBd7W7OEihZ+0NO/Af3rX73hWllDYKWZe6cTdcHgNZvrOwpvlr7cSHIqh1ADog/+h9
dPcP2c5wR0HYLNKSi5ozrQFMOTNjYh81YxdOD5q0v71hW7foaiUxWshZCuClzbSBDGpGn7KxX+Ti
UNHWaccPVJw8O5s+ulF1AGqeOuCUcGcFtA/J8JSmohfmb6S9//+momh3+Sm2namVzUryCAaf7Bgc
YcWBeulD6H2mu8lbnnGrgYqtcNrAcgbwbnbu6B0N6pxvr8mVEYMfCUR3wEpmQMYm33Q+SvGcyWqI
MGoG4SSGDWs415bcC1v3r/YXgn7D7qJxHy6cJxW1syWrTPB4IPEGOD6zcCrJ19TgtjbXO8xJ4c6k
OmhLNrWQ0iSOhcEexGdOSXfFPjyXB80tJqdE8UoE7yvSjTuhBaYSSFTT0ZXKp45+rYxgVNzbmrGf
uLAXTjHuQCJjKbVyD8UkKsuHLK3zN1XSTOpP5Vzek55mv6SeToI85pZ1AB8dUDMg+0bfBmelKUWb
zLBkI8qBOxlgdzKmLpo7Vft2W7nrJ/Nv7f7I4R56i66CFwM93q6NuM5TpsDcRUf1u2S70ck6F8/V
nXGfHgy3FXVCXj/LmGRgPaHXUmMo3tzWRWSxRztJAVJ8wKk7ENl5w2SCr+3aA/URpYkwdYUCuY3s
o7pPmh4CzXtwfiMzvLNd44m8jwCAjo/WgzAdcZUY4DTkHKtkzMVIYgisDSDXlO4ANBenQaQWFK6Q
xva6cH8p7XdmbXUZ90VWDrMMaZOnPFq74QdYUFsgbLrsfbbszMcWgRFY0D9gTfNedG9tHkS8BUBE
AVp6mS/Vz0pZFuqSj2isQkvrsB9ZFsswRSHX5rHQgP+MwTnwhfBFBLOzSGVjWRFs9eB3lcHnKp3q
Y/UZfiE+yMuWh/xLFHQiwvNt2wFsB0oXLNTjLw3MWPWRaUEuCks/9Cc01gehl32qXzFP6NaP/afg
WLJjd+V0VvK4Y2lIatbFcQmgWBWdLF3noP/UTXatJ3sjAHPw+hOs7HX/ATOflUQumCV9mJm5BA2t
9wj8TshTB0UgDcC1A/sUCAUeZ4AtSQcKmKVfoLB4r47SSQS1z8LWK60xJgo8TBsrzfcANlnVWqXG
nFF20pVflojEZFvJlQDOBaCzbMyjDr68m0x0eZcOWGBdKlvPRY/21L6y0e+CUn6TOXTWkYKOnXBC
kXuM91FFQcJnOKoZgimkfhyr8ZBamqOMzdkyBqT6pET0wLgO89merD6XcyBDCshqWWW3m3kw3xkJ
b2kG8bnaP1fA0bR+5MEyevSoHSdXMb3Jnb3zX3fAXH6CzQVumqRPTWZgxQBlW8vvUv9kJaB4egPR
msACNzef4QyyLAcec9x9QAejTmgL/7Wg1lUs1cM0yTvBsdp0Hxg7UixwZDCIkMvYbyoInqfMIwOn
yQBQ3UP/EBh3GuBkvndO9NU4goMAPZJBE9wWLJLLvddo2KRa0kGunagHvVpOqFK7UTn7sQhqa3sV
/2jI/PTqFhjobCxdBEmW/ZYkr3ri39aEnRD+iKLLBS0vaB5A0MrFJaSt4miMaphkZOxaJD3CL2A3
HIsdOIYfclG7x5Y2a2mcG8zNaonbDNJm+62PAkZYfFsdkQDOIEySGJPCBJjWWVd+gjr09u9vBY+/
0cvx+kGjDuFOsKLOmmYOzegO5LM1wLi8a5MA0yx2JIhSN+PvlSSLO6jlBOxfkkJSoskDuPNiZJxT
ep9HP6MwDSJVQ3Np1nnFYL+NSQG4oqJ7lQdMMxhW+RBmrcDirzt24TiA4AJGGsb1ibbuS0OcI73W
hgLfk/4CFIntdWgqaoGH+oAmJSREOlnwit06YkCExDwhIL/RQcO5Dz3RdCuu29GNQgBNkFOl5Ziu
8cvWu72j13GWzgDc0VKNH2StOtwJCMewSwFaBPiWw3LS7sDS5NoPwLP1k0OL2To8YpF4QfbOel4E
b4IrY+Ukc6chxLzkWKsdOH2Sal/S5GTqmcBer8I4TgS3a62mzhMNW7RUmf2u1EbkIQsnI5nAi1wd
C04M03TlpeohbXQFThFdc5IjFw4pwHOTevpwHmkm2DCRSuzvK1lzJaugJMeqqR1YiMuXHAQegMAX
WIVICjPPlRTajujQMaFR+mqf9KfJs4PwoN2P3zugHWfH4Xl2RObAfMeFK+YWkbP4UFYSYrfYqwjt
okiyN+39PN7XJnUa0yuUna0JzvS2QAK8GkQlYGXgBCq9mUxG1qfu8m3ETGd6Sr8sR4Slb4K1ZHZ8
pRgga3QD5Q7we3M7VtE5HXUdcgg67/JjOD1mIJVRlTdz3PdykOhosHa1FHTylig7tLmNgMzDAwOw
awj2L7exmJaUVhSi4/ZY9DEIM6kT051AQbZQ1wr+kcIZy0BJasRMSgtkueVsOEuQHKu3ovIj023u
5kN9pi8SwxxQDrdFi/TjtnDQi1kyZRwG29pRsmvy1lFFoA2bbmq1hiyEWB2FukgWAy2aqTuBZrMA
OO7UC460SAJ3q0ZjVSWSBAnYRieU8LI2BNfpdejNDhem4AEEBdZ0TFhfKpGHtroU3ZQiqT3ukufM
MwK8Lvfma1CCbWi4N78lAWBDHCtoTy94Hu0FH3CdmOE+gLORCYQ4pRnhAybvPvTsH8ldc0AvuHmg
D5ojeUjjHUv/tnFsnu+VzpxxlEDGMMt8RBXDol+pTRnQ4tieMNSNDl9trgHtBWqeqP1AeVtgl0J1
OaPR1GTqzBqyUcsaHBJ59iNenrvkqXgz7knsSjvddhQfYMYCW7oOVLDQGOjGJCnrh70m7E7Hllps
pxMjesotxEn217Gt/YRWp6ElyFzKT830uXSvlUV9XRJ1rLKN5J0BUcHdp+DdgzwYd+WOUj6qjQLN
c6qkNJDJLO/1QTJ+2lmVntCVr7zc3uYtHwDDBggdHkFw5pxpT8modPEAhZH8Bge6YxaPC578t4Vs
ubi1EM58IXtKKh1CYu1HQoKs3AOazumbr23/elvS5vqt1OGsdprqORp6tBVWE0YXRkyZ0sVl2Pxa
9/22JNHCcTaKcMjMmhySOvsjivYkPRPh4DGLHq+sAflQjEdjnOAKfE43I6OV2LGvQRF10lH4yU/S
P8Zx/Nrfxbvb+myddxCCAPoT9EcIadnfV45aVesaCXtwRBbhB8GzhIDdFXW0GqPi9ocmBXX0eVvg
9gL+K1Dn3ihW1ld0QQnfVUvNNyfZmUxUy4GkfVvM9pH+oxg/HIHeG1WZaybn2Azu15Z66k/kXYcd
ENs7R6HeX7/vmQ9ZCWQRzWolq9JQGrVgNpgGZuHruldkZ00EmrJ17a2lcJ4ClHBl3teQojXfcrob
KkF3jej32d9XWpDEXKYol1M3nFwKZP2RisKrTYtjYR0yfMiW8a1yA20zjNEoCHzIuelml06vjawz
dOJIOiTzmzwkAlvY9EPgrzZMVkS5Ru8DEnKoY0Qc3ASnBMW2ggZFhNpirzh4id+2u831W8nirEC1
MskwGqxfjEqeZD7lmsDVXT/ymZ2tJHAWUFgzeOUmSKhNb6bHqjmX0XODdFm96+kpV9yGHpUoGCU8
uU0XE3u3Fdw+WIaB68rWVOsqMg/H3FQwDJQCO0DBMExOhvlFT6TGdhpqlUhvhIU7aFP9nBEzfzSj
NC1dlCbje8VYdIZXG4lO3qZLIZgwxRQGI3DjLjOiRuBiCDV80XCm6AMYj50ILV8kgl1Aq2Oh5fZc
A68IoSAlD2lfoEmXPhSNCPlu82ysNOHuMVwug5UsENMOWXdnEIzKhpJypKDP8VqDHi07w2Qpje70
GjSCgo3dvERXwrmrbQRe7IzqTuo+o7HOeFT98DtaaIq9fKc9oXHXV5/hPMGycFvs5uFcSeUuoLHr
E2OomMoaq3AGTXou412Jgbm/ht5lB+ePpN94jKs9pLQdrKiBpBgNmI2OWQNRAVxgJTxMKNFKQpoS
EjIdb6oqUKcGnVoCxKdND7NSg/Mw9qRUZmxjmwbllaBhazr/hw0B5gmCQwxtGHxoWFBaTAYg6t0k
A7GK4eaTR7N7KfxCp/1tSdcVNewInmd4Z8OfySANvDxVaabQDNN8uDKtGdyOd8PwKwvRMfAgNZnb
oZFa25P8+xzeV8YXRWQO1z2sTDq7hVQA/gHCnrO8Qk/jJSlrzKI82YG+K5+XPQBJAe/un1DnMgDp
fgLcMMafBe2kWxaPUB/VS7R0MmztS61DUyqoFFbYQNp+NLEUmNN7XGGqy/iqIS18e423PArQZNC5
Cg4AHc2rl8LKEvkN4AsiDNIBXr/c5fRz0izHKN24AMu714pGCzYFYoKBDeKjNsCPMkgVQpQK6VE3
tcq7uf3eWkiDTg+xhYJLGH1d8tmLUlGFauvgIWiwWFEYHDE8dSxBvoYUClpKU91y5PSgDnfzIApc
NoWYqMWx9xI4zrmLF1MvPdUa5NoatKK2IWphsbxrIxGZzvU4MbNLgoYPlJgBEM6PZDWjmpopZvzd
PMnuMU67AP4/btoHEKT6OQbv4zr+AorR5xnUbXb2cdtetrwL8K8svIExzajyuH+mDfDJ2mZvDxRD
pek0lD9vC9hcRYtlGBhJKKYmLw0yVfV6kjWEDyRcdgZOQSXJQRSJyIS3LjNg6/4rhruwZS2zSsLi
MBVNJb2qOn0e9PSsx95tdURyuMOslMo4oDMA8TJi2GTKnTT/qJXONUxB3LV5rlYKcbdzYoVmXy1Y
t1KV0db7oVeOnp07/bEnXlEm+9b624FTZoY2e1QDfAEVKs49At3Hlpsa7jFKj/PyTTb3SvN+e/G2
bAG1IU0HkpdhYNL60hYkjSJTLSEHalOKYScf3FlxJ+pq2LLotRDukjHThepAVcNxMq0vstk/2SKA
dZEEzjFoWpGXcw7vU6OUpgADIBNsxWbMbSOwBZcF0pAgxbtcqFSek2hscCpb600uH2wQnKtnqX+h
8RNmJeN76R5Z8EX0ht6y7ZVU/qUWI9bODJa/GdPFDa3XDuyGleWhtf62GTDT5fMdazmcGUSNPE4F
xgRcpTaLXaLOT8P01iz2F3P5kaPSh5bQz9sSNw3vz3oavE0UqVamJQ5Tipkjs81drX9ORajxouXj
zCJXW+BLh1BrsHdAEHIW06mJo8WCF7tIDLPOVVhbknbUJgIxFV6c2TQ7ufnZjftKVFy9HsuEQ1hv
E+e59VnJiDpCkIGcfjR/LCE27D6snhuMKUZphQl4FZGcqKts43Sh3IRWR1SDwL+rc8to04i2KrsO
s0E+dgV5GESYj1vHi1W0bEYMz9wd58RDoxwnTEtABKkfapYWqBYniXug/AH/YqyRDjsSrfCAmjFF
39QqEgTCG1sIdmE0+WD6EzAivzFeV1toDj3Ap1VcIjLGP8dyR/VvsfxuJIJztmH1F2LYZ6zF6Eqk
pwRiuq7fh9302On1r64QzXtvHOcLMdxqdv1SD0kHMVlL7/WeOiRx0qeJ2PdNicYppAduH+aNm5Hg
3a/arOMF/+bkUUyi1bTFVU/N+lVXQSze/4rDaCeNZ5iUM5WfNmaub8vc1HElk/19tZSSLo1G3anM
ZXnNcm7SJwcIiolDO8Eg4eae4Z2AuNYEPzPf0lC1DTiHmaBxLne9BVLHJT/WSyR4k4jEcPpoUxOR
UYaYqdvV5hfaBlm8v71kbBs4L08AkAOUYqT+oAh3jrsQ9LEpJgDcYbSdIvHtBlkrZ0DI1ImKq5va
MAJZtILgNP+OsFe7A7YfHCkmaopHrzf32oRZclG+ZFsIAH8QvyCI5Hms2lwryGBYyDqNhZupL7Om
OkYkuPm37EwBQgtQhfDiUPhmtSiaVCnqpdTVqbILY1Q2wF3g1frs2QNGu4D+49jJX6NbQB90x6FH
juFuXUFK09HEw7iKMgRjluzaTV57xB7GINEWgXpbjm8tifNIy0LMxUyhXmzrbtXrgIi3D0AI8XDT
HG6b39Z2qWjYQdcf6ipXD+Ehk8LMTpEEBsW2PwImqaGmPze24DbesnIVQFAo4gEIGwC1l46hJr2d
lQlSQHZaOMm807GK1p1JnJkGtxXaWru1JO7ej6UcUNcTFCqkYJlUxySfg+0P2vm2mK3rdy2Grevq
LCmSKkdQF2KM5ZGM9q4sK4ED39YENHfsKDHKpUsRWZ4RlESR0cqLX/OE5O0b6f3R+C8GgCGH/yeF
c3FJqmg1qAFSt6++lD0mZv1pEtwK13NFODkYZURmB8hU2HxusaoJlF4yNaAJRheyn9UpeZ6PXyU3
u5v2RtDcJQdyRD33UXWKhyiQ7p5kD/Ha2+0d27L09UdwhyrJc7sf2Ud088NkvEp94soiykCRDG7L
mmlscONChqUHevRtVCYHU1u39djyfSjIg/jA0NBryqeupkxNJ4CVIxFJl88qj0+Dlt+lGg3AmeYa
teVYChocb8vciiU0DUVXZOfAyMFHYkbZ0BGg55A5VJ4iP1BcG3VeOm0TuWbl9+DkFeWu2FLx9+Ja
JLddQwXoiEqGx6hz8oCOOFcd8x9DpWBY1sK4by64hkUacjunN4RqoYlVncuqdDt9+ggrqT2A7ehb
OcjfZTsq/TCxH4DGYAkWd6t09Zuw2gS7HzJ1PBIfBWx3DVo13MtGFmhJckDTqKsMhT8QQDl2FrKR
1Fvq8HkYtCAGDR/gf2UpAteRwBdcexxQuxmAJEX/MiIrPl84ZnFeJWhqdzOgJg/6IaneqfXNJMFt
a9q24D/WxLkcSe7TKaug70KUaScDzn9nWPLg5UT6mMrwu1wq97EhqqhcKwcnpGOFWWrXRin10p1G
S67OlcSuoPEOrzVtSp0lAY/0r9vKbeUpIQd9MyDMARkV3yenT3U5mSW0y1XzXk5Nd85MD225u1qi
d3n6vbMwkD9FvhHN+8jof9wWv3lsWP4QiWsT+SnuojWHYWhsEzGeXP7o0hwnJQnUaEAk8ZFLVGC5
m0u6EsbdtUAzS8K2JciFqeFzZb6CL+Fgt1FgSP/lMYOf+1ct7gYxyrqjZgO15hgozbJ1RwqCcJzs
+6l8pJ3sNXEHOCQRWfBW7xUDZftXLluB1TVf4E+WNUJuTKu9mjUuNTAeUdfOYGf30zy7cap8iYbC
Vam8BwjzOa/MR5KMnSN12a5Oe0cZZMGqb24xIC/+r7vge0DTeciasWfHBwWDLA5sgC7qXojq3fx5
25g2D+pKEqf9SBq7VGJor0/vuubk2T5D8QtNIiGGEM1BYLqbl+dKGueCyxnYeBrTC/3qjjx/C5Ge
ViKRzYqkcM4nHlNDMjJmSYA3H33dwGRlJgm2aPM2WanC/r4yG60z+lhhHn3pO3ASdae4N4F4+ho2
sa+biZ/EH0Uh4uoSaMYT53W1ZIZTDqGhrHoYaHatNtlV4Pa7bRRbkS9GCfAKAouPDSjJS91I1lYG
sMZw6AlGiqkJjJFsd1vEtiZ/RKiXIoamSaZIgl9phwjARzG6+ePXcFkEYjbd10oTzleWWlda3QxN
9Dk6NG11rwzPSmGhx0c4nMl+6iqaIRgM0lUVwx/8kKRud62kxTaCz6h3pslZjGfQjRjaK9G/TUvQ
h48G5urBmNP3fhsHt5dzq6CMXt0/0rn1jBGWt3oDRVUk0kr9yYyPQEUZgbXU+Fn/aeJLGqfK3EFF
i+Do35a+6URWwrlVbslY9w1LCJRJg9elu2CMOum9KH8pwH8mCaxzKx17oSt3J0VRXMU5nrRuvDwY
g1+h598YdkvSIHx71qTnTPUm0XDmpiGxXmh2IDSV98iSnY2yXUJmFQKWohkcEwXrwpJ2PVS8vZqb
zh80fApGAYGuwp++YTbyOVSRGjAAU5cgHJZ6fZfhIbPo3xBb/nVAqBI2zWOD6doETD131ucy0g1J
L/Gu0DCh1KTZz662BxBEmomzqMbLbd02E84IP00iA9EcY46cqUQlUBplA+LQ+KhjhK46dW1dekYX
TQeM75m73tR+dEkNJGmrLz1tsiKnCpczhuEMgW+4XmeEwqbKWN4Azg8EwksXNJaN1qOjMHN1a/TV
KTuYdurFre5k2vdo0gVWe+3wLqVxB3QZADNEG0jrFsWrVdXPyJd6+utkJhNig8WRUaIhBL5USQU5
dETA8oHhg/HHOJnTF4sMLyXtSkGyZ0MbGAsq9SZgPFDA5NbOAGTjhDA4c23pvbUjpwe1nCxYsesb
VmNtFAAyltHaAEzjS2WUfhozzJrhmJufWXhYMm+EDyeZN6V3Zfk2vd42zS2V0PejsywJ8pq/8Y5W
F7rcyUjDRXPmprMvWXvDOi9/3yUFyrQ/Ivg+rEodDZlUENHU91n0vcb4fiG4CK61AMEwhofgOnDE
kAa+XDQ177QJAXvm0sw+6n0N8CtynwkzFBs+GLVrtlSsf4gNHV7K6Wg0qJY2oAyQPFvFRzU8lZMH
iEQXnZdx4beSxEp+t3fo2gdDJpLbmFcAf/zVVIpkqXFSglHQpbmrtOcEQCuleSjH8H8ph33HyhKI
2tNILlAUm4H61p/nIiDLY6O//e+04cy7ogCIiC1oY2SDE1uFkytnXUZvy9fbcq4tgq0afC6mDsC1
znvcOgErodwxbbLzODwV8mMtwsvc8KQXIrgLOTaACG0zERP5jMhBabyoREPSr0VUx7sOTHE+ZdDF
Yi4ODbh8A1nXdoY0s+GNqXqKGvsZYLyCqtOmBAtPa2TKcTvxrXGaQuMwAWUskOHcjr7pmqCHccuG
LdQWCGBCwF/Aa9DH1dxOv8tn5KXVAi0EJUz4WCQiXkORHO4NpE4FuoZHJK/N3IsYHQF5iTKUc3WB
PlvrheLxb/BedG7xBae+w2ukMpFbbuxHtfwnG1XBLfA7c3wZV+N1jsSkqVhAMr3CmTMlUsnTgNdc
dcJM1OFdjRzi1X743u5mP3dk5/VePWqB4WPidHHeckw7DMfIQ67AQTYEfdofoR+hU2Teid4wG32U
+DRsog5GTFZhYUdv5SgazEcWc4HnWG8AkmL6KvehExNwF0Vosy3vbfuXbtKnTuuDlD7JQ7tH9fRr
r4IDi9HLRiXcVy16/G6cReT2NFvBVSPDV3IXQNNnYUtUPKxCM7sLl/6uSZSdBgyeGcdyXgRz55tL
AKYBnEoUGGDR3BKUZZamI/Af3aZdqu8zCVPLyRcLpLNllrUMSUTRR5f2tbEvpBxTq7o+EGeZyHiM
6mjw7X7JLAfMcgwVvbfQNixToC2GyA1/McpBFxHIbXhDXMGAAkObJtLrfFkRFJdLp0lj5ibLftbf
ZHpqRE1RmyLgPkzG2YWGSc6xA0peaRaCW36YzijmzekJ8fRtn751/WLk5o8M7njPhlKDAwUy7Obb
8q5jd9Gta/yjJu/98JRFjWP0uUDmtloaXK+NmSkQnl0ae111vV4iMeUazSGKfiWGr2sft9W6fkfC
aLU/IriLNwSYQo5Nz9w29EfgFf8CaAQtHhbbV9v/EMCuRXGbZM9RFus9RNkWnKOyH5N3VPluq7Nx
FC/U4TYp7eexVWTIqAGOk2SOTl5nK3ds5U4TeckNd38higvHFFI3oVJB1Fj+UKRj1v6qJkZuc1uh
a7Oz4IhZ0KegQgTvwolJ5BicX2UFNnXA3UGlLnbGWTpZSfJPGqNll8RAM5Tlwkf4BCInMja/bn/B
lRHiA/ADGFSV0bp+ZYTlPKlV1uEDlBrwsPifUbKZx89Qagf/tqQrW/wtibE54wWOtg3OQFiOn6JL
qHFtPQTezwCA85qC9QeJS8ZKoaND1GkMImIfv7IZTixnMxSlqVBTILZGy6E++Anx9BRg6kUIxsTg
topXdzcni9vNomkwWSNhMRPg22XAKASwxm0J29v17yJePXgaFNgo5LiJ9WAifT+Od42oo/HK9C+1
4J+iVi/bYA/EikXFr6SR0L2mOqUcPXb1IPAZbD0uIhEmCc0hCEIUYDTxJdJSndOs16FNig5x0oMR
iuC6sl8XbXbbJP2SNxVQmmtBp4hIKtN/FWTIZhIbod7CIuhxzGSvMk+YUXFmxZ0A3aRVQdzlAsPY
NMKVopzty/FIZJRFwU8PWpSqVJxE6c9pUXtgpMN0iiiO2tzBlTjO5pO+GdDQDnGZMTtaeDCHp7oF
ZYHoYt6UA9pkNkOI6T2e+wF9ZIUyzwjsTbu8i0PiGkPuSxUAUQrRiM3mCq5EcSoBZcUGulAHP9UC
T+DDnPZJOqHGUriNKcr9bsvCqxh9NwiU+ad4r1pjlRc4AIbWW85cfpA4OyLDFHvIse0bXTi8xJI7
V+eAPcP/RyBPz2MQqS/Abtm4GDE6yJV+NJP2ro3kQ9F/6+L6EZMkDmpKpzqXcUyyw3/wKaxgZxEL
qSHeMddTVoYZ8s1uJgHcudaccPkMjdC7LWXTVlZSuA0sc7XsOwopcpx4Uj8c5JgGfVo6gL0WHPDN
WxWIIWgAwjAAucprgLZmbKIcsqTOVwFxnwJKHkBAauRV6BME4doUaY4uwrvY9M1g7kIhGxf51V2u
9madZ+MIvzKHwfSb616jnil1gpzkpv/6I4fvpZ9jaQxzaQBbXWq7mfbegrUZVO8DIFgwkWw0P0BG
/1/u7pVILjs5WWphSBpEZtgwO/ZwXw+529bv4EdxZFOwf8wUro7DShqf2bUqTF5bWEh9dNTwHEnP
pn0f62ekwSLRc1u0mNzrbjQLUy9kyDKH2l8kD7mpbkEw8loMmFtSvBTv3dsHQSSRBRGr6yetJNbG
CIkK+vg6Y/CoHYF2W/EinGwUI1+yZHrEgM7P22I3Y5PVojLrXYlVCiUZrBJiI/Sq5HXmxUIWyWss
M3afI5QEsKmOTg6+kUIt0MxNEtAdJNIpHl7B5tC1YKz0GKlC6TTFPteDBRx9IX2y5NhBgnsy7kh/
0Cq3AZn0bYU3j+PqY7h1bpK8HWZw3ruD+Zz3sw9CSWT0BEI2V3UlhFtV0BJQY6yhcZoetWby67nz
bqux6TcxIc9KVzr6dzkJBFuVdcMCX4YlVIafrR4yiDOrFtVbN9drJYh9yMpAUl0LK1pD0Fh1TjlQ
N9JeFVPgu66F6DL+QX4bcLtIPHKOpMkUNUMDMBwJkhjSkOzKXg9KWwSyfb0tl2I4DyKRJNJSDXsP
yL0BVUU59OekE0HBXW/NpRTOd0gANuiGDspYi+rl9LXJEqcOP0fj/W9NgMlBkh6DoogS+BKENVXg
TzIR++iduVMsfd/YIDbSxm43mqooE3LtniCMjTHD2ABqyhdLVStdKlSiMK4MM4jns0Zdi3ixpDsG
9fH2wKkVOMTNzVpJ5DYLFAVmGmUy7jNzeSBt43R29HR7BTfNjnVf/E9KzeZseyATJjhnKCVp2WdR
jPpbqpMQlHn2X7dgYhIbR5UNWGDwFdOIl6coq6RlUmYdTU9peVTj/dBpD3qrOvV3pFlvK3XdaMVk
gbYD7aUYqryaeezbUk2t3ETYOLvKt0A+T476VLrVHXrnUqf2xm+R238qolm+3yn7y/v5Ui63YQqe
ZtZsGo1LnK/WMTuB0M5fHofgSXEz/LcevEk9/jOJHNv5aviTO7y1O8m3PMNv/G5PXxXXBIGI7Zan
0uv88U37eXtlroGZuZXhTqZVlk1faewLH+Nd/LV6I37sWp7t4wvuKn9EMns5Wo76DNizeKc5QsC3
6xDmcomYza+c6SLXbd9P+IBEOTbNm2J+VehBz7/MGm4KgXFvhLuXwrgrIpHViLEYww4yT9HvNcOP
pMSR0fLbBGF1bkJ/qQQu6fqJdCmSO1DzCM7LJIHpsVqb1qOzgfgmYsMh3BPRDbi1lhpAvFFzw/k1
eYxgjAyEQykRHKnSmSTNwXydMw+Az4sGr2/uRD3v182oMJ61PM68i4TowACAvCJ96dC8ID/k1Tte
f65d3kszOpECMFa2tnfbZrf8LnKBjG1QR22Gn86aqkmK0yyExUyPoJuSwOuZRb4S206KLkr5xRL1
qWz5RDCRYRoS7VUYbGIftDJROwFy1lxDYJcGY/NOytcpFJzD6yYqLOVKBp+uqg21UrtGws3VNOcF
JL19/zGkybueR04zK1+USr+rjMyTrRGzYpGfLm8Y3xDEaNctMtxXcEEHzZIYnwFNx7FyK+OzDoun
fCoDBfODifq6jBGeMidJSnbN0KOUkv1t2pqTzxlUWipGbhdYBRNTNTUg0Rb9bVFOBv1CRDwfW1a0
XnDO8ZXFUNWkhaoysp1N1aBM6Wn9T60NEGyn7Z4M/8X5rCVynq40NEraBRLT+Sutd1MOIPLcQY3R
64aXlkQ+GNga+e8zrZeGxbm8CVgn+sKkTuSlBJSjLoq5RAvJOTgrV4y2rSCgLZbYiQDCI42D04K8
fdBASqeFr4VUOEthPN92A1vObr2cXPwgtWFVWcSGG9CApT2d9bRzSEfcKv4H3HzJ32dl2DoiRwLy
VoDl86Hl0mHcNZNhmlH+a+wGJGOcwvbyv8aI/H0C/ojhjEStw0Eh7AR0C92H7Xyvd7ovq7XgdbEV
kK+14azi/5B2Zctx40r2ixDBBSSBV5K1apclS/ILw7ba3BeQ4Pr1c+iYe12F4hTDPd12v3REJbEl
Epknz7FiGWqNCTNa81z086UENabKcwC4vb5K/4dL+TMgZXuYIhiTkMBSHVXekMmNFb/Zk284OxPk
NNZ2fsJb3hT5prWGZly8n+Y2XgY2WR2swoo7Y0OjlxMNG6/PrP6fPKXDbmamOBSzwjfISYLumVS0
eZs6Cmmxui2P1Kr6TZ3kZHt9GpaiAKob6CnVob1jaPNmPrlCzMxuY6eOGi/vqB9BLwnkDnglULpx
4pVSwe9agBp0ntpSrqtgsLo4bTBqp2590EzCJoxNyatAu0jNP3Jz9DHMG2mlO2HYH04VuRownt3Q
32rdL8LyLbb/IdN+ch1KizrfmQPZJXHwLOrkRjYlxO/WGkXX5kfxxiSqUoC+8c1E+2coDn29rchN
iSQu5AP/fyuhHDDOqZlEOSwxSAGUzqaoXkrtPRTRpgQvznVbi67xZNWVUxYigUXbCqteZFtZgzvE
QxMxmJkrN7dij7Rvevz1usXFCPd08ZXjhuiFOJON42Y5u8SCMOQG3fgksb2g9rv2iY/IL7UrU7oc
vJyMU3HFXARxKx3MqVk9OS12kwVR97ds0jcNSBGLWrrtnDJ8Gplb82M6rhyu3/RFlzveBuhwJqy4
oL8S5hg4jYwbz9JvceF5vd26NNpPyT2OeVV/Y2GDnvdnffDs/qXnR1tDs2u5MgvG8h7+8xXK1NN0
bKvewFc4Dw/2B5p3drWfHABs1lzqSURvbu9rh9L7WUGg+hfKhdo29ck223B/+ri+DRbvRnAM/2dC
lAXRxdTV8DiNNxCQ7hv9NyQxYtcsRr/VxMGijT+01hpGcvEtSU+sKk4uC0MeNTqs1r7jFtsocv/5
xu+hrf4Z4RkJ8D8mQLq2i7ZOdHEdyH5Ye3AvRuonX6C4vtjI0zKL8AVp7aLx2Osjv6yGlYU2DTjr
K9uNK2y6JRLgCaR5Gg9MZPmm3Rs7iNkeftR+/sNyzc/Rg/brW0Bc5seH4thtpAtAxIf5/FOHwk15
AFLCT/31Q7iy6Go+qm2kybr5s6o2BZ4+itCNiFC92QdppHtlWA+vpGP6sw5GA+hb9ZE8Nm2Mbt4k
j9t/qJ5QCkDgyH+AEiaB7qzO7zSZM+jzFJyOT9C8lR9ll4pbvWsC9Kg5VvMMnHa7HaMEXSVGn3K/
5HjeynggrSurirf4ChGEm5xl4hgmltyDudS8KR2B1Kwg+tOgtfYXpCBiZGyhabIPooq95U0fHNM6
HEMXCFuIirQV0t5mP90XDs92CRn4rimaciMIQW8wa4vbHN16PjLMwJnltXzNyrE/BjaPvMEQkGML
OCvuMkb5Q4le3O8cOde7vJ2qFrqPzEh8rewcextYtDia0ZBurcDR/ALAU3eICUWetzE/ICPUPpbY
37nPh7BCMXoq/Enm0QtJOhsKbzl7lFk3gm2I1m3j2tOk72XFLLTvydH+qWECbyIRFhJpwlYLvZ5X
mukKHg0QNkbt2SKZA/raRMhjy3n9lU3d+AL+PfHIhiF6aDRwggG0q0MOytE3Wd9pv2JhAP1c1tpH
Jw1+6IoIvwgZz3xbjY4YvWnU5aFGReoYplR70oI+NH2UqNhrp3XyLhKjXflCaMVnMDlkG0R2C3kk
gCr2OssrIBzDrKbHFkg62zUiyYst8lm0desgsHJUnNJ2cFETMkaXJQbI8YYmfKKBESFDWWXBfcNt
4xGv9ch0bcHyb04dBpCiSUKQtjROTYC+Ew7fa7Sgj1qQymOUm+SO2zKTXqWB9L22g/GX3djUK6ek
kLvrXvJ3Dv3aQZ4P+klURiekC1MNJ8a4i58REH5L/Mf0GPg/wSKxMx7KQ+y/9TfOYdxGLlnzVb+f
9NesKzFPHjUl72Z3yXY/WmTW9tEXkJpMT4VrfEwbtkme0Pnp3DoPwb0zO8+1Vv/F6ISjkdgGVp8C
Sn8++jHDsaZhitHLkroSeuo2ndgmaPvvecJ+pnV76xRYNKscD9cnfjkwn3mhceTADKLyVcbCdPJq
AFV8pjfbwAS9Y8n49zQSdFubHa4HmyDyJMjNapmAuLmObBJ0DleyDfOFfLEAJ1+hXNiOrEumofjl
oTB1H5BhR8lhyndQNfWvj3cxMjgxpFzHHfCrBBW2xmtFi5xvm3ZulQS3lkY+2hhat6skcothIPDB
5oxVg6aK+vIhWcqtgYKrUvY3Jq6dkfm180WHb5Yh3jd+N9wlaxT6S6MEP8FMmoNYEO/k8/1E5Wi0
2cyPqdU/CgeXvfVm15bL2jdrDU6zPD6k42zDZKDMVF/jYeRosqkxo7b2Eg5ot7+x0DFNWp8BsebQ
bSz8WNc315dxKboAlbmOPn8TUAm1YtHxOKw6WTRwRgVQrslNJONNhTf6vzCDHlioUvxuB1LOZdiO
uegCRNPltK9T7trkzpC/rtuYXznq1rdObCivIDyATRCNw0boVGKr17I7iDQMViZs6YCdWpkn9MS/
BuNotkKHla5HB2gq3B49J73h18OqCtscc10OCJkZ1M1R/1Pbz2K7qBJCYMrq683UI9bGHcLE5Imm
PIA1zHYLJNuimvm0Mtdc+dLGQCMf8NYzk5z++31yMk48kUOAsSWYYYGGQC9orNmuGa5J2i35a5zo
/w5RcVeTztNW9HhNpuQWh80Hn+s72hdeE5J90wMc8oy6lVwr0y0fNWrPVTM0LGL/ny+ileLJgD5X
hJX1PjDdVN91YG42vMnw7Glwhe46+Rol+9KEAoHBTXSqQCHj91PrZEJpOxI0kWCo3Hy2sF/y0bXN
lUto0QZQaza6CfGvKv8y5GLiJaTQvcwOb4SxM7pqX1X/XD9nizeddWJFOWiJZHUme1iJ0XiqjxGu
sfRZQFmrocyDElvn5XUN/bXe72vrhdcF+Rd3z+kHzNNwMpVBhe7TMkeUIdPx3R6Qg5vin8Ss9loL
FLFcewUvHvmT8Sqb1Mr1ru8CjLeIdrL7Gg9vMv7atfuVaV166wA/hpQeEjYgFlM2ZZBHuV62iF2m
Nv2cNPYJ+pWN5aSu2YS3Hf3ZidqNQcjktmZ8pEbusjyN3UI0vcvtKHGr4bNi+l0cxy6Va3HFysep
ipCFY8s4DDDl/eSK+GZiuxbaVVYDwVsooKyRlyzvY/R2oj3CYWiJPF9gA83/QThPBUQq3KrQ/ZqU
B1oUKxnjRe8zt5D+rxllIw9U7yFTBTNJ9yarh3ZK/JFuWcbAaQSSBqSO11jU1wam7NxR6oGIOljU
8smTLMxcBuRxKQex8qBfM6Ts2TCyK6o38ww6r6l1P0CmpAIH6fUtuzh/QFjOmH4AgFVmZ+qkVaw3
CDYDYF+a9K1P7sMx8ZvgO1oVcUG5DZ5i100unkVQ/DMdvdJIOisBWVa1rR0YJXyPtWWC7foGWl53
Y6tvr9tZnD9AYi3w/EE8SeUMSxH4TWD2xd0L6PREDxESf6BP3Fy3shhenlhRVilnM4vWhAkUVnVb
oAFpG0ry4Ug2uYbRPpUhqAWvW7ykzkIx5vReV0wOkqe9XXZ4oZGfsnWFcxuhgsYC4REdNSfTRUxt
176WbIzoWygGMPw7KwjPpTU8/QTl6TCYUZYlET7BEbmvRdY2pc8jHR7rdqU8eTG9ADKh1wS3IUi6
IK86L/LpPTF1ASgU0bw3ghvMDVLNBz7nyOLydiDys4hbb2VyLyK23waxaWYIMBp7lN2Jhh1nCNlM
G0JqeOEGAutmewupVd+ZRr8WHFRa+ZaIfgf5kLXewfnHz8LF2Tg6FSlDIw8QyIpxqE2im2gC0cXQ
cb/utT3R+NbRIJpjWVvSmq8TlLdjVIV146WrwhX5ldlXXlgHRnH+ApDlq90cBXoEJggdov86/NFH
QNc0axDFi22D8QGvgDY9B+8jeIDz1cy6cBBmF4AqMNjQ6CD0m6HYtMX7v1jDUzNKAgVatQQlUUyj
9rUyNuGr+UP7GH0wk9HQHXfXjV14GWVIyj03FJEurRC2OueAB4QbiwfO1k78/CPqyuDhhdcP8G+A
5SqnoKmneKobsLAW1rBFy03lIqmte47Uxx28QeoWVp/6WZkCGZ/I4R6KDsiE4mo8Nnn71MlpXPui
eQqVL0J6AKKvgDNakHNWvmhKeryAW7RbjiLdgHsNpVrdDdruxhEo6hj13uHVPRqHdqMV3EVO+BSJ
v0UwzRNvgQ8STQL4r9q3asZBT6H1AeoI4xdIQ92c3QcaeWx5D1rSYeXOugyYf1tDUDeT+uDJoSyz
2TVgsJ4JfSodrw3ICd7ywAQoTZTio4vtBFrk2oMMJ+feMLW7hBHHT6Z05YD+Xmdl1uenFh7gOvwT
5BjOz09gsWjogghsJpXd4yHZ5aaGrFROXwhPDB+p4BqYvSEtohvINeCQxUmK5B2w49PBcZL6ZTDT
dnIlceh31iHpmhJzwg1C8/SoibGIAODBL7mNtJuXkse6XwUV0qZNIcdNONn5q2FLtLnKUn/RJCW/
RNGIHU+I8dUKArHP5Jj7SUQhaB/THHSjQQDsBdLsjy3y/H/9vkW9F3XreSbAuYKU0vlsaLGjdaMe
4+gZk4+eCiC7vgXTmmLcvJPP5/zcihJhBrzIrSqDldi8iZIvLWAJ6ehddyKXfhE2cM9BAoiBAkjt
w6rqvAwmDhsC8I0JKrLg+AH1fAQ+s+uGLq/Tc0PzG+HkOk15IQMg/HHBGBAPIz9DccfNzVS7Yg3g
cxFYzikH8OCYjjFL3atd9yRoMxRd4LLAN2cVD13sS+dLV97jqKSQfs9X3gEXjxuczzmKBccLyDCA
E1YGNgAjZ3RFBsA4VFsN57GwfkrwtqZ67bbM3A5r2jWLHgFMP+bc5j+jhRWLKK7QvnXwfEZrAmdP
6JIo2rfCeYm67y1/isFGh/umWcMJXO5GjBM7BU+qGTqisgv0mTFaTgbaMtTJ9oMeIEJJH+yarkzn
8ugY50gdgfH5IlObQBag7mcSrDLooWPzoxnB1n8zcRdpTUY3hnPsoBVdrcXsl7sGw+NIY6JtD1yp
6nOEUekENjomPFu+Tu2XoUJ57lYSNyWvWr3X19hTLmFA2DYAYGvI2FIIGKp0023ZVjmUOcB4JV/z
zh9MT0v9IN7I1HWSdzNDs81et+9Ztbt+DpdCrVO7yjlMjKggPcM4WSN3sTPs+3FNouryqGNoQOVj
MtHKc0FZWMteGlmBFYQcfNUcRL8fRT5rEQGlv/KIXNqUp6aUeCstQ6QAQHzhsVCix97eMytztTzb
Xp+0tREp/j5MoOFaRzAT6EgpDo9D+s7z0gvGz2gVNrHkT6BPgFwfh0NBLercn8xUlk3RS9y00J3j
zzzhLree6uBLiz4He43F0ljaDzY8CV6poPiyVWeiC4LUkDkHeNCGkbrLqy/GhJXbEPHUBF+hzk7o
XRt+H0svZ3sTPBDVfYQeEj3Zse5Go581EW5efcmmfWH7cZE///3Un36fsl9t0ZipFSLwABw+0dxu
3NbOk9n8kPFKiHNZ/MSJhDuF2DrqJ3BxyhPBrFmjRxZmosYNVcS7bATlsysidJWkT8Ie/UhHtlcW
m6yEZ8++VajbB14mflrmMR2+Fmxw7cHT7Kf1ZP68v84jgfNPU7Z5a6AjYZgnQeQ3o5Zj8jcoHKBs
ZfKXJN/aqF+l+5L4WZj7xb9gSkPmGTMDDQYkvdXHmRCgYUKZPQMmUQNqAjr3AABoKwd5yf2eGpnj
lNPwoKl4AZFW3C76h5SuJXdOvjWjl97a58GDsZbEvwx7MKEnY1KuUCFGK4xBIeDZFpqUbJea9wOU
P/nas3PJcYDhR7NQLtDmQsX5sJC2x5Yr4W3NtINq66GeniM8W6j+PVtrKVvwG7guf2sTQTHjouAD
cWHAVihMxckXO6whiQsId/kQ6m5qot93JZxbWK8za8p69YkRZmQmHUyTwyRK6HRHYHugrm24Of1m
QvkXss3XPcGCrz8zqaxZAjHnwupg0qjNjSZbvy/vtLWNsbBgZ0YUdzP1SRLUMzVk2OeuyI6IgzGt
LgNYcA1ybCyuGM4TalIgHwOK+nxz5EVCMzrOc5h9iYdDH9/LwgSMxrfCDS1e4oR6Ebo2i8/Yvg2m
vWPWfk9RSNPmLhLw1stwWwfo22k3UGsElBjgom6LiCKlbhk99PzvL0FUhv58rjI18I9tYcT4/Row
DA7Mml7vHPGjJ2zjfF5f6st2YGjmnNqat9+JO6gZdP+mOUoJxI/S8hvyFoOgjUs3jQ7auKnjbWXe
cn1jlI/SPuZj4QnjmVvvWR7tqrUr6BLOefY1KI2df02jZUGvafgajmkGf3F4Z6FbPtXcpjvYRegG
/XtbDzvLeixyvx/+BQciJuO/BJ9qwZEgJ9CgOjdPxuPAX4wJAKryOEQrF+Di+fpjRu24IVNAeBPD
TNG8x3Xvh9W+EMXKIV7yG6fZG8VvVFAigAAysjcmO3TjP3b3YpjgdjyK8EfJtrG2W9lIs4NVbk6I
quExCKI/htBeidw6PkVDr1t4K9WxByRuFr865SYLjgOd0A72ZiKlIhHirAzz95pc2IUSLBKOqBKj
THy+ZZycjHVQ2uiXd5uv7fd8Y/4w/eizBHTOjQ916oafKH2+yTt2M67YXlhHyP5ArAZoEMgK/45z
Ts5OWksROOBmnWnVGPNzueuGzfVpXVhFAKd1tH1oDuTsNeV4VrlTDSImuD5FjEoUOoR2gLSBl861
Yh++KFnjuF24r08N/q7Jn4zJNopar4YA24YmbpagDyo+TO1tYq7kwZfm7mRgvx+nJ3Y6DRqwNOd4
T5AQqEQkkwZ07vyLBTo1Yih7o2qtooDn9iJokPHAM/lbX6+USRbuMaj2gnd45oTFTlDultQmU26m
2H8gDLxtytYzBVoV+nhTzrKJXbIybwtX2Zk55W6ICZ4QRMOey4zPFAC12NDdjGwEOzLM5ZoY45o1
ZfvVVouybAFrhu3XyXcouri03g+pbxlPafvr+l5fuKaRuZopkUDPgotaTX06VsYFUGKpdwPWy123
zV7K3XisD82GHbhHXmOPPoS30ES7J9/AgrupdsmtD4fjNpvQv/4tl9vz/FOUada0wC5ah0CmthF4
bBwl7QDjWbnnL88ajIAsAAlBQLsumoSsKUclaMB4DXBG0tYX6AjOnWeHHK4P5tKJwM5MtQNFOdTR
1fAnmcJSq2LY0fVfqbNBGmsSb0aRuJ39lDu9F1krF9wlTn1O255YVKYP7+pEDwJYNB++xZ753my+
oDFu125efnJ3eo+ff+bNJvYAz4oBHHKpH99WbnYsv4TbaWNukNrbrRVYLs/p+ScpWznT+lIf83my
gw1YTjp+bOQHt/xirRX6ErZ0NngAiRSvw7WqL+ZtPAFhhCRvEMRbRwbhnW4myTbmuYXIqS4/aWSH
z5HOop3d8vTl+ppfEg8oX6E8iLRRD/vexlf0Xo1XA3rr+Ub+yDT3cfQrEA/EODY3ZO+sHJzFaaYQ
j2FzMwQIx84HH9S8NnMN2Wcp7hpIgWTGE3M+BssX9YonXNzVJ5bm03Vyg+RWotXFnOdOe/Avon9L
gLAAEhQl3Uf9W0efqFzpb1s8rycWFVfPaABRXBMWTWdX9pvJcFCOeAiqf1GJwl79U/VQ+ZjpEBXD
ONcjNMeLbfQWoYkIzI/IBdTtr4A+a/HLwO+hV3N9zyyv3Z9ii7Jxg1BLQruYx6f7YFJ3a/Jo803B
N1q/kntedK9/BqgWwfWwhgpzCUuEbgCf7adHfXy/PpjlY3hiQ7n8dUIqdIRFEFuZZbrLTY5ktpya
DQ9iKGe8dolLxkO3Jpu8MDIblCxI4CPBhfyWskeSCOhLlsaI7ZNbR3/MrPf87yMOZA9PTCjONQZs
MelH5KjS4lEaj3X3Kkr0WzwY7YobX0hZnltSfOYggLpBiRAP0ff0O/Xqws3c7iv6R7bhrXnvit6j
bvT9iJjnoTmaifvrl/YtW8l/XLbYzVUmBwVA3JNgbVML4yMoXNjQogis62CxcOmOHbXvInPTr+Uu
uykibzoOv4Zma6wEjwun4cyu4l9EiySl08EuCx4z7UsiPMY8CoeejPu/36pnppRNA3Jo5lQ25pll
vyR5t/+JerSxjG7T3uniq57chcFa09aCLzszqWyijFBasASjQzqp198nbVfz22Kt1jP/yvnj7Hzt
lA3UjWkzjQwD4/rn2H03iR/wZxE9Z/E+MFZ8yuKIGChKQXI951CVB6jW9k3U98g0UiQKOlTlAIMM
s1tzDQG6eMJP7NDzeyftO8NMJeyE04Nh+UH10q3FKvNPqNOGDQ8PMufJLTVgKySLSiOAngUwdKB1
/WWuZZqXDTANAs0aAFDqs9JkyA44E3Q1Q90EJ4zxZVoleFw0AarxuTIFYJcKskLjn9Vj0LOX+iyr
Zxv6UNdPzdJ6z1zm/zGg+PdI6sYwFTmoufMnDcV0I31wsudoLZxbWu5TM8q2qhPR4abCOKLmMBVf
HeEmwcr5X/I0pyaUHRWFTYjWP4yElV9J/AF6Z0aQgBtTN1ujaF1cFdDzMAZ4lqGrkF2W0l5vNNTX
rBhI/spr8jVI65oFZTApgpWynKvKElcC8kCVtRKFLS7IyRDm/38S99WyQg6PAwZAoteYvpjj4CX9
yoos2oCc0CxrhqSfWhoMg6kQ6YASfDk8EOKz8tbMf13fvgvh66y1/V8T8/Y+GUZWh01KK5ioxnvJ
3Jb7FHiu6k6QfVsJH/2mK+dlyRcbDIhD1C4gIqLeo0A36CjLI+sYjVthN75R4sk1+sS+hX8WqxSa
i5v6xJwyPmnxCBLzMMfq217fx85Xx/THeg+Kx+sTubxWf8alXJ59x0QXTzDUDt/sZCfAaU9Xttzi
WFDEmsXJ5kqxco0xwXMozSAhb1YvffUaRwcaAor3JUlWIq4VQ44SgYu2b/NcwPFr477LXxC1ZpXX
AZdl/22nF4Iq48+I1I650GAAFgLw5tnRG8nA+1nHG74GPF/00BzCCRBhh3SNuuM0yFkkEFbGFgeT
L/Sy0AKltdCKXIkQFz3OiRllp+kySfQohBlDeyLkXaz1sSy9JGbFWSwxA3IFgf35US0TOymCGSgg
phyd39ENS1LfjI09+tlvtP5+KApgSYxCgJenWekUXSiJIEtgAd3uzDEwlKfOjSeFGTtMTnBF9/pN
vkPK19eIi8ItuFFcsMYl7rBi8rI9GJvj1OTsSU5cEzxFC8ohmDR2xSF+fikOYLHQ37gn/OoXsge7
6F5/0r+ZHkHHh0s+r5/npV0DajeTWxBCwx9ltqWZc3MqcNgG9lCip9JK9j0B5utw3cyS2wAOY44f
kJlFN/D5ICPZmVPDcAJKfWcE/3Tjw4he5+s2FiBWcxPZf41YynlG91gLmW8YaSsPEBofzf+B80Gd
Hbc8kA1OxXMCQoFs5XAvHYhTq0rqJxxNFG1nq01xE6PPqqJv18e1uEQODgLONrpK1PxEbaBveKpw
ICRYPlqPogNnByYUQ3jCSW3pWZAnyP3rNpfuSxPISR3IeYgXqpHLYE5gH0R/vhdIWowu5AsTcH1V
RHhOLNnO6g2w9jdVfEdkgNzemOu76x+wuGH+DJoqa4kCcpOyedCi/J47B8E+2nZ73cSypzmxoayc
QAObqCbY0O0DCE1cdOYBfPKYyccJKeIm8EsCSq7NdatLlw4a4aGdhzthLpGfn4QsI8xsMxilCKUy
cyNw6AKeuST7ahQrgdXizpkrhMjwI8uvzZN84lq03Gw7zluUzOrYB7ECWDClcKPMQJy4SguzuGIn
xuaPOTE2lUUWDAL6MFr1OFJf9q8pW1mxxbnjIGiceZ9RulC8CEE7eFZkPRZMFJDFJq7DvuNh7Vk2
JM4ia8WfLJ6BP9ZU+hdhCwkMDAY0xmBaZx9T/R7y6SkvtButYIgV0CVA10CGlzcQru+ZLxcCUsCu
WZYyxjJBcz2iktIrxu1AH9Dh3IFeBUQ/XgeWhPYOvqxlv1hdu9Bc9XVr7UVxsYyzfWhXsLm8qxtc
sR+QAtpVsgMszjj28U8qnqJw5c65BIme2bjI2Y+OFVh2DRsNp09o6nLzlnqD9jOxIGSVGHszLr7J
cPxIWuIarX6o0jX56YvwXPkC5eiDXUraGcMXzCBLDmhD09xXkbyx5eBbiM7HeFUEfr5Jz9IMMKnb
IGrA1C40PIhs7hTQaemRCsD/HUED+3s7zUQp2tjL58jqqiehESvfGlYFXpnAcsLwVg9puneqsjO3
bUa1Y8JZv/bovrjB8GVzxIVkzgxsVRs/7KErh9KkBZjqrB2Z2LaK/zpqnE3YaMJCs8YC+rOz83R0
cOWjVTY8CIN5RtesXFkXzm42AUoAG9miOf5VIhmtHQWfUIL2qjzfGyJ0yXBbxwbEGf6e7gDXog65
WMDS8Pi9mK8yyVKIF4MqNYHuHFSoSn60yqdw7apYGhHSOWA5QNwENIJyVaDnljbAYmBdcu1G135q
QuybQYPinUVWbqXFI4loGwEU8M0zzuLcexvoFKeRk85o2Pugfx2sydWivZ6lXl4+kPLVbm9a65h3
r5G98txbOoqnlpX4tyuMOo7qrMQr7M4Rd3pxMHTiWea9E73q08qNeBkjYpfM9A14XphoflQVmRMa
hfmoleAEB4CAlsbz2L3wrtqEYbmtEulKs7/TtPSWEXZs9ODj+uW/NFbwiXADwonAJv9ehZM7Eux5
ViuGovRQN/46WpFrlOaWJ8yLau0dm/VGhnTlWCyPmOH0GTaQKlDMPV9ZMoxmFIQY8ZBaL4OhHcmo
+4MuUcqzw1tb790x5UetMj0r+Mzpv2iuhdvDXAOtgTKlo14oZhDpTidxWsrmllWubA6sR3MvmtiR
SGJ8w/iOB9vMhF4AxC/Qy7K25HOoqDpeQMBnFDhexYb6+q55HDStBsfQJwc9B2GZhTZU8iuCb7DJ
PhsPNLgbeu/vVxqSLCYakAC5RrR3PutQigfV5HzBoOEvuU1lnUPTTVZ3yG18mdr43kkC8D5zuYKP
WXIZHJ0DEE4G/vJCTUI36yKLwfPkUYEsQAsNMXt8iIfe1fRwpQJwEYwhOphJWAA9sCA1q5KhBBWt
NadEK21n/eRNu0P7oi/LxuWyPjgogl+fz8tgfTaHghS0+WAU9e7zCYXmaNumc3cCQp8vAyjsmJF7
pZZudCbQ8f7Ycc3r2mAb6mvyNAtzemZZWUpS2onoCSw3wWMfJJ4sakTr4RYtImtn1bjcqjCFy4uC
PWBWoz0fJBnBVMZz+Ac5mUcaJy5u/tuIhL5Z1Zs0p+hIiLYle57s6Gbq7V2jrZGFLQ52hnbPjRpz
u/b5FxQTqOaiAoOdyDdp3TUEPUnyGSoXf38+gBy3keEDGAd6acpIW5YHDc4kwly9Pdas28BVA3an
/ySF3JN8OOAxsVvZQos7FtBFvGnRFqipmSVaOU7BCGym8cEq97F11MNdne2pBkGUfTT5ufNmkduC
b43kleDZK/u95Ty0aymuhVsAzMBgtodDntt9lRC7NfkQkRHfkUA/Ld1R88Wx7lgdeGl0wzNre33Y
iyv6x5qaFemGUcSJgP8vys6T2ptoIn8Y0O+z5vKWptdgCPB+E2chpXW+dQJ00vVtO4ECRQOtH4m9
hLfPhV7dRGb6PPD66fq4lkIWPAVBeIF8HbrfVb/eaIMWQ6W+BBZwhL5q5VbNFiRGLq3uityDkGYQ
PwfF15jFHiAc143ThYN6ans+yCcXedr1ulZDwA2dwKE3BcmtHq2xFi48xFA9QGO5jRoCBeT13ETX
VFXEAgYWZiDRWdJ6ljYiCowP10eyQH4BYgJczjNDEjQQ1eqk1VKrA80U3FvNy10cRhRs/Dl6PlnI
/c4ash2awcAiZ8M4wGzNCKhqFI4IDEPrleCyOXRlPq54woW9NDOZ4C9g6fD2ihsCmprmo4PHUpk2
re3hERTcsigFEyc3MsT2Tm2mNxYJkjUulfnsKcECKg4I0UDkpdmaWhOw49RuS6QXIL+1Mer73ha+
MdkAJlZexr7nDTj81xZgwemfmVQWOm4L3ncDTDps8EX1ymvN04Z8Q0n6iOYIND1AAxeRzeBmhrbL
OPf6wFgp61x2ieF6teY/+qx7C2j5+W7LRwRpSYvDVJux22VIhkFIW1ifnSlvqJZ7QYoLj37nsY3c
Ub2jLdTa9GIf5481s/epJd0A3K6JHd8EzN5FBnGHajXBu3TqLEieUBNPPKRIlF3RNW0SjhynrugY
orljm74ngYtKV9CErwmtDjR+1xtA30H/bKBbMklqsDKvtXwvHUwcx7mZFpkaS726cADQIj8h8IlN
Ir2Y6sO+tvLCM5t65Wm0bAnvTAa8M96Ays7QAYfN2jllkFBjz/Ro33TZxs6clYtx6YZw0Po8A9/B
LaV6gEEzCRh188pjETKDDXREP+Oy3NI1trdFjw0AEZKfaCsHJYqyyYoxthKZiMorRRAYmyjW8q2l
1RKBGwFGjI3Om97q+j5HJ+Zt4zT6LbNr/YYWFaQHQb63coMsjBtPXR39BKhn4p/ZCZ04cbzFujqZ
QNSVxeN7nKEmR+o7SbQDa9Ya5hbDVzSx4b5HTm+m+Di3VZIKWKsAhYmmdrv4Nig/W/LLkBuHvlvG
DulMFIevO/bLwtKcvjsxOQ//ZHhx0oLtOIVJaGH59RsSIs8/wM2It63b3qAV1H08Rv+A38Nz/HzF
nSzM7JlpZWbHqKobnnSVlxQfQgN6PoO4zUNvypVXwcI1cWZnjrROhhjkgVY2LewQIwOFEPFSPnhk
aA5QEHdNEq1M6VLgdjqjSuDWm+ibiHvMaCbfp3pwp+pLHz9rxC8DIIfWGtP036GZchkhR4EgB830
kDVTb8EpyROnMBG6IbPmtGAQHIZ61wgU0jbwDPaxloYwNyF3+HbMZf1Vq2rjkVh8NI/SyYH27it9
2NqpicacFvm3cEuncXwyxhJQV3MyzewRTlbsgKCmzj4O0uF7qg8lMLBjaG6iKYS3D1mY3jSCy943
6oiC2MLuymgzWKQ+ZhoqJPF8Os3CCIiXt5r+yaXW7I2mT0dfyzmJ/S5KCsf7H9K+rEdSXtn2FyEB
BgOvQE41ZM1D1wvqqcw8mvHX30Xp3G7SyUnr67O1t7SllioyjB0OR6xYqxkC+2gqVWy6mmaX94QZ
6nOla+m7qWa2CqYte8LjEezXqmdEWqC7YcHjQ5v1BM+h0Ul8zQpr/Aa7PXZWQEzIUCnsu1ZHpY9i
ev1EKgJoMlqA/aaNufqBXidCmqFGFJJqGcjftmZY6VesL4bM5eXcYQYBuRmC213JDiXCC1ROtdTw
gaJT906lAwDM01afMDs+oEETD3mFCKyO3VWfhA40Hlhs/yo0DKOMreV8JqzUDhlxIpCvqaPvpGDZ
voJoCbg5+Nhh3QosssuaGGxwldW2IEbgNPDMUEcA7DOdJrdR0IYg3a5j8zNzAv5di/hoe5DLqH8C
H5k/FVExBa5ZgeWX24rzmZpY1EersNix1gYMjbIxLYjbgy7G4FO16WqMseImw4XZY+K9ywN98MKS
HzLexldT3+cHVE31g8oH+3s1lGBi0fMwK7Z1g32l1APJr0xzJNltbhb2Roc8JfPrtM2vSdEFt6pe
KvV+zDWLQVBYVUC1jh0LeWi9eNfrMQC9mAPUrlePUwXtPct0iodyiMNrWo/E8NB7qyY3H6oK/fyu
aKCLl4RsG4d9c1TMSXsy6iECs2LVTeAgJ4Wu3Zdml5ebttdahs5jTW6GXm82BC+qH50zgjiH0txE
B1anmeS9unp3oUIOttw5hp+xk9Q1x57JStzF6szHtAurW73/lkRHgjZQvCfFZz35I7mh4Km7HMjX
TOOJjIKh7eDyBGvVaZQrOu5UTYK0h0fmTdN1R5P9SsB1aSblToc5aM9tC72/rjDR2wBewg3Z7MxK
4AOdDmYMAPgEL5DYlMoVdcpCJMZeq2iu7u3Mm7Y3cBZVL4zy7WV3V2I6AUaSIrHSwWwt1is1JTUb
jSuoV7Yupccyox60DcbgOSAyQdw1t1Apm3lh55asWMIqxx7BsgLHf9AYqI1WRnGlqUObukA4gfce
saP1J6YlkLVqad9LvuvKJXmSfgiXV6oA2qpQpB/VUO3tyoQGOD4xBnEZub+8pCt+gqbbcFDXxzg2
lFNONxAZRqe2R/BWxV2+CcC+5OtK8aQM/Sa2so2NibZhkI02ruTqJzaF7MMCTWPYxbCZtr2b1wRp
+tNlr1ayYxCVIQ/HYwDNdBEnFpROZDRjg4aPCdaeHBj1oYYogoQVbXXt/loRH4R5GLfd1Lcg7G8d
XKXKa5RA6ySnnmKlW4sZu44pu//sGMbEgVbEYQNjv/i5OBmbCBJ8uLzA4tCoLdKL4JBG2n9P0sAi
BZZSiFOjZiMWGzn6DnYZQnIj1vimNvegGUMe9YwRtcvurL0tMZ2GxxKOGNI1MXqMYCMmJYtKKCL1
/Xs1JBYq7yOU4jzepdBbwOAUfkUYJ+Pk0t4IqDsi9fgIurarIPnIkpucadZ12HTOPmQ03ARBya7D
qFc2mpF2qFA2NAn8hPfF/ZBSu3L1usMoymU31ioDi+0mlpsKDoblKQFHAEB8NL23g099OETQeU3v
w+yJdr8vm1uNDot9N1cNFqltzCMdg10wFwa39rAHTHmqXw3ZyOnqKV1YIadWIhOFbTLv7tpCEa2P
UdtJQtn08drjB/sMFRUdwA0EoPlXLHxxuig31baG1CRFUTWcAEEB3cz0EZLc1cKPPpt1WjNDk6Tr
KwHixKwQ9pImz/Q6htnW7DdlBvDyuEtbiZG1FVQhqwHtbhW0XuLDjqekGTsVb9oO7TxGwruEySaD
ZCaEUKoVNe5KBhNZluBsBOGDzmVqcitrhUCjoXcOiqa5UXf6iWpozXRpA4y6rZaPeaN8Z0G6zYJS
8uReO0RLM8KubqO0ptyGmRmnmt4VPEMGcQsuqNTZkO4to5JQupJMwC24BGrUmRhH2AJZhSZLZqJ4
x0dIRBX8Lp51iwbjCuqn4MyTKZStmrPxN8EqOoMQBHPxRCvaaniPBmhKaVO6MSvq6yWolkh4W8om
jdeuJkB1/lgT9kXVDYMSj7BWK3dT37i6/qtJbrm5DdHIhvTT5YC09uk0CmQQgAiOdcYjZSSRPoX9
BGv0t2FtHGs39J9p/Oz0gV+1vwYA6i8bXFtME40olMAxSY1K/umWNMiA9iJLKnDCDBuzCMCOkBqD
2yaxN4bW6LW0/XHZ4tohAELHAfwHuA4iUkJl4VA4hVWiVV0wVxvoHWPmDnpX4T94hofPzMyH1IWK
HMz2OFoRzloOSpJNN11DnRYco5uwxrNHhidbW8RFPVtMkkiAgu+UIsm06vdCVd0iehkp5kSC/Shr
a50XnGYk8wIwJ3ywOrcrI50Az5vu1NBjjzmqdsjKjs5mOkZedGDPzg4S3JBA8HGHH4uDbEjpLFAK
P0CILimrFJ1p+AEZWN/miYtONrS7QoBy6qNwYVqKmilDDFDgsNW25lP4HIZ+5xtXKKJcV7E7hZ51
5bFvQHO4IJzeXt6fZx/zyz8EezyL5qaQsMBZBrp6ZNXAjsafZFLcqXdRB3HyF1PGBCuzJKwkWC+G
sJnBnK0KxmOInDkeiR66DrQo3/7FJxy5GUYwD8idnnIOajrC6QAUHoiHLH6sK6+zn8FN2eFUXDZ1
dryxfF/MlBZBSQ264qemKDTNIpLN+9PsNgkEYKsWg2z662Ur5891wYwQlqNQiQu9hhllH9wW39FB
Hx4NtO9vet+ExJsLnMtli/MfPCkTfhkEmyDezV8Esad+FeijQ6ppxJiZ9T0mnwN6eVVw11AJtmRt
T8wJ/BdHNOBvwu5rm7ZndYgvxZSblh1U/Zj213rx0FLJk+urr3Hm0MKSsPvUzCzakM97Qit3U+1c
xxwcWSQn6P6Vra910KAvqp2OouDQNL9K8/0fFhQeqiCGBhROZJlpa3uauDMvaA0dEcXwWbXhgBmz
z8t2Vjfkws58wS/yYltRUhD/qFhR+zo2r414q8hQkV9El+dr+dcX4Xxl2ojUAKmIpz7QB+0Qdq7+
0PzGICLf0ydu+cpLwNzJi3wM3m0uu3eWMcz78q97RMDwJwMtUTHHMg7dGyoQbjXs4wGtevI5gqRD
H48q2V+2uHoSwOYORAAkBzVxi1r2qPdagAXNQPgBCV6qfYajz3RZ4Wj1KIBxwAbBHXqlItQhG6NW
j9Ea9xJId8Xfy+hZ6TdNeWfKRrpXHZrnB+eCGCpvwplLW9ZA8ELHSUiVA60/baf76aQANNSV5HTL
LAlnrk6DaAxqWOr1B8dG8++NNJYH8krJpli9QY2FS8INiiFFINcCDS5V9u3UFS6htdfl8Qt6/o91
0t5EKsSLwme9hMZWeI+agqtE06a3vxmobY4AQk008qwqPhhdePiH/bP4bXOCsTiQbYp83ajw27TK
b5xNadyqIaauHi9bOcvb53NBgZbAtAR6yOKwNqucXtc6kLfZw0fafnadB61ytboaS6//ddnUKp/D
0pbwWcMM9yDGvjCdtMnfMWF2By5F6Jz4jPtIxyBp4gHRVvyQqX6sZWLGjHAFVRwA75bwkY0x1no7
mQ/IcFdodw2XDWesbteFAeFLJUQpx6SCgYqmfkxuRu6nFdl2Mmz8aohe2Jn/fbEjLL3oMtrCjhl9
RNnkmpjFS35c/kir0WRhY/Z1YUMxFPRtZhtjm7lx8j6UzEsgyR63j7aMx2d13cB0bnxhz0CHdWqr
Zx1G5EbYqqFODVOYPlAxeiEpLa7u8IUV4WIL66YHDwIif4gjS+MNB0qj2LQqqmZbw36+vHyr18zC
mHDDQbu2J9qsnBGptwFIOxvwhm4d7TlkaLbvq+jbZXOSFRTxdDmeALo5fiUH722xGzCgSZ6Z6l+2
sn5vIy2epUCAHxYfbkY5kikk872dXVvb7l3dMFeNIarrjve529ybO/rU+t+hyCvJJld3/F/DYsFb
K4ukzQsYbhR7N2mJX1F+G3BLEmpXI8TCjHCzmRFIMYIYZkLo00UhxHDfJCt4hvuew+zCghD6KkKy
xGhhYdI/DeACq3rfO6+G8ahXbyGI/BTtyi5kt9vqWV4YFQLfEHYqNRIYNUvcZhhSRjbuJ1Ho4vHj
E+tXC42uMH9sKV4gzrchCj2lfSvU/LmDmkcVA0Jl9C+XF2J1wy5+khAqFWhQmxg5Sj20YzAx91SW
YNN9rGVdi7UPCq510DICqDSLPZ1GlqzkWVdgqsrjuh+N0DucJsnOXH1ZLUycHT0zYnaBGUCPHZPN
AOlNN9hGL9Ou3Sa/UClHYejyykkNCpuUFgxwhJmRMb5pP/NDcNVhQsNFm2n6VF0diJrtZYNrn2rp
oLBlHZbQOotsrGH3Nqj+YD1o1rv5nxuPOBhLK8IeDWJsB1LBqzH9PUCViiUuHz6483nZmbVAAiqa
GVtqQvhCjGC0L5oYpFZIxjE1jAeHaWyn/y63N/vy14gYrWy9VAGggJG5+Z2xJ6fynfjBrt0mvm6K
2C8hqXbZrbW7bWlR2BOqzhyIhsAirbYG81odZ1x3x/ym/5XkMgYZyRpawoawnbYDqhrGlOI5af2h
eyGS62yNuhAlVvT28ZEwHCOCjDhXjHpsgYYx6+bZgjDBfhj1rVVN706hJW7S2/1uaOrRj1inX9k0
fe+LCrPn8caJfpqYojKzfkuGiUtyiLVICtYM1LmoijAu9tscvTVCtUAJyu4UDNpGkGUKMHfxPaYu
l0lary3z0pawzDUrVCUDuNIrq94FPZo31T8NGQ3f2uFeGhGOHVIiZo8tjOSQh+2Z5hdpd8yUxJ3+
iXHqS093ViwBoHf2d5FRIu2zw4YNuPo03xwSN8y/Xz4Eqx9nFuz9HwOzrwsDagxwuJXBANNAdwmu
a9JGbtC9FsZGy2W40bWbBSphlm1bwGgAiHJqrLWNUY0GY+YH+ij7n1W/vezM2tdf/n3BmSpsDYsF
BC9SlG8ZafzQeuaDDEG0tmRLK/O/L5Ysx+BlkIEa3yviQ2fuAnVjaB1A5XjhPv2DP9BRAtoJtzE4
I04tpX1W2PZM0g2ovlc1W4KxKN2SxI3Vj/LXyFfPd+mOGXR6o8JIADJ129oB7CEJtGvnxQKpKdGx
lUHIIriR1yCRHWJcU6TaT5CIzoEVe4z/hZxtYeVcxNdEx0CHHzrbZtrnAH21y1/jfMACVxSwbVCv
wJsfdNKCH21rIr6MsEDBKpEbB9QWaIuhvB20N+3gUNZvOKEJ3wEiAXJA38Qr8/IvWF/IPz+ACnU4
6KXHNTBtczk19GrbDehL0bwPskGG1WP0109xtJapkVZoDfzUNMwr4G5InxxZ6rJ6iNA5w2QlUJSY
cTzd2sFIGr2LUaDJ9VezfjKjg5ofimYTy2qXa7c8gAp/DIkxQS9GFocoh6GKqPe3ff8yKnuDv9fZ
3pDRdOjz9SLWaJfGhNBgFE5bA3CKtK91p6315LiRO8Yu+nT3N+7b2+S5m5vNhrp7IuvzrJ7ihZvC
Q70v4jwdLViOgXCdMPZXRpJrfJXWdOmcsP3jrI8dNsAEuWszv3lUPOWoeNWO3Vqbyq8Opbdxhw17
6v38xbhhvuw9u/qSXvwAcfvndk3DScGesT+0J3YsXiHCyN346bfy0dxrD1etjymRW9ncs2QDiaeh
0AeA02xY1bMQOtCgK7mx25uK+0bykdL/CvBDiLFnuTUMFGK2QJzanJhjpO0cjIek2Ea67rWWeWin
et9oDhSmBpfXpYS3ajWs2QSEfdBO1oAYEdIZwoMoClKkpkXkBUR1QYdCMDvElbugOpi2GwW/kSu7
cXVM9Bsr8bl0nnPtgb/8BfPmXlxBil13WtThF7DiqA9AaoK6Y1umtyG7rbG/4scAD97LofQcyjSv
tAEVOPQ19BkHcWoTPHucR62DRw2IzXsDneb7qLxX6uuQQvKbQlynSFyIyEjMzn9WjBCgLMDtAc0N
AFmECJHadp7lFGYd0LP8KpOpQSvF6a/bAdj1vJnpcsEwuqsgYAGF9pjgQaL3eKTak4pfBsamru3/
hQpwbgZiSg9iDAAmny5FG0MMvNYZZsPqx4a8pcB4RpiDuOz52t21NDKHzsU31vNp5FkQZp6hbOzw
itp3SJdAu3HZyloYXFoRvmo6TlanqHAF7wzXqgBWlbGOyvwQ9mqgapmaa7BgJg99hqohbEBjPJQB
FNYuSAeKugBPzwdTTDYSWy2qso4zT2H1a2w597WmHAkdrm3a7hqd7y8v3NqdD3VtVPihiwgVCSG4
Vyi75s40K6aohZvz98r+LAGDuGxk9ev8NSKmmgNaiEbvQFjEblqvNjAfIks1V4SZ5mk+IMEBt0XT
V3xsFqwPWB7AjzByq8zNPpW76Hq4Lrf5NR430Y216XFVTBt6DK/Mw2X3VtvdmEADuh+IIEDvhEXU
UCixqwZ7owi9znFxQd0kt1X/lBwSP94Bo3DZ3uoW+XtuxUKdmUDgkvEoQ/kHWj3sZwulw8T5lZf3
UtWA1e3x15RYsNOM0e6jCJ4NLPWjeLqJhtDXh17Su1zdIH83vXjDJ1kUm1MAjzqz3Q3a8DDh+ru8
aKueYHYPHE4zgl5UH6JaYHYsg4mm/Emgq5SEm559u2xjDUAF+CUg0uhdQ13XEqJ8RtMaUFKIivbe
tHVuDI9dsd/1PnxjD+UPFB7JIwhU9F+QDZx79oCp5Yfk7fJvWPHz5CcICWFLG2ZWSpl5ajMGBsCm
qnoPeeXY8o0c1CKby9bWCqy2ZgLMhNeJPqODT8O7StKAdAY8NjA4FCu4vMybAOCt1gJAxyunxLXb
mYbontR8i6kuyVFYSdJOzAu3i9rpcUKTGl/V2CpoTUGKt8PkVuUR9U5VJJnwWu5wYk24ZRqIMCRJ
BGuEPHKUGybA7sGcboWvLcHFjgLcTcD/4Wo7MSpcPOboGAbGBIGzLe9K1iPJlz0v154vJybmPbW4
oxmxi0xJ4ZeiPATmtrE3JGS+od6awXsyDwgqbv2LZApGuzDz+4aJipllF1UdzwLhaHTd058q+zZW
z3Yno+paX3Nq6oiq8x4TCV2hH5JV0YDf1pavGVReu+/mtO1Le5fVz8bkY/OBb1oqKbJyimzME6MT
MjfXz7jISGQWaWhj0ccr9bfxrQLX9L7yTS95BnvftXaoNr0KOlnJYVoJ7HjGq6g2AJ6LcCh8hzBW
eK7oOLvDdtzo34MPfTNBAQjzfOx3fqTb7M7Bzj7ED7Lrc9VdE5S94F9DsV+8PdXRCCoNGiNeMLgx
eaWgi+Dby86t+oanDdi0UdK0RMG7VFHJgBlYnFSd7KzhJ+Z9R9Z4Q74b4t1lUyup2szK8seUcGIq
8GPatICpUPNTBSTKeyffjZbEoZU768SK8LEgNDdP9cGKnewG/a6xZWwJqx9l4cbs5uJU9rFZ6GUE
A7HuUfYSddtQNjSwlrnMnHFoh8y43zPphDCslTrqQNdvReoG+hOurW2y5AeGcSLthkBWI9mCjgpS
OjKy67VzfWJZuKcUkkI7mMxCAdVDi7Z4BijLDxQHJ/QpSr9Gk05W3lo1iQkCHRxqM0hcfINpThyk
pEOjBFWatHkuIDEFfsoEnHFj68YgFlNGvB/8y5tx5SvOYwt/jIp+qnY8JjMPbj7dF/Re1T7p8POy
iZVL8MSEkH7WAZtINcAEsz11dGvLpQcGkoDRlty2X7hJ4RW7tCQ265qOm+DNgSVS9s9mW13FwcwC
F4NZeMRCEp+Tzzp9p9oTXhMVvcmGEPRewN3YrprErm2Gh6ijmHWvfUZf9EAFSenPCMJQAFG6nZnf
D715F0PX7fICrQSEk58tJilRF2pmg5/doZ6hF9tee3WAl8w3l82sfgfo0AJT6IB6RqxtMiMMSswz
omxPJ+M1cpzsg2EbQvLYICGeISYiO88pqNVUzJ//90eWCQUxnGFtHmVC8BPCRVplkFGLgNhKnwr1
Ok8l3p1vZPx9C5cTTJhgGp3/fRGOsg6kokGMv9+gUYuhW8xRJ1tHfb+8hivoQpgBcBeVEvTpYOvU
zAz4MAsTejFp9DjP1SdblewG5lPGwOh8Z05+1bmWc8O96tk0XO55umuW20kWGtfcpZgzR9oxc/+L
SFQello86nC3Kn4XCb3ho7IbW12GlD6/FsFShP9gspeiMSZWGXmaa1XKKxThRtd8Vnedr75mV8GN
dWvWHnet2+xX7mXX6ZVMee6La+f0LMMy2FNUcE9gvErESE+q2iqligDcUzqFroLn9acGuOE1xv9n
puKUA8vPZ97iqCDNQzGkEAqaMq0mvhZFxT3oHpBjs7SJIL7kNNQnYDXa9E3dASFP2yx3wenBMMxe
JeFzYLXNcz8V+HZETey9HsSy+3jeGGf+AOsNIjHUMzGWc7pxqjZLqRHX6LQbDLWZ0mo3qZNqnqXY
tlvp2c1Yp0jRU+jRIM+SwRnPZ2SRuGEkCG8hNLzOxyC0IAXOvMbhjw/6R/CduOWNghq14xkH8JC/
dyhR7zGBnrtX2Z1xBG+LJB05j3En9r8uv8XxVDQQtKkO7BfpJ6PXQbTrgjczk6RWq6fir5df+cTC
CggLutichTDs5jEBo0cNJU7t5XIIWDsSmNMFwhaUPjPP+umHbBvw45ekm4eAynu9NW9Dh+xoMOGK
LlxbCSQX9HkeB7wwBqjBlw160TOmMhBlKExr4RLGnyAfrrt6KOm1r1pAvRlZFp2vBTFyBoWu6+Gc
Alh06xiYtqslEgarS7awIKSKYwWECTi20T4oHroAzJJPanztJKBjkc3sn99xWC1nVl9FtQs8L0J4
boOuhgBWj20+HTEOoFb7INzkvWuCAleKNJ/f0+KRXhg7I3BHZlPn8zhYXfmZftuPu6za2GAMZXtq
bAfiF81dFmG6fm+DxOPyLlyR1z3x1BGShkDJ5plGGK+OzYM6uMqL442bfvcrvTX9WzC6hb61e9P2
LjuUroaBFvA0ubkHXrNNBmSu5OesHbzlUuinhwJjy0B8zeuuVjc1OprOnoWSCLIWQJcmhOpGGTpB
oM3Tf23qt8NBB+Rx8nuOzuJWsb1GSuu7eizAyEJQr8JmEktHQ54kRg4UqcfKbcPv1eldj/d2czdi
BI//tskhNT5KBezGeeIV6vfG/M9FRxx6FNhNCwh3PAiEYxlUlMUtgb8Z5FCh/+F2uiRarnkIdD4A
wOCLxiSSYEGdyjLR6QyRJVCEyW5BdynZFiv1NziBNhZY0CCpQMTzWFeKWgUJBmagMxDQ62x81Jy9
ktwyvimoz5zErRoA3fBfSftwLRAsDItnM7E6xrsOhjGs5ig7jfyI+VEbX5rySvvvGP4TJ8WjGI8I
ReXsZAmS72b8Xk76lRJG/uUTL/NIPGJVntJxHuYKCXHpdJfm13iJBPSHyvcAOkusrR3o5foJp60F
bK9J1NknYK+sj4Zfxf23yw6t3QqQm1Fn9ToMs4svgrI067riUA+xAwOQlTr6HXXgdeyLadyEA5s2
kJWVcSuuLeJcpkODFah30B6exqlBCUnkzEC8LHniHGT0nqK+FJo7OiDder7s38oSgr4fXPCghAef
o0hMbrSdVigUtriDwq9u0OeS02mbWtEoOWYroXEmP0GHEQ+7mYjn1CumBnj4QgXSi/LI1cboyIp7
DDMdFa28KskxVMnWNpEeX/bv7PuhrI7GnI18EmM44DQ9tVqQQAeoPMf5Bf6raL9VX2wy0SFv2RXq
3ofL1s6+nGBt/vdFaof0KKZtBWtddVC0l7i+MvvwYap70C7ELrEjSXCUeSesaZ5NXRzVsJc2wzaz
yH1JG+gUpZuIx8ehAOPgZf/OEuRT/0ScmM311LKiAv5pHHXO57r5rKxfg2w27LykJtgR8gZuB1Fc
5rDDHf2jSeLQreNcuYa++I2eZdBWHgYKuuoBegkQuthwvftUeJlIwovMWyGYNZE9atrsba1sddsv
AYltMcozSCnPVz8jhBCwP1EOBaXy6baBUkKmOyM+Y1jeZtV2SB4Qql1av4WyDvzqBl1YMk4t9Yrl
5NMAS47+ikYSiBFzoK3A5d4mtst62ZlfXUHQnKIcDh4QlCNOzRlKn/IIrHYer2Ap0vwMB5xP+i3F
1PQ/bM2FqfmnLI5eXCelWhKYKi3tyQYrXWyiEtnTQ23KZC3PYua8OxemhJjSxEqe6xyLaDDnAWSy
wL63Pwy7kXi0fgoWdoRoEhvoxvdh2WAAdUMmPwePmB6Wfo69UaXPmMXOINKFiWxZqiD7akJUSaxw
aIsaS1kRFId0p3DTugUGvvD73JSFlPPhzK/VBDONBjGSeWFPP1yVFeVMENlAeGf4nZaaB8DUnT2w
A8+i9yDPUG1s2s8YpCCJk9+Etgq8SOPHVeCjVfxmYG728kaa7Z08mE5/j9hH7xQrL/v2a9VBzKTW
nm10bhpSsK9sFeqDo6ds+n+INLh90TtA3QXXvrCjlCI1yZDX+NJqAZmK3NoYxehPZe3jSpG8c89L
+HBwaUzYVmmnFDaothuMpFyT7hpMjkZ002d+Yb2A6jR13kI0Dy6v6XlFUrApfOSsmjhGBmHT0K7y
6C7jWMjS5/FTgjSx9Y3ilqn7JN40IK/jt6O91/qrkD9aEfKr64jJEJ9rJ3ixBKKwnqJADoak+DmN
yT76pPlF9WRXDsF/fR19eQ0kIqDbs/C1EP40pNokKmAmtgDJoPk31PseLq/s2tWBesgfE0LYcxih
AaZvsLBx4zbGdYPLf1LuteQ1UCUlGJkpYZNSh88KrjgYNWQCw+yhUaptaYGAPsfDVrJy6x/or1vC
HuVNGGQp8EAeAhF44H2mAMxnSMRb1o3MFOYoN6LkLziUDI4dNQpOXdIAyxKHIPMPrkuSSz7R2p0L
JsM/ZgRf6igtgmpqGm/Kb4f6mSrNe5Mfi5RvKUoiIWjCJVna6sWxtCictgkyZmrMYbHNQXVb7J3f
cI4cx9K9ihRvAmtU998JSxFUZum0L6pmUJaeRnGOPJS3A9ZSZfwmBlxLsfpNyo8YQeZEwgh/jrqd
z9XCmJDFlCnLmRnBv6gkmwGEvWEGMHVZe0G57Zjmah3GSl4L5wHTrpD/bTU3lXFSrK/x4jcIZ5vl
U4pqMRym1HWCj8F4BNlixiFYgBsMsht97drGXWN9u3zepXaFAw/5ltBCgwCnELggdB7U7qEAq4i+
LcEgrKSZW1JQPhm+hszgsunV47LwWDguedYpcT7CcomugNpdTXTYdbIXzfzpxNsXrSIESyROqJEK
mb/SQ1NAYW3j6ZPqgzEBrybevl925CufvmRESOx7p+aWM/DG05w7MKpx/c1xdrVykxlHsDR61Zuj
7xp+tIuf3JEs4mowWPgnnBOlSgylc2CapByUjKo7gTYlxEgDaISpsy8VS9ZVWctnID1mQkgcTVVw
nZ6eTLPMY5VNsKiUz2N3yx3XirZB2bspqdyW7+Xj32eQ9Pl4/rUo3q6drafNmMNiZ+24vqHF/ZhM
GIwr/DycGYwwl1qiNyabVlndnwSKTYBuAngkjtpivCfJzQEtv0K5aYaHJLjN2eHyzlndnX9NiL17
1uZVMY8yeRWEkaDP4PepjPBP4oUII8q0oFfS2QsT7fw6KXw2Xofh78t+rOeABoSKZoErqK8J21Bl
WhopNqykSfgN/3+n1fa+tspNHEzgOSe7nj7k6C8h8ZVxIq+egIVpIXhPdZZNADDAtPZaDqHrpJ3b
R+2hDb6R/qOpZGqHq/t/YW9e8MXDsAJsIe67eUGdaUemYQdO+01Z6G7mdHesojt15l5IZbyrMjeF
OJ0N3UDU2azuKK9K8KNLqxAMmOO2IB9al216vZS9F1e3DhrtX3PtgOgKH7UNjczhE1Y20setrg9Q
jixvI7CH2fZ0jLWXSBv3AxT5XGuMSuTZANM6ypuaOK7dBLuCykZKV0/LTLitARkF1nYh8hjArLex
adfeVA27VG8fh5BIDuRqTvrHBFWFqb6uxIN0CmGCtG5vHvF4iZOdbWAUW5KQrr2Jkdz8jy94O5zu
IqU1rcwZLKQYkCuIAPFr0b3CCMo+l7bs1j/jX1PC7YSp+iJS58/Y8X1HH+z+jWuyS+F/CQB/jQh7
Jad8UkcOf6yMoZoHvQSAcJP0KgrQrMo3GC7XGZ6/jWyURWpYOP6YL2hLiGHCO5WDwxpwCAKKqX2H
6R2IiYx0T6pjZUlScNmSCjEAEpSJHSswmuu+BeB6wHZW00nS7lUjmMwGnzj+B4jm6RYheZoN9vzd
coAzhqjcGSPdgLLHuxy7V7f8wowQWCqdjnZMYQZldrctf9SYtWIFUGvxNggGibHVbb8wJuR8msOt
oh5hrBpzd0yPZWd4I/veFLJWjszQHE4XUZoyrcYbCYai/D7udxqcsmyIjks6brJvJIQks8QFkMTY
CKqF+gfLnkJ13GZV83T5G62bAdAao7MYCxPJzaqyCLNmQljSMAzYkxF17KcBbDv/NytCoMiTsmZo
fdTewM295oTPEDncxbkjeSav3mQYQf//zgihoo2slLW2gxiLd/8U7owg35jRnuM5WTF/kr1eZWsn
BAhIQPZGW8AcBhpD3Sv1zo0jGRRA5pNwVlGsCR06YOkyoNb8WnfCGHoX2fcotacNB86ywQRUTzYk
ndrny19t9fxSAlgOkHngJxD8q6sm5dQJYNq8RnY8aLVPuE9CT9X+pZQJ9oM/pgQvmxRDJ3kJUxpp
bwgbIaH2OGRov6kt+9HV6YGggdmXkBm67OLqJ1zYFUKUoSZDFycKch/sjhYsRYBes6GXFDJXv+HC
ihCbSALSbTJ7Zxs+Tx9LsKNoaKSD+rusnY0U2rEaoRbmhAg1tV3raBmcStmmQyG4K3ek+TBoK1k8
mR0hRGlp39mVCrf0irvDnDVWEYrPyVNbxLKMcc5azh7Cf3zSxPQJQrBZENmw5YQvUX8IwUOZQGyh
9aY+cNPkaXI+B/W5MGQTk+fj6PMTcWFYSKcGhaZ0ymA4amyA1j+bwGFbe4DYFEJZlSi7rHzqutF1
OtvvkayWHdg7oOWlE3Bad9YjiNbvx0yVdXYubyk0xk9voZxbBvru+MY8fuHdtWk/8CK8itNXSj+S
WqaHN3/J89XHvDp0jTA/Kg6sE20syzpFEKpT1YUySFcMbkQaN9cOQ/59TAERDv/lPv8ayYHKAWb4
hIgwJIGuRzWCKx7omLnaNPxbQ35XMpbk9QrLwo4QAZR2jOMmgGsWuA3yQxaBSO9nWu+z7mHUdpp+
GMpfdftSpQ8Ym/EvR5/1EhneAioapyh6iJgNo1VC3vfYXDXfmPX11G5AsO2S4lgWVw73Y8ttq9pl
IBy5bHiO3Off84/dr8nGRQ6Ts6kauwROT5rupkD0B4PswK6WVv66Jk5gjp3C01SDCTsH+B5elNae
IpPFNGQC0aSx3dJxm7L/jIv/Oq5/PRPOhZXnQDl32DamYuHTta9Tne4uL976nfHXhJBlmDRqGxUi
AJ5T3NYQEv1/pH3XjuQ6tuwXCZAoUeZVJpW2srzpF6Grulvee339CdW9czqTKYjoOTPYsx8GqEiK
i4uLy0SE+bOG638dZPnE/QVh7l4wDOvCCBZmCzU+UxF29cxTQGSzxoapw2MT7ydhuw7JMwrmxCW9
mGYtAWTmoYdZS/Zenv1Yh1i+Mf6uijlsquyhKUNHUFuilTirTpmXu616CsFG9d8A/Y0nmD2CmFXv
KTLco6JhEjyNfItkutMNmZnryts61qIrvvAgzO2u6CVp1NnkQHyUqOghi19rVKBbfdP6GEfjTYgu
fsMLOOZ2V4taggIU4Pz0dxneKYVV6ueMclzTojFcoDB3O+RAVYxsAaWLpx2l7S+pJZxofX0hKDte
X2GJGBlFFgIiLCs7QHQiyGYl3CflZn1/Fs+rPpdhJFFRDFYmBBzcpIlSTB+SIT8JinxSU/FVrbTH
dZhlZ36Bwxg3Zkji1pPhF+T+DaUsSXaicCNLZkN9R6wgF7cFI14AZlMO7mzLN878ApexPzIKdd1O
8yWClqqqK/feJJt4PNpeNphZXDmB8bPOgq8CMjNFqZlZWx81DaR2679jcTsvfgZjl7I3ZXLfzBFJ
0u4LpTjUaOpKh8EkAm+EeV7R2ooZ40wNWvR4fVVWm/6iMJwqwuMObcX9G2hbOV6Rs6wbVvw69jI0
4uK4VRs/CC1gGaMlKhzPuOhE5rsLnGMgydGZTVSUQY20HkZajq5S/0anToEhyVC0afNSiTXndC/e
LhdozF4ZrRY32oC9EvsfpHpRuwMxXnsvwMzCISs2Y9NyziAPkNmxuPYEBSo9WF4Wmb5qZcJJwvBF
ld+lskNVR+algxb9198Vsg3LNAggU0QCHHodtAjINExR87xu8MutIhcYzNPAq9Hukw1YlJiID0bY
G7OcZ4fhVtLZUjLclX10Fpv6q5L7ydKU6aX2pp2ge8gfhuewmtndqiRy8kT2IJEOepl+zMEobkCa
l/NLycKBmdUk58Y9OsuTM67WExoxhYiRlcgo69e+i3kvDEflxZZEmMos433QNa5SxGDUhKeK+t3Q
GLwk0C3xAL7VLMlHQZ6O/trvUPwi6vQL6Au3856MFihmMQZqae/4FxrFtDtam43zIX42lvgoHDO3
eQFrTPIgHEd3/Vss3QaXP2I2nIsf0chg8igEfIoSVJhDL21yxVJljeMMl1BAPPWf42zMG3KB4mHM
EPLFMI1InPYC6kZJodz5JfS8/301lzhMnAOx1KiINBxkZHG3spc7pYbZA4WXhF/2TmA40kRUZ1WW
Nwijdjna2rAcTX3p1MmsU7ttMJg5OmBvEVXeLPzyVYqhbSjkgA8VXe3Xn8/vtcGLFVhKEluJNpp5
e0xRA4bMxBCc+gzyipEpNKAwopyTsug2LoAZ6/BDQ0hyNGxYo1a6UFx1e57s1uJ9coHAHsUgpQil
8CkHHSHwtClUSGFq2xxi0+umsXhJgisQ0zaQ00MC7/obglbMGPIeppEFj7R0QjRciIhKFQfz0Ryo
RWu/gGK+mjeQTsyyGap8UKTeVGsR5M4R5w7hoTBfDprgUK+Zc3VCeDTQGBCi25NLXrt4UaG5GRzG
mozmfwYEYtZCKdfYHglkyn54HCG3IYLKpz4biRPFiVnKnJv/ltF5dovzRA8yrBqFjtL1RhVJF6ex
BsgmM+MTfRzv1ef6jtx7G9Gehckw49/t/D8I6tYNZOlQX+CykQ2p4iySvt9I007XHIrG2eie+IdW
sseIU9a6HZi9XiRbZ4ACb9whEMZd6Rqm72i+6cP/Q0D2Pt2nEGMzJvNNNJOXcgNx8saEcqrAeW4s
nYfL5ZLrz4wishyqCsxnGjZtdBhH5Jaf9cpWpZ/r33WxcHiJxJw8mhoZ6X0gkegAl9yOrS2LB0rR
WSJvK3VTQiO75M3z3XKiMV+YOYS63vmkE/CFazM/TQjzMRVqDj4keMzgrXnxHg+NbGKmxf7pOT6v
ui3zjIk5N2SKQ7GL4LFBkrfxntX76K22NSd0UIVzfWzoQ2TrNsTld/SxtIUfDVgr3Pq9gHUXVr1F
2GSASjTabeWPaiM+CIeQ905acu0zoQEEHAkEVdhBY0x7TTH07nGHDXdeOIC2gXdtLTmoyyiL2fcq
S5tEHHF5ZJ5Jwa4ipK7HHVRYTFheojD7XCU0VKb5ikrh0KFPpyUnME0owS+5RS9FIkBLxSnFl0l0
e2NDR9FZt27eIuf77SKyUVDVReMi4KX8oRcwaoj2wTTjFVkXI4DLVbLvoSYVoAcCe0L6odI3dX2c
+ldVgLh88l5HL2K+peWunB7XF7d0OV+iMu8ioRjQ751icUop7ONJO/TJH1DRvtWj8GsdifcZGadf
dWKeZWB9t7TxnkovY/fUeH/+TxDsEyhqkzbTfCyGxJNFQgLa12kzJZm9DsPbKnZec9KNgLb9/NHA
yobsAwKNVt9V5NxRp5d+RdIhl2xRTXfruJwvyIbYfjB0khgA1qfvFVLYnfRAyds6xrJX+993ExuH
Uh3cBGmBXQp7NJN2oOPqhXdd7w8VJZ+R/lTr4XYdcdlL/UVkTvdoxFWieECsypMnIsRNITHCufgX
MSAki4FNDELfdF9ltV5L/exBSBvc5UaPVJCh5O3X+koWv52kGLoCcjOdst9ORLcThDdmFIgqj4I5
Qu4pGW0iyJAoOvtInP/f8Jgvl/rTGIOcCB6jfKyUsxdv4vEY6R+p9zCAlWcdbNH4LhY3//8XXlAT
wygWVYCNHeTRlV0V12AB4HSPL3qjCxDG1cZ+16O8DxCvLx0QXFliaCDXoJ/R1MIxO95mMe5W9bOI
xCKgwGkqG2jPcZrpcxyeZHIQGk41fPHb/U0DsMVEranHIvEQqGhggB77vaTbYcnjG1gOOC9QGHPI
FLzy0TIK8bxTcK620xb19l16KqBcFZmooeRmaMu7zBJO6UZMzeSkO4Szf7ekO3NIdvEbGCtpWgUk
MTGOQPd1hvqR/4r+xV/vz4RC0a+0O4u6mjVZ45vutJa8n6jVbBTOb/h+sLC50svfwBgR8sBDWvv4
Di34Kuy0t+jjcKjdbht9ll/BgwziTgeFe8lZPyDL4ejF2hmLSjIyqnUJXIhk6YKJXMuh2ZJf3q9W
NlENFzfELD/R13Eu0DivOSmv/rh4eC7wZ4u/OKGeosSxEQKfPp0MUHS8ecc+crD34gYibI/twXsk
d6CZ8T/XF87DZS72SK0LqmbYc5CZh8iPKKdJcLjivhyU7yfIxeq0GPMIg4zVhdVn5B0gFhFHnTmV
nLfp/GNXjOf76r+AIbT25MiYPyJIgZNA+y3jDQFZClOU/0yBiGeNiBw1rz140Rn93bpvFowLVCWb
qqAbgdoWvwRPsZMYtDMJCO6eVeRIw3qzvmM3/ghUznNiFORf6DA32HH/qTDUWBRA1h7ltQ051VZz
C1JyzsN3lenqU86E0WRuJUG1H08Q5nEAUUo/SGeBQFDWjo5yArHyTrazA4rgeBhN8AiBPVhmnlmo
HWau/XNv6c5+faW3GWvmRzBOMdRAEqHMQo+jC1ZXaKJ/GgfPrk/hLt8ZJxBn/Yp/H4kZnwtb54TW
N0EHA834Qgz5BFVczUp76mgOYJiUe84ddutuGYj50FzYjVxWeqfPwtqgRkKmRvnxI9qoH190r5+n
LUTRH5pj+CN9yJ+bu+kThVpfsSTH47z+Z7+2ts+M39MmBKaijB8BEtsyuo/EjSRv0/SYQyGEs5u8
T8q4OD8RM2g+AUozkw/MVKmDWXymL8fuVfijbxU0CTja/TrmIiRUxSHuBFpXxJDXnzjOhmzUx5k1
RQITcmtYRcAJGxdYJ7/pgf4Xgt3FMBQzYQJEntjSGQMPqdvYgqmdn9EO84WZ6j/q81tlCoZVOalb
2n1h6mCg3oSf6l17iATOV77xtDAqFaxFCli7FOiSMEWeuI+0Qi5kKMtIe9LvM8UZ9T855cXkC8tG
KA5SQPwvxNNuWoFokrZjKBow3ijMN0brd9sMTQWTqWVU9W3NCPRTKKbBnW8EbW5XeVre9X2SPIWT
HO6TlKS560E9IDLLEkleonrJExH08kiiASreRBlK0GhR6OLWfV97ZpSDedNRw3Ak4PcM6RMY7SK0
DNZE3UV1jYYdIZEE3mPx5kKBDBCm5/EqAHsRNFAYL+iNse9VFVYpx1R0xj7zLKWuhV3fzIBlAyJk
0isuHdveRSn7nwcDZ3hdA3kSRq9EtJVdm2+q9X0YF7jLQkLKTaPF/rs+ygUSNhVvzPT2VgHUzB+D
Whcor1RmpYMRSVEWQQkjadEdqElZuAsKVUcud+g5JroEhZ2bZeIMmSDbf72qqJCFvE/A5xyMRX3I
dbV4IFGjf+qFHA4crNsiHqYdVYw7g4eKgCWHJZIcMDzb10WJa8rKno1zvh1sKtltAg2kOjLjI0Yl
NvHRd3WbOokDR/SWubzM9cKCr34D4/ikuG16v8dv6KIjpa+B9hGDlG7d0/EwmI86xqLf5jowpuzs
tecq2ETh0zrErTO9+pRsAr4aproRJkAo07iRpGSLmMf+dwjwGGEyG/+A4W5e5cWVqPVKVoLtG88c
MHCGqnbfZzFnFbcJye/5178YjMPuGjBtNgIwSicJnOg+fdGP4o74jrQ33MCUCnPibc7Sl7tcFnOO
61ALwPQGyGSqTAMMtR0n8L1t+2UWxZiYj0RyLswI1VF7CixSoVpBHxVbNdNNb9d4vOlnbZ9ZIu+9
Nv/h6/hhnib++zUZuxPAZ2UMQQVqwYfkfu4jsPQPeiD3oaXvNAcdNRvjVXrtTp7Fa/laRFYIWCtR
+5JARHVtKyrtoJVUAlnNQ1PJnqP3XItNOtgo+IrD57phLlwEIDMA0+4s4YLAmwGDezGStmogiiGd
x27mSUKvnG8NKjT23NHDrCNvxGDpQOPTYlwb3TWQuGccchsFuVHk0B3OEPqJwz6NfmJ4e31Vt8EC
EC4wZru9OG6VXAmg3gWGkJnhn65+E307CngH7qa1dq7DI3kHJhpoFKKYcY1S00YnVBkyy3sR98WT
OpsF2ZQ6qjsj5xm9sE1XUMyCgp54QyWAzgcjIIIamWnwpIKQMjBMSUUS1ConTpVu4QviaIE1leog
lJPY6cWEdga6hEGDXxTnUu7NWEFmFy1RBa8nZhEIXE/o7ZAxAs62NPhELbUs7lA5wVz9GEqmAVJp
EBY4tVI+rlvFgrcSUdn9DxT7WPcKJRenBlDjTMBUZ+exLT7WIRaMGxYx67uC39m4ecOWSoqYrgBE
3/l26sn3MfJNQcxrnlny9aiMQ6VUnqltsapr02vRH9H7yZhi7GLTTo9hchCiV5/sKHQ5QvRklIdp
sProrkjuQfy0vsbblN6sISljrygIiGQE49fgakO1OPCU1CIPKKsho3TUd07sxi5yr6M5bowHAe9Y
aKa05ovgepyzvbSLyOeJqB/iDU/Yp48oCFoXxjS1JMyhpi2ORLhZX+DSJmLAfW4BQNcGaMiu10db
mnsqnhYgC3ml+X4iD9xQ8ZaQZP6GCqirkfMAgzWrAqeE3aimkoq3KT3EvW2Y2aYzh4fwND00aG4Q
Nj/Jttyur4ssnTWQZEPlRIfiyc2Q4VTQvKElFpaatdnu32uniUwMjYDQrTVT89zZxDXu0MB0520r
SM3sUiuGtJDpW/6G92NuE5PzF7j4MeT6K8dTWhVJjR+DhgfJMJE28yz0HJjNfbTBc1J81x4hXo0H
Umjd/eJ8iPlvM5f7FTbjuVvMQkigfoDy1Xv8Z9zbku+UpnLffnzpvyZ32KIHZNsfVc2MHjQ3z03J
4vJbLRrZxfJnM7+4otpSiYpq3ovcMZ7k985EUetEXRidNTjC6YE8FJx8/20/BPTA4ZLwjoZpyyCU
ZiBx2fd+lUNptnFB9zs69Ql5r3NdO/H9wAFbWN78StchrzmrkLMyl6Mf59VUoSDex1sxFcxp2oYQ
M13fxwVXAL0+tOvACyK0Zi9gneZlWOgSTGiULEwNgnGYg3Cbtke4Pg9n4xJEyALZ7utv5kFVq85y
DQI6d7UbvCm96R1Ja4pP9/F74PjRFgmJ2lxf1tLRuAKdz/GFbRAhSDM9BWhv1a6/lUwd8e+2/ije
tBPZkjM4bqpNcEoP0qxSwAFfCDWgHQ0KVPQzqgTx3zW4ZkxD4aU6RDNszy1P0U7f+4o5fJJ7hIUP
2Wto0134Eb+FT5HbfKyDLzgokNhC/klDtxygmVGEtITOQeAFiA2zkxfcheVJM/70hOMHF8xmZoRX
Qd2sIsnzfb9dfF49DrMmzjC22JevkvKuJv9u+8gzyMhl62jyvUk5ZHXbjCDZzkB7VJp9bJPsjGna
9S+1sEt4H8iwfBD0yLgLr3eJJJ6i9t382MNwXPrc626ugdpwJ9JHD4yLArfSuuQ9QDUI/wGNTMwe
suMbYdqNoP0dM6tp3N4BXddPo7MzMwL7Ou8FtHTqrrCYAyCgQ4gEFbAweZzepSf9V7BR7XZDNuRs
gQP+JH6KvJfmglVcYTIhlZSX0H6VgJk7ASRBclyRgR3DHcun4K4x97rPO+YLPvIKcX4IXtihIEoY
em4hSKjhAv4SX2PfasxxN5q1bTjek2Ql+3bHUyCZl8FcfVegjOH0NcnBFDkv03iahAPGlnrVkpvU
zNBiuW6jS1HqJRabWMnTjqrNACw8w2oHIkmoNVvKU3aI7HvtoX7y7XXAxQ8K9gRYKRyIxOaIQbuZ
wauJcJbtaE24biLluUTr3T+izIo8M9MYxkNAAsgSRIuiJ054pKCFr4lBS20XEgZjeaxmN0thQBjb
KAsQaXgDQKgHpSzoA8uZW/Mc1Y3Jz6I/EE+R8QzHRBb7yBOlflCHAao/EYGxy3bvFxwTuHHo3wjA
gN7NLC7CZO2btijAfg7SuaE07Ky0deNRStA88fnPW4IIAGIi6IrXRKKwt3ReFXhHFlBJwgR8Ug6Y
4Hjz//lZAKkXBSRJkohdxwOEWYtQ5wGtNBCfZ4H8ILedTTPJJT7HDy1s/BUKuXYKY9J7beTNKHK8
w1yvK4XtWdZq99+/mDIzrqGmoiANz7iBbkBSXp3Ard4l9NgM8knTMBOctv8FDEWOmKDXE0y9bE13
nASiVhRl8Roy1whoZpFogce6PZ+FK5eGjYG6HG5ByClDHYW5LUheZsjoq1BTpnTTG6EDqn2391W7
TqLHQejtIOBlvm+uXwaSuSwiHQN8Q6OBcD9U0JjuhMVP32vseEDGLtkolQt9zvUNu/HbyBqjgIEw
FIJVEKpkTFybcrWgDSqqul4jqMbTpC/A8VC46qQ/dl7KiZFuuwlnPES8SGyBdQHZrWs7DDy59doU
Oh29V7pt4hTqPjXcHG342kscv0rSQxC8Gz6nMr60SsxFKQpSGgieWGEuRFV9mFZItsrV3g+sfGjM
OjzUA+SdO06Gd8E1obqHOJvMemN4FF0vkGRxMpU5oBAE71LZO7ZJjNnX8k9rNA/re7cERRAQYvIL
twYup2soBbz0Pe1gLVTtRIyOF+1JD8bmWNSlYDb++F94Kgi8YNoErDTqXPq6xusJGgs9ggNREdXB
xIOpayhH8hIxS3sFBSdEuUjGYKBTvkYxjHiE9aCGmEuxhtkZXzPR1foQSomC9ol8M2bZ+/p3XEaU
57XNtztbyyu1qkuqUp97N+jvZAQxn1Kak1/VZqTHm5rbSM7Dm+/PiwCtHuom1wLgFWn4Rwwaq86G
/QBFdQynPKgVL15acP3gvf+7POaIj3hnlkmMD6pn/aYQniWVbnKedvQiCF4/YNebSUXZdtAsHw0o
92INQ0x2pfzQoDtYleJ/v/c1coHCfDk/bas4mnt5hoBsxMp7b5vyJE9fflhxOiGW1oNiK5wi7hdw
mzO2Lk/gDZmiEZ64e0x6w/IFwQx4znfhhvmeQpLwH1TM2atfiZSx8iCshzFCyQ7ENzF881Blzbz6
oQx/phrHXyzCgXdVl0WQaEEe+NruxiEQRaWYb82p2GvxMZF/VWg9VX8Xvb/r5Kf1U7UQBWqQqkEQ
gMAGX5Hx9JXYt2LdIeKIDeNLAMmqnIWcF/GSA0R4JqPkgzDtZpoLh0hUSA1fizTOTmwzu+3HH6hp
oAORcu7JJXtAlKahtDSX/NmCViiVeMNpaFuJtC3mGs1E3M4D8Ouf7DZ9i9vxEoW5PFQlTDOjxIKa
REl/CRNV994gV/cQcRxfJGHStqiuFC66VhIk57X6EBWolYNqIzLOxOi7JzV1SN/t1n/W0k7iExvI
3YC594ZhoU2KKUsCBQk+w7uXw+J+KF/WERY3UoY0NxwI3ljsMCPxaWaM1YwQlnG478RUitxBlsA5
FRXU+9kEHS9TugSJxBtUTqCYKcKErg+D18iyV1M4YUxOvvfi2xTLDwXq6ZgDSDfrq7vNcTDbyhw8
IxypF6gwHgEKe0nvqq2jThhsCEw1svNSxniPW/Pu0aXTjq4mXNUQBFUI29wpCX6lTRSdTUXV7EJV
3k1he/SSYTvClXlVu4+Vyl5fKA+S+aZdro5e5gMSUlVmo6jmoH81np34noOuyyz8L/wZ3pcUolF4
ZN5MVnbj2Cm+AH/WZKHbauJ7Jhb7vEBNViOnZgQvUao56ytcshqI5sqzuCSktlmnFpTTQCMDIZeG
Apwyodk4zQ5KjjqLTjmpuMVQGedt9p8AxD/XFkq0KKZ5Cwv1ULqR4x5Tk8D1N1H8NWhgU7krvSeN
bLiTxYuuDhYDm1HQbcSyVgVol51iZW6JqzVTytL7qok3HpfDZykKQnb9PzAsSVWtjz70QAEjVr7j
N68CihZlvgnGyex4/HJL20YhJovuMOin3RAA+1SQIgIBWUT+XgflYf2XUfaaJTRDADGz2F03ksXz
fulbmKvPB1kcGrawW2or34XVY65ruRnnvZtQf0Om5GOYMNSUnsFjxLkRl/YOHRCoSCBwRpKMsRmt
7DLPj2AzcUljs6DKH6NJ96gsl5xIbOlOQE8aXPX/4wxgXFrYyFk+DQLio3b8yEsjMOWRJwK8uGsU
+hEYfgGjhDwv9iJOjtoh7dF6NEutjiaGjcw8inDVgzCbSxN303MBD423PlI8cCMzcfU1lJ4L49RP
aOdTm0aX9o0h+8kJwWYxmJANNVQ36KJaN9WexHdKQ4NHEpD2oLdVwMnT3K4Zzzl4FvwSpFB0tgxN
5Z72BaIAC5UMp1fN0QPxekPNLHtcN9Lb4wcgHdUnBR3rmEtnVix3PW1lA5l+rz5m6o8B8kZJtsVT
FR1lnLDm1iivoeY1X+wjtAwLGTyJGVgxwbhvOEaOMIoXQvBAGIPsKK1LaW6FSzH/XH8aQmfGlBMI
LWGglwleEfkSzNYxpyvUu0ocfLTLgPDWVpNum2rJRhZ4SZIFGLRe40bTkUWQUc2//l6jhHChkJBv
zmrtJ6hGXM2D//AL/59jWrw7/uKwIgKygHRYL6NQoKYQESiETS0MjkcljjtcXI6Bmexvogq0NV0v
RzBQ4alLFV9t9DpL1HPdNNQ8M5uWJ3O04HghHolAFXk7ZHrQ1n0N5ZcVznBigLQP2iOp7ugaBmdO
eh7aevVDLYKNLpXWxOshvw175nIfXnJI4mL0gyV3UsM6iLwQqHqSPBdV9UoK3NIielTErDapADkW
33DWj++Cn5DQIKbOkrsqspCMjXSyHyXtFOaWp4mbTv5Mxt6dEGuNlEeeP/+l6zQoDPEvEmsl4OHw
62EAUqO/UN3AFeoIHnWm4QfFzHHjlLzywa29wBejTQYpd0277XemYQGSZ9SqrbhqXpBSgEIAiexM
LnhiZwvmAoRZ6h2OH06QbZ8F500AbSdEc8gE7GU9AvG8XzpeHfzwuv7XBGlCzPRYJM/uJWSE1jeQ
91mZU5E0uYdeeXzWoC5NrUcYdxf1G5W8hZru1MK7pnJu7EWLAdOzakCU5DYGajWlpUMd55akopsq
eBjIaIue2WmcuHXpNKDt8//joJRwfQYrqOgVnoqFgX0Emes3xZgsL7IE+p4ab7rA4/G/DUQkQFED
B3++y1jmEQ1jyIFfwVmW6oGADEP2/70wJ83CrYgdUQWYw6rrBQ1lgkRDC/9V6ETEnDPmDOMmNcxS
KzLOqV5aDHLHYGD69iZsMRwVtURIiIbGZ78wKb3nhlTfUTVzmqmBotbcXIoRDTbQaSsxjisPvmqg
dWYWHj1oKW02whidA1E4p7VC9x7pj5Ig7HW92gkkfynL6VQQ37eFDL6mDu5RQ1IQy3b7nEBNWUBE
5otyt1k/IN9zgDc/FarKc9kV0RDbwtlXHZro4iCH6qm6KaR0KwbogFVFu+gMKxwCzF95ljh8+RO1
I8m3jO6fe4rnUoEMWRrkypAwY8sGdeGhAjlCVi6X9n6nmX71SCServitu5tBDAkNKkjma2zJLE3S
Mi1GH44ATsirRVcleFpm2/Wv+V0UZ74mOIgJResU7owbjbk6UaaIGDiWw4ZuhLvPwU5/gk8SrCxl
bbrjV/X2ODe9Z4djfK7M5PVJeA72xQ/N5jaZ3sbaWDDeznj5aRgxYcP6NiozSY6x4HyInax90cZ5
DKoZthPI6aqqtUevepSKSjcpV99y8WPj1TmjI4ZjRdwRdpdySIGtRMbPcWisoZAOScBrc144x1ji
Xxg24s0qyGq3gAlzVJoS9a4Jwo/1DV24P+biJJIRGFyj0LW99kp6WUxxKmA/1epR8e667F1Gk+Pw
qNfvirJtPU6suJCNkK7wZrd/EcQ3I7SQxzDKoaFj59VdPEKqyBoku5/2ivDDkM2mfxE6jtUuJESB
OidA6NxQZbATXXFXGCWoyaFKvxUaV38QndwiH3gPqbZip7vOjb9+rX/XJQu5RGTWKSOmSgu0GaI4
I55HOd8PPj2Hwvu/o6BwhwZd9DojScfc/mppzFR0aQ6WxtGpmnFXVrWNITLOXbzkQ2EgEo49eo7B
Kj2v9nLXjD4eoE6NXTsHx2HT7cCfYUk/8qPyhVF5TumTi8aYvSiJHrLkQGs2mOncqi7kvA7gPb9L
TDykefoES4dMNtBJLSLyRhsA8w37SA9KxPM4ZKCQl+vfeLuub9Jtvxj8/yUCuf56mlbQVkyBAJrf
ZNe8EzCaiSitmqpkx0cID1o/kT/+93odOlpw4xA00+K1dJP3izBM3ak1fJT4LNG9TJw+4dnFbMXs
bYCmBoz4iXjQIvS9XplHK+JVQ59b2S4666dn9RfZGXfTXnyKbUtHpxjm4kDEZ69/0KWzheZCFe4X
3YVwXQxqPAY5GgDgs9LKzirV9GVkOHhpo1vGPWzbJcxsOBdGP2a+FlRFB6dxzkezsxER5pb+jP7a
2NVO+bF6VbflwdhNHNfxTeV3+1X/ro85bbTAKE2RYn3E/TEAeDpnxx5eayM/If/3uziW6P3rIDyO
ZltUzt+EvdO2VvJztEeT7rit8EtXxOV3YI6jKkSqL6r4OU3t0K32BKKSg2oXDnkqcrveDI5hK9vy
GJ7jNwukfOt7vQiOJjAUNmFleEFeb4Kv6rmBlCdOp3poEzetMe7dP8SBnXm/q95OeUK9CxaNbjMM
TOHhCGFENqpIuqpSjLgpLDkU0fkIXuoemhn3oR6aSRRi9IFzIS7YsoaRHLR4gMcUYznz+i+MTBg7
WiIblFtxBo6gRv/qfISqMvnnWUjcfEjmogdtfhYgHX+Nk8lS4QWhOD+/K2E/9aRBSZry+JRvqSMA
g54O1BnwARFxM0czCjRfTUFQbKkv+g/t2Ngauiq9eyM00SE7WK097SEbJZz0DdTY1i1lyc1eYTPn
tYyqsWxLYBOr/pO+VsfkXj6kpanDSI0CFDoy6LJfxLd12PmvMof1CpU5rHpcwmASoNbpYehe83+W
eJi/KPImsH4IVolsjyIBCXeOdpzcEiqnEFEgitFO8izVR+j0Ed8decOJS7HSFSBzWxUgxGmKYgY8
qG5zlI7aYToYjvC7tkcbE3Diod6uf8KFM45MzZyBQuJr5k+4tk30FNK+EWGbWj7sW2NwUf0zVeOP
rH3inWl6kuaCQImjnLa4b6Be1lCRFvEmY/at77Kyj/EsRQjfbDW/v0sFxV5f16JFYlkS+DWwfwr7
8FNaOcgp/gsRBnSkK69JuAvFU4MsRmtV3QsBxdB0T/AgDH8mrdshuOJFvkurvPwFzGbGFLKdZabg
THiTsJe1lpyVkn6tr/PWZxL0/sFBQzYBFSN5/hEXPiwVqOcPdV1gyOVJzFCM3jegcVLOgrhXlN/r
WLMtXB+3ayxm29CyIOTp7J/H9qemuODQjIajFJ6MiLN58x+6BkKXxsXeMZ6skmMJ1oG9A4WbI+Df
ddfstJB3v82XJwsz94JgTBLdkwijrr/daIAKdDBmv4xXZFPolgRJBik8l3m+Wf9ySwu6QPrOYl7s
Eq2mMAxSKQe7+7RNFfAvGJEz9erjOszSgkCQhJYB1NNRcGO+WxJLZdSi3AQlhPSsGf7nUIUnEakX
jPxx7s6lCG2mYKaoHmqYN2E/Hprs00T2gUWi4tC2/v00qq4GJkSkLzZx3GxF+V7CdHpSEtMY7oj0
BJ3Jo19T8DN/VnHMWfrS4/by97CfuCmR5a5b/J6Jem95JzlKJe0hWL2P4uC+RiEhQUO+hnQFehEC
c8j++RwiisDgEF7xBFE560f7joxx36BLPqsNM4XolmSBvwnsilYq4FH/sb7RC/YEHQ+ktNHYLGFs
j4koJtWvxrSAzFc2DVAvccfk59RxnDQPg3Ff1MvjxPCCAlIImTl5bjb6dsmlSFow2auVMCbrl8Ug
SjVWokBrt/kQMOGd2EHkrH8vHgrjJYPCaBulxVrU0cp8dM3tkH8k+vM6yvIXwxtdBk0P6hGMP9Gl
KdJghgXUqEGqoWwNDNCOBseVLC/lf0Eok5sPhrYXp2reeuGUKedU20ajNbScJoTbawXmjAQ2RsjB
w4Oe2mvXWGaaFw0aPphQg/awb3aFXB5bpUjMLiFWL3ku6XlVh6XPN1cAMB2HMBmTZNeYSaTFlZFm
BfrYoUA2GkeoXblGI72s79K814zX1xHWYYZRn3ug2fZ1KDxEEMsrYQsqOY0Tpni9z3WE23tyTnMh
ogJpHTh/2GIiGOpbUsl4V2h6mNp9F4A1PuhTR6qzH/0YtfCLfsrxf7cbdn03z2ZzccPMRdNWyXE3
N2AX0O8i78XwMOb/mGfHgXBa8ReKbuhJA7MQCrQG0urK/GMuwAwRI/4xRiusINR3efAmytSK0tFS
NXDmZXBHw5foJ0+ewYvqbr8sgdwEcm1oeEDHH1u9nxDuNIaC+LgJ7c74UGTHa/e98qMVrX/dQgAh
zT4PUcKts7db6ElyW+eIUIv2fVA/vGrnt68V2U88Eqpba7wCYq8tiMZpNOkRGUjVO7gTzGFw11dy
G+ATJNfQMoUEm4rX7nzqLvaqVropbxoVsdRwmJp7NXOF4K3yt2V/KMjBrzkJxKUduoRj7DAHTW1b
tYBLitEaxd00Vq4X/hCGbRPxem0XsUD1gKZ/dA6jAeZ/SLuu3rp1ZvuLBKhR5VVlN3c7thO/CLGT
qHdR7dffxdzvnmjTvJs4+YAcnIcNeDTkcDicsta5auMKHhv4E1z56svgZAeTrA+10YVKRz20q0gi
ns/uiWFDsr54B1yQANc6l0aUIYtrdh9OU+nZ9m5ynqMmvLxZn507k4HpKxd1PVDtcjdInY3OUk85
ovn6J1ke2+w6WdAKKUkdimwOA1F49qEVGp0W3LppWltWhs2kaA9WlCLt/3BZDaEzwtWBl91v/8ct
FVXbpmrarPHrKrCaZz36iM07IzuWgNzPZblWkRXgjP4jjHNGyO0mlBa4EB0QBKf5kdgPhDSerR57
2ftcZAIYXsDjBO3wSLly2zNMzlSRBAvXtkDH6PYuMKUJ2J4vr55QCnh1gOKCSBJ31bmhJV1NUKUt
Gt9VHha38XT3UbFlXAsiS0Og8o8QbtWcdlLgaSFkxeGsj336sWonFYwql3URbg5K+oiKkTL+hKla
NU1v5ynEODm5KoHQckBWoffMeH6zQSupx1EpOUJCiQRVSbg7FWML3B4lJKmIGuFuisofLJDobb9V
jsrUBEO9v6yccA3/EYX2k/ONGs1q6LO6hjkshz4/tsC5dAmCV4kYoT1sxHDH1YpIS+kEMVERWuM3
mjw26ctlTYSLhjqJjYKWbX9qw3azxOzQRN/4uv4wZruBnFQ3Qq+mb8kavoXKwPmomDCCd+DncRNg
OU1GCWWmPt01i+Fn6N2fzUVyfwu3ZiOG/b659YpycqyMickpkMMzkG+Fi2Z5Q/0XrpQNl/6fOmxh
N3KA11foWg45HUmOBnVeqjX+m+3fiOBOKpLHcYWCCyid40cCVjr3bp0lAZ14+/9owZ2Z3nRpS5gh
91q+S8AvlO/bGGCVZu2N0sQBM9fz+BuR6h99+AcMoEWnvjUhjFYJwOsmNqK37hXyZlEnGOwyHFcT
/AM0A9rzeMhX979bTz5qsGzMULcx5MO9Uv3LaO6jXpbxl1g50c/NQi+AQ+U0kFF0bmAn4Bh0PVvW
kyuxcX7iprXqCazjEKLFgTuEo7Mj+smWpa6EtoF5X/TYIdfjWOz3jYUb6pIk2gwpU/MRVV67hGPx
AHIA3waA82UvJMjZwjQ2sjhTT7Qpne0RsvS9tqOn9La+rZ9R5TrYqwegGQQP9/Rg/+tXOxOK4Sgs
Fi4oHvA2Me0ej5wG7lX9YgAgs/xpyzw4++5PJr8RwQKyzRpmcTEYTgS9rOrFqd5n7Xvu+qPz5Ey6
h95gySoKD9hGGjPOjbQoGQqtaKFQA3gq0Nx/q646z75R9mng7o0fl6WJzePP6nGO1h7BxjeZeE13
4AY2Uhok8wyQDW8i7zV5uSzrM7wcnn7breJsMR/mnvQJhKnLoQxVP30xfTCV3Y6n7pAf3WfFc8Mx
HE7K3th3j2kA4oLLXyDbSM5A+zge1bbG0iYdOaCpYJxfwY+x14xvenMz6n/x4tiqy7lltP/lXWxC
ml6Z7yBZTD00P+2WTjte1kqQOz1b19+NZxuLwSBUg4ZCrOsQh130hVSBjU6kNTvMNKitQ53iDk0O
kWpLlpMpcOFc8I2fqzYnpAE6hx91+cvoZkd3/kIiJhPj9m4GNLLMb7u/eZz8OR4G55vraO2TOIdQ
OnW7EmBq7eQDv0Dvv00lyHwmSWJYeBVsxHEJTsxhtbnK3EtFMagEoItuaB4LxZZoJVtKzsXoykDW
sYQYtf4gmd8MJ5tGyD4ekslfQHsrez/I1OKcTFw0iTIbkBctN/ZwW9df9PbpslmyT75kHZxrGdui
aV0mYp2e5uXdWCRRjzCNtTlfn7qCnSi2shECnHl4WRflUXMzr9GSB+BnhotFrtLqrikwi1hashP3
uYHy/MRxjqRz9FbNUogGb+uLUdLrrIivQPl9Ksz01Lmqv4IGp9askMyq5H4Q+zBE+TaeRwzm7Px6
qIDdQY0Bl1GmmH6hfqhZsk/KdaetUVB22Q3gRCQ5IaGtIIDAqBIezYAMOZdoYBRxLjJ24sgUWu0U
VpoJ9DNZO77wKtqI4Q62SZ3OzRas6ZCOu9Jx/G5K78ZUD0rjZ+LKYHIEBTBs4abyymll4eWXmiUy
rtGbkniMtsI6tjfdIQZazhE30CmbPe1bdpRV7IX7t5HLqWl1gzECcQJh3wDm+jL3XbofQDegrp5e
v+ajxEeLV/VPgZnzXybJ1l5XUGCO6hcF/bzOa18Ha78zZHerKJxlGXmgAFg2ICi4y51YPaErmq98
0EscZ8W9wuF/yDrrZkwSmamIvOVWFnf8wJpQ1WqFMzDr+T6Jg6l+oOsBWZ3QVTyw2AID2PmLddyK
ZJ+0uWPNMm7aIoV6ffGrdK4U+msengGW6yegW7vsOEUWwh7XIAFBZyoqhOeiOjoOcwF8LX/Nd3YE
zIs33bmOlnqn64ETSyH5RL5sK44zyLK2jYb2ENciIrLNY5HonuI8OOgyWt1rpw6b8ie1LImSQnPZ
KMnbZVIMdmOwLURH07wfa7wO0LBiySAhRc5rqx13sRo1ZrgH5LH8enrLVV9N7nMZhLfoomP5eXDw
oWz4ifsdRSIaWy38Y+3Ut2MTPSJekFw4MhHcXVrVSuPUQ4fwoImuUdkJ2172UBQuFJtEBfgzw5Dh
DBxJpTatHDgKA2PLWvKtV2cvk6GuCg/uP0I+TSYhEZY6/QznZy/L2zp8Sd3kmCLhO7/3ylOWag8O
wDsvnybh0qEhFEVd28UoCxfpVGipcKIeu5Mvb517b/57FAsU0zZ/n9uaWa2WUWEBYmpZB8dN75Ic
HQNxrYTR8je5D6DuOuhRQC+iYXB7ZCVjOgEHBXsEKAsvtpXSS+lwahNZ/UxsDP8IMrnUKLXnQs8J
BKkNnhTN6//OC0tcqtAF/NGGjytUxE12ipcuOvCBCFB4DnB36HOaSJ5hgsZK7BBAsbFNaKwBnMO5
P0XFW3dGtCP7ywPwPqKHYP6oT4Daj3blsXqN9/Op2i9Bfoy84iTrABb68o1szrlWSj8sjgEdFzZN
ExeJn5QpBsvm1F9dsEnlxWHCa+myyQvufKAZYjoaEP9oy//UR1SRLMF8GzquC3DRB+YI6C6vqwPF
fbksSPTyRAc7AIDQfsswMrjDlQMJzCotF52AhIbmUu6VYt1FOQbZu/UwmD/RFHBLkEDLFus6I7Iu
B5GeaJdCrzGDlcD/zzfWWtWpmjL0DJm0BQN4oVehNuWuR/N68HGIqkBNABl5WWeBP8FAGqYD0IGA
aUS++VGvaLVEGopjRQROHnd9nxZAL1yWIWgkBemEwbLSv8mN+DT7uJLeKikqVdZi3pcj2rIgbbhy
NKc6KcuC5/Ws3CMvZV9piD98fc2+A10DDVzWmHtpDPKs7N8D+LFPQjM70IEAjsAXoptFV8vZgN4j
+SDtUx7nAYiesOqLF1muxGkL/M+ZMM6pUpSB1caCsDme0bqkkMXXrY54SrK8X15qwY0ESaik4mWD
xwd/VqoWyQq3R1zXLWMOBkaE/0WaKoG2KMd2ScmuK1zNA2Dcz2Guv1yWLdISWE4gXEB1DbED55iq
JHIGtKzDAdrJsYqBDVQhAUdl87kyMTp3TLRqWWsbKqJbt9NLz6SxN8kGNQXO/Gwd2bHZxMdDtVBg
OqJSqKyWj1lgWw+awQjNOry8ZqIzv90vpuxGzpIhUdmDMtqPl/7WRtTYgv2q6XwFuOaTjONWZBwE
kMAMrg3TTbx7S4a104sZStG+H/3W0AECqlrzS11h/k01qx9pAQaQuhuzZ7WjpeTdLVpSdDM6GL/D
UDXQuc9VHWbAmdNZQTvo2nRetnbDPRn6NkhJ1fvrOlOJPNHSAkCBMAgwkAjwgAbALhhjM4e2LcAo
Rvri9icaHbT4Jh0kx1uUusEE6j+ieESDtS5Nkprwb+ZMIk8jo7/UyVcyWH6uR6857Y5oe/1YGv24
qLKH6u8CPJeY0rbHjnt6rLm7xjF7epC78ra4G3aul4b31Q6QpCs4F1mZon8fbwCgRWTosoJw4Ew0
d0qq0WqtlBXPyHKv6b4+Pgz9o55fl0iIywiCZbI48ynGVlvnHrLiebquqOV1YJ82xz4cs+Q+G11w
sI6SfRWJ3G4r79B6ggQ7covoJsvuRw2IKUS7U+rOz0fMH6627Y1Eub/sEESnhNFcAQ1MQ46Kfy07
Wes0E2u3oPhnqb4SPWtpHiwy2mGhbhs5nBdFFb8fMwNynGgKbqqgrjDv3t4r+c7RJT5OKAq3ArrA
gZiLRvrzg28rNKcGgcOuAXwdg54TAKztEAyddiDmlSMbRRSKY3Ex1hA3Id8sF5GmJL9LhFSN00O7
WhpQ8tDttZT1cuuWrhYUaXTTFNO/h3XAFDyGHoBDjDfrp04Zo8UEZLogOG7KO4boCII+td1fNg+h
chsZ7PfNfZHllRGpE2TMmf0+jPlVlKY+XoRPCKCPGFL0DEUGxC8SaYN3Dfi7wOH+hFE0llPrrKxb
edK+KIrvxt/s9dhPX0qUC6XJItEVtRXGeZSa6lFiIxWNem7mJ+MPMwOH2G/+6O8F8prRdJWSf91Z
DupoZAnQbYK8IgbWzpe0SdJRzZhIRVt3szac1iHd0cnaXd45wSwz5OhssE/FQgJq/lzOioG0vmVB
oD5RzzKe4hRFV6DTYRwi0OMPlLiQmVJAg1nKZvFEiwoSANY4iuNA+NncTM0wdNLgrKuohipOGpbp
s2q/UOsU24+VkaK1RhIKirzYb1g8DP4xeh32RRszBVJBnPUK1lRL9CcKsAta6mGCIcOukmElCS/f
jSy+g8OZE7Q+5VhXM/+RgMOhBBeOjwa95y5Ow7Sqj/owt57auHeOGr9c3lRRjMGAstEiCTj3T9V6
FNHGnqq4+N0CWBfRo4uQCs1ynqvEftVIuntkwrizsa6Y0sw0CBuNDzfe60MRFNlr24Yzxhkv68X+
FB9TbPXiLttu7QHqwnoyR+1FL74Dw+gv/j7K9OgExqAYZoPO7SNWh9hpXPz93i2ftGR810sl+BsR
LtqIQMIGEG5ORKN2hlujaAcM+qAA4rbaJJLwQAB9gxMNnpn/iOABJ6tGLdUiR/Bu39Wp31zPx3y/
3LdfzZ31ZHnfm19gCw/rsA+dvTJ5xvGygmwPPu0RWooZubYN9B3en0TDOGXIBfu2Ovik8pYezBWy
qUGR82d9y/8nhAsTgGNuOB0rgxjuc2sfyyLQVwdDyYZfznflx2WNhFa3EcZFsoDSXFpSQZg+K54G
TD9TFkQK1wwg0miZBsbTp9lnFFpSW++Q3Vxi9N8B7gfMbcWzlvUS+xbLAeACnALgpPm9AbkiDivr
knOcZNqreOGEOQYvAk3rZdkx4Q65IFyAo0XQyD9zFDXLwU4H9+eqXThYpwy8V8NP0uSeWn0xosd/
v0UM7gvjDmj4+IQt5K6gqKhsmHyzvA5IciqyJJho5f4IwBjkuWdY2tUpCwcCrOm7DSVa+5TIrgyZ
DO7kJKhy91UGGYu1c7MHg9wi0L68TqILcKsGd24alaqoQkHENF4nGYBvjw0NpARsMkW4A0PAIqRT
A1I6o9+Vbb5b0NlXDl14WRnRxbN5YfIvd1vR3WFiToBxoDte4j7naC7OrY/K/XVZklChPykkmy3r
Jm7IXLogtIakBmxCFpggSmtf9JKAT5iO3OrD9N1IaTEcuTQTlm1M1wfiKN7U4tpOtMAy8+dRG4LE
HbBxC2q/QAVah9Gr6nRXFNlt186yj5EtLhfRF2rRVyZ7vtOTcuc+LQ/gcAaLrafZnrtXj9FhCaow
e3ZeZdz2wsBpuwzcDbmYpNeXDIs9O+7LhBnddK13BQBP7To5zabpwXntgQ8RJOVftCCeJQ64U57g
jUtN1iwapzfz/N4CMHEKAcC2AOJEe7psU/+Png7yXsC/BYUUp2fXDvXSsn5HTHBFx2Ixyh1yhl/t
Mj5m7YxgraDEz0n2VLvuSW2XZnf5AwQeGo8nvJ5wR2NGjX+Qjk6UGDX6rPy4TnA6P6bagXX5ZNqb
4ymTOTeRuhBnWmhbQEoftYxz6y7aKXOtDOkDJ1FuTQ1xMRmQ80r9AexmOWAol8QKF7X31KU4XNZU
cHzPRHPHtzC7oe8KaFpqN1kTFu1LFUlECI4LRKA71mAZZgwlnWtXWU2UzqwBJGsfMhooZpi5u2i8
GgxJP5ZQF7D2YrYG2UrQCJ8LGpdcI6mNZRytg76ckvolm75cXi6hLhsRLB7a+KFCseI8SiGiSsOM
3rSABAVe7jofXBnhAlt4LlbEYN8fZbhVW7vJnfMGGwPg9TI9Lc3bHGO04v2yPuwgfZKCESs2Cg7q
Vv4lXZTK2Ov5ikuv8LTRc/3quxHSax2EuZcFid7SwCDDqx2YvBjO/Y2btFm5HMXpok6Ybd8sp/hx
uU0BOKgc42MJaVRWcRXEpVtpnxpSwQOvJoqKGtl1ss+um+tkl9441+ou3q97su+k9KJCgRjbdxmP
JbqPOI9l51WXrDbUc8GgOqL+OEySYySybmzQfyR86lzI9dSdNQoJqnI/ghe7P5ZR8DebtJHBhVkO
2EWmaISM5WENltsCeCA/unDZRa/Jm7L7i/eeDtw7ACjB+THEofPDBLQ/fVxZaTou1RlNksDmRxhe
epeVEh2kjRQ+02831FCbCQ8Ian4dTL/Ur6rsdVj3l6WIboytFG7lzKikSpJCl8wFhjpYquarItsp
2atr3Fbrw2VhIlNgKB3IdDMqA/4sORQwGYAuQhf50unIuVm9N61NEtoYaJWsnkiUA3PWGE0xkPA4
h9cY2griMbihOj+gvLtkb1TWeSzaIMdlU2OYpjcwcHtuBs08jWZfjehfSX50RuBUu7THjLEMrEXU
KgC4oH/k8IYQY35Yn9DWBqzAUNvFIViWkFS7J1FYhMp1I2v7Ea7cRhxnEU2elqQDeKWv9miFbwC6
ytrEJSdWJoR7tLiDO+ppx+6j6amdDkX/mMXHf29s22XjblWlLmInRZezrxEoAO41PcGcvsTMRO4T
oR5av2DQ6CvmFkuheNgj6mPl9ino1+FqUWWtS6ITiiI70lc2UOjhR8/NjDjJWOpAEvcTkO000ezX
S73XkbnNavfBTN4do5SsnChYAGQ0m3sCGgWIHM4lDnjoTTFLKbQzkO7H1tOVR1LEHlkULyUSwA2Z
MM4SWgOtbYXGXnxVWANRcJlP/ZrtFg20O7vLFsFWig8atnpxFsFaAZ2cTciO860KuG3w/npRFpZl
0EcDJlvuFTw5L4sU2vlmKTk31E35uIwD3n/ouz3llft1APaGYSayvheRkcBGUIQCWxla2zkjGVc8
xWMFl8WM3mg9f2ntFxet5vZRSw9RInlIitfxH2F8MrIeyqW2dQhr4uQwFRVm9ekB3LzH1Kw8xV5/
6tZMPUdRZdOFQo/7R0sewSRRs8nK2ARLTRyPts9zrHtregPaGMm2faabB7DtZj11zippBKc7MhUn
vfmeaGbnqT3BXbJc280clqoRZGpyNzvfVCsKaucZIds+63VvsKY7vfkSzyZKqqmnghL3LwyKkRoA
VRh5uE9NmYZSGI2Nszlb8aHvERekw6927SRhgfBUos7wm86FEfyeuwCtR6O9oeCmttQvffQ0GHdd
tV9/xMvrX6ijI+TVGKz/J0SGyW1HpV3hP/PM9BekP1wbk+uyViWhNptggNOmLfoyaU1IUa38Ad/i
52DBjYB5Vhb1adBksYf4xt7I46xnrdcVrgy3G5I4utepP9bkrZ5LX6XmDlXPm1VbvkTqs913vlXI
2I2Eh2QjnPNy+ayMRR7j3tPV4sohT6UaPeXJurOxsv9+80Dhgrc/jooKdJBzI4nLnEZGDUl1ew22
sq69TmScZcIUAxoyYYkMchqAxucy0gZlD3tWcfs5H3T5Eie2BxYzTGjfUhjMnHl69uQAb/OyZqJr
fSuVGdTm0YcH7uKCoBEeDrRbg+pbmI64LEGwS1AIKSK0h4M7nW+QatG+gE3CATNn/Tk38PhKjfid
zgTtSoOsj01g/2i4NDUUIzS8W/gLfVqs1Rp62L+i/QAOQmAt+VGplsAhvWdkH5c1E1x5Z8I447fn
WNOTCcLK4kTnDpeQN02S+qRw9TYKcTYOUsfV0EakZlY0ea36s1485phlT5Qfl3UR3HRnunDX99Qr
at/gn5/q8zOgAnb2gH4jtw06x71ZqPEMQqXQymTmJ1tC9vvG/KxVd8eJTVgpKPJaaCgpa8C5Hy/r
JrDxM924k+U4NNaaDrrFgEEpndabBllfnEwP7hhRNGzNRQw9stm4wmwOpotcKFJI/JAg+DnThP2+
Wa4E/Js1qMdhDfbeGq6dYTd3OjtPHhlKv5bYhHjdgFYLeGjEx/yzbyi1krg9nDvgagOjv2pTWc7p
9+Q9F6hCoX9E8C++olHAqqxABNkZB4yxhqY/e9WV8nyr3k3f4mv0LX9B/81Ns4/CvPPy9/JXLvsI
0SV29hHcpUn6zmEjIMgMJR6dPFe7nokPzCkb1CtAJKCaj9KsJRMrdlV/VOe8R+KOyqDVkFq0xOuN
h7L81szXYzJ78SxxIpKNtDknYsxp3rcs7WqBcGta9o4ie7qL3ccfZdgXbAyzVgDp0LtMAl4azuTN
cThl+zJnhGigfdlPMqYU2epxjiNFGXNeSwgE0QWmWtf1Pp1yn6bBZLxd9h7io/1HNc57TJVbdqUK
SSB9WSiyeppXabJsKKvNXDoHnP9ozaofaIoAQ13QHR1Y6WtXvQ2YoR3VtyoLFt0bZahxMqPgfAnG
NDHBYEIvQ3uh0Zs0VSlbNy5m0toRvEYz/v7gJt+VZToA6/F1aMju8vaI4qbt6XW4stcAwrhxZcbd
xCaGEndAietjoPACzDu5saqg0k9EBuknqnaeCeVcRtpZc0ktOGIYunNMQ7XxtEN1lR7hP0zdb++U
L/Ah1RBcVlYYDQCqHOj5BM3en3PYiHwiHWKdKQ7SUj0aSFTYyoeNoaHLkoTW8Y+kT7nsTkvVklJI
WjpMXHa11/R/c642ErglrG2bUpXdZR0w1+3xA6SrsQzNTXhfbmTwPtZp+6wzYBuk+Ga5T2t8i9aE
uQBuvoEOcsmSCV0SIyyyMeVAXL5GqCmT3WL0HWdYfzA0VGucYO6vaXrXKPvLmyM8WhtJnEtS3YzS
3GTeon9USUDU0G1kHklsAH+04TySEetpvU7QZlIQMI2hYgxhpYdaM3it5tfdBOZGMIOg3fIlL7/V
oz9RycmWfQHnoADgith6gJZ9/cMyPjD3cnkVhXfWZhU5B7UW7hqVM9OweomnR1cDod99RHFwg7IH
e1wjG2mQGIjLeSqyVpFZgSPdjwFkaat+tPpTDNzExB9lpSiZKO5wWVOnr1RjtojEkcL262u6fB3z
E5HhVMskcUfMwBzdZPdM0qSgUfoqVRJf6z1r/phlzRVC7we4f/RLA0EYCcDzIKNdF0CAs/KA6rwq
A+jsrPeB3PeydnDh6dqI4U+XnhZ9zDI1q/0dU2vjdG1Fkryi0LQ3IrjDNTijRm32cpycp2T4tZjH
y6YtU4E7OiRrLQC3Y6X0CgRSeRyodG9Ev/47Idz5WczWmUa2TvpogfizBCjH3oi//ldC+Nu97Lps
QJ4A71LcQ5kergrx7FSGYSlZLz5t0I1GZvYsjaXZz4n5lsb7QgbA9zuR+inE+7PnDndQwFnZFjnT
xNY89wCAWXL3pt+D1+leu22D7BVgpkExeGbQXz/HAwievfZKkbhU4WHdfAP3EGgddCA7LOYD+IZP
xpd0bP2uvs7Taw2Txpd3TuheN7LYGdg8CZRUT3K7hay4+R6BxXRtixc1MwI6qeHgukHbljtild8u
S5UuM+ckkqiuNFyPCDt32rWGQWNv3YGb61fpZ1NgHdd9fR1ddWH1ou4e4vf+9HJZvjDi2GjNOY9h
0KxiZW/meHozm2cFZBBjZ+0KTUOByXK8Ks9TyUKzP3nJsDhnUidjNDksyBkaECglnhuFwCb0FNnk
luyQcE7FtqpOm5lq+nJ0QEw5vUopXWQiOJcydKup4s6Hfbo7e36sinfpaMNvkJkLy8XfwguAAGt3
hRrZde/Xe+0x9dAmd48gtFuD+IbsK81vXvVd9Ji9Wq+qNx30W+q7wbOxL4NSlgWQaMyXH9rKURYa
/968LwW9d/tHM5VcNmIRmBhhZU68HTj7GApjalV2IpaVekl2yKNnTPheNnuxY/kjg7MNaunRrDmQ
kRbLc1oOXjqbu3yOvKapv1WmrC9FeMrQkAI4R8D8Iz917lvaDsx4pYGgw8YYE1AyPZfuxi4N2uaU
ZEdVVsMXZ4hQ+DbRno2hL37MqLSqvpzLBZnex/4FHdowkfQag33EK+/N215WlBOe6I047qroIsyf
LjbUS9Vv5nJy2mNS+6VzvLxnIngr8Ij90Yq7DYCHUTlTDa2Ug/OwhOpNejLqoHht3jpPO2b77JTf
Ez8KL4sVmuNGKncvkLxAl0kFqYNxjX5GdX5NFIlmzE18OuKYGtRQAAB4PP8Sm7pCt8oYRY0C48nq
QcvDHhjB+hz08d60Z2/NX/9Cp41Azut3VFdyQ4FOhbPo1xZCYj+iBM046iID6xIu30YUd5pXp8mz
eUU/IHXzh7VK/DS2r4pZMucttMCNFO486zi6fUwhxSr2jgH+hftSvSWyQRgRGiwaeP9sFO/vLTDQ
zC5rblzjABPrhdp5VnLbNuFcv4Aa0kmvMFaXRldj/7hkgB3auX/1lrbZDCYwyRg29rkrmUwAY08W
K4ChMmXM12R5s2TeUWiPGxncahpoVTAJahDsvZ4YQVm+28P3YQ216Edrhq0MkkC4eRtx3Kr2Sjyo
XQSVTPMrWT40/YvlXkkTb8I3DLj5gD5mouTGowY7S0Hqiu1dv8z+2L4nkcQGhZa+EcCt2mQmZtrY
ENAN+7w8AeJPSmooukeQHgLmMbu6UJk/33ygDyiJE8PRGktdPTbJcHIJ+nFWmpHTgDG621gFaZFu
9uXhssMQbRGwUhz0CALbg3xCiJmrmbjVDIdhPdr2A7oQZ/0ql2VQRCtogBvEABwL+nn5XhmwUCpN
mxjseOlBBMy9mKyghzf2l5URWAL6HDGcjUIO0l58eaEHM4CSOqTwVUy/Az4tUj3gev4FMcyZFO7e
GN3WnqkFKUB6uW8aYJe3xQ70O089SjUWajWXlRKsHUgFDcBBMdQ20EGcmwYQlgvTme3Ct2kS1l3/
YQyzbymqpDQjFGMg0W4wdJdPLEw2SA6AmeMU/pg1X6sRYzNad+9K8a1EWwTmRww1wthgc+wzNo8x
O7VKYiZK4UdORUKnzbNH1Uq+rnmchalBr8uouc0z67VGs683rtZNFJeGpw5r681R6x7znshw3phj
5S5pNtxr4JtsYmF2+PyTStJo6domJSZvE28CxUa+3pLB1/JT6X65vJeC0wYkNDQgMKREFaQX56Iq
DKInfZ6VPiZkMERB48iPKtzR2pJHuKl7ZZDVw0TrjW7c/6XFAFUc54K1qFQ6Q+tLn47z6KmZ1e+H
pu4l4xQimBKLYFAaRw9IAtjYc8XUtY+6ekHpt0n2unoauzBxbyrFL9t9XARIOOw79WQ1ndebH5ET
Jua3pDtG9D6VYQWLANTOvoRb4jyL0zibaennLz17SHXvbdCCFPYn3efIQB6Ta3KfhE5ID9atDFxR
ZEk6QYcYejhBlMfjM42jDtwNZkmss39y69WrBkvzbLxXfXCfJh5b/ssWJRTJsByB+oOT+/vBsDlP
yWzHbaWVpT/PO5eewNSN/94WovuNbKxLVOCyfuNG/kcW9xowU2vMLBOyFkDyl8mhGjOvT311vR3W
wDAeFiAcdUp4WUFddGa2Ujn/Z0VxVvdzAcSkMmfYe7Od3eha3b9FkbPcOENq3GmRRX5G0+w0u3ig
feUVlhodY1UbH6alqFCU1TVwaSuzenS1sRv9vuvRfdEYVKv8QnG1j6SPrXBKY1xRAyasZq/QjeYQ
5Wn8nFTmUgStMmAuJBqJpPgk0g4WwxCSbYL5Me4BSVp01RAH5qpkrG36AKrtNH5xV4kYZvW8jwP3
NHDkCJAigM90fj7dqWgXDdjqoFLX9t2s7Zw+CZfIkGyW0ERAXIVJOB2cOHgQn8uJiTX2U4c7cVoA
mhCWU0J+KWNHc2+J9CzauSmNQiBcDo8FXKDtjxXmWLw4LxNZhfJ3OxevsqHi1kQ/NYA/+KaRdclG
YlBQixg7gE9HRy0A9p43hx9aEKOpnz7EoXGyF08pPN3xslN2BMd6WB6AqXacr5aw2lOPhk/6dftU
+X8x143Z8X8+jm83MbR6UhTGe7ISkI0bT9Q94iMTcz/ZN9Uo6fcWbf5WGGdjUwyHpbCVAICIrnuT
0qk/NeC+PFIlLb5dPq6f7hv0JSIIhw8EZRUGxThD00BYkJZxDQNQjVd76R96RC7/XoRONLRBqoAd
QiLk3MbUeaKzmy+Iuxpq+QDmGXwl7iVRl6iwfrZDnLNrytW2SrZD1kOXhNqVHjrBiL4OD2MNu+o2
CtXg12W9ZNvEObolVfK6zZnBxo+DeWy0fZRLlk4EanGmFXdPm6S2mn6CDPvpaxquxzHI3zAWdHet
+ffr4T7yysQzr9OdEca7y9pJF5RzDWR1u77VIZr+sr+sX8e7d2CW74Hyfbov97OfN5IdFC8nm3vC
oB0cK2f1emNgPJriMi7Ir7m61+mVlNRZKAJpAxXDx8A1+h0VbS5f6tZZOnUIZlWy7PNJ9dAtgXKt
rL1YNBAJ5CLXBaYKm451OMvQC5rr9LdlpLW3LOZ7XH2UtLjWe7iopfjRabavmZlPyvywgjc1ztN7
ye4xEZ+86SZI5nYvL9RB6wxmnGCmC8Ge+qq6yrQjLmad2yJT9hExn9TOKTxVTa9mkirf7Kx4LDVq
hYCnVCSGLLo2ge+JJcGtZuFlxPkAp5pygwXSmfFz0MIJjYfterBknRQyMZwTiGjWTloDMXl9G2VB
E93QDDsgA6kSbzCYwdGIZCGM469nOhV52rd56ce5ne1GkOlkbnadLcsXl74mVXHTFdRv1fSVWsqu
KtYj0b9KNliQgbCMzSew3ze2rGlZEpcmPsGOg+SL03hZ4hW/lrAN73TFe52C+ElbvP7oHsfJyyQ3
lCiKZaShDETOdjDady58jPtyNAkiy8EEkd4LjM2b632X/ihlbcxCNTeSOAdo6OCCa1gM2w0kcPOv
SUK9fFa9BMmvlE7HJpokVY9PNyJg8fHkAx0qmNswsMbppsTL2BksfkVmZPbKfF6Cjpp/Ub5BagW+
Dv36QIb9dCCW1BxUtcIKooSbP8+oDahrILERQXMgmEJVNqLvAO2An4TB1IhttgqiO/V/SPuyJTl1
ptsnIoJRoFtBUUNXz/O+IdwemMWMgKf/F444n6tURBH2iR2+2W13klIqlcphrRD4pYdhfOscv56O
DuDXQeCn2Z69BkmzNBZ0JnM+oid2GcYBKCopZOpgrC1ST4OrKb/1xp0R+JXuTeQ+qtwRnkj5qHQ3
A/paoXptvifFnhZruZjF+xNQPDP+Lt7xwGg//xrKmzl7O8e3xU1ImWX+DIZHUD8pARP6MwkAyrnR
QERa31vpDWoYAQBVqkPXbUrxmcWbIlm5VZcclIlhEEJBb0iBCSx9z1Agj5Lh+WCpP6fmoyQ2wLsd
QCutTl0uSsJsr4lxSINc4P/aNAijmkBSs8m8YmduET74QFs89mgJ3Vn+h2Cab9/HjN4prNl2gFVh
hfsZbQAm5TpsuNE26Z7fOeC/YLv2Y0SQ0b9N24A9ll5wG23ertvq0tVswVJNaqIqdxEkdmnTDJYp
EL7hzQfLmeIHZw0GaFkGMM40A+9ivHjOF7+JnaLDHHfu8tHa2VZ1axfaTtGaFee4kLQn8CFzYgU5
VDiTczEizYowo8itiIbTmE1CU+97YIkfarXKPaNu1ce+07tDPrYqccc84u/X13L5VWfb0BFDRzAy
ycpw0So10mR4pO5AQNOx4WsgnlX7mPPnzFgJNZZWFYTBIAwCmjE4KqQ7V0vazg7SHk8j4VPjP54z
VVmbzlm6BU5lSEuaoou6iqb52ITeZLNU3+kZYMgLH/g4ZG3qY6kTBKWJPxpJdw4KxzxKQmgU13hh
QlzFAC77+VFscxYCNqHY2iCOzVxklI+Te7B+jLs12rWlS8gGbCmgIAGxhCznuQ11AJ5HjhCfUE84
DJ2esKRLVsxkceNOZMwe5NRT58qASxwyAgfDkaA81/Z6E33ZebOW9LqQ5MywIDBIFVUfnDtpQSNV
MUkf99ydAnsba6Gr27mXNpN/3e4vxODUASEGBo8mPwP/nSsE4up4Ih0OnlLtw/5TDbb5mltdMsRT
EVLUVZXGiCQ5RFR4eCnBcSKbGM0fvYr5HQc0CJt/0OgkTSt5LKNKjcapZ3G97po5vY0GazPG09N1
MYtanYiRjnBXof24rXC8APUPBie7rhlX3knzQpV9uTqvOP82+WlymnuWDrMexvpkCkhDpqHNPqbQ
ZlH+itg5Kt9bZ1MUKnN+qtUe/A7sup6zAciST0+VZCCoGdtKyHHJZC9NcUfa+2G6VZP7+Pm6mKXl
PBUjGUnuiAojcVAwSJ/DxmRZ4TamB37rydwial5Raum6AfiBMeP8WAB3lY6x2Q9cD3uMztYfOQrf
EUg9k0PwNIbsHxowAA6qIvmpI64Afu35+aqtloA+FJJU68ZJtpn+SP4B6f9UxO+b7cQn6aNRV6Ka
d0i8T+KH3nha7eZro9uL3vWPIhephlhPjU5AkVYtXL1rGJDOrpvAkivCHAzwb8hMXnJBWJaWqC1Y
GkIN42gBIiLHaM5a9XRp438XT1Uko5Ezlc4RHeBoG/SroI6OAsJ2AoRCjteRXoZsKLctT71ErPij
xcjiVKbkyQlPNYKkMVxsCNpdfmzDGvAXN2rui9FtwjtQP6DB//paLpza+f7ADLChgrddTrkrbZjU
GGDEiwIjYv2M55v/TEY049Rfxhqg2e+KnuQiIAxvelwhFgDNJBsH50LYxXWAmolruv2zMFmesxGD
DG/xTbs3/PwwufyJZgxQddUD3dNtxxn1CEs2ZuOuvbOXknCnn0Okzn9SBECfUqA7Pzpb4vKXcJPe
Bjum3EY3xiF+Vp+ur/WqQOnGCQUg04sE+seEYT6JOV742O5siBreAjfbl9sfKxJnM72y4kQ/9yqT
yAOjTyFRoA+cKSx1h0PiP0zI9nOQPacrJ3PpSXi2pNKxiTohMA0PeQC9PxrHqXcpS1nB+L3pqt+K
u5C9k9q7wxZjkL6BO12JUlaXWDpDPKoL0hS/P6C5bXQfNkb87+HhHWWNwEbtnIGCZ2UqZ8Gugc6G
XBWQ+ClckvwksMKs43YPXJDOQncgEDmI07Mx3fQ28VvrhwNkd2F9lEgZ0TDCe9RHwp6l9JeRTLc5
sphdszOHI7WfW3VPnKew4xulzjwbSKdrs1eX533+VOoApMVG8Cv7TjWmYznl+NSs2cTiScs/kb7o
VbzSh5/XbW9e6TPTAzEPAXsbImwVCI1yEqah4JNpIpK5XVHgLTGZLUuzqVxxmhd3wSyFWnPxCDfn
hf8CxldJeIxODUB7TYemaF4HqoPVnpPXv1fH1okOmj0DzTRy2rk32gD0IygaqlH4LUdGd9JD97qI
i9AGuswIyihco2FHk1uCeasYGfJ+KE2Vn6Px3E6gwkJZIAwZj98s8g8rh6Q/0iUYJNdtGQzN4OWY
TlaNylFcv1laeHSi+o2Ga1Duc4R0bgZ4p8+lVrRUQZSMKJg2gzKldt66Q+YniseDh7TxBF05gmtS
JM/qWIMZDRlvkTPeWeOvlj4k3AvptHJbromR3KlT2nzUtKx1wcDS7tUm/q70vHoHJv9PDQ0zKzu0
Jk1ypnnWOhS+u0Wo+4uMGxq/kOaQrdWiLs8pNgjxGkIAtKrgUXx+RVh249BoTFo3CyPQPpUk9Mwx
XrO2RV1OpMw/P4k944FixC5LW4DIOV7eOVt9pi9Q5iqN/7enaNYHIQaBaYMKQnqHFFkeA5sDkpCa
RJrZVTo3yL+1MA16D6jBlRvv8syeS5OeI5PZRQAsh0UMdXtjBH3DqrKJWdlrrY82lZERARymnNK1
rM3ygv5RU4qlMGlqGzSEmvX4XOYa6CQp4xPeDcaKV7qIhMGngfYsiqc/eCsBzHe+c6bddy2PcbS4
EzDS2nhDxmzUlU2K+wy9Tl7uUFcYawC7SwuLzomZtu63V5SMv4rNMNVqGH87gMoG6GjPobYP86+o
HMGHZK8oeRl7/9byjzgpbgAvmN6rPcQBdmeTWnc2RvQKdRcYD5Z4jWM/71zE/H9vqacqSievL1G9
yDLIDNvf/L28RuQLhPZwo9qPztq77HJc4reKaOxDZ61G4JHPN3IYgGbrWCBYpPGrpaJ2uW2UfcpD
lhhHTcetg4YQx7Nx3VxX87ILTRIsn31RBUQpIbgP+FGt/0ucb0X5WimNC9JJ9MPhfBjKfmwB6kHK
LUWAWFjdts+NbRNhiARTJEGZeCo3fIK+kOsfNystX09oL//fokjW3VZNyA0F1g3gYKYHT5x8JMOK
jIuYa9Zf0+ZGMQspR7lOUtc1CeoRMgDOWbORYnqqiUTPepJ1m7Hjd3h+rpX2LktFklDJMfW5PalD
iGnp0S5ek0Fs7ajzSi5YHIOPGn2jPcpuSfVZokKdWL+MdLo1tddMxbiw3XvcGj3TmI51wLfXF3zZ
DE9WQ3JcKgm7AQFn6xoAZ2qUd73b9f02G7+DWI5xsQnLWzs/9N3+utzFjUbPJ1i50AOFstW59XPg
n0cJ5uQB2sV3lt3udAcAdrxcU++iLPh73dH+AO8OmiVL8luYYctR/sSh7uvRDfoMTU39pkVO2wJh
gWbqL2ZUeL2dPo5TtCJ76Safofn+n2jJh5kC3fR09mEd6Q9xVe0Na+0yWF7FPyIkH8KFnnZlis2j
7QCUIxMuBGROpvZPLuNEFcllCMJVPRmhSoUUiJfuUEP7Fe/QQnusd3zHHfdBf3YYFQzPi9349C+m
8kdJyVRK3oYiQyuyG6cYTqLJJiPNRoz5Ssy6eLGe6CidUDtoOruZL1Yn3luT7xRPFFdPegTWe63u
uvTx/08r+dy11EBXMpY007xG3BJyJMOP6yJWDFBOqCRJIGg5h8dK8TIY96tB5OLvx3MStUw0Z8CX
np9hozERrAJq1M34fVs/V3R3/fsXYw4TXSdIvwIaTw51SN4XdtbAR7RqehQpYYaWPFvlCzHLXU2y
m35ovq5LnE3p4vo5kSjZQJUTtaI6JJIRRXp3VB4qZWcVP4J2xdgWD+6JIGn3BVXDFEOFgJl17jtA
iZodhkHX+gQXtcF7H4DEKDRfdO6kYlIS06jggASutzwb9iBeKFikfqhj5baTurJfSzEwGsDmticU
v4CRf24PZlcEQZHXs1K7xnx3QGtC/XaNUWDRKgAAidAXLECaDDOpIJsUOgRLF5LMq1s0/GQV7u7G
1cId8k1MKfx/MIo/AuVZ6Kgt0DYqILAqto5+V4PsqPipOi8aWbkTF/frRJD0ag4VpwqHatYMaDKk
9UZguaVfuubSaaXv5zeHhGzoyPui+wBVSuRPJPvL7TEMx6hFyMdZ5GL84UDcwScji3cx61m6t26F
f5ccPh8Cj7rdx3Nz03nZjbWtfM6w5C7y7ytH4rIUjav65JtMKf9bqqKuDdKAkvf+Q9mEB2PX3hSP
2TuA7W6mu+Q93k+bx1Rl1kN1E4KXFMH5SmR4ma6cP2EeswFJIrj1ZB6JtC4B0UG7xh2RFzwY28GL
PBAO9W67wejNg8H0bbTSQXGZo5Vk6uenZswCYB84kPkVTi5Q9d7Vh/FB/ai8T/DheKMLxnkvOpg3
WPWdtWJxl9PNknApPBLUSCjlPRQ+zH0zxSYY3XSruMIXD9YWz9hjdge0sLV1ns3rwvxO1lkKjUI8
b4MyhVjUCb1qYzGgYaeg7Wi+H6sX895hikdubU/19G214qR+j/tcky15qXashDoaWG/MZvgTe7Pv
B//ribDOJ552UB/Ue+oaW9MbWfr+3PmI0NeAchcfA6dmJoVTPW9rQQJ8AsC/NZhYu3ma2OAr7u+j
x/38o9zaB2OzOqK/uO424JxQQsWQlxwNowdibMIe624z4OWhXQr9Fqz/MHyAffkgErxJRrRGJZWb
+wFKXCth5FK8YJxIl3e9yTCe6EB6oJvM7Dc6Hf9BggnAAwOlM1Bvy0NOpZLFMOcBM9JZ4qLb2E1W
KxpLS2iiqQoNHqDnuUDc1ngmkliFiAbz/161g5Nuv2A5N9/5W8l+hvvwZWTRvnOzN2dtAZcu2FPZ
kt2YjWZMWgDZNO2BneKG3IuQOgDF4/UbbzFFgD48DZc4EE0vKIhIX9dpBdJr1+jY9J2yZqb4/hai
XmU9ZsyqXTDIusUnEiSCjdtVr7QUHZ2KlwwFpGhxToZ5jUdmfR8+0tsE+KaAi8GUIHPc9JuBh0Z+
/2NF66W3oo05XFDfGOial+dDkrZPgkoYWF7tzc6Yk/4k9rFPX1L9LbG8KD305spCL955pyKlgNOO
DRFhHrhx65ilj/0OA3n3QGO8KffpTliMgMv5zkpxAQEQGlXJZIPp7ugVtZvrqi8YtYW3McZjkKPF
e1WKPIK6yaOhQlF9IK9F4dL8vjS3yCmChw3A+vfOWmS6sMHIbM/z5Gj6Ai+aJE/XR4cTrapddAn2
24Giwc0Mkh4PIbDNXFdtwemAgG0eH0eizbLkRqksLuPeVAGtjqK775TjN6DnrERTi9qciJA2kcc9
Qm0A5ALSrWJtMXmtuO/H7XU9Fs4+OEXmktpMFo0JzvMwgVRdYsQlhEwGUqFhuumgDji1gs/rcpZS
rzMbD2ak8GbQkHo6FxRqudEoXVuDdfswIDwE3m9vAhiNhQogXfZOdltGz9dlLu2RA8B400AnAhoS
JN1CIymTtO9qt3FynwflPrPrFTNYynNBrT8y9HO1JisiPEshIy3RZQMwSKN2C16y1vDr1ptGFk5e
1PpRuDJ+vGQcM/c8jBy9K/TiSqK8jKmDXhFjvAuCn/HwXHS/ri/fomkAdx8ULThUaI46V00dipGP
fV8D2+qlohhZNIB1muCGfbsuZ1mVP3IktxzxGOXQFnLAN5Ead2Z3p62hP15Om2CPHPQ2IgOMiR5w
hp/rothxNgTqbH158TglwTzoWrzVk9GhjdwMd2M4TZjXLvmx0KJ9TY1PijFaj09h/nRd29/96VKg
iE8BsIGOMgtuemlZNROM91o61G6fDWHGGmo3b6KIwgc7G8rvo8kHHXBppZ0zcNKlXt9w5y5KI4z9
dUpauXBofIdfXmw5KAvQQYO45Dg4jbBZTUlYsBh4zCHFdGCslMM2LtrqWEZh+2oRldQsEyWGttTQ
ih/4YFo/Qiel7+2oo845jPZbTDH84wH8o3uMg1SDAdds0AdQIbR6cl90c8oqKEeH6VUf+2AqKX6J
SMGjyXF0dROij/5B4xVezpXW6Qe965w1xLXfLebS+lHMB5uYxwCXHMDRz7dSKO00OvVYu5woQAp/
xRJvQHvhT3TaNY7GjBGYOUn8FVq/1Kp9BigQi/TkHReGl1voSEHXKa//S/WQmY3A8LGGalr/t8gS
4Bqfy2k60sPzBJlkbhkaSNTKwh7rbXwj0J1SFMNhsN+vm9LC9XomZT7Ap9XWyeGdpUIKbUpxB8iW
OmKRg35XppJ42qu8SZ9SMEWFNjplQCT2cF384rkFnQqgM9A8dxHNYRChCFUH5xaNIcdMQ/+zwo9B
GP7DNYitxqDYTK2OcaJzLa0hzEmZTLUbdfZ9qfYexqwjjKGs4nQsxGkU81jIW6hoZcAz/VzQVGmi
t/PZ39GRbGiXoTo1EkApoOnnuQ4RNE5hobt6pglGnIZv9I6HL9fXdMHnzmxy842COwuUNeffUPVj
Ap6v2U8hXuq7XzXwBUxrM6zhh67Jka6tuuB5aaBJ2dX0zKekOqpW8JZkzkGAEdu9rtNC/gnK4M53
QL0zx9/nOkXBUGbJbKZ1gXSh8ZyABRscp70As9LoX5e1pNepLEkvM4jwFh0hS6EHWm+tqL1Vw2Nm
r6GcLcpBfQkBPdKFaEo61ynp4eEnMKuAlU8HfpuO0NlSGu0XJR0Gb4jFX6/rtRDKgJQNxUX4UThq
GWSAD2k8YY4ORz3HHJohnnKxlihbOM5nImaVT7xJ35oVHSn8qqgKzJhqPtVGr+2bf3CNGJbH2COi
FoyzSisXxo5WjPNxNuuvOufuEDwnys/rq6XNR/XijjgRIplBHkZWg/7W2q3s33UXNWVD+sHVvaa9
GtnWcgb0briivevoFg3616UvZJKxkHjzqEAu0jE9dr6QE6B+OHrgEFKThtnmDqSdwJq+S5EMjbym
XyNlW7oFNMTV6I6bO2JkuJu8B07HWM8mX4p9kJhbbRj+Q0/FTRH2R9PkACsx95Yh3q5ruWSRM0YT
RjDR9Qd3ea5lGYRKShpomQzA19GLO0za/r3nnwfN/idCCgyzPskNMpuKpcaPvZo/JdHc4Lo247lk
+NgtAI4heWVaMrsiclcpOAw4fGFNPbBq+Xo57Wk+etcXzF6yC7yAEA3M7HkY5T5fscpGRlY3i9rt
Iq0qWEaxYawGSI6n5mlt+X1kEd/pq+EZYJ79XZllqZfpVYC/pOAjWazG7chsNWp0lgxtZbN2qAtP
tWpldOsoAWAkaNtuFSRAN9mkl9sZ9qBkgaoOx6C3p4OJpuT3YdITTI7ToHpvA5pvnEgDZCjGEuKj
aOrpkZqifGkSOh169Lp5fVtODkPexMYo6tTinxplmQAOkBi5xUIkN74bYG3sN4VeFDuFa9QLhyh4
cIRe4a7UbeFn5sBdqzT7rVENFFxamMdBSSV6APRz7KtaFYAmKtinhaLvbcUCzP1k+Ly0R38SJUWb
Gh3vqa5OGPxQzKNV4bXFoqwr8o3BU/XRGAgHQudgGrtxaqa3sSZazoSdlA/GhPo4y4aoDRiI4bON
Y0X9y5AN2rar8vRTCWPNHbuYoOdICdD4dH3Hl9686KdCUAFHh1FV+QGqUzDsZDYehqpt2sc4qMq7
TtTtHiTQ5hta24KE1bwbvFIZnDtAuCacDcnYrxyjpbsKCIvIwyC0AFCV5AwBIJioXMFXtInKirF3
TfFsOJuxWYkHl+75UzmSfWMBjXHIkX1x6hBku35BU8AQeZV47ntnZWnXdJJcA/hws75NEb+oecw6
gBdF6HXON1WzUj1alANKOPDuEjwEZV/ehbQ19AY6GW3kFdyrrdvSdJit7a6bypI3PbUUaY8y1NRK
YWGPEH8dh9R+Snm3vS5i6Z6Y52mQUQJGNuClzt2PwDOuMZGBRYef5k4dQN8KjLlEAJBSsuKrwBhP
kDj7kqyVb5fMAngkyJTB9DC7OP/8JK6gVCi9MS8h14567BZKyHSkG5Nsh9LcP5jFqSwpZZZ3yZDb
PZaxBPo5A+Vr7itEfWmzqn5Cq7rxLyfrJFqXLD7Mq7HJbCTPLBp8Ebx+WYjWr6bOHCYK++n6/i2b
4p+ngWTyI9BSKgBNzaEtKCVDVpN0U+ovQbS2iJcbhoHnue8CJdy5niPFL3UM4k9w9uauliEtLl4M
NK+E1pNiGkgSruCMXiqFDg/opCMpiAy5bBxxkPd0zEwESA6gBH4pmpdPD93w9rdLB5wRbYbAANas
iUGCcxMcLQEIjMKaQRyGx8T4AmHcbckdryJrreMLkedM3jSjUsw51YtHZGWGJOc2RAH5xxu6Q28g
07SjuBrNG81yh2lDAJmQiM/EvsG9+/d6IimIt6MF/C9cOOd60g7157JHUK3iRozsre3sMWGPRNAa
Z8Olu8JDBN0Y6Pg3TZxtyUQcI85KOkIQYM3dMenuhtB8vK7LsgjESgAVxJNcxgDVC7WOTItztxrD
PSIZVCr68vt1GUvWN/OZAIYOmemLpucw6mLHDMBtPllfDkAt7M+6AmeHWBFzGWCq85aosDxYOnDv
zrcl7JJUoN8Vq2XeFBW9zU3bA/ftyuavSZF8H1CJhKHFkIJug+0U18fEMn/kPF+55RfXDFP1WDfA
1gCh6VyZNrYSWvQQE5KPmH8NWcCqxlsl011IrGPR/icHAznnckrSFlYiICfjjadU22n4zygOU4Rs
HkmZRe8KTFhXbvb3fUDnciXT1iuKaDaY5ZrtBmR9Lu8pLitn0w+oLhtPCKXcv7ZCqsIBEowEzyTF
0qnlQxC3Q5siRqamGw7I4KL7KDDegmHl6b2wdWeCpBuEgB5IM0YIaowsf0aRUN8DSbC4Gevyv9SO
1gaRL987KooT4KynyKhhDFTSq1PA3KsZcBJNmb6pFZIJYdcxMNExxKO3BoAFAlP/h7XEYxhoD2hC
ci6wJVNbU5w46TjajokrenRfRx7lIwuqv66/YJ4WCd7f+K+4uSTl4l7UlWPDdQCp5+DkPGJEAyKQ
gWfS31vHKfCDJIiOatmLFBqNQLGI9ZeePhrZJq7Xen6Xbq4zhAnpkhyCCA14OQQFE/fSdHIN4Tf2
hoxuSQ4aEihl5FaK14BXsptuYmPFOBfcF9XB64etw5SfJacxOC1mXFAAXFAwDWlKutFHc6PpxUoU
tRDcnIqROY0Cs9MyJYOYMEIvVvCfMKpnUy28Vtd2RblmJYvS5htyhjkFxpfkLOOhGhThTFAK+6WW
xY1qfsXxz7BvvAijmdctZeHGRIIceXiAR2Hu+vcGnwTamtKowOKFakbMH5TcONrVt+sSFvfoRILk
QCp1rMOcQoKd9C5H28SktU9mmvnXxSwqYlkYKDQoLMKUVq2N+Zj3qoDjcMJH1R6ejXjlWbds7Bh2
AsQ9hkepnOsvYvzvvLBg7EPwFMyoxcWLDYQBs2TOM0dqv3+0zVv7p4p3Jc/b7XUFlxwxqpBIgM6x
B1Lj53cbN5sqsMaRu4lznxC8jMT3uNsE6rTiDZc8sAE8oVlNR8eYwrmc2sqFpscA/E0M+xbsFd5Q
EBaMaImj2bZHrSzO1+6YhdY/9EdhOhp1IRDEIOdwLjObBOdiTjtiUvTdDIc9ifPuPzszbsrWuuVd
Q9zJjF5IbT/FYhDMSiNtX5tCPQR5tbfM2vDLtgJKkGa8Xl/1WfJ5UhhVKriXeTAKgE5y/q0uLU3E
I0phtUCVsHGRnQ0rv8x/BhhJGelLF63Y8dI2z89tdOLgSYBdOF8KzItbMalD7gJdhAXdl20jrTVh
3mBlmxcVO5EjRX5OZUeKUygAS+lf2+Gh53vVGlDs3JX0Viv9UvzD3YemB2ST5tODzPO5XjGMVwlE
hNDcSZBMApIFWsWaWltRa8nbnIqZl/fEn5ltmzSag+Uj9EHYBWvBU+LQl+tGsXREkDHANs32in6K
cyFO3OTozI25qw13QXSb1yZz7B16elq+icZ/WbgTYdJGRWpdNHmWwOuYKquqGz3eNlm5smyXwPTA
ZkC3FZ5lM4qTKeezgZ0G9BwDvq2qGmZFBhME8AjI/DAxJHu9CHxLmGhoR4bESlJXA7CqxW9T0H71
YNHpK8Eq65dVrVE7LlkpwkmMoKP/BxO7ktXAzQciifCg463tAZAfJ/xXWjbbQnvlE2ZJbsvcu763
SwaEtKcJOCmUmnDuz/e2tJUW+I0Z9rbKk12lZib6S6LhtjAy8i+isO6I3qmK8pbk9UzYUcAplCvq
6ZaOgEYc1Bdii+frGi10kmOwEFJALAKw8cvZGMCD5Whox4uVW1s7jV77Nr5t+p9j8MMQYu9ELUrj
neoCB/BZi4eNpdelp+gq661ubXxrKbg5PTqSzmkTNmBvwNEZAYtnY3IWNHtRcWzjV73/F0/65+DI
Pfw9mutEFkJUqH2Wzm5IH2v9pSr311d30V+fSJGuZUJFOjQWpFBnT8v3sbwHJ0gvVi7/pXMwT5nM
vXAqYEslqzRD1LXiHK+w0Ag92v1UkRSFNLsBz7MS+6gBu864FoguHQWK9ANF6xPSYPJRiJNCz2sb
ngdR/IaiPydBjt6xH68v4O+ZFfmKPRUzR3YnLrvVqqRTKMQoqFa+dqnVo9Gqidtk01v2+GyCqC7w
MYHOLYb2hy73So323+CrBLo6tBCcck6fKS5CAq14cnSlfRs6LZ6xRtEmBUICtP34YwQgUloX9lc+
TvSpJ3VWIhOgOc9JkNDHgWA2vs+D5rPCbwHoH/rnPrLKGbZthP5GP1TMvgXCEyi2WdQCZOqxFsh0
eTi0zeAmSVU4rm6oqS+iweAbge6dxrebjDAxTYbX1Hb5UAbVlKOBP0Oncle2tmsPVulXAJnLwxYs
kI1ZcAx5R11JAXwkqjtat9rECBn4D6Wz449RTQHUE9vAN2agTserajCBosObKuxcMyl1ckh72/B0
O1SfRdUPyW1njuRBi3I6bMDLLFBhGfTsPtXjzgPud0hYZIIvzMwADAomSjV4i0o62LdRDqBA9JMZ
9j1qwvU+CmvbH5Ie0UHghLgLKjRHqtA+sV9FUoH8tOv6bKvVbeHnplNyP6FtA4iv2BQ3AC0evgVq
lHSuGJRyE1l6ma140qVDeGpC0jVRT2Kq+wTHIwdUVRPcdcGTjaSPk75ct9WF4hzqYQAXpzNFBBDG
JEFNopqRNicYx+GeF7vI3iSqP1avDtgoy+QmsPeGsrsuc/EUnoiUIpoBQwo2V5ARqYHRXuoVWmCj
8jEsp8/rchbXEEgfwJkDRAbO/PkxpE019TyDHBSIdwIUC0WVvCYGeSo7sbJdy8v4R9bvn58c+WHk
ItbmVPBEdprzpY6PrRm7o/PNLDfTtGnSx6Reo5JYeGTMzXVA/gDUDCIJR/LUADMNa6CHI0lHb8Pq
oRC39fA9jL6N6Fyx/BEHNn7BOWdgH8TYJSt0L04/2uzr+jJfevLzr9DPlxlsUU7QRviKPsUEQfBc
j6nH1cEN5umu9yh247Vy5KUBQeLccz6/8JF+l/TmFvgH46jlborR/rJSfDN29iJYE7OQfIUcRGqA
uiKAXJJRgwLRkzKbCtyEgjybtH+M+6jetRE9ECMuWK6nwo0MPPLauN7HRVVtHPTUrZjWZXyhAfYP
I0VoowSHiwxiNaEztYznTGzcNLeIZaNtkDud145Ky+g0IhtrRfrfe4VZc4LF1RA54wPO9zTQAFuu
pRCaV2iG/ZlGIzNq7KTyqeTf+vEOFJPjtFa3WdzWE6HmuVA1D7KwNmFIgzXtEo18tFHnF5i7v26v
C2cVys0lCEAag49MznqoIA4JCrNBPgDQbHl+V9OXHNFGjkkMtGNt8uY2D9bwwy990Sxz7qzBkuLu
lUw2R7sG7WqYbJP/rJvUTUArEGAcbK3na3ENT+RIhzEA9s6IWix8a3Mosq8232hiJbyZt+E8ujlX
RbKNOqEd8CihSls/TmrBhnGNwGNtsSRDcPTGtiIOJVIArOOm2Kex82hnNw64MNh1Y1h0XifrNa/n
id/OSydBiQXKcOdesX8oDWHTsDfwdAm0o9AC1rT6isgl7XCiZsB+NDICi+pcJDWqbhAOMsx6a3pR
fj/Gdxxd5MYa3fuSKZzIkZmGRNQYoxpBTqTxG6LxTYuR7ikLvesruCZGtuwh681OhZgOdN8UFCFR
Xntlvko0N1uubHbwRDYQ6AEyhfDhfNlEJcoYfdbcLWOBIaBQBKavt108oqexNfJbEKUgZ+ZUyh06
xPqNARCa/xyR9zd6AzhnJmoAff695sAVxJC8Ab+Mu+j8i8qeljRWgckbEkwg1HnWuGElgk1Xaj//
XtKp7vPanFipbdQmngnQ3Qn65yLQfjS26dnFyrN66SycSpEOtsabqRwD7KQt3mlbMq0AeV31iG6H
SJ0Qen6gbP8PejlIOCETMgdPksSwjNMy0pHijmMn8JNKtQ4FIDxR28yslc1a8lrz/B3G8XGRItg9
X8K2yVq0rUNU1xlA+ikeYk7c69osXiyohuEphXAa0/aSOlGQJsB9QJ2jGjoWzkNJO13dtb1vtBuN
PugkYm331803mMjVDECVI92FEFCSqShUHcsByW1MCKAhC3Ah07jPTXNDeLuyW5dJQohCmh4tdCjj
o937fAntlFb1FOscFcWcTYo39SHTyGet33Jx4PXr9dVccpOn0qQsoZ2LdspzSIuQNnb41lBb5FUa
VsQrK7gwFTUPNeMPIK/RxSuP0ihTnTV81mu0VM+xWt+guRcDzLltFDexNU+M7+DRc8dquA0y2w+S
ccVylnTFByCNDETM2XrOVzbP0YM2gOQBPHCNH+TfOyfycgCXqzRe2cOlMz5jh2Lwis4jFta5JAVd
b4QqgPemidEDqWQSNQuEZmNYpjEBVUbG5t6KQwFYG5Qn8RxEjPgPn4BpOkRCqE7Ptnv+CUDWdzgw
ReeWlvveEf6Mw9w+WM7RSPZiiJlt1ytnf8lwUf4BzTzG1+eqzLlEh4SD1mRx4Q7Ot0lDFPuQA0y9
0SJmD97/kXZdS3LrSvKLGAF68pWu2W681QtDM5LoQW+/fpOKuztsDLcR59wXvUyEqgEWCoWqrMyw
+eeTHoiiBO+SxafQvmO+plQVJRQ5MD4gdUZ1rCbFOEBGAwC1UUliV0YVZNe2RsPF2S43IHtDYhgX
chPAn0Kqhrkh1bjHQlMd1VcaWLI8QCDhsTKtkf5Qp9s4xdTxrabt5qr1rp/UZfu+20U1TYPYPYjf
mO0VDb1TQrBY2a3wU1CkI0V1hIa8XuVWAEfCjhoFAOoyJqAuP6IGKm1JBYGwrUuRVU+7orgbk3st
R01tF2k+aU6S5M2xYg/IpcR3VHOur3KjofC3kweF6eXFjWmuyx9QzCJJTYEAbLtrHgx7cPujeNT2
1FL84ASBQBBqkKO+lx6u2/2+u4tZQEdQEASojX05DGHQ54OsYMamMl6BFPTFQjsbkcpb3rJ/l1/x
0g6TY4hqYVR1BjsR9O6b6hkcm3sNw5+NNOEiA2Be2El999jEYK0bGqtsYxRos+fri/0eni5/BPOR
FT0X44FgeFid5NsuiOxYadwkU06CFkIY3XDRs3EKmL9ulrfHi++t8qs+lcCpW8FsWsvI+GWrFHU3
5zEQ8RbHnBOUDNqwN2GlzmwDyxifAfyX5bcp+Jmlx2DkvW2+3yqXm8k4LCm0tIqQO9q14kbg6Y5s
ar4SHoHcphUVEmYLByDmeJlPRrOIINph8AYCBWTcQVdn6EC88nb9C/0d7frmniszzCeaZkPHoxNm
lPP8pneW/AEYP3L9Q/uq7dv78kFDMvJb4J2K7zEVe7i82gFRWIC5TM4Th3qjQyIGpw9z0gpApIf6
j645unTbF5aeOWOPapt/fa3L//ltqSubTOYTto2sTyVsiqOXJn9GtbOWDCS5aSNeyeX7zQiM7gLh
wlw4wM4s8LiIWj2vGxx61TjX9NxF51q5bcsXeb7vFc5ebjnK2hazrE4S5qkrYEvB4GqkuWXgKEVp
CcP++vbx1sRcv7GoxIWGKWBMymYYiUYfoPgVa5KX0NbSqGxrneFet8hZmcqANOch7Ko6XHaxvC3C
33r/HM+JZfJuoC2/QHqGGRYUrzDFz/hiTTMyCDr4YVQ9tYzsRhsO4Nu0QJ+HKafrK9oKiGtTzLca
lWwsOg2m0mQfFD+JvlfD3/+dCeYz0aLEpKUKE4M4oq9yJ5SfFZ4w141sfpmvLWNrIGYDXctAXHwu
7hR0NmgNyLEKxE9gaLeiGfCE4TZ9T8aYDDiHga1haztaWxo1lFxgb5Re5iQJ0Q8YnXqYjiSj1tTI
r5r5z8GeOMOo0uLpgqzoW4Jgon8T1kMA3o2iBmIRFwl4XyMnUx7/xV5iggsZJvCe3yDPYSHWGATW
MXxLh32GEibaDKYQ2iWPjGXrnkQ0x/MACAnMkDL3ZDwoSdPM2MSq/9mURyA8LLnYjZCYqB30IsWR
4+yb52plb3Gi1e2flzQcpBH2pNkvBkuWnLB918UzLX9c38EN5qdlJALNBExgaHiusydYigdEdmzh
cDZvUIsQX1O/9ONzfcieRbsRLBBc3UEm/bfZ+emH4HHMb11ma/PMqZabqCHmYr73ipsOpBmorn5k
R2EXO40fFfZ1c9/PHiotmHbCxDsARVD0u9xWKRfAjhonjQ1uCSBoh/YczM4kcaL9phVwD2OiC9uq
s70gCNeq0jSj9FYl/qietPC5Hh3BfLm+lr/o88s7WQbNJ0QlUbMFfId9oU+DOI85BrhA5SdYsSvh
32YnHuUb6QAWztAqdo1sEZSwrOig72MHEj7H2Kk4j6DvnopfAZVcvO+Am8RgErOliplAVxn/dwbW
wtkRRCsvvai4K2uOpy7/0bflrgwtu746EoMRRmg4Yrmj/AlmoryHPssHZ0t5NpjDoPXEaIUUiyH3
7amytb3hybse2xrbrd954S6ySzfdUQs5gpO46p7sDFc5895XG5mljMILoPnLZMrycL5cqzLNwUBA
HWOHL/UnNKtBynar7UJL+K271Adlylk8TByY9wby9tIocxRj1RxjaTHafgJZ7ujW7Nen2FL2jSf8
qG8m//pmb+31eo3MZSsaKYmEHuaS6QR+Bq3/LHiIBd4+sllQV0pS1cyw8VLujbNu5feCJRIrOL2a
EH1qz+L5/r9alMrUO0azS1tpMShN+0Tdy2Qn8DK771fRxWdSmUfxlBd6EGQwoT/Kr0gfndKKn+hO
57jDFk3p2ge/UUcSzJR30/J99nVhieDFs0Uv85QnnAW32E9e5z8bLrXCXWYFMZcyVPqet1yuk3ld
hVoYKM3ijoMb2NFJuWm95D138bo6jg+93+IM6jiLZB/vb/6Md9It9Jfd+COAo/KU17l7wQS5gtBE
DlAfw3nsXNmJTolHQZbvmS7owj8gdfwi7JKbx+g82MmO9/baqPJc7gQT+Ux1UtV0+RLTQXODnYHi
5HFyRXAH/j4Bf/OJcfl7wzc5b6Nlf9l4i1bScrtgAApzfpcxqBSqibSiUdt6THZZmx/rsOBQ4W6F
gLUJJuKABo6MC2WUjUFkvyxDP8ZpqTrKAfduXVG4nDAkbujLHAtTDtDlrEU/FdloMag/0yhHPSXX
ATaN1IdhaA2PqhLnItk6oyDe0NHTAbMwLufLvVOmwAA9xPLeQ0E3C29mU9v1vRvN+wioX0wi5ykn
8GzlHCuLrMxTUKlk6vrldVS8hEXljlX8o6eLhmvPqyVvHUzIBy6j9waI0tjLCRXkNA6WBwUmho5p
2D5oeQptu0p7GofgoQMPFEr2z9fj6uYZWBtlXAUDNFWdE+SJejjfAWXnaLnxaSSzbeo/Jqg7pGHs
TTWORjEJ91rR3GBMckf0Z5KBz1rpD1TVvTINH67/rA3PQvUew5DSMtP27flbqGFtzEkMAlEBQJxz
AvZOvXQ0POgNXpdkA/mD2j36XCj5iFB7Z58g0NUjZlEid40SCIeApLUUHLEvrTKevBgPe10uREzI
TigLzQ9UTdzrS908q6uvzrh0RYGjDnJ8ALGdvaCrb8ahtIuo4nzoTefCSjT0RfF4ZJ8jgGuDmW5E
SMjHH1oLJNEU2iSxNXI3j36jC9b1VW18QHABLe/UZZwZ9E2XB7Ul9UwSA6vK8vdWpp4hVvf5/If2
GIpReSzYm2tbGWNu7gokgHrVw1jQgN2Fpn7aoJ1ma9Gxafci+mvX17b5xVbmmLBXA4in1jW2cg6A
eu8HNwF18BgLnAcAb1XMPd2BxkHoA4SDEQIrgvwTEl8C+Skmr71x1IVf19e0GeZWa1rWvHoE9KNZ
m3GDLSwyyUK66lTtr3Ck+wxzSf+dJebSbQRax2R58Wv0TwHyVUGy0uaJgp/qup3tr4QhRFA6oP/J
NuhBGaDoiWiisiArFmB/Ny2AG1GT+tfNbN7miNX/a4b5ShVOm6qXuAPLNiVOUMSiPw2h7F63su0L
X1aYz0NjEO8aHRajNSeQcHmy/tYP+7LdgRCyMt6vG9v2BUyMGYDTotLPnF0oD89mIMC/W0OAyhze
g5gbk0G+FFGJk6hsrgsNYnRrgY7Co/7S7SptFOUAIlIoCoIYSHuQq1d9FKy5ABuMaIs8sNlWVEJZ
GjhPcBKgecpuo4x+tBoh1NNatdL6pgZ1XVHeT/1brfxjmo+FBBo1OsCtMQfHApKpghQf/EuoiISi
6vd1iDxaSuIdLdW7DCRST9e/2ZYbglYETf4FW/NNlLSnRaHkbQie8Tpxcym8mcLRu24CkH98DSZz
BTEQZEmhXAfWfZaqMSmMfFLTtLENFLcOapJE73oIOVixHQAayqQ0faKBMLhEDou9EMv5Z1sYmt3L
QfFYqhgPist8vgkn2rgpFaAjmMQqCjmGcBrkur/pWnGgFpqT2KZSTqvP0cibtzQbZVttxPINPPJG
ZI9iKdiBUYwfRBDUhwYz6Td1ZgaAr+aRL/bh+DvutFy+GQMl2of6kqdlM9H+aGNbNI6cRdK+nEfB
HcI5288k0nOnNVM1OCpplJzUEv0EKx9zFfoYfStNzjROGhQUBAUaY6lWmBKU3CRMzQZzrkQupLdk
ajVEb/CMGKLBzYjWu3hJ9n/6bjQb6AEnwEWbSWfKdjDMdD+J8nhMRCE/NVk+PBnpXL40QvUMVtU7
mOr9saCYqZ/IPPdWq5tg+oqkHKCzQJI9TOFnPzq9NexZLLOHDv1RP2xMEfhzCTx7dETHGBSxcV26
ipYOvT3lRAONWCa7WkKSvZhRyc3EZcpdHvUDPElwaV83e6Huq4MK2qr9hJn5Hj2HMcLYBfirP9Og
E8ODks2ZjV9dGoe61eLCrZRaB+9sNEp2mxa5ackjsNN2ntXpQgY9lY9KHScPEgWWTZ6b/ikv68lq
BdP0xj4Ay2ela51lKA35MWIWA+RFWTFpjmKGIyRoMNniARqQlHZV9uFjNzet8ZhlYzfZvUqlVzq0
uV8qYynaGngivUEUp19ED0EUVItl6eYghXueTHwuR6SBVgALocCmVKvRqwJWYeOghJX5hKQ796e2
a6TAgr6zfJ4xg2ZaoPbVDJ+KXXsaJYijHhp0FqBksVD+0opAva8wjUC1QBQ09VZBTX22urhEcUce
it7rKFVe4jxMof2QUXoQckL8CjvltUizf2F8R8FbKZV0aqVh8KT2EK/oR9KeOxnyYxHC16GJaOUH
Qmue5CGLJVgN08TRSRv6LYQTHgDEn/fygC4qQKyx6BZBG++UcQZLUmn2IOFW1SF0ykzv932dAoEz
xiNUFkA48EeO+zCxmj5GTtFLI8QvwzE4yYKQPRK9GH5D6i12J3OGlNtQtL4BJNrvSBhB3TcmxnxM
aRKAjUmV76tGFOw4R/HbkrFaT616qMrMQlj/wNB8LFl6XobvUpKggVXGpTHcBZTmhzrIQM9jkDa7
V4bGfGylKrzLZTq9D1Mz6R5JZXM3D1JA/VkXmlMkZjpuPUCV3LxNtXswoZHOGQwhE08tycoHVWjp
URK05E+hImPC2JKJ3p8CsmMXw7TQD9VSox8e24FCxyKp2oM265MDCu4EipiiPnEu641ZDbyGMcUP
qnJUGTG+cHmrDaaeq0YDiWtoIBJHmAFGGqENr5uOqekurrpntfqtZDWGBxEyOys9fExh4dDiDG7j
j+tRewPxdvljmASlIaRswnS5iDLwP+MU0txJ9B/jKDtzF/4pqs8qVE9RgBysba2Yi5DafF+td4O5
dDNRyAw6LlX7ITkktHO6CsIMjWTXuYIxN9FXQDujZUDBoYeLGexXzgYs6Qp7a+FjoERhLpiab5A/
oUrAlY9bS6s/0ggw7CbyZNr86LLXgmAcv+4LwKWL0MnKyDLLkXMzb2RTmFtdkAWYicfENbN8iJbL
Y6ZXMN9Wtypm4nFUDj09ULSpOSvdup/XppafskriC6Gb9barIQZUVk5suiSpXBQ1rZrYU/+ixbsx
OnQSJwHeSOEWfXI8KQFoVJBpXxpNMWMcoIeHnAqXnzoPL5iD9OeZQMWQ6nZZpw/C9PP6QjfSOEx5
g/AD5K94zipMghqFgjBnHUzGTWwPSmWFUoSJ/H2QgfBxd93WRmIFPlYDBXURqTzE8y6X19OoUUp5
QnVA/gQQ3dJb57qBLf9YG1j2d/XREAYBIjRgoGurGIJlSn5Dh+AtS9IJT6Ss4phb3I09DRinAvMr
ih1o1DGfS1ET3NvqjM/VP9bDS5S8hhqnLLi5ZV8mWLXEaBKmUhhgYpRHRxtBlcWT/OUsQmMcgAaz
MmgSLHT1h9H7nf78LxrToIxE2wt4dQQPDBBffhZ5FtQpTUUk1HGUW0aHWx7cAoIovlGpPPVRez9H
kVVWAw/GsHWeAO5GkxM8gRj4Yz5QKmfgPyJSY/eNaAX5B8ldJGpChMHC7GkknCLD5vWAewq83ku1
TWOPr5CPk4DhFISnH9TB/Et2W7+KN8if9sWvqrUmjr0tb8dYFEhudMxS4ERdbivtqq6Rl6sxFZ+q
AqS9H4J+RF70z88UJgwAlQeJPsI+Y6WL8MojyDnthN42tT0Fo1XJSCH+OepOBqz5yw5zdtXSbIc4
JVgNJBZIofvNnJ0KpKgZJZwu7dahApELdDRAQYcKHuMWo1APahLBLZBunDJjPk0pL5JvnSpQUSEq
LG9kvCIvv83UEwWpAlwBA9uh1WsU8+djHIDLBf326x9oS9IC4HOcLdSewRduMjuHN0YlqLmJrMQd
3/DaAbb32O4qV7HnYwkBNe0x8HRXf0bT3ZoKqz5QTuVhc7GrH8Ds52DWaZbpyw/IwDM9Hij9nfJo
treK66tVYlzkckdNkJKM6Qwjgo/ptso95277AdW2XeZp++IzeGruhlfohnPQGFsdZ9gFVwaGlVCY
You9qq50NRXQ2Gpq68fsQ1gl/hGJdrh/rIgl+Xlqc/Emi3Ow98raJPNBZajJDGmApRK734t+2Dna
XY+pVVe0hXfNVx6Sg3Qj3BGf17bdzLYXngcU9EyMqrBdKEktp0huA8xz7saT9Iy6UeLEu8AHmGAH
2vAKel/1bji+XPfgzfO4srr8fXVtT2LWVWaySL2PdylRrUDijKosDvh9Q7+WtTjwysBs9HgVhzBQ
n0C11x+TP/Ql9kyMav26vpLNK2C9gUvMXlmiVGvSWMEG5pBJvWnf6Cl2BaApPXVnHtpd+nrd3vbJ
+1oYE2bCKIz7FtQTEN2rHU1ULQX8O9nwdN3KBm+MjDPwZYZxSLyPS13sYaZ18hvVInblvmGWieyD
R+L9bPyYs6yNibBLg0xEUbQx7nuIX9vyJ1C8+XkmtjRY3VvzBEEsmbe8rVwfVUW8K5S/0rPMG1NR
CzHRK7gHYPvtW7OT3oFhORu36kHl+cfWnQ0uP+zmkuDjEXPpH03SVOYMmg8b5bQH+bF3AG9sT8mb
sY8eMHzWHQ2v/ZnseKLVmwd7bZfxSwztyWmIPqgtfqZu9EKdeAQdpDU+AJSt2tKN8iMRLAIdWZ4u
yKbv6CANV0CPBZw7exNqcVxFBbQe7C4hld/QFBVqtZ0mR4gSYR8VA5Y/V+j+lLKaI64aSvI4V6R5
LgaMkAW5OPqFPNNzWZekcK87trIRF9a/jfHrdjZqCrIExAXa2xLY5gph8K6b2HRlVHghNYWX3QJj
vPziFUkgp2joyGtmBYU/+VGs3gcp8tO8t0sKSEH+uyzJfa9GnGrF9uL+zzCrEA13N5p4wsYHiegN
euRRMdtxFrfpzl+LY+VYIg01v2Vu3h4O5QnjtSi/4Jokz1BoDH+fhPP8M/tDLJnXEd2K56s9NaXL
PW3nIhJLTYUoMyUvbSn5YdDsZh3AN12BHmgV2kal3TWl8n59vVvhdm2XCRSZXAPuQ7ClOTTYs49K
OOjl83UTmzuqYP5NhKaICPa/y6XRahoNPcCO5oARoH6p3moAkZO361Y2fWNlhXH8LhYUKL0v3y3+
ZZT7joeD38yallk6PE4wQPhtWJ8m0DOOQ2RNMoSMwfxaWfoNuasc7bPyzH3nj7x21OaK8MREXr8M
mv2tnK0u3lmjSMML3Bi99CIMp5RwzvHmpwcPJibKllFetgVaY4AAlElYUFcXQByPYGa67+d/zsKN
xxzguBh+xJsOpbTLrz8MESIhGFnsqXkoBrea7uqU82rcXAiQGXiXoHJBWAcLRaPt2wGXXTX9fYvf
BBgISobm3/jxygzjYcac4/9dbvAqAS1nauWBr2gvJOc8PTaPy8oMs2FmRlCaX+7TafLz8pTq+05w
Ut4jYPmxbP64oFn+s2cK8/YYzJiCAAJWJN2ekxOpf2S6Y0J2dHRFnlr09oWJZyOotsAsK7NTt0Km
9spQRa3d/TQ6t+rd8WBQS95lh9gBj3hiGb2ztIE4sW37yK7sLlu9OkEircEdUy92D8NOvxUe8J47
F53dnlu3tdv3zr8egzY/3SLEiBEqDG+z7MYK6bRRBrubnYineFZtsEnuk/pXKpSc9vFmUr5wX/zH
Evv5VLR3DNzD+HyT3ZWeoR3V8lWcXiO6T2mBYsO+Te7z0mpCHrxlO+9amWaqa3ItDjrpsEgT2pyW
+Ro9ig/g3Agt6o/gA7BTwY7O5AgdJp2D2dj02ZVl5o6EjgOOBU1b0OEBU/iQtye5Ax/eTZ6cxoo3
YrUFYoaOLGIXAZ4Qjf8l6qychyQRxEUqrLPRneYMNl40yQ6zO93pu9JHs/Esl1Z+Kz1cd6HNfogO
TkL0egD/BHvmpVm5oFWqzvDZ1ulfEfut4DHcv0dn05/vOKY29/PLFOtEyWCYYTBjheVb52q76kb9
SH8X5+l2rK3JUzz1LvXIj/A9srj1gCWt+BZ+VqZZJ5oGueiWVfaOaJlWvsuO+g31358DG5zgPMfZ
9tmVOcZzxB6sp/XfTfVMS/Tvejs+95Zuyw+ZFdr6KTvnHzz08pLWXFsim1ktrFoUY5UYtb2thWNK
7urBEjSAgNzr33Hz+lsqmZg+BasJK+aC93GSJ5BMsGMTM9qKaA3mRx/trxvZTEZWRphQmmp125kJ
Ao6gBpY4PqBLed3A1nYtUB+ofJFlXo7xCPBO5rkR4nDP6Na0U2TPYXYuRtMOQYlL9ZrThdgK1Wtz
jEeErYz5vBLmuiSwMiX0uvoslF7Om4neLPKtDTFuINVjEsYSNm705H1SWJWvWqMzHkG5XR+BqFN/
dEfBHyx6P/LON29Ll2+6imAl9N5RUYdpZad+AiNQWLOTuqar3Nalbd4rXrYL97MbuJT3muFZZmOn
Ubdyl2N3TeNnHh0y/WnKAHvwO57q/Jbvr3eXcUuzG9ShbWFIBSaxolYR7SQo41x3zc2rwBQNDMwt
yI7vo99N3hntksNW1A2FAuiXY5i91soeWi9dciQRtKAgBwGKglMiPYGqM4g45b6tDV3/giWUrz4l
Abu4PixVzDa/zaZHIAgsoFjQdLXMhCcovbWnAPEgnCyNH4OtmOokzWdjRGoYT7eS8KvKPZnXNuWZ
YDxTqJteEhYTUyHe0wQFMC3wwOJqcz7cEjTYGLxeCuOHaQ9VX2gS4zKFrGn2sxPcWnLD4o+sngE7
dqLJzs3bseekgRv3KtwETI0gikQKwU4jzeOQIe+GVbGuLFH86EEglOeWIj6OAXDinXd9lRuh7MIc
E8r6Is4yAMbwMA3ru4pSR2kTr8eELB53nA3duAUuTDHBbMZr0Ri05aXV527dpoew0dz/bjWMa9S9
oMtTCxN9fjuLr5P4aMyP9F88GbEQTZMhpI0xZnZSpBpAAFUsCcE4PAKEo8Z7yuPC2SqTrW2wsyGi
0Aa0LXEvT0bmYDzaMcPcwkDpewvufims3EW5dY5Hv4qn++ubuPXiurDN3KaTJI2mOsA2Ud6S0h3S
Q1b6RfwyV24TPYeq38qPU7UfSkch97LGCZgb0erCOuOR4JRXlAoio2B/VuyI/KrNyEojSD4U5KUo
e47H8KyxTgn18yxdXl2deSfKv5U+sQ0K/tn8CBgnZ1+XX84EFNQ8kbopmOxXUNa4jMMymKh7I8DK
1AnpciWcCFq7QxveVUmENm/wXlCgTFvxAd2uW0OJF6686z9hCVnXfgFzExS5IZhiitUmI5BJhjGI
ALjVoq2LFY8IaHNjV4tlniKaDEpwQrHYLlaPkRB6paIeZLO3UikDN9Cvf7MwgE9ww0ILhi1HkXCO
MipiYWq1V0boDgO0uLtuYntBXyaY2JLFfRUII0yIQISOulVC1Gmmp7TfJenLdVPbJxCc9v+7nOU7
rm5sUYrAJCAi+ZoOaJwFZ9FrzsYvdGLuwISuHhQ/u+fdqtJmeF4A2BoEqAEwZE69KY6p2Mew2T51
buJAIcQHAFYIrdhGm9eVd7kzurlXWtFBu8EfTvDdo3zX8EAqG+wGuP1WP4QJAFUKtxwy/BD1NrNf
0iNoXnLNllrHOGFyyp78n6lTVpbwRJ/lfcRJ7Tev35VxJh4QYH3jWsVXnjK/HmwiH9vAViQ3pg+l
VnFC3VZueLFUxqeKsU7NoVj23CsdsBrs3sCa3/uJYz6ID60LYrlpF3Cu4W3nMkDVIwHQv+hfXDoX
drcaJJLh+tI0q8GMUaEtSOjZgljyOVOhcoJRPEkLXS0O7UyUQPidOp36iXE6zrtw80itfgnzpaNI
HJu5X95RGBwbzooJZlIF49G1M/DUg7a9amWL+bCxUaalOGHVyoGezujK9HfJXetrT3hIpZZmyXbs
db8E5z7BwO7148xbJvOViTSYrRbBtKADtaBh+KRNnRo87kn/OxoUnlNttG/BFvj1fZngUSY0NtQS
5ibhdYxUq6v2te7nAYitlCdTuwOXhhVXnDVu5pEGtKBAq4d2AzvpKMyS1hU1jAbgVp5Qrje08h6U
EmLBo8Befv63O2xlafklq9ioqhWIphRYCtF4isFbAVkRonPCwLYR0KtAV8vAOApze8VG06YqyVt7
aJEKQ9U5aQwvIo1z3TO+mwETCAYnAb7CLJQsMwcgKIMkDDIAeHXITgGgORtuDR0vK+pVTmNgozQI
UxgwWNQPUdXWGP/PxUGIdblGI63VznH4y8y6g0S6HYlSN0n/6GpiC5Bc1qVuXxCeDOj3u+Uv4wko
i8C5iGHu5YSsvpkhJuCRrGC8nBIvTtSHtJ//cR/n0gST2kjJmJBiBnC301JPB/SbZJlTRCXHzzcS
80s7jGfIFF/pL0A4yU5y9DwAqTlq943kpNVBixI7I29CyONX+366FqNLr00DuQg0kS73j1Ym8GxN
CyRlB/xaHng06XZ6IVmCwSsW8EwxLtmp2jSFCkxFhuaO44RbYcGxm7dAoXNqTN/v2mVVmJYzNASs
bxrqmL4y+1DFJxMyO09eWurRvrEC/bnOP1SDl1dsL+zLGhM36jBtFGQV6P+LZ82ooUqyN6PYSlVO
6Pge7S9Xxfg6KgpEzyasagpzoOIHKy7/mKQ5jNFrL/BU3XiLYry+iIpKygosSmjdGPIdqf7RBsNt
w3P7xasvg+7lohivl2jcLuI4eFhPselUYZACP9zet/rwFkrDTTcNwJdPynzMtASQg+tRctM4aH7R
cVyyUxZX3qPcRMQcxlXI8wjQXRw/hWZv5rFVNI9Z+SfkFQY38jIs98siGyxnVUS/qBsAUvkJBuyD
5CqgDH0o3cmjDxUyYEToHTnynkwbnYZLs0yiEKKnohrlYvYF+OXIEfwATEXDi/I731F/AnV0Z9d/
cH2rnJO4eQ8htCw8BSL6Rkx8AZg6LtBoX6Yvz6bYQuDXmfSac9lt9B2xvJUVJrQACx7LYgMrSb1T
wQ8dooKm20DzOwRU/2HhhtOuSkwLUdTsn6770OZBWdlmrj+a632MyQEgA1vlOGUwQqoTFMJ2daz5
101tBoCVKeYr5gBoJ2UIU1QYdkI+76QJAN3csAsts+Djz9fN8b7d8vfV3TqWQdllFOZE870U7wsI
knIHB3i7x8RONTOnOpqW3ashtFXe560f6gdj5hz0zaVASQUc0JiB/FYgAWNuG4FiCqGTHjPBqcvP
iDc7vX1/L9MP0pLcfSOrqFAozg0JqYjavooGevtDiefG/D4LzVk1Jbefyzcqog7Pk0XYvO1WhplQ
HQPqR4vltotlrzEru5gRSFqwPCAx11BmSzSVQwe16Ygri0zQxqAg8G7Gcr+SEn0jSfcS430M+nux
EuxcIRxcweLX3+6IL3PfZnMoiaJ+uWCTVrDLLoTAz8zTquLZYAIVrTGOnWMkzFbw1ZDOBhaZCA9y
suntq4UwcQqPRFXplrGzriuduCeqHUiGO+sicgZoWVw/vhs4E0RFgAR0Y+E+Bi7y8vxWTSVO0oRt
wyREMe/i4i4J3oPmpIRPraxAYPhVUvddcldG+yZ65xhf9uv7N/syzhxsUCkVNO5gXMkwr3pUpHOo
vaqJD5GTLHuMqpOoAl/DuW027/NlPkJBlwPpELPiuSohzxjDKDR58EIVdxjWdwZJcksVdPqQzin1
xCY5FzewudiVXWaxYxMZo7YkS3N8mqcYr36QPQfG5I7Fi97ktji90KizC+NFBd/Gv9nplXEmLeya
TNbnJYVvIW8mKOeC3ujq55RgoEA/dPquCpyw9gP9/rrdTV9emWWijhDOoRn1MCtIbpMY91WnWWpQ
eaL+ct3QZuxeGWKCDWZ+hhrE0ng36NF+wgvIEKinpCbniuCs5294X912SasmY6kuZkYzsKphfI3k
GaO+6JV1PBDG9pv5a01//74yFqVKWKYVjCXSH7F0R7AshPsAA+6VYIKRwSOdNzZWjzNyfS+3E8Fl
yIYsECIo/F7GhCIHVkkPkfG2gH2EfWCnY+goibAz5BwKaoUvZRjD7+u9QhJXwUYLs/6Ygfk9M18m
+XeZd3vOL9o+O1+/iImJZZ2Ddrvu8QBAWQcsrP1tn9m0ig4qZLt0eSc0UEVuXTPkJFMbxCAIj6ut
YBI3KDorKjWwFXP1XofyrtUA0x+1W21S7CLX3RIVajG5b/Pp0BsjeKfIXo1ysDg+go4DXP/BU6V9
DMb7MhVOOgluEh16PU0sgM53bSH+brLaDUNQRhQihH0bmlhQjrKHSn+4voWbt/FqIUxaiPnIFKSA
WEjWY3ppHyaflSRaCnHCceJ8re0A+/WxmABbB9CUCpYHUyUdW+mxCcYdKe/F9lbBm0LQLUl/ur62
7cP/ZZCJrGFNMk0Z4B2lElg49H5DwJ0xju51M//PgfyywwZRqkDXCR3xBclg6G5l2GEBcXtiD/U+
Te2865x+ttA+2HEML152eU9CXhgcMAvkVV+oFS8PZGlC90kiSIDL+NQEGAFTDho8Hs+XLvlIUYsZ
E7unpzF3aozzBgMnuG48SGF/mZMB3dkGuayggTNYXl6GYYUScoOijJeSowIyraAyIE4/2Xpxh1n8
Gvrcc4Omnuxk0S2ZqHd9I7478eXvYK4TaAiD16jC74jaufRQERisZIyIo9D6NgC5jkUlfeLY/O5c
sAm9LRSYwOWNztTl3g+zhFGdhUS4M28yxQ+rp5RH17n87G+fdwGHqpjzW+QcL030cyMa4MdBbQit
kKkPd8DOu50BJh4xkhwzODUR0OHXt3JrWaC1xuA/OKdBGsy4lAD8BxkULGucbjTwdeSTB36h6za+
p8u4QVY2mHM5amYohcvY7f+w9227keNYtr/SqHfl6EpJg+l5kBQ3O2xHpu10pl8Ipy8SKYrUlZT0
9WfJVd1tR8Wxp2Ze5gAHKKCQiHBQFMnNfVl7LUDiIgvbhov/4SyO3hybGkHHZXGqItVILE+Xjfjx
8SSWhzxenLeTONpzAzIDsWVhiFBCW3FIBF2RfN93n6CkPhvmyIExCx5nOWbp2Fx445Myd7T6Gnmf
5OFPr0gMigkIu+FyPxqlmojJJ4EVGVyT9Pm67D9Z8tPT+OcAx1IFlE0R9LAxQD1dt+2mCr8X9NrV
n6lE/fmKwc5yCZqs0ZcDMrejQ5mHDCoCy9uiOvdUAmE5GN65psET4YO8ywOrfJr9ur+ZKUcNqhMl
/SSKOFGwxiOA199GrsAP/9RTPnPiRtMMpFQLGvpmQ3f5fZAnXZBWu5X4HqQyJZfn85N3HWbmR5Qg
k41+VzDAfbw7T5RTl8fwI8g1LPfDMXO814D5DQqEKCyKzD0bM3ZPfg5rKLUn1b5UiVzFN9Zf7+55
P6b73l5FlvaLJga4AtcR0TfuZ1oQJ23TmzkdrW7bWxwsWfj9wtu39ZbEtzHPPn5vnw2xHJQ3vnXF
YmP5EYYg0aUV7PKoTPzPlJdPngVIKEJyx1sSPkeHTUcM5GwcY1RNi5bgB4SXowI9VbT+eC6nxgGJ
C9qUoOe1HIr3c7HLYcQuX+rYGqrx0Vzqa0GjwqRDNLi/xrJQ6pNdd+oeRqoWUkmQiQTZ89HbQzqh
9PoWQLdYgOd7eMkJmpYUdn2ok8Af7z6e3ymj5bu/E9sHBO0F7+eHIk5jvEUvwB/VpooIop7Pqron
J+TiCgahITbecVtoCEpXryK4gR13zCRZgQwwaaFL4D36/fXHs3ld9uMLhaARD8y8YEP583J1NRei
65em43jb/3AvvGyE/vAPc1kCfJu4j1ABX8+XJLmVF+RqOkxXP0H0sY23YQIiaNBKfPw8p97u28c5
OsyNgdZnUeNxlkUcKRpwpu8fj3CCEgN0m29mfHSemao8l/YYwlsHl/RCbexDn4Xb8LI6G35amT6r
L0giNqD021Z7KPzS7ccPcOqAvB3/aLv2bteghoPxF548IfYRu6TKyhQCrb8+ENg3sVlxLMDCebRT
JfeNrZYOZjcvUgAfKjvpAO+o/N3H45y0XgEG8OMFJBAenfgxbKqpm0NkkYv7SIPSkIpkIl8/HuTU
mUCx/J+DHG0MUoRW0y+D+DAq7DCba6G/IxJJBmCCPx7q1B58O9TRBlE5dcTsY6iI7kksVnKoPlmZ
5c0fH7q3IxxtAQplnNrSGMH4Pyq2HdkVfEWnvu1A4MF/KPMJHOCURw+DvLS5wc1yj2Ue+7FrFQ/A
GSLUjfTKxHK9pC2eivrRD++Z/GQ7nHx9b0Y7nhyNhUFOCPX5aYtGaKv+JJN/8uVBmxfGEcURtNa+
N8AlyApMrmHuA33X53vPvixr5FvinyEQulPamMePt8PJ7f3GtVo+f3M5S21PVbS4Vlz7qwaJb5jM
FWgUP7k3PxtmMRtvhmnDKq5MjWFEsAM3J8RG4Sl+FmedWpu3l/PRKZobL7fyChg7ae50fWbHtx+/
q1O27e3vHx2duXTqSi89Ok63rfWLgUh4PG109Vnp45Q1QHsTri3kARZuuvcva3IcboO2Gyw4Y+aY
IgncrbZ3kekQEH1irk+ty9uhjrazVUgQ7zVYl9pDenMuM6+4ayKWffziPhtl+fzN6lua9CArxiiR
fVY5EH0v7wj6Y/47g4BtDcxWIOs+FpueBzcmfbxMxX2iTRr6YJQtPuvxObkF0D33j0GOItQ2B7IK
3DNoeulFMnssIy6AJaWTFMPNx9M5OVK4CGMsJVISHxkCt0a2mzvwNEPgJH16xccttVdof/54mBNV
0oV7DO07iO9ICEfz/dqM5cRchnpFqkM/bYLwO/fDxPfmFvjFLpmRZZqqYIPS5Zp01o+PBz91YN+O
fbT7oqn3lKGoArtyToegPcyx80kUfsqegr8KPVk+cuzhsbeZF3MhsV8WjE4OkzNInfld7mZgUgYM
TgXhrm9pmblReyd9M3xSKD218REtYsN48KkRm7x/uTp0aTgz3BYhh+eQq9TU0Z5G/ScB8qm9srC5
+WjGAlv4MXnCICyQlo5wqQlduQK9qlplPXT24mb98YKdnM+/Bors9/NpJmWKevHdPbtzTOK0tL9G
75SxkeSocCI+Hu303nwz3JHvhRS9WgSVMC+Q9pTMTgQH9deISx5cqAlnEJCOiywcr4Z6/sxPOuVW
IBG5CE84SBWGR0vnSYc6I9ChKUUe1o+/1TUIX4dmX5Ru5jtPPdgAP57tKav/NtA7GjCMh9Hv5WL1
AwMmmb7I0zxgcus27oFrVE+bT07fCZTOEiuA6T9cGG1x5b5fTS6AP+yMRvePBygjTno5SVBt+meM
gFyugrs29Dxxmb1qxDMwIZmths/wjifXGEzzeAZkyZBXObJzgjpz47+SIZTDGUWHVUWihLfDenCn
ZATbsJ4OvKgyp3j6+H2f2stvBz4y5SjGN0jxIJsz5hK021tpNUk/fuIunjqZ4EIMHChgokXmT+wA
NRgCCYHLYIWbmW5svonIr2D+bCWXvXHscgNVAE1eCN0Q9BK+X8lyML4/LDwPTn4g6FZRk52yUmy1
0+2Aut+yYLom9c/SgdxIDhXJxjlz5WcNFSfnClA7ejoiG/jVxRS/veUt110odRckNeSqyYqrPKna
FTgLP164UycTnNj/GOc47zlKu4M8i4TLKvk3j/FV49T3M7Uz7ebgUn2a2GdwvVOXCGD20KhCryZQ
uUcz8+dKaGesAXlnHs9wOVbbViEO5CM9eJ66GA3kAVxl0RREiuovo0yBGUezE7KfNsKqY0M0jVXH
20khog9+cXPQ1fNs0rFbg3T6r7/XyAODKxp6F6Dl0SyZM1p56SJ0J9Fd3e04/9mxx7L+OdiP9NvH
Q50o72FSvu9C0RQ8pPj/+73CjRwmmDm8UaSUB72eUNMya6e4cgKo/KwjNPfX7p37WWh6MoX7dtwj
j2MsS8+ydbc0PK6fxvSrte3adXT/zfoetSvWrdrvn1iZU1Y9CkI03ywinCjovZ8omQWqMe4A11fM
aRTsfZCCOQ82vy3GT/bJqeP3dqQjeyYCoyK2jAQ/L4ndpLYfTJn69BOH6gSKCUv3ZkZH2yQfQ2+M
lnFkD6Sss9WJSOSZ97VHRj5rDg1Ng5uPd8snM3u9Qt4YFmr4H++QISPS06tW3SlIBMTVZ7vy5GIh
5HKCIHLBZHzkb8xdqLSvxoUJgaRQ8LtZq9T3kujKuc+v55RvmkON4DKZf348wVNXEbKT/xzXfb9J
egGJBhUZ7MruVw6phfwij9cfD+Euv3F8Rbwd4+jEaVt4qrQwhl5DnMn93pzRbNxFuy6j1+rGMRmI
lVKolWT5g0jPAZpP/zth7dsnODp7goeWZwm83dl1D+Vsr6HjkhIAOubooJt29zrhf3sc/z1/Voff
p9b953/g34+qnlqWA3L0/p//eVU/y78dxMPjc/cfyx/+84tH39s8q8uH6s9fevc3+PE/Bs8e+od3
/1jJnvXT1+G5nb49d4PoX38fj7l887/64d+eX3/lZqqf//7boxpkv/xazpT87Y+Pdk9//41gXf/t
7c//8dny/H//LePsF3wwdvwXzw9d//fffO8LMmQORInR87mAv7EC5vn1E+cLdNagNbQwnUJNctn5
UgHF9fffHPcLlK5xLYBsxbU9XLu//a3DGMtH9pfYgQEHqDHAfYwQ67d/PNm79fnXev0N2cSDYrLv
8DTvNijIKEENivwdMBeosSFeOYotYmXlA+9DN2kck28BGu6hMFHFmzfv449RPx0FLVgL/B3ta8f2
uOFsjs2EUaLSn/Z53hXfhdO6ycejQEjgaDboTXZQhsKRhs4KSMqPPDKhC+a5hkxJOfS+m/RFOzlZ
XdPoEEFCr9tMZehnaIBty2QEXSroa3quFy3E/lAj8HaSXg/yRqLbgqwqgCXUhaa56501pe3rBBQO
Y7iWJYRi0K+qmM76nsZz0soBTPljgNYunzuUQUJhHDZOOPuFgEa5Mw1QHBoV6EVr3dUyswcafGOF
sJvzPK49mnoWn1lS+37+lSoZyK09aIgVhKBRdVaEQtzZj+cu2vpj72xC6qG1EbocUOSxhpIDF+K3
XqKIAW8Nep6/BSGL2JWtRvs7qAbQSRIRXt5qXcX2Crpw6tJ34StCDRuqomuLV2O3aXpaVSsz2JAt
8keDIkILHAc0k6gOoozP4EdPF2BHvWrbwoFqAxuh0rwdaUG/Q81HR6B4oUG0qctI1UujDOWboSKt
WMWUSX1uBayskh4EhDKVcsp3rWvmfm+CyvcffBXEVUY6QGW/y9avz1s++w18vXA6UGajQdtpjYcL
L556hgY6eJpJm8vmgdc0hvJ8PN5K0AW96MojFT7pxX2uXXHP7CF41Ex7Lz5CTfnTCuncpLUYtbNy
pO1CHrawICYWcAuBiDM7xqz6yNR8W7tWy78hsVWPmJgAB17eRF1zbvOxjRJQxNYlolEyuPeoEfoy
U+7oFphe7+cr3xGju7HjpjYQ4oltnsz5ELsp5GH4uGsJ1Wzto7oCfitk50BrX+YOyufgsEE6Kyhl
vW1qwq+COde/J7n/km2+YI+t6tRL/6FlXiz4dd8+P/cXD/XxN/8Xmmfc4W8sxWL+39nnPeuL4UGy
h7cG+vVvfrfQLvmCSNyHuwiKLvgfC/rsdwvtwtbC6UIOEwAZZH+XSPIPCx2QL9g2r5Yd1TDYblwR
f1jowPsCfQRkvV5zX8vP/QUDfVRbDIF9gFqKRwCOIUBi2M6Rh+nTQIi8DqBPFdI6zmrp+ChhSt99
sKIcjc6q0tMd9G/0TTuO98LuaGrPLCzXM5uFs5qcIuyyMoBYse54Va9mCP3WiaesyFq5Gpx9q4E1
Oj7InE/d+Tg61pS1HRm/v3nlJ64AxBfvjTPuP0wB/h2UIxbyvOhoImCnAUIbWmUZMXMBxry8KYYN
KxWdz0rSOHkSloI9MbeNz8PKbp5ZDcozAPJMl6MPmeWQUQuZ5yd1MDcFws46v+2rlh0I9SsvndUg
oEbhIFTsQV70DRQ/sBNIMhG2G4MpKteNVy1aM1Ek8q0VkhHs0G4/NYmxbWBcuclzKLc1Svygg7HP
TKXRixN1hhdABHPjHuLcVN/9iYGbIu5sASHjuQGHUK568VhHRaUhSxeOIivERGmKOikpkpb1Gjkz
kP14sAOEBytpIgjCsUmDJ7GyPKdJNCq7YeqX1gTmuzavD4XXG5HGdSlbVFc1uqO7nJomKbHI+xEC
cl9JJFie5LiINFTsAPVIteoWN70iqJIAlQZe6SEyoJ8fmik6CwJJ643TubObkFDUTxELm7NmjoNz
3kZVWnIu2x2IQNufPOStnzCee3hJVtO0SVQ4EAOKvXjeNu2Q/4ROUH+AiIo3rGHpcAlWUaQvozkc
nMQepCky15otsoLyl43MQEVH4MenfEAXDnX4VQWDHCU6lvMT7du2T6rCeC9N2SJfqxW45MHOr61U
eIX7nEO9okiLsmWrfrL4pVP03L1So3T3jSHo7K/Qm1lmBk9c4XK2wcfM7SoBVH6+Kb3cM6Abz/sZ
yljV5K3HBk1xNoAxfeIYsDcnwLq6XuY1LNhHHZCRaUFVpLKoGiCI5rR+8F0qN3pkhk4kJVYBLUCO
LiMnVRL7M3XA4o2nwxUuoFLmjA1Wr5jyVSzb8WqGpFKfWWhVa7KZ68jfWxaUozej4Lo9b3DFvZh6
xG6OaeT4qV3GqltjJ9oiEd0wR5D7MsWDqSuAwZEiiX9OpEd7m/DnGZgnjVOzyp0aMnGGB/612+sN
Ck5EJlaJOx/JWWOGxKOCADRmF5Na2xNFUxJjk9hh/01dYtoy2FjIX5WpYJZCY/VMzR2i+Nas2ioa
DnHjdCq1dN/fgdE7+gbpw9nceG7Hf3ChQpKwaDT3fqMFujUtqx6TWrYDLjqIEqBDwRrtLoE4c/1i
NYPzOFhFX6coCyy8uSqKNvkciRcZTP1FFZbqhrggJ+0GqnEcYtSSBQ7xuU1b86sqoHIER4HPmzxS
NJFRBJKmKOq2czHRm6lvsNiFhd1nVN0/itqu4108AD6A823p7sytObGzzobS6yoMpfNrGrh2gKhv
oh/xMOh+W6DZAVXFuq5MEgN1x9IOAfeq70oN2A8t4P04ATV5Olg09FaldrxpN7W15yRoLxphpBwr
fEGI4vAdSJqLLCqIAt0F+CicVRcMUYQOzFbBX4PtliBdcinYXyFKFCZznHd0Bb6F7pcblN1dIHPp
JZ6w6VmuwTa6gcA3UqSD5/cq0yAFRlUDd9VNb5U4zEA7ApItZ9DzpIWB0F/imnD6VVJXyRUdxYoD
yJh/VWgLhdQnxitT0ykJmpegn8RKg+gBsD0LmyYDN31/B3LTJk7RiYzqV0GHUYJRsggJyLC08UD9
CSexY2N8BhkIQ5OC0PKOTcaa1mQU2kPfQLNw3w0i/1bE8KxTZ2BjjsJtJOV5bE9glSmCnnLIRsAv
hFYxpUGqPA9tAy3EpiAlQxzmHACWAOdjUTFwBgJ+W6k1KWvw0MlB++G6L50KYhpBn1+ydm76rdWi
mJoMoQmjfRWXTCRxK8yD67bFTeR1fpVKUZInd4j9cWVrofWewKBXT4QVc1rgjJMkmmnvYjAPzdWi
deP5zLIYiHE6Tio/q105nefGjarMRPb4UEalc8HGvh5SGGb/EUqOKEhiV0N0icYwWYqRzk6GGM0B
MSP9uWnEdFtMnhDY5J38ChctugpR1Pjq0rF7aSPl/jJaju0aqbLAS3B6UYOkXReKpItLF+20lofj
39OetFBeiqFSwU2RX/EqxFWhTCABV8DuAhk9zZ19VPfdw8TmMgTSJO5AiuhNzEvbuu7BcdeH/S2D
wnKcgB4mwGbXYTBBsNKC7IUybGjW0aT7+6aw+ZBMLQekzy1KNq6oCcrHAu0DgJDpaECfjuooz6JG
+DeMTvi2qBAMnPXD5OVoIfScA/GqEfmN3CLoADHAzqJRqh+8BB4NNE9zbLGMjrm7AIoMnRONjtJy
77YqPiBP2d+MlV30mQS/42FqG4cnoC8TLlLpsv1DjOb/u8e/vbLF/N/TF3v2/Fj0z7Lrn9m7rMfr
3/3uIsdf4BkjoAYMGOVqEEogife7ixx/AeUm1JKRVg792H5Nb/zhIvvhF7DeBj5AXAT6ZEgz/NNF
xkdwpl8FsV79ash8/QUf+bWg8680G3xkdG7YSG2jzxMt9uCUgev5Jlc52AaJ4LZBZ6NbtdlA4MjO
vX+lSg7vgPbDOoeK7mURIHDuQX63wlUWZlAtLTMbtOA3IcCeWQPd54tZdf6mnKHO0ee/LJ/9iKoc
Cte4ftKKBFcxdHmzEsab9+Vez+BeZmV7VxITJ62I3F1Zw7WOeD31sCLcrKAxgpxwwyj05/JKvRSB
AKmf0sgWVIKmDKqPt1aFFlGwtoU7wCYr+GcBSWQeyTUcVf9qarqFgb3qMm4XB8tSqGjbIFEtHYOE
hAe55V7KYh07stjQhoff/Gbws1fX/S+djBtV4b/jWPBddu+/Flv+P5T1AzvcmxjnT2HlVsmnoX3o
3kWVy5/8fmSsyPuC+yJ20NaE/6EQgYDo9zMDT+8LoAkI55DjC5zf+53+kfkLl3Qh6k4+VImBR1uK
OP/I/LlfYoiogs8IAhcoHOMH/8KhOWqChJUG/2m4RGTL86FD5ij1B8T9IArUSdfjZKYVRJ8TdAIG
573Nv3pLu6EgYzZQYGbR557I5g4hCDmb88rdaUjarRyaZ7OsvHXlsG9v3uOJWNF9X2zEo+GSg1lZ
tOUXRqNjGA4LO4NkCvqEZuPQn4JKaqdWVaKIWnteuUGjVj6uwqCrdqGabbEHm7JEu3HAip1Nrel6
ZlO9aryhu7EK3QGBgmOd+ZajQLln5gPKbc4ewLiCHbiae/hiEFrRCCEr9xeD1nafDaDreHaRg21X
vGgrmtCSOnsL3vHvCfN3+fK3mdEjCurXqRJojkOfaWn4AKPve9PVFa0HD3ekYL+yyM0oh96sKR0L
ICCccEvYwK6ZY827yCqtTYtM1c8qANAz6aYiglSVDNmF1bv8itEAjd40jp7Qee+kQ/4ZRc1Rj9zr
k4ZLfxh2zWubGDbmWyNbRI2r7ZgVG27m8QDPo7pFhnrVFtgWoHE1V7qdotuxgBczt9q/muM62vE5
VFmp+nwAc5k77nqq2DmZ0dz78ZY5QjTg6ZBd96FjAgJQ2FQU/d8/HVEjEdHIg3Vdd/216hvol6IT
LTWOqLYVK/V3eyqvfNHQMzSjOfugM84nKFLcNRjkX/fQ60OgkuvbHhJ7QJEdI3Vkp0Cwgy7addgR
S1zIMc+9s7yKwD7hlz9y7tcZnMAJyuK8zYqg84HNQ7I1zG/noWVZ2UrnvGxmtJKHxt5bAejDGmNS
TyPo64Av+mY6WQeJsqYtUaJcExm4B48FZjP60JGv+f3UtU7aKpt/V8EE57GW5fcOdZwUBC0bYVw/
bS1zU5CivmhMhZ6QyUXOl8BRvyk8RBAQFHe13GgVPvAgd4pMgE90TS03UCnRGkgVOhS3CH/Fxm7t
PXNLxKpG+/M6lr4D3ZAJpTTVxqWV5FNvI2AOoruBMiuZOO09PEYA4lWh63gda3sVO/wmDMsx6yz4
H0lp+Y+GVOI+cspmyxoECZ3TEzBQ53aTtPMY4iw3wqxA4gyvti5M9QztcydtnDJImcD7NUCWJWHN
LYYkQ8O+A58xJTQnZjuPVXMfk9a/tBABn+d1NG16d6ArBIZsVwSj2lp+0z1QwI94xeQ+iuZ+3Uwa
IP7SVQn3cBWrQLS7qlOXoyyrrENOYS97zTfgniHfnIBXyPFbIDIiutgUkyP3KMMXz3EvypUbNZBX
tOprL+gFpO415Gg91MFDajb2MM0/QoHkeaVIfCWauM2Y0axI5i6O7+H//gSb7GGebN2kegi8G2VK
yE5F+gZ8djWSTtEU33BjRS+5qHkBdt2YXHpwvtO4cxxkzWW+0tZcyWQq8e4nhHGXkF7uRGq1bnVN
plpnk3TIJmgVxKbH/npCnL4uwwaKAl3eJKAlFH2Sx8NNUfA4ywXKGiBP1iCyqJS1ihkWcXRVsW6c
0dmB64g9O90UpLEtxUqhQXyaEUcIZX6KIraeLQh4pCg9FIfAU/cgqUA3mcJLnkvbrAgHFArZ10dr
6lcNHePdKAwaYKf+l9OgGWuM6yAFlNtKlXZTxXO9CqwiWAnSN6uZyy6D4NRj1Y3uuZ6tr0XDvwoa
dIeyizK/JcNOlLOX4jTStT/Q/qkUwSFw6LyBDs4ldO/NuhAsekbT/yPyHyzVBmAlh0bBmjMIcA4x
w4q5DI6hQkUCRRAHXS2dez5qWrx47dRdwtbYMcozhfsThY48UU5J1g5VeoukLNBPam6drPDzadea
NlhZdfyMq7pDdx1QrtiT5qqeynldctaDnb+NkWVs/EPjIX84zc4q5kJndRtUKmHO5O2DpkV9JZAL
aMwJx/tKjvEvr2r8HdcF+WFBiPu+lsg2TbHP9rTqbC8dRIl0BwN9xTbo5m8KQe/l6ERQ+0DLxFXU
yMepnu7yrpsS2Ltg39VOvkUhka6tWvnfW2j0XhcFPZupmM/AqEC/lmM47/vKeKmKCQoqGvkypM6Q
t3Vcvi0huVmi2BKxOKlVMbyUOKP3iA6sKKHCBXV+PuZbsIaFa9Ej1+JNfAfko8icfOabvvXAR9GB
nOJukBxiDZXBcRP+2SCm4cVGUvISZbAWKuatnEFOLMAJlZOSH8DrZ6VISINpe9q31IS7ooMZizzk
DNAV3ZwVBJnbCi0A51NnlUhkgqGFATEnAfsf5bmikb8GWfTPDtDVsrUgJ1BHzaWf52I7azGAPNfI
Myds/CyMTHxj5IzWKrysb8guQ2fH7bo1IQVcKHukMQROxqLOgpxd5cXgrVXI7hT0NljmIFVVZ5Ue
5q/cB0i/Rz+Cm/jSaTfQKyQbFfbtmQ0Bo8xmkUyxJ6oUlQugvaxcEAQk4muDPGfWhFWxq5yG/zDI
DN/apbRf6nw2F7Fb/YKgLTuHsHi986kV3Izo08pkHrs7x/CXmDTXg4gBMI2HH/OrR1XktUQipmou
8okv6kUkRNa0Di+a0BkS2WogpEn1tZp7AJhVBJANucY1VZx53uisTDuMO8Ad17ar6jPSmj0n3VU4
Bd7KTN5lzWInsToVpCVr210IVo1s9BtnW7I5PPfz+Yxq+6scxIBUo6mXCmc/JkgZW1AvLKOkJBNK
pyMbkVxjxZpy+ktONMwKEAigI5GIbQ74MXoG67u2ydWD0zT1LdQ+xIr5g0piDyz85eAHGxa6Gphr
n59L4o+p5xfelpRxjgMKZmKQKBY7tIOGX/0+KjIk/cUaHGRT4iJPjDps618NFW9E2vjY37j59NZC
gvZcweO7nWJ5DRxl+DS61kXbs9uBOyOIcOih0RrV1FLwl8mvhgvpk+qC05ABaRvINATLIECYIwsQ
tzPxArISc9noJgdpF9ChsgKBkEYR8zDyuO5WpYUoMnMb8HQnoVXzcNdpCroSnvcwX4jn3QFA6FFH
e52roV1bg+yi85Zpaa1klCNv3OjJ9leo91rOptejQhp96EbIR04sbMEOz6iQdDM3qLyA6FS6STD0
LXJlaGYUm6H2qkeJy0lcNJqb8JxUXoMsTSTn7qnyQg6ap6Cx7dTGBlJbGdetv6nHqi+vaxlWe4eK
AfYpRmJSk6DvL/vQUwRMBJ01odzq2vnOtseGrF3jtebrICeQBFpIwMHlCTvvHAB258LxTf4ytFPM
0rgozLWr4F9dYpsPCGDaetONhdyjY2m8DKsR78OdJryhaaCegQPG9T4EjWaVze7U3aGI69wOkKDZ
+FqLy1pGMLpTYKEkX8UPdtl72zZU3kryKOzAJgsMEw5sDapXGQyodGhUn1DOIiz1hgIyq/ME9I/u
8qlOWy8cN9SpoEgCTNzoZa2rQKdeTF3eJrMKTZWikZDfhqUvrEPlD34yDyQ/DAUr13oy1QpWxj6f
B9u7QDnT2Quj6M+QtQhVUGAv60yHWk0rVCtgm+KWdxf5WPsioX1Nz6wKiWXkGqDIRfxO7mpJzLWn
/ebMHQbUwl1bh0nBHHfb+sP0C28AftqA6hF8UE6+qUbRswJM7bjGKgPvaXTWdJb6V9257GyYLUBd
W8rYAbgD707VtncPX9tb4StQi0f5b0XDXMZwYFX47Mm+CNOQdT4kU8x1CwVqxF3yO5qJVUZjdsfw
3lIajQlx+WVpBXfdXETp7AMLAFe0AGTbHVdu2X3Tjfb2Sk79fjYhehpYg95/aYOExiWN/EZhZfmW
u3NUI4gFY/K2puD8cZpcZNwSuk1lQFmQ9irgZxU448D5Ew662tdi7sHmhEbtrVMOjnVR0L5zvwLM
ghaXmbXlk4n9IbHhXj61uQWAQKSRjnfcatfWrvhRAO6g0MCRIN3EUhaQ+sZSxEqYyJuzWiM1tEha
Xlmasx381jDlU23AEz5PwwjQw6g3xGsClCBqv+iTeZ6Q5XVd+WCM6X5FcTf9KHxBdn7YdPuubKcn
AfjoWKLmoZzZRbJd1SplXVvcE6YQAM9tmWf23LsPnIpqN7lNftETLDaj+jZv2uDW69p5bYb8opNj
/cPRcA7kCG8hI/WgHqweKX/E0cIG4gJmLe0IqlwoexE+J6j6jDzxXMGfqro62AIFO5zf6qIeXc7T
AY+PciDyGpnlVN4Ciwjg25DopSpjklWmP9O13lRlaZ/Zo13wVdyO3kUJF3lVBE1/1TioPuBNBCLz
kawAs5gUyMCNXVQ/MXTyoNToZ6oDsrVCcTtOykia+1hUdmZH/f9h77y2o2a6dX1DS2uUQimcqqMD
NrYBAycahA/lVIqlq9+P+PZYm277d2/O1ykMUKtUYdZ804MdxfyTKifMUGRV9Jw7DpiXUfn9gbhI
wPV5KO913Rwra6Ec8ThSEw/0s86IEUKBamziNChvfYTuc+AbW1Rv+IyrwAidxvinGIf5Pu+yK85d
djmiRX6lszn3OK2NfnAcXKf3tsro3XIzV3197FHDZLuimAKyIXTeHmKzX7qrxmm6d4z5r0qkutoE
Wh7tuhObyiYbxwD2B7oDwLGTK0MG/UMgyoepT4ttnvvPcdsuG6drKSZt9S3uYvLMMtaXHJvoA1DQ
A71Q891cetVH31paEm9krj/HKasSZg22QgMmyHu3KObv7CjLYewwpdeTCLkv8rzCbDZZM0n0SdxR
u8EnUJoNeBuBdg9bO/ZpHDl5xuRHYxivOrMgSOghUe1sUkDlT8WE7ahsKTkpvsfbui6TIyVdfuOo
WIRtP08fXElo09zfKrMtnjTMzdAqSr2LGpfLXKbq6mOz1PM2mT0UwSQA0igtHMN+6uc8fZ5KxDBh
5ax8oVlZ6iZxNJt8y24eaFPezRnStLiY7V1n2fEXTpxkG2SjdVDN3O8hc2GyU7veNzGoT03hendu
HmXfy7zsbsopmHayzRNK1u4qLrInx/DzL1EytvIgiiy+CpSd/eiplZ+T2Z/2KSYknyhsjZs6GMxb
9IvTt2Hp1P1CO3cr7JQDl1+WJ1cNlq3Orqtsyoeltn4IZKhJaOrG35fK9cYNou7+yik885bED4Dd
wKxv0szK/vnfFu//D7HTFLQe/zM0QqfkW3/GG1r/xb8dXhPsw8H7InDIAUan7tIO+rfBa8L5XEmd
GPsi8VtpQv/DG3Lc/4bTyd968J1XJcwfoIj137SO1lxL1wfTWP/qL/q753QbyzYRMPgedBsalXSS
TxtigwQJGKo02VTWPHIMGVx6KnUpp/i3XOn/tbxwTOcxsJKgqq7m8zgtnT6GlpI91pFDUGNqDo+u
1YlPLTJaEaZOqx4Hr21EKNq08cOqr+gW0EI0VJhhBwUdYfHEc9Jp3OE0gKJg4iu35rgvjBtZueWH
JNdFeZNLwGHqdSHvAjQfGMhVBTtCPcxZvbOtEaIizUHjSxmZ5tNUpNmnMc9hYOrJa7NtUvbBU8rS
FqETS7GlkM1u2twkCtXpcv/eH+zgkrPhaR/w96DATcLZ0BF08f/lqf6BR+kor2RRm9lmiRbC3oM7
b/GfnIpsJzhq/zMdX+mUBycNx5cPOhv9JUEFO3U8qI2HZ93g01P4IZhrGEz2zgQ39uf5ulfF5u3H
nlL2mU8QJiEOr3bZ0NvQQJ1+9DhNh9GuBBdyXVbQdtgfY0ghuyHyaKmMZNtasvfCtx96Jl/596mW
Ix0f1ZqLi8k6GH+Magu9OAqmOUICPAT0GMZ0lxfc0yddWu9bduoKuhTpBFNuLduk7evDrOkIFszg
C+4Hv4Ne/5j1FpIg22LZ/8ZEA9rOpz+l17lfuAVmR7A7knY7Dol8t8qj5zC159YOUzIeaLV1TnDn
x/E0I38tynct0QzpMR7x2N2LfhC4v5o4FNuR0s8pmlzAu3x4MIY60NeNMk1oXXkM5cUxtKEPTjbo
Zt8qmlyb3kc5GA5TMW4SVctPs2GPE4VP5kJuaj35fd1lxF6UpglMqBxX7/Br0I9NzK1x45qyhEci
9byvuSWRSjEWYt4Fssu+JkLk7b8A4n8EOdZZeD5arnRRygHpwHc/Qw6k68VLrQcjLBsfLrTvtp80
MM13KkN9YWae4SlMEr4M0j80eaut5Ysoh7JvOjfO6DcPrlkgxu3hEPrd0N/aRgPc0wukh55rbDrs
4e7AVOi4Fq16kABBRzXWFQ3RyRhupZ3U11qobFfbeMjOObl9F+bz2Sbx+5f6nBLA1qv0y1v//o/p
7NP2znUNuVGvRuaARAYuOFiob3tjrB/wPOiK3YUV9GLdAqthpyLwbAJ7NP1znDxRTdvjv7dpWV+P
svD8fyKrrMavuoFRHZaZMbdhK5LiCGEuEGHilNrc2FVnfu4LW8ab0Yj0VbusbO6pynMZQuEeP9JA
GaA1pWNnHd7+xWeH2DpGgProHJDMgpSee14v8FCyyOFrsjAeW7uDRWLL6i/dkX5PGonbGixgiRsM
6Nbpp9BjnbvF4rOzOI6+74cZp1VtPbXG0r8vLCK4GorEC1v3GWL170OxUGM78wCuLHn2/SX0TcMa
StJ1hDbdcIk0fU4ZtCAtWT00X5xGL5htdl5sh54DwerQadFznrh29uGvh1l66CzX0gM8egWx/5yK
jh4XionaYGflYW5vL/s4BRl5+ylnOsB/39izSFiRlA0QSc52zZJ+LZyQxgi5AYirws3rXZ5PA9w1
O8JFKI0d5+s4zVAU+yr4OpZqYQMskx9N3aR3deFzoR98JOCxl1gXPANemWicY0GAPzhSHaR2pyOg
6wFmkd0z0QoIR3IQxhWVTfz3TwHyt0gJMikLOcdOn9LEyqiBdsDGMrN/79UTmZONZT+/Pc6n6Pnv
YWZxQ1oHBTUpNc9Wuedzp19mhtm0k3JvuF1+SJfmPf43QG8qd8ojVM94s5RedPX2k9cPeLbRU24K
BOWILm22+tP3s9J5lFnPPHLIc/I5BaGNQcd1DXraOtga/Vy/E65rfPb0NKUhEHz28PYvOEOp/315
x8ZMDUUTa+tcTwtUJQbHX8+aCcZbalTFVmVOEqa5mz0anJjHRvXxoRvskcZJo27yzByOuQnZYSm8
/tosJv2O6IyIM5bwtL/f81lg6xkFZ4kUwLNpNph1Sk3uxyjTlXkP+WJ4iOmAN5si4FLsc8tW+7cH
5LXJwDG47mtUbS9OmbmaU7uyzZi0Z1kSk9EtN85k1N9p+xcbjEnAylA/v9Odrz+//eRXDhs8OCg0
LHN11XHOJkMQD6KUNURAe2ipwpTNhGwm5FaxA7M+77DNaLo2urCVvfJUJqDPUQEtjdr0bPLPVqxg
JA8ccVC9QzG18ZdpLFtzp+yJrpo0YVRs5nEpL51Ur+wgWGFhOUCbAvnHua+DmlU5DW6LVkEvjs+k
q7tjZ+BBzdFetddxVUdyhwVdY+zAdszrZsjs8douB+OXht1uhFPpLPGxHYX4lVoElx0hvPjmJs5L
FNmDjNcueqCX72lpL9YxGNouglhJ3MbGK5wWNi9KCtTche9/8GOnhCIyU/gcTWeQ+qqzSo07Y7l0
cGj47+d7LEYzHXZjNt7YOMDqbYuX30cLo49hY+Gee5dNg6MPluqwQARzc+HOebTeQ5LLEzzJ5zxQ
oZ4HOe+GcuouCZ7XI+dsK+ESbGM9SqEt3eDsSLIDoxikWFjHgdXfRDHirMxcSca2Ikd8iKsBkJ4Y
gXQsJpgSTn0T6FncBUHmHOmo1Vc+srurLLGDu7YX1v1oQ929sJpf++RoJ5ENwYqB/3i2nWtLxh0a
gHiTxa793lwaufOA4C85sryyq/oeD8DfgXsPc/t0V3VohGo+P9VX0tDeL9GabFE5Asr7vUi3flTr
W8LRbXfr91i0p7knLlTVr74oglOEpyu3xl///o9StZ/yIdWazrWbGeZnE4hkA7M8vsCfea125y6F
YRCkCHYsefai3OBKwcWZXkIj3b1DHzI0EfGhkXDKvZYDrTFYCcFVjWPEQVoq3fvtDNjQLcFVk+YW
RoRaVZ+Smn07E7CZAxOMHeYJDJG397aXuypLHW7a2r9hkxFnA6IDQcpvzhELAYuTorKTXdWI7Lmp
p/hu0YFJREP2PPfCvXDCntnHrOebQyG8Vu88GbHa2f5WCRUEdQKmUGWtPBZWLO+rMaivhCY4OlhQ
Mnnp6P6i3WOHJXKB60xk052qh3orq4S+79sD8XJm8HOgYnCWrTX675/7x8zQQJmWKFsjtA2ptmU9
4VStQdfefspvkdvpboAEjmsdPscuIuJVj/3nBHRHZ64iIhbD2R3AuOcY0wOlZ1qlLS3c0qyW9xM3
/i+LKcCqoN6C/jel3nYpdpX7QtgVwkwBZK5GaO2btC4eLG/xDlWbOniQx+b3t3/weo6/+L2/758o
uywW7unvnfK0rPue/sA01d8djoImLIQBVCLn/JKZz8sTz6HFJ9YbHV5XIjgbm7h0asNEhcENIvPv
h0UV8C4K+2OrhfsRa1KKC6ndCy/46jxEtS4EaaQ4AL+os0r6bmoWzMMg+eihwNiLSLI9W7mAnQB5
JdkZZUKOMfeqfJMvDtywzge1y2cIICsWdsGJ47Uh5xpNp5MeA6vjrLSq7HoeJq5UWBB3Yh+3M10o
o5lUHU4p9Mq3v+9rE9Kh+YOwg0YQm/LZMrQTl+ZAwKBblWE/DtOs09DO5paaIxBJkB9ry7BzpOUi
mI4x5MxqU5ZVRjR34fdqIyyJUtC3nPTguUsyfw7QeGKm6aJwuw/aKkj3/VKW6UZLNzGPb//4Vzav
1RWNrlWAtJXXOJ2cpRGbHuZFBm0fc3oYs4xgJOhjYQ0UeqjRIr2zoiHDB8tyLvl7vTzK2Cvodfzu
lzNwZ4/OzEXRmgA1G1DmiA2d6eVTn5U9eUTGmBoPfVB0tyqLpfxH2Kj40GrDlHz79V+5hvIjHIyv
Vq1vwFlz+v5YH0dzM5r8CKdKP0xtJrd1E3uhmuVHv1PdcVx8LgzC7kHujfFzU8CsgXGvs4/tRIA0
vqdUZ1GTiAtFzysfBr4EvjzQWOmrn8sYMuh0gjwBKmYAny/D1GfuvqsttEZ4ky6HohdBvo8CbQMX
B3CvP749MK/s5XzStWuN/SUxGGcrSBtRF3QeodRLhMSfuVFtZx1fupC8sk4RMzP2ACDeOgNPR7/y
te79mo1j8oK4CeUq8awtTCdCsPH5wjn9yiu5OEFIOg74cxEaePqwrB5zMRQULsqmqxGmvZlyNyWR
K/zroaO9yZihxeRwPrfDzb08lWa8Lqkqaq8SlGq7XBTphbbzWcj278N/lU5Lk6ahY75wpfKKdNTO
sO5xyJpD1SzTp2QYO/sqTevuq4u+2brykIttdWEW2yU2sybEnfWnhUyQRO6++OYPJt00nIZ+lWnc
FqGAYb7hP7MhrdRWioeZJ4qnvx8c2h1YMvKLMRBbN4U/agR6itLX9miABvvmLu0DHWrROBd2tZcX
BoceId1CvjdipXPL9gLGl4lpghEa1eDCsHaTQ2p15ke7TrxbCtjuwhHw2xrl7Ix3aZnxGQC+HBQb
p6/VJrnRUQUbITeAKmzm1ni2LMAAiJHDAasQSFOIn2+Fi8Q2LnLcQvJ5ycJ0sq1tA8ftakC2F8Jk
K49u58f71scRJeB2fFUb9q0T9FV3S9yfulBlv7YkHMQfzB90w1yxTn+2BYRuNl5khCRZtlxIVXo0
tNC7v//mYKMcLuBE+KmuRcsf3zzBGGOQBbdaMqPltVpkEnqm6i885bW9ROJHLjn0Wd3nJ9kS56kz
RSsMU0fBVs1uY68Uk2xbmKhSLuwlrz3Mp/hkfoHtodk4faV5kXALCm1AOy+T23RK1VXd0Upy6ji4
UOW/9o1Y4quCgEYRZ9Xpozo7b6eqZWotEk0pHNDuquhL5+Htb/RK4ej6ACW0n2nWAc2cPiVPyKCF
gcYETj3ctwKPoI+lBzDuHgkg2GbjxRT7l+8FMsNy8VfNE1e8s1khu1Q1qI7w2OQmG+bO3NzL3pgv
zPCXHwr/UBuZC1Kp9bZ6tt+YZmXmENy5Lw+i2At8XyDpLqa3M70kPrw9hq+9UUDjlF2ffYA70OkY
QudUmMjwLK5tYtv6aLXjFun5208502qtGz8NPCRRMPrWiPnfAsg/llOuE02CcBUTB9MZPxTSrNCx
HDQci2xDPTnVV5HH2d1UJu2NzPRwxParhz7utltTDT/yqQqeZkyv3jnWkn3qRBVdCg58ZdBdi6QK
LoHI1rgUnA5EMdY23EgmU9ejImmNGjTF66cA+DWyvrw9HC8nLs0Ba1V6suZ52NmgO5Lwj9KkIdIJ
DysTNFO32oBbVdlqXg88FT/BGO4vxga+8rFPnnv2jkGPJL6umb5GTPNSKhsLogY2sIk43fNL+aEg
M+GQOYtx5enevQ/G/BvsNsQ72sjr/dgjuNH5VH97ezgYYQb39ChiQBDN0S0DlQaqOR38EiY0xNeF
7HqRtM1DpxfD+CiapSiuVVzK7AkCplWgsY7NXwTWolxQaeRmW0/1WfMgm7EKNkoZ4q5ymwKVQwIZ
DKJ37D8B7bnOkQ9feIc0jq1PmVS6ohM4K9DpEaYXhXAgdwHRrXpTi8W0QoqRBP++JsoMFCp5QsXc
BSq/HoNlkVsgLKiJnm+TCSKXxVz9WnKbu8Dkin+KpXMf6YVzhV2maXigJ5VZyGFV9WOszbS76QfZ
YMsiG4eE9NmeJTZKPjITuPppfVt4dDg5YVewtq8tTANhgOhn282KBD6hCQszjpZaMU5Wc0OvsNUb
Czpftc2XfPoxWy3r14dYoviHaB68KI/lFnb3nIaGFySfPK9J0SQN7TJhZxKYn1o1Vf6NnJqg21Ga
gWWlsBexgqnqJccKwTS/94ZZfQ/oRlaUZQkWmNgHJMtWzIkBgcEwnA9wxmNKllHFO9OfPBKWgpWh
3FEfJ7saldAXD3Xyz65rCgufsdG5jqMR5j+OLeOhaipjO5uigYIs4KRuYmwevDDq+uVHaw/Ns9u7
obMwwlNU4S2QpG39MFqUqCG2Wl2wgY3plXtZQegMrUz1q5mKclAqoHh5nBKwHm5GSTMdUj9BJWmk
SWIfEpUWj+WUzZ87OBmfZ10+2O2QXRH3rcydH5Xqn7azzB/52NbPUWAs75ciq/ONJmH0pz/NZH0a
jRHX7x1RNQq7dbvJtighExW2uvJQdDnws1dZmBxx44j7D+Y4eMiqvc78RKPDXq4zmfj2rsDk29xi
kwKJU8KLP6DaK6b9RJw2TjRjL0knGhvrvcfafRDK1dwCTN947gny+pFBRIe56sfJk82/NTd6hgAL
gXNy3E2zNNNXDLdhYHeVIT4WbVa+k7iwYNxjzbO1y5Vpow2DK8w8w4uJGIdAxS4mBm70pKfCshC6
xShNXcR6mACJ/m7UafE9R7xC0p7Xf4ezW2dX3oRvSIvtRLhUs8vkNM3uqc6yBHsRleJiRO8V7myO
puJG17XydhLvsSJs7Bp7bNechbtLcBrLdi7Uj3pTRRFOIDoYkip0+hQ/kqltom/OvBgchKUDr2TR
kQuBegzKMCmb5DAbc45/qbfIJzkaaJCywIUvS75SRzDq7KviMCMg+AkTNfvatp2Zb5cGquSmNita
HjS1mk9FmVX1tmg7HI8MoMnvg5cb+KFXqRo2Tez4y6YrUSIfZrCfMmwmjHJ2s5vq8iYVbVOHbWDi
8Wsg7lgXobafc0WOMQIAbd/wey2YTZix/cpNr/pgDlwww8GS04BYopuukWR6Hux9bFCwxijTf+rA
nMiDF0b02a3i+rbSfoa9yxQFX0VdjZ/RqxR8t4Xmdkgna8J/vzbanPWLIfBGBPCBDaRtzsZIrP4D
Xo3L52FtSQwKjyWYEVVNRm1vFUhC+qX/hFDTrrgK4DG0mFITUrlI64s3JtH7lC172CRdOjxy+V8e
Ah1D3qnghegwbRdbH+AktBCabe2M1y1io4ZPrrCGQhYX3KMqLX70nZmMmP0sMFGbzHG3MHenh0Wl
8jsOPPgaTbVKwsYZxfepHQpvawQTbq2ZaEW26TimNr5Kc/QRUjzrTGBXl8NBfoC6lUKDTmXnbljH
kiFufLGEdb24ztYChHmcyMRtNuY8EsGZpZ13PTdLr7ZOi11CMfSRu5XO2E43kTGUSHGytPiA81Lr
H+hoOR9MtNY4P7V59ij8NvnOLY2GeRQ5/jeLlj32MUP/5FjjvByFZ1sNXQFWdwh9qn8WSRX93oBK
tvSsvVOeO6RhnIiF+WEb0a8aY6/nHn5E/uTaS/GZnTvwb4XD7Tgsmqb+0eNQkxy9wWghHk6aUF+W
70e/aJdyjx5lMaF2p+OTEsBwO+6oQCitHmLjxmhREtH9SbAc8ScbQ/RuHNTM0qy1DlcPwds06qdb
u4+Sd0YbiW+d2c1DGE+F/qlJE65gS9NhvgrkaphvOxVOTE6QBF9zkZdIWdEz3iQc2sW1BJ3cII4z
3a1V2dZdXyjOrV7anXm0tLsaXttRfg9gHaktTCL4YEFbrwY9tCUzyEPspdvM0lO9rYkYoqw2NELK
oLQw1EG9E3zjARHBWm7eJfsEn8F65yk7+Tj5i7IOEZwdlUWknBCxcR1PLDhtoJfaQH8uO3aAtLFA
yw3D3NZMQX2M/cW461w0NptOOvGPxdG4UyzOZN2ZkTLNHXhVfewiCfRP0sn0w0GxgZUke2WN206w
wphCzf4uig1n2qS+gg3tEWyL9WQ0+N9d3LU+FS4e7rdBXC+7vEwLgNy2TD4vy+jgkOs687xVpSMe
rHKh5bzEk03WcG8DSLI5xCgi8Af9mmJZhkOHy8ERglN472fTBHydRcT/Z5CtbIV15AkC+Gayshph
1PexdpAPpbPsxcHSCkfUAQ3E5zb2Y4tU8667HjRivjBr1fyOrVmoEHbSEt0VlVluS6svg235mzDU
4chzj5OmlgCYDdy8GP5bvbEasbhElyyDv41M6ROuG/RttEc7lmahl6zelHHnF8NtxJf7KZU3kUFk
Id9BPu09BT5eYqu1SOGEdtuW36gJURZBUO+Y4KMjxtCUk/1Nz0UJM5CaD90CBjwptiKzNLF68tl5
I/wom60bZNad2w3oT7K+f2yiJLlzlza+TxLT09dVx+q1tF0VlAPm/KgqRYLQPCJk3/gjHEbEKp3+
SvHnr3ZSuZVtIzEhCRMmYnsc4Wfc8KlVugfyOK0veStyNq1F5w6iO+j1RZegcHCGCSSbgNuhaYNf
Gar5b4MFnCkWTaqlY7R4cZmcoRGOh3FFIO4kxr1ta/MoMzX1u8QyYLcoK7X2Hrh0+4jv0pxtZY+z
4SPrA/XB3MdRvUHagzFUHhv+lwnifXHd4HlX3BQOAq/QTwedYTqYKIgqBdZ+2y4psvwql8J5N1Rl
baIzawe5MUyaZqEFvUC9k0MbtRx3SAR2rSwCe9sObdUfLEMP/gHBddpcz36WUyeITMV7IxIyOwSj
QmaXDzjEBMYwfyyUkT3VqRXMOwWUsLq/GY5EkFapj6K2c7FxFjma1Cx5id8SUTv5bpYZhl3DSKAP
lCh8bqOgFp9k6cUfZD2X1rXlzcl1PXvmspV5U2KZFWjKbKbKe+XllFh25GfHwLSn7BrF0vSuolEG
QoX6sgihbAzVdkK92yNA9Iph17mdt1LQ2gDKTLrMR2Q0Xrm1g5l5jSrOu81nYZY7r+hK77ao7cAP
qasGypfECOINaqXg0cSpyt/Xeox+jmMfe/uFmImCQGVpkbYxSDjMVe0nv0Yvi/htFCvvEFmKOxlZ
y/pwSAzbZPKtH5ye8ycWk0SpCT0cc7NJ0h1BctSY6JGvGitSX/CAq+7hZecRPr5Te6inMYezYJVr
Wd2Y47yJUePs8DMEQAcK6G6JcujHjWxI5rpVy2DEu0VEJkEK/dwcPbfOuq0zURSEQktr2Red9rq9
ckuCSWpIaZIVhhkvNo6xOWyzEjMsfAWqeaPow7kSQ+KiakNnSpZPcOTbOwlr3T4miya7tA+6vHzI
pyRvdr4oonEbm2PbhpHZliVCF9vRR2lr/v1/xUi47HiAzlNLiisCh5N2E/ej0W4AWzrrQo/zFZSP
pobne6uSAF6Ld9awyQtMd0cLsliuZQMDuf+JnpF7nk5gSvlmxDj4kpbzJL53alDXiUB8VjRz9I/r
zsnf93VcsHaPEEs0yu4qxPizp6ihdlWqVDF4ppUcGiPv/vHyChulysG688Kd+rUbtY93D0AIqdXn
1A5pR1TXNnE+UElqFJ5oE6cu635VOGGgkiytC3f4V3hrcg0fd0Fyf1N0z0babqEvNA6NJMcFIRb9
WKH4MxbMKv1i/hkl5aqPqtgCzbL9mBt+c98i5t8NEu1yGy1ZiXtlgMFeYcwzDlYeuPbbI/Ja08WF
w05DFyaKeU7IgaKJo2nXQFeO+ZXzmBRLGMwZpo6jb7zvG+gWA8lBF2bg2qs762zQYYDIhesRqNR5
CIhwJnMeIuhcmWqDfRYE/Y3wlPNP3mNCgYa/OubjVLr0M3yaCpMbXGj6rnPq9PksgJWriq2Mjdf6
WSfWipGo+RXPV0umr+t88o8dblxfulWGiYnA+7mkWdBhQnLhwS+HG3Mm6B2gZGDawIKnk31OjcCu
J4nEwpiGa65A5bUtIuwtaH0mYaWLz2Dh2YXRdl++Leg50WQ0dcDngrMGl6FQc2MwCpsjzuxrRCxc
FhZqoRpnpVv+oji8PademfVsLgG7C+I136brcvqWhkiHuW3gQ3ZGXe/rHnF+7ETFBgN1sIMowDIW
aabDaek7+eRwR2m55sDnTB4D0Vb7BabuNTMEhM9Jg2SDwQ2V8ds/8pVB4ShkF4R7Qu//nNg34d7a
JNbqYzk2bjjltMlFfZtk9l605s+3n/VyukPBdtbJDtMFpvDa6PujzzsZoijnyoMBNdb1bVB7yjhm
Dl4uOzvxJNl6gRM/DwuZMQc7AQ0OCReo/q8T4n+Ua7wU2tDTQQMCjElEHVeKs18Bt0668coosbBc
Ka9ra3H9jUpS56k01fSILbD5dY7GBfMIjh4HTyOL4gp9hf/TMERwKWPwFcCeyADYTgKHaBjNv22X
/hiV1PaN5rdsYcyURSzWgiZ+LTKaJfcfyqSmyV0mzQGPFEKs2kVvi8Fu9y1uskeVZeOXkX7gbmi6
aPv213o5M9bfBfAEBwpVyznRWllzYGuMaqHblMV2XmA0ePih7uLYN47F0l7iG77cjOC1gjagGoHj
CqR6OjvQhYiWiQhejov0swakAtHGpZYKYr0WxJoKO8sHmDYkrVwKKlr/89OdkDdkIwJbYUsEjzh9
uDtkmd1EGn7rpNVB4W+/6cfC2/31kDLzWAQIYxwMus5ekdtVtpgr0zDh2oiJsy3eK2sx9x1WEldo
rrB1efuBL3ELThVgMBYKNGWAnNPXymlVGIbkWBtaFd/LUvjbKsPw2ulR4vz1ozyQNtSdq4ZN/BaV
/TGNx9JS5upqBwdoWLZL32WYi9AkXLA4urSxvtxIeAKThRoXZJoXO32t2ENrNiaCg3pOyht3qJpn
xDxFA6JY+e+SMSbIKkJshGOuIY7TYv2yxhQLEZXiot3TRR68ur52FJzKdjCWHV2baO8ODrliee5N
1wW81wu/+ZUvsQoaiRTmoEUhcVbejcEM9RMPoE0zoJ8Oo6j3b1r2on0qluXq7U/xcksBk+Zjr1GD
rGHKydPxGRHJ5WRoJBswalHeq2H1hurrdv6J31/VoVEbiy/Eb2TqOpsdHDRCK03Gby1GuP1OLaot
N34JC2xrg2FYD00SxMHx7d94lqMO6AdbwmcXXoEdyInnOKbdiy4qyC7fLKCCWDHhpWxuptZegk1B
+3rexsaoi4OL9ydeHLMV6I+NKHARGnOPmCFPinkDF0LB8mCP37dNWyP1a1ra1X6Bcy/u9p1xFxe9
pfZj3vZT2DpRamExMcCdo+yqputS2urdUKb4R/cYNO26WCTzlTFEiNFnI5/1XQdUYV1YKedBLuur
oxBaoW9GwMHy9PTzRBHeMHS6KLvsAVsuozXmbSH8/CsNCLvGrBrLnR1NRC/f5topmj2Hk7UnWxGf
NWwozP6mW+rUDgd7UfI2zWVk7ApghyeS6/QPz8toIWaBs2Bq1/PtQ+qv4WtW1haNhtHBGjub06QD
X0yTp7e/6ottlDdDNYtfLooIB1zj9M3aOMKM2rEJIhBc9wIlvU2j9HSBDPmysII7wC3JlhTP1JHn
sYAMlZ+aEQY52RA1t1k5BPOhq3SHoV/pKPRAvrF81CqqaHinFcl6ftYNm3RocBlvwDjp1MnA2MZz
jxabfkdk7UbsFZcLjKaXo4H0DYYsyKVFXMY5acel4W3OAHuYmmfzIR66JRRc8y4cKq89BVtGx0fc
tS6ls9lEZwTbsXJtJSVeTGcc4sBmXLK0uTBtX2y6sPQtXJBRknFVZuRPv63Bn1tdievPRG7pVqau
GUb0S3a67Kv6kMWzezOumNGmm53uWhGKI/dvz64XFQK/gPFElA0JCivMs9k1iWq024Vf4BCMuO8c
UYcegrNb8Np4pJHXzztsUIODBVz4/u1Hr4N4Uh/waFwvcQcFC1lR+dOXnwHfB5EaIKwTTiQT2pN3
II3RI7uO+TBH+aVUwVc+6noXJUHL4WWR0Z4+L0LFB5+Wlkvf5AKDQOenRmV/4Yt6L5+yyra5C60K
zbUmP3sK9+G+0GO2Sd1SPpMchb48wUSv2ijqhmSXdXmcA1MS/wFjlKDj3YKAFHuaKpzoMMHGIGXi
vk674YeBqxShthq82BucejiOVVU8wyqZv0dGMrAP1B1d9o5opMfV/O2u8Lzew/Mq9QYchGqbrHB+
6de5MQNjN+T56GwX1pTL4jGmCMFTV9Jzk1493Ne6wWWhgBYJ6l8ZxlMKFzD6xy/sdjyim3HjfTnN
drADno3Q8kITxkbGgCaw7Z2yx6cp9bDTCfI4dvYc9VjZQMFyn60IdfUWH3nrgVvJVH+oaQJpclfy
BZr5POK/CO965qKCeZgZVk2P4yTodvd5gZaF5SG+7/M2S5KarBN3qK1DjycdNcVi1/cG6Qr9dtQd
8NX/oe68liNHkiz6RWiDFq8AUjCTWpMvMLJIQmsgIL5+D6pnbYvJMuZy39Z6bKZruquCCAQiPNyv
nwvg17wKEVzRxTBmwW2CcQxeT2aFgICGhvapogx9YlgAVFxug3Pz75bxI+b1/w5o/f/NLAmF7x8f
9heq9f178T737xn5q/ffBJXF/+737/kP1tpw/uF2SMRBvMyt3VrEKP9STyRL+4d7Mspqaq3EVQug
+r/tkhTjH1Jb/DlEGnCvNZ3P9T9Ya/mfJbPD70FxTIsZmsEfweAXt6Y/NiLW+7LNokVCJsV2BHfg
8ycLb5Sm6nIK/PuL2c3dt+fYvYzdi9A9j9zzy/fN3e7j8W137Fhf7gn/s/19HXXJ5/wR3M85XhZw
fgL/uXbvr0r3NnRr95FfvL6fUjdZfv2+WT09vJzv789PX+4+bu72b1eDe+znOPJjHOyKJCZHaU55
+LK8V+TXJrr6YzFc/vtAf/Kqf6f5vnvOg8BZHfVONZbnLN3H+6vcLd3n+8f7/es7QBb3kf885+7s
3r5eXJ9cPN+ehO7JtXt5cn19cnp+fX3qna9ON9cnm+vr3fJ3q91utX++OT/1djc77+nm3Lu52V9c
ebuP/c357srf7z+O/PzGklH65uc/FOzBsikt2oAD/+z57PFqtz17vnjePz5uNrf7s8fQXZ1en642
u9PV9fXF9cX6YvkRd1c3V/ub1flue2QuP8cLX9bMYTdEGZdp1Wq/5/J1WTbM5evr7ftl6N6WzObs
Xr/fxsxl7Mb8LaxX93rzfvvO9N6Oy2p+4N98qNzLp8j9eHk6/3h7ermK3N3LFavr6fKD1XV183H/
8Va6mEWxKj/uaz6Ix6vT06eXt/3HTeRevR2ZX21Z59/N70FGT087GmQNnslfn/nbM3/537Xrrk7W
643neu7K4xfu1t8eOak15cjAB6FPFZZjFgdj4POELMOrt4/960XO877i9+lenzNXhXv6tLt/uXw5
P/Iml6/qu4deoog/Pv5u0MPUnnhoydzW4GPl5zC9jJHfYBGDluH++3Vz0Abw77pZWEvE91SPCJ8/
D2csPQ1hmgRocOqzeDjtW22bQ0ES+gf419Wgpc/z+ALabVWIa1086HrOP9tJ88uU3g3jbdgj0YiP
sA3+uu+S2liKJfSvyIfJ4zSbC9kaomVnuH1FzeNex+7r6+XL6eXL0+X5243s3r8d+5wPIBr/mYo/
Bj2Yijlqaq7qDNrSUdIZD5aF+aeyH6cbm3J10wU+4ZbSXXz/Br4cMXQykJsiLUx+BWbEwSY4we0I
JUSAflnTiWgp8YxPWo4b19SJ+dfPxqKN3aDjkfscYld0tQdrqxGQIeHn25BnLXHWQs59EYgtrhtY
1EdC+MPH+j0Uvcy/0/GUOw4eiwtzLDsisalqd/MNFpT0ZU1Sh71ZNv+s2Qj0GY8FBoSJXExbCBY+
r2GC1KLXGyRbGFthrNIawYpbbHZkUS6T8+eHuYxCdwYpWq7dNBUfbAqiQbmoKbLlOwZ5BOjPtHxa
s3Nk7/myCn8Pw50PQTJJNzw9Pj9MZcRaak2q5avtaK4jbGofhjkLNcCiVrCL8wZhUxl0yeI9a/hc
HJ1fSWFIx3KZf31a8qZUKmiwI0b7/GNYfVTrKR08UE1n048coYKPmTvv+wX5ZRRbXoy6Ce9oObXo
7vg8SmtEDV1Oveb3bRNvUntGRzOgIfzpKGRIfrtF2tAyaNT7PEpI2WVA4QRUHqGW1zgghyOSbEfe
3JcVv/RRLTnHhcS3lDs+j2IibUgMAfujGBRnF9WK4/WdFvlKCHr/+wdSl5/401o8GOvg60JC7eR0
low+llquFqXXuW15ddtt+z44Sax2lUn5Q0m/Ry1wJp6rLetsJUE9pr61Vcxha2XjyhjnFw1pHpnU
NfyIEQ8g5W5MfrgROOxtXHs5XuhwIsY/mPxIcWDAdl3vo4NokQ6W5bgQXLRyK5dBK1bfz8xfXwI1
Vrr0CA2+5DllJdCSQWVitCIp152tPWo2PQRx0hRHXvfXpcvrXhLiPJjscFf5/LrTDoAqZf3RD7Tc
PEtJEIOO0KwjH8jnTAhbGy+aT2OpWS8ttodJrTKAZz7W+ujHtrAwM4iHdTYIxFYTXAKcQo2T7+fv
y8oCN8KNirSLzI2Hzq6D7z7uJACNSjP5ymlzaVz098VZ8+i86efI1ruHZp/cT5fzefQyf8SXzg67
QX84EgCph9HX4Y+wzPwfEdAw1pmEpnHyy3vtRr62LvTz8sPchDvtil784RKvGjoSLiGO1CftVrvQ
bvUjW/3hrB/+BAd7sEAmEyH0nPywRrPZFduG1AX64F1ZW+vvJ/xwGfF5IAWleZW0E3HOYe+7lCAT
6tpu8BWRA7VBR3kDPk1+PDLKX4ahFMyWQFvjUsw5mNMQa3Clsihn6lF+YlNw8yehPNrglN2oEuD3
6a5Pd1F1pykYwKDb7507CzFpVAWqK9mg4OlMcOpHqDC9EYM52GfNsM311s+lM7U0PQWlr00ztpa8
OBFNme1rNzwpytNoIBKsTpRp2swyzaOJK0sPloZ+zuwgnIwA+9/KrnrmvF4bTXrMx/0vz70kaWnn
XLqE6VD7vJbKREeFEPC4eTk7r2Ma6s9lfoyF95dBiOAo3LL7k7M9bH5Dbtt3KqpZH/mqvBaNuMJ+
ZTyShv/7IEQHvx22yG18fpLRnBrkfO3gGx3gHAclCcamdnJk//zbKMzXAjxktfA3n0cx0W0Hlprg
TJe12qlhIdCCfWwf2WUOL3Ysept8KzsMKBmqM8v398cXrg0MHNVigIWYggIaMueGlF53NtZzvylD
YFvpNKo/6ojnMFgGJcPL/FEsYXP7PGiAaR6ldZaCaO1yZzXNS007DM1BS9kOKyAUEAoQVD8LyHwe
+fz4o/88rv8dmhjfITxYHDw/D21ouVTkacGsGoAc6GcN/Gkw1SMb59/eHXsJWg8ecrk2fR5Fsyeq
m40k/DRHE5kYGVofzvgjZZaD/sF/53GhtEApXorPzsE8SlkpmrLNBx+5qOYWGf459aSGl4ji7V0a
TLYbpWO+bs1C5V/RcK0dyvbJGbOtLvBz0SfaIxA53FaDhXvGMeOsA5nhvz8eMB1uA9wHKP4drK1Q
7UcIQ7DZ4ZGhtMYYung1aFO+aOJy2YvS4No0RbGduQ1zjVfC9qodcwOOhpmpqSfNavHr+7e/TMjB
26cMhL6Xljq82Q5r9Y2e0AihYK5r0f+z0DAtl0AhWmf9cOzzXeK+z0OR9bRQS1IThBh9eG82kD9V
io5xgIhtBckNEFmqu+lWmFXhBbTPnNK8tY1G9bqSqej+8Dkpkyytv+S9MExioX9ef5hlNXa/mFQ7
OTbC9GFlnAsNPFh1M0QZrVzfD3d4SHNYgoKjtIvWi0LV4ZEmK5mJ/5mMDVpSX2RS91hpw+gG1vSc
tT+Uy7CqoMAgJMB4kf8GH3oQ7eGJgqPuUiIOEqtbyZMkzop+7k/MrhXXgC6wLsdfaANqzT4SIHzZ
K3+PvEQkTC9b2MHImeT0osG41zcnGjJUqTpteiQmcxU9Nw4eAyWdvN9P7Jd9hBEXmeJvoAmLaPnn
f+zOsUZJEfgfG1W9+KDTYeR26PX870c5eH3o8/hCOZT5KDT++h0F/jFKbvSUsKy5ohUkMbTT3I6z
9trMTbr5xpDIflNGY1odOQMOPkUGpbLIilnGRKdzGG0ViHOwaWhy38La71ecdZhic+YApTMi7eX7
BzyYxmUslFxL7YKzhnrmwR1NcC0INAymfXxzlKsgwTsBp5PqZy/r9yjKUijBkx2CvHMQ4ATz1BlV
OyChb3CznJUoeWk0LfrpvLEe6IDnvEc0xy528GnHYx2a+IzlvlH1OX4CWls8qJhwZ+u+qdsj0ffh
BYCkh0wuYMEjWBSeSUJ8XoDTrPYZ5j+5H9Paa5/Q0EMmpAg1+mnsBvDrlTzFhoNpVD3N5gVcpuJp
rmyMLGuD5otVphQlzmexZUXPUBaaVylMi+TdLqTmrMxoI1pFRdzR26fHqg6PObDNFnM3FdUOkjfn
6ofLgLAbrBmlbGC44CsPzn6pBZfSRIGN/UIUrW0UPojxsf79fpSDXcLktsZ5tcgs0XxilHywDEL0
ihiVaLYnBlxqVLuPn2vJFk9KrAMsDR36rKmWmbffj/plifOiqGeTEdOpkimHIVU9OLE0V7wobU4c
r8zkhftcBkfimi87BSAyDk72HNRVcMkOY9LJqQV9ZJnvOLVqurne4fQNiFOyvU6upWeFxILxs2ib
JQhZlRPUAsOz7P0HC75j7jrkbcARDbteDQntlUY8lkc+XkX7fF7/HsZEEIy+WiOXcKjMBriPsNQJ
Fwwd3peFHYXnA30+dNPW804Z7OoGhSpeI1Ecrtt+jFaAZLHzUepxY9VtuJ3xI3n46TtdInNMfFEo
c9x86f+3Oz3O6d/2nYyQDcr8sKZgrh158q8rh1GIUVHBLwGDukzMH7v/COMMKzhGSZCu3NhRFF0O
CQ3zP38WtsYldaIjgD6k/Est7fgaEDIfTOm8j3up36ixUvwf1grRzsIK4isgYfP5WdKoNKSscjJi
epGs7XFQfcPCbez/8Cw8CWktBgLb+HkU4GFTTcyKNjhQso9Sw9sSQHGUHhnmy0bCwreZK94M2SYu
s5+HISZopW4ZJmtL6UpKaHUq4hlVdBd1wBHt9MSCjnnkC/9yLC+D6oTGZE0VHu1gBue4C4EZg5my
7aD3FVrAtjo0A29Omvz2p9PIBkJ8TCzHU7LKPz9fahgtTRIjkiqNtl9fKeriNJkzOv6/H+frI7EW
UHNDXmMSOTQ/jzO0ky63JUnmIkzNx2rgylG74DJUE2+ETtXevx/u62tTKU2oy12apg3ijc/DZUpj
toQiDFcKa9ewSxjracAy0K2KABv6aUi3Mq9289NheXMc1Eudh0T+oRoumfDPlCY6Q025qDFbVaAU
bwyILYDvG/pVFfasxA/zvDmSVT646LBxLkuG1ag56OWJyT8/79goosPZS2KnHIJ9VFr5SYrz3mYe
p8kLMfXbSFkqndcKACc5L4Yjz/31SCKfhKQU0e9SvDusKKBYacYskwLPkuNYuPidQkfPgbcIqLIa
6edKtUFJfD/Zyzv843L3+5lJpDuI2h3u3b+Rt3/smQD9ylw3A1reDVtaST1ogyFJxiOjfF24PBpj
0Z1CaoYl9XlmnaSDtz6qgTc2Yh5Om7ggG9hFyGD8NGFhHTkIvgxHRKmiLqQ+s+xr1sG2FvajbvS0
gXv6MMsbpLj3mSZDiakRY30/fV9GYp1wCvy+mrJqDkeiIukgK1RtutHHYldg8e22QkmvhoaO2u+H
Wj7uT2+KSI+PgXfErc1C8PZ5Dk16cGk5KC0vUq3mHqr5KK7MHqOhyU3g04Rn3GgtfdMlXZg7Lpbc
xfjTgJ1Lx5KfIdXLn0Qj4OefIGv1hlpVBtJm4DiSKq0YgYnm3T19LfpPLzrLWJAEKfHwF/rbz2NN
Uo/aGWSRFyV9hb+1VJ4BIz12X/zL66OVg4ZNpobnOoyjk0kUuURmz8tLXGVWEprBfBWSZ5Vx7A6t
Yym7r8MtXwGiL9pUKFLKB0HnqDfUrDlBED2bYk/rdevRgqtcIGXMV9+vlr8OtSRrqP4v3RwHX1yY
agXOdx1PJtXy5Auj1p+mmkaSdd2r0pGj9ssmspiT/DHYwdJU4ioN9G7SkdaKYV0tXKOuqI8R7P/2
SKTCOdMpzPPZLf/8j62KjWpSJ1XoXp9bFu39GFJeh5Fln2qNbfyM3AfMjEeivQESLLvVUq7+PNgc
Z1Sne+aPvlJjrXeZvJJjXTqFeDH/dN+HELhUT2heZSzqcgdDBVOLYR5DKVbfXkWzZtM/gMtkH2eT
j6tgfuQz/svbIlsBjxnJuUW+/GAee1r8NXCculfGnXUrchlXawt73u8X4F9HoQ+LDWvxXztMmbaK
A2s8SXXk+3pygRJaPclp0frxRZi5I/9OKZ4sNdf7z3M3Rp1aOtgLeLlVjng2FNFGGeZjsMgvJ7PB
lWJB3LP5AlE9vCzyR8+tXuBJLgEGeOMNVissbxHy1C0VTLVoxZHJ+8tSp7ImUyuh0E02/GCjqIKw
kUjvo8+QMBPyZPx7daQStfxOoptS5fev6kucx+MhlKDfg3TkQvH/PIk4FFjgfRjNQHHtmQmMZ7cQ
g3MWDkCvGtO5EIN8zGqGq+/yFJ9ONDCuXL45U+AHIthYfq4/PuhOJLM6p6qgfl93t5US1MO20+Lu
FDkPvh9qZdSlC/pBetKKMsOYJR/IveM9ucqlObHWKYAmy7XwuL+mHRhAdKsrI2IzAHceICF78Hot
zG/SKqgxDUrKsfU6s9GyNWFcV3mi1qObgE/BcI2uK/d2JWWNB0oFHEllmgYJPGlU79TaaJ8gQEOv
U8KqEggwSnUdggFCSdPp+i+d33yWVjri/hQv6RLPbVBsvh5WKRXJ3urEOsIC4TYXQjlpokVhURph
uZMT2Xp3JFj8Ra4F3Satg+TUiHEb3PBruBQ4iCYXSFmwsAtrjGFwOk3DVVfL5mupk8xy+55UsUuD
ZXnaVg1EBthpkrWeGkulfShJwifIP1WPnTuNQm4rJ3CqTBmmzwDIhkyYoHPYq6akfEgjEYBBSoL+
lgth+tSLDrBPzvGYwitUlOu+rJKJXiaOe5eMVPwI8pRmGDKItNTj5tO+hYpUYn04tOmtg45/OimK
zn5o0OxfoWgCh5fHoOSEVsYPY0t/2L6vMNv2EmEJmGr44m6zcE4dV1WqfPbUoBuFK1e1dGm0c/IY
KqSbvC4q7X5VLzhaz0oMVP+Srcy09ubScAaaL683FjiVCkEYKCx3GAGwwparhq2kVs3oAojTaH81
o/gJS6voSaNxy3QbWsSMEym1+Y579A/vLdqvU2JhJm1qGyyBjHqEpCPP4akUDl2+0hLLfklkHbYN
HQgWltjcPzUva2Nsojo9614tvGiBmcWp/iCaqXkZptY4y4LOfK6pbFv7UlTR4PbCqi9TtR9g5Dgm
GBWsgNvrkMbH0FNh1iee2k7VuJppb1TcsqpnmIgTDhsr0VbaiRHPkeR3RNDU0mWtMTBjYTC4I7Z2
0vZV/pqqY3aJKWUJFyNzHmjsTMbF9HHah1WTPyuV3j5QSZPu4lrRf4UFAjTAYKWdeCZJv3plWRhh
0btGIGbGNJ6t9L7QKbdrvUbvXiTki86ZB9iAhqbc2vRAG25ZON1lK+LK8gjwbHNdKyWGaFVkZnuA
KPJHJCVIQ8dQamXXHIKStwUz5Eaww9+KyZkeJVvGo9xpewxys2kcIL/odjd4kVWrK3VKjHzN7TFM
1iXV0YpJjObHjFTzsIYr2W4cFZc69KQp1ova0FedN+j6fJ9not6H3CZjHIirpRtH4LBsKaOVbk1H
1KtGG43Aa4jddJKbAQ72Ztg411LkzP1OJp30QDZpNmg30aSzuszMZ6lIxu4E7UKxl4O4iv3J1Lqr
2LYzfd0GXXiSzjXmfJQCbVz9MrlP1xLqHoF1FxHFem7n7Ky1hPGemfZ4jRU47CU7EY3qNkxB69Lp
0si+qs7ZrVTb0b0kdP1CHVqaXsMpFyEykrwzvS6L7edZGevzPOF7dPEkDZ0VNcvSwKVXyXdCG0fa
d3C7dlaxhs+4r1mjBYLSDJoGFyxRJL5CMgGxI3EIc2cI41WArWrcKJnHew4h09r07QSpalSkYlwr
YEZmGjGBAaxHID+X6hTZsj/0hnELkqqd/UqbotYd6V48b3EKAP+En3vqVaoV6l4Kmjp1dT56Gkar
mZrpgAWS7Nt11+wtOQrf4m6BT1mYnT31bdtezloVXpVFIT2rXMQ/ZhPElVuPWU8GTqG5nYWTpiu6
S5vJi/WgeI/jWtfcppyz6KKWUcNSb5qmmySHiIPsOQl/VUOcf1QsrckfCcrFVpmiQrhjZDo8dyfu
1a5vd6EhgTJM2jG51evWfCGAr+O1hqXQOdV/5SMY8wJClYPNkD1N5ctQ81G7fdpqr05eVuO259YJ
9GxIs+coqwcZcYtjbcKRazfWVnWZ77o47n9pgZ4A5Jyl8RWt0ihja99OZ9g+OgFTl7NqTdTUaxM8
orwKxoY/Uwlx1XTthaS3UfNYXEVJIF1RlZVeJnkezpfiwPNQguR1OxhZ91jY5j2FVPDynoqrg7Ye
45H8aGSMVEH0uabWmKWRvoM1CZO3LbrbYexZbKZdiBs5TvRfoDU5EcZhAWk5mVK/hKaY2BqTgJPE
UHKVo7lY8GX2gs8SmOMoHvfj4L6eZaeQ93MRcw5vug6gkCZ3Qb4qp1Yr/GrMqsRLEye9bPS2e8O9
NTgZx679FTUpvA38nUANYXahzm7VqN0tB5v56kSa0bN9K+N9KLTkCV9s/MlwPpcKzwqN/EMaGxOP
9TQT6zCtGqxG6RDH8U2TxLOSxtrsjRJwSr6rGQV6U2anqZWEIdbqg9K5Uzk0zI41tDZ3jjS9S2eb
/cbpFhZagNiWZtyanc9TI72/z/D9HjyYSkkONxau39rIxpFX2sxhvYP3WRuuPFbF7E8Es+p6NsMy
cm1r1oU7pwqjOrFQo7VuVjno2rYy7gN7NqatKfX9jQq3wl6FUlTKXoDCbkbKX4YwmIYgxHMKqOWz
ZoMNZOeIynJTT7nVeroYnZJNV7cf2jawWQZh5DQ+XYA8gI5GNgHAJ3LY2sQjMqUvp78bYfO8tdSF
G1/C3ktjWlpn9JxksH9lQ6E+1PVo7XUxJc9kppoLqQ3nX4Dkql9SpISNR5FDlHAmg0DZcO4nZ3Uh
BfA1kyrF5WAC4gaRjhCIJu54WgepiB2waWYi0yxQpbcpFVrZF41UgTFSBhwV8ZWXXvsuU18r0IC9
36ZN0jLxo82mk+kPMqpivMS6LJg2JrAd1mEbBkgasxT/HXRaYGL9mIAv4WkH0cW/VCfVLdhAdSqt
Uzgm5ZPD/Sv2Jc6X0pdR3N7EhhY6sAhC3JynSDFST4uZ+w0W0eH7YMsN6talRXkt9Xn+SNhJRxMX
hGzetB2gJEQ/lLbA85ZxsMVDxOSzq5f9sC/7aFqNml4BL1Ht5lciDLlfU2PMZo9jqc/gnSYTrTRx
LiU7QQZW98cBERzRGdsozll1mxk7EoktD51hnrQHgRrDOC2aAS4yjoJ95VzbValIK33oCusR05fw
FjNXgMikT5s0xE2kMcMTahzSfG8DUzQvOmpu80lV1HO2s4oMHWiKDx2t/TF+BtleysySls6+7ECx
CnlKryItErswkabODzXstHeCWFvdGbmRdm96RJAJ6q+R0szLKWFmq77M+4lu/y6ZNgPQRhSAFMmc
YAViRw79SFQi3ukpXSpP4TxXwbil0FIDYde1YHJ2yG9yjFeUicCP7UTvbzLim34P5mnSr7SOcxJH
b8Q2zYo/W0vWUxkOzt2cZ4jNBkPYzhbnek2/1gh5Am+gRgfWDr/L/M4e1HRKuHxDKH+wenuU3c6K
bfkxKcY2wZS76KE9V63BlYF/07BPWr0GIVvkUSdzJUAx5AKx6yJybkWieKaaNoZLkJbLXBB7Yaxj
+l+BWObs07dKzYs77ec8MndW3DZik5RdIPtTHVviTlHSeb7UIzKA1UmYjRWCvAFNfmy5YWFF4t0O
gqJ36QwfinWtSbmMMBye+b2ltnF2USMuBnPXhL0x+7SiBvKOy7DmrEUftvFzV1H/zomJuLYoHsg6
WPoGBir35YCP7irsER9gzadJPTvHQPdunQX6eBMLp9JrlwZtid0gLMvHtlf4tIQRKelaC+aGSM80
lgtZ27GladUYMjCvLz6pql4inHKsoFZcheiiPa/oAWdzxWEoq9eizMW87wJyCB+O7AA20MZEU1/M
omjss9LMO3Fd2ZmhbTqAzkvU2Nbinl4Kazn+hzybHiblN4vMsvqgucjngpS9W0sJEO0iixqufE5c
dm8yUGtCtY5SPxkJIzovE5R7IP207KSEsTqfqIkE6s8TSosvVyTVRbamhTdNTp02ilsaWxJLXCry
WDbETXr/ZAlaGS60hsQ5nn+N3L/RyGEUK9sQ4mFMVLZo2xr02tftBlBpmM3ONUUipVhpU2yCGp0Q
BK/A3w7Fpq8jRQ1dvbO4UQDYaeT1PDYjPGklHm26uJugrgjp6llYH0FpKcH5CJHKWItp1u6CUcQD
VGXim3XfpXF4jSOjpfmdCohpjzqAFgs512Rc1yU9GZElJkK97XiJxXogkFT8IEgK+RW4lm5urToc
tI7WpM4qN3M9YkWG+aaCl6LRdvlZmthBfAYSBvXQJKupWHXSMFc35PLH+qmHh53uDVEl3d2gl7gy
umnE/c3NorpRNg4a/fgk7KENYkQ+aNK6G5rqIzDG9lGxAHjBfGl668TETxCSYagayVaEQ3jtOFEL
i1SneEcfuTZk+xAWcunFVUgXW0/Oe0dJVus8J++5RpFJk5TLtqBw4yrqyJ21suORLacY4AH3JtER
/w+PCJix5GvNYMZx0jsJ9FFKCgkA+nKcxOs4pYVzCRq2DV7jGY7JLuFmae9bMdnpw4iTjb2PE3kq
TiOtVY1zwQ8+n0u6OgxnedkuiFkna/piRUyrZ54eodrcVvLI+m+HSjcvo9ywksYdk1GziO3mML/H
sF2qnuekHt/jcTCMYlsEjHNthR2mr8jtIFnmSi7vLLuZ2biIgezpro+0sv6YQllLwy0WNq1yacLq
ulcEy2U19nJwqVcL/g5/1wDWVELfBhOWfAC0aZ1VUia2to6KsYIsH3V9jLNSau8zObG7vdPIXN8z
zdF3wZgkjpuORn9qGo3Bp9AWdrGqjQjCIVIN9aMbFGRdJBg4Gdq0qn8ZIrS5iLXWeJlYKOn4erJp
cEszBUqZtmUYrfnzUNmpUmg8csUt583cj9kdTj3RvMonW4dlA9Mbn3mj00+nJCy1VYkbULtpl34n
lwtI1m9aiY8H0YilRqsGwszH3CQbAWq42vRmJU7LXsH5snKi/pmzOR/cWRmCdgWdBXfAMU3SvQUJ
PPb72EmHVaxW9UqphfyqtXGhbstk+c4becG72YmF/xkVysmPadmCMZCTRSBsCK67KCNfFxmD2njA
+8Uvc1DMtxFcKr7tQKSvAQ5M5NhkpT6zGg1bE2dWjYeuSaC3WgbiP3zhlNnrYjV+qQPStOs6FqO9
4U5ZVOdYIFQmvj0g/AEQZfH0ZlkteleiE+wSPMk00hdjzo1T1QmG2XPG3pFXhpyIGzIkeMzq2IHc
ZLY268CA53j0BqXq72dJyxDdDoh7/QEB3VMD3yv0zAG8kjfFaVu7ilbJH/VYTPpqVBZs6DTI3bxN
JIW0q9Qk1TsvLrPcaZIgJ9BqFj7bRiaRGNCbQbg03SePSpyrlWepHYdn6FTFcwmmXVtXQpoCVzWF
9DQUcyLhwFemirLtjF5VVpMWEoUkXBJ7r20LRXEFDGKmeGx1MthFWb1aWlLmfiAFWCj0Y/7eqnHL
HbbsH5VhwVbE3Nf5gSHDA5PnynBHH9/CVG9JhvrtbzanA+b9FnMCjFi6TrcNT53ER1SQ4PGmCnTE
BkM1/a3RwgXIxNq50IIRBaNJZEz20u7S1CUZ2e8nvNvfJCPByHdwrP4Wwrt+NaaTRnxRk+7bZr3s
zJ4Bv0jZqdkQFb4zhOVb0aVWyWW1iR9hHljQrQqCfl/CJLTgLNanchU1jngK7FSpU24KxBt6jO7Y
FnRVZKq1n7VGg4kUhAkEck0hd8bG0nEBzp3yaVSVpvT0QKoonsRZyP1M6wSX0jw3Z78ZJDZbZSSq
dfmObZV9djBIZoL9aTxakmLTiwHyv419zX4uAh0qfxolkGEdrA4vCYaIZjOMz2f4y3L7XscjI+tl
HuYLPhv0nh4DZ0azqIRAi7F3BuOexwl82yqIP6QcTL5n2InxiGdv3PpBDrrY1RcLQL8vFRLEdS2a
6FyIIE5XAVvacBbbWcbuk8PI99KmUom70qo6JVassWvPBcbEidzOD7oGNm1tTU0P0INNj0tm19c9
BNtAs5fskvUe9sGAZQJ7Kq7FoIu1vd40tLbFYdm+THML8csSFQygTu8ioopOazs3pbg20KAyjLMX
kWkhI2Po2Q18qyk/B7xipys1cuJnFmM2eTZHruKbXIrAIlZJfyJqs5NWWJDAYWk53Q30qUqo+lZZ
5eFmcMoKxElgB826b3XM/SgqFoYfwvptwa3XBcaipObYigqHlAV+IGVEBFsq506Tq7Jbh12ju7S6
Z6PfU0orVhImQJ1vOZ2puWWqR81WCgrdOelLyXjv407i5h6RqPIdOwyvh04db5w835GGwhubPx5N
Yx0HLW2iTgM4RQd3rPqyUHIIxKojJl/tyybw1VoXgW+nsymvhDHFH7mobfysx1mLTjIa7MLFGSAX
400TpACdBFI40katZp0HNjcYD1mg/G7nAfDWinBxX+Xy2G60GWsb7HqIHP1OU8V111vaHZ9H03kN
VeLTtCkVSOZ4Mp/T1koeQ8pTQYFLkleQtavQV4aYz4es112ilqrKWrDlp4B+pXjlYDRG86aGLMlr
nSTLNrEy8rtHMHvUROaETLhSWsbogpiUJd/OAlK7ZEukmybBpY7DvZR/KUFs2q5EZiY6mYcuGzfx
0mPsqqKoLkY8ROYzir5yz42hn8AdqMLZJzM92vt8ICD3uPzKxbbqjByCbVGyV4V2a9/ZlSNx/BFP
xf6MYq8LrylsRPllw23jPLaI/n1Ll8gUBVP5q5IsPfTyrs4+nLqebxdM5ow59n9xdx49kiNpmv4r
g74z16hJYLoPFK49hIfOCxEpiloYNfnr9/HM6pnKrOnKbWAPiwX60IkKj6C7k2b2vbLTVbC1tCBp
jGS5QJ2Nq9XeTF5B9DA250Nb7ezIMVM2ND5kMKWlu52HgWRr1nwOSJTB5Me2L6Qblo7Fsdec7QOp
xusr3Xl9RcR9g1WaM940boFUlV0/60Pi1bPbAlwpU5t818f9W/k3f5lsQ5ro57pZqLZK+n/cjl9b
xEFf/+P83nT/sRmqL+89bVL/ef1z//1TP/6z+8e3f8df62sGzQ//CL8Fz9wPX9vlAhlQ9P/4z+/h
pdef/D/9j7/H1zwuzde//+0zdvL++ttiLuuPyTbfzHv/64+///fX3byXvG43VPF7u/zpFd+zcDTt
Azu1TYIZRmVN0yyIze9ROKr1QUXbi/LPRSWPdR/urarbPvn73wznA/JynjtMTago7at+9PckHMP8
gAcDgRTBVoRA2476t39e2d13Yo8P7V/HuBKJ/QMDaF+NFibUMBTn9S85PzOANanlQ4UC10dU+ZGQ
SVUWD0m09jsqRcydrhUVFSbY35CeBUKLbhg5xc4ukQ5mNvAlC57p58SyB1lePkVw8xt7Wgmdtnl8
lGkSXsSAtyEWbgrJJNfPja71O7q733Unze7szG4OoKoRXUy145mF9bZM5pfR3pZD9N52WhHWjTMc
Y4rr74gHloTRR6B9bZUctVRRwibt6OuMndk94OKL72YyPny9N7Uti8a+bxiSYT7vTMX9iKqN+pNm
pZdvPimsL56i9co2sZQmxBumbEZF0c+zRSaGUOQVdqzWOmAHsAGyonKbiC6/zFaMwWZwM+cxJlU2
FFB/oSQS9HkenWinm5mhBpxXib1vqczUAsozxWOjaCXod608Ng4daGiwJIcKLR5f8o7cSEJJ+slL
SXncOUPr8HZsjjazHASAkO0qj8AfRHApU9NP4YylIRxEb4qwmtcIabaBVA5oTA0kWchsQgKNFRUX
RE0sKQ4CVNQGJ8Skql/dhDIoGxwpIf3r40oJyYZe6LjDSG0onWeNdv5gxCOoqlKvQxcODlUBi8jg
MhTeaAaWlyonwp06LxqLcvHtNU3DqOerA1GkTAbg4woVQwhC4Dpq6S+Drb2Myzzss2Qp9zKXy25u
is/6on+ti/Xcp6sVFrWx/EaOPMNIQmaGT7GRPE/relSbezXekdVYYik0M7+WBZ0VOatdNAxZzJw0
LK+LmnTHGQHOuzKIo4oZbG3m3o/TTmd4pqrKWYyHJa6rfTean6VstoqivM00r2h29KnO49u8XbcV
4lTOH5cWLYPPesO3Slju3aC56tcusYwrj9EeUDWXvhUnIIK9gMws1EAD1qZVaTxqmVNsB7V07yCN
WOuJdDLbcIl2LulsJ6y65dZRFRlUZvsJ6/BurXTxPoMHkMCYtDFR6RozTTqKao8y0aVpg94Wrxi0
5Zm6dH6dLkBLXa0qTpT7tSFyqftOFnjvp8Z5XGRX3s8LvabVyJikjhM7gJGPHEfozSUfTyc22078
ykqWYw5EA5q0de1W24Mcx2GmpSIssmJ+otgl9zKzT09DQ3ZvK0W0t7oi3mtR4byOsGdnyExqolCF
jbgfmqesat/sgRh6jkZW7PdZHMEIWjZwrKX4MqcqitmjmcoalEYCQWToa0qDprXSrJ9GklJvqO6I
96CKEoMqlQ91rzGR62Z6suX4eSkGaOal5bqibEn8YREsFZ0YHb82mBcABbDDcdpyCwFcWsNiaXjU
zlHagcOYynQyOxJsi8GsTnniWm+Uaj9Q2WT7XZ09kMFzQEjHQsU54QDElFyAkgWRLU21n3TnFjYV
0xJvOO8Xzvsa4bfnqnRHcDLbOjrDJM/lzEToPtQc9UOalzq/vVL5Rv4bRxeNqZqa5HzUxAYlb30b
SXEaxGRtYbzmPdOyfUlRxWKzdpxDw7LP7WfEoZmX9ln2HTCNxRIbK5xJ8nACXCdtfGfV2tlV0610
qm2R1iwO1rh3Kv0c9Txq3fSZUBpMme5VLpwR6TTEawTrPAZgmCezuU8UY4DfbcN1cPOQ86DtM8Nb
p6g1A7pTvkpngiso3QPcUum7FcE1xPk3T20F4yE661I2ZXrvVpCxhZrTlQJRspktvf5izrFNtVI+
3ZkMGDvB4evRFG2YVqQd5OROJrgOwOyfF6NavRaoCPH2oRqLcK1UNAGCVcKxj4SKGr6o09bTjM7d
z8jLPUJw08fkGvbnVZXo99IsDzP4LMV0TqhNovEFZQ+9j4CN0/BoP81Vxa93UnB4x+I7yKHe66FL
+Pyrs9ZNKTRoEe0Mc7V8ffnSqdm0FZD2W563eQc59TKOg8bGYMbBtMjhxXTLAP0EHPs4dRP3rzve
IWZ/N+MhBvDumzCD3gjxmPik8syHJEIebhclVWtNCf2p3SwU0/R6rNypdOPcRTKFkFUrUFPnwYmS
Y66isuxEHgAq3ClR8zbpcxo2PZSFpUk0HzE9cTg5eJMsPL6N8Uyzy9jTBm4epqLx1lKYjaC6AqJr
Q5pc9BsE7fp2mfT1TIXU/DzGst8Vxbp3EIdtzSRDZTKIIUi0ZjgQGR+qBbD5cFqczvKySgKOJU6j
bhnsOKPLrkZ7nhzjrN4lqAu8rGxex24hTqAHguxa51CRskkvGVtm3M7RfmrTblsPZcTy3U5BkVX3
KKpCAp77Q6xXW1C6Yjc2nTj0C4HevXozXp3qwzrSG1asNPgYGTOEcIxTl72t+L1APSNUEsD2F71X
zF1Ew1XQ9spL0uVJwE2oAqEK927IF9It0r7Zsz0Yu4LVw69jzd1QKJgmPm/B2lrTFElfaa+TtxJn
vJqzt440ZzWHsyj5aobWftKzdKuTbCCNzqFtThJql9xi8PnSkugDHcSWkUSfCz4Lb3D6N3rN+Nls
nnzchIRir2n0KpVxusQOe16UCbQcdAluVzeZT71owOJHS35M6naM6KFto9DmDJaGGcsNSsR0Byyp
+8nUTJ4LZs7SPWxY0V8m2W+WXt0uqXLEsHWa81dE+cGcvbp9cWOZ8BFLFxpzvTWzjIct0S9EQfud
/jLXy0OVmfdxDkdOUxQxDbHr4qtT8Gmc3SgNbH2fA+BoA/vq2AVjX98ag76T5Ug1NUliiaSgSywZ
66LeX6hYFgdZMVqq6HRSu91bWfxiCGzrqbAuckz6XcJQTY+eflczz1djDemri7Afxy5Mm60+uZva
Kg5G+gpPuwGlabdTWb3nc3ErOi0oGu0Bnv21EcnBNJA09MZtW8s7II2bdUrRu7ZuHXRUa4cYd9sw
murJgw7YK5xY/Upd0iAa6bQ10a3cFAkmq4aKK6ozfOGMJJOW1UcnB2RNUHIo+aSFXcft4vTsDGPt
OB6xaQ36RkERJpsY/GreRWGkx+YeTEPbTXm1zSvxtkos2cgJV5+guTtpK+nOsCqVmJxoRS1hPJDL
Rg6CWIbQ1lN5aVp+lyWb+HOqtB+TZMxCTSvYrNvcPJpDXW3doXcojV98K2mjTdom53JRviaufW4J
0dtYVJOCsHxZEve8IDq7mmDcHkS35/QldSPUUygY/XpZMDavnNX4HcKPG0n4DIclZU6W1wIfkJdn
Y/nKjVbSENO8FPl0MzjW52oQDyUTzA3FE185mDWH2jS1V8Cu+1L0XBV8yZQknqU8GKV674wdt5I2
RrdqN10gVS6EhG9bFoOuJtnFLnWSRuZqu/CHdkLE9fsyxtmDS3L4Ps2+DrQpalhRaZWozvh3lA1N
xv5g0CMmyDg5OyNAQds07m1ZAPmVaykvPFN3pPZ8mdQsrA2VQnFYuf1Ix15IECiFWaOmG0FLuchJ
j8AlB8MwYX3iY911+YqyyX7AGJgIitaX5Yk2O/sTuVaOn9RTfkIBlgTXzHlPLijLLOn0UKUVi3kN
hqWSkAvMR+4JR6mK+I409WvLuhULCliaYTldxMkeoLw51XWu3TAkDWFfo+6LyCtwrPQtapOTzU4P
M+iGScMB3EKjcizVrrnKelrqorhGtSYOvCZn4F2vG21XTtQf2JGm7GtwAg1sWGU5hB307GxCYsXI
oOCBlZ4FG3nU3GI8EiSZheBTJcOTORyI42of5mTtbkH0LI9kjfJRWejstGwJVxOXfByUjIBOdfRF
C7BDOFTU+OqiuCFlh+kQurn70WlwMPaxVvsda/p2hXDyxzJD99A5I1WHNe4Stx4OTQEEKQ3tXaXT
88vC8wG9HWeXqiDJO0Oh5cO0CW8SyRu4nb5RrFjd00NTHcp6oIMxtod2j6GDICsVvHSgWpOb1G0/
a9EoIT2XYwWTXHhVrrpP7cA+PLpA34bo7YNO42cAQbCEjrMunl2Oiz9wVc+0qFGFOknTvp0TliRt
Uu1dbnfGbrAmxCjIFpSdo6mQ1f3yMi2zGsSYlgGd1WK4zdyGpsN8fkuguKtAUkNMD7tc5NmkkvG2
zal1awt72S6slGHfKOs5Hzo3UNEQbZdu1T8Sjqxt0I9OB/ValOfDshheITXh0xELQAy5po3WFPRk
LgOodPLQua5ycEcGYq1bn2w1Fy/TCPBqdsP0vHLSfp6XawHAOrQeq3u5VR2C26E+Br9OaOMVszmu
3rUl6xjJocMmV1EqZ0fduViiPJjpKr+VV/Ee91H726iDr5Kfop1bvQeRqy6z+1JUiYJ6q3y2aX94
V5MS7MqWCjt5pO00hdbStZKf3aozttMCx+BFSwTTR5v71hazfsoWFH5Wpxp3cMBv0lXMp3pUW39e
qRHsec5eFq1hpjGt6oS6a95GCYRYbCnmOU/kY9aa11Jiw9zTQVJyt5Zvfcn9FbXfQtO6g1VAbGpQ
Yv7SCueoXZ9IMO3nXG3y+0EX80bIXA0aI73TY8q66P4LJr2sTld48cxgPt/JUXXDfqheR7OLtiMY
26kZ8z6oiN1mOYqnqz5uPmVTlI1hSXEAubZrRhffst4UNKeyz3LW7xT6kNlB1gTtjjNqxs2kttGr
M9RyN5o0y6Ujtga3ZssRaD53NjOhj7dd9SbL9bDl9QdF5b1Eo9UfRhwZ+2jMrXtEMctO2mO5rRdO
uwF6EfNVk+5yT+CChupENT/p8Ko3sxjSgUOgPt1K1nRWosT4olR0B+vluI91yDVJicJ9aX1O5C5O
mzvZq5+RbASl3GvykmC2d6yd3lefFvb0Q7nSXA0qXmJV6OTGJTSeYyd6zJMrTeW+0BBxxySOP9NF
h5AHNftn7sgZDIGCotIZEe7CaRpKtl6yUo9f+eCzI5xr/tVA4kCIZGtundwtHgtzYWEFI/akWB+1
HlW8UkTzc1Kq7itaC+aWSZNvMO7VfkFo8rE1aFNc3Ui9yq3aGQEUXordMqhBXqNEGAdZfKndjBuh
J84NHcCkrjmauGUQIYoiG/EcfFzyVupwK4YV98c+QUkTWg6hadu+7eizNGZDucwcapnrxjZ+NYxY
yTn/F8NbjLqn8hJkCZfKquq7nPe4LWqOjb4ZL/kJkQGROGYl1Vv6zsU+1Us6FBdHlkQVIOA4a3Oj
v1hpVt7MhTZzelAxQXlFAUXgw5ZPD8NcTWug8yfp+pbWjUjV4llpVGNfqsp6KbuOyVS1i2bf6k7t
BnMio8dkIgwO6Upt3xlrbn6NhoSCDI7EVzEhsltU4hZx8YhGjjhd022tDUsDzZM4EBCO9sksbNj6
OUKgJWOmZ4nlwpSKHizqCs6MhNrXM7f1JtT/B9EMNh3PLoqAo0V9veIzvbufYne9KyOpPZFiPBzK
SnZHrY1AaxitPLY51w4iYDDLR5LfBin6rDRQKXjfapHzbib1fhzc2hcDyriCqCXfAAM4JIMYfb2o
m3PcZPPeHMbDnDEwZcqxSvTHtlV9Q2qLh4160zOOILyJ7ofIbnYGZy9fVnXnD13L5L7OXHLbBouz
blvjDNFB1QWSFAJ27nkXe83sXw3LpmnZCLPBSZAtyL3TUtxbX2+DVzmNfmarW2RF/hBZvpM6pF7d
xBxdL4tjd4FpKp6Zra6XIl/L2dZrCQ9ppgVbzASnHdBfXEKVZ76Yn/PCum+WNdDKaUPz+KMhyjCV
0UhRwm4qvuYdGxqxrp6VWhdz7epHJsNxK2bnN2qRqfEWDLcjNizoSJ1oSpWsgaOFjungDjn0YYaH
XcSfpzj5qhPbdjLSfGcu5uTTRlT7C3SrlxrFM+gFgkkwRS+LiJhwnWVrzmm1NR33WAno+zIxj45u
fna665luTJOgwtXKCV5QlMPoabAn3NNer/sIWr4uGodvu07LCztwaDfL7Kuw8jt7gqkxG/AODbAy
oZmFQ9RteV3wTHpVaXHD6+BUquFZFuc8YTrvepMHaYbvI+3C0r2KAFZ0sG1ReLUm/bmJgiFn0I7N
i0lHQQaEUkIqAgJ90Wb7Ft3oGe4Ld4H7hE4Hpp6KOBJya2vDDfpet4buXe/HWqW6W5jLTR0vzCbo
og2Bnrmo6HfQYSLuFW3ZGFND2XosOPU6c0heZAjw/mCYdeigVtQ68zi78Ufb2cl08Fe0kYXtPq7K
FRYjaniinpk+nLzkJGs3x9UZqaNNnKeoMS9SUckkbukH6ZVbbOHboZ7fRZKf44x3DCfIKGCFxjJ/
tFIY42zZzIXN5l7eZNGpTRKkRWl0mIr2wkn1JkeG7SGTz8Iqct5kak7BulzX9PgyVgMV2amre0QB
7pFNQxU5UZBOJspkYw2QZGxxgXdeTuOf5zLCeHUrjT27/nMWNX4E6BiMc3fKRHOZ1yDGXYZ+CFpS
D2qBc4cBz6XAgTMjYWWg24bO3Yi1Ex87UI3hkezL8tPWd7VS5bs+7g+WW7OficjktFT7iAVYr0d/
cerdZFcnS5S7Rb8DdOTYP82bpmY3gTZGUVpRlc5HAwbWH4qc+daCJe072/KRy867dmm8pUHiOM42
blbNvpucYtPlPc8a3Tr96I4eGASua7kfYyMGaL+Qp7W1JO021vs0OQx6bcRm7n6xKTiEpuy9Iv/a
tBFYvbH2Z1Q34r5FnB/YcMscKccc7tKJn6nYNoLa0NJdE1G6ZllG4zEHvRfawGOTcHfXytkqWfCK
mUjKcQzaOIxWILahImtWBhR4vrXts4rocnTdWwyFvkSua0tarkfMDBTsXVvgdeMhSk9u6gSkuKXe
ZESIDw/upAaTfGnUrzT9vHM4n7xOlW2IrvMur/RoH5vzsS4kD7wcVpSchMZG4g7y8pyZoK0s8p8q
Md8ygeyhSF+6uT2J5cXVugtCZfbKFWHT1HEk6PT8JUuzLZpU32r4Upqk84uoPSB0Z8OdlSdFO6dK
A51B360YjqI0icOm4iyjfUT0gVmeEHrtldTZVai1jy0/Nw17ZBR+zh4SL5t63CrtyQCn4hBkHBy3
Qir/BO7g5dGTnBB+saLY64OqDYD8/SZ1t0gbvabHTrPgMAJkmYXtR6Vzhk3xkuGYyReWImQjTIgj
jEaC8Kq9pJxIZ4MgTWvx6RW+s8wnZ+h8VXszl0959wTTwrDHOMh+gG6eo98MLetXdrPpnFcyxv2+
UakR6nfieljoq5teAXOjQYq0oiVgnnyZlU7FcVccVzHYXpO682OHLC8Y4vqqWahqv9Ccx5ESmU01
axfDHpaz7FrmEI2e6rX/akD9lnkdGtpwWzDibdy0zQ9GA83A+SVA+6Aem6h4NEb1RmbKvpXp9a6u
+MoSt2Ro7DusPPV6MiiMX/WYdvjB3iWCMZT6Fk8szn22Gha08YL1x8Lh6S9WfNTU4WNl6nS7XiWC
Z73sHwW59junN5cTcJZR3OtF/5UtCPTD5iRD3OoJy6jAHn9dyfvFuY2yft5OnUspbA7wwfILmfEa
xTFimHLt7ifxZCvVTa4id5t0nuVEt27T1bX2MM1AuMMDrqJjbzHWSMnWMa9qsEbxK6Kh5WRP6DHN
HqpufG0a4jRNy9501GRq2h0xVyFl9nmaL7tumt0NHUlTiPfokYrlwHH1I27A26Z5njAp0JPzmCu2
1419oPVEClRChRswNlMJuVatV9C0L2V8qGgH35kobzZA4dmOgDzcP0ln3RhitvZI3s+pMAFzmyAR
yaUByAVmoWfJrdz7ci0yZhlz5rUcxRQQd6E3qABKMCVESYgnUnj/HIqj6zhpLSgjznF0zDRz2BXj
EjOHRJJy9Lq9V137NUvjdN+hcwnUNnVvK/r4DlclU8Kn4Jt2Y59dWe7LtKa/HelyCVGqOp9qXuaZ
WiG2Yi1kYGrTBU9nFbaKUlzmKBHbxk6OBmoa/eovis0uHOOKua7BslTXxn40CsQ0dFkbCeJIo3sG
y37s+yUj85sua8VeOg9KofBnd5w30uG8RC07wq5nZ+hvYs7Rj4uF8YlubI6mdnmZM/e9nIwtsqPT
ZDnpdjWqF7R+N6ALT7mZ7yj23qmNc78iCQt6MQBiuSOAv3lYE+de56Q3dDC3VHxiItLTsJT9UynL
u5oUCR8hiwEenPZ+mcvprHa9FprGNIbaOGOMa1RvzZx2t9b5p2SJODSabGFjzlGL7qr3zHm3V3lv
U8wFCjE9UgZ+TmPjyWF4VEDkt6nOQSomQGbDeL+XhTT35ay5fsbH47eNfIgmpabMzEHmj1Gh3KJt
/lw4EHsJ8IHK5hiLh9VJ9tUKKY+Ay/JR8lNaWleeg9UZQ0Mg4vxE087CqjNBK+D3SQ7WmB1A3aLN
VI/LdpSIbN2iK/zY0Lf1ikLKavmZhTY7a5j2aS2J4SlW8RSXDvLNyboZheDAYzWufx1acI+oHupd
cE6YVzRkVwJO3rP5piQLa6nvDtLaymr6SnIcJ068vX6U6yqOujjzWzRyYYzT4SYv9Ns0m/o9l5ag
aHbKfd825SGWOktQMw9BNLSDpyM/2llq/zFK1mYDhqEFE1LAQOnKzayoDzyPdy0KOFSLzEAFKSeh
XHuY3hVwLBL5/GoVnCjbaZkY3lp5nNDNfrFaoyYVOWkPax1z1h8HwgTqRdukaqrQey9QmK1Dummt
ZEL1aXZ7xXIyns0y92s8Lpz4MuI2s2wgP9TtAzx8HXp1tA8iBY8d0grLYiy+5HP6opQc86iS3aoj
CgQNfbRvtUoa9E7zGsMi3WlMIMiyVJwhM2owkCSspSiYgskZlDN6UCiMesSbls2KhwjqYRnax8WO
3hAsKhujXd0Tp8XGQ9zAhdE/77tXNx/o+rlmJkbl1x6VWGn3qm5lT/U6Oif8Gea+HYC4SWi5hu+K
O+3KLK9NcVtbWrVN3b7+0mND2M1aK06ajN1Py9QpL3Veza+pqNatUQ8LUGgMIVBKMtkqi+lnvWms
5HZJtIsyaleclgtw6rV+mKU+gYdCYtDB6FWzbAPyMb7kjX7tGkCErbUS+V/JeSjNXQQLnCJKjuer
R6RzsTcKBw2BNlmXODW0oLSbJ8vliJNpDloDIxrDbnbWXVy5y2OPAW/n5GX3pCnduVRF+hFepd3N
cdV6ajufS4vPsNZRIKdpQ7wVCr+szc5Dha4lItoTl0S5AZcKoeb0kP69cp/0ixq0+pTu6wRva4TR
DiDsXEdFeztNw3tkdkWIEIIVrSNY0J8SThJD03WB27QHV5xQf7/3AAqJom4UmhR7HSlXO/H0UFY7
a9jFdWSZrvnQiY5I5KKod1qT6t+zfP/vKbN+EF39P6KyupbF/GuV1eG9Qjm2fP1RmXV9ze+dY/YH
BFam5trXDKArQEF4z++dY+4HgmxUZFbUL6NNIdb/v5RWtvpBtQQvJImQGEKhE5DQ1bhu/v43W3xw
NJswU1t1yAn8SVX1Vyqrb0kv38VY12Y0MKVrmQDJ2OQNimsj2k8pCyk5BJ1UlDVA68vzwwAQ77NR
xaFs4XxOishmjqBbd2TTxawrY3NIj2JlLcDsk8XFTlFSMobiCGWY10uMcexrU7lizIMS8my08C+j
qVgIJ5AjfizUJLU3Sf9NDZwJkPdZFUXsZVo8XEn0sccEtwoP/ovjrUjn39SjBBae1YKduqmZTmHQ
tqumWnis8Cy8Z2u/2r6IsuGBo17Q2wsljnnaCRwm2ER4wtzyOCnEVAd6oiybbpUwUcx1Ew9W2yWH
CXPSZ+BTMH2rK/1Mm+NDMxtItxerGZ4JOyJQNYml3Haos+A2iQHezonxQE5lJPxsjekjsso2aM2o
+gjIyuFltupyi/tefdcYURdIbCf3kMFo7zNazY8VrN4OW5UkWqIsv8ft/FtP2P+n3X/XTKl//Rw+
jO/Fp/f2yx/ljmRi/fMx1PUP8KeGRpo93byoE0nS+V3uKD4YZLUjOBQmXdoEp/7XQ+iIDzYRtEgg
CUHD9ndtov3nQ2h80GmpVeFpXfP6eGr/zoPI7/lD2onlaoTh2N/Uk0gerlfIf/9D2omizMOadwJL
g91Nt2rtoMy1FQ2HbT2XrnNSpSTnGTMnKY91Kor+pIylar/84QP7XYT5x3489fq4//dy8P0yrjlv
aA4MEt/sn9KGKstUOxfPV4h0NgHqmmdU4LXjrtjM0yn6mBImS3iI3RSvHLLANYbWTZcws3KsyEMj
o1tWHNvYYztmVzeSGNYjx67L3Ea8Li80qvjuF9f8Y5YQ+bOaYSJCUjWy9vkev3W6/eGjQz3gqpWF
68dJYJCEXi3blCrOm9oSzXGMNTAb5pRL1/cZEXaZtS/pF/Yy7JDHeGS4abNIEhRDYG77i+gc9ccM
m++XxrWxrn7LpPo5VngQfHSqouqhOanl0V4sItGWmOL0RB83Xb8yyqb6vuq0LljJUdmlq9kGhQor
8Isr+TEe7vcLIULKRVTrXGuEf7y98knKRZWJERqrq5CtUJKBsLRKcQdsPoEyEoVNssfKSouV4xd5
ez/fU9fvx7RNdLzsZ2xoP4WNtZQIqyhV+X4snaV9HufY8NIhE9irKWX2nMYkCgfKevhFTtL/9PGT
XaoSyUEinuX8HF3UDW0kSLSlSC6OWe2V2WXlZ3vedZi0CLiYynYvKgQjLfT1ZRoW1VvwCN3beQS2
/4vb9PoE//HRIqaOKCPk1qZhCB7y68f0h9vUWh3y3UiXD7VG6QWUtZK1QabqqCdrUdsa/g2E/Yc2
0xaAWWsu3ht1VXUwKxm//+Ja/vyV0MYmWLs0nTxLYkN/vJYJ2QcZBDj7HGksUD0jrBnN0NEZLAi3
z2QV0VtqWMxbU1PckJixPI1KKh+xo4OJVEJiXFiat9aYldOcpSZYoJLsGHuil7++0j/ft9/WRSAC
k9B9InV/vNA+BexLxYTGd0kYmUHJqH6w5ubUt/FZK6LixkAy8bBQWfx9G/3X+vM/Pbs6+wGyPT4n
eqTUn+vIaokkkaTxlABtITaq1iDvrAeX2rNJacRbWnbaC5zA+luOUmo3106C0ndON7lj978o7PuW
gPnDvcMVoOziqzIdlf9dr/UP9w564kxAnwNRpCnW+VzOFo9qzbJ26okVuKD5rJaDxgp9uy6Go+1J
rOlQdWMPdhnz1PW+K6SeHisw/PEFpjAgw9+kYrtdM9AuCMFxo4tFvfZJwS3UJLf0FK7XNoI+G/Uz
89ksq1+sSeqfngjDptXc5ukk/gsZyE+LUlaQLJuq+bgxSNjajcNEURil0owuUxpQ7axv9Fwn7aDS
ss/zOCJ4wLn2qzX6x/Q2VkYugoR5gsZUdib+z48fLUtyjN96Hjaa1WBR63qye7xRZFAyvf1UERGw
/etb+n/4MtlcdXLNKB+2OG/89Bf1oZ0bdXGHzUwxyZvQ6xpBVGE8aqKoHHxUjM9N18wnvK7NyW1M
ccA2jLBM6+37qi6/dKQ2PZMaIfFTatlzU1uYjEbzmKhLTfN92ZU7MhUA8hKzRLKUKn3kWbpif/7r
9/EtKfzHm5L3gRCIUxULifZzhLKuwKY7eTRu+o6QzKBF0RJaSFhfDSWGTlRHZlkXm0+qxM2uWeMl
6MrafgCUv1+MtgFViklwijTrYrDthSYUkCdzVM2ANQj5WEF/sR9o10/2pytmZEJRxTNtWYS//vhd
owPPiaRop40j2/Q3DCQoBFEu3ZpLsdwnUYJKhAeGyCatvNjKhFSkdk9a3RHSFEsrDddsUU5OtJaY
eq3+Vqv1IegVvcQhjL3+Za1nuCOk8bcEPz3ZoIf7sY3Oip5lNlw0Wyyaw/FmhuL/xRnozzfx9TFi
hmQctIig+umNab0jnaxSx000iOXU5coQjvpY33KSW/aRbmS/uIf//PdccT3HXYMV0Wn9qcIVqMDE
8jxvtHmuXhG6fuHQgTdTttMnEaf9/+bszJblRLIs+kWYMQ+vEcR450HjCyalJGYH3B0c+PpeVPdD
6So7r1XVU1qWlEEQ4H78nL3Xrt/ZPP/m83zsSAnCGZjP/H6//3CyB0MT1CPDZwwjH8igq39aK6CZ
IKDPHiOTemfBdf6oKWl0hJBEQ4JlbCjTb25oVFcC0h+jnV52wX7EvoNtsmtfTFkP9n6ZonurYN8Z
Rms6IKFwKIRHEdRIYG3ncYQy9+pp395rPYfv7EtvDwp0CYIw+BdQnFKOF+v3W2E0lj/mqPMxaUjf
QPjsfMwzKAdJE473s2bc3cIH+an11O484JOHf37r/+7jY3zK8CCxgKFR/P3ju6H1C5cuwXGls/nB
pif9lSSbk+UDMaP9pL10tvSPWDE/xwMcvfPlnd/Rl9tqzTNAbgHWYZu0gLcPHmZqAdCAgADVUbPs
4jEJXqXfD/uGYI4xrVb1Si8veoTEeSkZUl2kHU0PHlyWeg/DgCbC2GcWKMMG1RjuuQ//4d2Bl0q4
QuiB2eKg+Tb7DYEXriZ78I4hpcBZ+pX70MFxum3cYfhsAu+vGJLZc8FbdRSNsl/++dP/rHcDDrER
v8wGtw55RX//cUo1dKuXKO8IosK1nq1u7D4Y20vMfaV4q9JGdqGzz+cQCbiqFV1eXMzy7DgFrfO5
Uvo/Lv25IDpecFH9kEiNt6faPFtHmxQykgxnAxhw0hZxWHZH7Boy5i+Ro29HS/iXf74NfzyifCjv
CAU/5HIehu0Z+rdiqV39bE48Wlh1zux3VyWT80sHwXpaWjh1/mTav6JEYHWIK/5dB/vxvcJmW45+
22cCviu9AVp+BGxwA36/grkgaa2YwvCoMw83L9N8RB11iazmsrj2cJWdXbWXpQTsktb8kdvCmjrz
6GnYeKmoBrE9vFnbvfPubr2PP64rpI7nTLT9LMHb5yNcXM0MOgKsBT1ix0xtCvaQCIQh1mRaC1So
AROChRuD2gG+jncqJ6WC/VTq8DILHN1IEmh4nxOHcMOjQJS8gY0sIor7tQCMVRoIA1Y5rtlJGZce
NZLM2bx3f/9YBQKiK+l90BvdSNn+m/sru7ZxekfTD6lVlZ23bkkDd2Og5VCAfPIwdjJshn2iiICG
HgRStRPAsaLaD+rDsuhFn0yZqwdH8Df3PSKlHmvRQvTmf/oouuyOCadPnkQSw94s1lEXQl9sueEW
zR/8Y0tw0aP9aXCb5M4tl+YcD87yPei70xK65fGfP/yPTZMChwINWkhA1+uPEDgfyQ1ZrrRbE+NZ
z7XIp8ewYBBQI1Pe2TCD/rMQJRZnPpB1ma0hcLdg8TePFw0GRcgiqJoiEuP33vLmU8OZN0XOZN9m
Hqi2Q+YH5syeGu/jPLEP9Vx3F3eD+0WWbu+7lbgzqGrqxmuD/tQuAGsP6LBRduVr/LlA4bwDlUp9
tTAj/ee75Xh/vBwuW71Ph4Q6I+BL/P7SFoVdWehS7aPgCb/3ZJK8OsJTNx3ohY/tzJm3ma2iRbW1
6Ntkkwo7ORSbfu7x+0AZmY5DWOcifeeytmf597VkGwzwvyhiv4MD/vtlSVom4B689ZjJvFEpI1SF
V8HN+g9l6GfdpxmcWncxi9MX2HansDu0owxv9epFVx1kSJKxlCLZViPTogT0CmPYFu3EjRmSiZa7
LKfgtndN8d9ceEKxDT2atkcUvrlwngRXgG2B/xvPUYGArTUClkCYPIoozL4IPeDQIFhG0D70xtg5
VI5jvo5KoOFgq/ZGTE8TnuFSCYcpepRH5zGbO2pte6u4lTMGTwVwA/u9C/9z9Wa3glifMF2h9nsb
xGSQ5RSL46zHcrB9sfFS9Legjh+cxsufhDPrY5tjSPcJR33K3UK9IpdBWGXP4r7SvNjvPAB/cznb
0RSLpUduL7fy9wdAexOnDmr+YxiZ5cigBaKHO5fXLgzUXabgQaaqiK5xZ5JrZ+n5vnHW9o5/uEQu
Oox3rubPpddjxWVOlRDPhuv77TvedJXbqpkKp+xODfQ9kqPa3jwz7sm2NoR740EZPmo41Ld5KDdi
5NwgRyB2ex0XtVeVXB8732sYEU/NO2X7vw5wb16WmM4+Nytgl/tX8//ft35XiDyCwoQUPpss/66j
fY0+EPjuI6zPAu0S6tPok7VY+hS4lgEdYC3e/LVMNhJ000IpO8Lp7NA9hz695CwI+zCNsxiZpVUT
uHIlqtPr0j4adJ8OQVZ0x2YtKTNLTi3v3eq/+eEZLGzVJM2RLR339x8+7k2NnG9yjkIk1a4sXMkx
NIwBFuTINSXg6zvPpY4wU/5qcU8ePVkhoEwydQJpGryzPm7zy7cLEUs6ebI2+UJ8nTfPYcivV4yc
DI4FJLJLZQtxLzS/RgrBEW2lJnZVLygnBMECIGgXTUdJ2bif4MjB4LTPWhvMiYQqYPrGKuAfusKT
2Dk36N5atiYHIjZar1EwuTvVFtVXBnXHLq/097Kbqy9NG4Uf33ma/1zzOcK6fBvybdBUvT1OyKpe
rBqE/dHlBXsAWOjdhTKXx0Q09bcpUhW2gaE/uHa5MNjIkp9lbr7zQ/TpqpbiWds4vv6LS+KABRqJ
aRB96zcnz4oJsFszbznmNIpuIXz2tyXP6462MprQyQFj2jTj54Rd6Z51YUlnijggW054WPkqD6st
/Heuaftlf3+raNPFTIk53dAhe7sCTcobZtvBLNotQfiJAWeZMijq7qjpp0NhddYHX0X/N8b8f/uv
f/O80fLlWWMuxuSAkuL3xx+mwjS2MWeHYsj9E41P96xFE50qhfMGIXd7Q3BZ97lE2HKDQzf8Zbz6
W4GJqNqFIuhOdazlndUktdi5nrgJXJRvGwx5V68O6nHAIlh/28k5WJXVXFZBWGaHu/eVjeZWWSvZ
Ae/8sv9qGvz7fcS7R+HKvsJkzeOE8vYbNdLdtkT7oMpBJntvXvGLacYGrxXGpjm1JjhAO81EIk9Z
hNGUe6OLv7zVCmUG9nMXaa9mHL62nuk/CrfL89RFubkeZjXZGLhtD7a5bU+z/MrEfD5MjCNOK4we
tZ8q18/TWoSvQY2rMkNaz+hF1B+Js+l2+VjA0eoDIbDHOHjUxqShet9gUsjpeE0A11Mfj9Ruvnms
R0ikkG8jXOph4c9fAxEja17r0qGrCZH56imVm8OEfWrATlzDKEKxvKY+8J8kFTJA0j2EftNcMt82
95HbWHK/BF72xK0ji7uqZP1TjmicjlY9j5xcJ1SYNxNVTnZ2J2UkhDqtkPtFgPgvVAj1E40c+at0
XZPsFr5c2poFeQ7jARPvB5wbB3B5w72PixXHRq86D4ijpQCmEClJjmcUDEDBZqvhrOAt1s2Y6eFz
lvk9Ijemt5yWLEOCQZdBqt7DumWzbxeZcNQIR3lWwTBdFI5wANOkKQIjySP/YE/Se0jUAgDXIQWp
PNTwxkPEBPFgg0Nq7exkNJLck1er5pmbx3Io6+1G4c+097yNWLscAgF+tINoIRS/90S+ebF5IFnO
3YCqwufIGrxZa/ohBFbDkg4xsnSuFZ6to7V5RV1nKJF9tQ20+LnpjwBp5qvfefWF86PzznH9j14b
H0CC0zZpCZlw8L7//qLb6McUhpfssFQ9yM06Q7pagZBp4vI+H424eHn4EiurpJuay5t2lsF5AT1z
YiiSHHKNgprwUfXzn2/O29PT/14VNU4chswmNmHOv5cS/cDqP6x5dpBLa35Ci+738xjJR2C5DaiD
pjv+8+f9UbuwwnFSY4MFoAStO3xz/ujrqRChnKJDnMzJ5uCrr9Iumi/xNAEkCwbejdwX9+vY5heY
+aXY2cW0HbOAwO7C2gkYW1SIWkOoGM9B4lYvQdsDguijEFjAyBoxAO/eJZNhqGMrmBX//AVYkrdL
/G2BozAkkZJaw2WrYM/8/Z4l/hz0BOlmh94ZYed0fiTjTWeK+gfb34jMGsL3NWtY0E52460vA88f
qJxxtZOjCRxzN4M1M6cabl6XOhOHWjzcZfelVJWJdg6Re7oQtbd3hLK/4eij7p5ESWDkgPWpw87f
649S+DdWtkl/MjTXxXVQCltUuaHDn4o27nBEuiNK6LWPxOciXDFKDVr1sErIcMfO24OyR4Wda3Xo
qjlrDtM4desFPILQj0mWkaBRtXFw3c7XSera0gkOQubdRJ7D1H7ve/jLRwKNahh9nCS+RyOw4DOw
aA8HcyIpHBtfEt8Qls7qX6s1gyfjxHK5XWtaY2md83vRtJM/WCAa/UoTRn4vpAj5Jce84DiF2bC9
ilWIhVk6Y700br3gHm5nz4tgl4gyqmk13/AGte7RB8nasqSFjjmN4TZgQuki8gtjsXzeh4xt/QNx
K4ju6yFpRoRXNrkm3P+g300kRxjUzDiMrlGT+MsdPBE8NDj++pOxTXbnuizti92v2712n7MORy6h
KJ6sAUE2/l8sQPFjQHByD3qnJLR3FlbCvBGrVAtz+ExfbHjx8XFa56xbOUt4VVATuEOj9sFYQA32
AINVsQNUCmKwqG33C8SU5FFVeQTb1ulqkCD1igA9E2p9FaDkzGFtgubR6vSE27Kepjscilqil+U7
diYU6oyfJQDR30UWKIbRCucDDB7hHvl/EyAMBY1hoMH+2rxEsi3vqfOjAphLvsHrZC5eSssd2sM6
E/r+6kbOqB4xHIvpBIHDQFUCyPOjrji74mFhzzwAidz8CuBWPli5TqZjMpBUse9aVyoUxMAAd8Xk
0yUj6UHedJgDukOzYO7jPF8XCCQ6lZQbvzwxw6M3lc0GdF3EB3jEurmdY24C3pjalntYriN0skrq
HcyhWJ+g2pvpdppqXMxBXY+Srh68MuJ1yxgRKWJbBPUjUfKeKBeMLlMtHpWjQ3Z+lL8N1j/HJfgY
bHDqmjHK7/AUuBUuoLl8FmNb+pCWIHveurAt+heCmUOza3g3UXHLyEOfvJrFOs0iwHHvxyMxVf5c
t9XtinhYH3jBAe1qj3gHFH11U5yIGZlQV/t9+7MOMOZjPwaNfG37KWSYwp/HUjA1mJYRSY+w1sil
GXfgjwP/YMV9Pe4NDdn1gUevr3Bi4fbFVdLIIzjoBYJyLBFSKSfuz62VDSzqnFo45JnkK5ErKty3
TjanCBTlLT8kBH3u2HwhXdAKsOECUZKCMfIjCwpES6GdGdsW+JT5aJiCvjbGlexeMYrbPB/xNkwO
++Ydpmesfz5adnF0fJnhK1oKr94vYFT9XTaovsFS04CqK/0lgVIz+s5VtEvwotEb/ggk2UqMnqY2
2RO27amja5q2OLdE6tV76OnY4Aa5yi++25O92E8Nwu9Jwe3ZWU6DyYjt1AKFaieOudhuNY5wmmT5
sQaz/9Mga/vo11IM+8BCioi5EFnAzdCITTffmjhAKS8EJfM4AS72S48IdC9qq+9ZZ2OUWL1OfQwZ
90oINIlZ6ecRFJBOueXH2IyjtgDYk+v6EWIM2DPQCL1+iggMoo+hBRXjjAdeHaponm8w8zd/VU5s
tQedQOVE6hCs/hMQL33FM0bF1/gwmZm2SRXewd0pvkLxRMVDUgTrRBcUVCsM1iV0myAkDkvlmPhy
yFq8QGSDJWk+aVvvMcToJ3sY9YcV25LeK+zzFe6TSvUHTb/A/ZB4yv/F3Q3ETcsBC9oKRdJHa/Gt
YY/Wab01RqmfnicV7eZ1iqHSR1rbF1S0DUVwWUg04kFC1G8QgHo+zTOv/mmmIp4OUMzyDyMuAyxm
TO28S5hn84XIo2a81OPQvYBRsJ0dPJ92uZtLCwgqCQlhfWwsx2DeSNa2TodIU6TFNgjC3bCwzwT0
0kCdThgpSETwsJW1Moa14gVdAFkKwzvQb9stdlk+4pPx0Z8CsVc5WS7SbWGMUZ3u4UdhQ9Ji7fVp
cTeXbdjb7ivoYVW+ZFbJVj42JpHXrhhhMApqUyo2Pb6SQ93fMH7On5aad/SwhJXzWBdt+HkCEj+f
atwb493Sqfkl8lRRHFQL/v5B16sJ9xi23QrQN/y3Kzp0oGx8l7linleaKNW1LKj9wPVvXlUbZQbA
vexaYMUx7NGl+6kYAfvvvDVBqc5zAPemCxr9bKYoW/dhtHl5UeE1kkV/diI8VR7mHGYHc3ecnT75
WVQx9yV2B1qU9If7zevkE+ZWFQ7/lUB3AJomrIjrNJkxjbfVa4cJkF1QUxHgQl+kV+xMW9J8S0Z6
3zAi8WbWZljyY1XHWXfU/CsPU5Q/YVaVlXOVrhi6gzBF83Hpvaa6MfS9l4uMI2DANR7rNjVMpq+l
bqh1iIsSABbCFfWHNZJBl4zC17uI24oVzXLiPeAakklwWeibJQJXSx0YjUWKhyaw97INnZsutFZG
n7ma59u+j5nNroDnj30JfxAqDw3ma1bPbIQwbXuqgpKGl6fW8BnZkZ720Jrs5LVtCmPft4zNipsx
H8PvaNeAaCSdi3OskBLP1TzkINmEO+hvpEjUxS4YPT6NU/76JbLwTBymKZFbpN+qAgAQRum9563N
spvmYXmuiM/Uh2a15h/jHNnfIqd5ynlbuK5hdBbieFYaTKPXTKew7+pxB1rXe8qW1cUFQ5cbSR8T
KOcO9G9Qks9VW3eusOiXR8kMgIa8G4y69VS3E9qbjmwjONFRijsGxHi2QCnTJANY50o03BvbafMP
Jd3XHf3NejwbXxX5ncoFkgOXrla7d/ouKXeVRtVyoSczXzoIXvp5hecLpWQd/J+RKGbnSM1n2U+r
JQm0430Ps2PrFfrJTxhEHTZW04pIx6U6wrxHOUwYT5VwUl9zYiAGnVzZV32dIlNtRTqjhJ3OwhbR
dGTVCBUgF3IF9lGSlO4+mmjJnTOzBaFko+c/DZhe5I7rh7gYED61H1jIdzNkMdrrTe/3aRb0MdZp
kTk5VyEtBoKxts6wPlf9jcanTc6GsiwsVp3dgP/E3f+Yt+GYnYDNF4w1HQ+4pgqcdnOtlBAxqH+S
Y9lZ83qKm1LTgFCqCE4ZiQbtwWIsWl34gmH23I2Ve0GAlq13A+6o4sGPp0Ai63Msm/xw1/lF08kz
V6CcWFd9u7cOU+OTIhVpkCxpqxLx0S9tHZ2JPQhb3tHS+1Zz6gAGb6EhSPXcrPLeWAuVZdf7+XD2
yQeKMbpCG0p52fEId0QptvkIY6/18I9BOPqWO230oUliYVI3HLGIuqQAuI+AY1jTmaMpvLPWHH2p
MfLHjz1mQ3nss5p1CBJzMZ3LgfzPz3AByE4NjCge9Ni6ww0rOH2YqHDnexO3SX31jI+jQTAiXPfR
PJjqWK85oOokX0dzW/m8qLdYAhW1cE+68aVs8zI7uEwaHvFfb+7JXsJj3/jezLXLuDC3RTL6xc1Q
FqZCDo2+6dQpuJsNATBWOnTkg5Iq5rVAz7AD7UgRouwc/AbPcEQiWnd0uqW5IWzEFymA7jA6+FFv
buEMcYhgD3YcUj9tGN6s4PE38ha74JAtdvcDCnbeUTS2/SUTzpCD0qOFDkSrDp4Hj+CkM9mK0Gs5
sGTOuRAFWBLGK5BFu2b28r2vDVcyR6At9ktbrd/tsrY4h8CouqI3TQjII5TixrIGtmyDnYLMEhRO
w271BKjdkhHwwcBRo97R+fAz9wmp282NZbz7ygq9c+au7XdvNpxKZ+gACKV0V0EcxRr3c5bUb5eu
bEZYdAVm6f08zMTnQYgq+4Nlgfo5JtYEyVP4y9gd4ygKdr4ayMid6kxZz63QZADW66aLDVpfvm5v
A3iiNiBKrTJ5/5F55fDi8ESXaQAMj6AJAHwea3NMlnSTcxQj27GsIBo4fokXTAE10t0MwJbICP/V
wIX7ZWpZ1jfDONSKcaPnXXUTtSFm1b4vr0TMGXMcoobQAj9GARKycgGmizha3fI+j4+5EXF8BJcs
vjmVqstTX4LluGHt1U+Go0R40FUb/MA26Vh5agMZeElIlrspdS7O9LnFnvrE6RhAYiL6lgSrfV/O
VN67tpHzMe8qE78mGq1fGq898wplc1TADond9Vc4L1AVlXIyecJpnxP4FPvrK87zfrowUcpu2z6U
uPdcR/q48TxXHR1n4DwLbKqJDyEWcBAgyRpVxzLneQB9LIpvY9QPwZ7wGQlXxuXveMTFbta8uEBm
Akn1Rzla5cfRbyesfHk/v9C3A6wxAGTnqSARsKBCIkMpyPr1Qimvi/u8H0SJlWdqQG4W6uwvEekX
S2hRH0QLDs3UJ/FtfsqoLbbwxU4jkm6LttsHzuC4JywPYwd2MNTRbbEKN76NxMDlEGQ3wZxwE3oG
MmImQhKUgWNQJZSpD14b4jpnO6igtjB8DLbMweDZR9M1p+u0EtjF65IRRZIoN2sfqYLqW9gm1nhb
RFZ4Jmbede88iMYg3JI2gc9pXO1CXCBWZOeWGKeHzRe6A9SjFky3eQc4MoqFhHW5Ak9mpJTogwcv
yHvo6yU4zSB0PfSKWVKeeWOSLx46UJiCbsImQNGyXhK3Duigu1YS7gcABfkHTFKUAy6ESUrMNroW
ySKX1B46Mh3louzsQHntdFecYWWEoxTE5KljkHeOscrHtIXpAnmNPfn3CsMm4a8lyiSIy95qjoBW
ixt7KexvRkexBWg36q4oj2xzXQgh8gFHyvJ2a0vlO2j+znIYiCYLnxMg/ofGCSE4it5l1Q+iXumb
wM4m8ota4H+kseV+l/qFY26yKFzlAV+p0xB302xtX2SUYYT5ZTLRnj+ICRS9X4njXdbxuK8IdHEU
ltJlqKEAwGu4CfrEpk9O4Acd5zLLgG9kFtTAwmB4NZHUaZVl09dipcGA1T2EBzsyChgeii5putdk
GK3k3oPKAo6WQo5mOwJstsnYfJFY83NWJyTak2Dom4pizDnY5M3mm+ujTDwS2FaEF1mRCnSJFr9R
e2sR7CmDo0BpEbTAmmk1QycoPzgwX+J6DCSsmFbZH2fOsvisDaXPYXLAkR974AiAOQhw/1bBDMHw
3HKeYuaA8j614qx6YZMJQ7xsiTueeaxgtTYObbMbKyg9+4G7HH0vMObCVSNFatnLoZ+rB2fG8ZG2
6+r81RL/inoPKOH0lJH3URxEIGZxrpoyOEU1HtnLOpvtkEiG37XyoejtHAYncIxXBx+wSUghmQlv
Zh8E/Zfvk4Kndd87RbI3gu5BOsboX9Iy8uWnlWjfZZsyEk00Y3ssP3YBbL7TiLK2OBIc6LI3BTPW
fz2uqN4R1ujUuJ1V3s3RZBzqxSIeLpHkOPwgGrv+SLRH9c2bamCVLjTG/OxWYTztm8gGxzSpktiu
QpniM7MpvdceLvcdhcXyClFuc89z6p6vnHRGJnjdmB0wtXteSqequJYJ0TdpSXKTsxfDAIY+yh1Y
lrldVXdYdWAtRJiub+1WcnDPhqn3rwEbxxfYZXAgyA/2vyd0/EANVZno70jKI3cWR2++7AubI/7O
xqBOt4725HyTJLO/PvV1giydLJHV3Ss68p9Ni8f4hgfTsCCDcY6+eEq2n52lYCIJgr7zH0qoacE+
0wvWfSfvyLourDb+KLVbofSAC3ptRA11pKOUhdY8YfzG559vWbGIRBswTT3elxmk/88pCiO8UX5c
/eJgD16U1Is1uw/mhRms6Iz3fRKzjYM5cOL7IuE/u+PS3PjklJLrIeuhJiqogfiGBNCXJ1pH5YEJ
dUbVNjfGvnNWmzhXfhQKcS+yvCdBs8ehPM6Tn4jhRveQm7ayz1VfMRycpqh5LPoAR/VMx5gcaapm
Cl6w1JyfxHQj29Wl3xUVBRvakmT6mDjLYHYW3wgLfleDuiJcPImIDTKwiZsyan+itMFq2ozOd5qD
6FiaLMaDZoMKsThwLcAUlPi8rCAaOTYtZfa4wjT4Usk5BB+MoJG8lVHBdxuzVs+c8DF3UGxZSl0L
mzCYtA/VL3rdJnpKvHKWR/JALPnssTsRqIM+RBzlGsUzi2TmNSlNCXK77HF1m63WjYnytOK2uPOE
mWUKqym3UvJMecL4rc0lIGuMRJEu7hGY65Xybea0/kIKdRtcY0061bUvBvtOk+P9YryeE5mKl4rz
Tpcse71uQYeujCGilTEl5kIIFM3DfpozAtFrjpEca4rHvI/gT/UqXuWOPkZ0B8SrJF6BRog6Fh4x
bfc96Hh5b0dLQDzbuEycaYg+0t9GC7wXADsj4aIjFW962/rahhvIsEJhcKJEFJqWSA+hDcl+csnQ
pVaUDNYC8HCqGjC9RAcNvPp68remRRTv6e6twWlAbx092KLGhqPXbin4W/MSfqKJ2beHwetaei1l
OwxnvnEF1gkJozpkGK2mKyyFwHqpMs9erxpUTXkumzpMLlE1VVOaxzYAirgk5uK2VJOsj4ExBqA7
K9p6A9B1+On1wUSpjVV1oJQgEulkLd3Gw7GStnEf+qGwLxSWmnbq6gIEoGxyzqZ1IxTsTkIRntD7
VF8HhXTm3hB/3lznoOs/+3UVfUcO7BKLJDRAlbAZnNfMk/kT8FUIbLa0FWcGWVfLDS5PLU4q9yCI
Szb13WD3qLeWoQOk5rRiXG4Dyr1Pqx2yN5ncq9xUBV3MeDlc+YYsa36d+jTOviTrEH+KxLxp5DNa
UKAlEh5+y1ELzM58JvugLb7b3Zh/zaZKLefYMhkiHIKhftDjGy++GZ3oKO1s4dFMBnBrRVKNL/iF
cgeKbgvM3fDL0PMt3BjxRN7KrRVqw2EcAnlxKyf6NNT2+qMupZYX1QcgmfO6tasj73MfnvKSFnnq
TNqbz0NdG0LZk639SWfYFHfO7AKJLvhW8UlM0v5Jl9XPPkcD0LavDG+X7Jbjo0+mYuWMzpFQAxE/
94iSPE560Tz9DN1l48KUeeJB6vVRrlY8id7jOlCU7GuvpBFONaf8YxVG5IDXYFOemA/X37qkQG8U
kEadNrMfgdg3JOgBtZPebvOGnLgZfMzgZJzx3UDSS5B9gkOhyhYFe5Ufp7kvotB0x5Wh9NdpxloB
EL8DO24RWxndUEuOaciec5C+KK3jQKPNBDsPJmd4Doqp/dHDkYOAgv9e/wAtP6LwMS1UnVXmEwnE
sc3BfhEtuD76AHVyV9C5espEHfYMyRB87BPmIJ98KEnLLTDsMQHyEZYpWxQ7gqHV5n9veWA/qswZ
+4PtVc05qfzE3ZhdzPfBPLkevV1/Q9VV0m5+zaQZ1HuDPrM/BoEI15uqTIpi3dMg9zPUStKcgRgA
ETLo3n9wnK6WdHFc6xe7MQeq3hpVk5bIFe0XsfL0wO22mCEsSdKfy9KPwlshiThkiErHfh81NQQ5
Hwa0mxYkjj8rIXhhW1HSSC2LPo4Pna7cJK2Isq0AsM9A+WayqlE8xl47nqySG7BzsgkKQYxcOjrY
7eBdLaLZ+Q/YobB2LNgyDZbK805VayM8tZFNRikB2ZL9FkNr9dnItXA5cgK4/cAArntALqID+GFS
1zfj1Hv2nhiLuTyRGZI84BsLM7KYQtfaG53L8cC/IDAM2/BfMV6mZFess3+Gj2N9MgMLF6zFtYaK
b82we7jlLGo0l20Mekg6nvOCoTNw+My7WI2BVoxz1IOHrbz8vtStrI7TorSBvFWz3SyZIxI2A8x2
vGBkSdHjBj0BOHaexj05vHQ6VVgjdDFjOaL99ZcwTGkeWqChSc4d0o5B8JiuoaQ5Nznz0O5lAD0l
9WXbPWF3dNqjZ61T9A0Ms3odWPo+S6ceywMWwsFlYqS9u8INIGw28bx+XApwT1cEwUXNTIF8cKSw
nm0dPJBS6hKPfdGmGpq8cw7KtfuLPgP3qi/09jrpemrTxi2h6LZtE59UwWhubzeySU4aITPnqa7M
SeVVsGFVG3V/ZSqAVjYxtYTylEXZ2SAwBqHKKW/DtUWySj0T+zeE5a2MYuGzQKzFmk0hFxHxAqhZ
jP4N1SpGO6Jiwp8chYaZ+L2lA8XeAxi64sBCQ5J1FQO3CHghTWnCcTZ0xlgdGCsBmbQ4YD80PY/8
HvkmC2UZFqgM6DLLO7LKQ/vQGycnqjPplyPsDyLkZv7IE+l3UwMqk/j3i+ma4taGUUNWR5nIn3Pt
twOQusaCjx9XDX0L/PjHmpV4PJKCHFfndqKBQ2uNOWparMaIhyKyESp1fM/wBOI59I9xwxCQIUIp
b5kf0igUS+b+qvLa43qiZg5eGull5TELNfoFz2/Xs1OOjNMJK6SBvZfERNppyKHVg4ka04lxyGLl
TAW24DCMM3e8nYPsqmZoiwc1hPbXUkzEiNN4nKd3bEp/o+XAtuxv9g+ytTB7vjEo5LXNmc0Zk0OX
0VRSNFVSPQXj1bbKCQNhl//I7WxmVO1E6kjnwznOHdF71GHedQljEIBmda/juobnupMNiQS6+NDz
zlLA5/kXkCnBwVcdSYtk4akP/yzkeKs4Z7PBZceFE9OAJiV8o+IgO6kJJ8Ylxw7/565x3fJSRFHC
XGfyLnC7mKKIaKZxyvTuHQ3JGxwNBu/I36SWge8wHuaf33w2U6o19utuBZXnqocxQKOWaSKHdqJJ
7Ia0im6Ahl4x/q5OZNabLJVhuISnNgIpfMTdAMOhdNtQnWUv7ACpe0xvn1M2GjmowqRiehTZ5Q0b
Xf6kTGteqwj2y71TVtC1qFdNTRHfo2AmyHQkUXoI25xCjx7dwW/6SR6LKSNxwWX68z/MnceS48i2
Zf+l53gGh4ZZ9xuQBGXozBCZE1hKh9b663shb/e7SQQ7aPVGPahrdassC6TT4eKcvdemw0KXxvQq
f0iLO5mMwWtoGrNJu5zCw6B06MPHsumfQ9zZ+jqbmp86eiYgiXX2igq2faDTQVaSEw0SXUtnIj6p
G9si83EMiBMPVIaaH8kKHzmiTOW3IPItZ6M2tOFW2Biib9MwaSQXcNhWsjeqzljDa8NUbLB6efyT
tGsE6mLU1YeWnF9a4ejpuqdAVt20Ewa6K1ZoP/9qwq2iYp73ylekK8jLVUKkgGYVRg/gmBebirYe
+2JLWmP5JbKAWlyT3L8TDs0/uwVuZCZEuNSOz4VD8H4Vyu82/s5Eabassc4qxo8E65uVQG+Isurt
qfteufEXwkhCsNypvc3kdGsZNv3m1Oju+5DP/PGL8M4SMs9Gk0hJHYvRH3/4+ccKqJlo1A6HLSqU
glSPXn1xg6jZGdBZPuX07ncls2FFhaGaWd6+/mJavb/WUe2uNS2ABqv1qX5FL7dU4/KheDUYI81G
iwNb5PxDNVpB+Bou/a2SFORaE2Ew3xTK6BCwKK56Lp0HE8nNNRvC/OadabsgMODiQJ6GHdYxlhZj
y244OBl0s+qCqnZY1Zw8Y6O6Q0yPngTDMy00bs+flDIJj+R8vvKfye4TJ4OJZtnqtlKE+wDXrvam
Kuas9PFPdenTwfdgrbVw1qvLCSRQQ8e0QcWWFfaevJOa3Lg4LW8LLWm7K0r4dzZLTnuGhc4NkwEz
A8nH+S8Q0GUO9FayaCuN8b2tS7i8bjLWXtOp4U9t5KxWhrnmhUYx3mY5dF8nKWza0/7k/dOvbcMt
wu+JbFK14VScf5ImaoreAPi/9cO+eYq5ulNuCl2XROwp+vnxs95vC46GElKo6DSFg2Tz/FkUJ1vk
FcG0BWLJxdxGHwpIWacpmJtcsSDRB2+tw42/5TBw5dnvxJhI9N15xFFGYt23F+sDZD2fthNzvg0h
YxO9o24crUv1lVMntSdIUgmuTChNW853zPSUtDU8V9gewKSdf92Ci4vihJrv4dBDu+JAOIKP2qm5
1+gpZ3o9bLtDKy21Q/0Xl/m6yUS+o4DFFZ8rkXrIHIMTST9lov2uKnEMp1eZKFDGHASYLzQBdM/n
lAgMNOGyFxrQ/I/m1JVQFKacxsrHP59YjiEcOVCKNiA6RN9MmoWgtYkHZlEZcIFH6/yd+84Emhrb
4meW/+wE2K3/UjolMst0ZE1L7SBDMuZSzahmhyzbr7lqdbIja5D7t22r6F8HW0Y3H3/KSx9yPnhg
WOQvxN7no85WP6QpfW7Y4rktSFEP25H0CoVAPrUZRH3E/dY23z5+6LsXmqFhimqCM4+lORjbz5+K
fkmtDJA/uyJvywOVn4KTmWE+cUbzvYmO+a1u+d2+GumerPpsvjD2ti73dKOv+f3+uJP/XmetmSTm
sL7MvlH8P4vXTCpamKv0n3Y+2EhjlSMPnMOAtFszlpN9U1haGp4m7nzxHW+EL3ZY8CL7UHF3wkxM
RgdnA2zxEJtD1e1uULzSxEBEVokTqTGUbsak5p+oVc0yrsS1eUeDJZm2lu7U5aHXWM5WuYQIvNfq
wofbjYJjZYFOHdfFoIXVbYrKwT7GBuvcMRKx5t8QUUddp+6p76wmoweQEFKZI3Ut0RX4vTliXg60
3LFuUN/XbyYsmfGLnCI1us+rjILuUI/TqYDUZ510A9r9ndagZArNSLVuJFMtWRttgCEvV0g+Z6Pt
rGeImxQNezc1+we0bQFcU4u45FWFE3Z3ZXoslwKL7VadHRt4+jkSL1fZMWky6o2DusN5oPpABtwi
XFH3xGcmVRuklV5i/luXpup0OJ8CXUERmDj9mqyyNjkRg9Aj+inVqrtyFFjueqzDmm7DYWJXnvXz
C4cYPk8V+pocd1BOAXo2ssCZGvO2ytmqesWPxka6WBKhb2BGgTDC1Ybzh73Y9/IxUtLaauQO6Zpd
zgowQWRkXsa/U10pRk/HFYGWK0Ie9ti6df/itsROHFsKhPJ+7HCk7OJWmupX6bTctwcTtdEj9bfg
bmbRT2vpys44xYiSxBfI+8nwuQzCMgGnq1SDVxR1pXoEwdf6xuxVjvv1CAzp1s+pt+Nk+TPgORSw
uwm6eUcQrh9Gnj30ksDvuIeAzB8zY/HShnKAs10byfRsC/TfJJEY5JEYEE3E3o2htxsKnrbN3B99
c4Xv/GpynyqKFDYkO/KeqGtpWTMqHqC29KuWSrFTheVbx0SMyHBxaQGGLMkEkjjtQZpw9tfrezTc
JFj2xICJHR2xFEZ7QCgq/SjZkmerK53/XNO1J/ePSsLaHNP8x6ATUrlFhFQRKxoU5We30nCklKXS
/i7yFEL75PbJD/YOKj6pq7fpG20arVw3QSg+j0MYQWaHp1+9FrEpD5LrU3owWrN70vMCHDu9kdw/
6LY//NRZWVniiX8313rctp8dPXP7Q0/3EAa7K+u3ectyVyUS02BtRkQGrXIjIHbDchL9t0g0lVJs
2ABKRUb5SU/iyv4Zx84cfhCUFmGTBIvFEdbuXhJJSqAlTQgmy81IQTJeZ3U/WCvbwVzqobdJShRY
frs17DSjv1oN1BVp/nCLQfvTKmvNCVXwaXEa99h98hJeO7wDnc2UEcfA4kRyZ3FhndaqaLMvzkAd
eGWnnUY9yyr8r2yQgJc5tgUk4uSEL3hahPZmL4do1F5wz2I51qamOxoAyw92p0yOh7DPwUhNu471
rI0KZ0+UTp3OARn1ryHq6DumQnKPJE8RnzIKOPoOKNea/lSyAQXbgaRfYPfcf/M9dQk7OwVtIU89
8MTySI3dxpEV2gRlEKkWfm+iLCrwGvdA4IQI03RN3kVO96Kb7ImUmYmfIchMEoDGbiSwhfalfNBC
1O/Udcwk3ih6H9WekpqE5+iwTT+RX0EdV2RDeHK62MA/UFrmL3JgKfRjTXGKdZ/7433KH4efzrLq
3FMjRwkjJ+VhII3oG7d/EqCoTI3MgLT+bsSTqW05RnHXsbGcA1k3hmQ9Gmlh0yAOOphHRFattSzl
+NQHvkaeb6WHR0uA0ScsnWDrvZJmn10rGg8ZOoKfiErKg0UyKm1hLY6NbUHwp3vIdH5BCCYJokuM
Mk6xUbjHTuT35qOzolOo34Qamaf7qstQAjdmXSDVwSDL4Ru4wrFTyuCFcmxb3cqmGJ6guMKC7tJC
3KDpVEjaaewyu6FwCTDSJvnWf+o1ArJOUVdHJrGFdGxwsUzal0yoVNTqEAfhioIaw52hW8RUJqQK
KJtjLOF+8TDQvAJVV9Hz9uMHJUmCcT8OlLZQskVag8qLSgceHowKq8T0SXWm7xqiNHIlq5A763ls
36hvyAMdew/sZahTiVayR2T75ZtBkcwm4ME0n8JusKq1Tn7vaZrt8yuVI4K+sWPEI6tyiPvXHjlA
fnQcQjQyvABvKYxdstNHJZs2WRERb9gREP1GTYsAcaovhlxPNGVIG6IAA9TJDTzeCkoCfaEBlxFZ
+CWJcbzs3bQMv+BixEPju7IvyQqZihcZIQyE2mYPrHx0EzNmRcLc5j/vPPdhCNRfWn70mldwhgCe
mQMBu0h/tlM0pKVnA7/HYqe5KskFQRROyC21aHxsjLRyPT+xjAcS9WhxkFKSP9W+ZWqbSs1mfciE
WHo993KaVQqVJqR+rxk/CqK/VK9LJ7s4CKOZ3nor4Bii18zUEJyX9ZqgyEdvgmYp2lDCx5aoNQov
edfTwCePfCTwINa17ehTCl2LwTU9hX+Qr+3CRpEbqGb5wwqI1EKKEEL6QDVvP/bxwPKTATv+mqb0
6tctjCKWH8dF6dj0JiaTMZqeJ9BexKYalfaJcxtZPlYHDuAAKmwWtLsYltaTWeVzclaiUL7SFG01
qIZCrpem2smJXtPwEg10S1nHhyF4MmUd/6z6STwmal4GeysDwcmCRbAxcSe+MF8FfZWCuFMwQUcA
DArGSoLDNzXdtVcRZ9j0OwR9RPSCCtqoI60emYiheK2KQCMGxsmQpbNM0W02gBIC+CAKZnooM5XM
dhfl0nqa1DDcj82cL4WSW6hbYqxTLqd0AbRd0uHz6/XBsbaB0QTWNsqFU66DWst/YXmrEcQkBeMc
lGgikNskloMm0fbwMB3HCgAD9soWa9ikhcNcw87LHw5NWJWSr6b3a2scTHvfWbpvfC5qRx8QXLed
eBi0ybGefYupt8b8y6YGy4naltv5BCGbCDA2UeTLJy3CzYMFvBt2FaeHmoUcr9bKRdXGiDSUPu2i
neRDQt/vzq0RAG0Y2varPsaKn5C9pHT2NmSV4M/0wgWCJ5XEq+wBc6g6aGrNblpW/qELlSQ8Bakh
nkU/kn1C2R4DGOX65keMUAsQ/1j66qOjpoZnty48PMRIQYUGTETZShTla0PWg+EFGWq2rbAD7B6j
AwkLgWs8WzzclOZZIuVTzKr8A/F3FDKIumGRcoKJA/1uFm7HcGhf7ED1f5AM6w4kFsvBC+K0+BZz
UZy2ZZjmv2zpoPKreDPTdSERYOFZyNN2U2IuJi9Zj6mF9X1oq6g92LswYpjNtO5wdrarvi+Hk82V
h26wmLoeZHgFl6fhCsydGKLXnZbA63mG10uwQ6sMpb1t2tz61MRRKreWEbGOJZZO0G6tusmzPZED
wPbjTjddHgPohAaUHRKNKwEvXsuv1mQSWWtuWjeFD0xyrTo4Hrb+ZGCaHEIHr58zaGiflaiJYPMW
hDs/4uYroA7WlZFsunAw0k0VpyN9dsslAlRAUvw5VLJ0VmNYaMYuGmK7Yp7XFPUn1Ubc2TjMA1cW
n0QKzRw9Wls/d8WYTJwYTWOdanOFKOA9C9dyLGiHp1EzkP5N6YxgSrccyi0zhTdI6lz50ngauxva
OeU3CFdYD8Sgdua9QlO5J8xtJFgYRR1LzySKYUOWeBjcZE1GuKaVTP5Xs5Pmr5LlZE4Dj8z8lI2d
9oAbjgYP7ucmtk5KphNNHRXlEB2dENYnqV8s1jeAMYpiZpxGhOqpQ2h4hI8a/h0v/eQgnOsGz21Y
tG4VevC3g941BgTj0LQ+GfmcAigCaJ5HJ+NH2sxXaWQkgdOla11FWbbVosq84ZQ8jRs3Volk1aPc
eVPkEKgsTkggiE9vSmcfyJi472QMJ4XjBjQgb1SQ92Yrm3aNexf43CM2QhOTsx76uJzuY9MiEcTR
/dbxOFU3054Dul+TyZS3GP9hP4hNpKFu8BBMFsqmGxIOilLFrfJWICEhLL7LS8G2pRAkWGtGcwtT
WkmPJCKG3ya11SgDt2X4w7f4rdfYa9rmJhfoZE9lqifWPcwjq/tdm37XkW0eyO6QRZPxqEShYe44
UdWs+ijchnY1ov1IPY427hcRGNl+CEKVEOeUu+8mqaHePIR14NCCIMBC9WyKFqkXKQr2NsOMGnkT
GtKNnhKrD9StxerVHXonkcFnGzfm7IcsdOmFcaSmhBOhJ7lNy8FKtthDZP8mOllwHa9HJ8gQQcP+
sZPA73Y08XL5lMDHxh9QdrpoafpY9bi1rNSP5pRhgl56buH4LtFiCk79JSoVlPxK/wCgtaKwlUT5
o2xqdOw2wDvS+3p6Vzeyp176SqBY/oj6EbP7FCAN4HgZpm/qKEO3vlLpel9D4qSPjoVsBIvEhSWo
JJOhiTxAtjukavkdFIivBQ4+ArcHXPdFOFyj886Fs78rNqBD6BMAEnEgdoDcWrjoCQFpkn4cW0LY
4u6l1gnzZCeInvqgabd0K3ziULL+DdBMe8t595px/NLjKQBAF6N0RKVycStvHYsKc0VXQg175Ett
rsC4qA2jeu6NoH5xRS1/J02OcioP6xtFV35/XB5ZPn/u2FAfQc3NQFCfnasnf+H2KJ+OVYVbihx3
OkMrLFxUYTiPHZA/NR4Yj9KbHBLSUOMhqudsWW4+/gDLssRcBaE/w2FHUJXWjMUAFJwmVCjvI7ww
5ORoruVRCQv11eWr3zhW230x2YuvVN7fwYvnp1IKghdm0a7kmH/+tSXePPJCA1jzSvxCxyY8dn1G
PiFa1XCjRrgcZOQ4p0hA10jQfT/Blkiv1H/eDT0YPPMPPQGGsaa787//a+gdp8ctzC+zCziG5kfT
gup2Uvu26wm00snYLEFHZU9BaVQ/U1eq9zBVmnr78fD/KRz/Pf85VEE1gV1AH9aiSLYYCcAsGcmU
6MTHHuwxldOu+q5WRT/9rMyy755QrWj2uqKaYs4euea3xkE83CbAmprbJqpFcpsYvaaQ++fm9e++
KRJMwMQzSjJ4O1fHW8rrtOrcBgJMV0yJ5/tk9bF2B8iRjMBivVUqQusJg5UE8jYiUU/T4KCnHcog
77eFoVr+PgJmlT5jvzDyN3TijnbnRC3GCzPwW7mnBFwAvrDAU+0Tu+2NdWxRBNm2uWskWMhxHK4G
xcjUHsOwmb/Sdx+F17Za+hPrqNqsiGYjL7AAHPaZ6rvgtgM1JTnF6eCbV4rk7/qSJMbg0qcOp8PG
MW19MeIqGloC33ucZWCdNwPCmK2fO9PGLLXwJUIHcmMm+XBs8zQnvCgX99DkzV1czK3zdiQGXi3y
/cezQLybBvTB6L85kC9timyQ384nYzMVmVTg0G3d2oHz1OM0U45NFgnlpRlTuAAOeeiYkBK9XEvd
nTKvtTkY3VWUy3hFCD5tXwYSKioS0OxR3SHeEeXK6Kh5/MRbXb842OblfiQxMfD6TCm/kJtEOtM4
DOZb0ZoEQvujXb4qdZVExO4iAE4A5ZZbmaqTvzc0rAWrttQgwQ5ahjYDTgaCl9QfORpKqn4e2YsF
ssE27uwTdo0+O1L8MI3HXo+GYpsY0GU/OY0lywOnTiLh3SoPjC1G915ZNUrk3MTwD8mp5BV51cqp
StD5lkNFrbz1sy+FsInHGBuj5aILwKPa5hHVk5WLFY4bckflaS2axkRyIbQmehg5p9pHbj/0uwFP
T5E3DlHV3ltalVFAzMrqyYiQ6uNiEN14IDMrsl5aATdLKpGOdgp5hvUs+aFe+i7Xv9WK2RaneqD6
4gUBvDYUsJofEPBHdwWBdI0sl1TNadomqMvCu76pCAoLaxLzjM4YzXVcyOmp5sXK1jkQEWsTcTQI
tqmvUFSzzbQPuc61Lh7iCJsCWgZ6YbQJ3e7O7CI334BpoGAOH7Ly+BUmMnErtHfb2nTab0UiDXI6
QK4cByHRxLZBVG/bYYysNYc4vkLQBhYCph5eJ/oAo165fioUrwYrH953EYibY66mTHMTPVG3tmWR
9z/gnSLeXzEBYDNDW21A89AHU/QbWbnz9VXUCs+SVrJDvuqMD0Vcq8UqVOz6jRsZ52CULwjh6lgL
hntZu6X1JNo8OaJlEgjHHSsJsO2ELRnfIhdbX8Qy2GXKIMwTTkC+dAgkLrwDaOC/YXWHge7GjlGB
ZIBGlVbC/2UEDX6oZOzRi/VQG491Mtj1kcxxlEyKlfUvaVwTxUkhWG2vbGLLkxKAQ4695hx+M4en
6IseJ8TzQg3CSULXAo4nCZx+nCpSXjjNTIeMifYP27jz8zgmzFAvfg9hL/YrzqJt22k8T08V/RP8
4h9wfJCdIjj5HphV//3jNeldD5fngcp2XHRFyBZgsJ4vSbbiFgmQGNxwtolvxq6G+0C62wof5Jco
hSwD1KpLTq3bESwV9gYJVq427Gi1O180S36LbTXjfmwZtHFtELOwoyNnnfl96JMdJwPiYd38Ji66
7CbAFo3fNDReP/4Oy677/BX4Bho5YDZ/ry5WVa5nftDGUPfkAPYFs4HY2viiNpY9UXKVGkA0lSrg
TYsrYffxo7W57fn3xo4ch2AGUo9o/Luw2BbN2DxvkUUSHr7NQhw3qBdjALl1n+Eg81Wzde8yrcNO
hNoYpWttSaQeSh9Nb0NTmu1Ga6CArzkzQnaquWJj1NNbbc8dE2sD+K3ph5VYzDVroi6B05M7zBp7
jxtsHbNFyyxLodwWoe2CzaH81K0+/nbv5j49AMYW0QhLkNCXpxYl63yZ5V2BO3mMNhblnt8ygucq
BEZThOhKdOWYqs/duPPhhDQIxB4RGgdGjszns1HCGgQ/JMtdP6oUvX1J3IzTplDqcF6yERhVH55s
qhHpTpOVpa0izlWEE+qMm6c2hMOujVzFXwKdw6WtY1XpS1YnRoMAIcQzwHUMH7Id6HiMJnrVL0ra
Ds9SI2D3gJKIWn2YBwSh+7W6x82XcmU1ouYQI+H4UXA59Pq5eczqW7/8Gep/lEh2X/zKPjXVr1/N
7bfif56F/P3n+f/9/yPzb25u/r+jxijfJd8yVr9fGWykcY7Sm//Av/L+dPEfHDZsFdAfcikEBSw7
/a+6+V//Q1P/w0RUSfwYZyXHRT75X0FjRPpxdVJdrlFwrUmp4A/VsB5J+zPd/7A57hEcaNDV1NAH
/JOgsfls+O9ZyP0Q+QwnNINLq4rEYNnM1vUILn5mBp41hFSLwKH0R840wbOb683hr0F5+Nd/9e84
sfPFa34WR0ET5Q5iWMbhzzn2r/sJ2T3wCkEyeCyoCKVausdQVufllOgyUCwKcdITzaxwZQLcvKJY
u/hwi4MywywsBFLnr5tqSM4hWOa80lBIvlHiYle50LIMtJCbKuXRjeOnR6unD/nx1/5z1D0fY743
akbKApQ134Uk6DXNJoUenlcAalpHENo4bAJCivKivxv6AjMzAQHZiVSRACo9GSmo17SDlsfo5+EW
ltc+0FyCePeBUIqBiGQ4+GTnY6EIjCN0JmnjZH53kxh5cJwikxhwVwMsPZX5b8i9tJgdta03eRjH
Ww3tD5VnS1y7u8zDvvgotuAtYCtj+iH4PP8oky+wzeGsBxarRLdRllnYooPSPVhq0LLFYuF4yP2G
1hFWBg0fhVC0A1iiGCJRJV3E4OpY3ViBUHFXcJj6h6lEfyat7ZA0BbeamoqxDFHg4owJyRojr3T6
8MlQqXdO6YRivgKHBK+u5loxVic9qbLt7CHdlDKvr6DUF4qkf30Il92X9cBx5tXifJQcJeBa6juR
FxgcWsqwMDY6F4q7EO/fwU5KG++cJKB2lFV8EwfYHFaDlXXfbCu5Js59v2Ag7kYIjrJSZeosdWNs
Z5SRa0l7so60n1VixNshsuETyMq/cuI435P/z7f+96OW+QQUxX1Z0tLwNNwI3WoE7nksFZ9ydjqO
D22C4+vjN/XCd5tHl7Xaom/N+ep8mJvK1aHtkgsI15Kabp60O2nV9I1xWm8+fhTbwXLe87og1+GY
PaPyF4/KzFRT1EZlWvWFD9gIzs40meOKzigIHsf8RjjBtcCjP0WoxcvGQ+lxcvxlOv85kvy9ACPO
DQculp6VJum2TePxgXpL4KXIrL8aZRtszQI8M2+BS5u60dHZ4+dBRKziO09zbSeayJIgtlzzeeow
6V5ZmN6PP8vAXDjAnEI2obUYFFYrbrfcp7w6b7RdVhbOXM3od3pp+Fce9X5uOSoFKrjKbAe4Ghbr
Ts5y11e5EREVb3ZrpQjDlc8H+yxLqk20++UVFvmlr4ZUG+EQ8lEg8vO//2vo02FGHNE78oDMcclG
aLEjnGk4WAXQ0o+n1qVHmTMo2dHZbjk+nD+qjSvW0pxbpNO52BSqItnoUZBsh36wr2mfLw0jWwjq
c6HrAsn++bNio7ZDNSh5RWOXNTo1lPFINWCgjoGTGRNjMaITaKV+J3KYlvTgxDavUE+s03wk1qQ1
3Adcf/1bUmuFN/PqLc8AKnn8eEjev23Me0qSaOJUtGpLeLTdawL5gB97fiHybd+glRCAW2G3GPpG
tchfbDKtvzI4l34HC228PksF+dkX180pTn2Row71wjqHEcRy2XUrKnXBXazryvePv+GVhzmLHaJ0
tAmZQAvDxG2MU+h0jwkohj2xWM6VN+fik1B6MLGgv+vLNBvHGmPh8z+eJK0DCp+UUJy6cYt982py
zrVnLYawN4uwEk4Ve7FfJseghNEldRnukdYIz+E22qxLO2/Xo9MqrwXxFtMqHIBSrGzk50c1iMtH
Zcj8DaluxY3Zj/bDx6N+afpbXN6IPSMLR1/mgnX41scuyGOv42i719tBekXjWJ/awM1f+17z9x8/
bwFHnrdEJvJc6cWSpRNdrJ2/b1RqG4K5kUpNZml/b5DH/yJ9rNDWs23XWve12781XZA9ZL3pPDpU
F4dDICAsotiOJ+pXmg8yhbRAdWXRiKyv7GqXxgPspDa/N3RhlnptwAnMNxzBHqij/hPyFkhhZl4q
Lyyy8SmzxvzKleLCi80h1p4jReBnqctTfds32ITsgYaoFFGK3o59I9Ts+LWx+Tsqgwiuoi5zHz/+
HeZ5d76RErqpUiwjZE/jr8W8jAOySca0oWvLpFuRGoEvYNDyrVo5+T3Rd/S9NJGsBQQd1NO2uDIN
LrwWs/HCAg/NkmYs/Q9aOZbEOuapp8E9oliB9JHiZEyexTj880VMaDREyJzgkMKOcj7hTKQ4ToLH
0qvtXNnMMWunqKlxBRR4hq+sLJd+TEDDbCM6nQNU+OfPsqkt0ZyPE8/1qwEJr3C2cWKYVIpp1gto
NLu27a8FWVwYS5N7L1HRJkFFlAbPH9rBNfQ7MCheULUB8jHb34T9NJ5aCLrbj2fNvPEuZg3NQcZy
NoJahMiePyp2TClQkEkow5F+GIRB8yjBW28GQbNKahyEdKPTwxTEv//5g/Ee/jnvYJpZFj6Zrj0y
BV2B6SGHtwSQ1VsWaMFO5/CzqulaefQmY+gYNUKijx99YUVwSLu2gcpz4MJFeP6dExrPBtw09ggD
nVtSyt9Tjee7HWWGK1rvvX/+OJ5GSWOu5NF2On8cl2wuKL5QUKi5dDTEaL/G01S8YHRJnoSPh/i/
8TzK5arAFEDzbbntWkqpkxyjbIqhQZvJZjX32iNPzvFpatpcuQi+n0G0+Xg9MHfZ8+85j/Zfp8iI
unUXtF3gTT7wU66+zREfHnLJRAUiEFRwVgEWBGZ5ZVi19wseD57jcCk9Y8RZ2p9CUvsGqNvAWgXH
mI2VpO19PBTWsLOjwX3MIXln3iB5q1eOo4S4/2tljE+FbZE7BK91XNemGpw0dZDtqgrU6meS+6gY
6aW5L3aku1izCTVYoYPHV58jpBlXAQpCczXEpvow9i7RDMYsTtyEUle/ar6F9t5XaJ4VKBrQ+hXg
8K/M3Qv3JZoEyChYaLFJ6e5iuCuU8Vo29aFXzpiDhGwvD5cyxHZK1BtYAP66mxoMX6qKSAw0A/+M
REMlN5LtLC3CT5OOp0Ahi0XRSLT4eOpdKArw2ZjpJqVrQjDtxacj3jmCdxWEHll72rqB0vSUi1YF
GYtwXRWBRbgOhmkyqAx0CH27QwynrKFuXDODvl9CXRqZdI1mgQ3Wk8VLgM9yNAJUNogJoaLRmcjW
uP7lIe0K48rOd+kn4dZMRZSvjPdmeeKq3SZpRCfw7I+dUq+wM1fHDkjDJoxDHNMurdJnsx5UjAml
7H4oSqDTjB96QPdErh+tskFHPqXqtrNNextJOCdXZs37XYwiLxVVjDigS2ijnb+jHRT1AG9+4IHb
1NawJuJNF8AxKCCrepoCvyCm03dlXC4+dB4VDuYYP5etO1k7nWr0vvTagTeUslkR7GPcQDF04ix+
6x1eySm1r/3y8+p9vqPNBe1/P3axuluK2uMsilnqoj46kDlQUZXLxu3HM/3SlyNClROeYN/kqnY+
otLQ8qCoWXzCXLcOJrlG6zbuOw/fEeihKDO9YaBN+/FDF4qe+ajtznoxqA1YnHjDlq/XBBRZ4GhB
Ke7mj9pIarUf6enKMpXpyYW7v3XmAz5xpqwFOWJD6hn2lZ91Ie34vx+CEr1u0ybQ1cWHSMIir7SG
0rGRivIrsl25z9OsOjQIQl/4abtXu+oJA2elOTShTA95YuY3WHyUo0XP9dZO0vD3xwNzYStg51EN
3N9ExZjLLVZY3DUrm6oRp/HCQ0CQnRR39uoPDv6jCM8Z/at019DB81oKs5uPH3+hmu5aCKgQlpA2
TuTxvEf+tQe2cPY7xef5tVXW244b9jYlmu7GrZD2ghTDHwnDQ11LkUTfa8fSb7OptqsNcCYyxhCe
X9mTL61+pMNw2MANTS94ceQQblN2JZI3r5HhuBcdsdTElrw4EqjNx1/94sgzKf/UJnW2pfNvzjUv
1Ud14D2IY3M/VobxxREBhCPXwuDeKLG/Vtte34tMBHeQdLQvHz9/Htnl2072JNo6DLJYoZffVA+R
iCecPhJgIyvE6L/0LGs/D1Xf7u0iiA6wKUg+rCr57eMHX1pmQI/QPqFjOoudzr94OgWD3U8McaIW
PVoXsJo2/OgrM2sevuXXox1H1M7cqHP+yAf+mlhWTsfKgfHgtbBCvBCuHB4Es9q4uS0/61WWXnFQ
XlrWEMlxKp599Gzl598KBLsIu5TnTaE2YvWuVH2V+aUKeKR0lWe0BclWTaOkujKNLk1YeAWWbqkm
cojlaLptkltceCBC2425CWBc3Vt9+NvA137l1bg0YdgcDIerI1/SWizcgWL7juS87xkTThc6/xYH
1NFuNx2NoFc3INNEg1j/WKewm/4733I+LVMIJRl4uQ2H6AtjxAIQHyPkxW2a68TeVMFeJ47tyte8
NHFQOv7Xoxa7YIY1NSWcLvQALnQrB1vnGsW0u24gQW9nRdKViXpp4hA9Q0eZ0hOd5cXrQIVFCV1R
hpif0J9Uk+PcFr6mr1voiyQbqT6e/aTfffwOXpo1PIquCCdOps5i2YV5l9F7ykIPQOu4kWSPELpu
kyIA3sH7+FGXXneWU9ZS3UDI/CdX6q8XMW6j2OW0RE+Q+tpWkzQlR1g8V57yp5uzfN9JB6WCAg2f
6t1idsZNXDYGQ4jDDOPTiHx3S9Oa1pkSlsU+ceRNp0bVF2E7xZNtIOdyy6L5TeBeu9NquI6c/Xos
OIWO3lTQmdJ8FGTYWT1s08WVpffST24zFjY3Pxz85uJQaZPzETdJGaGdVsO1UmbmpqhM3avU0Fl3
RT6h2Lf0Tx//DpeOQKgCUPsQ9ogPaHm7Hck+zeKqCr1Uc7MbMICvehPCSvOVCY4wM1zgeN5X5MWv
iQc4dJbWX+kPX/jedKnRC8DlI5n+zx3or6mgQPklGobzjxYCUDZU3GXGUIV7l/jojTDscKdO+XBl
sC/drKjQoEybw4qtdwmXtZ6TOl1xyWiR37xiH+cu1dmBvab22tCS6uItQIj0Fn1mh5dkZv1NZQiM
nCat/s/XMT6LiYzWIPr13YWnNTSyJaQhvcyS6taAyH8PrAoqsD52V3pU84RfvBA0pgzqy7MCSltW
9tskdWtFz6VHXVstvdRvgi+gyFPhwUdDYwpQ95dCigBQVziQHIS1sb1yqb30e1MA5JfjbGeQB3a+
Jw5GIZsBKrtHw8k4ZW2uH3qrDQ+JFL9LxdRXXdC124+n+YXlm5oY35sLPtgpc/5Mf80xMXAtjgLw
76EI450eYdUhst45AG1O9m0RBy8fP+/Crgh7BUsK+q+5nb98lwd8P1CteR7SBU/mYba1GqGscVz+
aAtjuIn/N2dnsiQ10nTtK5KZxpC0VSqHKgqo7oamYSODfmnN86yr/5/gW/wllSxlBQs2mOEZoQgP
H46fg2jrwZOx4715LLhBFMWInt3NGl1LmZIJYpozr/F8qs3RQq1ZjS8G1Nt/3F/eq+0kUWH2xaKv
bdk66dN6O2s6bAvZe8qMktnLzAxxvxJ3WZgK5MGBejTv8fq2clZ5mcDvUb01MLk2CPudzlBWqvjA
jdsHahDIVBmAILwkGdyPcarND50KYV2LRvGtrJroS5QAS67hajy4QDtLp32tA2ilKUSrcRMgt6NV
DyoSC0wzLRVz3agc1NllpFVVNvnl/ja/eiTlquHfgC9CloCczU1JUBewQxVbyIYi3I7gySxOc8V0
/IED2jcE0EMaguZDLvrF9cjhXrGysVd8B7/zEGjIFhUQWxxc/F8sWSvnQ0LDAZUsN0AwKDGuzZSq
1vUzPVofQHx1tRom+q3Z1J8iWG2+QUZpewoT7A9uMYd/gxTrPppMHH/N1cq6hO2gQ1PuTp4ZROXZ
cHPmBtNSKX8OQ9MfHO9Xt1f+TmIg9Fro/OhbD+Uy+eYyF6D4QTwVj7piRD/aNAy+OCjBJqfKapqv
5VxUZ6fJlYM9enWJpWlwt4500ORDm4Nu5TVDCA4NihLe0FszueLz1GnmAyzX7ac3ny6whQRhsJo5
9PM2H31a3FSMJvo25TiHj32WTCeq6vHfb7dC9+pX786WScL6my9w/ZqFkXC0Ar18cJe6f9dX1VEf
fucA01Si4QJ3F1dmOxa1VH3CTMMcMJZdi9tM/uP1IE0e3rwWps6oT5GgM3i3LUugGc9UsQ0DpRui
uVTUSnJxhqI5SDV2jgDZFKkwEHaazvpmxxSm9qlWdbJHFecPYdQZl8FyMr+peu3g3r8yReEbtKLs
aiAGTOK9/jiignyF8o/FEPXUnCfTiL9Apl5QcMvDf+/v3as7JSgncZ9QMNYMWmQbU+geqW0Wjpj6
pYfGePG5gV+NGFwTpzZiVHYOrE/5iITJfcM7a7Qsh5yGzJ5LvZ0VbLoetBcgSGignfgjQ0ehb1ZM
DCeL7hycjx1TgpgKCguJ2iWUX29nFaqhE7aa61sQQJ2SbihxcCTDjBswGXa+v66dDaWfR6MPnJ7k
udl4ikEICNwiRA6dqUDstE6c6V0TgNXxUAawv/eILX6xwhQqajMLs7e6KQGwjeyNAVRQNa8AImlg
FNA1pHCxds63mIn7xzzMZ+44oJS3LxP2KWp4PLviVbS4GAmcpHAl+Al84XCxd9PsU4+L/jQhZHBO
+YRYqAnb6pcwqJKDJGHve5KEA/qg7kd+Iv/9xbMYWwMiS4Nw/Swn5s8b2z4z+275hgbZ/f1lvnJg
bCigMVfQyacP7xprUwEoUwOJFYYqRld7mNRleESmtj1YkHTpqwdYNpPAmDKSQ6phiY0Vh0GrEcoo
x3ddNCBFBsnJNBvFB5BZOjxI6KHeX9XOBjKmytKYtgUVvkXgWSAIGorbjp/HFTDeqIXZm7HPm1tW
1sE7s7c08PWg4egKv0bEpRDWR6rSO75CWfkRqa/8xjh8B1UlRG+6b47dEN/ur+515Z7tZJiOZiml
IUY83fVH6wvqYRIM6NsdFSBvmEvoWLM5087lHA5/5pqAeynJ5sWfawOa4iBXnEfFXTTY/iHxcGEb
OItWjT/f/117u854OFAl0gDamhs3NDBH1rJ+h4c9Kr7BGxMgOBEO83WGBf0AHbVji56/3HfmC3Rs
rrfAKs1gngoUiVDbBmdQGogrFjls1jBmXu4va8fh/UL4MRkBepQJ5LWpJrKRZesCx2/aIb9EqCx4
+HCtPDkodJwioxn+RlP+j9aFvOS+5d1F8i3BkoJ3wteuLfclPPjOzCKXpNOgSgjqWwW417OQaDg6
U3LDNlfUUYnA+XSkyM52lWniwBsWQvrs5oApa7PVHhozlwLppvYgGLO9zMYQXGt06TzdTpDVdc3i
7e8Y3Id4IvIbartbIGuyoDpUdZrjzzMwp2EZTTheNM23isH85/7W7n1U4DKU5sjsGM3afNQQMadu
jmvHBwKlfBzgcUc6IbYugZkgSZckFtmsXsjJ6vTNSGQKnNAAMKwD8SbAIOlRXnh3em4Ay1ypDZlX
P2GKGq+hgWV6KstBhWvv/BDLU1gFGARMVDr/F5Zq00Uatu8cAg+01BZBS3FIyx9iHN2DL/faC9Lv
12QBF3cLYHETFKDJUMO5mDh+kgMYhJiqgAGxMT2HfsCTnHw8sPd6ZdiDiEC6GgKeLUqtF2U6Vw0T
6d3Y/mwCJ7sNffxxqs3pev+c7BmilCJMdpEizi/wyostLOvCtrrKEj5cM/VNDfGpBZgMv7aPHpJd
S+Revy67SsV//bGK2UU0Evk4ADAavHOxBUNgnU9IizXKbyyKN4sk3yZchJxibSph7nDWskb4kObN
D7QXUuCM8OagFHJUdNtbFQGpfBB4jynbrE0xgiVLoRUz4kECaWxrRkjrKi2wBV2c3/ypGB4gG9MJ
hul8ySv/4lNVCiob2sKwuFUnjeKh1qzdKggjPsK4czTvu3PeZZmN3r1cFhC0ta0eesOWgSDhV4P9
D1DZ6eMQakiGoN1J79qwDrzz6ygNNCjYPtYlu5TW5mxkdhHWhTYK37WRnU7UwUXJPIvfWmLC8fOp
/g+Jxc3aLMrNTWOm6iwoP9CfzNtAoksahFOSrrwx7kD74v4Xk+W69ZuzNrhZlmmivwGIj8uVzpGn
mYpzpsjBSGy3mB/iEfYAdHerg72UwdHWKGAHm1EcVd7oTeSwoDAzNS572Re5eI8anXLuzDm7QbME
Uwjl01O9TPYDI0fmQw611N/317x3chjLpO5BKKHqW1QxaWBfw9MkfESLmazV0uxUml1+QQxuuIHx
1Q5mE+VHe7VcprppcVANIXtan9SxHLh5xswFhOr5axJ0ivCUekRDjQnho3rerjFIogBryZ76tnBY
k6CmRsvipiKjjTNC95ghE34DNpm8tcPNYeVO2LTN5NC6Kj/zi9te2P2YR0st/FGNO6aMGCgiYGh9
NXOaP3nAk2ekJ3/jmZNjNvLh4d2hQLo22sG31zoJN6Se2/RGe6jz3Sls+avRTkOXqG/OY1gkZhhd
R5wUy2t7iFT3uR6zSCa1q8sg7Bqso6k8uGoZHeS7r0vdckPlgBQlX6ozWx9TGHU2NjEHRZgwK54G
rUfqFN7T4NGko//Btmvl89QQGKkgNG6T1nTnBr6C60yGcbDsPXfH4eHnAHODk3IT95KvooM3QCxS
VSj66fDFU5aMjIPoaM/7WNwJiXAkbdmySSl1GwGMGCyki0PHJ6OCsCMyBs+EwO4iAmvwIV61D57e
13GnRDPSEKY5Q/C5hS2YtdMA6xfk8tWUX01o4s7uOAn4SOnSdHM1+iHUeQ9ulB452z3HIzMJG0wd
+MNtm3fOeRub2rB8C83ij2lS1CaZY0zdhsYyoq6CKuORyM7ehyRFpc9LriY4YOvzW5rwELTGbPmA
i8LLjLwpemadejCBted1XlrZvFsBSOy4iRdKfAW8JbPSDl43uCjdw/Ht3/fee6Yoz4MdINDQ6eit
FzRCv+4sMaLJamcA+1KD5RQhBXsuKis+3zf1ukPOfjG/TNaJf3O0LYZnmbIsdDrV8hsR9ao/TSna
F6EVOP+g2VckD3NiZv/pnVX8OQPviz309MavjhxxvP9D9j4inS+G6yUrABHCes1xAdm6plFBtQwm
JIaus99D9b98uW9l71mWESLdUvDQRKZrKxEvNSSNofCHkbFCD99uvWeiboTKuUNs72TWUf9jKlCT
PSVLgDqDYqZHmKI9j0BYICf4maeHFGb9G3gWM2RgU+FnrlL4BfTf0LkMYwNTh6iuLZrq/1miAKd5
f+l7NxNkEMkoqQzA480GG5BmovFENXyaFhWX2/QnNIVrCleDMV0qPVCOaAP2LAJCA0Cs8nwC+lgv
tCh1xNbiXvhIxojnVlVUJOhx4yH0UWeU1aErv7/EvTMk8cMMjVn4nl9n/cVrrUA43zdxx9edEDRB
3KL8MLpT8O2+lb3b6UhHQyGDCTF7425qmJ3s2eC5BL5ooPQXOuchg8zcKVP3031TeztIwRLGLAQR
wGZuUihDL3NjGPHjIgoYvLVgDoDqE1L1Cqh+M+WHPUwZp23juJcGN3FcqUca2rMckq5Oh3eQGLu+
0Zv5SfSQ2dR1jUaki6KYqrXO+7pKv6FLK87CDcKT6Pr44BV7DZSVTISShxLsDMVIsbmtolGawoVU
x1/qov4Wg4dtTkpTKeMpVqz8JwLKcOfBQJsyYZVqucIpjvMnOCoU6hCFUk23eenaN+NZ5K9CKYlB
EkJQzdzuEUS4mjMR2s9MMp6njlJo14gnVNvtt/vElaXNBaoTkymRBkuaon2pmrS4TosiDjKVneOM
ESIU2Q1mQZvHRpuDRYWgl3yMLvnNbKAMYvJ59NswPoq4dk0BM4TZkcEHsoW1Q1gs+In6XuV7Fknn
pTRZHqu0/rQYU3UQde1cHBw8nRXJMcWjsvGxI/RsDMhTELAbs7vAtmdfVIBuN8cpzLNhJUcyPzs+
HfwNHQ78HJ11c/Ol+kRx4APH84w20zVxi/ztrBXqLUqcGoqiMk0/28haHRX5dpfJoBh6WWTGr6TT
tNHt7Amyft8qF+cJPMv8THWC3FLKjJuNtRzcyJ3nk24jnXtZ0EHBavMBk3puCjNcyLy0BEpOpVzO
VtPDusONKE5O0efXJpyd92jXtacIga0D+7vb/MK+PGAvHHwy9F0F4TbbbJrLTU+V9NxmuvPYNcD3
DVDjJ/Rlj+h3d4JpurqMTxCd0HXYxgyOGk4FGhBSqbatbvDn6UgKoCsQ1G50a4M2ezCgKD6VfaEf
3P+95RITEcbjangA5L+/WO6cVE1m41Z8ZsGjKy9R4Bl9bJziuWw+LGlf33pGzvz7b87eJSU8oV5G
+5OPvXFv4DdSHmkuaeJQFyRXQDY2K5InHOmb2UrwpFRIJCiHUgXZ/Hp9+dxkxjBT9lxEyMDxYHWn
GbKey4De18FW7t2Ul6Y2Xm4ehDZYaH345cJWOnWi3TINdva5Mg3PIhC63N/F12NeEgXAZpnyOaUI
uvFAdhgpLaU7sssgUH7WozAf3RS5BzgzKcYEC8LOJ7Vp7f6UzMPwDmZuBrzSOQ79IRmbsxKbzZc0
tJCuAfzxF4yc9j/3f6G8q5unnmOFFKQkDwHAsrnLjjHXGZQLth/mQf/U5MG/Y1jXD/eN7BwmnhWe
8F9FKEr26y9sqnVf2WOPJtwolU8ttGkm6AU9aPCOZpNfMwtQJ31pa1M2ieducvsAJiExN3Z5gpzT
hsBeFPO/euS2P+MaqNFHJdbs/AyqPv0qxhZdkCqsU+WURkJxPJvugn3Op97xukoRzZtfWsk5RC+I
MjUP4NaR2K6i9gGgGF8kSvc4ogF1yppYO0dj7Rwkq68/LtkFLxLDTRR1iPnX+670S4oMa2b5g2Lp
H8ZELA+Vu3Te/a/72jNSZCZqkMm+DFQ24akimOtaFMRkwJmKizNV5QPRGGWdNJtm5hur4lM7joav
03B4K4yI9IkMjvCLziydxM31ajomUmjkWT5qusut1fQKCqJ6uswdOkH3V/n6DGOKXhnun6yN5GK9
l0EdZOi115Zvu0X2Po0S9YZcR34ig/n7NyyRUcjhJEcaXVuSCGwUA0q+mqtAgijQ62U4mrB2QjHp
vqnXTwv/P/ERMQMRy6vRAbUsAY5nAeS+QZHcwjb+ij/rLvaUINzNbKKX1enRvMJrH7yyaW6+WT0r
UHi02ByRBPBVpNNPAO6Rh5+q6BKnY36wxr1L8GKN2+O5TG430srBHuR158XWoU6mAnBwq3dXxSst
C+3knVsquqVBJqoILMD8w5ieRrd2mLMeBGLgy3RThBNe73+5XXuS/VXGQVQRNkHBCFHxAPuS6Udq
AiPA3DoXR4euCE0JynpWe1Q32L3kdCWpyRBjAr9eH8q+y7OYMiknJXXyi2q18ExF84Ts+gRfrN47
J0WBblhvjOTg8dhbqRzUJOaiAfYqMxFNm4wt1Mi+lXbhrUFL6SSUrgA3qjYP2qx8vb+xO6UwhlTp
mPNk41FIhtYrrZtBh8ybUpgeKcEDaJvyMUD1BRT2CAGVlfXnAIJDj7db+YGW3D8apaQDX7O3ZDCr
ckRGSJKzjd/mJUUPCJkpv6vs9FxbiY2ynKNYDy18Ew+zkh6hfPacG6Vv4jAa6iQImzX3lTtGNLQt
v2+5+YvDcHcnkD5sgvL7/e3dXRobTDVIsg1tUyRER0RfV9Qy4A9DxWdAumaw4fPq4XJ/V2p6eHB6
dloNWCNPl8rvugW9xfpzGjpiRyWsKfhticwKB/WS5yKhlNrrnu7G1UOmhOKkwfL/EV6z9pq7kXqC
m989+KjS0DrS4odQ/5IFI/Stt1mTDja0o9loEVHbASloyF+dqvlDLfE9NePbN+Z1lO7A7P55lrVd
BxwXwejmMGVpj6iZ3vNtG7SJ/KVp9T9Hy8geOsok/xq9ovwP6VLllNmx+azbQX+dRgVJi/vfffeE
AW6Qw3BQK2xnbkXcGtMSVtQd3bS/5WUafQ2y/q8wW7TLb1iS5QWY0hzGFzYfnFlUqgEB4UjeOcaf
wdy7T72ptA+IdxkHe7u3KIJ6eUMpN9IsX5+tWhXhrKiY0mdzvsXwBpzsPmng1s6OXupdU9L7ghEl
UN8O0IeVYrZjjFdKyMJOETPU/yxpmviBGOJ/72+guXNQJf6E2APcC7y+61VlWYceoAXjf+i6zXe9
j3lfkKM42LsdRwCLDmBX0KASorTZu2bROq2nJe8nY9ScRd/YqFk2w5Mi9D+7PpwPFrWzf7A/SSAv
I2hUbDfm9Ax9JU0xTT+b0eqBPMRmDiRwviOPNh51v3ZtMf8BnheTr/ifzLYdzbyIORaMgJy1Urcf
O8v8gThE+vn+p9p5lXmPSd9I0CUwcfOpuoL2IZKOrKqvDPPSW0b4h0AzHoRmvzQGhMRODGrRVR6Z
5h0PvuCeZzFBZ8uqLJ+RXu76oLQWmrztTEwwqnZyGZGmeI+AhIlAptJ9ytIM8gQ7aRMvxC89Fgny
04ygp1/ub8HeZstLwSmSyp1bUPGEsqfTTETLnWJ2yNPqcfWYOMyYAEKojkRh9g6t5FX9v+oeddL1
iulL66Ma5KQ6qUuYldBb8EZr7C4N48Opby0oiL7dcZJa/X+T8gi8qP5M0Tw43dwi1WkO3UOr5dO5
0yLnY6DFRyyYu6eJkT5oXBFfIfxZmzKmUo2ymnRxKlHnPJFu1deJEaWzlTq24lHoTj8Hk938rYhR
Owi79mzDWeDIBpF8sDfLpMMxljUOwy/zWHtCJnQ4h7qWn1zRGGdqm+O5D/PvcVhlb38u5GQwTxNt
Vqpr7nrR09ItA/VZJEQbW73acZR5Q2aYiOfOy/ntR5V5cqbCfg0hi83+Fib0JougHC3K7n/ITFvP
iDW0V+ZerINF7Z1TU6O4Tqjuwg+7ybEUatsQ3pXCz3Gu/tAO5vMwNYwtzqqk1rF/3F/YXpAFQIY+
P5PdtG63BZ4J5HCSSYCMg67D9wy39xDVifVuCvTih0ux9tPMWJ6vlMybxcpo/ZGjxgjbTNwewMp2
yj+M2+IOZclfLn7jEVG91HvREF86ZAue0ijzU1WCXl8a7WtVLRWleRG/QzkqfCgCMJ2umqscMlFR
40whBAszGqKWcQRNlI5hE/zhIhlGYAYJbN12Di0oLasPRp7vVIFXBYyI7atqaHhtSMwwTMymwTh5
RLe985CvjG68VZXBchhQ45WjOsOptPX2GgA8P3gG9s6aBPEYiMQRYm4riHmAIDkamcJHQPLv3o6t
69K56HyryRN64cUf94+avI7bjaReISvhGKS8s76uM6I8TMhp6LcGpeapcah7TS7GD7E25LdQraZz
mIxI10fU/sYgj5/vm997bZAmA5RBA12AG1+bt9xksIHPSHlfGCuDNoY4okEW04qj4vo7poBBSDEP
IEPy675w/AuUXmi5Y6oqo+kGcXpxJuOvPyaaeRSc735ChkqoOKHiQaVwbcoK0iqHYpReNnolJ0Yd
9I91P2o+vHyZL6ryCKqzu4sv7G0OJmyNVTvCRu+7lZJdFoZPTqRwy9lVnKO2ze7S6JxLgiU6jtvs
x3HQgW0p6PlhOwbvqFNkk5fU6DIhzVUP7y0zfjPTKOwGFNMYxMMNMTEjF//iu4mcgh3SuvjeOrNP
eR/rXh2IxXOT4M2z0xtTm+9Wt27csySQDssovFjre7+ti+Ggirx35Sgw0X2nikxVZHMQ23bQmoQL
5RuK28Iz7jq9lwaa+5jpoXq1IgLArHKDd2W8VN91d2qXgxBo9wdILKSs80I8unnN2iCY2wiadR/q
EGf0khTAhTEM7k/UaxW0H7jvwhiUi6KEma858RETwN5xRW+DZhhPKSw8mzelNKFBJsATPnmJMnqA
vlDudSLH+Gta4iQ43b/3u6uVg0bstoTobD4qk6NZgdqq8PVWmzw7GPuPC0yaftRBTyXiOIeTUQmf
7EoT7xdrOurV7AVidAooddO3oiC0MU87UCt6C3euuVGeeOpYfO3VRPlLQ8v9oo983BRlylOTt+2B
w9vNJySrP5UvKc60rTFOdturzQRSyNX65d/BnLoLhfjyhsyme6vhS3uylbLxZKnjBKGV6VFNqY66
GXuPptQy4EvzzcV2LshQWubiZ5rL1LA+1lkAEWYYHGuX7PklWp5QvEoWC6ZL114iSyAHSVTg6Jba
/mdmrXaJqirxJql7RKXiaOR+d1W/HhLQkfRqtke4yJw46ABHtmaTnJaJzpNYEDV8+9GVEYCUg5Ll
083rqIStm049iW+th5OUrGzm900GoeVlhvYs9tpWD6szFx16VVJkLfR7O5t+A8zI8wzcnSYNoT0c
Huu9hQMYiRONSlugLeE/Ki8NatHIHiqlnfllONmIivTVRXVKwzPzrLwZVR8cQOH3vu/L37B1mmpS
x2kLeDOe6TQrS9Q8aW2u39JeSz0VPPzt/tbvfWA8lM1EG2NKr4aVRT+ZKItSMjbLcryVFqKiLnoE
f923sucJKTVA3cuUDXY2DzeK12FAw9FCOK5CMrqrzdxz8myIPanXfIRr2XNFjilr8QzZwGO02UOt
t7u5WIhfFSNpGDK1XP2xQg04OjmRgeZSp6H85RWiS0Kvgy/6qGK7u1riBnhIcQawFa7PkdmMQ4bs
JqUFa3QuVd7OtwXMEtMM03iQt8iN24a1HEs5TUT8BaJsbSodZ1Es9G78xVLz0NPSzj3Zylz4HVjO
cwwFq5/O+dEIxa7VX51hnf7Kq0NTF7AU5bJzm4qsfChF+qlk6OyqwsnwThkhCixCburbjxBFOArB
EvWB/1uvtDRJRn8Vx6Jy6t83obp81oa4uzFweigQtXcpZEBL2d3QqMNtP6DOlFtowzGWNUl5KSs1
fT9qZXhw9faOqczYwEJJFtntioasMXuYg6EgLHXjP6toi9Fv4Jq/znFh+owVxo8dbGvAhbLxYDBl
74TiaqWgLA8JRej1Zpp9qEcWc2/+1EfDQxtluhewG49hEx6xj+ybYoKBCEjqCm6+m6vV4PYgEPNh
j8vPs919b6dgOMOL0B0EQDuWyCeRiIKqn5d462SacUI/KgXvafexeYIqJkCD2rEyzxS9cX3zaYRm
ne43g8AUD7cupg21YTLKhNAOyXa/M6X0qnDm91FKdnnf1M6LgCkwThwR+mzbUVxhMg9lJNRIwrJX
fiaIO3iGrkff+qa2AdXmRwDVnTiSdpf0n7DbElbJY/siD7G1MY1VgUvRSqdQPo65on6qAjdDQmNs
q/ExiavMuUxOYzK0uNiZp0zj/M/9Ne9cwF8KSFTCQYeQga1/g5OFRlXlVH56UySfB7dfzi1Tmj/v
W9k7MBT2me6ksEJLYfPeNwvZK6yHBDdagCReN8b/1r1SegFhyEEutGeKMSHqDuTK+LDNpmal26I0
OJm+40bNzXBq8VyERDZCPaRz2zXFi+DQNaSLta1kzSrV5Yn5MN9GHPwcukH0kCItTMgUxgfBys5n
kn0KF254LgLoqfVnEqLpmSZFQmgw4ukSxaivxjZVjfufaedAEozh+ulgSdKfTRpn9g6QEvnakCJ3
57EqnfM8zqQ4U4r2yDDm/7pK+8MMUuuht4K3owyBuCBvQIWD0QfCifUaG8fOEBOnuJ3lbfURlSQI
eN1+POvaeBS37G0nBCSys4VSFuq2a1O8RZ2lLfSa4kbXbk499Ocaob+D7dy3YjKn6xKikJ6urQR1
2lV0dE0Cg7K4EaHoTw5zdLf7H23nFEpwuyTcA8FIVri2krodGms17ZUQbbWLEg8Lyf6gvh/s5Pvb
LTEHg8/ntYYUf7OeQm3KDg4aCvGtaX5Qi1m/TXMUI1hPw/O+qb2TCKEfLAUwohODbEzlRUFrpyWw
LLRM84ywMjwtUKKbEtn/GEoWmR5qKuqt6af4Olgt4e19+3ubCrsg45a4ZtmpXm8qIRdjWAXBOlPB
6pWBzs+lWVLJjIxl/vu+qb1Tgg3kV5kbopi4qZeqQZHmOQQCvlk3rSSZnyGaqF09O1jS3pa+tKOv
l5RW+lgzFsflntv+q90Z8cMyOzXzjkl2qe2luw55ZZ0jpQy8aWyPhD12d1SmPgCWKUNvfUuXVGLs
Wp6AZSyyJx39ir9sFe0N9Mw/3d/QPUuoZ8qoklGUV+R107LQRIl1+nF9mt4KROD+jFqSdlhzxcGe
yru1SQpYD6QhhJYSCSi/7YsXfHInpBtbWn/wT2T/c3tTfbQ6Nf0egm94hOss/2BNxvAbF54eBe1c
l36Fte2HtaAmsgQ6TX9OUsOLOnokQxF0NxfggX9/K6XL3a5PAtoptED8yBHdrM/QqmYxmJusu4nc
Jg367hqXZfYuMuzg0nRW9QxVvPKfq6ZHVZ6dYEzw2NEnAmPFIPLGdKPr1aBEEa3OVNevOUTip8Je
Uo83wjhDsNkcxJl7SyXqo7QhZ9KYNV4vVYlFNwtidTD8uvUwwPPj6VPQ+IURtrLVqHtlVzTnOOr6
8/1N3nMAzDrSFJGsbRDwri0PjCfUC1fPx159cqcpyj3VLeoD771nhtBWlu6ov73i9qpzM4nzSrbh
09z8XiKscK1g1zwIVPZuBBGE5GSlWcGK1otpIuZKwgB2ssWsn8s8ta5VmytXu1IKwNtWdUoCpTy4
ELsr4zninELd80pYq6uMVjdjVkaTMPNHnVn0YXH/d/8r7S2Mxwj2N0jeKc9tv1KpRC6NJThmdJUO
TDl2HpSd7YlwvfXiLK+8voz7A/+yszL5+EnwL2P4rwh8Yb5WS3VWmIaw+n7w7ESt3jVTPB2AtPfN
SHQxGQAAw83a4ihUaiWjfO9orfKzmq3ss1bZR831XSs0kYGB406AMKyPRpQb9ChS5vjtSig3ESpz
4tV9bx6cwJ13DiJvqdVHkQ102WYxZj6UatLTlbPsxPxQaMqPAC5feOuNxwyA1seuGb6pE8IO+uAc
lWt2nh4YHmktSd56iAk3S9QqMBJ5EEoqttB9V7Q13LJmKiav0SbTPjgcu8ag45VjXrxB20ZrDVt1
Y8ay65PP7rMadPZZt3K6x2pfldP5/vHfNcZu8vUY3CUCXH+8oQ3DGcil7Zd19RPnWP+F6ihqB0t8
lAbsHRONWQGEV2AJhO9sbclslQKihID2Rl43FxhKxsWbl2o+anHu8OYZeEJ4NGQtXPIvrA1lo0op
r+ZjqQ38ldWsR09DVbTneLaHW1Yyzudn42L4tYhRWJyGUH8eYOi/xJTqw1MzZjWzkQIWb//+Vu8e
YKDF1FXQeKHCsP5dGpT/ytIz8KPztH5Lm6h/JGOueq+e+uDCfjguRDUw03m1oabxSaR5VR/E33uf
m4ojoBtZ2GX6ff0byqRm+j1tQF+QCLxn0r9/ShoxXZpRP4y1dzwrsHxYVIBpUibbxtpabAW9QX2D
Im7kPJRdqVxnq29OgiP3Be7A6aSHcfsb55mUXWLSiORfMW+oiWhtJQdjmLZi/lsfEa91taz/lpPQ
/MY9pTxNQc5Bsw3k1HovGzDPGTzSOAUddm4v0AP7v1TP8uLa141qXu6fnr3rA10v861SOQdswtra
YIZzEoacngisdvqcORW81WZtz78xtUHCCTUDeCIOyNYj9JDBKGRQjIwt1Ue70Zx/a8h+/ru/Gvlr
NwEo6maMLcFEKMvRm9WEnXCbIMDHqZSG30Flrz0HTAeeoljvC2+c4qMsae/gm5QZZf2B0s2W9Qrl
5tAFQwgXgtuIi5GDqkvSrr/0RZD+xh2jicxXh15H1gfWX6rqi0FDSgNMh6j0hyJfCn8Iw+BSOtER
uGnPpbw0tbnORmPaZVO7ULwZjCt0graFmLqvHVqa8DtPrjcu2nKOzKbz8sSuDlone0cS7B7MaMAD
cbibZLrsEku36H75Zmtaf6QMoFzyMe8OosC9L0cuRqhEJZNPKN3My1wsI4ceE6AW6Rw2tzmYEVsH
sfgEufh4uX8q9zBsQOkoU9Fikynt5tMlYQmEvg6F36pwrJ70egw+ujRvpxu9of4/paNNfhrqEB89
hVSUP4glRD4FfY2y9sQstK+A/KerXtTj/8bOVMqDH7i344y5gw9g1IksavO9W+aaMs2QrQAzrz7P
JbAPcL+/gaNBxYMyGugnmSMa6x0PoypwUo1h+r7RgrNttt9LtVZuobb8jguVU5IEj4CSqJivLRGV
T9aog5aEkRg5C5E3cB5kqoY0aQpD9AEpwe5JolynaVBtkZltHLY+FFOlpZKIzqqjby6lwluSqfqn
NMjEQbV67+2TDChUD+AkgGx1vTCVUYuoyyVwhuHSs07W66M80/4xNc7zaI/ToyIi5fP90yv/z61P
lbxPiIJInb9tWVKbi8hktIbr2HTR02RVtod3rQqvdlvVr9rhCCe3a5CAhNzpF2hks58BagtOXk6Q
3KGmDiWI5v6obUZ9htZAIaM0jlpGu5v6iwqZgyHtrjcVyhzFnVV6bmHWdR8yo7M+a0reX4bFyGBB
qWP11MGCdxRQ7l66F2Y3TsFi1rVDtwknO6r6qYmzitZYdTTmt7+ZPE8AYGhzbDsBuSEUPZLUDgW5
Bkmnpc0U0SCdPjHsEg8n0kMI0e+fmL0LIemztV9pGw5lvaFpk7YDuB+amJEpPrRzbpzD0bTfp44T
HzyKe5sIOpRBAWIlurUbU6GKxshEQ8q3+jiNvFwF2eXBnnCYqu0dEkpbCC8RwjIetDE0038qtJyJ
93YokfwoRbdcAm2sq/OkF3Q7Mtc5u33d/XN/K/deYhtULFENECqS1PVW9qB8wpT0yo8YbrkmTtd9
X5oEdEYUG+8sQxEXAZLiBMl8wySs6R74m92kxyaUklSllEy2STikbqIgNwfhro+9RVajlc9WtEgp
wLHTGl8YvfgEekhZPLMfgWKOgOVHr+odsziJwYobD7GUHuC2qucHL/jeJ+FZxTPJkA/VufXewKLN
d85k7FVmxhNg7/BCAp36bqcWibfYteZDGVQebMmuVYAd/MEZgkBdW2UEfxj7jhAzMVRZXyyNn0k6
Je8gd1w+lDHFOGYvj2hH9/D4uF9N0uCpcupxcw7oS6ExBd+eHwEHu8Dg1p7aoomeoYaxTxHA4q8u
AL6ngmcPjQhVEDUE8RenhZvr/oHcu3ByNolDAR7L3IYKuh2JQYUG1C+GKLiSOUBfpxpH+eS+Feby
4RemuLodg1KmDFxvT1IvxiV5MPQxexKJpRz4Kelhty+bZLvhDNFNB/Cx/pRTohhGI7MFd8xaajBC
XJMpna5joi8PXW+XXhlAiy+SSr3e38UdCizZP2fCikwF/N42ibV7DZbaKnWwmvbPuqOopyDL57/h
ih/7s8IoeH9NU0OvvMFyxicETlMI3uQHzyfr2ay15AiTu3euSZxIqolgqOptQosyqOF8aG2bKCaY
fxiTqscgwRzUW/QK2tvHUiw2ytG6/hv3iYSQGinlbHr+m1uMVLBmhIuUQAjyPvmgVG3mJ2GrfEjb
pP0XkpXeflaj0Pyd9cocQ1ep50j1yPXHJ8qKrXZkvWMQuNb7zMzt65Doov3ThJXtWUwtOpJWbRwk
NzvvMeh/HBaIXDm9K0/+i7QD1KRdVWHh+CgUlu+CImh9bcnz/7WN8oXZZf3A3M77gdIBySnaGZpk
DV6bm9MyrSlHcc56QzxncxP4E1On30RQGPNpHlzzHXQ22ie3kErxi3LEPb23XAo1v6YQOOb/j7Pz
6nHc2LbwLyLAHF5JUWr15OjwQng8NnMoZvLX36/m4AItihDR9jHmPNjwVhWrdu2w1tpbDc+laGNF
L0xXNmajxldGNA38nHLqn2s7eDK6ctefB3dL5oeba00uDjhAap9Zd3erLRfUWNreOc1dk3zvxKhf
nCmPP0LNsX+m+VD6i903tZ9ayg9jMfoTsv36gZvccS38BpA6CP0C/d72vjs7Y/LCvFD/dKr1QsaO
8ABktadodRjUbcPLg6rulOe8LbMDr7YTfZHI0eGXwg6wejcHeygtGxQ1ppcyXT6LvnG/Q2t1r9rq
uf8ebLU8rXdbDbCa/obs3mzRM6VBASRB+eQ0ek32nojA+8fRSxgYXqIzcTbKNL0mMMjb984UK42/
qJWqn9OY3+dXatbVIXPELdQWuzLB1bV6c/Qh9n8hJ4FCAg/nto9sK0NSDnmKRG/kLAXjcPryLbVk
4yAW2TND8UziQ/ibOQa390xYdanWKWdOi5KkPi1pDZROFGvx5fGO790ndhv4F1gDEs5N9GENddZ7
BqJlYMHyONCGTHxVOz3ye/IWRF/iz4/t7a4L3gvyDky3xl/erksz8mpxXeLr1F2q38EeqD8dezhC
vuyuSqKiQCKzpq0ydtdUpro4SDyV6zq9N+uMDgjy3CehOP0ntCyOrsjOW4dwgcm9pOABiGJzRWqX
DmCWzc6pYXxgEZgFZeOzVdhZEiTrUMaXWgPZHppqmvz2eD93LVO1JrV15B+b185uXGvxOtIIV8mz
r4sZxV95KziYemPz7pca9cNaWU6Pre55I7o+UleGruBd6VDMdWGmuD+oX7aYL7E7L+mZSgFvT2Yo
4pymRvJP0qZeElQRegcHznDPI1H+osYFkhzc22a77VWr0P+meG52mqDrpFbxH16Ve4tvzuKIbbN3
lqhlgQUCQctshc0N6TxrIH4jsuqLJD8zeDP3I3sRb6s4+rGS1h9s7d4HRfWLijNRE22ozQPrGtOk
09114b4ab9fIaJ+qQf1gLZW4eAtg9nYQRzjQfZNkvMgEkApsCS1RodglVUJGCiE7BtBpErDke3dB
vXH1/qztrHzD4CTrAJm8Z1WqBYGtYFu5preeQC9cpsElKm0mgyJFqSRKqFhxf43XzPthM+QkYFzU
odjL3td8YXUbJ9tIDSNyRntCWTr1o4cy2Ll1RxeBWk5AQNQz6f4w6FQz7NR+r+iDeRboOZ60flpt
BJtAP9qJanxjG7svcVYv75kt0H98fL32nCSaW3IAElMCee5vt8ZQlrir6UackjleL7VXRe8hlDWX
x1b2bhFy3vIeu7wy25yoXSI1t2gGnRiMALK5rMxAzW31RPjWn19vCpYGZUb6bBTI5Vd5EaRqKsOb
vJ5ZXJo3MlZayUw/ow52QZQqPbg/e3sHVkFCHhE6vRuoUdrEZ1XuAvXNivzMlCrlXOjOeHB49/ZO
ErN+ITiBEshf8WJBc5YzGtuQtbZy+QdkXvykt+ufFISPsCV7hsgkCah0OWt4O3yvUbWhKQSwNaWl
gxblxhSYFTpPeUye/uqPxOwiWAr07kibtr2uas2zYpSYxxqy6BuE8vNQB48eQGH8Dw6c8I7Ihi0k
adnqHJh6bsJtB1S/pmmEXP2Qn2vq6z9WZOVf/1ZQXnMBx9GJoFew+VLxiJrABMGXAMdpLlT3k9BJ
UTvoMu2o7rtX3CL1k/wcCWJBIOf2VJACJVqeNc6pyNT6oulCCVKmTobLGA9+RaU5mHNHhJ07Ln60
xNDsSk1cknWu/EQdlmtXWcUBtGbH39H5YriplAanC7x5Tha3Klq9YvnqkIpTTwXtNNUaobFup4E1
DUdStLv20AahWWpDmt7GrTzZzE0T4DSSSVEqX+o8hTkKGt8XIzKeoqTVDwLYnQsCrYYyA2PNYW9v
52YMnYEc4kgApEzN9E+W1fF1IhIIp9ITB8ieX22eTXZC/ciUpWFNJsGbzcynIgK9x5OlaPVoB3XP
1r5XtLZDnYsm+6csV+x/U71rh5OCO438laAaFRi0rAQ8wmwe/cUiVzwxRgVK8tQ5zWfCYM0Jk7Ut
Vb+zvPVjMwF2DJpVH79lsCMqf40LmO/weJLWLwjjk6A0lep9VkglElUdet2PY6aH/Ky1WbX8uEDf
4pwQz8cQccVIOU+I9lOxNsM/+twWit83NvJmy1KpIlDbvl4CIxH5p2mth+aCxJ6hhlnT6crJbsv2
S5bp1t+rqO3PSRl7n9skatdThwzZUWdB3o7b3ZWNPI00FWAEf8qA4YVPNQdESSxtBKfg6s3vnVgY
pJNa/UVYVnXxHPQ6G4/Ats8ijedQ/frY+90fXGmd14kQSAqwbJ6ogUlIUZPLu9tF8bvZa/rOJxO1
3tnW2JnBlOjuz/9gEYgRs8FQNeYFvl1vvnBuNAcys4tDfm8DBwkW26g/ak7ShF3Tuwee8D7gosRK
jmJyO39B+m7t1Z6V6MtIr69n7BvaJkl/NnS3D2pmBpA8a8s5g091sK331xOj9IlQHof2C17j1qiX
Z3Fp4PVOdmcX3/s11SlDjtb7CAjxwZssPfn2/MgB29QcqSMDAb01FWeDMi0RqWXCZQzKVIk+xJlq
HZQX987JSyvyV7w4pelizGllUzhvGLX9XIhqeIukUxEw1xnlYgNdpP/y2ehEgeuDgMOzeWswcrVC
mfDwJK99H9b6WgQgzOdLkbUAP2G/XjMGVL46FuCzSTSmRMHJTtGtUVidhgXVh+5Un3SfbTON/CEa
y4+TOGSp7J0QJMIgWyBVSiFik8zVYug7xeLaD2aFiok5igCNSdtHNeZI7XjvBjBAWQqmoLDEU327
KjILKYgB0ivuGaVcjZYXEDtE35Bub97Z62T5tlseUd73DswvtjkFUxoD27AqXYXRrjpbmYIinC6z
lrafxsLVQzQERB8Io0Kn4LFn2V2nVBfhVUSpy914UhWdj75zQRYKkepXBsOOJziM4m25wP4xGMxx
Qa+gvvwXo6TkkrhLmXRz/czeTdFGAv/SFWoNqb//c/CIuxNF6QNlyacgr7SjhW73Fja0ZMgQ2sEA
x21vzg7iMzAX83wNKcJWpy6PmWoeVUnQlM180ktvPajKbZ+oX/YIWuEEUA8mdr09QFHeeeoypms4
5X37SbabLlk+DX/m0SKeARG6lyaL1U+eqKNA1wTaP4/3eG+9LJnXUSrx3HlTpxmSSrdn1uskfzpZ
O39KoZv7tjldSyOZ/nlsbW+11HcYk4n/BlW82d2G1HRN6CuFcaSbTHQWyXPWVGp1brpFfFGVpg81
bWn/iIa5eNvPrv7nY/u7q6VTDO8WjhwR/O1uMxFQGdtuXEMKFC6SFFZ+MpO+eGcPmuYry3BE3byT
F5GfF6FAdMqo4dGclz/ohW+fmL44RiZcyryvtKd1Wp2fMim7dEOvheZSTielUfRwWIT6xtTy5EsC
eO0gKti6Q34Dd8cBFoD8LXjUzYM509Do+MhraBbecpoAUwSZlRVBBlkpfLy/u6Y4SeQHwLQo2d8u
d53iUq/pl4RopgzvzaRQz32lNt/GuToiPO6Y4rpwSckvaTZvYY1rn1pu1zEGBHyj/dk2SjhmU569
KXPlYP+2vo/9o2KCUhVvCeii7TTZMc4UQByxGuqFnZwUdUUXcF6UHzFh/fsMCUrDr8yyO4gK9tZn
k6QTmvIXz+btVhoNJKGKMWSh06lOEKFO40c0QK8iOxxHuHdKwRVxL8BQQE7crjDqWaKlKWs4epL2
MTvzQmEgs59Keh5/LEZe/L26i4NIr6WftbVxVURyUGo88EU7Gy11UiVdF6TMHWmDiSCD2/aKGvb5
9F2JTeXZqphpk03Vck7Wkd4M7NOjJuvOPhO/yiISAokQU+Q/f3FD19IqdLWItZD0RLtocaycE2tO
P89kvgfv2Y73I5mihQBagNrvlltXVhTdNTvXwkgTbujyx8XVEKNOS30JhdEMbz0X6UQGdFSnepjz
g8T9fqVScAP6IIPOpR/YXE5DqWdVsSotbJl5cprLOPk99or2tMTren3sB+79rKQ9k3TJaRPULTZu
Ly3brGW2iBaWgJICpyyG50HV1+em8RrfaLv+22N79zurqQwu0ClwcpB3FNdaaIUIqIczhDC/Vafx
qXP6v42hyT9aWt28UTpPe1b50v7aVMXpsfWdjZWyl0SbcPQpd29eNT0qorg2xylEMb56o6TJv6Ul
4o9Ol6vnx5Z21kl0gkqVSUIlWwi3h3Wxh8VdXFzR3OpzWDNS8DOi/Ms1tioK3kvfvaljBl4qelaf
zGzyDsoVv4gaLxMiel/4WkRbOKkAV7dwlEHQlO+qcQntXE+Mi2FHueqT8emImdtx8q6jGOEFjO/S
/3YbrZvOshuYBanaZ58KUqfyQ8uQzsxP9Nhrgt5KmfMjaSfLm55YvXkz2GVPDQsRq/RadFnU+kK4
VLpyZ4guRTlVzcGnu3c5NCdoDtPBYm10K243lMa40OK+5vZHbn0xW3cOtUaVm0fdpIibFG8Y1fY/
jz/jvlVuoC5lFu8GHZVtgda1itW0HPQLdLvp0i/D/N5bqv7fdiZtL8cq+eux0Z1TCuDYlVqgKGxT
mLhdqj0plbcwZSG0iqj3GbRhXB2rmsO5c+2DY7pryqGV5iJHqFK5vDUFys9o7d5Rw7RrzEsDDDrA
BysB+pLlwQfc9g3liSR6JifBDticjSkEmMuqTnI1LG03D4w0Wy525Ka+qrj2By/ylNBO2zfU79vw
9dtJPEd0B8TunhY6MV1taYD8hRV6pwETnYqLljgMe9Os+ODa7bzP3DYeaPlE0b/ZzmZo8OjgZjIi
ENg1V5B1fyyr157Lil5Hrs7iqW/79nk2gMb7VZuJANRlf7DeHZfOjSd7BxhPXrSFWaZObMOnbDk+
KqOvs6EcntMxS/5uQYO9rQWiLwfRwI5Bqa4iBX7BBoGUvz1EhhvHuiHEEg7mXH+N64wKdxxX15QJ
caFCCnpg7/5SSoojDSUiF3ql2xkcuU09jqa7Grp2Gr9RKncAyWZE6DIkdneui3n8unSO/vXxMbo/
vwQ7coieQ9xD51J6/Bfhhzn0hpvUbOsA1iiQhS0G0yvV96RqqzewS35UtQSeWcpBQ/D+iuIL6DKx
uXxO0s9bu0ZOULe0vJi61Xmf8j6nQZunxXOaF8nBFd3Z2BtTmysaz4OZ5TXewHOzEiwb6pVFbLkf
1NaYzmvUNIFmrP1BBLK7PhBGKrRtKTS2QYVAYjFE0vA1tdrMfgd/Xf50LN6TKSm9g5txb4p8Eicn
9eIgNW+j56mxY6vvljYciPuChULRu1VPPpuNo7zarwKN4LiA7+Yaglm+/WgoaaR2164tr1VbBCWK
nee6c03fSRXl8+NzeR9pSBQGvoY7L/UtNq9FkyKVCIENU44+XJtp7H3FacuzNoNAaTiP/lIxNA8F
HVjwy+sHsKJBpJpo2VL5AQEDLe92qdNQrjWip12orqm49tVsf09Gx/ApFmnva72vAoKk7qkqmuET
j+h67mFUnkbgBkUQz3Q8DrzD3kcG4a7JuFYiujfeyEXwuY1QTg/LZp1QbinVbzRH6Hpp7tGwtvv7
4mq8m6S0OAVKppuja492VBprVIWxZVQBApc/J7vxnrOx78J6NNbPydIfKa3duyFpk8hSxq8yvrzd
brVwIlEQ3IW5EsVyPLTu28q4vFvyYjilckKgWBb97HXJ0aTZezePIAby+3xtOG40cG8tr8Ab47LS
67AuEovIVdOuTebOF2VgRuJKoPTp8cHe213SS3w9IYOEuN7aK7IqqnvNrEOrnNwwVZ08QCIsDd21
M5+yNv+NauZRy31vjRQVYZlLqUwc763NnKCdkE+tw6ie9SBzRALOKOEyqXMWxLVrv9r5cXNe2Nv4
iclyOq9OtTqczSb1ddE47+qlry6q29gHscnu0ihyMbuBh5Pc4HZptZJ3TdRNdWgKc/QRA6WIUDXK
hxzVDN9rvNdX8Fga6Q9ivQQikIZu7S11VyTkKGzlnMdPbl7/M+Y104lbJCvbwfIOdnLvXvxCFTAi
grh563E73W6N3B2qEAE063tMxz/wnDQ91cwEO3VCc95ZXZsHeWaUB6+KXMhtqkWTDu1+FoPwG62F
24WaEJ6LAuJOmERJ9wGS+vLWLsf8oMp0BzDAz74wAyLk1kzcNMaiLVYV0tZPUXnu45Nhtt1bN4o/
RYwsfk6cMgkT8NFBG8POSjJ225yG6S3z5XrC+tk84CrunSj6Q4R+cImQ3N984dZtyLV7B+X5dZlC
kfUiXDuGnKtinc5u0h/VLHfteYQIMKRlqXRzgrvBZsQpfJyw1d38Z6mOzu+Nrk9qMC5dmftJWo9/
P3ZB+xZJWnjBZWFx44LsrOtJ0/m0s+hMv6W2Fw5pJM6aucSg0N0jXvvO24XakCXLauiHkObefuN+
MYH+2mYVaqWrnxiO7Abu6lXXphH9wXna866yTMpjQrMIJeRbU+5QzyiSuHw8N/HemdMynURVO1+i
rpzeogOGz1sGwG+PN3THKgJctKVQXJWqTpsNHSlGOvNo1CHqud21nkflqRz7OKgJ+IOhtrUgo1t1
YFRewM0FlYIW6Bf+6lBtFSAzgLnZ6hUi7DVnpKJhRu/yyvxpjcZwYrzK9JxYevxrgM2bbtKKg1uy
s2QUnSg48ZqQ0W9VLjtkidbJQNNMm6IhqASUgcmLEUrXx/yrY7dakJr60QDIO44XrzRyRKTchtS2
vdvoqqKyZhuNewIj3NghnRQo/r0YrR/ExuY17o1oCUtGyn0oZyDDb5asj3736jhtTrOtKAdvz3YP
5K+R3hGdKSCAAH9uD9ti0u4sc92VsyeXa9YNQ7i2Igutvu3op6FuGtXlESNr65cxSuzNpFQqN0AC
tjoiqMQqVpIX0clJkuo7u139trSH9PDt4fplBQASiF1KqHcgPS3yqIGNZYQSTmm81RXF/KP0vO4U
GfFwZWRZce6MxvL7NK3fVKN74KC2DkNap6Ipa8SmFCCQG/8iKTWGwWJkvOmd4qFZ3yaV8WzE6vjc
TBSrH9/cPUtERNRtACJILsytpbmtjQl1CvfUkPVMvlVRkvJdV4g/1GqtDuAcu8bA4kgK9S9+08aY
8KxpXXWQ7daad4EZ2W0w0RnNAkNfl6+PV7Z3TiQJ9/+Nbd7vzluHRRlAlLd90wB5dtuLA0zm8h+s
yGyQ5ghh0balUNmLoUWjRNxCqjnraWc9JW7vfH5sZXfjAITQoead4PzfbpwzNcxdBTd/Qu+w/BRN
8TfwcMN5YVLvwXruSl3y6EmVTLA9JKB3rSgkLxw9awy4q6BUKYgaxZ/CrLyAR2R407SJFogINW3k
abuL0Y7uRwKl16LXf/2GX3gOsE3UTDcRwdSIMnU78PkIR6bPs55rvqoJ+4rg9XLSYmV9VnpzOng5
t0EBRom+4HoAYMelb2nUvZ2ZiZpmODO7GU6l2nZTkFV40ijS24tCSnvwUfcMEkLL5iKFU6Qabj8q
jJYozZF/ogMdQXUSsErZbv3krrbyrGWHs0h3DhHWgFGhCEqotRVpGOOiyQbTQ0y41+onpynH58Rc
7LND1H6wl7umeKGo/uBamMh5u7QqGguvmlz3FOlTddKMRvUF5eizMCH4vfpqUA+VQt6SYgZU89ZU
N9tkAcXIqjIxXZMm/tFABvikdSRCjy3tPAlwmlHXQVYK2aBtkNNnyqgxEwYdgbawPy2j3v5GPziF
x2ZVX0lj7TdVtMaBGk8RNe8pPjC/48+YNM2tpF2CGt0WVKWPcZpWGkgnsUTZVyNfujeTmx9FcntW
6LFT++B1pd668TQJ84qcecafeSW0ZmEq3h967jUHD8He0QeGxn2DziuRRbcfrbEr22rRZDn17VR+
6dsyuaZxNgZmN7hPGm274PWfDgSo7FBAp0a/49bewNBRZ7VouhbdOFxK125+CqvRP6ICryc+oOf8
bI9u9S6yB/Fb5XTx0SiWuzRPehcpkilprly+uzJzOnk2RV7vBPNejc+T1UZBJIbiB7By9VubNNU5
0+KpO/WNbc4Muen6kAGI3hdauSVy2V7qfE+9eDw4VHsX1SGtZpiAzIXu9BEimnt9tXoIv67GGe7M
4rtGZF0F3cCDi7oTLHJ1wMQyNY4+3xY2asaqm6FL4Z1WgeQAXq7xPi3J4Gq+FVvD+ybrjHAQ1vzj
8aff3XmgTmCcZdsfNMftt8fHGm4H1/pU1En6LRN68oRyVfMBmnr83HZqvvjGrMv56Y0a+7FqVd/S
ngnuIP7HldKuOtQ/VKuMjvAzO/vBRaOgCTaIl2db2ShisxiGSHgnt9Vqv2ffntYOg8lCkbPR+jr1
Wya9nh9vx84Hxy8zdUQWN2UF53Y3rEbkcU4n/wSZciVTMBBlt6yR4cLzenpsasdfUjgB2WEzO4bz
L3/KiyB2skCqayXv25QqbcjobTAPdtfAqc77oCdFuNpF9c0UZRGWK4KWj63vODKOGexJ/BhJ6bZ7
Vcddn9le4p0AKxpPLXPdyROn5MCx7G0ngz3R+JD6MuQEt2s0R3s1opw3Fcb8X5VVxd9izuAbRqce
kaB2XCZgKwkRlEK4BGm3lkQq4rkq2cMR1FpQCzRsaiRWA2ft5HxvkT093r89e/DjebxJM2Ghbt5V
NRVlqxqdB06lL6Go51+7LhYXRdRV0BTFURv5V3fvZTbPAWEErOz+odVP0Wmzvm6Mcz5S652GCqJt
mqQjusxOFwhdb56XTlmfEuGOfsuISV+O/vVTlHPfFQbH1ps6+2mw7J+o7OnBbFNAZx7fdLAhe58a
9+Fwd/gC9GRuP4A+gEv1vMKDUpkaHOfY/tSWZuEDWozCx3t/ZGqzFwWvZldWmJoKtbxmmlPSsDPS
j5YOe/yxqZ1rQpxPuAtlkF7v1gslcTJkE4IfJ2Hm8cVcK9q9q1IfXJOdw0R+hHwkqgPodW2FNGLg
vn3D0FCkXhW+a7W6se/EnRY25gRnqXftfx8va1s2lu4G7MOvYpsKDGKT/NF1XSPbRrUqYvruN82l
FuVExTulSZffF0p/79FY6P1qTYuDle58OiI0Sny/0DlQijanpLZL3ZssVirHGLhIHPgejfT3ZizK
gwrU7hql4hIG5dBAuekv/GuyLJRN9Tg6jWjt/AP5Ar21RFErgZS0yH5frFh/77RKdG1F354f7+/u
MhkyLGlxIEy2RBc58MZwkAYhwM/072IBY7S4VlT4Xj0ekYj2bOH3JPACAWRwvLfrrDPHWOzZxjO4
pe4zHdV9zvL82V2hNr1+VRRdZBZIP5lQ7dYS0xlm8swmQggtFUpIqQdY4jCW9RAk+ZguB0/UXq4N
4EEOC0HoRwo33dpTrZThxG4SnaaxplTplVb/h61nA1PAXNVX1hw6T2R/X3tRMKClNIOq6pqDA7vj
APgNEm4BPV0W4W9/QxLFJiSwijUzR+c35J/FN9G1R93bnWCHyj6tYQp3v3h9t1Z4OJXarh2KdmOp
ZqFbJjWsOkuqdWsnE00h66xonfbaWam4AQomnFHKGUScW9lFVa/zPDXV6LRqrfWHpU7212yKv776
1NwY2XxFL0uqtdEwMhtdBN2Ey6bXSXwuxTT9+9jUnSbU/xYk+bXItyN9uHEveVdGuWMM0q/F5d+D
0xffdD1f/9IUO31elDm/iMnIvsd6NgcA65rkuXPbuvR7FQj8OC710fGRi9s824QI1Ewo/4IE37Y2
lCkxBnPVotOQaNmFwu18ZmSeHMMUCb8QRxoqe+dISoqRncr+/DZfcRdttJgwgDk9TqLcbyEaDT7F
sXW80idzP84jNar3ACe6owhlxw0B2yNk56ZQr7nrIVfm7MHPUE5uZAJHQvn+SyoKwQitfDFfH2v8
6o6jIC7RJtt6n6I4xTQZPbPbC60OulyoFIFTEU5amV4fH6m9Dygb8f9vanP/NSj1bt1NyimpSuNU
zN5wRpl0PHvK0AcV6dmBvb1tZAagRJcgiQHq8NYTaJ6IJmEtyklTh/kk0PiA7LIu70ttsL8/Xtpe
6ierXTQJ5Fy5O2j56CRxr+l8ssWrl79WA3FQ31DbvwaBNPGs2/oXmbGj6VskPnoZzhWpE9MXKqDY
jgIS5UdTnB7/pr3tljhXSnAG7NTtLHEj6pXCUVTl1DkezC0Ih+MHwbA2v0LW4Qpbd3jtqHbpMhwJ
5SHRJNXf4juWohGKutQKdfC8J4h2GLc1jE3INKz3q2eV/8EbUuhAd4jaLYWkzfdNh4g+gpax525V
PmXlwDwZF9pLKsdhP97LvaPkQO7hUgIevut1Eo3n+ZThDOGKR9+KrP4d3Ip31pz4vxxaoJdwImi+
EWpt3K7mZWuZ2rNyWmfd+X0Zk0+t2U6nNNWPOMvyv7T1p4AqwNADBgJyKtf8IqhbnCRvFo/zkc96
d2pys/MjZT7aub1TSAUYRhIb597px5NdrhR4uISmvbQXt5um30AFRr5S9Pk5zuFJP/5Su6uiFAzz
Aqyws03GFdUZlkmKMw55rZ5mJxOfhiUDh/7YzP2BIIcBRACSCQ7XXUlFXdEnrJQsDq3Ern8rWnDD
QVMt9ac8WZvuIHDaMUbABP+J14j/256JuddnpnDWcbhq5RoYveddVCbYBaOjTweRvow7bw8FomRM
XwCTIaXdtxiRBpUBiBcmd2oynB+Q1uJL1Uxq5zNGcrgmwHefNGENlr9apjf7kbFMB7f6/gPyCyRn
BurKLzLb7bFk5ImeTMLDa89T8WbuS+05qxDNf/z97o+ltCKZtZLSTrPr1oox9kuXtUUM5CYuA01J
yz8QEi2yMBGN8lXRqlQ/Pba4+xEJSdE+llCQbY0qWhrGMuV9TAWq9a7ZmkZIQAgzTGhtvPpNZ3Ev
TG0WNyzxVHtmG4dtnRen3qr6t01ExqTHdvT58ap2v5aNZD2HRieQ2NQPGDGgu1kyxGE3u8yh1rru
ixp7R9q6e3tHQ0n6elkP2dKZBmF6lZ0g7lqnrXdJrObvuIzHc+owH/rxenYt4TkA3xNk3mEt2shY
DWOOYmiaaXy1tUj9XDVpWftqWk//wRYAf8nE5dXkDbs9g5qbZurcK8pJ2OpwSsDSPXVLN4c2gL5X
d8kQVJH5Jt8IFYCtAKRZGk2yKH0iqyDl0xob8VOrCcZNWfMRVmbvRPAgg+X9VZvYDoBR7SnW6kFP
Qpiofdh3syb168T58XfatUJFW5b4wUlv2ae126euk7RJGHl2zxi5SbzLW3c9sCIvysYbSuAohWUq
y5IbevuFxtlLJnr6aUiDP37bM1DnbCiTE4qyLC7gkOyPr14V1A/qV7T9YF9soblZNFZ2lNgJRyC3
n/QqG74kQ3Xkie4zG8lGYpoF5DkJ3dqUF01FiYXRemlYa5ERDK0xBjYwYSj2mfJRz+I0TAmdDx6W
na28MbpxFHFeinhMnDS027oGTlCNH6uuG65daojYd5u5P6BA7pwQ1JShWvCU0YHezu0YJr2j7YJH
L7vOCPiU3hUpx6NxRzuFFSm0J8d2IETHkd8ckayWShMobocK4kzIhuXozDttFNZ4ksDOFP06VlV8
Qa4qfdN6JsQWPZ/Cx8dmx2nB9ybvcFBZlbNNb4+p97/ReHEOgrKeAtT+7LPbK9EF3Wbv99ebIrXG
D/M2g2DYfMaio+sGJSALI7Vsr82spP6qNWvQta578ETLYtvm8slxXZQ4IZbSMJT//EV8Co9PL+uk
YGDG6C7PDs/mJwaQ5Jeel/SDUGXdYayLlO0uEUx4vMyd04pt8ED8j6FH26+KVK6jxVaZh0qs2KGx
zrWPnrwWGIIHXG+mIwnQvS/40p68si/WKuKoXCwTe3CEu8DNpjpwY7N9ow9GcZAV79x+ijoSeQKa
kVBOvzXlTmWvFoaXhfqaqH/NJX392SyyTyI1ncovKAD+SWZXXh5v6O4CSQ7pBuJ17nizA5feylDb
CIUFXJJ/r3gCI6I9e2JIDha4Zwr/KWWKaDSTQt0uUO1kIiI8vt2UTqcoztLvutKKS4vY8oGpvb0k
7oFoTU0caJb0QS8+W92WRdvRZAyZ8IBcmSvqc6wyCiVZRvPDOuX1xYafcBBy7Z3Nl0bl+l8YdXrL
UBgFwr1w1ObZ7mMtaNKifq6HIX12x/61ujfcdAnhkbkUnHnY+rf2zAQVnzxKihBu3ruynHjPh+RC
6GVfImjJQe25RzHE3r7yPtFFl28GmdytyVFfVFt4U8oA75TZGcAhdYa4WtEJ6rWV+DUu6JK27utb
rMgyQ/sBPyFn9WxvvZ2rseLpSxr2VTeEY8sIB8Vz+rf9YP18/XUAdynpgFKheTshWslqoIiRmoYw
5a2nDNnqIJ2NIWhqpfsPNw9Be7BfIELuYZf6ELWjI7o0LNo0/mDFVXEFPr48LaNx1PG/f3LJHUGS
Eo9J2JK9+WxD5tIKX50sBINWfQTtWr81e3E01vf+/LNrBiU98HOmhFncHg4kJcZokJwpg3m38P+H
s+0OMNFr9YdYUuP0+EvJIPz2FaJPjG466Qd1Z1S7b6112lohhA/42qmS8iLWwj03sfLBGnLhO8k4
PXVeXyCb10cXw5yP+jb3FwEQGLV3hAElr3JbhE+GqRy0GTJYHkUW+n3j8szkifqL6Q09QsKiAyzp
tZ8eL/negSJDqVPuApKM2NW2P+7mmWNWrteFpD9jkOddd2FEshIwSe61499ps8H/IAHCHpD+rabW
HHnJqHhjGcKDZERsNsSIh8dd5dW+bjvZAYj8PqLA2i/6hxQBwF9vvqWHI7PbHEnNyBDPE2iz04qc
Q6A7YIVKt/pcRoZxBZ/y9HhD9+yCd5YzAOC9MZfr1m7VQt/sdcAnRlY670a1yD5MNkOQ4kn5kpR6
f6kyhOn1haP82PDOlwRwJeku6GrRw9kYTtV2HdnYIozbdrpqY75edWcYMmDXhXo0i2V3lS5FFbiT
qLNvVd96Yxb20M1F2EGVoFUxaJ3vdKV6zoflQy4m8bXyyiXIR/sI8ra3TNok/5ubwkO1+a7mPOqU
3pU8bCyVeLAcjYuI1vlatWp5cIR2TcHFgAuC/+KK3H5KhgHiRdNO7qhr0AaDLmYpbfzBFE11cA33
9hNMEdxf0JHAC7aeR2RekSl1EeYu9EiYg92lUcYaQrCufR+NRr8sujWcYIEczWgn3bx3PDz6kgNL
lYxYaitR3I1TF+fRzKACJgmNhk/uocX+1DBFzu8SrUSfLVKjJIiMecEJcRrEaYhFbZ6UOdNPMUOw
Zt/o19n2RaaILxq9iAjZZkPU/jRN5rUEMC/QdxdF4zuQd/5tFd7fsFrM+MfiQCsKHG/2Sr+rPSFg
qTKRxG9Mp2cEKdMsp2BJF14WvUxS7KTJPD3BX6ga4sve+HMsclFe5zFyp5PeD0YfDA3/JoZyZGWT
EnCyP7VN/qRaedkFZRPrv/8fc+e1HLeSpetX6eh77IE3J6b7AigUi56SKHuDkCgqE95kwj79+Upt
RiyyxbPn6kRM9MQOUoRbmbnMb3KKp2GntVxvkJEQxdkoRuOLt3rRofFFqWJryfPwTPDUqT3mkOR0
u4x2QidKqtQ97i27CLfNXWcUCj6kGiyQQrzCc1O1oo4RN0EHcY6QSYkVQmHXKpfujwKh1SFpkIN+
DOa1KM/LutW3mStmd+e6q3Mf1EVhnhtAZ4B3TFR68drSrjzL1rB6NwkLwcMlMPPLLcwtd+/ahnoA
TlUee3+6uhgLHbiXXR/mMp5tf5qTzDWm87JzeusmXH3zqvTN2bmUyyY+UADYb6Ytn782dV59Rph6
+ApopgNGk1cDJi2Wd40tpGfTy2/tz60y6ivMqt27ppHqu2WAIkjMvGou1yrj4DAH6gtlmestx8zQ
nY1jL++KvjRE7Kg6+tYBxjR3rs79Kpnsqe53U484dWyigiDjrR6Mh96gBRJPmRrWywgJgy4xRtO+
0w44osO2ZdWc6Gp0gnRxgoaWPw6aOBa4CxA/hUZQGKOYoz9YUmU31lrqfDd0rv5USGM54lzLQCTh
MlXXPcXJo12Q+sV5BxvgMAHl/GaOsyyTvl0c59oeRYG7lqgQ6PTCshl3Vt7WH6chytpkjbYJeKfQ
3Q7tgfZ8chrfxWIsg5DbbWPzvpoEAlqqzxadZLrnW4iqx5cMkIT76JKRgQ+CMzzE/iiWj37Wl9lF
zcUe4Ms4dYIFBKAiCmRSAFA267cZGafLsun978hocXSVUbZ1aV2jJpiWqCOVqROM7Z2KHCOIlRkN
Zix8LfeKvnYQF5k3/rBpc36XZjRfzF5WVmemsdn3OqiFnRht4yveSWaSjmKctidyUZEpXJGvSdBV
kUDj3sjVXshpGXZzXVv5fjWnpkVa2C7rBCmzdn2z5cXmp9Us/BpZr9a/Gqp5DGO6T+ZXMZsNE3Wg
tOezY5ecfV1ZPkw9hpzxWtfGpXQm8Q1Fl/Wdp20aKW6xrFZS0cu/UoqhfwJTN3cfzCCPgru1ROWv
o+k+7dyg11D23W7pky3bnKLZLWXbyf0K+lryNaizk0ZMwF3G0cccGlBM9NntDMt9k9mLg9OH0iAC
Yx3Mc3U+2VaHTp+heqljWCne13rUCL90gV+1P4AHAeMdELQw046E/na0itFsMPCQmZtwE1l7IRB4
LuM80HK+EaW1TTEImPkqGErDRUq5BU44G8NQfPIMF0jFYjXNnAyBEZyjnzNM8WiZSiUBC0rdT4vr
rGftIMYyno3Ne8TcU1yjvOdLBxFna70TJXlP0s+KNRZ28yLIUau6/BpBHhtidKPH4lZjeBEOcdsH
0npbhtT/yeYX+ftutIwoDtx8KvHzsyawDigIoVvUGTNgSLXodidF5ThxuMo1P4ucafzoeSLz46AU
oX1YNoO0jYM+kPt6zRdrv22oaOxXdO3tqxW9nvpx2iyRvXMG2ai3bda67zag6Bg4RK5ubzxw0vm1
DtHE/F4ZmdVcImQQyZvAXCr7E8J1dngdTl1p7WirGW+7TnYVG4JwfUCcyqkSx19sJ3HXssjPFEj7
x6gKxitvLmd96C32mH3QoRV7iIK2J5fPR9kjSdW3W9L4hc9HzA2Fg4U/6zNHZnOx98oOpYk6C8ZH
aeWmcz37df1jyVtvg0rj6z4ps2a0r4t6q953xqKzC1/Aad51fh6+DUbTqlOGZ/Wwx3Ww/eGPQeMD
tpLre0x2pyoZyQDzK6nzxd9H3I+z28YIizl3tTpxYfrZFMZL1Rv5oTJcZPXHEGUepJWUunTc3BNf
Vz21xW5ovG3buVXVdbGpVWm/VX3eyDsCsC8TXzuV0Se1SbjdBKRfiMvnAZSSaq3s6MzvSr+Pi8F1
NPxkEQRvATIYZp/4aqzxc9a5sewmFF8RG1PlsKp9xcP0150SoF/NfCx1naBXMTtxPoz+JT3SqT5E
0xZE+9ysV7ZNYxlpnWWY6LlpKPpcf8+dTXzWjleoRDR9GKTt6Dnvq8Cch6tC2GEOvA+PpnfAuf1i
17g+ljDIFY8OXIXQluO2IEsUqY2UJJQcoddT0NUGtAJMtiOB6J5coh+WU0nztqosc/pogWKSaVFt
cK8X5oues/cxrQ73g/Ln6ghE9YcUCVbEMJQWoCn2c22t/SdTIORpxBLwUbk3lDEh3dW4+Muf6aIo
u9gFW188kimiccrhvM3fejzz+jOmz7O+9w1zWBPV9ZJdEWlQazcHTQsiXm4lB52zjhFL3mqdfRGO
QQ8sbxi6uAV7NcfBFnTmlygPizY+6lI5qIgvXURzEDp5wu7VzLEInaVLFnwPVLJgKRUkpl2yA2gT
261j30SvV1BekOJZp0zejpNfr6kcs1Ve20vXXg5GVRW7fOirKysqjfpQo+FtJtZciW9TwTdEzi0s
K3D0QKCSIu9teiOVHqMYsKe37uRYR8uFdtnk4s0W85Ys1aI+rUiX3E7NGoGOHoIlS8YmH804g690
vohjaqPKXLO5Tbb+OE4yGrEN8YUTF4teb5tJewYVp2mLZGVL/RDNAxZM+OdUt6ibs+XWIKLkzmIr
KGNvdO38Ljc19YzllnUdl0Ln0Q46xOj17GHadpPBtbd6r/G7LnfamBt7v2YVFXSJVli1c5x1vVVL
MziJRQ8tj1vpLy6i5rqaEhrNvk0wbpO4EdBi5HdVF3qpknbKSvDptOKaxKtCsmCrQEMzZkGExb5q
F2+96kJPuefKlY59qJolXw6esnR3JoxMc+9gSeoVi4yhjvz7vlv9viTvGVUWAUjvAxG7hddE173b
Vvq6K6Q7cm8dNNbYDrbVDePVDYz+Ezlq330M+q7NbrM6EuyBJsn7jM2pV47d5TTbG/1re9H6YGV+
fSPAaohd0JdSn7tZqMSw43+M/HGQovZodzdq2k1IRzapb5QD36UIScnYHGo3FoPFxBzxD5XHa4Rh
eLxMY9ge6MZ0xg6NfWd+i2Gy+97ir21nG2AMES+GPQxpzTro9ra5hl/xb+yy2NIgNQ+9EngRUD/m
KnUiUsfL2Y3UfbDR20zdYA5gzDQCh4PCU3q47XRlmPHiBz+R+RrPmYANQsZF5Sl2IgN17usllwbS
gxwt084asvzBW4JwZb0U3hd7zrw+mYNIvFHkJPYO2IV7MHwT1bG1iionoaaRGncRK7NxMnPVFfGX
Gcxwis6JI6YSt8qJ2uWsUfysCaVb7krw0T/wQMGmsmM4+jZ35+Wznuvipq8cesN5CUf+quwql/yj
z4RHE3Me+4M0lYA40sJAtTOZTTvfKh2Zoj7mVmnUTdZ7r5TBEGt37dE8mKrmFksO+KJG5Q5RAlnB
vusX2AwxrKpIn1F39d+3TdeX0RiG3WGpq/kTaoDRdbFGGOeME3h1sgeLf+FP0aoOeRnsVekYt43b
jGzB0gnPRyxHv5eYtjZvwnm0bwlMZ6B0EMY7AA4Bvlx1VV6Accjeu7VRq7iknniblZkgoc+H9p7H
cuVlIBvBZfLQvF2MNbKSxrD0deQvpk3Cq7bs0m8X96MyyWJ5lGzVh2L1W2enHA9RDkq27SPOGKx4
JxpX94wyYMjO+7Cvgnip+T67sM2G22LthyAux0KgjtBOvG2Ts+7SnG3zoXFFyTmL7uI3vLfs70Yr
EH9cdVRcL7rnZAvHyczjamL7SVkK7qei6nWT9pDgsbzXnlcledQi7r7mxXjGotNbbIncOg8H+9g6
mkOBsJlTqSRazMlOHFePQVo6k3XV5sQo8tpeVseFqrY6oRObNYdodt0GTQEUslPPLowL6glD7P12
8B/kaADs2aahzimit6rkhOk4QzanidQNmdjYxKJRnrVXnABw6Zk8POq1XTATnBA8Oiu9Mvumt7Gg
VhgLx0vB5vt+3NpgkxyKWwGrR9pDHK2Gv75zVGiRbyKqcdnZir8NzM2s0DhuGj8pt7U628ZsXuIm
r53i7ThZ5gO+i/6YiD4om33tLaz/gfq5YP3mvuJc8K2HMogqsWs9iyS/zPzGoor3gE+0NCuXRPuV
jamqG0ZlbEGUm2O5NJObVC3IYjpGE51Vf54BoxuNC+WmV/7XSY7DknJsC8XBXPVWbEVm7561hWeX
abP0xZSOXoDOSd7qKDGaKVv5wPRWDrLw2yK2hmEME98VcrhZsqq7qdHB0jGaOFF4nVHuHqaqdj6C
wsrGuJ1Vq3BOiZx3hQTPTIsn33ayOp4NzmhjVWqaA2m9XdAMS5YxGN/6roLeOfrSLS6anqliDMnb
vcd4Ua0H1RXRx4388aoYhPUFs4emutpyVMY4U7e+S+amct7YDe7od0Xjd18L16ia/UZW+7hsHMZJ
xS3+aCHPsJOsW3A914yZYrJEnR9Wux0rKtut1kk3ALymVPM8Eghv2K49EWxEae6StjSb/6Vrlklc
VKrBrtGfQ3dKINZ5jMlcrw4QcVoUsYrPN+eYr6roZmzmNaCRQ6PlFq3WcozhFqg3tqizbT+bS/tY
l8s6JaG3RKRUS+bRDbJc+e1YlnDCsW3Pe2re6TungZWjbtjk6MlVI2/FD5d87/ULJuLLOm+7WrRG
dOlqad+CebbeNV1kysSc1vGcWaakdAqC4k3jeusUdzaaZbGPSLQbh16l3luZm3+zncF91IuOmEpn
XXu2aATHEuo26nGXEthjHUb9RRluk4p1EyKfmbddlbGpW+sjB0DYJuUwzl+c1jQqPsAoGPfqMryt
j0KSAKhk/dC6s57P3DpS/Y53iv2JL3z7bba1thUvy+bUsdEi8n7mVCQEMe94+NqZRTPGxeSPSwwi
o70PwlZfeTAE2rghHG6Htqg+5uiuPebSyw6ks8aMHG1dkIAo/7yct/7TPMEMibs+olPQOH1NpxzH
U2a2gTZqssbSutB5lednTm0LumoDze0YE8cFzaxIsNcV8zDn5z4u5V3CRKiXaatNygGzbu0bXQcr
7j5ynAYe3LUOvIxG4NXjuF3K35jeYV3H8K2onb7ciXVuCf1IDgu5gO6+0XUJTBISsbwtyOAbPISQ
IoqL2Te/ewy1RSy7ogqhKFXqWw0FzI+7YaBwXYYlvBmGoUU4ti6sd45hWl+iSs5WsujBftBV1L4p
iPot8Xp7ughX0QWJoUlDzv0R+WG6kl57gSFdFCZGod29XCluMXc1gzkurXDx06DLZoMsba5Xdqgu
/4RcT/Wxj6zykypM+g/KXIW311k3f1OTbN9GRUvnUkW+snde5/mfM7lUvDQ6ThsjZcf8lrulczUD
fpsTUxp4Ym3BJL6Hc0tSOFJAsRnYnvnZd2RHM0tMgvxp7tWVj1abQbVeblc2vFiZTNEGGsuOWv/e
UoV7bpdT+anxUOBKpfL8R3KuldVo9P47FSBDuJPmWn6keVt8sypvHaF/tdNXC1qrTW9hIxHy8Z2X
8DBGsF04lrffVgtcdqx1tHwAtsk2gRCLT5RiGmSnomstUqispoDr1DKd1RmeuUj0ee6hD3JhxlXZ
rjRGwtGQuzIbjts2nrm3fWUtgoaZFz4sslePE1QwFTdhiMmLo2mTJwGyRG9hrQZVsqq+fzAVW29K
WHmPK3vzB8Dh7YfcUzYtiNwjjciMll20qvpuSIK8NOZ0cyysotqg4K7LQZkhnQjmdIgHRpOxWyK/
P56HYXfeTTNbwTw6+W1kCIQr/UDPu3JCJjKZ3JyTaKYqerQ0mRQ0zsY7r8caf19qHfeDLoDs3Hgl
1WHCqa0DloeukUvXslpQakWO8tzM88W+a9yAGNom3CUTOc/eLQNPhKecUebhYaDPS4nX+q68cOg0
VqmWRXXROcs07WvT0FFs1aa3JKM/dVYSYoLBzGJx/Sm2lR98BXYx0AtZJou8k3tCMp7m8llUWLOT
CCYaqOaUsryscEMzrp2CUn83OZHRxaF2aN5EwnPBOZSORWo+hS3dcFX07+bJLPPd2LqLjnUdjfKW
rr34om2kuSHOlPpO156l4UY0/m3ddJU4rzjq37atnOAoSCqAFC57O8YK2pqCvr6QszZW6w4JXgHW
mVZjUaX9OtXvBh1Qr45LQEafkXoMYHT86LpF7hrxUK3nGxh8NIsiCMZbbI8+h5tXeUCnSsPZyrhW
c9/FFi3Hd3YzG/IQqaL4TFJEMWhkXYB6eERnBkpnrd75Rpa7h0F67YeiK9pz0Tjt5zx0s/fjusz+
sZOMHrxmNhEmc0GBk2xKeRdBU3ZTUouewViEUHYbL+Rr9dlSe+Fy3tK4+4w9kvtGGEGZJz2HfxQL
doFqZ86WNeIgnY3XwlkCRK/oxVgxUiM03JrQMz4vVBu3cvP0fT+t5V1bduRaTdiG9ywwPlcXZuVl
O2cU+5zUof3WjAwjPy9t4YDP1V1zLDP8id8xpkslmLmsVoVKg9IuJaJLTVFMJHWrR5G5y8IJ2B6+
wF2RMCvyzlwx2Xg7NaXbclj67Rv2keaubaql4HyAQbUbMs9KHa9vHNpak3VNNjexqGBUeeHV0NEy
vRoo4ZACRMnr4M3L9MabrfXL2Iw6v4i0YkMUo7IPqvZlkMxHx5Okzbzw0eg961aw6bCYO6HLtAqW
6D36OhZt2bwJPq9ZD9JwjnRIqGVj8K5UQ1NgPuFDzmvqoQviPEKmJg4xUpNn+WyP1t4MaQ9wzvUC
1GVT1RntPU+UsTMEozpmteFZ1dLN2y1Fb92Prlu998To3uBCu2KoNaCYnbRiWc/AJrjMopym6BAB
NSIEtSIpPw16zNQBPKzADCeqHtYcUkTcb2BL6eAHZr0Ph6wyU7+JvNtGjywTuRQMcnzhLvQ5ST3N
3eTL7k3AaOyHa/dTgfAwKRF7PG3XOBQ14IRqE963ytXFN/zrwDtu6OMcBNaN5VXbjBSeNocBlYwf
LBd04hDYHkSg8jeNc2S4ec3QvoI0fQ6iAAx8BFEwWwTgeurcnZn90KPkzUh6dEnCImnuO1NZeEpK
774Qann/+0n0CzhJLuji2xAe1TWRHHs6OFWVRm8A9w38M5v1xsnUkpSKTVQozLQyq6S7Ro1xXldq
3kljivZjXbymqfyTzHYC5sBVCQYhgPWj3toJQIVg11D7ZQ26OxsuGU86/rGZ5NwoWczTDj11kkop
UMeOp01yFCnNQbCj7LJvUVOhY/v7t/IcMMOUFVQV/mV0COHmPn0p2rbaWvZ4fMKtbq4o6dv73qnz
V6C3L8ys4W6jQHkkkaAnffrqV1cxJ9nq1BRIyDG6nNkBfO9SNJs8+7MPBPwHhr8LQoeE+DSsJBPS
vhJRk0bVFMWj7OZLph7mK0P458Np/GWjEG0CEDlYLh6D+xcEXFvz4cKl5oHUwCZQB9Vju/XDvZf5
cFE3/OwGo1/e/f7RXnqLDDw8C6Tv0YPg+PNfLkp/egY8FdbpJvs5acPFObhRm+2VbJtXYIUvLhYw
d0cSOvCNZywEAyO0DQh9k7pSfOjGdjpzpkklTPaaKww4soONUOIesUv1oXW2Iakqu31NSfR5bBKU
v9zDSWwK2xDOrCOed0E4iMyqaq6kUdl/HuVw9GBHpRm0AQIqp2jNACvkld5IyrX8mIJgFLGX0SPX
2+R+YzpDalCUk/wMsuY17eSXNkHe8FG6D8dnFGifflJokRs7UtGkTeWOV3nQg6Rc5QC2ABk/bTBR
/n0IvXg9NHh80NNoq9hHxMcvIZR3EPONakB+1qzWlNY9YG2j9PeTx3RuPOrx/v56L7BS+YYe4Avg
KgGb7/Eb/3JBOJrCXL2qSbO66uR5uXKlpLW97Gqd/eJmWBz9VinmdQ2mNhg2z4yRndLY/Nh2pzAV
be1d1GNpf/z9fb0YWsiaoeeJCrn/E3zyy22NjefkGQKTKc7K5RdjhFVuoPEc//4qL75t3LXBcAOf
oT5/+vByXDTVoA22bKMfkEdGe1taM6NqKr5rbNtfQ4++sCth8cJOi8ITHeNTaLz0+96bKA9S3FCj
c3sc9Z45p0cbDeSXmWnvzRYM7fRnn/JoeICsH2I9CCjbpxqlW19aLnlrk6qmyx4Dryg/QItabzpr
2c5XF0ruK2fW883p5xWhVWODBDzwlDcq6yUa8lW2aeDpAgVez713q4heWrgFSQ7SO2kqwntdNX08
KwBTUYOK+f23fYaNOt4DUqk+GFrQkafAaz1MblGsBoFtBj46Vlt4UbpHrttEA76phL0PzS5Mir4a
/6yeHFeGmcMrR+SBGziJKuZqjs4KhSg5dtuHUfciBZmi4m6dMYWa3Ne0wZ9F8fF6ULbwo2efepY3
cYSuYt3qFtMbu/gaSr+rdgEl1bcNodU+sbfhNTuNZ3HMFY/k46M3CqiuU52FpY6YCoL1hlo1YUQX
+Op2kqBVcvx3LsE6BDcAKoJXtoRnp+vxooDhA0SZQNueGnHn49SEKMG16diFTRxFG+xIRpmgBavX
cpSXnu94fnOVI4Dhudq6YbuMTZo0D8yqjz2j7usDmmFWGDubqc8oHcovDS/37Pcx+3NhPMk+eUa0
hAHSs1DRDDoJnXYCWQI+qEsNmGNvNSUt/bEIK/CqmB0U0hCq/UDfr0j7ToQfQSU3tAGmTFxJ4FnM
KAQ1kATg8U5KKwvjymYC+r/YTSBMHZNE5hLP6L8kn84k/axNw65tDgaNtRT0cXcWRvSB5LZOt79/
Jy9FN71VEPfkc8dj+OkeLaJe1y4Vf9rN/QpzqZL7xZDuJYJ1JcJXxWvM2OeqJnwDTsMj7w1aA//v
6QU7v2Y0WusuzWaXFrSZbXckF2K5zHCuug1Wf9PpsErnszbs4KYwm/rOt6chi+thc990Cuj7n3/l
SGyyfXNSwT44PQwn3fWTarIuxf62TiPVdgd6MDJFlcvaB8AfXtm/X1hpFgocEYIYmNA7p6oJ9Cuc
Rpgzr7xw8sM46G/e6os0RC5n//uP++yYJ5+DGU+hhaobhICT1G5zM+kKm/FJQbasYt/MnUdk8l5T
N3x+FhzjBwkuPql7LAueflIxY9iC6Veflk1n7oH8oCrtOMZFuFVz7HgANvoscM4pGV6TpnpeTx7J
IkB02UkgiaH5+fTSWJ9HbTA7feowmqSALgFpBIHcacSsprQbXf9ct/OY2pI8x9VRdyv7UX2iRHrN
bff5V8UV0QHWbnkWK+lUXLucqSNNABpIBITZwVjm5UcEb+du1l4/vhKxL16LvJIynuY/8o5Pn5pq
OAQFzbXC3tRxtTio7VrFFi/rWqa/D6GXLgW1knIPHdqjKOHTSzWj17Vb6PWpuSp3R4hV53ZWvy+t
vnhld34erMdViO4BIsKoVZ7uRIxNHKCvEZ9yKTcV0yEGIyqV6MQrb+8ZoYSYQUze4vVhA8Z58PSR
4Iz1szsWWEgN6wel/XsDDsRumwqVej7G05tDAyo4ghF6oy9fWZIvvU8ekebHUYaHA/fpxVVrOqvc
eMrZqKL9wLTmHHRSfiiHrXvlUs+P2Z92gFiWs/7JJU6eE+6B1QGXGdKg8PS+6kz/biVzSs0g6wDa
UCN5jN2i4ZVmx4trMmCG9q/rnpABbL+XZom3KpAy9oS5n8R5XYfW3m46tW+wodyhcjic10UUccLo
4d3mDuHXBrPq13b2F0KKQo9ZKzkh3ZBTHs3mCtSGy2bA+2P0E3Dp5kVddMEr7/nFq5AZBmg1+3zV
k/dcY4ggqc2HdGW2uqPTpC9bettf/vRCPEovHJmjXIiey9PAQXvU4mjshxSfruasm1aZ4lZnx0tj
La8cUD5/6mmaBLuYYobCDQoZu+vTS7Uo5omwt1kgfTWkYYUvp1BO87iwnuJwQR7nlRX54gWxfTZ5
BhvG8TGSfylHZbhYYEOCgWETMo4zdOpdVXrfQRZAP/DK6pUP9sIaPO6baIqhHQPE+eRYxIFZ4vvS
KgQShJPkjWfS8KjMZOWlvrIYXooND+tWqIYcDGj/Pn0yoNPBUkU4ZAy87TfWjOvXLvKRGXjlk710
HRJqSgYkW/zwlC2CJ1wny1IgvavDMI0yfQMT5DWvtJfe209nTFZUAMPweBO/fKaRWtYQ2Tyks4yQ
iWVSsBfBuO28hiX++2h/Ye/CvuvoU0FWwYOd7CHK8vQ0LB0OcK5ztPpFYi/LFXiXKV+u0Zv3kzGf
/rQkJGEPsYje4rH7Gpy6lWGvJbupmFVq1RTt0TAPhyO5oluV9cpZ98KbZB8ww6N9MqnTqV6ABa2w
maNGpWGB1cdcYmtXwBtO5pDZ2+/f5AuRwWtEFig4ihPAKHz60dSR803qpNIKA5c7RlBB7GpveiXO
X1jBnGgWOQkd08g79fP0GxS/ls0lzqtyTQvZykPD4A1/BWZ+tJH/FxkQjFBawajJshmeUlDtTDlW
tY46bSWU79FcgrhvyACLWi7/6Df818Pyf8Rje/ePjU/9/b/574e2WxmLS33yn3+/7R6bd3p4fNTX
X7v/Pv7Tf//q03/49+v8YWhV+0Of/taTf8Tf/+f1d1/11yf/kTY61+ub8XFY3z4qeo4/L8CdHn/z
//WHf3n8+Vfu1+7xb399aMdGH/8aw4Xmr//80fn3v/2VpI6VTHr0X79e45+/cPO15t/u2vJ7+5f/
+sv91/JRITv69cV///hV6b/9lWbiH0wdjr0SRinUr2x28+O/f8LxS95D4g+bliBt2kHLv/3VCf44
1kAY2qHcdwxQigvVjv/6EZFJ49CCzXwsiP/6r/t88tX+5yv+pRnruzZvtOJujlvtL6caol0weNEj
JeVD/5hz+ulCsM1oaw2vat+I+kfhvl/A8AxIL6AqAma6SWF1JK3sYHoMDKBk3GTDKyvxtBn87A5O
NjUJ5NiJBu4A2dm42pgpA+9pGSPP1+u5N5S7sH+Tj19qH8l034oj4/vPT/enIvk/xueTmL5va/7v
NISf/Mp//EP/PwY6QfWfY/yMdf3w+CSw+f1/xLQd/cEaoaCjoqMnR6vz3zEd/UHpftQ+QoYl4FfY
4/8Z0671ByINR+kLCuLIY7r4PzHt/kE4kxFEJB8o1RKlfyamjzH7S0wfh0yIcbGzk6xxydOR2FxN
eWP4+MNmYJAussXfbkFlSsrPSCMvMow3oLenN51wjDMNsv6QT613+OVl/XOh/bqwTs6yn/dwFGtg
10fe+Jkr0oL9iVMP/ZEqAGat3cz+JrCM4bJb3XD3+0vxsp89bsg8zqbrzGs9NWtdakN5E3iNeAg6
/ETsHnxZ0ytURV+5zrP3ii4LM+Hj0II+LF/x6V5RanirockzteAp4aa0y4HpV5+fVXryb2YooS4p
Y184nDp5qBNzrX3jvEf58MHz1uJ6WoSBO0DlOzvHH0gm8PmJ7svVWqzDPDUexkqzdrZYtFAjY51N
yo/9YCrL1DR6pnBo/4F07Uu/+7zktpe2XdDkaTkPa79zRKGB3zR+kKplFk08FaVqE4kNgRnbK6yH
dAvHbAIk7XeXQ6PdbT8YNUbQ0CkDmQ7m1rkXAUyr1+Yvzz4PqhL4IpBpcAag93Ty1hbHRsXfMEVC
O+/B7xdytsl41UTzNN5YiCxHxh4OdS3hf3KVvkdYKjdAzx5F5Q+GcOfLNVvcZCVS30eTM6SW4a06
Do22OETCsm7nsBZJPiAoXloauyeEvxIddlY8T0TTK7Fzkgmho0CD0z+edEjfw/s//vyXJHmwSw0N
jNvbFGZ5nYJTHXcGIrt9j/G4hFB+//tgtU+DlSuyRTG4PfLvsZw5qZ6WevFyrACN2G6n/L1VA0xK
pLnVB9FW/QOMxG4DTz7VHwNbdlCZwmn8djy+89QqcuxAgtmTFzaorno/lbXvJdXgGkVSVN36Ncw2
W551dgmLDB4kSCCz6/rwz78z5nXcOaJIxznwSUE2bk2hy60hcMz6/TZU+iyH64p3lXvd2dH337+v
5/GDXC3aKLTvEfRAk+/pBzLyAaqvExgx+NHsOnM394xOL6wnI3NeyYp/lne/7s98mqNEAb0zRN6g
8Z88mGyy0vDBzsXNlONIzAw4yvcTKzz1SstYD30IDivOInCn8eq54nHzhuhuEfiaJ/SgLShqFczl
PX6ORXhuSVm+V9ES3PlFIL3EK3vH/r+cvdlu3MgWbftFBNg3ryQzU6nOkixZll8Iyw37nhEM8uvP
oO/FQSklKLEPqrBfyttMNtGtNeeY+A1l6cS6jcsl1nH/3DZI0P7oEipXTPdlQLpd5yqacynvWmeT
a0tLARMC2TBp0ZKgvI3mWvZa2KaNeYfMLQm+8B/d+3ldnFdFvGbLkUHrLtsGVQcS15HZCt/QSpxy
num3Ix9KdiGzPpvPHJP+oQpPn9+2kPJd2EzHzsmOqfSD3lxdwAN21qIMNcyuHkLfVDiJ8Y07T01b
Dd8rVWmHcbGWXwQpuYdVYhlGLukFX4ZgKX6raiTmEGvn8Dq0QfKdtA33zu0L985zJclHaMBLc19h
sPyNBx+dXo8Lmn3w/91QfLBGGifn2W1WAP64ca+guqAE2D7K/8wKUzXQR3OQWuLAKOq9szTyytKS
Nk6DkQNSk3lVuCnFDlSLp3i0Dex2YC0oG/QJZpSmqELofe4lsArxZLmdFc8a609cT6WRnRmNp9P4
6W89mcESMopsXGdpVJTWHBtFUkXOCFPozCN5P20hPaARxwEOLYbun7xb6vVSZlWXRlOdLa+9a+Wx
Q6/11nay9KlNqajhu7ewo88VEkLN0lQeU/wQd5//jpNqMG+Gn8GJhNmanxKcJk50OH/TpG/TyOjw
/VRTMz8M65BC1pu965rc8sgcGj3urBSnSeO7w5nrv18v2AbSvGA5oyAF4+jtl+H1iaMJmz2Nlq1i
nyEXvnZaqgD20pT4qBrjfwTv/rth6LckriGToBV38tzV2khpYXqLzM1jBzHZvZjcHj+6GnFPTN45
SPj7z4mKPqsh7VZyL+ixvb3BiU8nEwv8hLnqZdwZsokwnpxbdj+8ylbUB7zLlHu6E4Zlz8kKZEpE
rJB9Mc76sE1+3pm97odXAUZFEjCbBGrLb+9l9htMjAH3EgRbt1Qr+1jDiRR//kl+dJV/BXRGBYXr
0/pknTBVo5hPo7LXcJX3a7JzJjSK/w9X2TJd2E1TYDt9Yk5aA3XdrE1eJyoZUh2vLuZJqIfPL8PR
6c2efSO2b28FYB7EJ/dUHqObKnfcmhcDBGDet5ay9h1/9FAC6jwynJZvuCJFZJSNdeYGT0/8fOlE
YzOsOfITvvYOEc4ItvohYSIDVGPt9GltH3Ecin2VLZz312CJ2nJao3USzV7Yv3BbPbIhIqsvyc+F
Im3z+9uFjLoHHDHK25wMKVy9/XAcZW6wGZFvD7v7CaYHewy2ngt4pP9/vYrD98eFjn/96rfXottL
3YQ6JkRSNIxvr+XCs1G6jTmpRVD9jdEeYAophPQijhG2HblNPnv7fNb1S4oOuRf6VZFcEySdgF5I
Rfatm2Yv+VLztzwoW5BIyD7c0fa1wAAei0GsTMprDnQgsMaiCW25SLTaRpmM4Yj6PMXrp0uIP3bL
c6yKwD2M+oBY05c4oj//ut4/143KZiKUoJrKFth8e69q6LJ5SUwE6pItdpNaRqSlk7hAV3wuE+T9
RE2Rir0cPRGahoSSvL0UJ4dK2cYEOL/u9D9zu0zX2pRiZzeDv23fTGf2Pu/vDBQiCEbk2sgzg1Ol
NGENtbXOXG5BWxUWWqeaEEuKEWoQfbwzj/G0Z8dQ4aY8+HbkVZAecZpwXmOLtcuxoCxlDmvY6V5z
Ofljd7nizdsna6Pv58ryvtUVhgkxBsNRt0o9Lg2nPH7+Qt9PFyCvTJiM/3pcKEPfPmVL+rkkJjAJ
Pbl0zxANxkOuBr8NkctbIhRWsh6rSnfgtNbOme36+0e+zetg7ZjbOb+eNh3KxTZq8DIJWBgcVMXK
IX8EzRBBKzr3wE+n+G1gbqHfaKCQW/HP29sUCX3JUSP9CRLWL6MB9594ZxPkT+/H5l5skqo5VnES
Za1/exFCdTqjF/CpCm8tb9O1kPtFZdo1/pX2zNf674j230mHIjz6AK6CYg0eg7/9lv9scIvSabHl
612EC1ZmONuC5ADkj9KUXBS2KdcqHQuL76LnRw1yBps7q9GWWEllOHFa+EEeYTx1N4xGqcPhHJr+
uidEtQP9oaR3z7wDaw3Jn6NHU6Plz1vsMD6OYZ3bu1T0ZQfyoQb49Pn3+P5FcV8bf4DBr9PfPL0v
2+7SetXgXo31dKE0jbQ3aVRnrvKvdXby+LYYBAwCFBW36eXt41sy6jmiGqaIXlr/oqqsKCBnzFrB
0c+Zv8jCqX36KFJ8ncYGa3QjNaaCrMrG71YF7yRaYK+HJQbp/ZIBhx7R6UTdbHc+rvRWGyIty6cq
6u25JuqmqZs57uCSWuFsWc2EUxWwXCS0erXONCZPxaoU9y1IwB7FGiZolpeTO4MhO619UQxwwopH
A77Kz3EWLtvb3Lu0R5uFWDnmg+rq/DHJZH/tmp11RuP2/h0y3BhmXJ9+AoP77cMVdeXJKoFdNpNV
vc8TpF5Gvp7Ten9wFTaF2w4Hgq1nnc5cqYRHM7fNFBl9hpGT7tVRJlLfff49vpupKbAiD6QnivqW
fttpzFm5SjbwhhoithTzc+/VwV+Re9VF3if+I2mVZQydolW7IA+y1wTnZNyQfw7ZRqziXG/xtKPB
y93WQtYMkLPIKoNtNv/PqAdDCCypwU9pmQ9lEkagGSReeXZcZwbIB58R0xhrE+oH4hrAvb+9Ureg
jks1cDBe0DrierWdtQ5dWvcp5HPEXbB5ZNpEA+DUZdeZAmiRK8jGuNNFaj5+/g7evWn2GYRTsDXf
FBJ8029/i27BWyhAUBJsm+TXGGCnmAruOZavuX2Wb+YELsAasTkH0AEbpyfThQ0tyCciWP3SbMIO
1j4inmX47dQkn1KWC24a1YCqGHDK4bV3b3o1zzmQsdoGWmEoDRqATAkXMuBt6JPnA2TT1qusCbLL
qvLGA4khzldSgeYd3kc3/vwhbeP63a+nG+yweaEkeooizltz9Bu9B81jLzYFbMQ9VtJm0eiM58qH
7z9DamzUXDlksIVBPHbycagxS5JlgzJBloHelji0RfC1zUGASzAXf0fPGdWB1ajq4lzPzSt6JAZV
ta2PyXqj599IPLEt1n1NnNlT/H+I1zcPAvUcqzBZUoxZZoaTVVjUWBbTtIYaZhbAs8xkdagHBtVq
7FU1OyC2kfjdW01SDPhY/fmlmJoJbEfpaS91vuhPk2jNZxtA2te6XNAyBU31VAlzrWJy2+Zn+HTq
kcsnjyho6zK2hsW4MavMIpiP8nQeAq3THu0EJN1dO2L1Cedac1vWAqvwLzGYOjcQZawfZW5of2tr
qPpIms7mzPWT5NtGNoGz0TXecTSm4BebYL9jTbEVubj+CgIprVvLivwg88izZttDJwOMwCt7dv8y
oeEB08ck5wIOnqP9yc1+Bjk32cnOhuwFOqB32g5+qJq+z8GcrvsGZs2P3hlB3umdkc2h0CsK2KY7
eHJv9IvzqwduMsWL7+eChHV3cBGVLTrF/Tao7HhC6qrzlbEoXitIv/nRh+z/w8ErvpXYsuabTVMi
w97pIr0IUkCloTS3gYMCI+kOpsz84qKA8dCESpYgfmqTY3+cUEp+GhuCtA45GKIHYbXDUwJxFWIU
PbcBPBZG4bBNRHlbqnz6ZjH7d7GEZvmnM+fph58txTU0kmyOMOn6WezWa/NLV26zM+ulXo6o1XKC
QUXrjvFQ9MNVAHIGO13ban/6CT9dNOTN+k0r8ICF4BlJthhJCQZA21QywcBe+fkeHB20NNZ57xVG
nrpf5iS4dzyBNwKjuCkp+ArxczL4fsIWzWgaWdNQ/aydBtFjUazrTQOQdT1IoU+31IWa7xlGpWfQ
ViXMmWUwhqgT9OH2xOmYHNtdraVXblElvkKKUUSTZyX1DRrLQMVKma6gJp1ITNSirm+Duh/93dpY
LPt61YrhVgirXhB7VTBYtSWBFul4k4KG5/f9FA3JyK3q7hoYO5MYbD1uraBs4noUHoZDR5OR3Zoz
EdlgxMjCcoXrAkminv6laubCY4EYDftCwjZzEcdquEqdfiCRfKHgH/dlYXBinRfQDKafsGESq90M
sdm01u3msdkeXrOC6DAmPS4cffVCfcnnMrYJTrnSSHjq91pdemqv6mR6BF4oacLURfadzHkQBvO6
yh91QjYZLATVZ3vhesnNDOLavE7WInuCvpYN34TUF9gYFqEWu6C0BTnYdZmCXMr8RmDi7gq6nA7H
aIJpDYoWknzc4YqydfeU5/SDIsCKFmNyNbt76FGcwtlcLX+U9Akn70azOnjNLB/LuhnGSOvYRvNz
6uZlkkaWhpPyxusUUlXJ31NrRyN3vJeKqOjvqgNuF26bJ7AiTjExsI3JqeHiBeWj0BfXvioXdzLD
bvKbazl3QXaoSkFbIIdFIkCR2IuIYL4RbmcooV5ahxzj0EO7eJcrWweV6A3Cvuy6ytQv8QHW05We
pg591EJY+1b5VhHC4mgecl5Pe5zhO7oxIziwrqAGeCR06D5m7wS4nBH34xQcJg0SaVhDCpn3o6sq
snyxvA8xHYH2ZqnIeorUXAQLh2gBKCInAeCA2NHw9lnRzUvkQ9b8DbRzTXeNn4x7ze29S5zn2jXM
oYDvBgLCK+cWj6tSYb2rUtkFMU0c9reQPM1faWbbXmR1muYTskmznalzm2CLZthrqZNZUa9kgbEv
NdRC87Ipkr0gR6k76tkEZHryZd1d6HqdP01w8zK0dTUdGy+xULYzhc8Y7wMSQkIZKEyCC9wkeMQZ
B7PYngDS7u1gcLeJv7fynerE+DsP9I2SZc7WEIIMmPQL1Zd6v+stp3nw1n75UzVeXu29abK+29MC
kVOkFovHPOYBUDBl4kAtXZQyVTusMq7rpQX+Jj1wOtMKqzRGummvdyBNs1fhVf587QQseheTr48S
0e1MyyYPOBYCrtkCHCG0tnEJ3Asjv8jXv2vrzl+ViWIeuo+TBoDlaDgZyxqnmn+Qhei/rnrh7LPe
uKGgBAcMPp03jJQEap1xmuPmSV+1znutoRY25ODuikTFNcM91FxF4JYW1qV4bHLvTk3Noy/5Zmg5
hmvzJe8hTdjlkcPfbi7LP3peQMezj47UI8okUJDc2wS+nZiCKoYFEtd8y74DiMNVwcHL3K9FXz+P
LO52N14tRlJ8bYv8dl7kleNWr4VnhM7Q3qzGSyseyxQnpPULAEpYG96RiFm6Vvm+IhQM4/2eldXb
w90u49weDJ6qC9zDGpwwI/JbwVhJrB9pxsrVdBSgu0T/IjQi4yFHZOIhIaAvC9mMqQtaBlcURPmz
FvBZ7NQgRka9vksTT8V63x9yb3wk6HqvQx00RN3eJHPFtAvihjCne1tVxwnWKXdYI4kbntlvPI5k
K4E4yeYfeuMNF/riHdpl/eFmzq4fg5vUdK54/w+WWT85Wnvh5HIJy8l88Lv0HqTC0Smf/PTGciC6
CE5qeHny9IqvbMJ29Lfs00uPwwvkxA3OOz0Z3QbVNTtolPN6sNbsOCrLp9k4f62RYs5SMzYS+XHQ
radkLH4aQxP1k+nEFZLQZjb3pGjCaQTgRdflO+TDOyOjhJbRZNFb/auZT3EQJKAjfYcytBZ73OZG
hTUPU5t9tTIRZoVvxZoEqgYBb9drFflR651bO9+lMT9DfLSAI6Va8auYqt9jAhlcjQ2jXF1Dqd4F
c8Z+qP6SVEpElWYci9Swfvg5L14tTUSAmbo0siZOk+VqBqSarUjATP13ywe066sVOOuPmbb77Cxf
5tR5rhhPoXDzGNDNRQpU82Em50BSl3LblLE+73S//W0b5cWi5K1H2JWDEzZEKMIpfxpeQJK3m1z3
rsqHixYmp1ekeqSv4pWB/6WFi3hslwbnn8cUB277QeD6Jlly+lWKEgxxrkFVB5wDuypU3gaUaW7m
qdOvBz3xyL/u/eeMT8c+6rNzY3n2BSzOCz3Bn+93w3Up6Rl7/nXvwESZoNmGlaXdukWJtdG16IgC
5UzYxxyysfzdFASxQB7/U5j14+wbL96QEdA7/pSEFnTh2HWefpxTxWHTmQj7BjfYJtclGLxvbmNp
P0wEH79rs0qXiHzSRYQ6exB4pWNBw78y0uA+8DuzCB1Oyuwh2WAF8TQu/QMgrT44YtgxW9hyy+JF
2WgaOP5Re+bYUKrcikpzWr+TDmsk0QZgbmKZdMEYDZksbz2/d43dAin4ubK2tWUETsjP82z3TzAn
Lhx/osEkquJWh1yb2vQdOo089NHIvySBk9sRuGnA5BkSGi8S/iYrgj1bvira06+63vbgqq1xBeBb
y4V6e0t6JjBSAzjg0mSGFs2m1UtOFnV/ydkxWXY61lQjpHpLjo/ml60VctfGz1q3m3twQurBdmdZ
7Esw4vAtm2KYI6Mi5wSlxzr7cT/4/u9MFNmPyZbwx5XV9veeZHDFPUHSMB4ARTN9TZoTzR3o3lBS
0LmcILIAkoJhWsUdQH0RQTkl/jX31qRlf1y2fTRWFfJKe+h7QKYsLg8bY3dlHYQ2p5F7spb5bIQI
l7UuFr0rUfPMAue8AUHJDR1lDL+60Vb8kdp3HwJoOsSeo44HoMxyovACk7tJCbkzFjBo1MHCGkHR
3yWB7MJQG6QTpn0FW6kjXkjE1gwImWVkZndLKAl8qYxqlbzqvRWJFznk1oNVIeC47ZlgQeyzR4N4
P1vpVVAMQDAtfYbaJzXh/C2antfX9iJ9tnFpWaHjVdmrEQAo27nlNHzTJkNetwuweoQGYqGLmIDl
ZzSOWLkAcRU3nl+ztLvFpA2gdDdCGal5MARnZ077qPN6ImjXoBvvQD9hJILzvRKIjMYppm+ZfPP6
sXkFmWSa0Gcb4ydUU2CIYPu7LzbV7ZtysYz6WMu1ZlvGud+J8n7rz2WNCIo9m03whPB8iHH2RQoY
2B57JAZAXfRrbGKTf0HFpxyi1A3yh5KQ8iutr9pnD6LTLVUAbp6YS57yxrzeKrXz7AOfJG4M3Ya2
Cd9WOkxO23jsM8rE/MHkbQZRYqys7KBA2b6lq0+xsy31tgn7pEuPBar/76lqLBlrRe7BOqxd5HHK
tMSrbqftnT4UFgMbf0KIR7v+NpcVxMmi2pq0yGccxBSkzNDcAB/yvQjQ3oTr4tdNRJrAfNyk5NsO
Sa+v8smFvmwJzByxUyT5vZaOIojnZKH9mrvA2xN3DtZwhZJqXTjrIG8Hq/aBYA/N/Mo5A4yEb63T
tO9k2d4YXp/1oVVr2WvH/+G7ixK/Zg32zZ409MCnzF23PnuIUWuBhYIrujOSqvkJB4menRSaCaY3
aW/QLQgjgrcGzVRj4/1LY+N8n5NFzMnAqw3/UI92UXFe8ikMDphBRJwUZsYTnTmK7adVGF442MTO
7bUWYXZIYIIx7rpVOs5F2iFJvKMbOXSxN6/iF7UQfYr9mtR7N52bO/5a+UI4PUf5EoXR1wxXGQdt
DpJl6I/99Nfom+Shb4vxZRpcQmL/JfuGBUUDDkGdnUGz4Bgqb4p5yi6GockqUtqgCBKRYbOjdRMc
wFjOc8oeyzIuXTzntqZCGLhTscMSlT8bAIqfk8BcmTU8xX9bunKgHeXWXzaE9szor9hQal3a9WFD
qcALO/IKl9Ca6vk6H7Ss3MmFxiygdI7skZUqxotkG3D0Uw41HCW6BplTv+q/Z9I8vFgSmfHcdnY7
UXKEix65rsguV3DzdqS0efJjbHX8HLCOyiADpnYPtedcFWNN/WSQ8O/ga2hXOqdU+i+Of1PpIhcM
XEP8yhWRlGFD27wK+QTHq1En0TGsBCx9CFmL30W6RVYAf7ocHmiWcATwm5nck6JU4hs7Wg2Tip2w
y0pXR7GqZE52tyxN+pjq7vjUjvABUGHWs72jYsE30RNDMgDIpd4RT9riTfsMPxZmWUMFR765UoVu
rTqoV3O5QPRxnMw4OK2vXxoTyqYYTgiY2sLN/DGe1yC9y7ylHSMTBAQdnqlcgnCURGRDbGxB5q+2
Nl2hXrDsHcQwvvYuk96NbhdaujOM3nvpGywjISpP/efCfGbuZTfoL8Id1j/mIrvXJE3s8biq3ruZ
ZjhnoTWnyf2S5YF5qJZh+qqxk+ijasz5xJJhYzIUtpf2Bw7RW4XL0os/RiUMPoasz5d4Hqk+hTjS
xWvFxIXIq2qXPLZVH+TxmIoRC9gkSB2o5KBH87gKvDmuWJedC6SQ+qpGLCyLV1PcUw6w9cuFpWtg
KKfreIDEu8blaKdfJsjcWPf1hM1NlkpLwwPZVA7fFetX3AIzvXMGeI037kgJMiyD3MqjYlnx8Qlt
hRGeDUb1vd7i7gydRYb1SeCiERYJuJpGFV+Za74e7NVtfxRlUFs7T8k6Wipt7S8EqP9fFOndGxy0
0y3JFnxTJXtil0LjMP/057K/kWlAkanW/X9tfRvi/Odl3w9q40hHcbrRNKNcv0nf/9sRMIvVaJMi
L6NgbIorVc/qhsPxGQTIRxdB2GGgFOUa9HbeXsSQAc3ghtMpR88cyxEPitSeczGWxvumJpZEhLy6
iTvFp/9wUrq1mfEnNBQ1CQ5N/TsrjOCqaBsop2mvOTYI1nLWUE+ogcyCptR/D0EKj7zu/JRIJMof
WeSkoO92tdb5z65RNITeJMPIJrv2OIL7epuQqVQvBqe4wuZImgxV9ssDUuHQeSavYEf8y+geKa+B
CHSWvnyxsopIGTsvF3VT5gnHIqrDNlv6vAME6yWTvwXrFLoXi7LDe1VC973JJo+cc1nO3ldDrFMW
0RUGP2otjalf4cLbJkSL2SicTJ09KVGw6TchAnjqc8IBDu79M7DaXJL8VIx/x2YFIMtFxAVdGKVi
aIc+8RZD7f5B/W8UIaY+1cc2k27wLIeppZluTo4XBXpLdpFqRAL1w53zl8ls+hdW2+muZDVcYpyA
1XMmJg4BS1t0KEzYYpr7dqSLeL1aC9tIM7WRvhoVxasYAgysaVgp1XeyRVEvtIPjFeylmOIv4MtP
GopvgN5RvsoJn7Uf/LYhAD2kCyKIXWc064sqkImF2rQ2oA4Ju8wg+5MThLRewv9OmL3CxafUGi7I
+KFT2/OTabdSo/BYUOPqpWv0sUfpXIYzjSnSaJQGP6XSRriliPaNW7tq8mS3NKtKY5RGVRFJkTVf
gRIRUpWxKb7m7oq/eSfZd05LLbXdCBLwrybq/ogea2BvnqoMJqC1GmEJ7vwqlxXE926gfDckNgf8
KehtAFaNV70ao0doBA6/x88HtrF97G/6GIj4ECwwRzIeGNwnXdS2nAsfYAWdcFJWnAgcY/LsIxtJ
dqZsVlwSpWWIiEgzNd4ZqyAVzHBo7cI31ZANeaXSWAw62d+aK0UzvFe1+wV6pPsox2LU2ATUqyAz
p0y/rVJ35zN96H9NuTc/Hx3dJswnBwRPh3/qGMymNs95+lNUk4fBsu3PPP7JK4evNs2MF28e5ZcB
SsZD5+WgullonzrlWvNh6IKODghsBFiSGnIyisU6qZPS77qDxFb/t5frcJMQhuXuS1Kk0v1QyPoH
qZ8zZ/vKzMki0xyH+ipesydmNMnJs0u6Wz3VmyCUQ5/c5JkxPVOxSPOQzSYs+3RU6mYtB1LOcgUe
JKIhUr0UI42So6N0VUdJ08vXurPWX0Rd5FTMGEe0NWRA3FVKkZyliO3i5x/BBxMvrXyUzOgU0Ouf
mhs4wBAgsKD8srWg/zM2VfCadcZ05l2973Gz9UAwj30KQAPuTvPt/F4b/QwwuWyjVFFI3hsLA0gR
0PLX6cq2OuZ9QFtgOyAE+3VZmCx9qoliZ5Mxc9XNW8/r89s+BQfx0dJ2xxOELgkpAe/37Q8yNSsb
KPp30VCk3c2C/I4zwWg/N4qehJlVxhWAeeuL1dBPpOnc7LSqfjThn0ULdZLLHstsvMB5O9o2x+vP
f9z7Ruv22/hZmG9Aypz2FxVxNk1NYSRanNwIzWbI9k6bPMBWV+e0B6firO0xbD1MxLxIYhCNvX0M
SN4Kk4Qi+K1qJnN1GQfvb9ASqOHULQBcS7axsx3128Kd9i4fUjSJMn2BiEL+GXYYJ5TepF/jul92
QpXNpT/pdD4Kys/tYCZPnz+Yj2Ysa0N7wmXBM4Rb6O3PVSiOKhaKNtLsrL7Iix6hixeMezWM5lHk
2bBnMc3jgq3npcuPh/CVi8tcT55JVSHUjYPsA82KlBKXpd/4Ywr2eq1toO2dD/1JGefIbqcSw+35
4g1AtKqjZ7RPxUYdAeeQ7TFzdWvr7ds8TaM0aHmzpovJl7DiMw/ovcIAhSHja+Mg4LE4BT0InYzQ
0lAtXMtE3hZs2HetbcPsqJ3hiOrO2fdi1R9mD1w95fM2tjw5HJg46/9RBM+N0yJnYvaQdjgIZd++
Kd1YauXRv4ocQ0x/iG9M8LDNzd6l7n6sVeOekattb/7NYsDnu3nVdArA3L19sktVCRz9YaGmEoih
+eLaY/O9dqV3PdtlcWav+tGlEFkzQO0tZtrenCH/kcj4WkatcaZZRWurtcPc1OGoJ2wOifQIgv3n
b/T9/EyRi6zQLTQYxO6p4s+GtWRZTFG43TBFgmWy46xmQvj8Kh/cEnPh5ubm4XFvJ08PfH9ORRCv
tOGtTmwqpd3mjdFcJ4Zwv31+qfcjAlonZSU0JJhm8c+8fXq9TAZj8Qlu6eZSXmQD+bkadIZjb9Hk
L62uiP/3620zGxZTrLvvrlckbdIJCisREV3OYSaBNKTPNuz0oPa/5CvmujOz9/tdlYOai10Jywpq
mVOtv5yM2TNGVtQK3wJHazP5Sspef+MNhncox5JatUinr4vhrzQjmrI6o0/54AEjLwFRyhSwAQ5P
Ps8uaTqbM0Ed1XBQbi0g7XFj9sNlauk0KCw2up8/4HeifNvFtEkzwGRfzS17Jxckb0PPfJtJzYi1
h/XC+V7t60Nysf6tLueJhuaZ5/vBIsD1uDf8hb6DhPNkammLRgpTNF0U/zg+/Hk4Hg/hLrqYw/h+
Ds8M9X/nzrfTyptrnfqTl5QTmb5d62r/uOdCh8Ph79er+zOXeT/I317lZCNOC6vWB8lV1PisWpoT
wTlV/Tvf3b+XxLQIqo9hR9Ly22HXzno6clYhb2M3PqnrPlru5IVzVe3JYojaaIzVAS3GkTZ4Gq93
2j54+fwreT/DbHJRUBLI0rHTblCI/06aFC4G3MwdkmDKdKSwSP8YmHm3H6bV/5+fJpeCxWfxgSC4
c0++jy4Rljb0U45JxEyfR1ZJlj9yvP73G2KRc3wMb5ibTjFqZl/TwYQ9wuEprx77tHEeFrug21cS
0/D5pd5LJTevi+mjxiSDBO3t9v38Z8VZ3VmB6O/ziHODuFRoSaJBUuzvEWiQCWHp6Y+q1ua4wO6w
LxrCHOPc7NwziPCPXiH0HkiPMKQ2uPTJr+g0ZlleJOVoY9rRipuPdtF8C8gkPvNs348H1nJ8bDh6
Mb6wKL29Es6oonVzzv2FlpOx3mcr5r3zQub3m1/w2JwhuRh4YWSNby+DDMY3pTeWUalh9YlGaQLy
4Hhnxpro61+WAnRsimX41k5lSrZIWesveaf7X+t6i7BNbfOajsiKatTxRrQ8RDrXoUPnaQoJxwn2
adtP505SHzwaipEcCrDJY3M8fTRjQYMJpc5WKBupvG5GSq/tznFVtyn77bQHj2Fjh/ucQTAznLxq
oQejsdB4oZEt62vixrx74oPHHefw4mmAxm0hBlDjmQ/so3tzAaUyt5veZlt5+z783tOICqQI6GTC
OQa918ULITpnPq6PRpOJpQEnBXMEC8nJzeUGSjI6fWVUNHZB2LgqCxWldl9QrKjdMWBz3mXmLiHn
CvtUuyJC9otKXgXdoo9nhvYHY8q0wD5SgAksk3X77S1reTmS6YjYma1jEfsmZVZEnMvBN4cs/nwW
+eDpmphweKNMwfxz8rWTaJgHdZ5h/XXUuEM5aO7cGbf551f5YKHhFW7WChMlCnP9yf4uDWSNWBTJ
WE2EYDySQP9zoRxGVDK6pSPVfuJO16rbKfDkxDbmQyyxB+HD6IBcl4N3VfijuplQp0cdOq08NMZU
v8Y0j/JyCLqYDKHpkj5AF/da28e1pBvz+S188E44XbJ4UDJkk3Hqb7TQqyqDbOLIHMmlbgbEi4is
rmgc/u8aeCTncKER70BfMxhob18/pl3pUMplYie8t8MWjsYL03L3ReOoeF9IOz2aazbcw5J0jyj2
aVkSPHn7+f2+t6rwK+AmuECU0b7DInz7KzpXId7xKS2rqXRHkuQ6Qu5acseiMRm7WPOzv4PKLCRu
pX7QzDm/Zw6yfytflZuAxeB/+iAeW4JBmWXs47DiBiXoc+4PibRY7pGXKImDiC51UVX5TuqbVLDu
i29qMZozX+AHc9c/OwHsHMw3cDve3k1i9BxKiaannmtBA4UZ8ZXzogwt6ic7Q5+DJ9AI2Zln+ME3
gyNWx01IJjr/nnz1VTuhXp5ZocFyIAEhYvd6FD2aPD/Tz+zvsWRwByezs0s9gYrnPxn+aTGNLnaZ
1VmhhapHqhM6hiTYLssoVcuiQrmmy5bm/IgVEcxCXZaPebkGOz21+vsmGwO0Bla8ENhzPRAizEDN
az0he2otHlfS3zz6ZhUCUbEJhHd9MVfjASOwYUd60lrOZQow5icB88bPDoTla0sdq95p02LeSgTz
BIg1jov5OKF5iedrJHRTGK2O6E2p+mnJ65o9YNeSEuNZpnY3ZcZcRIYIqlscru53rWy8KyKeHETY
ia5uy36laij93rhFaZ5OsS0Jgou8qe/+CFe0BE3VZotWe/HGLU5V66qwE4X7KCbHeJap6r5bFFpJ
LOq8bnnQPL9J9gS9mSL26l67nOaO7iYzWXEZBBm5jDa94wfyUV3iDQPNShADzYTGUzbRnC8tRHzG
gT2ZZSid9P9wdl7LcWtZmn6VinOPangz0dUXADKTSS+SoswNQhIpeO/3088Hds2MEpmROacroipK
QVHwe6/1r9/AWQGFvmbQxzi3Duf6LqKTxtCnJYnXn2e75Wuyx9HBCkDmrJd20wbW1SRrmwc5NEEn
h4TloeyHBWg6BZgfMXqJ7MoQyAMMQ6z4wQ4NI3TbuSWQ0GnH+b4351TbztIS6pkRNB67RIMmr02Q
h7PPfLv5YRKBA3DMHpdsrAyhmGtmBf+qU0xC9Snwmlu4V7bkZ6KRybQOiq5CK9ap8ZbAHIYWvF0V
RGq9GibPnjrR7TBQgKMIT16UvoJa5np08mD2q8oePuPOAm9LAjCp/XFKqn1mBFZ+m08DDlY5I2Y3
BZB5Y/xD4GDdynHmp50Z3Q19bJYbhAH9XVY7s7prYXnBpsPIDeNErbHfI4ZoPFsu7ZbkbrXaYGLu
8K4Szm3AgRwG+JdTTbrqNEolrAid5LfNjFftGyjRlF436tyohKHB6DH6apZ8aOmTsbGlUXyryFkl
OVUextiPwRXhIRTU125UxLBx1QnqJ3wFG/BzNJzwQe5m3HUjPdAK9IvYNnmVykB0U8pm9osVBVyh
JqhQcsW43GqCZIZuJ8Vhl2+UlGTwrUD1WOPFT2rfVYCszIbU3bZEVddOLba5OeoV855yMK8EEwYm
ca2Cqe+A7e7EtEHLQWejUrsRg6R3Pn768/emUYLh2lCrrvfIPMmsDdEGYPcFYayEJxLojbS5Log6
s5rMMbw6IiJxNw9TY6LbVMrq3u6h0+8cKNrJVZoHBARDdLZUP21igl9FNcAUDvl8MYBs7PE5JMFM
v2KX0skVa+LxtoSe/2Vgw/oRAe43m5RNEk5X7pDgBbe0UjZSaPbag4NvcIzsVw3RYcThW9zJxQu5
jvQsFs6g5a3ejiyUjUzaq5uYTPA29qD38MGbIPipk3vxSqyJilftOFrvNQUak5uhTcdNAc31dlTi
Uv422GD3riKDDSNOCJxvcCIDyEFD8ogdu/ZZoqB/ivIReEIeyYqHmFoUnmRnAs6G0SnXSZ8Ty5fK
Zvg2I6//DMWifD2/154ASyygdiS8sKtkvJFWBR80KSC9dsy8YWgSMq3lOK+8tiewHrqMEegutxCL
cebk3yTSjK+lAYXzztHDekMWOa9LH4r4wub1scEfbiigN0gd8ZsDXD+2SY3svpkwuYIO0uqfZwYj
sEQM2SBLuiBZrc11/RdhRZUGoQWDLSRYSua4ajzCQ+llLf9hRPL8VTdjYnznOSp+nL9pJypX1PJM
7Jnd0xWusQsDFbGRC7ADVBK2R+qOep9Lcvp2/ijHWziivOXh4BhLPb7ueeI5hEU4cRSJEGO1viUf
HZLN9vxBTgzCDo+yqvhKJqhjrHCU3P355O6/eZtPny4c4tKFrGqRprJ6IpE5ROpabua/w7/bvEMj
dZ/Tbewjv7pQcGnHz+fwmpaK7A94wrRDHA06Dojt1Eb4nV952Z22x4rG1/xiW98598pOekqvpqto
i0HV1tmV22yjbMqtsUEZ5RZ385W9gXxz4cU+dWK2DoC+mCny1a1KQaUjV2bWKXEqdIsbqx5YhYk9
v1CQnbjfEKZQ1PGKOos1+eHlJy00xQh7JWCErNkbnSFvzWTKH9uqLP3zz/YYW7ZUBdojDTbYFtPl
w0OlRkHnhS0OxOUSalfYwPOoBrP8OQbCvM6HCTEPHhPtSy014XhlENB54WGfYNBYDNwdnQGnDINk
LZVl1j5bygA/X0mNpLiFzgLNs20XIVqGorH1U8se3gI7sBq3ntvuzZgCO9sUlWRggppo5OqyfT6S
vSYWFrk6F1SMXYVUXBFil6mplqM9NpC/WTVu/Tus/NO9aQd2TdpxjTil7uuqvXBfj9y8mK0wsMLr
FttLgyZohRkWQoQ9qkv0pmmKmjXF1/WuCFoitudmfKSqroi8zVWnpz2fq19Fy+uO7WClP0vRZHZw
xbRpo42OLe0NJe2fIhP03bVrzAK9AqmFvjn/IpwAMTC8A0wFc2d4TSLI4ZsAylj3k8NYI1umrnj9
iWdby3uvJon1uR36GXKurPwSqYi/R0AK2zkd1EtpJKfOgt6VgY5K54NN5OrV7yv8eEIMZYBSRke6
sXoQLy9DaRghCaD28lInm79PXZmapBoTtrshq6f+0Yoi/XnhhhyDebRDOMcwBlQY7K89E4cMt78U
LpdnNF1yh1qvdFXsU29CVZ+uE62y9opdywSaxPNjl0TTZ94IRD5KKj1YRYBHPUYDG4ZW8xWdVLp1
lMAk6zzQ7zoGfBdet2UFXu23QOEsTGgoQGTWDgqKBNFuxJjMG1JNX7wvuj1MFoSbs8hedDW7hGgs
L8PqeAzLGUUpiykzX8/hyzL0KCfzYMo8EwjoHu5vdVV383R14REsy+nRYTD3A0nFHdFa96WiDnMn
CePMi+MMcCeYWmg2SmgQ5FtPkgghTbZm4VomiaFeJg/F7BoMHr+F5G5dWPmP7zBJW3SluL0yEMYE
/vCKhZVNM8NA1Ku9038lH9zeEJc6vxrC0K7he8afL1z7cgsPr50OmFH3BysBPsVqZa6DptSaAizZ
GhzpPWtxcmClVj7VCb01oLJ+R6JFjdBAH/wuMZJ9YFujr2VITF1plvJHgfv5FXZHQCoisC4gq+ox
LwAvJRr+ZX7AXHI9s3b6AhKbBipXNHYbbOm84cV1qST/TuxRkIzUOOYvU6uIxxogfDwaiDN+m2mO
hbVEV0Vuu22G93CrRlLEAw2/EgEnloW/XGRmTEnqH2HWhJ90MVs/m9GUp02Pnvl/MAmB0c3CxWMF
b2GhPnyuc9I4ahgBYrZpCdNVCyJpuJtJI+4wV7G03/EstU9tP4avDbgtXPpGUu8IkyunC/vgieet
cirOUsMzl1/DnK0qt8k0q2D/k2NcdQi30HN1+g1jikt0oBObEx7rC8EN0sGy5aqHF61q8YyOBdPG
ViTmVp7s7roQZvZskKX9rGAz07sUC+GO7aB3U1tpHzLNCG9axayurKIZ9rALivvUISs9jetyL0mJ
uFLou9ILyOnxGowjOiOghZe3tBOrequLIJ52mGJ6szbK37Sp7ZAkyoSnJFhrWS1Z93EyVHsHV5nr
C9/fiQ+ekojqx9ZUbEXW+2EvB1ojNBJbK6sZCAJ1cMfZphCGQoiBpfUQIXOAV56IDlalVTs/h2QY
Pzvy0MqbAU62jSauaG+l1u4jH/oC5qnZMEOpNcNG0S6s/8frMfaQtFwaAzMK0/V6bLWDEOT6Zp6W
2tktAEbom0oz/w+eBggoy59hkK643hGdmu68H1A32WE5PKe5hYKXidvbRMXy2LX1RB8ctJ1bUFRe
8Oc54d/BrsZ0FJsT7L3ZfA5fWRPafCaNduoFDt5tBj5AN62ZDF6Hmus3ZKQE04symLaImueHzIE+
4yaBVn9GCGHu4rwNPtWpaC5Bw6dOi7xHXq+PHF5GHIenFZKNxBSzxDapshEcjvKI9YVeBMAQqaPB
+1OTn3pjoB3KVRbiplBe+lROpw1mTdY+qPMKUV/YXqLYn1hMCNjA1JBhJ0RcedWxSRN0rDRC7iOS
XjznYC8bMEJjn9r6JfbEiUPRC+F0uZAfHeVjrfmzV5sVDUOVoPVKBy+LBucHX43j9K4czUtVx4fv
6OGeiHCAIHSW6o+x/+puR0HfBnWkd95UZfr8gNqQMD5mrsk+UsLqHlF5jyNmVKH/kkqS3PyGMJ27
sXW0L2nSgM2UuYheaujHihvLffSo2WUIa97ih75uSQMiwkTU15aVzF8EjglgKNQ5BvKeXLbu7aHT
zG3HCOo7FDjlC2Yt7ZcMleerIim/VKeSXztlkL83ZnvNGDTbiqFOh41whhgPlELI+EjWOhtLl9Xh
rkysViayptM+tU4rG7D0ZSjiXc0HgIwzRsGEjAm3FimDSetJ1cD4cpDyaHCnygnelRGd5S7NnEnZ
RszieneZu2puWeQOqk85HCaQ/CIV3pCpHVAvlLnXOGjUGn1UOP0cTW6fm4xTN8EzG8QXY55wU1By
pF78eiyxGXdmDbtp1KbfmcqCstMh/8wIVM3sRQtN81I3ejxpYUTGbowLDrwqrI0OvyZU88i8dJBQ
7mewB8TSfb1xxm2VGuoV/ich0sipvbCqnaDkEGEGmZK1hU8FC7DDo6bj1Iu2oZZyZlR5BrT+WxLI
tEeRyCag7GSZfosgFHGFNFyNDLZ8Jr79LtNy9VNDZMgWMYC+D9F60czJtXNbANddKD9PwHwfhHoL
j2uLKIm1i6VmBLnUg6F7FpL+jSU7qQ8OmWwKPIO/x6E13EOkt5GRMHHQqEkfSorA22wwp50SBcgI
z2+PH2Zaq08Rk1sSJTBNg1exflRpNcpqHC2aDiMpFR8MbSh8m2/vvR8r1FB1rRvdJppk7WlG4vMy
22WsbmylUBgConf4kdYlbjvo/WMTfUyM74pTlclLFAezcHvyFKhtB6W905QBl5agaiTJVwwMOlBQ
03oy4CTr3dfrPnauUPtbpoeqlVR5O3a0t1iMqERFmiYPzWwGv9qu6Ptt6Jjzg66r9XURR5FOO6dJ
710HL/tC8XDiPWaeBuuRlgXvr/UUFnVKiFlM3Xq6kHq/LrXuDRBW8Zs8DNyE8RpzrOgSL/FoIbYA
gSGdUNfxRGihD1/joI2hL2Ni4jWZlO8DK2mvEflRv1TWpVr1uIDkAMwKlwElPSDL/upYWs0ghcXF
IzkqtTbBJNVvjCqUlziIku+S3lNBGiEm8Ri1jc9IoMidAGs17iJVKG+Nqvw2m15281kTL0Ztze+R
2XafGAmIL+ff02MkGniXwghcYynvoTAenillf2eRnlh5mgQfaifCrh69fpxHY6sr9RzfKUs8qF8p
VYEdQiOCEbeEaWSwSd0Gzoedo/BKMP3Z7ZO4Lx/yodIuNVNHtaZFf0eDKxMFgBeavDrJgneQp6eh
mJ719McEQvV7NnLEVk6uBl8sQ2DMa03m/CuskuR1EDJuSejAqXGwMLJ1L1TQ/HmZldXom5QxD/fy
UEGVHnvsEvd4UVK7Ox9dWQdtfMf1YXwS6hUSMOxp0sHHRMmuNqqeMTKyJcidO0crhX6hSj3GqnFa
Rq2Bpt3mSUCVOXwYutUV1pjCMGqHXN8PicKkRav1rR1ZAwhLZvvIWYZNT6aXF/VMDhw0uIj3GC9f
eC2O2tflTKCC8W0uUPOa8klis6RlBTtN1OffbMafrmq0u0iVrsM4VHbqMG2h8eytGRfMWuQM0rJL
i8THkn2whH6cA1sdbGxYBeunHrBSla21nIPajvdjCKESc2TV/GaGuh24bZgrHoQRSgcysLfIDTJ/
lBUSU+A5PC6EEr+NCrEfi8C6asNIvnN0Jo8BWNltMxr9Ni6CGkeeadplNajQHIDmMUKT8QBIs41J
+N8Wck+4yesGRX7b1Vu7wEyhlDssy0tbvbGbpns9f+OPFykuFJgXTcFCOvvY5v6oFpMEeVXrGJQz
rRO8CHkaNl3ZW1tMX+unv38oWlteNMLzgKhWAAo2OGnTxQgwen1kxJyZ07bqEJGjRyyvzh/qwy/7
8FHSdy0JosCWXNnHbvnHZXWWNId1nbBlFQLD2nqcqdSQveWNMmzQNFs+JVutu1pf2x7C72kzZYAk
o7IYjUnT7MoWycAozM3vcpX1e1FmSM/Hsv6iamg2Y5snaYeK/phHufQA1K08hlTJOGfH1ZVOfOp2
SvM+w8KhkPeaOdf7gmCR23ouqwuziQ+2y+pSlWVTW6ol6ODrllyZ8dkEGMy9lCDudzkqssLHtUl6
TAPII1v4l4O0k4kg0TYBAhqBonPA7XPMKmZf9BBIi/ETrHWPbk+5mrqeIDWlMIzKn0ZdvqoUG7lo
PVpRjnNJZryqXaX9Ov+4jrZnZh6k4YBbLp8e7f3hMqQ5rPORSHEESob4XumD6aHqrXHvCDWFhuoA
iYj40pJz+qDYIiAWhhy1rgnI4uhinZAlKLdj90jjVvhtEPZ+h830D5FO4kXv7OoCc/m4bORSSf2i
4KS8RQy96pjiEsNEYLMC9kNaXhF/oFxVDUU82lqqniDVS0/wP7QUEgaG82KEM8oRzhi90qBCTaRL
CP8RUvExb2I/5iUCdFt3ppqOc+WY4cNpxByrZrC/I4Xi70bIg0dinmubTNFMhnWA4oePmFyLNGV6
BRN9buzbNs7Dz7NaZx7iqWjfOa3hB2mu35eYmz3OOrRMvFymW7MZ2i12T/O38y/ciVWP82CUhyaS
ud7abr8X8ThippZ7Stwn38wkx/g6NIPvcuhQmZw/1vEIZWGi/nGwVW02I+fnNeMDDZ1g2kSxeY0U
ZwuOOmKV0haAw/E3njD2SjYuDnm2u3D85ZVaLRBUW5wAsayogdcCUC1LIaBiAANSk3xLbMn5khh1
tNFxg4FkzgZTiWT8MjPkfJiYHjw1DtAYhpLaSzsa84XS6sTrxmIFwZ1GZXnhVrCR1Ay1UmhR4aUK
bBaiRo0rA/PwC+v/sfiTe47WlRBfmtfFC2D1uukiUqPBge9At0h8kN0+qbPaYIwJC9IdCtwwkpLX
dVPmebFDQanFhGxxWtMot5HbamnGL+hYFKWFHCZAsnlWb84/mBO34mMfhPO/jFTWdISoZ10qLJ5L
aIDRdTih3phpbezPH+XEqw6AjQUzPu8q/2e1tiIHmi09JphntrFhEkNM1FyWwPs2HeVCEXfqgqgk
6Xb0xYt/3YLapcOQ1WEpIXvAudExsAvxminE8/krUpaqdPVC//d4nIR0CsY1vdsI46pwdKyAJkJC
nrERzhNXDhLbJKScqnCORshO+dTOwzYqRYQae4iI0CU10CIqKxqeNWeKix3OW320kXqi3F0R2jOd
YKGrumuOQYdRW1QB2p4/81M3CKYfNB/Ix9qRuJU0CszfOoRbpYAja7e6c4PBzaUErhNPHPQTSBgB
ASqxNeO8jErV7mIgzkQJC4zk5HajSXpeQ88VyoXP+dSHhoUzIAifCCjweuzUGPgGRQzPIe2MNAoS
pq3UWMVDkeOGmpUKBoNCE75dlNadqhGzmJaF5AWh7jwwTZT8Xh4ojBun+zRB+rrQ9p86O2SILPG4
CGhgoavdVqlmJ0LQVmAp2gS9y9xNfldFaP6kilfsuzmQLXOfYHxwXyWaXm66rBieTM1mtmnxqQT4
QMl569rWRJWkqbxzbgP5+BLl4sR7YauUh0uKB0kC68ajDGMwQzgTHuhFs+9V5LtCu7TRH0PjDJdI
81mSzfHdJrjqcE0k2cWBHto3XiE3WPsPE/66leh9lexAGLVxTK5uWt0nZRvdl1juZj5O8dE3HHe/
CEXSfKhV1aV1+rjtQxZBSCuyV94dWu7Dc8JttYHJqmO/VFrjp0rvFie7Ov2NFbTY6uPcX8GF2UhJ
/t7RZG/0yal2owLKfP7DPPGiMNDSqU4s0GxOZrVfTMi4WyQVNS4rpgyHOss2TLSSxwZQ+KkIBR7g
RT7vQlkmo7NOrI2ZV7MnkVD33Mg1onTIMBuzLsVeSbX6QtF4XKkydMbpBtku7DXdWL3FGOQ6RlXw
zCQJxmvXlvYdLqzOTaZNhCChudtJ2WhfGPCcOCgPhNHVckdAlFYTC1EVQ2v0+DW1gWB3wjzrDg+f
bldP5ezVgVT4ZYRZwIXncAy8MONTl6h6RAoqlfnh+zBEZqri1Fd7U5O33yLemecSatdXuxr1ezwi
ccfAN875YZoRtrTALKriFQZ2WXjMBNmrGXXRzxY3gHsFBe/ClLLmb71amF/On+eJ06RPoeGCTMhw
b/1EyqxvpU6u4JxbebftSz26qRvsA8ei1b5DWb+UsHMC3yORA60x3DCSk3geh/elhmFRJwYH1Ado
1ewj5Ahmii6+IiMKczZzNf9Z6cn8qEjh9GXGLm8xLNJz2w+qztjEqADUq5JiJ9k07GzXTZCk7/hG
5rgwJRP20+fvz/EWtOxuUMjoSGWKgVW1nyGmg6wCWK9I8kipG0b3YQeo0dtYMP39QxFRB6jL9wnT
ZnVnBoMKHlYqKwgWRRtMFx23spPBnfHCvXBVJz4JFk4UQ8w8eQrmsoz/ASpEKUCeJDOXsEqsRGGn
l/ZPoanhteTIM67BuGZD9tYa+ZKFy4nbCW+N8m2pq0wOfnhg7L8yzBFlDB2Upt6E7eD4hV6krqMP
4YVy8Zj9Z2FnwYGWmhfrA3O5CX9cpF0kUHj05VhBWtj47U7Re9EgJlwiT7vOTSeNnhmHbOFsJysw
xo3FiiSuqszEfV+SMM10KThJnTVrR8ILN2cUaeZ2FHo46DXqPiTNEGvusK83TqjWgS/htfq9MrHb
dge48w6JCrQJF1aWE8/OYmEhygFgF1rdamGpageaRB5UXjoZ0SvJkv2NxoZwa5A/+AR9RPZzkSSf
zr+bx/s6NZEBK5VylfnZ2ljNDgHyMBfC2qEug00FAOpqyShfqsE0HslhPfxht7Bw41CZET5y+Mgm
pR/TVnEQl8ezikZhNj+Zk0CrjxpFuDGT2D1GnAYYtK7fSyWiV6g0OIhUlE0IQSR7PzmivcjkOX5r
CSNk4q3wRgGwrD8XicyMmTay8dTIZttM6Dh8UhgMB0MNRTheEo3w+COiXWVXDzVr2yt9vQQi1VmG
J2hghW7RZtb3SM7Thzhoeywm++wC/nm8kusw2ZhGMY4glG49a7QznVFVJSMsIqjhu5lFyCFKXfdn
E4Nat8vMaHf+nThRhvF2sbeBeMH1sazljP74wFhziR2SCC/Ny1rbYD9kYl8OcSLBJO47lXCUoC1u
bIKe9frayKZx27SELQ6TFj7BYDVvGDtfJLctq+ThK4SIi+8DZMZkYrX+6nOpULAoVrH0woCqQhdp
W7/SKkq+RUYl3suUWe/W0XtM1tIKcclmKPv+GYgqL7dBYBOykDEwQQGKteUXqem0N1jZre7brVBk
bxKQhBXGDL8u3Mrj6pGpGisitTMICw/y8FaONSQ8uZElPO4GAkmGNmOUNBvTXmUiudG1WUeuGE1b
pTHH+9qxOsMf5Ep7wzXZ3J4/l+OX3dBMKB4AzgvWdWQDhGsv9TV+lW1Y/UDlrNw4vfYLPVB3oRg8
XlM4EJxSNlWIYlBWD69Ziqw45/XiQM0YeIqSJoxRmU6cv5xTR1n6ER2mFUPTIxG6GiRR3dHopG3E
SzEU9mYqsYg+f5Tjm8bayDuHnnBZkteaSnUosd4wldSLo7LxFqbhFrPM8LpVjbfzRzq+HibiJmMq
bs0yf1jdtZqeeHGnJwQ2LYobgEHg+7G9aM504oIoRRi/UyFQsNvLafzxbXcEdmlKHaCzHVPnLq6m
8T0EefabFhOakVfzS5h1iYvWllziXkCoV/rBx6C19sKiYa6JIeJNFsZYx6e9dWFrPz45egcF/jS9
BF3gOviLZVoJgixDVKrXb0GaqTijtdpTYqfd9/N3+8RccYE52GkZ5xl8oasPU8OwkSUklVwitzo+
P6GkbqKo7TWkzmQzJhOZ9BJbhgeNVPUDM2pf+rYJX6lb1b9tNYGRwqLEsqEJLzS51TNJCqCBkXEQ
2x3MBl0W095Uw/TqwiUvBcThCurgxQMPakF6UTGtLjmU+jlIawLGCrVJPzvs/W5sM4rBnRl+ii4n
oA+46qfd0L9pbTn6eN8MP8+fxPEThvFM78R/UJvjfHf4+iFPRsfIHomQwYy30UxnCHDRY+NfX7qr
J7axxZuHLGJKbqJk10IV0vlYc3PyCe2oJDHIKLMFRouzTrkhQqXAzzcyjN9ZKazYBazS7+aZesAL
ZB1ilE4GLW6A8sDgQ7R2Ynnnb8SpsyONlEoPez0a2LXCX2Qj3mekLEK1svGPHDBo26loel86NPYv
OL8314k8yLEXaghsoLuEO6y8n+zCRhsy0z+Q7SJIFT1/WserENAfH4W6cLQxBFo9H7Ipskjq0txr
pz6Dt6bnexPH7r+7FS0sQ5QugIx0jFCpDt8CZUo6mQ618JhAST+rLC5vGJgLhvqGfAFgO7ogDsUM
1JZRCXG89UuAZaleFXCIPGcktHBItHBHi/63cWXcfA0USez1iCr5w+EFFYGEneaI3zvKg+oK8hL2
3o1t+ecfznJbDj5g4HaAKOAovmAYpKsPOM4sMQWYInqZXUyf6zTWPmvYyL5aWivv4TebbmjKzdWE
gzuWd6L8+08NSHjJvOQbljmJw4uMg8EpC5PWCkrKAqQ6xa6yezJkSrKezl/pUS/E87IX0vAy8F8+
4cNDQSKj6G8xIlHVEveu3C1UhRSr64jSXOv+ftLf4vaycPo/2GmYKR0ersVgxqmGxWrGNot9zu68
qc3RZsIpTF9Nk2GX1r3ukaZXbdGz0SPZEB4Uhr8u+2a8wc17eDp/B4D2j582J8X4AJoAU6j1DmWP
bDx2TZQJMAFxF2OPd7MHkidDfinU0fGMdCL6Ysq18IETIHtvhk7+I2uA6Fy71PS3OISDuIuMcPwh
Om2+YYLd72qcU1QvV0wVnn5esO2FlTFjNND2pYAc5AjE22oGiVSESv8E6cLsUKvUsvFsml2vuwgd
oIiBwxIaFilz8xIF2DB7ejhicBF0I4bJVjPO+TVFKLTQgkXYQ/mNy4scSsRAdyNpN5ui09PYj8xS
vW8lJ0jwHRnamx4jK5z7i8h+z6N5uDKrKZPIaEoEHv7wWBFmD2Zzz9DKTjDHHolldJpeizyIBNKP
xIrHGyeC2ofoPtZ4R8OQwO5+tKTvJWbbX0IrUInya+avvdVqb2FSSt8rOTYKYtONqHR7NbUc9oJe
uiefVyLdXR8rjKepkurbYbEg8quhw48YShbOzqks8FaCZZNIeyFH8W7ScUXa5aEZCbdWK1z27LLC
WIDoO9mXWtX5nhOTwAUiTPtaEbmru3Ivk8ElzSjGHrpIZ6FSsNuGBphPpDn12Wyam96oicjKEoHp
KOaaPKYJxC/ZMoCuvg15mat4tbcC/7QumV5gCqu6b01y87kpxrzwe6cjZwW2b2O5JeT32kcoxIjD
UGYcpVrHkit3nKv+VZDK+IKJO/OopKq7YpvxloRQEKup3DhEP5bXolrUdZUocuYPPZsb0QqA+f6A
Tezg8paZhk+GKXO8pjEJ55qKCsc/Omh18s1FGoc0U2RviWgnPmzs+FU3nAjk0ZTSKdzQMQhHgrzV
v/ZOLmQsqgcqTbDnlMThaSzfADr76dmR+/o1xR0MNiEELN4QOtFbBgKy4nVKC4s7poiK4GJpw6Pc
4dztFZHVLMJ8xg9wCKNqCVxPMazge4rcMBitz7iJJKWnRY59X4lmuNW4m/xzVrhk4WmDLjYCQSUZ
vDXiVq/MlmwFXkRrYfml9mYuS2NyAYZZhs8vBcdbGJsl5RIL/8KfWddtgZiSJkkryMYhdv+y3LHN
OFC9zx/lmNO8qLPgWPDt4BtJD3K4CKqVZcVquWTBjDG+tlOUPmejahJbACE1iPTsCmDA+aRMGrbQ
hYHMRZW6CAPiyni0lCz5PPU1YUpAcs6LljkmM+xmvHCSxzsgEoXFVBYQyQDhVA/PUWeCKvqMXkSp
0SF58WJL7MDVvK3jWP8kJmP+DGsIfxjyIt0c6H1//iYdPwqod3Tx6DeQZoLJHB4f0pZgrK/jSixX
9kNZZNNz28rOhas8rg3Zj2z2WhoUcykrVhs9QI+ay1GSe9LIlGcU20B3iH2WX4zQ2FqF8Qp56jax
Bf5WhNHOxHLi/CI/NPlwAbg7Ktdx6kI3gcSMIS39/GpjVNTK7kYVjVagzcFPh/QMvyhFe1ObBEH9
3VvLxwcYZ2N2xdbvrODPUa/HjCp8iXiorF2lZcHvqrX+dsYDA8ylwaQDQfsK4eDwAerObFgtwzMi
Rrt0O+qh/hLHbXgBATlx26gEgT8YTcHwW4//MasnM6kCpWqCISXUpBFbcuAWu37rQh97/ELC61/s
ImBHYjC7doBsNNgLFtHjnmFTqqSxNW+DCvrx+WdzzAnjiTCjhq+ylEmggoe3rTfaqE1i8uodHFaI
lSpArzwhp8Le9AFVkYtAcSSTiC6KDLFkHr9kRlIlRExpsKCDqu73vdZnw4UP5cTV06YwnMX9FWTr
o8n/A8xoozrT8cPHQKUpzA2SS3uTKvganb/6E0cBcbQXXw4KUqg6hxefqnVLdCcosZUpBM45/Xgv
Z5ly4R6feGeYsAPBg5zRG63pxUafmsOYKIsBG3aDY9JWWxBm1GmNdanJOwY/Ft09EC+zhoVgtiZk
VkFZsm3WNBLWID9G5Mq8JsKZP/exEV2pRA489r2SfgqDMMbWXDW/6ENqvNQDjfL5W/vBmzxsaTgT
jUWVCa7DS7Ja0KMK++IghihjYhcWX8+BkL9Gad/9hKAYw0dDBt+6Yz0W9g1GX9qrMtZJdD2Y8Zx5
ud3pzwGzmc9KWhIPWKToAzK17PdzZ03RJsOt9BfybIijKvjuTebMVbsVYpTf0m6cNGxsQhD8pMrz
33YwNqpfhiVYYqwL8/P56zx+uCojFiYt8BcXf9LVZXaJOVUKLCAPM9/EB2rUsR1M1K9IJu0Lhzre
Ihd8V2d6iSwFzuSKJ2CAHiPmwfp51rRYvRZy32+sWm9Dt0pK/b7OibDelGS2fgWVqKCBj0Z9yXH+
uH3DO5NNAxevBW9an4PZ1DNuLIQQTURUvxYJoSUkx7dbzaq172qUTls9qNPX8/f4uF9iJUCwwRMF
5D7i7RFj0vIuYQ1rixaeaDAaxhfsuoy7NogFO2l6SWl87IG3CGdYdnigTEmc9WA3pcmQMx3RRJoq
9XNuC8KUFZETh1aHdq/t51ALG/LcNOkpUh00gXZaZc+WU/REl3VZ9BiPAe1FWUlYdimwvJ5T4lh8
rUNYAL0AT90986b6V9kWzVMkxpIRoBHF30h2cjA/JUzksUXbTB5kwfiK2Cyphy4uJdmmCss0vZ2C
1JRcYiNr1FB9ReRLbUu54ps6bBmfvkf/LVlzW1wl5EbrsEZa3HTrhkDTWKTz10ZqrGihXgb91RSy
S7oF69YlWdjRp4ENOx8+w0eoEvQay8//WMMbg/BSgg5JJRNtewtg1qNMIGhZR5Tgn39DjkZI4BYf
pQUCH77D9YQ1RFVly/HQA2xb2V2qIo5bDLiaK/IK6ita3BC1hKXeB2WK9d/5Yx9tIhx7idFgAQA2
5b+Hl4m0SwpRTGKOwsTkGvZB7fEL2v7jKP/xa/pf4Xv5+N8rZ/tf/8mff5UVzs5h1K3++F8P1Xvx
3DXv793dj+o/l1/9v3/18Bf/6y7+Rc5o+btb/62DX+Lf//fx/R/dj4M/0KXH3fypf2/mp/e2z7qP
A3Cmy9/8//3hP94//pWXuXr/118EThTd8q+FcVn89e8f7d/+9ddSqf3Hn//8v392/yPn19z3Ij76
6+8/2u5ff2n/XGYKEKfA5WBwYcX01z/G9+Un8j8ZJUJ7BrLDYBh/iGXeUNCAR//6S1H/iQUXFQ8o
NcUvdkN//aMt++VH5j/hOVGgkoUAtgiV1P7r/5zXwQP6fw/sH0WfP5Zx0bWczhFXlEOQ4EDDDquL
9nPtGqDOKUbkEg5/VWRM8W4wGlsvXEWDhbwV0Ou3QLEj5JFI1CZWJqNu25sB8773URLZEt3UTr/0
XBmJfRr/N3PnteO40mXpV+kX4A96czk0sqlUelM3RGVlJYOeDJJB8/T96XQP0DNAD9B3c3vqpERJ
ZMSOvdda37B6sdXJdopIPGLnHNhUU2DBeGjiuekDGF1bbzqJ9H1olU1tLBpget94GReY1MKSmkjK
OSNOGmdVb54lk1TBWGgqm0s52xsSi5kQy0ifecnDJtK1jZy56ovQc6q5PbcO3N3QJvtrOnpDboqH
AuJOHnZjQU9ZuYS3Rp4mIBEOni7eTcIAJzoQYFRPwzwzcyGscwISPkoyE7Av7xajk1W8GFx8mC72
el7QlmDzMCH9RkaR5z+9lxdPU0G6XsJL2EM09ebk4G9bCrHDxNS/2A3Kg7C3ZfqaiiHvQtacwIDV
dytWzUEOzzy5HZlg2QjkD+S2Bga4a+ffeS9hsPWpQSLfouvAFfttqyxmJYPxg9ZSTomCZmrFzlZU
/V5oNQLNBRohaSTTtPjXulGFHRlOisN/Zmuadpxt+q+gNPFXNuVgrgCrVjz3Wjd1b2Nv1e1+mQzk
GBW6GTvBxdfeo/gtYMMFjnBizVYU99lMA5BqdOUQZsphMPcmfrR8h4YW5nywpN6vop/mC4qq6a/S
6eadHQmnBjA5NE02ZQnC3tOcaiXgGnbOAW73NO4I7ZJ53KQ6kyDSahFqFJPw1tiYaJrsMTemoG61
xaTN1Rgfq5mOziO65foXXMc570PMxQRKdnrvLa/zMoDKhY9s5fvRhEwcbbnHiavMB3p9kFflAFxT
1Q8OCp0mES3Cf272QYVeiU4jxIU4O6E3jNavdu283wXCGWdPsEn/QMOY+D9zdB26gYEPrJS9LavZ
28oWlHqu3DtfOaAbCTbORgrCkljN1LehaoKka8lY17IKrexEj+CK9mdVEcoOBHr0lV2z9//oaQNw
vJin50lZwKBWH14utodyqsHzLP53oQb7vZjbeYtMqvOcA84qvvRb27DPOKbDf8EJyLRfLSZ8VaP5
UCQDfJSUrmRS9ZqvX7QOjjURQOnPnFXibON3+uZQZT6NiKx+j8pKmcY2Tfo1ag2JMlUnP81J9Sck
DPZrSifyU7fWoT9YhcrAlsNsW3cwuE3EcyhoT7o73OaJnJoQVdt6tvrxqEAGhzbP4xwtWZt/eq27
ajuOGMQ+5tIUHXYxvYalrBRNfQ1cAdl9euF2EZGP/Kmv+RtkUBfKH0P9vFvDPii6vZdVfcQsyfLi
wjGqh1zeiLqzZdXUDoYrvlrhqw8LTvnrzNLyLKYgr0kjuoUKpP46/XX/+alHqo970KLmA78us7nB
GI+16OSXLChmwcHY8ksrej6UzIvZ4NawFLi3WdOCyB8852+2WiOdRtnygItugXRbqtz4NVrteB7N
oS9jUSL4p8UPsp4LzrxgV9JvyKPZm6aXXB/rNHK1wUrvmkVCdufQh4rNKAoXWatAZBba2jiuV39c
rHrbLSwLFb5Tu0A3pgYvzx8a1BB7rWjLK0pdZoheBQN8N4tBfmHx8oDBO/ClMUoWpdxtWVZfCEC2
XchVvLi0O2lHs9sYxRMostbYOSCiu73LkWQ6Wv3G6khwmWEh++3NnhDOqiUUBMiQ6mOmXP5OMsEo
kzQz3Nfa6NqAyyoMt3/1t77W0Ub74qjluVguPfI8se9y3xd77n9pvBNIYqx/bmlVnxYdUXy9HKxR
Ntt2+xAgbwUZ7dcDBOpRSzfiMqrpKkheJlR3wJ7DpqC5GItxAUOmDtT4O8t0cGWbA0+Tf0xNSse8
EXqSzWX3muN2+pWlRfpmVm76wK3Ow5KaRv0ze6u4Z8sllWZblGfc4ZD5z1iE/1GJ9N8WPv9HsfT/
LKT+PyyRbqGP/32JFFFmyd/Vv/2vH5n/+d3829PfDipt/ue/Flm3V/iPqsn0/nWLrPxn/OZydr1V
Jf9RNRn2v2id+f8k01sGp1r+5n8XTca/mFOZnIRMxu0UNZwL/7NoMv8F141y6lZn0VoGnPM/KZpw
Bd1OzP+1ccAF4MIku+A2Q2a8/38dcye2ln6U1T5HMZwRgTI7g6Udxq4ZQNq69sGW+i93sLq93gXT
L3vTIZXM7njt/KB9Nzy1XCXOeMxTmtfsstQImCfkX1bfyjTeOjXErsrdPXn1RkwmMZO3XOrOXw8u
wslheBb/84pLny9wOqqvtTQNOuGjkKH0/PZdLPWYH3FndUd96pa3zOlGNA5W+WTP0rlzjfUG0mo7
/rrQmH31sri2HW2HVIj1bSG+gtC44dteDV5xcExxHJzCO3RsDBfAxVZEfOsS6+vSJAFo70vVDFhD
q/Eq8psS0Zm+i2L07r2qZuzCsOlYdLp+sKrhmzgJ7T1v6vHajrWHAcdr37Vl8u4ZEzb7iSizY73m
3v1EvsBPruVfCs748faX0Km9e4ZVzos2zd+4VdYzxM3qLvO55JkoweuyaM5Pr+XegTQf7wBb6svL
+AI3zyqhYG7QU/75GKLx3EMn+J7+uUp/ncurbvbePVOob6ilX5CPhzjrLINZ0jTELcXpAcOWEWfa
6PzYhd6+B5ONGknQX7hORq0f6FCWVydIxdE0xBKP3m0c5jk//KqwEwwK26MO33pkWTcMYM92+QrN
mS+gFkSljmre5WQe3We3Cx9NrndNZZpM9Dmvs+3epCDccfeba/JJNC7fQZJ5nqZBL6PVrUhylqLS
D0oQNtIY/AGn6Vu2XirM73riNefSSq3QdbTCQe/Kj9evox7K1iuhQw/fBZPnw7Ywcwy7NXV+Cpir
fVPxjtb8XcviSw6aGZm90x5vX2tjjR6rMx+5IQk1tvr6awP7GcFyJ0aqy9wfHy7Qj2Nn+dFq+UGq
VXiHwhq+rSV1722nXO9XTdq/zNbkW/TVfTk680Oz6jN7GSEr/K9veqo/GFXaqkj1rXn0/JwQRY4i
1bPsRy9BHOtdtbwvz8aY5ntPzQFFwmT4bzp2zrhMpX51QBIk3WD5dzVxmZgp4XiHgTW3O2YrGrF+
s0NHSp8SvVvSM6Mf61I2QU08/CQ/83KZI9de8mNgge5FxoUQzRvZLLTBy763WjqHxmuWNHbMNj14
lKnflo7TAd5t2zGan0bgi6l0YoIphsuYdV3kt/74t5iJhyMjkVljhq44wmNdhZ7vD1dSR75IaivC
FbsTzYGN3GvPLt3HXp+t927y56fC9tpEZqYg+N5axW8KPibrmyvPfuUYhwzc79NKss89d/30LoVm
JA1yNhWVU6/ilibD/eAa3cmjD7kz6nwO3aEdrJBtu09aczbvtbVPn0gYEdxaY/AAoZHA2aJ0kKL1
5qVcg+0+Q+LKicK0YrtUIyWRrkcry4aIpGRInI0BWDtdpyWfNpm/z0ldTLy5cO9HlyR0nbCxZyjR
nI/8iYQpx8tOVVdXRaj5i3uZYe5+1bztbl0q5zjV7Z/Jc4cnOuukGRLd7pwqkkaSAAoIcdta3GTU
vNRvL0bDb5vMZSMTizC8xKLzzxU2cmcpHgnmuID9ctM+aqZIo6mp5xOZB28t5c6DIH/8vnDb/LXU
U3kyG83+GobOzkIEd2Ooubowwrofy1M9mG6HMt+3jkZnvN5qrfeg8pz3qXNP9D5t5tCzePHypk1c
jao+sLQ+BnuwHgj5WTlpN2I8AV5N3xzzRkQox/WQQn5/IPl9Osjat9owrZ0N4DsmlbnoyvNoFNrF
pdh/YugRQKEAORxJHTmE487w4IdC23Ydru0cP0JefXdd+hdENeh1bTlYwsAo7275MxqO4DBpQHxI
lW89vApakWLdHYfQFNJ9v4nOjgZY8GiWS3m4qTAZa+jynu9/Cid7qABT18UVc0ez83u/f81mBOnu
YjgnQX7XA2BwLRLwumPpwB9eLC8/i43WoxqmIBnKDCI9WX/hUsJxEWZPErdUZai3HGQIDcl+b5PJ
Z5JEKYC6GGN90z7KLd2scJEtR097acvT5m/1ZXPImzClCfO0WdxY5uSFkZc2cG7BhZWAJgsSZxKH
zO54vPGr/iFM/yILSOLtyOf1Nchvy2LHwVChZXPX4NClFWxbnybCuaqh0Eu4VxdCn/g5jDxb9LBT
lnEWSyDPqylqxvnS5IYynP5J6J04UJTMUa0vBMAH6XyUunLfpdIhg8z+/IcDkU8N0L0MqsmPsu3q
16ELtjf89/55XTL99khY957ITBZhjr+n0Wh6h/BFdwReMWucdvNhpZ9LKt5i5JApV1wleOJUYppp
FWMFRmyhpV5CYlF1zykSc7EY+n3NhSRa4LO26uCCbNSAR6m8E+nT1slVZB7RRx+TBbcpRzl2Kva7
4mgKu3jUsuypmqb1PnPm4JyPW/k94S4M29RZMa82L2ldsT4b5hx1lln/zYy1ubh1sADrIIouLex2
J0nGeqir4Rk2Rx5AhUghf5Tp/NfCmBWE/rLSFGDBHw5BWhPhgsbrUa9ddDzcqd7J5Q3h7Kr+CrFa
/2YE750H2xdvprt8autgn/VV0S9N7anZBcSgPVaD296tGYua2/Y9DZRt5nbM2yca+AB9pIHgBnpC
eh3b/hHNDOE5nbhgSO4fwcHSZUk17nY5mgeH1985JNMiDGriXDXquUEaGRO4MO9TUV/pmb2Vq7c8
aHqqYjkqUHScwSMRQFFhw7VxqV54Vtco67mJSRA4zZ4corrr6qsn+4fBYgPIa/NFFE3s1tsXFewa
p0sudm3g/ApSg9t09K2kQ8XPQ5s7ISG5QdR51bOVe8ZOyiBLkH7op3ol/44yTYv0YBze0ll4Z1aa
JjFmy9i10NfDpivV16aW9ldJ/4DGgZ/L6+YYy1GrU/s6NJoVeVhIn/IuCPZocElVDcT2IwN5krOu
ng1nSK+9mWv3TuPjNoUuuFOZtcZ1zz6HZs3aF70P0ITe1cFsNZkorbISMVvrDoGgtevmyf5j5X6T
VPR2+mS1Figm4/Dqsrld6mLpOc6thna0zWntwqaFtcRTYzK8qN0enkyjv/pL7f5ZjaWia1KCNvEG
kSATg5RG2uJ+WokFyjEk76x2GXdAtOkXTrRmVLmcRADYJ5x4pE+WM14YaoAXwSyYDK7unMj6qfd4
AC+VTfOhl+64D9TQ3OMqxamRD+6rNdbvhTSJ+DfMPhk9W0OfOnZ7x1nMMBcrLJbKtXGqkIwFlisN
XW3Gt90WOyvIUf+yKEZG5pGQ2LPEZa2zHZBCrbuNDmqk1tEmnkzyoAmVn1VvCdqG83TwjdHfd2uR
7zW7179XUbr7YgjI4BlgTvOZMHrm03YGjrU9LBQFTcnYBu1ZHem5/EWYZB7a9lo8btQre7z99l27
2lTDCq2RI67aRu1mLGIOi6HRn1fduMKmEagekeO00+rv2RgIjV1R1CVkOw9/gmWzPyt2tz+pWINj
0ynurlbfjGPTzL6x09O1Yx0HKngZS9Sp4c2Mb8aWmlDI+a08enZlPfDEdkdjs52L30mLsA9jzD90
byjvHBJd7lOVjikwDWd5wQ/U/yY9XYs7sxUHYhTah2kwjMhoVXGpq3k7+369paHscjfu8mFDTaeM
/okea/NYB5r2aUA711H8uul+tga42OwqQOdss1kfVNZrTxOPaB3Cl0m/nLZMD9SEw5uT6mVGibSt
NC+I92Js4FxzNIm7lIyQPTn6RRWORUUiZQE/+2EmUvPgaXo1sxuN/aMSQUO8oZsuN8GgIiep9rov
CxPRNxvFdkS2ptAEugBPXGVue0IuylAYPmGN/ey9gRKaE0eIuQ0hWhkXErXqY0NMyUNuNV0dmmrQ
b2FLVnERpXMxNJB5rjdsJ1GTd8dxx7NCrzDFLcypetKMMTZGCit3sn26VPXvsuiyuB4GdfaXJk88
McpocYM5RPiWIpBzPpYhB2mhGa81Dr6o8cAB8J+SrNapGVsiISb26buJXB5wdpxOgJQMSe/5vwkp
3JJequmQSaHu7Eyv7miI/qaNSfObZuUONpIKM41iPeWm/VZIMqMMJau3dXu/xFzGtb6h78MfN5en
bHLnRE01/TbRA2etadQvyrksxZBfbHObv0pXlveVWO0fGu7G45xl+V1gFsC3Go+ibM2zZLH0+kD5
8+g166/VKGRo5Sq7LDyvMcGzc7LOqXvyDCc7Nf2oJSWzwzif+rulHpxQ51Aay8xu950mtvtOTuVh
9ZTxljqaDF3SpaB10qZ3zPFOles3aycIL9SkBwxJwOBFmYBc3hGO+pbK+qVc1ud6dGA2uYSmF/n6
0iBQ1OWghw3BzEvt+dGQF/ZnN4vt3NaF94AMqnnVFkLzTM962yb1mdZb8zCRQM450Egjk0fh0nVk
C/fTd945bVLWxtdSt/ChpkDFEzKFUJcugt66qHaFtclXHW7UXcFnO0LOynb9VjzTYjh6iB9Cu5zL
jwp8iCqWjWzE0oqXXH6tuf7V3GqpXLNe5MIuGaRlXFLZnoq6xJzulL/AmJE9bzjPtOd+loZ7cGuv
rb58tnOrdu4yP9TOTfLrDesdLWXt5I5+uttcK64s0IZbig50aEgMnAzt3QBRFVIB3s0T0ttSlXTE
9b5IgqE0L1bRqaTf7JbBJtUkvnPnpJU+DQu7q/Z+VtxTlhphoTPYKjBzJ7rQ16RzsX1uZpVHYpzu
LEe1f5bWW8sQHQdmTBTsccAmR9zVsrxomeeffTqyv5j0DbHynSyhaX7qdZSlY2D90dm5TnPlhyhK
dn7VXkriEK9B36h9QS0c0Qb6QRcyHefV6sMRkVKYtpuJOTDgPp6ac+EGv1pbPW/SHkmeNC85AQYq
Vz8E4/0hunbX9OXJ9BziFagpMBYEd22TnvOWfZNOzr0IUtAheFqt4lz0RF7bel0ny+C3O4aob02l
nbWgeGUANV9sOGBPHYEwkWG2Pwhjd5M0vx1tO+KUE3FpcJIbnfJ+mro5FozuCdsT5N4ZxnuvB+85
9W00mv1BNc6ZpNuUc3eQha0/nCpCRIaqpHynJ/us2CRLbgjkgdpn6S/MvoLS3mfL/DGjy601w4fX
595n7nzTbWUcrad2n9oeWbBM4EwMGfiB6ymuxqoGDTovUU8nnyP99sMNvt20XjC3W32f1stblzn1
IwPOCWBKc8LM0NEAqF4JINzXzCCTOrdjtm0SeYO7bqqWk6lPf+nPNQzd1s+qsQctFIP1Ymrpe21p
22NX6J/tIFmu5uHD0PrH1jH+khnw3gfB17xmP4Xt3ykSAjJr4jQe/GSVcfQ76m4Tgm6Y3cw/iy2e
tmn8Ldp+Ps8boZeis6adWw3HbHTlR6dpI5Jvo7yOhLBRK+rpnVfjAXM0RhpVJkoKzQFaXOWaIUzn
4MCO10HBI2wD5k7M2DnUbzORytH2+I1Oy2DtZWuf6oZwRlNzD322fTfbAuR6rJhK9Nu5SPtPvszn
sRGHtmbE5xPvJyq1myykV8N0zDPpRlgg6AiUsjoQ/NfvqqZ1r82kRdU/qqXZeEZNltFnUjuduKFw
A2i5w+EZZV73VFKbZ64V0fPk2FSRKlSl+zaoT75yjxIBr8upIgzmWhDbL0+LyN+qrSPoSwxhPWW/
3QILBKAuqr55T7MpffXIYIsgD+3SGXe2Ul53oI5/1DbtwvOw51We3K24mkz2km1z7u20OI6LnEl1
qt6LbHhSHRtl2p6R2GlR0E9xW2yv3ZatMOVyLc5KuhmDLR5r9q0wL9c3cxEnvUqv9oS+P7P0fVUK
hQIxODI2TkntnQ6u22UvVhOMke5On246nDkP9yiPaxtFmSHw/FvGHuRbGiIm5e4VgpZw2+kpXrfK
+818lzN4WQTovDV/gGBndk9Dp15pEhqgAHESiKzSo5EMiX3ZDH2VpE0xvG1aIy2GlC0NjAC2DoV8
wfDaY1XEPrVdiML0j4RzjzuVTx4Nh96LYZY2S8jciUWTaebJLcfgb2UCIU89hyJADMvX2DZBOOZ1
e7KDQV2oVJvvtbSr9y3I5HEwtvw0enSG6REsboVLs26ePeIy/qRDbXzSYrMPVTOZD+hthlcJqDks
5KYxLC10juVjeqq8cj1hH8cUMPxzSe0blQlRsRDtY6PnuDdQqMZrO/5FI1SdeWydnfIavuCVEWPq
u8uDP3nEKEzt8ARN4dY0Gl2OcsKQO1/fVGIgd72WwCcvKzo1JkmBeBDkzhzszgg+ymlyo1x3Gd4p
0b95SjQvg6jK39la9vvFb8edwJIXWvNonnTme48q17h6hmD53jQmgxS0rhg+CynS2B0Xvwyl6QOP
V2aF/5tjmD6N876SnrrjtE7DYZAM/3ngmgB3sN+RqBUi1chjJ3fSZwKDgjiYeyPy6qU/DE5f7ZTw
nENf1Pajv25/16xIL3yk9EjskNqlbU2loWcceI1Mz49NPo8ndpTh3KCY2LceHhL8L5bx4RazunDo
YLrN5rtbbVoEs3aLVYeJ+SSCdX0WbZsdPa+vvqdp9J6EM3xgEDWH2Ju0S81hMG5yyviUwvgEFuXR
lalAvLS2MagNHm5kZjHpRPJ3mvvrc0e8x64bcUvR6lr2lDHT50bfAIKev+LpqeUBdZcWTaNP4eoZ
w1lCR3nt8ajjB2LF7hpX3Im20u8m9r+7wdUIU0e+dcrK9VgEBZ2byRmOftNNx1KCwSNfRYNqUfya
EVeQZ5I/bxbHlrrrryP40rtORysy+s1LDq30SQWQrgU5WyKcxhqRRMWBYQfFY4zh9JIvCcn9WNVB
HnflVt5Jt8WSO4/VAUiqEd9UPjVZEI068rItVCk1nRGyIntpJw2rz+2HlU0hT5nEsUwgU327M5Ms
dQ3y/DtSRW3okbU1JlOh9+zmC3Fqa+0cG68uYtDXLbklaxVPmcxCJFxzmNcTGf+Lyk55URm/8dXh
BzFlkWS3VQUFQndZFt6VQ+UcGX7mJcw4i13aTOM+D0x5gnaDf3NxnGu1qpepW9cnUvoFFip9ObZr
o6iW2wIlR/o4ro7PxFeWaPrL7dQPYxsTM10nRT5zCkUEsccZMicF3baoA70Lp0HkT9y543dTGWbo
ulASq4KZCQMbL85Naey8anpGHKGex9YtE/TaVlSJuXkvg2JKXHfxTlPBr0HLusWXI4EfeKKKlWX2
e3otjE0IP7w3ejpMpPH0j1qpuZd0cdId13Nph7Kkj+hal6Kx6jvTL3/Zcha7cbWr45Sqfk9YNA0U
zly1U5WsjoF94vk1H5QxT1cFZJeQlhGkmjOXaCFEtXOy6XNySayfS9e/S0mQOeRo8/b5unwpCcSo
XSuAHDkO/POoLfr9SBI1Nq7BLsK63ozTihh8L2xdnlpd9hdGUcWOAnVHjytRqh+h7k4G9XazkSnW
GLFRj/5OyzQnaWbY326a6vuFLsSZpqWeGMLOd4VT/sWEZJ1vwK6jRQ5XkumF8aUvJA5Ix1pikQ3I
eR1DRkAO6Azpwt8xc19OqmvKyL25q0fWhh1RZoSzaT3rOsmKF3ow3quy7OqSpZ0ZIxMYEmwPQ5TR
ayfZuiQeSQ4v5VyMSTD2WtS4PU9g4cvTukKo5/GZqmPhVL8ZNlb7vtLni+L/jiy90pIChOphKHXn
Jd864BBVle5a17kTtU1pvzkTMqKyhyCcgWZN3Zon3dMGPqRCfRPIRY/Yn9xHEl1c4LfdkFFBj2v+
rEpQzG3tzGHlBfkexpwBhwmJwKNX2kyigAi9GoqpGTas7aBtwfhHH6fuvne2+a82Mck0NIXJbqkY
iqVMDC9rt/X7Yak4htFTedhIggqR22p0fnOeAbI4j267WR/GdmuvDlX95jsK7JJjk6bFySeudPrP
XGbwsOZMuRZLVacaJWYMRUO9ql5954S53tcDtQx9fXd+65S23Hd5sUX6NnyD6blNcXmRyW3Qw02e
nsetq+yPjUf8QV+9lOXOkB92lQcPt6BCE5O4M6VhyipDaU466Hs/Z2a89K76rEmKx0TVoj+OyJHG
1a8XLaRStFSHTPg/C0UR/dacK/frZokHoxtPqmmWt0KOQ1xQEP5aIGu/d2ocD42fjafJ9dWnvgT1
o4E7nKkVsVb3Vuf/zI1T3qDmtvdZ+5APvEDZV68zQKeWU4buTvJlYutgffNoc0imkBcgyu270vn2
GM79BJKJr1zXlOMmA0574RvIRsJY8Vsy1dnmxfjGaOcymkFQR0J/8dX7wfyIsmM+Nsi8E6HZOq7S
lYkyLPn4BoF7gNGVHrNc5FSTuZx+bjLWIq5X5cb9ElBeeSYaH3B5DfhnOhoYH2PTZ+rueFOVRp3B
wVqu/IdoVXxFi1iLmJhD/rposkMpxv5B4Fu6qsBOj4ZHP3ViTT5aurQ/etINEp48vtnN6haOPnze
QDHn3oxJfjQpQ1Gy2W/X1lYDrHDSo3vUlx0zDbPmmLw6aLhDJasvhZs1vuW4hTbh0mgi1fdN4BgH
dcXll6rtjozZu1M7a3pU2FN2yLzaurKoBoiBuBbdS2uE2VK2X6vTwXSY3LrvtEfeZjybjmQtz3Ld
fzMs7r6WoTUCbhLhxv3tW2n4rA/pwNoVdzX/niuLzu5YrduDPfvM5KwvwOQIBFqcg9N+LfXBicAQ
2wd6fVZYW6Ad4g13ZUJuO7e6VX2ZxHOTddlby/yd0tqNArK4yc2pA6P5ZMwuHWjAXbZcZNV4hEKl
9s9aqymImFaL/q4cx3yO00rwpqmxzvI+WLri79aM9YIxeuiqa+VILZ791jPOxZpvdrJxkhRP5OKZ
1y7VLcILNN0wYoQKrUqGpnIGdpMNgmTEumBv+DOm5S2li5I+kzqtpljzs6ciJwWQfbPXAcjUs8aO
BNnx2zSMjoksT9DCEb7e5P1UCISt5jDID7JdOf3S+a7eNk497KbDpr2T/zN7741rF/WuRJcwU+uq
8ly1JtXGWncuN2IwuiQceUXwMZP2IS+MaV4nrBbxRiR39xv4UrPd28pw/P3S+tPJz1tMvd2Y6sZb
vrSaEa1k8vZHQn+hoc9VISOHn+V1a1l2Q2PanMSDD/+hO4PzWzlqvNdmpVmHOs8wE2xO2d9AI1kF
4Fq1gj5E3zz6SKoiZk0GtImVKA/z4HFHnQmz9WOD82kW+z5jz/jW09sF1XgYeu286S6AqUrfiH+c
OBcxgiyKUKD+269V7T/Q3GaNICCVNBcxj8ybqTP8k21ju36fh3QpwfeUeo0nTwCOmRl/QLGh9dEw
EMUTfmf22AXoWrtEa5BbhpiWyZ1hV7FQRN7FPqqFGeWkqHNKs0ldwFr2I/UvuKs7eiX+GDnCdf+m
qhpo388tB7mK3m8W6V5QfVVOY69Ra5r9t0CibV3Nss2wCqFV/HFwp1+1Xrdxm/NmBKS5nJEtD3sP
pN2if9IplPRzUVtreWZ62rl0err82tl4/pJp1gJ1arhqjltYUQgcHSlc8UHQqA9a8Wgr04uFze0e
Wq2X+bi8LSA6g8nCrIeDxBOsvM1D3pPN1Xys+6BGBwc5aeK1Oi0IUG0z6vhZELbCO2Re7aGRjXn+
ooA44FhLjfpobeu4CzTdvdIRGfbwp5o7o52K3YgYJ6I5sN9EN75QJVt8aWPxl+NJM4TLkE5J4K2E
5XeuoLao3qjRLht9A2mVtI1zdz3it5GxhuadJF9XRW2/NI98mzmTvPVDaxGEeun66LVKj/KKFjol
yBhpBEIxj6T8bf+dvTNZjhvZtuyvXKtxIQ2dA47hi0C07CmKpDSBqaHQd44eX18Luml1xSAfw/IN
y2qUliaZEAAc3pyz99rtU81KfGnTEI+myN4mjgY2chb01o27lgLGT9UxWVRMnS2k450xNAgXEk4m
VK8vRoogfj84wWXlWJ9ypfJ1bMuDHeK/TwUnJFEU1CVKc0UkwDqaqXpEpT+WLskVOjsqPOYTpTSV
csgOoV2zVdnOVed9mdwCcbShe+vZ5nTN+7MeZsEii4T8YQ4XTGtNRX2J6CIN60rRn9q4Y99u9LCQ
T9KySPSqDU6EyYhXPOlwRZWTuWmQYc8MVGbEIqYKpMq5uI6Jl3+qaIFQTqqa7LKqi/pB9CK/iqbw
c16zOXSn6tGjQgvnyhOD5q7tlOeL04oslmvihyW6WTxLFRWiwCAoS5kYpBuUmXNaio1dGuMtRYP+
OJe0Itn+IJaGhRmFwZLDlZFlO9yJPPerRNzac7WnYnzQdL3c1Da68kbXbimOqfVQsr/Ic3UXBBbz
QOrqRHe14PPibhrWmfLui4xubiOHbWstos3JvcRnTsp4ZNx0OvVcr3CqbQoFc13MJuU2O/0+Jw2q
6HEsPul9Wq+qCi3zEEzmjnafTrzNfNGNerorEkR0ZKbP/cpp2TrWTejQIJjZkXME0v1wikzeYZjc
wlq8ryLVgqitkrs8Ixa3NqJ1aE4Hotw3GtXBQxknT7ad+0Nbh3vKgFS0girLjl4iqfAZXflIr3T4
ZsYlRbSWzChTxk9aFaUXhZV+hXAY3Y+Z+WUsC/DBjdA23lDSNhv0ZueocGN5/Rb7vnmYpMCCVbI6
6cG9MoZxA9J32Dd2P+/gLHcvnhvAg4uoSAHV9eucxmBmVY8pDeTD0Ah5jSoR6+AcZZdZkWpLw7Hy
rSY8ZJo1bkl0MH1T0GHEIjz/ZGaKKQSjrnDq0rjMhdK3GeUXRZFnFdaxs3Gi8TlgoerGqLy0tYxK
R/iNc9Rz0LQofZfMD2EPn4XANhS1qNfnqYevprvyxo5pOLf29E2OHJot4q/XVmK/WKQHInIvixtp
zDSuYSBtea3OJmgQlvTjaJCemnxzc8T+tGPpeZkdCh0xQYpgf7cGqvSJttHPTFNsKlC9U2RMWt+d
ZgKZCnmoJvezZrsjCz4yQjQ4tCIgXH0p8TbsbIsuxiT2VD+0dTnaX1HMR7tYaRwffqWFeakK7wfo
GI25fJ4Rz5CmkIMXe0g6mkqIy/eeoW0MFW47vaXqrR2n3Lk1Pd56Y8rsMJWWeT1FwV1u9t+T5FPp
JDepxuao9myfMtsFFoZr22p7fyJlxAwrbZ+3EwIaK//u4ieZqvCqacrguerLp7TNN1Os2CgOtNtr
Ao4aFQQ/etwacZ9ND0qY9COnezwzlLWkezSUuiaUqtwUcKw0N/3KQdiXVfRLbxNj5bmUbbAjbQZF
+Q3C2DYOhuNEGiqbLcvbWbZgh+6UN8kIwgN1ynQ08rCknBkGmyaRz6NdPSfKaNexldoAQhI7X+n2
eDkqnd/Ye1uH/D38MyaeB5yCV4JDSd6Nw43pxDeOyD7LUB4AYsS+VuWHmYIUx5Ces1b/Hb0+9d48
IlRAS65FllCgdtXnso2OLSm7QVp9s9j8pbWGO6MpfjTC2PXw4FZZOPb0e4roJmjNdWYmj6Fb7ywC
FCetvfP08qKBqA5+ZT9Lj4DVbG/FLZzuyrlo9Ca1V0hM2PkAwOVAl/lhER/tHKFeWdD+Ryzru4oS
RlGWnyPZ7qzCDu5UNuSbEofC3NjHtktfkt68Tsv6giMOricosH6iOf1KLxj1WUT9X0K1LZPxuzGm
7BooZ28ICRZfrRTlUB9F8RraCLKSRJK5kOADqXPoFvTrzK3SxoFynjvc49ywDv1gUBs3WuSORg2g
GI+MKHyoKpdO1xrXjc26RUznHJCLEHTDtDZagS/TH9TU5lsXDelMQ6c2yvLCBOOy8iIbLYw+efZG
xsWBcL0b/OqQZ7OUEw8CEQ8v4iob6GtVLDFzL+4zkT5KtvvrCK3uHuvNSitslnKOcw6zpz3Xlwpf
M5IqfqMySes2luxOUsSpoUbdgf5lf2MrC2gRR+nbjqAfC14Onb20WrsAZS6LXMrLLCFxDmrwXWwH
u5lWOGeJVPl62tk7Sjjy2DVFusNhdtFa6jo2xCNL24VeCHdlKvZKcabbiFgNZ5+WLYNgsPO71hqs
27rPBdAItKNknF4mobEhdW/P4YTWJJWhNKh2AO8H8O7fKU7Ta0haY62Xkvg7qfmxUIfWHS61VlEF
Cq/02TqUbfbISoRebfTxSX2usgGFbzdQtSnZZ68mKJ8/bVmD0icE2ew2SGXEy2Bb8VXiFckl3Unv
KqQdeozimtDKnj2hH/TC/ulY7OPiOv+VeiyXKE9wERUxO3e3kXfkB1KOwqPno8uFDttW8nqgZXaZ
Swgo/7uZnBACaHIrScQxqrWepC3/mf/9n6bTav7vn3s8/980MOCJ/e/9C/9VhGX27U+3An/9b7OC
/RcoQeQPsFkwUdoLv+tvs4LxF9gG/PRUKAR/Z+Fj/G1W0Oy/mGpJugBpQfAM2U7/sXjS9vyLxQoz
gwE6bvkj65/YFX7nFvzHrIDbYYGB6KbFb9QtHZboa/NvGekteHB3ixKk1XfwjSggUCXvACHupJXp
tzkD8dOE1kD4tPnbA3l+QlubtTf9DDXHxbEcyfxbjaXfBTGUjs+kUQ03k+i1r21smyXNpWh4UonL
nMCOYbi20Q/Ji6xr2Xnb3lLTM3KlIcHUOLp7WoJAsMsL9AG15sJUU8mUsa9OO+9TIghgWLmmRNfC
oJ4QHEnoXbtgkKH3RMYrchoKKfZDKVJdbe00Cn5h6wwR5YU5ZVZyTmGT6U0WIx1J6nKDiYAruHGV
PDCNDu7a04Qo/TLLMnSoQdclPrXdMfHRLBBMKCyzxBtd1Tja48JoHzmjhuOxQlWcbxp8Vkszu0Qv
uXLHYQivNBqkO1cnp2H0h0lWSIjosiTxJq+spPj1x5D72737p1v3tYubFynYrXPrnu05eNpOvboU
iWYTItch1gv3JtXd4SkICHz4RygQ/nUCMGgQgoe0MBoDSHw9XLysaLveNG6GPrUs7GJ2ne/x9DbR
vg9RGN9+fE8A5V55aSSIH8Ymo5IL4qfxrBMvTZHPaRDE3XeObmyOapKFngvPzb/FKC3K/RxrZXQE
/Uc1xW0cwnNMJ/LqFeopNdDbiqsLkHAYveY2GujLSTvi5IwhtHnJ2k4a5XMYTgsrMDPC2zHtyg6s
Fw3VnWynQF5Yk9EuGvhmIiHBCRh7aPJprlr1go5hXzYeLTUWBpXbLErwLIfVlWfQZb21qEE8Sc60
1kr2rDr+bLuS3nNoG1ieqTP63TwIVH5DbMiHYLAqINDKtvLN7M6W2uqI3ny7Q6vGMtSqap+hgZuO
buyQSs3eCdEmQbXdTz2P3OeJsZWuhSLseVVMdh/tG7qY+25WU7WvY6FJNIiZeGmRTBwHgWLIH2hd
zKsk1WJSKTZ1M85U8sy6GulBUtWYyFVKIkPcKHdCoKdmc2xWdL7y70gEcFqHNY3gVTM6Wu/bFDLd
nafn4nZEY+0dY4T3lCY4jJdgy9P0O6S0sNg6kFHkejbdVPddYQQ4M+0SCyiFN/ObgUkU+nSaTwZG
RxXbK8jJAXIoqlXm/TxjooczGrnLqlx2142F5OrSaXOqsHo/BMdGBKG3wvuXehdsOaS5ntF6PEWW
h8BkUm5FWLbkdx7tCr/BWvD1X85DhGAuUVr3oDJBRI0Wera5nbPUepp7k2pgoDptgl0hHbJ/8RiW
69TOYfHhiEkVtY6a/mqrSR6FI7zxU0UJAQlHWCGppNPL9mOyCjnuRsNGmsvKDMsfXfyAAEZhwzha
RepesneAgxdZ1qgdojZNIj+cq7hCKutEbIfo2sXrZKh1Is+NhANRXcbGI1Km+mWgLf0S2ZK6Xa+B
B+BrnJ36WIUqPyhTw2ieSmpLPlPfvG8BCVxyru6H1az0bN0ggzATs6CzGqvE2KISRDxfo3heNxMY
ckvOOKU1WR1zfUBUM7bDCzHs3RNlFdf0XVslgJ0cmzZIiBXBXGVz3lGGBnXabFAOqFsy6yZJUOJc
FJuhmBKTM7LsqQmZQt60KDt/ODzjp0zTQnEh0RTHFKONVCLq5ABJtC3+lJWoO/iNQRzyNjIT5S5o
kJISiTKLAS1qk3fbypIoRex0irt1HBaFH+jdoOCQTnG6bQdXHlpnrn+R94G0G8rfYPh1K9RnNnMj
/hfLVA8G2JcX0Q1wIAfLaQ5iNLRwB4yW8+XEevjCW0xdP5jCoVl5qRZVGzn1KBUA6gV3ZRZZyT7B
mbccYGYNAB+5zjN25LhVfm+ScyHNLrvSpmk0LjpaXr9G+LY3gx5WLxH9KbXRaotdvK4WvnRYK9qw
2ZAV8xqAV/oZMqa6cqt5/NXlTHqQP3NOh3m/kA2KKJYEuVRMU7MxmJ88u6nup2rir/ERWVSHsDSj
mYgr9ybUU4iJWTgoAkrRlODS4LD5o8AF8WRF6YQ3yZ0ptCoNXYQ/S6sd1gLLeLyeZR7vG2vukYrr
pXcfyIIyTuHGOg+sX9rMmNb0evHn15/x1ehotVI7eHFmzAIY1y3TWRHQpk9rO+vlJR42StM/irGg
dqDVyBnoVnVUPUr08/IyMp3yTm/GKl5F9YhWHF2r3qEoDdkn7ygbpOZ8EZhzK4m7XXwssy60/lh3
hihXGUZfDdMVINEV04OL1D733IuUzoS2mm1V3ZlTBZWLVkbSE6xlxjcz5c+KnbqG1jMhe5yoCeF8
xY6Sy702ZcUL0Y6W2CLDnT6rWguclSE1IAcRJed9WzSEEFrI5Ij0CRNTqh0pNtW1N/Wd6ztNAYZn
RQ8LX18awiYd6tKpjih95hxwITVjfwABhHctkvrj0LTGiwpq+RN9IE+1ncLoxsII9Ix/ymSQo5b+
RWS9NdMWzeruOKS5J9ZuU9s43iW417UpOzA4eRl1vwoYgza2RGKetzKn8byypxE3d0YidL3J7Boj
g1wK+KseFw0oq7FGiEyyLOBLgKKIK3vPY/aPp7l4iKpQ+6ESz/4ChLW9mZ3IfSqV0n8UQRDAV4ia
il2PNUusH6YsYj9rDEjDBkYX4VehXk/oW4aCwHfa9U8YETRUUF4oYt/uSYalMZwEkBPo3tab2Lat
73RvkckJcxrYwhF2uao1vb0JmH6J/Mta9lg2hQT9AuaweAz1Nv7UMt5JophEeqdSk3m/yvTgZmy9
bPC9tqO4CAlZo72TZsOXKuwx2nXaTG0XXe8c+XaOQE7Q9c1XklNxSH2mSG+BnXUsOpNXCsxYUXtr
zOwl6SQa2Y8cmbWiJGTpv+q+K57TPgx+ylRHSeckoXyWfcfLNwqq6H5EcAXlK8AGPzO0NOwixwqy
reW1hbnJ0tF5mFXmfGvDLvyS063Bj9G0qMv1tEEaIPQEFKgZzhE6NY0UHejoWCz9HtfJc14EzjPg
mlls0RRT45lXWVqP2UU6DBXi8DiGuMSXrJe/cgNLJotYY16PfGVf4aVYP3AmtfMqYr2FcIFxPiQA
F663n9MG7y8r6WaKNX2I1G0jveS55xBQrKo4JSXQmBGl2EPd1YdFLZWux5p2ydYNOiKZAaP2MwFY
qYvMKIAvtQ6QMHWLvWY2LlEnzO7ObTOtvSA/paqeQFIF9nrUYq2/H6PC64GJDMUntI6BeT1oDRoo
pc0tIxLsyIgnjJp/gGeCc3K7ZNA7ShjfCYkOewINzXDitA0+B1YlWTpTITpAyYk51YjSUXtU/Aw9
nJ8AVafZsRZVjlwdQWyYYm0IBzFsuwJI+7DKU4oJ34HPRfZ+opE7rssyCMRlBkDCHNjzmS4YdrY4
QX4LaWBYgs3YRphrK6PwUqyyDA0f1i92rRhonCw2tVsgWdRD0cVqAbk+ejNHP00loAnnBeHKdKgj
4fzEVMH9yKAAH7rJ6IPJgy57HUUqJuJUB0o1FB6+WywT8bYKTCQydFK4C4HgiqNMGpNduWvcro4/
o3eIROZjv0kWlG49l5/jLspNSr04Gh+6JBcWhSskQc6WrYip9qHXJDWp97mS5l0cWcSRonwQyrmP
Zw4fIaETI3vv1ZC4rKII21nqRqRREULNwCmbz5NqO4/8s8gh2MgKgZNuDD20mystKqPiskD9P1w1
bu225arSaAzQ/Bs5+B4CW9X6TVdjBEb6Jazhrqr6wPxkNpV0rnIVEr0wWVP/6GFN4fNLA9uhbZCz
vZED6ZAGxjLraYjG6VdjqAabS6p6ySGvNrN9EVrDMz1Zwq4A7fTAQqcYnAaOM7YneM5+gCtrtAdA
GXBGikSfnU0c5JROHdGa4WWCfwK1IscL2gw0V3b5wqzFVjmYz9Fs4iiFEUQOdA2Sdt5IelLVATiO
Zx6NoY70dR3FqtwAnukixlcAM6lq3YZDqz1RsZrzsexu6jazok0bJH26mRRbcj/ONbs6JlYexpvE
q8JfJUFX5gq5GkqbsmjUvS7yeN5PjcjNjY0rZV5NRtbejpTpBrO8SPo8xGNAx58b0fp4YWnbbINr
bGoQgqSd3Q8GSnIz8ayfcNy78FnT6/gZtEt4F6IkB8RNJxrpudWQ3z33tOhNHaTHbVDaTNjCjNx6
xRDvJm697DY5LmI+U4b2i2JIEIkNPHsvFSEOq1RJwWFCnzJO3lKo8YCosfs8UhN/FKyCqDvmmlpi
BuQAIX/cDHeyxOG+skdHN3eIsDMJlKjigaETFzdG4qbS170wfNCVk3+hSa8cekxei34iQbW0rSMt
4hOKwvn77CaSvtoYZTWu+YA6Qq+PNHdMkcgfNaFJd4ET49pOKihzKzwjCLgzz9JZlJIc2GVqGfjG
fh9y/z/1438tOT7/fdVsq16KH9G/Pi3oshdV/Otb8fNf/1W039SPNv7xr0v+t/mzpLb8Y/+uqbnu
X9QCbNjzIGwN63fs1L9rapb3l4MlVi4VN3KioPf9p6ZmGH8Jh9ANRJsCTjK1tf9LANFs7y9W7IW3
RmPfFf+koPaaLwk9j4qazb8kJB8XgQQnrGC0U2NbEtmHICJCIYeN7KadDecbqqZgm1m9ohaR6ps/
Htx7tR/rpEwC81kunTuLLr0lEde/Lsto9N2z0aafT53Mr7trgwXK/a68yzm5R7q67tVdY97XLUYH
mo44xYAHPRD/a+Pf74cvHZq50tUPOUwjs972S3RRvzeDQ+aOoI76g9PdFSiMewBZgInXcXJpeg+1
ITeLqRpzBqeiGd7PuJ66Ytfjhq/4ZCAwmcEiX1erj2/3hEvHQz653ZOipaXYRbPHR576CbHiNWv6
Kl/NvrYt1+qm2lh32aNi57U2V97h40u/5jS+vfLy538gIYdxxs07cuXAwaSAVukmUM+hkWyYsn51
ozjYzZm6nrG8uz8qtG9u9qTkVgpCFsg5SdbVodls68229UnCWSFJ3QX78gAzfvvp45t8M4ZfP17r
ZAyDi8easYym6BBvshus9dvhDIb63Utw5Kb9ri8ZRycD1uj62WhN+DKj+2OWxFSI2xDWa1k+5smX
j+/mhMfz9zv741onowXZl1v3C8smvMaAV/2Uu/ozUSQX5W54Lq7Dl/Bo0qpe2RfFXbRjl249cA4a
nj7+Fb/Bsiev0dPRXVniN1L0NOvZzppOJQnS2UbboISWj5QLZnfVL2YzdE+rGG1YeOZDeWfovLrm
yWjNDeXorQldlkj2DXaPXdFy0AtH2kNlOm/P3OHbq7FxJop4KUNTs13oS39+G43UtFzLiIlwS053
oZmNd1jGgi2lBQc2u2XtOzhE22JGzmh72CUtSkHfJrJfUYSR+1vlTXdDZLkJukWmL1Pq2P9s1DE9
uo4pmJ8huTuECJ48D0NoBvNfrK1seqJrBQ7Zp+4UXFjIg9aS07UfhEqcmTJOCvMmodGk63FZuj04
L0/zR3Uj9xDB58664+C3ymWotoYu4/3HT3+ZBf4YXvRouCd0peSTLSujPPmgson6YixhQDhyIhPO
LOkHI34rxIPS9eqG3GH3QnH+09mAOW6MutgJ7j/+CSfZAKx7rK5LUcEBfsWv0E9mKqPy0OcnnrE3
ZSU3qIQgOqih2ttxrK8cOy83c1h9jRwFsqqGlIFLAGlPbEz0XTAA9Z2TXn/8k06mGQF5nlgxz4F4
6fHmT5/9jGoPq1tYbVvLwREYz/UF8SH1wVbyBUTCsG8jmZxZjE+I9OTGk0TE0JGgW2mXIHB9/R0A
EEhAI0ZcdBrzTxW4mm3ceelnFwbenuOVwuISTbOP5Ew6vkjgHKxidtYTeOgeTw2amuLMczBO+ij8
JrLNCAeySTyxXcM6mQN7E9P8AGB1C++FSgZGjovA7fHppAqfC+3pdEDKVMYlCIJp8bXWzt3Hr+Lt
Y4GuBk5dOuSo07t8Q5GfgxoPej1uHYZItLaHwmBUZNQlVhGZwPfIg8xhOwvKuXu298GnIFL1NwRj
pbP1imFmlsTc/P3Mr1ompT++G8Hq44Jog39MzqprOScPhmigRutrs99qdC1GLMbefA+SNt4Xosnv
XdFCD9XtvsI/EE7jjzaPhfQzl9YQhXRFcz3P8awPpqtxsKM5siAEw9g/8ytPptZlmYRBLU0aZLSS
Qf2/HlIA6tEcuIWzZw4ILsdM5c/GkFKxINBnrfUTgT8WZgfpLhCdBERGjW9m08jWW5Nq263twKb3
0opbvrh0N4ZtdybL7PTb//0LOa5BC1661kDzX//CdLIoNRCttseV7ZJAm0qcHXFkblE0mmQvVUhe
VFatSiOw9mWs+p2UCgtRKI11ZAcYVd1pOLMincy8v38TnyP5CEskC4i/17+pqq22pfbo7NuE5CgP
9su6GqmJfvxyTkcQ7wY0OGxBiMyua7gnLUq9FV2ct6ELeSJ80dXc+oOl3E1Oy/bMcv7OQyaB0XbZ
2kr0czS6X9+Q0dQUxAX8iUklPyYvTnZtbkS+SScJvUthP7iuV3/rSEhE8YhYJk3IvRc1Xu5hBFPm
Un0+81WbpxMLCBzXNU2b+DrQi6RdvP5Jg8Uk5kYigFLVJj+BJdh3XkdacojuJ7HScsckDzMpar1t
oSnzM9L8jqrR3G5Hsnz8isr/RUNvMFq5vWw3amiLI4i9fNeWSXJfsxxvjH5Wh3/6zvjVFoc0Ylp5
f79zvP/YxkND42Nr4gC8sDtf4qYvEOnX+j4L9OnM8FgG2Z8TDA8IAwA5IBTqpasvjO8/d0UiDT1n
RGawB6DQPUiVhMkWZp14ntDvJmvluvnOTIx0X05zVWyxCQq5/vhuzbcfgrHk11hMv7Tvmexe/4bJ
6dK0Kc1gXzRD/VQOQXpnj6K5q6LRSv0ssKN+FYupa9ctuo2f1BU9xPd2hQhV6lqzbeek/eySmRQi
DF5seRYE7XVPUbamURmN1ToiVind9kAgL7teJd9ykYgSd6QgRbN0RYUUrBT5mXPKm1VtebZEOUhD
OghsjNNjbxsVdY85exl8EeCobnLXIF3bfdLV3UbghNnmeCU2jUsdr1Uz6j7T7XYfP9y3nz+/wZQ2
ux/2doSIvX62DuzFWdJ/3nuj22/jKpt3eAaci9zE0vjxpZbP+2QosbuT+NSWifZNMGwCq0uGs67t
oywQfmfRTaXU0GySaZQ+rduFeYv0ty3xx3x85XcGscdtLgUU9EhgrF/fJKGOwOnQXu4bXSnf7Krc
B1JGkbuejY2RVoWv5YW+gYFXAQtV5ZmJ751nvGzfPLbQJpEwp2Ho8WI5hC0ZHqoyFJdBN+m3BYNv
pRneuW/ldMfIkHp1qZPXObYRKXNpGB74aOW+1iMog7qTbdH1lj7UJtgARpaemSPevT+g/ksClHAR
hL1+vLnVs350aXhoQ8hZbaM9uUwD14h4qjNXevf2pItEmpgyzkHm6yv1kWm2sjS4PY4lvsCiwuoG
cJtkn6MF5+uT0OczOVBv9y5MfgaPlUMQFarTBMvUnuSAjyU8NF6L9pTAQzfz1LZYSNMGO9Ezd/jO
pLBcjy+RvCIDEfvJG5xl5aQRjdzDMDTHuDEfEZ9338gyNEH89OwiTRU/pEFRbCdRVtuYFezMT3j7
kMmhwr9CEZJaIz/h9UMe5yzx8IWHB4sa/QGBCH5Csx+v0aGwjYyrwNfHOT+3A1u+wdezAx8HaS/L
Hp+P9bTyCNa+ypyKq4ajM3xtjTDfBg4NQq5tqpbd6jxBop+H/GDo+N5QklCVP0gzMI5Q48BQfjxl
WMtdnvwethuOw6ZfZ9KwTjYrzNdjMaeet68lzrjBbvJ9pNiLYjkgQ5LpZE12DIxE0goPdJumY4p0
hja71u0CV4eU0eM9z1NiGQA4lPuharpjnQzTc+4mCnue3mzy0XIu4iCpbjN0MAe3SNMDpsHRzziC
HWif57fGGMAZm6zsqFuxsUkGSPUj3A/AWO25jPC375250STJl/OV8PiOX7/3ATUMUind2yOJ8JV5
PStECOK5qK/j3jwzJb5zrWXnwuaWQwFpfNbra42oxFWuivAQx250VXfeswv04cKonIFQ0OyhmbNo
8/EbfefLskgWEZaEgLvk25+80Tgz2xl+KyMsCX5WhhXunTYaaX7K/mbWu2bfuYFHv8TDc9Ba7mUA
A+zMxu3tZMJPYBXg1Ib0lR3V69suY9TYs6mFh1QCCCMP+JvW1aHvTLO5cYY0ObPuvZ2YLRYdSlk6
u3W29idfclHMhVWFYQRYYuqOBkjhq3k0+8tswlP88dN9u8QurQPHJIsLNZurnyyxEyaQaYiK6DBK
BwxKoFaJm7s+eqps1/A02cwHwSdHH3Aa20Ny5qh0Wp7krLTUqJi2HITKPN+TB+uwe9T6WYtZYpG6
F7RFD3VII7L0wBUy3ud9M+Xa96bPDBqbwXwDfvEJOSJ++Y+fw9uBbVNBgvkHcRdhkFz+/I+tucwS
kY+RB77EhGaS1SMkBG3+0mUD3rfIQnqbTP8srI89DTdPXYSDogdcRD9dogKVDM1MVezgWFm8wQ4X
XbF/Hc6M3beDyTZ+i2YBCeqSyfr1nXWe7LQCRtVhKHSBSK4295aC/BnNenum0PnOYFqeIMUWKo46
M8TrSyFSHUjezJJDBhjm2AfiIdOd9ALlgr43OFOt7b7MLiGvI7rCenkmmvPtR8qNslGEq88Wg+zH
11evMIqmgaySQwE7YTMGNf4utB+rsbQOc+82Z76c39v81ysN12OEOg7TLwXIk7Frt+3QTWOZHBKd
IPXBcccN40bzVdEXpK0hoz3qoUoQOYJEx9kb7aO27Vd1p4ptq2NgSbo4/q53alq1pLDspxZqJlvb
YDPEXnUo4eauwFzJXasn4U4LivEqmDW5kBbENzzSd4gG288ffwbvTLbcFHMsDculQnXaLwhTrNNd
0QDbldgzO+nADzWRUUW4TnYJ6aN11OhH/FadL0f+cIwn/cwS/rtAcvpgaaqzpnF6xMZ8MiexZ8qn
QcbpAbG0th4pc8PYHC1J79x4FIj7sDlPvNhoJORQuFp7aRZCPpOCM+30XkZgXusv3ZDPG3Qg8apx
HKjpoRB7qVnepWaHle+yzz4WBgdQV8XdHcYePJmowwCv9cNLAie6iSExuqHY08YNz0x77002Sx6E
vkw57L9PRmqdQ9qIojE5DIaNt7kySAapp2ijZUQnmU1Qq1VVTN8+frXvzQOYOJnaCCkBKbb8+R8z
nA2vuxdUSw610wGOLHHDEhVk+Z4S5Zn1650vkXq8QKhP3RcR/fLnf1wK3Syq4VYxiLTSWMWBHl50
wDa3pjWOO3RJ2ZnrLfPKyYAxWZcZteRE8u2fTHFeqUh+5Eh8MBqCKCxboeEUtTozLpfv+c1ViB9m
0qb7zzTz+q7QElUY4ObkEAxOv6deApEQnci6ITOUDxr2O2TgcmEPBGc22e/eHxV9lyGz5LOdPM82
TPoKkWcC70x2V4ahlY+QAdTtxwPkvbdGd4q9POOSCe1kbzeFqEElcQyHhDCwDUQmeGVooveaq6V3
kOSqM0vu+9dDOMCRZTnlnyy5wnByNXQ8zz6GLSibcms6Hb513uZKtueaku+9PXYakpYMUAjrdLbG
N2KFnsvV3MbILyKQ/mQEFfMe+Rj87ekKlNBzqIXl5n/wUOmL8ZXTqdLl8mr/+BQ8OkAqKERyINg1
2iX4kbZ4uzsC1iftCimzuPsfXM9hEuRyBjWq06FSF7aX91F6EJWRrcw5A8qe8OqwUua7vsSI9PH1
3lnyCSeiNkRTna/idL2wiqyUJF6kMGdwXQ9Gl+zHhr1j63guznzi37zJKKm6etF+0LXozI7jnUmN
TbnOMW8pAhunG/MkKBzWYCc94FteYs/EeE02/NcRw+P+4xt9/0oMHSIrifjRT74OBGCpl9ZRdjBw
VGzC2FN7FdM9p5Canvnc31uETbqZNhtyzjw00F4PminpRwPcGYMGCMd3BJL1YZpqd+Hg1ofY6SoO
24W8GlCirtkRNc8CN/mZgfumcbYIe9gBeAiJKd/av3/kHyO3soRVgLRJSIkRATTJhsXV0oKNlXvz
NoIxvMnc3Ngz9sN1UkRkbDgWLCs3qPagP/rdx4+fbO0306+jU9BB2cjSwkH35EuyNRyLZj1r+zip
DQPXQISyuLWNG5dgkHmH0GmyiTtK7Z+ZyoJ659jBcDnWg/jStNVI5dkxPjkEmV3B4ARtYXSj+QQT
rD+KobceiYxP9dVUtdntLEdsOXoK5QOaddgfZPqlb4t76hndTVfNHTAz08pfgrgAk2BWo/gyhmB8
mEYSPADg8KNqvjc7Eg8K+KZASTTtPgchc6tZQGNQQWK9X6UCLeKqJj7C8ms0mdEqDgeDjDzYQT7Z
IIid7CiUWPg0q6FAT8MWJkkDa6xL6mphxKU52OGkkVwUqOyPEhn8Y57H/4e9M2luHNnS7F9pq72n
YR7arDYASJEUNYfGDUxSKBzzPDl+fR9kVr0XGdX10nLZbbV4i3wKSRQJwN3v/e45rLglU8AfXqOK
K08rkmdLEJwPmzKhDe3MJoDs0aVZn4CgN5g8b52z1umQ+1oGjyMzW8oXo+dp2HWUdC5oP/LasEGA
XlZW0u90L/YZvKz7J6ZObDfS7XLC4NMP4mHgZSfkWiVK3TWFv1lqlXwYl5q0K+RBWKDtFpkXFMDE
BZ03aM3rKBmf0DP7PHvNF6oj5ugZwNwtwOhemPeqlgNh/NW5puQ+f7SaV+zIDjtmQLk4Q3+UueZh
e7/dm3KBbhnMiRzxzghi2OXIHixMF8vtd2aXqmcPSPOHmxjATxxWmlerdmcwo4OjXpltd2D/6ZBF
o3FCe9SsQOtx4cX+EbuRfhRdx0BfVk7j9TrUvc/MzVzh92jTLr6o7Nr7TOsSEY9ZABIIhTPGV/7i
dA9xTsYVLGmtdGjk8eoFKexvljo4wZCRU399KK2UJuoYM2i+yweX9HqRTNVjyYQbgyfMdR4ssJj3
c5c7RwLVlJkyR7vybLu5dz1AWjz2WloQ7jRNd021IsLrep/YbLGO+jew99l0QG/JvLfWabcOH7oV
5ICMKkK5Il+AVM7a5r7T5GF0WlOFcalGEEq9c1UrZ/lEkoqce7Bcgvpyboc2qg2twBNml9p3TCrI
TK111Tzq87J5MeZm+pA9AFnCeC7DQn2nNa8mrosv3yqGB9Nex/dVS3UYe/0CF2JQkHodOWc32UB6
njkw2/6whxkyfry0iD8NEj4zl2FCGHCxu4exzb008GIeX5A/bee977EchIpHEPB4cH87geX9xSDb
fYHdBpAGqkVmYGS6/RzIPmTYiQtZR22u9Q90kDo843nxbuk8SZALmNMzyE0O4xZDYj2ljFBCXlek
6YtUH+NQyGpiPMWwqjd/psCKtSy1R0YTFEFp0yhM5mxs0gWjznQyFwh+sJ3FqvziqhKiUuI3G8Q8
pWkVjlqyET3glyqCwinTRrNaC5pi4KNumfPob2vmbgiyL66Eot13iK+X8hmetnUsa0DygZaQ8gyq
eOqP/rzAX8+r6ftMHZhkV8oAZKinOfN/fa57DFTFYrPqMq/4ijrDz0OT/MebzExshsa8AmQk4R1/
ztk4PM2qcBhCpCLK3KVZGOB8GrL7jAyyzaGabKn26I/Z8NRXSXldzG3MAEvbLcQ8y8G+J8NucvJu
/O3AW3XLLfOvzbe0b5h5MkYuXfDepfGVdKv9XYs5/ARrI9VtB8RWkCzIEFf2HTM8RZY26S0PcAwm
q20S5LZWJd9nam5ryKUHDa2ehvw8of7+mOIq+XAVE2mBNpE6YZJSAzBv4ie6V/3sw66paSldcjoy
vxWju6SAcCRl8tnpNX3Hncec0qwAVmWWW9yVWjt82k12Oazps4Yog6m/fENYp0TVreOGB9WiRsxt
hBh0hQJH7g0I5LQwRMu1UCe3TWJp+xLvWXXAKgY1FTyw68KuM8TduJpORr577e57gvn3vjdB8ObN
/CbLHiKO/8zRMQO2N7LYhFCKPMKx1XhmnH5VOyCQQPjHibw7zyz/RSuYdeCQayiLoY8yZgwgH410
N+Zp+g0Uj3zN9TZ54sczwUJJis+JqHl8WuXkA1UT2yAEdZ36R23FkDcgfZSPJQnJR/CSbc8fVSwM
oKlFNBHmiq28UbEXgU1uK5g6zGbcIy6tL4qlMc5Fm1tc24tg0hjwK8YVb/YhyLZ2HHMxMQiVck0M
TBH4NaPpA8O6jBxUTHLhDCjQUfSTGyxtMiQhHT/wN7k/w8bVvMU/Dn2tv06T7C9mOTNfQeIfBG0t
xXzJxYydxGWmeYqqkcH0yKmHhSA9vtNrpkKIDKvKqV/Ltu1vGjaIY2iYPhQXhsrofRsix580N5JY
qNFO+otIbA8LyOrXf5wj/1by/v81kyYDJT/t1zaZ+Z9s46evrv9SP+fmf/+GP4LzwviNWiDXpeZQ
aPaJEbF1+yM5z5fYvmOuJJzFCZ4Zn38k5wnHAxAkME+GhhL4lo//T3UmXyLXwGQ+wRe+T2M8/2/4
xo2tnPTPc7299a3ogFIV4SVQcDd/OTJljI2lqrOmoOOcYwSrqHsGi0Xd7NgU4l1AKpW/1ms9EjC0
Vj9QA8U8fCHkz7V5Xr73+dy+Ll0GRyIROWP1I0Bs8JDOy0aIeIqXDrWz55fd69yKdytx48/f3+u/
dUH9/8k/oT72ry6781dfD0n9p+tu+47/gKD4v9EIpeZNvI6oGu2F/7zscLlC1OQCYiFGlYqQ4B+X
nTC832w6LhZoeFovHp6Df1x3wtSAp3CF+BS5iX/Q4/0b1x3/fLuy/nnlUWWl1cBous2F7xDedH+p
W/XsgFsN3XcA3WL6w2g4VhSv5OxFuTlq103Z3etWt7PUBFZNM0B/1SMtxfatLacjfdZD2/dwwrVk
vIB7uzc60hi1IcewdZeEDQvEB9+/SweY/v5z3L7XcQN+m4aszE6qoUE8Os/TAEG6sYbrSUu/KTcd
bgjY7N3BzELf/e615udUGpg552Ifl8MtxMvjNGRv0vJXnJYGq4MFoLQaAPUTQ+8Ycu5QfTF8Coef
tRKwCuylG7NKLlugL5Aw6jNJxwvM0rccCSjNJsxRVu0KdpwXPxlW1MBQieKaAnQy9l8s+284FtF2
eBwu0nnfiulHS7d5X4BoAV/6keXFjZPzZ4kNjWe1Q2S72RuFtDFywFq4SfVDrFlNzn/kVIM7TZXb
lGYfxLb/aadny6ahmTwtkKjfMs1uQ3fwmO5AYh80UIzDQvEyp2Hz0kvQad8q8JDVBGF1aOdg1t17
L3fQHDK7GEK0hlDQri9OMQCiXCzOOSB9kX9H5pJcmj1bfXPsb6Dk31mTcWNuCUlAk72On8VnFS7r
6nXtqN34zXLy8ayHlBav7DrGh9V1UPO2B5OXG9pezHF2sbrlXZI1DPMWF5MHs02ud3D1r4j7Xgvf
PPUdIDBXNA/dmN1L1SXsX0WN3zVnpEa4n2KJb4XrnBbX6yPV8o+9wqTyPaj2QhSAByffJKbGoiwu
uVfY1XpasDr1oS+L6yLDHWY24y3uhwcCB+Ihx/3GdpQ8qD5DODHG9Yl6+6WV1w9tt0LXbtuPtICl
bS+m/gN2LGV3DiAHGnow83AJPaWeLqPKTCTmjtQ8cvgDyY63qVgQZJYbVVV1UH2B8rTwdawLx+lv
uy7+0ermFZWR5wq5JgoAi/FpG/Ev85dn00r2BkP5e1/1ai9iewmz1r8Ch3FA/1dG9uBip+psJt/H
a+VqQzA0k7avpS7uqnW6t7AM7tvCFaTJMl5Xm7zkzDNRDkPVkafgwtkrnHNQyl3hP2qiuEIsr/ZJ
qwGESI3l2qrKYwFhPFJj9jpzyozirp122sZPhD4StEZ9zdC0GworLmHpo13OqPOCWaUbu+0STe3g
ZzjgJva0qTUfh0wKzrdtGpTWrBsMKdaXuODLsO8dJCwJbrlU98vAXThNJF7xORN5wTjOYbEYhB0N
2Xipd+kjs/CkrufyULbwAuYkiVzp8G3Z8ulDkZsQa9D5QR/U9MCXuvLkLm0gsD1xrjA+qsm4IM4I
ln0sUOekJq4yb2McAlrNR7paEqNmcZMaRcu0ySY1uqtiPFn+W6a3kPva7FPO52k0fQ4UHUcEtmRF
xonKQpFGoE9xUh0zVz6YxtQcTHawZ0c4fWj7Tbnr1rnfGxpNcjj5xy6epjdyKPNe6bH+wn7zwR4V
ykUVY+gc28CqpH3dDHAL1GJXn/XGAufg5UQcELOjJZaVEyT0fn+edl7pVxGH9BtzBf23olTSveVg
9diOJlo1XAgNVjVxqZrpEv/o99WdvmXZ/IQDNuxABUTlIsA34PxMSw21k4xvpNMAcjNO1qQu+xpi
k0PuMXRAUwKeNflFNSE3JvQCZc8zmkN8SobCfCi8DS+SUhSfD7WYbhNvBCKY8ywg6noYZ8otUs6X
o+2d+lwYUQO39LD6+CpK8dJCfQvYy2pfwEK9wPN4fjW0ET6g25QnrdqiDMsSeWu3nLWiQna90QJ6
nLZR1i/23qTkCG38wXaL17y7r5V5IP+GRShjU15YxW6gJsM5AiRkzL697nh+j/o0PCkYK1dCGify
87t1rE6Jmplgdk2P8JwNpGSG3bkfU2plzDm7lI3X5lPLeXwyfZNf5Q4CwGaR4YSGMdDGJNk16Oz2
mitv5vLdACUd2VCBQzdX1zBAGHMcm++pHPqLTkcFbg32oWMeJKnFfh60qEZrFTT9HAyJc5rlGrp6
ei3S9Gm1IY0mU3nKRX5MwcgDIm2iSXBUcGLUzWr4Ui4luFYWl07sxUfDwQGx0AMKq6kJOY/tKo01
ph2xX3mP2/FvHrE25/N3DS7pKv0wt5ERx15yRSKcTXTxSIF03fDj9j7puJhqG8w/sFPaZAksyHSK
870aYkYPONr1PfPxZK8hDhNN2JtoPLCgz/fWpL0u6bqvIbGEdL/ec00MYQWaMYSK4+x7UeRXPszr
aFrn15SSbBPQ9tAv2j51Am1AEbN4cbdXHL/3mRgVA5WOdjAqsb4s6/rsORsdcaYHA6GA9UoYOLwH
uzksNvzCpFqyU1En2UeayWlvof7hH5LGjtwFMnAb50AaHehZWmKC28RlfmASGoaPZagnW6n6FfhV
eaflNr2BCeirfWNLUnF0dOEZhTx6H1AKPJdV3n8jfDqHK3jyxh6Oddxa+2Rgpw5iGrRSzUOWk+uw
s5FxBf0cv6HwYea+YZpFanMZWW2y7/36tEAIDirYRb1jnmPdA4wl7DaalP2eZf7FVLn2sdSF9gAZ
/xmcGWuZex+T2R0oDT9b0MFDuxNXpjSqQBptdZoxEpNC1aeo6Vkti7wZjtDz9hjEEYAgZ6rlzVBl
yD21I3VmOMocUg2qu3bVHlJStJ2L0gYDS+7W5zKDF07F2SrsJ3gBm3kOz2URgtAO4rn39yrW+z2D
6egxveagcv1b6VsUmMqZON3KYHnMQOhgMqU+bPejI6kwuMAJ2lBrnR09J9bM+qzhhFmYEK4YSWr8
+AYo5gNi3zdFwdhXuLiK7jin2h4OymNfLKGpr1TKMhH5CKKdTNUByoBg9AtKVfo1NgXWeVA9hYgy
B7WoZXwZ9H1q41xRC0xRgapxwrcpDxZDllX6WRjN5YqwoHEgNk0L+yXJjeBCOoV6VMbjIU7xBrTG
RYF2im3XfnSckxjwjOp+x0eOVGpPjQ0gkrXe5xW6h3qiNlDOLfa29RHkpsYrme3QTMbx0I7zEy0j
I7IUC9qgnJux4u+2tQ/pOpe6xnoGceoHFJirdJOh2jN0m6o/gGQ7mqlxw0XNlo/BpBWCj9P6+7l2
dkVpHaY+vkpHJpb7e6HND43lRHkPC9N8qOvidWrkc1XrFw0WlcnvjqsozqUUR7fVEH6U0SKyLqqz
AjPGvGwl0nQP0AvWb6d+1Ln3YkMI2J4NudO+ErX7srT40mZ0gerwuU+Li9lAJZdaFwnsKxteV27P
3yewsKmDd8uaXtf24Gvyom4lu3kk46V/NvNrf53fJoW/SJ4161466129+JdjQSDH6vcerJIu6c7I
1Ll5AYomOg+yeukuaatTH5bjFSfkd4e9br7kZdj5HnumpvrYokQOvogmvxqwW4WabO3I93L+roof
ozTnR5VzYbObts7KcaNh9a/aFuWi2d1Nwt7z/LhyMLaBUri1Fyh03b3ZiyXQygWdAeqEVOE5b40r
DZrU0KFDmwWLSavVIS2i5Oir14WNGlSi5zQtmO5EdNnrl8xDUrZNHpuK+dpVItmEqAcjnUUrHW9r
XXtNJVySqTYB7yXjQWGAd9XnRIrHoz+zLr2KKk9QtfdReftPg8PmpWV4SYGpXgyzuxhNLFym/tg2
L+7inBfH/+RKSukl5PcG6IqAyRIEa0Uhd3Myf1TJ6u+8Jt8bhWVdVaoxL1ClHsj0XWeZdjs7667s
6TZ1PXYC+Ll5ULpfTmrDwBvVUyr87USR4AEH77VdlpP/SgAnzFjKtErA23ZDuGmm61w0gmaN7ad9
6FjTfZXCe9b6m3bRGYwdL3PWQPTrHiEXloBtbjxGUAuhgJLajV/ALpbdlSm8B3+Mo7wzX6x4AFBC
VVwbGOkZjeZxXD9y5z2zxddqXqbCvtVgdYOf3B57d4hxD/06XtXtaN51NYM5dXpVa/YTRBU7tC21
yy308by6JMbXPKe73BtOhjWBm25++Hp9t8hpV9NFyNyvxOzBu1eXMtWWa0kTJZnjm6Z186CfzBOL
Nqe1NTCY9iKjyP+WeE99/qin1DNXQDYt+KGkr48CNDZAONcIxdxfFXSesCXtZJscuq57yz3x3DVO
mKsMYYc25DuvA6cnWBqKcj6KWV7bHVvSVfCwMTmm0+ma4eQnIOPiat4JrZNhvpUibRwMIhuCxiBE
KSvtHv62t0NP4QSpOwEKH2bzqGOM4D8hTxUAGJvktSlzNlvTeJa6cc2M6NO0FmUIPHI+NaUTb2Cp
J6tcFZTCaUUmlH0MjfVQC7Nmqjp/Twz2klCR2wt2po8T7B08GS3ubEVHSXQvE5q3MkfNwgZegsVZ
ytCds8+SQ2vYrbjh8IW5e1qaI2wn50PO9b3WV3YENI9iPBVeAwR2QLPvxtDGq1U617kFWSfL6Dqs
8BCCAqTfDsq+E2Q97Pa8la/C4TEgeqs8uF4yX2SWjckF1uOF5qkCgngN9KspKR77SMJ8J6tORa/R
M1Np/Kzr8ltCvZyzyrxsP20EY15hM1BskI0u2fPhUKijIx1oRtxg+YRWZVrjZRGzgxeAY4psCJfZ
uK+8JkgcfxfTdAgKe975dftFCPa26NZ9XNQoSdy4oAIi82aPnKcijbG5mNrMjFwPmtsy4aJIQCkD
aUvdh3Sykh1vKS3L5aigWHP7sVtZ6uV22HpgEk3EmR4g5hCzEcYlJulq3yB+CzIf8ltKCP9o5NQM
7bYt3mJvKY8O/maOaJ9ScG+jSVMW10buvtTCO8+Cg1JvnBy7/EEpPzBV+ZbEmse8Vp3znM5mauTG
9Fam81OMJU5YDkd3aZ7WnqUNDGVQaObZmLjMl8q4ZGvKdCTPqqgD15Y3E/Qj4N3QiI6uXn8b9Ubz
dwrTCNs+kRxZWkrcDanU8YW3QO08VXt7t9LTd72AvLTkU3Hhc7YGXEANZknGOUymJomPkM7dcof8
oAg79CuBxt3H0yO+zCRxot7cOmKrA0tNdOzrjKcxTj6YUo50IIVYFa8J1Aden7xLLrXKFd8YLqfF
3OQ74vaIG6p9UtFKmJn/sZMh6OKNnzWwLGdlvbU1cwYPcYFUFsAv5EOOPl8iv5NB56t9w+BBNDIE
GtboWnTdvM7YqpVGderm9AvKNQi46eSn5mEqk0ur/Sic+BE41+00TyFhxT2dmJPbjQF69hDgEj6H
qX+LIUii4Pro8vm6LZLLQr0yVBPWlbozLXmzqPxFVM25yduDzabNgeiG0O9kexqAIcwEqaJFKpKo
EvOZKbdbs8ypJI23cnoGjHefNV699VcJSDUvm0n66LIlZsNIwhYGikWJwMEtUMhB3xeZSs8iYXsa
t9djbATlWij0dNNNYfh33JZR4vTfmP8ueJx94doIVnOEWQVxq+jrSzRj9xhr/OtpyZwnYqraDtYZ
zqiaZmJhRqboXoupCrQY1puBtgELpQsScKOMOv5l1mePU48YZm3n5dQn6V1sNsnO1rDw5QwjDJNB
s2pcH9CM+iH5K5qs4nmo9Bu5xIjvalhf42pVYdW1L8D3aCwZ+r3wewiCXfFEpjMY1pYSRIGuTYz+
Pme6IZe6yQ4l+dHnXX2Mtdm/qvxGUcrJUNpmuUdIJ78FysCy6HHYHfe0AJ8suT4ya4jrjaTpZby6
R1MmVxSG/FCUicPCYGqSUyJ6e0Njk2M0Wc5kH+NZCf6ZaLLcB1ktD1lavEwtW+r/KecP6vj93//N
0Khw//dopvu6fK9SYq1f2EZ/+o5/lPOZdfaYjKA4v/WE/lnO12gVMX3FsOkf+CX6S//BNLc8vkTI
9o8GwJ+7SOZvxA4ZsHAtgKaA0P9WF4lBrz8V813iyqTejQ1DQiEfVNAvxXyvFvmwMqgeNrEE+OCu
EDAjjqK6eSBo4ay3k97lXJluv8ryXqzg7C6XuUfgEGCv7Knyr2Od69/BsXX6xSy0tTlCGNRRjdU6
3mxfpjFD3jJD81p0mrB22K1t/31RbJNB/Em9vYHinOhnxZyXYPq8XHDRbvLO5FuOBVtc1eVImDkw
y6Kuz3ZuAa6sUlc/oG+WTh9Mda27x3Y2hgdvnMGXErW9NTcc9DEdcwvy5kD/dymb7bgu5/LGjfvW
i0ZJVRASaKXXJcmNVUebMrCBic+xi/ZOIzOgL9qjxjRUfN16msJ0QIXNYdOn6LS1cZzMoef2thX5
WlK9WkkZO2yVp2lB9sfFwM3sF/FOOUMzhOtoDnm0QmiFJC1WlotKr5w89IQn5B6XoRR7Kd26iWCk
QkMH2ulfleaGxMjTddp3bT9T7ZoxVhAfoN7Nn5C+DcM63FOILoxApT3bZTFVJvWRzPF22NU6a29l
OTtNtm26CjQTtyreCU2fOHUY9fzSZE7jBFQxXdBFsiMXaI8ENgI5jtYXpxj1lCcgc2NflVGX9ixP
WIHuiqWrz6tTuigjBkfGYZvq8juq5jwj709orNBsFRVW37/HRVxQ6pGYx7gLzlRB1mdFKd4FX+Ta
rmxORgmNMYwzPHoZDRww6UZXPCZmPh2bxiuId4mhDWPdME96NYwf0lxVRK22CKfSLD41u8IZ0RIe
WMLN/3zj5vYW0qF8M0S6PtqXWrZkb0XfcdVQII6p1JQwdaKO7MwPmY60iDQhqQ8bnSiSC1u4I6yd
1egfSpxt2q7zp+aCWN8MTTon2xJIrtOrVSyTTtMi0TgGImH1AUnYmr4fwekUgFjzGV9sLxUB+QZv
kmYNoqXSlQ+Hzh5N6sVGOdzDPhOEFlKvfh4HZg35ZPP10ZqLbuK0oac28aUJC97iOtV1nYrtpS4Q
rDn6Tt23qk3T756RUqnLzWxiQUyTNhoaU30beweqRNJhzA3mth0EDYOBWEMfd/K77yfJY6evLiiE
eDGwxLMPAto/q+YH0qfCi0pGfO4q2jBDINmA37UEgd1dtlhMdni9A+0/prH3Ok9TDuE5Y0A22BLz
l+WQofiqgOjiJDQGdSYjQaiFrYlzp2e5fKShbXXh5GTxRZJm5InkEJsvBjcU+2JPCnoLos1uADsD
e7SH0v6BOl0itB/5WkBgfbECchLzWbqW+Q3dWX3fjS7oHrJyxjGv/K2yM1n9syBmN5zdFsQi5GmL
DkgV0zkp2SmGRd9mS6SV20bBasnWhVbpaDeeaGJ/nw05Hk66N814Mkg5ooAeRf+9mcX8xfF/LY4c
X3x5azctzNxV11SM05Vn2Mca21zHvW1Ub5LXADXSGc31LNZSxOFChQ1yB5ukT0+W1rInuMjpbUyF
+zgsE7Vkw6hcJN9TDeaDGEf+iLJXxdEAJ/x58c1J59wDdbGrVHXrzSQPORy0Uu408s01w/wMuoRC
bwW/PLb6QHEs/uYO2HJo9pOmpH1kJD8Md6naXV429YsjqTufBnj7ZdiaS3zG2oEbqrH1dQ0bYvPJ
rlds3PfkH5N+K+m2XugxUMrO2lm8R9PAjRfIQpX93tan8nq7Y/19Yk8GhqLMoJSpL7jCYOYqHjAM
p8aFwLFqmVV7SxpPvjjGUCch5DRfHvilEzg8wrDxsU9MQ4U2Hxt1YNNX6a4FgQ1yuI2Ld/jqJkfA
mWdb1HIjI7OFSVTs3ZnNY+hoDTlDU7b9nbNuQYcprh1QqwmjfKGVaRZY1qYQp8aqcdhzM6+fbiy9
x9oY0aSX3nrFeXumHeXL/K3PJuoweu3UMedwrBuhM4tVchKR+UPPTPEYdYZFaGr1dSqM+HjUA9tD
O7uYbZEXKKlhQESZVmY0L7uJ7abhV1D6zdpDU50nfvXEpzax82d+8bs30RrkMyVuFXYmD9TQ5VU+
1qTQLkcYtbCwlm0keZi9jNgjJNp7uUJap+tjQohqMms8qtnFIOIYaro33QQTUl9ZOBEAKOsPhTZK
qkV0w0NVkrRH51qT/dWWer2xCJlpkWcCO+cZNa/fC5ozp9TNMCECIdPpli6Kwo1ay+GOPQFuS9ZV
96WtFvNVdwYM5jbeQ6atKBPQTecY9zwWil2wVi08G/qUy9WdGhdvUAWpGwue2UaaUUsAuoKpxZC2
lAVlqzK1dw1avh70AI84UVXYwirFfAmB29bqaYwVDcFIhvBuBaI/inpMTpClk0b/NFqJcUcL2kPU
pQaY0IoR5keWpzo/2dNosLZ107rDZWuik+swF8Ej7kckkKy6DW3TTiURI/Ij/xB4zQuu0bGkAWiJ
a7SqK5GvEikC5e1mxihUOt4PjFqk9xOsp4Iw2ThAExb9+MnPiAu6pJrxKq0kvW1GLTV3xUwPa98Q
fDwRuE02MwqRmij27PQBSjhdYrvuO29nsVEAGrFW/SV+SRLDsveRrycQYH3aVBpCP3vJrtvFAIBn
1S2VqYE+6opbsBruyNfV6lTm+nSRFb1HZ2pxiELijXdYdGMjqwMvM8DSoibMX3QzXrCL6VikilGx
iMUw7enaDYLHtiLI9Ey/ivBinvbmY537+nphusZqB9UgVs4k8wI4slM9wFhrTWe1+SYw1AMUqIdg
tBRzKnXVuGXocNP0INxn+5uTrrUZtAnvf4iI2L8Fo5tOOxeJjnWGsy2XHbN1aJ9oXcBHJ+OIZyRe
J+NjFNhD2EfE3jtZbfk2LGRVT7nt9i5rejGQ7QVHfE/BFAVa4iVUaDNM1+NezzPL2zqK4x3g7k6i
bqBMcCyt0ZnOHdAWbiWlN1HDkpCddbWVj8d0ssEWe51Cz6cm/X7G1X3v+NgJZyaNoZND2b2wx7HM
KJd42L7TpuZqLVwC7lGnVYTfy9RL2MrSkBrsKyD+nrU3HUTrZwRdlbpRQ8r16M61qX7M2jhXX6tO
4/Rh9an0QSJfGJQ5S9lPyRN74qy4iDVKd2dDraZ/on1FuLrv6A/CS9NmnQ2wF/f7JNP1mHAIJOF9
2Q+W9sB+wjUgiDNncE9SgarioGur8RdjpdsYwz8zQRwjtoFoPheiQQBPmMDk6z+NXcSZIZwm68il
8+Urq8vTyKdL8kdk7HP53/Krvv3j5/2s7fl9euOXX+Ntk142ZzKLX7eNS/30a/yuqXr2gzlZm4WE
sU8o40F3Bx6d7Cozk0i+0ZydBhoS2Gt2g1pHzjV20+7b/xx2/zi6bvas//6se81h6Xf+8NV7l75X
7//r2Be/soe3n/DH2Zcc3G/wZ3zyiQxXk4bk4/oPn5dl/cb/tSUlN0QBx89/nH0N7TeSZQxia9hf
PfJlfBP3+JD8+7/p1m8MyxBv9WgKMILuWX8nyfbLOCs/H+ytxkCwDiKIC3ibEfvpWtJFXtULqZrb
XHRmpAn9zc3RbmUV5aEWmEGYbED0n96t/8sF/OfbBBEZ538CXKxK4BWZ2+et+vl3Nr3nViZr7O06
jfCPtGqNkrYsj//6t/xym/z+a0hgERNkmo7BQf2Xu1FvMqSLhj7dEiyozklG0yZh01us6Ewzji4k
oA15he/2yEDWg1M08i/mnvT/8uYyBU3snkyiqeNnMX8pK9QsnmpdVXfr1cN0sJqcVmRj23uS7UTn
ejs/laVmsCRsKZF2Mo4iz6niIj455DqZJtvp1OXIpvJKB85yKelQfpjOlPzFO/X7A+OfDxTeKYME
rW0gT7R+n4rfUrY/XQTamlgZg/LVLeMEyd7BgkuzW4oLpmTsw0r6nRPO2luhb8IlEUsSUd941ZMk
o3W8fh9SmXxWxkBNVuvaUwlX+iqJM/9QgM7a0zkxL0hmM0vv+YA9tZGemZpZdntiLTa95qQnQ5iT
lHtzsuXh714EXNq8/QZwNv5M/9fKDr5boSbTKm5tP7dO1DmW0CU6ctZm2YcIwrRwtDoMc3GJ/atS
2r7yiyX61y9iex7/+e31mCE1qSsxmesbm7bv57e37ulse3aGGqQajMuisJ8z0gg7c3bGvXJvgADq
IaOmyV9dftvl9affC1CIpwcjjxvlwP09PP3Txzpofs8wWilvZ1cl4erpz5hF2fXQAYwYLPUP6ZA8
uPGWnZG4O9mfi+Bf/+XGdiv/+SUAauYPtxklhOJp/XIPVjqmNZCyVCQoel+4UmBAalf3nlDBvEMp
XVzo6sGS2U3PcZOMP/pchrL2+misEeSW+jI3yYF4U6Hu8s47JCnku0oQyhz0lwGtw0D1xV39v2Cf
/pcHFPxXHshgDEC8G+SF//yB5YPVzIsw/Jsu9d0HYl0QtlQb/9WU5p/D69x2/HQAEtsjHAzuf4H/
GEtdy9r11htMAUeG9MTFwkDIySO2sx2h9vrQLe9mY32kiIGK1VFBOXruXzyMf4nQ//4q+NWeu30+
bMe35ennqxPjYIJukL1QZcbadczwm0ux7/+wd2a9cWNblv4v9dy84DwA3f3AIRizIjRLL4TkgfM8
89f3R2XeKluZZdcF6qEbaCATSKdtBSOCPGefvdf61vPQWSbTsYq5Fhl60lHOE1Iz0PS8I/YhqL2v
DJMbp07LF007RS3Z1A4ReqFAQ2UwGBDnr6JcRDLgjHrdStTmlZgF5duvb7C/LrH0gVdbLwCBtRwy
1s7uD/d4WEIfalJLvIly7dgIcfjSKtxaCQ7defWGD5x/e/SXSd2WTAlxwtnTNAQ7g8pW2airFkOd
I+lVo8bGcWkwNB+UOTwRTLX87nn8ucu8ftKy8lG3Yb81YKl92vdkCwVGWwzdjZLk9a2M89PHe2W0
DuSODaFmCJCQMx3QGEwPeVkhcc6lktRAsBgkbyQk16VqUaFrzhN03oYCmrcg9OaPZ/b/OxL+DT/2
D3fXX4ww529rVfeXSu7jb/1Ryhn/YD6AZlpft3TW8ZVB/2eMxD+wx+AsEKmlcB5gMvj3Uk5TKOX4
Hf4iwhYML3ztf5ZymvgPQ8MtjU8bQwF20H+plPu02BqQvVS6+sbK94JyCcHj52dBMpeWkSXNh7aq
hXuyXXCDdZ04pzZ9ITRrKR5fmyinDrxlBNBAFZPcEwzG4tooK7YsTr0XJaO8N/XAelmSqWCMOWW0
E4kszDZLEaU6zVAruFeVvtlZFWQlGhPz5odP/W/Kw/Uy/2PP+HgbK/OekzWFL6iOT1WTCP2vVsyG
6iBZFML6UDLbaw4QmUBd4DKvrW9JYQdJIFjpTlxE8Tcr4kdZ9pcLMPE9adRE6xnr589xVusSusVM
yk+QJccmEdFIjTHd2I44DBvBBO2blvimfYUCZWv06exGoXCX6WG7K6rZG5bGcBQLPgWe65tlSOsb
nn1sb01t+ZXZNjvY7BIzoLbAJVFUwgNbuODEqm69JH27qBwdpURH5ABxXxvhnP/xUefL8Ju3+mn5
/PisAVjhQmQLUFRZ5bb9cfksQibSFPzYyuO0uk3bxDq3k6i1m2WpLBpT5TKdRzK8yEuaTBNnILGO
OctQoDgZmWdPFLLZGwFtekNXXoFTwVR3HcSEWk+RMSbs/X8sT784/a7X9PPXAyEKMA28RE7bFKw/
X/OoqBDFukLBeVNnZ0mavnVptXgCb9Cz5HQ4ILgO9h3xmvKkLhBlRxE5e6e9z/mQ3wzKVGRuWSCz
l6ao9oOGofQ5Tq0ep4M0PizkI34J22ruvHLBeY5lIa8f1KUQbBiN456A1p4ORiFe0FVsgFioPl9j
vRHworsFklJ/itP6PZ265sS5r3lKZVobpWIJt7WUZwSyWv0mwDxxrgTUHmqpCrhXJyhTTdoeqqk1
bsy5ML2SXsidoQ3WV9BpDw0w08eyr4snorCKR8HIdLeXFLTOYVYfgPYglsFJfmmjIpudOCbjCXnl
tM+XRD9Xc9WeSFsvbhq5jpA0I4xVGjk40ueeHNh7t9hn23PQxWPq0q+AsN9k452iCAk9JCHY1ZOW
rz4SPDXGMI8ncCFHDpPdLmyXGGhHezNk1mZqtMWxVJJdevGFZCtGPolpdmRACzRACwEHlJpZ4lWK
5xF4cjHo/jRpNEsmMzmFkBxdfYhxjlslz7ZeVowlmzK1iYF7MmfB2gz60F1qo8VpL8J1TGtp00wk
BPx69ZE+Lz8rpsKgWqdYXbnHn08MlR7GU4k11mnNYYQnhxF67UqS8y5XVUNiiyyC+5IEVyC5h0jO
tDmhj3zqBFmg55UOIMEY1+mSK6kDFmAlRMEFJn87rE+/bORYdUCHHH9z1T/XklB/WK5WkAuCP7oC
8L9+figKc+B0Vw5oYioBLW2FZ8AaF0KIxRm4JHeQkcfDNykYsNGju8DYMLeulcXBy68vZH2dHx/O
9TpUbKEMEyAD6Z/Xzkkh4g1tUIRKeKjvrZjvF25O7EY9xHm5qfV7tZK6331nf31VNgtOryr0I5oL
n086NDlCWehHwc5nORqwBYz1s2oQztbDDuptPUd66WvJUjxwwLboIWo50rip74OXoSZUsYuIqaz7
tj0KdGPsCgTRAaiQm5KWvPxmAaO/8/kzohmwbm9r54Uk9c81a0PCbBELDdpCaygcrTduuPj3CGmp
YqeyEfgW82apWREEVayVfjfoBzC8YelMGeCqllGCQ5zoW6Wq5UWLs+acyrPh6ejrfEHLJMipQfNe
KOBWhDLeD5gEnUwrnpS5Fh1VqiWiyFvAkLqMjq3ORd/I1IdGCMm5XcwAD5JYSMSaVOZdE0SWW44h
swhpLApcQEZ/NkV+QYqgTgBeK6i+FWbHKZJR+6pI1yGlAgSgzfzUysrgAQq3Lpx+kHH1tG5hJ+nm
ZqHj8MrRat6XCEP8pFzprFZI7ktIdqITmqWGQ67W79q5FLdCHQU+lTPyu1hvPEss2JnrSH3RaKVz
rs344QuixuepFBawLPQ9qenT8VgAhRMcQ28RicnNhXNLeyVmY/iqhrG0YTlLz2Ilw/IN1GHZ55yN
kSVUsuGGJWozhBHKKdLkKz3u0a9kpXrW4RI6YYAbSWv7+CIkirwPgyLguGEpO7rTgTeVQ2ZPpZza
cppH+1Zvln2T6YNPHlN4k1fD6k8hxpcA27Ek67MygJ7rEHrf21qXvA6BN7yVPlQ8LVGGkll6FSM4
Vka7gfLtzKrQAmkyZw/GXhy4RdFUb1KIYqJTOoSIMLLI/MMJF2PiNONgOiaduTP1uNvkgfYsi4Fy
4ET9qIeJwLDfku12iE8mgQ/IB+SFOWnRniGwlEd1aTsk6ov1zpgg8wu9Rsw2ZIRPu1NYla5Cb8te
gKecOpNo5DkLThh+zRsSPC1nQLZ6MgbiPQOp0vzWEC+o9l+jNp5uMa6UtpC0wWhXwyDT+st0rw3Q
1kuN7CfSUrltEqAiU8rrOOrmDTCL2h6phR6CepYeKaPlHcG5ykEM0x2pvJgM5qgjXDed7/HCCQgU
q+qWJJX0QGNvZiyoP6HQyxxdUMdLo1fzZSCldi8UprpdcspZOFh+kNGTq/qOwOjBRHVYMfiS7Ggw
C+4wq3UTiEFu2E7dK9/heJdp3WtQZfHe6ib5MjDZPGp5W+7Z5pgJpppqJ8SlbnQ9D1xMBLB5+uwb
vSjBzwmKNBxrUpiXEhsiM4ix2k0eTYGDJgDZeB19K9UOuwr5gVgMUvr61SDdBxBWUXUu9amnoT+j
pi2Fa8cDc8WClb4XZXiSTHXyGrUpv1CLkcI8WOsdBAl/r6i5fKtGOHwXs+kfi1q+Qzek7nO5FWsw
C3hcZI0beYnLhBltFXVu3mvzNuMLOBdYgN4gAJhPAgHq25K158HMluqmauXymVI18hYlmY+tsmah
4mWD3kIrL2NOm43YrNo4Gjda/ZF6mkgwWlMrCp4FpPmbNEnib43RYLEFo16cYigbdowDdJeFsuxz
j9XvWBa/GHXB5L2RyXE05hnIjqX7UhrOB4MR/iHO4oUOUqMdDG0SyTRZnpRY/17yxG8SvWVeZ1ib
UJSJ+kySi5xhYsmtyXKDTNL9HoDWG8mRW9qusiNWU7OlmkmNR8OKMGkOVmFRoDHZezTkHmnOZOE/
0NRMqjewN7obEjLCL3NKhqWiWsx125Ee7lIMi9+HNXpnrUUdUXXQ/pM5itdS4BwRccqTl47Ceawx
6UUJBhlbr9oYCkctUF8D9AmWHjmyTtT1IMFSQsY7vc99aB7qqixOQqwRj2tmZBF1w5R9jfUKOnaz
5E9mEU722Ojqex/M/V3UCyz8s+oFrWC+WYM6nhKdiGweaOmcWpXljWh36JJohqC7mJQKfT9MBWlc
qYFNLyxw6dv4ZEElGSOJ1Db7Py6wGuOFi+iqIae0RAEO0UfgCVif/aqidSFn8bQVAzG/ibNUTjw0
FYHlDUzeZi9G1Tw9xGCjN5VY5J07aT25mp0iSl+BCpbSzZC0MXm76yslY6KfQgCAqh2sj8FsmuE+
r2dRA4UFPcpmGxnlaxPrevm1t1BaEX8nnocyUIgsUxVMtKEuLkcK9dnteda8tu1MOtgaG3CSDLFf
Ff1Ea3ZGCVAjF/eTaZHOBnlULrn3yo45/YhfS88x6E3SdMFcCtRlDojc9aoqbKpN20yqshmHuB5d
MaNGOZRxT+So2eV8umIa+yP6XH/KTfPIPm498uJZfQulLEneg4mE2Yuq12vmDsVIShWMPmNDG1Sk
MySZVW+XUd59HSpxpJJppXOVxM3241JR4ai7qulif5ZH6b4S82arFZl0zntuY6kJpTNAcPDeEpsx
h7fGdOeOrSpglzlKOc5BYL68+3gaLQ/p2nyL2Fql5pZLZBfYp2IS5mZKIPxaaOU1Pi2hM/Thlsxr
6UwSvbCK8CX1LcGxQWDHNKNpVlH4S5uEAyVmATRgfgv6NrbFImu27UTCpKa1obsoSvaC2ojrGBD3
2YbYVC9W36Bza0qzupUry8CqjDjadKwh4YYtI3XXo1XDSlcsfBttlRidK+OAh+NZVTlQ3qTE6oxW
GKMAJ6I+wwLizdEI7q+VtZuSOrHAS2TlSLYLi4yZSQTkZWiC9WiFJR/dBJrIrhq5/QpfzHqcAYlh
xKNzrlNRTNhKAkl8kqwBmUeJIrnaVKU6XBJaIt8XU0hwMSG11+SQFFoi4Ylox6GLXbcioR0LTqRZ
l8JaBK+AkeeOhkrgUqp32caKBZRGw4zvXCyuBAKpb+TNyCdtxtYnFJLXLm1xteop2oMKGs9RHw2S
2w6L5GQgKO6VLG0mT020L2XUIaoGuRPulSybt0w40htDSaprn8nqCXdx55bg2ZysU5o9ip7YG9HC
cVJrLctVqSQ2phEY71JbgwlTCAOHUpFVB6mbZdcI4uxri16D7cNPI9FKjspsUqlUfb5F9Ft8L+Zy
OuVBJ95XUYRKPFp0kuf1rpHiTVFX/cuC5YBSpZKANZUSOwj2C4zEgLyAtyjF7De1sqWrguhINqoW
KU65ZCszPpjZQZX4gIBhBPFQSrskWz1jeiU1fNoSziu70qVgK060UFOcaN9UM2ldNZOlHZLwaS8l
CBgStZF1gA1TtC3VJTypKU+2kw3zYyCrT9SYd0YUXhusOY5QV82hnUXJz/ruVlUMHJHKvKH507yH
RHuQUlpibOKOv6kmCqlZy4WrMM5U6Wbc+PMiXCNIXY4VcZYU8Ix7rRIgehzY6DtZm27CbugPJeE4
N22+TFu6COarEhXyJe+s0hHHVLkh66rw1CYnMUWLY2ecm/DUZmlw1qe+vRZRjWxfUJ6qUlS3SmuW
Z6Xo3wQEX4+NVsXkfEWVBZEsjt0MocXWCtrHsKz1FwBPltOiIf7axGrsLsTRcB90TY0DdUQl0piq
LwvVBoqUyp7ZdVeCc8TW5smkRQjb3S97WeXbV77GhfZgyfMJ9U5pl1nj/Y+YqcaYMPNAdGViHdBD
rxxxnFOJPhSUnVCnb8QUBEcxcWJTpOa91btbs9e+yKn0VAys6bDjbpugv0uF5D6KZjvEwyhH4sPH
WfVf6nTflzn//M/173yhpdAwq+w+wDD/8av/Gp7H/1ae3/Jv7ecf9dNPbv/3x2+j81i7zz/9AhM2
uvlr/62Zb7+1ffbHVfz5J/+rv/mn+v5+rr79r3/7UvZkqPPT4JUVPwrzpRXV/5/LG05l8fblZzDP
+hf+2QJXFcsAZwyOmsBGvup/tsCNf6gEDIF8MiANGyp5Jv/eAlcV+txggulrWLJisgL/ewt8/S2Z
JD2OwQzc1vb4v6JmICDm57O1DCVfo5G5Nm4tao7PzWMjQnUdDOD+a/na1k7o9oer5s4O2FMncYft
aTbcHhdceIfubz96sC/82DdulnmzJC1PmH14DAcZaIPjK37nkb48P0Nc2/cbCHrJZnyet9qeeSAw
gq2m70EI4Mlsz4+thzpxi2/O43zbHMlhp43g5fpWzh/FeZs7CpC02GZIVtj5adBuYQTg8HRmZ9oM
rokva8OJKHwlpcm59lzFtXcoHN3Mj3aADvzYTe3yEF0VlAPzsT9Aj+jtx96OjuJZvmY7kbej2WCE
9mh/fNmvXO3lILgZP0RwxSd12+wzT36PN4HXbx9HR7hDQ2ivrxCgHL6B74m9fqPEHh5M8XZ4kU+9
09vXwIEaCqDH1uzH/fXx0bJPh/UXDNeOGenCr6pT2obdHJtjaRPIknFVh5xs5efN/X1ov09udexc
8t1vS/5n+lgzvzIKhwT7g+jLmc3XEdM1RNX3GG2K2DX42Yb9Gtv3fFZ2sgPEw//jNP7FsjFzO4Zp
vzcvipvespHZxTG3w/NM7nD8IMnFLUse9RvEpD4cXQALtnKtv2Be3FXb7qAiOEUFqGwkXoS/d9Su
8SV0Kp8UElsic5tKsfWi3JNvYt57u+cfjp+jcWmel03m4ow/hjvug8fJm23N1V8zBAVskhspcxmv
GE4xXmo3yy5xbAsM667VuzpSg9r9t+oGaKv6TdvU197v/cztvugV3UL7UOAnsxVt9zphgBYcqXZn
vmtWx+XbcNJsIfUVNmc/tS1ACkTc2OKDwrvhgzsNTiB7zWu4mzKktLuJOnF3IQ7kpZl2EY1KO6H1
xUF0E3rdQdzhAjs2L/Pr2OI+REjOam5b9Rbthz2Ebhe60ujXomscW9EbhqclBBBwtq6JjUvcN5+q
U3SUT8pdcxz9/kE3LsK79V4uoksyLSdNW3RgdXITpufIFW5Kfp0Ip3H0RKdJj/RxRW2DWlw0yRG2
G/xtE3u3Px6NXTG5i+ZIkada7lx4snRS2l1Pd0y3++8FhUBjSxbYkU1137/hd9eO3Q1dFDxj47zv
Eb5GW8UN9tEF+vkRmmf/PbjyI933hU/rcjnuuX6quLvaJV/QLUmfgeT5LJR2dU/UEU2VuHba7/qr
foIt7lu7wNygxiVyeZ9uBG4woF6x4GlfWv42fTnfjTyDPiugiE14xdYNJlMfXUwMQMhHt6aceZIu
KaibF1eY7eBO/JJs7M7GWO73W/VEhOrg6qbDdtfYlo0rctNvLvNWtmzOXAd6Qnw6TN0HNzwrN8GD
sEnd9QkWlYf5KUpdYCztO9cVOBWS52eNdcNwhufgmlwwJX3F9FJ/E97xFQSlI9d2q2zqaav5RfhU
h4483+PEl7bzqdiozmb2mFbFdrdb3Jtqox3e0XmeeGziQ/I1PYNwwCjzVriSnX5bpfWeiNnnJaMj
ZDdb+eUSnqw3hVRku+BUfatcYusBIM8gvyzzrnOkq3KSX8wj5xMbkzkkhC/iTlpO5o0HxsU3nwNb
OOVH/Jl29S5fdsqtbzicKr4rZ3ybjuLNd8r+XO+SbbmRakaAtwascDtQH1VKdb85c76ItqnLsuy9
vUXbpHGsnWjfUdpd9omnOE8eNmL7PLuedpUj74vsgkx22q/ykf+yRVd9Lt5eFBZz/ESFPW86r3fH
TfTWu5y2+T+SM3nkgmw1Z/HG45lgUudc2M1jiw7/ZtnzFpjNO/muPPZu55k35U7kj2Bstit7cHR4
TLbFn7H8TLezs7YfXS6If56O1N+gCbcExXIYwzaZnvSXdKcytfquaTb/mX1/MfyPqziD5JGc9pD5
WKEfDQ/vEuyfHCfIsT4C4pG5yaPMHr4n8r51mTVI4EGdeaPbNWJ13hM9Xrs+QkoBC6OxVXV7QbOD
myx3adBIfj9vejpvtm5rfkbbNaMHTAXraOJJ/RKKpFkAE/Iwe/gvwkniPVhg4LBt2pHPXekaPnED
7pvy9pDYyf7O2X4XdrBw5IN+MDcPZwQ9WuyQ1UrqiZPuGvZN40TfYXTmS8xH1G9qt3YVf/2384Qr
MYTCK3ssl2/4OXPE++INbEVr+e2RizKfCz5JPGAYS2y8QtHJql/BRAlfB9XlMIjaOVZvAu9KUN3I
9pX5c3wzgDGp2Oe0l4xLRs6vQDZGhS5slWFruVJHU7zc69af4qf/7vLy/6HCEcznrwrHu7gI36qy
+fZjsfnxd/5UworqP0TiktC8Mhz4UT4hiYgkVrroOtRFKrEWiH+6QKV/qAYV4zpNwhiF55Np/D+V
sKBEdWLjSYxTVm3dv1Y7KtKn2tE01zKUF7dWMZSGlpva8gctUc5RFCS4AEvLUqA1X8a0NnHrr+yZ
QQB3k2YOI1Hh2GOU91RASDYHxgdZZCtY6uhr2Ohbvcy+FwI9yKnWHDEaZQhm+iYxMMAPenYsDTrO
UuZVMTNpWCNOYTaM4UTAN/QkW0AbZigWzGA5fI9YmwUh80atVd0pxqoeCdqWJukF3cR5BtnHhoso
NEWFAc8bJ89Kx2rI6obyfMXKv0F+6a6vSg/xkgWCt2jdaWC1aU3NAWiD/8PC96BfGqUlRS8r72hO
wKkPe1dNKQ376hJNxkboNcdos1cUc9s0N3YIXSifg+Gkz+9dnXtKUl4EzouhctsJnRsn1WWS+WM6
7bdIQwNxWyLfJ788uBfxDvr1CkgUBhXw26TvoMsCsBSKSxH3yMnG0PIBcKubJGJO1/bvpfie8lYE
KTtyZsSOeitaWCk4tPN6hA2dJEPYqgJZQlxGmEHqWRpfVysyAKDjdZmfrRigEJKjtJfQGi4Z5g/D
wo8ZtM9jSfZpFC+cM3NHq7tTVKyjiRoyJR/oAv8Nn4iN+KWlqfUEHNDjirSRICOJQlO8zfrbAugG
X2hkjo+1dCUtZ7++MHNPX6cdLcN5z7rSNZavdQTkLlqJ5pj7lUajy8FrivoG09BzU9BcnJs7QYYO
NxCAZWTMubA+SnzTHSWB3glenmpbKOQAppKB+L7iFUdHBjE03yclExHutRl6poUBTZuBotTQDrFx
lcb0WEOn79sEvrZ1H3Xi48d9k6n8NP4MQepAQoR9HWtXmr2blSfB/Zb12y7VfK3hKnm3CMIfu8Zi
VEIKUFCudjQ/i3WoZII3y8OpMMYDFk4ZrpEVNHSQvYEnYDBxmMTsFHVwaOsFEGlB/O+s+WmZ0c5n
W7VA4JvF3bDCNXKIOw1lpp55Zh9/Bftn2as8YpSSr5XMsKDHu9G7SxkdiqSVnaYxd4lab4I5Vg+x
bpQu0Ht2lhG4aZ/W3E6J8ZpH6nyralm60638CHfRuFuK2jgW/B5ka4Qtc2kccj0qXND2UMvLHvDY
gA66ieDOWHNZuIOswh/v62CD8vGlCvljJLTooLf4zUZNNTcuUhiIaeSLFqCTmtYV8ZniFPFVzKQZ
VP1zOFnfugGw+mCol4IHh5HqRBDvFM63XdK03npBs6gHu1Jf74KcVuU4FN8R8LLOIPE9CBbPrmLm
hWswjIWiSU5ChNP2YHZd4auQKXZdXjBNDMpog38QWE4hbNO+M4CrToFrIvPcKkkM0osh+l1sYoNE
te7C5t5UteoiMfHFaiV1xBsxLV91qz3kSsqBNXiuoCGR1bHPJoYhOSjVZjgIzAt/2C7+Rvn19ysw
UfB4JkRyBT8Ubj+swAw10I/QFvUDgWfevB3oq0X6u1HmjgmLNhfT22yGYiGAJrWk3776z7pf9iU2
AEXDKyADEYYuvG4QP7y8kuuDkfUkkKML8XOr2lcB+JC+MjcRza2gBL7BQbxVvHV1RamzwcgWb5ul
ax2hwtA1T/WewB3DgfAkO6GYfk9TXMWE0twPeLmE+t7Qcdbmi3GOexVzmrFJZGYn+b0QZHstHK9E
mz1XzIYyXeC8gIOOwSo9CE5TUOVssUISJJabIpz367LcZeYO/xQt+IzUR32nsS8Jg/6WZ+3RGNZT
RO6sD87SccrCQFAN4YHmiCdakRsz8WrrwTH76MtoPKDtWmn6Zlbu0hBE63TLPWYjH4dstfrNVV+i
cVH2+UVHmZbpPIZaYRuUaDFkWUS4ft9Oj/SL74CIfdcS9Swr2jmcQL2FxtEKgLM0C9OvZRDdeu1M
5oJpj6K3WMq262KmpdMDy9ZuqE0LTzEN3++VbnKyZUGO4apqrMVRYY8ZKq7qbn1DGhuroe6byZzs
Ns+PXVu8GGWx1SyEW9pZbpt9pVx/fYOu0rIf1C0fN8iqakHTwZPBnfLzDYL2ULMYixJR36OaHFi1
kWrApNGtjUggxa9f7KPe+PxqKHssXshcQ54/CyFbIhLCxSx9vTTOoBxY9VIM1GN0bSGIOmHV+3Wt
bwRV9LCYOgAWSa79zTv+eEt/vQgSqWjpWdgoPqntrDZUCzPWS39kHFkX8VaZ0frVAVWFz2+wDJUf
X+i6ndXT45BlEAZwegolxwt9fK9GHUM1mwWE08AY2Uhh7xgNc1HFVwLdH6vWI+6HgALWK13YRQIi
dHO5RO24XQuEusOfgD/wTVae19Y5KHgG+aYrD8Vox8p9IO8F0iml6aR25TaJvqrquxWjN9BGdC2r
0yf8TVblZ33ox11gaSiB+VKoQCXl57ugwJ0VDWJZ+r0gMXqgsxKKRB327GwL3FNgIFB9wI620VMr
NRsVcJe8XAxldnEVQM44TDqTdh6fKVG3Rp0fWykiviAr/JURYY5fsZ5yml4kSEYTIHEwxnM3uL++
u+S/u5ctjA46mnRLQe/287sYLdYntWet7ek8Mb87TjNNfzV/ESL0GNmwLZThXRrNQ6bdj9p8FnVh
KzbUsJ38Vsw2qwAjfr9E4V+1xp3cdOdpoOaUhp1cG6e19izG3m2j8DexYR9pb5/vSOw0tJpXV5fx
oWn9cZWuBKQYGvk6Za+8z8SSgatwEhOukTSGHI6hZc2snB2RUhGWbmnsbuq68jD3AK9l9BVmy8fi
BqnJNikyfrONfKRU//X6mF5rqo7C1uTM9NMuktWYecK2RAhaUjxC4FBZzK2keo0mOjZGelSAx4qW
cS5UdZcIEiCu1pEovfG477pFOVuj8kCsyabqLwmxllJ7C2naU5kQJ0V9FeD+MX1+lHLVT0WaupK8
08OBMKDGJ9sLADc9sVK5qlJrS0ngwqlZ+YhbLfr661vobxcoyyAaD98YyvPPsrtMJ0FoBdL4aJWu
azUmi8MWXemQEZ0iZu6c6NshHk/rjjLP8nYJm7vfXMLf3sUGZw+FGDlmDJ/uYq2qGIFIXEI16U4l
mjtWU6eZ3tcqW4qjg9TiQtfzry3kbAVZD6abZyglm17Nv69VNvpZ7zeX9Ndj5JqybRh4PTVFBHjy
8/e/yGMxBAv3pyYeF6O+DRL1YjT6Rq3Ki1HGX+uerzrtzkZmeKn6Gwvy33wnvDrfhoLhVGS0Iv/8
6mMtB8JMLKiPNRgG9UvZPmgFFaRB9y5Rr5xTTbnZLlyLXocHYdR/451aYz8+7ZE/X8Cn1bGWySio
JTaMdEFtlBPcbmp+xdmFbwWRyEc1U6AdNMtV/tPu0qH1Gvkl1zl+LfOWGEC30G8WnmceGb9pvqyr
fgiffL2vTaKv6qr1awJm5tY4B5BCSuolM+GoCz+WIvjPlMT/7jbOfzol/L9xAAgv6xcDQCp17Mw/
NnGgNfxzAChjP15Dlky0vYbyhzP5Dw/MakymbMbpjM1ZpGjhm/+ziaNhdMbDjGedx0LhwaBw+rOJ
QyAMrhkeXp4Z2jvrbPBfCeb42fNItWSQ8I4ZTFXI+kA8+un2F41FasRwEB1hqSDvKUsidptECotg
ZfIYBg9CC6+hSnXrQtNG95Q0VSZf7pl5/2aHXdf5H/aB9VLWx59tAP4Mu8GnymlQ67FucXg7fdbM
JAMYTN6a5nY2YbL+8PXwbcy0gn4kAvzulT6Jvw3Iy3NfyaKTT7nmNSG9ojRtkhs9lsXfrW5/8wFj
YcKwLqGPt/DI/Ly+yGWVtUhSRKdYusFf0EI6k6QSLRWPmVdEhHrhn+kAZwIiCOVJ3lj9ML/+6+/3
x2v49MkuKs0MLFCiExlRfKMoNUNMFNW3E0bv33y0n/aXjy+R1ZRhN5pvCZf8z29Xm4d8RHcmkrc8
90epsVrFmYJMZ5HiQRBITIMD5//67f1Fzc6NY6yOHIJRsSF9Lrk1YUlVLeLtJXyLERBlYfRkAdBo
W7bCWUhZ7wK6Vttfv+rHaPzz/WpSdjA21y3e+KfDzRzWpCj0aMtzeSifTKkHbBuR8YsyadSDTQkg
SXEao5AlVwNx46qI7cRdMzfm8DovIqNuLcSg4OWi3hA0CDwAYk2VCHdttwiXYlU931RNCm9VmKNy
uBhJBtPl12/i754ES6LFvPo34Cp82nszaAbDmq7rGCqaeBt83uBbWR6LzPn68uXXL0Zf8K+POE4t
Pi6LT0xUP7iCP5Si80IaW4Gv3UF5zvi4paNhscLE8ZWwusi0EQtVAczJTMgcwmiMo6HV8kBEiVYx
qVgC3bBJdAHYhe8nSm0p6qqjBA7WQB3WGWuMTaF0W6wdSuHWTaeiYVi66X4mfkCy+dzLh2Eypvxh
QcVDmkDYA4hNtA6BvBGqw7DFZ1R/l5F0xja1E03WKE8nV5NIuYf4HyezOyswv8Du47XaIhxqSjDa
9VC5Yo9k8dLQsB63VW2OsOebWsrwHaTLK8gIFIoYgmXt1Jg9wTRGhwGu0QZEpzkw5U2gFIvmtmnA
UV+pR3SRAbnpHP8F84tEi5us9lpqmDaatXkrTebgN0ZPiEAntREzywhit6sLUdd7sjwKqQvlJn3u
xNq69Ar6Mttq1OqBI5ponCCwlVctpaHtz2VfssJni/FgdVU4OZgj5Bujacn4MrAa2eYo/x/qzmy3
UmTbol/EEQT96+7tdN+nX0J2ppMeAgiC5uvvwEdXqnSdW6nzeEulUqka482GiBVrzTnm8DNC1MLQ
CxNAt6sW4HzAjxL/Y8SpQJygQ4oDh7iy/xF4c/ickUT6wvSBkIcGIfm5ApL4oxf5MoNZadwXv6iX
qy4fkw8HCeYt6LIQJRs5Cq8FaOdo19WIq3ALzvpWA2hNdxh7/ae5jyVq+iaY7/Oubgaihxr7fsED
nOCKb8w9pqfojmwSblRpVmv8lEd43XtRLiflo+BDYFsNAx0UQFNgX3rNwLILW0QScbgOW40Jf5CY
u6YMFVb2S+eek+1yzyouPNlWsH09bNI7t6hHQ4IDsOI2z0a1gYpW3rFnrpWxyDjEbdBBessT4RC2
IfZp8oJzmuSed55FRsgeU9hoUHu7Uf5Yy06EDDA8zlV1PtLogk/dPfbEJbtg4mMP+gOuaP/MQ3PX
HELTB+nGi1LGw4MBQeJuTOU4/LPc6zNxBXxiQUzq9AkClQ66xh4j3nSb2LTCUICm5OkoFjN360Cw
nnCRNeUPNy2yCRQ9jhKw+Db6B1IqUOyP2YBDz7IWe6tNiK59Bn3Nq+KFeQwfKdSPxFP2M4AL7H1b
NjaNhDtbCsQ8Qdi/la1MnIvWQ9U/EiPpbcyS4yegO2ldJRUhOyeRtrTLuiAJOO0sqsMKKJQYj54Z
lukQVQpzYOuuEbI6mqnf2R8ZoxAP4Ps5fDPKKU6KZvAofZEoH2fcltB/UTZbl6IjYvR5itzY7FGA
IGlXtZ6mD+h0+XSWwKhPx00YApPYzrDtynfBSwarYyz7q4b0ouEJMn1qroUWRbqygHz6Zbwo3zyU
vf0uY95j32IYdp9BqDOphTPQdKSqYqSwaUyTUjIKq85ZomqEjDiaOOnzCMTPNr7C4CxvxzBG0uMX
+Vag8V7OpglBMjr9nCc4kGhT4LB593RNUm8jxsyFBKdi+9IIsOabtLDR0GhoovmmaWNrOHEiQytp
HLAwPotm4zvPvuWmN6FKxnfHB8X1IiuVQZ8qainb1ybAY6O3Ddi52r4kIbgl1kyAT6m+SVe24akJ
Mvq6W2xQAeMd1bVCOfRTndC7rgoCVMg9sHtaqBROGZ3hM2lVttmR3BMQNOoThBFPS8guWPuMldw0
EOOl4DxeHUdP8RAOwrcaeBrJEG1HZ9IPLUflFPy9MzGxt4ELgjjkJ6Oymorn2bdXbP+somZraWIy
DoZj6bEh1Le69HpViFM/k5R5T5uxQuCU18FTAaLrITB1fGE5HSPvMFgQmxQOJEqSTZNvTTdMB7zZ
KfNv+vWTjVUqXYx6JItI3nvpBP4eKwKS48WBNF5OVf0m01KS7N46G8yY812fqv4Rj15zYeKZOfoY
mSfOkQOv8+qPCgOOaPjGR2u6LNN2IvqgfCNuFAY7+dfdvh4VsGndIYbpy2zfpzHZMgLMuSUTHD7a
ovGXdFX5QEvT2PBVHfvbjNiKOOBibyNrWsb8e5KTfoJgHzLqkBIDBPE2O1hdHL8UA8P5JUSYa7Sf
nTLlX1RxTJbHMkkCtuqDb1LA4pPNkKSLEvxXwGJZgIpzspyT7TIv9xKhWVSHUw81dyZ7RZF9QNRu
gWnD7E3YHzFlErPlGZ9nI0rKjZea/pAVZXrQtjrJsH0mxqFhKVIT6LUKAUHYlNUJCeZwVnSy/B5P
YjqN6MGPlWbhwtoardY4VpXQIfUVVtcPNOfPRSHLU9ek+9kFwW8Eto0ikkYdsK6AqZhqRXvU7ZEw
KxcjpyNfvdFzcA2NDSI5xNnvTjyeYe6TJ6KgfkQAhQq66c5rWyzWFtTbGheUF8eh+swTzBk0K9k8
EzMTPMt+UQ8uq96WGjO6tYCo7QG84qwPh195qoK9Faff+r79gaq825m2vG1q/wxtPExbkT/Ti7sZ
43w6luSRb4r1XhVlqfdJAVJp6YDnbaXdIdcqaxIOUxI3Mh8PXOY8EK3soeV21Dau2/Yw5n14yj3p
n8+FgJaataiwLFgdA7VBxebk2S8yc2EAAmudj04t3Ks8Auu3aecl33ViLIZNZxiJYK5/9eo2va/F
ivWNbE2AQSenSOwB697gHWPC2gL8oJJ9cOnnXo2Zz44j2vo6CpxzCC+nSgFzjPrmnXn9VR7Lc9Et
FuBipz+LdLOcN0l4nXkNgQdDf5EKlWxlGFtbv16XlTFN5pzRYXWhGBr+olKM3kOcEztwiXKbBuQM
wHtevuVL0Af8BLCetoGc4oVhsvVqq2L4OuoNL5y4SGcjN3Ppyb3XpWcqW5Z7f3SvBxI17IH/R9c0
0fw+35rG/jXWzGqzWl8ry9ZbU0dHI1zSd6zqh4xw03lL1G4617tOx8S8TH5vnXlLeltw6iXKL197
YSJDwqOs5naxV757N9W7YCkPbh92h6pGKEt7lKep3Q/BBO9wWEhn6Jn4WHpPNUhggD8K7ASR2Wcg
8wnGSg5pWL0y7o/uAXydF5FCaGoPxyol+iOW0aX0mQqE6s2LGU9Jq78nL/pMx/O2T9IX7cqHeWjm
rWm7b2jaiURLkzfQoeOGfoSz0a28qkprH2SqxVXWpt9WH4ElqXoG7fxgwIzsd2yibdg6NjE7lMuu
BOWr8sbmfIoXNO4F/7FJPHlM8pye0txkwUszIx2y5/mXXaKUhwLFrLdatln3rioXN5wUJFoTIwMh
s+TlnF89Mjv3aTDsFyvWF260qqHm5tKjIMYqlCUR+e3J+BhNDNnoQ1vdkZBFM+3sYBy3IwJ8Q7mC
0ITHHfvglpj4YtlpaseXxE9cfpiXzu+YzRY8ynpm2Wtljvip6LJTNVjLbRbI5H7GRvWcjoGQm9DP
Wu5alVTxRrgYITdmFPZHqFMHR2swIHB0eOZaEg0DjGYShCldZX/g1tfl6O+oT4KaLL5eINSy/GV4
iVsY6Efm4W18ppZQX+Vmlt7BkTiOC5w64K4lk7vK7tNzwQ7MSY8kH8yLnZjO7KKMT9YUpsyOlwE/
IRxI9MW449z3xAmYEPl22Wf73HW7X9zGMmSLIBeOLPj4ZzdHDq45OXigoNuQqL+FiTAj+VEzsB8m
D+lqPfuAscGqXDEII9VgsGxJ3FiFjLVkaH8XzRmyD9dy8itbz32x60I3emOg6bARrAJ1Hmq/z/BC
w/Xd8Clzucf1Aw8dgZAmYQwyFSEU/oK6U3rC6XcGAscTR997UkGISYhp4uBoGtsSn2+d5qhyE8Xf
G88wlkYtlP5S0LrJ6cFkgQS6t5Q+4rzAaxkMVnbmuKZ5xdQ2o+6R4oloQy0O+WD1z2McdsB653qd
o4mOttWIFxEacZQEFyQ5EIm3CNPxjwnT4Eln60LN7AzVUxDO2VOWVDyoSKHDB3IP2cYiXUQZM/TE
IOyTsnvtiTrlXs3VQn6fNZB6CqL3Jp3b2NsnJHqwNyQFYPEw1OVrmLdRwJzTUSdHlPNwpoXXfkgR
Zq8VXe5bSDnja9R47Vk5qNnl2a5bdx+Wsf+sO3gS25Js2GNBQKqm2F5CuOMjLbONyONAb7NlcN5N
msXPnoxZj0p/dSXrwkpIy5m74LFXVkAhz4PJjNstCc8L2+ZnYSokEWECCpmk8hYxfMOhgIjGznBc
GTy/3cdx79VHcNzNRxfN3quN+fnBDSoUow0QxGYL2FTJTRHF3bALB2xihxQWP+mvcT3+DIbapXVd
92nPCNM4d14Z6ttE+lVGJqsZ7sqR4gCxkrTM0fN1wXY5BuVWpz0upMyNlndZ+c3tbOHzRmmVlE+g
wNsfjEWW6wJOXLO+ZcrnWUjahyoXmoNvkPqIhwHe5zsfszJKVUgwOaVMQM2ikTC5u1j63mtQSzzN
UCiyH1YPW4AdV1YeQlS/Rxub6gzJ9OTe4hvnDOTpsO93lAjLS7Q0LX480Iucr7WZ62MvVElGikQO
7yAy+WkN5KKwEHftHZHxnE/tpW5Qs7LSJvuyrO2fLTiwhVgjewy3sBMDbz9mTbPsp3mmIl2WcYbx
j+LlInONNe6UP1mkjkSds3EWBBLbrpQSUXY09QW+ZmvCElCQGAekaOZQ5cvOKvbpiHVxVTa4xOYJ
tot0zBNwOqL071wIJLjjqfAfifX1+LF9RJzlolVKDp7tVvqUBjayFvD56szQeCTsADA5kSs6cM4q
qB7OAdcleZRLoHP87UbE86WPwSvdIFnMn6wmhmEQ5l56G1K2OkRejl2z9wksVZDrIhT75HsyM4y7
9WRkdcXyEbn9gG6clF9qfGOsuyiFUL+xe5Jk2Ty6sDj4qhsfA5APzTZEHmVRYDPIc5YsKTYgg4v+
FNHKqI524pa3nZ5ib0uSGfozCLYm48ESdJBNocEPhWPPci7ZwjmuGSgGMaP/Ea3Es4QVYbZMmOhu
JKUUsIkdWbz9c8/rs+H5W5cwdu3VyYNQcxVkfh0bBwDXFNbadFfWk323+AriAE0hVGJxQ6SWOxBj
pWFeUa0Ao+13nJ+bKzWR7+AExC+LvmgvezIDnMM//2J/a9Tye0G+EshImcu7wZfuZRb7fVEUCTx/
d/5uAOtTnzdopQmL3VOP2Tf/9eU8X9AUFqB+6TR+aYMXSdsFwxQA+AUlAvIOH6mh+XAC+PcrIrX8
Dy3hdYz55a7ThAZ1hwQjhLHi8e//0mj0RJ2IzPYzYvhS2b+1jeyiJ6gmzd6D5jy/hqPlFG+tmZpV
5Rn8odH5H7qqNGaojumyeKHnf7m3tV2hIqyYL8ys4ZuIbWQz68A+WjVMhP/yvoaw0oQIIIPj4MJI
9vsHJRahwPfOpaZuJrgZ/dnOzbGaO2hJTm2NDO2fr/cfPtr6oYQdAAEIgvDL9xgOPTkda39fhPg8
bJlO33jvWYlJSv7Dd/i3S4Fko7cIChYNNO60L5dy3ZFQ9RTiqEgijEw2RU29hqa6i+P/WyPxX80s
/8+B5G9Wx2v1Ud/r7uNDX76p/wfeRd62v3zBf2P4PRbdW1Z//HV2+fl//FuA7hE2xGxghe4ENvq+
9UH+9+xSiH/R9Q0A9+EaRPptMzf839ml+Bf/xlmn6TT5EUHxSP7v7NL7F3NQWoDYDVcNDT/vv5hd
ru/wX99xXwjAzjHrGIcZ1ANf3jL4M20uho4A50LE5wmb0HmR9N0fBlr/8SqsIXxE314l97+/YGGm
oipTC4YlmYF1t/NCn2C6ze9/ue3/YST5dcHijkA1DFH6r+8yENrfL6P9CppRkOJ0CkHXtymxnxIO
Cob0MDsPh7p/tEie+EZoEk3af77059r7+43kgmxOsbCZKkfhF01IBeywtMvGEInAkvpetk2E9FC3
tJopHmgrcybL1HTMKS9wFkZx8qSdzvlOsnYrd+Q5oUe0BpccXSbGItnTSWnqKzad1C/+8Lv+/dtY
B+YQZhmlsit8XRO8iPiYYKDdSPa1vuujLKfD5Ol22v/zPVmXzd9viU/TBMniqlnjMl++DtTSESyd
ZdrpstDYplwx+XSEq3a8jJox6IaNGmhqv6Rxkungv/2QEWwYuvzO+iciwi/j2oGyxWndPNqFPYiR
Bcs8DCLd/aEA+Lq88joHQDn52tEfrH6R35+41p1zuvStA28s77+bgO6H8V315GfLyz/fzK+lBldi
r/DYNUKXhrD4spD7c0xGs7CdXdYCEsCKJP0NLSYajNNkfSsLH2jrP1/xb48JSxXPMjDKkOFm+HVX
zKjMBxGQbunPHhTkAAbCFDTWHyByf3tIPq/C4DmAIurht/n9Dvo0uDuPtsjOtZW8oxtbHMowowk5
ZS7SrvbJbebyD3XUn6755cGsMrAs3sI1RQSFkhysZecU7Q/yU4NnHWFDiZIwPP/nu/n3a7Ik8Vnx
nDNY4Vzw++cMEwYUfQ56SkSWPDeMVG8cd5lIkm8wVPiMroAAl9n4J+Dz358bNDMBgjB4IREKii+f
FQadRRNGix2x8OWd8bv0raRtQo+not1ggqr4gxjsb68EKyB/rGh/ag5M8b9/UEKpZV+2PpGwOsKB
HKtWYX6vcmZRUW6d/fNddfz4y6LPyTliA2PGjQIMxJ375cY6TUszgTQpumXgtI7rAbY+RwGgl+dc
dwSLJXxIeUiqRdRHoUtSwqicUcOVzNdPvsOE+W0CykKHICGCqjvvVQntZ+7C2TqobmnDLTkhsNNA
r6zC9DL3mj2THhns8TbU5siyxmFvDvvJPQ1DSFCs6TLGEAI/CTnnHdrxa/IMFu8b4fUOYZtL6rrP
0TKFhIYhqe4X9ywGLuXsIWJJ9i08VQJRcTzpdy9rQVpBtxubCwLFW6SN9hA753kgrR9OB2UUTb2l
XppaEEkf5IYE1dhPkRz5nETrrdQNhq/EZqC1m2lby40hVu0Ivm+my8SEkDDgUg3FZW7TZ964RBER
0Wr5+c3YxiMpxqGIDIk/Y4qjFzjKi5oLgmbzJffVYdKtF114oUUfl4DBSG2RQaXXuOkcl4ma3T9J
Tk9MZx2AYSnjOjUnP1gdvcnbg8AT8OElgYDcWjWKAod4t4Teo7YnGsCqman6ha5h4zRaCrEn6UIw
VmH28TQzTEqQWBSCiLamVEyaRFh23+goRycBYdHae0W4jhVdT97CwRrtI9CdmBTdUA9q08ymDb7Z
4wgEbOOVU+Tcj2wXzq3X+tjeq3muxHEh4EeNG2sBmM6IotDjaVriRdC04bx9MaYTbSLLqox4wCqC
nLmhXdJv2CaScd9oHWDmdvKSCB1BktcNDb16wWmgPYBgdsnfyy6ADjCMpCFi+aqd5zy3omInx8Jf
xyETB3mXDkZ/IfMsfmCYT/5qksuBrBVGgE8Rk28bkq9GfDi50iuuOBar+QB3V55Jjw1wQ95cCXZW
q+C+g6pIOJ9bgLdnXafYqFScEFve9RDKgq7237q6p2BqowjHfKFcFb20Wnt4sFOAtNW8GOeAGw2x
h6js1kIcMLVPRrscr0U7FQfXJXcZGIt0yH8uDDIlk+RQ98D8j2TC8Nj84slvMOA29Co3bi8lQ0bT
0m4OhnU4gg2FoFYleC2YD2fnGCpQgExGq9t6QEy3t4ZS4qfnJXJ5reLBPYYA6J4RJnT8kMLCpp+A
nMIXsxLciFx04qssbwyeLBHMGGSA9THoHwytq2VJQ9rio3R+Mv/FsuIpWGdrWCTefK6jf/igCVFg
hSWbEaFYvAyEOc/NrhpdRCV8d8V8ylJMO4fercHWIGpZoa2eWIZrRWEFCyItlbe3GZCrh4p2X3LH
JphnByar6bBlf2uvZhmTCOZkuvoOPcJ+oc2UXyMJ873jkE00opK8L7KzjvzJaRPHlogeheuSwl0p
+7se6TXtO8Kj72u6G/Er6qMoOUCp9NFtFRHCsVdyaqv0xqWtg6OByO+Fn4OjqcfLraTfpsfWeCgz
anvsnh2v6vobxnJdD93OGe6Nm/jpmd10omTEoGU6F1u7YFM+RHMpkjP6YyDUCpLF8gtVUuUdOjH3
4qZNsrC/G2GWeaRt6c4yp2ppXfRAdVZ0P1GYOdOD1WZ5feLdrLGber0XfYChzOShpDZlqk9XmJHs
TPAHMewjU8acHpO5aXxiAaAje+VhCpAkbLswqY5LFtqvGQSnejuv7fUzaNLFbUSYFoBHqYo7imj7
KV08TcZfpBi+h1WX7+yxbOGOO/b3poLozFBg/lVTBbg4ENsUwlKUqZvKrtr3nEjmV79xx1tRqBh5
cdJGj/ag/Se700wkmavZe5B2S751rDC6y8vY+qniZnnpR7cBr8ERER6d9vvwnLF7e2Rm35odSpKZ
ZwkyLJosN8lP1Zxn1clV0KGtOnR39ZKLhTFhPhJEOvfNtENPEYcgWuOeWziJCFlpJNUFdMPuISwS
VizTsjKu+gF667iBA9qJfvU02iPLKj3lRR51JcJ+B/DU7zZ+aYaPMc56YIxxZz0lbSFuamuwYLOL
oUx2feeKDxhlfn0QbePq8xzr5SlCpbdOTpmubqSOylMDGbQ76wcdvI2wtGhCptPw0jslA4kK/41m
IjZPV4OnllvmMKR5D2kSRkC7g9TaqMS1F0R8kiBUBz5lQx523nwQG5m/uQUx1WBrexp7bar4zUtI
iOPWLKKzj8TrYXxprDy6dZ2y7R5GW8fJ1hlc87Z+tT9K6hQKLD2CFHQtPunGCbIReJ1fDJdjSNeU
xu+E9Y4AV/DbeZ/c2B5uOTiZc/oy+3z+XQTVq96zC9vpVkyIOXZp0QHFgcNa3CzW0nY73es5OpnK
YlGWsUcIdB4qhrR6yax3Riqj2o40eteO3YgCuJjd+lXD3Y2v5qkshl3rsYc82LMhM7OKTXmJkcVx
iIeJcJEQsCVPYV9nH2lJ2Ne2tsI+wXztK/RWzB0OOP4srMvc0V85c1iiVmZgtKystcc36nZm75MW
KI9Y2/h5SszXMkKTc2zDeFktpXPqbwhRK5/FlGf9gcxO3+x8aLErCrsGlpNrSuZNTtcoPTj+yIjB
ckZJZxi05M3UKQQ2btY4b31il8zi7cwG8F8UwbhZlUFvdPLlS2NrpmDF2DD5lt7kPi6jA6wkix3i
bRc9NG+WVQdwLmlFFpupE2ZGpDORthd0/fQaiVImhy7OurskD5d0x9lFIRYp6AEf6zHq7a1SKkRq
6Ity2heRZx+sXhCfyBvSnge9W8175jq4+zxKnveMRfEuYnMGxwS7eJ0RkMdx6Oo1dhOSu9Z7vRCh
g0KyabpNFjHQO/TeYuszA5Cw2g5R4X1nEN1DBhoWicIpEfkAVnYGLURwHpGs/IIYgMJCANAtdAdI
Ms3tM1mX6HYmGgYTI+JF2Vdj0tbWLlMF3yod9/QupC6FZS8LpBoTjXizU0Om9m4Hmv6wlL55zyNT
rH7+LNGQ3vIgxq8d+/kW9aNVb710wbI+VwMzo64rkqscNfx40s6Qww1CRu9uFk85Z1mNhHu9cIrV
X9bT9xJ3b7NJqyo1pzEI9Z3Ei6fPEUcg4YrRKz4p41KURZPHMMsSqXsNYw8gvT0iRDuFLjkh2PMR
aGHS7LPncZHmDe1EHu1rAnfDnWey8JeschWAiZEp0G6W6V/Gr2PisIb43GauQChur7on49rFkxaJ
C5YzlTzP6VI5R7zra0BgHEp4SoyB1dYb5u5pbOuBPT4c1PvUpHAFUP089p2CLGI6pU5ho/nQHXBr
fOpoiQmYxfifoxyPgW7CoWRLLoL6tp4AgW5boug1eGKnfe4Lo8QGxmt93hDLHYAVd0CUWMRqPllp
ocD5zEnU7UtnidFMV4bfiNMetSk6LkqIgPm/QlxBZ4o3LXZw5tfBOGwS8nG+CRy/LaNSx71EM4mt
kf5Wh8RqcnyG67h1GG9Txsk1UwPVe+QbFZ/PpACbvSOD4B51kVcclePXl34kl5eOCg8MzVRRJtp9
TEEnMjI36Pe24xmz+fpZzhI3ZNVUFZYv1qmNySPt04pOxW2g+/k1Xequ3tWmrO61ye17Ieb6kR2o
0luXXIgPk01o7ZNsHm5iORHPidO/s3jW5ugqkrqH7t9NyVO8tMyMkrZsYoCR0fTDpFV95bnTeubg
i4VsuGR9vzeTlVIAJ/BYqRVhGnA0teszFWWaA4DfMNRRgeW2nLAm8Wx5q2J38LuGWPIl5+abvKkx
IQe8OpKC9XZhhSTtdjBNfojjTN7P3sAmUk5lsgFJK9p95gzqF2GTA+oK8qffvUAYcEqp212PueRI
MIVxBYSjRyDGfY/VvSPIJwgb6dmbclisAJps73YEcJB2us2mYPyeJL7CPFS3/iU4RpTTeBSaewQv
FouzykAreYk1EmskvaQ6h0iLa3BiKXo0Kk/fo7hW06mspHcNw7dMv7FEVt/72a0AsROXfU+Yd8AQ
cmqGV90FEHUAp7vHsScjYec1jXxaZWbAfERTPce2GcmpkLnDCWDwQ5xxGa3ILtLZo8O7A600c1E1
OVYeY+5bahb2CT8vI0jVMv2VhmeSAszzflUwCRqyT0nu1GnkMNNXHVP1mr8me7dXMa/ICJ97Q0CN
HPYGVB9nY2OWlTjSqFVo3pZHkjLAURiLsywggqwCwjV5Jccg5jv2dmEIefRKFt0tubgTwEl+5/TY
ETyNfYZp2IPjNazO/hj53ylcUH05fq6uG4llCD2W1ng+wnxldlEKfENHbrNdwfaumXI6vbwdVAkt
ZQyG8TupxvVDwWmpZGnN66uhc4L2ir5gzArT2RQfnRIVJRUTcLUfOKMyzk7Q+PAYLMNEX6hpXzMx
ZT2fLB65H5UeGJLmI7R7f4iqBydR3oM92OCOIh259yl0+QhHpOEM1UZUjRzP+3gluw7ZGwKloEWi
Ui5vQIw5n0VVxJqOCjOcEErE5NoOJMf+QgiV3nHyAhIhDQHJrU+sghJ4aA9TmrE3dWVn+cepR1xP
/9Hz5YY6GcXVqO3gV4DwormuZ9cj3MIs88q3WOUvklNruMvFLKrD+kk/UisnyyHNUwLS/KZJz2VN
VdvTQiJ4hQNGQVrMnH9k1kivsaqpgTeVIxa0holXMFzqKe43YpzLC1d7zcswlO5FglzA2la24sSZ
RoF4E05lXZhu0t9NYmfWJiSgGYicm+u7Vke+t4mUneYHI5zc3hW+X3IjV6vSIdBKvlMfDPWWan/m
MGsF/B55k5A1ZK9JApuAlKSrMCzCe8uvrcchLNs3KcuFrd3NkoehWo8zuWwGBGLEx9xPVFE4GKqs
lZdVXTJABWTCz6E6oG0xcyr5KXovfVG+rR5lKEDsadIr9CkpBIJR3S+OWg9Q4M4w1Cz6jFMq9WUn
Oph/q5peHtWoq4eCL7ra5pUPgIXwsPbcIEuCtkpAzLduAX3D7L7+xlTCV3sx2xlDx6hYxi0SbRuy
vFDu3RgUrbPPdGk8Euv89q4oRgQppecuLCp+hUQhQa+xICzx0GDMbUIFSrJjd1vLJY63nNpmaBKa
hXhvRU2G6t4yfnIcUHBce5YlvsdaCxIWlEX1yMIM1SoaBvpLiibKxVBBaznKMBygnHipAy3Bq32a
CF0IF03GMoveagZdAtp1NUMiQpP6DEICKUcQj9GASNlGLjG6fn49DRFqGbpYS7lvkaKlO3I44zOi
o+MA68KMmyssJ/Okw5xejaeN84YYPbU4Bs0LAEqsCCDvncJJTiYmS3sjjFUchokHb2tlcxxsRVFp
9a0CbsN/4XNEjRhPvIyTwhLsZ7Vxz/wOU8weQWv61i4Fl6kR+MTfADg3FkLZKa02TRzwYKGl5woj
0mnejDoN/BOCem7tAIkJVnEX6+zAkbC/zGwnrc5GrFrECQ4VmxxaD0C4yERma9u37bgcukw38d5L
8L2g1HSTXcLXZw7gZCCgBT3Pyh6LRKRebLpVOWrIFGolQTb4LPDYEVvvcowcVqVhf3TyPgg2QZsz
vEEaJ4ATVOP0yBu8wE7raZqkzeDnJwTQVIx1JbsY/IECpoetYfooVh8Jp415ZqnAXeLpwD8Xn5aT
tk+CF3/1oXS56H4klRdjTvk0qtjT6H/QPsa+oj+tLLRiEH6Eq8NlDCfMLlTq7fe4Dpzr6NMMIxAm
PrJtYZHxPu0yZnXOMOTARBN1+Gn0p7WmX102ZVgXLzQ2ZLELP204fdv3uPk/7Tntp1XHmiK4JO6n
jQfYME6ViOPFj+XT6JOnzDEBdGP/kVODxF5oFHIHgzvk3c1teY9wB9tQFRLFcgl9uCmJUnLQMbiz
XW4djcJqzYt3x1PRFWV202c0C3fdkmJQcpG8iVOmW4xLweph0qOr8DMtsibelZ5lfSMWwRsxFIH6
VTf9YE4YWSkjJuQ1GeLZFLNUbi+merSKvHmcW4Y52LFwVqluNVkNn4Yr/W/z1acRi5vth7tpytVF
82nV8kYTsyoYRgxrhBd2rsBfrV2G9ufF8Gn4Ep/mr4TwI/SgqyesC2idbzyYHljAVmkOGnxUOoaX
cD7AvkG9M61CHvtT02OJdU9H22a4cJMjq8n6KrielwgQV+nR+uAhSpPn2KK7s0W6L1BCpQ09tz4L
vZ8MGzpnV7IalJu8I8ZxVzdl/j1r04wKs8+jdOdMxCEgiFuK6MTSbF6iqg6Sgz37NQW4Te8JeyMs
dxwD9UCuu2zVc9M2zYcnbec+ryMt98GQjnyZ9K+2g+jbR1ZMcyXw2JDIzkkTsDgL9C+37It3MbsN
hUCJFug4V5x7YKgZ50X6yZRvh6GL+q3BqHPpt5GdbEnkaoP9WKy9E6vxM34eU0toubYn5ZlPD5h2
V9VYySmbC4Ub3HKTF9et25u4tKpuS09A3s5F7c6b1Jnym3jKhUffrhYnTBJAsjzHVJgp56o/wGCQ
uKg8GT2G+TjzFvduG2172lf9xiZnNDo0AX6bPb37hYomHObowLFKXsBrB9zmE0LRn+eYp14kfdZ2
L6VIf9lxIspDLaw03UxxqR48hq58acSvvkrtA9TEveE2B0XvD7oSMPYczn5c31D5RT/G2DXAXqKk
erYDa5Y7ZZziMUMkXO1Xfeew6SdThVudWSEuwKJl12d9mA6l6xQ/mDbTRcqrLLG2XVf6CwRWwlx4
YkT9WpPiTo2U2W77blD0yT0RnXSaWSnj5KYxqHP/h73zWI4c2dL0u/Ter0GLxWwCCIQkgzqZuYGR
zCS0cMAhn74/5O2ZFmMzZr3vTS2qikkmA3A/55enZhLTH9Me1G9dWjNCVivthnOmoGV2vaB6L2rS
Ur9ZpjtiYNAnMmPtocFcKKVvs+kAW9xtlj4ye+WwHF1rMNXV4n7+oemGmAKLceVkTsOodojjrK/S
TDwZSBSGPiu0V//ItczDeaIt3i13WvuJQGXjSwMLA1CaXfGZ0jZjBzQuZt6BVEEFxqG77XefwouG
cAHJ/cyFYe7s3jSOsNplezak412SZUAHWbUtU6oCu/3jY0rkfBpEdRWidQlnH0yb5nnUw5/oGpqZ
96mpgfeHBkanISaNqGQ/Q9A85SbH7MKIOAYTWXO4LlPDYwT00LseG3zwZ+GU8nduaynJxgLygL1h
yqx95fEpRZQUEeFVg5lLRt5Yzy6UauCXGVc3+6l7koeFlY1e1crpeYvduFc3RGnLr9mxfHY90+f1
ZRSlPQEYv5cHAVsrQHyW7iVtDeuPUa/ZSBlYP98TSoKsmvqfqWPnoI5uJwuhP5npwHQRWysiaVy5
I5hHwmMR0ACb4YuBz1x2C5t2foJms2+TqcZ+iyfBxJNMQIuUTnlABCaYjbFndkDUuoWlefwo2A4C
bVj9l6mqkjjALIii22FmdC6t0xGhNmzFxydFGuH91LTag74924xYXLihVK0OJluaIM8JrDC5QSWu
n2kuFZxRba/iZoqKUFdEJjGxUMXCG112DX53XXi8tWYnYu+QpvCUONDxiQVDPRfTvu1LsHG/AZTZ
NV7T5QecWyaR2byyjJEG1+NdATAqCArOszUkEqz+WXmOEEHrF3goY7ZNdM+LIANvtJi+3GUsX0vJ
XrAn2Q5hJj+Sm+113pTm0K+rWz5MhsyoO66QHqH/nMnBW2LkMbu4BNuJjFWnW3vw2oRInaTL48Dj
A05224uSgZOiPgowU2NEGyYwr4Cv8vGZLI53UK6o4EExnZ5ipOH1icgw505vMoOwJURGnF7t0vWb
o9ukwwkOBFcPYVyXoWgd1NypIW6AJxWQWurlSUDfCanBvszSP8ipqarL4ATLyOtYrCPk0MQWa+nc
6YFOyRbhNl23vPDeVmKvIzVmFCObr4xaV4upfTGte42ehM8RNgDnCKCNG1h5gfkOfw5B4eXKKETD
R+40od2XbEqlhJSK/LgVC2fcEj/ZZex3Bx/HynaK50SsuYnJ6qqx3h6ZhomnZE8GxhmpIxRnxmBX
P9RjpqUvGoi2+so0xrGoNReCk0UVewKAh+9a3BpM0cTlaDMofQPsWV2mVIP+tA0L+wRha8R2twtr
WWSyR1wW2Vo/uDOVASMguW/rzNH6CDq/zI9mUw43OrCHgTZKGk6e0oKBd9dwbtGXmrjjO5oAYGRi
oTaPklF6+kIIbZEhouWWtnBJVa63X5vBjBj3Zz1wtJJktbYW6gnZUvarb7IMXLYEr91J2U+c5hnT
6mD71TNtEf4dmhdKi8nOa9ttnE1F1EMLpFGl1w72MFn7w5ZOx+5uYu/AT80KpwLqPqksq/jd+Xi2
xnE+mmkVO9FsrsRAuW6vhfQ8CFj0dXR+du04lFAH2WY3MhqACfpjVXfiO+N+G4V2GSlZTvZtoeXf
RCMW73OGsG7XruXw5dtD2/1mi0GNRctJZls/G06rimYvAwRZBo2qqnJfOj5XxFpaIgmdct78YnnT
LWfAMQqWkNzCIMZuXfbsMkgKdu7cckLgGeQB6Uw8yd+SiEwOtx57DfhtndCOopepYqeauo/Jcjk/
ROrKBA9C7FgH7FsaWODoeyKQfozltERVcEyoYNOBkv3M22sd6qV9zk35XHs5xjdgp+E0+y4dm7aW
l29rOvQ1umO/6S8ejL+591ddZoHkgljx6egEjFipx2ufSw2nD2W62gJo77TpuaEym/B1hqAU8NZJ
y7AT/E9RUQ6mOLUTlTEew161d0WvOxXQWI7dGFxm3NK8E0asD99Xw/rWJnrWkR2Ztis+lA7kdCdd
o2V9jz1KmDB84atzeTc2nLrEveJ3MZDriIGbG6uvTYP3dmgU2jCHa8WuiTSI9GwaKAwtO2c6Twjz
kVlUhR/FLZcZRJGlEq4RBz/+jPchDUrhN40BSbgOJ/5B4wuBgrPbkWwPKMIvbtFN5pbUarZjelzX
M78uCgFKPVGkGzaw5gE0jser1zr9b8U19UzfTcxOKMxlDPR0bq2gXDYPeYwfaC+UHAAY63imzRWw
twPJ1Qzy9HsKa3ZFAZJPk8MMiWrXnTddhE03SkDTSbsedGJ8/TN1c8bduigsQblb6rTU5E4aOEW1
lXXmlUaArxwIbMlSGlTYI3Pw92ErWnQ12+EPt4pmfW3pJ8mPaeOY9KLr0u9AnXku55MsSueLhFX/
S5dqIn4M0cKEAc0VjXPH7oB5QSFeIAa8Rf7/agPypw+b/ab9xu3Y4ZyZ8up+Ije2Oo0AptjPZkiB
vbLc9AbEhCUXHAUbtS7A63DQANvXpAuQwwhKvvbuqRRJpj3GjLL2qdRHZR24zUmdJee4rPaz7oH6
KzKX0sDKfM246onJKL+Cb2kHE0oxvc1UxPj7FOtN+25wKdYPpvApKbNntB8B0AUoIG1r8p/CsP+R
MP+Lvumw/n/1K+XvZsSW8edvI8zp9//651f8U8JsaoRem67mO7A8Gjk8/0fB7PyDZEoqWMwts4YE
bb7JvymYLe8fZNEwqxJaCSarbyFp/1vBbP/DctAqEsltmBrGdO+/o2BGPfx/adw2fSl6aaphECqi
BPvPkjPpSrD8lE6h3O+uwhvjcW9haH/MCylGYil0KQ5mmzwI7lnExy5AGsqTAP+UuhUW2rQjjkxu
1o4svAbhxHbjIts3f6gEvIY/8LfZwU4gKZUR5kPIdTfxtl5G6H8d41DTtZfOauL3HFUypu44f1rH
mnD42rrjhSWLH031WQN+2HWVIBtlmu90YjiAfH7HhjWaEXQpM0HNfTHtdLADfRdLuVrnNEto67aM
4XVt2C5Adun8SMxJe7CzpqAkIRmzIgTbYODw5CTUV/N3EBmUT5jwxCBK3j+qjaYrq5ex0X+RcO3N
O2HmPSQfHEIV+hKbeqRvw40+kLGyqxcxcMrbjcQst/gBBqKF4AT5ppYKVyl0UPzUNuDBUDc25VKp
cC3c1DMOQzEQqgkX2e/JRkluHBWvRpUaP7xksK6z03MoT+jcbEoUEwQPNdknei9rsA/azWvSo/iw
PspiAUfpGm3c0z3t3sqxglJ2ZwR3RTHHtz6t2k8opwldAQML6IV1VLaIb0ltpuOZJCr71a6cLVuG
nEuxT914fvGFbj/2FiKVnbJt/Uuza3qSFz4cwkFlf44VEZ91t7UGlppPSyZTw/DBiFReU2L8QGwT
iHlbopgofSvfVCTjV2p3xSkf8MhnOLN+FbHtQxEArXH1YJKrHGFfRgKtLymU/A0ahPF32iZhd6rs
LiTk8JVx4LglMgQq6RFE90sh9x1WlafFf6DSKlkYyEY/LAgk/WV023WHmApgw7ijzGqhtqaV2ZWR
KjvOY1cQ3rRlUa9Wgdl+zkKSOBgGcXEeCSiiYksDTZc9Nva4z/xIdTMZ43ifo74aLnPj/UgciBqS
wZjbNG5lu54iAToS2Z0VktR05yBbgK/nMmjcHIvfZB98EcdhEdcYsMDMa5cmESdny0Tc5/UAylI4
j6w5j85MJC+PV2h2Bgq2AjlMsUK4kFk07gT5FKFdrz+TeTXCjDRsqN5lObT4g1BG4DgDRQ5sQpGY
LNaK7jCbePpWy05tkl//ltUXj2SZ2qeFoBnQE5yBZo8GtY6VOnvSSvaOOYgzCDfet8J/ttOlO1ie
hgeSjrqwhO2niK980xXNIMqgk9YnYL1pLdyGAu1iViFUGFXfJkyxOkWtJdmXEA05H/JyAVC/9ZQ+
LHN8JbDZIw9UTZEG7ZqMYB5M9b4oX+kQzl6npsxO09YKNOqv7lI4V6SI9a724DMTFA+AdqBYqZl9
r/laBcwPn2vrOtgSu1ej041dJ93HxU3fk00j0kjFE1KR/RJ2XtXuhnl+ZBZLH2q5LKcEk5hXLgQi
OI7zCZe7Hog09JOd6MAhWqGOUnjam1uZvIE1lWpgCOjCEgKyjJxREm/b/A1kRNVx5UAmIiaYjWOF
mnQKnSInKhzxUNT2tNpPcXa/rrzqAS8v6ygpMVaKYIYtdWHYwbA89KzpSBbUrfbMUOnFFbMEgb7L
FAPukCCXWOVhNquCVgLjcR1xnAug3SAj5WiY2uZc4lU9Cp349xJsim3WcNpjm7jLvZ6V04cZ685F
NvJYtiUiHbf14O+2xTqbVpPqDh74NyD0tSSctyyelQuLvRP1XJocPCiI6L2VAMuWvjdIlXnkQTFa
RCnGTws06ETJsLsnucR6rHpGoAB+wTursmvfWoEoMcj+7vw2p6i3r9pcUWZZgq/8RQVI/NS1/dR1
82FaCS9peTci6DX9VFp0Pql1U3qmiwH/WTaAQKp3PpIkjaO1La29kdY22gVKXgkoJuUJFpocq78w
RI8FWwvKCoBTxT5GzrFFhUByJRcf4qyxcI37VvrtVVTYeVP8/k/JKCBzfJMKLo1Drh2nhLUOlVzS
WUNLbZQwn7IU9yQMTmbZ5APgunaQ4t7kPJA3je/wLrGLOHBLnjZew7u+6N6n5TSW/OS20x23mFmG
0uyudZyHZpDNHvEiGrFyXC+FMMqbN2G7hX7rusBs5iIsCyIrpGNVoTc4yONJZFERst+Dstqgk0r8
qONEnFOtbx6o/bQjPV/ih7XnPCOFZY+6CxyNmCrTaa4ZvucdRu1bRT3tvrNQXg+tjIpRhOa49aSW
XHdChCiEto7OkbofWczX2JB5VA8D/Tw5/W1CV6iFyuSJlBmUffZzNiefmYfVHEmJOPYu8IBNEjsG
Y3ukqmlho923qfHgmzx6S9reY3V4wDna0odpqRPFh9ZzXsrvvtC/R11vrq0Ymy/sy1uqvkRIlFP9
OqPFbAry7HjynqTgL41he32GrWIJZ9W5JnUtIrc3QBYp17i6ZqMRcFfl7DPzcCpLfvFGlchbXlft
gyiRqLh9pX+C6W2Fq/FIWjhRJn5u3WWu/+JTm/nT0GV6dKA4I1but448uZ3VtNxfMBxEHuBq35lp
fByKfuVsaeUjm0/yXK55gga7/x4yLhpjmlQwN1N8j4pIRqnPwiCrYdpRtfw0zqgiLM7zI4xPdnBU
xZ5q2tXJQE9IiVaeh9h0uzOLikaWeN/f1XZ6NavJC0BGlsBMIejoAn2BXOof4TzbiwNzxcuPgFpr
mZZqPZ/uwIyrvcdpeCYqENJvFDF18wuIByeWd41BKHYtdZyN5uZXMvXog0T8f2LjGk8IzcuvfgKn
bwqYy1ifXtvGfcuTGmzPnM4jLq19j0f/wR3jGQrWbfboaNzXafKnG62q3i0t61fdI8megMUwBdck
H8SxngDQsz1ZEc2xQRdx6ThXnikSni8EFPZ7GitnMOu/iCu1K9lPaVpCh1eqLfuQ4RWjeyHGRqkE
PWB/QdvKdAzSR7KqCVVXUH2BdLYNqSAuP4q/aG/T+R9r5zfv+qRld56xetNJlemIQxqJwTSaSBHy
pR9+USFjPznzytun5uatghh5IEjHY9O3+zOs0+ui6H0xuc4vusfB2M2pRheszjra9mn6Mixp8nPC
avddzCizh3yBKAZs2OLRRHGPm1YeV2+evlti/57QHVOPStgbFQv+sk/5z79xn8gzzYzp95o4f/Jq
iGmyc4ZjN1ROBKWvrloyOU/KtBXNZxQrLWDqeqhvuesLqWZJUDbCOC5/8fbV9sSd+ovCO6XtvhDy
yAeeT5yCmok8ZYGsRpHj+1GNQNzeKxt9LwKCPD/FtjdfZmWbZ7dP7+ds6I7subQ0L1zdZqPWqB0L
837dmACoPZufiHbPWq39Ny9JrXYIAtMoo2g8ZbL0rbPTzT/mhnDwLi/+KJvDuSlN5w25b3fh+Wsf
Jk995u6YnOaEeSF3GwTr1LaHUgC0MS0OrwiHy8jysp+YR2eitv0hwrMXIo56TcYlaiztZBs0Lzoj
AS2NGx9So2+RGpB+vhbUjRiS36DWv9RD8ixVg+I+vePCY/kwrEfSTcI2Lq+jOz4mBZU/9m+W9sBj
CilXZx/rMXRq6hzmun+oPW04ksry0XjiPivxhVIV20e4a7TIYq4MJg0BlDT0vbB6ZmzD3feWCusK
lLNds1Pdj3ddbtLk5w6EDHKZBGDxv9u+fzdLeYoz0byyfeCvKARiOsX755ZChmjmz2LRa6DKVb+h
eYn380C2d+ou+Q+KqQksQg8cLWvtH8lZy8Oso+VcmURwu4jb7Gkjhpljd71d8qOs+tfsozjGAkI8
uF3vs8FRB49IKnOe9lKDCdUYOmqtGPYaCTLnoo+/9bw9w5FRzccuEQi0WM8pGYunZdIhdf2EHMdi
LM+qoBZQTbF/HloSPYqceKMmJSVkXesW6WYc70t3yjAaibOYecrNIm6Po73W1wQicWfZNlVKWvep
p+iw9HyTzZr9vrPrMTTWqbhKlMwoQVhc5spLesYHjNyLmj40Xc/vKiHMGwfyD9pduuc6t2M8TgYD
11KUZ5c0+nVFNM7/xL1eKkledVlfW37nO6QL1TkBk/M0lHGdOz8Mvecfac19KVPEi9bqHzvfDRuT
jnDLPOFwTUnGyudIFv6b4lTxTeGQTos4u7JGqtwWfuFdkgz71k5N+o/nPkK4zzHa0EcCYkSKpF9/
Cukgc3AF5BQxplfSneOb5y0/PSetjhqHtBtPYdqZe25+WMytj7o/Zr2pIpYmN5hmk6YWywloeU73
ttCRVViaPM5M/mGHhP1YLu0ruoohqMiwPfq9ijwUlK+lKMpffnKXefhukRROHt9pHC91sUyhQqQZ
xHmqgtKPifIxx4hE4as+8Qf3iAwXI4bP4yOBL9qQtL0cGj7S+tWWOTcdSXuMKvJIhxaGj2mI5s6P
UM8KXt7qUJrFEnWF+VbmOYFSWP1OiZyGixjUxOJJJ4NTGNyNDBrkAUBs9ufZzZGVuJQ+4maLkhQS
sPLLF9Kk90Jj2o+r+NiNPb7dWOVhX9dqj/LsnE1o5MXklaGGBimUC1ywEASFrPmw7uAmGzTK9okq
CcTjqkbK78CdAYwfCZ6RWHqIIzD0+oFUmu5IJoJ7RODWHBfkdEdsvorzW3RIlBrGTmpkMDWjDltO
OcLZgMZn0nVE/ntOzYfeiqreoRwSrPo4AY8fi169d60uArMyf0n+bmGpF04IWt1e/eo2jH8mVlaQ
CRsvHYGIPvIvqWMH6dr3whnnwKnonmqb42o0x6mcAHNGyIDa+Q2I/wvL9MiXsBAb1fBakE0dNKwS
BS1mi303DRiBPOeHOXufMUHV+6XvS1wEzkUVOcB1Pt9BwKNbhbTfbaofcudsFu9uPZktb6VoqXnk
XvdDuL35QsiiikbITWSPmN4WH0KBHBvKl8i/5YUmTIzLo8VMBCPGekvDp6Yt4WATxwpWGuRqvNdX
9dM1lgzea3qe49rac4WNLJco3338RbUmiaJqMho9R++RTwcZqUNWHfrh/YCocF9662l1bML8fevo
6koBI3R0iuL+YahIdZDhBprOXRTLrDO+80bcZ2QzNfNwxHcwQ4H4K4NlawbIP1xQG4WEYKxHCHyK
H9UblThFOCJjfTCArzjxVuLddPrrYwTUMgXG18jFO0FXiZ00quaiVzPVbqlgqOnRLLNgFn6wmMJ+
XDihafI+64TZ7Je8IGtKyIcx7W9VO92ScmD54/b0JNEpXjXhCnSncxbLJHQRv26I3WUsYZ39AeVt
wvHr+OYLsZl3KbANGph0wBVGrfe6kEhG/pi3T7U1O0qZ+WG3zMuTbtM92XEVL/4x7b32szVypIpk
T98NQD5HIfJv1ZTkRUktP6MIS4lYWQEnBH+blj2Lgjr/mxRiIKCyRsk8sWLk/K4yBQOoC805V2Zv
ga3gytRoLlstUrwoORt3dYu9N6Mw7dDoixFk9mpucm9KuMyeyT9T8y1eNT/04Wu3ZaO4Y3zfNlHz
me/56HlDtBSxuvsb74eCbdzHYmsZQxUUmLrx4rbx3VRybzf2FxkEtGKIp4pN/ChV9mRPxOKyfz11
qTIvhGmdlip59DZlgV5V5wU/POFvb6Qp/NYQYtAp3JgInpqOxvgR+rvtarIqm4n1zXEOBAqHTf/D
yRYrSo38eXbaPlyd6kF6y2fptX/sFLNprBwy0lODfpcWPYuuc5XalCdQAVvP6z3s5jXR3WOPnF5a
04dXcROsyzQelmQe9+mcawH2uIra5LVGAseZYLD0kuKs/zR1ehItQzz0qferXAyUzBDIIWJDuJsH
z8KhkHNKkaJFpII9LN+jBNpIrKTeQY5+LGV8cRCRw9OTjOohWgwHyVhkzPFK1iVhnfhfMfXha46G
Mfkg/SvC5omVCclm15mHNjc2JdxoPM1x7wYDlzhmuuQR4Su3oid+jh6VhY7/AOxskf9W0qmcDPCh
IsSYh8UxxTaTq0ehxjdAhwkVCuzRXG8ZoE7Cy+rEpNUuBFqVaxEfiqW+qdEOZvfH0jTfXYzsfnUx
M8Vp9eA7dYZuAaLf8B0Rbd6nQ2qBpaxGEoIBDztt6Q9Nm1WR0yd+5FDoWhHzZ6cd1faiu2iZuhtK
1CFY3//MhnpLuj5Cr/SxVAWayhiBKzF0gICZe+zAWkITmCvgkpYhlVR0DiGSKbP5FwEln8PCtjkP
7lPhkxM2uii/q3ltQ0IgFeHQzI2lCzoZS/i02lDR0nB1ebl9IsEb06XePeHeQSCsEfrVmDzeZa6e
S4AUkjuNZr8sJMgKReKdoVEwO+vAvrGZ60EX06iM2uVVTNqvwsqrXYyt8qUkgYGdzMcz46CbKfJ7
2YjnZrV+UVr35dL9nOi+DBziEXf6QpcZEU40G7sGBcim+xtt4oR6G2JeR4ncTdXNWVQZzgnJSwDS
KP71+lHwhYC2BhqpojrEPM21TTJn7Sy0bvLtUE8gxp6sOcEBuuDt7gqbQbzYrBjwzOtCQl4vYp4b
KX5bMfpIA0Y+qL0ZgaeJ6t7BikbCJmBJaqgfhWFxw5us3Ww+BgHrlpgszjrCYftKlgEMOgWZmjgO
AKUofDjufCO0EqXvVvyk6Eh8M4LG3fh3LIfL4kvwW/Ht5uNJyOKP1yJwcPQHRBInJFQfCWY3CqTM
t8zFjGeZ6W1BUN+J9DjM6lJibthBNxMzqiZodK75W4EN4UjRKv+uzqniGXmH3SpdIN49f+8DUAXU
ZSLAXeopwKzwBCSBqZTzxmqh8zvnLR26CyvWJ7vzdMi06ziPh9TvHrLEep2LxbqMCB1Bh+Mzaj66
xP8sevalt/k5tcf3IeHjkh+Z4f/wquHXaMXOG0IBzDbu6p51jTuG7OCTkmkeWBw+QboMBVVGS4t8
emtadOujThnhrJw39BifSulvNMWkR+ijkN+Wd1zRcYjmj8f81KY4c82SDK5uwZDRO7Q+Gu8sihU8
hWGHQq5Eo+fs1yqpOwpSi3ByzHPvtF9kOVJnbBTz2YO0OhS6Aa8sJ2PHCmEfHX26TeB4H/mG6cqq
e1wGAfxevniT+ei14t0m/4YmEZRABknZe9zzYP32+jvVlLyLR8HnMJCOiKzTGwdtp5HsHriYp/ZI
MFHtCKJp5y2kFbMseadJfplL/2KZ/rUmZwFl/fqzWQWuvQZBQ0OxCc0CFf03lZB/XMzDdIvTNdk5
9s1yMUf0cfE4DwrqxcK4OSQveGQeqsF6mPPkgQGPRk5sebY3rce6sm+Q6+sOwQxpgNpGqo8O9j8U
8kePUYIS1B6FQMYMZk/6I6qVlW+Oh25KsclnPX5ExiGt9hH9I4sK0941cTiSia55vf+UgkYAY0/N
rdHkPwPo/ocX/hdjo2z/37zwMyD8nzr7T8Tw3y/5t3Jl5x+2h/XP33Telq1vtWjTn17BHpsEWFEm
4humRXwcZQX/zgw7//C21DPP4h8kE2/xZ/+BGTZ0S3cNtNEGdLL932KGde2/hpHAL+PEYD2l0NDy
3f9aHLPyE4zOQOr+0mrVmxkP3qfp4UffdIwcmH4iLJAlQBWPNGGqn1hK8FwF9mpxOydUvn31BFJj
XPe75siJAdIBKGbcI1FEqKYIQv9iA0LOINxV3Ld6Oi5HDZsqPoi2l8bBM42q33FOdeQuK7YrruD0
3OdxT4S7edgE1cahJsPvNWEtbfat1Sh4WyKhzJ3EYPmBmIZReuw2FKtdLZeS95XAvXCt59kM6Z91
UK/IxlKchyYJrcVcTX1YmKjNhqQXJQgIuhTSe2LCGUwEN/eczoaDhUpKkom9tTybjc25CzOELEpO
/q+uwMuyIy8gq5Gtl1u4/gbyBY2nLb87tGaMlHGvf+REHd5xo0xXiV3j6uoNZgI1UlIZ9EtdJTti
A1EXdzqO+H27YIW7mLij/YNLAgN1jq3dG/u5q9V7niTERdgGC84RvoI6OdTI87uxWvLJrPHJ7uQA
MrDLPWN4t1vLrvZAFd07fh7rp6sn9hvxOtOvQvryFjvZSPsd5wL3TbeJ0lq4ljqQc35vovPNxoHp
phkxaYNHMJur1meuUY335if9BUga9SMhzZhVIx+aSbbi5sbv1fzQWeUlboEJliRMWbqsal8jgJZW
dupZnPd01C+ZEaE1/6A19FHTr81IHJS3/lhTcH0DJe/9mhPemMAM4cJTRuXuNbP6XIXx6sWZEdgV
XmVd3kjhD+Qy3Om2OjjVimNmeNFAmFKhv5X9n7ydiFh4K53sjyXZWRLtPRvqa4XMql69G8kfiKKQ
T2fxSUchF0yWeYjT/h1hEPsIw9C0HDpLPvL67YBB0K36NGRXS6Aza00EFCDs3iXY3WbHiKqOrHQv
TjcX33X1QPYM4hFzl+5TzQOGc581RSNy7DPEJsp48W3HxMi7Nl+51p/MmUfQm+YZ6K4EmWtM/SXG
1kqRkb4fJ819LuysHYNWpcgEBf6v/Ugp57tjMZcjgvo2iu7O8fIH2/PaS/03hnzqp5d+8Uh+wPUT
D+cUkvXexcFpJRgOR3lS/hWxVMj9+uBQaJiZa7ha/g9f/9CWe7KsgsIPaY8CvPxBQAA+2uVHWaCP
7vhM3S16+wHcBOEjGj/PX/eZoZ4dKuUEYjZfa3e5Bke3/nKs8TFe1bPpQpJTTNkmGLFaM4RsA9W4
Lx0b3EkGmpvceoLbOSxDy5+jQskILOLipRpVCGjZRH5JNp0l5I7M7StZD6G/8fwarbImgOQmwGIR
OzaKfgbxmpZfZGNcTKjnZHknnwvXqfwCfQ607JLFZcQrG/jzMdOTr9Rx+bEAkUDzMUH048/UQs2H
MNpNnxFivMi5btga/E8h/A+eustYLdvVjzeXlT4UkOq+NRBKLl9cWY6BNrE99ZUZuF77iHswYupM
d9KZkLzX745S1xH8wlscDGczBibVGifF6jDW68ESag7jEQiSv5kDU5BSiznkRuDE0x+WNcqOyRsz
HrOOTGLDXLaxsnjILG9PLciVej/Svfmzyyk+xHZBrA3lFWgF7YIJZpifWEbDSY4/UbnprBbj3ZJT
A7wWPwzHPjSQaIFriAPah5O9es8VrkWgjcjwoVTXm5ZlZ1yYUUP/SGPxJI99eU8w+ydNu7teR03Q
FhmiFFOWIMsc8n4kXedMWhRm/Ji3GDx7pA2hmo9uXeXP9SQP1kJbVWU+tm52I6gf58MVK+ihHcuX
uXHv4amwrxbI+NugBbplEH/Co3CyPKC8/kFQFhNkCb6/8drJ4lyrj3GEbfD7oXsu3fVuFN/sqa+Y
Kp6M6exPXTR27qtqi7DFYIvGmT3rME+EmWXtNF+S9epu/TR4FACZs9uayyuVO1dqT46WxYs5AadL
xAN4MR1xtYH2/PK+hO43O7KOkHYUDdE/PaY3a0zc0KWjXstRQzauhvaT+nOsQf7YkSguWyLN24Wj
psQyTsxaNBjxN2KpU+4VR5Kx4ktd+91HZTtFSC3BEQ3LjWsaTyElZEExjq/WVPm7VHoE4a8kg+/h
Raugnw4AlIeVuipVWgcblIx7dlW3TNnXPv7qSg3Atgu8uonUWCEW2jaOeQ+jBD9v0Ek0fGKkuGqL
86BjmjXMNbKmObIJ2Dfsz9U4+Wt9c+ebx3ax9g9aZYSTdiEuceeYfai36dFvkHHvHGGlH+aqTIBC
gpoD6NFbQfwDlXuBS071R0ZoU7eITytvv6tMvwzoPHamtYYLmfULjkGpFKft3EVudaLDZz8kzstk
lQilJp31zr2KusSM1N4qZJ8pp2b1OnT2T2/tkGI7X9IVaL7U59oN0dSL5rOAaTzbFqZTgPs+9rx9
D0Zjlmg9aNd6T8VmjMu0hwWuLVzWB59c6sFnCM95uZpQNGnQcoMtJmLsauUUzD4yp/swAAB2Wk8v
pnFnqPlf2Tuv5bqRdEu/y1wfVCABJEzEzFxsb7jpRXeDoEQK3iOBBJ5+PqhqolvqDtXp+3OjklQi
uR0Sv1nrW8hF0GuJitgAF7CPF11FgbGBWxQcIs/cGgP4IzN5aQ2PNym7isZG3Bk53356Ms2+Mxhk
BJJNGqM3s5EpQlo6m2DNvVQfSl9ydYK6xP5+mOyXLox8vLH66I7ygpr3u+QOlwk6Kg2yoHcS+sjx
UC231QxyqH8j2menoP3y6y+zts5RVdD4TsFdH976kfes0+zYsP8riFPX+itedqRPlT43Zr1NpVob
Eet3OzmlQfSI7TRlKDSsIX/vlANRXsUx/IFy3Lap+Uwn/a2gsRzM6dC23TUxEBh3uHyq/phNCPln
7B92oD4ikIf0Zsml89WJDKdbNhZug1Su34yTeJSYN6mkEE8sdumN38mrCHSX7XE/AMk1twejDGIi
SJD5mxtsUnslBvM2arnlowlIxHZOP4iHd7lvu5sIzDcDEM5c/Q7HkAQvnuD0kKcAoZg8NNkbMEx+
SvlaoywmcOfed7HcTG82zmwybVbuPNwlXboFb7cus1f2TyuN4AQO43XjUwnGVzkolcQtabdYBogP
TDwHiwMeJRNaHqraItokacqdTq59i5gAbNG4bXeyEFuBKSE19C08AvY6yxJsmffC5XSqJ5e5bJq8
zvVznHYTu+YE6Tj6fy+mKXYdVpnTOsuqVZ5PRH8Z1fVYKA+oBzot3jL35MeMzhxW2ofEao4pOJNp
4IlOZ2gjL20jH0bLDJ9lzf04Tg9UJYd2GehagkR51IHE5EThN4VgdFOUyJmiD8xEzGeocikkyYxY
LzdXbU+7kQei52q7DC5M1+Xjic6HgOcv9EVbfBYOnhVUaFh12Ay7DOFoM2ZUT6DwKYYb+0LQ0tPQ
fBoOXsTqZjDPRd0zGSk3Ad6CMXV2OcJGrbdufOUN72C1J9AkYScXX9i+IDa0/AwJociKmw4Vv+yr
c8fu7oUImH1H0kc+NawD4lUxsSBtDWvbO85DHlBs9dERtMde5KP6dKTPgdNDlidEpyJEmbcZWSBa
w60d0WtkmKVWSPY9OooXnLaUw+VtwparbBgSJmPTHKVJGoVFJA4PAeWSSYIY0tGV19sPi+AQjVWZ
NYfR68kGNdZxw+OrUvnuMZ1Gb4l8qtTEno3eR+e2m8kwHyXLk2CuSQlo4p47N6EIFqYJ2nm6p9nr
viYCyJ1lf/RqGO9KbIN2w02HcJApCk+O9+n401vTnmwm7CEEhWI4p358mQTy10lJmC5qbc7nxLA+
gaiSRGZsdIsZK6QUKgO6CaJo1ooriKiAg4XdyTObbdOm26XeseC2dO68U7G1G5v0MdG8UUhYYv11
zKF2pPYF5/HeqwEw5XI/tJ/kCW1lYm/c8FsYjze9Pe7Q7K7T3FmnKl9DMzhHXr5zsWSncYn29r7z
DkVxz2MNVpTJ6yKWTy53GjANd1ZQIHAS68oqLymDT+KYDg6U1Hn4bjNIGazpkQHUBZrClc9hee0U
ai9tGtCxvcW9xDonZdpjo2sFO4mZ2rib3PhdKLY25gjctRUZE/GB5V1rE8zFnpxYFePBntmAefIK
4c2bnobiAHPpoJs6PGZu1G8YYt4EnqLcYWUv0pfcu4eEtMljcy0yYh4NhmUmy/d3m2ypxvNvyyhZ
F9lJpO1tGJreFr8hsrwcnPypzNuNH5UXm2F4BVZsjTYalVeLMoQshKngTr0hRgEhdGZeh0iPSuIl
EjK40JV1TXqJoMPZGrIbAqL9QALfKrE80u7U+Bb7nOcWkqCZ8rCgS47M9yxLOQbs3ERou8yVFTWP
XZIWhWWN/mNqUQmMguYmToZTbtEQ0t1cWS3XYJ8kh0Sq7gDEg7wYmT8AbAubrWtwAaO3cdaOFsCE
2nwnlvuGGUwf3iIQqOqwPYlx7s+Wp6BpsPr/NAKgQYkwrrCMfGu6EJAo1BA6tz1eR0yOfjxhbI3O
sL8c+MwGk/WacECGdxqRe7P12rzcD4qIg4VNqO2znM2joxALd/5FOe0zltvDMrub4D2sSGCKuMux
Mgm69yIa9l5jGZt60tZ2TIf1lAL3YSHYFfMRb+JwDzvZXbG/1MkS9IeqsoAV6e4n/6oP2XJ6JP/h
7b93StM9JvUd8dg4z90tVpdVUB3dSX1H/7G8f2o3+zXfJHUSqherTZn0Ue/op5g0NVJGyOLAIN6w
bkpU2H9HDx8i6xlH/EBOYLbhDrq0X6wWRD+Mg7A2AdppxV4OmydfBBmVrW8GzudGVQX9VG71Ba9B
KZC2O8SdEnhvsp3gJNOXfnK5mA2bXSSJOpG1LqhbX8JQ6OgQSR2ae7dyBXP9pqlvhkLXaDnmXFyF
hH1RdXDxJoR1itrAxDJ5t0Hg0xo4qcLNhQbRekuFF7nHjigKNgmd7cT7sKpojmyWFex+HfrgaR5o
PbNgjl9wSvP9YMrMW8beWBf+ay4qM+zIoqFU0u28La2IX4sfvwbj0MzbH8O8/5lrMtdkFPmbuWYN
sf+f3S4//v1fwP4/EJIJPyAd3PYE3hacK38ONQ3h/yGwwTBRlIw1Bf/sH1NN+w8Pwb4wPYah4MCX
yIC/ppqW9weeZXOZdDJPsCWz0P+A2L/Elv8TVh07lushe4fMHQAI80BE/ux2gaZCwnCT4G/DGdEu
CeNM1z3IOIBLgVfu5yhj5h5QYqIAHbhWUBUMs9pEdAnttlchbopUF/yNhWGh3YJiIhWRFN/lOMJJ
6KyrqQ3rDWK1gojtgu7v/p9e63/D6Rc891+fhM1M1nPIBPgRjmD98iRq5GnkHA7flRT+cMcPpQ3u
AnhFGw3fjSOnmIlZc8n4wbRnz1fkzMx7H5XmZ4jANHoNS0C4e7ctaOwh7U/Zc+Rhyt10VklMTDbR
SIqB+OV3FTjYUNsGLCg3uKly17L2GFEiWFYu84PZah9qAxJD6uR2dWt4kbD3ukBVtiX3i8X1jL05
pEZqTNaPbgMppJwL2lGID57cpm5BbGfBocxWsG5QpcQB2lUL9Rr6iLQdWGqmmr0t4F5nA2mACY47
YXmJCniZe4hH5Xe77GK7XxEF1FwnImlefStzxbnXU8DcrkW7TXJPQG/T58x2hjCtoeCwHVHbpPMs
3LGVYVpk08VXBBc61jYvx+l+xFgcrmxdT6+GVZlsybtBGQ9zE1XZLpVD4J4mPY7TNkey9pjgC91G
hKmN+7iMMHlUfsvrSDZSGW+6Xjf6ja/GGc7Nchgf44AhwV3Q6Frt2pCmD4d2Zd6nRSPkZSAPbNrZ
fTeiH5kDmmlubs1rj3mLPmvoiBeL0cd8oAoKvYe4LJm2mhJ82sEnlECv01GPtB9Jnu9if6IfrjUC
qFtliybD5ASMmumUiOjRqQrJU+sFtfA49GqlSs+7XlAC9j3u3gHfPDTVeNOnVv2KFD0OjtmIFQUB
H7SIKor7U72EXG2dYYj1bgqm1lk30aCba7AfKEhDrO8TpUnQFFtbDiaJY6ht4c+YxXzy8NfbrP9z
/0V1jhWglSGbdIMUOX5GHkxOKhZaxopQNMvuaOAWA82KNrt5HZMi/V6xQ4zQZTuR+GAAr29xYUKP
BVuHcYd8N+ddND5vkm/JMdxBYSjglJIxN21h4qRI3UyLIsGs8PB+IY1z/GpVKQJ2YATUzV0+m/Mm
QWnYr2UYKutmpqpxT5EG2rlzgCZNGOKncklDBcVaAB3nifHqDoTnnivdcIAgzvCxpgaBvi2DhuCB
xhsH4wFBu+8cfXR3aJVZmBK4XBBKtlMTjueNaLW+1ZbJtpawruVS7HsAX1CX04FvUcsSkKeuyBQ7
kCA0LySY2NZVtEZVGxcfToZQGT0dkXuUoUZG0Bf0P0ml8KQxFWiHjYfmB8+Brl/9LuutmxwNNznx
Pz6us9WE8kUJxc8tjIyj4c8PXTvGRbDDsUXmhdXNZXkVZ6PN1eESTLFOO//dcyKiap3EQOPYDpF8
sVq/co+lMzLniiYPkRRk8DteEyjGCUrNV6MPsysJT/eGnS3Fbp7GzlfNUh6YcljBOM7Ng2Vb6TmO
OHWHjjWv6pD6umWNliDyYehGRfmdMXvLMscCgeMaRXbt5YCC105mJvEOE7pCwR72YMVnU47bMg3N
Zz0IxdGfWVtow9Orrn3vmiFc+SUYMMVxO4iqtxEP2zmfEmSJk1HGIyMqZdFNhcUGJlf+RDB6cGzk
WF0YvE4Y6aI6vbXHHpzqlPr2IaL89VYan9GXXMsHP9at4J1KErZY5gBk0bdGpdBIjZWL5JNhIK9P
5xERV6oEkoBEymaxOoIeHFrQY0G8JBbQkqbZ1MKb7rMKJcHGmgZ564qiuhJ+zXtgG+pRaWbmHT3v
CQZeuvZJemfx1ZMXGck2uZ/qOEMKWPrTzVyqhhlTlW19KWgn8/5L5vXp9WSRqZmCswaIUsntLJF5
r13OWeM4FFX4DMr4Qc1thBRAtVc8+xyQg1KvmvBqEu1YmmTBmK3rXFV7pr4s3/qa8R/B9eUJY52z
TYa4hwsPNZ5wzgD9HC5YrtxUDM24RTqGqVzm8Xd8dQA0c2ybkLaXZSNIlGYPnwcxXY0w4mYMmiDb
0k+3O8LQGXjmDjnc+HR82BtpU6RXc+DAp4Msor75cc68E5sAJWlA7sd7NROFKYrSelMMoxiAYHb8
ShaAawICMqeHZmzcvZlEjUHEocW6nCVAT9vupNa2YjJ1jRUpO5pd4e85SdRVMWaoV0iOPGGSxUVV
evMbgX39OlKWKoCK1y6cRTOtvi6C63aVoS87EHneHwiXxz/Ero9dGgZy65RQvtAxFCninEHxjuHU
z4YPo9LO52IZCM25vUR5BYKAaurL5AThq29m3puBYwDTYld/7cuRvhHucwgeBJYAhEdkGAmfC35U
FnjnNGUxejbzobl3HEBFPsmTyaYNxvpzYtb4HWBzc8sJ39D7cu1dS9vtvwnRew8qBjDXjoJZZhXO
cLNKB6VSm1v52sZGe1dbk/detAzDU8NN7jkwmQ8k0fyciVGee6SVnDaI7nyMS986cxbPioprZ3Vd
f4cTOljXUx+g31xQ8S56vdc+TErOD1xD3TX0mPlxJqaIaHOCMijHINQOh8yWMnitKCpBRDAAgOqS
iTIDDN/6DEvJQb2g9HFfs2zmYrfmIViGjMwjDUdY7TqIVP7d70cGwOlYd09+S+LFiuPAZ4pMoC/3
kxASf5wQ+FnGKHPWVo+nmDstHyKiZErb241JqhEjJUb2nLn9QIBxNg9nhzGgt6nNIN93QHPideNB
6l0D5OrNu6nyu0PfF/KzSKPqNMcc7itp29pd5ySuzvtYeCJez8hcC8TiNrkDK8174H8hsJRZng/G
imY9J6wJSVoq/Rer4UFD25KppOPXeGNpB6N8Y3SIRbcUQdmmcri4NkKUdbDBCmd80lCzShvJRg03
UT4FA9ZXiy0Tls7diFpqXsf1kAC/m2rObnbRAdM7ZRWsdrtAXUETVAkG1nYhzTWWa9yPHuDiTTVg
8t4ycReAm1yRi7cqccQblLYJpXwwmeticpyaNQSlEPcAEzpRSYsWb9t5qNk8UiklVyLU0HrQ21v9
KZIqQMzIcZ5dBWnQvaCjrO+4I/vDyUnGZSVN1UGmRJ5w55rauv5QUy/zvVmR0LfPNFbdnadtbh85
rvuDDZI32qdDb5IbHnjIzmaf6d84StdYdTYyBNThqSvu8sbJGVEHw3ArR481fxbDrVR2FjCAxPWz
tSjwug3aGfMwLX0Hh0ninsEFwVlG2ghsJozSe3ij3Fcd1u/fKY6ucZ4J5nXAjZFX2Z0mEdidGRoH
aBqQUkeJUezQt6XnMavsc4HqFkY0+9qM6UeXOWeEoHz+DbLqUTyzR0H+R53x6tURBlpnHpvrjHuo
XKN2uHNQPKI3VibzSRu+K6PpAZDwJqSVZ1VvOHjzoLFwsee0blv6GYp1XEbxe1tGKAlTyP+sdNrs
0grlfqI/ZVxvxNM6XGzSW526xnWG3vAtEBGtOwRUvj5sFCCZwKnHYpXgniUVYyoRD3RVjTkunBPE
S3En+ZCWZQUoaRwS219JMmqzXWHOTbO3vAivs5qlcYXqwm82M2wycaLx6dkX2yp5CmBNy3UUlP7L
WLTMz+EutqsxTvynxjahUM7YTamO3ACN3BDbJ6tmEQ6y1OPybd2ShxnblfXk12l5FZSa13+ye8LZ
PfK7r9xh6e8iUzlf7D6rXsFZDfusD9I3J7Ep5pH76g+rF82dj/UQaVcTh85RGa59JPy8G48mW2jk
ZUqZb2FHrPxq/NEEAGHT1tWUZbjkbJ/AUFjP826YicE+9P5YE0nKisygVQlHxt8ogFH1JyhOoZNw
//ePwvb7q6ArqxR/OCm+myK2Z3ujEFzgZSWJZh3PrOeeY9HOT0pMCvGjq+YHjx1nt42Dwj7nMks+
iDrBpt5o7eOq4hPGytERRJ1zWEhBbgHL3IFxP/OTB8pvfOZc/ozsseOQlExDGFfgFXjhs0tg+dWx
Y1G2rT0vPsZ1/CFdsD3oyPWRi25kW+Dj+c5aE6aj7A33ECdhtjP8Or5zEpl+4jZ1vqtBIr8GUf8W
6Dh4iKYQyB73140FNAt8CfqMdGW2pccuKB0/w1GTlFDTsrz0KsIvVMWEA23KBGLRvmkn71W0lU2e
XWdOZM3wlrEgJMjbrRDM3QxWgNM5rjC4ZKAmVkHOVhMpjoGHurSHA3uMEo13QugcXrjVRE/p5x5T
+dCOFoylqW9NKo891IznhASLLwIf2tlqkfKB6bMOM+tsqrcJPmxjobsZ8XIS3hafRUVmEXqXqN27
ODFvLcNu2ad6lDZ77Wg4RVPe7eJJDF90Lry9F1HAN6a9qwo53HQ9kEoIBGgO59z7qLQw5lVG3AeX
aDAXZ7+Ea9MPM9dIGKkMDXBi+aek0taRu88niLfowzWa4TDFwt76HKosUCCzX+ETaG2iPdwEPY9M
A7Huc1D6nJL5pfBVsR2JzeCIqPl0cq8PSNS1bXaCI1KBF3hc0Vp1EVy5WlDamra/Lmj81k06tLdF
kmBrtsfhgoX7U0K/2g2IKo6ta+dnJ8WIOIRYYLihOdtGGMWnn9b2lhSU5obdDssDGVWt3KVtMch9
nJX9tVN1HWzeMGNxgDUMfnGUb7sA6JyhvBh7FgN9uWr7BsonGiyCiQ0UOopsLTCifpWezD4c7qyu
fJ+jWp8oL/pDNrntVa48k3m/79wgPcufBkD+zRZsKpRl2KLe85jqaR8DEqG8sJAKtX6QjOyKwZNa
fD6PIZtg+6DLMfjqlEl1TypQz5tvs/Sq2zjvz2LMQ2M1Jo0ZbHsrHb7nCBSuPUFVwzkZsNkDsp/t
R8OdvnpstVlW1bXCrSiH284zuIhia+a4N+a0/TB13FIwZ/1MMdvbzy20o5XTKlHuM8/TX8Os9Bnl
U3Vw9cKBJhzDoEHhYzxTk7dOZK5GTJsPDj6CI8V4l2IcliwY66haIkJMua3tMna2nQIj0YT4+ZtG
nAkXYR1RCjbQzZgiiTWMN1MDIociWq4hlJLIGhpYNOk/Vllv1FtqFO6tLd4dyM4iPDYTQNeV6EuW
wJ4tvujeS0jjNlyZbd2ex6yJ93yufQgU616TuAobILvF8tu8yWhJuUiyrnpEzs32Jupvcu167XEE
kNTtvAxi/WOLcQi+R6Agnyk3HZHCYGu+mfADrYd2CJ5Kkja2PmHo+6mLsnmno9EhN73HaoTYLb+n
HgSmNdqLr0TI9iuq8PZdZVHLxKwZviE+woij7Hk7JUa+B7ICpimNDR9nxOic9EBoQVcMxjU3wOar
EkZ2G8uoQXM/gKd05xFNAK1/tTeYFh7HPB+PwNXSu2IYdp6HPQlQzZR/nZMeHze33uAIIPmc2f60
EoRRHQSLqqNWcwzdgBnKSLGukM8r/7MdsS6spUfTtuk99nfrgRhr1CymO99586BeGryGByzrXX87
tRmO2Lh/43ZcPKR+SZZAVuS3xRQfFc92rwzFhe67GavPkQXZaU772STq1O/wfrKgfJtb2YCh7a/x
dxSsRPHvaNtLXpKoNO/bNkVGMmdsQrAovAZZVx+MiD1d6mEpCJ1FldgW04GaOcB8ZBtU2/TJFdIQ
t7ga1JwdaSfLPeJM981ADbJBahmTtwZCuBrAWPZuiA0BanN5ZNaDNKCzpqOKHeO+S7kTUfNILgX7
XngKFurMeozw5XbXGoZzCZ1+uiIXCSamNfesT8FPewgQYP1RAkiVXJttIF5DRWU3dlUbbhXK8XNQ
wW7dDHX55sU2NRyxR5i3xl1j5cmTlduKwgpzTE+cyEkTLHTJotm9xmvyBWop8NCh/PBQgz7KDuQZ
8JgOu0GAXWjU3VPvkBfGfoqYts6RxqmB2PvqlyT70BpklXWbUkfot1JihMcpsrh6+1ClakM/5DLu
GjF4gRYlMqjdMeoDrZtAFBdgObnzAEpvukevQKuAiYf2hX0lk6DQSUzcL/bA4LKxI6rUoK+Akia5
YX6ZgENtmiFG5RPFg3M2SJZmQpzE7u2EzuiRO2477HDTUEvBPY0IwskjxgMQjwYAb3Xb1Oe+r8IY
Wy9F1Sr2M5aPUgtdX1GZ4IMjVpRjRjseTRfvKZDjIsYbvPr90PzfTcwlbmAKSpNthbsETH57v08Y
0iG3/i80vuEI7u+TZODphMXBlAdAP3G2nioSYGAshBUD/Xa69jKjfvn9z/6XlYPtLkpuVwZITTyS
JH/+2b47dA26n3e/6spLEthqHwEo38wMXTeJaBTc2VzdG2FGuF2qMIf//sf/68qDPF20lgvElRsX
4s+ff37s4R7W7iLLgrIekxNVegwQgySZvoWFI4fH2ncErjMz4C3Qhml+TdPUAejlMd0EvaKWXC5u
xqS9yASHS6iMKT+DuQ6tvYytwtg4Wdfo22oWvoslKLWNv4k5FT+nqbK1oe5wPOIr/UDyH+eXhYeB
549hNnpjkjIydx+3MXNwssxJHSeOVyHWyITIKZUydjqkPrGMiXKxrGqg9z45XVYQc9YaGgvyj62N
AVgp/5tc1H/3IH1BSDhVD58xHufPr7Ntc9h6YZOv3LpNh32Iwbs6F0PE4+LGfdfHY/JJEiK7Gtax
vMg/tkhBFdDIWU1kuds4jRLGPWSOT4wP5Rz8zUWwbPF+Wn6RZS4xFPgSc4DjBv4vqDcG23EdNhlm
f5UHw/2fF10HWlzvEejV7jXnhux2bsK8fuNB8XSPke7m/BoemtYIyaceqXmnM8qHvIHKyu9tPilh
w0b3TBKETTBLP/auf/n9Z9j+2YogXR7wEmfPVWRJk+z3XzKw61TOeRAjW7GcnE8vnvAcE2PU1OA5
Ji7sd2xcglwSI3Zg7FgWu3OOyzi9jib4DWcIeJE85Hkdssey4iTfsQLros0owfPCG0PNUqfLNohJ
QCzXYz9ZT5KQ0hbmJok4TMHSzNk11M16AyGnXiY5Dchkv8Lv0HIJfKdjSu9t02bWmjTsTNA6+cZ7
HY/+eDeCuH4MtE0iod33dfU3V4f1M8FveXEcqKz+4iQJ+N2vWcMziwn4S0y/0DLp+NpIsOyvSakE
DZRQM6G5gqJlX7q2p6Fqk8SaznNAVvBJmiW/d2jabpj+d8k+KFnRrkshnfrAIZqlZ9OdfOzorgkX
nM2uRYpcpljd+EXEl1oadQQVUmkG48ZvVeq/14TiQpcBcfbCgN+cHn//Sfj5MPUs08XZ4ruYUoB0
cCz98hGOR0EMUUZ2WgHAZamgo3WW6PxI0GB9cpE/L3mtLrUEArftZARIoH7/AKyfzyIeAS+yK/kY
YnKRLhacny/zOdaY8NKOeXKcdNXOjQSGOxj/zBT+XOnwMnvOMQid+AVEB5jzPG6Xk1VE1jcZy7pc
A8ZOHOxvZghlG/QQIw/A6m8lxgCKb/qaI45slDEEIiPVVRmgmoZmF4eCnMlMXRVWCNbGYVC5/5sn
9+vLy4bdhjYpBEYDouBt6+cnJ2M3MkO3/6AzaS5MWlDSWopopRUTguBCF0mqQCI8+xR6WfxemyXj
RA+HXrg1fT+0t2NQIuisTDe4mZiMboYpTR8srXv0gUAEHwI1pWcoJpwphGqWKW5jBEYb0xzFJdEI
pRkJMzaHIZGixS5LsFoTR9KWUKX23glphta/f8aL6OCfzkTP4hkjVXAtD8sdWhj/l5MlN8BOyCr/
6O1lr2az9aCHqLpldoYqoVz7jJ6GHZ+x6pIPkU72smLuSk1OW4MskfSt3z+gX5b7ywPyrUAK22K9
D+LT+6VcKBwnoYiABkJIBsvCStXGQ5oGMAIjJcB0aNudvgzNQGyy7IG+b0c5+eEVOQkJul7Vd2o1
sqgmeS+S2O6hhPdbsLjutWdnIOwVjtvvwNxZVcq6KS4EHTf5gzn6mv5qWXBy0NSvFr59hIXM64EZ
mkzvfvwtoTc1w3pzMAj4AZ4JVcfws3zXhZC6V1UPo9kcOto32VUZroYaWPpmKkSHXYQ1Nhljs50k
uMXBglBVlkzrSNcimMkyR4eYXE6R/iUo0YmvAI4wx7UKx44ORCc0B9t1xM5n7U8jCTgz3FZLshFr
zrDSROYBqd6UXhE4x3JKl1W7YWVXkDjEly6Y+E4SOyYDqBRf+Yqwmktu1q5A5i/yYGv3BeWrzHOy
+2peXQPPmWLd9OON/Y/kQo/Qjarify9f841BZ5vQl/1Qs/zjT5fkW1t11ff+13/10xd1//fH/44+
q817//7TH7Y/ILR36rOd7j87lf/5A/76l//d//kXyvZxqj//z//6VqmyX75bRGzCT7qfRXnyG53Q
mPTzZ5u/lx//8lV/WSDNhXNLKUJpyl2aCPv/rxaSf1DpORxwlsu9xaJc+YdYyPvDp8oyAy4TVyIO
oMz5hwWSNo/Khi0fdRg3i/9ELETC+8+HA7AJ2zVNHoXnoGky3V8OBzvpokYkFso7B8kZtBAifLnl
UOU6KZYbszG7dZDNLXR1xHNDTPoy+2zvlmokPMaoXiDbBWwYREQGQ9fXD+zr3+pOVUfaNnFT6CqA
65dHV8FUDhdcjFXOjj2tLmXCjDGZXecyMISGKWYB6wxwFpZDN5x0MvtHHywu2smaJZDFYXCWbID3
KnSzU9r2/U501fwKCUds9CD97lgF1XSOBluewSQ9lCSPXmgK6r3N2I+N24DQLuqi9gWwOZy2su92
Vl3f5RLADjNCeKtALSA5FXG096YRQWyHIJZZC+C2Fq7KqsUivXAqwOWjzNN3aW06LDUwM0VBtZgO
Gmdv4+k4eX0/7vOotHfk0Q3fUAEjg7Gdz7ZLyCmvkiWdEpyslQXpyc2xVI0GWmuGpMNFdNFwgtWQ
MasWwjuOg+UxmIz9oV4Jm0ZO5138YsLg/WoZM0ZGnM5c7VBjpEimk+4WEasntPHKZsr6WtCRsoKz
wTiQDh+8RqLPTm0y1Q+dIl8KOlp+GLos/64jKzpk6Ns1mQ3rLiYehfD68shaMfQ2aHD2NLHlwS/q
+svY4j3CbxJdInv2zl0sG0l6UzccqriDBGgluTwDGMe+VYPIybPAuLYTkx2byzgoqEzarCo1sCjY
5LQj2U/cJVMEH8tUs2aS8nsVkb8+tEAC57CaoX068s4qrYS+owC2qaAoI/Rp95iKuvMwJ3LFtso9
uQC3IKHq8uCNTOEj3tQvrEtHNPICeIklMASUnNSEHwGcIh9o09iGID/QhPHq0NZYZNPAi5nDVa29
/dTGYk1eV4mjoGa/mXlfRyZXGOAqyUuXmxtPe8+BVTQ7GgLA0IShsIxl3+UwaruUXSjXJg0pG8wE
1gGIy1UGoupY+DPq8KLpDzUTFCyWwZ6hmPlks/Z4dCDX7/DeQUIKzDDeQk/3EeUhN4ur1Hkh1SE+
tL2BR1RGVnlmSo0A2ewmcFbo3PB4dKl4ifN43k/pMHyLBu46YbQM+VDHWZuu1uKIlaRvVuBm432U
tyG/ANEbIVcwJSI3YpV4TEiDiYmIbWX2VnGDzlcT7yXbIxeLc69HhNEy1yCHZ3PdgYv/WlqxfGTF
80aCC3gYkdvXoh3OcHDxqkgh9oB+xE3gMGPq8snYM/0aAOiymi0LXiI2yuLSEFgCF6OoDy5jpWWc
2oFs6WTMvLuecvXUIEHOsGaYmP6kejHcfv5igVLCN+iMu64qdqbW1aEklmBjGS3ZqiJ7YQsNXtXx
wmcuVXWVpn5+V8T6iWxl76CkYW9R1vFpnIvWvtFOep8n5GNPvU7Iv8qy21CpkP4f/BDZxFpdN8wh
1DaoUhaTZdVkTy7V38H2R4WSf/A+Gx2L8+QrZ10It7PXqYXS225C0sOENvurwjG1sR0jgwGp6pda
Nxo7ih43KK9jKIjnOCbgipl3u2em065CNX9l/8mKv67mD3I+EAU7YIX3dY0PVDuu3nVEmUMbzYNP
EeYIQPh+e1KkeqTzxXi2st4hzmDa1Xn2JTMcWW8AgZEiK7GsjidfJUNwk1STPRPKobLnZV61SIao
Ack1n+8qo7z4EYhnG0k00elk7WJ/amDYMTPkE+o5JZZFF0yHaUblHpgEtU9qMWgNED6DRj6x+hk3
ekoIK5AcdzkhnMjPBivf+onxlBMKfp6zIn20kFwW5AGi22mX6MfK2gCr43XHdr3XLtFLVRh1m8EI
oiPqaXUVDci9o9px9lbdO5sgG77ZTc8dS6XF0VZTsBOoChk18Amiq2G37HW40IjTwLSazpfETUkU
SoAvFR1+bqf85mbta94VR2QAL16eXztm/OAaCbGNcZQq5oCui1xCCLWmVK4PuJ7fh9CeLgZjtivE
qjxY224P5v/j7rx25EazrPsq/QDDAr25HJqwGSa9uSHS0nvPp59FqXo6laqWUHPxA/2jAZVaUgYj
GPzcOXuvHaVoZpVWWbJ+A2lTkrmzj+fmOFmd8iD4UkD5Rs12oUkcmTL65U0SGdNTVGUmiT36iCEL
J0jV9c1CkITEmlYPVj8dk8EiOY8JqkYh2dZog+iWIYFCnslsMazixBiPs6Cq6HKifptqzb41wLlN
qnmpEGmxkoXhJR8E/77FI+QSRhK5QT7PLNtW7jSoPFzO1h2TWdipWx8YInJ407qiEhacUlNR3a5P
zMs0jTC+dskFFfS0cjQW4AJkyJBtlsSG67I3EiJLyeOx6YqSuhwhm+op1q6biFRxFCbp/eTDOKlN
CdkuglcHva/v+KZBLmiJ6tGNJdSKpYHITpJL5cWXyhInQ04wJcZKY69NjfZGro9M/ywTL+syNFBG
8FZPeF8IetSbHeynaTcYgX9HOVuL91FRpefR91+lYUh3IApmeDvjZWBIyrWgyMZ6wLy1CpoWBjqE
oq2VRJz4Wy18rKZII76lVIRHtPflNtf8MfdEcOIGCEGXednkFw1vj2CJLhCbca/Jo36CFwslhzJd
eQm43HgmwefcU0EFtVtxCrRDKuOcTlC/2vQx8vOAq+xOScT7pmBEjSYZ7lFPIrs9E6NBVnC6Ikkg
8CTCm285HxeboOq10MnZehp2AuXQrWo2ETaMVVLS01J/KCOTdbBU6r0vEmKqy2l5DCndXdXoTbdS
k1RuCIyGcGYTLhEpq6ze1ii88h5TaJPiaLKu9CgIg8qX9kFoCisrAPLaqC3dwFrGEpb5F3OoK+sw
FRQSPIHBjXZiZZRnKn8m5ipcC02Zb4o+OwxmTNHKQPe361XyigTMODTvplnHVaYmHhJXrDBw6n1v
QA79hNINu6RswvjKYylxKDwbb7lcjxsTysux8EvIhYE575Af1jcxMj2WEChqdo/ay8GjU517Ahlb
2oG6hlNFj7VNGOtEiUWpLz1hQkxw/JgSJCMBnRtR6cHK8E3hOlmoXoCEEMq0g17e4UmtHmuK4Bii
zcF/T5Wqk66XPHSNyGNjMYZjzSShxHiqIxyqtjRGKloqRC5OY1T5WtNj85aW7ketCB9FqyvXcP5N
18z0xqZLjYBNa8vs2VJKFO5iGlfrhCbysVaJ82yUzLyb9VmAhdyKAsJiaU1EyqK4CotrVW3wlnFk
WFU9AG8MzeipTdA47QCqr4PgJk416a8Rm0e7yHDtg0FrV8iFp5Mm6Pcqe8nVqIn+KgvgSc7ESb6b
2Wy4pikr225iJTX0JNmI2Hc8vgmAl2Tk3IJqa70+e6pUIBEG+ThY4vhujCi5yBESQ6WI2apqayl7
JLUzsomavFC1+TqodRDBrdA/x612jJO2PjfgA7fsUy5hTqwoRR7rOnwnygk8fH5FE/k9T+crTHWv
ChRMAdfBZihm+UJjs0TpEbC1cfY5BXvjJG2JG2+o1ZUJxi+BmTPUt3Wgs/bA0vWYCKmNauzpB9FN
Md/IUzq/jLGPlDYZJrZoFt3lFXDb5opcKsna+FExIKzBOCRcFkarGZdojl8NdrCXaBraG0NSlc4O
Wx0gozwFl6i48T2L6eAUS6l1HoHC+plCIY2ANbcjwBh0bBp4wzzMJ4smpQiqsMalNEc+yIdZF3RW
PbKXtECgqCp2wbSyUlFwQ53aa9DxTxAAWLU0HUToXJvGiqONSbhSaaP/hAEqqiFS8lQ4G3OBubjo
2vmopn30Lqp1wJGrKCAM1sUx9IPeoYepnVW5rj0DDJydj9IsMhkr+prQsGpEF5KmDXFtkDkQ1XTo
8e2egFSIfxjrECkC7Rz83Et90qtxLUcwDJh/WHuVah+3ZDtI9PAOWasSlRw96BRoAULlo0D9Au2Z
jBWl9rsRnn9GTxJKunQuJxbXWDavUrqVbt49gIlxWEy66yyaRc8gPHijk+u3Ms2CEDPN2OUZjFSM
i+16qFOMIpV8karVWa862KN6UN2LQq1cVWi/7E6OGzef5PCgV3PoqQMuCyNOs3UdG8FWkwV/DYeb
djdb8BMJjuAjkTGtqkynQpl2GLxjA9FnxuNNYNKAXDsji34aD70WXRoaLme1HYQtKpj04E9LzAQs
qhizLsC8VRv12RVhrm9dXEiboRMHd0JOA3oa4A877k7IL4AqAJbzGxRfUThGt4Y8MGSDwLqSpiG5
78ZF1I2qIyB0YgDfvCgzOD5QEVpeIDMugkjllyQKLiNfzkdnREyOX9Ga3RAjC4IKOtdBSA5pqOYP
AQ6mo4TXGBwgWeoXOCrMxg1AiNWFGXsEny34rlTcoZOed3M/c2BNlU1iloSBorPiGAnDiyAsy2OG
y66AjLWrsCZcvdJJiCC1dXype2l241bgsZvEsnory6y419AsouHHPDPScYXqUUTwBah4KXdjZUpY
gfXkuq8ghg9YxVftXKfb0ZiTQxSrNzwMbH46SNC7WWjwXZAimzkFvNAtzqUIMdVUsD6jkFXDijoh
5w/ILRkJCmgNx1M2teZ1HZCNzim1MR8yHox9M5gt9Y6yPKDehL9XT9ONOWslIrlRePEJGoFr0UQf
El2fB2JP420iNuPNfxVaVs2tZRLEpUnhMrrQpZW+stEs5GCEkD9LZjzs/6szUOJT6NCAjVv9Rqws
PJeBNaIn0I8xrkbH0K2A3UJ0ybEzPkq0mr537v6fVeZ+qOat34vjc/be/AeU737t8rOfw/qLz2/5
ge+FO038w5RppBvEUFm0ZCzK6t9tfvwNSz3OOqpm9Lxlhf7Jn6lWsv6HQlfBsCRksFS5F/PdP11+
2h8aXWoLG5O0VP106e8U7qQf24WGYiiqKtEhkqncSUu76EsbQ9AUsuGmytVDELBxnH0UWRw9xxgz
LjKE6RhOUmOt9P2MR8fHOhNm8yohdgXLmDU/yWG9hCoj2lKUQd1+qoH+hX9vqVx+7jh8e3My70mS
2UPpGAK+vLmSEwbC2coVyrkDChF31s6qu3b0YH2TIDNG/rOgIrqwG0gsDkEmqEzKqHTQgcQHeBvh
kzYp6tmsyhc9sibXx1hz7U8z1O6kHNQ7iRB53Mqq8AirFSpgDbLBcOqEogwk4tK4kwO4RI3RC+vJ
aCm4oWFa3PS6jsCzDXzLxYRgXE+zVniNHw9LrHKk2jWwZHL+qE5qQgsouTYQFEKu5fxMn474KVkf
0MIoBiqQPMlGZQFl6E9TjaI/E8RY/F0n7kdRx/dvmaMHzUCNCyDW+vFGctJLYyHEP1EZHft+2ZMH
2ZkIbraHFiWs4B/67E0qpXWf9p7SPOVsY43wiq0gDoNgVRjXLJaGsYrKybZisv9SXHAdzn3+OGoa
YAhwsFCwV6q5UQvhNz3tL33Eb48Bw8HSZFWlKb8YZT9LUuYqaRHQNrz7BLNd0JIoKyVR/puO3l/d
IyroGAQsgwP2t4fxk/BFMuaINQ1GAEcoYrk1vtLcv+yyi9TInlhRZ+oNKD5//YjLX5pq4Awp0ZpU
zvl4oqYrS13901UDpW7iUm9rV8lZhViExIuB1YUtEirmZ02OlXeGMAdgJOMI1MnmQK0Zi+FriSiO
ndJUXBBGK587VcRqQD4oGvBYju/jikTtcEoVznJDQtFj0mQ3JqL+d4/Wlz7otw/A3EZfwqTwqZlf
PgDTyqxNARK/kIqpWysDVsCkx44xI2uWyb9d1Z0Cqbr3jZUudukqmhTGnMjaXnC82moNvjFNCFNv
1AsOsPTTNrMiJG42aOZ6SmsUnc1llpKYlVVF7GayZpACLAAwNSysuaV41c4QjBOSVCj6hu1vPiAT
949zkEZtlZnboIWI/8FaPv+nL0jrBRof3VC5ca/WG3a52yoye5DI6ocED8cEmP2bK/4063FFmS4K
UDALQZL45XFPkc75fcYVy7q+mSpow1M3yG4i7KguKb9pon7t6ioGV1Nlpgia2ZrGmvLj5yM6Xawb
ta5c8hCdtNXaFXlnKBswKbpxppirasoKuziLG91MMEaOH78eAd8m8YJQjCJf4h+5sCaykKFaodyK
9urr3NT5Qo3wPqhAC1nBGiObuku7zN9CH6OS02i+S2hV5XU5lcauqizKC4ScVxpOFCBlhFqMvbEV
ewufjtGuLI5Tc59MHm0n0tYTzsEy21SCxCDIKdliZDfDgVfTkXA3VUNZRdRusvFSBebGYVcSzhlU
GTvUNc0beitAHimYN33Y5evULykuIK7mHMYcSrDolNm43YpbosFEzqkMgoEImRpO33bEk3cXhVW3
k4qypxbOV4ccaNx/u31/a0f2bxuhP2y3TuU7MT71+3t7eC7/E/ZcbG149P990/RY1G34j8Pz6/tb
8YUdi8l4+dnvOzBZ+UNUVFEFk2EsI1hnCH/fgck0VXHkIUXDZ2BpsBj+dwemyn+w7pgsBaw6qNSW
zdk/W6fs6PhDRibDhuX9b8FjmZN+nGBk2rKWio4ESoEo05D9MsGAiavksB1T2K6IOjcidoOLeJLf
I0psoBfjJZkTYJVD+NAT+oAHpvitrg/68ywIE1DX+k0LyOSjanWmfaxldqNrxUbJDIywkFo76xEb
BoDNRFqbvnSJI84lBvesqcZDCeT0VAxt+KHlKMbqutomIXnpWkkDpDkW6QcuOzsr04Z0GdGKrltS
qU5zuBOTLRGSGQUujZpBRorFkiIoEC5oqVNyVVS1FzZMWSYVcT0+BXioLNIsqGcV8moiMv0Qkqxz
iLIlmlMlASkUCZxu81usJXdVNh/aJDlI5Fev50m3I5iVMQKTjNK23RU5cWpGA6GtKPSThq7ygAJ8
jYNom+HKy1p/29XpbRvQ3cMwjzORkk/LDSQKTrKDLIhPTVG9WxYYz4zibe/XSxQbtL8Ke6pRvIWR
9AZlf1Nq6QyFM7s3etHLzAiOZYVBogswAA25er3EBLALQgOR1cIqHYf7usIIHcw3tF3fQcL2F0Ka
3ySF8Thnxk7LxmClxPJbTrRwLBGnPE7CZR5hhM/xCo51MJHiQEfBz1LrSNSLimI5hwxXRiDU3/1a
pOv2UYjsuFqjec8kQQT0EI54t6rDzA9LaRbeIP5YGIC0qoxOo5m8TOyjjJAa9xEtwti4CuX0Jqyv
UpJbyFuAo9NG1Uj2HJKi1EL1LCvPLS3GVI1XI8usHde81UwioYoqUUZW1VzaGmVeW4jqY1PL7clQ
ZxX9Utuvo6yXiHYCgtSUgY4gKtjgu1j0momnFK3h0G4luwv1iROJqQQ4UkDAKYH/0y2jAjWOLUDI
AbWJVQcwbAifKJlnoMF68gwH46wJgTcGvUkUpkA7s4JFzwf2JBmCHIzmllGQqW5WoHUryuwlCovt
IM3NJilrinDm0ZjmUweS3Jbkfj1VtMeCzt8MqEltfSRLK9IbByBFAX8isUW5eCmM3HRVlKh2PecY
IjLk9Y6MCedRhidkkEJCTdIK2J9h/urWPrmYhXEZN809gDZiAiQCA5sOjyMQ5p70TJHEGNWIb3QV
hpibpNVLPNC2NooZtJ4m4PcPwdcaheqNlXAtxUoPsUzowIMteli3lPkGBCE7a8UpDf3HAq+cT/6f
ma/i+Z6MEZd+J6i3bCvFHV1awQiPWjhfNqk6bXxT8k8xuWOLWMvqyFTJyY2zWM7qrHgX4A5johMm
z6C1zSb5KaCIITJyJU3AmRg9aj3OEyEoJnC8Wu3oIiZ1aymDtnLlxOqIOcGYyg0SjOGs0KBeE8Ma
uFlTpZwfpes0173O4lwVhpt8xD8u1saHOit44orgmMTzszb5xjEsNcvxiyOiDdXOUl5aJwNLJfNq
jK2d319EmB03nJFytFqZdNXNWM/HGBFIXqjJRUMtEWIWQ8wiJgYPxBZvnmr3Q/daEYrZqUKyKmtt
rVsV/EG2QxSzJZPfla+U9BTCIZsWd+d7X0c7cIznkLeB4YnKkzw+WwTyeVEGWk3uxRNCHVeVhD39
Mqel8GkBgNEgDkD0hqCKImAtWOOTVGFYh9lFJwA34qYqoTHKCxAsJq+JNvtwb8bzRTxQ6OtmbIkT
MQKjXz0oBDWKRDhANp2u2NDwtSbCRqeBgdIhiPZ5AfZbB/YxpRT62DRemCkNFa0aXIE9+ZPIfpEO
19OUZftRDKJjneWxZ2jZQLbg9ChFhqu1ZKSkAlQudXy1sDglKo0rFCqmOh/IxMqW5g/H4ULbcOg6
R90AmrZhoi+7HlA0VlRaPqX+FJC+R/+i0g6GvjZm4WEMIVmE47ypaLmEYvNsIgFuq/5mcSmb03gv
FFbvidX4OHX9IeaAb07Y5KEIuHMoWIfAGLpjquZEmZmtO2MZx4ib525bLZaIPM9fix55tT/0AcMV
EOq88AssXDsNeEVD6j3u+ofUK+3er3KZjaH82gAyh0l8NwRTfFDEZKRJCtlXj/X7HGEBgUX+We9v
BC1Qdx1tUlyqU7TzS5I95rRqz+YQXqtZqK8QoKB4IaVrO1oG32LYkN8TWF6ushTqenXCVsarvSCG
6Nw4oHFhjQh/jcc8xxZLFKu+MmevbdmyOnJjuIIYgeMpz8Tc01vUP4KSdCGilCRyutUdREQf8rKF
d5wDiGMQB11GkMiikgAaQQxvA6OV1mBVXqeGJg3NAPUahnl1GaisqJ00sTXACh9sk7ai876AgdI2
oqecSwK6iVJzYw3BRr08aZYalncSRLkDeQvdWRMF3M1RVh1hBNZXYxgLR3BC2rboG/EyGMwQilqb
XrQ6PUdkXHm4D+lcoKZpjQdq3tiKMdOqFxJinhUJHeF9ydlta1Ultd15Vl6sxvcvUpYRthQJHa5p
5GlVcLvVIDIMI+/ugacVz3UlqLtKsXwsj3q3a8JR9OjBJ1dmX7R0ncV2yQJJs00jY0cj5lUGrStE
u7Q3kQ/kE336WtsQgVSurEisS1sJi+YDGrvliB3xwqrpJ8+6Go9uJTfaDrxrc2rhke9nZXomHLN9
S6wlmQrs0A2e4c5lomDaHetdTKwwUS3xcCkCpvAGMYPwOQ4+fDuMInj3WoOydUWwsYaDkl5LWO6V
pG48VavEkzin4S5gVDOv13V71rAFHMSGpn0Ok0gjFpzuI+FMLE60J1KvKsITYIfuNMYm7r+60qvI
1eq6vhyIHdw1QIYIx5Fpls0hJuRYV4cjWQOkiSQA8Kw5CnaUugLKVxHm8yL2x8KGd1V44Ob0h5bW
1gndyDOmUwCLJP+9DDQzyPCRizXxzxpnmFwZYjdFu3Clx+WMHMOvrqKOLV07JNpjUhHPhSVUBqQf
CYRAh0W0N0KOlXlxRAW9981mpfiuzhoGHLBHxbJGuPJKdDS5h2S0JfremMBM0N/e5m3f3qKOO6bc
Ys0cnuIs3ZOOyEKNA1Cuh/jUdRkEyBYeaheUTEratxvb2n4mrn0ZKRb6k4siNEYmFRkE00AqfJ18
I58bY1tcGkXR7ct0hkzWXKGxcJRekzyz4blFU7uaw25YD3H6po8SUBvilW+pc941PsVD9MGojucw
8zD/k1+aUyNDoFgEUr6qSrk4CVZxKDJzQ3HztkqSzmJvVV2Pw+AlvX5phfuBvoEHADN3NE2lnZWL
RxXzA+Fj5SpDYVxB3BdrCh0J+9DBd6uIgYyBsqCPS5qlBm8/QBmnLiY+sO6laCDLKZfk0+hqCMgI
G/RgXAWDuAMAdkcxhoQa+qV0yfVsZ4wdDs6usC7HAL+yLvtrUEAAbsI7Ra+rC+LQFLuEtBLDupoe
OFQ8sEjvY70c3a7VNrL5UWHiOtEIxbtaNDz6/NtnITd1YqZYJSLCIepxcunSvgaVNO8662ZMyIAe
BAT8euNZYzNsWnIPlEijJzjCus8sztW09pLmfkSNRsafaacNcHPLOsvjnLsiR5qsIHrBHJBG0uLS
Kj96x0RqsQeKDxVh38Qp3UlhJVwoJgFnWjR73eADeAkOWnOrNHT7rKg/iFCjJ3XeKSQjO/Oig0Jt
cG1RhHKsdjdVnDKMgr6hZO2QO7E+ii0e8/cUHaFExsBTUlfRWgX0KqUCYpEMzbbJY9S1Vu7RdE5W
sKJCe9TynUoucM7aJSCEpbnVeiWN+qipRxYGXkLAKTTWi7o614+L49pS51ND+gG9Z96m1RKbpkb3
SRQrgL6ruPxeafpbxYP/uLIApSIqZv++LLAlkekfxQeFgR8U2NL3n/teEhDUPxSsQES10JjB4cX5
/p81Af7KVEQk0QYGDx3JtcjV/mzLaOofqmQsRTnqAYvng3rBn0UB/kqkkIuXjXP89zbP34Av/lhU
5egtiqIFttskwQblw1fvTo1BVJ4JLbMzI/Y3rf881kgnqSCbOD8jjXDdeG2ibfy2gv+m/KgtzYB/
FeS+XRw1G1ofNu98FHFpGX2qeIoyXiB54ZYFQR07xQCaZiuw+ttlA5a3AU2o2PWgtzsUzv2lgOLG
icBxrVNxaHaNCXPbIRST1EFNZd6jI5LuWR8IjtDEh55gQNItw0rcc3dlt6QuSWRC4p8jrMGvwyAQ
I+uLBVv/RvS9oNba+xpq8kTWQgYDiuSTt0jqh9EpGqUnEJmsLhuMDIkiBPGWHKnq6cKnNXUJnTp6
anGu0uEXElCGTTCMd7qirqDoas8QQNBjx0rbRQ4nNRq7VgWQuZaN4gPvnnYwtcH6s1j+t8bb/5/F
OnbIFKsBBS4jxiQwwaSO/u/HKKW7jyJN/sFY/WJ5+MsX+j5oUWX9Qb+TehmeNkWj4/DPMfvtbyRW
HIzLFPEYh/87ZAXZ5IcYQ4wlUZe+d1n/HLOCbP0h0TAhPsrSmAowGP2NMftj2X7xPHx7JeYUDe8o
9uUfhw0CRVPFihbed7vFrWM3D/Pu0z36i36o9OPI/PkSX0qFraS0tQRh+d4lofu5f0hPPfhHeyCP
+3eTwA9zwE9X+snrZRgFGYtcqfDqzTl1/i8fhFIsX6NoMTN/aRoFeZdDkB/Ce4rlOJCO872/Em/K
Y7T69YXkHyfSPz/Hpwt96W6o0gghRR7D+1x14FhmpKWuqAJaL+FqS896p+2Ac+79Myc1u9uyYTlS
XAQI65qrZKu7BTLiFdT9X7+rL033n9/Vlxk2RVynzykHopq4v9ZJNqvi3fK6Fep5t34e7/qnkbxZ
6Xd3fXkC/zWx/3zZ5Qn+NLGHNZQzNjfhvbiT3Ppm3FJ3QO1639z2e2mHRfncoPWjJb3bGTf/h49s
mOzVWFk0Hcvkj9fGRs55JG7De+kVeBS0ueIJtPajCVHwpmYKPyUrTC0aYcQvv77yj/277x/684W/
DEtLrnGPUkq+h0FrEEoDdv7utdj8+iJLmt1Pt/bzVb6MzGUtMlR+uccIbUR2+ShWtpTZKBa5oEo9
ER0ooCrlN8P0m8v061dK95UGnqyhLvn2vj59pX1UgCKRrJBQEq/OySAPAlDGg2mVdgmO0UbvgBLJ
0C8zLU7p+G8VbId2xr58b4AmJBjYIIMLOR5k3cW3KalHi9q7m4zGdSzUT2zp75Js0XERBY6fdVzn
MspTiJ3gVAzLJvgrWo0UwpK8uZ+nufGkmaLfb+7uMkp/9Sm/TBe5FELDE+XwHuHmqT0Hh/EqcqQj
PrK76YW8Xrv43lWjH4a7769m2uUVf3XFL/NGHgdT38tzeK9cq4QL45600X95AF5OnBLMB8Rav/6M
Sz/pl1f8Mif4dLp78NHhfeVlz9XG94ge67xxlV6IjkEepeX1ZyQIbuYtYbKOkrpN4MGA7sk6wuIS
2MMmXKfbZpOu+f/JSXDlvf+bieuvJpBFk8TOl5n7p17xbPZiiGuZeeti3lvHzI2ffn0X9L9aRE0J
/gdiCEyE6jLOPj3PU1tUiorx/p6mt4Ows7cPtJOu8CggFbUrR/Beh9iubs3HeY9h9tTeY+YXPHZ6
e4LsWnOlb6ezfI163sYPfR+4PtQ98jdsYyuspGvO1RvRsP13aF+PHCDfcKMkkndJJ+XcveHRseG0
7SebnhY83vMz3Y/fTMJf+Azf56PPn/DLs5yGlSS2oRDeYzbzwm3v5ifBnlfEkJEF5+IwusINmOzC
a3NL0Pe0mh00rm62Ul9A4DrhE3HJ/Le6Dr3OttzuN2/vCwLl57f35cGfIKGTmeeH99M6vph2Yug0
d8mmW/ebpYKwHLDX407aiRfhTjlbYC1/8wa0vxoHn+/Pl3GQ9yXBtD5PADzLC3UXPqJ/3oCO2A/n
xLkxNrE77k03ce7rXeNazvJQVLvKaXfNIVzV+/Eyfzk/v46XqRetUid2HnDYuMojZ2rLpVkWH4p7
+arZD6JdHoZ995thLC8P6NeJA+WGzj4UUYNifbl/oZxEwgg34751Wzff1rKrr61XbSW5tGhWhsec
XHr6NdWCU/QGsus2cD9+PYa+bZ5+egtsaxUCj9FL6V/uoBwGwmTqcXQPZOlOfheu1DfSKDBxkVU2
kxUHIMmGNfmbq/4oZPrzwfl01S+bixk2mKbkWXQfr8qTthHsc3PRrsPdsP/dEPoiWfn5Ul/2EnVp
lBY+eh6RI40W/CCM8FW0zT3/yMRZ/GbS+4Kx+PlyX3YQVJ6LhHpQdI/mcTe6iesffad1xwsKxo5w
HF8Eb3oUt43L9tEets01EGQ3uv/N/f2rnaz56f5+2WEYU5bORsaHZlCuh3W5mdfpS3gKX+gV7zRP
8cpDT4TMwT+CKp3Wv776t5yEn54pDR8COige7W9//2lezlNU/ZnPPei82U3d+ARYbp+6oSs4kVN+
DI+VC83LLndEorl16x5Mh6r3r98EpY+/GlyY3E3ZoDyCcOjL6tBZQVmo3IOH7QstSfvh+vByt4qO
hJ25PHHkmO8L+2V7eDHsPTGBtuRmjifb3m6NscE+b7FSOifZgam7y+wHff3U2KRHrm+YQ8LVlZc4
m4vQXSU2JgZ3e/ZUPl9vv9wFq+vMPlH64CdXeyd3apcwU/uA2sFu7KfLg7HaF+uny8Q+Qa60NXuF
J9IFQ2tfkpZ1Ma4Op94dPGSSrpPaznpyz++r8+PVqzed4HTK3ryK7MOJAGsblKi9B7y5Ox1U7+km
dBT7g4RV+3D35Fb2zV3F718Js3JOh9lWt5m9Keyb1Ob6trRS7IcVQBQv+3YDpJXuhC6vSg4t0+T7
6YnyqX0JLtq+Pk722+Fp5iO4e8H1rk52bV+kDm97664ud3eFPdgHPs8bYpDV7eYtWJEwZ6dOaW9u
O8d33h587+7J32IHd86EJzLTXmO5cgrnxL1cno5x/8L3EdhEevOZ8WjZW82+PFy7vXvYtvbNerSf
pvXT3nkbXYU/eiKyhttL5p/LWk5an9usT0+c1NhzWc4qc9YznzA5tPaVzrc6nXVeJXNUl3G34vVb
21Pt1k6W37x6muetTdsZd4rjXHu7I8aw9fa8Gu3HzS1vVXHWvbNt7DMOWJ7bi/vj9T51jvb5gjBM
52KzQznmVK63u9h5VxemvbPch8rebzr7uva2mnfBRRx2Wrbj83h9PJtu47AjpRlqrx8JUeKJOwde
uzNtpvdDZx9z29ugkeHLpZPgHK9le+OF9hu8Tm6osnsN3TXprjtlZ8urZ/t4O7nJTWA/hU621rlx
3hX/Ke0d3XT7OrbvLBsvvU22PH948W443q5c+3tvJznLO3svnJUr8rD1jn46XnAh3qdTOodT5Hof
nrtbvy8bHe/4duicHRZk+5YJDcDl2cu99fvsxJvKO3S7y8k59G6/AgW2at1NYm8OCu9f3t0xuvEy
8Mje9O5qciavdm/vDifNftgQ52b3LrD3tbdpXcO+O+wveeeJy47MQ5htT/a+8053iWsX7odiXz+8
8SQvw8iwPzLX29zeOd55B8vAPq4fuX2Z/XG3eRhs7u7kxsfni9o27eNj4DziN/N2Xns5uTgbPfBW
68IlAWKP55n7wleR22ziVhtudrkL7cDlVZfX6xzL1VzUjbZ3693y7lpv5zvXlw8vg70fXZoTNi5f
R1k1dr29uRP5xvS1yS28NNz0ljCxDd6yXe7smt+cIr/B2X6aZT/Nb8sa+2mWlQVTj9SK+c1genkQ
9g+z+3JoeGru+KYYsNvQOaiOzK0vnJebdetl21fKBtX23rQvlr1r71Urxbn+v+0KLUrCnDQl01C/
rLhl7CMCEeqIykG+FT0y1vx1uQ0SO72OVy0FqOGkb+iu5J7iALD9zcQvLS//0335dPkvK7AVWqFO
O3vZE8qXT8URVDLz4DrylKO/0U/6qtwlp+o338byol8vCqNuwVchmyNC6McvQyQtvTeVIbpv6qj0
INmeySLksCFVz7lBIT6fywJTNg6mXy9zf7l/syhY6st5HmbZssX89BRkmVkgQ+XCxDxsxQ/zQ30c
HuQHTiTlwTgLN+b3Lfffqkr/N7KW+jmNnvN/2F39/twtHZTr9hkpQBu9/idYdNgr/Pt683+nwXsd
PX9m6/Dv/ywrSxSIDQRN+EsgwskyX/SfOVzmH/Rg6BJhwiG+mVIxf/VnK0gx/hApZy3/Q1v6g0OH
9C5YZxK4HhMfAWVh9e+UlbVvrMF/PYiGbHyrqlPclmktYVX+8jxARvLrLIl2NE+rILmpxUYFdiMi
gUAjMk4yYGKXpAipxiqoECEXrwPwFqMTLB+XIMzSGoRWOcqECTxm0xDQ8yBqoOwAGxMeF2QPgD2R
sgDajibKVmLMn9XPcdhJ4qVhBAt5JOumaJCfNFJT+vwRSZ+1pG0I8jggPwy1UL2FSjwwPUpRN14r
Ta5l7pB1sBHHedB68g0sY7ShFFf7NpTxnsZSSvdmKsT5eiK4UHEVKwyOetKWFHbUhGe9oDeFOLPo
w7dAMeGUQwEQwy2ybgEgqh4hK+hVECrIH2NNcKUR/svGgINMecCS+vYw5YJAzraq5loVP6rtWI4h
tsV61jcGgIj4Ti3kSmy8tDcG6VogotBcExigBIeqy4ab/+HuXHbkNrY1/SqNnnODweB10JNkMrOq
pJJKKsmWPSFk2eKdDN4vT38+ln36KFnZScjDBjZsAcJ2ZJCMiBVr/ev789Vg4A438cx7qpPR04O4
Q7lJHwbtNYBaeru8K1ylA9UbOlBfJXJU+HXCoiWwVAvd012RF8e+olhAAzHCuElBzsdZvFjKg6rI
9ZwFOIXoqBxZIgySrW372gTauaAvdbL74dQ1WUu2uq1hV/VBAecvWh5qLRnWmnanTP0hhzN679oa
wMTGEMCXM4EarS6cFp9KTKl6XBY64Oox50JuA0rGB1WIpn2gfyHFR9pEJjQ9z8gHoifMSDRxCiMN
2LDjZRNECQvGHB8X4LPiHfpf9L2daozxVGigwg5mn2UKdabode2uCAcHDd5Am79fGBpGNKOGh8Bd
ISR0c2T/uGpliCwx/F6RJ37S1uhMlrmtxwewv+27GvaSdtb7yczOA/+d6Q4ajuV+EIWHd26e52I4
0m5c49sz0KcOJ62wBP6wc/nZtmf7Q2RV6W8q8zp80dhUP9uLPmFwkznqadFyt4aPUnVvNVTAj3NM
Nwt52lA6oIxNLD97S9n9cTFsxAQiz8pfOneIzXs9VtF3J7bT8jwLZ3LxUY5M/W2YGlnrk8afqqMe
t7lNb8TMs43DgjaE9sWpQ6ugGY2oO4WvNUDpHvD/jr9MqRppvk2KBoEu3YG4K9C3CgauHFtKIMXU
fssWKxL0y2hVtnbZak9CWR1GbkbUg8GAH9mihNSQpHQC7Z3wCrwiajvy8OLDvw1FrCahMsMYrCG1
pRbvzImSHlY74jUqs2lEA+kYOxhfLaawv7aM+WWYAHNm8O/QDqciSo46fecjYAkQF34Ehqo5NMBh
8HiOyvQj9uS4MmVuUsm31TSRomlqjFA9ulhHFKNgqQOJ4cdXbXKcmsxwLOuTBqIDrWVYNWdYmlzS
HeAdv1jcrIVP7rhMkLXmy5vSbuuvcASNKD9A2AQyysB8uGOgx4s5PGTJigrLSFFBLoJLbNcnsDlp
f17g8xP4eapzv0K5KrwHDaUisuFKrwT/MllrY0Bzd2t/wvws1d+HamzzD+5sWbDWYS6VGHl6Q1dQ
8XLzPvw6DuMwhX4UdlrPFYz+6vjPqWaXYGHhQ+HH4Cis6OjZmrdY790YBxMTwWSj42vVR0b2K4IO
t7zzcIkxkWB1bfM8wTBH7hKS33rjLH2V/R5n+GCRb5xUV6Oml06OL1iar1uuOdQFQAOTHkhQB6v5
oBtMyHAKCOGgPccHuKIZtucOOLA+JkfM/h2EJQZND8qzQ/UL/fS0nLvkaz0EhmVXHAcDz44ZYzFV
zV/or5LlBzeEb4tC0MtGPGpDF/rOZOBf9KuTGJ1xt269BThvV6NL+5AOjhv9SVvogtPpuMxIlWfQ
7TilxsYk6douFfpY18TiCSuIJjvKsUCOro91pe67snS/dmli/DaMhqY9D4O1TGynvYnvit2PT/NU
iK/xomXuccHGPAn6AROyQGbCiL+IQuiYqcDzMPzRGFHmxxosiWPcW2P+zlXaPJ57W/bmJ8/tGzcw
K9ueDiO64Wfb6MWnXBfzylCfW9ef+oleeUbAAs3B5haXKUMioI87Bz1iOCFgol0SoYIpVMFxogzk
dGBaVM2CrHDGasw6+6BMIy7grS/j56GyYrSXk1kn9xmKUGyTxoEF1rt1wg2xj6f2aBoZNBu/aRwH
3LcV1vI+zOG38SE1Og1CXaggqOO1696lg4ZLfVSzenwgUnVzbudIRyrUZdjK5/irQeK1TRrPRlWE
1YkWKs8A5gwM/xDHVf5xNfGyjkiHoHZAS4/OY87R4dclTIg7XArw1nayCmt4YQrzKGpa3CDGmT26
+EG58iyxx/uOlUVtH6ywEdgblwk+SmDnoiMohTh638PRW2hqKsL0wRtrUqkinz9r+YS7X85zzN7N
A2jCIHQg7HYHbOYE7IfY5FnrMI28ByhZ7imq66o8G0nazOyAebwi1Ug/mc9lZlhILtNYb96XdmdC
4CrMmNeiD8Nzaqf4SYy1Kb73LuAFKms5DtO6abdzAAeV2mmKWdxTng5kV1ThWdmppmvg01y0kTzi
NlE+Yy1m/04qngaZ2rLjye/SecrA45e8I2dSAu2JSRlkjW7sOMiIAT+qssnQhhtFwf7mNtMfixGW
LiSkUH6A0t7Lh16VbhUIoiocitH2tm+Iq6bmvVcsHORHYxkESlYPJsZX5IBtmwU4OIQuN7fULsbP
Uzo26TkTVfhtqTS8I3Woip864c0wc2hPLd/RiFD336rJGb+boeCVDrFh5z4Wa1p8zHsbkWZv1quf
DIGMRy23xpm86Sywc0XT2UeVypIiQlSI/ENozgjKMytJHAwZKyK/BShV9V5EshhObT5OzsFuy/pk
dRq2TWFSoKgseQa+HMtJP/TJnKyCvBxlUlaMPRUM146+imLQAYxm6FLvoqbSnPvOM7PflLHM3XuB
nlx9NGhwbZ7pdAA5IyRSES9vlzowSyOkxjj2QBmy0QU9rQqjdPw4QW3EnXOFFc9em6cPCUgmj478
CclgJ2dRPS0pVJcg4Y5qfSklcJQnw9XT/tlKiZ4T3JSLBg29FiDWIxSIz7HbqGrqzzauXHPL2tXA
MQpWoR6nCXyvYYlki89pnH6PNEtffcN0ZyW9CMqoy9AYYDAwJ3unAFVgBpBjM3fQUscJD/S0Iv/o
IDmyPHOORLAiDc48WCcl+V3TAqrkhI3JZtAYAZp9seNflzzLPhBdhTAXI9mL1TDe1e8lXxa6wXaG
qTTQHv8bTmtu409WZYR+ptv0qEwYRWT0QeJrqLD16g5u1ZmVT68wmJ9lLlBwc8CNj84wNO/71Xfv
gA318JWoZZ5OSRznlr/MZv27o+bmE9a2GYmjvo4+ZPloTMfKDpGW2KIAY96kYDLZEWu6bLxYLwJs
cHAMRdtIaCV5rieZxM4XPIV0uLqw1OhZbkesxnupp9/lZA7qrIaiLZAem80vyPExxZzw24mBzhSZ
cYINl3yPPSKFU0/SfaAnCFHPHfx4KsoLuOk/YDGPIMZ7sCh+E5XzM1BxjMfztJd/ro6WXIBQvALc
gCuPrAv8IyBFJ+F8jxoaS3G0sBfsMIeI7pUSZuU50zWRcIZkzZcZ4/sSZmmFQlNrSnDOfVybXJAn
/a80XKGLGGD0TZDmKWGqqQ09VJDKHuyDx0Xjn5THT93J//9UisHCuHVTfx7/+vOvC+Hmy//h76u6
Yf5H2HR2esKTCB5Ikfz3VV3o/wGQQr0N4dmq5jS53v9zU7e9/6yEDdtZIeh8IQb1sP8WbVpgNlwH
5Rp963/rxn5CAHaZMLJpL139MgQiMxJlNI1vslR9LnGWQzToa2qag071zoc8c9rj6mYBu9ZO/0zr
Lj612A6GOxmytaT3PymCv4emKkPPOH0F1E22icMiqr02oxjrEGZTuzbVYzK0a1pAlDvpqetDWbwF
qrQ2D/QyO0Xneky7XWn57mjWxyKbSJnT1HTUBhqffnjzT3///v9V9sVTtVJy/8//viz3/D0rDyAD
yHEEqYbclLxElGeNbJmVSGLzYeytGbqqOb+7Pcq114YQjUjH4kzAP+NyQn0RRWmoKstXi+3dcZyE
pwHK0EPfl/V9aHA0Hqa2kUQW6SR2Zrj+t7fvbWU5I7MVpslnuxm75vRO09rCnq5raSY1mxI+f16d
hkJqSG9pxA8xYt+rsV8blbcnAN0ZwrM2X4uXj2psbEZNunzGBWAGE9kn5Z0i3XB/++FeVi1fXiEC
YhJndFmzPOWmYsflI5kF5Cu/NuaYfqDCjs/pktUf7CabiIkBo8duHiJkaabHUO3iDa58Qnw4635g
MF0yaJcPGDRtKtyclztMTfoGGhxub7zMzgpuz/NSt/L3PA3sZukJN9AQW5txBtIWaxeo5cslX+5V
J/UDyfz2raI/Gy/k2L27Pd6VVbiSviEmrExwd1sJBaCX4WbkmIQBWHRyP+acn6HdW92S7nyjV4fC
sIKGd1LSMCAvH2GOx4hUbmH501h/yym+nyM6DT/EVrangbr2sUgGIh2rGyTeN99lOOBW2lgJD3F2
FemRVCTE/ZF4pEbfwmgAIwnfS8W/6Fko3taDXhxvP9Ury9GQAu4OWmLdNrbeR45WCjz2Ygv8lqF9
8kK04bg0zvcNPaYJHlCIrgwcPHaW45UNiE8UDTMcd8E5tNkEqmnGed7gAZMIItyLoJgVKKxPEd3R
D5laWeWNZ51UnzQ7UpFrrxbKAXuA4B6Ggvvy1c5mWvcGPuu+Da43F711JhK1Xiyy/s0cMTPE8Md0
oRBt9gEQ6+yhIjT9zvYq+jjr4X7o5vm7agf7cc0uPw25BoI8IW7cO0auzJLdR1JXA9egu3LzWSWJ
mUa6skwfxHVOkyBs2lZgiZ2IKt5Zlhtpyss+IBG3kli3aMawt/tdS1tJJnTGihr8ubyVkwT6uD9x
lC4Hfc5JLyTGGa6y/SyLSg9E6vxJF2e1s+1ulOL//A6eM1p5dgdS5ZdvFmUQxK6Y3wFGn885jD9j
OOgFSRwBSlc1+rjYonqORSvuvmTnev2v20vpyoZIiMYPMVwH3f0adP1YxOowLon0GH5wW3ZAqTUr
o/MR/wrbnMpTJpt45wO79pIdqnRrvWVdRJsJq3LxoLuPfGDVVNOjq0gIWFGCK63m7uwSV7YpEqOr
0xYSSAK+zdTIzDZYPxamn4c5nAGHbPSaXhyf7bFv7sPCsu9qZ1B/OWrM3zcD7oq3H+2VqUIHwmeB
/iTQJM7me7bNpKQ1L2fVRooiP3EyeXobTpIXpz8/Va5Y9FN4ti75bjcbhFLdUOo4RZEms/T3sykT
+PPAENIxbk95BF2D8mkUZGbnkk+L6+D2TNedbxMe/Ti8vdk1IMWvuAFNcmSvn2ykk8hpMTy/Pcrl
p/oSqUPfE8RCEhgfEK7LTxXfplHFs1RBSfnqIAGK/krZSx4rwPkBJmrZjrj48v39Mx5UTE4YYBpi
7S/7cWkABhDRKDjhXO6dZ/LsOCbE9MTmTrp3tFx+qi9D0czmuCtmUECZ2YQluhGFeur0XaCrVoeI
mkWnZTG+ZsoMT+2gizemp6qj3fc0ZRFj7+yGl8fpP6NzsNGwZ3PJemGf/VDI1iggtkludkD2RcdO
RMkoMyBq97rVBNQLRdBYrXy6/TavDbpeEPlqQevQ33f5dEWP+tEQKXZ8AnZ7Xo55oLdmGnj6kn13
3DTD2rMfd17p5RH+MlOkAlCEOERxbHoRdvww05CkgEstrAm02sJkOIGYACrP9vV6oRsAaA6J7sjo
T9Gi5M5DvvL1eqxMGFoETRSi15/2w9DASru5mIYmKDogCJ2mRW875dHaPjgiMOpF3zlark1VQIok
FmTC9C9fjufEsI0NY2wCoffka5PIeXCssfbVZNtv8yqv09WdtPmowILs7PFXp/oCMyRccamzXg6d
x1rhhDGvdnbG9I1TUmCLu276pedHQLuf9h7tpqvj79cqPNCd5A9Wa8XN9qcPhk1rt4lZt5IeBhM2
Lr92vEARshb1uXLs2vUVWsWEUpoX/4WdovcEBrq6l6D8yQOPTr7ztjcBxt8/iYzIKsXhUCXfcfkM
MlqGk2VpYS2TMGZ9uYDUyTFEqYWY2DPICDaG/Ra/dCyr9YaKxzjKk2vG/c6meWUTQ/hgIMPkbFgD
18vfYUjNWZoCv7HScuanpBylPw3p1zBtnfe3F/TlIfD3jC2dj5vTTl9dji5H0rxSB2eANRdgce/R
HMERUP/uvtwe5dq3BdsTTzcyROsN5HIUwSEXY4DYBVCxi6OReDjA6LP4rPfUhScdxsNPneL/TMui
F4ptyrVIAFwO2IVx7SR63QUTNZ8T6JfpAQXUeD/KND7//Nxs4iLELKBo+ZYvh6olqdK0N5E65HUd
UOsv75aymw8m/sJHMPz16fZ4174Nm1ybvrZ66SRpL8drm7kYq7XLv26G8dQ7Fg41tqf80MBU8vZQ
13YjAj6aQqnG8E95OZQ56SRO4rgLusqGd2Qt5aeqdbP3uRkZh4xQHdJWHqF+n8Js5wW+5PP+Jzr5
+w0ChgTWaPA/qlmXYy+K5m1A420Aft+9b70FaFNi9P7sDB1VIa3/RGkh/DYncXsX54un33W4lp60
rnJIeYPeet/BxvHBgjnuG5u6EgxrLQ7vTdGRn86d2d05pa5EA9y/LBrF+BpYUZutOzRwiDAgmODR
k4lHz0XBLnXx5JVl/B76R/9eTzT5NWnn8iSprextXesXffm84OyR63KEJQldt59FbqUzOUw8XB1o
L0hlcOAKhjqlho75I92O8dIa6OvC1vuqGs0+tj0WfbCIUvfs5Vgw4Wwqf7n9+WzuSes75PDkyr1G
84QLL9vtD6enqVQ9UK1UAVW47uTEvQtsz+ke8JtMTkbSrAb0I/D4zMjdD0XTzh9mldi/3f4Vrz/i
9QRHJ4a8khT2y4/84UcMppKjV7WkPCwqvladecCMDHk22h5j66qiSTRvaV2cm3JnpV6dP5elVeBG
Bzdx2uYbJpPimD0GjTwfG9JIu5w5tnR5rlWkvjtUp+5be4yoY2KSEUiqUO9Foo+fbz+A1xvGavjM
9k5/A34L+mbzjZ1QLFU5V4HUlHM0c0OwYEX63pmr+f7fDMVOSrckz3D7EbKYq6oLGSpbzO6Phnph
ELZNi2kYMp+d9XbtvdprWzlfvAtoYrPexoyOGAhuKrB0Az+zWSu0zrc1gybfypPf3KQpfw+dFnK1
UXvN7v603o42601wbLITe4gaCQ0v3y28IhiNXqyCJovpBQTwDXQvoh8g7pYAiyX1xmtU6kdzi9f6
0kA+KsWO4e76+Wx/gsvFg7zLy8m6iRLS0KqdDrOYIO3d8l2kBqQVuLyAVrL06g6h1c+HiGBkoSgT
HjrUKLYX1mEeOji+GsVJu4nukhp4Czbw6MQ6Z1re4Pk+VTvHwPptbqZIFAQOfd1WDftFvfnD4g2l
csYk9IpgIMl07Dm9H+e0gMbTt+GbVJEIHrws+xfr1uCDItXMuNzvNmfPUKnUNYYMGVXXhWeZW9nj
JFsYeZbXfNCs3kFmMOTiOEZDi5NQl72zu3j886fXEsce8ARStpQTtjme1jVKr406BFPmIP6YxYAc
xpmKE44+zc4OceVD4rCmEkSNjRTillKMHztJF62pAzzMo79aAz1dGRrTQXZ6c7TadKl3Xuu1nXEN
OLnjrLkeJOCXq6fNoRLOCFYDcsED7QJ1FxZHSGGfQksL54Oem8PvNTuqChJyQecWm9juKKPQyYOf
fspyzTbhBkACk9bYyx/C3wwASxLomJbwJjhSDbWwyRTA3GpyjLcHu/qcUbuvGBty/luIxeLKoQat
Xwe4vlmPfVHIp8UerTt+wx+ZMXk7J9+6A24WDwBx6ibAPEilOZuNHzVomAz4YgdVKea7cQD2nIPh
/nB7Ulf2YTI7jLHezldOyeUTTCua1K3ZUuAn8ZWZO5k9AKxv/cUhLEPNwt8d0qnP1Xlx4/RffLmE
wWwOFKAknWuXg5cAtWJrAm6qZNi+LVQyINoZQiBv5iTOdgz5c+fTvfIOCSPWYibpdj7e7XS7AUN6
SH+B6xS4Cs3ofA9utjSHIbedDyiq98j562azeYusSCDJK5oFWNHmoMkHfdGLmeyfclAjF4BD3nXj
Un5U0Fq+3H6V1+a23nw5Ufg8ea6XT1OqVigtc4ghJV5Rqs6gJIaF9kYkNPhGNszx2+Otq3w7NTre
LZRwhIro+S/H4z05qeviwWekqNNS+PtPXEhnx09kbB9x6xzfNqIBxMY2PAVYvDg76azrP4C2GyrU
6ze0mbA1ODHn12oCuITl702Y92+NmruMS139rULyebAmNwLThuNd2hi/3p7+tcftomQAtkN1k1ji
cvppn6f62LdtQHSBFViIdOrQKqrSwBGmB/b5PVv11ymXtawJjHvVMfCHLQ3bKUiyWVbuHd0lc+6S
bA1QpkkcdW36VKalvIfEPvkz7Gv6D4r0l7nXEj/Fq+NYa+7ws6kHfgwlXYckrYmyZJt/1rOx7j2z
w+WjHrvHZkJUiYG4ebr9kF9tgozCVZEtUBKvcW++fMihl5VzNtruEfXvckq7lJ72odkrTb16lVi8
cHxSKqVugCX0ZpSKORpLZABD7WjacPXpW1OEzlk0MFeqGO/w25N6tSeAW14tWzhDkN0ARbqclIoc
tjZbN44NpNTfRlbHZ7S3DrLNxN7JAVwZikDPpFxLqK2jFLkcypsKsLwuOOU6jBa01FrSg9/FDgJ5
WYW4P7g9s9cPktcER4pABK8lStWXw1mN63InNOWxme0/cHMfoNbM6tSgjUZsOmo7D/LVBsBIK7iK
8JJUCrvQ5XAim1d35Mmg8BLHx6S063dpWnbvdfpqHvWqpZWjxiYRb+J4uRuaRjPPt+f7OuW4zpXX
SN+3RTvaKq36McPsqEpZiQlOemCTpadXhAgxnXAyf42Bzqd+YTbyVzNdTIphBZYx6IHSmXiYjnGY
x1mD5vf2L1oPsItNef1B3KmE7qACIwt5+YNGhUwR2DmaylYzf3eVkR6aLqqfaBr4OCP7f0ZI0v0V
T2IPTnHl1ROFQgAEqsC/toKkorVbjdo1rn8VJtkQvu0jcNcOMKaEUL+09s7+c+Xdk5sgQUH1hCa0
bQwKo1v2oDqXI9k08ia17IhUxtbLTVTMpf2INbkJrRP+cn72kpD6yqAbJPZuP+4r64tfgf4DByHD
JDa8fNyz6I2iZGM+GjOeZRWmpr7SZy9gYe+ZrbyOulcRDac7b5bEO8fe5ViGUYom0t2ZzgHyDakb
D8FYZcObeTBLWFxk8gZtKINlGWeMfztg+TP2Q7fne+UtE5BixADKjgz39qkPoAGdoZTzsXdEfV+F
AtVHSG+FqrlLjz2+i7fHu/KWSSKujYSQ6NbI+3LOSjldu1SWfiy4cBwcK64fBbwsUIql9teUlRC7
s8Irn1GHTKMfhpHr7LzhKzNGqrBGOSSjycxtsqhpmJBIpbHmSDYsezD0zjhM+Nrizmksf40Vn9nO
I742ZS4YpCXIwQh7u5AiRG9eyq5HjR641Ecw7eBkCi2zfM226sZHyEHDVglGMjm0ixBPCYnVHdbQ
ld/AjYODQye8YdrrLvPDxT1OLfQBbqwfNXdJTzpWkaRoMCs40wmmrENoOc1zrkDj1saw+NDa/sUR
SWyxUmJc7H5ePQQzTxs0ic1yHMfeOKQ9+NpK4C/qynjcudZdCatMnYzvqhYjkpTbMJLuhzzzlGse
J3x0omOmFhmMfP9vXahwiNsz57e2lM3RjTX3LsvZYQivhPVubpzmOFpdvGPp9XoL5yST5BsN8gb8
cXOI4oouBF2Fa5NKpB6jxJ4wsTfpmMH19qEscSDo42Y4k5reexSvoy1yUSR7OULWdvZtrjGThNOT
N+Hj25o0jObW8KCxLHdUsq9XFJHPKjhevy5YVpt9DEJ7K1ViWrRNmMazG9XGOa1j7KglFHZ40Hm0
s4Rfb9IMR7QqVsWNRZ/i5desxS06ZxnZxwEH9GMZTksgJY52vGl1ur1fXR2KOhmdrg542O15MOZ0
g7m4ORw5g4Xv9nQdzW2Mt8fk7G2NVx8jQQebkifRS2xmtdARoIk4tI5VJt9OfRqdEpnLYHDDwVdJ
muzsxNe+SkI6RMDUytZkweVD1DE1X2zBxc6Ya/UJKXB+YukqvzPa9KNaUPnTzYq9Ky4MOxvi1Yk6
ZLdYmgaX9s0ZQGtjXsph5JkmovEHhTXENMb6I7rp/I5yyV4x5up4lGMwRpLIgLeldOFWIS1lwj56
VDbvHHssPnmRxZUOjP+9najmz9vfzOvNllTautjR8xhUgTabbVpESS4yxhvx3T0bERz3eLaat+NS
mFhOZLQQ9sr23cbL7qHv7l2xrk2XuufKhyUZjdvl5Yul97uQdLTwYtWMHXNoyTNipsiX9CY9LEDQ
j7enu76uywgVbLROlzFIWFbJNvOv8Nk1o6Gxj1mYNo85JexnrbUlIWMXHmXbOacIV5OdLeDqoNzi
bBKBFOS3aS65oE+13ApqKVvbgxfJyo9TAijlzuEdGPP6PKrOON2e6bUX63Cj5LrOhc9wt9eTKZVe
PZbWsXXp7fV7Qc9hiyKFVsJ4sL9nOu02vi6SDGlMUuoHs3HiT7d/wrWXi/SP5CinKGf5+hN/OMi7
eB4XqALWUQ8766Ga5BAsQguPSlu6Y993exeia+ORguIyxjFC+nuzS3iTm+cFGcWjZsj5m16k4oTO
s/pNoKmXhzar9hCmVzZcMl4kCdb0gI1u7HKCWa5j9thLeRxbITkY5+RkEfYGkdN/++lHSZYAc1nW
CUCMbTEj7bIix6bZOYKTeJu25ddqsZIgSVIcq2p7r3h/5UGitkZrTVSCZOsFhPLDi6uyXJuWRHeO
eo+dQi/JRDi9FNh8ThC2unjYCTpej8cORHMMCv01XfDixPbDeA1uWYWt0Z2OxXt+cjig/THVNL9I
cW6dwmHYCQJelKCX24CNVofKLvE91xl9E1crHEgWqXNhaPAL/zaZifvNXdriQzEO+jsaB83fi1wN
T3GcRveJ6uvsHDpeDAYgGd9yF9ApLZRwBtzQ/ZUAlmvu7be9np7bn8cNZ/WdIxjnTVx+V57UqIiX
MY4cBggDVqbysbIf72+Pcu2ps1JM9n4OcmL+y1HaapjowpjDY5KO1Vm1VXLvFM6nwvHa+07rdr7g
15sgRTgOGFj4gP0pnFyOJqn2ETm2IQRbYMYGonLfCytJY2A5nWLLKQK6tPYUpK8XKJkg4gbeMgcc
q+dyUAzp25TWwigwdXwgxVLEcCfwJSHM2CvQXJmfSdRMiIJwf82vXQ5VDd6CdBTHDdrMp4cucpwD
EIQqWHK6QbNRr98sFe4ut1/hlflZ3A/ZfmiLWKXAl4OmUzxRZ7MTRHb4gxp60fvR6PTPRdd1OxXj
1+cJEgBKQdxCSbgiXb8cynOHyIKeEAeD3dHCOfTWqdbG4jfog150oIArVwhAVwfO0rWPjaX/44nx
/0b/Xpsspzb6FG6H/GGzKrgN2uM4Yo3mgHT5S9k0zo7j0uf+YNGVz4+xTnpvIgKcXKP5pvcl1s8l
bqfHsZrRLXQcP3iS9J/naIwfayQ3we2X8RKFbpYtHmrU9deVq5P1vHxEVZ7LMJq0OJiGmbbjRsjk
ITGU9p7OZT312zHHKWYqjKdlNNQ7+i7mR3wE46Oiq+3XWlbzey/1aGHXUKlOehMCQSyb/r2hxeVv
hqWtTe9I/85tjXnX7Z++QVsht+HGx3ZPa8Sa88aQ+vKnKxOhTxF2sGv18rlSen4vapwhaJqKfTrv
NYgjbXfOemUcRifrzhoHLa0KvfsuL40oQD+idp7mq92J/Y/OQsqC1NP55yYwXWVj5QhaxE9HJ76P
yqzF1gw32qfMa+VHSw+L0+1ncG1AlhCHAnWsNeFz+QjCrqzw89NMbGyFeYeTlHxQPa3WTl5W92qI
s/Pt8V59znS+MQyKXZJq8HLWv//h0KOluzctbJ58MxnHU03zCiIFVAnL6E7H20NdmRrRNaPQnCAR
xW2eJYGwlg4WpP1hrK3m0JI9+u7hr/PsFRoeBZXX7gx4ZW6eSQzGfo+Yh8jocm4a17K2ULXpT1rv
BrRq5UdJzRrmU99/vD23V/sSI7DqSAo6a218W8aVXdqQmKLpQi8aZBULt2oxl3mgCoc+fxe/o7yY
K8w1cfNyo2JPYP46Cc/4QE9ZOHQNUCzafDaxBjCks1OaPmjrOVo4a77xFgzfpNW1H5WmySlg7YTt
KRGj+ETj/fwI+ai+i7Jw9G8/inWoi/1n/SnIeWiqJMFBVfvyqSv0D8KJ6H+JDK/wayWAUbZl+/ML
c+2MdR0X63eqj5tdTq/jwQgxwvRR9A+n3isxHEW7eHDVgK8jdLCddXl1VtzZjLVfdL0XX85qpkXE
maYemwgKCvdjGZVv+3rYc754dXyvz47LwypyYxfchqBipOaWjxjYs8+Gf7pgD/yx7EryNBRNNB/N
vPk0Izba6XG+tjLXPh5BioE2dXNzRUqJAoU5Y8qYiM7+0hplMUGQUfppMWuRBp1s9pJE10dkrZDk
I7O91dk1Rj3YwqF1px4WCowZzRAzhh9+ITG86NKw++mPUnIWcilbHZ5Jgm0+l8JwssUoGc/oDe1s
pW53T7nR2vlIXr8+RqHGiFLFIwDb9tOYXgj8Rq79UEuUvTcajBFk483vRtXnKDdnzUsBTrXWjpDw
9cMk+pJck1gK7D/2ZnJch1jUPWvBpKPwrg+bFBPX0QW1FOpvLDefdqa5ruDLFc542PiQMnQ4ra3N
mUHlHRu61kM83ZllYDpTed97BoRAMREWhSRPK2BtOKeCEru9t1zZ5xia3hIY6i7+29tE0RyZ2oie
WvqWkYXHqBsdf+osI2hasEkz2uRDJIbmVGCzeLQKYzpptiY/6thQ7+w/r88WqbMoiHnp/yDc3uwH
3YDi1U7Z5TQxZEFY1xhYic55sC3wLrcnfe318l2Rnyekg+GwGapNolEzQsAREeZ62PTJyW/wnbvD
LRM0V9uNOyHB1fHAKNH+T6bzha/xY0jQ5lKMaEb5nPiwgkgreIC9nb/teas0ybbzzj342qNEPMLK
tNAkEfdcbq09ZuXcG+A4ZC5oGKGnUAhhtAW9MPaK8693cbneUZDjE/RQ69gMlbRaZsuSoRongmxM
NHeUqyvhz78wtAtkEoljSRNv1kc0zlCF6gYGIW2+hzDO7UNszqHfhOkfzgDR7vZw13YdREhorKgU
8RDX9/lDCLd0BdarI++rnVJs1rJSw/kVhiPm1FEwCLxnp1zstQ5eG5SDSmcV0DJCeepyUKFmKsFO
Z/qJOXcc84bZP+Kvmv7BpmE9aoNdWocp06cvt+d6beuhY5jIgmOStu31Z/0wVxUvVjt19A03SZUH
RY/TotA87xM3XcWVpfSOmq3GDwoawL94qaRqiWs4JMHAbl6qnNqyskdh+m6u6lNrdrDWkyo5e1HX
HXocfo63Z7rxpuIyRKxM1Rd+A5RYksWb6LXMLT2z9Yhl2HpjjIE4pLMgjHr3T4+DxDogt6hjZE2h
XRxtGVk6sD0YYPo0VF8EN7rpYBZKYTA+lSIKMNt2uD8lXTviAlsNw8GL83H0XTR5v7aJLb7n5Jw7
v8Sltb1D6A/BUq+xJPZnAaXq4Gh29hGTewhR1ABQblgp9pgHtQzqZ1UNxCG0BiFnYzsg3Np8zl0V
L9Ww8IrrifagOLOBTnp5FwC6pUu0xpNz9uzaN8jWHfKu3JMLvbSdbk431HxkbKD0sKa2q9eTraes
0JUAX/Tkt1maHXUdu9G/jbloI79Pm/65E2hRD6aVlc2hSKTxqRYzYKilS8wvlWtGlMrjprbOWdeH
T1bS15i0kN5GkNzA/PIz5YDHLiwQnBH1F/qPQGnuBSNXtlXqw+idXtgG3Aoul0o6LwXYQYI6B2Lr
EUpc/jxOWnTgBj4Ht7/Va0PRtMOZwfpA6L3ZDGTeKyVAyvH1ILvk/VGvEe3CiZF3O0naK/vO2h/0
f4faHIalqRxhJszKsnrxZjBU/mVZb0UHLoBQG7uynu4goC2n2zO8Oqy15p24LGNMt3mYphlBU0mY
YU4VDpgubsIzzZN9lRx01asvnpdoQWjCJrs97pUnSwnVEJBcaMki2Lh8ibHbllPM78HsVxZ3GVro
g+rc+r84O69dyW2ma1+RAOVw2q3u3mFy8Ng+EZxe5SxKlK7+fzgH/2ephRa2AdswMLCrKZLFCqvW
eheZ+l+PLalrtTn2vFQUAIjpFKpx424aqBalh+zeeYDU9Z+ikd41sNvOPCGE2b4iCa0dONSdt3hl
cBO1ygqkcSwIlmHI1b+O8OH83qgO9eNl7X5AOKKopBA1OtvRa1uvfdgtG9g9FCVsJtvgC4rU1Uta
R0fTUnumDHYKbVRgYCDi1nsF3W/Klaa+IYx4+AhJ9nSx056xqaL6+/Gidk4jcQUdEXp55Ilb4OlY
enIyk4hsZu5AQEFncdX8iQJvM8a3PGuNL5ClOr89Nrq3X2Db1OGgu0USvF5e6ovAg24bXou55DzC
fh8ygvwf4mpKQ6RQataLPdu4Emqmwp1bltZ3nflb3FX/NJXpfXHb/OC87+0WSyFIgX+KstZmtyxv
BKA6SutcJ2P6vnZanhMzjptwQXb7+fGn27XFoJNK0gDwbot6jSKNKAJmoAMRtCEcdejVen7xLIvI
Ch+b2tslgmmYXSzGv2ncrHcpmY3JaSf8o9Fn8rrUcXLzhujNSEcKeGp2l4lrvhJnfm3FMqfaz7KZ
BWXDr7MUiNLl5nK1PWLPrvS7y39YlCqIErertHOzKCiUZ7vxBfUJ6qPvKtGTbUWFF+kHH2/vXjHI
///tqH38V3SpXh0m17EDMbF3NQynOZl2K4ABBcs1b2b/pe9K8cvjxe05Xub/gLEAG4aoYWOUqZbY
LaoFoz3zpvBvImQxpvNwbRPPe18Mfn3Uw9g7I+QnVHuUagAp13qZmZH3mdA5+klWOmHhwPlaxbp5
kNbtW+GUqPEWSAA2T9cMy/Zkuj0lnnIcXoI2A69vojvw+OvtbZkaLtMpnFG4umt4GRmiYoNpnYE0
pe9gnynOQ5F2YTXDBwxh9esURP97bPJ+YZRaTKo7oCFdKIW21TJjMBtj4vAXpAph4DTuF2O0/G+P
rdxnOqqgY5ADqB4xc6/rTerL0UwSRm0ZJfGKW9K49tOY9t3nqo2acwzo9UQf0wUEmYmD23b/SbGM
E6KgjLdiamxt2RYdvfWO9VWlN763NAu1urYVr/XQwl8UF/1VWxz/oLGnTvk6/KCSpEqPClHLJJb6
6P+6epQ34UPn9jF/NVXwHTr+CQY546ksUvH0+MvumwLUyYjQz6LZ2pQz1wZtLqASSSymsPCQDMiC
EZktWR6xONzfbYfJZZoCAV4SgNHmpg1ORl904W7nIwTICpgXukmenODQz7/notQOCrl7R1O5ETUL
SQCyxUenBhxBU0zuQnYVn+lfTk964tsHe7V3QEBkUJH6WbHZ1r6yDiI8xg7BmgR9+oHcd7ppU5ad
9WUazmna+iEzc1X4eNd2lqYCA4haGXIEK7E9lVTLB0axOSBaPL0WZpFcApi0D9zJztkg5fRp19OF
pO+3CXLQP3bLocCKKGegtl6FMC/E4R8h+8rfnMkQ4KjaCf8tZdRt522iAjW6JRfczPQopEOTnfzE
X8JACQcZdiXO0omPxpF31ufSqFddKo7IXbvPtFrgUAxBnxezGH+hkVX9AANRhmnRFwcbpjZkfaPV
fCw4C/pSdDO3GF7PKWnPLjMcYP48fbKzSV4YMvbOhU0WXbTNdGbgvXyRiFh88RPziKzxfqWMRBAw
6HRmYKBxNiFKkYyFHswIJphlPP3uu5HehhVTcZelnuMjXc9dY6pkwWa6jFtvcplyWqQuFiQi/BbO
rjad7XfdMrs30lPj9vge3M9AQD9j+z9H5qmZQs6wdl+VhvZGLeYyTKZiZOJnlBed63AJMjG/ItWT
v3Mk/EcycRgE1uQ7e/S7T49/w/1dxC49KvUyQRyzhRiAodFca4EIBw5e+aynRgP/+pJc/4MV9b4S
ZRLz2eqj/+tJIA3PoRL1kQoyxYCK8UxjlcbewY2/d9EqOGGARtX2WJW5tmINndTyihqa1VPjttJl
fDaHMX5J3WkuT0Y99AcbuPfx8F8UopkSusd+x3YPQTLAgXBpre7LYOTue1QV+oNHbm9ZHugPkCqm
4rXcfLwyI7+ol6QCLZfbT4lk5L9YagnPmYQU34iP7N2/CXzBf9nbvHRzTSeZ2ZQq9GbtfQEa6gcl
2PkpRXWHWU3/9wGVtoMCwt0SmSWm4aXgcxTrAO2td06PEHMoY1hepdnZpzETwXmyve7JVrhzI62P
QPt3lxx7DARQfkJoVaX5a3teUi39kI2cFC1JUTNp6PZYABn4lcOB7/zZ01k5T2XLUr0DDglD05vo
T+Ieawh8y7Dvxjk426h0/MpZkh+9RYzQ1qVlRadtRrO9FMGlbQLrDz3NzPLU5Xr2blgS8/tiWvCJ
zhlUuHlRUkCSI+Biuyr/gOqD31+W9Q8y+f7JcLv5MwXsEbo2q5Unre4OGpS7Xw6fRdeF15UW6frL
VQ30zpLrFKaldN9NuicuzkiG4/f9UVXp7hyqD4cZQBiKXXSLPhDSs+REvh0W7vy7M/nVH1NUzrcq
GxIw822fjWe7SI9Y7/asKiwY84/8fTf5VwXJXLuWLMNaM+ZLsMiG6QdHO0Xw5FzLQdMB6ZvG5bF/
3PuqVEiYPGY+GKjfxnMteSai1tUKMjhIyLrMnMMe4k0KhNURjHvXFF0eUGXwCJLTrTdwWvrZi4EF
hAPYr5OTOC26ZlMUIpEyv9Ufs4Gw6UHsDjBAVZvWphI/nuzJt4twmEr/5tFKC0ckmC5aniRXKyij
Xx5/xfv3VBkEtGgzgAAPxBZzoUnqayaAldCQcdadDLsOrsCcixfRafW7KV76V01mPVy8ef03dVDz
4ulZffCi7hwgrAD4YHKNtsOWsAWVrqquKz8P+zH1wi616nCRdnNypnT+EERBCze6XR0Y3dlVXCfx
IPV0Hr4tpqUvB8YVkWMK4S9EGyqLpm+L4fU0XoBHPP7Ku6YoSoHYZLqDuGy9q23FoPI8YSru9PjW
90V8HX1TfOidrni7swGnoxhF1bDTXWc+La3RtioNU2MbICm2+FetbeW5rrqjEsddiEv0o4jsAPVC
6kz6tl5VXGYKnBTlEL+UQagjcX5DFbA7O2MQ/OU6raT9Cm1qp2AKUEkdpUR7HxVYtiLoIo2gGLE2
TyhP8klCHnYQ/p5GocHa2ujm2WgicVDM2XlrAZSCdlCtAZzAxoMvXpagpyeKcLFGnfmxrvlaRIvH
5+2qJ6O0itvj87J3H6iWEv254Fkot6yXZgkKI24uizCPzeal9Bw4YBqzusLzQ/vMKEvEn7L2wPWo
RWweXYjA/8/o5tFN53IZOxg0QxlZsG6JskBCJiWMr6vce84tK7kGCNIh+IBa12+PF7xrmxIWgAsQ
CgAk1wv2DTkPo7mQrsjBel0qfTgRGTpnvbeSc1eJP/KgMl6EdI/genuHiHKxosKFrRWQydpwMKO7
pqVpEerDEj/N5L3fGb2Nz7irIwDorimitZ/PpKJpWpuimlVUjV4VDBQYn5dS977WozedF6FHBxWK
PUtWAEKW3ETR9W8WxUeTNrN6eQiiDuHtftEukwSOmUmvu7594xgZZfCdYA8c4uZmVNQCM1fH3cAP
Wj3PZda1p6Aov7Rtp92shpllHkntnJid/P7Y8t7LRf2RJgvmPebmNgGwm5LJe5ODp1s0IzSDzLq2
nd4/+zNKjqKTc4KIpf9jbJO6O5mqkY5ynH8Qqu7dVFrlzFfhFni1N+ufozRXNZM8HOwseBZmAkOf
XSXntqj+MHx4sunfHNG43aVQ+F0FL6FFRNzPytcHqUlNRJqaGZspw5/S7sVnCH/8g2La3pVkJAXO
IlXHYOJzbWVg3l4mfZDjXoX8WNnspz/L6Mpr+bsXOc1ybgev+TC7cFgcfNS9h4UZPSa66OLwhm0W
OFUj/EVdWYT2aHbN2R7S6SL7PH5ynLz7kQ3oeflBjDRW55dIrS++rh38gj2HT/YIe6/i9CAq2Sxe
5G0C82geujxyZ9JnoCGJyMJJp3qTVfbRyP/ejVUvKNE7IGqq+Wt7aeHSNNWwhyZpcfbnYAmN1s2u
SdAVBzd2b2kM/5D0Ux3i2m5MZZ30erRJCXuC1DwFyNIxyB/1T4VbzZepX+yDc3S/NPyrou6kVUZl
cdvDd+3OWKI4zsNRTl/irhcvg06gWURu++mxR9izBABDLQqOJOrA64+IVHHdBXafh2XWiNukc9mB
x49X1O3sg/NxTxmgcB78RQtavZhbvxf0lU0huCRi1VL5m9nnY4vibwrjVNdPy9eZTt7fkyzkuQ9E
ek1dR8AtVrknk9bFFeHY+sAb3vshfoxiR8UlMnu5RREWuubZw5Ljh7W0+FZXzpSfC6e3n9yJctUp
Kpv+e4wCY3wQNOzapcICzbAPvmDb2xUmjf5hzBAzHd2/pKalF+AG3jvhUAYn255DdK6tr2/fZ+Y2
ECNQpH93EPuAfpddtnUe2uhqMik45Vcvm/T3s4WOxn8wxasGQR5egDxpfaSWScT8T9nmDkjj1fHT
hRvTugiYdEe6U/f30gSfAXMOL7aC9G9cTg/xqCNsTE0Id5/GnEn3gRg3bONYfwJtZj6/fWnq1QJa
AxYUvOZ6aV3qCrMqWm5L5XxE8bE+85ZXV39IlgNLeysjUeB0KITm3Xs1V6nlM6WWU5RIFSERwwoL
6r0ntJD7r0MxVQcQOvXL14GswoUQNTOGQVa53TTbnGPNq70sdI22vY6e1n9s/c78/PbvB9RFUf2r
SfZtV94wa2r8ZZOFUJkif6gZ7sXJaXMJfM7lsam9Bf3blHJ8/yoFV6k9VMmAKb/OjY/5EKGDarnj
f7jK5FE0HwHxM6++icElT6ERI3oDU1guX4Nq8N9HnZLmRuj5T69iwLkZDpvxO2dDyYso7hX8Ftd5
vbS4r0qd5z4N6aD9HUWUbsrF8tC/YNJsjvSj5u7Ol/xJsA2ilKQfcpm1uQgqKgQH7RQWgLa/9okr
PzEX9Ta9M7CroMh+FsKI9mlWbA9gF5jo8bZYEWUzdkifRvW5hU34d5lo8gPo0qOOxM7LxzACdQUi
UW7athYG9Z6PRUudRdmdGftyzm6SeKc5OyQd2TPFg0dhgXomr9/GTTWyy+N8YMOKqOxCBB/Qna54
bMCMHPWw9h5ZVcdkjopYhWh3kzFZSc6sN043LKZIPyFbYvxlRJpdnZDbhVulUCoxKBOEiQz0WzyV
5hn+k+JWCbRKp9IVfzy+hntLV1AEnWNKarVtPdlMmk+O1qUwsmvpR2Mpovc4PRiK9PgI+LjzrHq0
R+lU0qZUBIjrc9ojeuWWS5Mylgre0vLaDgCOAGqN3O8IQREKzHUeLE9vXSCvD6AAMEbwDsBptraK
TLkufD1n0qpLg4spBdrfEofgZGl2kKLe33uLIWIwYUy+0wXeCjyA4/caPU/TsJRTcUr7dryAUkOn
pWamPzCaI66c+4sPZE9VVin2schtnsZMMNCwATb9ZemSH9R6ywuzgtrtzR+QKhG5EpeD9vIWxiFy
6RZMtSehHNDcLtushSmrR14H4ZfTY1N7C2JqlcQMxqp7qvapgm6uMrQ4JGLXQLoxkzxR5g8fW1G3
ef2UYoGqMEPnnEJO8/pEQDZKW3BMZFhBSPVZ74Ls6jqwTnXkhrec/wxJZq363LfzESJm54DwiFNd
JBpSLadNmsKMuScDFGNDXmBkXIZAXHurn/+plgypiCqfD87+rj3Kpj/HK7gCm0gPwaWodwbsRV05
A5uqi3Opi/g5MNv55hZM7x5s4P0VJ3kg0qP/Cl0je7j+tEUzwC5UEiH3WRvdGgZ1YTddzHOUQjZP
s8p+sVKRHQQte0aZTMWHkdlDMbaJJMbcIjKXUobMyFcXMxfexevRtzJcob1zzbj+nKJpdhBY3PtN
BQj+P6Pq0/8rfNHNDowEAAg6oW50rtvFf6UJNZ27oYi/PD6vu+sjTIfZn5txN4g85EU3jQ3nFVHc
+U/DmNDM8FOtuqbmrIV9yVGqau/NI2PkgUwfcuWpRcPrutlKG0ohhLoLGeYOQyp03eZQwkHOCFIW
UN9z/Le7GewRoiEeoBL5zS42YgkQzKpkmHlofRPqDMjDe+V58jLv+viD7jgAUrufNID0vXiL1nsX
RVo/1qKRYU/v5nWBWeHSRRaDRlmWGcYTTDjaLTL06n1tTdGB7R0XR3tPdcMow1AU2ZwbGNUz0QbL
xHs3fe2HYP4oWzv79niBO4cT/WTmjWFnItbYlkOImowK7dYpFImlCBZFeuN5b8I8nduDvGTncDLh
R89SOTYIBzbhTJDm+VwHeE+/ojvf5eNCRVKvXkqHfl/RZP0vWjkWB0Z31ge9ASU85UcNHtz1Bs66
tlCaSafQDWRwSqpCDyFY758yb+pPjz+l2o/1Y8H8NsPhjKVTfoFTYW3KdfrICCZG/DmR6e8aILiz
zYDUF6p4ZZhR+D+oLO3aA6kJEgfwEdWPtb0ZxEUzdcRD9uz4L2Uh0/dJETcMGcu4/LMNRHlg8P5A
skB6s4qljaR523Hq/aSdpLGModGhjBK34/CaMo938BLtWIF3TgGMFCEQZBjrZSXJkltmq4mQA8s8
MzCIF8SJqgOnvPPxKNowvwgUh1O5LRgto9ULg1c1HBNrsoiop/EWTXH+Q+tE+roYXXRQBdhZlpqP
UuwQ1Kd4Z9fLqp2pTmnqijCobf3WeKN2SY4n6+/vGGErjQjocZSdLTp58c28DdxFhIPTp5/ibohe
tG5O8cyTQTlZeJ8gMekOdmzvW8I6QZgClZNKLddLS1NNEK84AkxT6f8J829xjpmHeUpmuLazUR6R
3NzfaTIw6o6KopOZgC1Msw9ahr2ackQEqpQXM0nbl87mwFC9PSJ93Nk1+isgm6i3MYm5Rf3MIguW
fqg48tXYvrSZZdzyhJTksefYWRC3GDgYl5ga4vZBW5xM63yDBcmoKD6ZWTdcMrtGWTA5ola9twRe
BIw1U/TAZOytz6BZlXhDVhOL+Hr30e5151tQlot5Sqc2SA6WdT9MqYZ4fu4SVMm44M3rCdnWmKKY
J0ORJvUIAXilYPlL6nsnyCxIrxa6LE8iLufx5hDTwPMzpw78UVWmk8I2ulOcIhSJ/xoWzenPeTDU
36dpnv/S/D79Nif2+BdxawBQr4UH7WmmxGydism0lvDxBt1fK4b/KDDAj6GIMrYokZFhhtyK0yFM
Y+o1p0SW9fectlF8KqEoOcGszuRVMB3cq3u+AwqUVIcYJICelSO/ebwCPG5fJs0Qjkx1/ZDRosF7
PDqLcWmEmIdbKib3aitt3Ws3MXHuzpH1P83rGve05IkdHLiw+3sO8Ta5o4JwQKy+1emWCej/iQ4D
jON9+tqTKV/muCjO1pgPr3nqxQfvzZ49etKgRmiNc2bV5fxX4Gwj8Z4b2UDwVTrmuYQZ9xK0TN4m
YCdPAtWsgzfh/rJT5kaHnKwEB3P3oPYjbZWCQcgw9dIWrEPHDazyo2h5z4pylXRs6bnjqterQvwT
iDZgzHCssuBWI397pSXVHZzY+4uuqIgUpSEPNvHIJjgYl86oY6Rlw9j00wt1t+6zHbX5SecOvhkd
okwRo8LfRSN4iyHIZoDsRdAS/qMphtp0Of1eegixEpLLJzeq418eX8a9pcFNAeUSbJeKG339ARu9
tBhfIi5ubOmfO2jJs5NZ1TCVWW7x19ttqUCE40fxnpLN2lavNYIDA0HV3NvJK69fdKH4lL8ftbk6
UpXacTIcCGJVpdVEoLBZVydlhSeISd50oT9pMvBOkZnUpwYQ0nM7O/JskqZfHi9wB0YAhQnBMWzU
PAwgy9crjIxWBoOufLRsBWjFNPla5pM4JxX3y58d8TTDEPZsog537lt9ufbzaPz6+EcoG+vIWSHv
qN+C2YKidQtlkEEcLEvBjopWwNk3KeoRnoLJ//Oxnb2TQ6AMVZeaSIMhb71Wv/A8kU7YgXkzC0ta
iqei8Rt0Yxt58F33fBdEQ9jhmSVN3ZiilzBP2hzBbMY9PGVQyV2bDB6DzO9e3Xwaf3u8MnUON1+Q
qBKeGBX4WUAJ1ytbZJ6iGavy1Mox0AsFrCnSoGlP47IYT/MAI2GSiOA0WssRz9rOsVUxGBkIHoAV
b6I/gBqGWXY5IUW85CiIWwV8ESmwAcsctF/pFlYn6TXy9njBO1u5srr5vlYRz8syUXOwIP95yv1i
fjXiWJ6bQBwRuuwvUFWiFXcox2b9bVm01uoz/k3qcXqVtjuDaqkpbwieY6TTp1c/N47ELtT/dLuh
CpIKrJjuurOFTHpRLaHkMKD+y3WYouMu/hBNy9uh2byuNCVVcEWysOUmLeSkwySb8uIF8a9DkXlf
isWLrp0lzKOx05/p73ZFlPqoexNLoYWoPvO/XnPIC6JlqAHLuL1ffnSSQjyPcWSDIk7rD4aU2t/D
3A2h2Xv9C8TQ9RdryofljHPIv6Tjknw2I/fvOLGjM+FG/z8arpRgC2cOAz8WRy3HvT1nlI48je43
El+bcmgUT1ATNjyfZrIoainYwYsOhGVmptGTKO3gQsvJ+vb4TN8bpcSMH9TxxnQ+tgdtcgdnyD0P
7iq9SedT6+fNZ73S2+lEwT79ZCyzbzwLxn3igxf8/jJRjtHJ3iiJogOxRTGMowVkZKb4O8yue12G
Nngluy9OyxhFb/aLmFIzfFA600Xa0lW7gx65UuKoslmrmNv1xibUusn96Gh125/y3nJvj7/q7uJU
ngg4BHDMloRc19oOwhbBszo4U5imgXstEdE4pWZnHATs916YxdFXhbgHSDnnZnPEI2FmdsWpKQfP
vg7mkv+Ta5X/EZne/tKMDPo5A0Ogup4fQfTvnxss455ozlE8oXaytmzFVtu6ARd5bhZ5DnIZvatL
nrckmmA2qPKm+/r4q+4aRGGJ1jUVLyCra4OEru0cpCpW9r321WOE71TUWX0uO2lekxRw8GN76gFb
ew8f1lA6WMiyqAx282lj2xB21OCESzTQX9LOml4CA/6dGbmnEHqm4msNmONWj81yspfujzdbtz1V
T7f4AcCgN4lsbBatoCdI/ufa9JXjlKLtySp9HFfQDeec+Y4rI2bV+ywVw8Uw2yPU2s4hXv2A7SM7
tZpRTt4QDi1NPNojYEiGcnzXO/Jo0On+5SGSoHXF7wXQSvd5vbPSyL0ARSERonXdh3BAQmvqD0dI
hL0F4e24kFQSYYXdHthpctxmbEXYurTsoxlHM0cCGXi0f86PN2/nqKrOJ60JYhRFtb5eUMofNoYt
RKjnSKRGhp2fqglywmYu9XOiHXJI7S2NUUKiBVZGoLeJxcaqk43T6CJ08rh68jUcaTLUy/sGpObB
0u5J5CmwkHVAyEEfEFmq7bmwVBe0MwWYP8aVz4l06/wc2e1SnehpBcsJ8V/niszyXN1mU0dGPIFw
56MvEqek1SbgFgIuYYgLJeb6az5H7jvTztv8wDHufhKl2gjpnkV5XP35v95+Wm4UgopBhGY6dE9i
hJJKdsm3NC6Cr483e6dmQlyIThh8AsABqVKvTcnRj4PW4IvoddNfu75GlE6jmtt0WXNpu+RrxqjU
Db0cybXV/bMPU+4L01rdwdbsnDp+B6EDpTYSgO2z085M4IqCU1CLIohxGYtzKkwOG1mtxahi7L05
ueGJc/nARP+EqtuGamKmY1Nm8RTKJBXPnj9SqhxH6m1OpB2sbccZMzMA9BxPQca47XToZQ0eb57G
sHItJAgYD3tesjIL0RgZQqYKU8YJ9PGpXZIltMr0CHS5c5oocVOIw7bK4jaHXrhM0aa1T6MljfUX
v7D+LFHd+WXsDu/Xji8kfQP/yAWjCLxFYrdQslR6GsHaXDXWRQx5822J2vSAC2B3PWDMqS8jnEQz
eH1knbawE3LRMexkubxkyzRdkiI1qJdqzcHO7UQolGlgv2DUBXz3NvxqvaAqab6MoeMm5Xex9NVL
EQXWF8PMzdPYoElVpYY8lYP99oIU+G6qKJSkDFB2wcYFeBonCrD5GJZFa4RM2xDmtnV2mZPBOogV
dn0A4x+KFQYkD05//UEhMxb94ND064agvepGGd/KKqsvMk++DrWTfxodc3iHLyrD0V3ykwj8+ibI
hQ6+9p4PIKJmtpwxZWCSG19kCN9v/bqYwnqGEe9ULD2tJt0o5I+kssFKJzN8YY/9304OARCa0WEG
KGnrWpu7Yc+mWywZ/dygHVKa/aOFIpXrvfoz+joS6bGzFsEP9djo3jVRG0sPHHpVEuX1956ZIhSm
A51KR9Z0KlypfbHmOvv02MreNSGoVgeIKIwh8rUVL7NSx+6Qv7OG2LlE0VifljlvP0izPhou3/2K
nBueEQpFYBrWpoJ4zgSSXmOIqjGkiUbEdG0qxvoCCeQ/gyzH74VuH6X8e+vjvQJEwYnxebvWRu3S
cIRb11OoaZPkUIq+DnXhmh9E4RyJLewtkBq3zulUDYZty67olsickhmXY4yJ/+w6Q5p+aWGMdr5b
Ur1ScQ07rmNOxVFTaO9OADylDIBL4/XYhJfTMtv2AMdC2OgQ0sfE72Ez9uIqUmO6ACc8Iuc4srcJ
3SMjklaTYS9thizU2zG5FG1XX/U58K/xaB2xiO3tIoMsgAj5h9rO9S7OGqL1Yq7HUAO+9gOtPVSx
RWSLC0rg6UGD5MjW5phaksn/3AQBAPrEvEyzE7xUM/Wvek6O4Pm7pigT01WGk4ru4XpZ8WC1sELS
+7ea0vk+CPRXkrHUL1Jz3z6+R3MXsAYdN5VOb6sR+RhoU21yNmutC26w2fk3swMAEHA9ro9dyp7j
ggYHZURiaLKezeHgAfIrxxzHkBkq27hUfM9RDSAceeW9Q0giwGmHlQnc9cZ1JXlKkd32CUptN/1s
a4VLQ8HJXhrPjnv4g5ej+723XUq1lTFI0lZmndbb5SMMD1dNDFaWCO2qu8K+thVCbJEU5ttje3I4
RZ8CluJ+RoSmblyZS0Sgq8/VJUct9BsHQ1AOcLIDU3vbBTCX7ghFUZLGzWfsIt9EADgdwyAa++eK
tO6rph2qE+x+O2DkLs8oDd8tTklRuhNYJnioeJqfMrdE+codBa+NNI/68Xt+GIDZ/7e12afBqi0/
88AuQDRQ3Jhi8l89Tfp/DAUznZqeeGHGVNl/OPW06iBYAFlOlVMFif/KxoqsGVqR4aKoatT/lEbH
8FY8+NFBVLB76H9O4KqZZpA2azOjHXO7Ew4GIuEAD40itl/82OYS9yjAh7xKR+xIuzvHHJbCaigM
8uZt6YB41fHckBiMvR2drMZJXuah08j3DFz96bHz2LUGIABSSjiKEOJer88eY+Eg9glqox7d924Q
P4tWKsEe8ffbDfH9TJVFwuu2PfaRkXmGxohd6MY6FSB/9p6QAfmejLV2AEvfSw/IP0gjydRhIN+E
IO7Sdm6V8gEbNK1+aBJiAa82c0V7nV7GYdBPldSK8yKLH4+XaOwdFhUmI9UI5Q03b/0xYzfQ8nIi
04JEe3l1J1S+a2eub5kYIXkXmnMrSlt+apsx/RX6pOi1M7N0OUPVnV/qpO5vbhZbv+uRKN13hZtU
/whrnP/3+EfubbhShVZRC/3K7YGGfLzJjIA3MNAn52uWTIBrCy3+OxizI8WSvc9BXwaQBXhJ1YVY
fw6nYi619XiYqiiAlBYfcXX7GWp/E+gD8l1HM9V7S1PIFqJdgAkgTtf2hspIeU4kz3s+QyZWudkP
WxGg14P/XxJBBgppm6n8E5bLtSlubkJ7kqW5bYYMA8pP3Q+otEf3nDZIiJzfvmfqufBhA2K6a5uC
xTWTHt1sjGHb2OYLHATDU+84v6lY5sDS3paBgVOpF5gV0KbrdbmarrlFHg3A0OIe2AX61eAOGxAR
ATx0XRwbb5Z1JnShsEnlALQWScPG3Y12O/hWmgnIy2ztOS5MSKCrMVm4pEN0kHztPb0wz0FyQPFA
pSfr1ZHQe/VsY6se7fFLnruDFpISjt7BV9yxo7qsTI4xwUhLavM2eWY/VyUEtaEzWcmzU87tpYja
8rfHp2LXCjgAUDjkWnfdVQZ6yhHVYRFqIo6WSxn70TcXqHXz9oCFRtD/2dmcdao4ABMLVgMyS55m
XzYgt5L0oH13LxZB1x8WtJ9nnCbuNudw7CAdDVRgw8a0kvnFLWppnOqmwC2NbZH/qg9p/cc01514
surCICERCcP2NqCSPxCzMq2LPjv9s6HHWgJHj2fmp870x+HEiNbwu18G8ac4Fu2HIa0KMxQVJFv4
pKKKP4xdXikvOFvjaYwqazkLpmhzKg2Z/ez3ZBOXrs6Xb91cdNHBx925cGrYD44YchIKZ5sqz+RO
AMdsZHxj34c0oEznr5Zbj092nVWw889H0017h4aIkO38CSbf9hHyqLKDBjaIsHei4PNsdfYzuAvr
KHTfXRbDFMyMELezs+ubxvxxOiUFD33U2P4Vj5Z9I17TQ833x9c4TZPw8V3Ycf1qmoLGM9VHkruN
61/oKC7WwGcsNTjLuqxqn6x2RKm0kvbBju19QcVfScMHJgRC0PXSREFJBe3rgXOaO1S/yvyHRT/4
IIjZs6Lq/4qPU03xbT5go5mjqcUVzbpW134FUTplp4nS+MF320FOsUkOLR58MEH09iFzgiG3e9Mf
YJtOhR66vow/oUtlQRorUKr50HZ9PL2fumr4ilr7/GfmuppxsY0cYZPHW7i3YkI2yjmoGjF6sLkJ
huzqJUpo2UV2Np+W2DCfemHqB9WGvYMJ/RsALTVKwUjcevfaSZd6tCCH7lMF+y12yvpJyrbCrw2F
PPm5OHDSytVvWr4Q+HCviUjVv2z2MZdxXvSW1odA2amKtaM1J7eBRBQAbmpV8kybK82/BJnmFydY
/+Sfj7/q3sWggIqDoZ/CM7EJSee+6HoDcdvQSyctR09H814sL3c+MI0+H+zgri3ePA/0Psn0ltMm
cTTf1rQRpG+B89U8zYNKGQr/xjWbg3O7u41ElWponzLclmihQOXazidnCOvBHp5zO+8YvHMXNHUb
8ewozuP/8BkB78L+BlqAHsf62HSUgwln8S92P0avSa1ZiOYExouVGEfdjb2l0VRWcuhUj4DQrE2N
8BMNI2wBjA33zk2Mc3ZOGi+9en00/KJh/yBY2Ws0MMVLkUDVCpjl3RzRcfQmmE2ZfCjp7pzLUfjB
aZDytZHVEp+mspffq8We/2pKWzRQtsfuDZRD/Nm18qr6D9/5379lcz2JaHs7pgofjnwbaPCZ2IQo
2IEGJYlvb99S/B0Ql598CVvwR5JYY+uODM/A1CbQAKsMMJtZf207aV8em9pzbXAAq/unBL+2j7yh
TxnkaOS+yazl59w0p3cUXvVfH1vZ66ODk1YkDJRTFBRqc3J8u+ulJvGgXe25SKYVyVUWeh0C92fG
2PWnd46V1e+SCjRe3zozbjYScrh2ufAYYaDQcgPqXX+rIsd5HsiXD+Lve3VkIgHAsQCEIfvkjG+e
aRPSxAp2McEkWTf8Uy+Z997W51neKu7xrWl6xJDL3OvHm2nm3Tfg+MGviW3lV0R3sz/SxjJKaHGl
bx1s0J7nomdJ5miwP+SP6y9XNTAEGZS8QZ52Xnpup8h/ApLp/N4zWPsfjriiBCA34KUDFrm21WUC
pgc5kxzEmfgae/M/SFoFz22a2p8fH4idVTHJBEwY7gFm3rYXu060pKd5ArEqHs0m2J2sHtEzQjaG
A+C/P1jYzlMHKTST3DgS2rLbMVMbKtdp9BkzyiLfPrkC3vTKnrzT1DbVe2C85jXN9d9MOfUHqcPu
OhV7G3V2XvYtDMfra0ZDCyaPKENOgEic8tLCWnnTR/+IXWEvXqLKrjDRJERwl292r2IoabaMlqtc
WelTOwvUpbxGnIIM5WJt8L2zEfXT51jDiWhTiqKANb9ZpQnLtCgZ6IXXjexg67AjwE3JQGtLiMCA
Xsz9gzZbdekht/gvW0oyBh5D6UxsVXXrSFBrl/+Ps/PqjRtJ2/YvIsAcTkl2K8uWgyzPCeEZ20UW
U7GY+eu/i3PwfqNWQw0vsLsYYLyuLlZ6wh0opTX48E0xxK7wNpqxQTFzXcYozNo3EfbQx6E16wvP
0n7kTgInQqb/G/oUvBpCyKD9jzy8snv9sph0mn18Qz6jX9DczksRPfWyvgTxOXNRE3jSceawkLqc
ns0+i3KjrsGETP00xyho2HcZ7KULGcSZF35nKtCHojqw+7C8vgGcdmy7bkeejLM0volctjLp3CF4
3OaVZtQIU/TCOp6dF+u3uzAys9PwxTSLfsx6k4/p5usW15E229jOI/fXn984EJX/b5yT2AUKYI4r
MsVF2hrqOC91dlhaO0wcFRYXVL3OTskGuoMxCUnfabBZWWITpjfS9ULlMJVYIiRwqC+VFM/tQvRU
UYthK2IYclIx8h3UKJXcl8olhhd2tse17nIYV92lORnLdb36l8hV5+4zQlrKcPCikXk4GTT0W9Q3
x39LtG1za64IVA8efmKYIuQXTtnZrbiXAsAxI0Z5mjdbG1iIYaAZ5bdomzdYIlvxFnKpQaCrUtH0
/ef/YYfskkMOgQCoffv13p9DdKHFQijkdE6NUuzkJrJehk8OZpg3/8tQhF0kI0CKTylW1rqFxro3
2qy+LOHxrm3ahTI8BK1ziYh9bsVwoUI5nf9Se96fxv80o1yNMrxl7JdV13bPY7eJv7Do8O7nxsq+
vD+rc/t+j9J3zjeCI6evLPn5EIzz3h4yZfgFSnT1bKBFcGFfnJ0QhS1SVsTeSMpfT2gwDfgiA88c
ZTnjiFtHF8+lVtdzY156Y85tQSgioJLRbkCP8WRHCFxHFivk9VbVKI5opxvXlZbll80Z9RHZrezC
xXHuSNP7Z1K7Jg2f8fXUNNRygfsAMahc1SEKyuIxF8sSj/SsYsxlx9jwt+zv91ft3PdkvShvAi0i
TDkJfH1pKLXgeZKKugy/QNufcfke1V02o5D+/lDnwrD/DHWabJAXA31V1FHNMK+XY5EXxmPVBoaK
/TmPkmDw6gdsMsE8ct1F6fuDn1tM3k2kSQkZqIGf7JtNycJVBkWc3QfogUzyQ+VpMzXtdXso7PyS
mfq5wwBSC9bAXsoBr/56LW0sD1F5nYF5uyaMH9fDLb03L8k0nV08sradIMZNeRrzddg1dXVJzcgr
NnHA1qw5zLnqKD1n/YVzd25zsil3vTnqDIDEXk8ozxBmwgaTpHQbV9A363rAkbqJB+3ZR6d0sOrI
0Zt+f9HOfkUgafQ/ADQBh309aGnXthQ9NUBAeeWVGvCWgOdxqWV2bhTuYfY+9UbwHCdbI0PVw/GL
Cvj0UisAApjGrENWH96fy7m1IlRFiARIOWnwvkH/cxMvG8Rab2L3S4Q3vxWSyh5MnVXEQelfQmWd
ndFuIra3y+idn+w+itFBNfoUKwIVekfptTV0mfASi+vckSIg5Xp04CYThbye0e7PLvPRhPVjDAPy
6e4eDXj1larL+iYIWpG+/wXP1YMIBShB7ggExjx5zGjSmUAq4EJiggz6stiiq8oo/HvX2PLDnGFL
7mzKO3abNOKh9JuEdC+72uz1j13hd10Y2JhU+dB9ozH0euarGQk/qFfaNPiZ3TtuJZMaEAt2ZnhL
iKIxXqpSeBeC83MbCKWy3SME02Lg/q8HNVeVZbU/zalbtcbDZI5QEbqw+BRKkP/vf+lz+4em546K
QBvhrT16ka1hNMNYyxcdHUXUl19nPFGv3h/l3ISQlyLeQhKQkPJkQhZVIMdaIDmpzDbixpIiXY2Q
ONaI/geWGqQbWGpsn13W5OQiaTXXIo7d8OL8IYull7VxZ2XTl2qd1wv9kTMXJZ0CWuKgchDoPK2r
92VP/SvaRcJyzz86sm/itVLzEf0zDVshCBM6rpcECM88rbtRJwkOevy74cDrvTFlY1GF1sCGdAz5
ly1D57rV05g4vS5/00vbIH4WT1E2On8OrqdlB5CQxjWZ/2mTXIFsmNHCntPJKCBpIaGVtFKphKTu
x/u75c2epFi08xp3Ig5qyafRkT9hhE57TiGWXPXJ2kPib2mofnp/lDd32j4KbxwrB+qIps/rD5mX
XUORvmKUaZxvfVAzjw0uIEfixE/5ZPyxfPk+HFoLcMrZMGRyr4cTlTPrSRUqbfMwvDLMUafG5Eq8
Vi3nT08bPBmiBPSluEF4GU7eBHulSZm1g0q7aBlv3aje0n6V9R1CWpdi9P2velUh2eX/+CIwpkhP
0Rl9PStzEHVQC+IQx593mwjlxYH2S6Rcjeg6A8EbI8zS3SjK2/EcLX8s07cPT3qIvik8MQqMr4ev
Ue5qix5gT42W0YFKWfdJ1TttlKgs1U3XJq5eL4Uqby6zfVD6oTs+nwfhdM7K1DiG1aJLdyujpIdh
fmwNLDudIhPH9/fo2aFIvwGrUfRm+7yen7/x8Paeo9JgC7arXtpcLj5xu9LBeuEheHOZMStCCGQk
KYvvfjuvh9qtqfzCnlXKi2fqGD+e/rtNK3SJhXKNp9YZvCdoF/nX92d45qwDKNrBAHtCCfL19bAd
P0XPwlLpYrXID6w8eoVoh//hO+7TIu/hEQcO/XqU2VsEWTD7pJmG5srxDDsNi9CKh1lEh/9hQjsM
gCuMEumpV61YAyNyMyZkm4H65NQcUgprPkpC749zbmtQegKeyWuHJPrplAZK3XnlKrS7ivoQdvL3
MkZ5Wk/Rpc7RuZF28h16fEyIWv7rj4eEcGRQMWlT39rC6xBEStzJyLyfpKf+9I1hE9KhYo2ANux4
0NdDCTaJMQcUSTxVzHE7zeZVuC08pr1b3bz//c5c/3RA4LKzKeDAnDIp2QLFhD55k4rWH7u4XytT
PtjBPN8ANginXY+irC+s2bkx6Q4A56Ja+LYRj/mbUzBD/E37uTgUeCjFsl+22MIL+6oJw0vN8HNn
+r/jncQKS5WxmhPWn95o8VqrwUjkYq834Zg5yDDk+ZXqyksqRvt2OH0SKGuw+y2evDcWJA3vtdeb
XZPaRtMcqI+bSUV15W5ZQn9X2K7juTIDQs1QJM7i2xfO39s5wxbd/UFIJaG5BydzDgpP+0pzjzVo
id1UYnPSeYDZMYlq+GyWc3cT2ByY9zfT2yOyU1SpOZAuw5Y7VbeL7NmlH4MCA//rxNvWGLcLOUVs
IwHxx1cZe5b/UN9ARYnhXh+RsSVAY0d30P8W77mfljVevKz+XOtAXTgib1ulMCwsGCR070BUQDh+
PZb0/MrYmFmKRPhQ4CXRhzJujLb8Xi1NC+8PJ+Ck62sxJONi9Q/gyXlySwhmNi+WKL77WYlqQugC
fr1wlN6+GyTYu5XGvwSX8PT4dlNLOcT1+QyGIz9LqnWJiZfK1/fX9e2BpeMEEAJVJcoFiEa9/gAY
Qg5VHhLeSNM247IwvFgEU/RlLNWLPQ/hhSbiuUkxIDk7VQOA0fs2+0/hYFt97XaUPNPQH9yjhujd
fcB43L9Eljg3rZ0mC6MTlZI35U4K3s3GxumgGHcoiw15BSrH90XcRL147EfjUon/35Dz9aVAbYwk
aacBAvQ4RQ8j1mRSg2PXhjIXN4tY2seIpPDLYECvwZRRuV+CNYMhmE1B/5CN0fi99KM+zcqo/Sab
0L/rBxHemVNDPudE3XyjutzFJVeKT5WyitSqu4uAm317v/nRGOPuRVrkG07pHUFGwuy4hYZkOzRB
bESl+dTh+H3rYKr5GAWDed94q/OyWkZ0IbU8t0IgFHYIGpEf8q2vd8KKmNYSTg5x9eD+HhcRPUZb
1xyK0H3WAHsvVRfPDQesCG4tnccdmfx6OKcposzURZ+uOBD9bAxvuR5xt0DjwQljVHou1XfO3Jf/
KpQFXJZEMKel/aLx3WaYDI0Ahz095oO2Yqqo7o0K50ttxzPvAUPtKR7h/w7zfj01080Hs8QEB7Cp
nrZj2I3q0JgkCLei4wBXTh+mPWjQCxX+txUsRLww0OAlQrqM2tHJ3albLGV1Ceh/wzEVoSvZY7Fm
ZbOOZSWyr7mh1k+tObapnLOsw9cy6pc7z1lDFWtXVJe009++yvwc5KL3Xu/+QJxUPps+q8K+tXVq
zuP4IkcX2fSwXu61NedHSdPtex4sbXVs7bn4tDbleHz/Jj1zlniruEFNaq903fYd+J+rLeq3DJ51
34PfX8sXhbNGHORFftMFhkjCQm5fVjXO16oNLvUizuy13V+d7JS14Ik+yTDgC3rWsIx9qkIjSDt/
Fh9tU+R3IBiqp/cneXYoqjO0t/ey5SmEZ4AITUelReylwau43oQbj4D2kroAz/3+UGdOLLWfXVkm
3Oukp03TdrSg5CO2kY4mxjNXm6HngafZC8rYGtb60Nv5pbz3/SHBTr1ewlA6+C4h5olHckDf1A+z
guTQ842k2Iz1fuq95QJQ9tz3/P+TBKfwesQu8FdpGJkGmL5tqfA1/aJh3e69EhDR//A998NKP/hf
javXQ81GbxWZW/ZpREr40LR28bhNysCEei1gC1WR//H9Ac8dCCxEqHCTk3I3ncxN5b4ytwK50twe
izhrm/YmmopfhV3ojzCe19ug96JHRA8uEXnOBBlULkBbofgB/dg5CZCRNOh7p9A6zcbSvyLJ0Qky
Wn+eNEJAoyCzg4P2JvvJtbt29ej4ZN2pMNWPtqm2B8eyMtiZ63B4/0Oe2ST49NFEpeCFGsdpQbTv
VbuJiaTKz/CSRHqvS+cZVwgEbi8hQ89cooRBTIsuHwzk026+u1p2D4yyTrXjjH2yWLK70yNMPxSA
jP42RDPrOZ/m5rZxm/JejgDs3p/rW+jX3rdifOpdJMgc/tfbdAuDKWh21AJ/+YJ57/xzmijqdUbr
XmmHuo2V++FBEBHFzeBHV4Tt7oXfcOYaoAtNAktYwm94IyAmzXUZCkza3Xqujr505w9zFwFKXg5F
HVXX78/4zG79t4gJt5yjAjby9YQRPu+XrGTCaFXkd1Xr51+nsS8ujHLmMDLKvzUo0yPtPnkjqtHK
A4IQ5oRZ8PfJLP04curuIQqUuiuxOPhEFKOIA7dL9865LUWQB72cywCRq9NAbwnXfNYmJQFhede5
VmHaSPpLopDzdV/0Bo02y06XzWmPQbhUz+9/3nOLCbOYDtfeZKOe+frz2rKsdnYM+8lyNq6c4KUj
RD5WY/jbNHL7wiV77qjS/uG+A7tIYHuymGB83LwpuBQ2ts0St33T39oN4IeNJsCFbfp2SenHMwod
GJtA7JQH24aRllOH8Fo0Z+tT7ntZUmOaEYPn864QaVd07zLYThk/5P1v+hYDTRgNjInyB9pAwFBP
1rTLRD/mQvVp4Aks/crcKw72aGguWhy/q9hcbfc62GbvUIU6DA9r0FfHntSmPJZt7sbm0GkZy7EM
7Hhx8j6d3Hn4ceFH7t/6dXID7pdKBZbnFBAJj16vfOgL2RYzOqF6Eeudve0v0Vi28TgsDXpX4XC/
+Z/o86eRcOc8Nhffuy4c/cfgNr4VCB8UjXa2OZ2R1z8DJQlfQYlD7ap1/JvBmL4LSO2HdXKro4XK
6UFm26XS6dtNDyt754jsclRwcPZ//59YVGx2W4ish9eE94w8GNsyWXGFYqZ5NVsr2o/RoFd59f4H
f7v3iX1d2nYAfuiinWZ0wM0CpxrJuUe8RhKakSJZJj/70MvKu1BG+BfG8HptA9JV8opd25vGyMna
jitHIqpRnsqMwW2OmeNMUVzS62L7q3y+HQr0x69wguxIpmdQMsnU+MvfmzYm5xA5Ei0Xc/PCh3DU
uk6MYJy+z7bGg8II1/AZsVu1HrEZFkPcN2b/oZ2q8FKG+HaNWBuPD4ZuxN7pPIlSNstos0qyKUdJ
LuTOfpCAlzJ+izavoEZO9Zc/Xh6yE0IIql0UYE7TNTyS+euDUqeBdIWP8qWKnjbEDb9ob44u3oNv
LyfgbCSHtHS4ePmH1ztQlVJ6qw7wM4ca0T2UtpN53+dyxqk+zKs6fAQK482xgfPukBqVgcekV48y
Owb00eWxmncd6lVX6ptNO7GP29a38zg02/xB1AUF83HKMyooxvbojGCF4jxS0ddO2YUTU1DDbiGb
w+Cj3Jr8yzZuyo7NAKn5Yya9/EOQheP9HBqmSNuWeCjuqpy2clk5CCOCLezbgxUqD5/iDNRfMhuj
5+FTjsHf9QTVa00WNa/FccsbqWIBV1bc1mU1OnHZok2eRNViVvGK/Ft0h5OLkNhiF3I6DkYXjncT
EV7+okGC4lFgD8JGajBC5dYRZvbRWUpLXSNKhvtFY1U6oDrmh39tCs2jP86vAEVQfAGHTdmKdsTr
FQJ6aue2TxVbBEUUCxzYE28SNRrJUXSo1jw4/On+g3KEZvC/AImdwfB6PKxRfKsH+L3jTPKX3u3U
YUBn6WMzIyH//lBvjxa5KTkqskkkAGTEr4dC8V900Dq71J67+ioLrfwuWC2QV0G53kE7uZSA/9vy
en0d0ddjV3Hx7S/NabXHGVYHQBTY3jXz8C1dbb19s+VYjFcl/4f7xnGyv3s0d0VKBJuJj9XaunXS
UqrZksDPouxrGy7zV57qoo1LmsHZnau19bNVne5iHpfu2zi48mOxtFRP8kJs4SPiziT63STmm9qQ
qMWRbdlLoku/M+PBLqIcEbvIew56R7x4OGp/6SzdZLHn156Cx14tIt5gyTzrvB7bBJCM+qfBm/Sz
KRvj+zABm0M+Yg6f8x5hm1gXor+hkVttadGM+klIw/wFCh2VbhVlcouDtSFg31fjmz264zM6b/5t
1Zf2r3XCnCT13a34m/hOq4O14OYSqwqT3g9bHta0SWQXPOVT1T/D4NwoqBtZXyeqh0Z+V5dW+HWD
Vicemz43vbhmn6rP25jP+ccgc9wBLYNeblVqC7PxPmY1MuFJRNjFwUMa4LYKo+XZGXJvSAz4yi+G
roseUpYuVqpBfofkJmpBFK8wpSzTEYRZTVUjK5+qcjeYdq1sfJyRZTJj+OxrG1sTVdNjS23iy2hI
0tcGh5Ah8TN3lfE4aXG3jVE7fxyXzTgIQU/swv4+fWl3XXQiWZrmnF3oGyf7e+aYgRMGCbb4Wt1a
Q1TdQxeRQaJX/sWFwU7zk32wgKeW4AUmDHjJ14dpGASmO6NnYXVqVslSjcExzMZLoJ831cS91bM7
9PEy7QU8z3k9DN14t4O+B5lcNrlxaEKx3FFpyg6e4N6NtR0tnzPhjXf+1PXI5FahO8dVaBoS+rnV
XcK8ou2xT+y/h5pftH/nHZm9q4GfAjYRDLSLZQ2wl2gI674EY2VMNPW8SKNI7hfet1ngZuv2bkiP
xupQTBCz12zXiKZIFE2bbhlAFtgGzu5q0Op5weTdAT8152AqRDPnqR3pMoh7NWp5neHKQGVLDaad
gC8ZsiflydI5tL1d53G2FJl1KGs/OPY9VIyDhVrSRz31gj9d5fuVE1V9HM5hK46gF7cpwThybeLR
m4Lfs1l0zVXkTEV1kEZkPXFTBM2hGpbogxiy+S+tLHeLuyLziquuFcNLZcJFTSbX4HjnWc8Hn4Xf
L0nut+6PTk2gPIuuHx+zCv58LMZm9m9kI4vskNnK+F62wn8MEBDDixjea5QCkeGYScJQzqCgEH5w
O7u9k3m+TPeuOYYvre7cFc8ZXd/0+daLpNzyzjyaOly+0/kbbla9SHAhZWZ9Gd1w8GIDgs/jUor2
A12kVqaL2DCA68KwzOJxDFsnEXYgH+B8s6vopq1fSiWDW3wBCOtQkKabUsO9CmNskahfD1BcxitS
KoQ2y2rd7kRVN4DIcTxJAmR1/uIc8AttMAG3ozl6AuJsjfGJqox2PnbCXeGnhYv8jPSSZ6VT6XUE
oznGjLEOdKnSbKrzj6IhWvk0hp3+K5cmes8Cz8GvtPiaMF4ye/7eoChppI29ND9Ns9/86xaF4i0p
jTp8WQqhDSKdXpQJKAjvhSLt+nmqhvAxD3F6TVZjiP7Z+PGfF63wZUBnw/8+tJasE9Nwo6/mAvn/
0Pt5ptK12awA9FBmo8ZbOKpJgalkQ7IGmfgwWk1uJ8vQkczhTSwk0BxnKeLaX6P+ua3D/udkVOZ6
ACOvHoGZ0X5wCsu7r7fOLtNo7Gon1h0sXwCKyN2kUd/Ko64NJKE0qg/OkeZi8LMZqvUXyXvAX93Z
ozPcVKEHFXurrPE3yUSjD3m4bF89eCzr18ARmJRit270SdHo2bifV+11SZCHUqZTEfhPfd8Wn0dI
kd6dV/L1YvJmOHSb7gvURhu/qK84P+KTdqYQx7BGb4PkLRymeySY6+jWE247J1Ox+Mth29Ygj+dB
Vs2h6Wh2YHSzTs5N0y/NC4a3/RJ3QWBc5XLAIwApmvzvYmmyx3YOuwpzI2W+eI09BHHtOOJpnLdN
I31gu1BSDdJBY/b6j67hVXbi56vza9JVMMTuCHcnXhBkebTzULNFy6n6LOAc21doSVV35ZSF3n1g
ZQAkxeoq8wYDDNdLpCwLT8aiCRo78TCRvd+biH/VxmJzVpdSfmqyvay2lNvyJcMjLQPhK3wV11k5
T0m0AL9aHFt1xB+Wi+9NC8vs0ScREtfZVKgPcPD9H6qZAx0PGy4tye5HpY/I1YxT7Gg21a0rnfKj
MFxBOO6MKvgWlTI8TuZuI1/2q5+4WWlOH6DeVcWTjYVvl/RStxUKtPRwY1IiK0yNYVo+BY6twxSR
mXBAuVUtnwMaDk0yOHkGNkeEVUtL1Wdga5FFdTR0k0NxCrN8u+vdWVe39ebKf4yMdPWmkqJdD/j4
5OaxC5EpTSwhgyjN+GRbHC6LwA9qNeZPOJyK9jC4RfmIBDl4EjvHL+0W5qmviiuZqTaPW7FF9cMk
fPGbDkUQHED1r87RcEdkBIJqNX8sMw3eGO2S2Uu1VTo/ybSJgdpVOlfbSLkx2fUKP6I9UmdJp7IB
aE4wB+C9bVlRYXS9wbw1jDYSHMXNmRO5Qdx5sNl2in8bRp9UbgcfpsBy/xJFNBfXm1Kz/xFW8Fgd
uzbK62NTdebTWnrbuktUNh+COWdNMP3J8UApqo1tbVfqRtpe/cOs5aQSPEjHJ3eqw/wKv9pmuV2n
pYGk09bW81brgavZXvLbCSVPjz6F3b5Qq3Mn9KOa+blc0TCP5y0YBmzesIKetcNxaWGldMfaLcOn
SVtYby3WEHgpgOItPBh9luvYaeaC1mDfhL/1Mnoa8EHXPHMszSnGzsWobmY7M/+R7tap222srSd8
M5zxIPvWvy3R0FNXqqr6kI/U6k+Z7xM1mtr2t6dZS3FnEJoSUWQsi+iRzL4JhKq+GIVh9jyEff2j
WKbWjlWnzL8h2xZ2nGXr8KAztnk6L2h43aJb1bfQAFyvOHp5FF37y7TNhwI/Wh334HyyYz4PU5Qo
TWg8NpBJUuBx2r2Lcj2gHC/V0gH06sq9LBatf3XTjguPrGH45rbr8KHKrdWMfa2RcSzHzFS3raVQ
88ZLrPhOdOliLW9FbZsEE6Dl27mY8iJxcfxWRAWWcUt46kGsYtdv1RUme20JhbcYXdxD1xYheU8q
F5PnwXnWuuMuLLax+Al8V9ix0bmVuOnGYrXj1pmq5mPWsSw37TbZ3YMMUWv5uhFyF/ctnZQ8pquy
RVhbNnJHv+TWh3Kz6ij2nTobDyvHekrEZFUOGcEQwuyttlXH/rTS9Blnuz2ASNt6qhx9v17v+jN5
WgVt/WxWUmZx2bXqQ2+UwY/Rrflj0hceyj+LXj8oCVUiEYKb6qiKSEYxiAL5rTCkelL0IIfDVFrB
ckQ2dbYxpSkHmfA4ZWjbBwrmSOvPtkxIwfWxUmKl+CDs3IyncGF36N6bH5TVbRMwnsWa7y1rIUPc
uShu4qku+4QtN+VyS6jsk2FYY5MIIDU/FiEjJ506M0PuXZks02pq/Wh1rRlczYUu9K3yYFJ8K4qC
CC6Qo/etl6YxJLhXBi/hRtUjtb1K1nFgjxlSbEUlHpB0z8KY4vE4P3i5Owbxxt8KUrClbhENtlHF
cH0dCh6iMNw1HduQhnuoTEnSjj8n76hm5omo7eVDMK4SN6/M9D+SUIU3vT3ORtIw2k/8SQXqxgIp
jt6pnOroSntRQJ2yYb1SWxTguCw974dJ2TyKM6Wzf0AUwAGuVWnmn4NS9c5B+Y76Jq2gqmPpTtZ9
5E8ba1NbznNOdQG5H6M0rpEhMsJ0tCfXueJC7+6DbXOjuFst8xfVAg8bymUkHpjDLO2WitjJdLI8
u17CuTAT2Xm5TpQ3ezJFs8L6CV3B2JdEWOxfyylTdJTC8YiMS/PJaT2BVehqrwoMTdFtsQ2R/S+I
sjweZe+ClLYqnA54Kpo2T1ohw/nO4ZaSd+Ekl5YD3QM9QSovuN1qUNnxOnc6O3IudZfU/rA9uE1v
Z2k4imqNC6ByPK6Bq6lqADObk2oaVX41wl4eIWV0NMpBRWAXLMZwui5swwqOVtvY37yGGvAVGj+c
hG4xzSdyo6I8BFYTRvd5ifVibGbV/FA5XlneVBYvVqycAqXZjJbJZ7PX1nDIx838gZ+aNo+ZsLW+
ktXcfQvMhT4SCYT46M1kUUmXI/gWexGSdQQtK/2CwcRPSfhNeEt47cBRp05aX1G1Mvy0o11qIszu
cIAbnP2WI80aI4/9XZUNHx+sscnkWh8LxQ4GvUvCQakK7wNgHx6MlAQbjf5LFnl8nx5VoZdeIOrD
Ds3XMDHHPCSqbLy/yt4euqTCDIgbib3Ne07t5F4vneKeMXugWjadKoMSRdCtcWkP/UOzVOUUd0gh
gNTz+0oloWbzJv5Wec7RFZQP4syLQI+z9lC5GFkAc53V+HcvC7/h/qmjZ+mPIfqKkXazIsYex5dX
mT8D+6Oto0JiMWw34xKI81eiZ5dozfWnMO5m4fyjGuTCYhubqP4YGp2SX8JmiWhnIIAWxJ43LROc
PkVdv0bI8TAGTtkfWhCGXgwoHSZJDaeHOy2KsBrRm1H3VxWCJLebs0imgaqLdVV7Ze0mDsSTLd6c
ptwSuIqLlTjNOH30tnwGXQrY4lcnhF+RFhTBvW47XFLsJmwC3kEzrz5m3OXfR2/gGZHsyy0uN3+7
53ogtnZaTXyCka/9qynz7EnXTffSb7VR3zvltBoHlOYWqJcOkjU7eyVLJPTdr+a0rl0yZbPt01IK
ozspVu+JFbGcRJMLHOFf2MGhaKblWcgVkEsJgM1K3ClzZLJ4IrizlwKQOPwb9eDNKy+8LsKmgN1G
WzTNZt+tiLiUkUptjGsS9dr/7XubF915asifc0xGWP1xWl5GFDlwuhsM/bN1I2pa1uQGN1brTnYS
9o7zcXGstaHc11X3S2n2QDrLXH1xW0GsOQnJMs8DHkmJ32E1H2vHroekWVR2Z3foziVzKQcnLZa8
rpJJdPnnCbngDtSrBu9SRGi23al8nDM8avy5jSlqDp91u3goY/W5296iI+/9yoPCLdNiUOTivjUL
lHhhhbVpX/jDHOsyMr5uja3bxKNa2F7ZtRrhVY11GHuND7uWP0FJrDZJB/qpbsd4C6aFppkTqSJl
e7p/8/5lP3JDBiLWixpxCedSr/F0z4afXjeM9kNQb1V/cKLB/7V0WY1B6KYq0mmi07gvZSHTOZKU
20r8fxRvd80f2Rzcx35axmb/M3aCbWxKuesVwAfoaY8U6681K/JbgRKY+uA1SMIkEwWxb9pwAVli
+l5z0MzG4GLsR/er6eTh78BaPTwsrCHMUzktfXA/1+7w1Ix+/h1pNr9KC7KEMqZq22+3G256v9D9
H25Cwq4oqSqz+scyS3PmES6oKYw6HD/bai7E9WACsrwOM2fmAJpL87ue7VkeSqKzkipo47wsTTX9
GAPZGgl2JqaiAlNHVGCqWS/XO/FNxZ7a3C72JnfqkjEcgydDe7RIEIZ2gcNmiNiB2uyDkZsvtB4g
s4DobDrhBDHaQ8XvCueAfH8ukd9uwKD/HPAv+nuUfV6SRtGVSgFLjWW6Wg60QLo+7d9Dhm1fmlmV
vMqXfOpSIrNKUlNEOnMOMpfFwO6OelAw2bQS+OLz0ewm78VUEw0CP5JIbjpFG7R0UQOnOejF9H53
vk9OMRV7uxMlBnJvWYBtZnuVc1w3/fwMB0UUiSCI+mwsyhgIDhbjuqM5E8bw3zRv8zTK2CiRsoid
bMa5tifMf+7qzsGgfZnGn0YjuseqK8Q/ddlm35a1KP4aiZipUyP2/LWzUGVOskZsX1ecyu04dw2o
rZUbrrGDmohI7AoP74D8rIitQtgPeiXPSaFLBOZhXSxxNeGs/Emv7fBpDQtKLr3qZUlC3fEqaorP
aLHmPBAJ+t3qSxis8/+j7rya48bSNP1XOvoeNfBmYrovgERmkklvREo3CEqi4O05sL9+H6h6e4op
LnM1EXuxFxVRjBR5EjjuM69RfDOup1uOa+oI2aSML41i1j/aZqwbmEup0wXDYuaVv6DTd4t6l3GP
5k5+RkbQ/7AWadwlbKDXqakB7RWUT2rSfpWyrZcYNkyhVrVHP0Iq1/VV8lDc683ZfWzJDgc/oeTw
ommiTjYgWpwsbBuMtXxkjQVdFWvpbqjlzAXxtcyGgIZM1d1apKHpueEtEAQyvTQ+d4ld3fS6Prx4
eZMPF+1cuCNtydGxfLW14+Yi7RK3CknBkb2evLHepKL16rOctsH3lDL/wcPxsTpHR9K5RZhslZSj
5dgE5rxoaggRsLlwpSIf8lFZvqErWT3AwHXybVVVVIx7ereXjljqGHcmG1lgEFu58EVfWU9liVbO
ZmndplnrW+IOJ7BI9zVTqbo9x2+zlWaZKL6tRxzgE3cYPTG1VtSg5Jy+XTSuavjNkmIkeD8LTSdV
q6mMZnF1p9ldP59T1jDvF8Jk2nwDGXMIirRN/Zia+0KZsZjOhpIiaVCkqmDNdAp1+7LE3c7PurnS
gsRVvCKcpTGVQdcXaJzpoOqui85o533sebl7ZdIz/FHgcPtYo8jWB+O8htDJnLtncVSOGWGa2o63
bAGqQtjh9FcizqoOnWl7LIPCQwM3yPPOeLTMmnaFxAtibbgolXbRJoY8T6hgRP7YwdfdzV28tGGU
Vk5BLq1NdDnHpfk2zlP6CC63bjco7sXZJkosnAJE15sEAzTOf0TjOF3M7bB8L3LO0Uu11ka2JQxw
uSP8Hc6tpdbFfm4LZW/PatzTCbL7aFtSYa12gpjlxZsmklijWfRtExltuSnNNrvFF1a5Np3GvBc0
T1O/b23nFspy+blFrzINq9yxGl8oOn9ymrEcD2xrqMgJRzOiBjDNXBcdCaMVGBze+SaR0Qo3FnI1
jKxm+YVANntKepfL0ImUJmbTuzSu0i7r9xRFlh6Oq8GuyPOMNMuZ1Qa1RbVCKyNvCQ48K/0WGYMl
fDmAyEJXbIoLWjC6KH2Y6/Xkw9HQHwlJ7DuzmBwR9IU7ncd1o3l+41jKWTHM0jyMNrD5oS/7dF/M
evJYLlSQLhLkHNtt7MgmJb4fSEtMo7E+LyQrSYjrgOBKyETOXeK4kRfM9PofUQaysi3ss9ra9MXc
Jlu6tvEtEKkC3xSNqlRTa94O+Hz/2Won57KblJyuWq6rZwD8s5qWUsdGyEsvv9BoYElfH/L0RtE1
7vOuH0QWVrKKXmIAf43fDh2nIc7McMLcYjFLXyWEuo/wzyZ0LKpchvYQiaelqAC9dg1HhY+oYvcI
cVH5lrEAvkmgDElAkyJ6NnM9uxaSqCFYxtagIY6+y65fOop7SdpUfTjYscDQcCiL86LqlXirqUI5
dznt7BCxFLPaiMGJqn0uiqUMbHwRSr9JbW4bISztwjRl74RoFBBvkf5CYdadNNl6nR7XQdK12tlC
hZ6GQt32u4xWmOX3+A0S4pbD6FJdb2VF4cw2uZw5YokwYuB8HsfPTHfYyy6drvYIiaxF/14Cwvha
mwi8BrlWaMQBEl0LD2ECv+hRhQ/otwnH9+qoux7LJdU27IzSQctjxsrP9PrZ3NlaocYkDsnyJA1r
VIN8tmtjIxWKPUQQWp8FTj2ZT3UBiPuQYK+k+x3IkstZmT0taL1Sux6WNbXk8LGSA+DS+iFa3GRF
kejanUXwjOafadHHLYv8nC6HmwRlJpV7p0VOBM2sTL8uyHCq20gvl+8lKAf3rDar/tFN0/jGbt1t
Gjeq2E+KRlmstDudgoA55yb4As+7lN48PtOrcJs97KjyQBLUfleKmJMBF1V+Iy8V/WYZF+ERTw4S
cCgpwHXD/YMTlbtQtI2IHKjmOGZBmpkbSbgm2cMmbnJ3w8Eae1Rtxr7d16C7KBs1BQ2gGbf34qIr
jITD0hyzq9mMps8td/WdweSkfqFI/UftJkS6q1rehTS8etrxjPW1mWUNoWs2RZTIDT5TU8yxVslh
VJ2XwitIQR2WuY+NhQkvthwAATKxt8YYUdSnpm99sSeHsEHvovQbYAiUnyTanpnvINThXdLRpdrn
ViaVKfxrLHUzs0Itju9CgcoEsKS7Tqq4VP3aRj4MJ3dbxmFdtfLB9PAEO/R0NEQ4FxDnSIFt2LmN
vTSYgeB0/QJ8JG+2s0JeHaIsymWjd0m87Dyq7Y/Qo421XmyRrcwDvab9TLmq96XIYZElnRYDKoqd
0vQpgLsUfxTuDq4HO65Cc6kQFSTS04ptuuRgH0PV7T219Y12nK3tYMhSuSopOuNZ2+SFbF6bpOuS
qyl2x2g/ijQnysGn0pg5RVM918OimBQQJ0MMhrO76lP60XNgC6PtH9u+bZcdUUsTK34WGYCZvAm0
Jhp1eqLc63IyXZTm9RxMlB+XNudg6LRald0Zsd0Oka8iJVogFzq3xoOJr2511VbKpFJ84dIx90K1
IVRhm6kTWVeqojypSTmWZ9k0tngZoJ6S1ocEwYr+3taGhfhKcRe3fnXqVCeeod/HGLLxoC74fa1Y
I6n9Mqra3ppyfbxsTarntAqaofphKMOw1AH9Y5KvbdfYcfQj8hYHa2gUZYuDqHC+fcrjIpbfXY27
80p168gOJlTlp0/0WTr1oRzsfMiCyLNL7XOtNJZqb4uC5uA+0oaBLrIwFnf5rkz1iuAhhkteKrCy
+Y5hOtqI8eq0PXMlYjzwbJiKyubWHGTxQZ9ROtMU3+1MgepTDSKBqgutFFQect4ObAnRO9Z+sJZe
uS8tvSbS6MfGcp5ENHQzmGaptmwpC6CF+9VuDdv52ttu7shdSoM0TnxzsrNGUHVKzfK5cbllvnuk
q6j/uZORHqY0LeS1NbfaiqlNCqS9YbxEzmHq4GjsUmMYyguVrNzcubhnjGFBzXy5tRu+f+2rLj0C
9Plx6Psep/FUPNiJqkxfonni2qBJMnv7jvXNo9la7u2oh/fDmSYHrsxE1emhUFIbu/NZ6dFutoWT
D3tRjviEyKpIR67KXmRXIKCSdluPTl+fd4u6ZOFglUb+BWmPqCW3FW4XUu401X0HtmTxs4r4dWMo
c+nQxKDAEsyWWbnPOTvmDnnAbLoQs0UKs6jcr6GcJLIIyDrPn/t4Sl67adG6M5tDIN9MZh59VuKu
Vv1YGcZHq6IKvJ1UD8/4ujR6H/Z8gYkS158ZImiW119ikUcOCZbhTfu44R8F3BtzdBazXb73Vpvh
2wG4ed6BxNQeYRxRV7Io1nt+71F782HRKDe0UONik7vZ8mVunfoOOrT2MLux6pAliTQUbZJWdA+I
Ef2khWjr0ztJLivy7RsXRCPIZVOUlh/ZUfJFYhiiBYPVycFHLHR+LvVlHglkB1XdaL3efpsLS30e
+3w6V9CzLsDB1PZZL9C0JzOzQ8VgX2BimZ8ZWdYCEpDLBf2foQjreDAPNbtn9Be9p2/TzBEGvGY6
5heFgwnmaEo6D7HRNKU/JHoj6c+VgDAaCj9fy0WbHpq6cSiZOsVQbdoCPPtmSWj53mWciA+q0gmK
0WUDQq63nGSmoWGAOig0G5RHwtt9SFvoJJu8HrpngEbuXZSXWr6Nq8hx7mpMvZ9aDCtB6JiT9d2r
h3ymAGMJ8ujZKqvAGqc87GJvWrUdcgct5jinrDZOuNxeCKmNyHUUbXk2qGOyH0Ev15cW3KWUPNri
+va6ivoFynI0atCdpN4z6mpyAWfdKoKmj7KYerPAn5eLv6Lj2UaO6beW031pY+6mcJpLABwZ+Tq3
ce7hbNsv0bynlBWbG+GKMjkAn1JKnAvTsgjTaOkfF/ABIiR3nL+WtpZ8yxTsr3wCTHFuxI2pbee2
Tb90cgSf7CZJdiMbM6Vnqbs1QMV5kbRXpN4dyJfIWZHc9y5XPkMcaKWdyABoDw0Yuqq0eeVQYW7Q
lPiq+hiKCi6roTAVv40WeZ8kpMO+mtfI4ztEOt3GnObpRmbG0PBKJkv1E06gxY87p+DE0zwQVvEg
OM49DwX1nUYZ84mOPpCHIUeAOmBZUqzOlrQ5xBMhVjjA1Rk43FbTQWtJ2895a5gPqjdFhc+xz7rR
xSz1C6XputRXaQE9x7GwC3I8AYa7Fh2tZA4jN9lilppse7VR+sCha6VtC80Tt5aIlxXsZ+mXddzZ
N0jroPha1hzivrLk7hwm6TzfpGBx7420bctD59l1EkbmkMVBC9pAhpEVxS5NHoKMrdvRDl/rBpTy
B6uPG+qXmtVuNb3Mym3fmB6FHxJACq9yGoJ+1vovFXevGRQaOjhPcCqqZdOqgN2otSVOHKqJl6KD
7hjiQPdkrp+1bHHTcDEV98WphWsELR4JQ8jmRjwhK5EDxkhOeOZZq9bycphwsAqQQqKy7pZlda7X
CmXrRCOT2xIg6J9aa+heOUPpauWpulaIqGarpJ+T5gZdhtnzY5Z1yz4DQ1FQd1XoyYIHyh+7pLMe
tAlp4oPGfXe7lJpNPPAxKvMXIBnwcHSVXFSPVGK6Y9GjqpBzT1BF7bXJum05JdbZkJ0c5ZgNi94v
ckdIfqNP56F5dAR9J0lp7XKp3KBpqDs7BbNv1RpgpxwwxzQbcZAiP37i0X4B5K2D/sR/QsGkirh+
/he8fR9r3EQRstQmLsIHJJPr+xongV1J7/73h8IVGXQu6lHcKscMLRR4tGLOGydoNAAFhpvKXWzn
/S7R2uqEVskxjHaVTl5d2H96P6BHdwTJS8amYtsNbhBl4OrzCFOE3CnTHXshB7FZff3t9bEChLGc
Rt4MJODRzOVzs0RARzxwA7N+VizDdOZyjp54f+89FAhmOKw6Qqi/rA/o7KWTT5kXANnDT3YE8W1E
Wr4pBot2b9ZZJ+CT7ywNDZt2nTgedgQd+rdLQwcRLgQk/8Cz26+pqeabeARTnvb1KV2Qd/YXvmUq
YlWc6yzGI1QolLi2aZXUCyiAdPcAAZzLgqj3xPv7Kb/xBhbJqvDg5bEgbIQVjnm5jdVZJIdMkyKp
20dVb13qY0QFWsd5DlMBzszWHQKts5ygjVQyuRbMS5knxg48jbk2GPtQBy9z//vLx7PAfZtco7Bq
jvDsZHsOVA1etOiAzwepB2wFxJaByc7HA/0KVYXhta5TdBNNHJ+No5H0LIHOjclpACJH3UgtpUKo
JBAbuHK2SPfqzK5uJb4BkDiwlFrbdKCf/GVsTql9/rq4DLQjaXwBzuVg9Y52qJJogv4KOb+S5NNX
mix0QGd0FJ6h4qWnTKd/PVkZbKUoGqtSPY//diVnmdAieiFUyBzNvWyc6qVpbIXGFWcq7Atzk8fD
eILo8+6Yq5AHu3UFPB+NaU9upxD9s3uswdo2GHcFbW8629Jrmo0S23OgaqW2/XiC1z/6doXzoNgX
s5qAIkPPefugQE4ms81pPEkqHzDdAcKDBJy3q3mnL828DXWtBW9a9afMf9+dz9VXZGXfOvCD3o5c
mS1inOXksXpF/ziJafo0GwV113Eay+uPn/LX4wKC7+oUwmXJ5XWsL5MaImuG1vPWXo27U8e53WkL
nYaPR3nviSzSX4hHnBbasTYBOXxEzdXhuJ2sDj5xTWerr8rDDHr+xHX13lqxdHhhUE2dtVv09uUt
uSdaB7WmwAPTdTXJOboyQQh91lBrUMOlMqPRJ2LIrPDjR3zvRSKWhxAt1oqQbNdX8JfLX8lUiqU9
afAy6uWXQsfualN40hg3H49zTKTVOHagXTrQPS0ajcbRTSIUDc+E2fYgGkAkRDWWHZdJbUP7IgfV
mhEyjr31vQMqeTUabnLiMX+9OEHWwARAKsZERfXYB74fdPq3dJ+DCHHtwETk3c/w/NvIMUMIUZWn
5PreWzkIPK7KrQZF/mM1zgSJjmyG5Bq4vTpscYi5jfAQ2lSp7Z440E+NdPRi0Rtd0rnlxcZ2DWO1
1DCKyPJoU2IEevbxHL471GrWqiNqgTTZ0Qan9hXFXWR6gamk5ldkLHCiMNLmU5MmpwzL35sv6BT/
HuroliIcsXu6Ul4wJB761noe49dIsQjDbwvYJiaTHz/a8ampgxlcKd5wvFdRaOtoPDIhhN/6vA9H
ZdR2cJMmsFuzt81XzwHDmIatE1PvMeZCnDjJjl/qz5EREoJxuF7Hx8zGTO9hPOp6H7oid3+Ude2d
5fSHEdTX6hN78L2hkFdUOZuRJrTMozPGRrC/mKXaQ6kd3B8A780A0sSDHDrlVE5xPH/rU0EmW9WE
URXm1n17rBRF3+lpDNZVMaZL2jPap64cO59Ohn1XuMUpztzx6clwK3UXHRmQjahjHj2ZJvu4zFxv
CCclBUlpuzvrJ7UCpgUd1rrme9DqOzFzx0faOijHCRGbuWaF3lHImlpDK50a/KZLR/RCV6x8PyBU
8tjBJN4SbVghFaH6POlb9yWZp/H+t5cs4QyzSC5l8MxHG3+I6bh1cynDcu7kTubbur4zyri/KRPX
CunL1mBK6lMP/c4agrfPFllNWB04VW8ndugJ/RlEhnmX0dSxdWUJiF3tH3GXgjb4+BHfm9aVq2+6
q1oui+ntYG0PdITYTIYWyoyBV9rjVd0l4ibS5mQrW9BoSlOrJ6ZVe2ftarxXhwWlYgpyLG5epE6s
xnkjwat3+pVOjZcWjWvLr4WsvX07jOODkyz5eSaFfks+WDxRQTbCFj5vi28OfbXIK1PKWJA6wqiO
DF/DZfxU9PzutwTCtuoMAkI9XvITGT320hnQZRX6XivdxWeVWPuuUMS+s63i28dz8TPY+WtguS53
B0YMfHWQDuov4Z0A0tjNUx8mkMigLk7Oo/T64X6se+Mq1SkT63GUPniC+m/RTtUBu9V0A+0pOuRp
IfaDU4/e9sSXWhf5L1+KxNREUxJ9mWN1mY4iqZ6gwB7mjV0eKNuVWwdv9L0Tp/mmEfMS1EJal0Jd
mtAqavDfTHrY9ki248han4gX31uvuNa4hN6oS5jH2j0g/+Oo1mlRL2NSHgCcy20j3eGa/Opr3sQO
PaqpPbFc3xsTjQjCYURmucCObi7EOtVFGWMZQinKQMzow9rKks5tNrtD7tP8oxxRRqZz4jJ5d1ws
B1aNS2ANx45qGl30JaFMh7G5YdN/kNUqPNvjVEo3JoFnq6gol+WteWLK3x0XWcT14IP5fTzjtUym
tLcqGap6YeydLLdtoMgyO0TQxDdDPWs0VWChnTiK1td4vNDYbdxqCGoj/Xik2TACCe51A4oIUpvD
Y5pOYqP3tvX48Xp+50rBIwieOXsapclj4QHwp4UlvUWEdldnoYdM0Rl8AkAYIv4Bz3kIhD7pAdGC
gVRrb5yI7955tToTic+nqQH3Ow5FCB3mLtcSllKR2YfMBm7vYu+0I2gVoax04H+tOKWw8845xqCU
YwgUVtr70frlckOo1uMa63t60M6cc2HPFOVzJ0oDxxqH39+jaCPp672NMbN6fG26YhVstl0ZmsWs
HIQtutsENHC9VSFVpoFayHg7e8588/HMvvduKe8Q5fFiddya315lEqqFBQJfhkq/yN1ca+VeWo0a
Qst1b3Qw7jALu/n2fzCoSbVjdTJaw+m3gzalSNXC4rK286Q+TCZ18861lG9x00w7tdKv8N+d8xM7
5Z0IgciAJazzHnUU/N8OOkeZYxdmJMM6KgVFcqO/l7MLCdfwOrirHz/hO3E7zhiQnVm1q5/QcTgi
dX3oh5EYbIaMbMA7O7fGxbhX6IP6Erp3YKDxvZX50j1/PPIvpUTuQxqpeMyuSlurM+7b51SrhVt/
9sAjUTygvzG3Vy1NzB+QNuZt0hgYqBpNZ31zm6iB7A6uGTCIoqvnBd7gj3RzxkOjj1WyARUFx+Dj
b/feruKmZmNR5SSvOJoEaxhVhZObe9EF7ObKGuQ/mIhLOuuqH8XD70oB/nwZFL8p4RKmYbbx9mXM
ias5bUsWkwCw9C2J3IFOJXOX6lL//QtgVRYGbIppm4oBzduh6DUZIoFIFkbg0ndEwZ8qdvmOA4Z0
xuusa08v8/D3XyeWuQjlIcGPi8/RRoILV9sAv/sQM3DKB1rVX49pNYdeBDDFxDbu7uPx3jstEOVz
PYP4zsVQ6u0zupW61MNcDeFgRup+SnoN0r2Qj9AmNWj5WsQcauOJCO+9NYMSKj4wSGSuKotvBx3S
BHFFaAghVXEjsL0WYFqRKhtwhcoqYWCcmMh3DgoDVLFpMJ14iRyP17gcwHStx9Ca4/yysdLuqdPN
eUeFLf/88ft859GoqiMdx/NRALbXz/9S5bIWqp/Lko10MUFvOm7rQD+2IS4qPYBxlOaXE1HZOwOa
sLO5w2kVrlqAbwesahPSCvyKMG/jaFvZ42tppvoe0zVQzQC7T6zPd14l8psoA9MgRoPiOFGiD9/T
NlbHUHBmhQAD8x2wCBNEun1KdfynCtxRJLSGQXipIQtGffno3LMTkGd2Ok2hzJJ5bxmoHbSp0t9i
Wqxt7FEKElK1ukl7oZ6LBkqOJbzlWh37+EuKhPZX2OAmyghGtx9WPxfHsKL7OOr6K5c08Jz1kO0r
eC/7OM7lKTmzn7Jyv3z5NW2lDGn96pS1aAZmnMDnQqsTNQijCO6WpU/WAbO76qkGCEIQO0/xs8d1
fFa3KTolII2UV2nUKTwShATE5uO1+c4VRn+ANptGqOPQAHu7VFSlRki1Y6lotlTAKpXuqtY0oOIC
IAxpi3y/KJ6AlFkbJzb8eyNTrae0TXcCZaPjU8bqcY1P4inMVOc7fhUm8foir2CiW6Em9eLJFkPq
j8LrTwSa7yxXmiK0oMjYWK66/vaRYwhjlWy0KURNPQGdZuc+boNGaLX45n38dt85SdHpXsehOo4e
ytEzGrKIDW7DCa2HaMX2m2O5A+gz+U0/gY2cl27vtPpw4gHf2f7rSYODBXGBqh9X1WfN6ru8hhDf
zCiiqABqgXoj87FfxqniBEASpAk+ftBf3imrmfjSWrsVFPiOExSQA7U2uf3M7kvFldCSaqfX5rgD
iXmqh/jeUCxYlC0IYtxfTO2arBjszEE/Y8VsnkPXS/18cIEpUeM+Ece8NxTKVAYz6NoWgcXblVJp
zZy5tjKHUIip2Zed2QcWmJcElNNYnFgr6y3+5nBAdJBSJTrrlFzB7R7tRBdqDUBa5BZS0NZXALgz
G9pcjXDLx1P1y75jHNKs1WdERdP92JISQsMI6UVH1mHGwReh5vg8tRrMkCCMwZ7BOzjpe/vcm8A5
fzzyL7thlVW0CZQ5wElEfkpj/uUetHMPJYO1og7xtd3LXjShgJ+5kb0yb6mNz0+qVozbjwd9Zw4t
6nfGqkZLXnBsrZUgsQfdVQPCBBgO+Q09vatminqOBGr7PxnKwMpgfTgip7fLxYY5p4GBXNFSEvtb
S9DPR74OgL3n/Nmw+49v03/Gr/XNn+tC/PO/+Plb3cwohCXy6Md/Xjev1b3sXl/l5UvzX+uv/vuf
vv3Ff16m37pa1D/k8b9680v8/X+Nv3mRL29+gFABy+i2f+3mu1cBD+jnAHzT9V/+3374t9effwWt
9td//P1b3Vdy/WtxWld//9dHZ9//8fef9g//8de//68Pr15Kfu/8BWWJby+//Mbri5D/+Lvi2H9g
iUh/Bqk9gFI/Y+Xx9c+P3D/A/eoUbtZVSFOM3VzVnUwY0/2DSxBTGpuQkEBtvbhF3f/8yPmDk5Sa
PW0ZLioHY9z//d3ezNJ/z9rfkCG6qdNKCv7wT6TWf+9ywAZkQ5RX6LKud653HFvrCCz0HvijLdyy
doDFo6cvMPWQLF/BsyncmArdIEEd6K6Gt9n7GthsPMQBnM00MOZWBqY6TEZQwuuafFXRkKjtkyW6
rIrEuZCog8Fc8uxsoTvmYr2CS8seMGtf+WM/zI+V5y3E703b6xCLhvypkQ7IegKu8yRKyru5yAy0
DKRjzzADXBwtR6uYTEjPJhS1IppWLlrrpHG4kPUjhBNbxqeyYwNuKtz6LooIfZO2aDyoh5HNF0S9
8hrNGWCfVT4gLKrQWst2rSW0GzGqpbdPjHL6ZLtKAf/Fk0vrt7nal0HZjkAsUzE7gC4V96qONRw/
kdabXjn3pwZ2Wzk9aplLhqLlMGnVRcvP+LFEEAEY6FOct/pXKrEQ5mCqpi+9biMGgcRSrAVWbOlp
CM13ykLK4+qnuVfMp1ykZbof6YZ/dUA5HsxxtKBlOxVccLUpWnJ6A7NbwKmu8qBZUY+4fW3nz/Qr
zPGsymYyI6T1mBxhuNlz4whl8WdM7C1gwarQV6/JCNKGhElKhqMpX7wpQ10W/TLL3Ma0xUICU+el
VnS38ksllc8gRJJvUcT6hInRRNf6WEP3iWa9owa3ePKL1lJ39xcOXdYOTYXlYoCC/awAXgiEPbjD
JtXyrKcNJa0JqrACJtZUoMcqpSVIWWnNvw5tP6UB1wUqDgPEs60QVvo86NCTQjtW9AC1DMP+qbFV
bZEMLKH4KCgnQ2lPumSLiJF5C2ViKlGNRUDWnM1RgvgtF1QxfueEXXcP6D3+A3uBVbXpHSU2WS1s
lb+LnAzuc2HKJBI/m/oWt4PsxFDr3f5mo7I96VWSQtHSAwx5VMMocNKMOw3ZU8RMbxRnyRBcWUuS
VqeEgktsI9t0uGj43xstU8f/p+f79fDayb57/RsXgfjbtq++v0iO1f8fTnte+//5sPdrKcaX6u1p
z2/8edjr3h/gK8ndySqp+fwEWf551mveH2jnUiznxuc+4Yz591GPTMgfjoONA9cD1WYER4me/3XW
K7r9Bxq/qwK5ToeadPY3D/ufQrB/WURAPmhWUknH1Y2+JWXftxHB6ErsEiVYZKtDR3rD7hb5VwBn
GHGYhQabzrTzGCnwCHnUa2VWa9vzPUu4/Q1A3zTdWK0ya5saCZNiE/MS1Mu0BCjgezF6c9CdUO8O
k1Iv+ou4j3PvXJWicNHlGtZqzUQH48xAeOEp7bVJ7G3sFaJLqizFizrCCA+qIYEEWlIDfqFOWYKH
9vqbaHLNF0y6khDUav6cQgvb2iM8Mczg8s/mUFmoQ0TlVw/5rGCZUnfjOiiuKbGXPkdTpPmOJtWN
VXjGk4LCwZdUoAFntn1x0xWQNag2UfxWp5I3gEaxb4CtvnHngXL7zJSm/mwrSsCs5egIOTRSek7m
B/R12msk8CLgQYgs3mJ65B5KL7V2iHNMV061NieWjApz1gsHhcfBuNIoBgyB2072d7UVnz2dc99R
K4m6ccfdE49QMp1x9eeEVhZSOK7RK+3bCVuEvBwC2UbauUr5GhkUu3avsfJMv4Lw5rh2igerqZKz
KpniB49yNjD81o33hj2i1z6n7mM6qPxeB9MptNzoR+c2q3IEIoP9MvpMbX8u6EUE8JphQySedabA
s9zhlZo/2sa4VSCpJ6RPAiPrWIOGj9wRNHdri+Zie4CMW+6YMAWXXyEec9lq10mkXaZ1/ohtINoN
s9t5GyRD4k+oSEUHRPpMGMmIKH7vUMDaKMht7alFrFy4tV9Kq2Xqfa5HhLIyB4FQvhv3KdSHayGG
6Vw4zNZUID3k142XnKHoo/jARpR7VIsS1EY0VLLMLA+byq53XpIsWwyb0IOYVescmUvUD9yBCH+l
2w2px3jiyo7B9vdGslJ3s13sNNoZuH5n4w7GJZ1MZUO2MF94rX2FFqRxUOFb4o00I4otOn0ngYpd
RvrYPFSZU17hZ5t9X0xIiv4s+vKskOmAIt+cwlBI2k92Vah3S9US13hu8k2Ist2Ixch2VQVHWVZq
dtXaGgtQ0Q8dr+0mNVxxJtBkCRJlQcVuzlMEGMuLJS+bfRVrqFu7fQYZakRxZ4UHBW2uI/MXQS2F
YWIjigdTnjYawVLiJeIBMKF21yqjDqs9bnd6Oj+iMhz76MHbKFZBYtkUbnXel5Z2WBRob5WufRkR
6jqTQETvoswbZ6oHhYVPIzq7Y9FM1+jnQERNjGyjKoMF0V7dLZjLX0vFqrYDIlWXEdZj18ilLleV
0qL5YFjisKQqEnZN6Znf69iElaUKTC3bKT20aYLCkiOeNTiYYd3mLtDNubrMIJ1CFrE/xSTJ0yGO
vSIO0D6R7nZi6s9jVTHIcdq5OYOu84BUIvIhCLg5BAbx9CyXmqgoXSsDLVOe4KvwxZ30AmQ8vya7
qmPtTDJAd4G9RSi3iVTr2k2m0k/zZMSpUY+DKK6EC3Gzy86iDl8/m9rd02j3xnk7auYhh0EeaCI3
0H+LQtXpvsNo+5pqjXPTzn2yLRUrDagGwkQV4PI/TZAL5l3ncTgCPczLvTLCaKtWWseI4JGGOMW6
wSxZbzp0QpCVSRFJhBRlaXtvUKuX3EShH7UED7SbaV9Gw1CoG7ToAUwnaavdIWCBNkrDW+vyMB8c
7QIKNOeNbghT0Idn6m4nNJbgucEa840RtBXd161R95fTkOxFrTZ7vWvOiiK/VsBv+MiuZ3s9nrWd
VsLzSudPTTyctxoKmIwBQXigHeB8Nc3mPDOTLaHgNpNUf1pz3qtFchWvkolDXdxLQ06EckATinaj
orbJpzuhqUghRPxc7wuidpRBvpnpPTpacE6tz+1CCylWt5BzdvWgXyL5vK2yJXCLMjTQTasz94CH
mV+axWEojUM01TvY3NC9uh1StGdz1uwSUV25ne47mDE2g4dyqLGtqHzPxhxWyJh7XsKBAQQeLRxf
k+CHmgnZJ1WIc8WyWl8z0CDIlejOyCaOA6rZXD19FV2MRb0hQL2RwMigS5kPHGmI7iga7FjuLVxU
ybGg91c5ZltOb8+3RjkaftQ3Rog+8G074kQ6uNU1kfQFsmb3eZlvu//F3Jksx41kXfpV+gVQhnnY
BhATJ5GUKInawKSUhHlwTA74vp+sX6w/qNLqJ4PRDMta9abSyrKKHgAcDvd7z/lO2e07Le8iUenm
wdFL+64snfSnZtpKXWWFNB6Mjs9rqpEKVfux+yTIdQ+2hVE8USBLD2UnWfYQqEFOcZchnFg+d53M
qp0TlNp2gFUSdonnbOm4/zZrGGJTFeghiumb2k7+al0WEbeRoOTS2A4nOBDHYJY/4jkfbuNUJ19o
7KxjIdL4gzs3eAYx2YY1gq/ZD+pwTgeMAui3dkFuX7EQoiGSwtxkbS8jvSOKtEmxZQYfGg8k/ziM
aVRofhMJrHN0Tj2xXfFnX4dh+hmr5tbI5qPnF+MPVVu8EcGHylLmIZZBtwP6+tHR448ONv6Q7cr3
ATc3lbIJKFDpFlg3rJBVEx6E2MlcuzNmXd2WnreEENceJr6EgQNRba5ZPsCqf8mnKYnmybsal/6K
HI4HWDI3Qposi1N58EcrxiasV19k1WQR+wZ5GERR34p68b5LmutXZSDqfTzEfYe/bs52lihJFx9G
4zm1MfG5LNtIY5Jx61WYTaup9X/3RmveuFWFv1Bkxdd01LVn6cGrSwXFxdGvofg1gf0r4ye5tW4e
BzECarLIkaodfKsc/77Fk4kNWR+NrSP1Um5Gr6z3pGc8G3PigKOJP8oyMKEKsd5RtLWLzbJGwjZQ
Zzj5N9U9/CpsiOOwwx6RAU9RX9BxyTDoSlCRatNOjvZtUD2rntVtePac81R+VfbdEdnfMybCna8L
znl+v0tnUYZ5bz04qjLvqty6AevBER6R6V6DIrINTO1330r7NlHyUenFIyrQln0JmGyjvR5Kdwcg
OprToPidU/cNNQXdLraAxSeZ2udT0ByKafKidGXrBQir2cYNwWYQ+vLUZ+SGFCVbL7ovcjMY1rNv
VL+dODd3ApnkAfLQteu1QSgr8cXNMwc3ZEOuYc5Bf4wrsLhtgXRrsnXBNaVde9vGc3mlSiqFnpKf
TJNNk1vZ3wknmKkC9OpYTPoceRCotMl4THv/AwkaOAJjYSw3Xer1973ndbtiSI0te+AyErHm7gu/
aH4mpurK0NDT5cnQh0CGLhkD353V5jb5pQVDJ6l6i+y85aaZ5+EBhi1K+MwWeoiT/7MZw/RzfGlh
1zTVcdEm/vsoIaEdMHpDBNMSOihx72gUOUkv3GY8UxCBYlroxLsCS0ZVpQlFAuGCo0LM9FCD5ftm
awkDmsr/EOdFdzs4NqATOcd3iTsrnKylsg6w55QEoe3Wt/1iim/6LNN0wy73WHj6yNcIop5IdSaa
GWOBNjT/RtOAIoHHYG6DVbD2ld+KHVtt72r28q95NdBwMQ1l7PvJNq57I7G/9gBc2HiV7ibDH76b
s6rf+ml2D8KU3tU8/5jlaByKfJ7r+2QY9DaCOelPn+kGaPm+HTCBF5rmyivVdT2yjylv7rplXK5H
w9Ac0KBw66cE8mHt9Xswksr4CQyuP2hBls63xmAgZKDr/Ui8QyUPAHhJirBpnjylPvmY9Ppr4/sU
iPRzacXQ4jRyj29oKxEUvrFheewrL0m6n5aGUGsjC42Hv5AhUm6pAefWFYWmzL1tGuBV16zVnbZn
GafprGVwYwBmNZwoFhKKy1BNgw6fQl/0GG6Ia+f6zvR64WyazBXBl3oWfv+4RqHIcDXBaI8zeOb2
QBWQ3MDNXJsZLNXOdcUWZrIGInPMWvNrMdNiA53hEyPYOTGE3xFu5Ld5bv1+44Ek7SKYC0l69Pjs
mPeTrSisVGrp4QvbCyeyDQQ4VJiKPI+WFzZJ9TAuHOeHrcfVJ2Fq3XR0XVaaj2KqYvOOoyWfaU+4
hbypFxh1G7RGhZj4zHbT93psanCVMcZ16HlB1V5ZqeY0R9VZPv3SDJabWgB8XxVT0Y7XRGdlWwt+
Z9OhD9yojly/jZVgXe9qjaMLEVK/UBEkR2swih9lWgeUrMzpATqMc/SX2r1PK18PG1R7O54P8eMe
NOJ4csEMwXAOIloi6f1sTuWnLPEpv6Qh0/KIhIi8mVSB0dR6HbCp9lSX2germnZmYbjH2Oq9gyi8
yIJ0/IHPBuytmvNrlXZf8xJihzsKsW0QtG2KYMR2Z4jHMcsGOiBNcAfQu/raNEBM+t4/wK/8XM8W
/FLNIzfHbox7MwZqCBb2Y1nxO7u2eqLk12wr8O9wGK6CKgnCfJT3Ax4T2bbGziq1a6PoYn6u9ak3
jTC3oQAYfflZui2YFADjWxUII9Qb+4Ggq+duhalbbhyiWsCB3ELzKYZfaEC2c7N8ljK4k0v+JYbO
g4l+nAcqBvlnHvXzINL7tHE44Gnie0mXYSiOTj38levNAfr8jVIVEI28f3ZzHgBWqWoAHpd64eTK
VdghjjkBb5s81T6btf4oen2XTsaHMeiMzYBpOg7kLz2AQ9kmQXNnav1Hu1SwhPTqns7mY6HErSHI
UekJ7w1VO93OcX9NTvL9MJN00OjDb0ieG0cUVwV15BvshexCIScUDexuDSJqIqYH1ZRfl8D/xnlc
HqwiProCIovncibiNQRCuF8/gnV2qMTvPAYT4sb3BFrcJnRwYQfuWHyhUOruN/AM1+lYQpoPQL8q
2v5anO8pEkdJ6eMf4X44y5EYxeclSDc1vvHnJSWnIZbZkQCi59LP/7IBzl7DnftGxYMUBQF6rRqi
aknU1oS+PCemjtZ92pOz+l2L0zLSYIhuOhfk4KRLe7NYzaHjK9gmwx0MMRgck6m+Dyt2J6tzfjec
KYkX7jhCItoI3aVerywc+/xkCAobs6+fIc40m4Wj6sb3y59dpu1QoYI8Z0EPTSO/nkv9xvdAf9JV
wK3frqVjY0o2uvUovfypLpyHPp+ouDvdQzaZnPF97rLvHr0gOyLIOfgwxkg9C4vW9vb+UH5s0XAP
EOXwKe6T3PxIdvodZNy7vJg/z2QAPZVjtS2zOPJMIqTwwFv6FCE1vkILfWxabZ+tfW3yF6Bml1EH
L2GGhZnIvt7rpryehvjQxcuVPw6c5oun0tQBuJZbw06OdVB/NH1ILbEsr4yO6O7Jzm4o1V7Rsd/r
mX20eu0pprkEVyL7Ndu9jchFWXvdHq7ipd4mZvBoLXF/SBdecL7zgihheyuMwtnw4ofl0t37SvM/
TK74QOXkSJHma95nP2M2hopPNHK1Ir7LLHu80SXFeb7iMAYX6zpozfqgm17U4Rd/JOvCiJCgyBW5
GtxLCVN8ymuiefTe3XKO+jzP4F1X+dEmg64RWfFQPZQp6HDfbK+zjs9vR4TDptDLD2Wlf3R7sfVz
QENuf+tn8SencHYKOt3jmKRUKjTwvUurYwMUVDaCfTVZoUdd50q19hUYndCB4WLDdT1Q0gHbVJpb
bKEfB8W8BYnJty2JhCaulYC0WSxUkCh0rLawK8pZnLupSaL0oBoTa1to3wenruq90D3g0hVt08b5
oWyip7TgCn71lgoTL0rmwagt6jsrh2OrB0eRsFwVPYBC17vySrX1IZznNbB8P9jSSzrYYJJvte4O
6u5NJQX68IUz3VBQCCG9oMBQidPwZ52Jjd76oPhmn93EEOXA3D53SUvWQfKlbyxmbL8HoHENsB+R
rn3Peg1UtItW0LU3sI+vPEu7NZ3iMY6DHdkVEA4fy9Y7dsJ/0k0VTap6NLnhNjKb0eS0VrNHx5Us
zWLneuMIq1KnOtjAJprozXA2V3LHERy4ZSG+IzDfJkvyqZMcxTPUyjuDWIqNA8Yu7HVxwEP5q64A
6xjqt99lYTkWsDU7LN+mTowjpC0IIvP0KfOm28Tgp/eCHXRJoiKd4I2f+9u+dqgC6gMcQGBlk6iv
yH/7VuR4G2S8G4w5ckv1hbjIZyMoQidu2ay0LqUY4l5HTd6TSLatneF6qcWtZM/hjUDoGvszGSbD
pjCyL3lVfJiMLsRLfl0L+y7LNe/WqVg7nJgiRle4RHDHydZdnOelsz8UTndXL+a8MXCDsOKXQ9gN
xpGNxOe28XfgFulCNs9U0I6zC0qE7gnUg8Q6xrG80QOIecKluGtqHAnn0XzCqRCRxUNaFX9m4xbz
bQ6tGg5S9pEO3rNf2AEQYX3XS9zfRkaOTGE5V4NTG0BEEmufi+p7aZCE5Uz9ZpzJrDnCg6GYatjP
9syGUrSJ3JU2RW2Y+fDlpxamfGVzW9I6DSno/Rh5BBEhEBDn3f7AfvC56CFvwpDbuqWII7akbTj1
wUOVl091PAbya8Axiq0sYFV0+DtVlrIU/NUMVFaEQFPwMA9EcpHu8pFIk6o0tprfzvQWQy/rLCsk
eK8udsqvzDYy26JTO6kZ8WOf+uRgZH4D78vOVZHuyzi3n1SFeIPnAYpha0vX+AT/J4UYLFKRcoRr
2ueOvTokNFZYUjOYGT8bL5bTrigG5zcNasg/apKPQveLgjqkNvOes3siNslvWSOSktyWG9Vqq+I/
6dpnadFjDdtu0RpOUn7Nl66SxR3KRe1RSKf9ClEaUHtXNkKE5pIuXwPAFpyz+5RIvyKhFh/mKetE
SNZG9mTOMdKqPu4tEDpAht0wmWsVHwpQLcaO1mfNjGhtpxP7OlVefwR36BoErujWvB0LIpIMWfva
fl6a6puZ28OD9Dv1wSC3KA1rgz3vv1t+f4saXrXr/6OUOBVV/D+lEq/kFe9KL/4/FFV45CMjsgPd
YfkO7TAbGcM7fbf/87/L7/XP/3Xs13/0L7UWZ//Q3+04418G+mtkhDjC8EJaDPGfdhwyddpqKPLR
/QRrKvTfygtX/xd9Nh9miWtjW7JWGW7/b+WFE/zLh5cB8ktHFIUdzvonyotTTRyNPvpwjO8hHEMn
fqLNsbsChteUqchsOKIP4ygP/eASyNFNG9rr8wXV0bnhHDyoKMWBRsFwfd34G1yBcZOwlgj+d7pl
iQQ6CtoaFGwVb3vM3xdEXdzbF91qWpZcnh/QqkYjbpGLeDJe0eMZEg5FaI/FJ5LSGG6dpRzv9XJe
ooUQsooS1jIcg7RMdoGpjMOL+fH3m/NS2HIqXlvHJ8mdy+UX0F896ZbDJck4gVZ65KatC3NJkJWR
O+X+/VFOtVyMAgiG5iyOHfryb0ZhD2CYk8FDbGUd5Wbf0At3yQbQ6S+8P9SZG4pwEikRqys95nXK
vtRsd3CzfatdOGmCYz0Mgaa2lSMCIH9NeTAy6Py0fp3tABOarZ1sLlzpKkY6faA4SygEIqlE+e+c
3FCyIWhYYSaJhFoPNLlbGo8uP4mg1JGXbZM6VbcX3ZjnUK7b/Lay0QCtz3gUVKs4os6utEbAy3bx
pGST5lTZJj2LKpC198q0l59ZPHp/6Xy9Ls3FtxHXPCZa8oQdrHcPD+rre5cHKh1JwmDyV22wdVNg
MmKEHxrkvnZfzTpxbewD4zo2IsBsa8wN51Emd03fQys/8N5kB9MfOU3FsXZ8/7meqh/XKbTGOpMa
DLGetvrr30a/eqjBd6sIWCyaK+G1+2Tsqc/HE3QrDvki8+Ko4xh7AcdyZkVgYEzi8CoxqpxKARo7
q+PFs1QUtx5Vh2FRRzHJha3l/FOfLhF93rwpXJtOjjQvJWJS9J6vLzO2VUF3fbajGabOjqyE4L6K
XTaBgp7K+3f0zau/DgX5jUlKeolrrRf+QtVpxJxcjF6R9oE8PSq1PDm0gZ48vT/KOmf+R0nBAsco
a04s/0Six1fs9SiKIHq3oxUSzcMQbxZjENvc7n4GDvtrr+1UqBQGmffHfPPI1jHRC9qsBKsU6GQe
k1fEwbmDVDk1sbyXJIPd4ohJo6DgMOXXRv/p/fGMdVF5c5EO6xuqETAXNjLEl7eyKkboORRnogxo
7IZEbnpEVcIhmO1UNCzFc4/v/np0xfCx4q2iBEySEO3e4sJqfv6HMHs8ixYlmwb0My9/iAO5HVyg
xjNVmjoQxyBuk9KztrIk+KUy2upKG7Vhl/SEySlnFseukPV2nPiqvn9L3j52BFjwkqCbrb7m0ztC
gaxNRVU4UStQ0biZHu//MA/s0qYMDzcXl0ayf39M480agVkLpaiL7Bs3LJuT11fv1sDvCy+wI5Ow
wbDwY6JbG1LcahM0cJnTdZc2lRFt/Q0+bMJqZlVGrbajoNWDmMlrUAxCj1LPurMIcrwO3MQC8uwM
FybMmbvDq7Ayj5Coge84maCjsGsXr6EejWP56HIkfEisuOKk6z43AzFahHP76YUx33yYMDRgLoKw
wc0xMU+9vjmEdpDqgXQuatjHX0+9rm3Qm2cRp6X4k57OfzUaEyXwRbz2BqsLi825Z4NekqWGOYFl
99TaRHoedJve5+bqlHkn6Ysnp2rtzVyRN9SX1rjLSs3YZuDvIqSoVTTkdrNfOIJSKbRpt869uRth
eUad5EteNC06DbLEN0Erq+j9iXT2ViE1xkKMqh8bwetbhTGvzQhOQBkApWdTSSofqhlMalp0/oom
o2Dih1Vf/mKvWFy/P/aZObxG1a+6s9WX5Z2sl+SSZ4akrR8NAwepIgZwz1aQM3C/hs4aCWxYvoSf
Zqe1Llz1+pdfL2JMkBcjn7w9fbuMJnQMJqVE/ACwoA3HesphoCwI/f4jBrz/9998uek8N/35ynEK
xtEMe+Dk/orGWUGEo85Hrhm2omvZT0A93yaGke4d08yuYlNd4oyde6gvBj3dmAXSDYbaY9DMt6q9
YbfeoY7rv5Ru37uoLogpXQR5upN3rdL2n+4hePfYsgDi+gOw9O3XE2ocPdJcYt73pgX2K1habmDS
1MeitifoeZlzYRKde5TgZYA9ol7EB3Pyri+9pBICLyCyK/KxvCIu9nHh/lhtQBfOL2e+OFzaejw0
dDygDPr60jTNhqjN5z+qKyrsGTy8qK4J91l6u9oHawwGHVJvP/vwkWeCBLZ5QI5CjRDkwj1+46zG
qouYlLMqXmKc5H925i/2M5AfqoYEXz3qfApHUHwdYoE8nyjrAvx/0yLUHEn9HCqSmBXIwk2wCKCU
S59+AHyt72xzmNEhGfrx/dn+xj24/jDXhSwKP2nd2p08DQradkZuIvnITtJv0tQ8dn77YC5qTVxA
IpAtlTymYJ0jz4njkHZFtw06lsDasOSFrdG5Vw91K7pzkHGGd/rqDSrXhd1JCL4lMYlJDcKwddvs
QBis97CCpu4kVIULi//b/diKpf3PoKevnlV2XeUSHRslZhmH5FJlu1iRLEHiyrAxkHY8vX/Hz73q
rP2u7eu6b7GOvp6TLuU6z5sMMHG5yxHGnvyDWy232hCscKOS8BdHAqLviA8zBKbX90d/QwJanzce
t5Xksh5FTy/XzxRnIFyMUdLU7hHYbHtj6Jq7s6VfbbS4JIGlpKNEYgHxAx78+MGK5zv+ZyokpktG
LbjxHZF67tHtaQGgf7ykkT/3QLDE4GRheVgPqq9vEKBPogQLi5eW9sqvKSj1sPQoDYuJWG8irNwL
s+7tR201iLM7Wzfj1BlOFgnJsWApXM+g053G6O9wU+tdPaMJRGphCuM2cOuwRLfw+f1Hsa6rrz9p
jLtuD/DnBfqbuoMdmy6QcI6rzoJ9LAn0Jpx8y7/wwN9ON0YJMBvhEYfje8qWMQWZCjbB0NHI9/ze
b10vDCxQQUTpDMeY3BVCYdLq0DrxT3/2/Qtr/dtnuY7Ohp/dHd7AU8jAOBGF0+jc20BLadR7jhml
hZ88lTU7hETQmXr/np57loA6KZJQznHfWDlK5Hp2UfUmkZp5xbcMj6pD1AZbbXj7hj2qY7wGyemS
nPj3Rz73NClCrscK6jo4Ll/PWhK4uipPGVmvbXmbsH+L+uIiFG79K6dzxjF0jo+8IOvR5fUoo2Ml
PjINro/DwtZwGm9L1PN4RIKgovcv6PxQngnlYt0ZnG7JrVxmsSm4oLTNl8ioWsTPSh8IuP3ndU0+
0asxgvoFG0u4G6+vqk+mMQVdY0aTjp5RlsWPFB99lLkDtbCFvst/cWVIBFdHBqXn092+ciHsTyTB
RyLv87AXHEbNAOS8WfAf7w91ZgcCCWi1xDIr+P6f7kBMrSWsaGjMCFvaGE0+SZckXlQ7bZAKffcc
bB3U8SRK1PEXlNzEwFRzExrdRez1+V+yThxsRxBUTsucphJFh22cTJ96LHZYFKYtOW1scw0SfRZZ
zZHC/XhfEJgYJUGCGq5dTGJLNL268JK+/cxTMDeoJ1LP43xqnpSRGs21JmoRRiQrQngbyNWooDZl
rt/moMAPVQlo5/3HcO7lpHsAYItdvcle5/UEUyLwJk6SRtR33XAgo0An+VYUu/dHOXddEImc1UmG
C8Y9WQLA9cxGFjPKSATjEeNbvOVaRmL36gcHqyUnCiSz7495bsFjE+1SLGNAburrK8uIfqkpYK0f
kSXZaiToXJnQ4/aNZXcPtCemDa0Cfe8KYizeH/nc0s7Gaf2y6BxG/5ypX+xoSdkbbacleDxvQfw2
Y4cYXxo1WjMyHKakvvQqnVuPADpQBFixcCzyr69UDnNuS427a8UYYCzy4HaZUxM+4fF2vX9pf0oc
J8ssJwZ2Aza3lYrEyXyxYhQlTp3x1vbafNsO4jjoyBisLguA0JLupRntrlzqY0DSxS0KiuCmMxEB
+K226yFUYhiR/oObINZJ+fyt3hctVE67s9ScHyQbzb1eNm40WdmTTkP7oDup8QR3Mr3OWrCXzoCi
oyYBaB83xJz00IsPiNfJOQKxdMzy1DuSM9NdO9JX4eIRg5lYxnhhOv+5o2/ugmVid/N1m6aZ9fqO
F1mlt0lqcjToLe2mCohpROgEBq9yxXHO5y4C6wYO0NLsXRxbJGX1wE/yvCiP1PZIDxLWuCcui7DP
bqqvxZLCUhLTJa7umYmBWul/fubJw5oIRiRPileAKOYicluzxwVBuH0qEFS9PzHOzHmGcmkpck+o
vqz//sWcx3XUFW3LYUkyT68IBvxE2HfxeaB9xmKqiMH+L8ZbIbrGCoNkl/h6PM9LtILwNbZPZDg9
VLocDj1J3rturMjXFvISE+rsrVxN6RYFQNqZJ09cS0g7H1xtXSeN5DZfSPQmVczbTv0yX3jH/PVv
nc4u1i2WEDbBgFdPHptmIwBAnqFHVVcNn1Ual1gFlYXGFbZJEjYFeuBi9rx70tEfZYGsguT17GDF
WnCXlaL9CmyFfCbzVz72BnGPQDo3VQ8CgyTLsmJGDmlvXUGFA8YfEwZLUQ7SYaF3kTYH5PFJz8Cf
pqqZPk0ct9IJZxe9/WbQakWWj2i9z/owm3yl0xjDmUaoZGhoFUxSU/Xyfg6y7ookyErRaYIHJzzK
JfgKSw9XDAysXa3K9ENZmmgiSkIlvzsloeKbxbGMKZIOPpm94dW471KCuFDMBsaII2ghGGvjeMXw
HMRl8duYSFmKZvI99sLOgi+2SX0tAk27kDNVTXjYdUwzLbGl5GyT/Pel4qBT7gLpdCPrZNtbIZnU
wzeZC/FRXxwDIaPJ/603sJ60tdc+B0tmPA4jO7uNVDHuTFvp2xr9dB0OLqaesErS/mfirNIb6vQE
2QAUYCHoOW/s2wRAxoUpf+YjyuGfxRc6Ln2CUyC3YsfgjYhE1xJrdyhqF9//iCJ4FEaEqHyNM0I6
//5rdm7asy3gLQOKz3bt5NPi5CiLfZsx9ZoTgtUhRoLHtmwH2gQXpv3ZoSwqHGDjmf2nXQBHiNg3
p4Fi28gKUrd6v09RSH9Viofz/lWdXb/ZEngA1Gg2cVx4vXqYKZcztpMe9cEqXA4G51qv8DghtL3p
G2/8gKgNxaPui12wJAaYAHIdbAp+V4uv1cDXkcjWJkcoLWdxl8oZCJIcg/37P/PcA19TAlaNASWJ
U1GD8vvZ1JcZwnBSNdFS4Jyg9O2GzUCYVh6jKZ9y79K2/Mzis4pGQK567Cmoyr2+NXK0zdmbeuj1
VkGzex5rAgwLl2jgCuUdLjErL54cPxkJ+avm5GnKfZIflgrDjQBnitB6KT+7dFgv7ar+cKJOlkXT
oAjBjg5ZDaeG17+sModBAMNDgq6yEQvDNGOQKRdDlpGL2exLweHdDivTQgyhzXikUwsz0obSXva1
Ttvut+PW1U2SuZhIk97W79SMc9L0vB6rkhM8tIrEWbLrEvlDaL33NLeZ/XOEkupeuMdnvpU0chDR
mg6VB6CSry8Eh3Lb1xX2GlTu5NBky7e+JZ9j9vVsF/SO+c+nEUCsFUNKj5OKw/rEX3yaucVGvMA6
i+pet7elNwuUrDpEjDh174vCQyZY80q/P3fPvM3mmgti8Xpx9vdOFo5O+agovcGgkZgl1GibPlRu
EByH0RYXhjpTqOW4RFUDCRS7biwery/QA4Y1qYwLRAeDb3/BUxf7fC08idbR0kyE000fbwOpOMlV
/vUs9XqniSX/5vXNfOHhnqkq/Tm7cXyDYIcK6/WPyXtcerFTsueqA2zPVHc2E2m+Vy0EyQ3givp6
8kkzdIFaRq2TX6rZvhWDuMwtoArcCeQP9pvDAKEhJsYrDgOd6/2sjDH7iFPbue5jWZAI61gPxYDZ
JS2q7snHY/ixVatUE7k3zniy49uhnvHfgjNpen25sPCem/k+x81VY4OG4XQqqjlAadlQ6tIqYexb
Pb+1u3lvan56VSb5cuHjZaz3+mTF4AEYvGqUzflsnkzCoOoocSxUT+Y+biN6ZOamaJUgpBTzZJcR
e2KuJAOkjp87Ld6bvT1d6G6sW7U3v2DtryDUgIV1KqMwnbZKyLU3o2R9uTNJxlUmJ/Pw/st2Zs6B
agcraDuYXdExvZ5zLimW+FukCQbCNR6axVyiNlnGTTkN8w6BTh0V+tQdaztLjqNgvfznw0M7pglJ
FZVPxsnwNIZSQs178ocmSm+xmlVU6w2lG+JXdjaQ64gig4cBVXxqU0+7f3/0czPe4uI5hxHpgdjw
ZDlNicvT4U+aETmVLl6/0r0e9SmIFnyQu2Hyl8NalKfmOPuEN8zljrpSGY4xB8lcuum2aUvsApnz
6LeyvXBrznzCOTCYdGCoY6OkWZfJF2tvFkzKbhLLjBavnVY7lnHfsSvBVUEXqbBKTAZKXaoHnBuU
JgaCR2Y+2/qTQdF7I31yUybdsh27rrizxlrtMs8ia35U3vUyXJjlb9ICyIoDsU1TeD2NrZrX15eZ
20E6zS0jBpLUHSeo850J3YgyViduUhLE124iyAsrrfYK1ybWjWD+VATd9zIAuKc5F+PGzqw0K1+c
XQI7Be9NObisandsRGtGBGd3H+GYjXucaU9927l7syL39P1JuF7g6XtO+2jtFyIDY8V5fQNgXGXQ
m3BrZ4ZTbfOWQDljZAvpBqN/4QNz7umutxvQJOQ771Si0+aDUw5CWNEs7SKEaSk33dhhrmu0D5hb
MK6W7XRhzLMrKZpgCj944AB5ruvci3ns8I6XgCisiA71cP2HXzilA7Cy2ciJFU/VppG9E+LNoQxe
qeHYwk+58PE4e+EOySDgt2kPnkoJ81r0Mh/XmLNWit2gHBWBtfE2xKpFfaqZu0oFz+8/1rNDIoZa
pS/wBf21xvjisnMjw4VszyysKh3uaraa7Jo6xCsJ5n10M0u6GWRwiRF7dkVjNVvFqKiM3zRCm87G
r0QCfWQVVnwUJQ6gYh7daxEvau8L0LTF1PhbUMQl9tGBtFmFVm+TDKvZfamDrQ4lYystD4e2xwN6
/6ace7XYXPAE2GiwgT152YdScSKsUiuyF6PYup31F1aKJAqcTMNOMQeXFpd1bp2+W8jiQAFSCqE7
fLK+g0HtkVeafx4CtpOCwoObE7Yc+027j632V4af5apIquRDWzT9Ma5Yg1r8FLf17OAej5MNe1F5
fP8unHvjef3gXdFw4uS9Tp0XU8Np5Vhz/LYjhSxSxSYCtb6EUuZZ9YX7fW4S/mkGrEpMslRPRkqC
PiMu3UOAoiXejWeXBUVk5e0He6aRNzj6NXk5l1RF5wZFK7T65VB/2adbihwVdJbYgw3qo5aQpRMw
TV2xA7BoItRoPiGC+vTPbyjKOo92KNxQSgCvb+hsTCWwhhxhQ+IRhS1sIxx7HNNQAtWF1fqMqg1t
MFRrcndptSCPeD1WZqWgZTowAk6hW9/cZMoOjh5cj3kCGKUdWdeAXW1TzrZ7UqTNcKY6fUOmlL7z
IVQxy0uFDFxrjy3b6G2NKwhdMcXvpUkvrLzntnZsX2m+k0cMBP/kZcsTksGx+FmRry3kTosE17jR
XaVdJ7BuF8XV6KhpA17E2CK/u0TQPtNDoYtBcxqkBp/30x4dYPN6TOAWsX1dph2JSMgven16nGHJ
7ilf6rd6lX9y/Xn5L96uAJklUxAjzRvoMBkJY+bEJQOnDuUX3U+uvVmTEceU4b8ZCoAsCXcwb6lO
v54LdmMlaSyY6X1cd6Gvw+Iu0xXXK4gpeX+K//lMni5la2oCmmOYeMjhX4+V+pBxzZnCZYNZ/s5o
xxH9e6+2gWb8SH3MgzBA8isxi7/o2AETcp0ldFQw70tlolwct3qj6fug74vQrC1OLkTjGWUH2p7i
AQqkUl4nfC2IWa7wpKaxDLGm2xeu4tzSQDgOp1sMB5y5T16epdNKleSTvfbz513aVQh0iQO9Ep7o
wjGBRCJnHOzv37pzOxBksJgJ2MuhmvBOlgeSVcei7iW3TozZdcHKtaliBCmzB5imG/Qlskr781i5
yb4BI3E9Nc3ffjWcZudpsmeWfBYnh8hYVMD0add39cWSn9JOiwuPmdJqskeCVLUfWt97zuYquxBb
c64l/XKo00awY6Pt1mPuMV6N4ojCBvdxjOt2ciRGKhD7965daDfKcAYkYYU81FUQX5FDdim24fx9
x1Pi6fT8UMuc3Heq2TgHYxPiXDKhMx6QIbTO/Luopb9zi2bYe9hBQ72Cm2itKMEZfOSFN/RcgYeC
JNONNjVypNPmUlMtqZYVUO/SRuKtHjy8IwYhJ9IcnKhmC4AtdVI7i73aVlLYPZYWdKYWkmW4YA+5
8HDOTQOEJmvfCSMAX6vX00BgmOwmxOgRUDzgj6YGBjcN+GR11qW++Zmtzx+b3tpaM2ntnsy4WkLg
A7ZnRznW6w3UdH1r9vK/qLy/HMU+eaH7BOycNDs76vSYZcNJWWwdMB6zwF584TVeV7iTFZC6D6nc
q7AFFdLJWJ4fe70v2TYt9TJ8dykBhah6sK0igD/CR2bFMoz6CIWq3vvWMm8CjfpyNqKt7AfIaf5Y
5JeWlnWFf/ObmFikGLHCrMbH1+/13PViXj82xHS5SKPQ7aVWS8XA7MTOdKvuryxegBGrWt2S5tEc
065P97kcLsWir+/Smx/iYkShc0i16BS3m+RdYHRCx//e/F/2zqNJbiXtzv9Fe9yASbgISQugfFd7
zw2CZJNIeJPwv14PeEfzka3+SF3tpFCMW8z0oKrgMs97znMctWmTsSOkH4tjtvjljcRWsPv92fj4
eBwQpYCx5nsPmj1jzGmr9b5K65GBX5NeWn3thJJXO6+PzP7TUt786AuiEtCM9UMFfHf2a9o/bKiE
PEH1G2GB7bLL6VOsjfa+n1OPwUax5EFjZ942iVOi9K30d5SvZU+yHeU/LG1Bs0AqZo3Cb8284/1Z
r5PKputDcW/BBgr9yFn2Km+aTaPcamdLFwjg73/tj54bSIGOaaypLZadv15m2gx2S1WDtdGtOD4V
eTkCWKBpGvb1n96WPxaw76+ktUOBfkNsanQF/nos8EUxUXeg1THa75YKgoLZr6JqILchbZUwcJ0K
ZdrPOn9TzawbQYxAyskibddqerNBxo634H3ck93V9bEEmHf2oLUGXi7mXdaU2obpex4MAkjHKG3K
ruIRuqXIq31DhWYIxcfbSc1trnNSkzuZlCamFPdP+toHC1Sqi9ag9ToX/V/w7ovwyrQXIFyKqkg2
JgLzxpTS2TdoS5s67xCXMzkfW2rY/rAr++jeYU1M6hS4MZvSd49mAkq+1woolb0HSauvK3UTO1oV
9GYasUvQ/1RU+tE3pU4b6jLzQDpv3x3PqvXFlhiLCf70U9ANrbVtNXnGBdMdlQAb0LeAJCpjbq9+
f9l++EX/48A/Fgg/rXqywXETUzQ8JBQUQTOZnMCsYtyjuMagcVnO4ffHW7/I+0t3ldH4l8vA+f12
V9opwzE4+xtMwNl3zy69UzqzsvSWeXxkQJtdFlxNYdK4MYRD/09jxo/2hpxNtrww/zE+v38uAD3V
iowV/GZJez+gNjR5jVgOn6rcn46y9MawU2Z3KCYR7UbRmYeG3MTnSMDMVIUf73R76BH5lRtWvl5u
XceMDzFvMoBeWfmH3+oDzzrkbIMyGBxZfNb3hTepkXL5z42JCmGmB2co36ypYe/i2mrfrC702vVG
+PVpgQ9tMnfghkx2qSCMFPzhYJzd9HJsauuKqma1HVj73v/+bH64kmWpzC/Jc58Puj4Vf7p8DKU1
hstRN2UD5S2YllwAAzPfksWad2NbLxsMH95zHmfOztIQgx0KBa91SPfb33+Sjx6/zEaIAtN7z0v+
3Vu+kHY7A81mGDQp8RixcydOgq4HW1h//P2hPrqEfz7Uuqz76TvbWWd0k03yTBhs2juciADNMnFc
K9VPTk+HaT+I16XT9V0yr2ju3x/+I5PeumNnHERYRPD8//X4yZDCb5cVZqwsNjejORfbftSJWQvo
cj2RlbvYM9XZrBdApk067wHZyGPtLcBiysi+Y1n/VpjpPdevOOHPtIlETIJ+BtmemQHNn7UcvF+T
wkwD8aICc8y6s+wX47WfhbdZ9KEL08rl9W5n1X7yB0w6ZlyeIyajO+gI3q4pC+tsM4Y+2b3Z7Pqc
MkGKH8fw97/ER54BTh9lV2ztGVG9l0/4GURp9FgjeWX1t1IS7iWo5+I5jqMQHAFYz7p3Tyaw5Mt0
WGoAmPUItLlzQpBUC7zWdNgyX6oCq3HdTV/3y1MzOuZ13Nfl3nLSEoBKOn9bMsfc2oP7p8nKRxct
eQ9jXaXwPn9vYkUZGg2z8OjsifjoM0y9Pa7qbM/Mo/3DeuiDbT1beh67qwgi8JL+etHYIhm8fmCM
NhdZtjNwu+Bu6Yuruk5BM+ED2czkc//uXfhHW2oKaFFRabIycQv8elDYBAXZA8Y0tpv3O2uwC4B7
7mcDd9j/wa4Ny8V6ToXAbf7uSEbhsrnROFLbjt1RdwR4vcG8yVzrTyuDj87ZurplFMqQBg/Nr9+J
8EVDLpdn8tjl9dEsymq7DHCyzbXP4vfX94eHopqDMQG6KZvEXw+1NIhn+OY4Z6LCbec0NOwpFkKJ
9Jo/rN0/uDxYuzJkJfNgs/B5t/4oZjijbcRMAoJud+xiK97bRtWGmF/JWmdMVGftj7OuD76fTZYW
0YWbf3Uz/Pr9fKFir6x9cwPp39/WENlxYdkTZQ6QyH7/U/5Il71bd7DH5JnJZbj6qN99QQVVxI9m
xhqD35b72Vlht/hGtpRIOpdaYrXbifz3Ll/m4irvaWlJZdkE0lsBBZ7MNqRS1J5WHXRZH+a8ASBk
w1sbqlwDChaXoHfb4mrGDm1V32qziy+WPCr3THLifaLqT7//Oh+tDDDEMCxjCMrQ4L1byqjN5G+r
BSmj6pAQagjgDMZnSNvxaYhqFsp9CnRM5emuyeZ570x6dhZ5UYVRTUJIH9Nu00LuvlRD6QSa71RP
v/+IH5xcLIWIyzTXGmsX1K8n1xuSdNQrLt6+ktpJSrqPBHH/Qya1P+UqPtBRfjnUuxciWpqxBnlx
ra8oSeFO7SmVevSHR8wHr31mwIydV3zFetn++oXysUjsDhkL4wPk+9jNhr1q+hoTkOtvE8eMblna
pnd+adVHPLjFH+7Qj35P9FjGlSj2vPPe/Z56T6GHM0M+mFpAjn2VpKdFdF+1sVX7f37mTFbokKIY
gbGV/fWLGp2Fk2S18cgqru4ryx33bS/Rsi3rX+15/4gR9n8b/Wt9TP07V782tv3SqBbKz28/I77W
//W/iF7WWqOD65J1CieQc/lvopf1Fws6Ey8d0awVyfRvoJfJf8PVxp+tRlZe3pyLfwG93L8Er3FI
X+QMwSHQx/dPgF78KWf1pwckKhGDQIJaqCb8gx33r2e9Why8e4Zz6rWM0VfgGRH5Z/agfn3kIWiE
XmYWGpZuryuyB8uv5C2GnCQgOwUnm8JRkpUTStaDb8S2OBBlrZ1dUlhzdrH05aRfVGXa3JnuAtLZ
iVPf36WisaMAkL9GmbaeFUm9Uy1snUdp9H4XxlrCMCWIh5TpZ1zHq2QJS33OoIb0oP3stB2VOtpj
Bs4wpXtC20wYUw9cuzwKwrzJOgA9Ykx4iFfoa0nd7tl5Ap2chL5XCbzc/aiZ9K/FtIb0opwpSQG5
bBSVHl9NrVbqVxiyjAgDRmnqZ9gg2csyVH5xyPLOcF48KuI+xx1bHG3qhnViWJpw54Xa+nPrV+1V
7eJhaPPosceACYGziNxW2UBlbUN7huLsrLTl2bobsVS0V01WVNpL2zoRjH9yaHcpPBqvZaEKuTML
y65v8jO+q8KWFHgU1nXZSk/e6UxOgN2mkVHWb1Nip9+aRtNTO/RoJqfhjTV+fB9LPNB3NhnR8rUm
hjfv5gXXTm1N45uxuusAc7XVF9m483coqqJZgrwHH7SFielciznXiV/UFHU6AFGSnVJ2f+kV5ZJe
s6aYFL03pnndqCSC0ulITW7SuDTmR6/Sx2+paWT1bR45Ejtu3I0QJcw4rh+ahJFGy9hzo8+ec9DF
kNyWy5gdxtkYIJHPqMMqRdQijSmte4J6CkCN62JL3iUJLXsJSB8wVyI0CFL4l1DL/Qg+JbNdpa+I
cBXx/s6nAuh4LBlJX8AfHfsBJj1Pt3DuzGY2AnLHbU1WbKGJZ+3/szqkJLeMan7fuEAC622Ru9tJ
VKZ30cWjZA4iLAaiMRtRBYpudLSLPnGKfA+f0YNn3Tn9ibBTKk8OvYBR0ERdP+Bg6bsWTwO648El
nlYeVTXaT9RIxCQVcK5W1aT2Q8eYOCiIYAxbvXbq8wzP/kqjnHAHtB57NvDo4qq3YppwKB2B+oUG
1+6G3Jrv53ZO221lzy0NftVwG4M/vU4BAGzMbJ60K4+X1e1YlYYbkhIqs01BV8qToWnlwQRzzW9F
a6/cqrnQ9mLogcCIqM3vzQpMZ0ATXXOsG1PcTqZbfybk5rxGXFroNq62kCXNR1DXMylWqnPKWJuD
Ja94D9oW/d8bj+oZLcDQCtA3URmTrbTPumcnsuXDNMNL9TJ+6XYwm0h1x9mUVAo9dv2YJtObpFQw
WjJ8MKC1Cy1oiKnACQ65L5tu+MpTQVg9LdlN4/rBRNEWHdZrlrTn+gxGPfNzc8+Kb/KMvaU33eRu
JVXzyydkXEUPhsQp3t37kKmMsGPZ6ehhHWupuWyjqV2q4pj5xI6r7zV2giGtAfJGrkw3CkIfJNap
TGvaAOrKG9pyW5KuUTB/Ka7xiwv4to3RBZ7TTEUTjMbUiR31PDqehwni0a72x5Kx0uTy4weIBdlD
FOt8zEsLq9U4PhXRyjENhYej0ESOk7m+T0qlmQVscRHjMV4rBQPlYk14rGKm93VQms4oPws/VuWT
3wHze0WPqbIHz8zHadcbfdVeIgon7aUTqSUhFSRbI8fcRQzgppVTPwLWTauW6h7wPWVrjG4Qtbbz
uUf1hYGdNe4B64TYdxb2yqrSi0+SkxvY/sS4jl9/I+0czv2Qa/cg6aEpyJxCG6dI4fSCn2ePCV4r
MPk/ulzspj15mePdsdCOcZktzhbTLiVmpPF7be/3enlwp1G9suxgPN6aPvFDayFMPObFLukHxEFY
2sZ+Kvz8Sc62ex13jLoCvdJ9gOLEWqwudiHVu+II7Vy77p2a+FNr0iHhlM5+rmPvqNdjEgfUhNuf
hrl3Q3psJVg/UIFAjopDK4fqTH8448ipWeaHrLXlFPpEIbZFalsbWsCYc5jmZO7NEuAdPQKmvxP0
sO0Tk2ijnRVUgnQY6OKiP9W9/t0RmvHg1kSA6PESoNJbmmd8WZdP+Zw6xQXIQRvfk/sFzH/TfpIx
T+JTnw5D8xbllqouGW1MVIukwFNQ01z6l8wBIGFW8bJ9JaII+BbYS1XGMrALEV1ObS7ityxR6WeS
fab24kx9xk6hzEpvF6WpFm24QXCjjVwygYpN5q9+nIxeKBJV3k7uXO+TVgeuXfVOeeWQOQRhUwp6
uzDVlfMuEVGCSUWPvcs8WVS5ofEJTnwxd3ugkpRytBj1p9hPNRrDivmms7GsYyrodR/rdpb6R3a2
tNvQJuJZOw2tn5iptMPFH5p9btXeJ7sH+0SDqQmekbvztlCNe6bLw7nr2sW1Q8UcDbiMKKcvuWaN
58TK6s/jBD4+7BNipZE2zvUWQH12z+Bi5cJHsvs8ODrn/lBKXjNBuiTZ8lVJW8qrKItHdzcXXePt
oySZL6BJm+eiZjMbpDFR5tnV5Pd5EfG8V0vZctPTEESP7Y+F4z9aHP+/CdBdzZ3/+RJ6ZbyUb8nP
q+j1D/5eRVv6X2x4+ScjVMYWBEL+5yqaAkudAa/jszUj7M8k7t/LaM38i5U1f0EoZzW4/lxJrIm/
GAgws2ZFvqaeEQj+yUL6743YfyykoTYyvVmtjKuhEbP+e3k2bftE0636aSZkfUunybbw6SzItEQ/
TZRgyDkXJ+l0Ke+EKmjGV8gnRdWFlskTusNxad8PFpcpcRIvA1OY+0xlZm4G/oA+L0+765b7ep52
elucquKi6aJzhZ8Ek1BsPFvxyTLvDO1z3jkHs4u25ETw7PaD9lQZb/WA1LhcNOahdK3QVl80cHr9
UmTHshX5xmU8HVap3hEJK8huU+vtpWHkRHg/vG9RWwZ4ZAOvVwkYP6uiujfinm7xLjTxdZpb/lao
/phTDEUSBRfn1eS1d/Zyl1iJRldUfE9pOAv68dQM2kl4MtA07ORDYwYG9uag6LpN0xNy1A26EVsa
BCTFg1HbHLSu37dmsUHO2EsckY1iQTB8Gtyh3cQr0kTz10rH+K0qPIotGHqIy4q6trI9WhH89Zho
SL4W7S0Q+tXA58dslfKIMcqY9DSxGJJ2UtN249qCpvJQxyE2dt814rNe8b2X1hag1r5qHz3/TbJd
WBhekRv17wZhXHVGQwsW/dd7RW1JmvWXme08LpPjHCwDZDoyKJRgm1+ltAOE2MDq5TepxgAM6Kaw
xzbI3PQpxfWMWywoy/TgzV4dGPPaK2y6zaWekFxL0vikFWdTfKZ57cVx6MHxTe11Kb5gtt/Amx/9
ivKqzNpadYcD3jC/RP1S7nPSExeIjOqqX9C5S/upZ30NBj30IZgyNmEiz/g4tvUHpO+NG0dPRplv
jMQ2t9J+dqioqtR4VfQDTWTCVafZXogmL3KfeBcl/cn8+Mc81kinxPYFdmoalZvcurQGsaVQDL4S
QV6D2fTSXFRGT+dH/62Jcq7oqj1NTonprT5aXKTgBb6j4wCBLPbCL0Ko9zujqVaoOWh9jXakIF76
wIq8S3QkEP5z0NSEv6IM3TCjbEhzQU4INw3hpe6NYQ412HFd6R3gy205y2Gq1VsjH1FQCFD3zLi9
lCrw294vHIDuM9OrIvS8ea/V7FFEch256RaZZ1cMxi0QsVD37kXC+qJlPUI93UajW0JYR1JfYevZ
9AmS/Xe1UzIINqSwW5Ndqb6q6oEOVak/RbwUTTEd5yjfViKi6Jil5ZG5BjB+YAazdlF7RtCn1Db0
n0gnBk5529tIzLLjOtW380iDqMVeJ2ABfJj08a6f7L2xVNeihp+sry/AhCVS2VPqRnK8eo4S7WRQ
/ZeS0RFyYDbCRkKfrlICpvQ9Mb/RL1Q6bd3xu7Y8J/qLORpsqqLmdgUK1JXsqFAbd6Z2hgrFBjJT
oOKLQvS7rr81Unod9GJndqdJjPd9kx4XdVtx8ydD222YnZzTqTgkcqbi9docYjQyMGPUTzYL1Spz
9qWj8FyOzhBGUxyYSb1lsbWPUudo1W1QZ9pNlb2Sc/nObCTMWSn1w8MUUYtrczd4zLYm40sJQN9l
i19bdEvSxDhPX7qaKt4o2xaSO802PGLs9J+YjwUNgg23eU0v5tyM4bR8i7TvZUZJN0WgtX03ODSh
prdpGvGIuBrsxL9YLOPFTnIu7TIcjPiLMVMhn6vHyrFp93P1ra1lZ4otA7rjKA4Op0YWQTvLkyfG
G6I5lHoQrO1Gmstk6VKdkh4GIQBojMMG2zL2yogHIKTpfqJndu1ZyG675dn3Pvs0YIwjv7Asd5Wh
b7nuKP3QKZ5poOeGUB9EqDVZFLrF8N1tlxMl6udlutflUXZ7vRferbDqB9UlGxm3r2sXjYy1A7GD
IahIzxxRsnnGUz+6nD0Dc5gp5FVrJ90VqzP2gk2Sf1G2vNFYsAeu39zQ7/dp4K6lCOEWmZ2WTUd/
VbxrWEdOn6hiTEOt9I1znKltM8R736riwBFmQ9uJvC4K+9ZsnaBEg5r5YslFm2ZXbVTMn/wUJg3N
MVGhLsfFITXZOruaytmrqmJnblRjesrMftewRzpgG++3FXViwRKru6ZAl5pbcsKd7ubHZmTjFaZq
sM9WLadnNvpqT6ylfbRKI7SoHwt1R1PfhtE3nw1dZYd2ohdycGhutysze2lL9tWCoq7IpgEvLiPm
csyzB6WivRqLPuAL7kSFxtR4X4vaiC801cZHx8Oomo5+QilV35/ywe0fIxteAf0KbI48nkRVYtOO
sbKW5eA9S6sMEsneioH1kxppekTp2vnueEvRM3ekvGwm4zHSCLXaOp2AVeyWCHJP/sxv14o7lWCD
pe/iZli88Yh5eEOv4HOJ5F0GjTnVu6mjWLb+LthPUruil18MJIVTrCJ9YUPaGyEwDQpHubAWgkV6
zP3EXsW0I7rI+otZyMPkL89d29L0NH1lBe1t+AZihz0knG3nSB3r0eigKKuSE+z2BBXKZAuYLAst
W+tCp8uTXYxkTIfWs16OL6jJz7VZb+MMjG5VDkdZNDdF3e60Sj23CMxMnyQGPdAqKNPeLi6bQxVf
Tx0N1bz7lbusr5cAlwwXld2MMhSadihgM8i048dMtO6w6CRBlv6imxzve+H57QXIZ7UBZlo+1ZHm
7eY5mjaNDeTZ6DVFFCD3Z96rXWJ1e+Go7rbTrHpTUIJ0TaVmtOyyRFL/pXdR/1AK4D4iTeJPzP8k
Ih7bNiOspZirQDmUIVWsGmqkxDyoZx7adeKOG7ueXcTK2rwpMZCETpKqy3LM3H0rZnHrtYBmqGWV
/VNUO0IenU7Ut3SXg7tRVsrLf2agdCAgATV5ZJS0gqwCM1/zE83iyZwuFuDItDJV1AhpNStKtx/9
1cOfFacM7xlSEvrQBXe1us58z30Vs9bQL1J0Z1EAAeERpuxPUD9Jc8JRS2gh9yiMbLT+peJi2A49
FYQbSXV3vOt9gAp0cAv35NG9cBa9wAKTZug1WW9vxRBjHENULIKOomeix/MeU8RygVIQ35ojL47O
mEtoj2jGmfja+g+ZO16AOl6e+jKbj50YaW/LDJrNpGOdrSka7zUlp1fBp7+Cek9PcxpZGz8Fy+Ip
5dxWbBcvfTVVt3yUCDjQdOfm0QBe0uYplbZP2Wz4tKBQ4W5DF1UBH2D52lNfu88N94hwk2/8wotu
eBlTjYNwtEknK2I9qF9ksH2ueqMqv5SJXj7hDa/O9tg53HqpGfSzx/HKZY7pFqv7IkQ3o11aPioX
VSipm71v1Bs627eZhlSRWi7ql83MVi+JcGl29hjn7fNsEEomvuRwS2ox4bqtslPjk1sv1SnOzWTb
lvb8oC1Z9blgaPuUCFLuVYUbXOmslHOI+xtq66KdiX766Ja+XJvOzYPvRAYYl1HLOF2srWBayJ2f
xbd+aqA0eX1ELLvpkUOH9E7kzlcKd05t2T2PAxlm73ZpICbED021jFtM6tllJusjWhxgocVwD5E9
HqM4ktdd5NORNQ4PiUcGq2lVzz3qy7OYxIPWAZpZ9OZSi0Y2QJGXhAZifzkkybeG4tqwTGZK1zL3
bDbTfUtMH5/Hj7XhwYUQfqyNVp2TmAV7nnyNE6T/OnVejN59SgfdDtup29FycBOJUZ2cQZzT7HvO
udzMeUK9t+pu9JQ3cZQmJT5bLdum8fJsa+ZzaU8sbdM4vUDQDGOTDsp48O9yD+6OHl9QREQBnzXe
km9/LofupqMS/tQpdCEJayI2SsTERj3O+Huqdd9isklhEngyzKaFGKuFjjNmlwN5jQ3da2yYfDFN
4B+5UBz/5CmXxujMY1FM1xBF9MUcoFSCNdLMpziZ2ssiEfThdsREblxf1ZuF6/ZbakNjsWQUMY7R
3O1IVR1dgHNJz6NdNUdesnYCs9YfcW7a6hL4IojqJEmxIRWYO4qmyrgzirUCqik3cev2CldWQfFU
Q6oucOQwIMwMxrboEqriJYVK53mB3cdvotq3ASFlDPO6gljE9b0Z20p+UWgjm9mSJ2pplTp3A9W+
C6OGHjGxPdRaG/W7Gp9dcuEoBvrLwQak+qLpS7ZttGHvzMa3lPLBtm9c2ierLqgN55VN8dq5N32O
q5yYiRb7x/+vqHTz8e2//ZfVsPGfKyrh5+JbS+3qz5LK+hd/SyqG85expqgJoeEyxLyMOeTvqiHv
L6QWIFVMrfC7OD+IDv+qGjKsv+AUQVonYeEKwaD/35NJ4y9YoHj/ddqGsK2sceL//l9/8Qz9XRP1
vxXLWckHJnY+F2Y2GXs4me/mkpkyiIDkTLL68rDK1heNNQ7bVFv+Ib7iX0fiQPwaGAnF6pH5ydfX
GWPqRWx989IzJTe8nRZwppJsh7noy1pv8CcnHyLWzyPXHwd0iEISTSD9gk/91wMufTRK4afUtmTJ
nu2LgXrQTfP3mQgF24wELRyRX0g2rL72z+wZfx8bAyGwaZ+073uifTQSfpYUDcA51/ONqkU774Wh
upIFUwbN7qfL7eZv9etntvw788KPo3kO821gvDgo/HeWgklGXSnqalMbXmk+a0hJCcINUNBgrPtm
+Fs4/eUS+vloH/2uABP5ahDWUNneWSUSY5a0EbAjdFOkBJNnWpe5LyKjFydigBp6dWrdZCb/9vtv
+c5EtX5L1rjuCjYmxgQd5tfzOTg2PfRExwfH4M1FqxtWUYeyIesrkzSFg4rV6z8/oosDwMQ+tdYD
vftdzdJTrUdnMA7PkXVE5wmWNM5wYdemvGd1T7dTPP7J1ef8iAz9h8TJF8Nlh6nHIsSOtccy392T
tFZVYsrM3dBpqmTT3S4p4oO54rt5kryNrhldykqL/IMbmfRcG510jjLq9QdqvuMVQad4Xza2M9/R
cUjFVonT7ZvRLcOjnVodM7ikHZaQjpZVuGP+duY9HGdhZvTll7ElSB34lSlusC0BmJlMZRSPBKdp
dvXKUclAqSmutqy4bBgNU0S3+tyX87UY0+FOdlU3bTwvRV3hitBRo3PWunlc1yfNxPG+we2G912H
qDEGOQGLeUuECGvckrm9GWoJOY9waIyquvBihgbpbmrnbhVCbFsmGzbKLDzDak6piZ1r4ZQbVsX6
EE5TOmTsEEtnCNxhLN5Q6aaXtNUSZ58YSYZSKljWDn4Nc4wVWrmBspBhzB9Jh+bNyhuCeMU+q6cE
GMTPjM5yqM2cLX6JF+HJQw9Id1ruLp8Gaovp8hQ80YMxrS0WKyqtUBu03KYjsso+xSxUWDRAXYLq
QYHg41gbtLCQPXU8tGqnhGfp5Y21VSZ8fJZyVO7a82QKgOCeOOqL0yFhDh2sOM9P3yySCQ2jbpVS
5YuseXLsdIgOaSUG8UQcu0yROOKsPDKch8+1kLCcX2m0Zvc0zoNtvPgWCGl6kSvlFld2FtNT2RJx
mattOqlSPsG2ZoHGoA0WP6VFdVzfIlvr2sXcoG5NoaRciGbVbBBZ86L9mN90P2Y5tIdqEXPbEuzt
eFUyhW2uMwZmbVAIxKqd7LB1bfLEY1ZkVNR88Rj8MZma9c7L7ljBJPIEgHIWl5JZ4MLWzPOZUCUY
p10ao/W0iM9Aom3tRRb8HmWgT1rXlIH8exLnzYY9v1KDns/0Crdmfh4bS40oTetED3mzGZPVOaPH
S4BUPyANeC3n5cpgqhZ/1XutMu6FN0XWzsuTBPWkbuid39j0ZY8vi25WFEj7ettsTLsV0Sv3V4ug
3OsmM1WXUD/6U+V+7/NVikm7LCM0aSwjt6PvgVnTOwROiHcs4wu3YU5JNE81gZXEnQwyR8wvcvDH
h3mabKb8dYH2xAZFekESldp97I3jS20lzV0veEmHxqKkEbQ4whVRoiy6zN3WebUQHvYQymx4Jn3F
lnvWUgQkxrbiSq9Vj6mommTKKhG+SEAngSPPsTdV3H3pbNxLx1geCyufv2rGZHz22yx/tXiKfG1M
H5Blw2fqtkwt8psYCeRLq9DoszliAGhGNl3sedt3u8lrBha8bJf0oCwc7daBbmkFFQGRrzHRC5by
USnuy17WDaKbz+9ZVG7zkBgdbaA5nchmEGFd+G6Z0q6RIz37M7kH4D6xjYYRikGfi09NYtnM7CmM
cOgRAZeUvhqMkvl/xLfyNk8WSguNVIvcZlWEV12KLA6zsrBfqSwHLtD0GdTBwk4jqLmTXj/V+N7x
O3X8RyCVjMrNmNTFUxZXTApGI9eaDduQOsa84ZTAcGMwDoEmIqiWaBm003pmxonzC9NQ2zmyqtPo
lx0nxzCSB6quFm8T4WTtwWUN9kvtZYYe+GxX6PNBfuJiByB91yU0jYZ4jiOudyGKT4rWcygkNN8W
O5FWLPodV2rd1rYWFI2CgE91EZHqKS49f4mKYNQkmjRk1fkyUlSnE3V14zuV9dmCQqHk0XMpprpO
PJq+t4XyZZVt+LvcDxKznOebuu1buNJGD8psKnpzCRYxueOJQiTD2Stz9J0dok8Vbaqh9tn2aqYl
ArPJk0uL+unowR9pHNwx/csLnu5E6+/ZaLFjKRuHdD0mJLoki1FZ8QY4a8vgoHGmfIv6IzpKujRP
dYHShYy/IYLE/mNcu3F8lvqcjbtFLn6+d93KRnkCHFEHZj3l8s0QamjPbePNReAmnpiPBtFTBt7W
PDY3GUQ2ccEz1024EWlB4T3NGOKAN0bVX5GlsrPGc02DdDcmDIh8jWIahDk6dy/5Xsvyonpv0oMu
juKZ14lA47nL0qg3rweXPpOtlyij3bNIaQd2YHAmT1Jf0nzXaD4wrZA0XxN/cUqTXR8PAqFqBlgz
O/thHJDSCQpgM6+TMbmvPH2xDjWPPmweA1XDfaK+y1rKO1Tc5KJzybHSVaxpb/iL1MHwignqFcSK
dJ9OEo3ImJ31zsNLQJ6wJYwcmg6H2mW2zViUxq/2ovLsQg8MnHciUEtmj/QHNtihuqiqWiZRwv06
eE3dhJgI1N5IOs3eTsjur2oECpA4ZSRDbWy9r2pmIBUg+zZfRsmrfIt7p7ECQUNTcYh1DwvOSATm
ycnnaFDoqph0SJlF0wuEoAm6JR6/CyvtvfV8j0t+rHVyldfzkiOwg1KsUducyKMvminv2e8rRWSY
kIhxb03Se1LxxCzUq11v2SrpeirE0DaYzA5T5lujnYzV/QA5zzuS5/LdDVt+esgbcpjFaXDFUFxi
z8IhiAOkK56TlgrgFx7efcYbucKFZdQRhsBx8t03upHtFyRx/7MNt/gqBkDOmewc4wpYQ/6CHdOZ
gZ4kdRUurUVlt7Sdytp1ccUYZHImurCXrPBa8vVakoQVL6YltLT/wd6Z9caNZG36rzS+exa4L8B8
A0zuSlGW5ZJkWzeEbEvc952/fh6qqsuZFCc5dmPuBmg0uttdPhnBiBMR57wLsGUs1CUtO6hkeSoe
bB+ow1E/TitU7WZd6rmM+2XauE+gI/sbrK4h9TYNlx9qXJ7wJGe6fFNGUkC7RfNUyIxpmCa07fTh
hzrEpY3AcSzfQNjx23UIqEvY6VrVxWshds3ic4tJHFrifqno3zqzt5I9GEknOjhgU4V9VQ8Dsqx4
JFbH0gy78NgJJomTCwYOaV7Yly4OA6rnY5Tc59p1XpR6eu9rnlnbBVLK3rXod6SZlQo4T9nGtUsr
AZPlOFy7FC/KdQVvlj+W2yBk5eW++gX9XNehTFPRmFNCtYw2vWgk5bYtI8fjola6R2C1tNMrQDzf
DGmg5usacs+F1Opvhr4xi23hcBRx04lDaye1fQ/CqApJw0Hn+1KBCqvSC5uMOrP+o9V9mp5U5dVC
XgN/cJ3XQEmbYi/rCFFsENL3g8+xpWThyO9VPfO75etBtEW9tXqE8J1+E2g1Mxy5b6gWi0ZKTZ5H
/HPqIiZ2TMrK8DcBdkevTRf5HyqAaV9L+FqfBk+zlPaTH/tFupEFK7bWZeLzdKraStt19Bz3AzB/
4WAEpfch8cPgCVhy8lmTjMLAolqp9U3tY1VDw8P1n/qmo9XnIGGlrlzgEGABTPNVH9LoDjmUDK2h
tCi+5nIfqEhet/je6egRYaAtB/2tVzRcAMm/rrDq+9ANN2HWsd1LFQE0WWrgQPp1H1b7pkgTWuZW
rgpcIkr5efCD4XOEs2ZC99fwf5g5UiZbKcllvqGotTdeDgOciLn5XHtW/qel5oK24tOLh0pKg3Rb
Rc7w0Y8TgJhOWYi0FVLqAL7lthVtE0n4hnpNftVkidWtkRoFrCvwtHdp4IbRc13W1ke1lTVBXStx
3+TCnrPcQxAwNEtaGzxRuHLlgYILexE/DInf5luLG6Ox1XlcUDzX89JdgwaPPzpiZyUAe0vlC8z5
9nOGMdZnNXLCD9zIpGTHRdS9cYqg+NobtRXsFF8KbU2ponvdygeAzGqLvgxq9eiLy7BsOE0pqT2R
rpRsaymN96V1pLhagaszjr4AXG1Vyo7+mcZueVe2w3BfuSGHJNohFQx6t2vaVV/38rUWJ5q3ywqJ
xpsXeMp95lheSJue59Z14HWqsdFzJzTXpW/Bsc1RRFD3Dgf5Hb1lP12rKidjjOSjvK4VubJWCeVw
f61ydbqv2ppngMWF+oNo9XGyk+i1JutEiSpb1s2EbosTYML89oz+/0ir/+JBdFJReMdWuC/8xP/x
/ONfo0H5ffqNyuppjfDtn/6rSCjgLY7ND/VA5PHROJI02Gh/VQkFXfrDoiaAWhrVHWC8o5Pev8uE
0h+KyoPPoiCCADAOuj/LhOIf8IVBXMF60KXR3PtXyoSEOKmlwagY7bHgN0rIjuBEIo5/flK844Lt
drmrWWuAHvW+aejytV23RP4zx9LRz8oHzr+KMpKZ8M1CTgrN10nBhT63JOgdfXfBCZx7HyRPt43o
OAOoQM7ia+jRl1z1PhdIYO0BOM0BXjh3m6rrbnucNfrdAH4BRadMbMot6VAvd71fA61XdHZZ6Yly
Z2eKWt/GZLloO5hm902NnerYCooQ7l3w7I9DybG5QyJKxEyXFJqBv5bKr/hsFB+LXnXd61IfHKC7
7Ki7yK95+dVRXVRrwHN9ASgCRPm6pLNMPSyqTFyUDGpwgVJGIwo76z5w27L0rYXMgrDv9JGez90/
sePEDXlEJgniGemAvjTtDYa3FltreG2NEcsuB256Gwqe/+iDEgjWcqnXj7kcqe0a8gHwFBXjShuz
gEC56stCvZKDcDj2rW9AcIzlZthmAIMBTeQRxRLTRzttdETAmA2uca/iHVjj/U6p4j4eTAp7qcZT
GekUpwRKp3l3mSq0XJfg3u0UZC3clQORHyRrRX9z5QN5aOgch/IHoQnlb6FrKnC36db8ONlEM+XO
yWLU2QvIOnK71i24vZoyqY+F3BZkoy+EtTKU1qHsUIOlwLGk7/JGyTlbjGMYFFDRtjElwIaTgnWf
OGZl1aWw7ksEEEPf+FQ2CPihKFRemwpVKkx5nGspSOs12zawOxpiC4VdNv35fuAncH3QqJljWcC/
n287F/x7Z8WZwJvXK2+irlAOfunLPNC8bAsvYsmh5ryQzP4jHkmGf2crklQm8Sq4F6Eq0kAE4p+t
Kc7RCK3QS0sSQ9pf/ogTObe3WNBuiSMjS6q9dThOU0qeeY5fmgHejxUXITjufvkFmRcdiQVeuxWE
BgQGNkIaaCGghPIjNyzxpUWpJNwpUaDY3RB6JpT7tLnNG3733hksTjsVE6j1eKnCfkNxc95ZbB9z
3euBue3aIb3O5DK8Q1/cuEGR/2+9j/8XR13zUlR18fKvm+es/NcOSO5z5afJ/xhDfU+zHpqMV/3P
8/9KY+fvXzIeNWf/ZZtUftXf1S9F/+mlrCP+0b8K+uP/8//2D/+m2t332ct//9f3tE6q8W9z+Vmn
x9bI/v4/N8P+V11WKA/7z9N/5O9umGb9gSKhRG2U7au9QYX/OucQv/xjxPSik4bNlcqt5Z9jTuCf
QUUToSUoom/4Y/bi30Q9QVX+YB2BWKYrJkm4f5m/ctCdNzcAF6MTqoI6HmvwsJM4Nc8OOrwiDF4a
rWwbtwmAXG8FJgeATbZJlkxxOJpP9vb7SJMsNsCjCw3e/HZoIoMgbl3/qEerETb0ocivBVVbaGac
55L38cY/PznCO2lwxUghXmXcrnLzqok2Ds4xJ996JjXPBdHoZsKp5InNReE8SKaqgSbA/LI5njZB
9CTH3wsp2Hvpr3mr/DUaHNFIjdgVSsDRzwPFFEY6LPxkGxbfVe5nYGK8dZhtLg/nPB++RTHQceXu
xWEzqvidR4kayPUpdRN7vJ7fV5Q91wB+6alHpXK4HOr8UPt3KO5+2LcgImFNQsGqDsaLumrnrWzy
NI0QaFY9Z0EyYub7IESKFiAyciLdtMnyplyfSZKmqHbSkhqVRruvYd1th8zMbvqmVBeWw1ur6ucZ
+teoxjYoEhXq+OSYjKoxXSFH4V216YKN3Z3YiB/SNgWh2vndCDyFkh1R7S8anyteIx7D0C2e6yLu
wk2Z4uexdVuNGgmOyxi4NEZmPNdBm7k7SauQ4Bq8ILhPu2qAxykGr17ODXKDWlbz1fXxP/rY9K11
AOsVamhA84cLw5vo8/w1PPqu3I9p8CMUMFmFddmKKqhp1VZ80duCVP+ghj6Yd8FUD+IAFdARbgH0
PlErHo5RKXCNKkxlgTk/uai8/QoLUW86lSOJma97vkp1IMW0NphkWRmVnyhcqlZ1E5g9dZqenpWY
b7Ws4h0vIr5HL/Hywp2bBJ4tbBEZijwaQWOiO0ksaoo4SKUMmq2G1MMowvd3ifSpLJBmVSuwbD6y
xKKJLpqlB1ehUCi3mtHpC/z9mV8xGh+P/G4yD4tt8isqUw4A2NSaTRkg/6LXiXMQDfNrgwTowZdl
ZJgjMbypMefeC3kFUt3xJe6OkXB1eTre7WPOtNHMQQRTAYFm2jPOFKtUWjMVrnVMcPe9ZXR/Dlrr
LCSm99+cMFDXSU1Yf/PEmzThMXIplVKuhevCBaM/HDsj+2GFwjACh9eUDTL6F2bAcvNv3D9/fYTI
NHBIkkYovU1mukulsKV4Klyb0nHkN7b6gvzGuyQ1ju1ngKmkZo9NthjKrXAty3dxf2wQxrWuRG0h
FY6p5yw18XDAXgKDWDAiEon3fNmmkQERvrSsa7qC0hpCxp+qUOz8Qg42gNTDg2tiWn155mYGdhZS
Pg8J37yIy9Cwrg2E/b5K8oMZPpTKw+Ug786sybgmK6MNPbdpwMNdu+JTmzxr0lUb3V0OMTMOLm9w
vWiMMXnG5JRHSqcMBdX3bEEY1oFrri25pntw1yjN7nKkmd10FmnykdqSepo8eJ5dS84u1cx97Xef
L4eYWQfjTRRgFvc+bKXHwZ6kr9xsZCjEgWeDlfH2zZBfmTTIt3Cwr0Mn629Kj4LC5ZBzo+JeYeqk
TY5FYzIqgP41blwVId1in/ftV9yGFsAySyEmS41WUJ+nOSGKvqD6YRTAu+khXB7HuNMnW4jOKiqD
Olpg3L8nQaTBqYvMqT2bjeq4zdEU9j3HecUySKxrM/+zMpek9eeWHvIwPA/AxgCamySfWkSvL6Iu
ZLvyjejCCXHvhPbOL5egP7Pz9zPOdIlLmRUYjdZ6th4We7WF0+X1cbcwf+8eG5oy3izJPbx5IMZO
Dm4xcgqYCwSRbmFq0Z6r++i2QVLOhKObL13GZr/WSbTJQkeYzBj8tPfs2I33ch0fpUL8EUMgSi2Y
1gEtqDJba62xkPTeTt53q+Qk7uQOOHYo4fUTt0BPI6/2pVXj0X7M8OWU5S/U4Tahq9GfBOJbQzEL
r73oxfUOcemg3fDUjrDd722jwkmpbty2WbWgVnRgg1a4LxVt36UVCB13JQkHt+h/I9OdfqFpQUQ0
cjOORM/OWiyBuVMwhZtOUMC8P1/eS3Np6DTSZGG3NBprrWctePVdIWYf8sH74RafXd+TVwKts8vR
3lSG3n0UDHjhHFBuNacOHI1VC60xKJ4NEwvU+qFMX63ySRqK1dDXX5XGvHd5kHagfQJIlCsnugto
z3pFv0kHpPySY9Dc6UG/VmCZmcbORWHi8i+cOcaM0SH43z9wMvNOUHtigfqNXaMduhO5YH6oOxFm
ytAvHctze90UuQhAaxZ5U042hi92upTVkmdHaVRsamqeCNao8dXlAc1lrtMok21AZQuYptaxDfzn
si5uWuGp6tUjhqsLMzc7HJmCPZdPHgTT+3gQlVrI49izQ/HeAxXagOi4PJS5b2P+E4GayfmR6YvB
0BYNQ6mEaIVYMJiqu9+5x2DzgNK5guIgbtmTr1KnVT8U/oBKr3Tn9sohFTHkUbKFZ/fsUNAZQpkP
gXy6DudDSQEdKLSGScEsfaF5zIanNlt4m8zG0BVkppCXpEcz/vnJDUPWUxFyErCrILlxBgip5T7Q
lnTo3z+AOEzQgfsnymS+FGVghLnn252ciMDSRsE23fWukE3NtvBqbnQFc2NQAaWrfdXKKt66SrFk
vzyXxU5/xGSRd5qrIA/FUIeuRE0mUnGS63wF8kYHNFJwoSP/ok0cz99x4MC7MSqj1AAs/nx6Hbgu
eYjkhH1FS3jVpB30VXWtyrf9p8vLfnYHnwSSzwNpnV4XjTGmJPQABOVZoy7EIYW08uY/CzS5wgfj
q6XpTM9OrT+r0UvArNeacjSzbHs50OzKNFRFfHur8jQ8HxFnG6AECil2Ijy4gbEt+gfBX7oAzE4b
kDdMeMZuxlSTmv6Y0hZC4NuB/GqAwwyDD5YZbdRqSYXyTftheqiZ2CDxMqYKQC35fDjIrKLXhOGT
3SAikPdQRON93t4k30K41kly6NZisBosvFd2pYVC68Jnm5lN2rcqkAyFWzG1kPPwYRsFvtGNA7Ue
KuXB4/21lErm3v1nMSZLQy5ELEY1YiB0s+cWbBz13t9mO5QsDn0+amj+EMwla4WZEwUBTnIxQvEm
VYdJaqkNueWi6vq26bR3Qa5tUM7zVr+8FKkmsLIB22MnMT1THANgEtBG33ZgbPE0FpQQYE++cO+Z
HclJlEmuqHVsyzsl8W184Ve1AV2TKt3lgcyFGFUG0cwcJbunvhBp3nidaFW+PZg3dVLs3ObXLJDf
Eh4PVarrb0Qga6r9aTVehFtdiRqq+OjLN22XfvLkG0WMFgqLc+uZ1IC6MC5SaBZOJstXnNKLco31
rL+o8SehfahoYV+erZlHCc2WnzEmeyYFuSMFwBftESd7dEMlX9epiuS1nx3jzPgcWHTrRBPNhCBc
en4tjW+ylyoYlAJa4r5dmh+t5jHQvlbW6+XhSePfMUlJZ+MbV8vJ2T+YvoRkuu7bwnUJmlY7gM/F
c8yBd668IJy9orGqIgzG08uIlyZ3JvOeBR8n4CR4JStt7bXI5oZACvpkm2uffaCgVvj98ihn43B9
Rt9SYXkak7u6mtVmKMIHsCXUr56hj6n5vSh++o0gNHqQ7OCGgWTz+WDQUNcDdTwUFeOghnsor8Z1
tLQkZkdyEmQyY3oiCZ4yGByIvdVutdL/pBcyhPEiVNZ+py7Zkc6HQ66UapAoI2h8PiYjVPFyhr1g
YwKMNli20asjXJSNLy8thZmLGR0CLKg0LE0oOk1O+k5V8xrCFjlDwvVSupMDhEL9eqN2UDXq68uf
au4gPos2yRxS7zh5HRBtKDbG51goVkV0JwF4V8HZX9cA9LLuoU1JvwaiBS4oRHUhC8/mFbpowAv4
lzItTSVdFjqSQY7sXOoFMs2Tdd235qoQ8QUrJAtp1BxdzgKQ+T7FUn5hsc6mlpPwk9Ri5bJUSeN0
Cwjf1D5gIeFhsQz7dp+ZJhcgFGO72pDhIU8+6hB7piAC3idBV6g9gYPwWaU3QfzF53izis/Gg4Rn
AX4z9NMWHjXjnn4XG2stnMFHeurUHKAWdYpiXu3bj30KXcpPMcz2ABNhNajsFOM33mk4hv0MN+6k
k1SWBoGL8TDhxC5aacZdVLwMwePlZTv30U5jTB4vrip0BgaDvp01xzR99uu7fsnEaW4bnoaYZEq0
AkDINmOIjSrfJDJ07YPZv5RLbnuz90RVwjuEAgoIInUyX44jNYrZs/6RRgUpiiyI+8nNxE1QCz9g
4dhiMjhrlEKgLC1Y3syHRr2fVTHegqahszZSpHQ80uPMVa70AYlKlGG7jS9l5t4Qse12nbzYU9+T
bKWArKXHsbuwOmfPXd41dAJRcccvcjLRgRD5uSiJjF++S/U+3YV1vhka5QcAbHy6fFsRhquxbIg3
0DYS9k2L5IS40GKaXVAnP2JS0xOronB9tfPtXLqx4I2J5d1is2x2H8IQ5wk8vnymhWpTK8MGdVIu
UAVOKYlj6Vea7ibbOhq0qzCrkXrr+2tRy9SFQ392KeOPApObFhpKxOc7Um/VOG0iAldZJB6lRt0H
kjSsTQiYyJxp5sbPEfK9vEPnPyvWszxCRnrsW1nzJA3UWd8EUZ2T1jXhps4fwuYgK9u0qnaSgHhJ
v67NRxTLtr4UbakqbZuvl3/A3OVeHa333sCwmL+dD7qtTFgEzfhKCZyb0c2S9tTCyTW7aE5CTBaN
Gfi6XrQ8UcT0cchyyKE3ip4vXLtnV83PINOyV+GBhDU8gghx9oXbaYB0p1FDLvPvGv97FC2slbl7
DosTJ14d63FAm+fTNjgOBHgrY0zxcUBmKYqOVJu9eOHUnV2SKESCeAZfRE/vPEwjDbDodJYk1JYV
MC5gk0+RhmKqv7zvZodk4KwB62OsG8rnsaQoKPqoI1bQmWvfl+G2vGboGmrtUiqbXRAjIlPmg5HS
JxvNaiPobCWpPI1KdKl/eP0OwS5TGy0w1leWma1ptvnoNKn62uGGpSfNru1/XF74Sz9i/POTjZdU
BocJjB07CJ496ASVf0TR6HKM2UVJlWgsAgDAm2pRxGbmwYUgN1tczzTz0AUSOhEfXW9nZDtnWIg2
P6Kf0SaLxXXCUSOZd7qGwCZaXHEprTLv7vKQZvPFyZCmVwrYYqGP1oRdyUhKO08u/NfLEZYmbZKR
jFHKKi2ZtKReo6Dkxs7W84ZdBKbbeixg0F4O9/YR3t37TkY0SU91ZwQFnH9qbEB35e42HDHr5W0K
g5RWUO0fs27kMoqfAi3ea0qNzUWFCtCuDZcgPwtzO00qoY6iiI9SuO1hfhIYd46zpCAyu0QwIgJm
A8CKutT5osc7AbZu1JMl/foVmaLhatC1L7gzpgt3ptlkchJosrvyNkc5SWdSu/BZgi0XQbvyYiSW
oFFe/n5LkSarXnIKFYwckZJBO+RyeqR1A8wB09Tny4Fmv87JkCYr34TGkClVS8LATXPl6y+hXyyt
/aXvM1n7vRq3aVETYzAeYlRkk/KbhDPd5YEsBZkseDDChuKJLDOTjxI6ryAOFi9x818FB0IA+ON7
bvL9xUAtY7VjocVStG+TYSXEr73Y2ZW/sNDmB/Mz0OTzK3D4LdVlxoxcv46VF6Rwt0JhLiyy2XMY
n2+sPVUsod5ucSeHRVa1RtrLXL47VzNAcSkGYrrIMQcSnheRL6HsIQULiWl+ZD9jTvYqPojAR6Hk
0px5FiUYjPpLBofh8lqYTbagHIE461wxpgkhE12Pl/3AqyJ9DSNlpY+GKC+NuEZUs0vEq8vR5oak
yRz4QN+hd01XBUrLyNV2FrV+LxH3eSpg/esE7b4M02gh1FsTZprW6aPBGKN8h2HepGJT1mFRq2Ai
gSQNh9LCuoNDK4wgWiPMnO2tCtKwv2qRHw2bfmMMd5pR/1nV6rEU0U8UMKEeqn5/efxzuwK3NBSq
uPpYgKLP069sNoOVhvwm3+82XOWk5DWpcAqot5fjzKUqDYy3NjoBgWecbIo26LOqM6PAjtxPvftK
E+zy3z+3ak7//kkqDDyHypMQB3aKLTdiyIoEh8qFcYowBAckZiGX482+wMF2A8+UJJFOwSQg3tN4
zFTjgCxkr4s8VHd4LOKI0KXGwc1Q2iojCzlcPbRWGZy3L70FRvfyj5hbvCO+DWgYZUd96ginGGGV
alhT2JL7KLvimlaYoD9ejjH34XQTwauRSUKaGf/8JM+EyVBXg5wGdhLFDyWv/RXwsOw3khkpWR/F
2AzcoJTzILmf933aJ4Gdl4m6rkUP0RPQQJsmy76XWcNhbendb+QZWrK6ydUDNsy04UZduOhFNI7s
Xrxxy4dGQ4I7/YpnFPrQN72VLgxxPMKmm3+0XP1b0GvK2vAx5+2oEwW2GRiPmbKS66+BfOiSg985
H6XsI+/PhdUxGxHpRPSqgJDyVDuf1FQR/Qgf1MCGpsmdJzUT3i19tU5Vl5Ip0r159yXXzN3l9TKx
Jx47Z8iVwXyAcUAvk6bWedhSy2Kki10aFd+NHZL8eXwtRev6m/NChaaT1lZn5ygUoZAhHpvwOOjl
GrGalbtYjn+/cvkhvOnwFwPiBJb6/Ie0gAmjzM0924KuKW6kZGEBzZSGCQA9BnVkvMeAOJ8H6D0x
V2BAAAJqeXIgYjUcUI38CNsUJPVD2730SbZuMSRQBOdDX+sLK+p9yiM8nUk0CmkfQvE7D59nht57
yBXZnDUrZIlXLR35BqH5alupX+krLsR7f+OAAsY9gvwtUY7WJsONjAw50Dr27NyAl9k8lVm3btrv
kb7z4mDhWJqLBfsU0BDdcI7mSTEjyoQY6z5gIEqTbeX4z+FeMAag0Ehe/XL9UKXtCjIUWBoAqCkE
yqo9wwtTLgCC+oojzcqKjlLoLyyV91sRTzqyJ4AJTDXI1eefKpYqwR9iSkGVT3skfsg7FI2ee/1Z
SF7kz1a78CKeWRmjzSOlM071sa98Hq6I5U4rYT/aKXp2jiBsFOczZuByeGWmFheqHwtbXubvO89t
4/B+xhv//OSMEECk4OvEM1/Sox2u6+sm064iz9ibUvOIm9XK7V6H6km4ivxqtVTRmKlXnkefTC4e
cl1r9pRNBA9pD7Mbid07x8iOpX/EVPPGQty5zMwDIls7WUTBsdHWvAEWdsfMhYCfMTaI4CohgPOO
XCY6Jpp1vGF0bNjlSsYI9qkPHtHz3ZdIJyrK175G3ltZOjvfXwLYlLgrUpke28JT+pcTi5JrpRFp
TodubjUrWjj0uZeW8ExRAhg9YMeRkEB9cbqGKdf6GipTwM76H+LeE9H260f1m7WnYkcQrx60K30/
NIdEWKXlQrNzJh2QZim+G2C4WdCTVD4miLx3fapWxncJt74ouC+KFySGg+D7wloeM8tkLZ+FGrfy
yVo2DYwHBHSh4Ag+45udah/8OF3p7idjQGL96Ji7NP28EHNm/5zGnFZZ1MGQMpop7FcsUcoPnnbA
HTJw9lhBFJ+Q8MJyBboZFbSFLDu3ZkEcjRaDFD15ZE/m1XUKprtj63jIoTcvYv4cvpQi5o1hvTar
exXXl1hYeuy/f3KAToT6y6eEIclj4HyGnVQq6r7jfdwVSCOaa8e0IOQOazlZSIMzLfLzSJO7qxmW
g+yOdbQYfThYjEL5OSnkLU8uxYIzu04FTKHFa7TAPspyvPesT07f/TLAh98w4pRgorBP3z7ByXrq
SmcIxHG0jSBI60JoM8xEAIjoSpCuF9bRXCrgTcINDHgFK2oysz3Swl4s9T5UWjRqlOoQZbduTCsX
1wk1XKnmo6TCrjWwnFHj7dgllKPQ9lC8LGTn4fKPmTnyGPfP3zKZe11uAqVO6cvhZLJCamjlWM+h
UeABbqyGOkayyl8vVreXJmD885PJtqBljc95crAUPlho0rWJsTPbl98YGhIx8LKA0fFqOY+CLawG
icRiuw7SoTD3Sm1tqkrfmGrxEpibAZ+doBYPl4PO3GZ5GtHegfnFVXPa8cVxotZFT6L2EkGTaFAJ
WceKUi+cYnN78zTKmIhPJlBOBdfMW4ovshDtK08+1PmdghzJIg5gNpBE4oaZTPdcHP/8JFDcaU3t
1ALLg0LaFjhftk8141VlA+4kTNUXbnmzs8dlGTVYOEDUe87DVYNmtnmqwqLqQcgMd31aby5/n9kB
jcxDrscahIrJ0gvrEiQlQnR2nKOypt1IYroV3ONidXE2Z4/dsH8Hmsxc3QvJ0I2BJE+zjdjb5h5W
711zRZdgI5WNvvIHrNWs4Dtlh6//2SAny6NTNLeoxnNYHw7BsMujj1karFDFXFiGs5+LdxUlKfrA
qPCdfy4zgyuIjYhnc59aQ9ZR4mF7eSQzV2TYGzARx8eTzqPmPIISFW0EVQTmg4y6cfzJ4aasS1+Q
It5ltJuNbuGoHT//9FoBWwT5cDD0hJssDwUzZ/5nmANBte1RHRoOSI9dHtJSiMnC6AXcMKBx+nZf
fQqablO60QpxuoUos+v8ZCCTT6NoiSgLKUyA9jVlCIZxB51jyJ4vj2X8Wy5N1+RiknHZRXGAsXQy
UsBRvs2767D70AX1OgsWlsLSiCZLIbYwFKbVTGbNcEML+mPqvXT5ZzkoPl0e1GwgdFSosoIZEqfQ
+ToUGqnCCc/OxX6j5o9Sr9xg8dq5xcJFYHYlnASaHFDAuArNHZ+bpZRxN8cheQNo8clJcm3hVJr9
TvBTgUFZI1N03MgnabzAQspKQr4TugDrXjmGdAnvq4C2Gm5Dr5enb3bLnsSabCEJ4Gg3BOBCDLUc
btvEEfdxb95WhvRSYFuDNXr/TRcxObwcdvaroXqDfhIXVigH50OUSjlWvRoQAiKC6dZw4YqkifNn
omKHmHtBt7C/ZlMf1hMaNhYj5mcyynIQMS/XCBcZ1Fo1lMN2DRS+hTU/t0KoXJu8VZEH4j+cD2oo
nAzB4ugvqB97uFLulrP4UpDJxvJDM27MEWUTSscKfbnUutER17z8eebmayROUOmjhMPF6HwkGJSD
zbeodZSGkv8pNRgYakKQLjxAZ3o32KGehJl8lsCtVZTRO05dy0oPaLUqYO2ip6gI4l0U4YChV1KP
M81Qbzur1reOHIqbBuHMTaLr+rZBqnbVRrpykDzfGvVa0VzV9UXqyniPmebN0585WaydK+t/gYCQ
Xk11vLDLatsh2d0q2sFUj7VzrVjhmtdetVjjmv/agLaQNjOhiE1mSMIR07JQTrMRBUy2Zr9LHi5/
6blcQ6XunwCTsSkaQjb+QJWJC881EENzix7fFnmnmPKOd6sO/sLOn71qjfdTUyJpj5Xe87XV9rTs
3J7bsJZl1jZDyH4TtyJWiFigbUMZZfoc+d11YvKoy3Av/1po6VKVeXZayQTc+DCQIiuc/4YoaPXa
c2ROJ+kJ7qQVFCsv/HZ5ZucyK9V66JmAjA1Tm+whNBFllOZDmoDGRpSPqPtvBF7+yROIBbdcaI+/
VR/frdGTaJNZlawUaXmF3OPL4s5w1mLfc1Pu72gCbZsq2wnFEz7gXMrqrSmXV5eHOpsuNLRcqMai
bTDqfJ4eWJbkZ16CjKOdNPsCabvfSd98q3/+/sngnKZnbwj8/Z0TbyQ5XQ3+0uV4TJvv5u8kxGRF
CN2ALnDLCaHm+GXJ/k6Wrsu+PgTifao8at1q8fI6u/NOIo5/fnLKVxp+ZwpKv3agfo+Qq0ZgH3PV
EPmo3nsJpN3lTzS74k+iTc6mWBRksx1YjQHg5SEvbsdDo3aL3yjMcKarCFxSlWFrnQ/KkcxGDN7Y
C+FzHnwLguPvMEJGE+2xCAUGjobYtI0RWWGNswrgGRyQwuf7xNzk5X23pDoxu6V4KQEIH8vAXBzO
x1IDo4g8kUJXFKDhn6brIL4fdAC7lb6K8PgwlRY5BY8ShV/v+xgvu1//ZBTy6N5ip0P/b/LJJD1X
/bTlNa/JrxFIJ5ooNaEvB5nJUvztfCpuLfTVptlYUWKMDFOCFA0tNaVcZfUekcoNRYtN6mHDkizk
ipmNNroDocWLTKdK7eV8VoGN9IYj0ZUGArcOnOBWFTlRZWQEe+tR0/xjLR4rY6ltO27fyfYG6Qor
H0A9Hl7TC00h6Fgb6nlgFxa1O10X7ks/vKmE3MHpCuPMy5M6s9lIVkDaAYSiH6JNCiOpGnYRRkhv
uIyIFmUm3bTm3eUYM+njLIY8mUfkdk3XCQK7okHZq1i0Gv3K627a+rHArfxysNlVMvYpUEujGTLt
UmLWiMCz2wQ2Sv1jHx958FxTvZ3siNEuFdtnIXdT3vf6y+W4sxN5EndysFSqGWFgnAU25rGqeyOa
z+WSoMhcCIY1yrlSuHj3Ekl5Y4lW1Aa21Zo3rlNdUzFvugUo9MwByYsAzTMYAJQapyrUpd7UIkrx
gW3IoHReUmOJQT63viEXQHjFoM7i0n6+GjrsISBIGoE93hKRaPB3OgjMxPl0+XvMLbrTMJNTslQS
h4cb6Ac/Qr4m2snmlXxAsR5/lC+XI82tuNNIk9ORsluuFD0DMvqd0OCYGYnil05DubmRVom5jZRf
pzSqqLf9nMJJYkpQiM5EUQ1sBfMM40b3t02Oa8eSPtPSwMb8eHLsW0ZfldwWA9uVrtQW5SQhtcdi
T/gY4n0WZcVCvp1d3z+HNW2VBI2iYaiOyrM10KU1nHKNUddBrOPXyx9s7rhk/mgkQlyiHDcF4uHP
YoUJ8ud2k4DQMuKvsiJfiW3xIUir73mza8SX4kXzKAkOKf7Sl6PPzirIBjCoyKEBOjif1cJpCgwR
BJBqJiC/Mks2upRAww/wXTYgqw1oOH3/z0JO6kEIbTlDGxOylaTbqOYukiDOGKDkUZZXGFJsPTf9
jZw/4jf+PcpJOkSvM8kaOQztUA8wmdbdXRFjbpe2krAqvOgQt024EHJ2+XCbGx/qaNlM+4rZgGBs
MYKI5Whb02YPKE+W+kIjYTYIHOyRHAXHd6qN1mFuBFGFNoxaP4PZ9OqHxbbl7ALh2TnynxBM0ie7
O8q8AFFcXnx+K6/DHnKZ+M3JeHUCa5QPsrNwA5jfDSfxJtscYx4PnXniZX5w5+aY5WRHc7iR/F0j
l/gny6tYucKxLFt6X8/O5c/AU1qdJeQiQg4KBWvpKlHhKOrmlub/x8uLfz4K0MLxyGS/TabTrGKn
9Dsd7A31cCM9FlGB9NT+cpC5UxOpRnFkKnF0TonzyPcZfhUTJNAkOyyi60Z1ni+HmBvHCKij2Irs
CQra53lDl72WqgshQjDyffKsWg+o8v1GDASU4BTwi981qxMtTmvsArnxVkcBpl/cF6uA6vvlKHM3
APDG/0SRzkdiug1aNbpLni/uEmXYdhXKcvFRE7SFA+WNKji9S59GmuRaLNAc1MYrDkrPLa6wjoxX
GNXQexlNLwo/KzauUhl3ooCiYq7G+sdAju7Ktv1qtIa3Etyh26eS62MMgycqdpX5ShzqYdV5IrLK
hfnZ1F1o9qOrQ6lg9ZwHPvw+P/L2RlfVdgV0H+lOHkKNWy6prMwuB+63I0yefv8UM4L3E1I01J/t
IQjWRlRtubmPFhSXP9UbeujdDEKv5f0KxRns3/m3UvDhM00XmLMW7YA7Hy2l/9+kXdeO5Dqy/CIC
8uZVUrm2o57ucS/CnDHyIilDma+/wb5391SxhBJmLvYA+9DAZJFKJpOZkRGhZ9VyDsTZzUbxZlQf
DUuinoHyauPMKT7pBQ+F88Fs/oEoSLSM9NSNT+BFrr0YoPq9BgU2YoR2A52iJwKeM2iWbWk6rJVr
TZnEgqQYrXLkFJc/u4amzwLhMySZ7L4Y6zgXQPcu9GRnBVRNloe5yB77GhjxhkOuUGSgUabDgXdQ
VIO4lOGad3Nu7BI+axvRdvWznf0w5RSXplOwzgZk2xkgvlSwIL/rrOR4+6ttGZF/P0/cpsI3KxOY
7a7KQ/KJT78ab6N6shrwMJkMtLakK1IHJjmfOfylRW44vRR+EWraRrhbDRJnBpQ1ZB3vZpLDwFhF
oD6FexnGxzL9dHun1l4JxpkV+SvOdooWAupbBR7bk3dqxN043YHToXoq+v1tO2t3+rkd5Y3Q6p4P
Z0IgMuwnl0QT0NcgBG2Jj77BT3jgbWtrhWvggUEMANgRDoD6dYbFg+wBh5chFTKNJRxdzM9CoI6S
l66Lila/xyNfkK0HgwwGV8HizKzyzWhCdLqMKJi02c4DjaWFhDZgyxTqmRt0ph86kx4MUhzu9npX
v+KZXeUrQuTRq6CkhzCfPGtAPmFhOgbibH/XIqP+C1uYsJZDPJL+Ubm8ZkiYzrONLyncuwragkGp
Yyq/EscOcqjgjd9Ymtyyqy09M2dcOmjh2rmAkjLuyvQ7+kogGnij9catv5oBYhAC1IbAdkLrQQny
fltbNp0wm2AkkxPqLLuDmou+fE8wcQ1JYjBhHVhNPoE0t2mLt7/Zz//aVu+xZuG1mEbYHqsPydwd
ofwTAgkUMO+Xn/9NtetsoYby8TJBWspczHwQvILwLKnoYQBsNm7Kpf4LXC40OsClJCee0GlVriBL
z2hLRxSi7pnNQ4OBcVibNnopq45/ZkO5TZYB7IL1qCPQa0PQ95Dgqb87bRGNoKVHu+/2l1p1xTNj
8u9nsRLHYaYg0i4eapd91km+S2z3p+Y70W0z68EL08/gVAHLgOYpp9kZOJSbW4ykMbMNZrt6Zol9
z6AvSumJlMsTa+6YH9b/bJiV3/7qpHmS8E1SiALOcLm8adAat15gFhrgES3csGZv4NjqxevEqsAU
NDDRAjwsfAtzt3qVokuAAjPelRgnuzRMkMAUC1Q2oKpQu6GbT9NpTLTucHt9W1aU5SU65pxbQ1oB
X21IXDZHSYnwddvKqo8ACSJpUqFdoHYSgfocoKCFi8cFZ+2w8yXZ9LLRi5ff/+pDndlQ/NDimG6o
JzxSzCIzZG3eDpdKwyU3Z+GEmaT/55IUd+xRZ3OcDksykztv/K5HZbk18rq+IhBpodOM6q6jZAfl
MNmZOcOEBjkT87cNorL+tWjqv3ABWYgHng49bQiuXTra7FhuPo64S6p+AVThNGfW7s8//7kFxcmM
tDBLw+jwWnB/0A6Ih+SZ883sZs2VgRgFigoYGXAvK9cVySdSQSMPaUZ3h0nkKY28oozQ2o0svMbm
cKoe9fpItHbfpC9189Qk7YZPrMVdjLihOQQaUhDlyF94FgrnchFQecEHs+DgYLAH/9hg7QbHjprc
iRa7fPuLfT2zp7p8BdW1voY9UnsnzK6H5sAeCZ033g1rozQY3TMtTCmDcwg9r8t18bTKq3rCw2EQ
LGrdR3+cA8bvUFQDE6AAkWLmBTXeb2YTkQn05K/DlvaAXIl6uM9/geKjeaEx0cz4BV7zaWjt/QIR
X6/Y4uRd9aCzdSp+Ssu8nNweVhx7n7uBp23cy1urUO5+ky0tYAZyH9snTP/jjhxJs+GD62sAJg20
GTaKHIoPCkMQu+zxxPUS858sdbwwY/oS/Y3j/WtEcbwCrAxNIgdzURDKuXHn2T/6pNlwu/Xd+teI
EmFLu2vMcZE5bs6OSepFbNKPm4jzVSvvKDHQM4IPQT7Rzs6sJ3gBJXjkftThYP0YQKHXCZBbLoTU
+9u7thoeMFQvhTsAX/eUY8R0aA+mBUxlurNzobhYBhM92mO6s/5q7wC4gjNLeT6V0rfKqI2y1iJ7
1FrYpN8k7LyrN4rea/eTRHX9x4hyKE2rt3F5IfPzjdwJ9GWE2tw4u3vTqhtwg5lbiNzV/bOlTCHK
N3JC4PJT5a7XQg5Mg2s7REcBsi+gU51ne6JD0rzxLbRM8rHeqMysDS6bmJT+r1XlWrGymi19i/bT
0rV3RreEjq4dZh3UVrTZLcI/ubOIjO+W8PdT7v/EdMiTa6cPTvFhKYs7k8QSrSQZZW4706rfYgYW
/QbgT3W1fg0oADcW30Pajepb6R5aKw09dEz/f1aUxdtV180293GjaXjroVPqvznzVpV81Y+AM3jX
psQYrGJkTButRqZbPlDDi8D+mGigXvPncBEbDru+Z/8xBNGySwdKKCaTZkKK91p5Kaw7ze0DiAz+
TXT873oAS7k0g0ekVnQC62H+FBmpf3SsMqo2KYalu1/diWdmlNvK6goigS9gR0iMPRqyHzA27xd5
OPSPcmAQMx9/cX2BVhJ8D2ArwCircn3VSVlopMR5z7Sn6UWvsaa/cLdzC8rlxcYx44uGsJWNH7Pl
1yweh3yrdr3mBJgekYJ5GMdBu/fy6xiUlR7IrpGMNsUxo9YRc9aFnW34wNrHATYT089I3CW5w6UV
QtwuHcqifMi7OQAP9a4EAgDdDJ00IeFLUBQbH2ctONp4I+CVCh1z25LLPrvHTEz7mkvSl5j/GfKg
GebkZ7rkbuhx4YXMh7SAkeh/E5GB64IeiRzHAVf5pdFkqnxPjHX5YFlfWLPHZXogn+wszFt2uB2I
VvfzzJLiGfbYtFOTtuVDIsa9nEHNkn3rCdBXIOb5fEyPmrnljes28fzCJBoG9FUSHMFHg5rLWD4M
HJhpNGbpgfVmdVr8EppU5aTt8Hjf5WXhbFTRV2sdoK35r2UlIs40mVgDetGHuZ0x4qunQBTPj8Og
Q1owBDosCwwoObXFP0B2b9x3a8cDyYmsYYIYCoPrl5+0qTAaa1C7hMpB+Xlq5vlkzeWXfHbSjWC8
ukjM3fkgWoEkMbCQl5Zmnnm0ypGpmiPb0QQpdxaKku7tfzrTuRfsUz36UbelYL52Ts6sqhQSxpx4
oraQulL9MevvGyh8a/PHKb0DUHNjK9futXNTyj1QjwbIMGUXoQZkpAOkjbePXZ6iKfh2+3C8i52q
V8G5JeUqIFiTVkp0VkuDJq92PAfAaKp/AeBWJqhQuWJfalVgzehDJuOXoT4U0x0dvy9UPI1bR1Ue
xasfAxwNaA/ArwLYw+V3Hdy0djOK0q3Tsgj6VlPN9rfXu+ajUBr5rwVlY3O0xkAmAwvgHI2G0t1h
YzcfBuv+iTlAtAmRa14NMWmJi5wyn5BDZ/ahwkQ61TBMhJwzSaJxEQE1JyPoh+GeVFsj26tOemZa
OYReq+c0WfBSaKu9jvidToFftyCP78PR2aTmkR/k+oP9u1DlrvLc2kYqj7w689+AXw2dNN9Deh7a
hYZ26KzDOIHQ0tee+4Js3PerroJhS3ROTWgJXQGEk8I1UltCu9LvXvI7TTcOxuoJPPv3lRDDcqjS
lC0QcdC/YW377DYHO6M7sENvLGTdkJSylPLlSJEufb6YS3+qZlTcLYPupmqBYJ1+WJo9AR7/tu+v
ugYyMDBGSbY4Fe9hWwUyS4m+62stlI1cqG/v8s7bcdOO2q0RkNWTdmZNccTM7Eo0KLGBxH9MPCA/
wKXvfLu9IsUJ0InECA04Z8GCA9AdQFqXe6ePvp3jyZ1i+rrvjnhl/S6X1NpIj1aMoGmA8jC4igDc
Vie9PV6QkfheFj/vjn/88y/+ZSX2asTXpzbBv0wCPdyoaauBXe7NxT+u+JXbD7TGRZ3Fc/4Z1Z6T
bT2TL+UUNt0Y+nAz0zrZ5SvLnpp0Do32MTW0e/TqWs/fCLmKg7//EHBmoZyg47LGnX35kTS97roi
64q4t5A15xUUgtqehcx0m6DMzT+7OaU1lEjwHzhlQMBkKssmiU6qxjKKmIsFdMRGoGcigsz3Uu1u
f7yVZaGAITlk5IMAUwSXy5r5zDCKkRSx55H7ZRmPfr38U3hl6G4mVir4RC7qnUpRw1w5goSqdWjX
leWhwFjEeZF9mNjXejlo4uNQHcT0j91FteaApfPZyCAKuQBiuvQHjeRBK8cKfzmk+nB75WpR939/
Dmo3vtSOkZPHl0tv6kGfOw1wyxkTUYcccr9m4PtyZG3M8I70m5dpcvUnw0/tsNAp8gm7zE6jsMd7
bGUWpna31YlY+00YqQAoD6VmjEJfibL4IA/SJ6uMMXf/Sm3/ufSG3ayBkOSVtmZo0kODXvfohsLT
oKWSLUG1pfCkXvtyXwCbgq43JrEx/qCOd0Atr8r6CqIp1Lm3Le+pKGNeHjLrRN1TZ8ANSXV0QLp5
+3MogVZaBQEAsEnImEC5qQ6Bl1WbekzgazhAVOdeG7jsN8QiNtx9JQpiHAfzIyBtBNWtujaRpVpr
87yKc92bQt6gPUyFtyXGtubpronnA2p8yP+uFE5Z4VoJmDWqGFj70Mj2rZ0EZtafGvtgouANZFwo
FUsY9AJ18OO13r2ofpqeFrUDCSzyiErDxsJVUr73/cV0kA+KAvS4gPC+9HYns5md9IDxVVn10U+8
k6DtD3vc243/gzMRQjYnIPNxNn+1TdSX80b4XNt4NE5gG7OFeFsph42QEdoMNKvjZkLhX5/meW+n
+hb4byWagbQSh9lykRwg+b5cZFFYzajXfR3XwLWZPD/NyyvaUR9J/VfrAfsnOtOgicJk46UlQfJa
ZJaD7WzoviOnPt2Ss1w7EBhzh5AI0OJYi3Kt5ignm0ae13FLQWHajc6PBFCUXUIwLHf76K2dePSl
ZVUeqRvEPBRTZbVwOnDWxPNBwxt0dPblfJycOMlfBuMDmV/5lgr5yuLkjD0K2WhYQshA2T7QmWEK
ieNDlQLQoHwQJPCJeQIG8vbSZH57ltlLrwevDeC/4GlFlq06BPNpOlOraGLLfO1PZhdiBjWEQuLw
ABaL1tgiBVdy0ytzyrssaQt3qeamiTUQFOzd2RTRwPpfUCAtIVHkt3eml5I/TxWwRAyqgURLdlYU
mxgS0hN9gc1C/7UM1d4GlZW9xHmzpeujVIPeF4eCCM4VkgXgXZQMiCVJTayqa+IUEgyFvwfR9QSh
ybDp60Azt3gD3+t16qczANPTHRecXejMX56wpPEKKxtrGhfVkj6YuQVgTV+KD0bXTJG2eN1hTLUp
6lND37XMsPa8NUBQQ5w5wuD2tLeEJoCYMtCwJWa3txcNnNnc8iW61DnxCdWrRPOzyBgdG8QDoEbQ
IMNw9JOxCduU1UHj9MO+Rbza5/407xiby1NboFzT8dwGNjY33iodEo4JNgWzCCOCeJo1LyUHj3pb
TxhzGpxPI+F9BFxvdgf0O7szMI763C3tEHB3GA63nX3tA4HLCR8HdUJZV7rcMXCVGTX+SGOQ09cH
EyOae+T8U2i7gEJPdaXvReu2bz5EbDYubxUp9+4b76yySJCRT6nZcbb4JljkNRoPPgssEF3qxsFb
TmMeT/ahBPKKQz6bUbYX9XC6veqVmI8bBTSbAFphbk4lnGbEg/JKX9B49LyP1P8kcha7MiZvnLO1
UHJuR7lADXtAVTDJaJzwvVm+Nc+aRQI3+eLVTTCJf3r3z965/7ulZ+tS/L/n3Ep19DHjNv/miZcR
cHv/rqxowOA9t7dwLRpbSPrw/sSJw6j0peNQt0zz3vObGNMu1kl4uRGlnvc0j1X/67al1U0ErZmP
aWwf8HwlWCWiplUDCtvYEg90skMPYBhHYs6HH6Ca+Eyr587feEK+F2zVQGJj8gkE8zLHVHM+4gsk
noIgQGaRzk5QtYdm+Pfceh2NIbCrYpfWR88u9x4Nwd8UjUi4i8A+4jEdlOQuHUJk2UYe9T4Ysas7
R0zBYNNQ815vb41KJPr+waHfi/Qf3wLExcre9BkU5wsfAY9FaRdooeEEtA2RaEO5+tR96cCvMwQZ
lLyC4eNt02tf5dyycv+7wEXniV3SuAFUki3OvmNltHTlgXgjeGv5TuPZJ9AAbZyotdvSxmw+XM7E
bLw6M+bxWs8gIUNjDzT0najDrPmd+z+c6rXwX26vcC00nplS08+B0aZtDeyt3ZotroY8tPRqfPQc
yDRAvLwFXUol7vyq3qLh2VijWnaZfAzcko4iJk/Nx8UZwDr1wDiLpvxLVf68vcjVz4gaIl5QgICh
P3l5jEuzGRZHtDTOEozm8Ge6xEv5rHnFzvDzp7F61NqNs/WOgFbPFoY1wfkIsQTMRSuRQwJKmDOU
LF4geBnwnh8xK1UHusmtsMqm+d4Xdhp45QLB6GmZjn2W0T33mxnMO6gOYvzs5zKik9Nxqz+CFbk6
NgmDrhqu+ETP6uj2Bq1dFYDHQe3UQr8Fc66XGyR8DO15E26pZPJFWFd1fcJ0uhOloHfE8FLLNx49
a3FVPregQABeF1tNzYS3sGqBylk87U9TuAE7XnvRIZz9+68rp3apqsnM0QeITa/b6+PHsv5a2ack
ebaL58I4DPS78NIIuoeeG9/eR0N+VvWzu7JahOQdCfZVhwO8pTMOEYv7he0S6G767GOPOQYrRxnW
GD4O5U9mRs50N7UvvBoC/8NS3QOyHOKpjGx/vM+0AymPfTXeiaoKE3YHTeKabMlhX516MIxgaB+N
S4y/XjPqoo/u0KwgLHbc+V7HqNmUPHoCoHDtyGnxCkaBLfDZ+kdBXRplVrwKr3RDMmvq0CmYsDMi
FYesnfDor3Q9LAygE4vWqO4y3HvBZEz82Nv2/GQUc33IJVXqgMn8LR+Rd8bVh0Iw0IFhxVvovbx6
1hS3Bq6DXo+x2GLpjuvHjkP++dS4dw0JlxfTnSNQ8G9JMr/PJlxZRR8eCgsoXYJSSDln9jj3i9ew
WMt1jP6D91q/S39WGcMsvv2rZZi44ZP3rWz2ZTMFxEsfx3EMR7bg9idf0iWDiHN6ZOR3Z4K6exPT
sxYnwV4CzlO8diFvo/w8hoFKR5sGFo9s/IZM1Q9Jl6DN7NX9yWCjH5ilVx0TQawdGWi3ERRUPNX7
PY8vASl7jK1KGpXL3ek9iOJ6DWexXi7gB+dTjZpj4aXDVx/vnYeRO0kamu0CLCnO01EIbqH7Jczu
1BeFwYLZTdm9ZnXpZ9YMIwngUAJ8kBYbQ9su7R2pzfLr7QO/mt+DpgdnCXkUGlUysp75kVNoKWeW
Bj8ywANpTyeHJ0HRIO0FeK/+iHZ1loRLa4XjMm9kCWvVCdSMACRBBoihSnXuW6/SjpaTgf36Ut5X
gYf/gUgYadBfrfFfO8r12WNSyi182HHq327ymHmQNCQvFfu6gBAL802Aqwa61z35W5n+9TWBU2Jh
BgooTIzGqKgsXnUcIxY4LrkXVmMCNPHPenOafcuIkl16QKqgfo3bwojThQbitUseU4hSC/Soi+JY
V2/mV9d+KJFvVkUTUSShZCNbuL418DrEnDbwgXLKWf2Q3OYJyAJHXIdWtTdr8Sq0TS0pWeG7DD14
CdpISMD2B2SgKsMJAiFNYNCCxzqmHkqLBxW1Al13Tnn9kKUMAx5zyLVPNNlY23Wed2lX/v3sgGgZ
tE50E3Yd535p7yb9YPkHDMuYxYabrn1HVAVBmgWSeFDRKMGrpqZHmrThcWf7eDtlQxJCZ4KHdZ9u
6ZivnDypXgErCFYSY6ksqp3IkIA4kccAHj3kvfXI+i4AJywmwHFdcXZkBbk3EnpCs+TDxmmUudjV
h8TNhQwHb9IrImyO7j+f8pnHfur00cSQaLha5gRjXQT+ZIUTn2nUOVAmKbqu2oGCsg29eexOtGvZ
CayDWzWOq2QCdxnAcmDoRzYB4SBlMxJEO3seNfB+N8ZH4hQvjmiw/xjosGfQNDRHd9qKfPJbqnsg
K3owKkXY1OzaNkRS9ZCqj0VX7NysDn2HneYxRhnd4HM0IrVGIyYsjT5qZhZgz/7C2aAuIcu0stdu
Kem9OfR1ju4TnM0ZkFlWTpBVDjKHGY+1je99nZv7sPGvKeVWLPqaLqU+Yq10+TZNmNNLf6dj9Ttl
+t3itlArGx9yxw81aw6msr7vhBWmmYv8BWBk+wi42MZjYe2gSaIx9MLQecGtfXmih5L7vHQrHkPI
NNAqLUAnVrCthHFt2eC7kdVbDySWKhizhEbrNKDWEzuJOHTMCDrN/8UsdtR5t9vY4pXYiBod0NJy
ly3LUC44i4MndBpALuElZMc1FmrCiytAQaYa1blFkFdKSRc2vHx0so2sZyX2g4TPB1xDagkB2Xe5
m+g6UHfxmzb2k1fq/JjdjQxlZR9R44GEJYDxLq5Q+fez+MsMrZnAQdHGWhURSGb5y6NRPUID/vYe
rjjFhRklCGSYa2K2DjPtFzOyPgyvf/HPA3oIJANKcWiXX66i7WZzAJFGG1fmGGrVbi4FcpA/d2y0
VyVfIJhZUCZQCpmd5uYV41MbL1YbcshNFGjBj8bx9lJWPviFFcXZQADr6fMAK21kBRthafVj/7sC
tauj5QIUIgO+QlGLvVsBwGj+5sZ3L/sbpzqzo+ZMqZbzaoSdpT95SYprrw384sDKrTi70vfHlYKm
v+SXQaxXS/ekGYqxoAaOZgX0Q4YKs0D/oA5ysrfwfJ6fOyOooOAIEZw3IbzD7W+1vp//Wlfcrsqb
cuQVrM/gJDAxXaw5M95dJEqXrTa//OzKlQaOANzrkGhDyUh9/DSTlScUuk9wPkfbmxxyGsQQ09EC
3KQadRa0YL+NStQGHx09nTZC4NrxNR3J/wBMOmAGapRwXapTo+niuYWkTQul6iJYZrphZaUIAHiB
A0gXOCYwtGcoORrRm24wHNbFPNcLVOLEnprG3tLcexvq6X5KHlh9nDN+8p0hKhZzb9tk4/itAKfk
b0BnBMxQyFdUCSPDbUive20XN3b6lXmPduKi+antZh+CDt79gIILa0hkj0ZguF0TcJ0/kMU8Zm26
F/YrmCk2bvjVvccDBymrJJdVp2yzxPHolA5dnAPbY+eBqLIgWzYKHitJ2vsr6j9GlJ1P6VybRBdd
TMhymB0eePOT2X730hddO+lb4KmtJSkpgpcVkIMBZi8mPQvMcSiD2Ylrg24dmrXzKd+G/1mVjLVn
l5tZaaRALt7FfRJYzavvLUFvfAE5w0ZclbfX1eFE/x+tIODPgIG/tCM0Bkb/WcN6QETaD8YuzU6g
Lw863drN9sYpWV/Uv8aUawjqYXZtpzDWOL99/2vqvaFrbW6Oia0FHNmstkxkWehRKDF84hRJwzT3
Mcf7SGt+CPuLAFRwnA5a+Wqk9yX9cjuYXp9+CbCUhRIM2OjgJldSndwUi2GnhCJr52E+NlFn84D7
WbDg9tCO5UMx8INdQsQASJth4x165ZLSuJy3AX7LtQ119Mqb0zQvKWpblf+GhK5o+6ATxoafXO0p
6qqgC5H80DK8qXMhaT/b2uI4KFgML9MpPQ0O+MoPOrk3KxFlW8jVlSVdWJO/5sz7q5IM5azZDDi9
WE+GcLTyAKN/G+Hpuv0mF4UXCCajMAh7pUINrHtSJL7HYqgVeaE7OhyKYPxuSjUS4A1mfRjNwtpl
eGgea6+hB4MYZOdVg7kHk/U9bkseoMQzRpnstt92qdUdAJpMvvqlJqdyVHzuAYwuEhZnoVX+bJdX
p9/4olcnXy7+zIKyx3NV6LpZwAI4lcMSk0yY8j9VdjB22qOZbiznupp4aU3N3wYOuaShgzVwOqJ9
oJ2sog8LyN2V1HvUqAhaVBf7IgsQHbirH2/v5lVmqlhXIgLpxwVEDy6LbYLRkMxZkjB3MQVz24r8
JhexFFYA3UJ7BqEH7EHym555rYckxxMJ1ujVh4UdC/soyBiMpxqtP3fj661uKK55Q7bV0YVTCwUm
m4vBn0oe27Nz12b8p9t+5KO+YyV49kBYoO+6eexlz23HCyO+vdLrMpFcKoZXcWtgSBgwjMulNjOE
ZOsWG5pZmMuiv63BiqjVv2Y2jaeCPArXusvG9MVZxo1NvrpD3i2jy4CHOlAv6pDhQmmt22XK455r
h77p9uR72/kHYeSn22tcO4EA1ciJHl3zbbWsWGTtXC3gV8fzsh2ilHtmmHktYBLoJm6s6do9cbbA
jAQGOYjogcHwcjfFMAuwKuo8rpZqCSeXgxvc6a2NBW1ZMS+t0IbYos8dHk9GlJCAb7G1r7gkypPo
uYE7651MWPF/UlUO7jeXx9lrNxQBnTzovBxy/3nOzNBJ9hPfe/VTRT7d/lAqtSUYOmEXjijpLQ0H
w9SXC5t6yy30LsdbpoXKBMuQ9toTEqZcY+RQVrqBbjSod6uyHCOMErkBJd58xGAEsgNRvQG4SwKU
O9mLaUkuzEZ7XZqiPc5soOGojTWEP/megzQ96CztBZrh2WM5u+bOxUtxNyaW2EOBRQ+IS7bUq+Qv
v4wocmU44Gi4SmpLJW4tCxeeWWUooZgQCAWVnKGbe9pH4gPqf0MPNUJjELvb23kdxc5tgrPrcjfN
ZPTh+CCwJJ/rt/Kb/wnzc3gzbMSvNWdEQ15STGFxeLJcWrEx5ABNJIayx+ID2q4tZdgvGt94G7xX
7NQNNGQOCFCtfBfJn3EWkknT0gpYjDY27Ps0qz5PcxcCja0DbYPi0QGcIZFDIELkjpEGLvw0XZ6y
pQj6kYRe/sN0aviKHtQ0ZKj2luDfGk+YKjgQxr/c3vXrsIauNTIQpI+AxVyhVkuzZmjt121clx+X
6T59S8wPlf5828j1lQ8jyEjQJsGhgRTr5W4ArjCBPgEVOSP5wPsFRBkiHDIL5H1j5Gcbs67X8RPG
DPCWQUtHB8mA4rtN4kOcsWxRnnMBbCr5USsSpFZ/SLP1fvgBKNJAFyabP2pzJOtxQI1Oa+M+97po
oRD0IOBSOxpzVR7+YvukSIqLTyWJZi63rzWTFm0IvY074y73oVbXHDNMuVbp57Tf2Ly1g4+Oj4WS
nVSyVquCec45WFPcNh5y8rMGNCzFy3kMNEisejoq5Rr7rPEtMOmqUTR/MIQE5DQmxi7XRxeaYsQB
NSF3OCTJdF+IPMhfdRqayGFq91AOP29v6DWWCJEbN+v/WXTUd5O2aNQgjQOHPOinikSfzdDaz/sy
EkES0XAK26DftQfzI6SRN8Lc2lk4N624ZzI6PasXgo9JEvLR9vn3TO8j1oIQx63HZlenpvfh9nJX
TYLKD1UihCKkipf727o8bQpZn+HlydpVCOG9jpmMA/QJNxKKlfwMuSHYdkBTgKcNnPXSlJX7OtqG
KIrM07ccyXZYWNC8dyLdPmWevefai9/aW0bXYrqDVhlyP8QXpDSXRlnaoeKZZ11s6xH9xt/o2/xW
PCcnErq7KZy/GCRyxen2nq7aBO7NwEsfpD+qTS8zelOnvIuBugDYpo/04ettC2unArTJYHuQpXPg
IS5XVbcpbSworSPVfSmab1N3rDAb4Wc7vTGhFtCEVrZVZFq7gsEZCBQTrCKzkY50dmt5pCysuTVR
N0vtO/dLAT5m/aXy28hNzU94Mm58uC1zyl0McdTBTRKrizXwdiSjGQhu7LWy+d6aj7pxz1DHuL2l
qwbRWkX7D0MaV4ipKqUuGZjeoStlL/vUKz1kbV55KJumBjXJ1O9oj75YUqbLRlxdu5SQIcpCDXqr
eFwrOwtOow4ihNjZbpAJadbtU7eoI5r2VXR7kWueKYeuDJCFoJWrajCIjE8zqDv7uAJX6K4fjSZw
U9wat62s5Q3nVuSvOHMVU1/0EgLHfexUSZAX9s7KXjBSbkGV5C8M4ZKV2C4XkUX+kDNDTi9sv0+G
Pm41ULhCzNEUb7n+ufe3DK3sG/TafTkwBuy9p2bzOfPbsnczERs11Ni1cmie3CQt/7hohglvoBht
BzEDaGQlQIoqGaGQXvUx4vwbMEAxFHb3mp1tpAwr/oainByCA5mKjnru5a7VVeO3JnP7WORNgLZ6
gF0zdbHxbVYuFmCAMWkLplg4gzpCKjRohft5PYBzHgLYZGigMzJ2vwXglfsaQ4gPbHT+UIFJ5l3A
9AN47GL7MEmsxKiyqA2dEwhSZ/k/ffZs1iCw33jYrfg2LhH0dsHrB3oBTzExM6ebPADe4k5DI6yC
nFVEGPCjYL+wow6QtI1tXPE8EyAPPPfRjYXMpOITgA/5s5HZQ9x0Pt/PvbOcNEb/kDX7feNwhsCw
Ycg5ZJUM2U4WN3HKcUCVaAn1pH2gix2aLzpne69qXm6f2rU3OYbEENJwkFAaVq+SjgktS3N7jP1a
n56yvrYjn7RGjGlM+0jwng0z7o87hxNjX2m5cScMR+zbkhobgWrNR9GTwoQzkh8cCeUkcKtAn9st
xhhCfM3BIsDFt/oEzvfm1XDK5xnuvXGtrVTlAbFDLQ6j3pgpg+bJ5eHzO9Z1vkVE7Cw57k4gVCOQ
jOR7n5U9ep2MPg19o0XILcgT7ht2X6c+ShYahkY0l5QbP2clj7j4NcrVQ1BMmsToiHjqNRaZNOl3
wvFJmEF1G4qIJjT0mIk5vqEb7nSRbiGLVu5coIqQTABvLbkYFfM+73NagyE7bnDRuq33ze0g++CE
S/974csxS7Qt/tLVBZ9ZlH8/uzEwiOmnHpCuGD/uDlR85W9l0h7lJJUZTO7DnH2+7esr4QJlV0xf
oyqITq964VJMHDSJQ6d48b/rTTz6U5DMqP3MG568EtMt1Ogw1oyh/euZOxAL2XZb+FNcLHw/8CpA
V+6u0b/cXs2KFbRyLcwugckSgd243D0PuLu2MsY5bm33wSSYNU6takf6zt/dNrQS9XDbWiiR2Jgp
xcvv0pA29unSiGGJC+GQu5m6XcSZwTcSr2srEujgw/tw6+L/lbPInXHm/mCLmOQUAM02sLbgZNcb
BgvoBOPxitEU1DIu18GzlKRpAnfrZr7zOSYjXLcA79yWbMlKSJWGkAMBVoDcTmWbLZGWCn3qx1ib
H4mZPXBKn5yleJGNPqnx8LXJfiXjj2HMN+6nawdHl0q+QzwTbBPw9MsVWnllWEnVTfH0I/d3Aqin
IdLNDSNr2yiniRyUvvHBbOXUQi8y0zFWO8XtzKPa6zHETMPe+/2nTid5+9AkATO6iR6c8rE6QQw3
Tbsl1tJnxopgWP65beA63MEVMKnybkY+My73SheiaJ0m1eLWpeOOFZqFGoozfQC6L2pqTUTMADZg
Gu365c8Ne6hq4vUG1B0unkvDbmfrVbnkGqD+HiQq9s4UOAsJJy3M/4ezM+ttG2m68C8iwH25JbXZ
khc5cbYbYpJJuO87f/330IPvHYkmRHgGcxEgiIrdXV3dXXXqHFijTdSJbttbWC/qv6wUfaNkOucd
YIHpRp2Kas+56Btb7A46PH39sL9tZNqd12lUklHAQWn05a1NhL0eVESKipiQjGd4tpPqp6+oTiQ+
TSl9LVsxteDkKrk1rn0Ksp6Q4VybGvK07xSrHOnUMHd93L6MHZTRtbY3hPHu9qgWYpIKpxTpZyYQ
AarZlYR8cGkGYiue2yS2HKMR/U1ZFmuM9gsLRH0OwiL2LI/6eQ7fNWIJUFQvnr2kc9L4PHqFY4Qr
sza582yBQMBPum5UQBDznoWGKCiF2hUU8Vwk22F8EiJEbrzY8dW9orSTcslW/qAqEc7A4nCzhMeM
AiSZneuFAguOaIImiOcGyv5dWCWRI4TdaEd6cVdHlriyWAsuSEmVF4cBAoHwO9tXrlSoaqEX0jl5
LLXUKQxj50pHEzwThI27246xZAsyHjTgp+cAfMPXQ8sa2corV5fOZOKDoN9UfeAEkf+Uy8fu021T
73ljmEbIDtCaQbQa0PUsUCmD1IRlXMnnXFD3bv/gC9427kpbL+N9Lv4cKtvzPAhipJ2aZg9x625F
Hw7mLr9rfOkx99qd6Fpfb3/UQvC8/KY5932j0Tyb9bl8jvJgOwab3t0J+n2t7hPztVHrlYvxQrJy
Sq+RXSNpyOrOezR73xwp60biWdAPMULPrvI5KOPNUOyM5DESXiny0qm5ssYLm5/jAbJPgtqEwp62
7cXtNMhKtauNVDrXyeDbndH2tMy6yv72TC540pWVKdpdWDEStTXGKpTO07jgJ7dJMttpOTqePNjK
B/lwpy1J8yPAP1iI6BWZg0YSUl5+VLTSuZISu8wd2X2gLbivN0m14iELUXp6VynTs2oidZnNnqxF
ueh6qnQOSmOrhW1k+0XYIiYJhDWN19LZC/44tUkRbawJ7D0vJRUw4Xba4Epnq6s2ru49wtcRap+l
9ockeA9Cd769aAsPR+6P9BRpE7qCxPH0PRer1pVGFKcxqAmZhFrRfh6zP0paO6k03Gnats+Enen+
bLLoZEXWqXX7FadZKItM91cSuRy23JjnR0Zo1LFuegX7L/l7CL2vg2zuikS8E2r9PjcUewCGFJXK
npvTLpTEv6p+cDy9vSuys2EIr8HOP+UvdJzfnpb3PZ6EXeZkYtOSpov2LFQ1cZsUhUHyIKvLjRJj
U30uzbPU7WLzexj6W1L/JoWq6Hdj2R6tEyUw7fi1zUe7En8HnXoK6TFzrbUPWwogfBggX6CFFgRN
s/WKQTZ4QMaYLx4vQ+nZoTdswiC3DaPZeo2J0joEL/Gwrz6qdjptOTROgd9w5+NaPscaSkUXq7XZ
yeem0VBPFNoCZLqwVuVY2m40ZEEKBdnL1EQ6c8hOk1LgS/JZLb70XbjRqpFUhrJzES++vcgLAWv6
fYDhYMPex+IqDBTfVBL5nI7KJkq8DWgXqH48O4B8Jzf/k7VJelrmysxj93pcidcr8J2wcEloGrtC
41nj0Qq763vBtHtSFn+Ezk8/fpNALAciLwpVb8j7a6OBrke+YQwyoIovWmpsgEdvG+Ghq5u9nq5l
fRYwhpwuPEm5Pk/vnTkViVr6Te25unyWhHGbDSMxUrDRSt2O4rCBSMFx9fygB49e8JeVh/dN93cu
HToFCpKhW9nAS15EYgRqAt7fNJ/OZrvXO6kY5VE+m8OdVX3t2s+h8WlYk+FYtAILMjggXiNwA11P
r9QOFpKvgnwWw/hZavsHpUyyvWbWP11LXwOrvMe8s/+mziYo96hLvGvZGvQwySIi1jmpyHyXeyva
gQjfwSN+34vVJy94SdtfubWtG9UeLXErxzUU/gZ/NjZGsdapuTB2dqg6vSZEUgNzYZUx7fo0TGP1
nCV7q+8gCUpsrf8Mj9XtXfq+eQSc2KWh2SR7rqakcR9hSD0KHQgVL9oMjVDTJ3lS0ujTYL7Aa1Ii
Ji1bW8CPX5JKWCErmo742ZODFm0uGpzLvG7mD8/QaMccOgX1PKautw3qrD24YSk6mUo7we3hLtzV
Lk3NwaNSGQViEfbqOcnEk9DHnyNYFG+bWFq5qTcFvB/wTd6d114bqLCiJoGqnsW01l4qmRJv0mXC
Xd8P3U5drwIs2WMJySTxKqS/dGYvTWJB69g953ZA8V6rN7rxmmvqxqtXCl1Lc3dpaPqQi7uM1IhR
SDxg7goYYtLARu709tQtOQJbHawkEY4mgukLLiyYTRm3vVxpZ4pBhf9sGcCmV4BLS9ucAsC/NmbT
NQxVbohJqWGg3w6541d3lhAdJbfaDeJdLoMlHvNHK940/bOltfdN+ZQ3r524K2l6uT3cpZW7/JTZ
hIqD2QYJ6AlOyHibyZUzTWpg5Vtr7dRfnFgOKS7yKhmsecp+0KqBNyMTG8dwgaUQQb3K4Upedumu
SyKbWx2V6ombYnZ3svSigADA0M5uUscxEq4V98xcI7VplO0mcxUPMcb2pVUTIwbtHtwpLi0pWWPk
J1P119oMFieXg5nOWBiK3xH0alaqZGnraue+2afNsa1O2uuqw64ZmZ2DMNe5QwHd4TlDrtsYj67/
HLuh89/W72Iws5RF0ICxE1tLO5dRbifhDxXGxFZYuc0sOsmFkVkSi0xaEkQlM6Yne7k/BP5LG32U
R5zDhhLs/xZltsGzxks9v2QczFWl/urMD3dEY4AVRzvGgmgE7c/rCOJaQGxEq9TPvvWrlEbgoN9H
peHV+ufDW5dCylt4hziT1PDMDmRZbaCm2PGhrqrSNNsalltuEcErHmgdWxvXUnJnypZSi6LVEyTf
zAOMvKrLUAz0cyd+l6vIVo1HozumVfoY+56jQ4YbDfpzoO9D3U4042DWd+2rGsGXtE3XSJ4XvN6C
gvvtdiKiATRLETZqNoYpnG9nl9dbkr0IpbsxykdrWOv1WDhxrgzNtldTNmYOwAN30T2byit03h+/
euAoJG3AEJFpn5fQIwr44uhO6yj3dh6SVgdz5r78B2e5MDLzem3Ck/peoZ9L+TQYJyM5Qp3Sfbi7
HDJhMDVkbKmKg0iZWYEhuTbdvNGn7UuZ3mb/wl2+cmQtlawAAfAKQdSaYD9v12jz2tcGch3nIg6H
U6e5rwL8ZRvUfhTbiFMRDn0LmkFeS/md1JrmPhojyMbBZEW727O6EK54V8rAVThqJqDp9RZUQOsO
WRsbZ8l6NbTRVvRdsVooWzRCMhwIpDgRGE1/f3EjGYKu7wqjNki538H3pMhHt3q+PY6l3UTDwf9M
zMfReHkkZZiwFDJsvvRXk39rYnpfpBUI+5qh6cF+MRZf8nuaaQrjrJTfI9/cjO2r15zbZq0MvGZn
fg8QXLo6mgY71d3YaZ8Sb3jMg+B3K65cSNcWZxbstdSM29LNDDye1tberhBS9f0/t5dnxcj8xYC2
b+wiPWmcQ5FSM+3HbXCfuJvbRqYpuX4BkfukAMwDiBIO7ny9NEZTu3o8WKQlUaPcEvdkR48GZVtm
o+UEdG34gecffLNey4fO1srgbTnprVB+nuD8MNtfGx5lK63a3kB5JfxUixtF+REG9+Hr7dFNP3Ix
upkRpAGujRCwdB+m3TedGqF8UIbBlvVt2P+WvO4gQHIU92s68dLs6PjHJkSoxAcSJmSyr22GbuqX
neIiFtt/7rRnQSk3VklcMs2dQlsGkio9t2Aj32qZYjh+7SRpsc3NtLrPE2N7e/yLk8zRbVEjRKlF
nK2uK4RSVFd8S5AEdj0GD9mbDlLtoM+wEp8Xh31havqUiz2eD/SRNxGKk6Ho7+llsCtJWskpz/J6
/8wsfE6cMRLX6jm1/IDKRKf36DMq1YNMGNHpui700YmD0Bb0L7enbtGYBXyAfOWUH5gdapYJuXud
Y6ys/C/9VDkqd4LXwP94Z+bNWivRtBDvHBWMFxAWkV6TefecAiCHeiPWhOTsGpFTpvfxuKbOsrhE
9ByaJJkYljW71JRdXkWaEUSnpBZ+aKExPItG4q88c5dcjpWinkIJF4jWzA98Pyi0SMmjkzimdpg8
EFZqG4ZxBM6aFVNLkza1sdBcxrUArqdrl6us0c3DEG1B9V5ynfRH9vXjLnD5+7PjBFxFTjW4iE6G
BHO7sk9jf2PGw32OKG8Xh7vb1pZHwyOF1ikSm/MWeKuIWy1tiFU9gjKwSlFas5w2XRNHnBca3nYR
wJ//2Znd51Nx8IRIQhoqjk9RVtm+WDtG9bWAqFtykx3kG3af/6547t0e36JjkJAHmEqJjyr49WpB
mJpwhSMWpe191VVgNr/6yd/xGG5u21nycgRD/t/O2/gvAlHZClmteQSiNHkqgycIEG///uI60QDD
cTnRcM65Sc3IM9wqQCG0kB7yqNxacKNaa2RHS9HHuDAyc+3W5zknF2zVKN240d++FX+SIr2yG+G+
q8WV/Mmcavwfl7iwNnN0N0m7rhmmWDfsUloLfa2yI8+RvufVXs94OozmUyx+0mns9aBxq1Wnqoo7
MtKjL28C78fU8tfcGaZjSUibvVBtaUSjpvihvdye+6XzfKqikgwEb0Bf2bUPIQ7h6pXK3KexYwk/
AL1utfpvoTNsQbirlFcv+lhe8J+ZuTA4mxmzq9QAomiiGS/NmqpfWEd2OqzcjxdX+8LKbGsYvmn0
gYiVuvkNSeIWjmHR+qyFmzhfq58s7o6JlY9qA9DPuUKX4g+B0COedWoN95cVHdqq/3V7jRb3x4WF
6Qsu9l/o9lJtFmigdnm2zcsk3Chu7oS1tlZAWAwoFMGA70xJVWX6kAtDflKZQSWjnGuFP1z0k6Pu
voNnYzW7uLg6F3ZmJ5qYBZ2nCRwzKHaDfnbS9tgHR7Mr9nnZbgd4oOOfvvzaNKkz9EeUuB6M0DvX
eXVIhx6l+Gplgte+Z7YJyoICQK0zwf3G8MNDpxmf4L+jF77Ze3XgrYTtxeWkj4UuPEAZXGuvZzni
naMLLTiBFAamvLgv4RPs8pUNMHuF/LPNoGWh3jSheOfJs1TJrW7sx+ikGd23wlfPSlDtMpRIM/g6
9V1oBKuAnem75zeuqWkbzCGDI3l3PS46t7mM0cB98iBF6IRDm9y7xTfBaBytOOpZtlHVBp0Hbi2O
/kHWv7fhcg2DtAWeARBTs/2e0Z2eIJSHbeFZGNs7K6sRn2wcdL1WHqpLe+RfS+8eQLoqVEIpsnrS
WNz7KaCPElC59szLZcVP1izNLpcI5tbgsic8SVwfFajfYhqKhaRxRLTzVtBWSz55OaqZT1pRlAS+
ECPSjeBeJ/wozec+/et2GFscj0LHE+kzcp/ztCcN1D69Buyyuturqn/0qocog1tnrFbuK/LSfqbw
+z9L8+x3KQieKLfs58F0EK617MzYWu5GKJONVOl/e93wEPeUhZPkeQhlJzHSsxFnzz6tZdIoHqq/
qiZ+jcJ253kSouU0OXff/W48QIll2bHa3/lCPcIBjertKK5d6+bFl3+cmf6cib8Sdt85x0iXenHS
BHx+2o2voabYTbAvh1+S6Tu0w1RUuBpNfdQS8+h7tU17z8rtZXGhpuS0MV3IaKC93sgNrFGdrBps
JuTn9lJo6vQjJ8oXZZSKxxIS+e1tx1h0PoPcL69C+nXnVICgSfsQLC7OF1fVRhVhkarTBJaavFgj
o1y8q6P3QP8lnHiyMQeMtvqgKKGArcx9boV8P8JH6mRx/gm4xr1oDq+mV26hYIWWei05uHRRuDQ9
88rar/t8KKToFEtW5hhaazh9K69pTi9OJspt8H7xxn7XHiePfjgVfgn8eTHt5KZ+EFf14Jc8hIwB
nF9oT09tItceMroi95HM5Xqb1nejkd75UXmImqaySfCupPWXps2iRwmRRpGOtTlZRxYpVQGHIQ95
OfpkID4tZ9Va9XZp0i5tTH9/cfGRa+gG/G4aj1c5Qf9Qw7m/eiddnLTpajXJck0sv9dGYLKUEy22
iEp1v4u9HzlUU37Q7EKoq29vqMUpu7A0W57BYik018SS8sdMU1ts/9w2sDhfFwZmESIvVDfyPeYr
gPVEKdG9FVFtWLnCrM3X7D7RwJ/m0gXKeSE8KDFJovJhaHfw++7+w2BgCYEMFAkTMrbX66J1WU3v
HYOBEDlLYtozXlcl1BdX5MLG7H7i0s0+xD5OnAqvbYVsnr9G3LY4W0BUAI5MCLY5YrytUGo1kyg+
FVG2Lat6XyswStQg59ZeCXPw2nQ+8daBBZ0sKNKa8/c6XXBekVoNIaYKOlv2udAJAixKktZakt3I
tGW3nksPaVwKG9WtvymD+9DEYXnU2ijYZKKQbA2qWqUp6B93zKtPmzmmIUAYPkBddxLbEmrHeyCz
69CW5QkAtUexilIS8e/aYwQP8bq+EcKTKHloBqmH0HtFf6MAEJm5X8rBRvBGMFpbRWcg0MkvHMNO
tH15jaZzYRuCROYZ8aaOyFXh+jsCQ2pFIyPLYJTCrha2ViSjDPz64e1xZWR2NRxSz3xTWj8NpLYC
ZdgGZmTXhni4bWbBf1WqFypnE5BWrhfXY0EjKgDznBDmQwMFHDDx/UbAlZVkbdaWLEHLSaEEHdqJ
T+DakptoVakLWOI7tjSrb/wm30lQ8qK+cntM0zfPXkQq8m28hwDrMKxZZPGACNdCzXuajHiwkWv1
3kjbzB6F6jvJsMxBOMnb3ja55BKXJmeBxsr1pNYkshFDBq+vO7zEarjxQmlz28ziHNLkQ5Hrrbd2
5hRRKXnpKA2sVid3dtv6zaFoD37zpGnxmvrE4pAMyi2UKWhhmF+H3aEzoT0iPqvDa32Itc9rNa2F
4KyBcYJ2DJoE3mnTYC9Ofylt40arvfgU+3pqp7AAOL1Vrr2PF4ZxZWXm4CJU66KUBjF3pl3f9HZE
2Kz7bOV5umiFVQH2SucX2irXY9GKspCkMYxP9EX49fhSlA9mXayUuSe/nfk1lFr/GpkNBe3SIDG9
hLMmMzq6jqJPYldqGz+sTTtQs3hbC40Jn3W48oJcHhy5biRjgKXNW/NCvwGqY5FlF6U+2IgII2R1
122M5uMPIMb3r51ZhIgFywv0lklM8/BgpV98o7OtrHeMdiXoLQQIDEEhROiDKngufNiVhQoUpoxP
NPAcgNoRJNRHOZahCJUke0Bl/va2XZxA2CxUKBHJlMxR2IrVlL5RpvGpTqAhp4dNaP5UsbHiHnOA
03RBmCQAideTshZ/uHZCyFxHOaZR/dT1HkFc8mxAhFsjEh98CWrsxn3szJ9daHzzaheCv3sfcoko
BGb42ZK2QpW/munayBcC1tUnzeKiZvmaS/4kPvXltuVJFKWH6Rxrm2DlubK4pP+OXZsVyCVU5Ieh
rWI6gF57Vz1IVUe6K3PSfpc02Yr/LKUK0JZDPlvmqc7TYrbdfbmqmdo8PmWDUH9pkji8KzrJR3YX
PighSdKzmZvNS0oD93YMo3ADM8NfaqeG56JNrW//wbvgfgW5jMwhn3S97HoixVk44l20UH4WwGbb
wHM3aeStHD5z3O+bf0lQzEytzbTqzfVLzFGuR0tgjt0x7mySYQ2BR0vBdOTgstydGFZ7V232rao4
qMKo0Z+EInD0KQKK4684+9KWuviWefu9MrZR3Ms4VljxqgOW4PfZNkvOt6d2yasurcxuejAAyNmQ
ss5i9FXIbFW1W5p4te9rVfMlrAXv7P9N7VyxL+sTCHq1gkKm3ZROXe5/55UDXwYg1eGTkduNu/nj
roT1pb15aXOWGFGVKqkUk3Ah5so2oQqQhJVTJK8UOFcuZIv7BbjDBAog7EKkce2idagjuiCyWm1x
piuMmikBadTupfBOrja+8EkwthEije2n2+u3lHfiwfCv4dmFKVc6ztOgY16nttn2HnHhUYEMd6fX
bwVBELAQrK2xjS0654XV2czmgPA932wID0BJBfQTXTdafw8tWgGZjbikDt3mXK/Yq5Khakd8Jh4z
FItN2+peV9svF3cAhW4wTohGA8C5Xrm2KoVSj9jzjfTDV8p9xEunssdcsPtYWHOTyQ3mFxwQmFAy
gqiSqOpdG0O3IhFaNU0AszfbWpbuQMkcvHFX659oYXe7dusVW634EdYroW1pKkHUwfFCC40CCuPa
MA0DumcEVXJy88cOxekQdCm9SbedcWkqJwuoIWgToGRmRCulRK8MKzmVhv5304mf4YPa9Yn8OQe/
1QdrV9LptL+aTKIJ6C1o9SaZANjBr8c09GSahdDrj0bsULIURGnnc/+tpKOnqHuv6leGt2SPoXHI
oC5Iqk29tod4Zxz2YD2PcmNlv1IDPThCngcfvx/u2lT7i/KVecjCalU54J3bMFIAu0CPzYnaYZ4W
FRHs7Eux6451o4fPieZHL32kfw3U0TqkEQrMSvF3U4syzVhhe/J1Tb+zEJFb8d53y8tXENsAQU/b
hTf19fi7tBqaWvD7Y9Io5GN/pKlmx1axt/KjSKH/ti+9i928nwE+0X1Np8hEVXBtrGzp+fYig8Xt
H5U23Eaq9gAg5hCk+srL5v2pz7k/keUBU+PR+S5PF9NuAME2pupv6n33AH+oE7x6r9GD+hw+Cvfl
a/az+jm8fHh8GJ06QmlAoOlmdp1ThLGH0d7sjwN4v6HLHMuMtrIQ2Ym/hlBZmEoeAbSbcTax+efv
3GGszCZL6uHYQ9ZiFfAv+3YuPaTRl9tDmpZkth/RcZxoti2DHNYcBWskmS4hEzAc5fCrV3wL17AX
c1w5kEVg+GQ7yNhD3vsuelqU1lCeNYdjVgY7wfgSSqkDfs0Js/QEmd3GT7nl54Yzyt8gXt9/fHSQ
qkwXUDI8POqvHVIRmzHOAqs/8tiXndpLgIPGxQcbA6ch0sRIApBkJzmJ+VW37qUAPkrACZWobfUa
QqFAfMiqMrRLUle3R7QQzyY2VBgOUOKh03sWP2V5TMei8phOPW83dasXmzbvyk2aycnPwAjEU8Zy
HLhEidvblt+dRtMoeWy/wecgPpm+7CIx4o9GMAyJ1h/zuH3jqMAdC33lsb1ohA59ohbZF/b1tRH6
4jMplv3hKEauXRWagxFZ/ugVcxoJzUq8tjmMxPmLdJBqUYmaYDg28e8Inj+Jx4nVOR/sXH9zCxDK
tDu+oRDmmaRM9tSyKcThGOu/DGGnURWL43vVChyzXYORTI4828ZsremZRb8EMJJpXi8WR1Pg9gnq
YDxSWNgnufe5HZP7QfkTirIjy45UvjZ6f/64QyCrCDqIEMyFdeYQfZcKBZ9CCNZD21VhDYw35EpW
HH7hAOPWBSPhpJxO1/RsC1tgjvwsQKk9ByATCdu8Un7HQ/7Y5Maxi9MVJ18Ih1NZETZsOh6nFbye
R1ShyjIqx/GYBk3520ziprXB5ZkfP0gmHj11Aj5AMjtvs6/6WM9CVRuOUGGrtPhbxAya0Z7aiGif
SbX84/ZSLUUNCBTgI5yaASgRXA9LqdXOcg1lPEqwJ4v5UfGFXy1dV0a0q4pxV2mBc9vggj9yF5iy
cohzM8pZmKoQnjEi1RePo1ZvfWncphEQKuWLXu0TedurG6pTKyYXTsw3OmBIkhAFh3Tmeox1E1ZC
EmLSL/xdbSVbobfT4rdSrMzlgkMa0Pu/9Q1xEdBnW20Y4f2U9EakYQhhQncI1R9ZZvi7XPfNvRCr
8RONZ8XKQbawgFMZBNgyjeCkpmd+OehaUKWGPB6D/mxWzc6Nj5Gk2Zar8Wz07eSDDA2T51/ZmzlM
zhtc1VIcBkm+ZDu623ofrh1lSxN5OSb5esGGITZp8lHHY6vdGfG5q7utJe/1GD3peGX6Fo4VUBBT
fQdkNuQls1CVQi6VIgI4HMFR7YUKVHHSbsvOXemCXXBBnlBEwwn2hrXZrNXQkaSDmg/HoZdCO3DL
cy9uw6Y91vlabXPJFNRUIvk+ghW4oOvJS6KoDNIk5QzLnaiOXgU1EW2tkjem5q3c6pcm79LUbGNl
8KAojYSpWHuRIsnmZHHHlYC44Avg9SjDwXYwARRnNqAUEsU67Iej3mS2pD6pv5oWPIRh52v5woUI
T2inYEDzCcRe6szrEkbgaxGh180VWwBhKo+/b8e+9+kdnoxcznRy3kAQuctcr41Q+7KECAiD8fJz
Fjy7Hl27n3PxruyCbVv4dmDcR+Ln21aXVommKGIffkfAnZ2T+OSYJL7MkaIJgy0E40FRUBP06AT8
D4YmAcOJuhJ1sdleCpVQ8TqD0eEOnltsoKZzNCvc3rayPIkaJqbHK3ZmZky9KwddYJ3yLNwMwp/I
/avbBU+p09y1wuOwhpJZCLCUXLjf4hnTqTwzV3sk5AwImI8gHDaeCFg1sYXI2IfyfTkM974irAxw
YQNjkFcDXK0SDagzg66YjX5c5eNR7TXAuFn2GvgAJlwwFrt8lH+tTOf0zp9dEC0QbihvQJvP6s3M
WTKq6E1fjceiULt7xUAXqqdq6BhR1x1yWqYgwKJLOih98xgFvXJQxCB90o1YL+1gsOpjlIxrPYoL
W5HSO5cgYM/wXs+7smRpFAa5rrlsNb7IHdUKnbbI18QCFjYGVvAg+GemwvFsN5I+Tj2vaMZjdy+e
h7/XxIUWbjqwqk4KcBP3CIy115u9Fk1PFbOOq5Vr7EuXvqIXM/4VG9Fd5yIPH3l1dKf02cpuX4iX
NLbTuWyQuUM+fbbbhYZQohsDUwd5rFulm3Z4SVKOAli/Volyl97wl9bmZayOtlU1SVt8FakR6MUC
O92Zm+Gb2TjZnfxzxVUXZ5ScDv8TZIik1zPq9gU+XDGjpVEfkXA/0EF4KFz989D8iuMnOtPpanpQ
qo0xQkN9LGBs6sJTkXDp85xEe0G2XjwEygfldqcrEUkEGIMn6WbSXJM3Xzyx/FEf6ajFjxTlRZUf
wi601fExTNaGPw3veqfCsULDBecTlKnQ/1zb8UwESGSNSKR3r6r1yaBmX8QPWflHk+ovYaA6pvXk
6vcCyuO3J/79vGOYch2MTSg30ig5M5yMk2pCwSpXPwurtT2ut2br6Nrv8oev2X611iu3ZJCincYp
icr5uw6TQdT7OCpKLpli+kiMpADbsIL5qZFpt+juwlzqNrE2rDwU3gcEsCMTVA3nggp3LnHWWWOX
GjWhUI+/Csq+tj6NwUq4fX+aTPCUiZwG0kHyGLOpLJuY/jIfE1m6HYZgM3SKrVpfLLjdxDbbuR/G
+cKJOpVa34ipLJiArpeuMeJK0FTCgRjL8iFTqfzygvF/SHmwkqB5X85/MzXRQdFkSHJydlOrh1Ht
OUrGY/4rLdJ9AsF4o1ansu7tuvA3XcuT0ktpsPKPffXY1cU5GU+6GjtwxLSU+ztHjaWVFV1yJBzW
ZL8AwuO/6+FHJJMkP+EslZLv9JzYww4qt1Y+VN4J1qcPUosQCHjXskVBoU+wl3nKFHJmUw9hFzm6
2WMn/KFBsVnjy3p/Ml6bmA2I8kvpRqrEJHdf2/Gn8vH3EM1AdOVQgqTTD8GH6wlD1EFPi+mtDAJ9
B+cOW89vvghGsILaXdoHVDoJmqQsaZGfxbK6oSU78gLe5KCb9X0DzuQuLx/7vaefbwev9wciI7qw
NN1/LqLzCCm+phRYkiGcCqVmZ1nBht6j4+D58ImuONzauGZngUr2UBparIXC/W+YxTzF0YYtUqK3
B7UUqQCY0a1MIxVqOrO9Vg5oodfm5AZpuHHjfJNT/usHd2U07wvheDSoAWpEHLpTQfV68vpcK7nD
kF0QCBk6/G9KY4f+kMJaUmw6/28Uij5Jff7URd5eEewqWGWfmZZnfuhdfsHM4dm7qct1hqOgDneC
X52mqGl51v0Q7XjFxGL9JQ7yXeBu5Hgb1XDlr0FOF+ca2QnmGegVzJ/Xc+A2ldq1NXMg5o8mWINM
Own1Rzvqp3mGjZJrBFk4yqDXNjShjfO6JeOhd3+l4ws9T6sJ9KXIwTqCZsBfqLrM9kEHN2HNOcEt
ZdMeytfb/vj+zcL3X/z4zO0TVa680eTHa+E+yl5y/2HU6dfc3rayuJWBpJFi4w5EQuB6lmSPcmUe
uNxty4ObOZpw7DI7LJ2m2902tHRs8H5lzad+XSC514bEwXClOscQdZ0HwR+fYjf6TW//F0U+uG77
edI6sI1sJX+45GikOdjWxKupXnRtNRTiNurESDzmUYUc4YMgP6Xg4//D0C6MzOZQE0NwNFooHvvW
+pJ7zTbrYYGHxys3ZceM5G0JOT60qCsBayku8o6bKpdgThnd9diCoSJZ3xXE+/KzbjzrRWMr6hMz
G4a8F8qvtwe5NJO0bVFeobRH2XkWNOQ4H3BWrFl1/60SvKPQV6dECO9um1ny+kszs0Glll8XhZ+L
xyDdaq2ThMcwJZ/95baVJWcEKPDWRcFZOY/BnhXBeqeU4tE7xNKjXNj6sGu3rrBJ9/Bl37a1OHHT
c5XKKLj3OaJlKFS96GSOL00md+x7Wyn8anG83LayOG/Iv08CelRf58gSq0mLitYI8WgGh4EurVZ5
muh0V7kHl0YDXQ0kPKSLJrm0a6cr4Z8MywoSqoIgofqTdLNvS+HPj4/m0srM2cpUSYrG78Rjd26q
35LxTRj28of7djgguFnzricTCkX/bNsGwDfbOBPF4yDfD8O+Fh232QfNSpp6KcDiYNRl6NmjCDpN
6MVdSWD182FQRDpHH1PGoDaV03uQWw7b9crk9Mmzkx3GHeBFk8YzBZrZVTPtZRJcvdAex5Erc91H
oR2mZf/p9uq859igJiPT78SxgSegO3A9Jr5dLMPBbY9FciyMb126c7NjCgGp/F2QvpTFxg3vh9/q
cxfuk/QYQPURDyfzUyDc+4eMxqTIdh31J4ySVbxyyixkMq8/bTbd4oDEXE8X6TH7q72LNy/jfth9
F0/a99tTMCd8nt4lV1Mw7ceLZQ0jK3VNHzuwlKOK2kFrq2Qbw9qmyp1f2db3LjqrysF/XY0nbxeX
94v87+zPTtKIpVe6FtNldoeWsOLutZTUsy1L91p1SMKvauBI3wTfsAd35yZO8DkTnvMdVDWlENvW
y4iKuuCdosOoIrHxu5b3pX4qxwePf5zZ8s5/DV9yz07r4lAJ96lJ8/Zou+lKwHqjtLg1jJmvmkbX
lkprtceKvvfgvgxfTVey5e61lnQ7otJiGHZIvqnxd2MH+/rv7KFKsp0nvAThPgJBHmZ3Zv9Ny/07
9ah536TiOU03mprada7SEbeJ0bDXGjs1X0PhT9VBmQ+rRLhy9r9VIG8NYzpqLhxB93vDKnqvO6rp
M8XBPt+Mig6h/GEin0Fzwcle/V+of9wZ7mYkXjapHT1pmaOzCsUxBiPjHwLjUXAidCXMTWvd1a2/
icIvmegU+rF+Cs79nXcvb1UY3qxmy6TZLEt5LyWfsl32LPSOPDypZ9OCtP81Eh57cZ/b3af+SyHZ
QfTUPuqRncl2T9uffBLdJyvZwHZj+SsTsZC3ZEeAbFImmqmp2/p6IvLBFNC9aLr/I+27euTWlW5/
kQDl8Cqp8yRNsMd+Ecb2WFlUpMKvv4tzvnPczSGasK9hGNjYQJdIFouV1qoTGLPQ8rdU/cbu2vVQ
tSQJ3LnWTzkpKz8x7Ptyqabnqh/zAHTeMqD5B+3L5YmANBy0tfAz4ZqDXfPyQ7SStiOdsum0Ql3Q
gxloFn2myHczQsC1G07ue+uYfodGCtJqm9KzN4Z68JbvBSZG5JOxmS1/QY5l8JUyC8qp2IBjbM+S
vWVa+CAib0clGHaj3e1dltkHTtatTkNv71Vb4r5K18Jtqj4SvcW8Z/Q1YhRgGjivGBKKa0HujVNS
bOYEUxkwNW3ee2OYVaDaSpEtRmmSHArtPr83HAwq2mebjO5IEcR6SMkvsk2PSDA6RkRGH8+Fb/21
B4ftR/cZnB0UW/AYXW5/2hA6GXY1nb6bhwfj4a/t7uWvcxuCaRgIKkv8ejysOItuW+m7wUXfOglY
NUPR7jy6boal+jYaN32TIGhKZbnbD+D7Jw0DusYBupCN5OPePzcHiXA15hM6SpZ7RVUewAfmkyl9
IIV1rLPVb/QOzcswY+DFx8zLUG2DOC53RPceR3d9SunyE/m727QDdXNJ+1vaxntUbR7jpMKhBplm
hAmwi8rWm7V9vU6bwdga7skZH6ca7dCOHSSK5P5+diCxsegEA2wSw7g/NZE0qoGpa249nbq8Qg9k
HpKKotixiVHzuH6GH4HJp+07E8VpSNNpZtsl3QTfwX7sQKRuz+hZITZm4lYvhpWFGCCDvm8nVI3l
lk7lKy2asH4c0veyH3ywzeypq/qj8TZ1R6MyA92ad3q1l3zlZ18KG8I6DODkoDDKz6+ME+qSPl2n
U1JmznZR6LautT6sEtsOa2XIb4gS36FnHDa/MDGwxGrDwaR5qPSL57dlrQVrjxFiBIwA2xYNJVsT
NBQ3GFAP8om5rjdZC57VpaqQZ1lthIyDve11c3i8voyPxrBPmw1fGn1dMM+f5xFOJRg5vH46YQ7E
1tFB+jiCJ1Qh1sFc6a63DmAXnpc3Uwm89Lb18q3r+TVGCLkYrtTAk5mKN71dJY//5/hLR3cNingo
ggBTyPMfAyGnsa2dTpMbP9bebiCRlpjbsa/2aEtt6SldB4lnKDhOiAQOlJUm4bLql2ZpboE39goV
IosuWPMj6CP/ZVGYiuVheNnHVLxLCc3gTMpQovu9hgOQprtBv3P0MujprkTNeTySRdKXze4Jd7To
qfwjkC35zPUARLK2MBcOS5o3YD12ASGwdou1obIbK3jbcV7IKTOaBlTl+F7szlPmqZyxeZqzz0m+
h491a90l6l3/s/uC2e3bRJMYCWbHP6/tj0QuAoxLN67WBBKzfN8H5Cf6zQ+jrN1RKAQuCxpsUW8E
kutyA8fELFybaNPJbWK/Wr57sbLNqkcjpYex+k5lhQCh1p+JMy7F1Wa1NiTFmsrDdKvagXvfH5Tc
r4+9RDEEthyUkX/WxSnGoptLWywQRPMXnVTwRn85yg1IuiR3ShBtQS/OBHHR1tiXduW4sJHGa7Ub
3+NvVWD8NoHv9HtJcUOsgmei2JrPlL3U1wEYcojKH7oHQ/WVzbitQnvbHfGAOJKrLNtA7oVakXdt
nBnClqB6BIx/ugeLhMQws9P+pOFnC+I8mdxAbcHp2N7dpw908Icf9OsYpkd1Ox7Q0DZ+lchjN+aa
PC5QKVKr6wl8idOwBTigfal2xk69SX3lYKGjWEb18DlPdKEZfN2ubmePmM4yocawp+NdP0MXZU0C
orftXP345oWMjoOXqbi/Y+m3WVDt69Sv13A96Rgvd0TknZ6UnbtV/dChm/S75JYJlwidQy0HjeAA
AV9qpDJnda3EML9AIxzLHpZ+1vxaBiQUZBqwk2diOF308qrKFAWXOTlhBBx5H0g4I9NAt3Taepha
sWDcAmb9gd8qkLhAsgVyGuooupbn7Mk0i42b71Jr566L7BoIrxoyyqiGgWgKIOjLXWyqMckHqiNc
qA/mLr8xTqT07SC/7wbfHn1yKDcq9ZXI7CQOr9iiMMyYykDcICS5lDyAXaUAfwhUFNkQqq/78dWz
MIGkPrnFBNZXoI6ab+BMCyZTxlT/0XPOX0ZGYAOEI0OX8DFquQ59M8QWnrc2jcxy19tfnZLuzPpm
Ve8tA6SzyY/O9M0cbFj6rZZloZmcRoz8654X9nHeN9XbJub+70liHdZvg65G9Byy3lDOSsQZoaCI
LQE8yR6b6beyfl+mLxJLJNKrPzI+NYnlepYO6LuZT/mNZe/BrbctT+md7c970E1F9pM/HWRzX4Ui
mbMJ9i+0ifC8QapSO0mjYVnL/NbrdzPZmU50fVkiZwJN+P8TwT7h7IFyDKq3IxBYp/jFDNY9Rr/d
zcdU5oqJfIhzKZzSWiCVQvBRzDB5T45X+Hau7NYSDS/2rlMP/bCXkoHx00+R6oRKIHcNZQAkBOwj
lwvTm6mqwSoxn0CWsSH7ZIPygnPX3lpHL+j29DgfnYfsx7q1d8m9bByLyDqcy+asg1PVrrWuNTBl
O4rqCdB5R/vl+rl9Bt6z9aHqzzqIdBDrcDIwaxx8RT1kdCH6rffuIdsN+2LnBM3OfFS21daVlASY
+8Vf/nOBnB9YqYU5D5irfpoCjMuRGFThjp2thvP9eqOanHyosGPVBIh7e6/NP1KF3uEEd9c37qP7
6No6OI2fu3iJZ4p1KE/b9rF57jfJGziWDtR3D+s+O7ZhcbQP7WHelXv9Nb9zvsV3y6l/kLiGwruN
thrQqoDeFGg9Tj/z2Bz0Aiu2wO59hzl+vtZIJ0eJvDXga4BqxExL2EbuFXbRj9gY7My8bfYyPJlH
dwPC6X120931h5Fur2+toPELOnkmjnt6jdwuCKkboBx/93vvacDNM7bZRjs1++lhek3vyrcn5H8l
D75Qd86kcsa/wAS9zPaYYoKuf9qgXTKo2udilCTxJGI+ooozS1mpcz0SG2Kou1e6J7rer+bdIsvM
i9JM53v48f6fiQHRO/A9DoGYdl9VobtrDnbr+3WIaRuhduyfMIEUBIoPGCkdGBE9akf3/28/ed9m
SQio1cYW+2m/qvMuTTW/6GbQ2ErCFeEN+KBwBQACDSdsw89WCrSo6pF+mE/tukMTKerYiwyQKrRZ
ZyI4/a8cEPDGSPCfZi9Hd+qdhq2U6Dyzs5/MyZkITudJ1tB8cbGKKppav/5m6X5Z39b0EV1z77YK
1Cg65iVC+Rna/3nczoRyKm87ia2VA9aF7HniGz/Wm+XN3XV7sOBtnVv1Jxxe+2e+PxrfEE4ojS+j
aBC0g7Gbzuh32dmhy/zy7MxhnAuv7/ABy33v28c+sH+Zjd9jWK3lA/mOQVb/Yi/PJHLv+dJ3VM0a
7DMoIVxll2WbfpC8cEwbPh8lVFFzHFwyfgB4lSi22VkwXy4QHfaXKnlqH8A17Etr+EInHrf4f5K4
81PjdurjHles+DIdwYa71Q/NPt43AXhK/skow/lygI9lJMbcQxP3a6ra4wiDoof3BvVX4huv0936
1Ut8+8Y5Tr/Y+OifJESkW8um+AnjQNDm/E86d8mTOK1NxYGm5lWAIS7kt4eU3yF5L3QfWUb3qf3V
19JijjBQOZfK3fusa/SWouUHfeqobHrJjWqEmEiW38+GGrhl57tLVHuHpPya2j+8NPUx8DmeDtnw
s0jqr0n9ks/0bliM/SIDEQk94bP94MxFC/ItYjbsNLqvpq6AJ2mzOr7+s86ipAyKf4tUz7eCUzWS
gZN71ShULd4YbajhVW6DA8rweC5R6fHr/U1Thdmzd/gXw/hnpXwuRYvNfF1jrDRvD+VDtySA0n21
u21CnzvtV1t+pxpcLjcapL0GYt/4TDRnK0bFA1Aqx/GrUXxrR30ANveg2Uyh67fhfOx8XWI5hO/M
mUD2SJw9ZYNnqVk8qfMpcYkWtsoMVGKsGJLUjdADOZPCeeCZrpWLnk9YVr7vdF9DbOEVR1Ma6bLt
+WQHz+Rwzri1kKJIRmZqwRxx0Om3Sr0fNdPPY99obFaWJ8q9sVDJq8ZU/5pYzlDB5zHVpcTywJtU
BN5dvHX3y+C3X68rpsjtACYbA1hQVLEBLLk8qyru0rwc1vlEliyw5x1t4DXKaGCEQgBXAXgPDFeQ
dClkVjRS572ByF0/eo0WtEOkWzJwjEwIZ+VSAjoVK9YR4hpfktH1Vfsw1I/Xd0uk2dbZQjh7lTcm
TXodMtz4Kc5/KBj0dl2AyCCeC+COY+om4CQ0CEB/lbsEI2bvNBu7PQAoMhOA1ST5M+F6kLsCwBFF
cIAWLw8mb3pt1AjENQclkFFDCA/k7Me5A5lTKy/IiB8v9igJviqSCOQDsc3fEAYW+u/Hc4fBspHz
3OL39dvKj+b7GeOJ/DbK37QoeR6C3/iP7fXTEZrSc5H88biuOw2OhggyewEPEBrz4uPgtMFYWaHb
gyGqfwfdWb08NW2HFkEV7Krd6C/JN8l3sK3jlg4YCls4knwesN6X59bFiTnkjokLVWaVE1DLaN5c
N0uPub6UycYsLXvxs0lFU5lWqtVTnDYm2CtyTZsPRed4ewqcchkqZqsWoGWr3KNl1fPNYHljgjax
RtbHL/pehinFacHWfMJAublbKsPE1LoHTLgeK+UnadtypyfeEtSxlZ6c1ZCBQYRCmbXBVCmAnPiC
56zPmBJtgW6lpS/69Ob1h7YxEff8asyn6+ch0HSGI4c/zrL8GCh3eRwUs1nKqYSkYjbM0GxTe5/r
HQkQGHgSrRcsCtxdYE0H4S1iX/7kE6NRRlNFVy1mv6htATzneoOhXLGCWdvV8/VlCZ4gNLuimQSp
EgZj4LR98Toz7s0YjfdU/YrMK1qtPMy2BmKX3Kn5GoJII7ouUfCmA2KFUYCMdcLwPs0XQaUI8HZN
BZLBS7bVWnihi+F2hxEUcD3mm+z+QRzbSCSUAZvlY/u0dmsy1ege9kCZiTHKJ2Uwd4XqvidOJ3ue
BAcHXBLDshiAsH9iXc3cCjPVplI7mSQGeXAXpPMaFECy2+b63A2ykpPo7DQQ6aFhBG2uwOlfqmTb
pI49oKEdXErrNlv2Q995YZYrGzdxjr1Tv7a29v73uwn4CWN6Q185CEIvRVInUdW4ctVT8duojN/V
0GLcxE9Nt37/gxwcGZpONGDh+VzvkHUOJtqO2qnCeIJieQNQfdD8vm8lj6PgVsN0IPIFMbDGuiEv
16PprVUXAwXRIklfHa/ZTqsVgv5UooSiAjzQw4DXgrPBQFTKHRXpi95GQ5J20pVmjSyrGsIKUdhW
m7V543rU2Szz0L+7Xq6AJpcmB2q5MtZHgXayEcGMDAvzpT6RK4x6MScZaoUnF+2pQ0G3pdts3SS5
HTx9kxa/rp+gKOK/EMdZFs1MiYnxFdrJydWgQVGycdrQnH/AhHplsbPxANlmEsy1vU0xiPTvnSxI
B88/WhzR28jT2M6LFrc1+FhPRCO+E+PJW+Pd5Llol75tml2pmr9KpZGQwgguJN5rcN0w3A0G8nBR
mGsafY/dh9bW6TMm6tZfa2ocFPWZWOXWsBtJ16noQC30NYLAAgIt/v67Wp3GHkXDLoidwjpHc3nc
3GRtsa36BANVrViSkBItD44rUL5syJDKs9jqxaqrxK70U5IGq4pKKNoBk/aWJmCO7m5yNLBcVyHh
+jBGBbAwELGjCnt5OYdlGW2CmvOJrKPPiI+9G6vM9hW6sitdRs4leJaAyPmfMD7Zba/T7LZOr59G
CuwP1VoAmhDUVlmWPgxUNk+RszsuCH2Av0ZCEehShhrnNGU1hhLUq7URdeYQpPm9g+zQNH+5vn/c
eX0IAasJXiLgBdmBXe4fKreGE5udEbnTm+NF69T7SXZTxAeQSlGihtelcaf1f9LgRMDAgJjoo1Ry
lhFQ+66ljj4bUbFmij/l2UYfy35jZk7YoIC+DlSSguBO7D8CgZ/GX4xSRDv75fK8ee4wKlkzIrTV
5WPUoVG/Lo8JqASvL4wLoP5PDiwnkpcsfGbbfLYwAxPuSgKzHnW5MQastOUbiTburksRr+aPFE7Z
m2yy8ozqRpSiemr1u1TDMNuk9TH7+bogkeoBo4nYAvOJrE/bVvZVm+eeYUSmogYVmsszYvngzrgu
RbycP1L0y01L0MeJRw7LMS1rOxV3gJD4ttb5UmyvbDmckispQJfEhCBoH0Abj2n7xXUkhlakAWD4
ZDcV/AZY1OVi1mXNrMHARerRQoy8bkbvC7OUcfWJriueZiSsUbAD5pHTZ+KNE+ueM6PRe3KTe0sl
9NEDOX+j06dEMcBDpM/z4foxiS4tUPTws5D+xwvCrcxomzGnQN9Fdddt3O49Vh5XFDOAHAsxgmh7
XZhIJ86FsY85u0huPPdl3ijQCf22yb6ZzSHtgtiSkHGIluRitJ+DdnAYV36kkEJBnmSTzIxAgPPF
mjcrECX6DYg/9oMu46sSyWLYOoTojgUvkjsyo2wzDLmazCh9zuh3Gy9gYvyqBrrJG8neCVQQqscI
u1HURrDLrsHZ3ulmspjunNtREq/dAU2+QJeUmAR+/YQE62FWDtEXWotg6rhb23Wu1o0gq46SetTB
c2NFVOsC1IBBnoZcmJUlr9cFClQCkGgMwwVBJdBIPBjJWs3CLvLKiRrcvlDB+L/Aaa0TMOfAhC0y
OgOhNNTNURUCC53OP1FDMfWE9JC2DFZaBcjzYezTbJXzGMz66v4AgWVqSF4Pwa0GzpPN/EWzBy4a
Z9fHMTMWc8UrpbS3BigxVoD66kNeu3ckRvNc0kkURWAPMZ8JdO2IRIGW5QHGbQV0VNVbRhSDJ8gm
b1U6B+ssSyoKd/JMCvcm1sawti2B3UA7nkHRTgkHeyIotf3Da3WxHG77cnUurBzUEZFmrmgk1sib
PSEF6MStFBgnUn4HR4UsEmw8CniXV6w1ppSMeQLO3mHemWukLNlDm1DABEpMGLjzDAD4iN9iLk7n
0tNi3RtTqCRBmu7XCmx/bWtI/F+2trMMIHM8dAdDI8DLhBY/cD9fflCtV50aN7ERrR5itPj3UupB
dgfKmDWOmr7CXJcp2f/9fURAgagCKTygULhznVuiF3bVWFEJ+hsHgyRp8VQt7ylKltcFCdQU0H1G
QQ5XA/1c3Nr6enHUAfMqokW5c9E1Cg5IWxKNCXT0QgRnMvN1aVCQGOwoXdds59b2oVALCsxzafmw
NkSyIoGFxrQdFxRtjoUMIc/NmNApzXUXlM86yZKTtzSVb9QxkVho0b59MEuzDic2MOJSJ9wFc70G
WlhRMuTw5sEc0GXgEJaFz4K7YKAGAqXDfYC55MT0Npz4BZMgotTc5A7Al+jYXjFWZzRfVIyFvq4L
Aj2HMPjXiJrh+fBKBxK9EQzBnRUhmt2RZAgmkLh3P+rlpS/TrYrROsWXf5AIagQ0CICcEL0Pl7uI
ye8JNQkkLon+YqRpcRwr46XvBgfN4Zgg7ZRZeqCLooQrmF7D68IFL4KB4cqgM8A7a5sqp5f1UiRx
lhMrss2tFb8ZoRKo434aj7kMSyW6AQCNISePo8TId26ZLdykWFUG3GbF8Cv9+zymfhn3QeFF15ck
VBe0xQAnhgAQhI+X+2l704wUZ2xFAFZtBvV9MN6c7nEAOc0kq9WKRMFmoApjGA64BznD4fUg1oKJ
siP0aN2uiT8Htic5ID5bxwwvG976PxncCQ2uk5daUduRS5dtPrUviQ2qgO6d1FXQDCkGjM+7Pokf
8kxm8kUnhgoqUuAspYsw+nIjx3qeEuKtdlTZmEmyGk6oT3FgDd69q2W/rx8aX+n6WOa5ME49hiTr
1jpf7MjWY5LtUElR1Q0GMDc3DtW8n9o62aCMzOwHr6BHClDUrdKPxfeFKu421VwkZWLoeBL0he59
vf5twn0wLfB4evgX7vXlPuTppCEfU9pR3JKfy/BdT0AQkFTfq1g6q5f9FPfKIgEDmluw5DEybE53
87ht//NMYECcD/ZMRQvj2tkPgxKsmp/WrT+S/n2Yq62uvV1fpejJwBhTZLhRVQJVIbdKM6sXG6RO
dgTs+q6cJE+FaA/Pf51z5q3YUjS7xK+DcwK8KUVQrrvy5foK2E3gNw/5TlXDTQSNrM1F34O79osL
Ft3IJXcJANyzfvyX6Btbg8uO8BTW8hMGwyqHslaJE8XViWAtmNd+fRGijQJbEsjHGJMpHtVLZcuW
OXG0tnWiLmVcRkuyx4ANKcGMaKvw0rjQZwuQP4f9/7MIbrFjUvTLbCNRtUsB7Hqa3Oj6OoR261wE
p8oLBhm4M4UIVUl2josuJC/bxC44K/KN3iZBN6uHrJsCcIj+fboHNE0sDMbgMVwizl+YyhiJC2a3
SLzpci/UesfHMF99pBLbLHo8zwTxaVqvpEpBRx02C5jnmoIz4kbRkJBTOl+tNN8zJElG4amB/xqp
YZgHjG+6PLXR6BZXazw7ahrLR/fuNnFjNAfLWJ8lYvg6tjasxpSvEJN2jntf9dq0x4Cun5jTLfG1
RCYHrI9owkdYBUotzuQomF3YIvnsRIOT+NWQB1Mn4/YRXSfAj9EpiwwMRslwdmdZgZjs1gQ2QWkC
feoxxSiq9NwfpHN/BJKgbriyIHfH4fDtq0szp6jVKXbkqF8m+NtrdwI1DeZrSlx7gc9xIYdTgniY
17HKsaIS9DDuI2B8/uhUoaNHizNK8gUCTfgjC23GnAfgTWM81Uzh1MHwdUCt3Dxwzf11SyHcODhr
qB0zjks+iliXlHpqjqcBhsIMiVE3oLZcu0Drlt7vdEfWMy7QOvCqgRYWjLxwbfgUujdobuzqSLy0
w0/0cAW19nR9QcJdOxPAnVCegEgrNiEg074V5V1vAGCaHK7LEG6ah6o30lXw2/m24qIakr5Zaiey
hoNm/UZTRtZEPdoXrothn8o9qdirP2LYZ5y9EyY1NKUbsZTSzuKN1YGPEHwb1K+JlgV9v7yNZLQO
rU28p7RsJOaOr9oyn9BE1IwJLugIAdaKUz/MP05j4LjcyEK7hE6XfU3B6P2CiNMHEd8+TZ/06m20
Hqk5Si4Z32H/STRnmvRWadfMgWgDMjVjOHbdutPSInRgpX7WYEtO4nmTGOa+9sr7Pi4lboB47Toa
KTQdhDHolrzc+anAYKiWFmjQBSHROCdHzI06IgkCmpobYEtPup2e8qYBV5tLHknxev3cRXcEjwzj
agaiCGSYl9Lb0iwowWsT6bQHuWupF0GmqjJ3V/B+ohTooRUGKoxMBTN1Z9q1rqQkVdu5ETxDf+6+
getpO5mPOXh5pmw7jb+vL0oUY6CwAA46+IgMQMFdTAsAKWWOVRe8IeE8PxVuSAgIHPeNGu8xaDYc
7C5c3WeFzi9N63deCmYtWWFFZL4RzmHiJcbdsL29XHPTj9DWofKi22TYxuqedoGrhKWsHUckBnRW
KMgjpYD+GM4XLtA85iQLUvTKZG8mj+7RK7MZk01j24dEl1gJkTECEgVBPSTa6Ou9XJMzthj1Opl2
VM4NSGBq1CPL3rAOld7YWx0zuiS3U2RgkUNwUJpChx/KhpfylkVJlCIzEJh6GVwtqzF85PTBmpbL
xnIJV8bYS5G/RlsaP1fBBdej5VGsbKEDWpocUARMRPPb5CbNbMk7yMOKPmyOdSaMu/LWgKG9PTza
COMKQa8wLaW9bywC1joFY5hCsDNSn7ZmHxpJRjbaXG0sPQecZNCfSUxUsBiQZTsZqR5MsaM9oD+0
3cxlaxwRFdV7ZckBlM9kHBsiS8G2BpVNkHrY/IiQFAVbtQNbedSS5QXEMwfsluQdEIuAY4WJnmAH
4wtBRdrWi4tYOcpK+73R2u+LusgwXaL7wrogGOMvG5vD3Rc9Kfp5GCzsvTUFZazt3HE8zW4cJFoH
Up7077AEH0eNnDYLUlBAQ7jHaXBZVBmIvexorSbt1jIYx93iTTsTkxV/lPNMo+umT6THCFvRfQod
RvMKtzxvXHqbenBOU9AMWQs69Hri9yBH9OrtdUmiw8J9AdE/FgaXjlPiSkHj6kSYG0ydbLt4uJa2
3cqYQoTrgVNvgFUWoQP/cjQ9UBJ2w1ysetoVOgH/IWj6GkRhpQxJI1zQmSj2iJ09Uq6VZdpsowyJ
hmIaZhji6LuVLUNfiEwanFEQglu6jZIH5+rorN0iwTityIsb3VfsofdTZ6Ug1oplIZFMFHdC01RS
VFWZU0/s3VTZrj9mQKWV8yrxg0UpAMwKQ5s/alhoxOZnXsbACxa2mSP4qh9y+ltxhtAud+W8zZwC
fIPFxsseEhlNhlA1kL9HvR1+q8FHr4sGHjovh1CrIcdqNB86lzyYKeg+7f7xH3Qd3gSjAmCdwpxq
pG08LbRErkY1yzsjRUlQ/Ut09YehQHTMiAbYYFe+YjuUid151exEtB0Ok9dt8zj50qTqDUZH/Li+
GpEJPBPFe9vl5Bbt6kJUYfZHy37PjK/62G5Z/7V0ho7okNgwEPxltGc8lzb8BIokjetEE9kkoDmu
wG28KWUN+TIpnKavmgpMOhzPSNP9Zn1s5hD564Zsr++bSAoaO210s4Il5BMlDNaoNVoFi6eP1U2W
HfXE8Je5DRT0Zv21JBSlYPEQJLOoj33JmSlK3NVVNBYPNZjGECDoesX4mI07VJXveq0s+BfoAzxI
5AeRxYMG8tmm2EuMxehSL5r7bFevHjwQnGawKCSYi/G9MuJS4gEJTK0FIDq03UAKHMMGL9dXo5uv
HWfiRZZdvrdZBXamWZFNBhGEtGhPhT+IFYHVz+WUoq86q5qmwYu6MdBLcOxCM0BZubZ+8500m+sn
JrC1Fv4w1kKwFMF3uVxRpcGrcLPRi7R8bXw11xO/t7PnxrR21wWJDguJNBNxBSuX8+9H7KXtmhqd
F+Xae18fvU7Z2hBWEj1wjK/XZQkXBbpPJgwcU/zYZLjkDaAaixcl4yOa3GrttpARoAvuFIvT/ieC
LfdM04s8zTATgmLfPDNAoWSbgAVZTeowm1LJpRLtHIIhFr8grwoX+1KUPmdVO7VYDXV+0Nw4kpcO
COWV4ZtkBTWR6qFPBfVlDWWkTwj3siO2R1HNimiGCZNB2m7u8qM7gHgZFaXrZyTKH4DV/48sLiZb
CrdLlk7FDpZBdVx/oIPTe8wOGfU3Cpi5ZBRDogP7Iw78+Je7OCULIQqo8yMH7Cb9SW9v5q+2+uv6
osT7x9hz0YSCerV+KQRwBqV3F9OLpul7n33RzJfKC6d+9L3kXjeLcC4kkYdQN8Av9l+BnEGi1mS5
ib566AhLfNcGq5j2WqwPRL2hbS8xfqJbZYPLgZk/PCQfUP4zlSdU1RaUyTxU4qN+eqbkYWqH4PoG
ik4Jrjm7tGDmRAXhcgNXe176CtSbEbjTAq2OLDKHsflbOr9dtBYHUBZ4s+DJ/FReqoGcGrQeih6n
QxGimbR59Dq1uq31evcPKwLoAKEGymWol12uCLMbu3o1Y+id8QVALp9kj8itpP9QeWEGAjUExN8o
MHKPRmMOZPLULo66OCysYPT8ynm+vhKeMou5epCBgXSsp5JBjS6XUlWDCeykGgOqbOVb7G5/cLWh
DzqzzgMwP9c3Wpl/1XW32yCXtgYTqGOPNXHq3Vhpyn2+aDQ013TdVamhbgxaoDfLUJdbPQV9zABM
9ub6BzPvlssNfzRyIJmFqeXoYrz83hZMjfPgeHE0rOpt3CUPtXJTx08lpTsLpanF+3ZdnugyssaR
/8rjLFqcpwmh4E+O0GLvgWMaZeo+eUtkQ1FEUcv5unjfVFWwX5oVx1Fq6b+8WMOEobwKO2RO0NoC
dnwNoUu8zfvC70xZXkB0cdCAxop7yL5+ujjuWhZLAexWlE1v4FfzleGH28hyHSIrAHJniEFMgawK
p2gO2J2NbMjjqFoc0GIrU7HTCuPb0JogFFVsGbmY4NwAe2JoFgw0wfgP9jlnhk2bdC8eUhgdy3rU
s9/tSNkttTG4rJbNJBY8EIjGWI8G1BH4cu4V8poVXcFNqUQFhh6aBPST1RJo9GahDIwcmEUcrET2
qgvODDlPsB96LA7E0365vrh2y6VsHHYPFnSH+amS+DKlFMkAWp7NJkPaGsu7lNF2ypwri6lE+aTv
KMAlca1vvWJz/YZ9lsJaBZE0ZlPLMR6K275EawFwb6AYOu5Xkpq+gSGjuvnXAIZLKZ9saax56OSJ
I7uegtgkYSqbT/ZZwZkElH0tQNUxbIbTuFhlbYlTHUclqA2N13hKQ2W4rejDv2zXHzFM8c8Ue5zU
KjYygntUK90p88z1qMX1ntSejFr48xW6XBBnarO5N7MRA/giB2w9fZiG1s7bzX+JycQDhEoTyrDI
1xgOmrW5bauyHg4I1T0G0apiN1DVrYOOqhzUjYUh8XYE/inDW0OWxlqdkBy63LzOmIdKaxpowbCt
xnt1oYFl3ixTFSjl1i4eSv05mZRt6RFJd4jgnWWSbcYgb7EOT+7YELk0fWNhM0n/Q8tfOsOvHUxf
qLaNvdONxzXd9i067DL3Pn6ou62qbDA9w5vv1bR4NWP3uatkaLXPZgtfhM1QDfRHAojHWRBMBLKM
DDl+gLq+1yBiz+yAkiMen/lFH9MgCa/rLfu5y4cbjTFIIAA9BrwIbvrl1iO52A3wsGNQHsEodlRJ
w5w0psTXFBgT5qazaR4I5jG68lLKpKgJyPp7bPMCc1Vs4BL6rQxVKNg5wFDwtsC3s+CXcTtHnKyY
FAUGf23nrdcHJf0CIDNzBJslXJaflfPr+t4JvANMd0B+G826Ght8wS0LU5TMoR46JXJIP3ebVtHA
U6AAKgP+lHWYf9i0y3UfeI/qWUFhagxatO8OQIsP3t83MjAF9hw84Rhvjg7syx22etoqbm0pkVZZ
KM637dtsUhngkKcQY1YBDCR4EBAao276KbJb6OwtxMCC3dLX9epgOpiYBE/IWNzAG7ZlDSq4W9co
7gFZ2I4K8Fp/3zyIT2CdvGjrAus+HxpZtWMnKOwq0aQf8+4rJq65fYD5HdePVqSw51K47Wy6pbBi
z1EipXnt3QcD01WbVSLjs8+MlbBMEBwUVKz4SzEqQ6d1SZE8InWSlbudM73kJFyeyN9DHpGcYZQt
jPwBSXhOTVfQFUyrViWPebJD83BYNLfemgdj8e3vN+1cDvdmOL099oNdJo9pjsa3pT22DLvXSF4L
wft3sRrOZGdr2yeWjW3L8xXFkSOh+9iy/ToFFY3siIQK7+geLreJpmdb5fSgndtm1Nw+eVzJt9LY
gHgz19y9oWgPlnlImzLMuwerbP056vX2MM6trP/ug56KM9AA2vz5Au7wbAx8bJJ+SB6/ZLaPTgTD
t6ewisZT5vhpETQZUkdBFwc3QdVKXkfRTuNV/n+kfWmPpbiy7S9CYh6+AnskR6oqM7u+oKwJGzMa
zPTr3yL7Xp3c3ryN6lwdne6WulWxbcLhcMSKtZb6AIjVr1gDGj1fBOr6NF709qZd1v6PxOE4bZyE
tdMG/ns8dVAWxdNXerjP4H4AIYORxjl/rOudKw5k2PDNlTQQpN3/MSHdc4Ni6VUym2m8FBEVg/u2
8eDk5LA59rt2C4FBBqhjZ4ErybmMB8Jph1BO4u5poueW/h551NVNQNN3wR8TlW6Bg5ZEXHaQTwbl
d045Qw6aqx2JS9v2+/l3o2TQEMQCk4UM4a7SiK+Dij3PWv/2cV+LX8t8ro1SPAroH1ndp5R36btC
WR6GGa/3zLWQJr0OaCNPJnp6967Yoidb+4Sf7UleUnUF7k2nJbEnwLgyPc8s8Rem2q1Bjo9pS3lH
kRKhioRbHf8gPUoaUE2MbTmQWGdHa3qt24jYPwe38rlzB8gZUuEqvdchSlnG2vx9LL+0yr4p+gNt
/otz8fmHSCt2KFExwKKTmPdRnn5v9RcybrjP2tFbpN5t1JpwocrqormXjTPRDRLX8JMu0QMVRJRd
v9WtWvMV9MRc0GVgfgTjwpfpySh0I/PslEKDK9Sq72PdvGjFMYs7p3tn7tfbjrnmKJ+NSWfdJSZn
Q+cSpO9gmRzNiGlPhPt62+3+b4bk26HQgDxqHRJTysJ6+q3lZWC2Ggon+oYlef8wgYb7e5kyQMEH
2lPy1drhNBtJNjw35c7L1H2rhXUD9iYjJPPOSzau2KsHmWxOumOFBsJQOrEByhIm8rtAL0ON/Jid
n6kd67YWutOvie4tuoGEkS8cYIYMFZwxGM5B1RJiAZdeotcWtazEUJ9n3uxzBYKVpjvEfFSKAERF
p46qf25/wDWDeG2hRrR0azFadWmw0DjvbVZoQM5Ccq20j7n64nS47Swa9HRL9m/NGh5bKLKhX4WR
Dukj6kPlNINRa88jo2Vgtc6PpFT3CXffRD8909TcehTId9Eip7kMsup4DwBqIwMG3KKu2hojEM+z
ygKnt+5KY35RleqMunaQ5uLJaJJd17gbtZDlM32On5JZGTwwUXBiTwxmkVj88ZCkeGr7cvvDbZmQ
QnQGzgs8Mwnqv0w/F3m3R8Nz48jJkXGBPwCIjgI7jhG4AKSvxeuU1MKhaeylxX52vAOuiyPlr7cX
cv2JLq0sPvPpEjVtj/ZJjtxcHXMob1ZBaXhBoX3JcwYZYHTqvHs0Ir/cNrq1tCXafDIK2sZE7zsY
NQRmWlMgQaud12gbp3nZoEs3wNKAAQUJIjCTaGVcWpmYOdejBStm2foGbwKnHQJMk+bZFixry5Lk
DYk3lQqbyjSGyCmqC6O6gz4L22qrr+4aJIbshRsJxWtpPYNVirGtYcWCjFLpgdelCTfv46uaAtwO
hcoF3YNji8q/ZKVRatU1R+TCw+gAVp8qfutg+Dh/avclIx8zzwzTcyE4I55ve8X1mYJlODHSVlTD
QM93+b3KvISIifDwvYheILnJQPuamc7+tpWVXUSVAlkjcg2wT8jVa7s00zbBbRZ7enkCh4LfaemJ
2Y+3rax4xIWV5d9/8vBUIToDBxmJNdfdkfJbbZ9JV++VZmOU/+qBuHwuvN/xQETpCWWnZbmfDI1G
nRlmgcTGSN6ZgNQLcUOrfK7HPw1/KNrvQtX8yToNI8YyoJZZ/C0xyod9FISBYsGmYszt0j7A9ADC
piXFLamFBNKn5fht+gKE/lb2vfbdlgmA5WYGp5UlnTE9LdzWI3hJZMl8KHtIG/TK0TGf/v67YRBx
UUsF9gdvz8vljMAOujkZaaxZFMwuTqAnj60K/POWhsGag6ArgMcL2AQw1yyFwM4uuSPcicaWe4AI
4Qkxg6iQDB+TjdLn2qkCnyiq6KA7Qw9cXlHapKyEXkKcGOQ75HmZr6kpC29v21XChhK9CvAcXBG7
By+Uvg5ICqAWXtYsLsS3YnoWDrj2te6Um3uXVXvAP4K5yXw8YbaGgj46WpdRfsFh4382BDCXE335
xXQxqW5qGFmsOJNvQUpxdg+qjaH0x1GZj41DD04dCBqZTrtXuybk+RvPtvRLrjcZAMJFJwKgHQC5
ZLYoTpOkVmjC4uq5jLeIa65KMNhcDL6jOoFe/IdbXi6xNIdayZw0j9MCswwnD+LYSTwKcUd7dvTU
HQP+jj44rD645AD1m0ePHKtaf0bE2XCm60OIiU90g/Hqxkc2P/QMP0UbblKQ6/RTEU/5T6P+BZxk
M2xEtDUT8CTA/IAytdA/vVws1aFQ4AGDHvO3Rjxq93+NTsNugv/nPwakiElIblXgJy7ixLJ8pYlq
X5uQcN9nKNTfPhWrSwGzLibicJFCdfZyKVOWdIUYmiIexHgakqNdlQ+5qZxuW7mOJO6yVUjngTsB
uFm6Nvnc8VaYWhGTyT6b6G/o+Q+oijwV06/bhlZSA1jCGVsqE3hEywUXh9ZqOiU6Pk3eBhTMpOKt
K0G0ws6VaAMNAki2iSQy2ULFrR2AC8PS631ObXdSMhi265gMjd9X36h5rkfzkBd1wHolrPE3FkDh
3sDFI6Y/SF1tlAu9+PYWyM/gxXdAnYbmN6gJFjbjyy8KUiqAuGe7iJte+GmW+unwtRpONkKP6Swk
1BsetGrvI/8HOBmQXmnhYNZ2HRRFcN606ZtZd+Axz+uSo9Q62qfB0LJg1sp8n1Vmf7y90iVsSmEV
7w8EdLSXkGLIcPK86pURTDqgDTTF2c7xEnBCVw2pa76OyrhhbC2IgwvMw0W4lLxA7nS5r01ucQiq
zyVOSoFkBbCTRzOraSjqJMyUoQ6KjnZ7qzC7EJNwyqFynfwOyjn8pFUFOabdxEJ3LPMNyN3a9qM5
i3OFiAEqJilUDBh8LKemRkj3yjszsb4Vdn4y8uQ01clDUz7yDPDF2/u+6uvgrQW0aGlwoSN9uRUW
dMVHQe0ydrSH8Y0Mh95AeB+bAxq/TXroG+JX/ZPtnHWt9ReQDHvJz/UWI+HKhYY2HoaPFgY/YKok
R68a4HLSpKygbo+Bttlo3J0GcauN62QtdEHXHfobaALjTpGyhk4zCx1vpyp2D2gHveROqG58wbUQ
/NmCdIAMa+L6rMICQQpC9V9kfjY3THw4p3RUUDjC3A8GPYAWtxYv+nQptkOnDyjvlPGsej66M6by
luz04ad5cKFZUtahmRx1ovpDueP2Oc/fwZE2RAnobYs/U/VWPoCeYR53Q3cY8OKy9L1Q0WW57VYr
+4At1nDAUOIC0Erah04RIO3VMJ1rZ9Nh6hYZAHCOEr5VZ72aVUaERDca86xoGrmL8OXlZsyFJbTS
7Es87c3Cd2oXvOtqAET4Tlhn9UdNX2p0x2srYEmobIIXVhzqwvry7z99Cq+c56EkqIur4KtyH+bh
QdHOjL7/F5u5vHY81ETRk5aqdlAYZBMAjggLiYKHDvM7aBFkZOvFI8tTuh97ubzD8UJYBpOl46GW
kHNXCEJBOh/bGupt6WOP2n/r+TPgVkN2z+tDNg94wVaB58Yl3QODCBq0AGKSPnXP2TdKH9Nx342B
VgsfGg2H0r3TEn5Who1W3Uq8wMsI1WHQ3SBDlLlFaTeAe0p3yjivQANluZiJFDXbAgWtfV5gwUBI
5C16PTLIoPbGeexts4yb4T0d1QMFY3M1+8T9c/sDXxfF0BNfaD4x5QQuNHkuWtVy5rIur+LG+eIB
8ErbP27CgglANO/HkD8Pib1xPleu2wuLUtTPxi7PCFofsQs+uaYMG+gm1+yP3hRhr9ANY6uHFLRO
QHcDeA0gpOTAGoFEwWwOVTxNQVZBjbl+qZwnr21DzrsgpfYLEyfem6hZmM8N3aiNrD0WkVEspEi4
XwCel2NEDsQdyjDI5araL4fRVym5T9x+3zjK01BP38sq9U3Rfy3GFsLu7bxx7aw5K04VquCgM0OK
IwVsMtGkJ4BJxqWaKPu2a8rXqVXUjVLCipWFkRYgbbyXcJlKp9ezSZ7lDavjsWmd3eDO46nIuLaR
Oq24KqoiSJ7wsl+G2KS9bBW78ZzerGNhvuXpA7SVD4mqHTWq7b3aCZwBSIj+L0GTiEuAyQHVCIAp
rjyZaY43lc2hnNTEBevcwNYqI+h7c4t2dOVIwAC8A0w5KNZ9KCB9iuX5TMpUUdomBkHKVzXf0bQ/
OukQUPv3JtJg5Xq8sCXdG7WZuU2F6kBsTWg/zmZE2ulsecOG519/LDg91KgXBBEKBTKo0SoLlbZN
yWPV3AsxGkdTb8w9H7NzltUPOuXfu07V945LtkY3rzNZWAbp7ZJqAdcvQ3ByHIQJ8mQ8nopzleGJ
5D2gEqRkLDS8WE22Jn6u93MxBwTCMnCL2vtyNj59O97rQJ45No8LO2z7SKkeAJrZiGIrm4lfDPAa
ChLoZslj1xy2NS8vu1gbmggAuEe3/c5oBALJPVp83yu6MzbTm+sz7S0ej3odUPlI9qTIMfBBhxRC
1mHLams/DZkeKAIAzdvXz8ruYQrfWIYPUWVBqeJy93qbl7mW2yLmzk/Fei6tyi+yt9s21nYPozcQ
AFn4l3FnX9rwBtZQp7ZEnBlaqFIFiSoj577NgzMUUv6wOgXYaEtyaKVaDVy6Zy5sLigg4P+XVqE3
ZLeMdV1sFcZj1XlAKxonr099NH8aYt3NlPqMZW+CkdBOaNhnD1nebgTmlTrG8isWEdSl1YvXzeWv
KCASnSWi6mIoI4T2uMNF6Yt8107/mMaDpqh+VfVBg5mA21sua7Yhn7u0u3yTT6dCYW4zDGPTxeLP
4Iau6TMlrkHaM4fWA3mB0g3ZjehOGb5XBs7WM2Xl1r2wLisUFels4dKFdZWq77z/NQyHNDX9UWt3
iOJTewSZFjhwQhOX7u2FX0fypY+kgQ0RIMNFUPdy3SPKm07Wc1guf1nWSR9OrEZHU/hz2+5um/qo
QF4+xi5t6Ze2QAbKGF4A8LCFk+lQJ4+d+VIOoDGACAaYoadG8esf/xjDY9mmqGjcFd5PNCH5sBs3
3Gxr1dIT2pzQ12/Tvot10p8sD2wQkJG33gvdvZtMumFs5a2wrBulcIQl7Kf8CIUIgwOSw6KLazvX
f7nGoJ5RL/ImaPyq/I+YxcADOiXdvGMgdxC+m2SqBjk8XlZ7sx/Ebk6yon5qOrSo0sIyf7RlVuc+
HXPnS1WUeg1iBjZYu9nW6bOZcb0NQVHPlIOm5nVxIJUl1NPY2pkRuUpJHqkxlFuM8bKW78cBQikG
tUAoqaAoo15+3FZ4bNStCR/XV3fVYTxmj8bROSZndQcNR8hA+IM42NGX6oedQkk4dDZq06vx6/MP
kDyZcmPkVjl3cfdWZ3vTT5/1XcGicfw5q8esEb5z4k3ItI2E9frdg49r6IClYDYBwwKyU9dDxgTB
ugUVeVDbSeILvSyOo5P0r06RpPHGKVo28uoUfTIo+y4rK+6BZijOxgZKP81RBw7H0U/MqcIOVcdi
fCnMOYCc+G3DK/crWhwYOsBfUWGVyZtwTiG9peldTAvdCFjKBt/q53R/28rK/YoCBQIRantImeX7
VbE63qlOLuKmiDr6T6L/1o2NTG+ljIcHxicb0h3jJKmjptAyim3rTe3jJj/3fDfsquZuAGVBGwEI
036zfRHp7T1v3lMAsG8vcjXef/4F0m1T6sOcioEJZOlnkop73hoh478Jw0z0rotco4v4IL52bIur
Ye0jov4Dd11m5sGTdHlKa9LqnsIbESuzq36pMqQvmAxIvt1e36oVlBRQiUeTCPXSSyvgqEmbWuci
tqxKPeU6b04WJok34IkrT2VU9ZDAggACiEy0Vy7NJLzPkpoZIsbs3t58dw92UAWQaH8xgu6hNDf8
X18OlnzwPpuT9o4YfSdqqot4oBi5tejIwBo7iu/mYJNwrjNxV3NlfsQoIUb2Da2MDDtBHUhzRQDC
Hrqb57QLUdNQHzC+naGDXbinfCz7vUrmYd8qmMM19aR5aZiXP1TqDHr1lG6NEF0nWAD6L3h1dA+A
DLji4p/w9DFb6vZxodTkl9HkJCgHrj1VQ6rdzW2dYA7byMFsAK0GEPDUc3fWwCb787aHXB1z/Ao8
sz5GpcG0J7+2hOH07ZTlA+DjxomCl4ST9NR1W2xJV464mIEbokYHUT387dJDFDIBqKWLASfdyt9S
t7NH8LoMmHW4vZyrS+DDDsrL4HteilNSTDaUkqXDxIe4QRc6zI3iT9mDEdDMJ6hU0Sq8bW1180Bq
97/WllV/ylX1zLXKFAlTbHtlEnh2ruzmHCzvHIWSvw3HHwtDm2mZMsbIrLSBJWv4mDTtEKPl4Dd6
cs6LPnTovHF5r3+n/5iRLtEGoJ/MAG9WTFzrK0bbk7Pee2Qj7q9uGwgAQCSsL+m+FJWoKoaakh7b
lvFDCQlLu+HnwdV2t7/Oqi/8x4wM0hKeydweY6Vxp//u+vMAIeE++9Lo44adjeXIwoYOm2tLsfBp
XEwqO+hmZK3w7U7fCHtLVLuIeqgj4QyhHAl0D4YPpSBbe0ynLBmHWM0a8k/lJGA0JTzp/UG1+50J
jHiYUH0KIS22VUVYWSHostDdAxUF4Evyiz6voWLgFPkYC6UN3BwPQZvvNExN3/5gaysEgSoiBdQt
wKy2/IxPx4loFLumVSOKWbvajPUWCtX5qAWcYGnCBUy82JrcWfGRhTofk5yAayBpljZVr1twCOrz
CNSIUfgNF5D7VLPflFSYzRi76Xh7hVvmpJvL5YbRZ/YwxsMw7D1nbv0O/AF+nRRjaCXuxr28cpgx
4A6HQXUEM7tX8KlO56VB1DEu8+Joqv0Bza2/hY/CKT+bkI6yKfQBfHH6GNv5q9kOYavcM/M9Sbbk
cVY98D9L+bhMP7lGyQVQ2boxxix/hSjJTmMNdEimjcAkbRhKLTrmZJCRoaQEGL/cACR4FTLHbPSo
rB22V60ErBikm8PbTrBuBQ0TsEAv/fLFST6tRWVtIhzG9QhN0fGgU/uPXdJi4yKU6yj/rgWVscUC
2Glkzx5ZNosO3yeqoDdV+7zL5qdS5dOT2dbtjlQa2yeFtUtrl8P/WnanVPngZ2M278gI9mYCpvdz
rc62D8nmMbi9BXLm/z+/blFJWUQ6gO+83AOXjpge0Ac9ImTGxI7u68Q7MNs7DVoZFnmUWOCJpiJq
+bPqHsrG8dP5hRcHV0fdydk4J8sh/xRZP34MsFoL9w0kzFHsu/wxiqJmhYLOO/QhAtG+e0Xm8+qQ
TJNvsw1Ta9/eBmYAFTVMAl9V1QjqS22lK1rUKpY4MvhakLOx3vDjD20veUWYkwfOED6G1ocUSfOS
10UvUrhYkevHatbN45CQ/miN2F7qlmo8m10WVm76WiX4zhYZ1MNgiJOZsK+gsRMn4SLp5BPEm7Su
afYQuIMAxNAbgYk/2c94goH7kiuh2+U6arxgu20TLd+5bqWEnjHbx96C5EFZNlrYDcqLZbDiRHot
wbaqb60YzT2AuGR3262kC+TjQwLjpWEyArDUK5LWxqlYP8ymHjXgnjkKV00is67ZT5O0/wxF7x6h
IeqGY86NP/+FYbzEIeYIjMOVTB9hnlF1qadHs2LveVI/lKTc1y1/dNTpaKTTucq3OOvXPAn0caBT
BdAXIgZSpqtQwUdi5kZEUMaFltd5bKet7pL8PP7YUMycYTAFMC70EOR0EMRxKPQbkDUuD1O7bw7k
pf3Hm32a+MMv+wfbEgaUa0dXBqVVobOjCT2BwcwY/bTYaT8U5ufv9hdGfeM9fUqNUCT+FiHkulnU
UjQoxmO5cnZt1szROPSHoyF56kmYP7J7+64396rwtQdQd7yIJ95tXAMynuvftQL/gajjgOpXpvht
S3McVUzhRa0QQTrfZzSshp2lvroZStyZX3m+Ub1kquLn2Z9N1NxqCAaXJnTOARcHokyqE45VAknu
IdEjRXFBQZWZmNMHNeocmG5anIoKxOC9as+72dXanzxVmn2TOtW5Sk2A573mS6loqW9rHUAWtOR3
LR+/3D5U0p3/7/5gHgokJyjnIY5dhmXqKWjJKKiVarU7x1XRip1udNahMoatOtBa4FhGr/41hYLX
pSkgVUrAaVMjmo2dTQkgmidPR/0wr05ICu70rYejXDGR1gb6x0uDA5tsrjOsTZj1eWr6+6lQ94PS
PIAsaZ/xKqj1SDPyvWJPAcCcAS/fb2/u6orRpFre45ArlNW9URzv0X6lRmS2AJx3TftWq2qoO/P3
2mZ4wszpoaRsI8Ff8zm067DR6PCiES+DGmw1GZU0c9WIGmc2uofESgNz0h+8+Vf3mkLfwwiN8T51
6gjomXDGD2mc4TCh97V9/FbcC+cdlzByEEhZy6wySeolJZlzLXKKYk+tr0mrRA2IXOgu7x8mwMv0
Wj2r9WNqHzlAtWXylLrf1STduDpWkg9knejR4huALO3q0eOkbW6YgxYl1QO+NMJPspvmBDim38yj
WzFHeoAsfgdrLuai0N72QNh56XcQiGuGOtG1yE25b2njviing1uz18G2fPScjKQOKVT4cl34oxU5
ThqWRfo88vaJlt1OmbYKQ2tXzFIDgLgCkmG0K6QXWD/ZpKgUR4u42rzM+jdiYmA8L754PdjyJ9C9
jih4eOl46oxXvdxCn6/t/lL9QhhEvQiecLkfgtm28EbkY72i7IvprLVsVw65j3l1bQsXvaSRUlKG
WtH/2kJB9tKWwSvigodGi7T2PL10pT+Yvvdq39ndmW42kVfSg4WiCFNi+MuC4780luHTu3nN9Mg0
IIfST4EHclny6znjXyt0+QY7vbe7KZgAROMYUEieJyik3A4xaz8BJIXLeKEKaIoMj/VskTFTeDhg
qPeFSmmjRObkW30KuRr84dLodqGsiOIY0hQpduvmSDHcQvFo65ODlgKDbX01eBvYvNo5BjlX4Hbo
k7Dv2EltSj8Zo0bM+7qu/5BJO3iIQPlAwfzwq4Ig2DgXJ60mQBCrJ4j5bhy/66C7JFEOWCkBi8Az
QIr6uVlDNZK1etRxMeDVtWvSb7TbtcZJTUKaOr9vf4AVc8hFQeSEui6mqOR5fsPOFI2PeGTVae8F
wwQ+I24duVUFtIdMaccnXODDVgNyJZlCNAWpMcq8Fr66nJlqHikR6jQdbAjerrR/FAmg6V7oWdm9
AEzeecnmn3nzy0x32lJ0Yd0WAvL/8wsW/UfMxkDpVtpnEKJ4yqBMejTSIcPAQ3XK6uROqBBBdn8U
2h+iZF/SwTo5SvsbNTPc82XQj/3h9vZfn/dlH1w8SACiAzWLFFtGkpfpwlgT2d8Ky9kREwrQxV4A
DiM869iwZ0AZbltcCaaXJqUQU/IqLfoCDyBLESKkzGj2zjwbsd5lw86doDpmZmb5qzUxBMlzIw+6
grq+IuotrfTF0GWsu/wh0j1TZa5NEdT1yFMyZT/mpHmavDnfm7xXn28veiUAwBZYMYBUxPHHF78M
dbaStX0FNHfEibnPTCCqbZO+QEaw7K1AaR8p6MkNvxrHXZ1UIGF/yBV/funswE4ei3Hvjj+Bspg0
gDxRtmU+5Fu2Psv1rXv5C6XdSFPC0E3V9Sitkl8moT6UhMDUuJtGP0nGc51/wVzbnqqviXsqijuk
f6n2QPHOEls1cbnrhGh5+VOk63bmoGCcsZmRAO7xCwRqNTXojdPQH/MmKOqQZxsVQpm971+LANRj
6A0pDhjzLj8P+Jc8kM66eqQa7eAPw6M9+PNwx2vXzyztpLu/mqw+akAqoAdadnuufZ1A0tIRaEA2
+ymNBAvcdONXfahyyg6Kn4Pi71KFAZXG5a9q9LqplBrPZ8g75V/1iba7Mu3HUJ3me54YyuNsZXQh
4XXirG8x7e+V6i7ttGctccCqZtr/OKIbQi+x3aCpSB5Sz+2PxGvf8R9FHp7NT5CgeNM6h507Jy+f
K6YXDwLN7nAEpi0w52I69aLV/ougs4hVLakkcNlyoXS58u2+Vz5KIEPvoz44PVeaB80qs1KCyrWf
DC8FKWWlap4Ptgn376845JXL5P0iVXrVCjbdotMNcEVFdm+GDUf/1fbdmkIJ11cm24c0xlbXQEYz
LQ4GOA9g0viW6Kd/xIdP9VTbUZwEZMtGVNgCOr+9yr+MvVuFgubkJ6jopjvD7KfMpy0rj+iDg49r
Nu5SpnEgNugEOHfqvQ91pwHU3eS/vQpKk2XekDulSbb4KlYiAa5+VG0WjTxMjUk3ExvTPGu03ojA
tXhoTL33SSP0UECfIdBpstWZv07B0FqGd0MPGpQByLIvvbwcey0TXW9GSvemm9SvtsiPVu44BAzQ
MwLFjdk7TwonoF/hZpoPZpSAPiKrmrBBm8awnyE+uHCXHHPmt6+34/3yR0onF9S9YF13MO2BSV9p
TVVR9U7dZWY0o4V/LAw1u88FB7shcbVAFVm2q4Vd728bXYubuMrR6kAqBYiRTAtjI4h1Zk6tiM/V
G8gNT41BvibUO85CPDZ9lKYQ9Z7p2Uy6jVC1ksXhnQoYLd6IKHjIZaLRK73G6l0z8rjunToQhu8g
/w5GbUj17ikDtt3H9MNvXqZ8I5YsMVDa6eVaXfRQkJfiqXzpPYljCxf8ilaU957PqgK++sKnjet7
xUWXER4wTiEhxnS6lCUByYRCFPoYEePgREvBS+N7SrM12rW2iUBXouWyaG6AZudyKWOhANA9WVak
dn00mEbgkPcxOZGU7OopQal2U0pp2Rx58/CmRF0Nb0sgiKV19VDPFl3tWtGYhmm8NFkQd1QfmvPd
hEZmwL//KbbKpytHAxkQxjBdA0NGCDSXq8St0Iq6KuzIo9/KYq+yAwWfxZQWQcnGjR7Dmi2ULkGi
jckNz5Blr/WxSQWaSHbkCP1AbbTkGg0DVsrBKAvfI29/f/4+8jtoRKEYDS2Jy6UJrW2UztScqFPu
QdtsdbuSHqoKSq06e+6Fe+eZYVFtaT9euw14VLGjmIBZpqk+SrifrhbeuJRYU+JERTLs0lLrg97C
e8GzIWI4DqFtFFng8XFLZvP6THzweeNUwHUwxCUdPFB4zBXeq26kczbtay07cpZtCdKudAgvrUi1
9kkBW0pllm4kGvJmpMyfNTCUKFmYuNXeaJMQkqpPw6sBkLtHojZR/J786jO6q7eIXK99Cb8EMR2Z
g6phGmL5DJ+22VGaTFFF6kZ1o+4Keo+Sdz0JX/cI2pAbVYnrG/jSltTsS7y26W3cFVFJsieoZ+EZ
bu+M/LHO562gs3JpLLZQXkVChFFPW1pXPg5mY3HuRtqypUpP3ylUC8HeV7NQpJwFQJDq57SwgW8A
4OPebtjwevvgrLnSB+EB7KPTKldHRlZNST+0bqQQ8AWqXTf4Rm2ah9tWVlcKDAUAbXBXAA4lX2qH
1FTnUrhRmn0Z69onheXnxmMBqtVRLQ5Z0iDyuWFGf942vPY1UfRBMQ31Bkh5LZ71yXN0px9FnWKH
q6ZoTvMwjs9Wqt47ZFTvDXtQT39vDtQtLm5DcI3hQrk0xxTIL/Zsdj9uREV5HPh3SvB40baKKGuf
7bMhKQJ4o1FNTTO5UQ/uBjyZMXrl317KlgXpi0EkcRJDAQuqGeney0Q2XGItdC5qZKg/4ia6okgf
gaU3lU51IzDM+Mmv/lk8GvMB9E7WVlXtOgdd5uLBd4RRKlztci+lLJhVjEJxI6/6Jyl9ZNIiDfNp
F5SjP1h/N8OLxwaSMIxjIv80VTSapfBBXY5Ny203KhiG080q4QEETq2NIHWdeUEsCc17EEugu4sR
p0s/6ztbjJy3TlQq36pRDSa3CvJpYylbRiRnrhmUKlXaOVGmE7/tVb/W7v/PRmRHNkTpJqDoi8o8
DfT6ASNqIYhnb/vyykqQauEFuBCrY95Syu48DU93fSJqNNH0CCrFiDYsaEwe3jaz4tJ4RSHUoICr
giN1OVKfgg3Xh8GimMePbEpDL60e6/SOmSBLMl/nHJTP7biBxlyJbgZyVrBL4E5cKrmXBqdyLmZE
bDWqnYNtfXWCyuC+t1WhWds96KBguhFZI/D4y6/4tKxSTUcxFbMaIXfujy7NQ6aUzp6MW72eNUOA
vbjLYwaUGVfXfKqoaqdj/4B2/87tJiiJ99TzYSPyrJpBSxXoFwTeq7orGp42aKRhxsCYKnHuSfZF
WN/+3hVw73zUs+ALcnZPaqbWpteqUdF0/sT3Zd/v+vp3X75CHW6rO71cYpdPCYiuL9K8IKVYlM2W
BX/+QHgUueiDqlH60CX3XVOFjW2jWHcWG0/NlTsB0zPoDi5hB/UUyRMgdjirmdOpkWL/MJM/4Im+
vWtbf750W7eazkwy4M+fpwe3ev/v/nzkWUtBCGn7R5byaaOMUctyu+khT+o2LYImWCeYx4+3F7Hm
XqhvQRoPXOXob0ixubEKwutMUyNW/c6NJgDHGJTZNvKa1U/+yYgUmxNLUwDn0bGSnoI6uH+EH6cW
eTfU75gP2EgF1sLM5xVJMVpv05T1napGXd8eDP29HIXPbBZaW/KuawEUIRqaSMscPkiELx3ZmIAV
7fHpInDVV37SvoxzjPlZw94XW7WLVVdDlMGtgOIuKBwuTSVdiodr6yFWL6xMM5jkt8AMa7tmAREN
LZNlUleGfZvWoM144qsRJgrf9c6MVYgpGJmfp2x/2+NWLSFC4+4BOAkx4HItRLFmh6DxGdnGvjB9
q8FzFPxGWxOoa19nic5ox4ODH42pSzMu6wdSIPOJLOH54qHTdgpqxFrvQFeIoFm9kUuvnSN0w4H9
xNsa1L1SVKspI5WBEkLkJNDCQ6ca/82u2pK7WEHafAB6cdsgNQS+QLq0iwwwIsuhS4e/uS/TMaLM
mvysdPeddbY94Xc09TWMSHVVejeqeZhsSZ+v7Su4aEFOA3Jw5IxSwEj01KNcY1o0dZ1vipfKffIY
TE0HbodV/nzbWbasSc4y27WN0aECCNOC+Nysd22qDhAv9d10PyvTrumMaiNbXQtWKMlASmGpzADK
duk4aslyrkGgKKqTgwlqOXfoD7r3O+P/j7Qv220cWbb9IgKch1dS1EhPkl2u8gvRLttMzsl5+Pqz
0r3vKSnFo0Tt2w00GhDgYE6RkREr1sq8Xh/f/358QLPjQY39AAwRd7DlKkl7NHbIB3CgAK7sHDrk
YOxoWiWVCwyma8SZwD0uDg8yjyApROsD3pmXwzOTSFPGEhtVBTBYBSNEX0DhI98i64wgU4SaWDoW
gOzCQ+IiRjTLrZ9tJjNKhY1yoNCDMPdqeGckAjKuhTIxwokzG9xJz+e4dIwUdSrIFrjAe+H46V5r
Pw+Kspp0iCEVW9TD+vh3K+K8WJpLFvshnjHQVsrf0LhRO7VBlxtL480gDyij34MpeRArQbgpcJtL
MwkmCmiaImRnD8PLdVNIr3VTBFsmCNTD1PhRVNRrm1yw+5fNGEgOgiyZUR9emsEVBD4UpUPRr3zS
OnTrpe6QiThFl64AbAZUKoFqRkKQzetZZIM8ZCWhDqMchqjyIP8YSZNb24/zKHgTLlybOtYFqqlI
xmt46V7aKUzaSDp7C4xZOrsjynVbtWxEQgkLo2FugiWLkDHS+azNrCvTWBajfLC7fPQjTW98bVbc
PhpXkU0lgUdcWCC8bZBcBBkWE7Xkdns5lIZGBsRSenJKrLu5OQpVopZNMKoMOEGUGbhDG+LB1IUd
bmgQkjiQvTbviqnpIfrTCNZHZIgby2g3Ka0w2INJv8DXS8nTZAiC9EUTqMQwllTW0MtdmOiHUtSY
jWWaC9ee9ri/3EKk2bS4z8BuxVhScUD4fZZLsRSTgSgHTQkh9Dg5+g5V09fbV8XiNsMzHRUDuAHQ
TF1u5gH9LUaqUOWQ6UO7oqGRepJuhNt2Js1H7ABae9vekl9l0SYoq0EidN1/MDfOYJRdoRzkuep2
0LmbV7pRJR5SPTJyRRLxrTg3oN1aYaP3CdoqFJWCu2wQIaCWRs7yzTIyY5CM4bd868SIeaQEIUeZ
uJF61zjhj75YmVJ3FAyZBS/c2xRPBxuwDjy6bDCcX86xiubDCfSfymFe1+ha3rfalmTuJn1GyNgK
dubC5QEueoYoY9k++PRLW+hec3prgC0gv1yDbsMJAQbUfS1K17r+cntkC3EUQxQAvQiqfTRecgOj
aCMe5QZrWeaHvDhINiC55tvc0ZWt/ehsgY9atobiFry7Cmwg+/3MvysoWVekxtBq3MC5D/LHxtM/
qnqliEj0lrYGLqn/tcR5+LZN4PxzWOohVmy90/xtMAbPLARrteRFzszwQW82ODE4aRE0NfYruJo8
mfwDme/bS8Q+ld975zY4rxuN4J6FpCL2g2tvSrrpLP++nb3uY8gEo1naeQg5QcYHsk4cKm55Zseu
+rQcEUpoVF3ZzVz4uhXXO4SonVfkNHqAxJbolrwaHjCSiDaBnQWWBmVkbrs34AS1EmAgDuo8u2oY
7Yao/9l269Fxdr1O3Xj+GFLy4/acXq0b0kzMLSPGAGQOIP3LjSjXsd7XvSodpLx8kKpdIudHx2hE
EeiV22BmgIVlyBH24OSfDKDDkRw9lA5ZXq0U59n8gK5OhT4ptN5F6y6udmMhSKYujAxXAQq5aFhC
Ww3/Xi/SGU0NukyCFBAkJpPXz64zCLakyAh35Uxw/n2VqiSI5R2JfWgIaPbPv16hi3FwUxdC8FfL
DZggZgP9uK8BJ1gkvHB1PbOH8tlccVtPqhw86oaJBOa+WNd/fWfgrwNUgtOElDPr1rvcY32c4c9b
WImhuEdO3zVeHetXNq6jcd+WXxEUwO3+77c1y9szTScUmpGAujRZmTqFNN1MoFcM9LNTg3HY8sZe
4CaufCsbGPJKrK8EHy5zvnWICEpBrUkCxNieJKfAfDSuku+n/uv2HrjyR5eG+GeUXNim1EAQLgDx
Ch6/r3kchOYGjYeeLEJ4Xe9oZIIYCRASTxjT1aUbShqYLI08iHFsKlTwssiN//q2wB8+N8ItT9/o
SJDMMCIR8FQ5sCA16zz/68MJK+iGZWGtfc2MG05G0veJngez/Q8I3Lwi2xdEsDLXqAo2lDMj3FDa
nqRIF2p5YEUATOWD3+fWqqbpz8nu75wENNZDWLtqp/tkAgpRq9FiSKsAOEVvrCmakUTpi6UFNNn7
V2fkPGj3u9z6hLTl2BdxHDgkoIaFMtWmErW0C2zwqkT6POkJUUgcjM5bLTseO8NVJ8pTi6xw972e
EqdsaoykNl+MhrpQ4OrU2r19tERGOA8+FM1EY2YEGksxxGaUqV0ZcSR4x32zsF3ELkwCBlAJYHxw
uJAbvFyVRo3jErrkedD0mZvaZDuFkZvqoDX27C69kzvqlyCjADNAoJSvoHPVsnrdNznw2qmXZp/Y
PFu50XdqTN25Hla3J+HakeF9jrIzvhD5c41fT0cmAwWOqwyo3gA6bEnpulPM3Ish7+lPWhdvbtu7
vm8u7XErC1WWSEktUgbQRV3pcwO6j/9PC9yypllH5nZIy2BMI880P2PRe+E6WrscAnct93I4EcPA
EFDP7LvarRPYkT4V86kuzRXSor45Ci5S0axxtzRIQvGkpFkZaKWxUoy73pIFs7ZwGC72Afv97Fni
DGVddmFSBp2yGWfnMBt7IxVRXS8asfB8BOMvck8WtzSTEZMoG2kJxke8RFC4/dlT+JCwqD//fpex
+x9PdBw4VNUvR5PGcokG16oMcgKaT/TMx/o9usNEYKiFw4NyEIIbZIIgOsb3LSsNcNwSWoeDHHpj
lmf/HBr0WorI5JesIMgAzQFT77P5J37TZk4XI6oJUsnPqfwEauYvsKEBsy4CoyxsM6wM2ubA/oMa
Bt8oWwxoRO7NogycuSgPoUnUtRM3P26vzcImYOVOBTkEBEcAvlyuDURWbKrnehkkctTsRmiuv0vj
kLgt0nciF780dee2uA032KmK1DBsxfOLXNU7w/g14k7WCxEl5TUsDo9GZGxZGgZR4RUXZ9tPyJz0
Jk6oJa0zRATenHYbWteepmWrXoZkahU9ZMTcNe3j7Qld8EcXprkJRVIpZ8wQOFWoirvY++oqQyhK
Sr/NPpykdi0pC7p4ElW7FicXvMxoVEewCPmHy4VU0rBR0rosg8Yd7adMdgnZWv3u9uAWd8sfI/wr
FQQR4BLpcZJlcASH9KVLICJcWL2osrW09ZEqQVofrcHI73OTCJwotEy6CbuyJfpeK8txNWXV6N4e
zXU0z1JoIA9hrSGQgWW/n3lZ1a6NVA8jiugJdUEpP4xWd49M2O8Yba2uo6uC1/fi7KEZBPsRmnBg
CLq0p5WdXoDyvwzsuCz8dJpLX8pqe13KRERatjSB4DdkRRjG68X7wibtDLPWUho4Vbhp1AZtr6HR
ASNzewaXRgRYEZwHIKjokeA3Xafk+IKSBo39OJlQ/MRLqMl7/7aVhcEgecCgX8BJwb9z69TGmQ2R
n5YGurwBjzMs/BdxFxIjCAnBCA9KF/4qJG0iZaTuqyCN6aNdZoeSzJ+6Sj6NQvvrqx10F2iiwcsA
pCeo3l5ugi7L00Jx4jxIkn+k8hWvAt16uj1f16tyaYKLcZmuW9eXSR6g2Df2sYsmC6V4uW3j2s3B
BvodkKgF0BRb4HIYM4FMRW3CRtZXu9AEQfpLNdzZ0VHLNjL4aWTBTmPTchm3X9rjpg2swiibqbDn
IF8h301eWrwM9k4WSTYuzR2iIajiIaeOVAz7/dwnpPgHGfw8oFCyKSLzkMV3OsgZbs/etRWEQyC+
Qz4MTDAwdGnFTsrIlIoxD8ZR98fp2OvFSphMul4iGLE1FLM1REWIIi6NVBWcZ2XicT9Us1eOlqsP
6DXov2Iyemi2LDdNmQnGdX0JXZrk/HY7qa3V9XjpJ4bkKcMPCyg9bIhBlLZfnD8wjSJVinQP4AiX
QwOwKDZHWYWdQfdzdEg5YBoQYmgXRgPkAWM0/aap4GnLJ4pLKDWtPFBp5lmhgldZjqSBfBIu1bWH
g5c+s8T50WnOZdoasOR0r/F45wwirb5rA0BkQU0AwQHqcYBiXk6YaksKEkpTeKjybZE26ykWwfOu
J4u1IzHwJ2IvgD+5yw289ppCm9I5SF3tp9KPKJ/R3F3sGTv77cNzzWbDsFgAL4G7BQ1JeP5dDmaa
FQpCxyoEjOKjaFeO/AMFD3D2h646udKsbntpj2ZnyZ7eKTIJtA2ieqe1sW+IGmiu9yHyWaB3BmyL
QdP5Tj2aON2s9TPoziZ7CKjVZ/48oExQO3K+FYyaTeClBwSxHOPJQoEYUEuH8xmkToB9TdsQtZB2
Q+3PliS+1pbbUVL3Y549moWMTH7j9tk7SItfSjURdJ4tDBaTzmoUDkCqV8yGA6jWGrxypAPV+pWq
BXH0UkSiXNO1n8cDEQ3iCI9w56MKeLm2Ywn+4KFFhrXSw7Vjji68YzQ564m8ddo/t6d0YUDYqCiE
MPyAiSfjpS3bqCuN9lEcgLPxPbPeCuUpLYwft40snDw4EFyVuCPRysmTHFZN3qaVkUZBPFbdagbZ
GThPdBFOZWHawOeL+xhVTGwN3terWVfNE5LTQNvdgZXlXmvuE/1JyXuIrr7fHhCLHi73IV69qHBD
Uk1B16PGRRdqDq5/EkpI1Nn9KifNDsnpUGvWUAj2MvpVmYLk/vUqwR6a6tkq4YTxgigdQcg8EyeG
xuW01ckcGFQ6OCDSuD0sfgZZdhrpCXRtM3Iu/O/lZoj1cbbitEOSM877Q9VIFUpIebGWSwmxM3hD
vQSz8ZdHCq13SLygwwC4H/yXl2zNkyjT8QpNgqbYS8oLKym1X7fHxe8/mEAvLFMvZQyNV4XFJoyt
Qk3jNCAW2nPKMTpFRi5q076ePAOPDXANYaOrKGCyNTyLmuLBTiA72KZBCAibDWxFaKn+1A+/SzAW
JpBIvT0mfkuwMQFQBPowgKUsDIszB9VR2QCPW2A1SNGCST5Bb8uv2zb46OnbBkQDHeSUmHogtx+s
zo6T2hnTAMrh3kQBySn/McdHcBm4Y/ec125fv/29RXT24i5B2InHG5fJnHM1zqmdZmDRV37XXTw/
Qjp3eLDh2FdVUyc7EprTZqyGZpNWjYiRiz/WbLy4VcDohPQFGEO48cojSGprOckC3QF/RdLaW9oZ
P1t7WHXDuNHmvTDoWZphYARNNsdo9LW4C22sWz2GYEoW2DMEW9Dxq3nh0K51ubLcTEoTz8i00s9r
OYTCVN8IzvtVFIEB4x0ObDLcGHJ5PHpW6qTOHo2sCObORrAaV/XGULLe0yEXs7KagW7kllZ+qtJu
q1DQfLvRmDi7Yhw7zS3MYvKhRt0fyzbMDnFel8cMAmqCZNLC4UV/PkTREOIyTBjna/vIgPCNpmQB
lG5SP5P0+i0zpFqQl7jibfqeCiYoCQITYCn5TiTQiBW2UtlQLX4p6VfyALxjuTGfQcQY3qWqR6EZ
8KlJ29vbfcFnMFg9QI8IZ3DEuEPsaJDOmxUsP1W+6v6T3KvSPj8lL7etLGzrCytcWKp3Vpmj3pMF
aXGIEBylUFS3nsGHVRmZK4tofkzubvx3Iv+MiTvChtZaEU20LGhzY/QGtY7AXWPIfphpsx81bbS6
PboFRwisCOg/cHRB+sIHF32Upoz/JwumEmyNuO/3uS64fpeWCcMC0xPjTcFfu/S1RpZ2DU5QFpQd
hXiqnDh3eBSRfaFk1mOpZrNLa1GkubRoAKnAGSKsZtz3lzaRQYrbNMd+7MLHyYeirKvMv0n1lXze
nr4FDwR+feR98GLRkb/i7Ew2qWSrxjO86SU0lUJx7Agxv+aOhkXlT4Nk7JBuJfdTKb0DNSsqjS1a
Z0yw7M0MhhFus0gputNBi5MH1ZiuSTaAj776ZVXAZ9d+L9WnuSFvRSrYMUs7FME18o8OUmVoAbmc
2kEfKuBYTWQewtRltc+RPIX1yfZvz+zSxsQNjVoMgnnQbLLfzwKCIjZaa4CCXZC1+wZkNFp0R0Ul
/6WdidbJ70IuOg55nrdBM7phkpmN2LW2AC9AssCq3UEkT/ndqnIe8bJTDdloQMHYuwTo6cvBQMxH
H5ycFsFEH2OIABaR7IGCO2meNNmVC/Dtleu8A6bgrQ5bV6IPpbMKJcevzcgdoGdJQg0g69ZCY3T8
0Aw/FbKFxuuezqKX8dKsn38om7GzWe8oPr9PmiLQQKKLgjW00ddzmgvW9noL4TED3icmb4n8H9+M
L3fVNEwpcGJq/5IeNby5ZyXbgppcdC1dDwfJeUZiCYwr2E54N9BWHdCMVC6CMS9dBZxNkvJedYkr
z6XHOEGMAXiilrwo6cmWJbzzU6BTZ7fvjDWRPm5v6IVwAbopALjikkSG+OqxWAxoBpvMEHicet0V
fnifOZt2/ojzPQKENWmHbT6r4MyGxNz4QY34qdJqbzK/hnh9+0uuIAw4thdfwnmt2ayopEI8KTCt
lT75QDw9dH6/7tfZjjza+36nHcveTXu3yda0vJ9TF/0Xt7/hqsDGfwN3rVINeBBwUyPFvPo5+MRL
fbf72d6Ljt43SOby6F2OlfORcd1KUt468JF+5yvrPmh3uq88O+tyj7tunz7F+/nQH9qt5T+CPXYt
bcAavMHZ2kQPX9v8VLtoi9r2m3JV+GAbXlsCd3p9U+H78N7BWWDvN5Pzc9VYJxWIUIugStN6nWoz
zr9t1Z6Sdd1GNhLNb4gZ+kXRipZg4RTCMsuRqHgzWPyTS5uzxFSTpAjSWXJbuqk6r87cpt3dXukl
M2BvAqie9X0h4XnpUnIJYYE8VkUgG1mGlw9UI/TyroZoVixKxyzNpYnXB2Sx8GCFmOClKQe+3HYo
vNdYg6zPAFi06wMtPIBJDXic6peRihwM+3h+d7HoiXHloleB74aY7WwChIoUQQZ9NrlaS8OnhYEl
byGa2EMFDeUZWGKjwFC2g6Dl+6pngZ2gM9t8xgbNkGELVGwR1PNvh2waBQns6FdWtVATcqvyqRt/
l/066gQvCqFdznuE0GlLkxJ2HdtcW4OzypvHkuyUvYN9BLHsuQP/4/RWQhvk9k5a8uYQxEFJklXy
kCa+XN5ELeein2ocFalOPJIWCQrxyBkpTSmqsS3tJJRnGQ0KQiuouV+aIvo0oGFSL4LYAM2vQ4i0
6cCS41rhMK9Lp038xLQ60BEWleC4fIeM/JY6M+1wOcUhr+YMOPYiiEzD01L9xTHf2mGtOMm619ud
0kJWUfdn8GyenGmF9+Uw7mP1dayzu9CsN1P7iET9Vn00K7wyby/AVUsu23Ln38YtvaXHmgXeESy9
s1etVaNsI4I2FcbltY6mR8cf8WbB9eUIbovvotn1pLDONtBQQNCFMzyYbeVUBSYlPyKRsnsAB3r4
wyy9z9pVPGRW3NbLfNWl7usvqJ146QptJh714nW0Zv+frhBP+aEgjGGb4OqjkDtCNp2Bog3Os7V1
azpSOsCBFpsuLr1yepjzdZkVG+JWiePWs4gm7voEoFOQLQKQqkj58dVyaLmMagf2tiDJZsO16ugQ
OnLkSqTa3l7pa6d9bggp+8v9n9Rao+ppC1hfbx/C1HqNQOdV67ZXy4JJ1K8mkVliMGVGcIsGuEtL
kCgakEUBUMPpyDuyS53XZzkRXLILG/fSCrd/ms7sSGv2QHZZDoLA1lPpp1NVHl503lTOLjEgi9ZB
3EDyIavQuNTQBbm5xaVD1ptxu6Oz6/sLzyJrQx9maWQzajkvSNTWyp2svtxetGunhUGi9xj+SkMG
gb9p48puilAeymB4stp95VHDnYkX/kyJwA9cv5suDbE1PRuLrVZFYgGPH7QO2uJXEt305tp4lmvB
sV+0833eWYYbI7q0M6WaXiWdjDlrDZymVyU5OU3nxfXeBhHu7clb3PFnttj6nY2JhG1l0wi2WrAD
af6kEC+qfGEy5NpnYOrOzLDPODOTdLWkh/YIcJflRaaL1mngnyJ/WEWtP6rr22MSzR/3mrMju87z
SSkDM/6ySYLE5DFD/k8yhUQ3omFxV/PUpXlBMxWwrq5EN1dxl1hj7arq6KpAO/fFOpyUh0mLBJ1B
ogGyzzqbzWaAXlZmYoD1rN9lob6FEPvKGLbIUbiWJkB+L48RTteyWI6dp69tlDECftqAsfErjD8M
tXWN3MVmVPLYsx5HZRBsyeXR/THILV8xA/YxVZhUxXhPQrexK6/ZhfqDeby9TZa9I+hV/9/IuNUz
e4RWBMR1QRIH3Q9Dsp+n1h+St6nuN/OwdRC3O2m3wzsdLVKCPfrdhnJ5i7IT8cc4t4bg580UvMFp
AOh64ca0SV3JSJHJrwG7dCNz+mkpE4oVwGBafpI6ILPUqvg1NM1kZeZJsbdbCRSfEpi8BdPCrp6r
LzPBvIhXErIIOndW88jppXAA2i6/jw+VJ1mu9JI+dic1d+fH/8YW69lmklIAJHCuztDyxoknXA/E
3sT6T610tXD0zFMzeK38S7UR49DNf2XTQRoP2SnWHnl5epwMt0hjwBe160k2/ND52VcnFRrQ2lEa
XqL5c6wENxQbBT+jYHkDuBqpQ7SPcdcwVZQm7HM42ZkWj8Rx7lpl8m+PaumUov4FbAfLOV9xRwxy
BgLDwsZetrYt3MCQH0g3eIP8mIeZS9q3Sv+7EiwjDoC2L162DGiN3B53epwusa2mtSB+GrWe1n4o
zUs4C44ou33OJu7KBndIaEfGoSil8QitOJATpB54s70+/HF77jiH868VUEYDFcNwGrxQbSHRNAtr
Mh3DdpZPBJmTFdLLybaiSu5Ldazem+E0CAIjLmr5j1EUfUHuBg5Bg7t4K6ftOiROxyOpdZPx8ks5
9GJJNU3rOdbr36AA0l+B36XrgUhhs7s9ZD4P9W0eADBYBn0VXnzcIa+keZZyCTM7JPTenreSFhjA
Ppf9rkeb6aAmx87YOsPfRTb/sYokKCi1ENjwSXTTqIs5GZLpqHdHXcr8jqyk7m0w9wN5vj1A9v38
zoEJyLCBGwRaTdz0xikQUMQh49FykHKxw3odlqnpoqgle1qoi56IS6uJFzqa1QAhB+Umd2dZeToN
BXBixynSmqPTDGPsGklt9muHTHOGmrcNfcApmsDEE5plNP8XE4sgm+W00P5vGpyH0bM5VYpenY8z
rQFbjFd27mzHNv/MpPGXpvUiedurIwMdGBRgQG0AShxkubjpRf6hyvuq744Esc5kQCYDBeC6f5fI
70Kk/Ha1lMwWqtx4PhhIFPLpLUWb66yR7O5oxsO6oCqIHoHD7KOdqgpm8fpUwBTjBIaLRkM5sJ+X
V0OZDr3VaHWPalbnm8MdtutGD8d1F35kFnWjjrodiZ87UxLEPJz7tsG5rMKd4jpiU4qy+qVhK4fS
cjrYUEunkTfG7zbZxwSwIOhH/+pDYyPUVVmYVDAqAAGKqwK9MqZ2aTDDQ30ui1g+1kBnQkcqJPRJ
HRM843vBHb9sCQUtoN+AO+GHZpO4rtMykY9q/EpVIO02SYSUhSQCwC1MIRpxoOMBERGWuuKmMFLi
cSSzIx/T2rqnausjSgrQ0lpZtdsmSUDH5L3MBUXepcGdG1Uvp1GJiBF3wCAcoyb2GrKTow+c/0l7
/0tvBkoYwKtw32J8ABJyd22CQLGrJoyNfMiQ+FSTH6ZaeZMmuBWuvNh36ySjKmGkA7iZLkdD26gZ
lLRRjpSQX+qko5lplevKvU76AHCGjpj+7XHxSVXse+TIGW4RWWQWR3ADi3olkrVR1484jesZ+m7o
DNzYmeMVauYmUGUZbdCPd/RUySnEsX4LzF8vHzISwF1hVhmETWV76uwh1dehVBrmbB/bpoOAz31R
ppuiRt0890v55MRfdPyVzE/FptK2SZz6pvkmoc1BMAvMq1zcVcikIX3xTXzD8vjcWXSmQivCzAyP
mVQThpCRDgNiScyFIsLNXfttoOeB+0NpGVcVmkIuBxzbU6ZkpkpOuay7WuBID1WDa4l6YfoimFv2
1dyoUJpHfAGgBdrjeIzAgKdJbk1dfNKazNhHUfVzGGLlPp0KdW0UUv7qZCq4Y2SIejWZPO8qxXxo
0qHZp0V70ExJFQRcV7NsYILRHowEEfqjkFK7HLpBtdiiCr6ntx+a/nkoBj+1tLVg1FdHCFagt8Lq
Wgxawo86RV+PQr5HHa3yL+uhX72P2+Qr9oZfJVRyqWe7mW+tnMQdH4XEjdf317d1uHXgs9C6wMP7
qaqE0Jzv49Nop243P1v5iXRPrR0DjfVV0tpXUQyeRBpB3POGoavRZgkUDVpvUe/i96+sQmYXQNr4
lFaRb0xg5jOKlWBemfe+2E2cDfYNZycVo0INhLDV+4nQSvWSlePHpdt/UZe+WIL8yvI8no2I2ytS
nBVqL7fxqfOHwU8kz1x1q8hTupWVrESQD9H0cWdSNyS0RXcwJo2JG2ofMXEE0QXP8fCfFQKFIoAH
KMN/V8bPZk8LnbyLBuwLpHh36SF6cvx+D0BA78ur+m7YSs/gDBCBKq58DVsyDUEbyjYQRP7WfD8z
GpetZaYqxpXgJvbAGLUiVob7uLWPTZy+5aooLXblzTmD3KplGUH+KsIeiYrIzZ1on6jvtfnTpL1g
fyy5EsRpjHcIBx0s/pebsYnrLFWNMT7Fio5inAmlkQwRozfYsoiiTWSK2/cWyVQQG8HUlJ0mCYIY
TujitSHaIIvHC08HtGQgw3cVf5p5lI6zGuJ4yZ9RqWxM0j41uXYXj/ssozvtn0GtdlIm3aeWiMWX
B1H+uznPbHMxVBZqNbqfnPikW96cebG9omuwVNXheyXdVaprpbuoh7ivi2fNba+ysGHAig1CX7xF
Wcsst45RbcSm0uNYyFa5S6vp6Oij42ZoZ9C6NhHM8cJKAprHKH3xUAMmlTOWlS2KZjFWsoZwt4fX
4lECiHbT25pgVAvnjlXlISZqgdYPt9Hl7iwGO8OHYC2VB6M7Vbofa0jX+vlfcqiwdWPZQaDjEbOg
wYCL3TIDHM8FaBFPiMi3kvOSZveJrQiyTFdRPTOC/nq4EYgKACZ/ORhU/WrS1VlyAgP3nARxW68k
5ZgoG6heuiNtV5okCIL5zOy/4zozybmRVCMq3ukg4S+/AMAnpfuzWNm/PtUPxfJMV3Vcc9uI2sz4
XPR/jCJxgIYD9GfxDVFKMSNEJHlymjUv/yrv8zfdHzbzzvRoust7zxbAKJbn9Y89bjc2iVEBPw17
fbd3Xmn2RGSwJHl6BXD2RoQBExnjFrGoJ6lNNAo2U+JA0xSvv8j2rHFlSafc2Q2jjaeFSDbp+mnx
vXP+jJBbxt6oky5LMMIoHAAdeK5kd0xXVBu8TBv9NPyMhnWNXI0xCG4H4VpyF3pmZpo8Ttizyu+y
S3a9Ym+llyqaTkkb9FBX6yGnaffEc5L7rhExDbC55AIlHJg/w2be4ezW1dFWLOfg+z9NulT4Ge1n
xElV4d/2nEsREh5scJ4G06JHlfLSTJ3TqeyTIjkVAXyEq1qbrNzFqtsQv5bcYT6IqkKLe+jMIOfV
ckARwI6P5TS9eZsQF8K4LlpKpteP2yPjgSj/nsQzQ9x1VIXQcFQVGIp/TF/0ZB3sz/wfUEMNfvag
5O7vzNX2vwK1dOfRK46Kp7zc/oDl7XP2AfzRlPUxmVpsn3JyoyMkd7W7YS2vh1X13G6s3Upgjp2D
qw1zZo4/nMBnzv0Ic+MKis9v6uej/kB9jXjjJnAeV8mnIbAoWknuYFLSGjn4h5NTHd71OqDxpwGp
BoVhaMixfE4SEfBz6ZqHFiUjYIXSBupal3tVUvoSHSBY0YHej4AUFV/ZW12ub8/j8jT+McId+kqL
kikqm+QUVipEs2fznai14sXTKBLCWgqYGHTEYllDgP35LGWRJkUDmbbk1BoJmjL20zrcaUHXvBjm
Pkp+V/V2eob+HsjmZe/2IP+Pw/HHNDdKq1FB7AAx05M9PoTZZ2MetNZrIMRcRe4kHxp1VVe/zefu
n6Tz9OZHpBM3/J2B+L6pngznVbfXCYBMtz9qeXn/fBPn8fJ8qMAfjOmIEilcGVXarXOIbq3A13mS
5sG/bU04BVzYgxxxHpdWicusIev6mxog693MeY+M/rFtURMf92bmUbofv0ii7AZ7OyrrJIXwKlDF
safOuGifNG3XZSK8z/LJ+jMT7Pcz3w9SQjCzsNWR84O6N70x3/Wu8xI9yiJWCeYUrp3G/1ri+dYM
1P0Ms2STYNSKO011vGr0QsRU/3+4wj9mOKdf6g6x6YABOc6Lavlp0Nduqrn5yn5N9uTz9sryusz/
en5w2LI8PDAGPBOQRDqpjdoeV0zuy8492Jo3Zf/MJKwmdV05L9kuqV+GxjvQD7s5TN06k3ao0Cu/
bn/H8g778x383Wo66djJOlxJYW7L2TMAm9/o811mTjjtD7l5DwhASxtXNVYjFDrGsmHlEBD8Bmnz
JIXbTvrHzF39KPishdQWmkX+d3r4d0XSz1TLAJo49T35JdnrotlOBCrsD3isNVn5pHeVBzWPfU23
qfNbTX7lvRsrRyT8Jy3xi05HP8eWTuuiWmVGvMvUuygvV3NtHbTBzewJQpqissqyqzz7Zu4yH9Al
nBaoa5z0l/ItO6VP1V2+Gf3hWX8lT+lJEtUBF2+BM3vc3Z0xxSBInSenKozm9dRArlOvILmHph6h
HOrSaYf3h6KPg3sA2geXpz3LIbuhWDgchQbIdwmywzzayf1Rc1ZU3rZkRuL8WZvXZuvNdu+G+fME
4ZjJ1XOvQbBvtW4eCbbuYlh4/k2cL6boS5VoW2G+IazbzL90CZ+VxKtSmtda+zvNbJf2b6hhrG9v
zsWFPjfMeeVBU2e9anFmSHQoi5MGXmYtfrAqKAE8lPEa1ckQjbgragUQ+r5te+m9fW6a87p0qDQr
mWGayhLEZ9FUHQU5VVzy01ZFXWhLfvfM1vf8n3l4k9ZO0uLfU10qri7H7ig6Mku36bkFzuXqeqI0
KDYlp1ydttmk7vKq2c6l6skWESDLFp9oAJuD4hoEBRDA42xFsTlRVcZomsLHrehL/1ge3VBvvOvv
JkGUsLw1z4xxrmCerbau+gHGZMjnekO36i16oH4IRta020rzz8kU6SIv5hLOR8j5A8lE8brR4DPV
Pncn6hnttla9+tl5gFBFGcUuMhl256FtwZJ+gCz19s5c8kbn1vnQfmwyS23g/cLKLjcRckIrZ9Rx
bw0I72+bWryqz22xbznbmYQWdVGCa+UUlQdz9nL5TpFr8Anf2Z0rjUE/xF5UP5RrWxSKLLrBs3Xl
3KAyWuOcTjBMrO2ofVVIYTje6ILwZRNbH9bz7XEuXYLnw+QcXCo5Rk3x8j3FxX0tF34CkBX6F8Me
maJoRjS8um1veXSMJQ6VelYEvpzWHiQ1UtROcPI7g+kFoxnCo8Mmb/+HtOvakRxHtl8kQN68yqUt
q/IvQlVXjURJlPdffw9rdqczWbopTC8WYxaNyRDJIBmMOHGOawZKvZqLZTuOj+sABvrHHOevkZKC
I87E8Cy0l5dedCXdGw7kxxBPQK8cWei1t9nigYYMIkqE4DdFLv18fHWdd7QOTRiMBctWBjLbs4Yk
wuVZXCqASIwB779muOtBJjnQgAT3cpLdxAq6on2jukEzOzaorTLV3S+w5gAFr+d2McW2IjuGvpYW
WjxZT76BuyfG0kL3QoJvGKAZvlEOkmSLX0XulM1z/anclq6eXmfSg1nuGyFH6X0tx8i3437Ht78n
Ab1i53MdxT0Rsk7C5SyiyLqPHvvc1szHLgVaaFNBkiTdtul9OhzNu+I5LTeWsCcZ2gCnxOnlZEMN
MOLJt6R6Hcz7hE6b/2mNIKx+/nk5Ov+QfMHnUXGToeunu47bTdd+zKmfQ2XB9OfwTkiPrdjvRAjV
JHNvm9UaA+ri/v5nkX5QTc7hqPaDrCN9trFil0Kv5S5YE+dYvPcg0gLdcXgkU1o/H2kmy10lRjIJ
rEOaoOIhT55KPqlxzNu3pO7srpTc2vS0/nVlitlpwW/vU8PcNpiHFKSvw0SCMH3q4r/owzVA8Xux
taPpU0js7uPussEllwe9DTh6UI5gNGrnAy3bKYaieoNzQ0vQonUj0scmQodSshZ3Lx0jp4a4gZFs
bkXFrFBrHAe7JIOjmU+Xh7LkGKcWuN0b9pVmtA2GkmqlI0Ozex6OaXYzJB9V7mv9mvTwojmgokHY
howVtAbOZ45KRBU0tlKtVDlVmbthmtm0mUAQpCUOCFElV0lq//IY+V7t7xOC9cHDMFhtUK06t5pI
glFCQxNW3faXEIA9VgvdW0rsflu56afiOXLvbP8tCpw3yzdDpWM5i3MFsx1y83Z9E70p96I/v4nP
wp+Etycj5BmQJELzQR9QHEuy0NH7g2K4bXSnWythwmK0Cc1CZIoZ2ASPvvOZBPJF7SeFpavTTsQL
RBhdIpPiEd3fR1nP67t6SiebVpV1BE1Ne6umWrK7vJrMRfjNfvoJbHOeRGRWYyoC7ZIkMCRXrVs7
7nZ9Ptm5eRDUleB6afsBwfgNe0FHG5+R7MQWLEgV0kGRWZl7WtaajdSX4F4e0GKCxsBrAa6Jbmf0
Rp2PyGj6Ahc53ibGFPTRfqiesO+U+a/qKwdkE7RtXWqTz1nzk49QdAdrG5YeeKA+Ln/G0mBPv4Lb
JMUkdULT4L0XRaK+0YsSqFQRIiOXrSwG1MChAqrFaAPRJX8+2LnT+7BJELxnsQc2boi/yB44BIXi
Fo1UuLedyrwSj337Oa5m9773Oe86p7Y512nncTBqC2GgPt5AiWMftsK+K+iOjo+yuO9FVpVMnLF5
lctfpM+cSfLT/jgJqDPv+uZj0tw+2WrSril8+L8bhe9CmexSKdmqhEJsQ9glY+qRfvNHc4bHANC7
wHzzc6braIxqJ0TLAwV/0EchXs2zthVsFRSX81Oc7gjyoXXpGyuXA1uLn/OFJm0VLaoSkHXna9XO
FqTVESMFTawCYpNZILNQ4mozCZCKvjzGRe8D7eJ/TbEr/mRX69kwZ/0wo1yDDgIvbst5i/6Sh8tG
mAtfGg/3DOjNEJjNVsSztZS26T6uJ0ePUjuOwiCM3sPB9IxoDQa1GBWBVvyfkbGRn4ysr0IAlygW
z5SiXQRVAC1PHEPBc7UjbqQUbgx0pD4fx8YWk8m9POKlFQSVEcMpAQ8NUqFz4+imy/sBbHyBCpoy
Ty603BfSWHDTRM//4FxmVK8iIiKQcvIcxgLkvtBKb7FUFbVb1N9J74KryhN73YvylQhscVxggGQ8
G5BH4Y9MZFgrfUriNFDCGOpbMSC2ZGiI2+Xz2uNxzRR3Lqr5BEALpWlQtZm+SfEc9tI0Ir5IzbVk
zuIBxehH/zMsnXvKiF0qhHKiZ4FY1pnitWbdZnZkNUbn16Sfq6twlgY67QUNuSxHHBTIzw1kCMEi
NEual6JUSLxSl4myVZIwlXZ0NqLu0FryKLsySfDvkZIrldMNhkDvjKgg9V+SGFfII+ryuJlCLSls
La/16WAOMiivI31sqm0tltCf6XuxaW0QZBSmg22Epq21y2HhFGBCHQy6hKwAiMTP3dWaaEYqWUkR
MVXex2xX7lfjEPsXutXtBDwAlzfH0sWLqBBPMoDPAdfmxS6qOUVTotlmQW1+Snq9N3AnhWoYA1Eh
BkLx1ZQgaxKQes7mYzflVwPx1PQhH0J/UL5GIQi1TyhwfF7+qoUQWUEqBm11QLqC8Yw7dHNryNqx
jGigxrUtC6Kdi7mvZ+A9K30QKtjl8HrZ4NIJBYvf/RKs7soLNCNwLJtJIDRo/VaycwihOvaX8j4/
dgG0y//AGHhvmfIfmC0B6Dpf4qSjRgEaJ1Dx7PqAbrrK7p+yvUNvkn21AgZa2LnAcPw2xbzt5OQt
YtiSezauDNdzbBpfcRm/axJdO/oWHenUEvuSE0vaEIYQI4OlaT+kWzRNoxIRTo8QqgDx17YQrnIP
ku8qujLRYvxkis/oakZvc1I+rszukvPgNLTAxMtYXvkbm5rQ0ytpRYOxvhplLx2dTBw9C6RTj/JL
fV9VXn4X5UyjnYqTnZH7XLbjcaMV95c/ZCFIZ/CZf76Du3dqo5qTSihoQGlrg9hEqqCeyaAl0Rol
1NKRcWqJ8ye9zPUBXb00yH1yV6wV4b+7sLiQ4WwgnA8ZEZmmPMSEkskxCjepN0n6kIBa6pB/VR9F
bPdfMyAJjvg8bfNH83rAwq/FzEuVU9ZxgM5C0OcxZcNz92ozNYZ6TQv3Cm/rnW5el50zumJjW51d
v9a9Iw2/2ifINua13SgQLLutelvaGDUem/kqZn1xWwHQB8lIxqhjcWtL87nP5Apf0+1HCKzP4Wsv
HKiJQtRUblvhAExArL2q+s3YtT7tG5C3kr0W/0uyJva6VuBhIOwGiBLEhdw52c7pKEhKT4MnSX2H
IpJtmhDT6b1MAz2sK/fbUApU4TVV3wdl7aJaXBGovyOqgqAKa8Y8X5GxCqvaNEf49z1aPr2dups/
qg3Z0J1x13uPoIJzxA/LFcGA1hy6lXNtyeV/G/+R8BTjvs5LdaYB2IGBVGgOVFyF1rNF5P2evUXB
xgsMM0TBzgeoZVMD+msRLjfv9dLJVL9BsQNap472VD9aEJU2vHpN4eo7I3LJKpce0tCkCNJhNjK3
dwcvdwkY9Pz2RnXCyR7tzk1vhb3ive7aG+04Pmzy+/56vI632l+FiwrwPfm4fIx95zMufRD3NI/R
3N+YBT5Is+V98176H7HTOMnnVYWOg97tPC2wthBL+6q2d8XBwjfWB+H+V+MaXrSxHk0XWIFdu42u
MvsV8dxGwn8328ame0jszLn8sTwR4PeOOF0zzinbomojucfHggATfWb0juhOFrSO4MrPnnSved02
vBafu13rbC+b/nntAMmM4J8hs1H05HPcclMZiapOdZAJEPgA0aQV+ygZdziekGULkfS9bI+N5HxZ
0PIE7wSimIHF+PJKqaR5X9VlG5iPGGi/+wWIZv1E3bX860K+i9GJMl0bEL1CyJ07ZLRBNSk65GCI
7GIADLp7Sz4Og2obY+kK6a7q0Ca8gg1nW4sfnAFiLpatBBW1yN1ojdVHVVEUbaAm2kFK0LFrxZ91
r/i9XP51eR5/niTQcxMhQCXBGrq6OPcOR6oSE9CqIGrEI2gl8JJak5T8GQmcm+Cc0kyGvNSnqg2M
YfSzpkSNb1tVLjElYGRW7oSV4fD9QPmU6p1GYGts1fsoS30lXENBr5ngHEIs9aSQOjacCWKCkWYn
0fPlNfm5l7D4eKqDLRd//yHNEjdhUfVahjUpJyiYoDmriU13JoWrZYWXVMNflliv9Puu2eSudOBt
VDEMaRvQMHEUvdpNZmTn9Bbnid31wNqo28uDXJpGkCWAyIAJXIOA5/x6SZTEyNUc06jNk+5NRgJG
KF18uWxkIdfIpvK3Fe46GaJazSoJ7l3ZzSNowdz0+Bx29rx3NOKOKw3hy3P42xj785M3AGnzYtas
vA0mZ5ps8m69tRNo654uj+ln8HU+JG47UasGe34IK6MfP8RPazfw0m79PWPg0DgfhDRgFaIWZ4/W
qJ4wB5rVI8AL0KnRqSvX1dIxd2qK20lDWgJwNrMzvPlVgoQH7LSPwr+lRcWdyObLAO4Rcig45rjD
VFKruCEEVuZRcGm5IZLi10ry0XamfXlllsfz2xJz+ZP1t6w4GQu5bYMit3I7lCFbLOUH4I6ehKpY
iQAXvQBN5gh+Af1G9++5La1txzTRJvhaFbl5DDSe9DEjKLs8ouX9g8ganOhAZP/QARiAoS+lGWbi
+ipqAMqWa0+w8l1pgmE79mQjugaXtVNEyguIlr0xGl8vf8HiOFl4jWZrUNjwiowkoiDpyMU2yNLX
wsIws2MUr8GL14xwG1fvoKtOYwmjtAQ/HuJDJgy3VCArZ+zCUxJaTYinwUPA2GUl7jQKI0voDDWE
g9CvEJkl0QQjaOaA8ZHWEFhNqZ3NX/IArmYFsmKjl/TU6wrUI4rkRksLR8YTtCIP5RxvL8/yQuB4
/mXcDACtUpGuNnDl4BHpCrUb3tcAuv8Vzh69NraDBFSwazwa11rv659mYIaNranB2rvm5+GDz0BN
HW9cGTz4fEND16q5GY49mvtSy4nl21GWDhndT9TW9NWiG7vSzqMslqnGaxqgaFbQ5MYsCII2NWrZ
MTTyTOyJ7ur0vbA87S2q3vHGtYH0FOgX2IRW9u7Pqw8wJHDqgPIFcZfFkwyb5QiSEAMtjLHxpumH
Ov24vJoLMSsMMH4CFeU8tCmzkZ8cRHWnzkWmJn3QNkOv21aZitJVn6LSf6SdaZEN/t36kASzU1yV
mjOk6NPK2MoCcFru5W/5ubXQQI9aH3sToDuUr4CL6RylZhiPAZLUEnHBwiFuk0kXSxc6fmt8Ez8P
YBiToVfCHgWMdeZ83J1ApQhclmMgZNlOpVPjlBLOjDEZ8XbM10LnxaEpUAMCh4mCWia/m8e56Mym
HAPAXMQ9mOD16xGEtzvZEJOVyGLRFNBrJk4NiBzxAP6Q6GKaqz0GNoG6Cr2p2VbWCgWU1Gg2vLxg
i3PIZF/w2GGPD/Ypp75jkr6KQ3kMkoI0diRv4xS8o9M0ep02zd5lYwswUsYrhSwloCCsG4KbQ1Te
B0TT5RSIo2DdWpHe9HahRWC2AqGQNTuRMZXpLfZx5qRRVPsGbY16Tyoj+yi7Hm8+owizEYLDUv/Q
DjSjT5c/8OdWxfcxBla0ATO1Ni5EqbsOHNVoCQxCgIcP1FBz1tklr0zDzzn/1ngS4bwmo8PhLnNj
jgyhUoQpqNDQdUAX/rTXBSHetUVDHkR1qFYQewujwuqCEwcYHLRRc6+kyzP00zUZd+bv3+JmCAki
OdQjdQr0O+Uj3enPl39+oTRx/vvcWQZKlwjScvh9GZoCb+khDnZWY6MJrHykGfvnir2fV9C5PW4t
NJooHXhqJ+A2IVVyyJqN9Jzob2O9GYEVNdX7UfCk1hZ3ZRI7KNLZw3hXx5+VutbDv4D8P/8S7jSb
S12LylFBd23kKd1Bf9fLKxnpuOo98avcEXMNtK9Wd/O+MgMswj+/F8/tcieAJavCjNrNFHTWS1m5
dbptZp+GPmrVz9GvbHPZ3JLvo3OR4VclloDgnjNKD1ka2uRzQFIZ1feCTMBWhzcWqUK7l4s1CuJF
f1Jw6SL6YhzfPMUFaVpG8V/MQafIrk6+UnDrP4S711nadr0J1nFi+pdHuLTbdPDIgOocEAo8Qs5P
1MmSGqIM4oxngd74iZiU/mS0a4kq9iv8qp1a4eaxyqw4HId+Dsy6cGop3BTlprtCz78dHkwrWQll
l3YJNHxAyYmnO+53bldmbZYnkECbA8uM6LWId4KdtUa1k4RG2TRqEfRJUuz+YB5PbHI7s5fqYcAh
DZtinwAkVI4bWhXm9k+soASPhBiQrD961BBrt0ZLUP2V1fYKOuMvA7BKK0aWnJ6RC1pMslBHwHvu
EmMK6flORIlZbsfoKpIMXw6V+8wwc3cimroycUtHNE5o4K3wgtPQX3tuDelLoQhLKgYzrjh7MLv2
F6Y5v9byrlq5yRZCTxCaIZPI6AzBoGhyjhH16qw2oTkHgD0qu3HMIRGSNoUD/YfJyVMxeupb1B2N
ATo0VQ2BZmOw9JVoaXF2UTtXEL3gH3y0xBpTJGNA7mJG3nSfpBC5J0o3uSkyJ048m59/4DEmULgs
SoA1bjHnVKajEYJWzejHxp+pJNpmXQrOv7eCPgIDKAXGa8qLrGpUkCttiMWgMIa7PE0ru7O6+//N
Bn+GWJ1gkAy+n1JBsknfRk5vrdUyF0rlwLAhytFwIiLDzfPrGqmRmwodYQUZ/D26bZuDYU7WLhyn
9r4TkZhLzQZaWRGo/TO1Br40mnRbCqPJqwD09jQiWP7QDJCKqKbZ7QSdPESlmjlxNpGVTq6lrQMO
GNQ00I4IHWLuLkQpvcotKovAf4ahm+J6CvoWhE9dkqXB5clfNgXpQwCaQHTK8+YKiZxHTWqJQSN0
kyNncf9YNKZqaxOQIJdNLd1IqFqCnJCJKkN+4/xAGDWNkKxR4EtiF13PSTJ7qtyKf+JNJ1a4o6Ct
KcRFcGKDgrpT/bgri52edepK/LA4bZCHBucvntTIFJ2PxZSzsU/1SArAbAEGzh7YwXKWk2ukpPSV
LbjQbAPP/W2LJ9guVYBwEsEUA4qMAipAZp33RwliF8M2UmaxO/YTUSA43sx97SpWRaetQiyxsSFP
36Bkn2kdUmSZqtsi0ZrIbmsNrc+FmqBR4fIKL8+KAepV0UDWjn+bQmOhE1opFNEgl5Z7qTW0l0kc
mruwK6yVkgubYD7wgBYpgHx4vwAhzW0RQOKMsrVSCehG+XGctY+6ku9jLYgkNIAgembYknYlpFoa
Hsim2B0DGTgIUZ0veh2rczU2sDnUZQx6eUhdlUIc+wBPRCumliIdkIFDXw1rDzpL5dzUhHCgl4pS
CuIEbPaHVnfH0IP2bD2sxARLm/LUEPvzk4d3GIapnJgFc+T8lsbEySK6knhauBhxPQG4gXwX6GR5
cuNBZU9t5hVRE+3zttkkYPewtYEC2PJ42QGX4mxUaJl0O/aCAe84H87U17E19hiOCK5zR456V29j
1SdjPV6bai04LSmGY1urqOxr5pXemdMzFZRyZVYXOj+QLkENALEqfEXiE8hlht5pyPRKgEnodlRk
V6OK3nz5qTYhgiBLTrVXWxD8RLI7lHjhT/p1k3Vel/U3tCh2Qh6NK1tzYb+cfZB5PjFlXVjCILP9
Eju6Snw5Kw4hZqGbBjuF5Gc1HdU1EPCCb8EmCOEMHAd4Y3H7xRxLCIuRBjYj6qrJrZiv9Yovj+q3
BW6bjHhyWW0NC2odh36Gip41Bt1AHuu+RjKD3JVjeKysYeUdspRAOhsZ52Yz0rplVrdSMOWfevos
XEPkwS7m6SER1U2RELto3XIijqVUHjpqr9PCJtYKAetClQSTC91qGZhnYLR4kvR8zhFTCzgjgMpS
gFMphcFJDc3JBwlgzZwi+RjuE731Q2nU7TxRjsq4JjTM3IY7hs++gXMro8GNYk24B+sh7d5FQcTL
L+/77nnsESnNIPs+DmkvuzPN14SzF4+Vk+FzV7A+mLlE2PANdCMI5i9Er45qfMzZWjJ5+VD5bYm/
gKu6SiJAlnFGBhlk5KHzfo3kdfJUPQw36scab8rCLYMpBSsWyk8KgiVu19QhIXGf1FKgt0dVCYTG
V6eVTNzC7XJmgts2fS9n2TRUOJ30XxgRWAZl+h4NJq6z3eUDeXmRfg+G2ygtHbRB17FR6OwAIbTV
TGoXenGTjSsB2VJ8fzYmLiBAzDlBeAlHQYf8bJXuaurrjeoo6peMOqUQD64kOUKi3EKI1h/NTdlj
8Yhbq5M/9fqzSpUvjYifl4e/eD6drCWbnpPbVcLbTKIaJtqUXmPiimFpq1CwJ2+NcJNLN0ocXLa3
9BBG3RkpVh28zOg55AzmXUIS5CgQN/R2DV9VwJLwrn9S2TaBVCrvmzUY7PIpdGKR+drJEGkxi9PI
5r2JQ6+soJg0W5sSgqhTtFGF9yI9Dp28KQuxsJv+SWtXjuLFO+bEPHcAdbSaIGzaMcilBcFVU0rs
JqoSb2VeFzclpC+QzQB9Jhglz0dpFCMI83KY0U1Hftyp2P0zKLqOso1sDcg1nLVnzOIWPTHIuTPE
iAgqZdg4KvRDpqy2O1P2BOmVlrHbzi+Xh7c2Os5roq4tyWxhDcuifGu6LHfMRJJsmmWpc9nS4oY4
GRbnLYMxGcM0wtKstR7V7lLTq5Vtox+tySnL2UEyasXi4gl0YpFzEIsONBkMWDT6fGOG26l/aSia
5nr/8sj4jQDAHHoLTySDuKEpc6XKCQ2hg9S9oIHTkWpAfgypPMhIBzGdFJk0rmoVdk7uzeY+nsLa
vfwJbCgnl/GPL+CHGlWkRZ9zccTDF9J9aarFdqqjbGHQA7TD3VnYXDbI+c1/DAKkiDQFaCt5NLIq
tkCShRiymiGNHTox3YbmmooIt4DfRsDGBLwlOK8BuOYuq3HOc3Psk+I4ap/KeAiLCLRYdqStjIW/
5f+2wwaC7mJkYXnEjthHMYhPoJ1lRZlryi+Wk0mFI2m25FjyRv7oi6CNyUpYzj8Uvq3CHtDOQJWj
eYKLYsRJLWsUPopj9CQI++QIKtzkQdR9Cvy8spmk0a4+Q+JX1aaanFF1m1WqJ+aXvNeoGnCYyMqw
vBgXb4izWoaKYEDvcX9T2ZbN/lJ8y34pbF8GPmRfvpOX6vmy5yy5qmoARASMN17S/D2ldKMySAbk
2jIEjG12Q0BnlpWFQ8lGVq7KaK3DbckeohBIR6PFDc7EOREdGq0XIqU8mmP7WNSPakGu8uwlxzve
ECDt07R3lwe4tDVwLUGTDqlgZPW5WZVKrSysIq6Ocm3214M8dbtsMPZZPUnby5a+RSb4BUQyn0nI
IiMC/Ob53SRBm0mvDVId2bpF23YXbaNtvRugUx41drgBbmpn7qNDu0u3ePZu6/gqyo6iC962Y7zW
us5HIN8Offo13ExL9ZzmZpZUR6V4LYTECc2XJLxKQmPT6IJfVtoe8itQAHy8PAuLG+nULndDN6o5
h6DFqI7jOPoqdXtqOqDACcdHrLGUOmYluFb0EmW+dN+j/7a4qSG01q1tp4XdhAYolLe/9c8kXhaj
15MwLwd8RmoNbmJcJfVoS2NnK1rkqMVKnvg7/c4tvYTqPWAgUJhWoJNxvvRWZLSqoJfV8WCwnfsE
QmQXiFa/2Gr4/28fks3Qp5EX+3//L3W+gKt00BflhXbkaI7oSs7oTRA3Fm1lpSCydCMqSJFCAg4w
HHYFn39dOvUAw4yYC7WbbUiuQgiGvM7aeNsY805MBLQkXAENtBvSyZu0bNtWxsoELayGguwZYwBH
G9OPmkyqZjk1B9ocuwEiPBB/tOtpF0s3CV7Hl/1v4YDBPsf5gm4EgET4hmeixuI8oOnoOJjXLdgp
lOyqEVsnn/f1CPLAf/esYpsM1lAKxT2lIaXGbbLEGOQSwnLNsclseTPjeW3TNb2JnzsZPgy+exPC
lQZczOCiQq0p4rRBvHnMojc56910a6L/NuvcTDZsUrl9WV6Ha3TNXIAIqQQYBeYTAFMNeWSNuw+J
kOaW1g7xEXXK1Jt7OT8KaPz1jL5Or3IqF06DPl2nUxqo28xkJVX5w1/AwM+kySWGkmNJ3nOPjbNQ
n4txjo9TBrWrAZU+J1Vp6FlQvdpHA6R206mjK2EbO5nONjFabpniMqvKoqnquxfo5AWVIE1mZrkS
HwtZdKpQeh0b8LL+S/dkNgCnZ6gxOCl/34Zq042yARtx7OWah04Zw/JDX83eorXc58Icnplif34y
HCU1zdks9fgIVwmIUtn6dKv190Kl3kr5/eVhrdni1quQO9opmhof896OykB+iT7DHlKuK7O3tBWY
+AqQWKwVErp552PqO3EytVyCXyTPdadDAvnaqDbZIUrd7EDbeTuWX5dHxuNw2EY4M8ndZ2ioEhSq
Ma8ox3sAqg4Zrisyaq4+tY4ZQb+atBDSG+/EMbLBgD+rXzRNN5e/YnF+T8bN3S9909aGJmDcheEW
jZ9u6ZUhoBXushX2Kz82AMt0gekD7Ud80r5vkrmcZHhME6M3GJkiYtzN6by2iPKKGW4wU9rmOUrE
cMxmA4jPhsyFbSnCRiJ3xL1Cv0te3Nezvdp6/uMBw1byZHjcOVrIdBCsEHZj+Ss2Z28eVWcgAF+3
K6fXzwv325IBOVAAm1Bi5UZozeihyGdCjqmpRh4pVeCLpRFp6LkIpEQiDk3zVxRjfhUtGtNBm1E6
U5w/KECir9z9S2MGDAKJfxW3E8qk5xsmreMxnyqMOZXLvUY80+zRDT7bwoqdpbMTKllotkC1B2EX
N7edVRG9Kcz4qKVls+kK+dkY1GrlgP5xt2NaT41wJ1pCCylRJg2DqdMvfXCKX6WaOpGE7msCmsGy
S5zLG2Jx9kD8xOq5ULDkI/quSRUyyhiVJd6m06tllOBPdFo5uGzm55MXA5NlRGcgM0GUJHKXralF
upmgSf9Y9BCT2kit7iQJ+IjQXAgkDWi6HeEWRAYrG3FpOmUgii0Ai/Gs5700Ukmea/UILxW38eiT
wjE+6tBBgnAo1sj9l/zj1BbnH0MXhymhsIViqjNQ/FWuHF5rFjjniMJRnsYJFkC1CK7i2s66f5fi
/L4JgCo3FBU4c/Rfc7gJE8GenDUzOaKj1V1L0C+dvac/zg7Nk9s666cEKBi4gFjVzqi/aaDjy5u3
FUdj250/4U+tcPenKWlxrvdsCCgKPROv3/4y/czT7e1lQ2ujYYt1MhpRrjVBFLAYcfQI/vRNJVa2
qawVvZaX/PeCcMdsFlpZPqkTOc6pZpPujqr/44pzXhuqemEmBaYL3VxOHt81UrayB9eGwHmtUrfA
Uk4YQgdO7wnyiS1ZAWgsnWEyQnlcAbjTEVafL4UgSTGgtViKCjpPFSg588T0rOatKr3La754nLDs
mcjIpoBVOzfUa30D9eQcW9xUd1pCnizlplHucTfhdc8aUKYVJ1u8ZuUTi+yLTrxsltVKKyNYjG8F
ZFXUzC6D7DC5mmFLDihv+2LlPlh06xOD3FwOIhpVdaSsjpLxGKXUqyAyqK8Z4bklvs8Z5BAAkkND
NgODnQ8rrfOmrhqRHOU7Hci3g5jZ6mPk6ZvOSw/0TbtT/cweHpJ3Y59E9q5KfH3FZ3io09+fIKvg
4Gf5DHQrnX9CUwl0lBudHLPJH+7mX9TVq4MV7ufyTsvU46Q8Nchi3Qi/ori0jX+p9PbDOjcBTZxF
wwT02FFs3hWgskkrOmJ1ZQ5fdPqTiwlpc7w10V1oARJ+PlIrLmItD1W2xXXLZiooLphP1krXS9sc
0RdyrCIkuIESOLeihYzuCUqtR0A+tpaV7Ce0CF/efkv7HJhXtH4BhcWy9OcmgOfpAIMxcbSDN1Et
/OhFn57GcSWdyjycv0A0UEQxUXgNVA/cBTKYCpHbKIQVtKTnNsJLv1U7pwUAHKQI89Q7SrzGa7H4
6js1yg0tVbDNVR1G6fSGus0Qina90Z516UuPJl/v4l3YP12ezaVxQvYVBLWoMyIrz13HLbjT9DCx
yBFRl4BkbuTNR/O2ov4fDQ50mEhPI/BjeerzdUu10CyKJk6OxjjiKbRB0c+YiK0jHy/Ed/Go2AmB
StdafpSv039vMh2xHzJl3/In3HFdNE2lQ8qUHBXcOkRtIKxLQQ+ugf4tcqroenoWpBvQ3Ozl8A7a
t/IHRHcqv/5K9AdD0Vacl+9A/ftrvutXoEHVoVR/PguCaWUNesDIcfLGQH3K78yP2e/uo7vhXt+h
irbFxKB7v7+rwbf/gQLF5eWW2Xryfg3IOMpOf9vnrhJiolouKLCfFXZ4pbnar/EW0GN7uGuB+3uT
NvPB8gSPDnYfXkcO2J922VZ/vPwVi0538hHc9SI34GEWK/i5PDxWOhqNFNOuZ6emW9nwY9QQMpBV
Xja5dGkzEiMcTaCawyPgfN7LKElBHw8Z+WxW9jq00I3uqs/dKrb86JZ+XDbGFvHnJP82xoVTFhms
OEphbNqTbRJ0MrbW2jG4+JbSAQcGLoxNJR+GEKnrhAIKiceegRsp+Ir09q8ohD60quzLtLplYali
pVdR+EqAwr08xOVthQIi8KKoQuNv5xNalFEdNlApO04Ozsf0rkjcPEhe5tYeNsNtHfnkRnSs1yIQ
XoXXwXJXzLM3yI8pBhcPQJ4gp0JS+ty8IXfSHKGL7ajfjTuSuuFTmtrVS3gb2lX+8rlibXHXYO+y
4gLof/j+yLgpU2EEMcCxbsetONwNV+Yv0tlyYdrC8NjWjuY+rjWJL24SOCpkI1C3BDEAN0Kkncsc
HL7H7t3Ydo+pAxATcdBEsDKVizvjxA732kPnU172yZAcNe3JmlGtM93cOqrqu7Dr63Hl/Fm84tgb
/L+jYjN9EsrqMpyW5LDWun8hLfUQut1xvkbBcjWFyjzgh4cYDIMK72Becm6Jzq0VpgLmr4AKwBj7
FXoMnCreEtPTd/3TqGyy1C6eGuNKRpk0XEuAL4UpQFL/Y5476HMo14VlioH644cClrRo5YxZdo/f
v88d5KlhhbNG8PvylTrZFhP4yK8M4wEvHnRU2tWKuf9n4X7b487sZDTR1A5YxDFvlK8kMTZ5SXet
eRsWOpDN6Gq5jhSQca09tlZWkS/p9dIoyjqFWcVPj3vdu7yxl6/D36vE014VOUnCpsIs9v7khe+t
r6LdZtc8CS+Wa26ifZzZmWhPv8JX402VbPFq8kG7J1eby9+xNkpuV8h9X859g8+I0KcpCm99f1NX
azkRFj3+2BAIm1FykpC95KdSSGIcmWzrzW60fzW2/0fale3IjSvZHxoB2pdXSsq9dleVyy+Cl7IW
aqN26evnqO5MO5NFJNG+DT+0YSBDJINBMuLEObNvHbvX1I+OzUP6xMJMMihhYDmzxwUW1axUF6yS
2YlW28J8WFa2tPbRGG+s+a5Cp/v1KRSfh2fmuDm0lGZAfQ3mAHsn2QBWOHO71AE7OdS36vtGisle
nwDX5nP997NQVvcewNcx5nP0i3B+wEXi0J5+oZmfTGG7/5fI8/9cHM+Gt67umbXKsAecER/W6pPu
m5BIGn5b/u/rsyiMWmdWVkc9s2L0Tjy7zZSdip17PwfmUQrflFlY//3MAshQyjIxYKH/Ph1xF7+Z
jkVYhxnAR3QDvZgA5MyPEAa+Pq4PXYhri8WFY8DB8SxO4B3mVhvQYW+C/rcNAFUDLoEevLCt0R89
B0nwqmzVnfGW+Gxb7dQjUhE7K0B3sT9v/iWU9NOSciF8GZld5i6WNDIL2LEcgC6LXgYUEG173FmA
ivi4J/EF7rZOgHxKFGivg24iiWpkGCQbXTi5QFV5OkoIq1IMNxCkeFCfSD087TYDxKO35mE8sO3w
K9/mp+kpPpYnD5mc1m927anedr+rr+22+AKayLDf90F9G/+st9LUzrrf+RU//yjuwDIiPY3zCR+l
3DUbPayD1keDbAheZL/2zc11/xJWT8+s8QQws57WbY6XNA4S009B5c3Iz5IUfgnyArTKSe5shij2
nJvjYuuio3xpFxhcD+7QcTd9/aVtEjh0cjd+N+7UEKpLr01YHKyttovuahxb2Q2uOzpBC9+2e3bJ
tFO2BWA716fhg3rmyqTzhSR01fZGpOK7AvVGuVP2wMPvjd4HhUUDwe0vKcQI5hdjV37Ho+9gH4GP
cR6SEKqB73ZNWjxDv8Q/DV+9V08ZiW4TiaPybTQfO+582riQ3S6FpVQUq2QArfTC1j+O/7YQzT+8
S0nXJQ7I0/S4cZ0zM4Mx9eCRlBjbzVdoPpIs/C57C4quD+fD4qK2ZcWAYaz7Lzff+/zeqH8XslTl
Z7gbEnfnNri43StqZoLiCA6OqJncKWQg4IzfzJs4mEBYj+zN9uX3dW8SvjHPbXJBG8q9iuW1sBm7
86buaz8tATWL8m0Xz7s6Wg5K3+7SsXuYaH/nesntAMb6Ogez1zJvDY2FseY+L/2dIqtmSGeDi3jT
3GdeO+PLvCcKANwcGrseonA5ZO0VfwiVYP5aHmrJrhfewc/ngwtp/TiyZFywzuo2fVx2gGQ8mEGx
YUEnuSuKHhdnhvhqOhg+IlvtMbwxtE7L0STeNgtHkjxcX2Ch34IUCfX0lbKQLwe3tFVnpYjpiaZN
0GhQqKv8TNao83H6fIpJf6x8zOrZjcOEDI9VKQk9ac0+zX5rU7Jz3J2HV9M0D/dTWpPE9iCMVftZ
2fuDMe4SzS+i2e8AccuX4suoOKTsu60RVRvwOKLIZ+4oU8I4a8LOMe5WmtKI5U8eBZdLK+OaWDcW
9/lA3qHnG/l0VJz4PECtjUD1Fl1yMtGuUHcNMSH+qcfP5ShZDZF7Qa4MOR1kB4Gt50sERTdBPIU6
gMJ1bFe5+V3bbFIaeupWp8/gUGuHGA37svyDwAlwdXAgjwn+KQDuOadu0WuCF16bnmKA35oBfMo2
bs+VTKRMYobPV82xSdu+6JD47A5odwtmLfE7NZdsUZEVQBhXWjqwggAyeXm7xUJCn9FE4q2F/4S9
+i4t1QrcAQjJPxbWLzjzZqZ4VWe2KKTmS3kcK+tQuNOmaeaXpVc317fnGsQ4z3OxLyFugFIn0Inr
p5yZipqFLbOOqrCeh3RIA3fWjDCfwEWRhZPd5tshcSWIojWifzZpGToIQIBMdLikVzoOGR6vmL9x
CqH7TRo6QqLVJrlX7oB38K8PULhakCD5f2vcLUpz2snRKmARzDHo7O80+hHJbkSyAXGvUmA53bZX
9PTUOcu0jUD2ESgFuGatYnrvrQRdnaYpS/ILbaKTc+11QAu8xTmhljStouQo9Wkg509uNr2zZQtk
2yVvKsEhgbrYHzOcJ7a1Wetxhdopa/THcgQtQRz5SqfspkULWa2kK7ZHmWR6wcINYCKB4ekfjffc
ouU69Gat1gIYIht/Ttay9fQkGGle+RRtLNcdRLgDkOEGWgnRFwIMlzsAnC36yDoMMdX2zDeAljV8
0NqzTVRv/ztL3KgU056NtkRdBi1UWvzcxEQ3Tlk4d8dSYknoHWdj4jwSbQld1Wuon67NWmXYpge3
9CP6PEZ/EwvPDHGXbRC3NaZLV0OZus2qA4QswoJJ0FAibIQL9aB/lohz9pENnkIXLFFi9lvI12+q
78mwtd2TZnzLi23poJxmJyRuZ79tJFO5/vanaGWDnAMMpx/kjpx7mJliWwxFCGN5X+KHSdZjIvt9
zikcI2q7Ae2Epzj9banfpGeJ6PfBZQAqWgfCF7q9uspZgB/c1vHmrsBpVYMKNjGWw6R7sj5F0X49
N8JdlTuryCurzj72EPBeFB1AmXnv9r+vbyBRLEdL4AouRALiUznMnLsxtTWanhrvhtL3Rpcpj4r2
DRKIIKdCvdy2TG4cs+W2kDjGZCF3ZTfzVo0VguhAtOKgQCfn+mhEL1Xchv5Y425FCXX6yKVA4GTJ
OFLQQoHgYU5itNHknQe9e30IC5V2X6qsfVgcKONgX4+3fV9aIJ8t2mAsx2eXLrkkIAo95s9n8cwE
7tJUTjKu2Kc0VvzRVM0NbVSZjq1wLZGwAnULAF1IKl36ZdOyuRtsBsCmMfkIhfLFFJ1daM/7xwK3
s4a+nLquhwVglp8qCCgoU0RSfSQ2RFZNk9S6eej+pULEmn0AV5yBqr/xQWHIGdW6RFtL8zi5bPDC
DPTYtvV936u+1q29Qkm8u+5Egmm8sMdFesctJsYY7MGPCLR00I50M7O/OI8vrHBhPklyPFA0WKm9
G3O6yfvfeXrT25IXqXAsiLJoqQTFJOBily4B8gqDqmAfPYE5e5dDaxcNZP+SwfI/6wNeMsvRQXOH
/tQLG9fnXpQQ9EDV9c+PcZPfA/hmUxPnUpv12aaM032rJPF921XhnKWgnaNltamc6jcdKD1lNgPu
zIhf58ZY9u3Uy1q1P4Al3FmF73FWnQ1npXq7HNz/2LGVmkWO0zj28mNps4Maf69p9JqmdOMlNrFr
JOANtG4uJIPaFzIuxM03FdW3DqXH3Bzf1Mz+cX2SBCEV7/JVpxp4d1BRcotqxF5X5AbmSFGCdAmt
Ixu+IHOVyFJxMjtcMM0iVoONEZerpK4O0PTaqctAWGLttUo7Nlm1vT4swYl3Piz+xa7mdmGNPRBH
0PkFzG6Igig6sFbyeJFZ4Ra0daB/NydY0IKo0f1X6rxEhiSAiE2YUExEY9yKd73YEP+jZVYXTQ3m
TQfD0DgdxiA3vhrDw99M1x8r6+qd3UJY4iR0yGEldcgEFcyTR0NplBIcXFgTvClXfiy8ZXkjrWlm
/QL0GXPdnmST5fgznWTwrtVhP22yMyucQwMn45amrqyXkIPjjr4JmthouW/VjFgQxO1kvI1ix/4z
Ks6xDafNkA9IUZS3umNm1880/1bn96rdAsUt4xS+Ojhw4HGncqE1oDxdIVSZoYPqD1LdeU7Ur311
R0FaLU1HCSO+hfb5tUESrZncXCJZ5CA1hLGNtY9zsn0bs+frjmeuW+TTcqHHDjdg6PMArXHpeYPp
ThW4lpDF7eI0zAqHBbGbVP7MqELmocy+9KVqEbOnecgyRjeQR/86Ge1IPHB1E61uoUFvY3HNjv0G
y0hMINph+Es6FD72judDh/u7lbc96bTyJUlmGjhFFoEHVHNJmxhxjPZOEGl5Szq/eH0d+YMWJ3fL
GGtBVaHrtGa5S0o2NCGSImCXnezppCWgjDDV0gm1eFRIaTY2qBoMY3N9csTT/2duuOlPXEaXOouz
Uw0mozoZAiWWPN2E0QWNYwA3oRPvE3Ueoo7bIy2LbLb1oMUnY97l6kAs2a1LlNbE+fLHzjrSs/hi
97mTVSrs2IfCC0E/pVh+ZOKufEh/KnujkkycMNKcmeOCZrVkqEQ4cKrknvQSHi3ZlHEOC5rqTo80
/HYFxKh51xyWt+urLjPArbo9dI1dzZirOItAlPPcjI4fQ6Ake/nv7HCBq8wNo+4Y7ET5oWu2LhDB
7Y2qSza4ZDQeF7H6qle1wsB0Rc/9rXuffpkkfTPCkPhnrbkb4/84CoQMGJCeKMNqKWlV9Mnukh9j
F3qyCRNG+jNL3HUS2AVDXwpY0vIN2kh70BjFBO2WqqybWrzv/9ktPM2zHhszSucwBN0jZ0rJkNxg
85Dryy8cDUoZ1ge7FdRhLrek2Y49Vn9d/ubRA8BKsXvsSpc477aMskI4nvW5jv+Q5+DvMK0Sl1U5
lQB+qFtcf4kxFYTJcGTC8ThgoF1z/pA1X2PCWYjJwWagpBbLTu4YGGj8K1uHFE5C0PzHbMl1Sehz
SH4iaw1uaTwwLm15DPp1VYWkUFuEWRpOwwYIvKpAY21YyzBOwlh2ZmvdYGfjQjp+zJQetqA4C2Ra
IjkBZD/PhTN9GYrIHAFh7ntkhVpqOkEfR5IgIHSAszFwIQ2KI0XjqBhDOd121rtVHeo0kdzFhesP
whFoqOB5Cnj55TzFKDHg1YrEEDLuyYKWw1wjTZ6QSj2NuWT9heeZDtEj2wQwGBpA3KLEda/0C64t
Jx3FknAelltnZOo2bkstiOc+9dGcdmO6sxnM/VSTydVqSfQWTelaskXDMOA+YL+9HC6UeFfSggpT
uvzK4i/TX/SIQq/qz+9zp4PtJnVJG8CtWdwFJbWJU/5ghsQvRL1fUADBahlI7KMvmVs0g4GrJTFQ
EazHY64y5iNbfeq6+6mHpKzOoLaTgjAYCBYsKC0est7djFZHJuveSWV6LKIZxU0RrVcf8nMqN6NQ
P7OjKcG3aJDOCZATYn6V53dDK3sKCw2tJCuA7IOwmOelaisv0l0QyJ+GRX9fotILjVTpgxT7Lrwe
49dF4i/XICo3dFDHQJGBr+umVTcltdOj4ayiz0Pdn+r5rlT3yaL7bfu1QivjUki2oSg0YgZB/Asd
LkRIbhatqadT0054SdJ4U+wayBMmmT/HOlSVYxLJ6A9E14tzc5ybJkVX6Y2mIb+WOnvNK77kdQGQ
gcZIo6b7v5jNP0PjERmQiAEjwIChudUL2vVJMjak9BYyPRr6g5EsgSrrPxABakE+gscRql+gpuF9
suxYmi0p2jPLaWNp9FiBLSl/dCHY53qQ8MuC5GindywdJZcD0angoN3VAtOwtbIEXEaXUtPtwTaR
2EhYGv9GPh7CzmOl/UUMO7fCXUHUzFtwumF01pDtagNPnGyzdPXm+rKJXOTcCndtK3JvVvscVhx9
/qa3BJe4A2jJ/NSUwVxEGxvdOCC+wv0DaT7uLG3hHImp4rkcIV2wA+PkDzQqq36aTH9RAwC/FZ5t
6O/ExYbX9ZuYWwzR+kawFxecmgtNgrxlMqEfoRf8scIjAfQZYmGGiYSNYrybeJODFkbiZ8KUKJAn
IC4B3sUFh9Clo3Ulmh+NDpUpi4Ue0P7dpnpWlVsWE2jOed17P+3nX+iGt+avWVz6+eIX1V5v76+7
iOju4KInEr2maJkFSvfyK4xF6TuH1WgCpvt0jDdJtWfp7WDPGyORteeK3HEVwoAwlAF8Cr90itM0
Xd0A0TFExXZo/bcij/0U2onXhySKw2dm+LVLNLeoHXXFVTz3lNgjcX+pb1F2R2VNPqIz5twQt4mn
wbDY0OM0o7+bN5iiE3lclNCOAll7gWh7ocyMqGSrqAx8NJKc3YRdsMrjKoRYf9c8gUDu38NevPNf
52ooDTAGeWTh1wtgXBb1BB0L2qBeY7010e762ogGAvI+C2l3XFbR9HvpboVSgGVt7dAup+bRZtZj
UnU7S3n/CyuoNKBlzrJM8G1eWpkT/GoHAqBT0WWgTiXm+OTMg8TNhDUW1HyBtgJNMqhMufO+H6na
TjnANVMTMhQtDNYHlveFgjO5KKGqM++8YmsnW7CckNI4KKqzuT5M0X7yXNvGHwMIBJ5zgqpNpg8z
JtNpsh5N4t6mBjYroEXZkFiJk3+d/kHaFd3oHz386GrjZnXplaioPTxluon5QweiRzbu1sSJVUuu
G58HBks4uOCUrg4prdWLztx96T0nZg3arvAATMEwA5oZNW1CqFogdba9PomfPfLSFueRS6v1bZ3B
VvFi52TBMuoSC+LR4Hq9tp+DI5UL9IWr1GVr4XlGR6A9M83IdmVVtGSwU4+4DnX/S3vcdl5AlG61
Qw9ciIIOF++3Uf7GDpMynognDslxkFHhOehw7t81LK4Gc8brXKm/A7t6X7b5rRLnMv4kAcbmQxgb
nw14Jup06xF25g1R6RZuGWM8Wl4SPU58p1CJjbcJizNc4ztie9kub9Fa0n7v631XO+F1FxEtILrW
/vkAbqRKoY/2suBBmHnPmnVDlRsjHGVQPcGFF8PEqwj1X/QUQxLhcphq2ZpKi0f1KU/DrqkJSqDJ
mAUxKxBZ0AJkJv5glcRkoSXD3oqW8sw0f+eFihOkptdeshK9ePkW4A1NlmwRvHdR1tZxa1tJe6GP
wu0CKOYVaj11mMReCa1m577V6INHpQPEIEEy/5zmgFmDD95uAyvaU5CNQc6j0F+vr6UA1X/5Hdzu
sPN6ZE2L76Av761vH5rAOv2I3pJN/eId2EY52PfFk/MlDiR21+h4+SC9tMu99xmbtdkq4UQQ/y7D
0vRXnEe9SpzqB7UL0XNWyvKcglwNbCIfBNKLlRRW5WyqXlGNEUQSTnHZoQvf9FvoNE80XLFwdnTo
B0aM/pQskoewoD/h0u7qb2c71m46iF9omOOKKBW5G+xtEpj37BloTNz2ukfmEjsmCSXj6/xDMs+r
H32aZ1BJIh9mg6GF73upUwomDgXR1lQsojY/vT4Jk2Ta6t606ZPqJuvK+xyCQNqAgeffrHKWXQvX
ePTpC6Bpicv9iu3lqUaaeohYlqjIH83jrdqg/ctrf+CO9cpa5aYdzDfJiIWehWQsYIgQCYX26eVs
90vBFo8uoAdQqwBI90OqjBBrqN1H69nN/FZ9baa9BU5XQlXJbIsiI3zLXnkQcA7wbDiNw1DU7nWU
MO/gy+WdUYa5pMghnM0zE5wvObjHRJGjIfongVtQUjbgn7KJkvY+k4EFP7/64Ldntri7QGEvRjw7
JpLbvfuz80wCUYrH66u1LsYn54DklQHECdaLz9XPZTMg2QXngEwoMTolRPGpGsCrpr2nyo2r9KSS
nSyi6G5ghWxIuIEcic/YGvYyq8li4zZlYfvb38DxpOm9JL4Jl+nMyPrvZ1s+a6oazPoOHsyFV4WZ
Z8fh4KlkaVcRaadLSMOKRGJT6H3oFPngxUDSjTuXm8zF+VFY2WnSX0o1IS59caZvFUCI19dMNDYQ
NOOJBaGZlc3hcmwpiONqvcEGmzCSALjJ4TRH1hCYy5D6+kh/ge1Bk9gUxu61MA0etPXu8ekOHCXD
XHg4k0f7yF6n+d6Grk+Txr5Rev6UH1z2UDiSvSaaUBMYQJDqw03gnZcDpWU2DIaL7ZyAjknxowwp
aOUegnaSA0I4oWd2OGdZqD1ZuQ07w9T8UKunliZb7xXklZtZiTxyffVMwY4DyS7Qlms6GBeQy0Gx
pa6o0qX05LxqoFeQ8YavTsZv6POf55zDqHV9KseCntjybYwjUoMBv1aeeuWgd4k/T+/XRyPazOfm
uCWqcXsC+LVEO9lokWp8cEHVJiX5FAWpcyPc+rRel7C8WYGBgweeqvtozANterCmwHNDGgPyJQXS
r2nVa9PI7eVS6aapgeLuKa62ZbPL4heQ6pIBOWaleYWIomZ9zRbz4fpkCv39zDW4k7MGteVUdDlF
4gN8XNojOnKIpt0tyOVcNyS8ESFx4zgmpE3xVOeyyn2r06hboA6VqtvGBu9Yl5N49CA+0id3s5Ju
U8sOpxGi4nQ/qNFGK5awerJAFbao1VGNeskOFLkRKCEh8LQ2WKGWe7kpJi3vLMVq6GlWbxzzGU9E
afuAaHI/UooopUHRkx8yBKrMdMotekJOgmjD75XpOm5tomuy2RW5K0ppSIBBzQZvC26Hq3rpKWyx
6akChWOyjwft2JXxMV/7vsuDsdAvQyMBBIuCCuoDyE0ggQu6a+4VMTjGrLaGSU+NMZEMb1IpAE2A
wV/pb9erAkBoCMdcYGkaLxpThqKgG9+h297PlJu1S3QMxuLbctRqdFcZKE3gRaqG7bjp7X9dHod9
3Bs+1AHWpr9LF2GJMtXF+iikvVtuklp5Lr3o3yc2L41wO9BMoJsGfjy8CqNyYzSUNM7ky/lfRe5+
NpaPw/bsdhK3zOtcAw+hvNX38fSA3ORO7odCKwBZroTk6Gjh73Z17Y3uivg5ZQsaNUoNAFxWat8V
r5fRO4kOHaSS0CwLkuS10e5ybWqvR+HTxc2nVnJ/zL0tZGChtQfaYYIotO3bWIVAQHJ3PYoJdzSY
1kHjCXe0VM5qnFooUanr9aDZz4pzZGj+6LFc7K+Gt4o3gI5SBWOQfjk8A8vVlOvwALrfZYazA4eW
leFxkxqbopqhRyC7bgmX7swit59VtM0mlYU7MqPz3mDbfoZkiyW5XglXzcEDA83mEN3gWTqshhlR
N8A/qP0VvTPtxor22vjCahw+jaSuIwxQa2XJQIbaRVi8nMIuyaEM7npI6Thjdx8XunJXFawPr3uE
cEQuoPN4dsIZ+ZQwZOUdoLRwt+qRZVzrH5DXve1bcOhctyNcnjM7nEOorUPT2UUTvR6+qURyFgrd
Gk0kKw0pjikeRjdYcV+xxEVeW0eXpb743QTZceW+KiTXDUN0UIHrF1LhEH5YGXEuF0XFrl2g046Q
3o7uW6dQK5ijyfOBnUkO0dqsmi0x0gbxcspYpvsg1kiIafb2sR6UELl3O1DzwtyxSXtOFA0iSKWe
b2ovy/fabKBXPqqXoG2y9jXtJmsDngqVuCkypNWSPw5FMxKH9kjFJHp9N2T4jnjqNQiW1OluysfU
r2xA7tTKnkOgf+h2qIrkGOOXiZEBHAXFI5nY+xox+Fvfqh2FZzco8nAvupwQkDwzt7IWepoU+jR3
5hNSGfZDTo08YHWcvCVKY0lWW3iuAuEMmAYeV5Au4o6cJrZrOzUm3Etm0kAllZi+96p9cV7pu/qz
+KU5Qdb4QNBd92DxSP+xyhcl00KjqpHBah1UXnuYnLe4eVeMeD9az9ctiXY+SN49tFSiiAJChcs5
pRb6vdsKc2oyAA4blX5pIiabRNF1HWXjDyoAEEPw90fkuBqtV2aKhih9N3Wv1GvuVcCTvGnLvF1R
jkTNGenTL9fHJqi54Vw7s8stXopfVQYP966kUmoyqvR50VJ2V1uReiymuHyIyzhD28s4B6NrKftI
176WsWYE01zUe0AGEsm6Ct/pZ1/E89q5QMExBe1h0FAi9cn5EWsb/efwXSV9FbitxJooVKH+Bt1N
1IDxRueGr7St1vUJjMUZWvaafV6g+beAkLqsu15sCIgfJAFQiuBrVmliztRD1D1BakdF9UHrOuJ8
l2k/CzcFMIug+4D8FeQgL121nVuwfzaIQw75AUI5/5BvJf4i3AxnFriDY+6bfigBzEJ1z4AGzUO3
A4vJzgh/JWQOlMAFf9B/aZGL8bnl0GwYB5AoOz+bEEm+3OzflLLbackO0GmkLmf3xhoqYkAfwMnJ
UMqUf0SH8ooE/f9ZXefk7LKbx701T+usgrwiAJ3qnm7TL4nMQz7Syp9i95mZ9cw+MzMrrIiyFmYm
RFFiQXkR2lfblMTfkOInm/aEhq00eEUeMEQZIGD7+G4In9+XUAb1E40XSTcUpHGhQdsGN97BGEBY
okc4VdniZ2DNacAmXrOX2QyL1sbLrJLsQtFtBFdgJMnABI9XJ3e3QpowNbUiy9GGDEUMT01/ocHy
tqCyNJnQjoV7ArDdaI/nT8e5AYwAABPYaR+m+mC6e9CrXndXgYmVVhizZq/pAD7L6LRLnrNqhD5m
aL3mx0TGuCvY4Rpu8BYUbdEUj9Po0klQ8urrtJryNe9hAjWwYwM0In09+vdLcmGHW5LWHJzS9ob8
VNS/gbEGHYIUjS4IiYCToCceA0EnMC+YG6eUuoo956c6d6ChfrO2rbbquxRhLVwS21vBzah223yT
exJ7ipr3dn4ata3V3oxZCCDOX6z6mQku7sZu7k5NBhNArrTlASbAgX/dhKhqv2K8AIvRV/oovskC
Od5OyXtgcKKtdYw22QbHNen8effrWZb/Ed0KLmxxUR5p9MFIWtjKsmdnPBgjWMEBEvWMiqhJUNoB
qKubKhzzRyP/KUthGELHOBspF/HTuC8Vto5USYj3083JfIxvh5P6vGyQovXz4w9t1wXTsQvTTR/0
T5mf71hQPfdbaB4f5425a0IUEtKVuPUJTHPSSC24rF1MDxcgS7upjWKdnhctUMOJLHsd1hzfJo0f
Ba/VvQqalxePJOF1HxB68tnEcJsfojtLVuN+dsrHaNtY4ajqW3fZXDcijDBnRridP/XQr7ZrGLHq
L7heF8qjOr1q/uxJHPoDTcWddxezuH7I2Xk3pW5lWutotKAn7LY/aBt3b/sG3g+Vn/jZXtvR23qz
BM7RDpiv3X5rD80+ASPf1ghAnR6ogbkBhZvfP0H7S9/kDxq0aZPdTGzMvEFokG7knJjr2vJfvZYa
19Qzzkc+i1h70cz0FcgKHfFmNy/B9dkXoVYA5cOhizSjBQpgbuslkdo7uQIxhRoN/QZZik1E0Xnc
vbR5GDNS58Sxi7vCkZxboj13bpbbc7qttLmVYlhO5my6Cc0udNJPmt1/t4dEplgquGBgjFDTXrP3
K6H75crbcOPYsDBGqtv7rN0iy6aV8SbfedamdSRXVpE/422KpB5uGBCL4GKzmUaRVa99qW3T+Jla
HpHbDtvqIVUn8Fj/+4zU2q/wjzFu9Yocyg3RANi2kcy3ltPexP2b7QxB2jCianQzmjIxMeHCedCt
QtctPNLlYoIbI+dXl2i6ylpA++aagXTZRr9S2ZgaydAbsrvuoGJ7SMhaEKsAoJ/btV4GKjJvQLtS
rO2/7bMM97Wplr2GV2/jNxlSGCimoE6LRBIXg9R0ivV27UiqtRe1rjcD0jZ6+qSzr4m5H/t9rCck
R+uvQ9+ZuSua1+tjFMXZc/PcGOcynZc8qqGhENmA7VbIXkXLU8yax+t21tfl52GiAr6mnZHt4TZd
De6jGMhatH4Zb6ZqHY2s2zXFk+5+Z9p9nhXh0MloJsRD+2OS23ox0MIAgAA1hX6JNgDF2rvZAeNX
2EwyNtG2Qynin7FxfhkbhbJoBZZwzpptZ3tBPQ8PnVsnvmEzokBj4PpciuLyuT3OZZZUidAUtvol
mIxS87F3f103IJs5zinUsfe0aDVQf7H6xK+rJ9OSBGGZP6xx8+xEZBlaNAYGvyt7yJPloIPtccqp
9yDeM2gOXaXfBjBe14clXCcNLSbYyirUQrl1mpHdVHQDIOT6fsItJvbpuKMG6erv1+0Ipw8JQqSD
8TL6xGIYMZVGywphy1rnxxwN1I+06GaaZJSdQj8w8J5YSdzWnuTLObRYbrllt8LVpme73ynW01+M
A/QSqulCcwGy25e/nyZ9hZQY8EYjqKYKC8gV4ErVQUY7ICpwozPqj53VV858IVJnqtgjahuKBlPR
pqBgmkTz/m+k4bajowM2w0w/b9w3dFd1pGzvLQpUtz6dCixmjO7Y6+MWxX0dwRhZZX1FXXPjNpSJ
zXRcK2TIFVp7pPMXSlyZEJDYCm6fEDADDR+vA6RAU1ixFowayOC2/tHhSWiO9yaV3D2Fzghquf83
wwWLIrbHDrRKKByBMRECx3RCP1Auwy2uU3IW3vH49zAKxPWPtnj8/+USmo2uwRk77clsCpI8jdlW
7UwSm6AJSVmgFb1kK3Oj4u3xmdNoMjPaWa32NNn71gGzcFSSRZX0tsiMcNcpADvSaE4xKH30wt70
KRAlkfp83dn4x+6noeiXU6cr0HYYG1hRH9rv0PXaPka/mt3P7JYhbkhOKs7nVlvooUPyCZheyAPy
HfjF6Bkg51O1p6pprJMXRdpjVFnqjwRP+gCYEktSSRTbA65ibS/3DD5Ja2aGCzgQ7A3OdraOU6UR
RS+B1HJ2klnk3qn/N7I/lrhZHD21akYcw09xFdr5nnm4FpY3WWCytza/w9VtHHWJD3JH2H9M4tK2
goXxF76QbqJSN1XGrD3V5TLu1aZGnawpy40HsG3Y9eryaGVNPpPCNKddPJnGXjLm1f+4TYciig69
BPQyopNo9d+zuIl2hqxbS+BPxUv2i7Vk+mLdjl8LSBB0t+UkGa1gM1wY4+KIMuSdXcHaU5vWx0Jt
wryj/jx3oWRQMjvc3aPwnKo2KtgZBzuwkviuZy64jZYDgzZcp/m0hxoWxBCInZd39ejtXUoPakK3
NNYDbR62179HuMhnc8ydBWizB6/RaGHY8fIlNg9atdyklPmzZhzTHKj4Ug2VrJXMgnDfnFnlwikU
/0potcPqmPebzo43UZQGtNQ33TBLTEnmm4e3TEqVec4IJ+rAAzOay1envV1MR5ZI4vNs/9ktf4b0
kQw4c9YBQm2Ao2BIavG7cL4OTX7oNZcsWhWmlU5YruwSHBmqvWwqxSToTPBtKtPkkqzmRyw++wir
rYYqHuBcClL96WgdkMu8NTP7aHVDYLF+n+cgxjdkcyyK8dg8K40biNRQUVgX4cxuzKipOKmCUPE2
dSiIkYEs/mHYlg81GhnI8HbdafnMyv9N9h973GZlGThIkVnFoiburoaQbZ0aYVUM/lSj1clE8gjl
pAJMchOYoVsv3UjsC50KRBjO2u8HkCQXjT2PWh0bXO2p7IEbmLObcc4AORtuFxRVBm/cWjNyWbN9
bBdA/FC+z6BMm+5sZSG9IUEeCdf87Fu4l2czad0EPkDtycg3o4qeBtCfBc4cotS7IG9K/+bIA+8b
ZheoeSRILpca3LosR5+89jRPb+DcHpeNBsUmmdD9R8vTp9h/ZoYbFXp623J0Kv2pzKF1AMwY2Brr
Blh5U82gZNTXaP30s7H1SNtmkV9YwHi1XT2Ghlt5Qesu9KC3U7RNemUKB31+S52JHR1olhwg5GSG
iw7oh0OrJUDvz3AbF3W2v+4k3Ovlw0dBaYicmAr5JY2vR4+xh9u8GetPNGJ3XVM9xb0ra5QX+SHq
0CCIXgsvEAq+XIzUzfoB/R+YJXued6kRO3u31dCSH0H/8vpwhAEOzxjcciB7iQoqd1JU42wiT17r
Tw41vtHM3tj5dtRvdQMMitBaSf+XtOvajVxJll9EgN68Fm07tdii7Asx0kj03vPrb1C7wHZX923i
7EKDwZkzwCTLZWVlRkbwRsr+CatIT5PGlEbkVPNCM+9/BPXCxTMNOBpQo+B5i184fpfjVcZy9iOl
aTz01eKllupICRq+8FPKgRHwp/vGrmJ+SCyg0xYREN7qEoAFl8aYiJlEjukbr0/KJ6bi3WiEpnXZ
dqRk5w0zl9j37MCuXMh0M+AyRjiVhQlgSamiJ/bSbAC26DkTxsZr5slS294u032duDhoTDNb7fRW
o8zGekFr9lxvD81mhqyX1Br3B0/rWP1+Bsqf4BfB04oDovHyM5IG9NaTqjXeHD3Px1zQAX9Ke1vp
iI+mcXOyA8ZUcoDbiqWfahfJVsaZnVuWZiht2wlarKTah5wdCQR1cL8AG7fRjTsuJR1zbJ7Wch90
yf1f38sL4BNEFwpiRsovhUolNEnlN165UT6z78js9Qrqf7PjG+2OfaxNAfdR49RWaw1Ot4cE19Ow
a435yD5MTryyT7krp7zIc5x9DeW+mEJMGDXC7PF2ZyJHrXdmQBgd8TouRp98fU9GTH4CY+WZcON8
8ODrBQMICKig5Lr8/dk9nHVzFWg523pcZIxyoXf86yKnzRXwmPCd97fItUeAyARUjpHaAA0tNi21
RapmGvy2xU6N+9JR8trLk3etLu0kbKEDFeyLhDNmDmIG8vDTMt+d+jqka+DU69Bj+QhxAY8hY44f
6pTGfsv3TCk3XgLtjkKugVCN3cCVCiMWeX1qjYIJSKX1pl8NS5cf97YyCzfcBHJhICkBVgDUqyo1
536UR6yaR60nxq8+xHKH4jsO+I2Q5aRTWKKUxzIJN+NLU2+G8lCmgVOHrd4IhhS8RRyYRHlxJSKg
YXzLWRA4ZL1F5EXQ2aZQ1wIz8FJXZULrCQ3YzoR9UetMYI+IRseYFJpkjN1PNNpy/FixIwEliJkI
/EpyYZn3iwsc34B+KeT9QfCH36hvkIe8zn3cT15QVKheaEBKqgO/hqG4jgQXMxK6shZtJEG5Ekqo
wwnMwn3noQW8CfQsMRP1JRIelMpKB88vDPR9dt3flTVfnMnl4BYRpgXLDvpCOEdqzXsNAFE2DqUn
dXZQ1pseplEXR1CkSjttIogIULccR2defc1cnzmAH0D+oOI5jpwacGGXJ5wBPzKvVLz6ZDCOtfmM
THQsE07X5d2KK7m+AChL1MFKeamVuBqWJrvc15vcGMl3TlRjRlFX1KF5oFscZOZap0ehtjcjWzVk
CM5xZmSE28xid4E1P661G/62KF/MPPVVS0R05uEKSegkCX7gqdMnfTTiv+o23+TQdoTcAxF2nJNa
qVHo34BZAb9hoCMEtWXZYmzeUmyeTBB9TKzSTlcaQq78PfVZ1INkTgW2WbrsngYdBMG6YuakBLBr
TZGL7tCHHNfl8lMbjwNLXFHEv3aKF6i4Y9C54QXk6/VPTXzS7H3CkpXd/suKfjXnyPQjWQy8IzA+
l3OuscyQSbmkPs3WgDkXHMmZnUjntvHDZGQGSrH6ojpobDGv9v2TtoyHMr0IMiAGAeYHzIqU6Zyv
Wn6Meu0pLDyVP1TQC4zr96g8pKiQ3jd1YwmR4kWDJ4+7c0l7XY5yEHo5rGO0J0YTKSodgPMADVkl
4hbkYwx2TTJw+XJqZOfmaCWNmQtnbOWKeVJQAK3iz6z5x1O3VK+howHiMQEPNWrqpGoUuBpwP09o
SyJIDVFLC8wAOgIInQvWmuauF2pBVYPGdVFjQqacOgAiEzQxEiCwBhixL4Co651/FZvdtCaae9PQ
rxAeTjl2xvL3Zw4gFae+yFsh8ni1AqTCzLwS+bPKqaKVW/R6P2DOgBIHMQ2rwd1SF1iH3KekMFHs
KU+pDBiKmJqF35KK0dOCRCxvgunn/g68fvSi90FeiH04gJilqyVDpq8o4ySIvRaa593hU9xO+g9D
4mOmoyXSTqBf+c4arV3iJzTXCjY0XBvOBebB0Ii+GNDxwtFcTq0qtmw7Cmnsyc+VPhsQ7HQaS+9e
V0Z59WilzFBX2MBVcR2HWexlwMVKQMdOZkVC/XMm/KY2A1sk4UNn1ADIpkAQvT+XemCs3SP8sh8v
j9/lWKnTkSJgUZoIH1G+BQ5DIBik96SD654hCCsao/k4QyMY/OqktFUC54ouqyNL8pUlv7Wbz6ec
us7kOOMCmcWUK2TijoKii5BuLXdJ/XR/0q+CVMz5op2CbLmCaIx2Bo04yXKetLEnITGo5iEkn0WW
JwrnDhuoD9839vs2pCf33Bo1qqrrIpCrNLHX/EnMVO8tjWA76arJ67yuWABDkM4qTY6Mxmx8ngA8
t2VA3CO72ENoEnCwljTvMuk2LKltaFzanf5Tk9hhjFiHVL0xGq3BbNSVtaDBir/7X1l4/lh08OGu
oz47jOO+Tngx9npLMPrdZiaBo5DOnSFSzQOoPenstjXKTWXHVuCeOmuwZFJsWEtIcff+yYx8O47k
KTKYxzV95Jvrh9sJ3kERAbSljuY4tLgtouXTOg1QIKftZqOtOEdGnBELJGNP95fw1vFA74rMgvgW
vVgiZY9XEy1j+ipBJ568yedUL/yNzCh7Zi3Rdx3AY2eeW6K8Qd1VeNSNsMRORLCCyqo6y1d2aWWL
BoPcwhtbbP63sVFHP6y1UmDyEmProKgTPnbjQx+NpF3Bj9Flf2wn9KIsly9omFGVpDV0oyzJOdAr
xB6vGHW3y1IvQDA6b9CjQgTA8DsR8ei86xlnsJMnDlwg382aT79eR3wDNFUWxh3EUTTEkZ2HUOKY
KPHkyamVox/t/OrAc5/3Z/TmUCFC89uoArSGRsVOIz/i5c0miTda2lF4r8zsp3yMDX6TmIoNIJQJ
OZKCVCup6BWzVwmIAS1sATQREq/dd7boFm5jdJZmztvOYq1yqxjwPEd+ZbDXLhsBIk7hkqdDfpfG
uqdpMKQJPyZeyFj+QXxoEmfykWLgVlAatDrysn8QeeD0yTJIY69aptkI794yYFNv3jfum0IqgkAf
YigWuIXJyX7c71/t78fvb/9tOCZHpiT9Gvf1jaEitwwRAOSvQdj027N5FmtlkLEHgVaVe/5HbjF/
OBOK2sbK1rkOs1DfRSMu4D0C6AnosHsqucrv6zH3pq340n2Ex+AD+ApbcpjT9Lc1hyf/FY71kLCk
KI147Ywu3uXypoL1hZ8JDWMgNKYT6PUgtFkVCrlXGuMeVYFdYAMgDWUX3PTpYQ1w+Zu7vWeOcqvc
BDmlRJJhbpM5mTtCzVpnN9pDvZM3UMN0BKN6lh4aCzIVdmtHT/mz5vkm63SvSkzUB+Y9fV5dgLUp
oBwwq0UxU2rLNwEAX1qyXtmhBUC6wRuF5T+siZzeXO+zGae8b1n2UR0VSu4xTEtm1RXSgzQdxU7X
6mdh0EFefX+DXUeblytMXeol0ysjeFBzj/Uf+D41hGoXif+QEnk5qujwRte/hOIisqHUukZyMAlK
zYZeA84e7rVcS3PdGARIExC2QdIUj2CBGkSfa6CT5LnQk5S/Y/vI5Hbkr0GObhx2RP2oZoKfAXEi
Tdk6Spk2inIRe0fBEM0TT5qVB9V1WhJvi3ML1C2BtGTO+CUscMEJfU9EjR+59MBOdiH9VXmr8MRg
J+6lPxpEmlDDvb8PbqROzq1fXRaoSGU8P8G6+BFU+vCSfEvWvEs/ByM4EMGZYlPcROWmfBaIvCZn
feMaxqzyoOPCJgGEjMqUi3kudEJd4cmTkQGPHad25TWI2nJwzn0LQgzk4mEEFJkSxEeoc9zMQ9TI
RVB4wcSQRHpQkRFdmUL67NImqLObd77SBhlM5Pvhh/nCcF6qF/5Ptg2fIryVpG3ik/knfcgeB49d
yUdeJfr/ZRz9fphJjJHOMPT1UBfqFMO4J+zK11APn+R9ajKPOAwhWbsZ6BNHW1tOy9nVlxRjVY6L
NdADGGO7T0OkNfqX+xNKR/WLEcS+HDSwkG+6gkiCQWquOpEt4HpV2aqek0wfZ7RIrZFYX73saUPL
/jwbTTW0WVZWc+EJxJ/0YFc8pztuWz6oztoVt2qKmjh5ZkuVBzGTx+z8Q7lJj4Ed7MNTTNbID2+t
0PnkLZN7PiYtgduVYUiR8GL3/1boP0ns+wt0c9OhtCOiCowACKIul0Y4mRESn+MKb9iKoMok/Wf5
qj2DUvdZeZRikq0UTa5eQ1goJDsheIdEJBJ3IrVQNW6acglJPOHIp2Q4Na56RKS5E36i45pTurH7
LmxRK9WC3j4ImbTykl20bYnvVFb3ukawuPwjlFe6MEKtUiirI3j+YSTcpI+Cwx75/dqWuzkOoAMh
hYm3JIpel2sUAYDOJ2VVefPX8Ed4CD+FmvCv/p/7W+G3KZMaCa54FHWhh4eeYLogzktJCph6UXnp
W6iPu5NtWeOOIFJ88Mmr7jox6Zz7Jm/MHSyqHAtvt9RzqVsfDIdJF7BN5WWnoCL8sbWx7VaIy2+c
okUFAy8ZbLalD+5y8oKcSaqCYWqP5Q5xqhEWwPQgWLk4bhlBeQ7oaaA3WOhDXhoBZUnG9WXYeBG3
iYEOA6WhCiDB/dm6vv/wXFqy9ygG4sVEo/mlVKurssqBDVFKFBxTaHkUXZqa/5sVaihsx6BnHnzU
qDc+MXxBinFaGccVAATThIFo8AEofeBBRF3kUqFGcePDRMdtZ/EPy2iWzOuyjHTUYzmRyWr1vtC1
YMsI4NDa5PnKlrg5kSJUCLD38Cyiay5cIieSEGSNN/YQNIf0ZqZ39cStDfO2GWDqAS1GLZXGuUhh
509TAHhNjc5bCZTeejHrea9DiwUQSf6NTT76+QNdM1C45NaYbuiAbJljoGwWx44WbAAJL3fkzGSA
9vnAZ5RT7Ujsqy/H5sS/QBF6ZZjXW//SEBUycYCwAf6uNB5Y9/QMfXx9ie4O+/6mvKqK0sNZvuLs
LmQkrpDDAiAIiYAuxGoO42fwnYPCe5M7QCmhJhgZpe0oAxmt2nB5sg1JRyRjyb4HSLQ/dfjj/W+6
tbzQlgIVy0Ltf1WoDudCyjIw8XmNEoUnTmM1Y57DZsVFXpVMfkcORD8uEbANarRXVuZpDlWVaVFM
ULfcLjsZFqvnFrdTkHkCBjV15B1qvryha5uVy/oXAHZ5I2Btz2xTvrOrehZwWNgGh8frAcVovTTq
jbztj42FjLBVbP4UVma8sOBSSc2nv/cn+LeZ4Z55/nLR074UuC4IOg8QTEu1y6OEFBFrlxs/Jcix
W5I9Ooo+WChinPj9+JBv16reVxgBevbpYzRk48AKmIFA1Yv2U3kdm62vvLWhpbzGos6FeOQ1VlKR
hrNzZrazFqpmBpv/nQRQsxZ7kInKSgFRMMYomhg8BLrMGJmG/zufusAuxm8J2iQDyPALR2Ot+xN4
I1RFagCQbVxKYDBG3fNyAqUhlsOoA3YkKPWo3DeBKTM7xmle84O2X7vMb50H3Hygg0K6a/E9l8bK
jmPrimE7j+3+9GJCuCEy7o/nlk9DWILCBXA3aM2jYscojkRljJPOQ09ouh3bIt+AKbDW2U7TCCDw
1Yq9G8EqoF/A3wD9hV4bjobcNVOC9vY06/B8kcghfpIOzhMgbT/3h/Vba6D3+bkZepMpqZIzMcxM
Ntprt9KT9MXtLOvAGfJj7fh7W/ogNiGnnpw2mhn/MZmN67Ik/HA74D2eSn0iPytDF5azde+bltU+
c7hs3cyS1uGb5Ikk6i5WAC07saGloYqBaiIyiW72jKpW6c2S1b1BvgD0RkBkK0blTGCZa8z2WYh3
3E/LbRr+UzN4idR7fzLCtfzXVaVzOaPn00fdDXXWtHnbpJ3HJ7umPwilDlqFn8DKdc3QBzLs8CfI
aZDYjM3a1vmT4abcylH7RTPcmy9qb/JjzzK8X3TekNlTYgOYXrCfwGsFta45jOY20lbL3Gw4VuVM
hGGXlpuI/SzlVE8VgnpJlukC8zarenJQakOTjUk79cC7J6aIB7O4HXgrG8D4+lNu6gEMBIRj7Do5
Fok5qjpU67nuISwfRv8xbkAJ3UB1EAQfA0mhNPOdZHa3V0tzli1hE33FQbRTA2CaSTCuUvFcZ1B4
BbTC+IWi2lJkv9w3jdb0oJvvGu/t4/gJ0AxD2g30LB8Z8gmVYpSel/IzsvsMqEgCUFQtP4WO/8b/
ZAAqenjYmluWbP+kzrNgghMRV/sTRBwAupqQsv7Xz+DkOs7A/WN467RDmgQdvyLCUrASUt6yq+ss
G5UJYaGySVn2K5K7g/ga/1EYR9asvG49tXuJ43pt61yfNJQF+KWjGRwaeA9dzphQRKmPrF3rDVI/
k2auPsRYe2Pj4KBFM7tyrm9dCSAhBas8SkdI59IlYCGuo7yTF9yukO6yyWukxihZ0VCQmZbfYuGY
9aSp1nKTtyKJC7PU8aiEiq35BS6sHcE1Uz6KFUmfkm3wLBsDcGuCyek8YTaswSHNxmwacNJUTvhP
iyHwFCjnLAnmBV9zJQ8yKFEpMuC+9Hh2GxFNtfg4MNrn6Qkkd6MAgIKJB+JRLFei18VXUr4B1TQe
4jfAD0HslVrhbIozsWYRxzDSoeAD0vBrmKEr1OTvyM5MUPPLhBVyUqPfehVnl1hKsJT0fGj3gZUw
21IvSoS/w2dvB8PL/VNzI2uAOT2zTCUn5DLmtSzE4PCIseoN6Khxkr978vUFfAOWk9NrXFKBoeFn
DYdxVR+lh03FHLwY5HMXhgDHHsRtjz5O+JRgG8KnAA/Pv6E3C5SU1rTG53kFGKTtUo/kQfHrQGUw
3Y1ZA6oR6rLOATKY7CWg4IUMDxKfFFbuJoYG4Au/Uji9qjNQ5uk3gZb5QV+AThgpyHLPPCgP2ml8
VR6Uw2h3n9pjeFhL2/0/q4wULuDWaBShUch1wPdyMOLk+CPJXpJT+RRas6PpxVeIwYckg2bEu+A9
NSYbkMzwH1Tz/j67kahc9tl/voBaalYAoiATsdSlYCqp7tsQHMucBMyfMfF54h/ZymSHvytWb11n
aFJB7XTptgMr26VzVhnWz4UGYRD3NW5k9LNC+f6DNUXBioIN2rvZR27aq3hcPomp1zVAxPJ6m6ys
9+Ifrv3Hfz6CisWGRkrZUMbkq2k3mCEHXz1EQqH3cvl6f7w3PdWizoy3ggqOasqSFowaX5QS2ivm
b744sHWr3zewrNLVUM4MUK5QE8oOpE1s64175k1yJDyEdvOzvDJhN2+5X5Xpf4+DcofcXOeKMHCt
l/wIX8xb8q09q3vxqTrmxcqAbu/LsxFR/m+e8nKOBJiaO8J/QEIwO6ShXgEuvGP340ED7937/Tnk
ln+SnkQwDaEMBvVwZGop76OwIKsB/2brlaD4fQdu6T3bShIYN8cXCO40O8XLXoMcKnkrGY+bt8yZ
YVoqTmxYBmGFhk4QPMLrvWxrb9oOgkJ4EvxkVvS4phh+y+0sKSxcmoiLsCmpdYxzdKHmPF58bXXA
ozqUa1uKn2vxua5mpx3NApUlyGikAK1OZGQdUdTrXCDQ7O2KbZ35ep7kTpFbxRo10a2puPgyatm7
oRY4f8KjQ4wdvtpJ6D7pH0P+PU+gDPTgM1b13h7mbRp/3l/8K4fEoW8OIOSFpgOxKt2IXKvh0HYI
p1z0o2kA+ss6LsFTNz1Wfm1yg4+O/jXc+HW+FpjKhXAYK6CCuYvm6oiCRkThvGzckDkGk+trjDGK
x7wFYqfeTq8hePDkfdFZAoifNSOebLb7vj/q6ywYPgGwAHS+LexhAHtd+uGiVMMw0trG7RS0HRMG
XJLsR8q3ZliwFicxuqzgrfUQTZu02iihUWWPPPMzTxNat6qjBlWZvwED1l29Y1YW5MqjLV+GDqSF
AgaXEF2VnqW2q9E32rhCExq9uK+Yn7bxhumtlTVHwHV5fyau7oLFnAzSbUTwCAN+T8zZu7wtMgbs
IEPjykECKYSdBkYYuVnDnS3X2oWHoazw1HRLapZO8ti4Q/ajtD1pWzDA95XRsMggsacksWLeyf1M
rzonn5+hArDiVm8v+Nk4ly88GyfbhZIUoP3Z7So9DnNbYVozrnJIUk2bZi4MLtLFpCQzSpTJ+/tY
7cXko22fQSlj+qHhF1tRaYgWP6L3jAty579YBCRjsSFZMOfS8VfB52wkxzMUMABB6AJn9Bs97Tf/
3AiSXWj6Algews/US7pT1ahuFb9xe5X5bJqodhJlTm3U1NeoHa6znFhuCIrgub4cLkCoLye7EboQ
xGpc6/Zs+yFHvhmMhzkCSlm0+aDRwSaxdB4JTp4ZjXDqu5MwbqXOiR6rXeyjeypr93P6FPIWKJDC
j0iPzQH9sJl/7KtN0duFQgbwflR6Va0hNm7ukyU0WwCg0FagKVSKEYrLs6a0bsJwO3A+mczQkymc
ThGaW8RC1DP1kWl+FgHVsEFoqnziHU6a6HGIgCyGSFCSWvxbh/dJWxqpyBrQOV7Zy9chAqZXg7ag
giYfVGJ+E1hne1mcprjKpKF1q8GAeEmCG2mPLnLf7GtSPSl/AeGcjPub58Y1cWGS8pctFweSXMMk
dGOzQwe8ETOehMnt8VDJ/wyr/YLLZqQdxoIGRn0apVaRrnVFcJDIOAWd2/20LZrjZaKdMv80PQ5j
TRCnOpG00pB2wxGCPQFiKmgnWdowqffAKAClmkvD6CKbMxtZOaBfJOATKF4qa/K1S5RBDW7x7sih
o/UYXQZUVMwWWh1y0zy6wFwZJQ9BKy3Qi8rpghVOvZtjOjO0/P3ZRuF6PqjLlh3dvrWVtCRtvO2m
NdajqxgfAcT5aKiYSm0a3LENRjMkr0H8Wfov97fedR6NMkDtvcnn5CgOYEDiCKc4faeHk4W2CJQ9
wY07P/Qv/Uq8f71A4DFYPBjLozKOwV3Om8h3aaL44egWRVTYoVQmu3ZgJ0OdpwLIdH6N5//6zkd5
Aw00SNih9xfqupf2Zl+KAcmoRzeIFKc9pmJAfL8xs6kz5gQbPojXusCvFw0ABmAzeJhF+o7uwe5F
0FShGDe6qaohbRqh5TvJlTUr1y8LMCH8Piwguw6nRV8EUwq2SDWSMJF9pWzqNFMt4Bh4fWDLxOjq
rHRGhkmctMbbopnyn17tJjMalZ4EEOAwweIUELSY9BYgeoGpJmNqC0G9lmRepvfyPOIrITcqLJk8
Fc35l9Mf9VKkVSCtdbVyIJoW6SxQh9ygGupgxdoaC8CtqT+3Ri12o2mNxE+Ie/uqMIJGcsQmXwGO
3hoQz6P1FI3ti6oAtX+hMCp2g5hMrgCwl/8cSdhGB1l4YbnT/bPJXwd28M44KCK6+RG70KqpSepH
kph1kxuWhRWmH2xtQcGdxK0+HutHJUB7g/oaqoMBlSEc248oPmWBHWs7MB2U6D3uv6T3PFKIunBy
jCuh9LX7Aw/HbzVdQiYcZYTLdR2gEq5N1TC5VRLsIwlQEK2aSBXma6ztt5YUaHgVD0ukZHGELw3J
RafwA9NO7qy2D4FYO3wWPt+f6Zsm0D+JaUY9AYYuTSgM6FDFAWMJuRBPlpwD93DFroptL4E4fRQW
LCwupaURloaGTYXMVbUsTW7hQ0rEh1+wA4VrjVoqWj3s1OlVipreyZmw1rNpakyIr2bbtq4bPWtj
3rg/6FsLiPcZNOzxYsfBpJ4NaToUZR1zkys1ylHCxkm77Ah6I/u+mRvufhHk5WSwcaGyTUO60lTB
3pDZyY2G8JSDFSOZc7Ou/0xrbGO3zqUMNSVcLksRnY7zZ6mR+UpIZrfp4+860YwcvxHUiQx+1ryq
bdbKM9dhG970ZwapE9C2fCCoQwCDXWsPXKxz5ZeYeykL4Dbh1S+hN+9P5Y3YFBZRfQKnClD3cPqX
+3QGwWOWAajkZvGW6wSD57a+nILRrCUBntWB+HfqRGuag6PCxpsmD1aeUrfOCZoRQam4ZI4QJ1/a
H2KuEsBlObvAUM56LQSlDYrfNTGC64Q9LjYFeDM4Pk3Bi4o6jlMdMlkVKUheKInDlUY/GXVE+Nbw
M5nET4Jio2kZLFx2yWh22VWGMPM7MPs0KM1GyccgO3FWbetWeFqZ/+vAGR+GvhxQeYIPHSf5cvwZ
37R1LuHDRuYoA8bCC3rImHx15J6F0oqkj2Etx3vrkGIiACgCNBudT9S7khdRKk9EYcbpCUzGFyxg
KjZ5uvYCuXVIl45ckGgK4M+ni148dFnHlJ1ndxz7FM3lMdgr1KomcggCpSH8e38eb0RkCL7B5YQM
FTYyLa7XhmWijW3AulzRsnYRJc9qykg6GwjtPsvjzM5qTjF7cVxrXLlxYmEYDKKQTEY2lo5FAHdW
xakJYfiJ39beYPODPufb9ofr3u8P8ca6XVii4pCMzQSujDFELcs3lQTKD1BLhpPyeN/MrQGh2LEQ
oS39lLRDELN01tq8mFz1kOo4I9XLqZB0IdQLlty3dGvNzi1Rt8WUg/jGL2CpTixN/gaMUK9ZN0H/
Nqt6TW/dt3ZrXEANYdMDeH7NrBaEJTvEWj25CpuaShgAiMUZgmpMKhSt2VNeokDqe/dt3hohHiUL
FBOUOFddU5CNByVvxmOE6EgQ3Qkt3WCOy0FQafXxClhvzRaVMEsDVfVTDXcvq7MPBXD8oKngd8WK
lVuOFK0CwFLzLKgUwBF06a/EtlAytRInd9IAQOyKYzHkhjTGlh/LmyTdx4xZA4EyPErRYOdz+8Ig
4+D/1eQHVgLVvV67k/q3m7/uT/QNZ3PxVcvfnz2cR4YbGCZCGDQG6HhW+w0fgxgH/GAJiIPvm7o5
z2cTQB1DX8UhhJbn5Aa8mJImR9WHDyAciZcIdm48YInXFHFvhCEouUK8Hu3xcDJ0vDPlQRKncwSP
3bKuH9ilz5pauOnTT+iG3x/dLSezEC1CzAI3A3pjLyfS5+akr4VidgGu65zBVyeLEfEUjIW52tw3
daOsAPgsxrQory7uk9qxxSTDb87l7CbpU82/ZMl3qny1RzU2ovmhrV9S5jUvd21mAFMJJrvYvm//
1lAReACpiP5Y4DKoe5BVmWYI0wmzKo6JneXNF9RSA3NuoF5w39It1/OrHYYrQsV9SO1OHtR92sTh
xh1GPTsJT8V0FHYzH4HgwArCtQ16c1yLUtm/rVEbtB7nMmAKeXalCrXHHiBhNTKrLlh5s17D7pZs
BC52tFTgRYkOjsut0k4I0AORmV2xN6DuziLdXrqa9p7XJckaAL1KM5acnqn1If5bN4aP7Ejy6Ask
TrZVs6n4mID7Py11fn6QRi8qVZIMykHOVx4ltw4ssq9ApKF1FR0g1Dr7YyWOquTPLhDbLBFq4bED
9bzeJzWna2HUGw3IsPVCbf+LLBF6DJCxQV4Uqil02reamrJRwJ3nKm9QOxD5xlADQMQ3WTUa2ev9
LXZj0RFloeSNWBJYdLp3MEGn04THH+uGIBI0uTDjSNkWkVl3aencN/WbjaDenChzQZ0bjyIk3eRl
ws+cbRxrwyArA+eqSuDJKZsZhY/IOR05Xp+nGmKC4Bo3xppBI/8sg6FSmjmrq9nMCeDITnU05hDB
jmoyd3KyUxH9WkrfD5YQRQGpU607xLyYG2rK1RBwKFQzrztISc2yz70J/diZyDYLJrAQ2WM6seFp
DAMVirN9YaTo91rxUjduFnBbLA9apJxQeKN2edm1VRx2ueAW3T5r60M2PaoNSgaqurJNb7nDc0u0
P8rCqKjmPhXcTLGAXwCAdEYkVJthXjhc9KCkYAaDUlwSkkIMrPhj8nddPhFlZN7vL7CI9aPWd2Gh
xZuQhbI36kGX69uh9ldrGj6E5XKjEZFgXwPEXeO2cCzOTSzb+WwLtUw2j1qeCG4i7eTiQanRYIBY
Yuh4Wxn3Y/OgAAmIpGo67Vt50nmwE8WmANRPfPpvxornEG50XHp0TxWXNEnTypXgSiyzF5heh9b4
2hNveUJfz+d/bFBbKK47lmvbUnAnPReMVLYzvUh1xa63SW1WvpG+/U9jojcS36O9Ks0wpgipdwnI
LECw71u4xtcAG4SWFBwJ0PWgFY0akjDW5azmjOg242aUfxrxtSXi9N1B+uWr4k3Gum/v2rvBHFrG
UH5ZvA5LXaBNy891CII+FzvTivLjmDls2qwYud72UHRloW4lw0Wi8EqFPpC3a+QELJ7uEKJ1fcpb
sHKjqrRyzJeZudwMoB6A81xqSfhNpvItTJMpQcHIkttacgUa+XnP6Ezk1tLbMxev4SNvzBvaKtED
gg5sZDsVKhRIkz5okiiQXLnK9hWgY4yRC/0/RtVCrU5B8mgRwsYtR++3elTYQVAaDMkvawsi1TV0
M1qwwEIWaJ+PYWTK4qxaVTJwzlAqoHrrlPBBEdrCrvigcAYpiVfWchkYPcvoukNCCZc+rkTqiqrn
GMxEfSm5jakqbwxLKvFrANyMse9vzGXjXdpBfx12howcGqj0rlik2lkGJXnDuXNoSKxAii95tKRp
rcXheh1FIMTx5lr0B9BbQw0nXOiPpkzm8IKsUht0apCQrAXNRD6tdu6P6MYDb7G1nGsBdUBAbTDk
M9es4QplpUbiXG5+jRrtVRhjk0dpPWGNoTF7JdI7pSFoWWzVGbArO5J5JxFJUWwiBgAtrxaNBPib
/u/977pit0DhC2282MjLTCOMpnxAJYP2PULtyh1AotWCCbQbHsvqranmz77l9Ao5y7QHWW3A6kJ8
jIsIhb9jXb0W7OBVQIrIOf9XmNWVh+f1cQYeSsREwRsi0087Da4fhhpEh7zLMVslK8gwFZC30tU6
tIr5ZWRIOa149xtxwmIS1pZNt1yjlws0DsH/kXamu3EjSde+IgLcl79kLVKpZEteu/2HkKdt7vvO
q/8eqt/urkoRRdjfDDAzQA8UlczIyMiIE+fkSsw/ec4+TH0GWN/fxUUau4GceFJL3iDHttu/qxzX
TLT34bCXjdjze+s+qLuNY/ZaDLr2f2iN4Adehr7gJhb9366KpB+mUH8eat/Zq1aSHSpfGe/6qWqe
C72U3bKQfNBieu/6dmHeSSC2mUMd+p8b7rFE5ze/hOOuLHptAFeFx2RSN5kZSJH+bCmja4R7S/qz
ZQK7sWNXgUE4fdd68kOFELG1v235rQfwCS4MC9mS3CaW1uh8gsQp4ZScCiZeMl6yXuacpOSpCTfe
XSsVe3iZ6XqoxiLZLYulbN+WFEBQtfkcnovwUzcNEIAfpeeYEqQ0uHmbu8bgNo52kMsNyMVKbMA0
4Q7Bh2WiWURDJ1rmS0Hfmc+aFblRprmO/m3wAbEQHOQQFeMUmslDXe61xg3+R5go6n2JUqpf3k36
YxTfB0G6d+xx43e9jfbLzyLYw5yC4JuIz1DtqM1jfTCfJUO905r7MoASe1Z2eWEc/F8HwSqGpiBH
wSi+jquJvLZ9qOiDZkzWc8cIbHWu4UldqonxdIjjjxP43/f18Fjo92E8PVjKVjL59sYxNGA2MpUT
9v9NebYbclokTm89t9p+gObS9D/2KNB1H9P+r7T6YH0ZocvOx/g4L3NgX0FuTePG+Pxy2whH7eon
CImSzBx2PUaD9WyWniId1OQL2FOKp492+xDDEX77fL29+64XLBxszVbmXJJm65nnr+kNJZJNVjmB
JbGLrQf7W1AvW0uDiDyQLJPCrZCcDXk7h22mW89jyFBl+SWk9WY+KDNYbr1o76lOxAAvrF3qPybd
0+11rm7shW3hq6LtE8NOq1nPjnWMyqfC/xCgAr8RPF5PqLB3IDs0jgmkiUx2L1/74nYHwmDkTarF
H3RJxkOq1NejXWD5PTwIeRNXOydWaCS3lQamI2rh632sGmX8GpVBWbkxk9D+3Sg30UuFYM1XyXFQ
laHJkr+LsxE2h76Y0Cpy+D8Hu1xOmcvoozD379oklm2vnNPZRiwDLO+uDwbrB6PJUenB1ltkXjQq
9WfbGLI/9HCSXop5qQZwCmbrGGsZt7sxzJZ5gjBE6g66XlImVCIwgZ6U68sfRXDeG5I2fWnnBm0i
GD8gK9V8ZJLSGiCSGSbj10Hu/GGXR2bPmKamZF4ea0zrFG1l5V5iZsUfsTV2vMiMQnrKoPOCI4wG
qeFN6AjaT2NN7v4DinINJxhGKhggwKfvdTY0uTtmvpG/m4l1X7umSyGRZ2zjnChpWnll7Wc7mMcG
6AU7Ox2hyGql8yxrAeJRVNiancm3SXaDMQ/fTTNsMq/JepovnaoWzlGaDT14yZySiCN3RlEdokKH
X3PKil77PDV6ep58EGobtX7h5IH+oTvIxf6P8KTwerBGfcrDAn1LLaVdGknmcxflvWt3G3e3cIP+
bWfhPrcRvgHkL9iBc8afZ8Riz0XmOw/x5Nielo3GrkqyCIaToT7WTmPfF2q1k5T6F1nF/s86Kge8
YZaOqHDmkylL/KCy4nN/dr7T7b19qoVY+frXkYjgiUy2thTMrs9bHKqJr2VzfE7TaV9b7X1ktN5A
cysrP6nNsTB/DUH4xp4QLZ0xsCtLwp6Fj+pSwuRf4W6OCQkX7hsrQs5TlI2SS4rCsLo5skPO49w4
7822PfVOeRcnG5Fx+WsXMetva7xEdKrn0BaLLfKFE2lCXiM+1/ose0UWjJ42KvPu9k6JNY2/zcCW
wosRWB+w0uutKosiaxn7jc+VURx0+U4COqh6tT0cZ2rSU5rumELfNfFWcUMI/G/sLv/8IiSXZahJ
msmWmdk7pz+2WXNwyqeu3Frg6me8WJ9wzIw0UdSiWsSAR3f6OGy8G9eCBYMH/3695SBcrEJyuDz7
5eupDXVK6UUOZPB/W5w6q1YAQC6qUcjhyMJxGkojrkZD4rA65XFQG9fMdNKcX8sn/96RCyviIXKM
kBmrgGlO5Yvpl16rEqZTeV9MPxrt8223Wz1Kjk2/huIJGNYlOF5+N7khzMIsfKYIbbiaAcGglkTy
Tq2D+IgmOeTxZbKlnLD2GSHAXAIu1Am8XK+NBrmv4GZRclb0Hy364NTOmaZ4vr2yVSNw/1G2Y+z5
zSyhz3Kz0s6T86gr73pDfhe0xrsRWoPbZtY+IFp9yNABnOYhKmxWn2X9pCZVcramQ1K/WPo5D3aQ
R+6SrZmv9QX9Z0mIekPPQIikIimN391Dlcdr8vZSVg0A5Vt0hcjwxasoGLSxK1sMVHK2t8ejPDF1
E2w491q4oR31rxHhCJkpFC1yVyTnkkmZZF8EJys/zltFwdWlcKVSfVweq7KwKxqA5TmRBza/3ssV
2WHuhdzmt7/X2lJI0pfBK15/oFmv3TiZCx+GaSM51+FeZ9TS9xye4er+thXx1fsaDi7NCEdUJsFq
LC1Kz3LNgDlFpsGrZ+VPZSroec6+6SN2nqU7KlThfvQ7Zsxai5F7XepcuUWNsZhKT7Om/MgbVdq3
tQnxRjQGu16be88Ye7TmJm3+dPtXr23AxY8WX6m1UpYgNfk2Q39WqqM27xVz415ey20WSLqBr/Ic
ftMA7uM46OuWJq750HWfKz16rza9y+MUucwfg1ZvbMTqksApOjxdqFGKEx+VHBRFpwzxOXPaeNe3
hvyg1RDPOHVsHG9/vbW7cpGZ+8eUsOV1rcdjHHfxudlb+y3+u/V1AIsDQWPD6CVc+HM6dEq9fLeU
WXn6AV5Yzp4zbITf1cNBi+YfK8J1X2tTMKc6VhqVXmpSnowp9ZzuBXKWj7c/1up6cAMmL7hUuMeu
j2EDWL+coNU4t9GLYT3PwfOQ/s5iAG8tvRkGFERYipl21ZS2pIBM/06D7loz483O82b6vPYUWVQF
/7EjhC3daRJJncnFsk7bGyUzhhJTa9LkNbDsIMTmOQrUmOHGB1xNPUGJg2m2wIm8GTCaaNEgNUjy
NBmlF6bvqSkfoewa+wH9i8gL/f+pgeXZDZOvt7du1c95l4BfBDRAAfd668pCjUdtIBFI49ir/J9O
sTU9seocFxaWf36R31DF0uuw4XE3+p+H8URx2B26L7dXsRqIlgYuw5iGqYl8kmFkmoMZ84Sz86Mc
eT6DvsreaQ4xAmpbqKG1dOO1Wfx/toQv1gx9AtACW0kJXriAb1B/DyTL0uuDamwBh1a3Zylrgsek
4yHWo0Jzjhg8IYWyA1mGuTR/Kop0o5onKnm+Xm/86WWKjmyNVsb1DlnjMidYx8mZPqFjNy61vCY6
HUb7RVL3bfFF/wjRnZx+Zb48Rvqv0VwYtsZxVw6Jm6j54fZern3fhRUU6NkyDCM+mDupnacxzZJz
L+f7PHtWgXVM8OXZGegpZyOBWHNORuhRg1qm2ykWXS+98CnxRjK5Y3pfyJlbOY8ZKiW3F7QWUpaD
vShpw90rvl4nxSn9EQ2Pc9dKpzjOoIdJ92Utu0mv1CwLwv6sdQtD2poUX3MeQBygOIC8MlUjJHqt
mbRKJVO+kYf8Y86eDWNyf3ttq5t1YUIIl0mnm50Es+iZ4p5p6R8V4zHW6kNedd5oaRubtWVMOHnZ
Ml4rGcZSjjokA4qNMO3U0SHQx3Ov2xvG1kLK5ccTwpbUjQqq2xhLyum9kc47M9LddMj2lv+uSfN9
qm6mmavOqDEHQSq1sEQJOUe2TJmqZZOcs4Y6h5tT3eu8Bh5XBN9DFSykmdeQjNtZDt1ppzAFHisN
6q9ToX7Xs9aq3CisgKCShnb/y2qrecqmJIr3xjBFh6X0isRRPfwInBpIiNX48qdwtCLfNbvEf+pS
xfY53BQdH6UkHTdSxfW1ObxqaBtBpyikPIo9JkmH8ht4P+pDihu0d7CzbJy0VSPMWoHo5F9MSV6f
Zj+g9ztRzjtLfuKq85EZRlfWX267/OqpogH0KhJO7BS9UEpzXhwJj8ABraEIetZ9MQLGv21l+R5i
yYt4z9eymYtBbfB6KbE9d7WNttKZgYluYEgFEN1pE8azuhZwxZYF+FbmAri2Eo5N3lgW4Q+2Qsfr
Pt1ew+p2LLM2tGjgBRVhIbENf31j89cN53MSv7PC2m3DL7dtrK7gwoYQwGUdHeo84sXcIOB57xe5
5FaR3exuWxH5tv6+InnLLmAnmvxiaXBuJR8Q4/Jmng9T6v5hP05uHwBcvaNGnyYfjDs5iz25Oxqf
b1tei3nA0mgz8uCBtU7YoXGCycBMTS6oKJv2TdDBM2HlaLP3c/EgDfJZNfItCfq1fbu0ufzzi4xN
6eQ8blod38uHA2IHj1CB7Jt63Pio60tD6M2gLE6nQQwJUdPUw2Al51DXdugo76pY36ly/uR0spvV
G70MEanwuoUg1QyuQ5z9DRQKHfteL4MeX0dStn8XIkR0qnPYTE6deWz/uHM+3d65ta9IJZlO8TJ1
hpDy9Ve0xpxed0vRoCqeUlOlJAo1RVzsb1tZ+4iohIKNA1ZOviRYKSMtN7JeYq+Macfs9dTAPec8
9HJ2Lov8N+LrMjEGkTDIA5ol10uiI8dTctbQuo/h+quOLXLj3dYAwuqKLowIWYtkmj7VFpV0qRi9
uAf4GR1mbfR8395p3fPtz7e6STrwMADay8EWfLCY8rivQnywl2u3GJ6Xll6/hU7YMrKs+OI8xYWT
DHKOkYT2XTz7R+bXAYtFG+dpy4zwCne0lDamxLFtO3cMj4n0uCXluWVBuJT6bJ6aoF5KSgCKyh5G
eyR9I2sDTriENPHqQ6Lpnz0RC1dTYIyBVvG5bKPxeij16vk3emRLgkXRii4C0ed6Q4zBNwrfWg5N
bLqW8z2Ok10Ocdpv+JaJwsEylbiwrV5bUfKqdTSJdRjyz7x+DKIOmoLfOpIXRoQtKaO08+3UTs5R
AyuJATod1vGtdshaMsLYyj8r0YVuQVJGQxUukdpWTtVL6j8o6X4LerFqw4LraCHSX2Skrr9WDAzB
bjKf5Df8qnU/c+04hOdK39j5LStCBFMmOwqZPSUoK4/5jkl10umnvt+IKutWmI1bmNeXSdvrtdQ9
L1g1jtNzY+R3anhKWgcB1aNTvNz2sGVz35wUJLb/sSP4cWBHSFeUzNyBcXBUx5PLhifK5NpI6UXa
97SXvc2Ea2ttQo5ddHS62ySjFv4tdj537yx4SGA/ub0wEeL2ellT0CcpAOa2AGuvvyAQHK5LvsU5
n59mW70bNciBm/u09bSW94rsNvqPcv5UzUDPNH1/2/pamGNwmXsbhPZCeXdtXJ9zXunOCBwBYWTo
Y+tHK/py28RqwW+ZGVYpuUD6IU5RmomsNE5M16/U/dBT5fSoR9M7q4dDJv2gTe87eEZzMJ1G84vT
UMunVWktUQ9Y/gcJ7fXqkHbRmJIh+M3FnxJ41co10lMre7S3f95e5IqrIHmpUJfDFGNXgnvOEF9M
41gxEgrymtKf3lWHNLnLtypy63ZYiY0UrW6JCrDVLJVxpdTp2dalz6PevPSDdZ9PwangObrhmSu+
wZr+s7X8lou7PJCLCtHbNj1b7cmI9qwq7Ddi1EoCdGVC2CC1SoypsFhOX3EBZhHse6oWP9Vp8gyd
zp2DWM3tfVq5cAGwQ3euL31HsCrXa8o0rWoKHV+Uw68zkFl7q625EqeuDAgrSu200caWvHGWSBj3
lTodg+zefgqK8GDWzfFX+bb/9vGF6gH9G/oFIllxWbeGkiJndR4C84ekGk/Ihm+k96tOt6gOMHAH
nZaYpYzObEnjxJrazsv/KtuHwLkLyo2UbnVngOnB/IQgF/ih650ZG9lHUIMAnzPw0tvGIRx/Pdni
ivrPwvILLvx5lgPHr6KUsxOaLr0bJjh+58RcWFhO1IUFavNaNs1YMNXnCvhOWv9FM/U3jNAVgnBG
pwWFG18bMWJLKYKU+yKzHsrvnXPvb9wJaztxaUBYhTmUk57kGNAKlwnWIdk4g2tHhL4WUzp0nmR4
DK8XINdyr9MmZgFyX7q6ETBI6dylquVa0Lnqw7MyyR8NNby7ffTXvPjSrHAyx6lNh7zM03PoP8rN
D0mn/s1YZrDVZlq773g3/rc+4U4dKUHFpsr64tSOzn6uSl7bDukOJq+n1HifTsr7KXK+5YNu0kz3
t+jLlz8vZEpX5oU0OVD6TldLzNf++zn9xNAGMhQddEGTUXiNv1FrWP+qNBSo2NC2eeXgunD5qG/C
tNSwhghOCMhWRec9PeXGFm3nqh1VWyy86ksLXs9LWQl1h90DYzF3J6M45ekJKZDbPrK49ptvBxkX
EJ7XQo2wdZKlx3Uwc41jwh+eWclmq3rLhLA9aWg1MI9hQtc77p/E+grC+72db42drn+wf5ciklQm
lsOEtM3VmuQL9AU9lbk6OL8VjBjyI+PhHUs5WjjLJSDCqu7Tc2t/tgN7RzgaymojYKwGpKUiCG6W
EexX+Z4LH1Mmqfallk+mSVK+yyqaIVJs/CL/1etFyu1GFmxxQinVXS9lanO1UEqsNIq5Y/Ohu68U
eLX7napsuNnagriK6OHAq7uosV+bAmydW1mrpGenLNC/sVLZo/49bXy2NU9bqC2wgwbKG1iSNKtG
D5SbOBSBwtb8PxcWhtSRt7rea57G64VjSa8DALdwc5d9axdGquHR4H2OyeDamhdZG+/M1cVQGn7t
Rixp9vUnS5WibgNV5WSShvRfICOzm41QtpaMwl33jwmRO2HSUjNsVXYlQ0y3ju+m/tEMjopsITm0
Vctc8wBtQV4wT8d8iSwuR4uSajb67NxUwYGH11J2vh3KVi1QJ2XvVXBhtvCsTFWJN3NILqJJiStB
L5j/BriOedD/LAhP/6zsR0N7fR43L02SnfLup5x+Dqx04+JevVAvDQmPqzCwIjgSWApgRz84MXGq
PRufqTNP/UGH22z4jQzr0p7g0HGnOUO9pHHLp1twHDU0BRsvn7VDAycl8wZQonFChe2xk27qEpPH
leprR6k23aRBZKT95hdbhDqrlqDlAO3P+WSI8vrkVFlRW51CiNbkL0X15FBViDR6YNmWUMzaEdWB
VvC60sCSiZC10Gl92FPG1/diE2n3OEOyea2tufWlEeHgEAWSMm4JaoFpUDU4QWjwG7sPx7Ky9FV5
8VjLMi9um1jv/L7rsTBkDbNBAESMH7Kx8RZZ/VYXRoR7UwsUyVQzvpUeZTun+7kcUJhGdrdjwJYV
IeUd9D5ImggrZc6UYNrbljfaFXpp0JpsXDbLdxczJ6joiJ4OU4kUXa6/WjXpOQycxOf+D/Nn+jGf
E/dOQp+j/rrVbFoL01BvQ1EC/Ik3qbA/qYwkQz7H2dmpoVie83r4qwng0wlDWXqe8vylN7stGunV
M4RPo8kDbp0hqOvVKcGAdnmaZFylPq3P0auTxtXyfmcOP25v2Zolw6RSr4AyJZ8StiySQqkq8jQ7
K8a5KfNdGT5DDuxK9cZw3JprAO1aaAOQ1kAT/XpF41CXvRPk2bnb+5X3vd5ieNn6+8IXK/NesuuM
dcjWQ1ecgV0H/dPtT7XmcpdLEM4Qc1pjXiJLu9RyxuEheSmGBzC6Xqf9oDXA9OTptr210ANRAIBJ
1InQjxfuO4WWUA6rY8aZnSDo0d3uN7B9ZINLqRRkDJmIcCmoTd2MAcJ856TymfKr9rn5R/RnDW2x
VXhZsiVUt3qxAvxZIDgg/Yl4106QzWSeZVZgz2+emix8LmgRBDKTrbEpuWP6Pch/DtFB8eeNrVvz
8kvDwqese19VsgbDTVgz8YcMdtQf/Ow53QIGr7khfIRLcXthfBXpfdrIMPLJwc2l7mgVJ787/k7L
c6E8/NeE4OmZXM5jwzzV+fVjRd7Unfrg523X21qG4Opw9sTBCPH3GemVId6n0aM1Hv//TAiBx0xD
36mhx12+FHMSfCm92DhA66tY0DFUyhdOrWt304wYwq66zc6qFswHnmHI5WnWT2NSgv3txayFBt6J
lAu4KWh9CllCHOSlkvdYsscWTohK6XnIGSCKnXqUkVUJ2sfON6u7uWqVb3OvbjX2V1f6n30RDlSm
KKYYSK2fTfkb++Unn39vv2zIBDm+BA3x7LaBlC59TI6QXXp2gdry7OlbowGr5/TCiHBOJXvgCrbs
7BwFwzEIxt3QP0e2+lQOv5EPgc36dzVCip/6jmxOmUEkgjCUCTQqL1azkXKvJQ7wvIL/hk6EZFi0
kUBUVBl+dtZCGV7rx8au3VyW3P1G1rVWgOOOWNqhMs/iNyWxHImWRtJe1yKpLuqf4Uf7Ux8+bt5I
ayu6tCRc4kZrNrnd69yAqD6E+We/+qmn/aFtfLfst15hy16LGZ61SAMaAM/heRVO7wDiG5UmjCU/
CwjqGLV40HZPdudNvpt+MzdVPtfO0KU9YXF9FvWREuMS2tydrd4cEeAqPDs3XbMN9xPjAyCKx+Pg
/IDX7BAO6qntjD8cdfSqxNyIXKsfmgrHwgCJXK6oeyX7PWxtKDOdO/k0hNqha3zPyh9a46M/6Pe3
Y9eKLR4Gy7zSQnH/BnSJIMVkM7kanaXSMd9Xk2y6WoDmgzQwkGU1WYHmWpFuBExRDGOpfmkLJH5J
A6CVEbl9jMxqI9QrojPDLZ7/BTIRuMJHx63U91NZ7R0telLix1TqIR/8Ng5UlJWvStHt2/Cnlm9R
7ayEHX7MUuiVLWjCRfCVOThSZ/RldFad9pAfjAbqD8iXqmLjqbduZ6kmcUVwhQv5T24YoZyrXcS8
RlwdmLppXF2Pxj3zWMMdY27VRmRYXFY4Qoimycu/SfCZVrq+ACVIWBf5Jj5yx6T6nPj5rhuNXxQm
+HsrL6wIQRtl0cjSYqxoTD7n9SGMDrmZbnjpyumk3kdlEfQSU49iEwdqsybU6yE6w+h+tNSnrJTu
/eh39ufCyHJULp7iZZbzvLd7mijMhsaffO0HfJDaxrWw6gTLR+O1TzlGrC4n0DOWisVKelU7JfL+
xzxBaZVsFBdfXwdv9v7CjBA+o8mY1Nkfo3OQhF6inBLzfaRLx9KYvKHVP0Jo56rBs5J/nuR7pzE9
pxl3ftXsdPVdy2O63jvj2YpfYByx7Ltau+Msn6WkuS8GqGWV98Y96Nl9V0p7v3m0tzK3tZgEkJQR
Pg2giC1OP/bqUBWhokVnyNhq6aG6T/7sf5S/gSLj1P9rRSxZZshF962OFVJQcjsvgWqta/WNSsXq
WqhTgO5kFEYWy7xjptBlXqzkmufT4JlnL3jyW9iDPv16IOe6AEVNjRj4xeJ4F96rjJbUtR0tQAM4
9VNqB3/VbaTuZj+TjkYwUcEuuUZu21w7lpc2hRMzh9KQNh2L48rwzOxlVE5Rt3FXrB0YpukZoaJu
aTDqc70uox3hikmj+EzzB/qvx8b6XljH4HB7JfpasGReiRuAOhyFUmEpSpyWapBhptrrx/4s3cG1
kO/8e+iCPNjW4YBzLVdxCy91s0N4SPZ/fv5ae9rpc7837oKn2mtUd7i3jpDduLWX3Ce7L7mbe/Ex
ve9/bPxWViye7cufKpRY+6kL/cgK43OUkws130PteNvAGkhMu7QgPGiksW9S1edjaGZypB93MEf4
NOVPqVrtR7jJ7PhUGws5tWXBybc14C5S2L5eKRfmX6fGL1zZH5Ig1zsWqMLvDB1aN7vNN+CXKE+8
71/8P9qX8R2y8uEzJb/bK1/3AgiJgY6tsEGiV9TLcVrA8VKh8pumebkLLcXYODYi4eLfCwSdb3OV
MYjiCHem6ecVF3YNuZh0MOJv/hDtLTO+Kzs3gdsoctFbcWkI5tOuHdMP+nBHD9JE+osJzwCCp2mz
6bEWpagq/PuDhEPmZMhsBgETzRbq9jVzD0hUjarl6T61p3HjMl9f/kJdwUmDdtYUQpURhpkM8TPu
1Uxe6Se7WQ3dxP8jhKa8e9Qe8++jWrhaf1D7+DA+Kh/k6RAoTwUVG9QWb+/46sovfotw7qsYNbUC
/qgzCuTW/L9BgvupuCtMt0y2utdrsy5MPRpAdqjqLmngdShLEX9wjIEpe19+zmGSbMPWTZRHqTr5
k3Xwg8j1253loD29HxdaP1Qmhn6jEruael/+CNH3yohugMJIOS/44aEnanlz8xi4UeEGn9qfzrhT
vsXuxMDDp+bT1uzf2oVxaVzwsxD8i55pDP9PQbYbzW+0rLxNDaslOr2Jj1TPF+pcPrKYLDpRPVXj
zArr+5TEV1VPTX4asu+ydu77F6Adv3FDMYcC1hT+ZNg/lqByEa6Mucwd5DI5PO2piuhMgvqMCuo+
W8iEtQoqIowaqkYUbXkWaNeWgrj0JSB48TlPei8PP1SK5S3dPB+qN6dniIMozSPxw+0jsjbgAxU9
ZDMLUzuFTcFvMy2JrSxk3HUsnUM1p96cHvz6r6F2lXMSO4/O/Blmu1O8kSqLnIF/h0kyGYDP5Gl0
Q66Xq8hhqaWDGp8d9X+xOtJILPaGEblD8ZCHwa4OdbBck9siR5vOs2tGzR1vrI1KxFr+gRf9+yOE
YDX6eRQ3BgQCsvUVxJ03QFPAyOd9/Itsp6+rxYWAqYEUVdjj69VqY2bY6GkmrHZnt4f5pU3doPei
/9mcxY33wdo9R0uBURBwcY4p9n2U0cwkBAR46kTGD4TlBpSxYmsjtC4/WDyHFrPmDNlRxGAO7XpB
TTLMGXcKbmPskdcMq732UoTnDkrBrWbwWhS/NCXEFQBw9GlLTA1e8UU5px9LUKPubxyDSyPC6dOL
cE6SASOWuvvWDUgcu70Xz64KBzBwtOfb5la/HhpXMtRLKurRgjUrLuzYDrDmW/L9pC/tZxdV1FGB
oQPG32bDzdcis+UAEqFpz1EXX0MWxPYLRoigOWiRl1f+o5OmP/3a37r817YKbRO0jOmqEp8Fr0DJ
OHASGb6RVqvvDAWBk+xhbo9okSvhA6IEQZW7kflOdb6gL1QPh1Q275reC+dPgbKFWVo7BjacpICN
+S/Eaq49dCwGuYb9Cs4zrUzubauN91HQKBuHbe0+4pCBoIXJmakLIYLkxaxN5ajH57n3j2Eq7fMI
uH7Y7BCYd9v81FT9c2yVGxf92oYy7KPC+EBewX9crw0qHIY/aIKcw972YHuwkJndvGrXPuClEeHq
U5RCVwYw9Oe5fi7nL3o4bxw6dc1dLi0IW+TPFGyMgo8XOu8Ls9v5DOobWXGSIZXIrdnNguVZnXXS
Kczex8mjRMaaGG5cJYt2+sCIm+7yyt8PaQSM03oXD/sgnQ+6dmwUN1fqu1Y9WNHWvPzWrxa2PJlq
ieHpZcuT81Sg+W4juPEtSj0orTe+0Po+I9AOnyhQdnXxvovsA5IIIykcLkmYAMArRa5ESTFVDrej
0epGA5ana0IWwEDDtRU0ItQ+8bES1jZA88iDf/u2hdV1XFgQNlpqlHkcWz5ZoQBUHUzPhoQ734In
rVuxwMBRh11UIa/X0QV6mnUNp8IarV1P62epYY3T8fZa1mI3AgH/WhHWkkV+FUI+ANfR/Kj6xs4Z
ftD06+uUZBTy3uDXNLpfMwcU4lH7AhFDFV/wtmKYRj1z4AqJ8nfU87Ixeexg2QSpF/yOswGronyt
MlFoCAuLaj/JG3/8m4pyImNwhs+qssXsuvxeMXFg2OBfK8J6WOqMFN6Ms3XlPu3QS0Q8RgpOc7P1
3l8LzUuJEX0J5pTB/F67g2UmdWv5bFRqRoSTwqsMz0j/YFSj1JO90u+pkN52jdXIcGFxcZ2L4xrl
ViCFEQepKfqdr6qHyakC1+6Du6INv9b+Vqtl1RUNkGWLmAbTT+KOFUlWJTMrTPLaYXq5Nu5Gs7nP
c3QbqjSIdgP+hMBUvPVYWf7wm028MCxsYggT5hjl3PPmMmLePar6Dwatfscf0bjVgdAtPIWq8DUB
zfmzD1uu72hHEKEJVZTG3MjEVrcM5jB6uEQ/UxyBCXxIo6OWmEED1O20+H786vQQeevF0Um6jaRZ
1KBYDjMiHLRrFkKMZb75ekl67vdNKxEH7TJyQ2W+g6/S4aXV0xFH7LXwwkf5lLn7Lk2Plrm3qg+3
HXTl8C3q5ej40hBDb1p47IWBJilGmibUpii/w4j/RxVCs10MlucHxUaSsmqMYisTWBStZVu4vKyu
HtNEgvJlkKccXbO094o201Cbj5I9CekWcdOqPRt48kL6QbdcPA2JbQzG0EKBMGoMuPbKKZsaT0bj
Wo3C/93+kCsHAKQ1MgJo+HBvihXlrLLVUubw0S5neiBIR8pKDMfv9NKPN5xmy5QQVJqpiEMJ6pyz
4lMBiDpXGWO3Rpzj9orWCrN4JrFkodSFeVY400MQlRPtBWZrzQ+oVHjFLvmU3Muu/744l15/ME6S
V9xL97fNrpy/K6tCkCYtiKVMXjIpL/Qs94d1THa3LSxnSohVKEfRNFlo7ugwChakFLWXzmJOsx56
6GdkFJXC4c/bNlauGq40poN1h3eWI76GQ7RlrNJgclKvwhEZXutBDpL9XCDooeyLKPtzUROTft42
uuYYIEN0KB+YmKfvfB1MpiGNi0KzyUOZy0rqbyl1fGlrf1auGJpbTKBRpWFgQgTjZmZtxS0PqHMb
NF7iqAc5+GCcQsuTpc+b7LdrzgDil2AB8xFiEsLzMZs6E3kFjBX5l8wxDtE3LfbdIc48AH2/8fGY
AgIxv/CwvmF5K8tahl6EdcWF5ga+JB8BYWVeWU9bit6rq7owJTzWpBlZBL3kAEeAAuT22zB8mOz3
NXWSqty6mNecncETgi1VLZoXQoDv+rJLs4FlOcGHHh3frNA3buW1OiVX18L2aVP+YSD+2u3iZAit
QeMOYYrYDZyKnHcCTzN5CSo2UTMfo+wvg+K3I//GTOzCtchTXrcZ7hUdXpPMZAhihodLBOb/7CuP
J/1tr1i7QlCmIaDjfMh9LEfuIoGjdx/GVNTgxZrST2k3Is9VnKLY2UdbbfC1w3tpSYi2fRhNHWpU
MLu1NXIwkYkGsj+qnm2k8kYA3DIlBEDEu+KxKOAhqcKfZfazr7/Z+gaoaf27Ecg5uhTnTeHg1mbm
pIXFamQ99gop8wDI5kVwiLqN62J9LYDGlhcxE7+if1dlOtclaxnGfV/cLRohG4Xp9aX8Z0FYiq2V
QaPjaWd78r6DGfIffme6BUTSfyaExNafO2SFF/okX/0zLN26f5m3Lr2t7yTEHKhU8hAuQ7gDynv9
YCB5d3f7pKwFNQjqFpJyhIzftA3McgqdKYLtA1WJuitRdHpM/PvBfv7rtp21gHZpR9iOWktQHc6x
0yMkAL+qFGfHX7cAKTYFFofqKGHt+szbvuEU1ghzVq3swMNM2pfbf/8VpCkmIJcGhATOKQdJ9ZOF
VgHdc63Zq/ui8GjQBXfW/HGIfs75fUz7PZv3Q1965VeUyMwZYb5vU+a48SkO7ssd/MLSFgHImo9A
PM3YKPkeYDJh4dMktXVj87ssG0Za6ccYPG+Ccde2j24WDTRIRrhrhTA3VNpo9ZbD3YfkbsnYgW5s
nNe1hjOZ138mhGX4gZo5hYToU5vFd4H6OMWDZ447kPrv/Rj0uebLrgLocaw+tbXtVh+TYocM2bFQ
kp0WfjCih7rcwrWsZU0LpgW3AgXAY+vapyat7JO+4zcFVvGomh/D6S8lrh7UXHtXa/o9gi1bMPVl
lW+cDHjL8u5ZZs2ED53Ks9pD6AhfRPGkKNWhtP7qlop09mBmn2879Br+DCm1ZQ4Q3B7eI2QA/4+0
69qRHEe2XyRA3rzKptJVunL9IlRXdcl7r6+/R7V3dzKZ2iT6XsxgBpgeZIhkMIIMnjingDhUXvBg
z1J38jrbsit1J5iNLW26FW9Kx9hILfkc7pqn6TdoCk1RhyiYyQDW0xiimdqKw+p0aeRFT/vno8j3
94FJIase46M8HptIjFY4dhudJq5CVnXisTYbkFCK7W4YRUMNw2NWDwe1UV+B9LUfz88SFOB6fshX
ELyMNF4tIoUwT+mKWcX7dO3Z3Ku3Au/kNnJalyaVPC8uufhYdTRkoqsdbMlEkBS9uOCHOWe16GYN
ep0fXrsCtOGU6sGSV1+bIfJWCk/nmQBTPHRnvjTC3EISjleITw3F0tKrtIjHDVBLo26Hc9Icu64P
YpXYCZGCN8y2FM+aVH1pfrMRE6nRp/CiQio1tjLAGrxKMblKpuS2pcCIqz0uIrjRccgKt8brlkn5
Ehy/21hwvEkxyiawh5yGSl/asYBmA8oAICRKlMRs+sIoSGUETB9ChS5HJQM0JlRINbRIFJ34GdQM
5alq0SDea0Hc/aOESgQlVKaaZpAxp4GrulJop0Z1zGhlhMW5uzJCzB3H9z6ImkWgBvFW04GGsNR+
8Splhy3tdbQa/mckhHdMQQcAtiyFW1unLP0PNQO5la5/moijbVErcTH/9GglZqrHG8GJCiDURLPZ
sn/qY3aYNtybYEeuaOC2eAAbgsMNz024VmnQE2FekEffQmQ2ja1w2dHwLVpg+pvgKzCkN8kGagov
4YnlrYUtZyOxZXa/DZrN4ABTFB/ETfo+WPmT95k+NfvYjvXhWQPYwHwc5BZPNdcTNQeLqx3aBRPr
BT68CeHNAiss4oHlg9XOGkMjRdF7Xbxrja7CoY3RDd2B2fdfjRVCTnalUC4FNMcm8pHCj3w4zY6d
okSVvIRm5AaUpqKlCPvPaJFnb0fLsEUTQIUKbm22O9mudpTpfOzReIO7/f1QSnJWYrDUrGX5xuOl
ejw96Be4/e1M9PpcmlcKp8rP3JwM1qT1sz7e9VDsvjWhMbGHAx4+X5Y3bLru5RWnHh6PgjZD859f
+RsjT22fzHBkpltjj+o1R1ONoM3TXVTxArzgzPOU6J0AXlCoJ3zFYO9BfePxWJYevkG4/u8Ahlh1
OxgOac/vVJgyvXzPG98A2r5HZrznrYu/6Z/DUv8Djkbejg/8ZsRt2onfuudkRevapc0pEWAi1hPF
GJCQ7aTu8gGntIB2OJ/99r+HMBwebgc6caxflS3SgQi8taDHJvfSOHjBfILksvKUOY/nleaGRCDo
oaYmVAkSd7a1h9eW8p6x+HpztWpk8UGAwGjlz4NpvsY9Ywzn2ElQiRp13ijOuNyFq6rY9/lupB0V
Fmvz15aJ8MAHVT5yJQaW64Wp4R/bqNP9Ff9eu6XbO9oerWw9BOMofjrP14PV+4GSX+05sQvQGurB
TSdwI6t6Htq1pHdmNn4L6jloKc5Cs0YEkVIZGAaEz+G2MtG1+datYtc3OCOw/l9OQqIdhoARh5Cf
AwljlkFhx0JilTIlXyyOBeoh6AHCQx/aKG79PlFarUDhDWNB6g7WQJMJVjAY6eu4odGmLbvllS3C
OaogC2Q/wryxDJAoA69rE68Pg+J0GuAy1QiRlDcu14MkPYatAiB04siq5Khy2ulNTAOAL8aUq68h
so068EEzqkgFSthFxjQoJ7EQqGjr+VfuPPPKCuErijj2Hjt7prdLzMlWVqwtbNUtjhuh3dm0hvbF
zHBljcg96igMMqrFyP6hnqLnw1V6s1D+L4faKyNE+sn7mNMGdt7jGWeN5fOYMhTPpy0NkXVaUWrK
VIMFLfuV9pucpSEulq9tV2MgEgq6kAKpb2GBEV6iVrS8yB2j1k5jC1iSsF9zQWfmkHxQUTF8vKtp
G45INHkiR2w9O0T6Ha5Tp7C4DfMsovLjPrbzX3bbD8ZxhteSMbEKh2rQ/BZoVD4G/2/WSjJvhG3c
hkYxpBlnqmw+SrjQxWOvQ/y5P0acCkHhclImSM3kQrFqeS4LHS9LZXTDNiHSoZYJNCq1ecD3O+Sf
7yR2SNDhlRdVCkQgzxYHnMerQrd8/jD0lBlZPBqDx2RWLEG7EPnkJHMTLwtzP1EVewY6bCDubXt9
aXbMH8rUL276K0tEoGO7UFD90Qdau06MSEbbjAZh+ctwatDJ+CxCoEJGRIPYlsCdH5teHCNEtiUR
V3WQpRJ+LdVawmRCCslGPtXDSOD0TtUs2RPWWGfaeX1x5a6MEa4sTGzetQO6VoJw+jX2vuAq2TA/
rwWsUXZolRqhb2arY0UrCC/uIejlQtsWz9jowL9NWlA/raQgBUy48X5rqI6G/dPIb/3ervynCGgi
gFIeT+viSK8Mzh90db5IJI7xgg4Gx7p3wHYMvNJ+ABtOwOEVSZLMYFo/NjjH0LtNoaLNAmAf9FmR
6ziVUP4AtAeb9zsSsvXI1S8yh36gx1YW0wV0VQURHMczKd/tsPIQwnrqUEdbW4Gm3uBA8yoSdZ/G
Y7j4Eguwxrxg6LSHyPetnR54wVHJMZoMjAYTOhf5zzx0RibRueqAxlQ9LwGlpWFSf1jeyEmE9Az8
A42veIIjhhe2Qd5BMGXu4Bu240peB06/83/1J6XX22N6lF1k4d88o0+bYpUdRztH+bc9l61ePaP0
7tBuU4sh+fqDiHlo+kiN/fmDRkOxNSu2FCN3qk1kx8+iHT8J79Fxoqa6OX4+mgUimQbJKPSeB6Ms
xh8dfntmZTHOZHDbz/RAu9gsedT1CIn4o4DpRqmYnynP7D9oLtMz67HP/ggEPhoPsfmnWpTCsIcJ
PDbtNag077Xa2KLSuuEP1alcFUa7QhCyubX37rvVunXZ18efsOzPV45FhoMUyrFyi09IXMkUnXjd
6JXu4dZLuwIshfOr6SQvcl7Fe2mswRBofKrmWBRr8GBDMOzl8YCWos21GSJfAVg4Qe0M4Q2FclYX
DBrcVKC4BXkW6fypUuUM4xCeylVrDXiE8YziXVzryj7fi65vTevBEc6S0dujGTpJpotW9juyp/1o
Dvtg27/i32tej38Hq8yQKCeDpR4vgAz/EynINpdoigLUMPF9Y/ZSAfi3E40i0MMEkktGuM9MVvnt
aRsZ15THE794Dr02TISoofblFDxaCFFGb7B6ZCgbUVfN1OV1lbJxlnLYtSki+ExZV6ZpMfuSJbnV
AWUBa654UgZEcyUi2vhiI0BrCVZ2w9chdge91jurg0/9gcyGqz2llFoHbVREwOm4ZizDAPYaU7Y0
uzXncdFUIWjbkAg5IluoodbByMTpzH5ax7DxeN5+AK0PohoJVpLA+4NhoBsZ7ZuoShegSzfyNW/J
pvRSPLFu2xndLtsPLznCd/v1AQmYx1+wOEY0dc7PsoAtCYR7aFPIRsqEHK1VR/TEasOvWnhWWkq5
YTEQgD4F7YVoiwWTyu1JYESjk++lDYDnkl5mrQF5tkgzJ9+gKkovJ1s0CKCFHicOQCpvTeVgksxS
AV0CwlkB+71q9+h8UcOXgePsTuUNPMHqLXovlFYEzxCa53ZS+pGCgeTxvC4+sqJhD92baKCDVOt8
Wbg6O0ZsKg+RhyFzjdEXX75sl4XVQVXiLWR/VaBSkqdB16LUSqXtJKxpuMglGgUR1N6zRAN63VDl
ubWP4J6o0jCj0wvRaONPcRx0EVyRWb/qv9PI7iFF2rvcsB60L8rQF1cb3GNz4yCwpiTjM6sGklgE
QJHzaqcjrg75ewjKBPQiMeIqb1m7SR08Qs/N/Tg2Go14ZJtSn8ZCn9VRaFpac1a+22JAHEAXDAzR
oNi4nYgMCmpSkcy9aHGm6knFnNtcO4cN9PQ0tFRaURIFeg/0Nyi24nfKVMwp9JFxIsXGTVFVTIGO
CwiRmUHFXUThvfO36D5xp0jc1y0Y01Lfyr+D/4OKgAisL15wgTeXQLJ5O2xUOfy8adGXA+mXRt2F
6rYvngYaW+PS5M4NLOrMhYsdR3h5loeV3MgaskvVbfwwW/NFi5GVlzLgcVtqPqaKewNB3OfjeV3y
sGuzRPHAqyf0F00wyzsNGhP8IrUYL9M9pdw1Y0vZyku5DaB9eLIGulqg6W9ncpQFpmgmzGRcfENM
MEe/LVU5aimfgfcIVKvznuXJq20tJkHAoOAFz/CNXHjHqU/MMzOOrLEFO1DOUcL+YsUehOx4a0f9
F50CRJhk+TL/V2tOIeFltP7wS5D/l7WeVUdt1SaMXQR4ZULXNKvhBSFclTwKt81kqYX6UQQs5fFs
cYrRSQPiFageAClyO8UtwyYiE2A9BbHSGe45FtCRq9D67xaPXWDzkVAIAjEi7te3ZvoxKvhYZbAn
wOsiuG0T62ysoC+yM7vIAumKWBhhZuDt57G7Lg4PfCszmy5w6j9v1Ve5wJsmKQ2aCCp4nTrrLUiD
bPYexU0XRwfGCQmSQvAjIO5vR8dzDZ8IRQt0ehjmGzVjBSMW6sDSPDZym4lvbNQ/hc1Y4D/l6rvQ
l/KmRbWdUotaIvkA+gpI2xm6B5w8cRZsqi7SGFQct9148GOzCnsdqom6IK0UxconS2KEHYSiyqk2
/Sx458WVJ+4YFCHyWcu68Vd/P/nXn0N4OrSxpQoNN4CaKtGqBenLNDxnDM23lgIheDDRwg62BvTM
E4EeUsJZ35fIMmmtWIr2axyqTa6gOVgGiWPt7xW+1MucxqJMOBZQ5ihyzC1M2MkaKKqIOIh+7zrg
0yg8cb58AFbH8uMPRhkoCX3efVdJbLaCahF+f6ZfnZkTbx0LXKWlFvtadIJM+yvjNXt0SNFqUsQ5
9F82VPR+gbgfTABkn7oncJ0vDkx0wiXC6IJN2q9V0MFU3eWxNyzaAfePhtoyZElI+U5G8JoMMMT4
1ESJOfiBrYYb0StdJaSgmRYn7coQsRuHwc84D9LoJ7b57WXPU/X8eCCU3yfVOwGmlOVpzOOTpsS/
NXC7ajLtwZM8w/5rUf4Zg0gsPAj7ciAs0/gEpMGuAg8C/uI2UHfDpdUdoCxmlCLu5Y8HRpZZ7qwS
ZwqvlBJGYDAy+ddgj3+8g+gCObj1Xqf3x5YWdg984D++QJI0+zLTyci88WlQa5tNVLRVhq09aCyt
848IDv87IgDpZjZe9AUQ84jqKBCXXRWfosRAC0UEaiW9SnVxmzn0wt/yqP4xRkxfF0gZChswVqhP
6Ue/Z3y9LiGGY2Y6tOaNYZehwmm2fxdl74ZIRCI/FEe+Z8r41IrFdpxQjwNGEYxaNAoP4qD0Y4eT
NRzGwJoxA4lvY5FXFnJQeIp6TDz+MOEe5xUScrm8Hptjk76H1H7wpX3Gg8ICbZQ4KyGt3RoMIxDd
QVlTOwr9mVPXI5Q1H3vhooH5fiJqICa5Iz/h2a6WwQapHWttK6pPk0+74i9NGQ4feFNAcAXrABGJ
WrAYJpXiece84Q2Pe5pJ6MM6tQFWAvZOLFnKZZ88APysEa7ePKCx/+pbuJ0yroCaOF8GzBHC2Omo
y4lotuFL1b8U3eimgGqUZtuetRxvRC9sqOdiqnuaLZWFEeWUKHm/GQDrx8MQmAmQw8BOefsped7F
eVkMzBF93IZQDVYK3T0tonAgkIVEjBgSpWjdxGsHGrVxF7o1kzClUnpZ5J82v8dT9CbJ68mRgHJ0
w0/RM+qC+qZwH1FkKLdhQLjRYlRk5RL4gkwMpCQ8yQ1K4Igl5eRkh+Q7CDnbz+yQVgpbCMpg38bR
ZkZwQ7GSPAMoDDsMuMOGp1yQjDpIHVF71T6lwJQ4o+WS9aQEuwkNdo/3xpJZkJoBMo46BlpIybaB
SBFyEK904anGddCUVbwipVqnWJ5Q9acoLTNX0XrUUYo+cOOw5J41XPLtxx9x70O4k6kiuu1w/5vF
I24Xl+lSSI/VU3gqwlE1oP2N7dPkjFtIHo01mbjXwo8guTEfs3hgcrQ7pnulG/uOY6PspJz9WreH
dXSqt49Hc+85tyaI0Qit5CVZN5vgdJWxmlZXUJTL1OM0JZvEX6E53/p7iwid4JpE8WUm5Lqdv84P
UzVkk+xUgVvM1ydNz4Str5l5a3SiqMu0B8ClEV7bI+KdIGWcEEuwJ6Kizk56UFi8ZE3xegZMJhf+
9Hh4ZMXxZ9Gu7JGkBV5STGEcwh7DGWrzIVe61G4CtPU3xSrNjQ6og9BtyhzxRzSCYwP8MU3Qj6wj
z98ARXIeOQoHdHS8zD58dcNM64TtYsXLTnLZ6NK2Gvcd8+H5O669pPmmLT7r4reW6ur3wB2bXLWy
nDPqMNGFIdzEea4nfrqeKpaycxYywfxZWHrERzTjkW0SLUg3QvS14bNSk/G3srpN37kPwQgUnf3t
n+tUrxxp17u1zUNFmBI8FvwAxtG/ANYglG5INbCoSQBJlKP8xLUaShdmi+DvDAWODGg1TXYKZWPd
3ywwVlxd5rs3sCY/1/OrJchaPA5WApOdAjG7xCdexTEoffaL2KH420KQmLv4QfCDqx+GNh8orgzV
ddWMEZ/kp775EMVe17xNb2Jfpdb7NwA73yEwZ+qlllDlyAE32ZSUm80PW8DNfRDt1WBDhs4iVhWF
BuIDxlZgQ7lmxVNpFdt8n7jiUT7y68j116o7HbVfwam/SA5wPWZlaC5NcYQsdKjIBDf2CWeXVMiP
pyh8njJwonT1OSxDkBWaoDbHvw5Q0AO66Ukb0abY0QSDf+6hj8Y+e8HV5FeFnw2I4OKJNzIX4Exg
uZpNtmpWaHvYDKvQ8V3ZRp8fWMr5o3CI7dzmV7yTODQR6fvUOM8C6pHg3QK7G0t2cfUlCwpsH7Mg
czux+BD5NS5NusC6EuMI+amR7B4UbxTf4zE8cvho3UeT+8xhhU6Z2+GXclEMZVhKJ0nnv8FvCo3S
nb+FINDB0/MnGv7mfqVx0MA5EgccnHJEaEjemmNHVa5bnpFPb8mT/0vMjDbS5adih6vaFJks5Rh3
t7GAEcM5EaStAKzMTU+31mK8Fcd+EmsnXrPazk3A/i4ao84IEm0aFy2BnmBWLMXoyB1Ud2VdtXmi
nbpVt+les3O549899Mmoq/gpcmor2GZ/xJpilmaV2DfxmOC5yoPVMfj2jkz/DQUuvXGUoKLF/fmX
btxknsmr8RG7JG0rvx5qzGRRoYPg1WfAU17KenuqWKDADW184YNfeCWCu65adDFltPr23Z0HV20I
i/w87aN1jbxxewVeNYGK9U6tBNi7sIkN33f28vPj7bAwzBsr8265CgZc4hVpP/XeKdXt178ugxBD
IC6eapszLAsY8andA6+pPF36g9fqhY4yvPN4GPfXl9mUglAugakL6ZoYR5mA4JbpBe/EHlnU3z81
Ozt776wLx49Cw3vVDjRVNPL9AaSsuEeA2Be8S+DdA5fK7dR5I+uLrcT5Z2blb8LOHDYaiL/XqX1u
V+zvaqfu81fJlEzKSOctTDimDH+AYBY4aVjUp2/NSijRToEYBOdUtHFbqQ1ISgjgzxegOlHaNJnd
BS8E4TTq/giYs9YuseHKStXKPguDM9R0HCXVe3RjPHmpzlI6E+6OHlg5HLNw7wRoEIGLOPHKeZyF
E5iscGlAO91X3p3RO6+PDQ2ze+8o4EFWYUKZXzFmFqvb6atyKIn5dZCc8eimOvKfitWD1+CVQTbY
hnbwR/oa/g7oAQzwrUViwQbe84Fy9pMz95kVevcKxZIaj6l6R3ujuQuOhCHCIcV+KH3Wx9BCXx90
6aRA4F1YPXa/u3hB2CAPTnynJBxSzLk7aBYOoo9/nbo6hLuBwFItIwE/H1zyfW1EprKP5VX7Zqam
xOAkqAOKQDE5f/HNfiJGRAT6DuwFfj3BZG/97p8T3gBw5Wipzdozvo6Q+31s7u5ET1ib1/Aq3mps
NynVPMAS7pfo3gHYfZz2pp12EGntDku2NEQKcHLxeFwhwasc32olV/NYq1wH+I5BieVzbA11NXeG
0TAK99MIuAqMgCUC2F+NFOYJBiGeej/uzyoTRE9t1Nd4jFVoRDv3Lo7QgKcVPEPCFoApt9MXsA1T
9kEmnuPU7CRLwqVw0+SHSTw+XqZ7N4cdXPeQTXBquxNcFaUxSSKmFc/gd+EaPLUyRqi+P7ZxfzQE
1P3aCOHsaTqJZdkP4vkt/oA7hKfATl6zF/mz+4hfH9u6v/D82AJfNFpHsEJkHM8A8QHX3iSeG3uI
f4m/sk7HxVoTPlPvEMeuVAx6Em96yNCg5s0dZ+rT6qWuXA19Fq1ebxMasebiSoJx998fRGy7Xpq4
aEw48Vy+pKOVQ54oEkHfAvYzwaWMfXaK2x2OeQaCCK/Kc8mRLG0KxdTWLPQEz5veeNPQ1PdLtCZI
0QRmaAzGe335+Pge9XOr03qo7pLnPOlXhucNerXZ/VLO4iYQoBf1HMsAR0Yfvkvj1ydRUkgv10bA
9XxrhBWzSVEmHkZ2xblwf3tu7GgAY2kO2Ljtx1N5XygijBHZEy8AKM/i1HvuqhWLwtCTchJ83dGb
NXp6df/Q7WXPZGjzuLxT/jORd9s+ySdtYiNMZPwiXHhDRCM8d1R2zA4FVevxEO8OIsQIiSSqFWXC
RYgKZ7M8ut0LQymx3J8aid8nEqjCDW3cePB7/piWRsSbwWFMzRZcRbpi1diVqYmWl89ptETq1Xde
HWIjIBlooKBE+wlqWYQ/FgLT4003kM7VFlQYG2/bWN4T/MSpNzQK56Ulu7ZFPltEWp6WsuSJZ9YZ
tpGpfx4ko7Ly7XB4vF4kOdHs/zeGCJes0cIjMqGCUH2uLrbQ6M2GfRcP2aY2W1MFfrd6Blqk0JlD
7f/9ceXWNpGOunIQIMiiiecqsPyNdzjok8P8kpzpWzD8QKcaXAgoN2MlnBOs2H4cV5hUSZ9s1upW
mlOh45syo/ep/HZUhIumRT6m5cCI596I3OxQ7vxSR+8FJlQwuudg3b7WlFPlQjK4GReRCQHtrTJw
fktn1cn17WBR9vTdgMD2gCshZKlEVEc4EjEhxs0AOK0IkiiwGnDFK1ijKFN2l2JmCwoHxNKMVMXf
t0E41JJ0viEq5+KN/VbsKMJmZmp9tBMcxa3YDGgn5TtPgLQ9xE5wL0OdAtqb859fpZYqzKU0FDj/
AhYk7oLedehOYXND1UaJbLUC0kECD/ip0wJaML4LkLNlnPWADEahWCFbrwIh9LspHfyLkrsqbrol
jq59+0WZ0Ltb7o8VlIZBO4ZrLnmc9Dw/gB4JxieVgS2EVoW+46YG8MAR68mVldhMHK7xncdml2YV
rV54kUQtAVyLxDIKANY0UEL3LwAMGZO8w6uZUUC8Lg8cLvoUkkl/bO/O72e+ebR4of6JcAxpottV
bAQhqISRDy7jmrX8te9yVk8pdd8XWWcb8P6ZGw4U5uTbX8oMoRZ2YnAJXHE9bIeN7NZb0QYsk7KJ
71MbYYmYPU8oRyUWpeBS2QxIuUDBvS531So2CgstRsfQ5dYQvqNhA+4PQIRZYhJjqO+2/QSz/To4
hCvRyA7c8T3al65qUzHpC355M5tEbMyCdmKYXA4u8f7iQ23uDB1vO9qVq5w2m/Ns3SRrYlhETCx5
1vdiD8NiVqqj2KDZ+8KFZ81Z7CrYMZSD3aIjXjnJvOmvwkmfqkKQZBhWuH/iXrOP3KaNZz5b3A8H
XIjYWcDhkcDVTNASKWaF4MIavSWv/dWwAvXXE+ogj7fU/XkA84aXMsBr5pvvnb+j6J/LsVyFl9ya
bN6YzMQEbd5GNmN3MgQDm9kMbbRRrl4ohu9dY1b+wQMamkPw4E9etwHJlxUPQPkf9weFM15Skm/F
ETc0uvKFLX1riVgtceAqP+lgqTE7d9I9u7BeBave5JS8eY+eQz/N9ZBmt7lyi6DPQ2+ahyTg2rT/
1R0+bdWUdqMdnPx3PIzR0ihtComsVozRBKA67I2IVIyhWC36olBRpVIMLBoCxxQg1DI6ekiwepik
YgkS/+iCsiae101urz5xFloyz+LpsVuQdGcq4EoAhf5jijh05+GkJIDcRJfSqraJXRqJ+auzUz1d
QaZw1Rf6eOCf1KfSlX54u8bT8PmFDhKa1iztO+R5Sq7WMkqR1csG39GvE5fDzmi26hHvX6wxWpnt
W74Tur3dvsVu8hLtNUcwGvSiKi7VqWbvvI0ENxNCMhkHaqnihIkPKczGrPWpNphT8/r5Dsr9XeWE
tmd5VvTXgK65MwwqajMKmIcKBbFl4pTPOwlaeJfOBrpB2AbGtJk8QzXZp3LbfKyN6FjsyleORppx
H1hv7RI7KE2yuZgFu/6HuOY2PIf3ZJbiYveh9dYGsWuGIgiBs/rZNegI13/LpndObVqKmPMNuWxo
wwEXvgRQNk6zt/7D8GEz1hAYumTSto4Oo/TljbTgTVLe/WyWayNEei08rqjaEUZYR1x7Drvuf97k
azsEwKJ1PKd2qhW3nizFke3czO1+RSsX3V8WoDM20y3PtJgSLxKeMmqNL4BGPrnI4NMdhE6PY+Nx
SJjXg5zJawuETyRtFJURXyWXDo18Y7FP1czoRouJodl6Epr87zMiBKDBVD97PqjdyRejiFciaDaJ
8aUWjkNrNAygdpbfnxgBnGGcJQGC4KWsm7e8U4H8EGxbkA82c3RTFls5ABVWbj+egCVXwg0CIsH4
LjzWEa5U8WmLrchjir2iNVFfncwUkilW3FUfjy3dlyGw72dCEVzMIA6LfXLrtf2kqrncF+ml/a73
3CY1tr5bfnLP0Y47UEwtOQ7Qr+idwNMgyMf5W1NFHDVFE5bpZUqmkTfG3C/+iH0bMkaLxqg/StPk
CuSQm2mLDqr6beSHUTYS3+t3MtfkaJtmtAgXnZpJPmtJbkuH8n3zUEm3u/4+YipCORp9v2zSS5xv
hmzcamDOCCa0sLOhySdfOXKCKGWQri1N4TkYAMToj48/YXGGZJA2AyIM4llSJFFiQ6ZPpyS9FKq0
1kBxy9Qg1PxrG+BLngX7oGiEyyOR5oo0bX3UgdOLyhYArUa8b2h5p1E8eOlkBD4eZYYQIWhJEhEl
0JeBhpYpzS6V2ZmTyeE4q7qyKQKirq3x4L2SKciO+6cxhF7IH0KqCY/OENUg7gMZl4oMWI2yCwhf
ZyJQ9MAfrI/CWSkH2gFzYZ1gSkGfGQBSSJjzn18dFSSlK4vGy4EBMw60+uryzF39ODEOzRuUbKyK
7OLVbf+kMRX/Jo1RdWSKtjWCeWV1ju1kFRTLSgGfLGoOQs4AxgrGIKMm4DRqyiVGXSQzFjzQ6oCy
tvdvJRKu5EAIC3g3Q4gikYiNp4x+oSrdhS0MFfiSAP1fIJc6lv6fBl3HgENpp75zIz48o+NPL1tI
itcXvw2MESpTnikwliYA51BuKxpN2o/73m5ifBuqWHgtBxYR7Xi3S8NObJnITNVfmHJV+pxdeL9b
FiE6OvkBWsGn1ZjVViyVeqrYIRO6XgfcFpQa01JnoFXyNmhvDbMFbCVPbFmygnSVBN8tNIHVJxVs
Yvi/22oHKp2wA8h8KnQw6sljo+eFxaCixeJRr3hjRJAU7sqiNlnvM2NzK9iHf9LOqeLfcvSm9XoN
OPzjXX2fMiWQRP/gxSEFypOxFUG0iTpO6i8p0Ah6JneyxbYJa4tR+F2LJUiyefWraxka1/JPtifm
G8VQAY0HKAehrkfkai4E4VnDqgADDq+eNLgDa+e+m2enMT+x4UFQwJD9og0vIYPzcqAXGmcVT8Jv
2eWZdbplz5FiRqpqRHvQSxW+IXFPQQ0kpytuRNWWZJPbjSEItoejMlqFFR54zYYakF5U+rDLZacL
jVJ41v7wmvl4Qu/htjgOABOOPQ7GBJSfiENjJtW94lVMf2HjAABfMAeJT6Byr2VDEZ1g2rVlAUVo
UzlKhryR/LOs7Mpq0JXIUfdpoAcxDesqzCGTnOrrLyJce6jEIR4Dr790YaZzdl/acXmINaP2G6PQ
UmeUIXtu4lUk38quHHx0L16gV8xBYo20eWM6E/qDnrqCM+7GwJoUk093GThJGJMDcNlbxUkJzzHG
ZuObTUDL/ndvK4DXQ6MZch1Q2gZui8g7cR8Xw8QP8UXSTW+0xgE3V+s86tKBRpR8d3oiLBEPHjGv
hGKR9fEl8hjJHaA5blTToJo9B16vx15yd7OYTQFXhfYTFG6wB26jTempXVJOE1TKdFMZ7c4ATAZs
l7Q78l2+mc1IiGcC0qkMMvpbM7XaRgkQ2DCjAVGPE1Jr8GpDy2o/NeMbB4MZhA4s06xIBfq3WzOc
xhepwtf5pa4GZpX5Yg5WWTb0Yocr5Vwy8lFBL0/SiJUzJW1bGYmYhKrRx2Nc6V3JAvvETKFaGBn0
oUYj80bIxHmQagL2qwjryInatvP3IcMEgT6gZYfTBcHjz2UhaHBNyA51RiqPdaIXLdRjDDaIe0TZ
ytNQkArk/iPRmMiz2ykLBGPKmO5XmIO03mCrUaERVd6nYUyGAFQq6lTAr6Gr+3YyWLHK+lTjkstg
N265F8zaCewQT3TR/kNcJYPeUnzp/gBDWCRWWe7abup8nPobu9juQmGd9kboIsBNUK1gTO9ExRff
nXjnVIlu35mKDmwcJFqkHau4EACIwj1j39h9bQNdDCG31q47q8lexE39FaCVAefgx9vmvkAHw2hl
RjeDiLQBgrrbyeUK1Ru5ME0vtaXo4noXGLLbWOOFEsTn5EM49I0ZYkYTJRjTBmpkl9ZIn9/P3zRA
GXUcRParNVAo+AUMeI6yafTtXrAi3fh7SCMxXUQuYpVuKop6HodV6hHCjKrvAwAyDMqyLPnD9bIQ
GUYKJ6/WUiwLQDA2hmTbvi66qu4byjrS/5YiC6Lo8ALcdfDwB9wJhOFvvaCrWLUKhdmc2VuNy/+p
Tb17qXT59evxwO5OR4Qhwt2CYYrGvgjTyxs4aDa+HlmpTXG1+1eW2QYubQjSKKzDq28HgzMSHnfG
HDbsJ0ybu4235yO1Lru4QldW+FsrkVqW6CmDFZQdON3mVujvBLTk+bkwvimX0aVJA3Zgpo4GzQ/e
JG5NDZwaJ1zoZxcm0N/yAQzwka+vVo9XZiGBorqHFhcWD6Yaju23RvJKE0pRaHGT0r1fwlPmdv9D
2nXtNo4E2x+6BJgpvnaTFBWdZI/HL4Q9tplz5tffQ+NiLbW5atydl10sZlbF6q7UFU4RsVnTmgO6
uaio53Tmcz17sbUIfQUhA53nySPmgfinJiHbhxVvDHzp0M7pMCKdJ8qgmCHoeHcyral+g4KKzRG1
H3EgJO2cBiPN2O/ZtoXeZKedpxHMdb0PPKzHn1khhgRj14TaQEqgrXFcyUZei1SwhReFPvBKr/Np
sPb5nJP5NM9uRZwaRQslcBJt9K1T7echxY1R3asZeQgeecnTJW9wTo0RaEnqJHOswRSmEV7jkNBP
zsXMB3+FHXb/U4JkoV7peLk3G9WKtpxfX4oPzu+dnQYqMqykxG7A7KRvsUBcs3VyrKj7PlKFlL+u
qyVPANiUqFHpflcFZXYaKQJOMm81Ka10L2FWhpsXnCP/a8fG6CYQx7su76r5XhAIOHJEYid0BIsj
bRzVZJM2Ua8PQjVB2BpreMDC93VFQ4u3k+ZnA+Cl5rC5kTwZxn6McXDlZ+Somw9zt8FQpmbHD6Mr
72Q8rZ6uXxWPLSbG6SNB84sRBK3w/iPdb10eSxy1YQGLcy8RPUUEgWeVSq76J6G8igKPAmMG+qIU
2kmEYq4Ou8kZCB7bPN3n+BnWmQWqPyWxhsvvgc5Rrit7iyc64XjMxRjg28Jggu7Sno0A1ZKNupsl
eaTdHjDZ772zdVdU2Lxfv3WOMfgB2FP5k5pWCpTGCmhk3u3tR1EkPVF/1QHJKG/KheM/f74UlNqX
RGE2bY6lYQ0HLV5TK9kWlHeESwHO+REyxsCXfcnziy9jMO/5WNHKmSzNrXbAVm8oTSjnHOew7N+N
D6Z4Lq/Mr1dqXimz+sTkRdlFlm7tH+MbnhJd99kY670k03hl1Dcjzg9pQ3VTY6e5y2HkuhVV2X0+
2CQ9yGEF2cNDtXlY3QY7atMVb/CeKwizLp+57Kyom14A/MdJ/CSkdiZKgfpIeK7uukUwVMYidJki
ZaOOMKqnKHOuKDqAbwIaUpV0rxnep8ZnuxfWmc170C3TnXsVkanCEABjTGO/GnxkJ2C97co61AQ7
0znmetkQfVNgzi/Vwl4U8yQ7SQ/5vUCbrYJCLQ9Fn8cGc3xSqfWVCAwIRNUvSMU7rnJ7Xdp4BJhQ
StSHEFkTEEgnkpCMrP5Ej9cp/Iug/XNQbDuG2WJcZhxB4tCvLJ1OR1vJ7C0deT3K81n8NADfdGYD
cSbQAP9HXJXFGXIE4lNkrW4eE5ujm5w715lHzrxVScUCx1maTSJgwm2wt8WBQ+RfQrZvRhjLGRWd
NlZGBBPjrNYp+p8FEq9rKzomLk895w++dmaM0Uz6KlXSBk/DaL8D5rSzUkhHf0+HjLq8rNiy4fzm
ijGcUtl0faSFqOptn0OiP3BY+dn18xWvff8+o/GZWYdS1eJupHprEEm2JI1IR+GI2g1JnYrYCbqf
7u/jj5AaA5ERXXEMwrKgK0gezxh86ORlLIKsdVoRtHMxEUu8ho1EDBfNRkAPozxfN0vAj2s7o8SY
BUx7tkmhoSYrf5Q+rZDSCYhp7YZDQV1OsL2UPp3Lsf9wxVgII82SNOzA1YixF4BA71+pnbjbzycF
UYrMkf3Fh9c3MRayALmxHulgEAs2wQMtneumaNHYnf06YyFWpZl7MBDZ6ellCsh9+ufh+u8vmgek
QmfIhTn5zlxLia5gIEAg/LUGy0rd8TFKCSKr60TmH/lx92dEmPsoirIqpAFxzmoNR7p+xMzH31FQ
mOC3EjCCFPgIsYPniWCBCmbYRZcTHi5e9DcX7JZhQJ/+X9R7v77jSOziLZ/9NGOk5TFEH2eNA5Kf
+rWGhQSqy7lnHgXl0tMUTWHGGG6FKUNvXWM/ePd/yQJjlj10uaFHBgSS2472ls19Qi/bqrNDYqwx
ENL6MTAgqgDauX/L6W1vifuKcvjgyCpb7krMClBTKqiMd89v5isizPe/UgbW5Aam0EitDALBaXLj
9T53qvV1Cotu6+ygGJ0exybNNZSQTsnGfxSxEY7jt5a9/RkBRp9XeSGUyfxOUtdPlaXsVsFsM7B3
lqPVHEZY02qo/RTFJdSiPGKz7imjvJf5wmWj3UjDiiI0PYnoKLzUirT08KBolBxhC17m2NPjkMzn
SdTScV1Qmdk8i/IKjJSb+AdKm7bivElkgwUWKNWMvPB+Qccv6Mx/fkZHystsEGdu8P7fzAc28mR3
4UI0NDehhR7AObrEdtHHqoJdi7qW4yXuyAnaWYeSc+VLOawLEsxhAaUfaCsCSHgvrd0/3RRO/VjY
oiU90fg9IBxtX3B/F9SYIzOLXJqaQs9Pz97BEUuqAkEDOwVo9XFdJXl0GJWs5FXfJPVMBz3m2Jl9
pN6R9/Di0WC0Ej5E0PQOJzdSfe3dIdNooXe+IuXpOi8LfvD8zNhMc9wYvRHPdICeTPKOm0xYyIpo
Erp858ZQtNOxO3PNppckYcJZhU+9XZMVtmcTBfEiX/2XElkXpJgj84Qe+G0ySGmYgjXwaHECbDWH
BAT2SMRfvITP4g19c/bl4c4UtI6UNo5mzjRiOgLtKPaTf3Lcy7K1OSPCRIyy6g9tO4BITKLNbrSn
I/Ikj5xYiEuFiVhGrTGNQASV0lbXh3hXUv9R+nwcf3EI8Y6MiVuGYorRJvF1ZO2r5OoPdvbyeV2e
f3ZbAQQGndciBjWBdo6FBZd2M++lvuoNdX4ie4f4WGzGbXr01ifPCg/hAa0Q+9/D07jPLfRB2Ndp
f/02Expf0GY8kI92ZREr/5DMCGjyXlmhVWONi1UF69T2VbcFynuJSf6q33YWWsGxR6ZTqGiPFJgh
w+88nbFCwh3GNNTPdGvY5VZxkpysKpIeVgd5G2Pv3kcZkyoi6VulYEMLiZ77feZbvue2fkqVQ5Ji
caQrvnqrNTbnqb9WMQ2GV3QdhtWpmdZdhg0mm0Ynnc+piy44X6BaaJitxNgCen6YmL3LMgCAVxJe
v5JV7CaNPIYWJ1LhkWB0oTPwtFXMfs6Jy9TR968PvMGLpaj0ggtGERRB1ke5EbNTXpHn0pap4pNM
wzne8WZ7l6zVBSlGF1psblzpFbip7WhTJPQZaIgVLRM6112MTcrxjQt2/oIcoxZmIAMzPwW5nfiB
Vijp93XRXzIhF7/PiL66UpNmQsfoabpBld9AR1dAM+I+5a58f53UQmB0QYmJKUp0Lii+BErjWqaH
er364/4dASaMUGOtihR9motIIn3TbysOAwtW8IIBJnwYpDrPsgiqgtTwRrWrhLy6n5zr5unK/A1n
zqnsQ7lvYwhyiJk7Z2ztUXF5+abrF4GuwUsa2JBb6bkBGu3nIV+rVvHkcTrxr58UwLkvKcTK1Kw8
ETfhPeakO/UmoblFOT6Wxwaj816pY7twCTZ2HRL1j/3/F5NsRs34xzD+mMBJpHpQShHVlJwcQhJZ
99jpyZvE4LHAKDdQ9DN/qEfkfUQUJRML+4o5U30Lb4ULLhj19oRM76VkNh/hFn3CjsxrO+cYEJ2t
Og1xWMueBwrCTtwe5qoJoLQG59G3eLOv13VDFxn9FpGjn2oDN1KWZEWoj06E0uXa91n6mVjg4sQY
LS9yQ1PiBnfyjLeVDC9v0HJvPG05IdV1u66zQDMYQcuVTAUzp01DeI8QzkmxIS6kWjWjBD8udpYz
kfQjPDQlN5nMOakvyTizVXmaqnUfwB72VHFe5rlKnYS3Ee+5yzEmXyX3MzKeagSal0PANOI44gN9
z22O0V2kgMVfgPtQsaLhx1tHXwEfoVOgJAa6qfKJaHekf+dEQUu91ZjL+KbCmPY6U6bQN2UoimsQ
q07cEtkHB0t0LQBm58RDcbtbi2gqzhFYxEd97TYYxW9/fdqv4s2Wl0ddND3fX8OKCGLxUBFE8ByT
/KW0fqO/mnOqi0J4RoFxArmc537pgULTEJMKt7se6nrd4y9atzMSjAvAMGSRyRlIPOHadFDJPXKd
Ao8JJtqLUBwS1AYynlSWE5LVPtBJQTmiwZG/r0rKmYQnbVDKfQ8iGgk6UuPlYd44GIvJT9eZ4dFh
nIHaruqwbHBcI32pJsfEUAS1tcfrRHgnxoR51bAKax23ctpVewe9iVb1VHHSUzzZZRxB2PVDnPcg
Ydw43S5yeZaNJ1Yzi2f3UetGbpY17gODxlhnDHDhh+tnxCPAmAIzm1DXhv0/TQ/P2n3rcPuqF03z
t2J8PbbPOFCjIYjTGaIe2PsbkzzHx4GgrJlsfec6J5yr+BoUPCPUDgoGegUQyv7k5AaaHr5zdPxr
O+4Ph3zGC6PktdC2eivhtku7sSRHpBrqStjfh0JziJnSrqLGnV2Rh3deMzxHktmFfpoatPMM5HyI
klVH5Ne2J9r79fPjqCSLEY4dSsVYlKARbXp79fRHWhvr6ePv7MtXBfzskoZVaxaZASI91XLAblkS
/V0d/5IIo/eKV44JYFeg9+UTDNgx3WDoivLac5aqyudelJ02hINtxm4WOGsw1xiH7eimOZXPsaO+
7VSXR+4n2sL8CjgTPsYURLXX9V0N4Xvu9pJuh/vDCVOIt/GA6eJhqzxROgwW+JRi+xPTo/8xs3H2
AYypiFo/0QAEMAvhwXf9rfqwIg+GtfovL7ZvMmzpVu2GPgtmZ/0srnfjV5MKJgnzt+vSvpynOSPD
xARTYGRF6eH2BrgG9MG9v3o0W3N0aql6cX5pX5HYmbyLMBajEeDM0Eva21hf5GEhJ5BMAcojHyJS
wHrwsGO4nDGBQuiFBobjcIBWk5E8Iq/Io4WOi+Unf3mE6qVzCvqoHNUQR4hXafoYrn+9ZtS45WXU
OLaPrcklouAZqaR9tfwOxN90tnj/l4wwBgPjlEOqDSBxSF3Hid6z2qHJ83Uii2xgkHHurMFWaHaE
F5vdy6HKV4gUAOr8Owd4nO6G/8XwndFgNLSIQ12QEtDA5iMsj6fSVn0ed7wk6qKj+Kbyw6OXmoaC
tT7HbtFv5Q59+HOzr8HhZfk1f0aGUVB9BfQJA/HbyRppcGsSLO4m0rY5utfv5auj5YdTP6PDOHVs
blj5TQ46cbHGKtUXj8yoY4TawNDcbI/1aRdtBGe1rYmBF1EBoF5MVHOe4Mup3LOPYHQ2B1aoXoQz
s3K+8++wQEh/gA/5FRBhnVo8X7JsIs7IMZo7BR4GXkcIyu4gY1rWkrq5SUZe89haDP7O6DBhfpjm
fZrXxvy0Q2WCPHeWv50+P6/fIEez2FWuVdoloS+CCMbQyqed3BO8jDCMcp3KbAOuiQkb6Q9m4AG8
GS05ABoiPVbR/KdY/+ywZj7PfMWYpcFYdrMg6kS1MNz8/nccMNYhlBuMN/X4/QGzIMeM29YwK8qV
E2IdN4bAxzHWcEJfZVrnzbfDDX2NbB4awtJkA2Ae/jGlbONV0MvIiglgZO5rkOnNRND1i3Vv3P5/
jmSx3rsbdC/3fHCUEgA/05YEd08thoSFm+C22FTiukNVGGM7xun6TXEsLDv7Lqz6bC5Dz69w80G4
6U7AC3D0wOKI9CJ7ABube/3QZM6eI+bPKthXE0anfWp28eYxtrhWfNECnNFgrOvYh7HQ96Cx09fZ
XtxK1kBGhb7+t3fmCvO7wKsEdBSLfgDYrDj0sYgcd/WUnAC4/OSTEJgpcE3XL2fxnXlGiLFpepe2
dSlGMyED+1wwHchrM14W8DMSTDyCTc6TlEzx3IYkITod7Zp+DBS+3AoIL8u8KGtntBi7NjTDiB1b
OLcupkeg+uEFEVomL2ZY9jhnZBjjZk6rqTAikHmerGl/q9+0+7uck+ZbPjds7cQUP6QZ6wouLWjd
TSMWQWRzq0Pn5K/9K+JSWltjTlRHtrgiN0cgPwzeNzljlv0zg11HWBcmiEWOx+zkjE9AKSS3E/We
JZvj4ZZP74wSEwuVZmZ2kQZKIjZi3wSWir1MKRjiCcOibJ/RYbQVK1dbQcHqyJOF1QsC/JzAqfEv
cmKgQwMLQeYRdbbI3/ZqF/dpBXEDmqRO57hjTjfzO9mX/PU5IebIMs8b9NRrZjWNjyE2ZnWV1ezf
BlJa8h9IRL0vTw39Lxd1TpU5QFFoPHUacYAKmZ5TvCsbgMx3yAnxCM0/xMreOSEmYBykThjGtM1P
BvKCyW+V1uQ+I5NdHYstJ0W4qFbntJhoMYlEP2tK3FnjIIIbbWnWKqe2ClgL3tKKJXN0TouxrtrY
Qgh1XFs3o+W6mOTILcD1W9dtuMSTjvnPz1TXqBUTi71BpkC9c0YdBq7pDTZVQOQ72tjYQubDDHJh
4XhkGWOLHlnJaMx6NlCTU20Acmipr6qN3uXGTo7Di/Sk8/fbLyn1+ZEypjdO0L4cA88QmjDlpH0a
bcMxHPO5fw2oj0KZsaKiZqe33FEjruAw9jjslGGlVWC3wiljgI0WO0DIADu2WHPBKGYh/HeF+LFZ
RUkTXU7UWXAceUZO3zvSXqepZpPxgSc9S0HN94kCbOlSevDMjoQGYzIQ0uRdtn3yp7fajbe740jp
/DvXeGKsSd8XfaMnoAMUorfUDpyPxs6OMpZIcGNqHkuMPTGnuPD7HKQmR0X5HwuGUNjO0PXIDW7m
X7rGFGNNNEGVxaDERRmriGh95yjKx6jemSg+ZqJVIa6uLL1z+2Zttq9l0f2/YauRR8XCVPULRw3g
xoxQJkYYVkE9zk2XBmpCCpypXeDFn9Hrt7esdv/Q+fKEZyYGEbcm+O0XnfqldyQ7W/+H/lHAZgIh
CwDqKww4MawIK1VoEmOY5RCzj/OdCQftlb/FcEkOsfPVQK1elDEWxlgQvzeF2gfWLdAKROpkkI5b
bf0YO+/XT2zRXpzTYfjRpHoMOgN0gKP/B6t2SbgZHXMtofjsW7xe/68LYAXxjBp7QUOoqqkngxqW
CpO3Yfdnetry0JK+qibXiDCmYvL6qgxms9RjRV1KlD94zln6SIBlZN3cT5aD1+utv1FVe/iM3K25
4W1rWSxTnLPJGJEkFOW0E/EFU7fV8t3j7s4/tkQkx36DsGvFkfolD3dOjbEj3tTGhjCBmgbUASQy
2ufm9bqULOnVOQXGfgzqOEBI4VT8V/TWdQE1NtcJ/Ny5DAtxToGJQQx5FButBg+VJc+gNpOVoQ/c
INomJc8H/y6kCemdW9W3hkfbet1m9JNnJZee5uefwMQnrWCYk6/NIRfwBmIkcmXyycN259FgghEj
TLHLZQ612qdNYTf2q2/x2FjMa57zwViOss6acaV9iYOB7acndBHbntWh2+RR3Jm31y+OxxBjPoJE
lPJ0Nh/KjTOTGeiIwsd1GvNvXNFnNvnd+LlXjw38JBJB8qtKUqxuw24FToTBkXG2li2PkxwOIaj0
EDuAO08BPX7+HSOMWcjUoV4JAg7LChHskphONEbHFK+vcNEeAC9ypQO6UNXYJ7kZFVKed2J+elGc
aRPfqu51NqTFo/omwD7CCwHLnMNyAh9ZYDv6VqcDQCAiIuekglc/ZhXlrkubTcwPITijyRj1SEn8
yCjhd4EIT3OiY1h7jm51q6OiQ8ubv+WRuSu5zIsqTnGIiN9VKmApovyYODHVTx19DWxhI84Drt2a
I4XLHhLg+rIMHVYUVti7vlAAtikh7bDurOh3TQOR5KdtNHDrH0vhJ6Bt/6HEnKigwhiNCihpMiS+
cTRyGHJrWrcyd5yIR4o5zN7Q80EK5NlDOZEVH/ZbQOjzq7Dzz/yUkW+OGEcION9wlSq4szp2kS7G
7meVqH8km/aTw5MPHi3GJSKgzYooAUuT0wFxPAoAKafQ+uYuxIgKL0e0WNM+vyvGPda9lqVA0sSo
DxCYFDvdmxUSAc16fpWgZXCXuyiX0WB9XdEXDe+ZhDAeEaisQy52oKqs1nX9VLS3q2atPYrJo9g6
qUiuU1usPiJdiX1fwFxGcpw50rgwREGMFbxSbjYO2u36w35A99h/qdiek2HOEivwCkAbqvPb3CSt
SqRd8aK/8fR41p6fsvjNDHN2cQPoeMkHM+jpK0nwPA+D7j1iPAHd8Pq5Ld/SNyUmpmix8neqTTx6
RDu1PxKyn5+QvBiTezlzIHD2tKrMovXL+XKsZH/ILCDsw9MrNk+tln3XNzNsPOEZqqAHIJPdWs5g
tXb9WG7Eh+G1JxGtrJaTvp6/+sotsfUzIcHKidyDFj9PGSmOBbo7My7G1JfN/kFFxQ5zoJ3Oa6Zn
83h2dpIA8NGghMTNUHqS8xxa9KkNaewqbuDIJ3Tmb7r7xPZ4QrgoGWd0GQuP9gdVLxLQrVDReCkf
b8vbu+uyt3h+ZxQYw16gizHSalDYeQcMH1LYdc4N8XhgbPqIpfcol4ECtq6krn8cPMDD3fS16/f/
ZXoXKfLve2IMkJZV/liKoIUBPku6F0m2vuNNG87W5VIWAOKtYkZcws4r48fEnar6TZKbanuyNjw3
O3/etZ++vO7rF/szxLv8TOZitakdA39SWiCq1E566B3KK7jyDoK52B4Q0L2v4iDe7m95fam832Yu
Uh+aVG8N/HZKuXvCFt5Xl0fD+g/fFFqAabcnxbqvLcD12Hsfzvfh/eHp+h0szAxcUmJ8SAFLKHTz
EcVkA9TinuxgMB50izj04T5b714s6Jtt2Rg9tDkdgV+F6GvCxHgVDxOVcdVBAA7OS/8YPq7slH4A
fPpgdTf3gYV17xvqhg82ba0H95haHvUdc/N+/QR498g4HWyNjcSuwkc498iNcvzmT1dzebqMq2m7
1SiOK/z4QD54Wr6QVjv/8R9TdqtW02rf19rTU2wLx3RdvCUEGO7RoyXwNqhdV3t23O5vDhz7Li89
lSx5U6XJ84Hfcq6S95WMupdC7XlhCVn+61+eKZ95125qFdObTRWwo3mNndcFUGdhG0dBTMN+xFdr
hBBOVnwhT3kpI4x6Z3HahOYsI0C/v69NW84f75L7xkFK2dq/71vgho67vfLUaNQ4BG/BQKJ9xIPi
l+cr/XdF/zFX10veaKxmHcMya6qQGFsXnf2c165J5pbO8+NI1q79+ZfiwGj2aBhZJ4g42IFQzk8r
PFFjFHso0PgZ6/htPMriksR3+Xpr3+xHck+tu5bs3Vf6/tDu6Nqasd22SmSVvDiW8wlMnvu6Tv5c
t7S6kJOv0PxMwMNAwjjHBH52Ly1BhTuynIO3qYhM7A9sAbhODXv2rgvEl2k7I9fL5mT0CcSyJBvL
JJvBEt5i8h6jZFq7AtlUDsYKU5KXRFWt+HhAg4y2EexN4Ow2I9Lbsk+Utxvt+NxktJV3pwGg/tiW
m9oHjYg+KW2/sN3JbdfP9fpmJdrKH/1Owna3tYoVvmtzr2CfHglWJMTyyWFbAtmCrA7SPVBBiB+g
LTXZtAlpbvVPCV2UG8Av4C9MVrgbsKkTq7/Wyf7XpxKhRL86Vpb0UGdWdNt5WOFxn+2Lxs6fDCen
DT5X+LN61aKvjogoI/1acbBbtKb53kNyKV1L2PdxuM1nvLSPg7hpnHXhfJhEw4TrBhUzKm5L+9CD
aBi7gxW1qGkjpaG9ifa0G25K0j3crOyAIpGNTWQ6DazCiVbkeVMSLJiGN8vpcIMeXkdoyMbR1pBU
M6V4jlLABivkdb92gQVxb6xD2zZsZKQP5p2/KzKUMe5W29QGtGfvFCidJ28aNuhNZLQGiZofxk7e
qA3RUlR8j7eBlQ9ko4dz35S+Q4LursF6zd6z3jVMZ6xI2dP9q/iWrre/yt2xtLSnG7mzO/KA9WmZ
lQLvSdkI1p23LR6Nk1YQIK4C0hhLg2wBofEagMMS6hr6seut0RXtTbt9zN/SmmrrwKKrFrgxoWMc
4fvshhoFkLww14YWDcgIlgnEE7J33sYu3IeeKMDEzT7fe0u+cd8f+1+aQkiwtfTtuFndY+Bii25Z
l1Qfek/WWx3CPwmkOVCSIfKgKkzXH6xoOhkKcSqsrog+DGpuoiNaXW6I/VCRxC6t2ALSV4cdx786
2mGP0za2PlsJMFBuRTZb5UCnu2PoiES6rx4DWMATAl/cR3c8bvA/Oz0pBhwaMlcdvsXyKU7f1d+P
GjqD6Ao/ipMQ6HNgZW/T2gE6e4b/lOxdShzsWvoloNj/7tn5Ww+I6wTNuSrprbCwzcQ+ur9o8qGu
b/LdsaXgFIASBkrC6xD7UU7F2ryVpF1CWit+/ICXGyH5e28P8Nji8I5BUaIW5F10ZVK7k+Fs18k2
J/fmu5+R4DO0xmfPeTRusbK6eGxRc93mGDm2oGgiGWzk612irLcbIbM8H1IZ2C3NDih4r6n2/hpT
oMcq9zPsz7a16poSNyE42j/IhAqbY9KQ8abeJXYVE+Ju7BIg8aaFmWnflm8FxDvxTUHckXo4m0/Y
KuCRkmb3+P6c3jylznAXHKJXKxucyRWhDG1y2Org/7pBW3KzGoCMVENVVAz5suZTDyJDEEKvQw+u
4kD1B/ISHueGjMRqUrK60Z0ZBt7c4Kq2Ifq+Oe6IS5+JqaSpVqpENTvAR0oplXbh6eSEwNNvHfQO
3eabApGzcmvCjGYHzgviizfGuV/wzkRdehpEYrYC7XIkLycTKAYh9QiylO71Q15o7sEEwtkhzw7x
zGmIom9gHFzoTs9WaB+AeqMcy2coi4Z1vga/xvUzu3ZJjnmD+asmmfQKd1oU5Ndv6SkiO8mBAvDY
Woj/wJaClSqKrOiAqLtkSy66QO48vz+ZBNX+THRgITFKn9+i1z0CHlZ5y0WQW6gAzLx902SOMi6j
NvVXoAlk9yyAG8Rul9D57Dm88UKUS9auXz/vt5hPHpRcjroCEYp1z/nKn+mfy9iHuejAr6UK69zm
ANwksa0dNQD39yTnkJF5dJhYHBBkuVAnoPPsAFCNkMONQF8OJ9+GqyMuli097WyRPDy5PHzFBQk7
ywfpX7W2M8Xx47qU0vn1gmIW7/XCi4TZAShjNRS9MD9fnnad4wTWKUIfSUZ+nRCAOPfEtTfaevsU
EAqo+PeRbn2L1y7z1QPOWKAL/phg3FPlpGwG8PdsWYf795sbtyS/EVo6u5ykNpooHQdyntNdt/Ms
rJoC/ptPrAnFUfq5vhuo/WBv1d0DXAO5Da37TzjrzfbD/TiK8FC/FHI4BAjB3JV9XaK/JkmvfDdb
hxPMrgZgA6JgybnxrMPmYPX41BdHc2s8GzCsljoK2WODYX7Dq+BztOnrPXAmEtEkYRn1nPZJqc0T
N/VnKe5Cob6eg2c/rvdBNpTzY8I6+eSwmU96Te23E1piAoIwLbNay3oP8RYckdOZozXNogitdIKn
Eye3+wXjf+2QL23Q/yiFngixjI/B3gVr83z/y79TN8/rg7Up6eq2Iba7puQB/8bkDNoKdNvGB9K1
+4Alm4DJcHnSylFGtgIlBMZK7+ZLB6IizxXPvLC8mkj/K1iWipGJH64kGP20SbE0Fw+WSkIY1D+v
XIyJCla9493ykjU7p8XYYy1AXxkg7TpYzdDu3D8eeZjv8rqKLAUXWFX9zRFjm0cvTONB14DwRA/x
/VtKk1dMM3AR4BcgAOANz+gwttlMVnVuaqBj4MHX2y/KW4WVIEC7zQBcLqAlH1tOif34WTnXGeSd
IpMCbesIFd7k6xRF238x4HsejJ7wmuJ4ZFaXMUYQmeMUFmDPSjyipMT7k0IoEmjgdXYWMz0Y1MEO
Udn82vJ3SUgLjDj3hhVitIOE4S34g8oV8OIM0BxU4RWRWr7Tu8Ym+ZgRFkqOsi9VFM6pM7ouFUox
huVMvb2/rzeZ/X6dvcWU6zkBRujHpK6kWgEBKXXS0coNW/bob38j1rb5NHoWro63uOhfaAIf0pAN
CbvOmbsTJy8WRhNKfTABT6RvIyTGG3uyafb4n7j7psT4UQHbWlslAneW9xRNVm3h8RpbrSviwgRO
ZnIxBTTP+v0fW6zzA4R4VnUh2CosjfTYOSkRbyNiUgkQ/gZQiQiHuSWndE7vsnL1P7E6TH4qgbnk
9+RqxzWVUYgNtv7DdTpLTzFYkm++2KeYF9SeGuI5hERK7qqW0jmCXezQSiHvUizoSg4e4gq867cR
auj6sTQIz6gshfcX38DoQYDtL3UwX+SIhFFsN+5qL9kP5dtfHyqjD14kCJhOxyWO2KGD+RGs0nEe
V8f/MMk/m+fvQ2XcQCTLpdmNXwzNKHYpgBZ6B9u11lyOZm366UK/KTGOINRX6pgM4GjeF2oCOqvD
eDqm547z9JyHWClCniLEQCWXMk9AGVeQiUJlmtKs5w6gK291S1j7oCjdXhfQZVfwzSBjTiI1yITA
x9MvxcxIvE6AufwacruJ5FnErp0jY0taZWVi5RJuTL3rkVHFzl8KAGEUGAsEtib1nBBQo+sO1nOb
HISNf1O7vH4+zlWyjReJUKeyp8K3jrR+bFtgxuh+YemB3Xmf/+8zBb6trsoyAi+A3DJXl/ZjUeUC
mO2c5xogYRUmDx54vnU5/3FGhbk5vTWnycc28NOTSQIaD2QAYqtPaktGk0xih47/ML5xqS5c5AVv
zEWqaaKoqQqx7JyvmBJvVclGLtLZcjdvLFzYGakfsz61J4d+OeteSkTMxmq2bD3wWnAVHhHGD0i6
Xvo+QB4xXGHust8Z8mSNq9rlnXk/3SWreYQZ/W60QKCSu5/VnezuYb0zsn1EjtSyMIJqAb3GEl2T
22S/FIVeHADrO/J0zLL5hnHW4oqW1EQvz5u3v/0odr8KdAAS3R2JsBk9VNGui/CSz9AkNIOaKoZn
sP6doZ1poh9HEezCSDEL6O33rwU3PPyacGeswgURxjGlfdSjHxRESjs9mkf1pn30t/qmXGt2eBdj
pnf2icfMdncDUuGfLRqyPrM7ASl0MmLQgpe8WHpeXHwP47/MWBvK2sD3VM5BtkWVrAe7OzZo0OKN
l3PPl3FhqWAUrV6DlOXNdZgYGMiPD+Zv3otpwbxfcMT4LxH9tokWgMzhzd/eriAyPdHt67KyqEJn
osKYO7ktxVIdQaO49faVrTp3eMNzQnkeH4yxi3Up8sUG2ddDdBvaf4R1hSfYf/G5F6fFGDeM8chR
JYKT0q7t3G5tNGHDvaf8hcpLYfw5KbahPfGlQYPj7U+YUSbGTtn5KLkdc6d5LA48vpaSHhfEGCNn
TuiFVgWcnnQjPYswJIeNgeqnZDkYNnxRt+PB3yaWDnti/W43NHvV3JwKdG8rKoFp8wgtN9vgoKAO
hSKY7TnHrdv9vi5FS+mvi49kLU7QyUUyn8hqwLDCr1BB8Quzzkbv5J0b6OtWIblihdUamPGRdBOO
ZNJoMNFKpElqexGKR2icHws7Cqxo2lbFXV2uxeKB85nzZ1yxWQZjsyKcpN40KDuI1Ntqv/zd8FX5
XNviDgDBbkQoDujtvQQgSug8cYgvq5puKBiyULG9hrnIQddHLQ9wkSPtX59Rq+xJg4J5ZoXb/pCs
UN+baDER+39Ju67lyHEl+0WMAAnaV5qyLLmW1JJeGG0kOtB7fv0eavberoK4hejZ6Zh+6YhKAkgk
0pw8GT+qt3i5Ovxrag9Hyy1dwZcskr5sA2bA6nBzTOXLuEyiSDSUMFkSjnHSI1EuowyO6u17tb8b
dzFamV5Re/uW2OoRXXCuqKlp3VL/Kf4QzlLntA6sqEdYRTsnfcfg0WyPS/pNsMpVq3MmhTPSYVrq
ch5iu4lT/5ac9BVZeREv7vpLcCaEM9EMlFCKmUAIPIlnHU06MaLB4ZHY99ePbCUbcl4v49msO1KR
Wi0hB5zDD8o3ighwd13CulE7Wwpnpec6M7N2UU88av3t+yvbFa7AtxZuF2ejqYbW3jqHjAmTM+Rd
eewPzW8n2YrmIKxetT9r+fyOs6x1GPWomX1qGLR73EsP+qZHjur6jq0bPc2gqo4EmYocLa7ZmZRY
JXHelemAtCm4RYJnK3XoEVgRuNXmhu2c1yUeU4DOUpEl0J7r7W+Biq87mWdfwOm4GrGwnWk0PL6M
uQ0qwfDQHy0gF5a2usQmx/xk3oCHEpOX860wmlg1pmfCOd2fLKpKYwrhY4cm7X1uB75n954nMNpr
sFbgnw1dUzH41LJUbpFxEnU00uoBd0wFUqGPcaYg03DGHLPYTvFOPVS2Nrvt9y6xm0dMETyWFcwW
SUAWqX9Pv+HvXSlCja1al7OP4haPUo8x66yH34SZTSx11McnEP4336+r2PqFMWWKBhdZpfLnLJoz
FcOsmTxmGCDyOB1mVJJenSdhoWHZvi+PgYlngBAd3Qb8qPMAQxHGKBiXleQv+ttRvWe3+n58GDM7
x6zet3sRkHYtn6ChJZ7iOJEHUg3uQAv0r2tSwIbH+CN9XubOLpnl2PE333/doIoT2sZJvp+Bu/kW
bcvEFmzp8sbz6wWpKOoQpqJrlHIe71SQYkxINsCUTuivqB9TD5yVPsHw1nH7TdSpLC9G4Jo4zqzG
hVzGZloNoJvBbIjqZjOCwj8A+sqRtpqIDu2z1vdFmoK5Cpph4Lrw3D1hXg9VbkJfanfcJI9t5oSG
o0Ma23mO//o6wxksXgk6on8LtnVNjZQzyZx30wZzUMR9M/xDiw9Elb9kNjAC97eyUewKGT7Bk7h2
A88Fci5nONGgkDosNQrsE/WZrTGbbFqRkV+zclBVixrGojU6py59Os+sBoE40GymTTEOsMqdRr3P
SswwJj9Gc6NLloNWO8cC11NxE7DXTNpNxo8kUuy+PBQy4I1539t6sZMjNPMTwQeu9PppgFj/+UBO
wRqliGm53CZcJWOTHkI7PL0HoMx4DR2yY5WY9nPNGTmXyL3iepL31Ayx8xTMd9WBNbDKDV1QiFLw
ouv7m/lkoSAUOT18fPBRCFlt1/xXBTaRWLpuabrBfUAUS9SYEnyABr5K/8FCU8Ho3EjCPO66pfoj
yFzyvGfm1xzqaW4XHXsGszuaol5SW/WsTf5NBnf5QYUmuDc/lGPpdLmdHKy79iTKca1V4XC8/10r
HzXQXulTUuETjgufeb8f3qtT+T0/ztts/wNdpBhvv/MSb5dsgxtRImnNjVJUXUd3pWwoXwhxZxYo
jJUTQupqyZoB6yfEs6w0h0N9z2RwZ6maDBi8AjJO7V2eOksu5QDHZfuEvKQNCI3kilIe6zfmj0i+
XBXIVTlMwzygEK0dM0RhC1jWuwNhe3SSXHlf/RQW/lYfnTORnHUMgrScggSPrLuMNWvuMbEbnGNo
NYbWiMlgVqVpFENSNV21VJPbUzKzHlNKVDzp+01MnNwF/ZF+O/jtW3KYBMmd1WgOufL/COOfnKDL
wJ/SQNizgVwLasMyxjcpICZiIk9wNWt+LorbRT1mKbhqleEx2La/QSAV3SjGvik2+FN5Ecpx45O2
nZF2HDpBpWWtxInpuX9Wyb02Vscmfcggut0Y9m2ieG1rAyfB7ltgMoAKFzlJq57fucDljM9MT5ZX
WYp5JUuOKZGRYoSBA82aLQG6+G9ebk1fBvpR01B0zpVNEZNNmaUtDiCoTACnWmKI0fmluLvIE+MK
VgNNOAqqghgM/2ucdtJUlyQw0MCqjBRAYLOT+tkmdTrf6hlmINt9V1itW2YGSEj7oIoru2W1XGMQ
otnpXtAp7QeVDPnX9W2gi9gvrhNabs1lSrKlfEL+zjaczKlUyEM6PjKEbKojdy+TcmDUHrvBtqJi
Y4JThr0RELDK6KwxH5L5V5faFb1nKBGxF+2HxYBp16qfTL5XcluZviN15zX1qaAfmVI5DLBM5Wda
2ikBMNxOc0evt1OzB1WDoQsq8quGGwQ58LLBCWXxaym0hBgDTcZHjBxM9Pf+W16AlvRH+o0+Xd+1
9cP8I4kvzFWGHNaKAknJ3gL9Nzoxwp/TeEgxCwun9xZH2wRZrWEvELtSYNVQnfvPAj/bEc8Oa/HW
QpCTjWh1lIGxQ52OOodWmOlf83SWscmAaliYz2pwvlUy0plIqCE/xhhkOt80d6Jc2Ge0wWvduQTu
MphUKlK0z4yPRgG8qhTY+uRNXp2jHSQ+zP5o2f0+vy1VR3tRoj2LtkGJvhYMZ4ntbtyBnq1xFOoS
itGiw4kgn5ZAW2dnKvdmuJUOGALZ6zfMdLtyZwlDqTXfGDaREqrKQFRpvFGkA0mzEg9p7WYfp15y
9H2JeSueU773J7Hbt6bV5+I4kzjn6lBL6rDY4CVyOz3moAQzvO9LXcT0Pr4haSpMcqxpwLlMLscz
BdrYAKk+YG468oi3YAMrMN9F32cg7/BTt3Dh++00ESXPquN5LpYLkfOyy+J5htgCXNbgg7gFhQJM
ka0O8O5Vd/GMyG4AoLE6FsfaTU6FhyqnIL20ZhGXpAswYLqB8eGcbhZaF2RmQxZ4wU/mGt7s/GBb
Ub/Fag7rTAqfq8sTBHFhRQdc5cr+eSvZKKE4GNXX2u231E+ORiVqsVh1AM9Fcn5E0SoMFFFY2OSp
7/Oju3lze191w7t+q+7SX5EnsFZr/ti5PO6ejFJOgOSEvFOJ+Upx6bzPNykGfaMgs8Rnv0Xpz7VY
XAOTkyzjYhIM5r70HVopLbOph0um9gFzIwMR6hi3zJFm0DdeX9u6jvwRxYXHwxQQRe5MpLy39KXR
7MpwDTRpSSDzVTazKpC2+txooDhUDZBHm4DQXK4sbPU4iFSszIVr2zwUh8DF8/KgHxMhPnB9E/+I
4mx/10+SPCRwiyZM2xz3U2UHLtAFKKHlntt8k/YADYgUZS2wPV8ed+NINY8xAM5LYEuc7ib0fnXu
DOhELizfq4sO8A/PmSg+CKqroaEShSiWQS9aR1Yjl+mODBzWfEg7t8yZx36P2akoYqfr3NYb5pfE
nO0BHGT5gaona3CHABnCQ9zstTCEKjt1twk6x3rrrEdWHAPd69mvNnppypMV/Z5BYJLvpnQTgWMs
9ApEXnWg+YN6S5qbZNwFTDDOdDW2BNLSkA1LUylYgi61BYlj02RgYX58Ob4R3SmA6PSce8v9KNE+
5wpBSp9eB7+n5/K44wsILZqeBiO4uSegIC1wjzyjtOfuH/YPhnPnfX81JtvRHLY7tFvwk2B0cniL
XoTf1+/kp9P15TuA/QDMTqGaoXLfUaQYd5ubw/T48oKcxQwCVfD6zTtAFUa0jdi+7f1IgCbot99K
p9x+YLI4apHH++tfwb3WYHhXVBCRgryE6LqmGJzRAxKaTemgJX5pwP/tHZyEMz8bI7WzbHaU2XKu
y+MU+n/lgY5FxrAECqmXhz01o9mGmDHgW+kTiGU3SXIwkYPqTMG6OLvwjxyK3TUx+dXUVN4ExU0Q
mpOV+JL6EUnwrIBwbRVJYApWpYB+3dJNFJaIpl6uJlTToe3bPPWLhp207h1sdptwfr++ZZxz889S
zoQsH3HmRU9VVlXdXKa+inbfqfogaNlW7+bMzYdaYLmX7z1TyS+iuCdJkrJqbEasB9TCGGHakUIg
gHuIvgjgjiVv0rjDyIfU1wf6XQYLHihdvLFW9wYCr4ioezMYvTgxavv6Hq6q3dkecjYmGAtrDHMs
LGyC362R2lo8/p516TgTWglUnE+A/LNIDUpHDAOhOq/jNRiCjBCTjf2+9dTonowO0e/ybGP2t3n4
w5SRh5hPhhHZpX4KyUuYoTlNGpyRiWYGr6rn2YdwHpRWWsqgDviQMk4cWXlS9NQu5+31rV3VGdSk
DN1ATA4rfqmeVloWQ9hDPeUQA1ww0iliukBrVk/vTAR3etPcT7rUQ2vCJrqpdc016mYTGervrNEF
h7e6ZWeiOKMcVIU69Mtq4uaDlKAOi95Lw7u+Y+syNBV80wCXynw0rpWqPJChTf2a5I4pvdcmuudF
dW+REO7smdVmZYf75pvzvRSkNulP/WQIdmvVNKHk+5+VcK/HkE2YW2dBiJJhUG+5LaVHsJQ6c184
Rfj6b3YNlUgTNVAFNaVLPVNIP4VtDSVYskxV/VQaql2nAk1b3TVT0VDbRKiMcTuXQvo4G/qo7FLf
aILBzsGqvjPHIti0ZSqqGYhELf9+ZtaHgslyUGDvgvw57zCbrLrH1CeB3Vu9nCYof0ykDgHo54RM
NbAPAR1Sv6mNp2E238HYI9ABPk77x9whe0WIJhvE4ocsZUakq1kzpX5mhJ2dRv2NrGbHPGNu2Hab
OGvvWlxTpU9OaF1wqt7T8zD2mjhyUxr6gx4IHMrVjT37Hu4MFTntg0gflzVPdjHcN9p7mT5fV8YV
i6QRtI8TExAxsL5xRq/Oe6yzg57kXbcbiZlsdaVE5pfBdRyIKFLk89rLFl+I4wxgqVhFH444xqwc
NnkNczH8lGfyZJLhe16DbJjtU3QMobxHs8zLS6DVZMExrziKGsbNEJNgwUDS0Et1lUYA+/Oph6uT
1DZpMluTOgADZy9SEGqA9WH8+3flQiB3jKkekcmq59RvFQru5spAGiDITYGUFQt2IYW7IA3GXag5
Run4U/FhJmBzkbXtoId2mXrXNYYPiv85w7MN5OwX/IwuaQuc4dQ9RPp9GWPUBT3B39fuUtwVFePi
61OLmQBdLzAC/4doCnwOBWmZZXJnpxJmkrSheNT0byle57DcGLFN0m0qx56pTRghHJxM8OToyg08
QIH4lfuILUYJWKGUAs/Bufw5cBxTniqpP/eZm7YIWzEOiT1c394Vx1Ij1NBQBTV0aCf3bpslM6ls
dokff2QYWngfqEegsm02+wq8vUx/vy6Obzr75zT/yPvsyD6z3lVThDXp+8SPss2Q7yM/3UX3HXO7
4RZFEpuBE2d8a5THCegcufBC9b1ufsvabcCcXHPDhXXGk2+lLShg/p9fxj38iqXJbaphJ3Rmz4pN
X4MtnrJ4F/nWt/IxREZ6a97LILu2bLLUO2wt8gi5y4PM2QGb9mrtr3/QyhMEjB8UXwWVCEJ87ntG
I2mtHkAAv1Q/Rv2tMAVHsXqDVfyHGcDA+PHAMynpoHwRSXxMqj5Gw3Pc2wp4fLQPzPq4vb6Uz85P
Lj5a8IqmoeMWqXhRL41gqYRyq8SIlmUU+6TvQ+bK6rPSgqapbmB6HzFMzWWq4ZtFCC6iTT7eRtqm
qjtXgvuv62+jqOC5apUR3aKDRNVlVeM+KMaHRqOFD+rIweq3egnuLnCcb0LlrcsfGDtWBmoTppuX
21h9Utyye5vVXcQS0FIxwT1fPWjNlE2chGVZ2nJQZ1fCIFE6g9k18Ue9cDTt1YoFj+7qHT8TwL2C
c03l3BqhSUHz3JnTdqjGPTUPWvWrVs3XkT4zEGhfP/FV23UmkjMrcgI9KHuIzNmTGh9CALFjRt3r
Qvgq8j/GBMUrxbDAEaN8elhnOwebWchJZkJKmRQea2fdSzGdcYP5PnhrrbbdBHE+2yEZUzdGl8G2
l+Ne8BCubu5SQ6BImQBzzl3TTB+qIYokGNDyB/0OLfIQt+YkBWZodkzj/vqSV/UW98hCwW4prCmX
utITGoRZgBVPqnYLa+WO02Q3w07r80N6N5JW2KCBH/xyc88EchclIEVU0xH5oL49hTMCCFmk/qsb
iFon1Uyqm8hjXi4pjUtZS8049amU2gn7kXWO3Dj5Tz31ghyUBprIt18XCGDVkkwDyJV7V8FjgECJ
4u4bWgQ7rvrJOHtqwrwwk5xEc1XiRWroXD84Hkjyj64iPEKmFgsF9/XlMqsW+dokjFI/agfmVpkc
O8ZY6m6Has0261AKBdZ5diVmbGvNSnaKMdUPkxXGAn1du5monMiaBXJUPC+ce0hzq43TDt8BSjw8
W47y/fpC+eE1nws9F7B8wNmlDKk0yGOB89S31M1+hN6wlV+ynbGJfrWgqXksnAQgFh+ceA+aQyko
ENObZA/kQHPL/nLY45dv4XxHg7CGJRG+BS6NvpUL4sn0o9eGTVbf192bHPgRExjbVafxfP3cQY9z
L+UBSCr908Ts8uU01+6EqgrI1BDPwSwARy0qqK69IDLq+Ai9kUsCcuByy4fAatWRMOQsUsOOqg9F
f71+qDzO93838o8E7pIWtUT1dNnIzomA8UXBBDOBfBqjJzXeWR7dNYEdT7HgFRGIpYS7qu1Eutps
UiTiejtR8x/K4KGVuOtf86Lfj+2twuxwfA7zp5A19kzQi6sLDO76cSq6haS7BZPBd8OpVYMnBmkM
X2/L97TPS9uY5A1L0IXWjrfMYFu0amtR7EjhrgmVg5IrO8HmL08Ib4Nl+GkmpTgBhQfpTgkbSzQC
IycvR895ktl6Ats4S06mKzsFTWZEGW3wtTtdIm1G9d/Yy3PxnHaxnmADTDwBmgUscFA6lVYB+CxH
6oKCIbVLjUTwsq8aqbMVc+omJ4lWjeXyqHY/8hg9m0jEhUQ0P3ftIQA3OcjlFNNQZd59iPO2IJMc
JH44g0OVALEYefXwQsM3UviZVm2oWgtyLKsuCyW4p8hfLhOvOfObpujkjRoCi2Q0cBFe2tFy0+Ql
zlDqzTG7tz4Fw3yf9YPg/VkzERSOvqpDjTAwkpNroIWxAs8wUsGpbpsjvFpRuLrYUl5LVQM8/gSU
DahRcXe1H+SpSSUYodI6UQD5svi5G1GTCz+uX4fFfl6TwztckdJGUojkPCZIuawNYocyCsdZ6fCs
4IVFPJGKeqLX3K7ztXFuVzuXNTFL5FDndGNWz+Nvs3jrXKUebNY3/+Kk4B5QA82LJtJG3D6GNYb2
DEkNU1t8SAH4cbW36xu4drkQ9+CPiYADrDaXr4U1jrVkzEijz9+S5iSNoRu3jcByfxbYv5yShaK0
CaNJsJJLISDaDEOLIXnRxq2yiwNzcqe4aF3MkZacRqLybhpCyRvzGOC2nnUgJGplp9YqzVbMunxj
fXqfWqZbhEHgRMaweEtT7Y1FbTpBI2WOxUIq2Pm1jYFTBJ8QXw3IF7cxKRqxkphIcI3a0UmbvWna
eq8LdmZVCNDmKPzgjmifgKEz90hCLb+P04r5c2yXGULdN7W9u37Aa3cdDxbuoELgE/DwwbgLUDyP
YuYzZPzl/iMvRCxda/cBUTwsCcAHUFHex2maUo0IFoFckSMh9sia0Gn0E8x1p6BWNgjM5uqmncnj
tEnNEb+aSAn5oXJfZ+qmLwZHmJteWxQ8f/g6KMuoSP5fqmyk9VquGA3zEwU9RSlMijx7Ghk9i9Sb
rkh2aiNi2lw7qXORnC3Teqkpkr5mfhn+QJ7aJWYh0OlV/+VcBKfUFmFaWwcD87uqN7ZotlOcmERo
vK6qcJsjsnPqop23JTGKgxSXSL5QqEsWAedbtRbaDP9eN88/h15uMpuZ1BkaVhwh2ktNtICLEAxr
rzrG68oLq9/ysC+6dHbBNHNQK6Nomd8W93h+AldOTrpf+JLmBIK5IGtqCZcQQ+Qt9OqgAeJSVKub
Acv6kvlaf1SUe7mLbEV6ur5ha8+qAZgzagdoq5ct7uFO0RtaB/JyfoXl9DkmP9F9J6NtXnTHVvcN
jw7gLAaKFbz162pQ0vW5ynxcEWce561K3hLtLcq1QxAVbj0ZXpSKgv9V9cQzQZY6zTLjj1seQD4g
5pIN5isYMU0G7b7IBydmaIWlj0M/e3T6nhmpYySok0aDG1iVKHha8ycwhgp4F4RPFnpwLw8Rz1Af
yHOwrDua7aVcZOtznjjtaB4mI/ckcOZfP9IVQ6NjkJy8gBcVXTE5azarQ1EoY4aKrISORXY0SrdX
b6cZ8xTZWyx67lfWp2NhuBKYganrn33eZ/chyLsqGhjONVJ8Jf2ej7/qH2VxM4tKe2tyjAUQBZYJ
tPJ+Mn2cyUnz1EAZWGf+kB/VwE917XZqmicNZPy6Iv+4voVr6RQ4FirYQ1WUTtERenlqqRWbRr9I
a4wMxB+9XLplA4aNtE4slLeB0LOy/jAwo3UwYEp3SKQO25TV0vb6h6xcT6CHVZ2CkWhxc7izrEq5
JnKXZb5UV05f/po714Q32om6AlduJ7g1UAmgGLaNghSnpa1cpPk4lplfq0hyDq3dmPtqTy1Hnm1V
fc9BsnV9YavH+UcgH/cORZNXkbwIrNy48FBhn7+T9iAz77qctdqADq1ZpnsbS4mUewNx14O+DrCD
TbLLMQzhA1w9qttGjgn88EOIVMP3eTt+YGqD5uwYOJsF3tLqCZ7J5x7IMomzMdYgP9ERO5BvUhm7
stXbbTILtnTt3mPWIm69ihWjrHapszSUBwx60ZhfBJ5Ekk2aoJNG06PNUFi7PKlAJmYpoouyPKic
I67jETSR6wPcDuzTl0KVhUPPDNrMN4D3vRkb8ioHOsATVhBZ9sCK0jHLNNsEzNRuunAut4o55k9j
mkeulQyzhwmsCL6vn/nKu6mjigS2AwKgIf283GemQh2CXDGDNPPzsM82c8Y6J45gkIxeEcF51tQY
Tuqn8QOUg0dZ1WlZJyCVZb4xv+v1dOjJYXARzG17SQRMWcOv4Q1RMTQP/emYb8hpcinTWO7jPPPl
uh5u+sgIvIAQGdjDKPTAGRDvirwwvRiIAGeSB2A+8Ep449CVHhvqxpOHvAcUggzHccYcCNJUhWDj
V3dDh4W2MPyBom5yqQwtzTMyTXWG6mtRbNOipFstj6xNWujMmzU1vlODIN9fP+21Cwag54KnM2Cv
+dRD08Z0boHG9GcDoG+D3k3TS62TwiaBaH2LMvPKjrccbBpUVVSUbC/XJ7M4Doccyl7WB02/Z4Xo
Cq+sxSAoVSwDC1E05XsPcophC3OIIy61hz5+QEfTIGNGjWio9Mo5gZcYLiVB5tGAFlyuo41DJFLk
CecU4T010eI029oo2ZPS7qvx1/XzWdk0A2A6AhdTBZ6acGor55kV6pGM25jfJu0py0WzbNcEgOIb
gTWsOyztsqln131s8pTJCVbTFKXppVTGrJqmNbbXl7F2NCCrQSfKEvOiynIpJUXjvtYHkPIGJJ2F
NrLEZqIOjbVzOZfBrUTPy4X3cVkJ0EJIcaVehi554ABE4P4VC7kw7/x3MdxFnaDGE+sgqEPJgI6z
I49PSGD+vTm4kMI9SKTppywoIEXqtmN5qENbNfdz4cSFoBAj2jfOewkUvZIGFYKGaTsTh36Ub8Pk
6qLbuapogLJoyKvoSEss/36maP1UUarlJgZCq6jU1wgSPVTRFMGurSmaBgtAdVTrKcoCl1KabOwK
lOsLnzTBDyu4CyJjM6TmLmSlQKVXtACwHGRTESZQAyOvLyW1tI4pxhPgfMrKONZqAz6+SM12sRpS
769vDxAIELGg/pGX4uLyqjZH0O1amW9KaPStnsrsgzZooqgFyce1gA/F3oUg3MIQGQCrLtekZXlp
pKWS+Uve8UFSnzsdDPY+WD3tQTqazkydob2TWvf6+tYS72gXoTDemKeMNXJWLhqDxbugmU+KdjdF
qaf2D1Y+HAdQmOhjeCq0Ghmso6FLAskr6gJgLCIjDeYPfeHK5YLDzgpQwoJSLhFuq1I7LF5HjGdT
nq6vcFUOaHHQqYpEv8LHX6VU62Ml4wTDCi2jo100h64+5SI83ppOKthCzP9B28uXpylsAM0uuzj3
mfJRDSdrfJMjgbVYFwGMg6WCwwiNAJc71s3wV4mR5f4oveXGWwRc2MDur+/WiqkwFQsBJLoNFpQV
p4ZRNppRohefy9BQRmyyf3McZwI4C16UZKz1pMr92joB4T3PaACtT8JqyNqpLxUs3CmAUDBG/XKv
ylAu84SWuV/JJ2B2qeEiQgtEhmhNCnIIKopWwA0AjHYpJSdTX4PnNPfl/oiBkraa/uzDl7h4uX4o
q2KQ5kUOHlllYMUuxUiTQuqq63If6OFt5jVgOK2U1rEqgQXnW+eWcrap/RH0aSzOHorJSNNaKnpo
WGfZ1Gw9CNywNL6H09j0xyXuiYfKZtpjwsCVOYe6bzbWYQahZv9OrMe/XjbgPJ/uMXBMcMQul63N
cjm1ESpnef6m9q+B/iDpd7H294/JhRTusQ/LbijkHIVsZg0Hy9NSsJSWoobZNTNrIdxExzwwq+jN
5d4RdJYpsaGiegXERTEZGCSJvawIGEnZQQN9SYxhhTQXEEKsGAwINc3F8gEVxRNCJFkpVwmYhPyY
bCPQ4yXSndwKHq4V3Vzo45ClkDXMheWn4aBciymt3YQWL3Vy+wGEqkWxSdFwFaDX+bo+LGrORTEX
orjbZtWAp1cmRE3kpCf9McZkwZrskfNypPw9avJdKHvXRS4qdk3ksvqzCxHQnDRjC+y/OT5Vbl4c
DUO3G/AOypNoQrNodZy2R/UMhlYDokrNC56nqrhL9GPevdX6XZW+BlYp2M21VKGFBDMqndAMMONx
DzAuRVBPMgDxc3OfEMWupQhcvJU3q9SdoshWY3soHMVAwJBV5t+XCC6Ec/cBMWomKyXOUsk/BkW2
ZXqvd7+vH96aT3UhRL08PaONtMg0lxUif5a4+g9JdgwwsxHbjGyL2JMEssNtpRkCO7r8Lq815zvL
KSqC5HAacixO7gu3Lzs31CvB/i1W6ZoITjGndg5CEgAv0UTOsAUAUQcrWbMXFfhFK+GU0pB14MRC
OfWHw2YUuDPrv73MS8TgRKQ4uVcNHZRNEVjYJeRoFV/0eKy9ZTj8//48z1BVNHovB0ulne2nJ3Wb
vWcHy2HfgGC5rb1DITmTZ+0XovjrSidYlcU5HknWNeWgIpMotXVz04RB4wWyJCSYXDIdX8//z+q4
y5tZDatZhtUBJw7K6GVWbOGoGGArmna2ZpYW/K4moxaFNAWnASCxaOUw1ZAZPaHgIx0jkCo3Lsr/
yL4Itk4kinuJUaahed1B1IARxNQanDAyXblG2ll5adp92j3kkygzJpLJKaFEprpuKsgsUMuuhw1A
bXadbJqp2+XWsSPvlrT/FwryZ0P5HFaoRBKMsopVytu03aJR9/rvr6VbAYOGo4FAZCGQ5bYxKosm
yAN05xjUsfyH8pgeJM/4WWwb+xcFrdYD2amYZntd6pqrcS6U20czH6SuNyC0dkPvQcTHufYMYyov
Upcq0Ibog7405EqMyFlSLYANlVe5OBFCdnr2hOCHJX9f9UB89UcSt3mBEclylADrYlRuEY/2zwq2
Vc0213drVevOpHC7hQCrx9MQLA8ThkUPpTNqx7k5humTkmOKVr3gLERJra+GCbnMxb9HfIdYVONW
lithbIL+HZVBAB42sjzcDzURqcGKU7FIQW6WKJ84G8786RMDvxtjDOWxUbeZtEl6p6LaVulluwl/
TaBVy8f42D8HmuBefXVEIRlp9M9kKiDs3J7Cv9Y7Mwf2ppcxZk1BxYQmbiQA3AiE8PwpelPG8KeB
bFCV08DYEro29ClQBWJWemAvFsMX/9gYEzYrAPawiuyK8CXpSgSXqZcCVlq335XqSUbWxBr96THJ
tn1uAP8gl7tJKgXtX6tag4weavIEvVZf+uCkmup1hgXr2Q1F8VGbn65fBYEAvvGNZlZdVqwAjgOU
T0H+loj6PldCL+zlQg6yQDyXsvil8UhN2mW1gb1UIvA8NdqmbO5ycurzu2TCNPj8wEZih5OIJ225
T5cvNMQuuHOk3fFy8mZ40qzFAxkhlnkIwerfinSXxZnXEtMVYhdXd1FHwgOQkeX6cdduTOQ87cdF
WGTYhnSHYFrg03418FjOUnxBoxpCyk/usrNIKAk0JZojSEgjHR40JlWgD7IoRCkIkZhloWdikEAD
zHMRkwFitRAmNPlp0rp/tZgFuWqC6AwpyEspSY3+6C6YUUPKmqWlG+2UUihwb1earEGRB5XTluwm
oB9ciJMwlD1VkmIpN2pmo+nBahA23iTdVlXetIY6YdA60ZSCnwSczaK056oJORfP7WQK4HEcZLhY
JqanGcZNpn9T4tgxyUliGPTXu1IJupTuzUw0r1WqnQGyyAwcYrYupPT4+nxjJ2Rk7JHB0heCosvt
xmRWM8hU3EB1W9W/wrhGO/l7gs5y8aZ/9YsvRXGv3BgyTUoqrDqp820AAvLwZorTTTFMTha7hZnZ
8uDkv/7ehp2vj7MwZaC3/TRlbEnMGupT0Yve7uUHeFsCXAS6HOD94A3nVlXVpCBkBjqQEJyg4VXx
Qxg+hepO345PkiS4HWuWiyoK7D0YNcHDwi2HzaTM1QnS4rCPNnIJ9o1gkiYIbtK93hkMZK1o0DcM
5l7fR4FgHltj1DTXQDGOG7PUO3bh4DL516httfRbBBTodWGL/n/Z0z+r5E2mWStloqcQNsS/zewU
TILfX3MVznaRh5MnDEDSJlv8kcK0NfUp1EIbw+FsORc4k+uGRgFQb0n16QBCXV4vA+w1Bhl75k/I
Ig7tRxa2N2V0an4V0kGhvyS6VWjgETAQ9vQARvrr+7h6aHTx9pA6VpE1upS+oPayroPFpuhlDfdI
psgPjds61fB+XdCqFTkTxC2zTyS1TDUgPuvxvVcd3U9yr8EQErSg//8ELSs+e4OSbBq7ucWKktdo
E02YoxCjCUUQpq09dABjIG2KQiYo2xb1PBOiVEZS0hKrGbM3tLHHzSmPPq6vY1UDUbRcIPV4gHia
BrOIxtLKFHj8mIqWObIjcnFWT+RMALeGHmCZdFQgoNzLoAAPndj5H9Kua0dyXFl+kQB580pKKl/t
qu2L0GNK3nt9/Q31MVPF1ili5+4sMAM00Cm6ZDIzMkLkxJ9f7THfjumFDeaqFkQjGXIFNvKtTp5V
Em8B1N7eW06x/l2RhHqQzKqdiv7K8Lql1KRvils6Z3UtcL5kccEuPoTZ5+IUJZEy4kMUbRM1R7F3
xfLp9oKxrKjYDLi9LmwwWxzUV1VU57BR7WX0L+/KXfwZ/FTONaRCHRBOux3VKlI8Ck/murRbDh0B
K+74zTyz8dvYDFJpgvnWMVzsezqRdAtSgrSg004lAjFo7gIx55PopXAqqOiGdmVD2M2VVtnn9CL/
SH9IjrSR8ZPbM7PoZADBmWkAAGFguQDaNFaiVlDgrD8VWwPkcS+t9Y0Rrv9/ZpgJ0CPRl8FKiyA3
2aZQz+vPFahisrVS/gKq9m88wMWYmGt2Gipz8mZguTb4pPEgcYRUrsIpzyzuWoiBgsNe1cCnxOxa
1bMSwWxhxAie0bZHdOGlrjr39rQtJNqxby+sMPtWStG2HclAqxtYm7C1W2+tqPtee++MD5Rey8ak
oMWLAVsNeEWhRSdniSYaFgGwBtXAtR9Vci8LBQ9LFkrtsPInRSWjWUm2lFZlRkpT4QGAF5pvMViU
4PEa/rpvGa+nmn7Th5mJt7k62S1kzzsIYYE7VVMOfQHB0zKnFYJ97SH2UbyJgaJQOTtn8TRcfAHj
EyWQpPlCiy8Qaa+9VjHOY7ZKtgBvGBEvGFye3z+jZTaQpQc9XhIeXNIEjpLg9xA/CR44QKKX23to
KcQF0QcEotDNixcTexoMDdi+Jkr32lsAtSLDro3XLBzvNf9ObhpHLgX3tsGFhnxoMuJWBHQcuB50
tl3vnEHWwJOUBACgWJW6rXslJY3SRE7YdT3oxOIU/FD65OKJH27aMQ8cNO8Ja6up27s+LhQq5VD6
6RtPOOWW95kZaYtyOTLWWjmCpwF9pSQDsYPTpS36i7LW3MZBpQKjNFgHUwqtHWCs/ub2mJYWa6bu
RokZ/P/fmCITPxdqQEiTvWDWLrKxpGhC2oixU5n/nMkEs6dqyDfgTYJXrnw9ex2EJGMdbK97DZeT
XDl+VhJB5KzRYu5mRkbOXT4KGCGZXTE3BXp1AMcy/Gw/0Fufr1CgHBBhglO25rjKxcn7Y4vllcqb
SAUNM04VEvNZudXyrSZtRI2X2lt6oQIii5gM7zk0rTNDEtVJN/wZVz/5skenfvTtwuze1WwKqZX3
n1HcJq5UJVRVUxBSdqNze48spmgvPuDbOIuuQV8IUOaFjTQO+l9OMrVeux9+R4Te7v4mowNqIxOi
o6gzf9N9k81SzX0R402hLZnT0dUs3ogWpxQYavCxoK0WRb/rvRiqelGXvQAfVdlgdJt2Teom6iFQ
HszXGKIK77dncCnsnSHb/zHH3HbRkITAc8Mlokj/q0qeJa9b+XLh6GlkNw0nKJu3Axv/ossNPT1g
ZNG/kRwMTVNUloHVUgQ6Za7wM6mHY2RuNDO6A0r1dcg1zqFbHB7aZFFvA7YJ0ej1bI6eUXZ10KX7
OG1sv9zpLdrL0AKC6l8Qc26ypfBEBeAIrUag5xC/klgXr6CqjeVRioGBz8vKLYXCEXNrm0Mo5S9W
7MIMs0Eg2qiaadTOZtAhlAerDjwnQBbZsjdtw8lsOPYWz9iMWJqbBsHEzSo4ioEHrk8DXUJy/jI0
6wgEllVWrVUfeHUoSmT5CsWroHxrapVjeik2uLTMxAZyEqCEqufpvvPtWkugw2Zr/rBqamGLbUet
/uH21C6tIDjMZFSHERDJX8mJixWUEiGSSxWtE1L9kOkhzcJDmPMokJe25KURJuTSBxFaFR62SWKs
g1wiUZTbPSjn41Wb8jB9iwPC9amiVw+dBmy3iqRXudoGGhC/eqrSThozOgmgvzQ0kTesRVO6/sUN
gRGw9G/GVEtG2/XYlkoHMQNpGu1cNDcyAPucMz1vcNaLoI1h7kDESwCF2usznSujPo2FB5SvWRCh
Hew2eBFBQRYXzj/fDtj0GAv2AryWcm0I+gGg31fQNDHG2xyEuuIm/JuhXFhg9kLTZo05KgBKB/Uh
j52uoqm3yXjZ+6VjdDmOeekutnUUixBTkzCOUHOFKbb77lFUSflsepljtt3p9qwtLs/FmOafX1gL
wAjfGjOgHU/BwZlCBY2SrUGHwghc1cCD6ra5hcFhH0gy3tNoowGI/tqcHvVaFqm4U+pgIOO07fUf
ILmUm21WHtOY4yAWxoakP/CbwO4hdc2SMFl5mxd9Ozukcj3We/SDB7pHO56KxsJZQiUHtz/wlV/e
6HpMMdof/Ayosr2IbmjNpGW71QTegV3wQ1dGmIlDcWHQlLkbIM6ctqJjdwDVdlaCcoXjxZcMoc4G
EcaZvg+cJNejUUZtGq0Y5xWVw8BXHWH40IWEtPoH0Mac3bC0QADZAvCN4h4A08xWl+UxFSJot8xx
rxc7Ub4FwePUceJenhVm6oxCi6V6gpVU2mqQrRaJXD5EvGBzAfwy10nQ1AmRMEweWylphRJcKVWc
7VMZRV3lZJrIWLUqbn0j31u1ulfqswDAmYhatq+a51hUV5DXQkkjkHZKxisCLGVGwCUDvAXIhWbS
Bfl6IZtsbDIVDYyoRznBEBDTBIxUqA5S7kM07V5NqGLZbffmW1DSTqTftw/6F50M4/dhHrhc4IDR
j60xzlIVmnHwawC6szhcFd627zelsKsCASW/7gG3juvXI/IzNa2GVqRa9tyLJdQDDoMOUoWdJvz2
DLeNV317zIDp7aVtp/zOkNQQ5F0or9JmY/J4fhYockDnMIMN0BkpAlPMTFmVikIbTDWg+4adhKid
6P46gcwcGnwCCtkkjRT+6AjSRA2hI/iqTiR5eIz7gzRAGW0yVniu3vU178U7z9W3uYQCLjgDVA1U
UbNXvXDS4qB3ePMCpC3Iue8MCJJXhVo2nLLxwsk3ReTr0cquzI0e888vrPiDWgVWEQKQlmxFEBsr
n3gvWcY9rwS+0F+OhgIkzuZ3zMy/zRhqJa9WtQpsC9ZT0G+74KeRvWcgxsmViCaiXfXTbqj9O+sz
qn436e8g7J5auSK4+wwxXqM1nfMUWHAQcyEELckAD6Gti/meHlvBAJR85uOPaZO053aSV1NkPPYF
z40vmQLDI/phUTKDwhnjXTsvnLxy1jJIw9g2g40MKU/Ig1Mr46Emli3hYYOGHSzpN9IqdQpNtQDs
/62xVn15LPS3kQd8WqoagLHzjxEmuEMJV8j6tgTMXzbtxLOokPwQzIxqvnY0hl/1KtKQTRg711Sa
p8Cr7cBbN0rn+sgHYzmBBBP2zT8H0kFpfe5qRWlrblthljMSTL0qJgACp+pN8tyw3+rF+8BrX1s4
k1dWmDOZiYXWoEcQLQGrYs3ZkPMXMufdRDs4YthZbxo0AdcnUZO6emo8QGybeotG0HSrWbvK3J1v
u+iFuAVuDt3feCSiO5fNX4+gV0JtHwR0qAOaU0GA5SLe41/YwHVoobZkAmnNBOV6BaQ/9GqQI5dP
2rRPfXQB89oJlnb63F36HxvMTTOKSeqVFWwguQvApEqj2MVZB/ulZd8ezdKaz8pSIOvD5QD5jut1
gaPoCj0AGDTMj2oI/nGfx76zEB9DD/aPBWZXeRbw+2kKC+O0FgcAqiwXLFBoG0BjhKZxhrM4cWjL
Bl0LmlrRR3M9HGWoMHEdYELhoxY6o4pkKjS3b0/Z0lYGywB+/5ztBsHvtQ2geip59GBDejPMH+Wj
0T6XPjo+OVHr4rxdmGFSm0aGp6fRzki7DwFoT6J7YIMXT6LxWPOihIW0GGIECB/NuBtgPpntlsuZ
b04ZcNtZUt8Zav1k+eIx0VF/MSP9JAniCr37aGBJB855XViuK8NMtCyAGSQJC3gc2R/sWpWR368J
OGiJKlYcB7Q0xlnrdtYgAJSbzRT76mT4Qgd+0wkx4yRtrP5XcQdRCelZEWua6LJ7e5cshQSoGvzX
IPvqQC6ljZMGIYGXl9K9ZjS+GylZfPSHJnXSqo3cKpEb0sYSuic8aEApQJ1Qa6hGGoIIjPRd2Lkj
EvantE9CHQ2KWpa7MkgiXYiODZyC/FKS7epz2ZMD8lXF9EHAaqbKPrCegzK8jzyw7nq70CI1ajdR
6tvtMBJT++ePWmt2PdjQAGV9k4eI0ZkYywFmSsNLsJFG0kk/TBHlVV3g+G55ds7MNTSrByEkMsHG
iu7f67PrZVlpFDKCFaUGxXDpmFFDBs20QZa6Vuqdku58aNGhJkhrM1tFAZEMNyt/ZuG68SxbLFYW
NBAHpI9BUj42JLKKN6Xlnfyld87FV35j52zG2k+8vEU/Sup09TsyZmQc7zqldQWQ5AII/hpASTKr
NnV3VNr4/vbOXXA8wLRDeRDwI3B4s8AxeSqEMogRZiUzc9iD7mVUKKjUjcT3oJNsSP9Pe8zOS4o+
FqYea9KEe/QYEaVXN761KRoIoKL4J/yVOaDxwJCOGv7Xo/fiTRAKgTnEBiYXFKVEMJ8FpSa60RMB
oh+CfGr9mnMnfeHLv226L+KTuT0f9/r1pivgzDJthLiM1qPq28VoSYxCEijNthJ0qIRCUxOintlz
FVXrpBfd0DOoWU7P6ehtPOkxnfaFooAUObprcje3XF8xX24v+ZIfhs7tfE2jSAFtresvNPXSN6oQ
bTRy1wGfIaCxXzYat5BHR5+UkdNut+SKMfXz9CPUBgbl2lpQGK2cQy5hH+e5o0IfPgMOR0dPmeLf
lxDArWv595Tp69tjXIgN5zUHQBmJs7mWcG21aTKwMQEhDOKkk2BkZBrWxvR228biPKJtd+7vAjae
TZjkYol+/BLxpxF9No0+dzTMVKUhT6FhyQ4eAqCEm3EiAAtej8VL/epfJLJytC2skUC8nGatq/u8
dNb8i9ite2mI8ZeCXCuZryMQrYPWTUv/NJgPUDDp1GY1VJ6j1P7q9gwuBFfgtAJ4Cr3qMwCf2RsA
t+Rd84X+9Z4HXz1k6kHsaGEa21Tm0d0t2gILKyriIFoCedn1LOZi3/mNhHYMM1TB8d63Tg660sI6
NnG4hnIXj6948Y5FEuK/BpktWHlNMqY68NRh+msS3CRQnyXxBxQb7Lylg/8wRart4ZiDjfgvZlVH
CXKmo4CICfNmyRKrq4cWLVJqZidEVegY2CnvKbEEnbXw+kIyBz134Ctl1g5UzFodqYB6Voblrzth
hsXX5WQbU6uivGQKq0z3kl0Wl/5O18vBiczuIZB86yksZe0ggRuB43qXzjy0c+d0LCBVaBy5XuHa
6AKrTHpg5Wv0WFhns3oYfF5kubisKNfNySz8hYa3aytlY+hdq0hAEKn9sYcgYT4YttalW8nX8Xez
kkPLrgV1q7UPcTO5t9d2edrBpjP3X8Cbsk2l2aRkxtAbeCj4CZTfPLmzyzFMHLEI8Hjsy47C9TVU
jTPPjtrBRM/TkNFGx8O1awthL06QFr79TYvzDgwbckw6cuDsq1JMhzwJtRlH1iYkjgwyjR9xy2O5
Xjq/WFlTAuHgLPbHnF/Tyuo272fS0bq0J4A/HDEqLOKFbbQq2/RYpw+3h7VkEEku7KOZxhU3+fVC
WzrIirsO/Xh1pB/S/l0S0fp8UKdqq4fx5rat+eNZz3tpi9lUk6V7wzQ3WtXBLAwre4Ljj6rBuRQX
9y50IYFlxPsfr+b5prmIhnLVTHrfwpmNrLJwQVgTOUFgei444aDkOvbDWhPb0VEGKXP0ZLIkkmVe
tR/NVF/dHvDSVTO3REE/AFUnrOf1lyh5Neod+rD36lSAh7cD4NAHMbbb+fFAEyVoIGFgnfqw6ThO
YukyRRgIAiz0whp4hVwbzvwyUCMPM90p5woJe0s91G1km3+BeUb+y4IZ5Cb0b0oQhRzXg+phgIAM
Icgx1XiNOkFpN6PPe9AvDgmZNh1QQxEskYy/HztcAnWBm01TAO+tmkOsQPo3PuP5z/E+SycdyVJA
kWZ5Knj968lTC9Xr67lhIa0e0aRPQqh8yen4F/4Ewk0KmH+xM5BrvraClnIQxXaoseaI0g94Ljw3
SmCsJ8v3yO1duDRziBGRy5a/IHnMEZfzwPI1EwXWaHbnJTHy45D81ALOc3tx2i7MMKd7nLIuTExQ
PKKCK4dnv9eIxau6Lw5lrgKg+AOhAbbzCED/uPnCL1rVQ+AVNmj3DOjKBenn7SlbHMsfO+x7EcW6
rDIzXH9hXc1C1gHEP4qY4x2W3CGe7CjjzhBJjWWpg2MqYlwkcIeSAqqk1Paw2W6PY3m+/piYf37h
CvtRyIQmAwiz8FaZZ9qqfI9GQvEvQOR4GPwxw+xlE/FfJVcYSQKkhfTcWpvK+317JLzJYlzpUFVt
7qOjbC8FJhHKkvqiwXGay4v+ZxTMufeATBHUcqbGlgxwOVaBbaLZDLzxf+NgLAQ3uHJ1tDyyGh9A
n1u+4cFQq8auIn8qMfpjzPPtCVtaepQHwW8GRkekPeYJvVj6XA8yP+4BicJxtIyPWhMI2n3sIWo4
23ieFvZWn1nH8Pi1gJRm3WWoF6M3WSAI1BEZJg9h94n++hxKI4HwWg2+Iw3/OGQBDhys9wDO4f9v
eIQyBsrD6HE44wEtHuP9ZNZE9IHll+NNX73/02lE4xp6br4oK5E8YvZdPJQgHMmAF6gzCF2ex3xf
9B8+uLJum/keKYDSGamKmV9YwmoxzlNI5GmSKySo5FXoYHM7hSPRhHOGvq8UjCCcRxsENGxUlllE
zI3UsiogRnrwe+iibYqpW3UFLrgRtEc6xQ0CleVxfXtoC/HYTFcNJkfQshrIHjPnSlP6sU8DpOJB
XRuFK005K70XEYDbqAAKnFiNyRDmNJ7Gvej94zMN20g84lRjatG1fX0KwkREFihBpQaX66ZQQBPd
D2gd5Z2B74ft2gzjZ9U8bFSzmB+jZU2i1G2Q89elR910b8/l7Eivz9q1HcbR6lopZROasPdmnzpx
Cfhtf+iVhg7jqRd5MqHf/eFsbFY7xIZB7MBEXFI5RZHQB4i4srskuZPqBiwIHAY69qVnzuRz2sx+
oKBrGepNTHCi1a2ZW5HXn3YiLX3SHgMXerquTyEp9jCszrfn70sW42ICv5ljzlkjTmKmlzDX0xyN
N+QA0eK0opWDdo0Xce/I78cK6dmK0L1BnefQPfckdWN7y0tfsLWUb1/CzG6e50AAj0J/OpiG/WH+
jh8sd/DIo1Hs6PO5+Rz3NEDr4u3xc60yt4KVtE2XFrBq+49uSuq1hi4+2QkAgj8TADvkjmSr4GBw
lpktUnwbLXMOu0SrStHEvI/PCNsbYaNDNAc6NnToiC6+5fdDScP35qU5l6NPoVkQutZpUl+jow4B
a1pFP25PBOMKv30Pc2CDyAjiusY8pEhUk5XomuuCFpQTEn89129tN+a81qja1F0FM50dTzTbiFuj
Jf7xJSKfnUOeWqLd9ahBPMp02EzonjQ+wlV6kN+Oort6tz4rUq08Qml3Ft3ePr6LrkIfePVltofm
33MBCZe5RIJsPrMTIcUTx5noD6eYwD9S4N4ccPJsfPpPScm+WWJ2X+j1aV6MsDS59nCKkLeL7xsa
u5xpZ2+cb3aY3WaogxmiHjGc2op8dJsCval1SLaxveYpMnAnj9lIyli3hZZgSPohPrbH9jAdrVVR
k2TFO7ss7u3bqJjNVOl6akUVRlXYAuothgjRnY4M8kYySHZ+GoI1WqyKbZpSVIFKk5T6JgppBRFp
oBM4FxFbAPr3x6D6oIGNegYmXF+sVoZsgGxgZxf7gzlRlPMfpYDEh3tjJLl7Ntd0cupNtKsO/Zpz
p/+PO+OPbSYm06cWj+oSEzFUtvk5tLvqvlJpWdHG0U/5g+Y2QEUjZXjbZSybhQ4QwgjUKZB8vR7y
EOtKB0Lq/hTHUCx9MJqn6FfqKysFnPYdNEhA3fpTAZBKKza8JgomPPzXbF+YZkZsFllYqeN8bVlH
oaVmRIbRtrTdWEClizPOZVv6TDWO7BEi++thaj7Iz4YOK9u47XaCUiQpN6n96/Zk8oww175qeQ1k
CTEgeeutrF1C3qWXlDOQ5bOJ1sD/jIS57OM2z/Vp9r5yf8LdNgA2eKeOqybdjuPeyJ9Nn3O9zof9
m7u/MMh40smqAiVvMarSKX4pW4ny2Oa5Q1KvF6eZLLmCdmd/0ohdPiLWhA8dnGEVc843yw707x33
Z+4YF+oVSo0yJgyZKw3t+g66XNqMvstkG6F9+7UnpmPS23uCbZz+t00AQSCfhP4ak1mvFL02SOjD
Zk+Nlnpn9IoH77Fzn3xmxS61E+fptsH5wH5frj/2mOUaAzH2ugD2Gu0XyuXPxQeUZLtnqyk5hv6H
6/hjiVm2AM2rcdYFw+nth49CNL1X7fdk3a/rNU+ViTcmZt2sLIwCM7IQ4GmvYQ6koEdrDgL5f2zC
P6Nh7zxRzdVmDhjEc/wcNCQjot3ufFvgOInlexxJkv9sCMbjplElN9OIaQvPb3Cy7gbCPqMtk91f
eQpAZyB9OG88lgVhFEXQBHj5fLUCzbS+M+hreorI+vZ+W740L8ww4+kUX20iE2ZaDQzDVEtcgeQr
/fQa/2qc9K0WiL4H3RDpVsL2jJbKcsdTXlyMey++gLlIuqmS/UrDF0R4/tCB1GDmMMmnz5vQ2X9/
O1oXdpg3fxT5RWOWxTyhAY1c7x65x8178tCveVAbzojY60oy40jxaljKHf8Y0EdvHW9ALs7xTTwr
zH015UkUtRWsKE/BSaeRXdqiO53PtzfIsgf8M22sB0RbaFRMMcx4v5W7nABU/NtyTNtzhYfEKQ5b
Hn3zsmO6MMi4wDwtal9PYbBzDXKXH5q1v1K2x5FYm520uT063hwyTlCMxV5qfdiy1mCtwebTnL36
xhNN4llhHKAWggLLmI+yfBBaYhGfiE/GwSQ5Z4vPv4fd4Whbg/gL2A3mDMn1TdxLTa2oYzyeGrFT
wLvpVXYXhvmqK3qLE1YsvtpR8Ud7Durh4Aybx3yRy820qUtESG+cDOLvuvviDmTvka0SYyU5uUc8
orsB2ZkQfP74qwfOhW222xuiiqqqJrDtJnfBnRfcd077Klq26Xi5c3uDLG7/S1vMKdP0MaytArba
fKdOH4lHktAe203imJ4di/c6UK3xprZlnD519f80zkQfjYfKNFiz4UjO3mFn66BN9/Ekn+MrIIMc
64FjbylYvBwsc/RGMUo6NYW9ykaW/C10BCputIdsl3jIR7379Jx7lEfGthjXza0m6DcBXyfeUNdb
qTRnKEEyX0GPBzeEBiZ91EnYUdl+ejrzJHwWI4VLa0ykEEJSHmlDWIM20rGIab3ykdDYTiMvJJkn
69tpvBgWc7NWuR/Fup4NJ1uZ7MqRiUzW67Pn6EfeM5xFsn5FqZdjYg5+IYIdNKwxprdsb5D4qH4q
qW2SzuFtEN6YmFMf62EALwNDOzeg3auxCzfNx9r2KDDs9PZmXHKaF2NiSXahOQ+9ihGm/Be/JPVe
sG3uvPFsMId7rIMkTHrYeOnp2y4+fii2G9jhs+akBaFPSIa93B7UV+74xqZQmRM9+aaetB3cye6u
prHz40dJNgf3Qwmck2pHo9PuQUf35NtrOhzoOkNqbfOLp9vNO3Aqc8w9gMAVT5pX8VC4sU/9DfDm
dL323V/rjkcauBgxXy4kc8dWZaVU7YQhj/TNIMmdbutk5vUzbB40jrecjCPRvKQRyxKWYmKHR9X2
Nyb5pXBuPrY/9V+HzdDBgThXrVSWucXsiyQpKwnnWv1s7hLZad+7H2hF3+MB+qgQ3VnbT/XdE+13
SD6Bkq4nmFdeOnHxqr/4CMa5NEMl5eB9x861D9U+uJdct/0sSbd5fEWyzech/BaDMv3CHuNh4ryr
aiOCvcJ+eQPyjZY/j5Q+8MY1/5pvxwPtjShEW+B+Y+c2HcdaKVINc4vAwuk3AaG8kvry7r+wwUxd
EUfhmKMr/mSnn6nhdGvL0e299Lxtye6QIyfDQcIvZtwBs/3voJi5sxqrGsQQBsWPD4PI29h3ffL4
+DgRVFW36epucwrsEpRK2/LpvH7IfzysA4c+U2c4d45Pn9f06QG+j7eR53HemmvGlyexCWBBqeLS
ACPvbtzc9nTLd9KfUX/dwxcBYhLkmpEW+PVowPVX6tN2u354eOBEvIsn/sII48DTzpAgdwgjdlpS
1QaHHcWuvD2S2T+x82SIoOkHETQoW9hIV6wk9J7oE7Z+8KjEkl3EMueqWwq7oJgNBDg63RC7MyGJ
n8eFGg3peMr6yIW2F9VKCInoAEfzbjyWmvTLeRkQdJ8pNCAQy9bbwfDW1jqKfKfDD0VfhcRoSPr7
EcAI13LU+9WKOk/i67n6iH/SahU5Z4gqQpHd+cVZt6+W8G+TevEdzMK1TdC1ZYca8Zt9yElJ7uIt
CmwqwacIIiUrWpEnSDvhzzk59GTonB1nWaXvs66jeRVSe+iNR+zJ3oI9NMI71Wv6EzSkgOrddnuw
50Wk2IX7xrEQXgNRvEYfFmexv2/Za7PMdejpVTf1GsxqxMMCmJs9Wo0c3lX4pWF2PcEwg5MBp40k
vcb2SEjgElC8duxP+gpynN7WzxyLZE+TjXKARawfERS6bJUW+8yydXB5fvo/M59UNVHLQ/cS8YST
FtzB9fcw3kZopgbyEBGeMrGldXZulNZGarX+XIiFCsp8yRhyUkllebLGzgRVrWKEROxbOSSemqOR
pFfTjOcCWcElHIf5q3TA6XG0Zyk4nP0LJ5UakeyB2QC5eJITwQJTb4WO2aN8V9vHc0afu8NTdMhf
bzuU75fctVEm/BIVcFh4hoQawKp8rl3v7gmh0Pq2jaVd9iWbDUmd+dAzFRNLNnsBLTLzLhud2Als
bQWZO8LbZgvBnf4vee5/22HOcZI2YV0WsNPSxg1fJrd6lY7ppiAN5SWG1O8xz7UtZrGkeDQiK4et
fpvtT5CFviuBmDBscIgqmze4j+3OJxr4lVtozza2vpVTe3Tyx83KD+zoc3JUd6JOuLecyLONh34/
EoCvbSjjHmxujuL7rXH9scwit0OsJiP2N3ZWsimdw8m0DUfe6GRbrDzKcadLO+pytRmfUomTlgA3
PK/2G0744TOj3AHNs8s6lEsbTHDtRe1kCSpmf15nkI2iJN+sDSochG1B/3lu83r2mBuxNMYy6Puv
2cvJXbPzXAfUcJwgeukCuBwREwh6pZ4Dqggj5UFaAVnAQzEsn0EAiNAKBBwdC/RK/L7pwVM0Azru
/N/O57nevfzNKf9jgZmmth6EMR5gwcApj+xibZLU9m2um5w36/e1/2OHmamx1Y1KmKEymnv3ltC3
nLjme/eSutzgfPYXtywxsbLvBVo1JF8jugtXkZ3SjOAZ3K+5j+DlA/pnTMyFVItipFiQMj/VTnQq
CYLxnqhPOgHkJlr5drnjsU0sZJ7mTf1fi2zacizTQosszOJL/VDS3xM9pne+zQkvFi/aSyuMR44C
Ne4sHZUwjUzuj8AW3729RAEbM+yYc5FxR8R45FDPAtGbVyslreOiIvvrKNjt+u9mbhZDQrg28zYy
zlQXBb/W5C+YyYf/gPu5IEBcI/1KeKiwhdchFunCFONK+2wwylj6MoVshZvT4BX9XK5w9Dc0W6U1
LTk39fIVemGRcay1Dv72IkNFMdoM9o/4MGwnwOx894EX/C/6owtDjLcwvDqr1RjZ3dJ5A0MIiW0w
eW1ue6TZE3w7vxc2WE8hdFUYWfGAevlbgtOUbDnTxRsE4yC0HKB+r0BWdZdspnVH4g0qQzxivq/O
3lvDYJyDpExaK7SYquytckf6ETwdagrAHKINoGq2IpU20Fy0c1IAIyf/Ut8NqhPVNV3nXW/xj9oe
7+PNVtv0PDzHPL4bX8Y+q1tJD/KyxG45qNsJD+tZ6IMnavn1pL1lhPEh1tC0TarCyEuXkcOHRxPE
LBp0Ew7mvafaAxVJ4By3j8RywpV4srPfyYp76Dkr/eXoLmLzygi9JLa+HJlFxMMBdTN06K3f083x
mebg6NQfeZH5gslZcQBttTPz3Hfex2SoIafQ9qe3yUWCu1nXdv7EiTqWPMxcM8N/kLieGbCwwhfj
MkBqFHozjAW6Ti7SCW63w11AhVXiBOTs0V+3TyRLtTW/ccD9BmMA2kNL7luvd5ypwphhL+9qnaZ4
ch7cHKhKBKQ+CC9ciaZ2tjIf04aIj7dNf/HOMvvoyjQzVEHOQi1T4UzLM5qUke4a9uCCmb/gLTgU
9gcAtkQ4lgT/CGyD9q58rz4N9DN+Go7qjtJ8v7U2887z3WRl3HOip4Ua5vXMMNeKrHUVSM0xM8B5
UwlPB3AEHjWnj0jrPplH5+gdtQ2v5LyAuJitgoQFbYNoiPyqOF6sf6bVUHkI4cEUWIRqCeo1bgIF
UsDBDIoC6vYJepNbwQZnIF5svN2wEPZcWWduGy3FQ7vykCMXV/LqIDvSGlG8M2wLYnxkq/w15233
eY3ZPaCjPQ6CyUDpAbt/vd1jr+haT8VwNVJBcqdd4d1AtK2wne843rtBnu+wb9ZApzJzc+Mi1xjH
XSXt0MUGSht4chk711VceWuQ6K7ahTQ6CqvCcdYPgJMTh76PBPoi5PaWXzzdM5/Lvz+AHS6Cyjxo
5tpKg7enhMghXUHN9pD35AiqWrCuENT//iLmQ8ce4NJIZkFLke2YHiY9DQrFRBpU3qKL2HWR2Dve
o6rp/7w9vIXih35liTnRNVpqolDxUGJZD8CCJLgCJ7eEUpPik5D6pwzw6Yneh44jfETUt2WfpCSi
a+Mk3XNr8/PWYRf7ctjM+dVGcczUrhpPljcM2wwMVx9qXKqkKLtgV0VGSD0zRfOGmFYrtSjUtdcD
8s6ZEd5HMAEjOtjDzi8x98pTZG0StPx3BFJfndtqdqK53rsBFTrSJrQAmtQCvNwFEZIIp9Ztbn/J
oqO/nA7maLeyYiRta6ByUtrCXh1orqyMfK3GVLfFYXuIAjqOR8PfhM0uofJKpOMPQ7E5X7EQAV7t
ECbKrBoZFASShQAFO9HWbTQV7D0obXVU3yGCeOCVV5bu7MtRMxFnllZqZIKaAQcuR0T0+t6tRsIb
1ELUdTUoJurMkK/FqwCDUmQCJh1ZKkAc5oSb2qAQyUzTmKjTvWS9ttavqHP18DFsTqJol81DqrUc
dYWF3Pn1GWR8XIxWdC3J5tM+5eSQkqmlH+Ex2hyyTbSpfvmO8X+kfVdz28rS7S9iFSIBvA4CwSgx
SKL0grIVQORMhF9/1/A7Zwsaw5xb+5TLVfYLmj3T3dNxtZ1rVrDUFo2VklcsMrZsPTEtXn5jovsf
PwQ7TgDKAfBX9Y8JQa8WPDXw+9Nzd37Tt2+onRu/4sXOIvCGqUccWLwk4FTG9gdNRudzL9SuQgia
wl6FYRGP28BVbOzBebxYtdviejAt5Zm8dMGUS/yDLqPms7b/j1hrAF7VKndmuNpRS9+AkaoAmr50
0Dl5RZOkk0RmEa/11JF1UkpPsriahUROXjBAdKkcoyXCsNbyihT1to6WeWn6x/saOKmAFKYEI2wG
hcn9+eBWwhyVlSLoT7KjmDPTWO14WRoeBUYbhry6zrr20p8SN7QMM96Zxsd9HqaecRSn/uGBEXER
YBiGUFIeiPzb7BY8MZo0Gv98H11HP8/IC4VMqntwYA04pPyhJq+m9/s+DzdHjnmeAAtBS4eA/QDm
I2OP4wK1GQQC/alaSQvFVkHpAOhi83OO9rjrnut6TFzLD3qM5R2UWlWkGegZR5qNR3a8QlfofOkv
WsdYAGLaEdAOcbrP5YRlBAwXNjehxQOhBjt0E4nAfS97FPIaaZ/OMGRk7JRSJE3tpj7y6zln4dHE
xf0gx4heUfmZUYcgJ0MNZ7pGlHTf6LoZihkxkhfPaMw8eL7P4lRK7QdRRhp9sZhf0PLRo/khe24W
zTZBaPhebeSnAD2H94lRO8IKzeg8bzZ3FB30szox4ggF2otfnqLsYpX9xf3fSDDRvdL0EnZCgkTS
YPdJ+TuMl/+CAPZCYnQPsg/Z+KldhpZVfkNlQo/giGoZ1tdY9ylQ1fnjlEYUmFdAnwVaEHh9f/LR
rH6xWo7q8j5PL2l0CbGsN3Ing4EAqLBSZBl4aAONp7BT+iqOmGDsQzVrcl+j96DGwMFpUiJ5GAdK
DdMAFErF8RomxoyBpDSixliHWIy1YEjE/rReb28ld+S8T/H7KTPJkrxvrvYm2pBXjHSaqb06ltvU
TLcfyBmT/+3mmNfJm0ldFgb4GcJwJZX83mLxdF3w4sBJLRoxy5iJKlYxUh0L/Qnd0qgI+q3TzSWO
kNzWxd0TQsYshEaAFXuIQdBGt3XaQ4CVij4xdh0Jj4eDXCEe2qRkRY5BSpKH45d++Fobp491v7h/
olNZ+NHN/oFjqs3q6NolkFZhf3nslsnh+iC6yYePJDkPM3XyXLHqgPa+AVHydiQjxVCCpBEkCbfn
lSnR5Y9Lw3W0Jh+UEQlGtdVQD+ZJDxJwqVCU3z4My1PqnLo1cn+Lhb1prRydtDVC+KOx/Prg2PpJ
zR9RZzT/AngSNdRwp0Z5VouXNLWTinNfkwzi9JAARMcP1in+NC5dH6pdcA2GE7aYvEthYDVGZ/pd
9dEUQm2LEfZBeFj9fl9IJvnCrus5chNzCsD1k6hSoNFrCKLhVBZbL9qV9aMIcN3/jQbDWJPVYpBV
8XAK9d9ZcyWGtJr5vP3NPEYYpVOM2IsFI4TpKq+mLC+vuWgXcP/vszLpu2GdBcBcgPUHZC/p53kN
Wj404pANtyraWl/MiEhmpuekZLbILKAccghOJa7oqtsbPhwiKRY3FYmJXtO7fIDHu70ijYN1pZvy
JD3/fsj2DimsjVaS1/KQPJakXx5T093f53gqs/PjBzDvg6J2dZHE1XBan7uA+PDkHnt7+zt3nMQ8
BGZh2Y2VF2b6y15JVokKVfCAoiwvp3Mriv9hVEfnwAhqpQz+XAac5en5eZtv3iryu89Mnyxm5gJD
ff7jTsIoWmRd0FYbIizgqP+kbo6oMyKsD7MZdsqUw+ma7xX/2GJPkpA/eWpuS1c4tZ5oc06dnuo9
dhlx7gTD64Ua7K7RutHbbw+G87vadmT5GZgLO0QOujSz43E/s/a8l1ieVKVvZllEMbWJmkQyKO31
WV+8hR9vytMAf2pJFvbVbq3X1a/jqnW/VgIxX6+2/RQSXjFk8j25AURjaSMAHxlzWyutf0n6FOct
fWazQ6mc7p8v7/v0CEbvlR+0yiy/Qo3D5C3Sn+Y8sMGp70sC8KbpEhhApjGudBlKldjV8+GkzbOz
fCnPRtb9C8sNDCuKLIdmPqA2/mShja7DUFyE4eQVATH6ZaM+Z711/5imsio4/28ilM/ROQ2KUYWh
OkDrVGduCjEGMcvj6SWRLP+xtlsH3ZhNQrQThyy1oqz0U0BslPUVAzhMjLILWphIWYO3vg27WWi2
Bvq/Td836gyIqkrhkSGpAs9MZBjj9bw3jG0QilpM6g6dm6QJ8tgp4gxLnu//LmnidwGoEtuy6VIu
jHgzvyuYt2WKFgoR1n8mmRe0cDnFNtmeBlQSZk8ouYZkZawAhbJy3cZ9du+Tn4o30QSMZXfA0sU/
WPgyWQ+SxA8H8WSdt4oZrLBKwV597Tm2bqrxYEyGXSlU6FGpqwO4LOyEoKcnecNK5Fd+pw21Ycwt
/6DDKImnxpc+aUFn5sKf2z787gApZA4LG8aNHPcu7w2ZerzRKoI2DvqgYdMBozKy7xf9tVDFE9pG
M3J5WC5gTDeCY684uvnnc6FBOjADib5w7EoTGLXRsc+iCBoMXFpORfrXjTnw3J0J5/4nCcaCeXqf
dm0Zw7lfDWtib1a7Y88R9wlB+EmDefr9IhhmgFPH3Cgqw4W5JJvesjlHNSHUP4kwOiUFcC8uQOY+
rWdEed2hhcC00OLCe9W4B8Y84TMBTYrwQpGU3sqYU0kPvMl83qUzT7bX11nelPTSq31/Ps4PHGPM
+f6NwZEtNrCzbRgyfL9CKJkSs14cOfaFyv9PhfxxFTd5GFEI5Cs6Aq6goBI6CR+YF9d1P3g3weOD
GtkRFT8fkuKq4iKiX8YvoJbxZj8mSq0/2aBsjghcQqzpGNAVjPhbdbMFjmoFqerJnofuM9FM/5MS
o+dqmCEfrYDS8LA9N+b5/HYx3YfM/P2wdXIM83SYtnyAl8bxyXk6w2aQhdwvK5Uqv3h+e7wSsrHt
kDxxNPNP80yZwxQEAF/pUj1GYdJwXgdemWEkBM0YMMwIMMjwel/kJsDWfhJhlGYwCmlWienNUj4d
HgC01bmHg79tauuw2UeDZeTER+sqsrocyhz2FCbVf7nSOXgJlC+b5oCel01VkIsTLGpXx5GKhw15
sbMlxnOf0GeqvX75A2atdFPm6sNEuezHGdy6ZUbyms+A41QKOOhn/el5ixfDWZJHzdyU9ou9M3lC
+xdD+M+9sqOmlV4Z/iUFuaJAdQOluPXe+lem6psEo4GdMsdkG02MWwWJMvMFsHghb63sRFn757Ex
ymfUWAbcYinpaWs5jvMpPS4eNzYd8wrN54TTrcK9I+a57bSLpvU5Dg05vcF5cERc0qJ0U3eDmk2O
DlA+xtCfYdhP/pjX9yrEZZujhnIa1o1jGqf78v8XK/l9R8y7q15TrIhNKnB0jnZbTB2fUJolFzff
Wdw+lD+j2Z+sMKYkQm9dKGU4PWvbAQ0idDD0YBL7GKDDzLB4D8BEIfwnOcaoZKFSeYICyVivE2Jt
cV3L5ePVXHzW7gHe5QoDxgYGPHgP21/8pX+OlB2u6YUKs0gzsJn4pvq2gijqaBSrXI4wTj+g32QY
vznDzlUVY9rIhGZEWM4fLLflNTZI9Bt/ugLfNJhHuk/6oDQuVN6ts1OZ6GZFrmVuEds2j/kCE5u8
oIPHFGMy1P7SRn1R9Kf5k4oo01km5qdiLTAE94qRV94Rcq+KMR7yXKy1TIWIpBmAyfxtdV5hun6/
51zVRCvhD1FktxuIFzn3fUoHYgibgToAOmMXtmm7xhLLknl5Kt57qjJGI9SKwRDiHG9Jggbd21ty
+iTvyI8jpjJd37I+OHbkzz6nnxwydsS4KEow90ExIlur3VYO3pQHi0OE81izG7JCD6nYJod0nC30
sJ3IEjl/jPRidnit2zw9nsi5/mSJsR9VVEmtqIOlNci9gd7FOZBPz1nYKfoDoddf+48PgbOWa9Lc
S5KOBWUCdubcgteRF4Ahqgr+PSRFa0h2BpTq/SOc1ujR95kXLG/71MN+Vto68YwJhre3hyUSegpB
M5COo3RdnkZTjf3DhIwIMqLYATVAROIfKobyF1DKaGBvOrp9fb3PGVXVe3QYAYxVrOW5Njg41VWs
9uX+xycyYJCFERfM05XPy0TDokx6bADwxCj0RlzJ5so1HlvCdQUnjeCIGCN4jdZXcyxuQvk6RtoA
RUJeYmLaHn1TYNsI/MafZVoIdnLkkB5g1j+pOULyAJAiPNs3aRlGtJh36ir3aIL0cDGGEz7kLqqd
F7L/4DkXHL255exGelPH/71++QjA9sX965+ofvy4/pu9HX3dr4RrE1Nn+Xn9fx2tb5HrnIrFcoFE
/GYwW8ve7RIrcVxEeTzWJvKNP6kzr5Sm93UtGTjBNZqWh2UsYgq9xPC7U5tm9Rtwie6He3wS1tyR
IKozd3SKHVFM4hJby2lwFDZm7L3WpMQCTMm5yByjxxH4myUeHa+RztLIB87ySXvQlyqyphwZnPbb
RzLIGIdSHGZRndETtFDLgJf7gNiqRiGjtcxV7/LqFjxzcZOnEUPlFejUgKimKTMN4wzO/xlZy1bN
lfWvsgAj3hhroRqpoqU6hYfAlIBmiotXc7Xf1xzzOh0vfpNhxxNLbErII3qEQUcEiEILxELMwEsa
JyKfwJL5Ie0svn5rFP8RurUl2KrrrR6K89P1DWNM3Bd+0r0d8cS4t10gZmJSULFIyHNB6o2jbuBV
aEgHA+DJjs4rbthNP3lHpdjkcw8oXMCH4raQlSJWRbp1eTSwXZEul75vtKYj4xF3jNmoCqlJ1BBa
heiHBj+fQDOD82Kb7td6z0MUmE6CjagxjoWgh4OkemDMQq1g6yQ2WoeWh8pavK7sVU+OLsKT9cd9
Fqf9XGSlAFai6Nhpz7wt0rWb17mI6FUGbuJDfjwtEZ9IS2Lj+lyMBX99tbeMH4fs9GPzTZaRm/wi
z3JdupE9nx+wjBhbCGw49aa6o069+YU+3hx95oKLsgyvqDhRv6AK8k2diZECNPHHUlmjLGbWm/D0
tl2SzgT9027HQ+f6i7v4TYuRoRDbq3x1AK3187q2aGdYQJzDokapAbbThuN9/2j/IrTfBBkxKnyl
EEoaPNOIE2YTMKxza4H8136+49DiSg/jmsqJUWGBDH3VhcUZM31b6gx7zsvC3v2y4Q3blsvhjn7x
T+3/5o55h676NQw76n3jJScJRAatG4tf5YKL8v8Xn+GbEuOwFomA1XMzmLbn+l0jMrRjuUjdAZ7+
C/aEDKbiADaKw95fntlvosxTpF2q/yRTK7u21hd0qOgbssCsa2OaH+py71sfz7yOMI46oM6OMx+9
tXV9Ua4G9WVLyzoL5lZzH9BHXVndouHw95dn/b/8aexuVemiJUlCY5k348GzlkRBzt28RdS8RjOZ
HtXfJUUTGBNTBy2gDi40+LQc64G66Idk4QTrNyQ5kYEBf5uN7YqmeXQt4Ky5gbWPn3gptOns4D+m
RmMn62HStaTU6AMJ3XdOAUE+hgwr5A+4Zzv9Fn+fLWNprjNtJmslFVggE2DQMnURYOs7zosx55Fh
7Isu+3JbtiCjR8S4YPrs3Jvye0JqKw7wPzr6ioG1iixTHT9j+b5YbF5XK8RFR9smy4vjWe/vLxhg
OaMf1thnG/PDQ9C8WtkIn7GDnhOuTyeoRhfAmKjZ3KtCj2a3LcDq5UtMOc/gNuw5Zmk6RPs+e8Ys
BZjC7DyadMgwcmvO3gTH3Ls8UC9qce5JNGORNDHNdJ+G0MOysDxCsU7vszGdsBkdFmN+rr5US1UH
NiKC5OH+jF4Vip13wJQZqaGqO9sMHgEtedyvuSi102mOf46QLcuGueoZAo0Qt6BamYYtvJsrv+b4
dByzjg3dP41dpFdRiC2M0BJkEuFjwVtdXMkGCdnSPAIUglfC4Zh0rIb9STDrO0S+IVJu67eCjmLD
wTo8zoHgJJGvFXYrHMPF/VvkifwtPhjZ8ybv0M50qwXOV15LxD3sgNoi3rD+R0KMxakvQt7XNKzO
Ft4rnntsN3CPXMG47ytqbJE2FLpIlzsIxvM6BwaKsRNeg2Ns7m++4X2ObvH4HRW7YdqNju46k/xA
nVHpeN5uRTz5WKxDFpGZuqgNH01XftV4AsJ5p25P5ohkpOqtaKQ4xPUFLb1mZfmnPc883feasOTl
pwz6QLKvowRsba3ARerjITl/FS9YroGQggt/e1uKc+8QGStyqeU2FVNIfOdYb2vMTW4fTstDsP08
xQ8H9Cb1Mvn8JMSs0GIOJDFjsz5Gx951eSfLcYU1NkkXVohOU6p6pbU+vz04p0fs7MGjf9xry9jk
OMM8tbtFAqOL7OVgiAvK9sx18gvxXNk2KTYt5zI5rwCbp1ODEPukaZUbULhXS9nqORliS+DpNo8M
EyOFjfefgovjqC4K6YZ5IOavFWr40D2eC8rRgVtoPDq6wf+vIVlvUen2HgEYd1+xeY4nm4i71sjy
VHNoWb+wkFB6WIZOvX6H1aeDDrxeb47FYrNxXZyrg95BEoLVJ0bFPzi88K6GcTbUPJH9gtbQLbRv
0+cE7eMLm94MKm/PHGL0Y3eUmU3EXbq4xWsJXoBE8HZC3tTbbG5ljnXym5dO+kvm6h8fgIWC7XMj
kHMq201iCSpJ526ounG3iY2jXEDWC2WR1oceA2+8VeOcM2WTc+k1EoWrCDbX7Zf0Wu6+OFo7Md88
zjn8sfSyaYI4TKnbnPzaovs8MhdLZ6ssHIjiwV+g/Ex2NgaZWvKFBiuO9HOJMz5IPkPvc1mBu8w+
o1xxenOstbIVC6s1h9z2mr3+YPYv1t79OsbbMIPZWv+P1pFN29VNOB90dErQ+g9AmeElo90jxh8O
r39Js/4jQ7c5vZEtKVNZ7CqF3mTwC21kmimd0bXGocITFyYIQlQXZlhgi96fzMzdOclOPa9nnGMT
ZSZw6S+aHggR2lYQlQcrbeHyrBQv7meX24mpEap+BQrnbbITzDeSIycFQPDFbMkxIhyDyLbANbJS
N3MKJNKa2Hyx8Um0OCwed+UBlXsOKeq/37FXt7TA6Pr9qInaFs/JybLaORnQQ05+IZN54TjZHAFQ
mJxJPCuaOhjAEYLJDLC2CFYUTk2Hk10DiPJPr02eCbke90iStiaAbawHbGz1ySfiaYIp0l14a0Oo
sJaNBxI/HbLI2MhmqBii02+CMzpDyRc9zadm2HCfncg+za1PJGpsVO1ptoTfUzzpno7oMdrkdbNL
Faa4M5WsO9d4in7fF4rpoG9EgNGlGqMRMSbMIemYAnLefiPoQ9UxJuR1h1rZfv3vpHBEkHmiU1mL
9MajJ0iWy4XnoGuKeHZ/uM/XpFqNqFAhHd2TnidplwXUrR8s4MTxTPZkUmP0edaP9+P4YhRUleb7
YBGTW0mAY0h5ssb66Ngo8Z9g4bwGShdtjv9EOL4xS9M9IjPE42kyy/DNE+ukt4OsX1qaHb9sfuNq
NOyBXs+B5WJY4mvFq8RNmvARMebZVQUjlaT/I2ZtY0d4dy0eP5PmbkSCcdPjeWQYwS3LqZji4QVZ
fgSoPPf8Fvb+YVRHVJSfgtbE1yoJZJxabL1hnc9nB/grAngetPD4uX1fqLnEGGtQ+G3fyzqIWedz
uUnIujUVdIY6yqugPxRLt2ocDkX68++xx5qHIpUAoweKEZDyswVBdpigYOKqS560866LsQvY9wVX
mjb0ooiOQR20RC1UlJw3KJYgLDWWLQZfn+9zxxNCxkjM0DySZjXVYqUkswizJ9ySE+/8GEMhB0Z+
NagQpstg260Ns0P/8Bd17kL85Yj8dI7mWxhZV70ZunlhGKD2vEVeH0cIDFnrAAAs/EHliSIsYK1A
QwSUpO8f5XSJdkSaeZEjKZqFvQFBKQFTSoFKNeRJW9M45g8+6R/fW+e6Glby1o/gQrvuferT0woj
6qw5iYrsmtB+1fVb8lk5KiR0r9vPPNiM6UTGiA5jU5Sh96VswAHLxAOk/S5psXxn5R4DXjJ2OkEz
osTYlUCqjTZUqGxuaXsgkOQj6MIKdTWXh/sy3bE1osWYFSWRE1W4wAcorXNjo8yFh7kmWEWBMTmU
gDh3xdG6P7z3zMcCWGr6LbQ+/vbhuC0PKISgdQAb57n2mfNSs568Ole9Wd2DWmNuC+Lb4gILbjh6
N13KGh0gY0g0MNQUNHPerOIN1h58yWs1IT4W9u2wQ+eL60PxmGKsStd4ghBooHebno4t4232eP+W
eH4h68UPkUyZAgnnIbGR5LqSd7T46mSHVO/elU/3yXFkgvXngSOb6rJHGdrGlrhLyfzAzaBwXEJ2
KKUJ2l6q6aGhy44cPukogo1uZXtfch5NHiHGSGRzo9K0HIS22GC7DDhoOryvM4YhD2VJ1mnCej0H
nmm1vH8RPEt624QxcpxjycjTSsLnG7NdWR1deP4+rIqluea56FQp/nQt5oikFIMuuGZsdqCiQ6oI
EcPpn41lZhZ2OfA2Lk5m6ORvEsxNeLO5lOkpSDjiWnqMicQ1LzwmmNuoBsz7Jh68FrQ8b7fNW2jJ
AGx46Um6wCY2dEMhX8S5oWlH6ZspxlrretSWcg+S0luMNcKbR/t1ZXIe1OnYQ8FSKKDJAjiXnTMR
B/0iXvOG+n0J6c0t/DH0y9QE80+YA8QzxPEfJg3AiB7jPoitnNR01PE0vMcY3JFXsJucc+ORYORN
Lq9BcTWu9KqAJ4A2sgfMSiyRbUS+DQ9rxKtGTHtj2O8jG7IBsGUWi0yteiUbKDxoYyYkqMjgUjgR
6pW9XSw9WHvvqyNmNAIn3crhes9rYJsUzRF5Rvj7uZdemwvIP/h7uChfPuchn07CjAgwsj+7zPWr
6FFkUnLZbC/mgxNazdOSHIQPdAJ2iyOGr+InXgpmOos5IsvIPw5b8/th3p06ayDJU7BAn21Vw6vl
8DcpLyM685+RXWp0MyHRsTvv+VnDrelW/1C8cGRy8iEf0WCCHtpiWGsFeFlbHhCL0P6Csrf6+sEh
Q2/iD1M7IkNFZWTUsZ+1vCh072BxCLCs5XDrYUTJ6tjzGKJKdI8SPdQRJZSr2lhLwFB4BSZZXZnE
iT79ha8ueaHVrVT0d1IS25slqfqlmA8QvzWaQuefkQS8ayVYlD6y59mFYHMLRfm+OMLuw9prIWaz
1ypHRKYdv38OVmKbttKgrqpexMFaVpwTgga/lKSH45G7bocj9RLbs5UDiyUyPKwbXOfXNSpnCWyH
qy33HEmZ9C5GDDFGow3jdhYBFewUxo6f+qS6xiQEjO91qQhEFFeBJc/XXn1+mg2Ptey0+pLzA+6L
6p+4FnJ9GdKQ3upWMPPXKtjFwB/pNeQIPVvLeXHrdPVzxDBjTQYUDEvRwLkqwVIXUiJGZrOQ3svn
RjYFhQQF6RYr6aNbD7Z6Oc95cd6khzIizxgZo9W8easAUDn5CiISPK583lM+HUmOSDA2xseeaK0K
IaOYKwbMU7TGU06wxEZb/ZLto8UdyuKxxBibSE19QYvpDVrtL+wYpunx1urskrgmx7BJPFqMubn6
WJqjB6D1bNE9D5mN3S9Wttu+NYOpH0m23Gxyu3HmD2oJ8ILI4iUeOPTZzqygnANku4L0pFb9e2fj
GbqvDjwG2Z6sJiny1ojoI3Q+e6tlYMN+O9IShTua4rAyd+2u5o5rWtxUB5W8O+aVbc7qAHYdZFQx
rG3+sezIqfn0iZO7nmICWttVT/c5nQ48vsWUbc3SoxAdRt2NXkZa+4K9GNFm7qRIk3Eo3X/YJbaG
kwcq9rZSG0f9st7ECtpN7r7HhHbc7n5lWIBtcbzb6bzRiDnGymTZPMuVAGqe2c/KV73KY7LiznLd
d/ikW/Z49PbGRlA1ygCHDxPws3fF7FbJFXuh758e54G42dMRke6qD3lItds5fN3/8nSLw+iQGMOR
N21c5HSdQWk1mtUHZnTQlEXp2deC5M/GFk1RjZvxcPC4gsfYEL2YZem1xrFdLnDyyALmCr1fSOzx
hmY4GsXWcxq57LqI3k/0KzwOv9z7x8cxRWz5Rk7ngSz0uJitt3A0J+GYWo5wsb1VuhYVgUJPCX1/
EQr7rwBlu88AR7Ju4cZIstR+Jvp5Bga8JaY/qtX9r3OiMQCg/vRMxWtz7bWWasd5265oN3a9SQOn
ik0ASqLVdH80Tft1d1jkKs/gTEbs34LNdlhhDZFkqDU1OKuzvkeklLfWB28WdjpkH1Gh4jc6PyW/
YvwrAYNAWRadNwpwsACoMson2HdjcjsI6XndeR9uL9eIHKBDgjaI6HnGVlkTUyI4R2SLUZjkutm8
A2QsgzjzMYc1g2VoSnI+Z8kxd8PnwTteeDEfz1CzbVbRbF6XDTVvpVNtPSQ7ygUfiOJ+1Ift3j9v
ShIzz5fptpQei5Zeim1xJeaeT4ajsuywY9pVkt5IiMXa1XZu6o+ReUX9DvNcvYWTW8uP3P5WXjzE
YtcKkSzEiQKSmouMsU0wzeCavvPBa9vivRVsz5ShCqFYUZVqVSvDGt3d8UP9QEGN1gn/x5iIbZtS
W1kYihrSF6GgFTxfsZXval2xSqwHxltJ9HplC859a3XzQe5o1w1AdaRdURBlvheDptwAPOQQk/ca
UE2AHuK8GhyjyxZjskaWlFmIpUpGTQKPVDyj/pf4Cl0k2NSiGwo75VME12sqGViaArQQK3Vmh2j7
amLv2+oYOBYXf3G6bAFQz/+SY6x8o2V6gw3vtJBAJwr30fqkL5X3AKsKDctdhcQ9unvO0/iXy/om
ynh3TS6IRkKXkgwPa2fpzMzhgGX2X1wLT4PvP4Ximw5j4as+ucrXGT3LNcA5H5aehZZxikhVYlsb
cPS4BKezOd8Eqc8xksIaUJb5xQPBEu2QdP4NA5oUQJN6ynhX8KxgnN7iiP60I/NNlDH2AmaSGlmH
SD6vQdLZti12bT56R8kSAKdv7os1b3PoX6z+N0nGBSyEor60Ai4QADMV0R83FOoOIF8czqafzH/I
sNHiBYh6Q0kDj+d4s+3NwUG+KNv2AV0zzB0H5QjLjefR3RnVTFalcEaXgznOW3pSfkUR8ZxfWWNz
+OIpHRsq+pFQpwpdUYW5IX+tOg5Gz90lWaHX4Pi0a5YyPANee8+0M/19lpT9EXuzXPQUPYOUJJrl
Yf30JeBwxbNcbJioeVg9rV2pKcGuVYmclQUqu8+tvpg7SKdbnFeGJxuMDcmMyG9RfIMhXmPUL3i5
L3q3t/6O6WBjw6sn+2mk3kyUdZZW2KKNJaO/KeRWh4mTwKwxXr5JlujtiQG/ZcULzH3e/wnc82SM
SV4reRB14DDfJLvfqQUbUm02Lxs8By6vrXYyxNc0HVsudSw6ZZ39AmtWpTwP0R9aAb8MmxQcQJog
A3yfpUkHa0SFubO4a5WklYCROavNWLWLzFaxBCxchvk6qTniONmors5ljW47wpY1FqUfSATFZd7T
aXkLNur6OzMBXwb7b+w+59Yj2pN9p1n7znz34QPwVLc51zelb2PyzNuTqoWOOhfIY4dqhs6sy+f9
s5ysJo0JMOIhekEPsHFUANdb57fzOV/WLm3oRWkzhTB+PM+c+wQnM+pjgsw7I2pJOm8T1AOBU7RW
7NwNHt31830iUxIypsE8LF1XK4YQgMb57Fgd8KnCghM1T6YvRiRYKP2oLttQphez3ubH8KV4R3+G
X5kf3KXIU+/ymBAN0kYW99qIVz2gcA0YU/BWnvWIBqGYbKhP6s5tzsFRcWLt1ZgY9UxGxPSu6eSg
A7HKxri2zXs9JgMVTVZVAP+LqG+z2RLRb0TATgu0zUHDRLZYEx3AayV42c9ygtELDj9TgjCmx/Bz
ldDG3QagJwckfInJZZ8CF/W+sE2q0JgI8yb6Ytl2VwlESue8hrfW2G/pa2BLr5VBgmWtIunfgrcv
1xPMcFFwgSFurwh7a+MfQB+50a21fh3M1dkAIxEhv7L9XSwIwkBxQQbbdUVOixL3DhnzW7UzFYUN
sAti9tYCtvv8RJN3PbjkWL9JF19TJNSWxbkmSzoTssuSOBuKlt4fGDuL/zGC4Y70LzybcQv//zjF
ES1G0XoMGCReBVrPa404b/mj5oYPHWpxVgm4Nuvo2WgCPJpzBziBeNS4eeTpgx39AEZYowgTdK2I
H2Cd3zzgICLCcOENazyfZ0rJx4fKyOvcTzI5yUFnDeyX/MU/3teHSZ0bscFIYxbNOq8r8fkYcZKw
bCzbLbkYz1O5nDEPjBA2lywDmIaIs0K319uSBIurqViblxTTtGZDxGXLcRQnUx9jivRUR0o2+FlW
eBko0nTE2XFmduWQ45E7A8XjjHmQu0BpJWyIoRBPmPc2QMVcKYf7VzT5eo2ZYR5hRes7MUbemno1
GNnEQnqFSC8cwzjpeo6pMM9wm4uDjwYCUMnRnTxAHBIzXS/sp5XrOzxTQbXjD/WFj4amKV3HmBBD
bJ6lmLNSZRCr6RINW0Th04VB5JwcFaw7ZNgkouEZoSKICsjQfqZzZ2k7haC7HLW5f3V83xyxicSq
i1VPHzTKkbNNLdTCS/PRJBe41B/d/0df/rS1HRFkDJB/kSJJ9SU63oURsvNv2VKsGJ2nXzzWJtvW
tRElxgQlsRAaUYRThCoh23B5rIBqMKCFZP0ooHIN+xochTXofsxtniJzBIXNK2Z6XuleMQfEvuU9
DovNceV+qUvd5F0ffS/uSQpjooBAb0TDFXTW7cpwMBLwMuxFc6+iZfG+TE47IKPTZExTEEhRVRg4
zecIeXo02Dkd5hkNc7FY7KBrX3tXN++T5IoKY6XyeZ11RQRRsUpLvTX2dY5sScv0WbJWvJOcNIkj
/hhrJV8kX7/UUATrSnEM5F12nqmw8twGb55yMzZEGeZFGuqw8QKSDtflbBevq/fdV4vcZcHdksO7
NoVxbq4zMQ+TDmdYvMkvmPtSZFLb5Mle5HDwa0BhuLqy2CPRDlNTcDPEk8/096Gyvd95FyqBWIL6
c2Vjpbi/c7bNQk4Idk4N+1fhZf/M6zyefnVGJBn74gESNBWwPpi2jsFoHl5hNb+wBuKZe5EcHVcY
+xInmBUtKhVHa1N417wmM1t5cT/ua8FUaDayYory0yVAS+Qs81roXSEvgnoxwzzlUngx6u19MpP+
Gvq1sXAMmxxVgVFvOMa6Pkg6Oo8Xw87lj4ZOH9b39xldjmpBml/n+H5hW8CPpssyGqe3MId6n49p
B3fECKPHAUAorp4BQmhyN63o4K/87SCY84aU2z0q/zv11HHa9v9iqL6ZY1Rau5ZxKMqgqQJ8mwg2
FjmjCP2uk9WlIB8fXFSBSZmYyxBjQcS56cxhKljkfPWo5JXwTH+nD8mTirmKGqnY+ik3fcBY80cu
KQ9/vDRzQ9fR0Y/c2w0gbeSaShhLqA0P+0UBpgD87xlR3YtoSsuuxIKcnkSOu49NSfhXb8CILKPO
l3K4GoEUDvBUoWNiaL48mW6zdmWuYVapvt7jkNFnucYuHikEKWv+lhHZSS0sH3EOGJJ4+USB9dF+
ee0d0fTI02q1QsfpmYY2cGFQ/fr4AJabuXtFLLWHoeG8vdPyNToExgb4SPhHeoZftpVdFRZthwWK
gMsQlxzdod+5dwKMN9EIgFkT6B2DtW22lWTiL83c/JIfs/Xc5hCbfAdHTDEWp1Wu80KKwRQ8zzO2
HiGZsBNxgLHJS09PgiJiZds/ssvoizdcrvq8p6SAgqMvzjJ2UviR7W1ciuzjuibAbWsybzHoj1F/
6hdisRTGO5o14nFufmrS1I5+DWuhtIuvxgKW5p6tt2EtN45h3p7/y5PiE+7E0s3VvHepjHGqZ1ot
SjLI0SrtYF2c5WF5edBTE1mxILRcGEXP1CU3ByoFxPi4ohun9s88j3jSFfjmms1lCq18EaMAsoUr
aO23ChvCvI28wHQ96pt0j9f/Y+09liNHlm3RL4IZtJgGVErKJIvkBFYsFqG1xtffFTx3d4HROBnv
1n496QHNytMDHss9XCz/+Ltn1EokDZ5XkLW0iTlnMzQPUuLVBzEhAmIQ342xrWOnvfbcbgLOlzUY
sAqDCOM2AgQeVR/Bh5Sj5nIQjzE2UIGv4oOXTdpOF6wUZBBLTbApdBmoPLTJJ4/z7W4HMk8O+nCA
32DAJ63iqdQMCEEBNQeFKMq03PwzB3oNBniQqpeTvgvpmuKjZ3maaLtwZOB95XFi8KDUYFCnF+A7
hRbaPCMexU6ViYTg4adD75xj+0ozX7l37G7sfDQGdPcGtHNgtJOTgbkkoA4yttKNCOrudv95j1JO
YOsuNzLl4LjBIIwW9K0oNDjOFMs6nPheeaBzlxg/sQuB/HcwbjDwkqh6iItNZTXk+HKWC1v8qFBi
xwpTojl/9yb8Y/JssrYqis4oUuqk31o/fQrPIGB8BH3TSIQTL9uzHWb94zZMBj/iIsqrsQRknYFZ
3nuBF29xBMdp/Lg7/mWEvNKMAQ/M5M6pAHYd2sQY3S54UuMEeYNjPPs3GciYJks2y5DCsJPeTwbq
ImiQdJAv4G2f4EpicKMfZVPuG9g/Rqy+0ozgPzqhWHDk4jw9mSs3zWTQw0jDVEnUaEFBCb0zoKai
JNyIW3g9Mzy8NRnwkIsqExIFtn58ac8DKXYVAR+RzJ1n3uy6WAUsbIAfqGVR5APObvajkiAYi13B
NSw7OBUdqWanaohO2hOipY9jFN9Yg339Vn818107UgZBBMMqg2SGmSDZgxFR3VaO2KScObELGrV9
UNsByI69EY2hcuyGtrmDRw0RS9D3Dp8piWtLDMj0kpyneo1bPx88r7atGaviwa0s7FEhwVbF68pv
p5T/3ER2g3G6SEupiLAnJCjPWBi1B8Pz+eGHSbC7zNp/cKRRo2GP2lSxBkNXTOzh/nrQrqKUupe1
YTEyhIOKU54VDAr6u/i2sD+S8weeORxpW3dlLY0x4QVJvHKwIA1TNaRwYvvHjOiE+0LdykuuxTAR
95KVA7pS8q+gQSAp+CB38zuvxrRpFmspjJUWUREXo/YV/6DBPwaHG8jpUc3iFsg3G7DXkhgDnOtE
SocA+jQoD3YLVr5hrt2mjY54P3zizWJh3SjvW229kFZCv37UyjIyrQjmSKPf6sUZROh3iihPIh5I
Hzwj5IliXJ1mLgUoViCKJndfHAvpi5G0L2oOac8f2ct/Z4XsxIEhIXvR0A8X+NGjshA9R12XVhsS
Hn/HZnfU+hAZh9eABT00W2g2+zVGyI4eJotNbL5Ar2NINMup0UVvi0cq3tgbaDEOvpK+XH6ZzXhw
/UMYf5hG8hB19OY5Z6frCKRjTTn++0TOAAnYj2dOALrZBGOqpoXXnaajm465HVEuaLFQtQiqMUEN
a/0P0xLnW9Lf/W/8+iOGuRqh1fWCORTAL8x2YeAedHlPtJzDi8Y4ctjboEqL1Jn0CuIdEt6HWFcU
g+yQ4OCuK7TpfFfn9vUhV9fOiNAQECpQCH7Xo0xL024CDzyyedTnIC1w5OV4N+c41yIpaq9EVhr2
WJkZRKKxGVQ2b2fFyw/aud+LqMTF8KvOdR03u2LXAplboQyDYI4j1TG7rUGjvLuffY4I3veif1/p
NM7qkvV9BZ1ellNaE+s+QbRE+0adD94WIWnbif5jhOwYTqbqqSgOsPXnF0CWo6MjAPRGOzAvcLSi
1nzF2r8m11daaaYY6nJc0/ejI9q3kV3WpNmpF+Pw+Wi80r2w/x82w/K0Y7ypoMk6eJwgdLl9xj4H
mmJOnOqYntILeFV4rY+bnFFr42CAI+zKuMgkao0v3vCYBA7CPKzsQk34x8fnJ5e4fzsk+fPtGAAR
2xAVaBXiKB/Ji4NYc2fY44ULIJsxianIYES3EG+JjEHObT7pjWoilQz2svFec7WDnche5nPf35sa
rSQxD5JeTtXQhFI4QO1HggEqDE8Je/AUcKBqq9iloQNWUrHoRTKxqvL7HZOjvOiCTsU1Vv1L9W49
jK9NjbahY/h+3e636ojfJDEBwtToglCYGiQdX26990v348Fyf/8ieOmDxD6zR6JxI+ONu4aZN0mU
TEunxRXmgwViVNZlaC0XHbmaZ4GUdj3aJsh03dp5eqzOlf9/Zzk/eOC1Fe+hBgZyANlQVBGNhN8P
Np7nXErVUgQge8HhQtdbk9fZufmJLSBcbr+viSYGVL5JY+A/rIomm6de/ErRllhJhhv+0/Ja8h6S
xHsAj032tXPw9WdzY3oY+ats8K/sjnhqXf/MW08fXYbiMlgoJEP/MoMVvMWDVvXFGImonh3Pslur
KIQjqhYhcfdp7ekiJo5ECiaM7t8kMh+5E+d4mrC645LdoTBsGOBbRToYPU/zj3vE1c/8RMtGrPtN
InM750FIwiVIRFqKPCtOcKHMZ0i3cJcbb0US3yRRXF+dZpHlC0h+U1jRgPzs7bI48sePnd3vrMsH
/KBMCQZtdIvyvJS64TB0WZItVIdB8QQT/i64KWUFz7wMBqWRyRtgxMsJdDouVt0bBB4ysWl1FFkZ
TArUvvlqoivgPfth+XYy2eNxh2U3oMS2o+fqwc5vH52Blzbcann/9guZjzBE+dhgJRZ+YX9AYQKr
Ks6wt6XxOxdcgTgam9jmKVeJRndtmu9gZBx4fe9b8PntRzDfp07VNI9EHBPorDWC4V3UJDyTJNxw
i573v4x89T0YB54koVU2VgFt8eoeHuXX/OI+fdbvvOf9VqXrm0aM6x6XBaFdBI36g+PsrA7E46jW
Bvfno0YUEmGwsfLSs4WpAkS0PlY4n7GnBAYhPBvpzuZWjbcePd9+D+Pb5RSeWB/oZ3acd/V1edcd
8LCA7bIjA0Yeac7oGFicBM7Wm28tlW16EdpAbjOJSj2e55v4Xq5BCxg5d+reD08T0gTYzBW5M8Hi
CLTvtceP0JmP/TsP2jaB5s9XZ7tfEiOMJsvEz5hRREQWxG92gTdhy6qF1WscGKUB+xULYxn3xrDM
LD2rRfhnXPcgcYaHHRIT3EG3bUxbKcW8HOQ+Uhuh/xLkIS2eKUQKkRafbAHjHBjosKFcWHB3jX0d
1jUFGUhLQcYklkMFBUsyu+mhtJddSN5vvagiGlpvbrKMlA6C1Mp/PEy+fQPOJruPQYdFEZY+6lGy
N+30x98Ur75ZGwNlVVsuVqTjzgFPX1C9wowXduvx/RYHRL5Af+VNjCQNwTKBkw/uZ6kieRASM/jM
nTDxovLnGJBwcYSEYJ2GdZjVN46BbcS037RkIKysLHUQA5w/klGiLcSe+qHG6BJdSo93bzjeS2VA
DAOHWSEZ9FM7dHGoG2Ja/0Sfc/0u8nmQSX/3v+xKUXTRMiVZM9jGJ6EX+nY0cKrZ7FkkG2/04Kd4
NAz3b85vJYc5P2OSApwe5Dx7TpAQZElE9A5Tu+QI2kSClSDm9EZlGq2obejpUQefHnrvNYI3uC5m
q7sW4eGfc2OQHRnDTgsCiOntzvHmG+UYgNzxRH7t4VkKsuvOX5mL7MxNlmxa4h/J7KhtoprhMPSQ
PGEt2o/fgRd+JGSZ7AwAxF3DtnnpVsKYh0CvgwtDsijcyW5rx/BbAWAGy5MeudX8jffp+kS/opXV
/c6qIcJ6FeilkPNRQiO75r42Pi+BwTs9Br81I9A0tYIU4RbR1SumodHvgvYL+7p9bKW0vmnD4rXV
gAGW2rtu2I78O3DAp61WmFLu94Kz+6CtLvHt/T1H6qbLXX0uBotNuaizMaZnONjZrXnqPfmlu3Gq
p0/B+Yh87vrqrRLENzWZEDI3c6mpDAgEKYHktOe+J4+f/Tuwirt2XNrExZVyDIS0bSGauUZlYSnV
W028fUgycL09cvODWwSM39RiQERcEgwh5BBVOZ1Ht5zGtY3BYovoduoKD3l8XOzm/nN52j0W/qdB
W4c4XoBKuILLX/a1ug3YMhRZFrUf+g4tbf3XM68DbeuRv1by6+8rESZYOPK6g4je/toAjNe2sGC0
/XMH/kz7g0d1sx06Ie9k4mUtSpLJXIk81YR2xKzKRT80FRnP5e/0nD/9inaHLnUe+1u8eY+0oMk5
ya2WWF1eyWUuxWT0iVR1kBudji/NBQkp5YBEhv2IJkLOBdxI2XwTxVwHMZyauBUgKiXZRbpBuf/x
g3PFNxF5pQ1zC9IgbCrThIjKOd8OPwwXo3KPu8zn5Qu3n6grQcwdMGsx03p1RmTQ7JCYzEn6iaoQ
5vZoD6HsNiaRHhq3d9KL61aYQfeE+xHPfPLE62neugqKpItYn4YCElIzuCorO42NSAw0faHJqCq1
lZo4vCBoM++jyDJeYxL+p7JU+m2ahq3YmfS2eQ/B4AZo6m18+/N+RBMKRoA533Ar6FqLY45W0cpk
nkuIS4nz9raQWx/s0xm5edpxO4Y2n6BrWUygIswCnHhLVcMb+Pxye/FAd+0HOxUMJ0iec+Ovza/1
5yjZx2eGxK+pZf9zlLo95QiG8NK+hP7kgmL14z7i5VK+3nYsVK40ZN+ZmRIseBsYuN8xUd7T5SBI
boxd7QfzeHB9jPf9JqeA3BwIZRnS9cO9g1Teh/4AWrSfIdhJHM7X3QKB9e+hIcjKXmWzEWqJnriY
u0179P2HCPy9v17tGa2Qn3Yne381xKuvZTJhjTAriZa1OIPjy0uEJDH5cXOQd8ENJ3ziqcZAuKkI
eVNnEIPb30tYbRVP9538MxRssfEt43T9JHm2yzL2G4oehuiww82/hIQuQnOtxN77PkELOJ56hZ38
BobXXJ6erUhDkdGQIkk0GawzpzmgFom9IQEeKwKYlckLSOcw7VhOZKptlGZ4BrMVk67FMaeaD/BO
bQtxCKKG05TYyc6+DzDGtr9+nttX849ajCMMjLIcWmqYxsMjGhQxMXr939/0tGtFGPcnB1kMwi0B
ijiTbEePkq+/HNR37L3fhbfc4a7NGHstjnGFYSfriUmhBktxM8ep1N3shbY7e6/1/tC97bjj41tM
i7hmf06QAe48GU2MSEBBFKoLB+t/sIOIUkb6d3R3gE2r4yMx3Z7oLu9st55Ha9EMjs9yGspmFkmX
59mHO8byxnQkOs/0OSbCtqk3pdkqZYUj7R5HB+QUaDDgQMjmy3mliEEVXcFj3Y7VvGDNCwIYSlUJ
gnObDlM+mCeQR2A3389HrGr+4H67rZr/+tux3enKEM9TaYY4QKd3BXw5ZO18Xti+VTz+JoWBjmKR
tWYoYCHPzluWEOxpDu9E8iQS9E6EDt2OxQtv6b/4b/f3j02yZcLJnCqlsXCefUMkEuyXnPZqoIKA
musn5+NtlgwU7M1AXUVFZw1L1ZMsjV5PWi5d+tl2xCeJ1qtuyjvb9Hj0fVvdpvpaFAMmQ9fJg25l
EnVpjhjuYwxNuv3tYZZcbqvZJgKv1GKQxJSzDvszCtjGi5O6zU6xHfCWcR4Hm1HfSggDHvo4jXLb
Q4hj1kT8pe8e8x8cAKae4l+2sBLBgMSgVkuWNvg8I2xhF7qXltS2uTfeJPvQ6Vzql21r/yOPhYu6
EuVmNPGNUE9TjtKuuqtyu6orV7CcKD9OizuMpPGs1AGxvlxhclNJ3LK/u672V3h+RW0WUooCOzMU
JE0vx9bFqHs1AFXoxHQfkufAx4wDKd4fHlBMdhJPA72UfolfMEO2P7j1Xi9Jv0eUz+3J2QTs1dkw
YaCeF1WvzYl0qUySjrtlsZFqmsmnnnPcOu+mGAzmWLWGqyLgKxSyE1kYK91F97vD06GuCJd7j1rQ
taNmYhUt6408nnHUNC9yPu8TkJ0NxD+dXg8HLkvjVg/fGgPYwZhYWHKkciHtPMUEuy4TW30JfvAo
5DYzE4pmKMhNgNtCZ9ed633YKX1S4trY4Y3i1H6wVx6K3fSg0qW7DR61qJehfqJ8pER/um682/5w
JZy5s3Ey6IFa1BKiGNAbn291+xbR7kOH3FbjTjatzu8c9eGv3MYfsSzJRpVJdYdtWNJFq3bF7sae
Qls9oq2CLhf5qwLw6oC/KpYrnz8FUqcEEg4YjSznwSsJ1m9Zg4P8/5FLfrZpobqKJBP48dC0w5yn
poB8Ipgb6jc82dVtPHgffhGsEzs8foIo9frX23aIf6SxxxjLQdXncyshuUSLcuFheqcjqmnloI+A
I2vTgaxkMZGTlVvVoinQ7HxOQkcfXVVGE23tPXVvjynWwvg8j7WdF1lJZDAsaYJCWxpop5DBK2T7
dAC9rTu5soXijfOxPF7XkPPpFAbIkqYKykUZpYs3+sVO9R5FznZt7udi4CvO00XIRkhoBGe+68Av
m2KDzv7ImxrcxuTVyTFvrSJKVKUvcHIO0nSxiyIxxiDRLc8nR98M2VeSmDipa8FdoLWThGTSi0Nf
qheJXOqn0t6bJ/+nbae3u8fMfUT0yeuz2cbNlWg2bOq1MZXHDkoe385v3mWuCTYpEjvbRUSkvfr3
Ox5s8e4AE0QtaV4Fagdtca6aZIs1iZ+KI53+f5w78pgc+vfy/bpVbhYewArxH0Rht8tHkhEplQWZ
oo8XOtrTRjc+W40t+HZbHTKbn0TbjEf/SGSTaL0yFkakwUyfQd4T2eiXX/x6376bvGfl15X6lz9f
SWIwJWn+c55aCVYKVDg8is7Pwyu6ks6FZz1oD78fLtgq2T9NOyFCg1C510dUr3jvW2qm134IAzVy
2anNJFFbAqtDc5t5BSj9Xr4+KqU4RS8H56ty7g3LX2KETVNmCW5oh859763bW6RF2v44ItLwDvo7
qnQciZsvtdVZM+CTNX1sKVNPb6p0iwXX81cLmnpZGu4rW+EdJ4M/chtZorlAVu02Hl0K8VKcZtsE
N3NJMEQn+SBxe51c94evglIIszVYiIvSj+U4R95B84yZAShNVnU9CnF9ihO1sffW1m8bXFjui5Hq
dM2EGDiS0AKfBxZ0BpG96oM2EaxryY8KPrJw7f/WXhkg6gJJKhQDwpLMPh+991qzq8o3bxx0pSZ2
/DcM2/oKhFQmrCkpd6MuwlyPiA7xrouJZcND7gJkm67b6Ve4e+Uc2Q2ZVTurWhlTj/LslIfotk0w
9bXf3xZObQsa6XwbQeIxs6MzGDez8we3K/Zrw8a1X8CgUpgHia73M9y0dz5i68v5trXfY5Ie9pQU
3s12h4rI3uvTI3fqjBOCaAwMhflkFkMIGDo76Mdtf/Ac2BbNyvo7fv19FQoHg4TVrdKA7zh4Z/Sq
KV7llU+j5VouOqfwansc3wvbHvwDWkD9X4N993CX+z06Up8icPiAocNffPH2ZnCx8Tyzd8/T6E+c
B/VmZhVrWHX6GkIjP9sVFLedIdSzSJFK2GGAOdtPTps6WuwJGRn31vOhwbr14z0vv7RZk14LZq7w
NERWJ4VfgsV7jRQxwcDHy1mcQb5w6F/F+ozRel5KcjMqXEtl7nIdZpZUg2zogszgy+05f0hDW8rR
TadyrtZmWLiWxNziPO50MCVRSRb63FW76OwBZ3lQXOlsvF6/x5t9oCthbKcQeLV7tUwh7IgRpLD2
0rfoVr/kkdPv7dKAz6ndHVaC5c6Ne6PYh8Ld4WLrBuH5PVqgZW/z+ncwt1mM8PAuG6p0EznCQzYT
uzpQFqPr+m6+pNdymLsrhUU95dYCfTFGdntb2w/YeuUbtksO8G10PjuxeaXjLbxYy2SeLH1XDlG9
QLept9+9BMUANGwfuBzpPBP9asRZwUatpv/XRI/do+K/gnLw3rR5npoGINc+FBM05MkS6vhYOEDr
9nxOMYuNjt3Iom2tH/yaJf0c16QxcUEylLUeBZAWNATT9YfD4P+sDvcc69sK89YfiEEUKx66ogsl
6SKne+EB9eglsgOBN/G9NSCkr8UwEKL1ljwUJrW9Z7Qm3aI1af9A7n64oFYCo9CRT0jN+1YMkiyT
lLRJRr/VsXMcDcQPT+ivvq29SEP/LTershW7rvRjmzCmMcswAQ5xYFGyvOKIEQnsm0FzxPU7vFlC
1HVMPemaKksaG3tIixZJChgML+WyM2gaN7GX9zFyng4o4SeIPbgZnK1IeS2RQadOKoWolBREjccG
TcQCGhbwmEQm7P5e4BS0N21xpRwLUFW09P1IjQSnqBa2hkN8vn6Am3i0EsHgUaMPArYNyNJF6El9
1n6Acae3Yyy8/StPthJE7XMFSMUiZkk8QJfRdrK70m4aQudoj1xWtq2ofv19GFDqwsgYghjf5zgE
BFH24QbbndPb+0fKHsStBG3a+UotBpQEReiSSVDhq4xf1auEhRC55KSig+QJlzeRZ3kMNEXR0KnG
lzkcvbfbhdQwB1SQQW/AfT3w1GLgqRZLCwQHOMTKAUvR4pS+8SQcABO8AiG9Lf8C9dX5MbAkgiC6
NDuNZgzPw0V6OMjOE/W81618M/O0Mgqd6Qkrq7gx4wJikFBW/Zfz29vtHmMYWHV6clGRfLKPkX9d
JA+ZWAbIIRWKQUxhGWCAPDd4yspu1HjJzbFKCB5D/+VB6gxWjGbTK5YIcc8vAlH36C5Ax8Z1lThw
xLa5REY9dVICEVFCxt8iuibsQeZZxLZnRMXYoDPVhmYxiBTOWCSTgvEXL6rAh2/ce/vfd7HtwzGC
fMnGQlJ+/mwz4lzJZMAJGxzVLgp13GKMf70Np/lGAMU/L/b7Crr+bex/VGOgaeomOapbKgajm6D1
W0jlYbk2clWBzWuuoWBwTRYDTHkzDmaO18MFZPzSQ0AO3Efftjn80YaBo1huNCmqDQp9eJu8nGv3
PEUg9VXO6kt+W/mfO34Usw3uf2QyuIQdRw3466EV0o0vjUy6iBhu9jOsyCPy1RzfuI23f4Qx2LTI
nR51GRSkws7x/vpt2kwT6/8YnS4ymDT1Y5KkCnQxvHe0Uj887IsdzYaj76/EfjebI24zfF6JY+KW
ylTHYNEgTkA08TK61WN2bJ7B5eJwBG1BuoHiKCVHVtG8ydiFOEZFNqMbA2O8TvB6lztI7GNukSNl
y0OtpTCWMGGKIM17SEEpwUJSXyWu4mIfHkebzZ7CtRzGCJKsHpW5hpyvPTIgG7ns0Q+Led+fP7FI
ndcMutmcuhLHOqpUXkDDn0McuHccL0Q8cfFuDdKjh+U836NZwSC3dJSBPLSv812lkTt3PjVYmoqR
4F1xvq9/gO/o+lFvJlnWv4mxnBwroeuopR90cs4XTNgTrINF0xAQGWSkH9aJc+/ULexaC2R8mTYZ
qYIau4zoQ/bTmahviA7yT1QYRvd8S+LzQ2ln3mX/8AA6/clOnpHj02wwtOcWGlldyXULcmOjdsZj
6dtChPUPY3xTpU2C3JT4Yc8N2kAsPt/gFr6tBTCOaC76sp8qetTeubUzkSj+/zAbSq88b7SZ/ljL
YrzRYE1FK9J7iqZVDA4iA1I4+wsIb8XXX8kPnZT7CuP2z3XAa0HjnSL9++opoHbjpA3UxhXsnLdu
Mve6vW5mI9eKMQAk51nUzl9f6fjyFmH584PhnmCtCTbNc9MSW17QMCxLtrCNDuwBzCkanSTOE0KW
S9MfwOckex39aGZ6Mg1OELsZUa5FMec2iH03FxiJuRzBMfj2VjhgtXEtP3cwucyBV55WzBGCejia
tAKiRP/5/K5eUo+Dq5utOmtlGPxetA5j5xkkVI+Di8kCSijBsYNtF/Hn0zDQbVGCfiOECIfiBha2
7tGgw++B3XxcrFRhu9qmpVKVxBqoPXvefL5Et7/JL9rhhJnVz3m3S3ze5/lfIPkf1dgOtgUcQJO4
9PBKL2cPnIvAQv8OITId3ONlPDbrO2v9GDgOZHPQJwn6gRjjUt6HJDxkEZrrCWqBPtYt2o9VTT5B
fC7c0W7mD44tbuYy1/IZ1KVTPskiQ/7so2MBoIhmVbwCeL6XmgMbMa/FMNhraJ0RLB3MBXMvLQnP
Ha2XcGzyfwHdPx+OgYvMBNtEUkMXpEGwNZukPUglE5J7TuV39uETY3T3nzG2A3Duwlb0t1aOwY4K
sXrTl5ALcwHGm6/DTnxv33lieGfI4MY8/Qd6j455/2KRc/+z26kdutISfDUwD/u0e4aj29brba0b
AyW5NEWZHEM3LD04Y9lfSaKfPMV458dgia4HaVVRZ1mS7E5FBeRrcI1nHduBzz/WwdI1a02T9qYC
E4Sda97+PT1gamA5IdyzbFzv6OHmYPdH9SgfMSPBOUWOhix9s15oAhAfkHL0pGN4sOzai70jqBY5
cra9/x8dGTRBqVjupQUneUQlc+rIKNAmCge5LFBovucdquH8fYybkxgrG2GJnBdrEkWrh3aUNQ29
R19Ehdh9hnGMX3f+6dWN3K9hjJb7UOFcCXaMVay0GaVpeq7T4nh7tBaCdeNRuKP9/WCs5lbjed+R
QZh0XGajVHC+aM3A/lhlhz3srY0u/1e6qyH00NmFHdTXPyrPH7FUz5lsVMhuQEnMBoMGEr728tsH
Zc7JxUg+70g3pZmSaGqKKuFFq6tMAGkluRCkVMXz4iFFhG4DUjs/NP8ADdF2SzjabR3pWt6/jrQz
1Yw+gMCEd0DysCUXtIY7s0I0+0b0DjYGFS00wvByOFtRGKafDVlTaHCpSd/1lLMqGmbsdIbRev2b
gQb1inftt6xzLYK5jVpSx5LSSrBOx7l9H71HDjhvBkdrAazzXqxQ1jIIQM6LPjLQloH3M+afXMyc
YJ8RR94Wgq7FMaYhlEPdCTGOzGzIEKLX/DdHwGaP61oCYwy9Fk0Y/4AEVI1RuXsnOY2AQCJ43ei4
chiPDTqyIegHyMHL/gXMmZF98Y17hD7gL+CIoj+ZjXzWKjFeO4rnDGmuL5UcAGPmST5Y83CVeBm1
zafZWhLjqvumjrBXdqHghG5BqQVFu9pR5I/IAcy+Dp/tfis4WEtkHLdpDGWDpAo+V03UCwI6vkfj
XFM2Z1N2VZRqI0T0tEEPsSOicWSsf6BH4v7z+fq34tg3W1UoqlpJjHjCAc5uFHumxF8IvY12/6AO
W0kohbwt8wDfSOtcsXlOE9+YSCTYTWzXEtgkjcyRnWq6XFeMA0RscaFsZqsY6SGCrSMBLdVhZ/O2
OWzm8la2wPqNrMA0Mu4VzXi8vOi2CppKQNHJjS832MrMtfbNUsZaHgMVap+m5kDByHmRXsTPkjT7
W3Sq5r462gvGi3aHUiJPdUTuHz+4V433GRn80NpFXcaZCndG7G6ijI083NgK5db6sbgx1XMmi7AU
jE60D61N16rldzc7rJJFlzPH8nmAqDPYMczBLGcRtZCX8wRqRu9iOg8+mfynD044s5mcWCvGgEZb
Fdhaq+CWgd1d2bW/tNeP69a+GY+uJLA5g2XAygTsloYyZ/hdZRcTDAc/PtDJE7QtoHPPfxyxbPXI
q+xyoJ5NHBTatCxSgkOM/XtuMyQP3tmZWUkZ0lrs8a8/O9qvY7RHvhrVyOGianaWge4OaR5uVe1/
iQb/wSt2nC3KAlMTwi+fgrwYVpqACPY9dF/B2fLTtds9zzNzIJgdoFVAPT4ZCY1omrv47pHHJ81D
KXaILZWMJkOjDrXzEvFF6ua7lpxJHBIlJOoAvvg+RRDAu83cc2QAo0rTSQElBDVJbLledpFDF3f/
xLLh3T06d/7L68wufBKHKdeXCjcA8c3Zk5xLjX3DGjaF7wFVHzyo4vhodsdToI1anchf903zzm/R
R3if3qWXcg+s+v/hIjAAUulymNcTFecgSHw5P4v+i+Ulkh2WJHhAQSzG1snrkMK7fGzywGiCBRSx
X2iMzIt3++CrF989HL4G9LhMbxz3wqYLajNW5sKAhiOaal7O5wBl5tLdWYl7z9t/wQkNTOaNUudd
t6jK17cL7soT0gO8us5mZX4Fx2x6YDBLtBzQZxDY4vFYBqP6K2pbjygX8HzLZjZ1LYp5oaR5Xc1q
gWuGni4Qk+FtjvRtiCWod+aJkNMr9qRgWw929dDFQDwqIR64sMuf0E0chbIERUEI4WVOs/N920WH
FF4wtLOC84j5Yk6+8rJg8wKDlgxaOkNcbyNRjdQ4NkRPBCOWdz75cSp+Iu56nH88ZvcVZebnTpxt
kjisD5uJULLc0CfDgPyUFOjAUZ0gJp94BHD05AUMJhObgHUmFgSFYidq67kbodeel57m2iiDKbMu
GNiyRG0UT4xlp/hP6BxxuE6cF5qw+5wkpDpjqYacxntB8wjenZcMlejAedh3RHUIiqu2a+9SweYl
I3jmYjEJjwGco0uqQPQL7cPx3vdYggavMO3oZll/ug88XycTdqac7BsMPpD2KJw+spHwMj4M4hiS
BCIzC/ReoqrK2I7MfM48yCYxCaPspJY38mJjv4/wMxHcMrfni2qQ68DNhGT/EsZ+V7FZKlMKs1OV
iA9KbRGzq8/y2HKCWo5O7Cs1b8zSVEvoFGikXMgikhnbezI7TEhT2hjR+6+0Yh+q9SAEuShCK73P
SNaeK+leNzhRNPP++Do5TGybJobkdFVknXqPeZQxWvLsJCY78Wf7ZvVomJh/X1eEJ4T5PF2L1buZ
AiG5MmDp7YOUp7aupvZs/cUH0lVDskBcZ4BVlMmU1VCnGrIyO415S/R0P5lEG36PknYwBM2rctnO
8pwjc0s5XTM07GxAdyByjN8zjFKjG9MyVNnJSNByFOwrM/TiIXFanbMwfcvI14IYIFb0UR7lvM1O
WC5lp+KhjD9EXeFosylEBx0f+sCwwokNFCxtEQ2NCpGjCIf1u5N9KzxcN4cNGRKoBWWsrjEUNDkx
ENUqZp+IrZifDDXxivowW6goLBrn9mx8F0mWVAkSRFCKfQHlqkWiGeNs1iw1PxWjcK9PpWO2pm1o
r8nkX1dH/Z76o1cIggyMbVmGqqpst2UwmH2B9YX5qesnqk5tVBwJ9MuuQoD/kSBjmFK1VBM7Fpj7
YwZdk4yVlJ+k9j4dK9sMGzuLz7UVeq3God3e+jjyf2TRo/tuztOsp0Mi4uMUmeWOidupqlON/++m
jIUfOCzRgixJoT9i9W1CkGoNQaXkp1Y3ulOhlJknNIN4Utsh9K5/nU194IWwkAzZf5UltEsKsRDk
IStOseh3Xe701j5G4/z/uxANsQn1dIpmsYcWm5qpdEVSnML4vqtBBETXrUmK/RdSVEPFyemyYbJc
DWqY6xEcW3FyhHb3LqX7v/jnMQJiqaokgkWH+fKDNTZ9VZbFqYlcSTsbha+Wf3HzAcv/iGBufmck
6pwm0GBcXHV5KbKD2X/+hRa6JKFVXTMlRWRQMgVVnFgpEBFXiy2IQBZVt0WNY8Bb4KLp4EEEIblk
6WywmhQSApwBUlpJd8ZYIYJ8r2mvRhL/zTe3sD8K2QpZx36g7zcFZOCV0YZScZpL11LpRxmKn9dP
bAtdtD8ivpIaq8toDG2tZqlcnKzwQVOfWkXzl1gnIiZABaFyrwvbOjh6apaJuFCyWFTODLNBcsYq
TlNc7BM1sXEfpbJwomXgXPwtWF5LYjCml4RqCXu9OEnkdeTcd54W9O+rI4v1fFGjyihOGtbkquc2
ctv8PDWcs9r4MNixBRPGWiQMmn8RDqykJFJhWlElZKcle8Oypr1U7BYx3uWZRhKJ8/za0OibLOba
iLNuCpEAWeNBnWOnE+32lEk8a96SAt+iYdIMrL+WxpxbI7dCKQxFfhKxI5PUQojVpvUvzE7JjiHm
Aef82HQc9ZvUlf0jjlFqmZMoNfQS4t7aqCUtEux546lhQLrGV+uLNn1oDVFmkieeGZ5UXxecdjxZ
SmgDRhxx3gm8E6BWx7jybz+JfRaFZZInFk4gGo59cVrG20jfXb9iG4YPEQZiOHS+oyVD/m6cS9b8
H9K+rElOnIvyFxHBKolXyL0o2+VyVbf9QtjdNiBAgACx/Po5uGe6M1VMEvYXYT+5Oy+S7r6c6/gz
q8vInoAgnXy05Mt9Autn+I+A5mVXhfKGdCFAaRtw5yzkh8E//G80lkNe8X5DpTO1hiyjnj2r5GVg
cQARu09DTwf8X/747yDLQa+IWL2rsJgLbojtkT60rax7Zq3PdsQDNNdYNd17p06qQ06sdA+UP2Q/
DNM6ZG6Xn7vRL1Bks72wFyr/eP/Dtl5QE5OkTBjNlwtm7FlMfxvq2//2+5pcZGY3uQA1LyNSzHvf
ax/6NN+Yu1zlEbZsPmTAyfT0lp3ZaHPSm/CIxu6ong3r8vQbR2DEWsASMCThaU+nxpwmRo7ft1I0
M6aXsd2S1NVHuKKgPYJyMkHjKQOCSi/DMsPYwFbgsHpH8ObNf8Ig3Qt2YJ4SAry9yOBfs/Fiii+t
2NAFy0e+UTdXJLRDoABHxCRBosfIXFmHvX0wnyfWbtjDtbtyTAebIrDOxrd0uCbXbBVvegQoWf/V
7L60zrhBYO2qrgjo6ExT3A+WmSGY8936aAz9Y0lMILLlP+5z1RYZzT9tSZ7wgYCMq2jQ0UcLNXu6
u09j4670vVnT4DrGONs4StIHFvtks7/vE1h7c8cCcA2iBIaUhCbdQvWeqZa7QvP5yfLt78R4V9Nk
xhbxre6q1bPYiOCRlyCQdC1ksIRLU5STEcfVr6PCvIO3NR282EOdgYGG8i8F7UWM2vNHmuIw8dz8
EDTPsUj1XDXtJ+r+OeaPM023KG6dyb41CrJUc0/t5UxFHpjFS9FvmZ3lm9+eyfE923N9hlWjtxT6
kgP6ZKBlpJJC7aSVfvdtuZvz1gkcbDtBLtZkOz57f1bmdDZjdrjPH8v7vyUPiDqsb3UoYuJb8mKq
52l0WQm3skb6Mk0vjXIvVLzOg3uU5ig2Qpj1C/2Pnqaqk7lG/ERgZZX3wuvvSm2YglV+x9bU/3ce
7Tpbu58rYuD3D/YP98/PG7++qhJw4chWYJSW/Ry0uvIRvL5zHWSsymg0Dh7D/jHzoai2eG71SZbs
hLnsfgVj3D6JkyDgqmgionLi35oCqeVk3JP2VKDcspXx1RGEf3o9jgfcVcyMIzevo3VaeZ8MXYaM
yFCo9Bi7UxKoKZlPM5tUaHlGHJq5R54xUo4uCqfiB942TzXnnxUzsN6xnt1QJUmys3zun/K4K1jY
1FkW+v24FcOtXj6BL8tsIDRhHPL2XkpSy77pcsRZygva79zscTO/nvaw0RuKEQhsrYep1Dzysahc
KksBTyKJQ2v2wwq0Rv56X+hWmfSKihbHY2W9U9ouqNTJrsOQk/tuli/sr/tE1q/rn6NgGFZPQ3HL
tyZsoRQR7S6df8iG545vkLh3joWEpo9Nwoc8WW4rF/uxvgj3sa7DzZTE1kF0eUAe1EhSUGn6b1P9
ouS7Xh7/t7vSghiPGw7FPnocxH5CLce3LvO8/w0SzAd3oSyA+TbtrlxRVZylUkQxi985k5cF1DDT
APmv3X1Cq4/iI9jDEiLThc99KyZJ7DSzIRBODq48WMBtFqkVYN4C+zM23PqFTXXbsYTujDIM6iF/
f0vJ5J1tWh10B+1EaCQHNuxY/Lcx/TUwfkrLrxONN862Zj2uKWriWbBpmOu2FBEzsdDUf42basO3
3DqTJppM1VgMbICCMYwnqT4AYj3oyKVhdtBK9Nbuc/75/nutqfuf2sajvoUQRrvFIuGmyH3I6Wgi
fgkmjOKynfjixp/u01njCyTZkWEHpLf1hgGdoZpp3YABZ3aq+fvioZ8Peb5BZO2BPDAdwC1djHDq
5mQqS172swvNRr87HC3j/DfECAkwxmwYeeLrUOFtbxFOaxjHMRXlZ1o0EohpZRpx1c8brKA3Ify0
jQQr4ClKRq7jU40XqIPl9sYMreBhw2pQPWEB3iHh2d60o9q0nuaiC6T3vWRbweaawsPhMP2K3Ds2
by3/fuVlNLyidZsOkKtm2tc8Df3sO59/PfvuoCCPyhtWvjGie+s05QPQM8Y8ol5BnmWdjAdndMZL
3al4y8dd8dvh4BLTXfLWLko8twcCWEw/JGzKoyqLD02avXdSrAW3u93cHEd6iasRroY5BJ3zYo8k
pL56IqoPxCPzm6DLrTKwfbTrVXH//pdl4ubDFna+umkyqM7MfZVHluV/Tn0VZJi8JBk/cbqhK3Xk
wYWZbkhpj4pJYyAK930e5f10EGbQpJdsfumZHzjOe8s5xXVExmJHsv2Yc5ifbPc7R/VdhGY+BOgn
5OfVUStPmUWMTAlsdRtMyQ87NxGhne2t5rIV5sU5/6OjqWjUCye/JV4elcMUv++Gsjx72fSpVUC9
vX+iVUrExhoUExJKTY0S82bDG+o5j5xE7DzvS5rKoBrJ4T4VHVbkn4e7IqNpAdWQuKhtO4/IHDrU
z0JkG4JZxIfZUt9y5UIHNPu8k48qcd+Z1XCgfnd07RErks15z5I+NAd6vv9Rq0eH6EKN+zAZOhit
JGRu6ACBArpeYJ/jOA/4Rul3xSxB5QFTDzCkngO/5VY05sKo0GdmQWZNlp2kkLvCG1+IbJ5Ks3/F
1htzg0FXCTJncY6WSp2vyeIYD02KyC2PEuOPtPJ25hxUnwFntcvHH/dvb1UdXVHSRNHx4BuTBpSm
6ZMN/BYOPGisMyMMyX6sURw+3Se3lll2kNjDXyRFKLTu7VXy3Odpw408Grg5AzK95HuvBqZe4ZhJ
2I1FjL1mebez0njE/HKhzkDAbU5uLdA1nObf4robdym2Tv6O/PgOLoI5rufrWVk22KPyTHxWKy6o
MwfNLAO7f75/+FVOvSKi3/XU96k1xyASwBt0o8EK7xNYcWtcOLoUhTH4BG8ACwUrVM0tmkd8kv7O
nZ76JZOW1E8papb7+7SWh9IcXtByocnR4AEHW3PVBHYXm2MN3eYJ54uU3Snt2w/3SehTGYu6AQ0K
ZxBeFIymFifwSimTClxYNzdnwcogVgi6SeC3eShs9Po0r1X+OpeA8ibFZ3vgYTKOO4oCxGBVoZhQ
tuq2vmnlEW++yb5l4Mb2UKhjwODwc+fPOZtPBZom3BLzS04wjM+lDaRgS+1U907KFsxsfuV29cWF
rszdbMOZWFETN9+i6aUuRte5maAPDu2E7pmoggZmPtUX2tdxUMxGeRjLeTjef5XVh7ddoKchKQCA
YO1RRJbWQzfgURqPt2Gdtog+LHP+da3uom3kXyraNWN7bc36xIdLlh59/p60ZxG/3j/Imk97Q0O7
viFr/YLVuL5yeMngU9nwvUz5gyU/YpOFcmrDlDonAyA19wmviqnNLN9bdt7Y+nxO3ttS9OjCilzz
SMpLqr52L2a7QWRN0+J0/1HR3qmugAWMMa0iMjLPRhvG2O2LIstPsu6sYpcpa36gxJd/8IHLc92P
xjtkt7BR2mgAOG3EPGS87YOKx/GG+7fOQP99mPa0RVulYqh4EbV79cHYsGer4nl1au1NSd9OMZQg
2jZNEbRes5vG79kWWs7WA2pGbHBzp5UMjNMnyT5JAKE1/WiBdeuzdMMubVHSTIYpOj8VBhpr5/GQ
2I/zSc0n6fx6+HPDKctHXLnDXZsPPU/Aj2N/aZJ6R+IzK/INflzVVQjgHMtzUZpkmuuY9w1y3UvP
bsfj0OsPUJe8/eYXF1F9vS9eq/z1HyW9XcsuuxmPD1tu0eEy9x95Rn5HOV1R0ESLJMjbTzaU006Y
7yz1odpaxLVcxhvjekVAE5GkVJx3HJdlDR6066XEHGdJP3Dz0+KYJK4MsGDm/q2tv49nEuoBY9/S
M+2ksmKeTuhvnVXZHuc2Tp7aMj4mfhyUUFbw4nv+cp/kqqxiibaLEoUPh0W7xgpqEAyBaKJxP+f+
Q0t44BlbHYj6oOw/TsQVFe0uZ8KAoTUSWJIhjdwxrPhuEEUwumZQ26MIZrfFrvn2uYcDCqTTNBjy
NsgFYhaFPK5ftnvHAzaDh51kctw5aMnqvJ3oY+Ra+mdqYfTj/q2seOQodSzlewfLGTw9OapGtXQD
4XuzOg1IO+2G9C/HuRTmn90joVuh8OobEPiKnoNcBMDvb2U/6ziO0i/+OJOPJszSsevtsHEHf6OP
aovQ8u9XSkbR0ezKCn4TWgdCjz7RDpFGMm1c3qrsXx1HU2WpDeesIDhObp7QSt9v+D76zM8/zIRH
QaDNUHr9Od9ydQqjRecZlzhFIy5WI0JLnHPRh12JEswnkZFd0u2fqdiKB9eP5btoG0ETLeptt5dX
FWXdwu/MI9t+cmnySJW/YZRXuQ5Jtv9HQUsgFJSOmEWADej9KhgdGtiZ+SVLHoy6KQKWRqO75Ugv
0v1Gx11R1AzCJOKsnpbRlCI1TjVJy0CpPe0FPPskwMqgExnO3DJ3c1r80TZbGeD7N+q9qQi5dmHm
FOeVRJztrjxVzYZVXTXd/57P0wtCkrdw/UacDyCfQT8nH1jmvu9cErh8azZh6zCaiuvTfvTz5Soz
1Gset8LWrV/XXKre6My5GHFVzWU8nu4ru3WBwjgFFhWjeIIayS1nq8yohjnHp1dNH0qujqoiu3Sa
z2K2/swqBxOgcfcs/f45lWmU9ltd/auHwwZh5FRd7JjR89psMKhhLYMx7VS0gY1xlY+ikeO3+8dc
a7hE/hrdETYgSHBKTfv5dlo6BRdFhMxnOKNaPgLKffYQNSZ2WNUPaKHrJh64F3f4lHXzPlfmIS7S
U5c7ARq6DpPVnCW3DmOTRUNKvt7/vLVLuP46TWvWnSh5NuLrzLYIkpYFdf56n8KaQ4No3lw2NTM4
epoCc3rq5HWDWaCyOCey3fOsOahhCswTvAPE8+okXL67T3PNo7mmqam0nDBRGXS58+QrV26Y5MBQ
qT/FuM68/XGf1iofW5h1QUOEb8NMaEKi3EJyasF9os5riQbCsvHPVTJ+zpUXzoI8umpvyWQ/pt6X
LK+2nDd9PvunXbomv7zwlV1iFU9LlkxFhDkyl7L8iNI9xtWao2rMx677mBjpbiRo3JUPDSpEYkhV
IJE82PXpLu3lAU2cBx++1xzPoSu2dk2s2X5rGcxgbGk81os4VtoNaenhcqzpUGXvyk95u+FdrMby
WIxhU5yOoVNEq/TmOXFk5SParRosNo/TULUfLa8Ky8T82DJAy8TxngESyFAbHsdaMQNl2P8oaxrM
KoA1qmwTyneYg6ydgnR4J7rvY/29Gb87zhyYAh1mzYMBt9KK3X27pVz+P2fHdJ9JMQeBWvft45t2
wioFYIeoN+uQNk8VE0tDbqimOZxt9Kz75SXpHmSmNrT3qoQhA+Ri4Rv63PS8eFd6g1LJgEuP7aj0
MBfTOmFfyYCy9thkW0OMq2x0RU5jcjRwFBLYsfAYko/50ByN9MnfnCvZOpOmqedMEqtye6RNHOyz
bfxHaX21ygv23Z6tvNzfVxurxDCDhZFC5J1dHZiIVUODKTnwji39MBv2EitmuPmlRiJvzjZs0BYt
7fYAXsaEXPJBmdjzFvFc+20ygh7RD3GbekMq1pwf6+pg2i3W+QibshBLS3Uw6AXD1we0+4YFZOH+
Fa5r3itSmvFyMmUmpmEjsUC+lbJ6yO2H2DP2Ca/CiX6D66o4euWbqK7Vhoe3yo8uEGJddHnabwZc
Z4NI4gsoXYthL+rwQ2ZNONQbRFYtJ6IzG2Vp10e98la4WeFXVtfjJq2UHVlyaXm5yxWUeXzo1Cek
EoPOMjdyNauvd0VzYaUra0LRXUaA9VhEvjyX9hfhYsraKY+A4/94//FWCeHq0FNAUQv/qdmuCGHo
DRsOuwYmuhinYzUpBTeonnetmfhB11cbMcfqgzFkB/8pP+tIHGmXyKYbYIeKpAws+0VlMiBbycGf
vpwe2FhoXoVP68KnfTOZZmKbWFdDKw5+setY259jinKsV1th2bOgJcWL5GYVzH/xtjjWaKdQ1iEt
89Oc7KqJbZW2Vu/Yh4GyMfqNO9YeU3Zm0fc+uFT275q2nANW9YHrznuHwwm4/55rF2xbmK9hFjER
HmvMmnhx1ce2Cy8IHacgpdSL2pT4RVHp93tNRDuQa5tdm40epv/TeifFpURP1/1jrKnKawqa52gN
fLC7lOAFqyK0+78tdcQuuqBDndfG8N99YmvvY7vMxFIa1B3RSnsrbJOPSDuB+4bmkypsBL/U43Ru
03dOD2m4T2r1eTzLcxxG0eH8E0/zStxqtJDACWBFlBMeSnsnWnRXbY0AbhHRPOGSdlOZElye578I
heWw2b4oi//xJJoxc2NroJlDgWuhLsywQiIeDbklOauMdnVd2suIHMNAtcR1mUPITk25cYaFi97w
MRrdCZ4dfpunnWHuOff8GZOFijSfkF4N5Zy/9L17GW3z2Fb1X0nqb5BcZWz0apseQm0THXa3vKZs
ZeQOYtEoy5rII2itcc5ZjcohOp2R5LzPbavXR9A+bFEUvWFObonVjhs3bZdjON/sYItNOhwZd+oN
W7XKbkCwpRgGxbyTztOqdERqjCXmBnNfhNxu3NAlvQV7PIjj/QOtSiphmE+HscK0tpaxGg3ue9LE
iKI/uIfafZVpchj7PKD83X1C62f6l5C+eLBDxyqNK4y51dgDItW494eXvCcb77NxHB1toulaxExz
U0YejYOhZN8k+5AWzb4kyf7+edY4wTEXzBvkF703A/T5VBWtS5IySroZHVcE4JV/YTJhi+HWuNuF
aYdLhlSLqV9boRy37wmszzCph8mAia2T+nvaWx9dicp4GT/fP9baBUJjO/4y6o4uY43B2VAmCbbZ
lVEjZSjYd24je2K0BzE83Se0Wsu9pqSpipJiDGEw2zLiANoJ7SlFx7Tfek+ty8ghMRlWvU6yO7tJ
rjCH4X/vSZyEvWMawN7xI240JGxLJ/kNebj+Kk2bGBmWLo4j5KF2Xin72zK/opyXllsAamvSwDw4
E/CwMZrhaoe3B1GmaE6EHsnrPekuizUZui1MoTVtDIgK9Omiz2vp4b7VVqRgDKCcGAi0qzYJWL9L
+uoL7ZpLaxt73iMnnVkbYrHGP5AJTAt4DK1QP3cmX5lj6SWdQB2xxCDl7ASp+mA7LLR6LKEY+y01
uUXLvj0eGso65i3jYui2+VNk+77guwQJgTied/eZdU0KkebDVD4admxLb9qB51SZxuSVkWOPEfes
KAa6ldV2x6Igh7rIN3pg1uIj9JJhMziaoNHRrSll15JuXXZogp5KQGmRnrxrxz+d3n9IvQcHLUD4
vy7+SDY0tL435GfCDX1sNsH8EwXsiCb7blqQ0UgxZuulyCql3VOcte8FkgQlc46Oh4ztLMKy4o9m
MzyQOQ6yof0N9eP76MhGSs0yfV3d2RPPJptiDtefmsvQ0D9K7oR1rk602aoOrXIPMtdoWsbTouXr
lnvAk3lleZhuEPMUjf7wjqI5UE3eI9v0vVdIoRoDvCCG5nyE9dp7ik4AlX9CozkTr1jIF8p+3DWC
ol/g5T6frhJCJAhHCBBfmGK7PZNt1Z5oKF6wsR495n0Q5Q8xXQxCfz3o9ExMGgBIxLKQ59Cyc17L
cqTFMEXhGuY5QVtjabZAvd7QxStK8oaKloVs3DFtmcLkRI20FadPmQcM6Oo3XNYbKpoWceYuxd5g
PI5SxnuFnkxiPNtGtxQIRZftYtqF9x9pTc5AcYH18X/aAO2V6mkYvKxeJngo6YOCFKGfPxHvdSKw
6PW+wq60KlFBY/6RAGYOAzrn+x+wdq9gDqT0kbeGvGucX/nCUENlQs7dMajLHwg0fgf8x7umoYWb
LUFlxO5Bo3TrAKVxh7mBV27UeFYPghq/iywAbI7e35EVBWqRNcBsuP2DCqQi5BP3t5ot1mTKNgFg
wlAaR4lcu61+bkzVVEUVzZlbHfuJ1EFcOt9rs3kPRC25YWlWqVmmBZQDVBBB7laCe+6Onp8zzIYk
81naXZA0zXPvpDshtjafLB+uxWoeoEOgatEdgwlRjfFND6CNmZtUUeq/YDP3XJ45eaDDyeEbTvna
M9mwY8jWIIXk66MojWnXNYkNEZGm2ou4uyA//Jgr5+Ovs/U1GU1djJz4KMjmVdTOiJSOWP/hDxvz
JItkvrmyq5NoV2azdgTSOa+iQRWBpX70TfNbdwX0MoZOGUSAC39c+U99m5oV7XEI0ryCAPFfTPXj
/j2teBfLLPi/JDSGpmPH5gyTsJGFAeQgm5QM/G5Ge8I+z8YHOro7o6kfjJK83qe75vEj54sZIQul
FQ+poduzASQ+6TrqAWSjks7Rr8v6WGdOH2RxBxx8k0H1wtE6jqPtvQ4OxQhyTcNccGfPOHXPKH3y
0KwngFbe/7A1mcMoNkXXNyYd0WyufZcc0sFH1jaym+no+RTByHyYnMdq3sqLrXV/YzcNMPAWtw4m
ehGVq+cdLdUiIIAoWNw7T6w5zPnZadieDn7IutBEKXXI/BOQfsLkg995h5gOu6nKPgxsDG35TNyt
Zqk1lgYwAcUECOABkE29/SI5AT0iyaoqEo3XBEy6SZi6sdqweWsq4JqKJjhyGOxKOeC5cWwl9Kf0
QjsFEiSLp/pw/zVXzSvsK4YIHWzERqbm9kROVdmZNYsKyaAfFBs4BrSZ1dlSpBxMIBg91NZptB+w
GTKsfXomzfgbKhy9eWyBPMOgyc+R/Ks3rpOSk1LICqXLy2Rfyi9tXQcbMrx2n4jrKEIRB/uc9DzH
NAigfPcNXq01dllxnGW8S8eNMGSLiPZo3lgCOoLiIBXa2+B/Mezfs7fA9VaJINkAUwTYTsQgt6/l
m3HrFHQEkfQJOYGwkY9CDb/xJOiHQRMoqk24L03z+EM5V3B5agzkt1VAi8da8e+2h4nE4nfcBXRI
ERczrA5DweD2PC0HDF3XNXXEZXvkwvg22X9ZZfYA4b3P5yvmGxbCdSBWqKJhf+stoYmbGXCXugoo
OV0c+LVxMLrkwihCCz7svPKP++RW3umG3KJHrriadnGJPFhbRayfgrj6auWoM1XNr+sJTOT+LDQx
OHZ6+2w8lo2Zxib4Gj3BomuPySnz8g0rvtbeQBhmGJf3cTExuZz16iyxmYKjx7qOWoMdB9/9kCYv
dZ89Eoyvzm29q6qvaKUNBZdBG2P7jDDCvOg2pGtF8aKcBhTZnyiiaPC4/QgMUogi69s6YlV9rqS8
iC3o3RUOwYAfcuJo7Vy0kSZaqFr0Rc+LOpKtFzTxu9Q9JokInDIN4nHLtK0cB8lquBWokzmU6QMg
lCSC0WKqkRqxnHkH7m++eGmKkO0+H64dClV1D28HIm96uge3j+d5sqEv/A6rgRpbnMkg+EEJ1wri
GnN+bE7dDbZcORx8cVSYcDoAZ+uw/CXqfoMCSFvkFfU+n3vsTOH2b4y+4+pcPNUyHunoYVlnYS2L
P/o1JjB8duxqI79kqW9c3GpsNyRg5RKXVyL2MkxDPR0nV0izR1IX9ZIM/8EB26Wdi9v0WUBm4hyE
yPyAVp2zkTRYu0QQRBaNojgEPNVbhh87vzfKWDRREcuvRrq0qPvx8T53rGgpNN1j4B2ZOkw+6nCI
WeyZckzdJkrbRwboDeljUQLGP36dCnJk7GeDJbqkNNHNvZiLinIZOUDPpfMLSsLS2P9vNDTh5clo
tw7PZVRUTnhsMP9n5RttGGsPgs4BRLXwlnyiZ8A6NdktGzIJq8hPbJbfS/47Q9yAasJMGNrk8CZ6
kOl0lid7p5aYZCbHhBo7q0n2fR+f7t/Wwju3gRkOYS5ZbhehBQCNb3lLVLKdgeSJIJ0kkXS/EEsG
ErtRVbYFuLlFaRGtK9vR8bqAdU8rjF48U/65jDFjR97nxuf7B3r7NjgQ9ACeBsHam7dpOSXd5ChY
92/WFHRbIfnWz2tphhq4TkkPjygycrrz6E7kZENGtihoLpfbkCxJexxg2LfYUXT/dt6KOUIV4N3D
vYLRAVru7SOgYWHqaoLPl/GR+iLouleWbujIVRrI1SJr4ICx9C5usxFIDCcULyCfWPYK6GLTfrl/
jLU7gg75l4TuYNuyTZqRgGvZFAj1CgC6+wTeMitQqKBwF7GAwdTFAmtz0qlwrSrK21EGKTH7SFo1
qvJ1zcPRGOYNO/nTpbiVw1uCmnTU44CxJEDRRFKFbDrW9a59Uc1eJgfjkolHS20wwtYBNT5OhHBH
E/XKiFSxEzK3ic9jaXwWJhpTHVnKDY25MO3b4wEFAjPcFC7+8qBXwl/GRip6Z8bxDGfYiQ6jVi78
AGuQe1v93TjdbrQqI4inYUO/vTXYy72iwcWEe+VhfPyWsIrnjDoxoiS07ZT1oRTJDjsB4jYNs/zp
Ps+snXGpHyyY6hig0tHOMTrGe2HDwfKpjEqg39HqEmN3AysPdsyDitGAbDl1bwUB04WAFIKVgNEm
+oq4Kq8cODlmGznO926B2N5opV65vpvf165P2JwOuYPfH8YMiYd3ccCT91UW5Gzj8lb4EYYO1wYP
BL1iOhTEAtHpO7Pdwqn/eyjegRc8zOSVm4mk1QMtZACuDT9H331Slq1H5zFuo5R4p5oCF+VTb1Th
3KhL4W3UBZfL0ZgeJhyE4CggVtLb0KsJ0bNtZh1saxZUgLVxU0QTn+9z3SoR7CFZ8p4L1ovmUsnK
mBPmgkiC+6r4q+oPRft6n8YKZzN2RUNzqQzsvRd9UnQAlDFDVvBLg+bWEWsipszcp/V3Z8iDsbOz
jYhllbkZhcsLXwuSpTGfVG5MpqnsgD7yUYinYdjKGa8yHaJZBz+PTJ6+falgFYbpqraLzOZDMcbI
0Yw7aKTRtvf3L3DlJKgPU5Rll0yh8+YkojGdaRj7KAOEw94ZGnVuu8zfMiKL9dYYDn01iFlR+UYH
lG61OqNLY793+2gSc1j4xWuVskdlWYch7wJSDh+nvvzozuLiZUeSXyz2StSX+yd9yypou0J7z4JG
i7hPV/Swj6hsEkcBOyUW+xSdBQdu2MgK20McSDsv9mmC0jxWm5y9cSrP96m/fVBQR+LQw1IL5JJ0
6e5quIVdw1SEgbtQ+XNQmEeY96AmGyHZWzVyS0izZ5ZiIk5iqqKcn0RxGOrDgNGe5NEgW2+6yO/t
m6LSDsOFaiOwiuGk3xqwNosla4kaom7gTQ4Q76K5mI5gewHg3DCbgWDp+2UcovtcBvWYWAfDbKvj
/Xt9q2TwEZimQcCLaAR1w9uPyKyS8A4cHJVzvBsTIEjwMTCkuyHwK8+HvCy6eyAoKBrqCegxjsXk
DYBjZMOef2iTZVQySmuxQeYtjy6xOwBAsTUCwY+3fMaVM9KidlLQXAJV0GvMh9rp58fUwKyTo4qv
HQUqN5nM9uQW0zMa0Z0Nh0RfjIhELWBaMZ0DiDk0hVP9kPWsZjZW1Io8ABdNLpZhzZ/q4rH4e+C7
/MGfP042D0wVxv3Byy/dR/zQcYo/qR/Cfc7js0mycAuD7e29s2WMGSiLmEtE5n+5sKsLKW3hYaI4
taNsbOv9JE1Jn3zBVRN6qVdhMK9GRWdDJa4MKgFcD0A+y8AEnlovD6veLlRXzFhnRFXgYPSs9LGI
krIAoKaB2/i7qqD7aeZ7SX5dHaNoi50hGD1EIgxTerfnTSxeVG1hWZFTGtiClxMvarOu+XRfaFZu
Fc1A6ORC+ABsUz1X1BRSof89wa2KzDqbikgjqDCOF/QOAu0BUAQbSumtlMKGwR9EE9mCParnwRo+
j4xi0W2E6UobkH0EWFrfCunJ8pGPVcY2OHklZkH1y/+JF4YK/5vyXyVR1+BVa0Um2ZVN6FJscwtq
Zwf4fCx489+VGMMZf1nD39LUXBGTx54cWGX9BMOohw/9rvKaEBjk999uRUUAJRZciV48oJQw+5ZD
8gZBBTJ9VkRLV8lw9jqrDItKCsQtRd5UIfp1sTeE1d28S9IZI2ilAejG+x/x1sjA9/5neAQYEG9w
nbG4jBmjofARhmUfkWNiuxGYZweLS3r25uww9G62IZZrNBcfHKBsyJ+gGnd7cADlzyPg9axonFg0
kfRxQgUwqBxfYtWHGSU+3zjk2k2jWwMFP4r2OUDc3RIsDKd1O2AZRkIMf6UphhWBNmmXaLEE7ORJ
8Dw0qjZocrnBvSvCAisA8Yd1RRuM3q9rydSW2Qidhy5BY8/Gofta2aUfdrxV04YRX9EEAPCAEcf8
D3pkdXR0vyzhaGKbATCeko+dwhh73ux7Aiwi+Cb3eeatpwmrhvop0i6YI3gDmpsPRi0VAOGwCcBN
vzZEqoNtSHPj8tapIFGMpk7Ivd6Xl3hY/2xBA0Xoq86Ccqr7U14PW53ia0+E6B0/BLZAYXC51iuz
NAxdNRSUOxEryjkynf6HmyZd2KCTckOrrFNaRoXReovSyCIVV5RqSFrO88KJ4sL7Ng7e8+R17wwV
f7//OKtkYPXhfMBFB2baLRmUo1E+LUoHjTY2AHzGxD8u2ZJT3ZjzRhJuMWG3biP2LAIHGFguWCP2
hr3n1PSMNiE2MOGLCxqjQqf5o5FmWKoPjmEc8eeXj4aKHLSGhakl6upHayi10x6N+FE/fhZzEfgY
brO3YGPesh2q0OA4dGAid0n1ndKmW2QeAMIJQJRdjKjX02dOxnxDIa0SQccVCi3LKgOmKaQqk+Dn
MQERt+3NXdNUKPsNrGbZ7xACODiE3EM1SR+J8fu8roTXkAVcswltUcLvSWbR/f2rL4PnR70Uq06g
1jH3d8t05ixdjiWfBAtR29Lctz5VzUlNcIGCXjQW//jr5MB3JmpxqIwgsL4l13exBKZbSqOCyj5Q
VD27KTuRX4fqQN/NP87HMi3qaGTmvhkAQp3RKDWaaKHyf0j70uZWkWXbX0QEIEDwtaoYNFsWtmV/
ITxsg5gkQIDg17+F73l3S2Vadc85vaMjumNHKMmqzKwcVwKE7d9O31jo9URmDdt60JTAw/tYaWYc
UymcLpvz4QlBS4Aq3/SrSE3RJN7v52EgBNTanyQljPbtkWkxyr+BmUxRVHyrEsk/YsVRpjkHRZQg
GCOko56Nl0HDtil+Q2rZ1nJwigDhbBwtGrZA6A0x1i4D2Vl0Pfcp/Vr12aJFU65lXA9gs2z1/DYx
T6ytgYZpit7W3w4LHJX/5QkLIG8PLzoXFgJSUJoEK+VYroHFdJKqtRIWCFIF2dBxrmAUsGoPcN18
LN4WUOO+wPmp8SGieahGTnk6PByzY77IzUqguCOGCM1l6LNAlynafHjOagC315ncwmuIUJknkhI+
T9Hp/HlfX0epDJUy9I7AA+Onrg+Jqge5WqhAJopPBcknaukqcP7+7acPMPE/bds4PviWnIwXJ+Uc
njIAxJ+nacpiC2M7qSRPaGEoF/s/4AgjIIBewRwIeu1vJeJ4UJW8rc7w7LRDQ4ER3AD/Y2oKKhqj
5/az/BnmAQZ8+PsrlwGwu71pRg2gLuLMesSEZewYeWSy+7z8km4g98JoY4BtKiOByHdYSi2A+EKA
Hi3rLCRloD1iYRyrJnjOp9pucqwER8fj46GKMMgAHms0W2LCim8DQOU+KdNGUf2EsNWqmRXkY+bP
SMHIibyudUo9iW0FPPKZgF9Eh7Tm1VFKE+VkqUcQjWZnxg7z8nvuLb7uHySnur9ocNd1QXdKjGSM
6rO3F4EzzPdN/vptzq1TztNDEqT4bWd1mW3CWUzm1AtsARk+cfSLDKdCjaQGlYVGe/95pZMj2VzI
zP18WBK69nYeE5zXzzt95UD+osa5xOegL8vpcCkLtlect1X7uJk9frq25K7PFNBfVCQGP+/pPYqD
S3slBh3yMEkxHCNbKU4569lbRGezGTl5NslJY0/oU0x239ZMwCqfx/jFKmcwek3uErkcCAOq+aWH
kLeekLvhHfpn7n5pcmD8f+4WwL0izPHJxZvF7PHh86VzKJVev9h9iR+/QXTxDkvqkQ03OBcJLfd1
XxqS6u/PbOVUZPMYsUf3k9gnotCAzLfsWXIENEe5vKLJqXKN/togiAPVz2dy76675atJ1vaRVZs5
bcluJ5Od93yfJt8a/j/Xd0WTU+1D2l4mFjJtPotm6E+lPdG+lPnxC8LihWy7FY1/jNurK4Kcvgdt
jUPvLdVvaagRlTEvoF+xIGcw/Mgvebkiwml7HE7aoWql+hqVH4LH//bQOPWeHo08RtCg+icGaUx6
u/EvH1289FLXe6Ll0zalIpJcSPrrnjj9nrSZdDjDNfA7ekyR2d9/UpqvprOtN0dfhbMVSiP3eP4i
yOl1YtVI8hzCic+ML+/7WREkDXhsF/73+W62ad+VmnyA4C1WEqnoEX/cV5XNI+IxkTj8zC/dkYdf
4wZJKOtND23Gbke6yshqs9n4s0dj9ufhgVD7/R1k5y1hX6JU6Pi781cS+U60SIqqiaSA8mJ/YauI
OrPZA1ma5DWklH4JpIQHR/x1qJwFUaq6uugyLi1aLtjbW0VDciEPhu+eO0K97Vf4ITxagdHimyjK
EpMPjWyAwYWDd7XZpaxyI4YyjPLdkXbhJbuOhCx2hY+CQMn57pTSPE5StN2r/tl5Xq2ih1XiOU5I
Zo8ac5dTd0kVqrKSel/b+zZToBn8sFQIhLxjkkEVP/wDCYmoQ1t4iZx1QTtCmebD07NiF+Y4PXl0
H4ht2/Pdt9BTGXe/ruSTsytTMzuEeQuJWbxVWywmfGAh8wQ+wj8oAbxE5J8sTD5zNr8/xEo8UZIJ
OHpzUtZDKGcPeEvnMTnRrbfdTsj9K+KHvv6lCH8pcg8AhuQvSjdQXKSzt2am5RSOV7PqiLcVgSr8
g6vwlxZ3X+WhDi8K4EX9jDyzN4X5ziMsy6dLaGo/7bbbL8Fx/nTI/rZmfwlydxZoSh4WRgzTzD7q
x00PWHGGVfe0uJCezLC5hyzJxX4/7OfeLozId0TS7RB6eP1DQvBGCQL78afp7+dwL4XVnjQlqcA/
S7yuJdks2zHR/qd/kNP/JcLPfp+LPMiaM3g+Jt7pRS8d4j3Nveea/HfM/IjylR9tqvX03B/BjP6R
+DSgNdEFriU/B8LL5o88XZE4aSW2r2fRxH9mGyO2Wzafs5Z4TUsEgjLumwO45F96x6NKZmke9SdM
MvoTouPPvrURYyktY4J3R3g72m300eT5OY5OILSQdtEuqO2AeOFue5DJQkDqH57yvzxxtuR0Acz9
IR6Ef7XHwnTSUbB1JG+y/ZY9pYvQ357gLFOarl/pLhZMz/wkJu6oHp+JaWszC+TqMKje3nlzZv6P
LXMJsRG2PuG9wx+RvIy/c3855uxLMw2rfjrQrOmzMa80tp7DXZEeFl+e0F3hGmZ+ySZnWo5dXcTJ
CbK5WHR05UjEcWZuQ1wbAeQcgfJ9My2wHPxex7Zoiy62QI1FAVG252fvW8SRSDQnA8dX2oZGFiDO
yANHWD0wXw194f5pgQG8XBPZDiGtwVe6pnVE/feiDJq9cgxgcFPYX0fyRTGU6D3l8/fdOTBOxs8t
7TtquKu3D+KTh5fX15a9IwAX3JKQLc6rBIYIYOiSQegVuHgmYkN6YCllAr/qp1B4R7kmnBWprSjN
5Z+HZL86zd4+JIIYHw4dmdouMcl7TJ4iOAwdgcsgMPujPh2S+joQEIYJL45FHdNpk4l2nCBAqOx+
yxaC3x/ewF+sXf0+x5qBJZgZcNHhmFuIQJDKPxP5q5uJbmpUfa/IcMZRgw0O9IGNZzjD09XaHoLr
+zo7Hrhd0eBcq8Y8BFVigZWMnB0YiZVzIM3CPLDEj1eRe2IXQWeOkCJnAC9JGIR5lg+Xo7pntrcI
ZrgvFBGNJ3pexh3HK+44A3ioz1Ns1ssmfumUbLipy7JM2dPO236Lsqo/Q7n3hIJznMw+zFpNw0nW
oMOciBlLG+q7FTElED6+SqFqstZrBniKMRjh775bEn4IhEIgeD+eyLXlO+XT9pSBxPNKo8VTQ1LM
VJuO0JoPenLnyH5M1RUdNSmwBToEnc5d7A33LZtLF5KvPa8QHdq48/RXEvgeF8sss2Og43ZWqxhN
sDa8ipYUeHKFeT/R4XHGIQ2kAnC2oFTYe7ZxnAt5zBefKbHh4dLF89G7f1njz8cVZ5yVwEYiLBk9
4RAnJCN7pDdnj49T+nAmD8tXL6UmFV7bkC29d22czUiK/nIO0LvhH54Nyb1Q2/O2lp+9oJ1PEPkJ
meOMxTENwxiz/YOxgMc7JeBu5j5qQxXGpnNYDMGr9QOscI83zmIUx+DQSQYIYgXd22K1cWZn0q+r
T+p9b7f/wUmi2QEFM/SnDGVUPg5qAgs9fNoZ7swAc+xMibaNCtaocwwUmC/3BeWn2HfL2i0xzp9p
MUTQKEkBrV7skb5CYmfmutYWNRP8I3ghRzLRt8QGGbpSbUtqCoCOD8SQ4iT9EvujIjYj9rqqh5KQ
iNwgcvd44178otLKpm9BDgvYz6yj6rwgQA1m09USwzq+fkEMQwXvs4gmp+ihlndJfCgnPjr2stw+
Yna8lXfo1hXc229v5vYoOQWP8kOWXhTwxvaIjADycrCrzpnn9s7zekno9v62X7fkOO1WYslS2hps
LfYr2SD5u7yEot3n6fcbdkuDU+u8bA5hiyk4v2iZs4+o9iBjWRSl96mMPP+3ZDhl7srL0QT4yATV
iYUMFCD7GJKMdhutprUCh0MkhYOU3ZNCzgWYmvHZkCrQY5PNqvQTifQr5MOEVkogeXwU1PVokS3V
nyvK/pRPIoEbjuUOG3yb1AkuRm8UuJ2kI3sIARQYntPnvmGanUWPUwE9gXzz8Y9kWWp/Gk5t9Xx4
j5z2IRcZdcG9TDjr0IRJhYlVMNRt94vY11pmSE76fEJiYSGQ7BH39kbm+LBH0g/TrDdB63nFJLIi
wayhCLF2LRGlzEeKb7ekOMMwjdSzYQY4OHTux2dSP0SgI8oGjeQnb6lw9iDKjtr5aILK82pfP791
tkX607xmpTEEjjubGuQ1JWQtvS5WC2mzWjBabFA3RuXnv30vebQB43AEvPllEPyDQWr3D4Cv4Fh5
4j4MkcRwliORU7PuOzzMLUVNsI1nUwpMr9wgjDKB+Ats4YQzGrUSh9U5bJCjJAt2agh6zT+Tncg0
CZRMG6z+1XvcVwBAbNtBLHWyYqZrkbe3jU9cF2ujI/IsMLyD5N2xIBrnauRlECXANZz4+0to66Rc
MouEQNGw9W0TrcR1D01Aj/M2KvVYqhHAwVCS2ETFfIlq6pQy5cFitSiBN1IguNEHfrBOLtRKToeT
xKMSvMHlPhJnM0NZJ5wdZkv0BglfS9E7xkOyTuvgHBYt2GMwx5sVyVbtjApdX5GIcOYkrAozOPeg
UtN2nnUESa9zRoj0pLuwlCg0iMyywNPgm9qrrrOATQ4p6TfP5rZAqaoWpoJGAr/b6+JcjTI6noO2
rQaHfs96ZLwuLHBXSWTfF3nR4XEGo8dyxnNrDVYyI/0iF/y6yNT/Gks7RaXcNOAiez4axJwfTrQy
ZxpmqR3r1RK9YYKL4RGU86rqgOj/c2YNk58tR/2qVaJ6lScqOItEmwehi80UMEYTkGIrOLcKc+RV
5RSveMlEScGRbP+NJPBIr3VXHtBND1IGegb2BhAr8WeDKldFZuFc3pW5fXELqO+3MBwSGQ2+wb3I
jWrSnfCeTFDmWDmqjX6uAyKibDW1LbduCFXJE63pieUrgTEWvC/8Og01T+okG56y9GxrPfUlmppM
70XRkPAmOfOhBHBJ6xJ0ukHRIobwK3WQs4SLJeBoJNV2e5OcS6JUfZdNLqcJOnaeVxihrh/1df+G
ZFuI0psw4TZS4rslx5kQtcHkWTEEYGiKWJ0+TDI4cwthlXv46juPJj+Cj+n/LJN1kGnp8366cZhq
t7WNYlRv295Zp/cN1kim45Yrzu8o1WOXGEPI/Kwr8O8X/YnIbkuBPmJjwoySmHjelJkissPTf4dL
Hsg3TLUMmFHDYWLL0imgVCYJ+w4dkXc8bpCBi4f5T9QB+Hbh5HiJyzbp4BzXFJsDpK1WUZFTNc7L
Xxqcm9NYSt1hh+NgvBaXFxspDvItqqP8Q9rmLxHOtynMrLz0AYjshy7Qis4yiqajNTqO5rnr/Yfx
y19yXKw0TVpgnHTwAhar/Spb0YrRHdKIgqMbjMFvKfhLZXDortxRw8gnRo8FwP7zSSaAvxJZiOFQ
7v0+Z4yas2omSonfT8jzasKU9RoxmCfs0BpX2b9scIaoODaX4HL5EYDq3XL6xcrBP2gyPX9ZNF8X
B9IuaefhNTMd+h0/CVR4/J3+S54zTN00C7SyBnln46AD2sYEsMAVGOlEHqzEXxKcX3PICyPS9IHD
PR5oNCJvfB9Nb6FrowkebaXzb4t9C4Rj3OAC6WTAzfhZ8HcrHVKitQB57hESRSReJuv0Vf6jbepZ
bmMfcLCLPWH/4shJYogFS1QGCDuAXXJsXvTMCoOml/0uqHrs5ZqEr2FyxqL5+CSjxtcf1OXRtDrv
YKlYRodR0DV8pH9zygrleuyEwoC8PgxFYtM9p+noE1N0SVJl/1Rt4zQkk9w2jy/3ZWYkUhpaSACJ
giGKYT/p7dFOD0EnH6tC9S+JbygGOQCH8j6Fn9EfTvdAYhgM+p9hMY4NU8eEgVqUKtz6hOzTGbL2
b2FJNylqjOF6M1MWjxJ1c2/5YpCWnQg4VZ16WS3X9lPj7gTCNMowMI6xSW6AveLB8BMAOet5fULz
cISUwaRgeiXC6hjzR3QZcDWAssAWJwCD3B5qmmHeOTyH8O7OdA/c0ohYU9KeSNISJGrn6KG/xMxY
B4KTHjGiAH4bsHsnkyng0LkXPDTVUKtLFWS1CTk2XnMBSp7QQx8kgrtOwAgCKBrYTViiy7cdYWYo
DYujBQuwKd6al2ApzeffwPfXH9h9wRlT+xtK3KOQ6G3YnyJQKp3FlMS+ZScKS5i3qIlJS+c+tbFw
ABMiuoVFCcMaEn7D+TEtNDgIsGwJSciqyO1GJX2IxMgEXTKPDdUwaVH1a2l1MUjjPqHExQSiOVYk
QceKPMBUDPhb/AV24eVSaoEEl3murj8u3vlADh4c9KnsZjN6cHLK+o0IBm6kAcQEVSx4UQYsTYC/
3EprrMvnvpMzzZ+Us9jy6tagMsD9aPx4ci1jWXe0ngJ2gNw/77FAHGeN6S/IKmYT+Vk0uQUuxDRQ
LB+JcbtZqLNiFhH1ZSuy5T99RpzADmO+A7wUEG0wx37LXybFRn4pJiDEuo6y4l0e+gvK55RsjFmI
pkqJZO8N/muyUiL6gk3JBZvMZYJ2UuDSKQ+iN3TM0775IM48xIqVn1NJtfzKDter1DnMK/oWehKZ
rtOUNOvYPkZkK+pMHH713jFw1iFoo0APMaXupwdiPSZLKNLOu3+nIz72FWNAib49aaUGcGIKbGq/
a1geAUN+cVlos4Mu8uZG3KwbOpzEmrVVVUoIOot4VtudRZvWsdYaqXxqpznDQD+ZY63xfeZG4uYb
otwzFp+1LKwx4u+DZm8DkKeR2TF4P1/QR6r792kJROQXGGkeJrpWnIxBZtV5+z5hbUViJ6O6Qdbz
CbWN/ZEJ07T3JcSQOXsbtakU9xmOlZUzyb7QdU5DgU0fUUYsB8LAPTCzdCDN81OUUlVJ6bENLH/C
JiR3scvnwnq3p+GTtDnPmhfdrZ5iRJ46meqrMMHCUidJaIgC3ax/PL2lpDyTJPVD3RUhUPzmHqCm
MpbWAPlIBvOcUMnnS5hhOj/w+4IZFYZxs9lRs7CRBW3CaepMRWC2v+UJ9LBNAugdA7SUwcUKl1zG
YpIiCfy9bPt+RFG52Isea2O4slulvyXC2T4DLZ/WqQSR5/3mj+MsTLpArstRmNKQzDu6K4ctVhhD
2Mww0xp60ebhdT63o/X7er2ezLMHRONboJ+T+fzg0Pl8R99FyZufct69Txzu5Sr0Cw99aAQ6PpGh
w/7jw0L2vGFHtDOvCuK76zmapvr5XKG97aFVAJtERA/RoLi/PgBoFhZwDNAiyL+6/SHU1bIMAlQD
ewe7hHWv99rXU0dS77iRXkU9LKNX8pccn/DIADKW9KUV+Jp5orGx1wsBOMOI+4lLv6LASXJYTIAO
04BC6eSzQ0XeCiLbxbygFo3W4euJXJ5Lqgps/09zNH+MwDfBUmvAlsk4zNt7PBQn85Ifc22Yij2S
gmh0cyDOI3HRd7SEOD2hY0YkPCPTNPAh4IsOgCTAPvmpvl4LT5UGcXVoNR9BhcLQUIr2nIIFm/V7
S452bU/hy+3e7xvnn5Itx+kNUU5zMcseKNoZREsGrakIxpIOfwI2c1b7xZfFvr6OHmsbrzhCbeY5
pVsDa6NOZPvvP4O3zHPKjX3OjXQu8B0aEkHOcZ6ywzbcBg8z0u1z23jRPiT/PusjNvKGc05XVdnU
u7ioNT8/kLfThBgzoDCLvOARfbwhwjkqYaxW6VEHEWZt3ow/j4DMubgoom3v8/LbWbk5Pb7XKqry
6aVUG8033Wjz+DCZS1/3CYiEk5826Q6naSBboNBv5LczEkEThomCmUs0trzM231K6FMrsGYjExRg
y8CmBwCHARqBn9hLugywt2mH08OoOGYYQtuvVj6RhmHBxaM7pS7V6U5edOSQk+/tZCZgevRYr+hz
mTZJu2Bvtn4ZlCNDA+JQxXEK6sN5Wc0S+vAyzFivn3bRPLKRNRfc6Uhy9JZ7TjXhoeWHGPvI/WZ/
eDfm0MyLh4ZLGHX74WV5nK0B1BCJ2hDGTN/NmXOKiFgffz2c+TCAypyN7vkzQ8Ic3OPUttFUMv/u
PoYTDxkTVrFGteXqvDmVnHSVgXQGaKMdI0Qp8DndzUi/te3s4V1bxkhBU+s/6Ye4PWdOR7H5tJn2
WOuGEMbJmQ/j52powXydiuR5JCYGJaTgsOgUGRXAZN0+K4Z1iPPQVHCjUJ8PZTFzU7IEEIGNesSB
dUTUfTSC83FLcMh/XD0px0M4PSs9CC7Y6g2lQMjQo8keDeaixVQdfFaKBISw2jNqWq/4HNyGa7Jo
V0BzP8iiv2R1chRtlq7V5dfUX2zTt2HoSVQQGXO8bk6W09Rpnx2n1gUUa7pgTuIVbuNdXo7UevyD
7iH3jErT+9NTuUpwytZsq2+mM9NObW0tMPjj6nPFOqe06jnSlSjDhyToeFk5zQx40xgMcQ/L5XIy
P5H5kaGzSP4/1GHHXKWbM+A0t8BWNUVPQLqwn9HPhrmKo1t2cHhlbyucvxrx+G+IcaqqBZPm0lTy
wGf80OR+faT6lJSynRgbIxGEqyPZs1s55lRUlSbS8XQaqPW0yWEH5d3rvEKb43aoirL7Zl90kDzW
OsBwpRA7sqE1K4QXJmlQYcNEzzDPA8QQgZkfaQO/4Y0HojNLbDyelDB65qqYA+WFEBfTRBhmw9gx
ze0DmwqetZGGi1uKnBk6RklySM6gqKOA9Oa4ycwTnODow/lXC0zO7lT9OTPTFhROzNE97Ohd2/Z6
jnAHno8o2Tn+Tl4R46zNYaKXEz3HdTXMnFdEpcz/8Q8eTOZKbupljsQkJtpxNO6cXJHlTE5kZbGq
JCCbkcVqhWES+EPOzGSEfJJlyxDqzb3Q+fJEwzgiE2NyJibF+qi0O4Lw834Bl8RxFFiY45NkE/dz
aSOqnO8kltOUxlQkq8O9/YoWrnjmTEx8TqtWa0H6SKIHgyoEEwt4TJZok7TfbbpDqm9r/gch4LWp
4RduZJ0ZI5cNovIwUoW79TP6OHMDx12r6KoSiK6IRc7UxFGSWloNU7NYGC0tUSAeKtH/yXjEjRLy
WyPOemkmEYD1/eg12qlfBmqo0mtLFluRoP60P965NB5692IpkiEnE8hLtNQ3yRqz1av6uVwq7GM2
7Hcgj494H5drFaP4a4PAnV/aU/cVOP6HAfkj+fjvTphPm8Vhq/T1oK+qrRBcJ0mou8TUbmRrj/dJ
jbQm3R4yZ4fOua4YlxqHDA2ViPzuzC6EkAOFuD5dXMxobr9FKvK72npLkrNGDfq9UjnXEbOcnHQD
fFl5hn4Gj0rMYu1iB9ydkFmv0rISFSF+OiXv3TNnkOI41Mv0DGaxeZJhUzo9S+zRQXKydouAoL8X
fctDPQhdstCjBVvsvB19fX2Ba9LT1zVajO6f/ki7+O1RcIYKa+bK6CTjFTBWhf0hIXKZKW5jU2RP
avJ1n5jIA+QrI6Z8qqKuwrkn30A8tZFwc4CFNTu4SkbUz9dhXHG6RDKDefQd+WAYyvsfMJzuvdPn
HCIjSuq8izU8qh+fiWiVwUiB6fYoOatUTY6TNmxxtzHUlgCfzV6/2/cZEAQL2Jhw67Vf+vPhIvew
fHq4cAqSYK3GQ0QxViKhbCiRtnYRhJ0fY2IXlieT/EmgOsMJ/TpBoB8aMgrsQKhUbunLQR0eYiw+
8Rf5Uv/QPoEaJaAw6pZcUeAcn7KbnNETAApJtFWzZVOzTqK6RJ7vn+S4A3lFhzM7QJSeRpMesihT
1B9t9+HlRaFD8yV8VVHAPi4aV8Q4g5Odsc95CLf8s0XK08b8brInrHcml9yu/G5Ro6FWhD4+KO69
m+IsjWV2TV4pOMfD977C+hlpXosWRY3HyldsccajjOIqUDITlVyyH2CwBvyKx6enASRJcF0iueOc
GvlyDo2qwwEuDjnrFxrrTcaEXqpI9jj7kKtJjG0408Fd3GPW6CKT9ONiAx7jwL5bzwKY0bOwH3Gc
5hQZFawC1EwetUKOLTxFWqRjZoulGxhCPETf7QJBjPclLPgPyvNbKP6XGD+4VeqNdGyTWEdUwVYs
xYIPZhIK7AohpdEnFnsE/sUWP8NVmJ2ihuFBR3SBQSSLHPdCHMfxiPOKBmcquhIrrHU1+ElhvDUR
QfOEq5I5wIlSVyB/I00LMO5XtDhzceyx2rYLQMvyVmyCvixHnV3s7HVdi0bFJ+Oa+/foOGOBlhDs
qFIlWEBc0lCaetusavs0YxV1/MfHR9eiJ3vpLl/r5RooFvPvbyAECudMxiPQK445A3KxgigMSgim
5eTDFHkwc+qZuhA1EY50+N2eLGdEkoNW13EQQgEWDQNSNAK0AaUjXyAfhNrRnO5yut0yEdDWuOdz
xR9nUpS2SYNJB/6e96v91KlX/Xb9NIgPFUZHY9ZraPPBrmxZA549d6NN3RSToE11v5qjHHrEUiOk
R6Tnw0zbw9GCs/m1YPeft+EXeUXHBg+sUFCRG9V4ZINQLk5lmU10XzOO2KV2IBdRG8/gzfAUsOYQ
XYKovwFgnhMPPQ+D41QeeCInhZSEvit/RG/YqLtzTYSTjaaOUslsjjrm0wl7q96TtUz3i+x7tcd6
5wlSPaxb/h/gb8fM5DVZTjQ07WgEp34guzqz6DAM/leYeg78M6mYCzAo+0znEMqv+5c2miW5psu9
P9qx7qW2ywajOQW/P2BJwJRc2k/AtRM5JWNCeU2Mc1flo3k+l9lJ9/uamsU6C+b9e5S6FhMhUoxq
2l9Kv5zWc6U3AZZx4jj36IWevCTLefME9EERR6NpumtCnHfaZIke1QOhBJUgIAg7yKcD3dd9wBSD
6uhiLKPhB/9ZCdDHh7+/SqLHmnnW6uHCEgIkQnR50+8vMQqF8AC5xwcLwJu0QsAKMiXbm+4U5e4p
2rhOi+gxjAljopP8Gfq8xxhnsfo4rPUJdpH5yNXvVzpS1XvJkwvSW8z4pMx7HrBquzn+dbeYtH16
mts9fclTNGVTwNuIvmf0qb++Wc7aTCbFpekm+B5UnZzMPrqXx8b2Jq0wLBi7UezEBW4TKkBYccLd
aAk8uPqStSAk5WRl7VXAyToh6gM7kbKPOX7XlLhL1RrJtOIalPod3GcppVNiOQ0sDdpAYU6HRDaB
MAlMzJjWX1PlLtZSu2x6KS66H1ukS1jmymekzvoH1HsGNCwV2d8vUb1l+E1emLDnwkRjsg5cd77T
qcGq9HPZ6bq/3yuAWzqi4ZEoJHJ0i528omQBsXVkYre09rIAeKGdK2Ba9AHcpWJ5KdxEVdN99GMG
79g9rPqNJ0c0zN41maK/9ohJgq5wJwcB5dEH7Jp17pLj8iJJlxSs5xUrnlGhlV8tulzWSD3D1SBT
94XK6IuMtr1oO/pogHtNmrtpJGRDI41A+vSp2pfS19SZgVb3OkAfXMvUV/PVsqgcLBJ0i6fzI2bK
BKc+JuDToasYl65guSLHu2zlYLyPpkhEA9Rrs3o+PobbKCVPT+1LhLrm1316I4BvFmKzv/Q4hrMM
8xz1FPQW8Qn+eaRQgzUkwCDg6QXtzMh/d84SuMzWUgdy6dGO3A6jX97kP5hss9ByqGqailWOgxd2
+yqErZzoAO+b+inmlmSNRNNt6+jz81Bb6bz2Y7vVeoLGHZGejej2DV3OfcjKaRRgum2KcBy41ADN
2BcYafU/eujaozbT/M8cyL/z/m1+XnnS7HsqnBUTfQHnUxTYHtflKr4g9PQXjCF/YKZ1+7zX5vtF
Nf8Knc4TXPqYlA+TAVPs5MP+Jszs3J51dwKuRoY2Mb9NHg6+ylDQ6RaZM6RxttUicvXX+1L2g9XB
GbMbghyLXZofwrSRIGXo7cYmwohuLuzgyY0tPWWz9/kuWO/mNomef+pLaBpAy8AZgNUJZggEnzI8
etynaFjXiZkhzGZiTQj3KRU2WF6stpJ8M3SSS0a0qW9+lJJbHh50zCkpp3k7eT32U6K339nRSept
3LKDdSEH+URO6ntxWulxSWKYwBRIoF4SL1uskMs3jUmby0xKa6qafimto94uAPv7JxP1i46F1dcs
/NRFrhyo7nTszids4/SVXfU9Oc9UKwLkb22tAsU+baVZEdCm9u+f25ibeEOUcxO73lBaMyskX5JZ
Cd/Jib8kxdYXPdwZhxJzQ5WV7D/J6GXZiroxx8LqG+LcW5RG2TRKLXCc12g23iWpzMIHY/LYndix
wNpg6VHNBWnvke5uqMhfQeEhI4qJWWgX8yT5ukqLyglMqqhYC/enWXwAMnjypyhn9WdAPqc66TXY
xCJWRI+BQFY1zjj3qYTJNxVnPlFprNI/j5uhNHmyL5KNMVLso/AElzyc441yQCswl2RiYSi22P+C
NjNrU5bk8hL4oUmd1XF92ml27EynJEW9cG3TxkZHD802AqX8kdh7dDnhKk9mrEcq6FbK7PxSLrBI
DiDyFZ14SKQwfyWjoJY6xK0c18+Z44ZuDPc5jma71LYMNG/mbkonD/dP43cC+uc0MG2DgwA4E28m
dfl4MYxADfzi2ToQs0pI84Hi00eRsdLaSXJNjJPA9/kt6RxNzjyZzTnII22CRuvp52RhbXU6fxJB
Xv0uKd0S+ZXRPAI7FJN3gY8kWebh0ZuS/eLEmsg2HhIXwzbmwzSwdSxOBiyQgxcYRb5vwEio/b8t
4cOXoLUeG6X1iYL/uX2JrKJrUjU3wO4kQMF/87EZAKXjiuUBJmzm0UUgab+z7xxB7nzlQi+jrNED
/1J65zOarZuvejVd9Xa5Xmc+TLZzQHZQ9QR0f/tZt3T5XRt5c8oDnHjgL5LvxT5ZH0lmY1ls8hY4
L8lhaJZDl8EQvVgP21263W0Fsjyq2X8PesppmJkeU2VSmYF/1IlckbNMzra0zR7g1cBg3yf2e35k
YBbzqtjjahlYQsxloOqwts6yFkn+QnODbfyQLwO7I7GNniaqzQETjj5TLMUI3R7zQK9ZM9TnMcu1
+77/Hb/9HO47OJ8Su3PN41GRAsAJuEmB5dW2uqQJO7CD8x3b54J8Lwz7Ps3fg7QcTU6izUhSsC44
lHyGBZXMuSyd9NN3DgnxZyvSvmkT8m44nrqYdy9bz0vt6ft7x96f4OWKPNtBlHmjio33aC/G9j3E
E9zrYYVFWAUdPB3MjjyHSAL2frOJ9tlao8ncdNtVq5B5alcIJTXPmp/f4nlJ54VCmGiqbdSqXX8K
l4noJpdSCmp8SpV6+vnlIlN9smh3oULiC6btpdn9S1AG1jjWLUBzInYZeMegw61ZOZntGeuHoOXw
U+o17Kh9waIL1KQiFIi+7hP7FbFZWDOE13I6NbDuEEs9b2ll8jQ7WgaETD/TDvh0+UIyMQu1tvz7
dH4nOn8IYUISq+0muFWO0Pnw/zj7riXXjSTKL0IEvHlFwRC0TYN2L4jue5vw3uPr96BnY4YEscRK
kkZSjCKYKJNZaU6eDOoilwI4JKoWn+rPJkR6VTwI1y9Wi/TGXiHlLy2SCTxmke7FTkGDTSilSHli
rGeGlBn2kg/UbW6IBpz2pRFLc4ZjHNuNgAx/Y+GA3O9l2LVKGqSQ1YzYjmOzMrhVa4efl9FeqADz
YPSXfubf0gPqVYDVfENt2k1NlvDFc0//3Ydw9x+SyrlUpwk+JBdVfh8oa9HRWdLJx1r6U5G4VrN2
Ya7BY/Zw3OebtU/UNcx6uhtCiHzd7Dot+2sYn5+7zWazysBmVx4SaLFIDv3PpczV2tbjCzNmBfIP
PM/JcpJ2VoNQTuMFDjOR0al0vwEMk4YowAjUJXL1OgN/1YZ2D1mFoeZGrZhyRMRu738oHWkbs1SM
has+GskH/cUTgnQpQBPoP55IzxTeq+sWRlRSnV2CHiWfuIHWGiw4ff+m40yQJYrz2QXjCER0IbMM
92tSboKqJKDCMK0lTK9lDg22lk6TJR/gobyLnxcUJDkQemI0szjd08xxu76uPZuV9wAZkDiwuPCY
Ue8iD/LbxKBIrIugA3Dc14T7kDfcQLDBfbYW2I0Q6IPiLHibs/qGfnKJQ2c5KAl+Tc7NojG2vkh9
YDrsgTp6ldXlR761u+6tRHYvI3JK2PyV7SuVK98bVgsGSW8GdXgN2i9JIg16lCU31bhBzaIfqiW+
4pMhNVpxJ3EapsQXfrXkL46ew/RijEPBMSKex1DRKZTGlTIHQ7Qb1+YMycEshOidl+AwVok61Cqf
EpnTk8LMXdIjRItfInfBpfh1SKcfAEIFAbPOWRBETDGHUtXGZZQLnh0nqOG9yGDg1+DHJVb7VfFa
+zWAeVorX4dsx+QfVQaiDBHM8tJ3mhJAV4I80AQjBkuBIVek5sbcJq+n1Ndwyu1YIYyr0uKJV1Rf
b3qdFvRYMjBkljGdrSITxehCS3zLBjLsfat2VHSgM4qWrj3RcNCh/tdBIuJS7RyCkUNBrHKUWvua
99Vi9pfz97mKzporhVN4GZCm8VZPfCuvrB2BdkTPpgLiHXI1eGeJvPZIpBlghCdQIE0HHjFRXw68
Fq1CTc9O69D4kr5WkiVolaGsWncxvTPzSEqolYHFZIzZwGUyMdwx6/GS2/PQsWHHZKo/kOyllmhV
KNxVnu+anR8TKlLTs5xqCbUSnHPRqc2pEknNL2nXo0nBt7CYQgg3GFn8qRvco8qVDH3g2xU6kzOr
Z7ToCyec/wiB0YedmoWXwiUso1HCevSDWrUMGrVHScH1dTYyKEsRSBLqTPPWUkve4aMxQoIZf0CX
4LegGn1vYuMsyMO0jX3bs6h3z0idlzJY0dcSoffeydUMTdWpGlJ/hp84/AzonRKgWYBesf8YBK3g
O3hcIbRXYywZN/GX064Ti6otfDvqX5Qz1EfYxjbKDHV/pGofLD5G8SMiAz9otGzmZ6lZeHdnIjMQ
zaDCwozPHCajTTbCp+KhYDwqsHMADBpSDiSVSPpTOm+pTvWbNgejyLZRi3oPd5UqTl1q5K7eymr6
7R5CYedQcPuMMjgEp6ogwkISYnTq7u3N/deNd+zGQhedVw7c+HUV2nU9Evh4mGCCh52SnhxabSrt
uV7PBMgSXgRUBDhMUh6ZXe4F5sVQ99XgxXbAbjPMw/iiHb0OtJzepDvHMWBi/AtdrBhO9ew0IEOu
uksIhscEJyZtY2Q4iHloVMCYqRvoJEVAN1yY2LWZYNrNi/MBiBesq9a+1VZk0+7CszKjqHfyJlcg
FjFk2wkgL6GvCp47ICef7+qjPzMuiIfvDk9KxADx+03t4oSRXCVJbLBXuhgIfG2//z+600avaHJX
7qRM7grjoKtSdIvEbmSrPnYbzqg2yhrJardYpRq/oeoF3RnvwlQgp8gShiAA0cJOkwrAe1QUx3mp
7RTXyjO66rVJt893biZ0BJfojYxx0TcKkPrjbNwcMjLrvWJVOtiIF8qkN0WPqtRzWXOnxCO4grmW
eEFSJvvnKLHLVk2V2vAl6l5HtisB73ipM6/UYifh3FndypqoWdbkQSQMZWpLf9oCdkelN563DYNX
qjqI72VNysaIUv35AmfyrHA84d+K6PzHq/TLRHGzmUGdc4niS5ntYab8AAdCeg8Tq6EMjB32uG1T
anGo0y/cNY8GFfnsKry49Yo6usqWEj59JlBZRs3dlQw4VqsKgcbGJEpWkvReUa91aQ2lLpdW4yPb
su7hmaBFr4efGJC0PjtLudLH24ccJR6vUa3gTk/j4SzhGs9v29z2fE0QPtNkx9cLgcij9YUI5BCQ
QRBZRNyjO3qzX1FSOpSjDLkNtm+1684FYAb+iW6FVW8lR/H0/HgeSw6KDII3TgS7FPwGZC7uxQEN
x/U0XeY2kqFNrUoMaSyvML16L1qlVpyYk4DGbCUM4W/+FXOTWlK20Q7dKzQ+ANqsIHsHf2VKexEE
cRszfof1dgDbgRLNRfofyOFWbXZOSZSXepXxCy/OI6fXuOoboZPUpNS1NNCbELrrLqz9bXwH52jQ
og0Dxpl1hcYOQyeSCZKTs2CRoFk93/S5I1bGaAJ6j7ljU6XPysbhmLbKbWHQMkdtO9kMO6CKFUVL
vvyKCCVNnkv8ZWJ+2GWRxaJBAMKAN/D+mCOFq5y87jGjSeM6I0VdMUkYlWF1+Zq/1qAqylVFTyji
0FqU6Ixv1Kna8mQ4AWej+pteJAkqb195gBwu22vwzCK0GhUYGuSRIiKDS8qX7ifJSAfISG1lYL/1
ST3sOm9VxCvxmy1JQ63yTM8QmywyZz3OHkAgOZLOYWESSNqml4jpWF8eGqGwPU6lq4hExVsQEzc3
irAnXPvppybtvCqeEX70wqnjNb49cz8oMgkCSPtJooDBzeBkXYlXAco7JQDXhdUARsVqNEJRlMKk
ldJpnrSpGS1VDPyfAvLZzw/pt/luckh3q5jcSiaPMpEWxMJGS7uvaBIAR9KOAyvXsC2vwzfQEigB
OWbyg1ng7scgW0FgMJLp9ESSV2VAwmHN0mav9aIWVKs2MZXhJaK3PKWnmVE4xDsJ3CF9kT79E5fp
PvfmtpgoicJyr7sH/k/l6FK6xYxE562jNoXJiWtROUoI6n7ywCxijfJfQ8Usw0PIGAO1ckKDFUix
TxFzZ/s+yPSwyQnvqYOJRgkPv+KtKUENRMJB/LbMdbowmIb07Yv3XXtarrBI5eCvlxbYV09Y2M7H
3s7JpRjfwxtL6lclJxYyX9jsOrB21PuhNuNcjZBLM2kN5J2eKsK1VYefDCN7Eb3qiVmYvrFU/hfG
Y5seq4imAXiXIEJhfqOBm+/IG8oDMZlc2NyhvUp/0n2+ryzPYEAC4V7irZFg1syhJ4MR7l1V2glm
sMcEVaTn7Uh9I2C7xEgiGjPI0GtIk1fM8rVXgska/iFYiB5nUpAyc/ulk8CoL1IuLCmpsGmpJEl5
Hdu1xXNyEkycamh4S/IevZ97eZP0cp51HFe42BnmUBgl6jXjxNoBtCCy5hmO5RjMnj9EmF1cL1jg
mTLNneRpOZJLaDGGzcDdOIav7qYRTsMHv2tlUpaqWH8MvQW/I9WCcJ0KuBrs+bmqszOv3u1OcxNV
b0PRwfXHTisrlvgu6ZB0Bhro3YUmqL6BmpzGWekmIcKHQ8p1qqcbzhrBKc+/4/9xN0WQyaIZDMR8
kxMQUAlt43j8jk3+JR5L0m0SrRgMVkT0uYG60OO8x8jKErW+0m/ZS5drORIt++ovHRDlj7SK41gV
1rmZNnoQqo5KlaqSEwrMRrUx3prw0F4oxmyHrUMqLdaavcuq9XdwbGBE1qHmSAtrmnHfcbYSB0wB
0BSs9FuKvtE3pu0jJZb80u5bzevgPF7FVCFyEq1qdkvTOQlyal9I/zhqhlT4UMgpyAqSL5MTlekm
FnzBwV3mdSdS69eu81Tp09u4zVlcYnSdqTaN0iSkqWUEzdKv7btZY86zgORQQWl7yO6UP17FGmK1
K9I3AIP4bDUEf4TGVyvO9DGxoCZJxC54FLOqe/MBk1xc4NVeS6dhafOhFQEkCrfbqkJLLjfdgpWY
Sfvdr3VilcQhKTxOxlrp9Y46BJfBoL8OoA4SSbyqxlY2ZPyqsW2fvNWg8oktxGpqRBJS6V+ZmhvX
yFphcgKeKuIaS1HVTERwdxATBULHINfH/PhxocVkqzjgVbE7PdfSR8IovGQS0osICNCb8qClYiIi
7Vm5vzc6KD9y4RIJK+EQh+BflWyx3+S1SWWGBCYhCoiJXV4hT6tX3UcHXsTepP3D8w+aydiMHyQh
psPnoGIzZvpur5/sRn0j4vQlPOG1t++MFn4fvKYKM0Cp7YARPgJNZAUgHpVyXiIi/I3WyRKAc+4O
IrQEK6MIvQOz8v1XAK0sZrlQ4Q6Cs7/ODcd7HdI/TgmAgdMtxClzstBHK0nSOC6Yn+Yu8ywM21b0
Kht47OoPHBkKGW4kC1F/QOZ7YXvZGY9BHpGpAKlIcGonMaAnlU2XDnllc+1GZt7lKwXOYUkC+Y8a
uiYnlER29bwM12y4kF6ZiweZW9ETvWbELM78JKvs4g/zHXIc4XqNF0haySCP8kmp1ryWnkXB7PYl
75MEKIO02MhLgfZMCRiIsJstmCh9mrQphhqXlY3JwtYlOAswcx+SeZaRLD5IGrugYrMG9VbeRI8b
PnMzmoE8h15j2GDI7nLMmM0CVFyOVWvJNWFClWaI1Kyki9IsWNNZz0thuBF3//uATE5c4QYnpaq6
susYBZVsk/E6nxOn22WVoBdKQEoGbQC56oiXhbs2/vLUO72VPDnwPqlFpkSLkR2UrVoncIqlmMSD
7tKoBP6EpTZUX0n+J+7PZb1hFcvt3+KKdB/PP+ORAWYsBcJD5mBTaJr7dZhuLErIeJ0QSdiAHk7w
C1jQeY1NSL7rA1Wxs8+rvD8KqOH4BkNswYo3sh7otVquBItdUoFxxQ87gjIbj0zwyFo5aufNp3ih
X3N5CpPehJ/9rsl1pBnlMTPStximOXxR6SbkLckj/jtzkFstzVbPN+PX+3v4ArCOIkEg43WXJmfC
jmPX2TIubeY91YWXFgnBio1UntZpf4M4BRCn0gReuOyMfgNuEdOJUJIPfipEW+uiQB3Mf8fA3Z3n
EqEjkm8CPti0x+dfOWcRkdP770dONDRzclYJBGxTkap9Tny8rvEmz1CmdQm8xufCHlurxvuhsJh8
ACp7HMvEvRKYGPNNywJPIAFBlqhaA/oFEGhq/Xt46S1PR+pvoV41qxk3Iif3oJaSEOxVZWlXIbKJ
CFw9Z58EWiAtBAMzBcT7tY3Bws2FK+ogxezx37UpoBrJtjXa4jgNWXsdfREWmEu3HIjOIj0BpfTz
fZ09xBHR+9vSDmLIe9FREjVSVjelLa+ZQ+tGpBggJagPkbTwgI6P8cOdvpE0OUBmaDMl8iCpSkAk
3yaUYLhl/vZ8OTNlnHEr/7eeyZm5XMA0PMjUbKTUbOpbvAb5KgGGg9uKiUqnlrcrnYVk4owHCK56
nmFERhFYzOW438K69V1eagTQU1eeHsA2htmHwC3ckd+AdLJ9d1ImJqF2OtkHSVZpt+ue8Hr9k49c
2JlWr3K90qIXd8N9d0jKMYQ2GuLj7xxprUanrQ59sN0+PC8h5GeuDm4NCH3HapmMHrz7dSuFgMxt
QJV21L75EkZtN8cGbam+wSGGbpvu32zzjbjJ/Wl9L8oHyintPPmpUwxXkb+z0F9Qh9mz5NEQNB6n
iDkr92uCBx4MFUbz2rVCQucac+imCJcAwXNCGFnGy0IzSPALk6PMmK6m+iCobdfRXR4TcyuQnS+1
lc1eGMB+0M6F8gsrT98QqhB5Cp5ibRdaZHUao/E/HjhIB7SlFmiT1GXLJ7ElH0ILIaN3Ass46A0J
dwC0QudXrFao1+e6OYP8AcQfeX4aqQZUead5MKV1ZCVP09pmEjU3c5v5pmvN1RVSGhVyXBJBUhoN
xzwNGg9N2G7QeCUZPNk0aAzr1HwTLT30czf49oMmpy2Fg1InfFLbEnPyRZJGG6pd+6GvyYHq8q4K
OBrSGUYsqyzXrod31hQxbONV7BdM49wDgAFGCtriUAARHwKZjukKuWmK2t7EKLSDO8xqDsNKOvWH
Ht3QSK5Heqw2Wy1bM7ti4Rmfsct3ssfbevP4OFwuNyGNU+lQVB+YXdWlC2/3eJ+npgsjk0agG6aX
SNLEJvcDX2bxUNc2FwNo1u2qbOPUq6h84R1j4YqNRuBWlDLicNDDiBoHUHz4l/vF+A0jSzXvtrbb
atU74EyAZJkAViQgf9yhkbPfumCjkUmrrVBYfC78Ie+E+gOPvg0gk4AilaUpanXoUn7Iory5pIH1
PkDFqm/nALLvdpsuvAbTi/srSUSVEENZkAOaTvlsotpJo4CtL3Wksm28zlp65wWYJOZVx6C3gJxd
2NjpJfmPQJAVjrAZNO9NTJbo02xQFXJ9oVjkg9E32PDlgn2fFTHixlF6ByZnCsrBKPEoCRW/uUQx
Kr2sh+aXf2jcfxeB5kPAjwQFhfBJiCcqHpXEftFcmEE0KOUl50LVdfOFdTyUHUYxgJDgaMY+R1rh
7u9gLdZMM4xiCk00i61symt53b7Ka3fFaIlG6ZLuY6ZNbjFEMVMr29eWt2LVFvZu4UJOH5rxS4CW
42keZTGwfk8WzAxyOcBZai4otPgrRFQy6AjUmMK4pI1Hr+gtm1r1d7opUf3456JlBXkZDLFAYgbf
MdkEOgrkQgm7i4hKgq/3uxTT4YN9fQr5s1Be+Npq2J3IvgiJHuzBtLcgf2pysHIZ2CqkRzk84phd
NBGvZF4epHl38X2P5BRwj7KNalTJW6W0ELly43ne25xRFofGDuA4gA+dnLfc8lTrujVkSbSKp1UJ
jnyz41Gso9DTDHuO6pfUxFqACE6UzJj3SFP9dUpd5Aq1L968ch1mr225idDrzm1CxkwT3QnUrCIi
swYM98xUazHVmRBox5xfenseTeb9509OSiicliokbFUlWSx6YBkVFT/3FCrXKFQVTo0UEn3+m9vB
AFTLA0yBCzq5mL7HO6HnNd0llLWqXJU6V2+yTbNmeT17S5lzD54kxWrCvfBRAx34b6RjygyCa3gi
ytRxRa9/JdFD1V3q4sR3NSnQf9w7KtRZdQB75BiVzVaJXCAPY1GBzqQkbV8ZuVv4jnFj7++Ngl5o
PImwEvA2+ckdFYGYQWDZ0Rc6CymSsXwMX7NPFozAGH3cSQGCA0BrMP7T6BNBFfJeE/KUpfoOLdmX
SA5VLtr1vdHSL0ygP9/Uh15daBvkoAb/KwdW/F4OrpET+vjPl+6gnNNCLdedVRKUgy/OVqbUwlWb
dbzdfrRWv/HWPrNg2x9exF/xEh5eAKnGlOm9+EZqMFkvhXhh63Y7v9Uz/6NhUE5kRkDusLDah/Lh
72p5eLGwrwIPBOe9uL4WO0QjEMdkl5xZSfmqTPSYwxymQPVLiVRDtvIwRLmMs11Q119+Xn5h/hUJ
ejNfMvOzJwzcpCjiIiGQn+w8N4RJyozf0hUgL+4icwh2BfUScourHjdxepcAj+REFn12MO+TTR6E
nEfh1GcuQqnz/TG58AmRqVN8Ysf6vocYpug1tz50FKMCxKSFYbzgss8dMxqRgJ1hkasAncD9vouy
k0ltFjGXqL0OillFR7aGSBrs89FFyOkFt+chKzmeM/ZVRlMI5gyID89Y2idh50g0iAbBh6K+bjDB
5vNwsC5WA2rq7VutAeytnj00Ua6Or89Vau5cb2VPdjvmSlZxvVFzu31dvhabHKD/ajCfS3nA5/0u
URYAa4NzN9aY7re0DmK/raSEueywNrBD8ibiHIy3U42UmCD7N80QDNHWhVFDfVDBZmdzOv76Grvu
e/W6SCH0ELj+54PgQ4HVB0c9RUc1khNEuejQF60BpXJKLp+7z/f3XUgGUhutmWvRvjA3q/N5vz+C
bevt+X48FB5G8bBhmEqqyBh9+NA12wKM3IUlc5FKvbRj0DVEYkE45N+DJMe4Q05l4UEem+EjlpK1
8rIgfk7HJCDy8CiCrO2BgyvuGxeuZcFcOKQ0I8C7i1XhRcArHZXms2tjNCrbHSvolYBhhaHGtZc8
HiehPf+M0WZMNX3kjmVh3TgewID7SyGhLSn0+I65sKKRRnreoqr9lb2yodG0tg9n5rm435L8VB6g
+DBiaKFENW9iw4pakMssZJiLmO5DBlNQzaFT8BrvMR++atEBMAgrLtI6x1Acrczs4JXHxDsxNDvx
wsWq6G5FgXQYPhQMOt0QzIeLi29guyIr7XZDmah9rGdLg/8eakbjVYFzicOCRUL8zt7vUt9VYPYo
oDrwFbz3YeOjKMavGDBsna9gQny+RzMXQ0IlELjkcfrvA4EKcG9hRGEm7YV7BzIdHNQ/z39/5sjv
fn9yBIPo5gnnV+BQ/4v0h4BeXavZyIK5ei7mwTMfa6j/W8bUH1FQWgmaHsv4RAyi9Vq9oL8L2zQF
1sRS7+Y5hd9nNEdTdszH889/KNThzO++f3LmldA3tNjg90d+SAn/a/f8urFUzyfpgqyZB+BO1CSw
ULg2kzIFopzdt68Lu+D4fC1LWzU6qDeZn8x3BK4ff5+9egZq9Yt9NksCxv9+I8Dvw7oWxisVquhH
U4etjHYjrd6i7/468g4ss8ItXOJfytYbiYPjJS2wazzGD5WY8qaoB0ZFBAZwyB9g6fTe6Par6xKI
asYpuTun8crfCEWLIlfEMZaJ4RUiob5W8unv85Oae5RgY5BeQnoQEdM0xgwpsQy7cXjWjt4lZ4ak
60atXwIMkdu0C1WvGQW9EzW5FYHvdxKf9Bjl9hFuJJ33VXazRLS6JGNyMZQG2QqPgww6JyVRvX29
tGHjAzV5UGREVwgI0PmCmHyiO14k0RUVMePVA6KOADRggqK2V5fkPETPYwvZjZzJbmESBMtTeEYv
LsrW/JflWpwZvgBCu19ieRh/6dmKJntGhZlTJD5WBDZ+ZyEUnT2Pm1VMfEAESEIaBvjtuFSBjW23
i/mgpX2a6AifCkVWjvOULpjregJ0nDc49BUkpyVlnLEAdwcyKuuNMoqAtReDB0Eb92R8h4TTW23B
OZrR9zsR4yfciHAFdCsEFLj9xfXO3Thao7cWvfBMztj+WxlTgFUAdlQxABXixT/VZvSqaEtjOWcF
wMUG1RB8bGnq5kqByzoAVsGdUBnNBfD5ucVa+vlJgIyZRVnKx/j58hq8pObQYzT6cwlz3hewZ/9b
weQllh2GrRwYgLFhP1Vxq06d+rNWzPMqWjjwpcVMjInUp0nTIdN50QRkT2qSXhaWMqsdGDCLyiP6
QR6SNFEYe03NgM8eHK6p6qs/pcYuznWbeY3H5Pd/hUyOpEr6vIlaCPG0TFf+cRpxNIQ3vz45DVrK
hbyv8espImWWGKDbETCkaskLfijww/+6kzM5Czfwm7BMwO+uYSrw8TWxBINZMe0iGfKsHblZz8Sw
twPXwmhhPaPvEmMi/CUztYVjnzW7NzImJh3nQad+gLW8viItD+QH/BXM8q5cld0ej8clqOoDtm+6
d+M9vzFciuhXTofX/eKvrJ10IvYZM5I273tta1+fL23WRN6sbGLu0yErWj9U4FoeI4O3tgM43JaW
s7R7E0vPe2EayBVWE1il6m/X1+PzNcy5+ndXbWLne7QlY4wujme3cfeJdbmcKvA9qAti5i+aAvIz
UEOywOHfH8oQyklRCcI4mTRBd+QPGmPsdIllb04II6CshkcerHJTdF0DlpFATj0Q6xLZ7HUGkRFY
ANRiwY+YM5S3YqZKk6HDrK8xEUE2/RViddNdAB7P3atbARONcUpXoqoBAoCCueY2+/4nWPdLajln
jW+FTNTESduq72gIoSPMYyxV7pha4oFZu1q5Sv/FO38ra6IoQQ6uI7GDLNZkts4qtZbc+fkjQQ1Q
Qi0MyIuJ1QfvEVidO8z3GBT0kaq8FQzwiRY0Ze56gfhCQAYRGRzltz3vxrBUYhOEhcNxiIDeOa14
SzbIxpCMICcKK7bBWNTXfyMRORcZ2HOk36f5/oF2+yrFWIWLr6Y71V2nndmtmz1ZAXl4FLS/lFGT
7rB0Wg8zMEYLCqae/4qdXI0+dQKHCmQOsyg0gVaDc4LWN7Dbadcj+N2uV3Qe4s9yJQObKoDTbMm7
/c3GTqOA2w+Y3BcaM1EbKcUHYKcHA0/g62ulhTtJV19eTidmf756uqdfV3+f7zc7Pt8PckeICrpm
x66TiWYnjdPGdBaMzyEko7cytkVw5magZl7vic7guJ1LgHodMMTq4qrnorlfkMr/lT5Re6Fh/aBi
If31FdI3BhMSxxIt1/xYo03uDM5bX0vMJYDbrK9xK3Zy2phqwVRiCbEOaMHkv8kaA0vHCS7P93ZW
eW62dnKknZ/xtFtACi1qh5GFtFMRRjLeghM7m0O4Xc3kvZTKqqaiBnLKNTgRU3XXnuqdEGnAVh3/
LthQfu5xvhU2edXCKqwoIYIwfjcmytpI5VbOi3L6BsPYZ6sHb44Gd33s+O6w4mYTiy8pM3IwZ8TP
MMSpUqmX5AcUoK52vq7tLxulhoWHVxhdxYc7jforysAo8AjixDRWTisKodz+x8V7f48sCUkqSZXN
kQ+0W41HcbEs/qVnAEGnSRjr6p8/IcjKMQa4WGV6BbhlqQW6jOu/Xv29jgkt10jINTOv17+LNm/e
+CD5D0iDAETHFITDsW6U9jGSQKXOHrNth2E4l9T0DO+tsIzSLFXXcv4kJkfW/gH8ilqqoWXben5Z
H3DYvxbw5iMmtyjo4jQcInwEd4i2HJpZo3O8C21ll0Oaa3ib/GWJWnG0LQ/nBJACao7odkOIdO8h
5a1UcFk+IKWbNRkZiaEIHKlsQQ1n3T2O4Wj4YBhHBTrAezFZK6do4ssxOeodza/WYLU84BkawFX6
ws2bdcRvRU0MC9tSnBhLKX8BRG2whLfE8giTm8rnVQoAwmRV0OxcZcPVxAXqozn/6VbwxNY0MghZ
uSHjL8XW16F9RETDwJJBewTCYQIXHikW4DSFBhZqEqMVZeADeyQNl6zMVaF/C6pzH5g5L5hvXQRo
MlOofLJUsppZGtqFUP8GAA//nEJ3k47vg6Zq6MtGEfTSdP6ANig9LDF0z7xEd1Imdi3iq6xhEbdd
AuHqflE1aTDlZTCi7m//twJdheQtVpken15o+9iLAtZiQWClicaFcRNJHMLRS4ZxI07EGcrwWnqo
taPdzk1I1hRngK1LnjiC7bHGgr4/Lvhe+mTBWZXXXd4w7YVutAHdD3nFGU7qqxlvZRVPRGlVhOwG
lEwLch8fEMiVBVCZcWBjpPmJw9FGfS33cgpYUm9EzZqSSnVIB6A2M50P915/LRQjcEEf1m0EATM7
FOkEKK9ZpcRp/lb1wns24wrgc0ACOHYUA8f6+5bceLi867JSqBTdRfpT8sehOObDKqU+m6vYgHbh
jDe0Xi3RQ86YiXuhkz3wefi9DA9oFkVXusyUelGrTbfNJQynDFZ9/05VoAmy5LT9TrU+OLQMaAkp
Xx2Sr57fVYm9cCbjg3hviO+/Z2Ih6bxpfdz+7jLkWp9spBAPY6qLCZo9jy7z0qtskGqLOKlf3/JR
LEhqQJ+AFNO09XKI2jRnmra70GvWJRJ/ksrOdFnBLLPPQP7gJCMX430QgZP/rKAfsUt3WWmFg8U1
Oy4icf7SMa1aeReuN0X+IPv5gms1rvvZB07OqfHQ0lbSQAAGLfeeKZRn+rW3oRJ2WNDGh0ZgIGNx
Df+3FZMTkMLeo0Dn2V3c4jV0zhL4npEFRR9+mBmUeJHQPNhrHGBP2IJ4XeSEdXZUeQqYYxGdGdag
3Y+FOzFnnSTA+NAwgWI4GtbuX03BHzKZc5nuokS+3OlJnIXE5UP+S+nlwUiE/KcCNvxQCLmj00y3
oQKgJFHG/mojOV5IQo626OYc0OYA3vyxowJEchh194syuFVSr/TKIi2qbRQZQr767EPTWZXog+F1
/x/mhH9loV8RuBkAkQApnq4bgya73qnqbUhTasQoREkUEhu82y9crvHyTBYF+wdICAhIxwzO5DF1
uhJNKQxbb6u6eXXlPjYUheIWhCgzWwfOWxE7iJ0b247vj7Ee6QTcuhy2hZBSDRG5PkLXQdLw35ET
ZZUmBFTC7TsM+Ys2AXpXTgrnyYoZNmIk7VInRRuLXHDyoPIKRrvhNerEv1yVCZnuCJL/KQsBc0kd
mgHNUKdU6Nkva37PtW1YaznF5Ke4SNDdWmWp8pp2HndN+zT/I1TscACQOLwkIVsco6qn9Mh1MN2E
l7js3LBdw6k1l0aplg11ewr6Oj6gJwmMjoGkULXecG3+h03S8DvuHf8SOF6UqEKSpUcnHPiIZIMg
7riMzj29b0AyQPLC9969kKVRY2tQSUYbfdsb7FA2iglEXAQi1SYN/QufJl4KOKXS7wr+/5B2Xr1x
I03b/kUEmMMpOTNKlGQ5yF6fEI7MOfPXf1f7A57VcIghvO9692QFq9jd1dUV7rqrkfRTFKvSPbgc
7bsZJDKcxWWnyfCxxtnLkEtL8VTEEkNoFnkOu2NEUhGGghyy4VCO0y+LNZRfR6u17hK5nr9gB1Mo
NpK+KD2taOxvRZJl9bHNywHeTpD/8TFjVteHsFYHmdZUet4OuaHUidd1BU9zFnVt7ta9an6CyHHq
j22RlOBbaZz7FsWlkd7200y3QNBDwTvISZ3D2Vp35cFpCXiPaZ04gQub0vhPXITlctezd6ZrDCNz
X+YpzPewm+tgUdwlulzF3E2GVUO+KGzMm3sbq0nUquM0+hAlF5OnzEPZkmk1x+gkL86YHQKMxvu+
KWEHyzMn/tCVnRWzIRoTcYe+5CiU2hmY3TEr+begysAOWSlkkioDUsBkKpA7siuGbh7UyrSHYwbb
bupVZpwDdEut7tFOLRJH8QzNgBdolqAx4jF6hNUuPzbVUv/og6WpD46ydL+kKizSQzHYMVyyI0yC
ApkdPdDeiEGO81y6Vfos70808TfTTec0IBS1LJsKF/ym9X5qR1k+SLMRQqA+LTMzwY02XCoXojyL
hvqmsecdr19c3pUJobGI7LLojYFWbmVCknmoosKcR380K68bb0wtOg31LynbAxuvcwziJKFAISGn
QJ+oa+sQ1ZYolPVyOPl2EirvF8mcXMdpzRPkUDJvQw0Yt5+6xK0LmyAbXqRDH1jSqbTmmnZGB45T
vU72mgE2LChcAgZ5bxj7cN5WLuykTanZ6fnka2SnPc1ihF9mmr+vP4Qrf5WVE5myvbSA0n4ES9e5
Dk9935Z9rC++aRknRqF6kdXd961J9mP+xYjeHYO9JU70VeCNmo6lrjHsy2IOermEsl+CDH7uA52R
ORXKmzfz8K7MF8vTGEB/vL7GSz3iCRJlCiIRmo/Wj0Rmt9bYTtLix1XiHI2+z295b/t7nvPyUNIQ
sxMEiDf0XG+FPI6MGJLBHtZKb4d2KjnUSPajJLa8MNSrR2eQBqqwg7QT2K2ixz/HRweHLGOi6ZSR
Vy6cNZKga9RE9mUjmO8Ms/imdvZ4M8VQL+jBsjwVptJ5mSLVp+t7unFlBA063aC88CJ7LgKwN8ZP
lphTVqra4k9T7Tm1epTt4XbsnRe6wr1Zh+9y+jh0oF+1u7hsmQm2MHqrCvbAYOvMstgBQb1LpYmq
P3ne1Xfgc7bO0BWKDz2/7A0l7pVrjebAuIwCCgQmB0LK35gephKC+CUmE5MMNEfGfcpfmUI3H4df
dWzpXq90xUPey9KjLC/Lp25sacCO8uZAMSK7K5rJuS3qqPpAQbpz52IOTkWe1E92WHYfrm/u5c1n
TYICSnNwamg/XO1tFatVq/ayr03zU6XWn7tK0/9eSU3U1GHbCE8otJzLqOa4YfTMMvlL2HWPKhOl
Duhz/N1Se+f2+nIu7wPIL3IBCvhPsirrHotcG+Iy0irVL9Nadx2jm2/bfMk9feqmnfuwJYo8GMk0
+LN4MdY7V5hlMuE9+CRTzNFrgxugx9dXc+lysmWimkJHsEBbr8wy4/IiEetofiPH9YPatbRrDob5
vgD5/oBHAL63NyHDnMzQc5aZufHX5a9jejRefACtceJfmIxWybDGyRpDo2rlK9PJSMfZDRzmPaTf
JV0/OPOxhdRGX+B/kcfTEJZeMd/9lw+App2kJslNRpyfq46d25qTm2IH9PzQT+GRkbZeJtf3lr68
KvKnWqnvCkvzE8l+lsfWHeJ2x6JvHDOuF+Eb8i0xIPz8C+oe+fOgYPbKfPjUKHp5n1iZrUN1EZCl
u77ejQMX3gGtcuK6aH/SHW8s3ahZSZfoneznstaUuOgLU78GXT9ZaTu+jlIcHFt1SE+FRX1JW0gt
XJd/+XzRlqtp+BFiZA4o8/PF2tEkBWiTDOew4jwYczwc0fIWn9bMvhaF9JddukK/1D+EPgolShv2
hnN5gSLJS+0Ysh8XiXlrKUVxHwZ2drJDdXiXpUH+JAUj+YjSqvcSzGIp5y8n+8s+qzqJWMEZei5a
zQJ7tAeWmqmRF5TOy5zMr6Wg+uxHepScl6iMPrYJveX6Xubu8iUVom2bcFI8aOuXFDKMaLJh//Jr
uRBOAfm4f8rE183UBc7sxe3N9VNdZ5vFNp8JFDr+Rq20mJnleo9Apx5dqf4ntdNTq+XPzFF0IWa7
j6P4vqih1B8tZUf2xvWBicbkfPHFCAjUc9FLmmmRKdWqb+Z2flDTUKFKNORotZHuiLp8ynTd0k26
r0WZnazDuaiZRlag84Xqnxh9suNMrtNKYgvf/vL1GxZX9LMR8av+VJYE4W4x9fd2YT4uQfZTjtun
jrZEKa3vqjp+Py7RUf0+jsPnxGlhiZKOQUovkAzMOvmt1lDJjua760e8cXF1XHe8MuF08gSer92e
TatKpk71DY3eWbP04vprUoxeCtXRdUnC5K/uzZmklS71S5gHxYgkKzpWElQ/lCGj7OHTdSl761nd
TkBfJkMBR9VP0+EgD4+d2Z0C465y9mZKbQoiZ4iFpyQDyfz5xsGO57RT0Kh+0TpPY/M16aqTPRp0
Re6AxrcE8YAy2QNWE/oDV+6CkUwT7dG26mdJdijMb2Vl3mraeJRSa0dXt+4BoSWxHJVbcN0ro+oE
Flw7eqj5RtIVt6GVf8KP2CPo3nANGLXDeqAjgJGMuWDnG6cAuFfCLFV8rQ1Cb7T78a7NlHBxG1Pt
GYxuLEeTsUm3jS2GrDDa+DjjhsIf63SfHN0adrb3ctGUtIQlp1bNu7n2Y7tI0oeoSWW/bdXFHdql
vaEIlR6uq+WlNWM0MYMViO6ggodY8XzRaWrxenKQfj4kd4sZPHZdfxeaO57l5fuAA4up1BjeQFZi
zX7TzbmUytGi+KkKqxnjjuvKIIu3PDCL7BucYi/aHoHopXJSNmNcHhT3DFjAfp6vK9ed0RnIX/t6
USwvCvTrh7QIzHvb7BdfGs09fp+N06I6r+HYUQNllatbJ5Hwsculwa3r1OIhKk1muZgRPdHXj+tS
jElZjFhcjNQBmbNyZ5KGAnIsT7pf5jrDjfS0vRnL8O/vG8Ax3HSgrlRW0YvzzcukJh2iFimRnoNn
msjolH1u79zqS9VDiuDVxEYJWpPVfVusvAimTtN9ewpqn9ARbiCc1pe6bffAapcmHjVGmhioRTvN
2itrc2WJkywxfKnqkhujynmx5EK+zTNVu6GEPL9GUr/3em+tT3Tu8c6SZYcw63wXaSEO8qLsDD9u
dLonoz5JmHRLhll39bYMjb9WDVrgYXTG5mMkCW7OxZXF3FfLWBv+kteGZw9Lf+rbbo8UZmtRYlAK
oSj5ggvGFqdKh6Wmv8C3wsItl2cnheEkUXes0tZ5Eb1DrsFVUtV1q32uw4Cpdrnpx3bMEIFBz+7M
TBtv7aCMbp2OYgAERuHx+t3aWBqNBYKMk4qSQSfwagN1cxqcXjf81KyGgx1FVJnTsXJnxel2RG34
r6AkBN0kqxMUIqvD0mYjbfTAMfzatrKbMp+lB5hwzFtTaXq/t5rwrsii/naWTM3TRzV5yKdZ2cVs
iBt27vkwSVSGKkwnkQk72eoGxtMQykNQmL4jF0QF032nh0e9+MfMYM5T3FKBYdmkcuFq+QdrN2jY
2m/ec0iToDAg7yB+/saHrxpHDoNFNvwotWjibaPpoEdMJcP3rnb2e1MUsTa1QghmiVHORYWTZEl9
b5u+bdJc/2Bo7TS+S+Y4Y9K6NEzaTk3y0kozzoWEuA5tkqlbayxMnmVRrTOIwJdKJjE3mdX+qqZA
3okOLhclpOAdGNQK8VlWHmW7mBLWVTZ9tbGbb+rgaKdMo9zlxmm7h4XYXBF+ngp3CiZ0TXReWgD7
Mgl+SKeLRrhGtXZkACPzaPWdR2FTEKQWFHNh8oKF4fyklNo2inbgpHisi9cssPJbRsVXO5QSa+YS
gh/xuglysj/oDnsFA2wTCj6lGQe+ETrlF6fKHReycem5GZvhvh8N+SGcFuW+mKT5mMA7f0oTOb9p
87x/XyvZnZ4kmSenAWOVkzq4saVB/yoDf/ycVHP1bEWjeRiaLv1pUVrcMfMbp84UTdpCOQqIz9bz
EK2xIfSP28C38jDwypB0qpkbH4xsFxJ/mU/gcv6ZJwhckrzCyuvurYkKrKEGfsfzxdwYOYq+mLzV
UJIWUvyjLs36I+NTa6bLmEPEpMl0LF+H1FD2lrzGH4rTwkHFHUYjKImvizllpsKfl0S2H9hJcqgS
efrYSJHTHewwPdWJFdwOTN8+pDluXQOz0bGbg6c4d5rnMRrTxyy1X/Um0R4yDP9OmLpxHLgv+GP0
6KKw64lrstIPTteHtm/35vzRDClLlnlYvSwkW3auxuWjSDTHlEem90JkRBPf+dXoepHlKqr0cXRy
z8x/aPQMNT29rsxQ/NuhV2y5Q+cxFEVQ94GOXDNJzlrY9kZp5Y+l/WQ6jass8Fh9/dsHV5QcyA6S
RcdOrZPBLIXqWgqd+VJQmc0n5acOi5pnhuSsrku6iAZoB6Y+SSsE9wYehZWp1FKn0KKwzB4DHtPn
LI1F6jWyvCwwknuuznC6Lk8832cPqwCiQLDEgVEdxJadH1UkZnX3VNcfi1zWP8ykWQ6D3tMNH42/
lqAzQKd0y0GJNOe9Kk/FjvSLaAvpOO4kurEPVCdWq+3roNOabigfhzTUH5MCKqRKnaabNup+pVIU
P5eR3HiRkyofri/7QkOFYBxdgQzirVjX7rQ+18Ild8pH0IPO4mpayBQvKQhCeMxhHZlO+dI1v5Jq
mv/2FiIYA0WmmViPus/KVMUMxRgKJaoe+6UAZ4JHeUSdYtfOxm7n1b103YQsWFyBKWKBgR2dn21i
FJC6aXA8GfUYHIqmcvxuwk1TSkV5t0Ry9NsGcH8fdBPoNCuM1XeKMxW313d6DRPEp+ArxDQGiohi
0p44ijfO02iHEVCGqnpclMb8oEvAVmRjEugFi2m/KlO4knEuTjIknx9yozdGN4Zo7GUuu8xdnNS8
B6pvnbrA+a6GS3FaHGgSzIZZYGlXfbv+rRcm8s+nUnGg8EKibW29q3gwnCpuqsc0SPRjxlDqAi/7
pips7ft1SRfOA5Kww1QzwQ1Sc19Fx5R9UsWUwMEtjhIfanOA31ae8h07LK7P+eUWt0v07gFVFWXA
862P7TaoY7PWqIAGXXqoh0Il+9uY+UvXysnomUVnTHfXV3a5hzBAwEclHFiR1ljZfmLxOeNWm36t
L+HyoahTBs0U4Ivq52oqmeX1t+J0ysIymsV9viT9MnptXLo+s/107AFaWVRt7UdYoWXDjeUobP8a
rSHgZ9woMaGPV2yd66r0pq2l2bb8UE2ZfRbIdjKcCsg7wx3P/HIfIe0RLEswughM7+ryojJLkxax
7U9A/DzaLaLYBSqWfhiDyNgjlr5Ux3Nhq1eADF5kFFA7+T34HpeICo7TKbH/2toTugHiIyUE+gZw
8Lk62m0ZLfkgWX5cD+qNtjSMdkaLBjfWAYyPI5MdTKOjh7XRzHQHZHRp8HFDyXhR+cFZwKU+l90G
ydyMRuT4iz0dqiF4iKcYdED7cRmUm1r6eF0rN/YTbjDo0SBcp0l3nasMu7kcEzxEv6+z2XJnQ84k
r7PN1NlxFy60BPYrYhxoVAFhipTR+bJ0u1aIQarSl830NrZ4r9VekY6Oulc32xO0eqnN2taCwigZ
wGcOjL74XY4vVhXvvBUX28ZqiBBlA75JygJ/emDePBVBMLdRHEwlsKEuOSVl+bGQ+3wnw7sp5A/c
isQ5jc3i52+ENJGUSYHNKMF+iAEyGmEfP8lhURQ7xndTDvy1/38gPLPXz+UYTkbKyLFLfwrj4G7M
GcVDXXmPNXit17zq6DRuDKAu+hDWNb6oy21BT2Y8mLNX0XjY94kbJMfGmm+m8C9NO7KA6UG8pgrO
drD95ysazdkyKiMwHjL5nd1NXn2wuu5w/eZcuAt/hJii4OeQAAFGci5kzmaRqXDMBzkxJTCsUfK6
6FbxOhAS3dezE37piFXvFzB6N6G2xJ6ttfpnuTfDF3NqmMUn2YXb6GF7X1RZ4025/qMsHY25eYke
mjsOw9p/FR9L1wXB+R86/nWIS3wXJPZSmA/hq1UdT8aNchweh3+ub8m6sw4ACLUpMg1MZKUgQX72
fEsqbZkbO8/sBxzZ3BtyJzxlda2cgGSXN1QEp0MxN8xZmGr7kNhx+mS2tCBInVmEpAT74L5U7foY
WGX0ZLVt8GhJcfmxk8vuvTNMwy2S5btliYLk0LShfOg6xeldc+4Fj6YFvtuNFBC9O5Zr7ZuwKBgM
LaBlYD7Jm64MCuDqfJkW037Qs5nA8EZR2zup/5qS37i+fXuCVv5nJc/gOlrLfhiWB6ANzFvV3Dx+
TofX/yCHZ5QMIVltiprnp7SoRdfFOnIsY3alxTw6Rfy10uvjtFin66I2Lj3h4b+iVqZlNvtSziPb
fuic/l2Qm69Wfermx86QXVUdd+zlnrDVQUkWNGkqTIIPKcsKD49S8/6222PL2DokhwcRsgEiBdJU
55unZn2sDaC+YZleCm/U8uKuLRv71p77J92alZ2zWttmoXzAPyz65UVH5ZoEXR60KFBKxI2NM7mp
WfSHRo2LHc1btwYRQTAKCAdOseiLg9pipRIpOa/EserIH9W4YgaREQbMzIm64XMbDhaDbKxR/daO
rbClcxZN3tTSPuPJk9rNXlo6/cfelovo0IRQeLvk1bVQc+cy1TVXC+fl+2Dm2YtZMCT7WKS6GuA+
hZryQ64a5mXIc9+M9oGiD+FsrIb1XlXswviZCiUxun0xSQIZurpYuaZPi5EY0gMQ/vrTYLnmLRPI
pITpTzsbeRHJspF4uBCli/4Pi3TFuXpUrZkUtt2HPlSW3al+qt3iu2h+zZ+rvffnQjUA81K4VEmV
EXxfwLGVuY8DS5lC30nA5Az2C4j+W71hzKpcSG6nfB1qprtoCZWx/PPC/0q47no/HGdpD7t5cfPO
P8VarTonXaOU8Rj6nXSfM89U7eubDPbbkXFfUnHzlzbljzA6pBgbDwRtXa8du3I2om4O/Tj7HGvS
cZh/D9HHjKkjw/Tluqi1L8lpWrIoXFmcpmjqOT9NqUs14OhL6CtJfVCD+4k+hzna4WK5sCh0pJL1
4Hkh/hUu5bkQxygHVS6t2G9y+7EPXgMlvRkjCIT7ncjiAp7EcpDEWmi9xXbZKwM5OE4QRIzI8XVF
ejCscjxqxBldrZUfxpqmvnQqp2OmGOHJDJX03RTZ7WmO4DsfI3u4oR9HfZFHYOulgmtd47m8C3Dr
n/tCe18ONI4CUB53WeY3todh6/i/NG2JIxB5wTdesB7QOxKPceJHtN7od0roT8Yd9d78nXOvpAfj
W/szCA6n4KX4xTdfP3/xu9+mJRCIbCJo7C+Hs86mmkUQtQqFCb9naDfzg0t/eYFewUluppFBOteF
XYBlzqVdUBbPMRD2WkNanfyMwvouruaDuug3mJmT5dCJND8MEP0Xn7GlmbXsrHVTPMVhOgHEBC7y
MecbXdP+08yykfhKPrh6XQJKCyhfGoNLq5JbyxPPgvHOMP4Jm899qx+iBITe9S3YsCPO209YXYVS
SVMjNUz2e/4WJq/W3MF/fhg62dP2kFYbb4LgigKRQZ1PhPnnq40mS4dbi9UG8+1Y/54CyE2Hrzld
jmr4yUj7nRjrUothDWJnRQUAz+FP69YbLR4LrcsatY98JfYH2/QaG6YVMOFG/v36Fm68QEhSCX+A
dgHVX4cldhCHaoIH7Q8nAwK5+jFzay8yGXHW7ijspXUkayZmIQBp4W1dZ21HqZLtUtciMlqq6Lhg
IsqnfE/Imk4C1wQpWGGRiyFJty7JJkq7UEEMY388Tn5wb3rvTf0YHqRDc9ib2751SG9FrfyEJCu6
fsgQVZe/JMkLXwrnoWt2IrGLRhWxIADF0Eip+FzauuZkJnMbl0Ub++pN/V77Ih/pxnMb6/RSf88m
Qdfy6bpGbB3TW3krjzWtZ0NNeuSVSutl1SGLKD3Ne+nNS1N5vqrVfUqNuWWGHVLi5RgfT2CclGPz
4vzanbNy6faAryfMxCJbJHDXDrhkhZoVmEZML8pnS8vfyWF5U1rRe7tJT9XieHHReo3+xQnhErC7
5nmZpd81fahSf3t9XzcMJhEUgSGhNbAEln9uQmrc6MrK88S3npVn89X+aR5+lAf5lgGe/LkubEs1
38oSh/zGfizTXDkCbuW3xX2l0tBkfW/q3h2nPY6oLW3hPuMhEHAQ7Aq7+UZQFtdRndlj4ptS4hWM
tOsNmIWSHZ/novwsLgGtEiT8mcoqIo9zMQIOEBbtkvgUnF+Sd+Y9mND8ff6ekQA+83oPZQrX/G2/
Y7G2dlFMNaGdgLQ/Kc9zqZFeStGi64kfyr3LtCGXdmeXHM2g77ham1ZL4P3E5AM4cNZOqkUcr6Cm
sf/FOJmzuzyMDO/Oju0dAdCOP7yph29lrV7NakkmJZOQNUJ86bhfW/czXgKkhJ037jzQW5fvraiV
Q9w2EKeRHY799mgc/9MvBzhFRRkEDq/X+enIyqBGYUCPQ5t0sFjloyscs8PfXyQwuf8TsloB0aFi
LlODO8kkbLPqniutdFPnJWz2yLk394osvuUQppF5WymbCuGI46R94idWDsuMlDzLEnxc15ez+dwD
vsKpYGgWafyVlKkuq6bJuK+zOkw3TaTwTDqLcWgACFOesH/MkiZTMzWyY1dMzjEYnb2BfZdeGz4y
ED+oIrjKxDDn50Y4P5nUD7GDsREdJMd+aGhDP0ay9ntuK+Mw6cQW15e9ZaUcrAcdwvDogaQ5Fxks
ejMFqbjIiXNDsma5JfhNvQRW250N3jAZeDfAHMDz0Yu9LoObldzXYxGmvmL8Ltk/XAItbTzRSPvX
SzoTtDrIMOr7Sk+kxDfU7AhG/T4YDR9CjON1MRvvtIg1aX+BZUS0QJ7vXEiX/pDHaerHo1Mfq6AI
R3denO9mwlBJipGMv4YR2u0Kewzp8h93IVAbR3f2AaujW6S4IbgpU79V5C+qJN/0svGczdJtIJuj
O9n6U2Jqn+uwvp3FzDJKnOAnkxr+mQRK1ynLGWsKMvlwfVu2voocG2aHMje9u6uvKkqweLA7pH7U
MGJhSo7Z8t6qjJ0M5ZYyUW6j6kxajyTRKpatEy3qwbCJtbePdf0t0p4VNb51SNT8/XKYh0YqCmQm
Bnt1JWPyULHsZCxHa46KTnuw9b2t/7qkAyH/Wylrg91r1hi0eer3RxMMRFR8UtpfJT3Wn66vRujk
eRguhtkwE9ABWwt+arWaURucZGyWzJdUp/CaoSoJScfjdSFbGvBWyGoxs9FVeljKmR9lELuqhfsf
7rdFuo5UGD3guD/nFy8PG+Y5GxXPQftFzV4T9bZJfl9fwpZ6UYkixoRDFhqFVfyi1HkAoUSNiPAp
D95P6V0fHMz87rqUrdMABMtjA6iAqT2rjar7wGgmA4uoQU/9i+a11jMM+px3DO9WnAQw9l85q5e6
aatSGpUo9asvGd6gFLkBA4+DIXDlsPOaWr4J8uw+q2p3mf3Mip4KRd+5r1uv69k3rA6tbLO+smS+
gSRY8ZOqlfnL/qd6aOxDVB6jl+sbu/GOigkCoo0ZvDz5uXMNISqMW2NMUr+U/DnOn6eMyZXt7ZhC
RVvttWZtqDsJVFIFTOfmEV0j8/sm1kMrUVJGZi9uZ/4OGe6UWcbOpdrQSFp4QM9S8yeDpqw0cpDq
aAyamTO0v8tMJ5XCEzw0HOIennVzOSSD6Q4DsXYx+CoJ7b5uJ5Vnum9ctQy9Zbmfiz3M44bqiyKq
6H4SfZTaajljXcRtYlmYVdtEG0NPbpv/sGMcPTVrsDs66PpzJcjGNgm71kz9uvkRLy/DABMZrIBp
8+G6sm2dDI15tE2jajhuq6eIoRgMjjMcloIfrI0RPEGhp2U3UHXtXOSto8FQCOwmAR/0GOcrotDD
oNA+zHyDgcS9/tmBqcdK/j6yE6ZC4HgF0cka454O9RDkQ4sQM3ZD++iEz0r0WGd76JIN94lSkkBy
iWISCNvVYugqmdocOW0auHGcHpsmvkvNmvGr/lCG91Fv39MIcXP9sLZCPOTR2YJa8KJfdI/lfTMv
o8Lj5KsvdAz0rnxTPNuwqxz6n0MKJG/n0C7TowI/8a/AlXpUckKDVSoEflSP2UH6tByLo7bzkmwJ
Eeg00HAESbQVnm9maixyng9z5i/Ku3RicL1agfc7/dSrzzv7JzyElQdh8CqSPwTnT753dasSSPuB
LmoZzSpufrQZl3NiKq/1uvxixN28V7PYultvpa00vpCrWiJvijIOIajy73oI36TcevvJUfGbrq1L
GKw32ZqlDJXIkHR2sH9YrOx2+srTWIzHzvTK1BvShzg5tdWhr+/T0/UtFabummRx699IrkxNyydH
pavpsYr86dj+bHvX/v5/E7K6bUO4LHFocWxTe/M1+Zb+s0BL+v66jC3zRCM0oTPOP5CVtQy5iXpn
znK/7ZKfJc037UI3k9ke/m9iVk+H1MpTNEt57letcVsU0d2SzV8tPdlzm7aWgwv4B6xOlLE2hEDd
Aq1Y0twf6YJ2e9prTukYikKDsZdN23oNeT8AOQleRVzzcxUANQIASily39ES01MCGnVNZl5f37eN
uwTknogMHCmJobUHMYWN44wLNoLcshcZEAm0qkdpFEzcjqQ/oe9KpekExugpFO8p0qyurWXXdtbb
U+Yn/X3fRq7RPanZ57q86SuQFz/k4X6Ov+fhN0rPtWJ4c7fnXmyuVZD4kMwRPDorzzoJmlKbRtS9
lG8tgrYqPo1B7IV7ztIfnb5YKTUV3D+Aa/RMnp9c1MLtyH+5D/fiSfeWw/f8nqFPrkbeujgaXkp5
5foxbm/uG5ErZVnScE71Mc6pegwn+X48ysfYjTr3nXJf3003hWfsSNy4CKZs0T3uEAyB+RDa+8ZA
KUppOIOMaQyy/KaED4zqlBS9u76sDSsIP4suyOPEea2Zh3qzou+jCzKfAXa07t4smeI12ksXvErt
Tsp847HErYW5Q6f/BJ6nlcHtYGaujZTbVkB+4w55mEAJmOQ3+axPd1VPPJnTg/kY04H5H3ZSTG8W
PQciobB6pknWqGrOP76l+8Pwq/eT4e8BJLSbgVenxo8pgTjt/LC0ISirKIwiv+++V8DwZYNWyP4+
p3XVoRB9/dA2NIOMLMAR8G+ivWx1z+Ewa01pmWN/iSqvqO/bUGfg9k4wt3GX8Q5xoQHwEo6v87KQ
fOZqaujUw/SXfOkPsvHbdKhp/D16RPR5/StnpRaxFeEY6pTDLOO9GViHXvqWlO8Bde9Yxw1Nx8ZT
dxOmER1cOYS2YkwNtLWxD+Xp0SZgOMSGQmlewfnM06/LUCk7x7S5g/+TCGb4XCf0VtEq+g5iv7Iy
Tyf8V5P3BRyrJuOE/oNCvJG0NodZlRRKEVBSbAOgVKPMAs1vU2/tBCmbivdGzsoGOn09CcrA2M9r
KnhacjBywsg9YhBxV1bGHUeG9IwOdJAE3eou0b8WpIZdAKJojOnGUdLbQRv3wtRtISATadYBlbg+
nHRsDXlMyGZRhV3M8DeM2j+vH8qGvWMZ/0pYHcoQhmmfKUhI5faY6d9g8PUa2bqVlEd4Cw6Edt51
gVtLIhKmKv8nxF8TJPROQguwiUBKvc8FzAjy3LxeF3GpAJp4bQEyCYgGm3eu0nD+BJOSY8OlyvbK
KHW77vu0Vxu53DghBGo4wQYMNn0lZGitdOnJk/tlFZwyx3hKtE+xqT9E0/Qc5R10Ldbt9WVd3lSg
/TwQ1HIxRtjU82U1gaQ7YLhznyZtd+Ahmt6F9sch+WuDcC5mdX303sk6qS9znw4C+JWt/mmpnsw9
lNzeYlavQ1wFXdQUFe+secwyI3bjlgxjXmdu4/y6vm+XNpUFicIS1TuLMvFqQaojZXYijzmIoOcg
rl47uG2qqWVZYGgj83Bd2pZeQDVAAl2ML6Mx4fyUArmXKBTgSUcJlf2Y5Jg0vdZ659VN95t+p/2k
zIW6i9tLyQxvVjQprtnzpNDqJnmpel/PkubQAtE8wNRV3mr9tMcVtCEK3wHmBnALOPDrMMECW1XO
kTL4aRwwKmnKvkxMZj0tltHfXN/GCzPBkw4sQlB8iFYmefUQNoGpSnU9DD4l1YNkVYco20mLiN9w
ZsDPJayxEXmQmW1TsRZuq+T2vdwfkdicliLtbgHvJZ4kN+pJN1rnMKWT8un6Ai+TTUI+Tzx1U4Cv
TOs4V5TILpUCJ3Twhx+6+qJ7d4rFSKQCjCfMmV7jtTvrvVDMP/JImBBzUdxZ9znZeWmmtc16p9Yr
f0WgoeCh7w+LtPPMX1y3lZzVuoY6iGj5VJEznUKjdi31Y3hotCd1tyi/qY3WvytaXTWt1xM1cFgR
Gl+/Qix7F/9ymHPVHGPv02/5kJ52zmxvaeLnb4KdMIwjhukg8HH58S46MGNx53G8sIpi72D/JvNJ
1Zgn7FwAHnvYjjV7t/woY2/xSvVwvK52exJWxrCsyDjmQgta8yGD1jRoDahNYUj+cV3OZSS6WsrK
wNO93au1oXG94vdJe4ibd7rudrd+MLhV5jIb4vPE7HGD0Yf/R8HCsrw5pMqowyULEWw8q07FmNrx
FNXe5/GkybfG/T/Nt8rd2dNNPXxzauLnbyQuXZ0qkcKpdfJrqj3q4Wum7dC+7IlYqXoZxPIcJzq7
qb0bpu+j/VhqX3c27iJ7uzqxlXaDW1zyXChfGuUHaL+cyNO/VK2bHmgMK24CdcdQbJl4GBFpSMd/
JiZdrQmW9ESDe3Xw5Xhy5YDHWNubkra1bW9FrJbURrRTJ2E8+urkjnfmQ7zz2O8tQdjcNyfPMIYC
GSyhS76q3XMyvN85kz0Bq2cw0hSprfVo9AOyD9UdjQN19KR9Gz8Oj/aT/PApfk687OW60J1NW1O8
Z10IdNYKRz8r6kOp1F4JPrHYm+22KQW+DYgORbbFFj9/s3VVDPdAVnA0weSpLkCAZseWbr13kEz9
T8BKvSDRGbO2S0e/+Al2w0uMj21+MwzHJr7R90oRm9aOEI25IDbFPshhzlcTFVmgwiQ0+rPyVRY0
5CcyVG7kMmLV9vSvHNLO6ra8l/8JFD3SK4FDOnWNJQR6lebJsWd972BpGRktQ4bs/3H2Zb1tK0u3
v4gA5+G1OWqyZJnykBfCiRPO88xffxe9v7uP1OIRkYONOAE24GJP1dVVq9Za2ebLU/l/o4Oxu2up
jXs1ynskMsc/GiHDn88VJOfCbgAREt646MdAeEzH6Gqr9Ghmw54rqucscpPgMEbu4229MIgbE9SF
lOdFocQgO93z3EeefOG4lvmxRv//ictXju28tajQ8sbUfKqv9jbfFug6hsTLPk1qJDo+BfVjgIII
t/YGXbaDYi9Ksd8aF7d2ZufWdwLOELaA1qt6piKRB2UYUVvbAQuRD0b0H0uUo5sZMLhRwWFq8kiP
odcjZowZCzrjDURemb0FnwfSaBUpFYhoasDy3I7KZ0d+VIukB8a9JZk4kR7Zr8d7YXHioN3z/YwG
nyHlfCROmJq4wIbu2W1a+hYoE4koO+KQOo8NLc0bEtaoKKMLBnV5aieo5SD1YtIOaPpvSThskuJN
zT7m/BrX/n18j/Q4yvOzfsSMA7mdtiSP+jAU8gE4+c6tGZJxZlHqwJvEfw1NApHetSVqUJDN83tW
rIc9FA/ARCVEgd5W2dpD+h4VNJsB1AB/UDlEYHw7INA9+YoUQkGwEfRiz5pebrOMM8hkSuxyk691
5y75h2tz1LbrVUicMgOWKhDinfzF8L4Rjm+8b3KcDZTxX9K54L13MzhqtUbkJbUhxuCkLjLSnCUp
VJv/kvsQIDUU9HArAS8MIA3aOW5nMNKYIYvqaXCB7IKeoJSJG9WX1woX1MTdWaHuviwOklBIoKkn
vUe9DSqVngPN4hmiekz//vg40Q0NtC26e06OKiFlatiKmT2TfqgpSMl+yD/4bB+iqtZ0JIid6Ckf
XvjxCS/btWoXjZb7xz6KsSCxwsv9rngZhGopgPNtcNEfDmY5I+1MAo45aRMd0PWrWq+Px/uNQ7q6
Se7sUUctkzMlxCIPrmgnzYs0GR2ENC0oNmeo5WV274w/8ccJrRE/mU1iG7L5+BO+ZQgffQLlK7s5
51RLkPVR2Y9EPTZo8smzzswjp0bLarRT0HjRc+GxjRujyj/k5nMEaG/KNigY6mq+i4PfeWnKEBsc
dk3RIDo5T5kd19KTykDvUO31gjnVTblpZG7bi70+rtQDljcNEEsqsv7AH9De3mtkuW0DZXChLsHq
nj3/V20gDIu/A32orIG3g63xeN4oz//PygGS981Si5IO5b2KUUOPJc8M7gCYm2gUeYmCjj+KIenB
5Gx4yjiB8w1N64/NLu+YK7uUGxtKv5HFWB7cmsfrvjPCrLckxAeid0KBJxZjq2feuML2u0OrbXof
BGAaCXki95IRyO9pDNSv1OshlDizXb7ydXTDzj+zoqCSC1ZMGY8+KmxNVIhvTR2WohIjIodfSfGE
/F6iouq0AUeR0jOk2nqrRQeaNfUfuzPzzpxKBGSXeggmjIgmVB+rIQWdFclgfwHTiOxBwF3NDE8b
ie8nkL0zGW9XIWfAHYrCRdaCAwfE1IYknYSdArF0+TTm2wLMyo8XbWla8AoC6AxpVTCF0CFPJ/eZ
7BVq61bDUwrpoiI8Y68OYqjHXQadQNcvSD/u1+TRF/YoWrQE8AGirQW0QfSsKGUGlTSmcyf2teZy
e5LtOi+tIUtNof+7B8u8ArAF4jLwlKC0QwMFNC1Fq4Oodq44HAsxIF3/GjOWzCMrv0OvjHhemVIq
m/GPvRk/CjgLeOdoetNOZDJp4oTOHeM2fxkGnzcL2EWLt6izaBMyhQRCNiEW84X3e2WbZNCvfPwN
CxcjSHoBAAKTJh42tCh0ISYJX4Va557VgEeGWSQsmiiZr2Sq9GStq/a74Ej5aUCAgUmCj2NBJUld
FcmktUyWyr0by2P2NIkSc06UhoF6YezLoFBp8u3QYscLRTUafgO25Qx1/2zUWjMcJ37PTCpEFmVh
1EcPJFsIjwurVSJVb5uy3bWheoFupGAo/CjrkwLG784rMr3U4MwgctuYAqQ/K64ubKYNOIvpofsp
jo1IWrB3WyI7IhVctwL8jSSU04qLX9rI8HmgAkENBIBeaiMPAVv6YRojLZJkb+BffxaZn0r/3JVP
tXB5vKh03v57YwEwDMQB6ouQGqMit0RtenCz5L0reqYmbqBVutE46G0FBSn6Px1IB4EGexvrXk8V
BqjitTI6DSv6vw9AWAx5XRQDaZRl0bX+pDBl75ai5Q2q3ZaBNUvAFrkB8sNdNW2ycJuiki+Lv9j2
JW9BcFzKoIt5zyL/9Hg2lra4DD5naFVC1QHPwNsIU8omqROloncZ70fZ/hq1Y1yQSiZK/rQaoFMp
j3/GjcITauEAbgNRfWsLZGNpH2Rt7/JN9BMwTBIrMmKw8Cj/6phChwJwy6+ggZYX+8omdZv61cAX
Od/1ruAxvwTVjjw7L3CF+ts8qW3AW4yxBZsONxAvmwy+WUXLzRN4d6rRx6LNpWYWLNK3g56KBmyW
XNO7qbgTo03Z7qXkELdHqPU2ZjjoObp0qmLHRXChk5EdpjUmpsUVvvoA6mhVbVqK47zbhIAxpSQl
g5RZ3kkEeXgLajElE1di/LURzx90lTzBFS5HkYxljkbuaeDqTZlqe6ldyz8u3rk4wP/OLPVsYXpI
qGkRZnZkaoeLS4PFq7yQNyEzEMjYIVsz670FViSRVLIfH5v/sq/+NU7nWL2BV/pRxCCbxDrIsl6Y
yLar7+Z0eamdlaBreQWhjIirfpZsoPYw41VIstewpaQfJes08UsGfOd4FrxXbcXU8qTOxIPCbA3v
ztvFCwN/4EO26t0++92HBxlM1R5e75mB9jXkwnLP+pM3f/6XyUQnFviqZ3L8u+gpbzK26XBIW9xd
Kuh2LAnPpQJayzqjkU5y1LbZtI0T/H5s+Juq+O5wXhmmrgLoValJLvU4nNOGC86gqrxMLOAmBXwg
/GAw6xfnEWFDiNn5kMnY9P2haFRHQ3DXN5EOWdJNJLpBeSrZF95rQX9sI9c1IKnW8h2JRUftVl6U
s7949MlUlFCXfTO0OeYK3ELJRkWGze+dhlnrWVyaGqTVwHI5c2oi3KP8VjD0eTtBrMKNtINkBWbW
6kJdkPTVk2zZh7y1kYAXAMzDyc/6olUuk6HxYfJIrnknnjngBS/nBxCZbStgT07DZPeCM+B9/3gF
F44G8DssmoDAsY7XCPWV6EQOuIKZZ8NOp+3gPUvCBiLoxigeS2mN4XDZGIQJQDeM25Luw/DCaYiZ
VMI5zECA7PhCD2UCIse/WPTgZ120En0urDTG9h9zlH8DZJwDlbvYuxqp9p5tKeP/NHn/GqABFNEg
SdAaZ3u3SGq9ZGVzzD79rW9LE3rc+jVi+nljUhv3ejjfnufqWiiZohfrEcPZSaRbmapv3MqjX065
SLEQmjjr8Mv56MUDEI5XauRbxE3ml0YlNkbdHJmGKM1GxUnxBhZETSKQPNWx8qotHzaHeFxLUdPp
zzncwYDRZwd0HnqR6HZc8C/zPvrXsDfZ/KQpXvEUjMmsIN/wiq72Y/zRcdJvBPfKVorqKiNSm/0l
8Pqfb0CfJD4A6FdoQd26804sWi0QsGWL8jngz6ilQxpc9n1d5DePT+LSjTiTu/xrioozonLItUqQ
cTpK5VhmTvNeIh86hvWeZbbhr0oyooMHHhZvTQV+cWPh5fCdHUBxi/KIQux5VcUxMNzmKmG0HlrF
Q9SsbbGFsGZ+9v5rZv7/V/u3HrIiGlWvd9nRUcPR6updrg9FRdoPv7Wr9tju1ImAmigZQT6ZfXIr
E/zdvHa3x68+gFrLpuCiKpECJIM3g9W5kN8ISWy2dq03p6NkCdYPhkzGIWLJaDx1idPog93oeEXk
zvPKWs9refcpoohuc3VOPdC0Lb43pi2qSUjIJU8DdMqBQWFBJloZSfUeRTbiP1KL5/K9qRsiTLo3
PWntudFb7+Pxh9CEnP/s76sPoZ4UZZznUxrmSAsdu5y8Y/65c506jQJxAjuFsmiCFTkrkd7h3cr3
+yk+c5XVTHodt0ZTWmAAiY8BOlSzv6ST+ufLkL3HA29ONNNE3jVCYE0Nw8EVuvw91MqvsdkF6efj
8S+uA/qxZkp5MEbTjwtVaEaJi7AO2cAxyOqCPNljQ0OuMjP3GjBeruEHF8/aXEgEbhoXLn3WMlQ8
+rSNBhdkH9FWqKf4cwyibKWffPGoXVmhjtqgCV6icCXmLm7FPUSL/V0hBIGVS4328ngGv6WE7rYy
SisIdjRInNMUKWrLZlXYYAoRT3VWY41b3uZtNM1fGCuwi3fsFmv4ZUQbdlub43jMbX//Fm9GS/vR
Wv6mMFuLs3sr+xN8Sopetxv87MyX0Er0tYBgKTjX8FD/91spDwB+ViAKCniAiA9IPpKBQ1bAO0Dz
J+Z5opaO55+bw/+SibsxS3l2D3wcodxgKzPFIWR/5N5LJ2zU7CgBBpaeCg5e5vGiLK7/1TipF2Qe
q1wcqMngKl04bvNhqMy87aqNrIZrXddLyRgMDimsWZ0R55QaXAWW59QPq8HNzX7bWLydnTiD+SW/
zKsLWvy9bGV27Twe4OK5vTJKDbBjhrktIYP/ZHpvB0WwUC+qXNxXdSCRIBd8AgCwshLuLd/QV1ap
gDIFm56aBRgq3+fm4EjNBGjzsXKgp1ZlBzAf8R6yuiaTrnmN5fX8d47pRyXXItL0UNl2Wak58ng3
oMCkMv2KM/wvx+M/ZujLIIFSXNsUKHRpSPOfYk3VO3YbeoRXvvyPLguIwr0wa7HnUmkCaX9+5pJE
67REA8ZTj4+5FjR6bsg6fqrpCnKmTQjF3NCAM95Iw6Q3ngV4sl1lvgEEkiFypzr70OrPUtkwnz7z
hx924FzTZXHtybJUOrv5OGp7cxXTZbGAo5R6ph/ZdfvcRK4qGmO/SdEaoEO8PDekeBe1KmlAcaT9
fWL3xj6105lQg741g6UvMl8PzTTfx4rZFJWuFGv1/8X3Eu5dARJ1YGCiReMYIes6scKt4Ynv/OjI
7YfMgG3Hfnx0/8ty/8cMFW56sp9NM3jCjRhLBE0DSiGi+tKkR7T6mCWalRDy8ICKqEaCvSZhQ6iA
q+WIP1LFYfPjwBQkCXdc3Ol8yK2c8bU5oG7OkBFLle+awQVHnC7GgZ55lsTkz+0qAeKy47yabuoy
Grxc6Ti2xa0Q51YU7mPtqSyjj0I7aZGT+cVuYj+E6Zyy26hxvLY1wHu5ZdR9qa0B1pcGDboCXBiz
FOWdmm+oBs0g5SPci1IOn2LYzXbEwRgKmdt3aSqtzfK8aemY4dqgQD0FGk2MghIgAv+plk8C2xAQ
4bahFebblF8rFyzdFSgtsiB1nlkSaQYSdWwEfsg9nOBPP/9ZBxsWdOFtqdj9z8c7e8kQauxI9vAa
WoLpriuPkXp1ZjJzh7I0pgJOjGkvRdU7Ux4eVXHNWy/U94ByQlIT8nuzvhTlGcYY73OvQ2l0yhU7
bi/9kEKkrdPVditoO63gtkL4R8v+sqv1Oy6/Nktdgj7XCLEUKKMbgiGk3oble7zG+bC0Pa5M0DXy
SRrGPGOgydjV7313rKoBentWmIhEjd0qXrtdl9YNWVMOKAQgMsABcLsbmdArBSZnRrcJkMaJ8exT
nvnWUfvWCVAp/NtNgsZ7UL/B/6HYDaW9W2O+Wg1REEAFUwRgpbI6/lP4kfNEiVfujfszfWuHPmJq
HCWhDzuMtm2UH5PyXqAX9Px4MPevmVsjlCtvugQCjBGQMUA6lDoveuyWyUfWemxl4eEOMxBPm6s/
yKbS6W2IHY5sB6i8Kw2cPqg/Ef0MPDhpzYkx/BrSIt0mf+fDL2Z8TaWdMn6NyCAUAWNIQA2UYuQE
za8g/C0C2jBuM7VweHHD54aPm6ZveyhNrEzL/f69/V5q7oEWDyWlB+oszU/j9Nw4tdHJBK0ssr+C
Gl6zRC1ACqAK2mVgqVI2gbqJpdKM/Tf05elsxAKtsYLZW8DWYGS4IJAOQ38purRvdy8GxQTxoGFk
cXIQusCpC7PqXgZhIGXfvmRgC1KtvmZJH08EoJJIZHU02JLQsxt203Y6l31GGfgIe5SUNvxak/p9
nCzDzaP+AQ4wFeVh6vP6DjSpQ82PqINwnqlW5UjiAvzCXRz9XtmTC+drvlIUIOHADX3HayXknFoD
5sO7YoUretA59HrlpjK+aNIZUjdFeezkgMTMS+VL6IIkUv5cMM8NYEbhn0jaRUH0K1W/FPS9QbO7
fYcIJdP6Vt6sbJCVz6R1QnyugAvzRN7txJi3QElrNkoZbpFwjU/B2Ky1g3xzGtze7Lj/AHCZqUzn
Yhv1hAAFW5LGwLK6u5wgnVaSo6z//PlT1H+e9m9vbx8fH09Pn9sLUmzkT08S/euvlwX2kcdBf9/M
s0O3ghaBLPegaZXcYA+cBZHtwZIsMCIdfDu0m51ge5ZwTu3JkTecmR9lk7WViCTb6LJK231/P88q
ZMrMvw7ZjbvW9VDzVTmB5pkrAZhArAaCUz7IrZiP2lmDKC6kylHWxH0CBpIZKkwrz3BBpIRVq8gu
uw0+NGtyQOrylJkyOMIfTzA3X+/0As90O6CXRM/KXVpuZIVIGFtNdnNyHHUwg+vvR5/8FklpnPYf
24D05PWxyW/syp1JtEmBQ2aO32hSMgWtEQW4yGXX2B2qk3u0flgHI9FHXQvJT2tzROs0cS0Ct3Ku
T47j6M7WNG0SYfDG827lXl14EGKqr76Gin+CCWVzNi9kVyGhmXdGfQGQL3QjR9fL/bBNkE3arkGb
1owKVFUZOxpCtAOmAA/OV/3H+LNMTOFN2E9PUDTrXhsoSb/4LyvzPl9TD+adBnCyYYQneFBi3o2D
8eNwtI7HzLCOgc6QHyX5OU+6lUJtjuSb6snAvL9ERP/kSX50nqVTS5yVjUDryiD0nKcexDB4pWgz
N97t7VNlieyPQy273qE9H6xqn4TW/o23NNNG34/O/X4GvvPPuFXW4ImLm/7K8Oxlr0oXUAFCepiH
4YkzeD0/aC9VZ5cx3v9WI7w/nvaFLBNGCYKo775oES1Bt8YG0HfkIdvghKVk2nfapZ9A3nEa/IP3
poR6dA4gPLYytfchMKDBkHgCIxTaDKBDdGsTRMRMHw6+6hZYUcm8FHburAzr/m6+NTGHMldzmIVQ
Uu49T3FZW9wCcGtGVmgyekfe3lBNc0RnFYqxZpE6qQAitELiM4o7GJ3R677DPFW7+MKdeSO3sEGd
7OCtuMfvqgR1ZkDkCqCnBolhcC5QW1TmypH3kxqjBEd+twt0zSz1n4EBvnI9ISj/W7mVkXNpl9vS
rg9AQ1jzHKS2T1jrnBihExkDOUl2RSIzegZLNonJ/PUt/lXYoZEQRn8DfFHvd9ImOTCbRvctTw82
JXjyXxhLXRnR4s64GhC1G+W0SkNGqRTXKCz/+ZIf1/r4vgsE1JQBka6CnhEEobMi7e3GUFCmb9JO
UdzGEHVh552Yc2FFFmbMnJz4R2BMjr+tbe6ttiqi7nIr2AWksRs7xiJ6Zx7zAHJvx3vq1+/VBReI
Wg1eL8BWLtA9RGoXZmoSqi5U5szW/FFtFGva8ybx3STUvbfHZ2QhNQZsxJU56ozAXJpMWaS6rYn+
dEDzLcVEHoho5mduhFZkByZiaqIYj+3SzZuzY72xS50U36sDsRIwTNlWt80mfwrJQDrQCLyVm87u
njzzscEFf/qNttYgWgFWErp3c6ogxB0lg+p6dmQITrPDwlqsU674nDUzVDAqQDQMWVOYQRjoDBv/
WbMjp9CVj8ejWQBPQJsF4PH/Pxzq2ZFA4lkp+15137MNGnCs+BmI2LN/kPeT3UIhQ8EViaTmB7dm
eP7F9NEB8xx009FKBb5WaoAyQvk8kUbVbfblVv6Ut4lRmaKh2ONL/Es6PR7mvPloY5BeQPZCBOZX
odl32Mgrub4LNFcozVAk8FAoovloD1jT51iKZpF9/o8laj79RggghhdprhaYvS4FwLXua8GI2xfZ
7DmdXwnpZhd2PzAZ6hZgF4LbnrfR1c1Uo3WlmdJMc7N99CK/8Maa5NnyzP1rgK72Q0iQG73ZgHxg
HCDDz/6etcSVzb48a3hoQCtLAksgnb4HKEVTOrnUXPHAfpZb/qv6AyIzkz/zK2/KRUuIEmZwDppU
kcS6nbA29cRWaXrNBX1GeY5+KZBPs1DMBLvz9KmsbLtF53RtjcpxNLHchZLXakjPzXAxNMnkz/4z
d6h2yhMb69UPSE/yKVl74S9cfHMo9O8gqZs8QgOzx3Mwqx3Ba/AifnG/2zX24yUHdW2Duly1vFC4
MO40BLRBR/pPdIQdqz+51ayQZyzUGlTc4ej9wWsUjUc07IALPagwpZnnGnFNklN/2fCn0dAlvd5z
5jY8JpfHvmIhUQSDAHBxyMWgyZhmkUzYLmPUBgbZrUJKO8CTVNq1uD8DVIXBM094KwUGQNAhWKq3
u/7nKgvK4txefQE1t9Ae9iFmhS+oDDR0PRPFDCzhZ23Lm7cn3gC5x0dyiew1ccV7XwIcxFw8A6YE
zE0i9VAb1SrlQAbluQo7WR6/KStuO/1hmt56PMFLdqCWjrkFU+IskXB7BCu5rOu2qBmX1Yot4tBf
5eQrDijfOrPgB3YlQJh/242HFJFc4JDFwAsBbFR089goxJD5KGLeTRg44bivMiOHOoPJC62wEm+K
d+uGNDwo61COgnrWjKC9HRkfAB4zToLkMtMTV27ZYqdGm0IjCjrRPObN875CKJlEBxYwE/9lGk5S
TiT+gihNVwR7+GL9z9ZRvJci0acLhwo2/v5dfea5o6kvfaWz6Hnyd+MAxTHP8nyjrY0GzQsypJPA
/5eS9i1OSNOZconAPEUN7DLEO8FfQejcXQkYJa5QxJWzsOHdnSNCniXN5hdlFqieWdYjhE4VpBEj
ECeYSRiVTsAXvlm2o7eyc5Ysq+LM/A8NGpAdzzvr6rYTpQHsgEwlu/LAoK97AL+8L/DFph4wyaGk
pbZSx9mzpI1rhf6lpZ07lJCYRaiEYgt1b/RMVfpQUJABvwFOgiOMB42NeCtlF4EjxSENrDbfgihd
jg6Tv43UY6bFeskd2F5nOSdg9AlkyT+1cTdNVl0RXz5xLdCYxQ/ed2LVFEDVXFtM/pr8CctD2njo
4bTb5MOHRLxE2lhXd/x7tpXEZ1adrDAiXm9V6l7Avx4fzvs4/nsHg9VMQuoPzYXUQGURnKXNhHQc
pGxPeD9VwB6DS7ItC98p6mY0qi7hjbgSuk0p1c9NIoOrayxffDltDZ7zVF3SPKNPsz/pPELoxeR6
I6RKSHghFUgJPjzSZcqwefzd9wCQGWunAZmGeBZDoONJIeB7efLV5CLUarIBxV/6xDPyJkigbxAC
wN4NUMwTvMHSCpw1hMSFJaXR34pbw10pkgSZYjwG50wy7dy6HED5qJo8t4gg5dBw+XOEIytWPQGF
CSmxkrHcnALlNeRWvM998gWmVbzcQTUOUQyWjgVFTxZKtmL9S5rbXq8LTs9ZHWv3jRFe+mYLOKbk
/RZXu6zmDXHrYGEWY4ZsDt7BEi3JIse5wMZ15l+iVlNNlkG5qPdYzxzzLrDrkIMob1fXzhR44pYP
mM5CXwlpo6kwVAi3m1pfNmvh5N3bQgSjCq9J0HaFPgiifspPdA1416Pav1SxiExbVOsyG0v6LJZt
VUI+Wi0ghUbclKqt+ewETbQ6s5owijbqyK8hFO6TBPgakM2jrA7hGrgO6r7zIzYsQLHhX7gXNdDT
+DD+YUHMNeloKI3wzhKNvjez0BS8IyeatW8BmpOLJWHTY5L/4vc8+r8LJ4XeVkIiVMe+xs6Wom0u
mQq3kwRD016Viy/qCrM2j3N4Si3tnKxEbw7uaRBbz/fdlb9NJYgz5GmPHfXqySTw8d4V9ulzqzyV
okbq5j3vf4+7aLJTeVrxQ98Z2jvbeH2iQoWfYBK5tT0KPQ9tg8K/8OoTnIdn+OeRATSOBMW2VXW+
c2Lx1EgW6xm8UX0mz+y5fxXNcTCkaMfpiinyRDhJbqoavWd0jKmBf3/N6dxf+Fjaq4+kL6S2lJSg
zP0L6BK1I1Pbg2AKytY/SKgbNkfOFHfQlX8XfEd5ZuD1K4PTWWllmb4LQ9RUgRkBp3AGsc74jdup
EtAZ2reS6l/qPjbz57F8zUpz8G0v12Xvd8Psu8Iu249siogg7oPxV8UaMmcrwAUNEuEyGzmGzoQ+
IpS1CVuYSWeIjD2NaE14ShIz8k4QyhArk4mdViNcYkrPwhcqpN6Ldm6iTQUqiQbJXea3KD8HoCBo
uUO7nZoPRSMDZF7DTfgSj5BjybaNtIbh/KY9fzR4Ko8gMmknphBqusiHWrbQ7Ejq4Rz6B63T420Y
vZUlyZw0fkNLEy5tNOd/ZKcod2LJmIK931iy9MYPxvgl+xufOYtAhudbZTRaeGytPspeQoTqDG9D
suGCNvRx7h7Rw/6kyBb47JUfnrhRuksSb8rsCJRhMGuQ72XFEqdDVuwS4EpD0jEbX9ULFI7z16wy
CsUsh11lh8pz8Y4mlcc34cINjkKTDIA+QjTkViQqIT4qdeOzjOxfmtiSSx3Y+NLfgAm/MwDWSggf
2mqjj4e8Qbuaifa3Ws/Qz7WVVV0eD+KaqMfStXTzOXNQd+VEkgxiRn3t+ZfxkIpo+7Xq2OhRRA9Y
kgevzaiLoimysaHya3QaC6fzxjLlvtqEH6ZUZPwLk5E0TcBzVOharRBJtsCsVGUpQcf5yuzfP/kR
GyP6h7OfOYRBT3U7XLR3C2JV+cGlYZ8Y3DzRNBwCXyV1ATxFNtMkmnE9EjAnbTkEzZ2K4xiMG01d
pbW7e2fhS4R/GpHm/Brdcp1GBV+KrRBcclXqQdIXak9Syw922Smc3o91tq+VRHVzrj/5DdvsMs0f
jDwdQQoWcPx7LreaPrJJbPAll38VjLcG9b5/2uMLIUwKlQEeJHig37udK/QjKWFaB+Gl9QSnCiND
UyodUPZasYvaCtrOrJlNFnVQkjtHzGtS7bXKihXAlX8+PjP3RUoUu8G8hbAQC6cqMuXI5UIURjnN
44tsx4A0cW+KNR7grGJR570NLzkV4T/iI6iCLo8t3wOEZstQ8xVwwwLCKFGxSgcsBl9rQXKRy6dM
syofnDxOHp8U7yLIvyLlkNbEQ7sF+9TIZq3WRuax7wXvDmAMCLJZSiMH0PS9Z4GsTjxdLcItTEEL
sNEF6StQwRUTrDwA79JL1CfPYcPViebERGQQd8UXXk6FywA3ZEV9XQPFk0BCpIoyXRzyYOWuXdjN
KMIhEoG+BpK4dHaCyYDxDdkquVSAROzrNXKbeatR18jNr6eukZDvK+DU8eu58UkZX/svRdgWT52q
ryX2v2tCt5aQhUC/DsBIyH0jx3Q7e0qVerkQxMllTKatHx3EcctVysFr9+WlnESzzz+K0el0xBYG
I3ru4/12nwBFegcIF3C5QHSQgzL7rfmUZ8TWC7zgUnEzDVbUk3hEx6fVJYesikha2exa78r9frk1
SR2uZARXFNdpwWUWE4n5liQChwasj2mSfjNIMj0e4TwAan6R3FVQ8wJZECj1qAM1pPkApkolvAhB
nxhBO9WEzVmd6ZVYf2zpvqiPuYQsJJB9mgCvQUf2eVn7A6dE0SXPdqP87HcTaH/Qa8b/RkZH+gRf
aZKZpcVFpN/L6lFrrOkAfh7S1iTjd/FaBfce4ILvAW8kUuhgn56FC2/XVmmKKOKZJLo0zKGf6SV4
PWXO0rNnMRMpsk16VFGSHEl9Ei6afKoGxy+Q5oOsXLYyNfd1pflTRKQPABedCdKp81SwQ1rl4Mq6
VOJXUbhd9VwzJyGFJFRg+iGRPTT1RxdpMATUisWtB7k+hJd8y0OZ0ny8TEvbb3YYwF+i9oPL5nZW
4rwceg5KHJdWEBAOaW1mV0LUAJebT06klImBIGHt/bJkFORM4PTBWuBmoYxKcR1waRDGlyRQVUfs
anbTtx9c0+2AQprwxIu0lRfTQgbkmz8BKw+B8Zkr4nacY+lBnGPErE7iL3HcjAoHTQa8N8SapC8D
gvE6NLnWVNdgwUsHTgJvD1rw2Tk7RoVZfN8WER7h0UWRu+nAgeEkTtHr0lTTiu+a7xX6ZCsgoOKQ
YAGJH91sI7Q9OypqECPBAfkjIYTzWrlklpwzf21iXtarq82Db0aXfxRfgpojnBqTdkLc/iUAuvDK
Zh+jQKApVcf7aCDDSmlqacdcm6aCIdkXNIRDZXxRC0kBNcvA6FHCAZJUKHjuKrkK2qk0tf/+bCh4
4aN3SQbikY7ApiDgJlar40szRmiYdT2hNALB16OhwHlM17bo/S07iyOJCHgk4IRwk1PTm3dxMOUY
I9pVOSvvVR4q6kO5nbjpDNHzWclBiQ0fsarDtQWQYRFadcWgDY2GqUCFoE6ZGQNjb7W1/KVEowBq
KybcpRO/2tI+O6i7zYZyExLdaO8Cg8/tpzYgxijSicNypLtWQtoVrXpEFZ5q6MFNW7SmsrUdr/H1
LO4/TBF41aFghswH5cHZXBoFcZTii5bWBqi8oXv+wkx6mrnIdQuV1eKFPqi7mjXQ88v6a1HQfFTp
QaOHbq6NaiDVoNlmGtbji4kvkgubd+GByVW0UKtJcorE4BKDxv74/0j7rubGkSbbX4QIePNaBUMD
iHKUe0FILQkeBe9+/R70t3eHBHmJmN3omRjT0UqUy8rKzHNOPkHBTdH9jI5F//6v9yLyF6i7oUMT
6vJ/Y/STs6dIQVIMRZMeQU0EtO1eUsy+tOQclCwfty1dQsexBU9NLVwlmFUhACXV6VH0gLncvmmp
3fjWa/sWURAIWKkNEOauSKgGqb/sEEO/axMc1NVq9GVMi45fHc4MUpSzoPXiyEOOV5qSKM2OSE/X
JhMFMI4lkJj+9xfgmZmFgy51lmZxn2THbIqBUt6BayoU92CPGdZynVfeUWcjWga3YhmEfKvDlPQk
OhMj2qv+DvFkHSowtLGQAovsoSeofT2trKh4uXPRq4wmQERis5LyIt4Aj3/cVVGRHdFuZiHh/jke
ay+2f+JDTezY1NFc0pv1vbqH+Ou4x/2xFnxduZzOPmD+wNPdO6oR2hTz7FjxuUFG1UitIBlz+/Y4
r2RTMMEn41zEFYHM0LlfsOxYmKp/3/YmqONEqPWCC9PmxE39LFY7Nd+sWL1yN51ZXThDVa8rKJ5g
cNrhu/qTEdSmElN+GygywduKSjtqjV8Pt41euStgE1TYoKbDg+9vouVkQvlADMBh0GRHLsGLEtSo
X7g0oGTRdgmNuohz2l4cqJyztYbSSyAAvAMODHohefRB4nF+vpSo4AQoFLXpMQU73yFuhkLAVRzI
LQ0KTkAzllJO+tOce3sJ+GRsyJCySnELxhpGozHJXsIg7r4Tzqi77wG7oD1EUcF94QgqwUbqWg7k
HIZehQCSlOCUrQS5qEw+VrXJC5QJjCJRVRcqyhK98YeDiLBiDwmTGZKLhmIJ6RB+SUMURGY7xFXi
QdJ7yCnLVdwNstLkvXl7Ia4e6pkODPc1rkKUl87nQ2SdopRFmR6RU2i4ztRrIgQgSvAfNIP2roLS
tU6TCLxQPQXSFxjX2x8gXrmWoNf2zwcsDrcs83kMeSw8meNNq/BoJm0jiFQnuxq67BJNwD37BzyV
g62j0RRFEjusibLnWnAtN78V9xa+YJbT5rEJMOMRMbKnUvVQd/lffCaankGUCg565HIW+6YHBHYs
4ikFj9hP9MlvYpcLZdDzVnbUml1vqxXpdILnEi2DllbKG+ffZejJ7qhRpXRAmJ5sfd9CwTIRaZVs
u2FbRbj7SakRfk1R4ZLkC7tcRiEd3b7o28Qb7XxVW6TKuWkQ0iMbN6W6b8uEJKGNTKEEVHMs/bR9
ZDXI8nexQLrkbQQXvb+LoMWSAAiEUma51aUXY6RqD1zb6xg/jmh0yMyq5Ei/Vn6/5gvwmsKTHi/7
+RF3/q1cWEX9GBvpEfX9zgxatTDLbPSJgSm3UFhVSZpmbFNV3BpP1pXHzdwzCAalGZoDrZtzy1BZ
8stElTFLKh9s6kGq0XIwTndKVhYr1/S1aAAlSIiQIA4He9kiOC60MlCqKYJrlwQZzNbtaMUGe0HB
Z8cn5Vrh5OpNgvAWet7o1sevxaHiEGlGLRhdjnwGwJNg2HFLGhBkNc/qaKMyEL0mkzmGaxfY7CwW
IaZ0anZxT/p6GPlx2WbHUiVqea8pXsvvdRsHlEv2xeCM1coT57KfCxsdNL7IMaP8ilayxRIOSlkL
IcT7jmOHbAR6jKCb9SWibb0mrfiKsoh+HyIuii1uNLuaajaPOxXt/QZYradfYdz58sonXfNn6JwB
4a2GJhrUqs83FV8KXNRyHKKk0Oh2YKRFE0mjPIlcrXiQow73AisDynNZRFv07q48NK8lCiS4KANP
MBTJwZp1bj7R/BDs5kl+hDwRUeM3bUSdT95w2k6SnHxonDR4qPTaitZE367G3TAqyrMiBLKQCw8p
Cxn6iTpY7hUylA81n5sGJEL82Eq6jFY8o7X62jUuUP0kyGxFreEa8SosLADuJwElvRBynWAYuxui
Fz01eZ+Cj++2G79yDKHYimAcSUJkr5bHkBsbJRYyIT9Cs5py0jaoO7BjeMZap82VShF6mfD2NuZE
pYp2kfNlKMtW1YtEyo+pWz1x24zUFDJa5PFRePxTEXGN1fFadvDM3mLX9VPeNVUIe4x4oS3/zvCN
x5/p7j5xVfJaQNn8WEM3cfX2vnLiz+wuLpo8F2p9isX82P3BiyCR93n4mWuOwgqQZ0DPqdKJr3hg
6+KHp5rb+/icwkwTawCIqN2zwmLpSk/plfN39kXzFjgJLblJVn08QPMjyuUzXqAwOz7Drh+IEP7U
wyptyFV7aFrjwVQJeOeSZ2gc00irC9gbBwApN0i7ki1zwqcBa44ee8oTWngzXsbqSko3PTG/s71f
k5fbO/tvz8TC986xyf98x+L4ZR3Ax6GBHbAHIQkxiITSMAGxK/bdT/vu1Kabo7m1ILvjU//18LCW
iL2WFD6zv7jG67yTSqGc552gsRVshJWL9wuLnWHHfAw/xPMwMh+Cr9vjvlbzOLW75CCKxhZ8ExHG
3dJRIYDb47lNUx9CF44pbW8bu/JUOrO1vFblPkr1EGPUtX0HPti4uffHlyH4WW2RuZYsOjO1uEoz
PZHZKGFY0iED0AY5GWCEu33d45FLKvku/ujRrOj5a7nt657rn320LLEoQYCgIsSJHoUNK0nLKO/x
L/y0S37QozMlJgcCFmaVT6K6krm56pxPLC98GLZP36cTZpeXHlQBTXWxPUCCbjU4vuqz5qQ26F7R
QrHk1ah6lZPVAN2dCrefux8VOxMAewAX/paDArE2V3kSu/oUX3mlpbxuG/EdMpUZyoVGtcZjPm+Z
y2P7z8cs3FXeCmk4CFjnuPC60BrwruEo9BcAiE/RwbPPTG4tQ3Z9F/9jcv79Ew85P39BM4N5lhRX
iO0GDKnyGzqMhVVSkeXhRG0IvP8nSlGLJa2GoTdGqRlcsbpDc41K8ajs7vjMwyOO6yxuBTGzdEIX
9hbXUe8Lat8rkIpiVgd4fXxgR2QxTJ80RAAOMSTfmRl6xua2W1hcAf9tFd2hYPJBWmF5ZCoBrXR1
Uw3uWO4jvwJlMLJi5XtVEsn/1lNbbsOVOGaxhLNFDTgk8M7PvaAIuc+XcCqrJG3zHgpcZukV5HO3
hn6cF+ZkW14YWNwmtaR2HBcNg9tLHlNCUvn/fs7ORrC4LiSkn3m5xQjUZLD6JKZtQcBDkCgSSUUN
90URFObtZVo895Zj+rtZT/b9AEKSpOVgUiihyqd4eBhAlmNlZZaO+8LK4o4Yg9Q3Chn6YegHtKU3
yW6+XGU3vjWWj7wke709puW1/9/m8OCAXCdS+0t9ywYkyJncY8f3NLyHyNcWApdEJopT24ojmxHy
pbUDmkX3bhog1sYBlZoBZvx9+zOuHXQs5//7DGP57IgB/9ILyJq7SbztxoBMkkpLABe6ViVJbPJB
S7SJSry6EvbM+/Byn/5jdznbKV8lQYfhp9viubf899YtHvmVvbq8ExeTbPCLyxhUK/GUGdDV02uQ
5ZtCS8Q+mrXcP8r2TYqYxaPXkhlfcqKQEWkglL76ZC2FcH37/jPUxZPCB2cvqM8x1Od7ukYnuLKN
kDY6dyg+yyvwXeOHB6JMOKgYg5bFVEOvwVBjjtaI4yfN9LPHMrRAeDTldg1VlZKk6FmGxnfrdKXN
On8rJwWdJgc4hsa4q6G+cXufXfd7yKKhlDTLVC1uS3Sqd2Nj4Ai3vFOjoQ0AbANVRssXrP+boYWD
rdRYr0CZhlNsQ/lqu2s3axJP/59N9c9YFi6WG6BekoQ4Mg24G2KcWsHWiGCGnx3IDR9MqH/T22O6
fkiRK0EZDip56CQ5X2RdCFrZj/nBjQQ0K0KHoWoqknY/LVo3NACr/bu4sdtorXlhEdf95/ScmF24
+gnkGEoWYi4H/skIGElfA9knXLB2Sq8ekP+xc5H6CA1V5ysZdiTjU0+d9J7rnPEIYOG8g8P3Lvio
zaKTyNSI+GdE1/DBV8IA5DB5BABIRqEFbJF6EQsliIGYgZeIeKB3OKsvfqHGYU+gphejzuaGI+dv
V9Z0PvUXDvDE6MIBpm3foBUKRqHa/KBz6BcMgdZiO3Q1KMo+AO2e+CJr6ZbHeQ1zvIrYSsy1bJT6
z/LCvSN5pQEJsSymC1Cn6sVJgOtXstyRmudWSqzGrz+E0pb5zmq1cVv2JVKrZggSuxyiOInw1AE2
JYZsmwTQRfrQDK9N/V0WrFwPy3TYxcfNe+bkzu8raMuB8Q5+TVVsxc/Mxrj3W0caTL/yekzJozBu
C/9fylf8x+zMCgenjEht+SjNM5b5Uz+b9QM6BU4j0TQLvIozPqdBsXSd+5d5vwuLi30gjaFYTS0s
Kk/c5tm/F3bDTrwvTWMbrYQc1x3XyeCWt2EWpWE5wFSdWYL97JuqqTh3FuRfnfTOXeNkuO61Tswt
7r28jPIYDdCDywnmOFFoe6ou98tlZvGQ07V0zrJt+WIeFxdhqBtJBOD94Ba5sp2mdhOU6LUVieKq
oLkIvVoW8FsvEtKZOTIAAWQRUcyZcB1V0v8mXp2RkKDPMqDBvVhSFVpirAhEfErriJ2niM+FtLJt
Zo9/7j1UYOogz6PjNQxI28I1s7oYpIAJo/uGJgkLHnEtsLj0iTCAmj1yoPgXVF7Pz9801lI0FjCg
BfkzV9EadHTIZ0SyVZYMGtLvYtGtxKJXxzSrnsEHAya2RMz44GRsJtRxXOmtRydXTCFgcN/OjR63
Xe9fpNnF5J0YWqyPyDcQzxthCKdbpM0XUozSZnyRTIFEO80arGhb2z+VBTG0EpAE07jvv57W1LKu
jxYYPRT6cJn8rQSdODhAA9RBqTDBokoDWlF5z5lr7Q+XFzjWDhqRMyoYP2/J4GD4ZZ2rqTq6mU59
aH/opSXEZr1KPXx1LCd2FmcvgUjeVMnK6MbPvEryyuEyUr1W/EMrspVYaAlBwzk/H9PiYuCENCoa
XhvdwU6IbjU2WH4cyObudDrekQlkU8b8i1YWeFJo4hTwb7uc7Co689z4qxH4ZfBy/j2LyLZMDJYI
mY7vwVMpjW1fraHVtzLq60ZANomAAXQLyy7ScuhSKehhRJXtBmXeccIqNitu64rDnofyj5VF7Gyg
CbBQOViR49dce+ydHBLDiIFS6aMPLEPLqDQoKyO7fBgARwjZZ5D/4SjgHJz7GTnUR6jywKaW2LHx
p48drbkrDGoAlnz72F/ZpCivzXTK8zSiwnNuaRQyWSrqcnD9hFTPPkga9/6h2hn3t81cWSqQrakz
QTTe9VCNPzfTCPpoJHUyuUXMY87aQ2G4U1Rat61ciY+QtELvx3zHwMjyAmiLphn6KZ5cjR3YY+UW
GFVWbKSWoCFwAHU8qM5T/NeK2cvlmjkGQEWBTSioF+VwDQGjluQYne5x5JBvG5u3mDXhEcRZP60t
hXQEAchaUuty6c6tzr9/4iuBAZr6QoHVWlaoyPY5emoGqkjPQRzTJtqsDHIOTM7vh3Nzi50izwAR
pYG5KbH90JMrMNFUz12/8x+T1Gk1zpIli5v5lkMIG3Zf/zfzyx0UJCqUFJtscps/+rFHxxFDFdiG
elDlBDaoJSIE4GvVg5V1XdKsNiVQICzPJzePCirzb6X6Or7xyAX1/e/t4V23BKFXYK/RO6Iv/KVc
tyluCw7bpH2KuSPvf4TVr+T/sDUunCsJPSzjrE6O/gJs1r/yvie7Rje6NirGcHLjVjPLOLKSMiK4
cDkkEuvOLhkt/BQgZHcUuIfio2vqFXZj4fL+nb8AAlWiMncrL3vjpxRtu2OTTm64ZVYTmizcoGut
svyn8NHY+fQJDMcP4U/yenuKL2O32eyMfkHzP5gXFlMsZnzDGwH274huDhX9FI4wQRmBNE1KS20n
Pt42d+XeOLc3L/nJRItZ22SVDl808h43PdWfjCJ/CjhzpJNi2iJfsnJpXJ9YTCh46tEHdMHgCrKI
jGkFA5ulDeoCy6sOaD+cf21l4pPvGMXbYOV2vOqDTkwunILeSkMd9MXk8lTYgxJtp2w1spaJWLbF
YK9gKv+xsuRlrbQg6cIJVlorP4j0eSIhnTaHx6+OvAfAqeOdTlMH3H2mRFfC76ub9cT04ibWgCpt
Eh4uoJlKGsmoQU8V6EEOwMGu7JfLK/J8kOJivxhqIygMlmRQd4qBqWaTqUx2wj+z9A0ES0WogATc
EfmAFoWwxUuBjvW2aVcc7RyVXrj5kwHP18DJtq3qXK8HA5vI8N8j4ysZVs7FVU938vNn+yc/X5+A
ZwrDcl7LrHjU/ZdUOoilmchrb98rmRxgVNCsjr/BZ4x357mlvFL8Oq2wawYb5C4v02YgxabZpKZm
H3Ii7QQKR2CDqQYwmddV69euy1Pri3nsg7buuBjW1Z1io3pAMwpxBa/aaFZEB4oPoD6tTNmLwS4q
75FiJyuprGUXzd9jg1ayOY7Eo1U1Fh4IRGQCC2pMdWPXFndAz6kV2IpZW8VWHJGbRTtkoxGknMXU
hjIoo6vJjmvuAcx1ANhB7gal6cUkoPw11l3YTS57aVqaPFbP+b34qXVmfte/invgfiFCBpXSfX9Y
Q2yrVxfgxPZio2lKqucy305uaZVkRA9wta3uh63/C87PB6RdZBN9RE5AP98L+qLgFdTSb9B+Wkfn
7njUSUQN+piSz4C+O8812YL0iHDoe7I+3YAOlntX3Ym2Qhvn6djv1ce1mPKa3zmdudlbnByTdko1
kWWYOfCru80+cyHLseJw5v2/POloF0XnOpgt8YBcxI9FnadjWk/w3UHqKSzMQH5U6xuO51N0Hk6c
l/VAf0p53VGmgmpDY+U2q9oY5aFAsm9/zDWvA5QcXiDoLgPOZHE5N3wnjGUkTm5U/tHCQ56ueNdL
r4NBgn8VTRLoWuWXMUeKBj9fDhXdbWSKJrLWzUEhfnsIV6r1gACIoGrEdkf2aRlgRGItp1of+65+
LF948OChRZCm9kB5W9yOpkrAx5da/etts1fcHMyCBRD97oIws7ef7xQlBAlgLVa+axehNb1mJdl2
X/IzQirI5ToFGbfyKxr/QT4DUhXuflh52V25nGFfRWSFAw43syTS5rJA6lvQgLl7I6XqTnzh7pKP
/Hsg4tb4MLzeZM/lfQNK2HqjUOmev1sD8F46GXASgJRf1nl0XUvLljV0MPl+Iaq+G2Sg5oAawniv
cPdIkCGh2YsrT8y/acrzU3NubXFqhKYQDKZoPirUjHCH6JMjM6GO6PSWYkeP4H20E0c1B4K0IHl+
VM2A3N+9omvxTqDZfb8dLN4U7c7h0RQwWZCkMW/vh8uTBNVnpM6A9kbHLho2z7eDEU6JxpLAd8O8
JDKgy2uyK0uMBa6VcwuLDQeKwtRvBs5wZYezlbfaYcfCqo/dq3Gs7thT7gj34Vp28ko0fW50cZn7
GeCuoE733fqx2U9gaJ6snCYkp2ttFVc8BdIhIGcDFRaEQ5eXpt4XYTboeP9AYB76VXeZJSUPspDA
099eqGsH1+Ch5AljWCfxbzh/4uJ91vQNdME5NwM/kRfed1tpnz4xr+CJvOW3/ia8G13lKO+Dg3/H
uWscmsuBoqI4Q8wBpjVAwAMo8flGETK1G8pC4lwOKbog+s6LjqRQ66ykmrJyZbDXjCEIQJYOY0Uq
e2HM50dRZVMceE29ze9xu2yyYCJ6DgjvtEKqsHQH87hOTS12SjNWFWChSeBJvr+Fvh3Q+iVnlzUS
dQHU7WJkCfhg7YmyfFwujS4CnWEMCpD0YHzV80GPzchTtwm8Lbbo1+1dcxHU/ceSPLt71CjRoXu+
bEhFSjlEl7AfIGvqirSwUzM2qz1SuimCFiitWhVhdnYw7tfkQC8O4dL2vMonO1atWzlugQZwDSgR
tcGzOjl9vwm8aDsUv8EEdsno+/Zwr84rwnd0naOeAxj2ucWRib5Wc5hXoXFExSwHnvBvMQuI5j+O
Wy36tyHz3xHCaaLiDR+Ka+XcHkt6MZ0SbJ4pSp/SgZlllxOhDpBW20rHMHsSo2Pgz7jmkh3i9CHV
ClqDu32m0wL+qPgRp4jcnoKLuGLxTUs6mVQYKgh1YA6MkCDBePB3rZccxx5eInGZC0DEXbudJW/J
agPitbMEFgqU6xAgzTnV8+kImz5vw6QASRzaKb34T/HqvxeH1tFoABGWSbLrkHCudBxtbrumxrIk
B8PtBcsnxhdrL/RlO+oFjJfQBMisYd8csk+VMpp4kauEFMH5uO8s/umOu++A5FqjAFiG4LAvi+gE
mAkHDMTHixCcyXCPLUSdvSB3svZQhw+Dfy8Ka7CtNTOLAy3l/SiULczUv91uoivecBkO/B0ESHAB
1J9h239fSSdHlleEKEeABMerd+9+VG2DNllJ6P1Nv5yGRLMNSQGnKUoI4PFawrNCKJ7gnd2FHkgp
ncLWd5OZ7WpP2XicpX7XHgOicWeYk1c8gA324CNLs9mg3IAiVeoZqOn/+wNz9j2LGyDNdeBVwOjq
1dVLp3+gDkgYyPLAXvaul8exNrF5KggIV9+1m7SkA+tqdlSQ27n9HVcOz9lnLO4E3Yg0LhIxLSkI
eA20thvSg8yBX38nJU6srFi7qN9iFRQUWKDbA5YfBc/+87NaZSFQeWyIvJBBLiqhwmuTk3EkYPOF
jsCUoWm4sOTDYCHh8DvueTMsCQN0g25uD/uiCPOfD0F6F2ScSL/8jXtOtlyvpaMUqn3kGcOTqJBc
uusDCOlGAwk3yQHJT09ZewL8RWMttqCCEAqc4HMfPHI+54MXBiDIBmOMQEHmanY5AM5vV9oulu3o
Ycg3kmHLJVDokBP5DuyMhLqL9xDTV9bgIrk+D/30M+bTeDJ0DqpsfaBOkScFn71Q0wL9on59yO59
0J4N+7Z4FguzgGIYANqc8np74q/clUB+zj3U4A9HjW3hL4cqBCtFoMVeor7qIK71QSMr+CT5YNBe
i6DUlxerfDoXcR36EuBaAMkVkaG9gAtB46gskrQcvIwwJEjAXktrolLR6u5VOr3hf3983b+PJriE
6UReK5KYUJVB/qRAH8OEaOXnrzbRRCeKhuJNSwyzx8OImjyC+31gFkiUgZIK6jy352qZbMVTWcdT
HXVPJKZU0GWfL9RUGEnbogXW64rniAsIlJ6VcOUgXLje2QYi/BmbDz6nJYIwDcMu8Fk3eK1WkB40
jglgq7eHISxhito8EOT2eAOQUQnjWCx623B9aoTh6I30w9t35oa+Veb0B8QSG2Q9Rfo1kNeIfGSY
wTfZIgc7N8HNj75eeng+gCGVkO3H8/YP9FTM11mK5unhQSLmzu3o+29Gdr0tE5XcIzWEB2xKN3NT
zZ3g4F8r87ejn7+tlUAAMKU9/VUPMiBZEv7zu7MV/Fla2U86GahOkm1K7pBkUw5I0Tuu5Lz25ntO
jm5KrJbenpOLY7CYkUUIp1c8OlHHADPiTPWzwpn8nyHH1uTBVrI18pV8gDRP8JnnOTe3rEtyHetb
WYO5vffh8dRMyAsjW+/7Y+s8eqZ32FYW/nKt3e7TcX8q521j3h7vXwXiW1+weFtl0RBnvYAvUD8a
s3JVuv042D+2fW+ZFnw+ebI64qjEIdbGunPpy8a1CLknO+J8mjpd25LXPMLJhlxql6qjLAfahK9J
SGm9aXSVpHVlfZes712oRrHRw0ADmQv0K+CS+21/uD9qawGFmWPTbyer3suHNHoAQpQ38zcIm9+e
88uYfLHqC0df6zrYwkt8BCvueTTnotdZnAF0BDE6FJXDb87fM/A3ACQaoPcHpeMkBzZ4Lbhbm+xF
iJp3vh/kMj7DfslxqL23AyM83SfEA68LfSY4fBR74M22Hxvc/65j3e8c9+lVonR/fMAJ/F5b/sub
GOTqIHVHuQGJZeDGxXPP6nedMRYRKBozEf0x27o+1iw3y48ofwW/OqtjM+NdEILko9f7lK/RbV8D
zE8ARDDiNVHyJT/K7B4hZzkzq6PzEDS3i7OhcVrcK9yUem8c9N3MZhvsc5O7Sw+DmetEgQwcpA9M
wak2+hYT1DjgtvXhLE0wYJul/Rt7zTFfa/u/MkciXhWI08C+iybjvynV0zCh5PJayMPai3KGJmYg
6D1cRonpFz7vGKLfWKISlI4wDo0Fbrrmj5yLxhbsxNldoqWpmY55aOe6GFm5MWZOXzPO4zU1sKaI
X0OLXN6U+FYZXPlzehXZqsVOH0R50pgY117B3lsJEsvZUzysAb4vnehsBCs1U9qqeKqcb5pSM8Ky
M2BEnbO2zwDaT6Cn0Ym6xhoG8oD5Z527S9QXsCdUCY2v8/44tzUwkZVSxQ3PiGrAeZKiRW+CSAl0
1uU2ED4DuYv/TOGQ8hQCP4CkclzzM44QmXUATfKhvDpmuVv1YE41I8jQfFR5KdyNIxf9sjRRZxXa
3sDTWAL2MS0QjvcG8w8TUn0vVd4XYOvqFdCSdFWHLsqu4jrQ7KCo4vScGAyO0E75cwjqNIXGajhA
hMJP0WijQGTRGSfsJeIPjBO2qdKlr2XX6+DDlqoBgOxebr7LIdZfKlaG0rYACW1LQeIIqmJRS6cX
vqzrGjRhZcbGwlWKGjRFBNR2fPwbSpofAOOn+5C2Qotp3U82k5WcbaPWyEY7SvReBOS5beOvseUU
BHOSVDVmrHQTIoloBNmOGjTTWJExkSJQxxSJDOIdNVRLM62jWLmTmc6ybW3kAMQJRQS+PF9qQQml
Kunk03GK0X2ZdLXEW92sHkalMtEzR5zUNtrgU9B+wwWs+W4C7B50Kcsspajugrw95dESp2v4wWB/
UZtXpvsDDrXSROpe7jkwm2eg1NgC5Tw8lmlSAafPlMINU7XpzK4Q6och44PXKc6ar0rORJ4y0Ot6
YpwYDbqYQJ5UaqJROjHPM46ko9z0pjB2iqmwBOxOQVHHoNIv9AREhG1f/Qyg/RJMRWNVakIpqsQF
JY1xbI+RlPh4+/HKtmgy8aeE9Ajn5HLOof6cc+AwYfow2bk2L/cgtZpC9DRrQpCgcU3gQA4ie/Y1
HniktlGApVUTXnW0vBIMswFif0LaNull2hg5n1kzrsNL65mou6+S4pDnYfqEP8VSEgBcHtlZVfgN
mca0emB+JMT7CcqEGFgRNk7UF75AGceL40YrjWbfD/w4C8ILwU+isojbSgzkk9uoasTaZoCfxGRk
vPIds0qDjkjPUsMSOSmVSDUA+1xJIM2gYaf4w6aFenJLqrLmBdOQk/APy/T2jyF1QCXFXN0AoK0M
wNSwXG9euFroQCGoTli0IGhaaJyrYgUOBH3qMistwJdrqnJnIF0tJ9UxSUSNh2iLAUp8LqsjyawM
NYDeV4c0ISi0hJGOYweikDjkw18FWEnwllSj4hRxKAhU4jQGkzy6ofQIS2IzAbAHs410tMtLk9CO
ux7iz5ynASCrezUH8Jol5BFDGkOZZJGiHNN9Dn1lPA8+rz70mMaHlm8MJ8UqjRTc4MN3B55EyKhF
yJNTgZ9QkItYI71MchQfMw7s4oGihj4RBwMJrbYLMH7mY58RbWjVVz7rNawoVBB/AJDI8VCqwO8Y
xBHOf4MrMCFSA0ARWvibGnJMPki+QF1SGCnR6pQBODT0yYvQJk1CkbCuvoZ8GLYCl40RGEyUcJ9r
oVFahd4FBp0Ba5s+hl4D6YHJCaAC7fO0ikP4rlYvtDeulPJqI8Rt2iEZG/uTOflZaPFlNV/zTOG8
MRaQgQDDanksCiVr3U4XU8xWEnGzuI6YfadNX4I3pm3xodGkpjptlEyIQOwRiVCrZTw4nRoIxD2j
vaNEVcQHggC8mwoebIC1K99K5fdgpehDA4NW1QwdiX4lHDVgGEcTeQj1q9IaBH9TzaBhEvJR8pxH
2fBZ9GUSAqIbaxArCedFTY0IhUktLsBs1YN5ZN5k8AqG2FQ7zgcUhSS5Cq/ViKmSW5M28dImBljz
q4Wekwb0l88rliSUQeSiC7YGC9Loo4CDR2FPel5KBEgHjFiIrjd61RKEeFSgQGT0eCzLU1NQHvyK
b6rQMBks6S3riFGNvGHlQyCCiDCq9Yc2zhFoxknQbnM1jF/CrNQ4R2vz7NXIJa7a6kbNnIkf2sIB
VxsTCNaES+yUZYbuhaERxQ8QfAlEk6szEFujGtPvhzaI5yQR8FykStXUq6eSqc40cM2TUSTcHfLC
SfrUg+4HDGF8ywS0C8qzJpEUAGsH1/+GqnQ/EkmYmq+61YzGQp4g+hzQm/o0sriWiNjpygPIUpuS
6rlWPU9NitKIVAyKQgEtlgBi0jK+c3REjpOVGi3SylEwtNlWlv0a5Dt6UOQOF6VqR+KgZM9Vgur7
RlBbTnVqZfQPg4DrhqpJh0FzcqZ9DXVeJodJKbuGZimABk+8UqFkIUt+WXhDXeheoUL1CJ5IY6Ep
sVRMaK+XTWuKvRKMeyjJhVAT5gUoBNWjlOdWHjQGKuo+vp4K2J8FVdHGhGmM4xTkhgMUlxFuQG0L
MrbKtM/CEuIEciXrYCwXm6CggohUMg2lqn5HN7T2yKI+fMfDrY9xSwtgCFaMaKjcuvfLdpNk3PCQ
oFMztsuIRyCUKgZDaWcaOYvnW6hlgHirByt6qIs444mubMWgKaCkJMa88QK8yMQRPYAsjankVdsR
nWumj0DhMQk+JhokbVwvf0pdwUk0BwUAhBGLTLTDHMlc8l8UnUmTnTgQhH8REezLFd7W3W73ZreX
C+HxwioJhBCIXz9fX2YOjvG89xClqsyszDrw6/0umTXBJHCEXUebvrrmDSy+GE5iXTDPsy2GRJQl
lY73jRua7MV2BadoEn5mKjv5FvexD4n2iXqeoHTys1ayssfhrupimd7zJvWxWF92D5302Jj+Gpsp
lme/0c2/PRn26Sz6JHtCVfQBn0TZNpzGzRtNuaTbzAvaIRk71SCi+uRtKlzJfc48n5zmiP/LdW1m
RA+hR1+za92ae56F/+SlvasflmAV7Y2ACa+57nVh06sNlPmSdbnsK1tPi3+ZUzHMD03XeQ9e3Ux/
ZJ+Mry6xZPaYdkRbkDbT2p2LxmwYgs0qXu6KI47FJ+W5D4uERmINgRcA+KeKQhtccF+3L2NsbPOm
omHWT/m0tM2XxJjwqzAqx/IaAm15SE3oLLe5w/GJVbvZ796l2X0g3biGa6L9oNyYfXYbwTe0qpUz
h0HdYab1m8I7/N9hx0niHROH2w0pbNeUdO9FcKnNPNLw0Ygi5xGRbRmVVWov6xB0hN3gBHpW2ZxP
7B+bLbk1IQapr4cswvaUT7NkYBsw93ir9zpoTr6rcW73M7WdGr8e40+ZzY7+dCzr1FyPVitkoDgh
FndMNUzCwT5Y+ctriqx5q3mHROl5aMNO25pvPm3WQBNFt5Bnm3tTg7LhZ8mnUieb7dE3w+n4GdZp
MF3qg39srWnEi+qYM8sCTe/3KPD2torYqnldvOb4nRg/b8/Eu4kXAX14r2zOwGK7cXhr6qTHBXQV
/mu05zDBH5cuveUY5n9AFdqfsF3OvYp6yJuLFM1M+7DqpL34rTymql2DFrf8STV91Uk7t6WiY3gk
mGv/HY82z8utW+aCuK6uRnGXap6h5hKLSkL5Yv40bMSfloCB+SLUqv+JUdVf58wGy3mmNI5V1CU5
EcY5S3tQTrrpzrXIora0h4DrddJiNKYjf6m6Pms+90iOaFz8OXzmDknHcsid/KEcbU65FJbJwnUb
79E+HDjpi4Zfucy3ri0YQkbr/gYm61+CoT7Y+DPid0FV+whJtBRGohHxNKHVKL6FMklpArxUruwX
RO6x6JaWAcaPDnEOe26DybTFy7pn4n3ag/o6yBBaxyuS63D4+bcGc+5P1pP2hcS3uq7GuCY7LLI6
+Fm0PvBNu849j8PkMcaiSTzcCFvLeKBqTdtr1vizObfzusv7cPUne+4SMtvK3T+wIYHsj+PTEhu9
feYnognvcg22PmLFBuU0T959kzAdn5N9mN/rcAUJb3N6/fIYySQovXZnqW4xYb6fzT4U2XnQqmXG
mzGgohmp4+6UrMpXJyaaQ9K/H7BFoOqsco1ZO7WV12fF/NdtGb95tDQtZpl9J/qr7YvFULa4fh6Z
wZS+6j4Rd0mju+EWeTYOT6Gvp+UlQ6ApeDG5s8Zr3Hi2P7H0jd1LNkZjJf0V1xcbg6f4zUenEUYj
PZq/EwBZkRef5aUKclI2uTvT76uUybfI9EwdU7wR4evl/YxIxtjts7fqQpRbOgwJRAB6O0T/dteV
UyQRlqqZjnNCpSb3WcO6k6uTSDD4jdyIMg2j9aFJWLsWieBbFfGmPoVrJwo6qyC/n7t1Ry6ZorYt
j9ybjnLwix3Gscu+N2GHddci3Yr6dneY/CexLJ72SMVTOc5NCju1JkNaxosYyI4cP2w7oUfc77rJ
Rr+MbDH2p9akVrHyMckXNQzeHz9fM4C2wgp8EI0eZYVBHV7GlvOkaFU7DMsSHb8s42byc7zobCln
r9mbUoswe/TaIukqF8OWlGxuQ5LMpqMT3dCy/9PwN5hBxDZ+mPkzsu9sMj6xaMbsLqJB/LXhNnwO
hraR53zSvJJ9KvOuGumammrshijDFj5LWKToJZ8pia179v221xc/pNBQUebsCyevfbNbmwPY+W3j
nYJixOp5lKF+2nfV6PN4sJaMNxU/AH+H2p5FE/v9uZmHjhHK5gTtHOEwVn46ya1Kt1V+XlMYhibo
cUalcTsaZtnd4hpuN59ITxYSvplo7F9x2U8BmzraYV8NRPsJGMWQtDp/Ju2Jt4EMuzjgxxLhNPzt
hQ7I0U4aymBr88Kdi/Rof7t1OV5Nt8XuFNXgHPwnff/AL6sxug1S9VkkTK786pn35sIx/hWoSPln
X/cpy5bBEKWnEOFBUwZk571TrXdxGpp+MLc6a116ypnsfuRjHfvEvaXiSXTHnp4Lb2x/OKZVsKE1
MUk5T7RD2PmO+RPbuRJbgtFRdUPtdcXrlqyRusbd0OK/mCb+et7WpCNujxJ8E9CpyOu1GoMyjPPm
RxDHVt4zTKiAlnAFvOxyj3EVdeVBtkE9zuqcuaAJzk2UDrdp6112xuOr/T2PVjwrQOn2Fs5DNN9m
sczT21Q0I5f16i+q2qxESTLOQjTEWEndXfL2MPEpV4OwdyYQ+jvGyTk345Lg1SzEdFQfV2hWxoc/
MQYTDNxWjYin4HaM+zxciQY20SVo6XfzDnPcSuEcc3B5RAGB014QPKVNT+Xepb886TBQNNeDF/Le
Ex6FpZ3ywvaT0oFeHxK9MjCyJwhJgkq2oNcHxb+xe9wemKUE60elDFmVndoY1+TWiGgqU44gePve
1/xcYTzZ09LucV7pjjngBED8zl+3X9m4AXZqm2T9duRK7ZWZtWIY8+Arn4TnL8AwBkyqLHZWPO6j
JNg7Oiqj8xO5GhmLXZyEsAp03ATEWbCcUGZZT7RBw/g8U6GWUD6kfVj7J+Vv4+eoEMVUMhxR7Q5f
xlG1RU3cV1HWIHoflkZl51odA0YrQs6INMkhCSh9XXTegn443uSm6CXlx2ZL6aLam6tlTCESgNlh
73PGk7/+obwfx5yY4JLSXRsuzSGOyE1mxb2U6WqKp6ltihrEf8ieJt1sBVjhHki6y4GvQagStiRK
N2F+G6NE/CyC+XgPvdCx9mG9/V8ojp1ZJloDvMtjLKvz2tWvxexx4rdw4P7LooZrfEVW8M3rc8t8
kQxgYAW41cybLN1lyinRZYELDlXvYNnywjw9oRAb4yV9XHH5whrdjRl5IWFHjV1JgM/PY+8RGNK6
bF2qrd/9vOprTECqdk/Nj2iReOW1faPjkvEatKfd1uNXvq3RH+miFPhGJuGbnd2CO9lCb4TnaczL
rLJWRTjNq4E7tIjEbzukhazSjw4fhFALCvjSRB+aDLXKypiAlYCxGKljW8fwVAvnecxdNmPNJxzU
U725/Djn/j41J7JGougp2OvdVAPl4O84DYVf2thXj0rLCHywU8u3MEhGPGP9wzzm+ay6k1PgNGXX
Yu36WAxD2t7SzC7BJXRbFF56z0IKt4OQvGRBHdkLhM+GIUnyYQA3hNpvTp4Nov5mqe3PRdKP3ins
UgAmoKSsq+YjUd1T4ry+e9iiXjblEgTYqOiNsCOSrPIurty8mt9Ra4LplEy+yM9FiCq0mgLR5Rhs
xuF/OduuPJtjmC1+7ToOz0fULLqyOty+5TaznwXptdwCOO2vVdjM+qe3egXd67ImWHnLkXxP2fak
PG3BlH7fkg8cckcOeacKT213k/LbuZpcEKmzJ9fkVoDmuJNgNyAoZSOCW7YygJyLYhTdVToh8hL+
p6CWNl7+eTYeeUhzS1elSrtTGk7EDUYsiToubM+Bz6yNHl9nMYzgxptKs2tvsPasehqrvLQu3zWY
v4rY0mH/iciSPs7rKhCND8IsoFcvxayBh2fmspb0R0wLsZj2hhOKTgGmp9v4YYnnTN+a5mO0mIed
V6zmikDxDqCJaC4T2lTBvGfzaZXh/rPnlCkiy8eBpnfKO4DPop1Omw37e29NhYdixosAYfgRcW4f
uAFps+LpgVAYoJwdsPQz7urEnBdMbTdNhPxCYuXubwDgQn0y7erzEZIVVQFOEnj0HKr7nbc5NbBx
/jugzuBOAY6YNEySzU9amVmRe8nOpSHFj64NpMjk/4KuwIndU3bxr+GUcbX2Dr3/CScPX95oRISq
As7ob8vjoitwcZtdMxf17fc10vUvOjLXVm2/d4R9TvMULje1ByS7Z7MvvPs+kPN2OSz/KqGTIOLy
aJ1DLH7Apj5Mb3JgIbe67ITEP9eXRC7p2zAHw/3WjCm7xlM8J4RVsij73th9mF680TaBX26H34Vl
3hdEwewDKup5352Dt1prMnhBVSrwlSgp/VHZ46SHGl/bDIj4u+t2OiSl+u2VlO76e9Ieye+57g/5
fZC0mc8LV0jyJeTSdndHPQTtM59yJyrMXxKuNszqwgc/qcP656b0wQOT8/QpmDZhK1mMjap4vywO
Z1E2k96DXcgPzfYUhyGW+Zd5y9kZqH0raE78vZZvbho2ypoQWO3SGrkm36rRKIGDQr6k4PC1n8fq
aYv3Rd01oVEBblcqneXb6LyAZzHZtHsa+r73TgltLk9aq+51HFWHFItpyf4ZZW9yAHIYA8Z8lB4i
/aQjSXJQ3R6+uNR16xUV996Gxchqk2a9N72XhRRs2Xonj251u8cjJPgKOm4e54wB7jrQRZBepm2f
PLpj0/81Y64dW+EyNp+j0ccqIWqdAMFmWmT0LlQOVc/fJO7EYO18M+m+j6d1yXZ7b6GsKNMfJhN0
bsH6KBbtpvfFpWMH8qBSdnhB4Fn/XKb4Nu6rL27GKkTKZZLvpr6i7h2C89zXOWZ+OCa0BNYcPK7V
ev4Pet20L/t88LH7yEUCKRREx8dnIpC92iYfnxWhNj7eKtLsAcBuWc50pglu6HJNlzIONBIvLwTy
qAZj0+lVMyON5y6njp6I6qnnCz7ZTX1lSST6Gmd0KfxseeedOjO6ny0Bp/SQ61TX9nwgJCNtdrNj
f2eKJZYPe5Cv6antCc87pYMR3bftoCTe9TXtTQ3G54I2KLkmTPI38lMfad0RpHemiU1aFirKf7Dq
G3wX3jK5P51psvo3SN2evXC9RgwhTn7IE7WgSWoD8qVipTIIrG6ki5UgNbT2rXdb4lgBdOlWYXJa
A23BCqBYdDvgmI6L40al0n51FISM/NNWHeLBS1qxXdopk09km89o47wjokvTy4GtYKvDsermSR6v
A33Iu9fT4FUuTccvMOlQOdi2KufdF11h82/TGGKHNB/0EgfuWOOdO3g81ZT7Yjo1i6+yayo2lTwV
W9BhKDINy39BF6XIct02DuVErld6yzE3fsq2pU9Lt5jgnPZED9dhJ8PzVNPynSMljodd+Totm7pA
IxkT9PgnbAc/e7RqXn2wKIAwmtR0TysKztJiBG+1fk1UuMNzKOGzZdkPNLvNIGIg6T0XIJwmbxlF
QlYrrBTHXTjn/Zf2w+n6PHopGtDVkrkxr8q9Wrrr7g5dA/CC5G5My2lSTERt7Yfv/Jj5MxPG/jiY
Lf1pCx5WqeLWXrPuqPMyS8Xy40gKE5UiGWm52jmNGk5BNqPUnzoDQLrp9CUAxxTgBWnG6sc853sJ
COCINthS78sA5O6VSDlryr0kgQD3xYbxuZgcoRWwGLHm0yhWUjLuaN6iOXTnjGr9ZXOT/KWB7557
a+jDPF+rKia78q4bwZ7Ok2PSq4LB8Jm6eNQzcYLW/ydFEJkynubg+9h66lcTDt5aTnYXrzENVnxa
Gbr38xJq/bJhQUK8F/F539ZR0qpNuUzOR+tmQhw/Gkz4i3R4b9ODoVykLVRPGrb1+zASGNDJD6De
MHifd5QPHb3s3G+ndrfddrLDmBa8D7F+KyCiwahM55ATAqTIammn4rtrkVfejTT/nw82Cd+azsLh
1cFMWFO9Wfc0ehoIOnCt/dXUGe1+242oNwKQs/tF9kN62QLZ39XLhkkwW1IHRhVAmTxHBnnOqBcX
NyighIamF+mzAwN453KIfiP2gRnKocTh2Ooj/uL13O5MTOv0HvFDYggvuNNLTwuSGRLZhb/Sdck/
L+M8wWAE8zxUXm4sRSwK9bsp/PoliDFhyM1RfHF5PfhQOxZH6qDTAP3jOoLY7V2gX9htS/oz1ZGu
RDRN8m0Nt7a7zhne722c+GTywEN92jdJHpc3ODJ198LAzqi4t7pK6QDv9iIWCsfLwvxpMjiQEvBT
fE2bQAKEARq+4gchtzP6/6WoBuV8vO2CdomqZKSJZoawNU+6ddF9hu9bX857Z3+3vmSZkksZoDZI
tnm70UPaGJAePrtiZV5Amk3x3l+mpfaf53r2s3LbwbmqXO083zX2N3PVE5k9hLKzGLRvoYBLtuP+
dbB1/2+billWjTQZLFJv0i/SkyrCpy1S71D+RFQXGzNwJZcxV1e+dfi5aePuKJetK659RMcAB1Gz
/Sy67lXPR7jczYPhUMVEHymGRKzfeMmduk1zT3o0OS3DWzsvhyBxs9jlOVlxiqr8yOW/jz5i+2wV
9faKSmB4FnzMp7VJNk7E8sFqMBSb78oz6hPAQPPH2XZhdKRr+2Xm6HgUQwiEk7v0XgQfCyzWFMlb
1LYJaxtyTP/J/QiLs+3XVL7tEVQbZ9BNd6vhWGk/Dr8xW3xA5jZDaGYbqR7mtR0XALdwoR/yw7t2
dHV2XqLEIUdLh/ZXMe7mhaA6vqphWnYX8Mm9rvYt2n95sZTy4lY9fUcqQdeTN0mXnmgrPQzEwQPu
t9Dhq7ltDUb/0u8I0RmE26ZLT8v7lrXRMf9Ad7oSY6MTtYhr5CGkrUTmzRdvb/T8sC4FTHMauY9T
1s/2uKVb2MY3+IqwhS73hbhbJ0vw2J7uxHm0xjvCWz8W4lvPqxaD1Ook+g8s1gRf2ayN9A96ywaJ
xYaVD/x31F5Cr1dBReEOfgDAy/Rq9qXzz6PaDD+g3lOPMYr/NWB+hsJsXQPsG9BBm+TZRxdAO9jV
03yfHHSypxBG+EcqocZPNTXKP8txiJFMQO+jJ2f66G7MZfVW5ftWF5fjMNgzxQPw1LXog3FmyczN
gBTZpv7mBQQUyFtv3jOGspzTnvJDWtSLQ8ULYX6PeS4ECvGDnaZi3bzgfqa315dIrIDgpehn+VU2
kDS/c/44e5g63+sqPRE6eibALV+hIxoRnQ6y5LyudFAf2Ukf/IWfqGlx8TDVS08uGPg59aTOnhOX
xv/W2fn12eTBFJSN67KfOZkXYBH+6sMGw8Rf0qT3tlvfsiyCJpqBFEWTjw+yW2JLzKY2CsiAaFNv
OSfbTpHdPeDJCzvK6XLm2IEKwFXHiOkOJ9mqtx4vqnSeeI7U0HVPS6LARlPQE5QQMRKbe/rWGJew
TtW4tnYxMqKaK1dUYxJ3sop06Ohc5zx584PiIIFqcoySyTIP8PYimzeGvaIFSov8Ybwgg2FV3sXo
jmA9MwlVt+bB1yEMPniOEaOdu91tdVaq3KYBdbtITDW2BcPPSkefl14GRLoVcLwVcHz+H+/xjmhk
Wg2M5G6W5oRVSe6+hoPmxs/FZrwz+qmpv9ed33MwjxZazCKjSM82ZWqtKKjZyqpU46IT5ukdP5Dr
hToNIoz2p2ZbAhheDT93nL1w6Y/zOgnXPu+6SbE2WmCgnpMI9V9LPbXZ+ryBpm0nmaijvVeTFcOT
Tv3Wv9p4DLe7Qm/A9WLpfe8ZXdXe3rp0LDLGzV0+5otqDE24V9j+KwDeYBl0Jq1eI+0638H4xFP3
JaiTobjLVQbpso5ekvALAzN/a9opmK8yEGD0xeFvXyLGs7Rssdr/cOBtl/G0u2Jz16JWGfhd77GC
rrxp/4NgDDiMPOHMXtD6EYkHWhmpyzAc+XKpHWSrit32n428db0EXi3VSarc7ZV3aNI3tlih0nN8
LggWprtn0dq1uVlcXLmf5FbvD6jvDLkSOcxs1SYWOMIHggK5FJssqvUji7Gi/9hYRhIhy3LCHCCy
udHT9NqIFqSei3Y7zsGQsDwxd8WHsMjfUncd5tz8YMppXrK9gQ8Js24JqwUdwwzygQfX2QzSPmp4
/uMivLlpcFKgsfje28ywptdNeX3hIaOGkyPsL+FpU2NO0zapAlVFeBRAH7KePxU9McwlGVFbf+52
xWESJtpRlulZ7d9H9IrEx+lwse8H31K9LDXyvPOaiKh9tSvs+fcm94YYJVqNi3cSqJGeex+FfdLs
DjzOpDSZb0F42AnTpXTmbbNcvlU9dzjINsGCn+3UYFBalDXpcN2bEDA0VR2zYwAMDLkLqNUe9aOT
KoYuyrKhLeExUnmHYHKP7+WC1vYMYN3tl2ktWAi1U7EHFzrUPD0D4kj2DHjk9Z3rGv3kQWKpm2On
pX9bC8Csdz+f2vBecvW0f1aZ5eYhcOwul33mJ/vNbUP6KVCZaa9NvYujkq0LsCpNEaI81vvIojbS
Sgyr1uMAnWu9/GDehlTovnp+Fi3ENmSq+GwKL19/xFPUc7riZgvvD/ocXF/rWOtK82XF6TBbDx2J
YGTFHGoMuLWGOss/YbGUFdd1h1+8jaMpBrDSlG6uMgvvzxUmeFnLSIRxcMHLsnfnOUrqglNmMgQZ
yRK39zLfOJUbIqv9Ois/lX+D2T869FoRQjczFYWAE1vU7n3NY2IYz/3q1f0VlcY+nLzEBtMTVXl8
nkTANaiCbNqeR75ecZN6H+t3SWajffUxeeejc13Vj8NW097uwja/A4/l7E/BkFGZUzBq7wH2kKyC
EbwXp4apDfo/256GJD8sKtLnZlcx7Ck4fH3XdwADKDaOHUaKwr2P52PfxoAQsjwxXzwoHfNB28D3
0W/maBIBqev2biUe8zdIxCa9EtFN5E5SuzotLRzeeLfCBMAmF0KHF08W3nZJ/AQfdhf2eXOfesqE
14TQ5S+ZrLvj5rk+bK/Wwn+Xi47r30PaIM9ZWT0fYUm4tlUJFgOwi+SFYYP5eGXXKvOm9QQzjiTf
sybl+ii4rBGn6fBDSrJk5uap1dMPvOYIGfJDxMN/cmQeK104B8l5K2yYnmK7JsBEQTileKftsn9I
VWYfirlnBHTGw5vJxEe8k4fYE/nik9beXTw3IBiJEhXHVbgkyH65JblW/ckxFuiaXnoeYGGvCgHy
XgqaHl36NjfeSUiJ8/VahwjwOkAfaAwEWqzZFFCf517Oaf9jUMb/KePZzmAOGh0euotCl3rLsh8w
xDHxVbkK3piPMDpycx9T+vpl7j5DmojtukuonrteRh/vsvF33v1e7Cm0VbpzTes4nat50JqQysP3
DYMba+D3XuOFHIIjAdwOk6E/yin+mK/0GkYO3YoM8jvJFoC7eYfqoWRFQ0PmxUn00UEszKLsYCfF
SdbIJhgDxxxPovVoyKCcluWfUMTZNWnfp2cBt/JyqBS0plilzy5wnR3vVA7WjWbm0JeogAy9zvWy
f928li3/QsnlFUB/eiryuasZgRb31uHqsV27WerjMjLcH6gJ5+iv5DQlJTAPnU0XRC6GMj1SyMV0
C1AXFbn5l3iLi29NugZ8eYw/BtAh12HekSXeL0gU06G6m9LXxcG0VWvRa1HV0qAo041vHzHKsFiw
0KEEt8AVBYaFxjlyM3fTfvO7IvzBdDZ9tgKhd7luhT9UFslxcNPQbn+8MO4n1OOp0JVP2HZzgndd
WCzM+vkRp+OG7aq2R+TjIA6+ZggB1S1zaIT+08DdK9LAjGOLiFx098AU8Yz9pbB+ue4qR1XWcObP
aMY2QwcYcuAGPfugC0u6/83seJAuSLyrdzGNRVWxkzR/XFGS+Z8sb89wkkWy0cLyLGCekojmVS9d
eMUFtEAaIHMRnmUEtnZakexyz8SR6261r7QCfhiMvErVYQDI68p6dZaaHkgnb/27I8o97s0sGi2e
DXny4PsFOkU9kUbCXcClhcJgb5tLuvZ5WNmQpoMXbJHT2fghcsQ9hcBlxPrQD6bhurOfptAtwSps
gSO+o+aA19Yx8NAb+fttEb393CIXl0BxdBA4YvXYYWig5e1Ma9zfvKIIpkco9OJLAf8/nrN49RDL
LyJNqtUbj+iuR46638Mc8DZ4B7Lqs+g2eoEtmiU61h5YqEq7ZiY9cMr2r3nKfFSBchJQu6UjHP6w
FLo761TEQeUf1oflE+v8qnsyNcsky+WPLU0mJLXO1uktXHM+s96Xz5EZ8r+J6r03JDnZs601WoNp
Qe13z4cB/9r7cByrKd0skvM5x9CJMcD9NtmcyO+7nvypzKQLl3JI+yZ5hqyIWtz0hCdCaJYmDsK7
EY6OYwe5HCDFR2t81v6SHF/bHPi2BIHq8KU2EVanQzyt42VJj+RzwNMpKpXobv70oaX5BSQuxkoc
c7dUkVTNa91rOnrBybqHKOHsRwkz5UV2y/LWktRD9IuDTLwa03ignYtff6feH/mFFvSoT6KegOb0
whteZYcc/EeZRe4WHUuD1tYZSavdGeBlvvngfc+yQzN5Dh2bM3aL4vqngQm6fSRJJAg1OMLumvhi
Qeivh/3N82LjKpsDefyUJtLMK9OMCx9mtl6ABT+VGChjcC+idhKNV6oJocgmlksuURDq/V5Q4r7A
w+S/dYK68W7Ml/XnjIaiPc1JzNsVoi/ebp3OBHvS2eLsiyKriHyp1i3ttyze2u3Cbyspgyby3u0y
Z+m5b6jD1TyaZL/fVFPrDG1HHH3aWOmwiLF0xJ5jl2RFCYpw2Es21EV6sd2gPmCZofiZTUH+n1zD
fUIFLKMvntDL93j2iLgkicn1Z5nWq6vW7shflmnouW+pNPoypn3gscXeYDSFgGOCnpX5ENWfEWR2
y8nYHL8y2o5kfoNNSTHaUzSiVbal+Mr70wSibZzwf66xbZ/7pY3I0IocUOM4Mq59DouDbOmp6XbU
MJs3YzEuTR6ePtY9ZhCMXb+HmwznCn1I/WUjHWtCANt1DVcChezMZCweRGZyLrW4AYWmr2ILAzh5
/Cb9yfyhfx72RzVoMJtss2t+9nSo2ruOp/DXJNMw/Ix9dkLApKg8J7tuoBWR1lyhxUQA8WlJmtac
03Zphl88wBZpNhPqetrZg8cCl9tYnNIoHn5NXI9P/ubvP9HgDkmVHwn6pTmwyVIdi5/+WvdoTi6G
ytkxGKaz9zUYPlbloJ65paWqC/dfxA7D0zChNftP63737hZU0f4JvV43P/SYCx5vRwOVWXVpD6oA
ywsefGaTRox3oMn18oc2KPYvJk/38H7Ydzk9eYHW1LX92KLSRhv8SKJ1FKB0COohejAuWeoTAsH1
f9LOY7mRZUmiX1RmlVkyt9AACUHd5Kas2aK01vX1c9Cz6QY5hL03m2tXWSeyUkV4uHvYmOQ0nXlv
FYOJt0fEJbCZeBfowOH3IVy8QnbBuprqPl4FZl0mG6v2U2fX8URrWzBiCqC0hqUObwuzEQtex0Bf
+dKiPu6TjIF5uH5zH9aKbF23zPK5Dwp7nBW2S8VXwJl6sFUTigWPYYJzqkTbDrUioBzapG7J5T7Z
xaEY6bhOOFWZ3QoKtuBXeyO0eFpxDBDsJoNLg2J4l63LSsvNW7aj4y+Hhjx+7guA8FmJ0sJccw9O
7TxFRKttlC5g8TWwwvi8cUEndb3X3nByKB+SqqnaO1UnhrnMe917t2sYJ2FiJd6iz7zgpz+YnjHz
GyMM94MzagAy6LKCW4kv8jvIhnrvcocUOB50y71PyPZ1qCYw2uJ1TLkMijGVwvbBQwQFFSNIa8JP
yxo4i5Pj6as6bMZg21vQf7mn9KBf6JVRjqukr13vVtc9ycvVu7I40SMloOl6VZ/5e5Ht1O6bqZEr
sEmT8aXPm1ishaggvLteocRtZ09Uf4ZsGo29Z0KAWQlHTgQaQsjOKZYZIouyheGTQHADBcuGIlhb
4WgVEBpyUYAHmJaDxWM0jYykQTLOUmVqeyGAZX1Or7DQIlOILh5TSo7ZKgUQmOZl7UnuBpXGP0P2
WzB3qTYXz5XlhLgIIIQg7dCj3vjuxEaNDEgZPeI1WrzX2FfUwQTyTBTW9131XlAB+6VGM0NDKPE1
vNeGMfODWaG5CQBGMVaPcdToivBbk1p+0+hxzOWU+MVLheaNslGn569TMXSPlT62xr0afDpB5UWb
fZNV2przLm16fWbRJdb+RmOBAs5oCI93JoMhZetNfQmIGBFGyXk/WKO7Mlx8MFDpOFO+GsZ6uJFm
ReIDQW0Kjj0YlSBZDsFmWkyI8x9mMQEZN27e0Fcd3YaRLuvenZ7HQLmnFJlSRaQsI2evA1Sm9Hr2
Gv+2k0HkLuFvhfHe1KvMvxuMbDIqAicVpnAYCKxGqJP54N6NkJu7J0ri4rXWqQ0tsfDQkmXQwHLh
gg4cnliQhX7mZy22IZmwgkfM5uJu0wn41RR4hiE9Gp48K22Q3PWkfrTKWHqJxnvhJUH0g5K6DrAH
XaBVJ7vCK+4hcfGLnLMHeVkgVruvTR2lj7FDdQcNTZoCyJK5ilUdK5t95AWNnEOBbW4p+pK31rmZ
HmA+n5XVQy37mRSj9Vo5+pSeqHwSNw34LPsLR9TpG4iVwftFFRLWT2vlaCYEkHtnRzRFtqbQRi2R
nanNeih69xYmAkW2pHVqeFGkX8ncj8NY8SIXVP09i//6G+DX97c2+FG+Cm1ISsQbUOy5vxpRLtB9
inTv0fZSLENiXegvbtJBh0x0I+2PPrFiuO2daGrXup5VbxF1a5xXJ2PsyPhFF86cKCh/DdZgvwV6
WXBBZCKaR50bn3Kvd78JRCBvjhZVUBB9xM4L4bi1tcjaHHVoJfL4repbTdyElkAhAYk97JbSV/U2
7huLdsWw5Kxbo+nD9ltUWa034/A6tPSgjFotHDuE29yaGrzfQhkY8kdZYlAFLwf3hYCa/qE2cgRM
njwfRRpcf5iQyhsHVshpveGs1hiDGZ+eSKuLG6uco/5udMJzi/abRZ2K/rWtDYBBmt4P/sY1CxPJ
qDpr7igjEcrPNYpHAfLHMZUo49zqzqo6Yw9O0bSgq0nzIxtcB6WNBQYK0ISAZvpFpDQ8D5TZ2pVf
FASiK9+BOZvNyKL6hbSDBJM3MjvSbjMe2rkbenSfqMs8kwsvqBBYZGaQPuTKDgpII6ldzZsuKnHt
F52Ww9Twsjtkm2w2JTt9R4juuQtdK4MHGhyY2s0kU1EtoqH1xkNtBylRb1Uoc6GA932CL5u7ikMB
raOqRPNCJ63anrcOtT4Pp5qO2pw7vHhhG/Qv0zABQ1fSDltIXedt2vux+QughnWIUF56G50Gp0Td
HGtWaZgMOadsaLGSZkdTERNO1sIpTQ2rjf4MbXjTOUgqfQOhbq2oZ0KlD/WbMVQo22Uamo+lX5a0
b3QlFBzb92uQNF/TWvoRte0jJd8MNk6C+gDkP/S8hSOr/obuMBGAKF/ySF4eH+3GQ0wEBpWncytv
+3ZJ52y9m7X1WSRtaTrF3BChpzmjoClvQEXaty4WXT8bumjcp6R7IU+f5w3rrDuTNak/63eDzkc5
dA21ii0Fta7AI7DOfkCbL0jQLSs78AGjAXwOVisFkNCoVkLFORWGzhRIiyA0oo7Ip+pUa22RLPwk
J9fXFD9iaZmV+90wWoQGgKDwz1NTtgThPt6zNO6ckHxzHNISXsKZ1NlrKYmj7mY66l3ogXMATfVi
O8p+z/Qo55/Bs1+aRNdvSWDDaZ5Tb3r2PYLludlPOaKB1ovvauRrYubCVwTfBZabQSQHWeFRgu1b
ADD/4PYt/RUcesSCLMlgrIbQG8TMMpKR8+4rnMCJk1pnH056c/JDbTwFUmT6guJ0Wq7tVA2/0xIt
yiyyGiqHLsnpExWM4gnxEc+UaySxtRE1/PubiprljzT20CtMsdFZy8AO4ntcVTuS/dJoD1ZBgf5M
BGgpd9Rl+mAOVSKXmKTBmfSnIdp5tGlDi5fp2LrYheWQ9gvDyzKu4LBQe+5gDdqXZ0kXFoHQwuLN
hImEAQ76njr6HsKFhKrIjkh3wtTKflFZlkIy4tNu4U7XycBPZpm51Y67q/uN6YBZ3pJitcG6TK3s
ZaAJmgWzK8rrx6gwc20VZol7CEEmeVtDnYVlItDpOh1QBCcBAxJCEZmU8khQG/NGoIYsETolg9kv
0wwM83lKLf/UD5T0bgE59ftYd5PqJlI2eHZjFEZ46J3aqm68zDhTslslgmUyELcjQYqnHwiIqRyR
4RDSkABScqZE7L+6NVET/4dn/TYcEF1WN8jpisgwFHUb6IabaupdNc8S6R3xlgrbZTeo+q7XaKK8
tagTi29e5RmPZhPV3ydT9CUMpbYIZmZSkKxCVVCNA3UijbVg1saKNoSO49njttITfbpBB5O7dyir
xwcji6FCDFGJ6v4ckjW7unCCgWVMEPih86CONiSRqy2ioiqhToa94S2lnvJYQKHyNhQJuqdGZsYL
oEtE26C2ifBVr23XnfuBX71NrmtA7+70UZ8h9wi/V5NqXlUWaxzAwUSIMkA7/SmJkCgg1iA4c4jR
Q/fSa3FLEa/lVlxR8zHM21oMZMSoiZrbBNkr4jjlcx2RvscLNeaDOfPdFLJ0BwSR8yZMFAdbw9TR
S2COaa9MnQj/TvW9UicHvRD8Pqf37zXwwu442L3Cm8EgqcnA2zWotkg5PVyptAw6TYo8tZnrZV4Z
G9MI4KDFZBPOYqSkp+al6dePWWx1KOdaBELUfB1v2ZmGbm7LOi8o1gRO9VpUWl2vuzRBxRq0bbIQ
VWjb3N5eVsLLp50g4Zb+WnSTTiU6K3Kg1shINwKk9yxgq9IlmIRVc36GKZ13kSSDa00ZbPqEy2KH
Et6D2R7GWv+NaCfFdYkyV3iIoc40v0jgMjw0Eg9voBnoaOLwrgfjoUA/8NzLBtps1hBLzAwp+/Jh
NJUJk2+CTcrPda3kmZi0DbdYe3U/4wBp0gyqUsn9UDjGq5Vp4yHWRzZhHuZFvOrKtngaoiF9cMJk
Aozoy/Gt5bH+2UFQsc8SqfaUBaFWLLDoHiW8fh0+r+MO1oPljbAHrco1XpKgOF8Fo+Olc+R2WcJ6
EOrBAIRVOQvLBiOdxoQQtlD8Tmc2chc9W1hNwLWqQv+58YI4fDBgclH5515NHko5BE9x6g4jLMWm
PYELVwVbcUJG0/q6220oBQHBW36TWitdINSdFUCPv5yROHNRG1N0aEYPbS5asxquC6K4xwQLOg92
rsS5hU6jI/KaMUzemqlwkVr2GkRVnsbvOse7WkAfzd4ckHfMp1AhdgtkHDgYZL3uzClO9y8YxI0m
KsQoOmLXr+i95+qavm4IMfewIoIXeEhw6a1iinBXxbnjBXFXV61wKPbLtQffyYciXsfl94l3nBhM
j40HMkw3mKdGBqtfD+vqDtbJEO5gLPn8a7sfsq2Nt0x+OyVpuymnqmKXUEwK2bumDQWaksALxv0s
gVM33SGecvOtktBNZw6tj/HQrXpAbk0h5YFKZMOXAhSuH03S8x9oPNJmnXqV+I1tRymXA62faApE
dZ6mmZ1/Xo1WhnDr8TSbWmp7+mQhEykKSrtlIXNj7sTFiHs6E9AOTjXlz0BjFH18r89euHSzw0BM
oM9BaF2ipTpsz13ug/AHN0ArZsjBBnU74ldBqVhGagdSbFgbSLBpfG/iB9AxzRwcsGoblzBRxf3e
MeFlceUVmIiGJSHVLIwTLpwusWr7qcOWLfiOYMUP1pndRbcQpwwFsoixEZsWVkYBVDlsgFXKclMH
LYYKVgR9cm7LiJZao6k7cj4VTo8qwMrUzzO3at9RP9DXU+32FgF7OVY3ZxT5e4hVRQw5wTGeYksq
UPOhD9xjLvq6vKdOhbosdc+mBloYi+qQGFkTL1sns741kT/iOUx0dvSoORHLQ3n6VogROUsns4ly
uRaOGR2OR1Jk1cUd2H/uJxmY0Zm1Af7ORuAolIgb9a4i3nfKURyyevKPGPdEt62wUWDPuOCq+CFF
sKcOttNngiitidB8z3VT14R+wIOFNGKVR6XluZB6W6t+n1La8VULcFuIsrPUNZ1+WNHutdPaO4j4
ohQnd2xRVq1FIMMUNQ9KwNS/VyPeCuWNa8AJJlMk3zL8pY2W3nKQpqALD7c083M12jZbItGIU6ug
/G4X9qSTAcJ3WsRhVyBJz2zHW4Ue3XOyRV5JiStp5BJ9YwDV6dnvovZLOJnUq/t+r+XKVA+w0yd3
KfO+J/LSQwwUjLxxvFlriPGXgXVLvps8Ag6KC2aRPfahlxa7gJvQWrQ0n3hTeDfpp5pK/lmnzSXv
/tS6tPdP0hkVNRtXxgqDyiFM2m2spc60zoye9s9nJxEgl95P/e/TaFfpdiz6wNg0oJ3+XvV4f+4w
/ePOlPUUpItej5zhoeFM04c4c2wbVQZeCM9lK6PppnZjy9ujLUJpJUlQ0W9RDYUGITj9jZxBxUOQ
Ncs4XRZxK+KRJchHpd0DniDaGWJKtzsNh81hpuP+wumZcCfAxiiBluM3auSPpYjezci8+zPEV9IO
s08zyHBKiBMevjGc+nYQEyJiRYEAxkX0ZHWV/V0in+G9KHp1L4opo5+xBOwcKS0iE0rSiMiGdycj
EVeeNYsdbzyZnmV2R0pTvGGcSPOpNlw6cPqc8UOndR1WByy32mlWpX4MQem/x3yAaRlACdcBGkB2
lm1l1z/SoCd87M0QCNRJqR95Rs+fGXpTj2bOlNNrMfmat5FxoVUbynfDc5c5/SqzbVmvm9obukM2
VJiuuPAJHjoFxAdtAg3wZvAK9KaY//TsFSfG/LRjBx6mnBf2JnCg/kCb5HbALyjylhS6q82UTk25
zJsyvx/HP++dIYan0qAIt6hkQBUT6UxmzwPGdeZBr8QARm7FqEzK1hw2Xh4HL9iNhGQNbapuEbLi
ddKbSb5MTGE5M5gWsFRDCxr6DOi2zTdc7wV3ltnh+zMFwR1gl6hmpO0AdbVOBnYGroSxrNFgPlDC
pzRtlIl2HIMAyLbyU0TrXqfa331vN6SnHKBiGcGnIFUHKc6BB1GkHXzEoR6WD7lotwMYyo07NZCm
B1q00z8V9x550xqFC83ar+FO6JRmSw5UOkTLwChqpuZ7zXQrHWBQZOmV1837GlQaXxExkZDUuA+f
ksoYwrVbu8FZoFWW+q3s0BVQOtDA7Ypq6IaFnpJxzcl/dbgTYwQXy8lrpCR+h8UCFblo5tfSyBcy
9vtfUOfJ/TwIp3hkBk5rrvPa8ZGQ8F6vc5xFpyXmYNZ9UOKWsMCzo7vTe5cSd+t5JE7w89hnCXy3
p8YrTYrFqq4XjgnWDHVOr+6wfgnBs5AsVLcOPmPPY94P3iGn6eyLq4/VIpay7V5Hg5I3OPqoIuJe
6vWcb+q0CGXxA4XfWHVqRllHz+a4hGLtIiKgyCWcEziuBuYCEC5IzQRazcp6Kc5pz8KzsAnmF9tF
ulXm5D1VuoPemcKt9eAU+rhAVN4dy65KVhNEVx8evd38RL4PdwdlCPg7Nn0kGxOwr74ki9ePGM2o
s1KZOukMBDJGq454Wyw19E2YdsBDhkMIZwJZaTFRaJdplbzEaZ94N26SaAMc70RfpJGNUYASLn+v
CguTs97qp31J0v4jR2aASF3ro/tgqiyJiA5ZzAwGcmtQp4RbvIoEFX72mapvcl14ksYnqsruC9MH
R8n0rP6dia54z4GG+QVV5pKkgxiM752VVs7SVeVwTIG2+lmYeYb6ZesaJSSD2vzaF7Gie9Momgfs
I+wCzbibkhU1RZbCFCiN3WBW1FDqzAr8bW7X7rRQlKCKpdtK2uq4sO5vxNliaDnmQXfkYu3iJYUm
WGiC60Bbnxu3GYcibcf+BiUAgoke7xGxLUO0YYqkGh6gXtfvtuOo4RbFiLJP4NfKRBeLpMMZFFZS
nZZw5FAZBlq0sdMWEVhoOsF3FAMRjOBa9c0x8Ae73hvtcOaldSLcT8NQFEd83mW/1ztvoGCClCWM
V/AYXDZuHyMJFKh/f4RgwN8VmosTvCHY3gQUnYNBkELryN/LfO8gbdC2ZC2dRBfc5MmypAqV4wWB
hAZQIoSjNvOIpbS5osVYvKoSEidOVkhVcB5WhiYXduK53o5bDiNPy9DOJCK89fCh6aa+PUHIx8ec
jV+4mJn4E4y/Zm6FZmsc/VrLoLCgJA57HrUAbUY1F1zW6T0Y0IQ2k85j1qpvlJ9vlBUjTKTY1hqr
CWtO82bsKbqdkWDJ5uX5XZCaTsE8TETzs29L45Sa2Fonc9WC8uxH+gxiQpXZuseV6Y9NeQPJJjW/
CawkKAJbmtbfAVEF1TNsyQAptQOLwFxE0F1gw0jKg2CDOKpkz6HT2T8SLhrYHwY1CmfqTOo9vY33
I5Q2J1n0FTR02OAUXldpETfeNuntzlnj0lPVa9UTsPAgwuFQcz2q4gKus60w1ByqqN3lWYoaOegq
Yz8Mvu4rUOpAGO9TZla3MgPd/+ZA6BKnBuohBl/T2Lj3UdGU3q1CJAl6UWgaNukTw6xLBLfaN2HW
XU47X/60h8QB79+osqKYj/pFQr9DHh6b6UJ6fnnXaE0mty3Ygov5kpQPkQx9nOB1SXBdxj3MHu0s
hcwoRug7Yl4/2g4+J3YTsCr3TSXIMlXVYDKQOm7wRoI51GtcM9tTJ52yXoa93XbQlBvN36Ip9vV5
0eUjai5ECEK7cQHvsevyVODdeXEhf0SF5pfbwi0LF2a6IgtB2mu/caU0OAs1FOvwcfLdLgZscAyX
4lkNJab8lk88gAX6uTSId0EQ6c2bqxNvgw2ggF/m4VgaBwtfumCTRzARsETDN2pmAeTRHziJ/PgF
i5beP3N0Lf0+L+siP9ICmA4TlWHW9alWJXS3iSXTt+iEfGJ2qVlG+Wi2hU2Juq0BPboer7dFWgdm
egI2H4adYUP70TrDRgngmLmHjK3tTCLFwer3eE5PP023s0JouU30fsUD96O/tcTBEBaJpUueX3nh
rRp3qXBhPjV7eMNt+CCTdJnCwWNAyE36bNL8R39KVm0utu6mmc9ZqSvmy+Izc1JXQi/S6Q1Ck5CL
n1DamVMMip9AU7sRt2t/iYXIAl7IPt3Sr2Lur642Fzj7117ah9It2To7ehuIFS/8UDWm1SWO3+77
pByXXUUDlAoKFvXgnu6C6AggVShutXgo25VmO68ZkrWt3gXy6CNR8K44EX/oHiGkgk1Ku3tHx0H1
0sjcavHRCfK83VP+WHbjJkp/Kf8bBl1XFvuj0/B5HLze+di4/rgXX3rqRSvRJrV7925oHvP5OGyd
vaUtm7kjHsNsXy0Mf51ixDDPaeZ4TK81Zvlkpf8Z/8JWGAAkkLgroD39TkZdNDQ0tZbI+caf1r5f
QS3fUDkJxCpQVz6w+HTmgJiK5tiSuV/O3AnpxKc3Le1XivnUHib8Mkh2fH2N94DiobQKFAW/STuB
nZfFmXLcbEfjt+y1VZHHV7b8x+8AAKfr5+U+N5r+0wj+L+vgqkHg2eFZtqe6c/TLFSW0fVTef73a
nw4i6N3A/nZscbmpqNEaQ4KAYS/M9A4u343R3kfmw38xCKkqZQAiM3nZeTzOfKOxTa/b42X7rGzx
C9X6nRsYVzyyL+fCsSAEQQ7oKHBFy704r7amat21ClyUwpdK3EvnyS2vDHG5QxhC6JBLMBO2iBnF
Rcs1UXSKxuIyOsJDLZplhZzU3lTJBnbF15/s8rBfDnSxFQmhrcYlKjtGxV0T38feb6neq/b49Sif
fLF/pnNx1EJaFkxJJaJjXb3L8KerjtO1Hl3XvtiF37MVxAm1Sr5YYs7r9mjweI1LCOB2deXeuDaX
i9UvtMELhtCIjk745FkHz/xp5lfaPFxblPNP+OtEYsI2mKrjc/XeyfIPLIoe3Y/1f3haLpf+ortL
0BmIrHRGwUNwnghsMtxvpn33/1v587L9NZUQnYAJATQ6GkhPYu0X9oEIL69sr/Mn//sB/d+ZEFga
QpecnIuZwA8otEK3o+PZhWxG4WynNwhxv57Jp4viUoy3eBRtWG7/zoREDj4z/VCOQXF08ZKNMBsV
4c+qL64M9OF5OE9HWlwwhgOQYhgXp8XpMqEHY5wcw+YWdCOsb90WN2f4g1PxOlqgdtS58MdcTfLo
Od9i/L2N1J0PVGYCuJcKG7Cvp37ppX75gy7O1tBM5qh5/KBgkssE+7PQkpR6/UWlFUjq6KXy8vWA
n33rv7/AxRmjA4Zn14BCx06t5fcMZ8nUpa559Uuf1+xy4/w9zsVBm5wS0LT0k2OMf2kKZxmlHewg
7N7UGjs9hfQyHlYO2oev5/dnR14O7BoOr54hoHlf7tjWjYWOLiQ5qkw7IpyEUXfCXA8lAMZ92kN8
77yTKXa36c6+TbFrAga/1mbks2/smu65mQHBnmlffOPICKx2hLt3LBZBuww0Wqmg7Leya1M9vyAf
pmoJW6IwsGjsc/GNR+F6kA6b5Fg290C+M9zSEpI08erNnDtzhaEWVL5kfuUDX7b0cCSNmwhnbJ0A
y5b2xZUQQ/GqAJjGk8TIQyePrXGFoD9z1N3b/aPIbwAGIwCb1lm78n0ok9N5LSDAjNiDFRtQj5XV
pVd+1Yc36uJHXVyGTRiOA5Zv46lFeDkOjyFGCAprsRb0QuSrrz/Bh0vxPBixtYGxjpK0zvj3vipw
/7RSjy/g+PcgP7Oq+vWfD2Dz5587Q2HAdJkpAVlCMbKK8dRTxTMMLLq1169H+BPm/LN3mMPfQ1zM
QesGyyU1H0/EQzPbvQ3Mn8z5YMbLHttuyuJbLEC6Ul1Zp/9jXDIxx7EIwNTF2QDzxfsw68ZTnB26
4hU7xIV2lu2po+Zig/Q+tNhNXmvu9uFAMlk+o0ODQPqcEML+u2A1UpaSmv500jCTblKkEZxJmCt7
M7hyJj8bic7YgmyTDhn0Dfl3JLf0vKr3S/1k+livYynlRVt8wyFKXWlgfW2gy++osiE2/UQ/tbgL
HPD51YArcc7l4CbbZlTu4usN8+l4jgSf/5PMuBdv9Ai4QEY86CdZx7OkeVDET7jjl+n263E+PIjS
PmMEppTAo46UF0tl+XCT4L3oCOCdY2PF66Z89MsKSyWT8ow8dbn+8PWI8uPdwZAOsQ2oBEnH5YWW
om2vzX7UT06Or2piau+1Z7tP6USpJ8Xv68YyjXxXU7bbmfUkfoL2lRsTFHSBV2x9SCNKWpNAHzzz
/Ci9GRpY7ri3WTucRGZtU7w1KF6QZlvNpsOYYtZQ+phrvXZIXSva4ukZvCIxD66ctM8+pIEKBkMs
dry0LnYiZJocAYrUT6J/yF6jmHtwPnWLpjoUV7biJ2ea3BaPSHAWrkNx2YeVcoyW14XieOEaHhdi
Vdj2Mpx2hjvMC9x1BjQ6/YSv0zQuv167j0t3vkZoae5ySToEdv8et7yOJV07hunk2NoK9wPcP7RV
l+4C+Gu18fb1YH96If57Z/472sUnReYvePm66VT9gJjevE4/xYO+U6to5S3Mrdx2Pg6IM/U9vfUf
28diV62+/gF/ut18+AGS9Ju81bLsP/3l/gr5TQ3rHsio06nf+feUE27oFakdrHt7Ma2L50N4Smnt
qrb1JtrDyLoy+IdoQzJ703DpKG7xF3m+If4aPMYWCYawM538GvMmtFU3gW1tzCj9JlJqv/g84w3X
vOcopdGMLRpj+vbf/AIF0Mq+lgYgwb+/YJAWbHh8R051rXG4qmdw2603LPrI2iJUf0MmDRffduNZ
S1z79eCf7TQiHjpvW+LsynpxL7WhP0U1Vf+TkdWP7q525irLHtLpt1us/18j/dmFf33ngKo7whX7
z57OZyaaeerxu3RKtlqPwsnNnr8e7+PNfoaNiNUBOi2ex4t1zQxoTyr29RMz3LW2t8IEGk+I4t7t
roz06UUB/Ivel8eYx/9iKEDnYDL1lDvpWNo5wo8fUf1IW7gIsZvmFbMy0Zdl7ly7nz6d4V/DXuwb
vAWNNK4YVnPqVdWtw6aaa3axTyLv0fMknPJl4Nd7v6jwiF7g8tVq/S5U8bIAna+udR8/R+WXh5jX
BoTSsTBnsy920iDzLsefVT9lfRKuVTf8pttQvxliDAK+XtnP9iwZkKUrQR8j63InpTKzYLMyb5P6
Wzxh0LyBOFn0Txbq5a+H+gNlXs7q77Eu0K6pGorSTGL91Fstei96yswpP29MLXuCVHHopaHNI3O4
ncrqjqLWTTqZD2ky3Ua4Wc1xmI6WdQoZ2sJef+Yo3LoyYSDm0o8+NtHB1Nz5ocC/UKumRQ6CiLcF
hRlP/Axcay2hN85L6S3troeULesrF7/4GPBTqsX1wlW6BP1UF5NzyiiEfloRlEgLR2OjObRx+6Jb
UzRPk4wuT0b2jhXyNi/NN2qD+9ANdkmVSxTExgZe9nTlbf/09xi8AICl9BBWF8EYoScIuNfqp4ZY
YtZbMprDrTWvjPLJcXUJECz63hike2CV/963RatotxVr4pTPcHTd9eu8X0ZH+MBRucL07usd9PGQ
/jvYRTJboeHXDMOXJ7dCP1HI29Q5THRYg7mtb74e6vOJ0TLApi5k6FJdXAgGJpBGgaDnhC6kt1fR
wnkLDhhxIZV/Gv6riVmGklIneFb6xcQgRE9hCyLNySAfxU0xwDkVogFSnK+n9fFi4QsSwnKTKype
lxEfpkLJZI8MNLU1fi2ynNYNfa3Wfm74V6L0T4eydQrnCsMUW56Dz7/eKE2MadGSAJ0q6t+/kYyF
cz/ssx92aP/4elIf7zAmdU4HoPpJpbuXS4UhtaV8RsogZEDZmCfdDjpFiodWnlwpDYhzAPfvJcZg
CpdmZbuCROTiao4TM65pWCIhTRSYAcO6c55oK7UxncfGeUshEYThM/pHrFY3MQpPI7jSnf3jwaZs
bpOFcF27lAgv9koWoCAse1qEuCNUdkKclGp7av8XG4UszjEJZQTczYtRMDcTlKZ7eSKo12HGmPAJ
ZTaX918v3Wcn+u9hLl57s0KKT+dmecoTLsGdFt7h5woX7OtRxMe4lG92DmGYEfv+ssZb1FOheZjR
nSLj1wg3UosfG6xUs3QTJ78gLM3MlObqcLzvvh74szPw97gXX3EswN8NZ5QnnwKumZo3Tr8RRbP6
ehQhP9mTfw9z8RUNuzD6KRXylOV4GriescjpQrasK9D/MyuUXh5NtyULqg7YeIc7rCfTfezE4e2I
OcGVX3Me7OKA0LFemSZvD8+CfXEazSZD8N/7zmmEuQPWQOaLv87Mrxxjiflwu/x68ufzdjGccsjN
Fc8PK3s5nEcZxY5N7P+66M3ATxysbO4Pd7JgxzYoe/z2JijrK2fw46BKR2pvma4NvEeawY/6625D
StMhY4udU1iKjZbNpofEOPWjuI2je9feKfvKeJ+sMF4VpiIUNEhk6dr674CGFw1wKnt1kqJdlnh/
1OFdGW+xcMeMrpqVHbST9sk0xNxB88vlceUrf5LXQlJ2kWSebz7i0vMW/GvGCgmNG5ljcJe23y11
RLI6M6O1gBIXD/MWes+A/yKfnP4GWnoHf3Ea9w6qKaygSmzDWjulJeVPZZWLr5f/sy/juGQlyqCP
KDnvxd7PUU5D5RHeKUZyA5VKr4kfdxDTO4jxAY1VAYYQG3+zV+G1bs0f2CrnhwA7cHHOtImnLnu1
d5PRwLz1/bu+lc9FtS3iedOuABjxv9877bBUWLNWGvZTalrn6d4KT0Lb+GF95ch98ihB4CCIJzkj
ZCEJ/3d1UN8gkhKxf4dmcmFYz/oEqlI95D8k3I09BF499+e47Cz64tXxrzy/H1Gkfwe/eOiLzGo6
XDP8uzhzV+WIwTl2C8p8w+59XsD6E961pr/n3f7vmedjY7Nv8D7peI1fnIaQNibIyQz/DvMmhIch
rDaMJNUGu5RrdZpPTvo5uODYwSw0ncs6DZ27ptEZHf/O3mMraYbbbDg4vZoldrzMy1fNvXLQro13
MTUzoosKTdr8u6I9F6PwlcluW1r0oeZfYCL69eH5CGsaEE/gGgHWkG8T5f67b+DySRsHlOhuGg/+
JjG3o783o98dCxhHj61JlR1H/GI12v7hf0j7ruXWcabbJ2IVM8VbMChLli067BuWI3POfPp/0XNq
RoJYwpn55sZV49puAmh0NzqsFXdIIRtC/xmaQGXiDJFb6ty2AhyyCwTVIueMoltiUtAHlnkcBqyH
xs2ZX3+qRL1nQKYIZP6oCU/Zs/+GA188FN+F01vNOt6gG81x0arO2J6bSIsSSVn5DrSx4C3swlPV
vUlg9G6+72//jaek/j5lUwErp1Wqi78vt4AbWRQGBoWL4L1t3v69nIWoIsurwj9KdMi6aMs6HcYh
PNXdi1xWh0UOk5SowynwOo5xTjexONa0kHFfEDjCL/PUMaWF0tVc5GJNWpIu+T6LAT5a4A085tmq
Gpp2jblPRpR1+1aT0A6EaAPmANYYKfprNeYHPEwBHTfuGwMsJla3hHauMfsQMNvWbq4nJCG5Kk0P
aiRo6LA4UTCoGLQev0fG2uzX3CEwFja/Chhe7VYzrsVQTm3QNT8JOZBdN5vejFZoXhVZ79tb5Z5E
6ChqoKtiip+u90wPtITn5IDf12tkp00ML5HK/PQejA3ApnZf/1YDr4TRlSHkK8GYN2LbopVv6oa4
E9b3Bdyq3bUA6qrGU3w08L/n0lkAndmhfYBxJuKtBbqWQV3XgtcBjtT5/F57wlxIgqEWzN889jts
34t7DAwXK+vM4AFJ70P3qZ9c0q0xg2Jru4ZxyW487q8W/n12C+n67GqQ/hZJF/L7ytJRV9ANfROY
GmO9t48mSsqkQRchX4fpmgoQo9AQs7OAV2cvTPmTiAS5LMZ65m/VP+uhnB4gz5KmDbEezJ9tQ5Mz
tJO44kyWmFk7caHzC+paAbwY08YpTrCy0M1jIiEIO5G+t0uWOgqsE6IsEnAxgCLcQpJ70leNNV1i
zJecIiff6gdxLRmFLb6A9Us3JYbTYt0EKhoDfz0Q1ERIFg3fyLeS5bH3kbU6ynaMRRsVmOfi96Ot
20m/kj4QfhvpViaCAaBSQz3oD4Bq1RvTY65vXi2R0URAhmZWRC3XalmkoRwofjypZWO5m9gU14WJ
PhIbrE8Mq3L7uJiuwIUsyqyIogsKQlA17KdDHKxopa1cM135K8nKzNi6b8Nm7cuFMMq+pMpCGqfB
qf36ccXykNO/vYqYqYVQFqNE0qqQ0Aqwb6GJgZVA7zuztwy8y83g5f465q+ZqmroHkESAJWw6xMC
Hk7CcWnBo4c8WgGxxcq30UO+d42QYTeYkigTJXPAovclSJouWEVcE/hfm3TjGqxbxZREmSgBMMd8
Ma2ps9p1RQIL8aAp78plxmhwnbWFF5tH2agcrDSxN+STjepN2Zjcpbap//etoy1U2gzZQsGCgIu4
7tehWRPhxwCg1+P/qA2UQQIeiC6EEhZU2sBxIBXRD5EhGOCVYmgDa+coq9SA7j51I6yogVeMMTSC
GNCoTzxjQbPG758Dogsrbs41kqpjPb05OV9xjSK+wbI8M1YcXYEI2AUYOdSyqdNBqz7KoxhwhhDf
CCFk2CX/4ZpeyaAOZgxlUI8tflUaOEMmqQnJ1tya5XVn9utKDHUsuQ7qKwyaTMcCzl6Dh/MDGwXj
7G/Lb2i0u9gwlfIKHjAQgjEAd3dBML5v1DswjJohbHUA4HEMk8TGgiVSurWpVyIp5wB6LhlwU1iY
dFRPk13ljBQY8qQxeXPzw7ILc34P5WAdrxvkPNA1Ru2jAGzAMGu1ye/16/wt3/a4Rdp7YIKvj7G0
22zftJv/yKK7rTuwjmp5/SsrObTAbH7sYI0qpCPAIrYTn9yjYGRfIok3/NZ9ZBrbyWxT3upKPLWz
IOcrMRv5K34y67GJ9tHf21zYYGUwfLzzGEZq+os3EtHsiE5N7C9ag/H7i1hXFFQhBkQfNjcgmC/f
5pZMegNk7wbQjRkWflZX8VpFXygSiIqsUI6+rpB+r6tI2CcJhqx9lPXVk4In2OvYnRRvUyUnER1K
0hnkuKTDyLfGqaz1zjwwpwfz358w6fbFegW/CCKgzApwZ6IRm/oh/cCAdffmrlBXNRYHbuca2QfP
M+T+jhDS+3wpl3LYY69wgMSA3MrijsAUL83AXBjjrjvAr+7E58BIAJ4N2jrTPdbvwKQyK1YBb8ZN
oHCmq3j3ohR6kw0B9gv2Hr2eeFsrYPU1/XPwGDxOVhZcS3ayA2sbOMf8x/RQkshkGarZq3UhnnYf
XBUj4QbS0b2/U461uS938qbeBSvbFg5L0PK+g8/tZ4TqpUuGjs/dKkVXZYx4YrgBP6kzV7pM5IcK
Z35qLGVV7X34fHc1mRGRiFv2O+E3J3dz2hcSKZPFq+3gSUEt7IGtB4ZiqzO0p245hTTpqjIGCw9L
JGyAWrXt191yesi6q9HQAeX+CU7FmBQ2+30kzoTCaHX5exsUylOEXIDh4hHboK+U4+KE6v6p2Yw2
+F8QbIGgPv2oPkFCv8wNMFrgQV/gYcE4iZlI/+oTKPvWuUEIbDR8Qm/GJlgJzGzvPojr0QhX6R6U
1AZ3ZgUUc0+ZK5mU0cFzrVI5MGPjGPKcRCvp96GNmXkT7Srdk75irHHaxjtnT3caaKWkdNKiFPZ/
pK2PuLyHkuWGbjIFsc6TMik1WOKTmMfCJFyn7FAZnAFMWAPgKJ0JFu01Y12MW6RQD4ESYCzuOK2r
s6Z3vYsgI9m0WF7y4MJeeP/pEXp1ctSLAO8srUzC6eRwWaZnaL+rDO0xXQ0metNZUTRTUajQc2KG
kTkXyunvWjM5gMro9/Q6E1hEm5zlEFjbSRmlvp7w4jWYiAaOqF1jTA08bGZtAqvKEtfuyoUR4E4K
Quzc0KA8YAdHrot5qrNO4cIoUJZq4QHGoFRxquDi/c0LAWXKaI+TsZJNgF4b1cNkB3STYybzpMnX
3rkpdOiqgrMQrE8438XJ3RQHmEILHJsH76U20SaNXT8izXdEy9tKB6MsaTfxs1qaowGW+pZom8aM
D/EB1K3/MQd4qXsqZalAkL7QlRbKkFnPlVUhx/mwVE48YbnF2egWXcO6oGLeA2E1peSYso/CJuqE
vbofP7VfiwGeYgvsICtmIncu2LuURWl4yTWdWgH95DcNKDz1drds1+DRhf1PV95DTbRlfJjcYogL
DcgYct+ETCp9e97/LJVSeWCHN+A4gPhmAxxMA4ljOL2Q1dDKWiSl0aEquQFA3mGnDETuRnoMTpNZ
BIHB8T+9hC42lHapsPUCkOYhC1V35FXbs2u2k/fE8YlE/m+PPbRZYmQBLbJoLqO0MpZiJJgG4a/b
Gu4We8DGw17g8NYt7sPC9q37RzYbtSFkVIHHIAPTUqXOLOk0L0lB6bgHbeJPb4rPUr0+F6awLHbc
YAFuaZXvM9vfZ3hockuFFbPOHSasE6AhNBHAfPQGNwNgkBIwqe113IwFNBR9rwawskxE6azXyZzj
vpRFbW7RLPi4BvbUfljixb7Xjf6xJunm/+MdNN0z+iJcSqJCEoAC9pUcYlXaEWDx7+1ZW4VwqItd
/VO+p4fCllEEcI3h8f5h3rZtTEN5F7tJPX5gZwCa22KFoAU9ZYcWMamydc3yR9t4hvTNkxpIIwyZ
syeIPrqpKwqEnrSRd11XiEqlEeHnONIes41n4RSXmJPmt//FwOgXsqgTFAAhExRjDW1ZTcXQ4Lta
o6GdEcTOecxLIdThtYpSChEACX/v/GQ6EdYvFQR49zeOJYY6K6WsuokLZtq3CLn3dgM0eIIubsYF
n/U/l8uZ4pSLB3E55CIK1q2Iwm57rE7S1rMyZKrapfwSMOblWUuiIsha7ERtBH33bw0ZpNqVCaZk
aDvrhJhronxqAB+3QDlehE+d4n3Pmsxyb7hE2Bcv949pLj+OGat/9JvyqRFYMjPBw6JKE8M2h8Dy
UV7wVwje/keFoCxxlo5AWpqUG3D9uyknNdl9LIplBqdTuDFOFwui/GeWCZU6cUnCS08+LVrJ78Nh
eqQCTNEEsr45Zkv963/bRY16m0qtK9SVD6FTyZVHYiYxxg0Q/AyXYY9+x8Co5QGqhZeQql6AFoDu
mdYSICDH8iCiTNgdohWaGXaS+VmjC6AzMRv+7uCiWcXTk2eeTqytnQmArmRTR1gBWDPBYIS4377m
D6IVbUcCTG6jNSBYMYBeayV2vGTt7WQp7q2YOtBaK6Rc7LHicYeyL/BykbwHAc4ueegPKoJM6cw4
zJkc2+Uy6UxPBWA7UYmxTI3sBdPb5vZx/WDlh+rBWX0x9nTGplzJokx+OKL/WQ6xuMYCWywebNEu
JM1KYVy+uTjoSg5l9fW+D4DHizW9Ajz8jTc4tAWM6/U3Gn3J25toA20TtH5QV1armjxzesJvk4+q
odOfbvOsgqgW9b7AZsrNISlKJ4qjJePAZny0KKB7Sca0Aqbd5OkbLnxAgL4fQRqq6cr/VXaJ9vm2
PkxVemZzxfx6/pFFOQEgfEuAWZ5kGb8pWJ8A+nqK7KbUE2qyps4xH1lzCole1alRWke/H0+trwmG
smmEUtyHaoURSIvj37TkR9WYoBNzgkQerbHompQmWLXrjWySJkqEUBb38rLFSx5VTCTX1o/ojrVE
G7lGk4cLZxzenFG5lEktTolkMMDEkCkc3VPy2Dyna96SzDMIk4zSSp/jQ3KuD5LVre4LnjvIS7nU
QeIpknFgGhL3QBkFYYNdKd/3BcyFq5gL+mc3KTcOxhhPkyNI4IDFOOEha6abb3kX1CyZlbaHql2W
+UeTcutceVkUZgnyX1b/+Zx9ufwGyr0DQFNIa0wY7HnD3UTbj8jyLH4/+SeAd8KMdibKGCDcRLcJ
6+bP9dJcrZ9yF63YgE6ulcQ9qGKt6NCupZ2AkeaWtCQmwBAeTNWWrNKAuTsztp6lVJTPkIVcxBDB
5Kk+9h8ApiXnx+XyAYWBfvnUEVYVaq46crnSX+t7YYCSDIoEbhk8vQx1OZofBTn+ic01MFHgHFV4
5nJ6T2878vW/bvLvp12I9msgUwsDNhlkTqjTcmRcH8/LhykL8g7+JCRvT6y0AUOnfhP1FyLlUtR6
lE8nc9tBZGgDWBTZdtYL4hbQCTikQNuYMAAwaiTRSIdayQXgiVIm/QGTRLhr7aN9DMj3d2mVFqia
3j3jh6E3kxukY41LkZSblGrgoAcedhO1WrRXZJsCaZ56Uz6qq9xgVrRmTdDFAilzC0K0uvELLND3
kZG292fv92qIr/ynsuHM3Ly/Opa46fcX5ybKnBYkAcQpUUZG/iBnIUPCrze/t3+UUdXbEKwT7v/T
RtmQrcDKDJzXdAPiVWn8gIeIIXP2qmOKVQfdmozhAsrCcUixADdAFffpqwdewtbMX9B2W0gWyIPv
7x8lCaNRaJBWFHEq42MKU6HsmSgCFFZPxdSxAYrvCLCoRzDHre4LoSO1v6RMKDMoaWPwjU6odnyc
C1Eup84z2m7Co48aOhDKQIhgbICrSUDgsepWT0ZHhJT1tqDiqBvR1FbqnOZ5sSalzta0m2/fHNEu
ldojWbTrFCjThvET77OPLrc8O6oMxjnSABg30qntVZuui9IaCy8/KysPMEqbkOZsSM/oytAbq7RP
HTlNhZoVS7J8fev/koyuNxS4MQAuqdStDyTOB0F0kDix9Am2qh7Y82rhk3AM0Ce8WDxXPtAkY4Ab
rwFoXU7s4Cwovt+h2ouL8/sJsHFAFlJFlHjpNJMmxx3AxMvE6cHntVhWoKkGaIElWgMw0o3hO4ns
ARwy0XKU1/oy2pfHskClWbZV0LvvhO8xscRVVW/DYJUqD/dVkooK//o2TGAuFgrwZnSZUosu9FqQ
J/KJowvgCOeyhYhpoRSiw9wA1SCrpjPZiJutwGg64njM5fM0ZM9QCnKh6kriJP0AOoY4JXIJ5pyF
sLy/rF/wVFoQTAauNGRhvJSKz6QhyuRWrVNHRYnqAwx3GfeA0R1g6fDPwFkrCP9d5cDE70C3tInW
pW9zpT3CH3z2/RJjPVpoxq41JgDW33gBGKM20Yu4kx8x4gsqeheF0x8vscbI9LvT/U+n58Z+j+Ty
06kjAdtKBNfRpM5CNbs+wQQPWDNJDOR4hFNbLlynBclW3ZGVZP4FgrnZM20ax5UwsHGDUhNEYIXy
NNhAVzU0cASQc4TmzdZ8AAieAdytYVmDtJ4UX8GycibGHXBg1kgOfAIWu9oF8rpRGMdI9wX8tRcX
n0T5HHT8+X7b45Nq2xws2Rq+7bX6sEzhSz/zH3kFz53YGG9aYuLs8f45SHOWAxNtf28HpUK+UGt+
IYypE67VU/T+Kv8cg0dtq66TXWCUWy9c1tYPEoXGJnkKbGV9wIzrET0i+P+2aLISlHTi8HcrYL90
zNJjjPcGYIvnsqEeiiRzZABhFmvQfQGwH/SQyWvbCvxzHYCu05QAkY6XvhikT82Y8M/AmU9eM0mP
PYY/mbMbSFIpEmbd8Qah48TBx+/AwJA5Te2PNl9lKSjpk8+q5pWntuRZw+KTzlOqCTxmoPjIEtKZ
GLPH7y/CG73XQHheaZmDiXJ5vQgE0c75QjA1DtxNUgGOx7iMZYb20Y+cacuBuo7XMjo+ZcCwUwkc
cRAiIW/qzBFjU1VIGVq4kmW2kh5LNOksheFRNot9qW4lYaWhf6NEcYQVkNOR8l8fgfqWDBhXTQKO
0fXSpcEfRCVvModbqcJeBDuxTIpdATDGgWDX0di4rmQrBYVSYwMONP/U1vcvwpzmwYhiGgm4kago
0mBdsu+Jmq8UmfOBJ2ZhJH+yc41ZieCDIWdGpyBnApKVQfR74xzyVJRG3sdKXfSJYKHVeC58cNJD
m4oIXLggzQA5naAA6JUjTekZ42gpzxFAZwrl3442/m47OtEEgDlMsEc3iwZVZ+zJKc6+tOts42ye
OHMj73yCIOXrmZEpnLP5mBAGSA0v8SrQ+iZbdKHfZesHvacMmRMRBCYIAbYlSE9SQzmAQrYhWmrn
HGGFRlRR8a8lwpwA9hsQ5BiXvhYK/gVOaMAE6nR83plcMWhEbAR5lYMvkHBZOhCtBQ1Y7C/One65
y7HlWSU4ceZi43LhsBF6LPgbZP1WKEIXNx/f4Lr8Sx943FfaS7pkpqBeBE5CmQFrHgFUdwbPJEq6
eraotIMbKTp4St02iswIo7mgxutjD0TnQ9OEOwy2VZHJD5H4kuaS/AKqVMzD837VYT5eCwT4DC0T
dl4X8zrRxc5/dnNReS7TqkWvocbJjtSmOWuIeM6XYc4T/JjAYsSYNN3qF4MItXT1iS4WfY2qBT43
rQUoUkTAcGNwxYf4hs/hNqJEsoeuAMmRYKgf3Wthq66xEAyApRGVrxnvHrrvdVICgCXgezCgjjCQ
BogXQXxZNr7gORMHj4a+v0hE06OqLXtwiG08TKR0IGOLe2uUDvfv++/r7dqoY15TATY9mj4B6/xr
+S6Uvmg8eRGBX9oxX/8MVrpGx0C95sifjPzBRpBjhVGwwshQxlys4e8JMZ7Mn9PJ2GCIz9ztYAZR
OovJm2GsTvhvNZCnp9R4yg2QqqMzabPZGE+s98StjcKFkdATgx5VfDvt94AKmRSS7rpnoXgDdxyp
6nXkP/g9w/XcXotrMVT2wHczZdEAYPqMNJvlxYcKECIAEMLE7lYClfv9g6CHKKED19Io6+NlBRxP
BGleZw5GvtYIGm9+8t1+v7fBQrH+/hx00m96g+zGn+iB1UkxczOu5VOGSGjrsgNelXs21SV6vff2
R2WAeIis5YeHF97OiYqACmxHBjD/GXHM7YPkWjQV5C3EaKFFk2jQFsr5jxAdI5Cp3t/f20DyWsZ0
2Bd6DkobL4FZcc9+7BRNQYKacZPo1MxfB6hIE5wOUiVAV7mWwIHVrBuljDsnK/fhe9lv2s0BgJZf
qGZvFXNg6MttrgTrURAZQ9zEyUDtGV+oXiuVDXcGdBbp6/VEvTaARLT4qNWXTmFU5mdPCLZpclMa
aDDE67W5YimP3NBCmoKpg2qZaM8S2sHvH9FMjKPzgPiCEcTl5hHWXksZRtT/FynHnTMrspLlYrcg
mx8PXb+spO6cAcG+yOhzB4QFHlrXglQ072lV73Ln3kvsPt+ElUSqal/U/z5kxoouBFH7JlVyBmpY
CNLTDm83tFDIPHhkNRLwn3E8sjZwzmJdiqMsVlU1cuWWOnfegkMSkyniCd2iBO/rT8GwUsvYqFvG
Q3nuWiEkBfAO4iUAjFE7WUqFFI8yFhjrraWCLE/Bu/2+WszoHgJAYcoNosIJXO/rw8rjqgaLbuI5
sVq+lEG5A2ttQ/wgse7LmblRqKOCPAXLwZPjt/33wkIstLAL27HynLTKNgDOObpK9KqnwYdUDKRI
WlsQeca1mslK6VcyqQPr5d73pUXmOXv7CKx9gA3gR48M/Jos1wTO1tis3EOMN+0TI9r9nVSiHP+V
aMpcCaWiVnUH0a+vvPGsWs+dAb7HlUJM217rFj7hA+lyjyDfUIL/bSubKga4jHqJLGG12uam+cPI
zM5o79UXTYpwcQAaJ+mhUheeEwT6Sh3BNa7wu6IXzKSsjaoSGZs/Kw5GZnpVgVRKpfQqFPKFKyae
50QgVRatoFGAybWK6m2eJYyLOedcUV8WZAmjykh//jr/i6WJbVTVvbzwnGZTLIzKw4ZKJF0QjJce
64fUVFyjckmNkW3iYRbUJbJ7Bnzte1eUJHtzK8b30K3sk6+6+h7Ke4CtF/DanOg5mBQXXvchWiNs
0Ob9hOgaMlyGZ6TKWTfCKNcLhl0lakFr71Tjsnhsd7ywfVeQSFL2w78FnvpLFsBGMcOFGgKyjtc6
xPU1nxRR7DvbhOxHIgjW8PW1fY6Rm/rqVhILnnIuakMh4R95VE49dH2l5dGn7nThuq23gDyMtn5r
a2Bc5kngrpAfCEZg2cdm7EumJG/b4Cjwr4m+FustOpl4knMbLbXAkG326S5yNUbc8/uApO/55RdS
WZvBj0eXb0Pfwcw0OA5tFD2AFEsQXn55G+Mg/BGnCefa+j4fj/bjjkOHt/F0Ml/329WT/BEcAzM1
Vq71pZkd6ciK1R83fzX+2UG6gzeVtHyU/ch3RGUbiqR+qUAAizly1Qi1DbCps80AkGOxXItmfBrU
fXGuBNK/149cagzaKfcZyfiZhBPuxsUHUXYBuZEg6CocqQK6A/dN4ARL0VeSm5tdrTtKZmdAjZWQ
e+JLYHZvqtwEv67+XS72YKonscuqis28DvFBgCkAYQiyEoDbv9ZpgPj0BYAsfYc3FhvZqpbji/gQ
GPxrZyam62IQk2fc2DlXeCmRcktDKupJ7We+o5UrtTCGClPj6fAHqXmflcOc324UIiQQWkxghdQN
apDhbZUB213ItgT4hcSUn8qDj3lH3eoOMUlNzT9WPIoByxG00STGHNz5vuefN4eKOvHAgfwOIeH1
DjcT8zg4QHHk9XJUS/T/SJvQe+88oxCR303DdbKIlqKrgS2+MhRWSXIu8EWVGkCGgGyT4Iooq6W0
KiiqU8gflgopfkBQHxIwRwuGEdkMv083zfxaSGw2cj0gGwA4IKXe7Qhi3CIdfAeztrZXPYMxPHF9
s+VPYrAN1Ynv2gjA5ym+FTnxOJPXDEV7Zmz4XEx3+RGUSo+5PgHVjb7TaE/NwtAXKwHTCj1ZZOZw
ivzTMFSmkAUAdrOHtYgnvlqKDB/427hBG0b0d4KyAuYbcG7UN0T5KMRjjW9AKdROYlOoyRuGSw/p
wXGcxI5MjC2QH5i8039Z/JRJBn4y6DzpGfK+Uha1x6uweEZiaYCY4jDosmwt610xvrIPhZE6nvVR
CHL+lkedeFBpctErkNds0MxantOHyKp32irbq6b/Xq6kw7jhlgewPoA1a+OT5gOzZAbryKftpLcb
DQRAp8F7VQE47vUdK72yEZO4CsDh+gTe6+CklRbI3URvo+mHJNp5X9xGYjFpzUa5l1Ip7xf4CnAD
W0j1JcN+/bP3P5tlZVTEnvzgK17m6XowNHT2qIH1oBKVDAGKaQfnAF4vUhLnaXjZNgzNm7OuC8y3
gw8CineDLaiD2FhPNNd3gnzp1+ey2abim4Zh0D4jrF2fLDW965NRQW5PE0A8QcXUoJ7Mx1jikd7r
rIB4m2EfkAUYag8i0cAT9198JwzLxBeLeQ4gwV4fsl6iAVWKuMDJGs9S5E9PI5Jo5T2wTXS7UR/4
zAgw4J791MAo3CWhCQJvQ5WNpFzGOuvxPQmj1o7dBTOevED98AbIDWWwogg8MXT0eqnGK4E/de4y
VBgB1swzAkPjyMRAwAQ0SmlYL4WSBL7s0GnrDScZtWRG1uA/LMav+2Zj+jvUatCuoslQGkQCiG+v
t1aUm8WiVrjYiZrcRLcxUGaJ3KyDfSmtAtEj6HJmPLxn9k9CUVHGKBkAIPA0u5YYCK3qR70ew04d
681gM8eNZpTzSgBlgcsqHNy0gYDsMG5TU/zOt+j9QLyHvmL93H1w9v0tnF8QMt2IpNAKQoN6FilC
gFqGPHkgbfWiaId03ITp+30pM+UUJKZVSYVtB47CDUuXkCSlWBVh4mAwNCtJbWokPNe7dgcw1h3e
1CN5bEluPaRAlUlTq34WkCZ/Wt3/iun5TqvL5UdQF99Hg5PXNvgIMMZbMqapMu/jvoSZ3USNEN2D
PGJTCRbmWj06sdGErirQqNXDcY/rAIioXXHyGFo4sxA4DRmxCmBYQdgyfcbF07lM3TgfMiykbJNn
ja8XtlCWuXV/LXMR2JUUajFAYpJ9GZznTqwf23Yj7dwgNsDOEwv7IXuVxmXVg4GRFYvdFv9Q+blY
G+UTmxJUymPuJ4jsI+1JGX+q8RQWh9Q7CxXeQ+uwY8QCM0YEEa4MIwKISzSXUBnWMgv0No2ixOkU
0tQRCaPHoX8ra7sX0Tjon1jv8RsdgUGEIIASI2mMlwt1eK0mgldQzVInGEIg5MY5ysZL0CQFRhyJ
DEW5McSULOoI5UWZ9EIYpY5QaWYIYj6ftxO0gAcgOWr4z/sKc6OVEIYgekpLAoYKi7vWyizVhkoL
0B8EriTdaz/asvq6L+H22TeJmBofMCeAXD9dqswn3B1BaNGniMYKHzWh9vVVAFScYnsP4nbLsZTx
JibH3AOuF1osQEcHNlnqrKQcRC0gcchR/obBwtg3B0gyj3yrmPoeAfeBYPj+Cm+f/pRE6sRQh1f7
iJNyZ5v32w/wQyxbdAN/h3ZLQHZmnBrytTKiTzNj3faZ05uSfnBqQBXk0RFInV7gBlHoBYWD1435
R98CSsi1iSea7/VSD01mE/nNtcNC0UwBhHg4UgWPjWt5XpCpC7fvCkdeZih2W74NLo4xIvl3z0hq
3sSWlKTJ5V5YyzDRkWbUIKkJvmLVfGp48jQMjJvGWs60vRdClJAT03YSkhB5MFJ5perEWbgm46HE
EkO7MJWLxNIVCqewpsbjEIlo3Yp8Irwp5yCw7yvjbffHtHPAikeRYQGD9evVLxaFOFEB+a1aQP3V
P4s/dvJHrw7NGhioTx2JW5YK3sQ+ECej3s9j6FkGgwG1OLX2qzpH36WDvleNbIP3IrMr2XxRU4LR
QjVhzjjdJlomiRNtsygikIRhuT413pXzCrjWpYPq2kBGvPbA2QNCnaOGrBWGDOQzRgwzU3ONNn6q
ucf4e2RFlLeJFuobKM1pAzCxVWAQczBN0UzA4WaekNo3gNGx2fQKQ0+nPbyKgShp1B7nmta6hd6X
TmkDw33LgiWds9BXO0pZTL7yF1KmVqVTBGvca2Lu7UVB+Oqtj8yV9KCdmRyGU8h9b0WUxcRwXCRm
XlM6qb5X1GX7yonQnjA5Fe5Gr9A2S1ipQKbaUDFKqOVKVEtQGynbC5w5Jmg/fZGtPLHDzxxDNxjZ
Bwh/IqJbGo2BROAiQ3pDq4zCvDI30RKOc5rQmxgUkQlVKJ9bdxE6ELmkcgTvMQFA1CIlmrAZXaMG
bGJ3Gi1Wjf22Yx5eEGzNv/xJuPu/ubQLm4AYfmiCyK2cvnyN0A7nxC8KUpLJ1KYeHhZE26dbkKaN
m4UtIVF03yLNxDMgiYI9Av2cDHx66q7wfCuFsa5XTt68ho3Rmmr7lORkITPkzLgMUKFNrQQaIhoM
eVB2wW+ShZAltROGj6O00hyv3EOROuL3DLQOaboQlPqCFkZAXUZHdQacp9eikBMpwA4o1Q5vNcjB
fKDPSLO9TeCc92GJCev3jYjsC9BlADa29I6pYViPT+X3FjO1mJ5jDSjOxR/4HOSiwAQHyBS6h2Is
Bl1xO7V24sbwwf5pJ4WV7oKt1v/gZFcArFyO+jaq18q4En3SId/OmfJh8RO/lhHDIdymI6Frlx9D
XW1vDMK2Kxc1nGr7hUFCwP6hzZUASBphGCoehEToS/MtjXRApNuyUjeTNtFHo4jQAQSaYMHhqaMR
qlxtuXxonFIF65OrS6OR5CC0vq/T4ozbU9HpiFfx1GmIAO9aA8oukdwGaGtOOZYEDEHic1yuJyJH
UiVWCNjOlQ/oJo14oyV3ywLN1BX430PSvi+6F3+xDeVt0xiZ/3b/u36z3tfLF9DQjHn/6YmJn5Sr
wGM+bLRE7J1SIOqjCz7oZVta0idgjlZg6xu9pS+TITe6YjeKZpdZgnSMQ5LwKy01u2iLZvBmOQhm
Xn25JuikZR28nJY7fkXiaNz/1pk9vP5Wag+TOMoiweN7pyJ7aCUSDH9QNZg6Bya4gMA6p9v8oBhP
sYFI4osh/DYouxZOqSmyjMEiK8YeT9Y/sbEfLOQsI1A+fEzJ0/NeJ39eAvL2riwFwzEOL+8M+bed
2BPt2sTMgMfR9PyiklKcLvfpolB6hGlgGYiscZWg/TAqzRSEAp6pkA4z9q7BEHtruK6lUrcjkfR6
ISt679T9YVAQn8UVmDRXicDqTJJu7+G1JCpKE8FEKQcV1mcnxD6afwajtxtrxKhYjfYLy9ghS/0B
SEaSLDG+jYnxkhj81oC1Jqw89e0sCrXX07deuD89TXq1ENzeSZ7TnfQiA0Z8XD3GEOXDHhVGDYXz
vvSQmCeUDYCKwfBMNHYKENSuN4O6laOAtiOhwQd4xZdQb1Of1PIuamQipm9RmE+Nn4AEJwwVv7VR
kCogLzMRfwNWmEqScIEHOFCBw7KJ8Gn7Tw9/1txnvQ5tleTv75KGblj36B4kEi95j0yolIwPuPXI
+AAQpSIdCbcPi3S974oX6OK48AYH4oeY7DGTe442Hnn8lr+Wj+v4aYlZQUwef8iHr9UPoHhZRfnb
ya1p49GaBLZhzJag9er6CzguDmU3SQbneft63AfbD/DvHI4oVQXkMd8ul8uD9TSQzea9Wh+cTWz5
BE2/p9Xz/Y2Yjpc2ypdfQR2/ENdi5oox9gEIiOWLVkUECHGM4567cDhOnPiEbYG+8OulovUg18oq
H5xgtNxKs2JBt+4vY+44LyVQV7qs3Ez1y2JwqgSQc0pMJAkXN1p6gmYqEZ6bA5Ml+TZ2nMr3/yyK
Oj9hCHtgLGeDk5vP+z2KBRnZDqfX1/0f3ziei/0ZLt5MBeOxJ+uRrN21R87Sdp0YS0Isy8kE4viA
tET76sPqKSQbKz1gONb5SY0v8/7mzFlWaWJnw0gmxkPpDKHMTQXaBJetSyYy3lM4/skx1ZwsGMc8
Kwct1ng7oF0W/GjXxxy64xgm053KkQufUp8LBFe8igaK+uf+iua0diqsY4QGjV4gfLyWlLtS3g56
9H+kXddy68iS/CJEwJvXhqE3EkW5F4QsvGl44Os3obu7QzaxROy942M0cwrtqqursjL7M/6jligK
GgZVsSUNMqD/kaEbGp0WcxePh9RI3lxxU/FnSXi9b2Jy1v4Zy412c0tLSNWGPWSowfzsbRM8DITo
xcvnanUzk8YCjJta8Qzcpv25ljs8sFKcwxRypDTyV/dHNHXcL1bHYA6jUmU912sw5LZ4Uxmo82fV
v7Eu0L9EiAvXOXYUXW+AWhfljI+L/txEtSXEAI96eyWcSdeyFNJ/d+OlFeaSaDVo0NIUVpAq2ibj
4+R1d+Dtg3PMlw157DaPj+CNauy3D1kkHzyx0J9xfyr/6mWsf778BMZ1AjvRuHKBDZhbr5uMaAbc
zM5xDo+4qhbD/ig9pGT7AUGY0xI4iticcR1TS/nXOCOhLxD4BuZI9yI6B//2f90BJJ6lRI/e749w
aldeWhg9+0UAVOah6oUdBlhGwCz4luo958IcQu//WEl0s/z3OFiHoSSiVsawEoTLhDzvshGdcFg9
KsiInx/b45dMWsQeDUgeQLBijnOJHowZ/zgz1L9Q7GKoWhtC2FXHR1SjfzR+lHPsOf//2UQRD28/
NFCCToI5F0LT0VrzepwLdG+XqeK4VF9RYw4vPvGSRrEQmB6wVSGtgUah61WLo1CWarEZgHcB7zX2
ZLdC87m1inbEhvyZZxZr7SM3l3PNZRPZzSvDbHUNYm6pCsnP4SyRwl+oH0G0Kd/5I22Ii0Y5eWkc
s8/7UzoVWiBIhOIurk/U9JgNygtFWElZOZwTgJj61JYBCgjrR7yT36NwJnszTht72mEHvfxoQeXx
SL6e1rSHyk/ZisNZ71NSx6dayK1cIvwrFz4YUr5O6FzPzuRj79Iks5JhlWZZUkoDHnubHhzfgAuZ
3vId5FWOdyZJbabAPcxhhiZfHci6gcsWEqpoqx6PysVRaMU0CvVGH85D5BixQzuedFFmJdJLwJGW
39a1jW7V1f2VnKg/CAgZ/rE6XsUXVr3a6FKDusO5gciDStLGBohYk82m/hVMIzlCIRcUAMmrKy7v
W55c1wvDjBst4obyYg7DonEM1gK0S6I3PnvzpUWxTuYY0KYC08tRMpso01xFM9LRmPfQQhJe+cmz
Rdw9zGFLWO7wv+txRPbx8AIaYkjmno/QWOslkjKcd7vS3DjIIi2bJ3rm7AW6GM3A4a2zYH71jv3x
kMBF1Mt88Rva9eZh5pKaHDC4iWX0MOOg/r20LpZVoK4UtIYxnJGpl3SnWkq+CQ3oucrK5CJemGHn
tcxq2ehhJs13zaGnpIUjSMHwphvPFQRM7m+ZyRSUCtpnIIMQUIMN4HqzlrUAWePc588CWa04+9Gz
nw6f7wqaRg+fq9XjCuQqjsfN4pJvb3wNYDaUzJCjQxmV1U+jdZ3WdcU1Z34Qz5ySm4o05+Wk24tw
tIG2UrAqIFDkmY2TFZ5Pizpsz4hocBOrpvEpbHATk/Sw+kmXXy8QNQd+bl1W5LQ8u8RffqyXIM7R
LO9lZpZvo+/rT2FmGQiDXIu9qD0/S0Q6gPyDCA4ecIAQJYtRqI5fLV7e0CO3Lw+nBzqHU73FMeEo
Xs4E4wd1Dry/fQTz+vm1/0Xvv3kQiDMaR3ynbr9e5AO4Lff7yuyJ//6Lav398U+v9j8rwXjEIZJL
NaqwEnn/klQHqs3Uyid28fUAGc9XtW2seTIGmFvgZ3deHdkcxu6ryiNHO0WZZ7s2l8tv3Z6V5hg3
0fVdem2ZOa56zbdakcUtAssS1FM8XqSW4VmJEZkxiFy0cmnEC184FMoxTjdJPtttPPcBzM06VDo/
tBHmViKv0f4dxRjfepKWqxWRrYXNO+t8fYJHnIsyJ2Kzq4GzMaDmD10kjHY3DUIz8HzFztPPY/gC
Qvy16dtL7rhEs+z9fTSR3L82yjyVEk4LEzGD0dZUagLiuffdZ3N6ih6esvVqtVDslxjJ65TwzhuC
Q1ILYwm+JbP8cBOX0vWHMA+mXmnTLPjzLdQej3Nrv79XTwZpxgTNTjWfQutxkW5Ist2+ZYq9hw8n
p7HtBqS/M7f+3On+i0cuLibRqGmWpdj83PL5FXwXFLGVajor8DiDSv/xR7O3toYuf5EI5/WDYT3M
nO7ZDxiP/8UH1F3TJ4mPVRnJAMFEhugO9wcmISAgdlzkyyOnmS+2vcYMxLsHfzHzgr69ma8Xg3Fv
fa8rScPBvo/2Qrfd6PlZALWJm5ohnXlH3nLOXbvSv97xi7GGulF3xuhKqZ2gpLeT7cMKKi5HW1jv
TREXiTW36Wenl3FuUpnndZ3DJFAJiiNYK//kkWaMC/CufATcabtNLDjuNTr6X74fpG/1ca6vfyKN
fD3FjJvTIpeD5O542kFqsBmBCkAr8Otii4Ueya27TWRq5vHlBdIUoJCwpZ7Y0AlMiXvICSDqWPrl
cmbZWYJvRIbXH8W4vihNqFc040dBqeiAXCPudqQ/HxdfBI4vOMLng9v7W1rd90J/z4Y7Pv9vj1zs
gcHwuSQa7UZE3iXEqrY7R0OvrWs9PnaPW8I9YCsAZYd36cxRm9npf075wrILZh034mFZonSFfJXT
59kmqDwzjAYna0T7/kgnYBNXM8zC3YqizPwkh73CeqUfO2mLeJAsWgcluiOGePIca2ZRJ95s1ybZ
qM3wRS6KYTK33J27UJxg7S7lg7vp5/zmTHz4t70uJjNO/ucGG3u1drtmO2TkcEhB+OsRd7s4IuWW
qgR8yidso1kFi7mlZJxWZXRlZownSk0WVblw0XGfQIpxWHHRbB5lPJ33NiwTf0W6m+eFAVv9wgoD
8oorihIH5ScMdPV41Mwv/fSWwY9Z598H0BtsZratNPkBGgiJIGQzqnsyi6r3cRmGKaIkGYT4NVKb
1HQeo92j/hS0JgSoVtHDyneqjfSIqkWGoxM4ZvowXlZLfRgxe7NAzgnICPbZxScxlxb1Ar2oQnxS
/yBHIELZwZWTlTYAP+o6X2SPFN3JxFtgZioml/3CLLPsaA1MaCJhKUBPZalmrr8lQW66dJEI5v3D
+4eiuln1C1PMqmeaYsSNgXsDfMcPzdf4OOYR/IvmZ4ouUCw9/hQ2TwV2wQqner8XLRR/M1QA0aXr
FM/bFwkwXh5kQQ35KSryKK5eauct3CtrGyRB1gPaBMDYvVX7uUka5/7elzM3nhj7YifLSXuuXXFf
R/yZE6S5+vxETXzcAEDzAsLEjzXS66iFuikNDH0Mm5CR0saIBdkoF6dfs4c9EGno6rDRw7JMUTzb
eJ9LOts+drsXdF7kDVWTkEMdG1avv2CgYtloFQqWNR9bYVWtapcrTN5N9qKukZTXYuv+lhDGMV1P
7JVFttBE00ZoQz/tzxYnkugnDKGGLW8eOAubccbUrXe9NsVMbw+eqmjwMbjW5BfKYbPRzc0OXFiI
WXyLzpyq2/c1jKFICg8z5r9YhJ3QZFXRdBiX65sBJeh3tWZO0wR6cjShog6E1QKNIZPzDkp0+/UD
CrGg1xib7t/fvSVoCQby0h/0muzNhyF17s/hhI8Cch4kYmDGR38h2i2vN4iBml0XVt6AOYSyKABj
n4fHYalapQOcb7Yi5jm0W/IbzqojT9zCQNPLaIwATRDaFtg+ZjfCi4Krlf4c1uu+tXNNBTXRvqwA
6QLvq1Z9gbCBpPlcUvH2nrg2O/784kpuRNEXAwqzyJza+NU5BJnb0DO5mRDulktBuTbEHL2QFlrj
o1v9/IwkW2odkA+JNk/gyUPPn7Epzc9ycQggBigg2zhqMx9WW1vcQH7wDLrhxTlz1GWzWK+bBUSN
TpWJP9aZc+IJT3r03s4BWaa2NyiOkC4bu4xBPnI9LWoVDnGu+MNZ6E/phtKzEThR689s8YmHBibl
wszoli9mX5BLahQttpu4rh+ojC6Or5gsbHs/Fqp+T7FtLitneVp+RFa8uL/Vp1wh8oFwxbKOco/O
7HSR5kmeSOlw9lzPrIyDKwGPFm44KUE7pD5jbOLhMAoEGyI4mlES1xTm9W64IaqQGeoC6Zbb5CDJ
wxbg8Hh41MxP1OhedKwiRCl3yJ4Uizks1Li1WB98aZxZTNEti6KOkeD14qX6nKsIdjRkecXfEm6r
oAhAqlniiSm/f2mTWdnG8I3GSzBgYduhhTdfapoZcOA/LiTSoxr6QrWH+ws65UHQgKRCzg8oDTxF
mEBHaNO4kWKhOWsvcPmgNM4cKluysWvObrLCnX7f3sSsXpljgp26gDqX1/HNWV6HFnriwLkpJCZX
Hj1/4VYzrBoTu/XK2Pjzi4Mix4NSxSXGJpsa5/SpRYtXeqi8mTrd5BwiMhiRvCjZojH52o7RVCpU
Aqr23PFxfFSVaKe3GSW+2yt2TQtu1YaJQGQwWCe1bywUuZ+TIhPGncHsVhwU8PiDX21E1DLXOBCq
kJmWjOYcdBYfLpR8ZLLk1smL+Jh90k+pJcnn/ZVUJyKHK5PMqJNAFfLGhUmZX+TFW/3JCZ9yYObB
hk+JQK0gIoGw8rs3HsvcWUq+o+lDDh7bdNEZu9h9TvpDBTilAs7bn8iA1mm61iEL2u8y91HG/23E
toqoBIunPPTvoC5QO8cfrCQzS4hY6Is4XdRQij8NawlVyeo7BGvuOuVNWr348ZeqfKXto1qbUrtS
ytJM3K2a2522CtY0bMBxUpkgdlX7OX2aiUsA0wJnhaYm9PYpjN9ouho1kgIlEznfDKdSMDmnlg9R
P7ZUZf667kDkbEs6uNmPKVqwX7o5LNrE5Xz1AYwTQeKhj6U0QNqjteSeJL+9/4sSddIsanVm50/0
F4BXAWKgY3MIgq6/PXJxwiQ+r8QKl9FZpI5Ccsg05xBvc8JD4xROuohXG903fWfYJGfXGWKkFSXT
dRI8YU/a+58yNngwuJl7YyoGvPoqxsnEecdBQQZfBXrLV8UlO8BmR/gsZ79yIOorg03tL8z8PONL
J9wNOHV4XQVduQK9CyZYSdRcBZ1w3J3TQcUW5c0UAucpUsoUbXvh6/3jN3HgJUFDNyyKciNZABOC
oQCrx1lLu7NWccFzg9cpkdXOndnNE+UDXRJ0cPSB8BIsImyvimJkvujqgOlrEKyBjoETu5bR+Rao
mvKGFNp5QHkVVXoXEW5iBRJAEa0Zt5op9ye1WJcluOsKbpn7tiA592fglv8T3G4adHCB+sMFBpDL
tdsNdU/oo0HrziG6oDqnSLaykpMH6v+I4MJAsRKMwnhLl5bLmZQuPJ7c/4CJp+n1B7BHPQkDOGRA
x5NnMHw57639anmfEXn4XaKysgSvK/VM8a3hSdJv8G/mcnATJx0sACNgepTiRc/39QSItMFjq8Bz
qgB2Hdkit7Ugr+kcBsIf1EO7DY7lKlwvZ0Y9cYVfWWV2XtUO4HMSAVzaVE4MxASJ9pRIUDJ6ekwW
PxXZts72SzMBa21X6253Nmc+YOp1fPUBzDnDXCA8lcfXMe4BwQGlT2N1H6IHiNbJuj/YqRlG4VsG
aQDa6UGKeT3DfcZzqtfziEDRf6agUNE9p8PTkCx7Y6Xpc4dt4kaV0GsHIDGUMLCnGc+tIlRIy04Y
zn5iSq/1RwQYBZJvR6JaXy8v+8ZGeyyoE39ORYSRzk3rnPXx5xe+XPM5qrcarFd0Bw5O+E0JjT/E
cAfSSyZFKANil2ip+ab45NP9nLD1BB4HzEzAUEOyRgNFLAtxiKNIjfKqB7RKc+jOF4ju/QIIsPHx
ko3dracchmbpQZaQt//fi3xlmB140Wrga+rwngqXorD2VCLqW01uSCaafjbzepsID9BJA60RgFLR
mW4wd5NB85rTCzwrKmnbfMrGb9E9GdrMiJSJq0gWx7SArimgDGHfaRQvRKEycDtI5LmHrKPyGn6r
v91WcMB2byoOJe+D01i8OWz1RfshQKlrAWjDYOYfuKXptrG3b2hzWNuL7db+6FeCLUO2afUymNu3
9fp3Tod14pjJsgYyfhHkDnBljCPV0oZvw0zsz3H+ALpKg1pGhE6bCoIzCJrvr/ZEWQhSIhfGmFNW
oKmV1wIY2+wO6kdsgW79TLTHavm1WNjoigaBJAfOdfGlnXXYE67zyjSz0xpDqgHBFPqzuKAIiwLy
6Wy+n3clusjiZ2Ox/uBWyowHm/KWVzaZDdeWeepWCmwmhD5r5DVc7YR9/hzOuI+px7oMBLamgnoE
KQJ2Y8dyVXJDg2nNkABLrcxU8eYApTS/wgO2RPzlOpWtvyYWPXAr7fitPIH24mlOzmeiFIbVvfgM
5k5s3NDt/RafAcJ4ATy++wqTK66HV1s+cOfmE72WHZr3wPm6OgnoJ1Rmtte4e5iHGCDo+F1FiwXo
Bpgllt0ywyzg5PXZTxnuS/3x/vb9A9PeGsDjQkR39i0CdQgHFFO7sjsDzvEOBUpr2MrP+hrYfRVw
ghiq9d6isKMVLSxtcT6hNGJYv6NIAMjVuGODBsYK6kHQqiRzp3h66P98GXMv4wlM+aSrunOg8eUm
8hR9r+jx6f74x/m7M/w/bPfFLVW1RiUJeQEjrvgmil79TFNEl+haSnf3LU0OB+1ugLqDhv0mt+r1
aFyoKSbaD/0T1dFrL81d+HMmRr94MRhJKZUmdOvu/Fz3ZgIBCCzpIXf+MEHbZIX2Q1Uy39Yn1Kjv
j23ytCoXg2PXSuy4Qfiz/Cqud84oKJotHoMFAneLWvabiP2x/DVWMaoqc5m1ySX8xzabLldTSW9o
3XTnRlWWLf/MG5+8Otj3Rzh1z14MUGMiN77iOvATYTN62U/lWlr3IgRO6CfWv2EGLScjtQg6CFn6
464EgU8jdd05zz1Trz49yWnyU4mn9307U48dxAv/GGK2SjJE4FER++6sC6WdpOjWVtyCYAdlJEXj
tg/gcBQgmRaKv1KomTmY95oG5SlXkR2qdStPlJ+NLpnZwaPVm9N48VXMNpIUgOENHks5oIj5JJZ6
5PhxAaBkBfyJ79PooW/kz4LTpRko4VSAoyioeqCHEH2byniyLk5OAmkQV+HQFV3m1UMrBjalD/3w
rKTihjfmMu4TsHhUd9BqIOIFjPZQNhHdpRxe/RR5WbcEWCaw1IKkBhDjpISI3vAtV2jtW8cvFZhc
QNfR/aqJOUhgPpzJZ07e5Ui3oBfgT1GRPTmK0hgQrgEKmP4m3qsryFYs2VmzC6UPTXbCDiI6UNUZ
jNeZzTem9dllHknMxqKaLqN+dz3bvi82EHn2eIA9eDNDmnjH7XOSHN0XfyaHMpVLBY0l8mYqJA6A
QWDClbTvGi8Vk+FsCS8CSE0+FzWK3SkpX+oZHzgRjOEGhRAPioQK4mTGkhSpQ+GmqGWEq6o2O6sE
Ag4azvHj3MsGxNG38wf0NDpeFbAwyEi0X89fHZVyFeUI+g0oluyMbnBVu6yQDHZAbyzoJKaV6Jt0
cOXOiUWN+6Sd7L72WddwC15PO5V448OQRD6OhJlJvgIa2Ublsp9O8qvoqU4hbIgeCV32CO8B/G5C
BjxKHzXVKwE6KijyEEGc5fFWr7RAtdVcNjI7S5C9/YZ6vcs7UJPjdCRY9SwwdVnhe6uQGz49dH6i
jJJj6Fi2x5bS1ElrIFmJCGFhzjYgCiERL+r7wOpaL1RX7dAaD1LSxNIh07Iu3sh9Jnq7wg8KzlJ9
zpUItLtzfjFkqKNsQKwghockrZTiVcu0Jjs2YVAYq64CWnJRlLGU42pXA2BEhzaWHaOLJWGT5X1f
rMVEdccaguiqO1HgKZpTWlcSnDQuvSf4QL87JX0QlztfUXzNLMD5DTU7hYJwNiuCEK88QwbpuaHK
QXWMkjYPnQGIsXqRZIZeWPKQ92jN6BOo3wUuF4GJR4z52lZcUfKXQqF3AWidKB+dMzlu0i9FSYBk
J/6ALNlnIuYitMwiN+P8PeoDcv6gJq0hL7UOxPwPGq199JT1hcQRsRJpZselFveY+qILBlNvkyx5
T8FYpdoBEgblV6WLXvEll3Xigb1qKLl0WWey0a49jlPCZzDa+KHtows2fsqiUIwoKUp00kHRIAnV
fdNoSnCG/IKHNjbUgNBEb0RdjnpP0RhIynterUHXu1RT4dHL2nqwYvwzrQhVavw1N9L0HBnQ8LXb
3Gu8TVkgMfIbe0IQt+uyiRV/z9W1qrzhl8kBj0i0tnmvpKqqIF+XGk/xEPc96SBmKNq0TuLMcikI
mW0RM40vMkKt21cFB83oug9FdeFlcRBua9HwoRMmym6kbJGg4YKNW7h8uuNiJMQWcCA6flF0mG+k
Qa45kjRN1tl9kKUQhM/ckiZmWWRKZOoU/cCgvyrTvnjyoG4ohVBOMdr0lOe5NmxTjUJwJBa7mDNl
Du1RSymNRMgta5gkgeRIVrQWvqXyVhX0VVOwdaepYNdcISUbmvEpJs9vKwVqqYhqBLS+VZHeETRL
GhxpyjahqyRpBXoEA0GsAd7b075fugFX8idF7wCZGQy10N+9VtPCzyErcmXh9ZxaovChBo3duLHR
m6IYNL4jqF4kYamkTt4PKliScDZquhb8XgVpRQ6B+kVcFnEKxhYqGF9cmkAQgfdqT7EG6L39GEjx
+A5ULD3/4Be5z+2FIhUiO048WtmcHnSZIwQinxek4bl4sDw0o+i/bZpyNuhahpcO1D4eVI/a7mfm
kpm40kGXjIovuNLQC8JyP8lDE+EWzoZzUEFjOzQ2TXjm+ZUWnFGjJIay69L3Rn+i0SfwOIT6wW/X
5Zbh/gQJeF6N35nPmbjz/sV8JYHBDQVv5nookiEF0GQsdXsOVxGI1gkLpJN1IiiWThf3rY2/GHPB
oqqO5B9qRhg92ySdGoLLgXeVP6eqnjgSpz8reuCkfB1aId8nzn1rE88OXHmQsULUAkYPhYmNpWIM
wBs0MfahQq20CjwbuJm3+0amSpKg00L5AIAYULX8gQ0vQjSpqvWQ99G+GHNoMMdzvM73Qo3pq5Cc
V56UAY0YFcHDq7JjD5QaRmFlum6ps/2pzEWPdBIY+C701JnQOaqz1pAo9NQlgSSDqSp4IweixX/V
38EcMoZZyBtbTEDMq0VRiKku7hCLh9vHNgey+v68MiE3a4GNAcvSG2Q1wGhyBC14pgHc/K0bYGsk
+Rz2bmbi2DeUEnixovmauFN3QYKgb4B4Sk8kz+yXyLbfHxYb+P1rXGPRFBlAZCxZBhQJSpFlpoTS
Lgldp/G3UmGBOtdxhwy+99sI9jpfWRJY8GbsjrnFi6N3Y3eM3S62qVq2qZHosItiwrBVUaOHCEWA
1hQdvwu78tC+zAF92b7lf9kEPA1FNZCg3dSIFb6NcyHypV3b28myVQnUbQ2z/MKVBe4AYWe8zZmc
XEoZ4hN4KoEPjqXyK4GkkuswknbIreox4WUrVUjw3T+F5y6cW8rRf9xMKV6FYHtF0CvecPUGpR7X
ECHd1b8gDlw2S24v7bvn6ClyAEe7v36TA/tfW+BRu16+tqkHpTVSTKVCABEQnlQEpE/ed2bpn/ct
MffTvxbtwhLjNTkPSjFaC0u6biqNA/LH35wibJjbkMxj4caOeD2iSC5UMRrtcITfBe96OIqTgLWz
MaNjvyzO5ae2ajWinu8Pb24imRx8WfCuPkiJtGsSMwxSm0o/CaRJQRjgb7kQcc7Lf2aPecH7ALPk
boxhgrEdmQw+d7SCRMfwsVhzx//MFHPE+cCIaRdiP3Kn6BG8TrYLJvinnidzPMdzczjeDhe+xOUa
XvCq7G9M+rPwAprjIECfieCZgjSz8W/vAWgTgAr7T/UB0RKz8f12iGKQLRu7rtLRV8KTOM5tMT/E
ANZyUKv36NzGvPWUoOlFEgBsBOPL/C87cTG6iIa5Dgivu1N8SA8XlU1dfZUK4EfsayvFuQOAJyoa
woURJIyPNbRsek6eo4+6PR7XX8Ecj5wLay8bEneniT99tMhS9KnORGNzJpijwIkg3+H62N3VsuiE
8QrvrFae69WaNIL8FYi/EYuBieB6rwiG0SO+bNxd6ZWkyY8V3dbGDELgdj8CjIbfwHQpIwHBOkdZ
6TlI7gz+Xo/WyqtwyCWbD79L4xCjY6YsZpKBTFgJx3VtjXGQfQaRO8CE/L0neYZZJ6lAuFIuzPuH
mUX3wIyO+rgKgQIQ6iMVdrPx/STMtSDcV0O6SrJTIKM8bGYxwbPKCvNnPMMJdDRsYyDFsGolAPG0
nIBp/RA2uR2qje32cwxy42Jd33jX38QMnYo5V0VIgOxD2VjT9CS1xsqLH5p0bvezVfK/0UNxFOQG
YM0G8ofZNnE9ksehkXivB5VFtZc8hVQ0gkzPt4wHnvh7MSDdj6HMuFCWM2e0CyFaQBNA0Qdk/c2b
YQgg75LV8b4GUyeKFTZKpqkVOt7CswWLs0tLtwDoIsUiQeUWYNmFCkWnyjkL3/pMGpRFnd18C+MC
BiOswBfSxPtYJI1/RD9YUKGhWGpIWm8a4VOIUjP9lpRFqGumDkWCviJcvAQIUOReKyjNvweJpdcb
jrNbSpTwJU5PiW8JYUi8Q0GtkB56hcTvUrGKkD7gX4xZ5djbswKNAUSAkMOEMPpNm0I4RL1ICzXe
0zj7BhswAqPudP+g3DqYaxPMnvRzkK1UsRbvPeAxs2bVqRayZvdtTG3Hq3EwSyFrjQdqThhB8wiU
noaK8KHdpUtpN9iGYtYVEXO7nwv65obGOGipCZRe7GEVIo4RvykDWxRnnllsrn3cZJBxGnmKARZA
0pZxM3zreYpbltmeK6hTakehOMlRbbYApqa9FSsrAwzKbRkt/HrG9G2geW2ZWTi37WppyKpsn+in
dykrbD02x+3bzimyTby5ri0xq1caoprmXp3t88jRBMvTbRoC/UBafVHtetL6MyHE5Mig/arraNEZ
Xcn1nZdLSRIaVYaRyW9chRSThvxn/oYcIQnEuQBpwieDTOMfY4yn5Ds5CYQkx+DqxgzDg1R/aNmi
AG/bzBkYZ4lx/jAExC+Em1C6YF2yFtKhiGqsl99SsxRWqr9G0K6hPYALd4J76tQjAFv+eAhnPOH0
AupIsohQlwV6hkltGENaCxlHs707rAqfsyCnw5MiQ6fqWeOPhbvtwpmLgK2FjecCyAZwSqO6CqEZ
Ni8GTtC81X013wcfg5MePzmzPcqQL7R1+H1xY9bL+KzNK4jchrvXZsetdRF88mWgIzms5fu+/pB/
kgbQLDdGfGGXHBqCl2pru19iuJD1XXvoI+Pc6GbXvWnQyFY9+/6Cs8XzmylgZr3qPCT0VSnfc0ve
lJzQic4iOLW7DdQyYrMKoakymCCqsQvQSbSkR1EGSqJ29iLP6grfRnjX0zL+/GJahj4HPDHHaoSr
AYyxQIEgx2WmSzSEvho7ug2Xv+iM5I66Lazuz8LkgqD4OjJ4o5+dZyYhFKnOa2ma77M8M3sFr9Pe
M6POCUUkhyBkCWqBf8OgOqrqgVAA3UCMwbavPB9p43xfKq8g1jf5dhe6noX6RpkBajSH7p1wH+C8
xlsHKuhIS7M9/FQbOLevxXyf9P4+ctMF51KS4W1cG3MR7XiVMA5EkeEQR5kF5GhuGkwlPhGCIqAj
LYxrRQskZ8jZO4gzgJapGO7SDhs5e6rkC0MIO40TP1VPA1j+BRIeOJtaDeTGORvB3A7VAct1OvOj
J97Jt/VlAiA/FCpPxmpOXWMiCML3GFBGVSRdA37hevPyahrCeSV0X+ShmWWh2ZYzUztlAQ8fCA/B
RUo3ynBiXoedIqV0XwaJsOk03bdDDWXX+zuTbQD9cwjAco6abKOSE6stY2R5IxS0ovt8JZojGDpa
8rZsK5uObD1TXQ52/Jib53ZEZMXmXG5vepD/WGcuuszgUPUXa1jXywLYkFw4in7Qz3i9v/oLu0sv
B8mslqy0SVEXGKS4Tp+412CJ5x1PQgvE8/JWdwIo6L7NvF8nRyaKmF8NOwRI/+sNUqQNBExRZN1H
Axijkg2qljNOha1S/GvpLkwwIYniKVSvoo7ujaW4Dr9A5Oa+qVZhl1vBdjcqlFnnGqcmb1BwOv7v
qJj1GkpBDrISo/JXypf0igl9Dq3iM90EK9SmjXX4qDu+PSoy3t+mU9EC0r+AcCD/q47Z5+vpDLww
KH0D519JMyKVJpJFrsVDgWuRejsBrwQ9pDMH8P+wCZ5pBR2rusCGfEoKzZ4I6ed9BTl00XaOMShV
13M0V9NzqiJKx/gMAxW066HFHXrypb6lIIlXF9EydjgbkZDvmuVWgrxJvZG+R8b+33BOkH7qBaTA
bf+P5b8JuLiBC1C2JcIAy8qhswoQKSmPQD0cBvPDsOqNNrOG43a8OoQyWA2hYgxdHkRgyP9dj1PJ
szovQaizR29QZhaaXy9ViHnbBV5i1v3twrK1QcH22hZz4fquYISpF9F90j0l4fdP/+5Dm9viqk1v
eESXDyVKJfmDCyqWiijVIXzH3/vPols3Z29V9k7siXPbaW78zDq3Re0JVMc3qdIrSIgFbeULJ85/
o4Nv8j6JVk20CMEMiJ7SfjG0pibM+Prbd+HVrCB5d70CkiF1mijhC6r211267m8CRTZ6GKTWKgcH
yt3Z8CzQOUr7cV2v1n3MuqAsig5ThCJAyTNWc74KGrWu98CG2Ln60AhrUUvNGArGlfd9f+Fv5hjq
aBquZRFOAnoMLOljoEk1papa7GkSv+aR56Q59C/q+vm+mdHNMUNCWR3kHtDyxWOQrfenndIqMcTf
92Xv2Zl0CtC02mYoic21XEyN59IQ42+jElOb1DAErNBTmOWmnhi7Qc5mpm1iPGjoGJNjI7cFJJmv
l0iTyxwQoADjyfc5xEt1/6zlTmbMlZgntgI2AuIMBLlIH7NeXAhk8C23fbHvn+WYyGZxpLJdG879
1ZmYtCsrzOHP/4u079qNXFmC/CICtFXka9G0kyip5fVCSBoNvS/ar9+gsLi3m81t4s5izpljBlCy
XFZWZmQE6Vo9V8fKpWJm1tF9aI/IGV+3cXmWNOxp0JkinShCEH6ugQRenwLohKh2JSKg7bctFXB9
SlVr4V1j5ZFGzLj2YrNo49I0ZL9kfS3EdsvjtSrw0pwSHDD0y0y/kZlbEdO26gpNKV2RtizR1I0Y
fsdqZno0RC/8WhL30rNi3LgywGuEZicAEGdbJcqiTk50v3LH4n30v/NSRo3bUmQU2lCDVrp8KxT3
SR4894VjfHTc33BQx0luIG41uTVRiyC0AdYTlEt3Rg9aguvrMmfPQy5j+j6kJ8EcjCLTfCvHVdxm
YqeXblMZW55lJvkOlElG40PaR7UZPxWUBcpWEPdJHDq6siv62zqgG92zB/W2ghJs8nL9k9RLZ4GO
CqRKQXwBcipdPj9cTTPGvNcpYtyhfC2N0OSxuhJsLux4KgOUhVqJYkAZbbYH0E0V9FlXcreQRksO
9z0awWKy4iQWNhp6pXWQZ0BMaTrD5+MIm5qWY1xzN4/30vi3NAwrigxTDkZGlWQlO7vgkc6Mzc5w
kvsSyUjFXa3STbm5C4rvtvgJycf1tZl+zMyRY01wLSkq6ju4oc7HhApL31ZB3riEfwlAs+kGWm98
CMvJt7L4rKEUc93e5XMLjwFwkCCNqKAigQ1xblDp/EJRSde4gb5ReIT6g59aWv3GucwUw613wIuF
1B6+8yfxEO/yJ5AUGPEeO9Ulh1rdXv+cy32jIvmGwBMqJxKwsdPWPQkAkzQZhEQNGzfN7jn50dOb
iOYrJ3LJBtKL0OFC7yBqebPtH6h5IoB3pXErYDpDCPXlyDO1/2veGUOY8h1YxKmbf96AWWQiqaOm
aNzR4XgfgDwQXI3gI117Ll/ul3M702BPJgzt5hrw0LCjD8ieibYebaJ0045QiFk50pdeY7KEM423
OWAovxvpxFKgdGqBYlHjNgoJTC71dzL4YFfWZmE4SGVLIsJlMJSBoft8OHXp+yMaB1o3s5zYRKqZ
qStp3mk/nx8wiG2cWJitfkNKIwKIuXUBcQElHyTndrrzsJYvn7ezw+tDo3liExDlSShw7gBDauRV
o0Stm6jpbfdEOkTwfGdUaFUMn9PgYWyKN7FPd0Pt7ROIf4L3sVedmqgmFO/9pwDwYPT/J7d5Zirl
Yx7mN2RMHPQ0Cd7x+pFbWFd8KUWAKkPz56K9VR8aCY+TsnU9vRZ2PGlDu62Hn+tG5i03/3c+/mtl
trBFVfVVMdStm463jQ/ZZTMJcD+rn8G9mvamdud36E418vtezF6KvyRwotH25WTFvywM9ldBCRIe
QAlIv2TLJ5u4zYlX6Fk9uIBGM6NtQOF/faBzkodpoLAAn4qIEnRic7xWmymdWKTtgIQE+tyVt/gY
PTUv/Q2/B23KhlgJaETDez2wgtGudzL7Q+zrXzCd+NkG10QEzYD9IgxEm9P5ERKCuIuFWh7cGvoS
JA1MKT8kNbeuW7m8DjFMtGWq6BjC1fsblZ1MJEnyNB97b3ClrN8SkEZo4KnIsld5LSF3CVHAhMoY
ywTrgPizOi3piaWOZ0TkdTW6gzla/U45FI8+2Id7s7Myezigw/jeN/9Gm/Hx+giX5vHU7vTnJ3bD
NGwyUShH9826X3t5T7t9vkanP3ua3ZOfrcoRl9FJMroGUzdf7YGD204zH2JnDXW6EB2fz94sRhoq
KoCOAZYG8yvdRFZ+q+/UXbYdN/VbbX3W22EjOMRFVhrak5Xl2fnKiVs4EAjL0WCLagPavuBgzsc6
6iPNyi6X3X7oYhP4fuYJr5EYMvVHE23IoKB4aVIPNNnHXH6paievAifOurvQA5c8kpQFGbdtfjMO
trymq3Z53QCDNekEojqBZ+bvm+pkHaoAxEuyLwH+D3i+mY9oAhtlEmyTvgAhi5oSRyBigzK8QjbX
d9eyZcTIYC8AHds8B0H1HBlaJC/dChiTDtiLTE+Z2G/8XV6/hVCgvm7u0u8B4KJAoA5YH8T+c6+k
UzESxihS3bAit5pQOCC6WYl4FiJJsGyISKchINc1TZltNWmgKWqKhurywC7uIw9V292oM32T/iRu
elO4ssBimXU3VWopqsMhHijdS05oSWa7mkm89E/nHzPbdZEH/c/Y01V3eBBBSkAOEqivEIWFZtjv
6marQy75aXyBXNvAt7JjNLvrE36ZRIWIE2BVqEKJU2/APN2e62U3gFNCdUtVAODTVKQH9NzQ7LmI
ZEaafRLcys0+1veaxOiom3riRNoXuKW6r+tfclmp+v0SXL3QcUG6ep41FrSSlmREAyX91hOgvpnK
j7F/J5jhvRbepeAiETZpeVse5H2wV93ogdxV++Q4/kieLTP5VaJbQK+MraKboAEaVy6Sy3gMjEua
jiK4gUsZ1J/n7iGuajkvInzdwL8b0F9y4yFV/v5VoR9dCniWv16fjcsaBWbj1N7svSOAOa4jKez1
7YbuuxvXgEzA86f7+GdlYMp00Z47eVgCnxDmHBD8C5SXnyaTGFOsucodxH51dGjc96PjH9Hqpjno
ek02nc66/gh8X5Uz/1C+GJIj37bv4wdtbwVnVG2ZOyN90Mg2E3qzgKx06QibUF0T1Li86s6/dBYy
8LjiLSWpBpBMy0gJTfhxr6lrYIfLSw9WkA0BtBtuAq2v5ystB1Lv07rTXG8w42pkhopXxDFEN1kf
VEwNmKqihSWOnbWI6LJFYFpzxLjg95KmluOZZQON3UMqtJoblt/aQZjEQ62stloQbQ5bHt4NAIU3
4nEMV4a8OK8ndmehizZ4UqPVXIPne6nCpwwrXvzT2ulTTw7Vp6BzljCoeCcMcT5qbhNyd6TxttX5
RtH6ldff5LwvNvOJmVn8jmJhQIy+11wt0TZalxCTDsV3haRsYrSpHSZNsXJlLdyQ00WFnDnWTkZi
+3y7SGnpQc1W1NykeI8rMP47dawd0arOOiHcBr1gX/cMSyOEOhNaNidOVsgXn9vLSUyV0Sea2/UZ
U/1XTe42kfeYoW2yr9KVwS3dxxPgFik4BM8QiT03loboTQVdq+aCZ5IwYQRrUZ5ldMUFLUR/ALX+
kn2jXIjX3exKDhpBQzuzrLoE5GKZDhbn+JgmL6qGnhzVJtgovW1AIM7uwPtPwU31FWdOaUw93GiZ
M5T3CGArDs7JJrVXEwqLAQPRJfDN4ZGMbprZJGhNODZyTFQ3i5I9L3UG0WZLwPqiQSMgMkPXsamB
b87zvNwcPyFegL7TiTReUZ58Y1torwZUvR8h4d02N0m4lhq7LNLDbaDxdaIqn/r75kiEahi50um4
wsF/yDTFlKHxW9VbzwJT5qdnARrdaMfwHkq21iA+12tdXIsb8sT8bHp6FQk7bHcEpz2aMnkATuow
Kkur9tFAhtkENsIYlJVTsLQxgTyH6BwFeAa46PONCQ5K2tEBl5Yn1/UGCa4IvJfQEVw5a9O3z90J
tLFw7+MVCVj9zJ3QQkFDcKcgVnxChG/bKjsa5s3RZ86HwZzvTchuRRO6zg51Bcu07Zv9q/3DPm8+
nx+bA7im/wRgqX8Eo9b7dvuw3b49/X14BG+gdbB89+2w98zDwxpkamk5Tj95dkkWetfyesBu5SM3
++iZDoeOlk4r3UmAa1yfn8Uo5dTY7MbyUn+s9UFVXQUQ+6LaA/Ao02c1c6QvoXRU1U6flb1+ExUH
D0Ts140v3Vqntme31qR3XUcZ1kZJ3lUkL7vKQhf7dRu/2p7XNsDMu/ueWBS8p6p7ANdi70yMPSBQ
Aw2TDKJTOuk52bHdM92Cwo6Pvv59fYPnMSTHrbUn8lIAqlNwmAGMj4zw/JTHaqMoSYx7xh8+8n7b
Tve0z/h4F9YHUXOqLF2Z36UjhpoIeK3g/REQzfZ+yfVSmDgT3NITmYYWqmClhvD7tphPLpK08F0S
Xhh4g5wfYiAKMsC4EuI60Dc0d08j+yGWyr6pTc0fz/q5D83SIsyOgOJ43NJd8vaSMihmHP+sNcIt
nfPTL5n5MH3oVXlsp7Fqh8H1lA4vsA8AIVa20+8iXRvx7KIDP0MwZBQjTtmwB3/nmwHdgK+aGay6
eftynna69fOrcWMZ5v139waRJlYwJJjBiud8TjResfNwyCGh+dKYa7RxSwcKhJcSxEdAJo1E6/ly
jGWgZ2HRgDsCjB3NsG+VbZ62K7tqcaZPjMxmQNB4BRmhmrg9fIUOhCWoUBowiuaf10/u4u49sTO7
IGqKbDHnGEzj9xDfojUaRcp4WImPlqcMve7TRYSOgekrThIzYqVnxtj2xAWPEB4KN+2wlcDvcX0o
SxGmgSUB7poiL6LK50ZADNL6QZYRd9ABmXxBT0LxTHt0iiI5kX9dt7W4PCe2Zg5dFsEdVUUpcX3j
MH6LkVWUlSnVa0HzkjMDYetvyRm3968GxMm8SW3TVSQoiVuAzDtSdnUtmkNQWn3/gGCqRzHRMI7X
R7ZwL2Kd8LzFNW4AfzDb3TpYmf0iUYhraMNw0KWgtHkobcaC3NbIEoGJJ1yxuLAFIRYLfWwVlAgT
nvh83YxBhSCHAKeiVOA1ipDhaeun64NaWK4zE7MsAQ1zGYQR8CdSrDIFsF4VaZPRSdM1zZiFjU7R
b4BHgDj9bcw2ejKGPo8lGCrLP0CGBOiWH/qVXsI1G9Ofn2yKkYvUpxVs8PgDY2noVupX4NCL84Vk
pqoh0aEheDs3YZChTfiA7d0nJAO/x/BECJ74qgCOrxhtHNdXZ2nLodkLwD0NfBh4Opxbk/0shWx4
R1xBzgO7DXJwVo96zLw6QOtUGgabJg9WDvCv/vnsikGamFLQxqFXEst1brQpvKCRUhFDBEH0LQVX
80u0eamsDtKPJYQ0SvPOZxCe3Bzv79/vdevIBmjG3UjQjDM7JoMBsGNrscviRJx802wiUgGgQnA9
YPcY/ImHvW7GegNpBhRiIKjMWq1Q2fWpX9pLp7Mgn89CVIEFBd1wBGpRj0p1jORdEq5UaBdNwJ2A
CgjnAmt8bqLL+hSMQhJx1fGu8x9HtFF1+sr5XnIhAJj9x8bMaRk+iNRDrsJPjt13L/FvIa/t6zNF
pqm42DAnNmZngiti1SCTj5aK/bB/qW28qU2OvYPXNH7FrHqDPlSzf1NY5SAIfvrJTWHaWKByZWhe
yM3jz+6I47MjaAgKTWjTQG7SC1iPf51ISUFVhRjmtTUhjSSyrWY9/Mv2IgoSIqCfABhlfqrbWh36
IadYbM1XHdlPQCeV5m/FQHZyI6d3BD1T1sqsLUwacqYQfwLwDyRos0lDnB5LHU2oq9HnIdnhBZRD
sUvO4/89wEC7P53U1dHXD5Lz802WDs3QVVJIEcaghUHMlNxKWlTfu1rvVo7M0iH9rykUS89NJZlW
lZomYD/X1WOkti9qL7/SUOIMdOiaGUBL1rk+iXNVIxShpxYQIGmA8PrNeZ6b9BMdNsOUum8cgsEV
HlQvSOdYiRnhnYVuLzO5qxn4tBxu6XZnvsk2tLFJtUUx4PqXLJ1lBFfQWUfW97KxKdO0sk/UirqG
sBfIgyj+GIh9rttYnF/AUghauBHJzaUiBBprQ+vn1C2DMTJRA7uHnjxSMxpyysr9GG2um1scElR+
UPOetKnm/NoALo1y6HHqgg6OaehHy/VPPj5fNyIvXaiomiJPjkYYAAhnnp0OgSqEQ0PdCqo+QXfo
wJqFe3v42/N7MWGt7hg6miPF+5IgQ6duwNiXeIdsrFm2DYVj38YMdQ7WCz4bvO7WD0CeBFGv5l5c
gx5fdiVMmw2HCLBTAP7QNXa+2bqeV3XFB+p6QQqouOIE/NDhoefvZG5pkknQnmHWsvEP60CxCOrU
64V648yFV52ig7VDoa7UQYGaUv4ggKFt4yHZuFLZ/K1MzD35qalpB54EUFWHPgEhgqnGbJ0evzQU
ywfw+SNdgRYloMiO2a6HDLSBSOAOYUDPYtMH8fuI3sWE3fubH99mNyFmgQWGGewfHhrT+IcojwL2
AUQnsEfi/NpEAj3TEjCIuOFInhAEPZGKlqbXy+LKefsNry6mA8E+ZFmAHoVE4Pl0BBBmA5WjAR+N
myrZxay1JGewa3aHMtZWsu5C9tOy74Td5LsCJG8giUDVV7Lh6xgGfv2k/L4vrn3N7GUlTZTVhY+v
ScjA1MYywPX5R+g2Gt942YGkbhTUpkKQszPQnwNhJcDvIb9S74bcVjsZLLO9A5IlqCwBli0cDGUH
3LJVkMNQb5XooEd4Tscm5zEIgt+kYJ/2IWviu7pxagHUwHj9mkRnohtC1UxNa6sjEHvwd1oxmKRd
Gyxm9tpYp7DmZCMKERjBx57CK7RoNgRRL1o3r0/nkt9BqRj16ulNh/zsuYU6jguccV93aX/PR3B2
hk+6AgbEZuWKWsrYoGkLpO4TeAgAjNmZQtHCD4MMy1bh3OTsDZxMFkVshJocw60EWgwDvX/ExGY6
QrDC/vnW2fe3ysivogK3TfF7Cn8GptsPsYVMBLMic62AspAhgBYMVDQmtR6ikNlLsy1lTpUg0l3F
/xSHz6yvwWj2WWafhlbaqp6u3JaXZBxwpaf2ZlFJVPalwgvYo/qX6N96ilNCMK/uXBrg1i5KJpZm
2jE1sYxDGHWm0TtetgsQFJLhgcsxeGh6M5FsZVCwASEKD9Q9sqbpY11aifQ+SOYIrcFUYEV5TNoX
vX2MPaaN8TYW1jorFq+Fad6mJg5gQuZQzr7pcr/UUt1Ndnr/7oFTL0CxaaduW4inq26/UmtdSpnT
U3tzr0RjYgQl7LWgSh3z9FUzXsUmMMmdlpu+8VDo8NQgRxhDm8QPoC/0tHEl0psLJvzGXaffMPdF
AYgKpm4Et/fuxMD0skfQjLMQOjOSZRgbdH/I6gMiGFOhzpiC6LS3qfgphtWxCqDr5DFptWt32jJz
l4G6LaiRUC4CEHl2TXIxEKswxpbqsP6uUiIDlH8XhUnIPvG3ZbTiPxbaUKY6O0qoiN4hgyjPtnAJ
iQwh9wvdhRqEUtvavQbsmev376XJ05qN4P/Id9d91lIh8dTmvAaOLHvhET/HtAMBDQofJzD7rWCD
vIfd6+w1g58AHZoFgUsXjdhWulIbv2xbxLE9GfM8HzGQsg7qyb7WO7wmh7bogbxsoZZnkXoTDLXJ
6zsQ5abZQZWtOl9rDJ185eUa/2fOf5EoJ9dC0/sR1zrYL41irwhvumJScScq6J8MgpU9vrifEPlC
Igz1QVQXzi+ISA20QfcqHOtBYmCPMo3aShCRRvQgkHtZKc14rVi07EpObM6uPRBXg2YVwF1XUWx1
01HoVWNyUQgG8oER/lo8S97f63tqKcpH7R3PQzAKoS9iNkxdi0owx3a6G2qixbM3EWicPH66bmRx
3ZCrBVcx2CsBcjify6FqJDWvdOpGUWqG8tbrEot6NldrU1gT1vx9OV9sEuwRMKYjQ4dX77kxIrTA
q9dwBOj+tqJdtBMhi44DyXymokrksycD93AAFihU4UZLYF+ogm3JzX1+01nvE0bKY+nu5rljfxIz
QygHchRUUWTn+c/1WVncYXjLIfGAibl4LwcCkeusgyPXgszVPezgIT7EjYVXiBMP/UdclaBwf7tu
dOmmhywJUMaAgwKRMQtHRClvUA+HUb1WWBYjGrlJN40B6rUcMYm08rxb3F0n1mZrUfIqjkoNG5rA
JRbylyr/GfBauz6kxTck4gm0N0LNFPt4tocHI40zWQjg+oWXtKlZQr7aetd0T77/lvBtwlkDYJ8Y
4ja6jTI3lba9RkH+kQML8hUZt8NEFNCAhmoo7EopXrnPN1W4KfRN0W2vf+vCSUCEANYfsI2DA+U3
+XriwWJVGYMO9PCuXw9gzn9XvSM6B1nc3VfRGuHVQi8C4HiAkwOch9KSMX8pxQYdciOZXBgCfcQl
5TYINiPdDpXKIki9ZpSNPLZiJOla1o/4nzIogZ+0buX4L/q1CRsIzjIJSba5XrAvjbwshFZ3Jd8O
NDvPN+mxqUwNiYUA0GjpWK9dz0vb/NTiLBqgqepHUTC5tRBvdX8U3v0stnOPo8fru4q7tw4hyfWl
XTM5O1mNlzdRMsDkEMf2qCKu5099cpejS9lPOlsVtJVOvTWD05+f7KUUwxvrtp8M7r19Woc3sfen
9I8Qa7CysN1eH96St5okEuFYcSdeVCq1RlbqChkcN4VQiVAdJH3bCYwAxQgCXf2tEVYCrMXcHjqw
Jxa1qWnvNw4+GV5XdRnQE8CpyYDI6PseryZ/W9wrDpgD2Ydql4zsp5qExJ5ikCe17Kk2R4qnr50l
K0s77ZbZlaIjRWVg2OhvBWHL+UxLfjtAcBz5YWxkm/pfclFvOdVZ3q1xMy35h1NLszVNhCIB1wYs
Jd4HFys2vYUkvbGSGNkxYWVJF4elQqcV3Xu4/Ocz7LeBD1XjgLooPiGCihxVhkwLyU1JXMsN/wKd
Lqbwt0UD+BOUNKeb4mQ146Id/bIM6YQ+CaMdGgFGuiP592i1wnvc23FQWPEzFBn41yDdhPVgggcC
cJhmp/RPA9nI8VpFcskrQU8R0DfkkuCU59isMjaqTEiRPE47aO2Oz5V0VHU7IB+FkO5ofq/4+Yui
vF4/RosLfGJ09nqLUVsgfQajLXyu0P8AuWjx/KdBnwjqlys34xRXXUw6LkQUXHHjI3N8PumioJAs
hLKGK4apbCYJEIRCUq5xfixuoxMrs9PRjGEitmOBhJy0H1JU4lANatEF30HLe1gDTCy9u8ALg3tt
kt8E0nN22XcKyABxdSMN9sZF62uEircH0p3oRj/6L8kKwmhxaJg6nBG88KEJcD6Bo1RGSRbVSOtH
7zqHE1e/6vpVFtZALUsLRRCRATgz9UJfBMg0TJQ2Hajb60/h6Op8JdRc2nUTwvY3Hobi/GwcFW09
ju4I6oKLmWnlew8SCCN7KSH902mf13f45KLmmw59NtN0oRXnoiW+VLooitDmho5Qe5QrlsuPyYga
zEON9PWaZ15KrwE6+h9rZFZ0Qj0kkYGfpm5W6zslvxVzMEtF75Wwk7LPAKRanllp8GxBcoiSwCoq
CRw/475PKhuC7GyMX/saevH1Tg9eaJ8yz7jzuocgh4CKKYDtvkeSOzzEUEsRd1Mb8FjvwTuxA9e5
3uLgHtEiDHYQlgnoHMluQGLdDExIj9QPmTxY12d24Qo+G+ssZwnqZy8E+QV1azk4dnyjE8EEJB6d
VAe0/HQ7Lq2VnJb2JaQ50eeJ1CX8yGx2O0SPkLzCWqY0MqNMvNWFYnd9UEtHDMINaJjDqUYiZRr0
ycVgeE0zgKaSunGuqqxNZMOkCogAxBQZpcL36cqlp0wO4mJ/Gii8QmkARJ9zNBQVgzhtuEfd2zeN
WcC6AIr5MmX43z5uvyLrC6rc7A2/+wwlaXPK66v4tSGJ2T5fH/pCyycCdPRM4TGGwjN4vc/HHgQd
us1lfIra20rDUmql5BAHW9LsxHHX9rHZubwG0/deBNhtDPBucRC7gyWRr9F3LIHAzx4Ls28x9FDx
Jb3UXaHcEh5uhdImeJwMxxzsrsYG+Y4s+uspZoX31Q/IRIa1SvVSdunsC2b3SCn1EOoa8FwJko+c
OnXd7NoQfHGaQzXWdg9T78f4UyQxS/Ndv4bGWHpFohNfR38k0ofYkLMIRW+SVshbroMMG/3Mlew0
6fioAnfDk8dIuZO9WyjE+9E3T/9qylPU7YbvESzsGqqN0bsYDmZfMEmpWSVDKhaBoST/4e/pY7+m
07z0rEPtCyVvlKZEArDl+a5pVAF6WmWtu57xhnesn3pWi1ZDPatutSE1dTVmRnRIuRncK0ZmFt52
GC30z1jS2pwtuAcDHAMUNWKETygcnH9J60tpWHQSHt4jqEiyfbKm97B028MCfjLIEAwwAM92ZeAr
eUFqiMJyfdNAlXYr8AdJu534ZMqHgqisrA/hGgPEtNIzD3FmdLYRuyasSy9TddfInjTjayp0ccVZ
OfsLbsiYkmEgsoKaElCZ53OHXdIWei4gEyBGACmnYJ5XU7UEOiF/zuCezDboI6cH6Bg13z7agqax
uhWjRn8gVCBMKox/yK7CGQG+iwWl4MCYvT1qucxSiWM1uXArlRvvXtAOCVL46fH60BcCBOQBAWmk
yAaAzmg2vTUvI7WMMb0xkkIi4n45PjT1FiULH9FcsJZ9WFrNU3OzYQ1SPng11KtAfn/L5c8ivNVA
x/3/N6TZkTSEuGjGAUOKGmT/IfhVOFKlMLm06U30D/E2GsyxTJIy8SyJs52jyzyJGzU33BTtxLH0
pDQoEApvjby2IZb6Cc8szVyiCnqrPM4ysOPIxWuCHqABSqaVuqk9h3b1ITcYLT/rBk85i6+Blhfd
HJSHKNwxMjnAyJ0fEClXaqMJS8OVN+q4ieP7BOIBXmMq8l0sGajs7bTmyI19oTwJYPSNnhU0Wq/p
fU7+Ze4KJgeHvLUsgkx0trDqoCphrdWG26Knn4PQY9RQJq98s9ZXsjkLITqABgB7aoiaweg7s5Tl
csijUTDQkJRZmn8zpA3j0U4KH/Tu5fpuXToR/zV1wUaYQQmhN1rfc1NxX3sgKEDLOIAB140sBDfw
azKyjujXRG/4HFSXe2E0CBE2T5g8lpqVJabWvEk1HgThrd/tEiARwl2XflABkJ3SNsCL2GyAf+PC
lq5ARi5XESkOCVEW/oGLZJ7oSAC04y3BiUkK8T2XyjeAXKBGQzsnUeq1R/dCXgEd3uj/RbJz0hn+
TWydRLRiKQFx2UlYSUkzwS5VVFPSVUOIroeFOSSOyNTCvj7bl0sKm2i1wQsS+sbyL0bzxGYXI9ff
88hzOSJDnzsNpGG7FXjQ8sBOjMyu+5rLgxjqgefWyd8oOhpOljEQZhLIGX8Limhl49q7+PKqgJYC
VG3AHIGihT6fSjTSD6KHEoobKIDgeu95SNzKVzdt8CfJboBL+d9ncVo10D8BTnhBwdKqRQDSh8hw
RfRpDuO+3IlltFZEnd5M5y4FYzoxMnOqtQIWhEoJDFfVGltSbnKoNFADrV/yJoseeuOVeH8GoVg5
8wuRFMziviBQSEYyc14kyXAf1/GIM9Blbi5Hew+ibtDEYNWumWBC1OmCdlP5obWKQV54Wpybnl1Y
RppzQxcqw61Qxuzj54ceenXb3oIilBdtMkv/Y3AQB7QOzW1Be7q+pv+PgSONDGAAxj33Q1SFCEAS
TPMtZQ3Lup8IiKZbRd5mI26zEclOU/H953pUV3bTAjECslQSIKEqmAFxU8+yLkQreBVmuDwgH3N8
AkERsM7f1CRQvRHMHhVJiNzZPvsYGf4TKexNdbSGg2EBawW1REDcnetTsXSaTr9ndn6jMlWgk43v
Ic9aB/pP35SJ3SL5Kcnv6iofzjS6+T5XwVgNjnoAMhDnnt/ffgj4GdE5DpMOnYUQD6JQ25TiW+cZ
TlUFkC12PBXOStLNykM9Crq8yi3tRzzvtNqEOLTY/BErhybIHYHust7QNdqCad9dfiEokdGXC1EK
cbo2TpymLimxT4LRcKGEfR8IAaSNK/94fc4vr3XsAQXeF1z9gAbPFSpzKeF1N+AyMEAtXYPpI+qP
dQ4pWrxtV4mOFxcYlcWpRoNuSDoLmdDwn+tQoMFBqxUzlnZ4EfoA1Op6zmo5YxH6uRXhTow3odAz
Qe5NnWzyYkTLVGzXOmWq/uRDdPn6DCxcvug6UwzQIqEZFDDW81lWkypQaejhOgTMTTt4SKxJUL6o
+cpxW7Mze1Y0clWPpYgASmjU2zrMtmgT3Kt4ukUrfRtrhmYPirAKQD9bwdDQ25rBeLoJAnMNa7O4
N09mbRYOhlKeFkaNu5a08acexMD4QJ/l+sosXugnS6PN0nsqniwgycdIRs/0gLJTNz72zfM3jSy/
uR+oc93eAk0DDoOOJgT8AyHhHD+k0UhMpCH13JgJjyKAj8FTb03gjCdQoHNk2eiGgCHshu7dFkQ1
160vnUQw1k1dTSrYUX7BVSenPVF7dcLpeS7VApYh9kPXqJK9ijWwyu1Km9hSOHZqa+Zp0T8vCW2a
IRzrNlT9KNOHUlsxsXTWJ/47ingPeII5cD6svcRDJcRzIVlPQQUcSazpD56yk5Q9WVu5abfNPSWa
VWAJlReIdc92IykzNEONNWBlqXiD4MRE54olBMIPQSK80uUbufuuupUX0YrROUUsh6R3QYbCc5sh
A2oZaVHjUIl4+YEdm48JOqApMOZysBZ0LtqF8CHyw6AzRz/QucPycCTyuKo8AIjUPS9wwNk4mJ5k
1Xtt7X25uFFObM0uyUbNijQSMbF+9reIn3T1Tyn8S8CJ+u5/xjNzwKlX+4IaYTwaAax3L+8qG9pL
/fARxbcgn8x9bcXjL+QN8Ow7sThzxYrCQQsqwyLx+ruW36rAtoi6j2rKrZ8fC+SUQbFLpJu+S51K
DrbXD/pCInkyDwYw8IBPcJPZbs1TUoxDCvM6KlFMIvaQfhXSp+I/GMWjlG4NrjBRYUm8jwfFyv7h
xj+x/ut0T/zMOE4okIJ7QCNJrATISOvplnZWCg1gsnLnLd0SYNvHXyCrQJw126pRpWax5OPZh9IW
FAyCzfWZXDwJ6IFHByEk5oFZOj8JAxyB1mhwYyGiOZPy2upDjZp5623a1u7feG5C5mnF6ELiB8s3
/Wi0eGBK5gFD3ZWGXqQSdk/IzRxcosBHCdt+tBKIRqnlG9edIjBD/yNEZ5kT5WZZvjbSqmTo4tye
fMZsE4uoMcekw2fEjQINJ9aQx7GwfXtwtE1vgenOA/YEVH8lZkVY2UNLzp2isw3JClWfIrnzia/1
0O/zEM59iLY8foe2FTDGrEgqVktmrq0xdSyemF8VIjrFwsj5nduLAgp2eRELDeiG2ZP0uVV3pWGq
HjHz7Ibz0BTB0luJsV2gFiOCWLP5h+tsanKX0X4J0uU5tDkrhkgURjh7NE2aUuQYxQatKV5pyfKN
XqzcLEte99TYLE7W5bbpNGkyNj5PHVzVLWTC/sUJnhqRz+dUT8bBTwW4doQbXlVZsfyRKCDjll5D
LzWlzt+maDBmTTc6RWZlfbJ2jqZFm1/a2DyYTxGyLODePP8Ar1HqJEip50bIXSaqCQCOhR4IoJaQ
cEsPvHWa5EsvbrMQMkahQ4WX/917nNif39/gEkWnZEI8iGHaSY3HZp8cS3MQnUJrH0U8/sPVXoyl
Mwt4A44OsFrAbM8WdhCjSGhlA+emI5s0djX5e6xeK+//cPZdu3EDy7Zf1ABzeGWYJA1HWZZeCNuS
m6mZ89ef1br3njvTQwyx94MNwwJU7FRdXbVqrTupyLahNsB1mR7k9uT2T0UTH9ScR8NezVxzK+LE
I8ZF6ABqCmQAhAtXaaW2BOc1gdtEJ8j0HHV7qwLpGEgHaQtqybF3TPAFVGoSFIX8fHvWF3ozeE0A
hDgQWwTRjyHcCYo1VA18OgmSe662OG7ApY10CxYAehhBurX2sU+Yrwyb3K12a++WpTeFhVADCWy0
I+DdKyxB1A1NnSoa4dveyFIvijdMe+r99GSjgc4PlYeV8S7k02AQ5LLoBrQhvCf4yjE0WZZmCgka
U3LbiviAuHQTFOkbxwq3ZvlPsgdXXT1dC4t8YVZ4BcpM1kqsHgmK7HmUH5QOpMamBWSkA5aLDWgs
Ebc2Xh2tMccvTzCAa8APy+AhEZPZchRH6lx2uPPBqCvHDvqk2Oy3FtDjTnvXaWBdXWPx4xtW2NCQ
EILoCuBJXHpEcGUxjtpo1TA5EXCXQxsrgq4H1e/APrG/vZoLF5+FmA1kCCCTN8DWfumz2qIbjITg
0u0La28hS2HFd4xZO8uIXVl9N8Eketvg4nHh1DjgJkHDgCpWPctkbKpJU+CmCcogKCyBfg4NSqOx
jy2GNrJH6K27EGvw5QI8eCYonIFr05DBQVTtJcqvnD4r9FVdiwCWYmiQeHJCXSDbOYHc5UxEVI8V
NU9I0GdQqiK+nuPPfaLCceHNJ+dOM3Vb2mwVNvhVsQYH4YdGXPFz68I66DKlXdNFJDDDmTlNA3iR
HhilU/U6iNLWoJiLqw4GCQ31EqDVxSp/nNUKhGNKWIMUaJRgW7NuN6kxwgx0KGQldJHk1Tz8wl2B
FjYQB6CywBNmwtMrbzvSYT0J8B5Q0FOUzstPdrspwlMelg7aJEBli7xZBAbV4k6pTjm7K8aVK3Jx
4AYnxzTQAAJFq8tFVtMh60ick2A0tlbVbswq9kyUjHGaa/ULYl0ru30h8AERB2QtQcUJkR5NCAka
A/zfIzI+0G42JM8uUcCJiZx7vVmsEags+ikZkwuxcpxjpJkux9aOUkhT2sAWchUu9vKORNK47wG/
8qysOFIbPftpVuiHoYgmN5KNtYt4cXZR68DTBQVcFMguv4BMUTZ1kUSCEDvXzpA1iFCyuuvAGJO0
H1H2vuJKlm4iWJOhNITuVpQ9L+3N9jCNIcNqNuwuTFKv+acZrt7qJyg+mHrq4PktrVUblw7quU1h
RVPQR3WqDJusdoy5dEq/Qy9H9id0bw9uaS4hFc0JrFEw1sSxDXXft0S3SVAb4UdeFZsyA2UmqI+y
TzRvaC1dKdku2UMxHJV3vD1x2QlPzyKVlY6lWLvOdJM23pJTs5U7xZWql5Htbo9tyROc2xL2SRrH
UljwfTKMsxN3QNyvudOlC/TcgnDOq7w187acSPAWtYpvuE1MfAKw6O1x8LUWnTbAErgtkOBEpk44
cUZttDKzEXoZlXEcrR0dX6xwX1bgn5crXCB+9Hjb4OKwgELj/O8osP1ALc9SHbpWJA0HLQT5DEkq
YrttCCEYVdpKa/I/S44LBXW0XiDNoUIB7fJoVZ1cKjlDkFfqb4Nxn5u/orVOyMUb99yGcJSqDLux
RuI2CMFfHfrN22ztzNTFFOaO6cXqt/1trZXkVsZlCtt8tNosnHvYtJV/WffPsk9l/3F7kRYd8dm4
RDdoqASJFAPbW4UPkrI7GQTIaiCFO+SL62/6PtdrzKpLBwotswAOA0+GnlIhJLeroY07S6InMxsk
b1b1yZnzfI0RY6mujPgXmHYdCQNoxQo3OItDhdZlCXCOVzmRiwoj6MlMv/Q/XkvwXEq7NYtL+/3c
IP/52X6vmrAMZRWQliq3wc/s9/afvpbB7m6vHKzFoYHvBbhgZN2BCRJm0Cqj1rJiA6Vau/NSdFnF
8+/qgK6HfACIvjyk9TGyNzMumUlGBj68N5IPNj+t7Jyly+X8K4RTpxeRPZPIBASLfXegaTi0v2r7
Fc8PYN5HB3ToEnRDvLEIxtgNlXt8Cenu53QN8bo07ZwEESo/hgKAonAwMwm84oMyhgFYhJwyBQw0
OVaz7fRpu+JBlxJhSEL9rynx2jHobLHMmgFxgb6oBSoy4BIOuZHs0MZ6Guwe6ainNAeTuCUfde2p
7lYwNksnBwIRnOuH6zaJj9kmKRs9z/H+aaTjRCJQSax4g4UlxcHkKDOOMcMFe7mFe8MsTGvO6amx
QTcWUzgE3HnpZ1ThSdesBoELS2fjGYdmV3DAI7AXzGWl3NBOzaIT+6cd0Gx9AknGgfnpcXxCM0X4
TEFYm6AzeHN75/IdcXETQuKU62wAOCSBKkusANApS9SqN6MT6OBH1eOoA62BHoijx/eluamGlWhl
xd6PCz53DNOcD20Be3KcQ8ryM1Iyh0wnu3mDAqJX54c6ebg9wqt15CKuSO5hfLYOuLpwNDu5pcUQ
avTUN5lf5dquHrZZ+ljZ2mtIvNu2rhaR2wJuCKgozgYmdiexqvy/toDCAlRmW4F2rDXJdhUzsmZI
cOjWyDqapBY9deFDNajguYRSMVOcao2QYNEQnlvYkByHLBJHW8hQ1Xgx0NPYq16CHiFLe0hme18o
f25P3bVD4XOHI6DhfoLMn84P/NnOyBIJ1LtDFJ1A0FQPkJ1MJg9JDk9jxWFU47ssA7YNXARo5cEe
kYrP1bEu7c3zLxAmlbMAFN2YRifgL8Yw3ZP+0BgQA9SYlzbQHsyYJ9Pv28Neml+uOinjiYnqhVg4
MtWyyVSbRScJj0uwSmgDyKPC/Wptc9mOCXJ9APZwFvjPz2a3b9B0rY9ldNKynUS/OfEKyCui/5j6
F4uI5/n/mhG8WFKhVdZoYaank1/GUNNLwYyWNm5TgYdlbXNeB2zcHIcbA6qAVLZ43soKmtB4hcFc
O7kyfNhHEg9OGAXU6n39dSK/0kReOePXMDluFCp6eDvgCXuFIM2nqWqzCZ4abGFbshsek/toHzWB
ujXWSmvcN4ne2TIspOi5MAgy5JerVpVtP0byEIFtGE0q9xQH4RjGr0TZRmsb0eZvnitbfG+A44RD
coWlo0S3+qnto9Pdr0/TafzTSXZOtvO12Zz2G/R+nTYn58l/ggSD8/SUeJvvFxAduggnvZdv/+Hl
8yF4/wYloXMPRp1D4H4E/sPsBpH/9e/xzd4/3k3uznQ65wD+24/d8+MXWOYf3edH1z+sLNCSw+d5
lP83EMHhZwUa/0w+EBpoD61T7zRnXkuY8Im/NVnclZwdp1SdY7UvRtigCWIfozMQ6NG1oOAniLo2
g6sZcTsA4mILLygSjToFHelJ1hPHKH73WuxEKdB301+oQ89a7Cps3Palj7xcNezauXbBIOpK6Utt
POUQ4BlIgYYw1QPma3vbcXFneOvThK2JFhjgrUgNx3WAdNLvFSjG4vyCuxPPZQ2eUUz3GWTM4kSe
o1MKwr40Q3f/SsS+ZABtqxCV5QEebuzLBeyGVOuHwsbJynS49gquKprqyrs9SQtel0t+IhKA6A5i
VOHRahQp4O2hhaDuyXnQXWUlCF/aHxe/X8zHhDHyeS3//eg6nSMGmn/ZN9sTCgaOufsuzRdL9oz4
jbAMVN/OqHnl5KTlXpL/RVmGqOG/gIqiYnY+ZOVyYvu20ytrwsT2PdNOVqnLezUcVrrNlxw/ahCo
RGB84AiwBStRn/cxily4qtMIzUOgCNxBPDZRHyGQnTp4da11019DlPm4ziwKKaPBVM1MDmFx/gs4
svNieS9/Tg+pm7qN+4ugBxbPPKc9vN9/+KPrf1nuwfm9U8eVU3fdeyl8hnDsQGTSppEaRic1vZcs
aFWgBXNGIpPXm6rMADb8qE2Jl5mdY3bWnaxG2xFSFvIdsb5auXD16U+pfET0ZRjRqLntE6/TQdUV
xS68BDzQSvC9cIFdzJpwzBI2DD01CDZoBe5ByUsAJezA1mFn70VWoYe88G+fuAXnf2FQiHNSRhuJ
aZgflPgeIjv0GunODiOPFCtbcCFYhCHokaPiBGYMkdVOHRoljroUUnHSR9UDkpl7qgw+ucZjKqTQ
9A99/nV7aD/1SsHl8ogDnTl48qL1SfAmmlHnSV1k8Umtf8kWPLvcQg87UrYKAVF4aO9BT+bbZNwb
8atGiNu1D7MCYNCwxs204DzR5iWj0YsXhQA8ujzjTVxLTUEx9tGUI9BITqCMZOV/zPDCt/qZFWHv
tLk05S2krU598qltE33bRW9t7oMy+/a8Lq0kqCRgDX0soK0R4oW4w5uk7abk1M7o8goKegj7HMSZ
/Z+cRY6NflMX757bNpfOxblNIX4IjTAmjMCmjfgRTa++5tPuWES6C1GG/9wUELbozYMgIFqh+Yk5
C1WMaorxQiySk9y6Pdcc94HUrLSHsD2S1bTQopvUFeQxwKKFqqwhDKzvexlEBS2sMcknkHDsE14b
HF5IuQ2pfIx7aK9CSdd4JNGmAsaiRmeUHb+MCaZ8GIKq/x6I+pf90e6bxq3H31D4reL3DoXGEcFP
0uwjY2eC96bdJ8pnoq3R7yz5D4AEMV+IuvF0EPxHbMzdTJIqOcVzu0UhDEA2g90zGVyVaxX8pVME
Sh0ZWw599EAeXS5M2MZpRuwsOSnxFxLMyVqafmlfGyjZAiH4kyYTfn9TxZNup1gKG4Ep6ed9Mh+r
7B7aQw4wiUMLCYr2P9aexClCOgnN9qhPI+AR7uXEbMDuBXmnU26gZUjtnSQ5IDG6cnoWZ+7MinAX
a3gRoSY0YOaMxHZYa30hU78m9rc4fWdGBCeHScsN2e6Sk1T8G9lRtz05f5OsXWSkjlV8JGvd10ux
IqiPf+AcgP3/vM/Ozqk8qBPCOUydTL0ovc+kxDE1MB/la5y0S1v83JAwsHbUGwhNwpBiPkt648sm
7v9TbDabXPNu+55FUyhDIW7iKVQRq4gu4TEmc4PT1Nae0j/ZHQq9xLXrt4R83za19CwHHxjAeyrX
FEf6+/I4SSDxg2In3koK1R/YlO+sWnK4FlCYTn4azp6qg9jYtchrHK/huBfWDrZNvNEQE3CK0Evb
WqYNGVFgu1efynKXQ2gALn1NIXxhNi+sCL7JoCOxkcmPTp0lF04J5KmR3KsQrB5n4ynV9isTyj9a
CDdAZANUP2rZaE4TRcomJdYyZNbjU5co0l2YZpUnZSZI7su886mUZb4+DPN2lCuQ6ZZmeGc2cXKM
DDPcoLUqR5mzKN6mAS/P1uzilZ21cDohkoTkP3w0f18JjgbybnKIUBjhl023DYgukFb/ajXmjAyt
4GroyU37CTn137cnZWlOfqiacHlzGLm4BAR65tqIy3QYy5c0Zc85COFUdS2KXXrfgAidM85xaJcq
psl1paFtYqbZCeQ80xbU+pXTzQk0R2lAACJQWoqAr3CgetQh8izXlG8XhgnZQ5yh/0O1Jd6Cvaqo
rGJ9dqrBdZ+OrvExQ7D69lReV5ENrq34/40I91M6myZp7S47DZNTTaB514gDztHKSX4XHrjDNpF/
2+LC+YFBdNii1xL0jGI2JZHyOAzRD3Oqayv1sVmkY2PJNiBzefTLlJvqgWpsjVtUNIr0JNCHnGob
4BNcjoJbigwpZDFoL06D0gPHuzVpoAOEVhnmNlFXsiZXOXRuDO0rIGxCMz2Hll76IZVExtyqMEal
j7ID97VMHKWEoj3YbayTbXq9/NFBoIpJTmjKbmqsFOXEfcPt61D+MEAKpClI3lzaH43QHvM6zE5q
mDnIZo+AiaT6f2OEs69gGUEmL4I3GIofdgrE+KnWG8fQ38e6dciq4OriUM6sCLcknSFnIaUxO02o
3wyYv4Jzd4C4+/aevHrU8SnDH0DP+eMDyydMmTY0ydDK2SlN5U1jQWwwyl/R4KSFO/lgyltJz/cy
szYaaaEU0oDxDlLUa0dRfI78fARYD4Er5AyiIhpclmvSdxamFAhGy2tDDyxbbusC/e6Qw/PX1z92
GoDsuD30pZPBlRQQnnLKCbGCjLIqZVaGzVK00ROY5pDoxP4MN3LmF9Ia4mfxaHD1HLybkbzHdXY5
z2aqRJJa8yHOUOoovR7hFZJ+vEieISnRpOM+tkenwptkhsRCGf1j4Dn+L0as4NnMmUsA1RK+AWIs
YVVDE+ck4Q5xrQHXKkV45E8meo/DsgmdrBjj3W2jV11CWFyoaeDhh6w+OovFIgmYIOZwsGBVBxsL
CT+LeaeMxUemuPYAbg+w/g8eGD1V+4+kM8+ZWqhmoMSt6isZk6v15mV0gJ+4JKSFNxb/+VmAK3VF
mEXAqj5aKpF8KZRcA4qh7jzNFAkqHUSYBWu2twfPT+l5DAMyZ4RkQK/itkaq5qfP9swm0SMypqod
PxbtFHlNpMjA1SvzysVyvbm4GXDv4b5UQfshwni0mhNyaTAD4pZ2+G7LylUneZO38cYoQVMwvFft
XRT3YMcM4ipos3bFJ15lgn8GevYFoucFok0fWit+NDIw1WQeme769F7Xyg9Uw7pedlBezEYGvaG/
I5oa0Nd76EqQnRlOqxxJuEN7jbr2TfwZdjH5P2kH3LSIz0ygs4XtXs4gmGcdFnxgcrGPi2TYppks
H9QQDdoVrVVnThoZoFa5Ba+3bhzTsmi9tomVjQRl1ActsnivbtsOh7mVZ8dOw8wlJUQxJVzeXsna
t0jX/pAO6vCVHSd+FCEZdnsDiZE9J6jB96O+CKehK+LKQgy2yiYja4+dHHZ+rkmG1+MG2iZjAtkI
aMjub9u7Oq0/BgEIgxtGKxL2zeUp0ecoIqSt2mOE8lXOnqz2SUF01NdPfT06Zv9ZD/Ke5MM2fG/2
Q3TX6X/gvubIXLmYfvJC56vHPwQ8ICDjkFFLg++4/BBq97k1FE17hLTHnsqHdniH7A+Uv6vIpTT2
tQqUfuGd3UObm0BfpX+gkR8+ZN0fqvebkh5zzdgV9Qd6DyP8B0UfT9+cpjeDyNthjfDzqmH+52uh
/YmPwUsFXEKXXzvGyNm12dgekdI5jIVjdxqok01nyiCy2L7QtIO27reBphOkhw9qPvtNq3vQ3mDG
figPrOYk60HU6G4OVlndftankXOarsBffl684qyiV+EHoIXAXtTAkeq6BeNr1h0zk5WzUw96+ZjL
XJRXmaMOGCoqxZqX1UZmOx01oztlyuLQqUaIuksxKt0WWmZBW6jVSvxSlYBRO0anWYekCsfc71gt
B0naocezCpMcqChisb9zQgFfL2mX/K0qfaDgya7L44gHxWeU1hKSt0qdjJ6Wt9a8ydVUBUJgZmtk
bGKMwVdIQ74Ltz16ctBDeblCmhaDdkpH1rEBe2kZxp7e/8vlzzaaQCZyb611Soi3zY85cKlo6NFE
X+6Pyz7z/PI8dQY1YQ5wrbDCTvU2Dtb69mm9GhM4znERoj0PqF44CiFINOQRVNRRQY40Do8sC7H7
6oOpz3cpOWppi7dTKL/fNnnlkGASFUUZ0SdoISCUdTmN0UzVGhVdcjSSA2q9+6E9jngixtrrbTvi
zYm7WsWC8JGZQDqIYnpyR/s+xc4JUtexVnzL9RiQD0JPGOIxOFW84C/H0I12ZRoTXkJkrp3Mqnd1
dYAulN+X00rwI0bx/Fo+tyQUSFk55HWTGTSYrdlVyCw5ZGi/SGut1LmudptgR3A/WVP1FJUi2NG6
ewSaXpnTO50ytAInf7N6rXzAb84LLwIHhyCSk/0hugNb1eUETqWWmrTEBJb3CGaOY+iBW0V/xdug
lze398H1Fr80xX9+do56tVC7qIOpKAsPw5Na+WF3TNknIjxEDyube82YEDEQuTA1lC0xjXl8sCA2
Ai58p2Q6mqqBBWtmBySmt4e3sHDnMylmKA3azSBjg0WNPccpKiRW6M2gP0DzbUT/3ba1sO0vbAmb
sTc6oqWlTQMJwIx4cLX+PsdLYzJWHlYLm/7CjrAZx7gxey2Dnbn4ADoAzNfKRi5X9sVV+gZH68KK
4IgQS4/gVICVgbzHhvXeh+wtD5U75SV7rDSP0PhJydEDp88dFBBX+tKvvdOlccHxzkVpq7UcYlea
r/bwPbH/8K3yMzgO/EVrHyLXH8rGs11vFGE4sJnQILNB3TDKevzcGcrgUrkuN31VFkHVjWtZ5KV1
A6kAUA2AW4K3VHCLPSPzNMRtFAyZNDgJkO0HZk45rmRpzdSSA0H6hAd3yKCg2nV5qg2jjvEoaKKg
1aqE+OCmQDRbNAy4XzymHrKG0Rr8klUxbqu56vxQov0ah+DCceCvJQg4o/FNQ+v95TewDK6FTnEa
0GGIf6mxDbx+Fw6+PLbEncq6WSmEXiVVsaiQ57UB30PXD2oPwqALM7Pn0W7TYOwhu6eE4H5EahP6
iLQe/HROt0kYup0RBwpI124f/WXbANWhywORAlBHl4OtmknTZ11OA/AbZ2+JXUjbSa2g/marqTsC
/Q2uCJn4lU1+tfIweFVV0JW7cMG5IoxHNhJZcyiZiLW51iwThYxqGhR2X7HNOM/6c9PXwAFZdlRU
m8jQpMxV8yqPvTBOo7UOniX7uCahIYLPQGelsN6tGebEyOckkCYVmm1JlW31rulfJYWiCQXv8zsp
Iu3WNJiy1mazsNXQ/IKaLo+4QaglnKxqliY57ToGjniZngowuG3ttg69vLA2fV1p29urvWQOr14c
LnAbgIBc2GhT0imNWVd5QOccbGR4zhascyu4YvQXremzXmUQsa3RQwktUqwPb6fk837mq/Jesuoh
motAaS3PpJ0zZMY+jONdqhwZnV3QCg3EcjrZcJlMThpqzQ1T7zpz7UpYWGBIZ6C7iEuc4I0kzHLa
RG2kGVUZVMgwlSZIBaJia6fWoazHzk2S7kkhsX97qq/Kfhj9D4sF2F84xbuYRUx4ZqBRuiqoC2vX
09+keqzYuxmebMj6AjGgJ+0unp6pssbCv+CtgYc3ke9WsNJgQb2cdmsq0HYu51Uga/m/1qR+og/o
LE2ylYt2yQ6QFLxiAaYmAG4u7QxpmPahZZdBmsJDahkzHOMtzHRjxQ7/PUJMiWwD5wTBEVHRmntp
J0HBGVqzRRVMTeyzGp3kyMvpQ7zRshdVX4mXF+5vCxkO9DpDUxiAAX6CzvYsjbuQoJ8aqTDKikeZ
5PmWggFzJRBaGhLSfzY/+eiIFN8wBVDuoWnHdVCqLhiYd9Ykb6uEHvvmdZDWEIIL5xA7kMts4zrl
17gwJmxUYg82ZPOgw941DkFb/GHq8AZsT/qW+Ub5Gc73OaRfmfmZ2Gvb8XqseA2CBAElJn4UxPYJ
SRqKyVCTMsh69FDTT0mlyEHucRl4dqw6t0/d9fJdGhNusy4tyJSWaRnkLZRfakD814iHrvr60JDE
uVBxY4KEFysomCB13DKzt9IA8nCb4iDfgWfpW981bgHIJZDnvQPl7WqtWsfX6PIQcKuoR2jooMPb
V/DcqWUMELSAVVnK/BEUUimavpImvGdm+Xh7Dq/P9aUpIX7uIGrJlQhTkOc1SexZ5lOaraGZ1mwI
YTKpE1KDUjRDM2SOnvq+jDNw+jPLM4q2fbs9noUNeDF1woKhlDOwUrLTgNHKmYt9lWEDWneSWriz
tcKBtWZLOGpIt+t5bGKZpMfC2OjjW/sHYrtuxtYaKhdeOZerxL/kzFHpgFaUCYMldDYWszuCz8XO
kF+c1Og5imqvJM8suR9QxKaAqA3yWtC0OFLcqoCYAmypqsIK2m3YRSg+YEMOuZvT+j1pho00RU5G
8egvXm+v4fWzAOks3GbYd0gvoEn0crStOc3GKKVZkFXQ/zx25VZLvVbfkfQYNo+a9HXb3OLsntsT
3vtmphQT02EPNKeO5Ofe6elv6cw+A+PSiin+uBZP9pkpTQhOlLnJ7DpFE1lLfam4Y9G/sYWc6+SC
5Bq90WjpbB0b6eFy7FdMLy0hkoTAxfEFRHfb5aSm9WSpswoEfj0SL3aoFlgWcp7533St93/RaZ6b
Es5FlFamVhcwNc7vMzoCZKjxKv0mLKANvyvSaauaHp0HMBqXYOap3DjcGM3oNFBrvj3dVyqG3H2f
f4lwbqJQmzvdKOB59lUw+L0HisfWG/zuKT8BovVBj8ND64NXHHJ+aem4+egCxX/7IxZ389nEC7sZ
8j4VhYJvFmj0F+6P+RcY3kA31b2wv1K+kpBYsyXs5DBDdDZYZRaYdJtHJZpJAGfZVJXDvsAxq/dr
bCbXdSI+wbwtCEgP9IaJ7GGcWiWUzS4LZrKZNw36D8gfBqwgm3fy/ES6L/XQz8fYgM4v8+ban7qN
sZaGXHjVwiPhLQkwlM6T0kJGq4GQ/JQYmGFWgbdmO96xX2hCZahXfM2jQ9dy+sv24J6gPAUvhdN0
eZRqQlJmthmDPEWtyg4e+yN18gQyEi5NepknmsyqRZWsK/4xVD2gwCVJQPFWtVn9F9cdOk8QNvIn
9VVDZZOMYytV2OC61mwktlNwpqfsjhWnMRtXNvLSNX5uSzhMlZSglAFvF6BYRJvXjDwQe6Uwxc+C
6B6RawA6gEcdWNLLmU1Vo+y6Bp7YTgcP2uNIP3iRBao0MLONH1ayloBasgeyVMwfKPhAYykEWkYr
aXPeV1kQzkfKZTe/DWNP+7vJ+Bzs3W0/sHjNQO7DBLW6Cmi6+DCNo9gqJonAWPM2JQ6Dljfoy5J+
BK217EiAnVHDJZXuK/PfaS1VuTRSkCyqqPmBzxtp8cuZLdQ6j6M+ZQGRQH7OoiOhG2ZCTrJLXWL5
UNK+Pdole/yxCMgDwgZdxPLUVFXjUR7RRB1LB53cAdvjhuET1TwzB+9MB9ae2waXXB/Yh/g5wNRC
f+RygFrWS1XHNIZLvDQSpw0fv6cI/36jzQtV1zA0S8OzuDAH9g7ej2JL7Gh2M/hSbAa/FzoUhD0G
Bc1H7uoxMh35cxGFK0/VK2gF1g75T2jPg6MSrZhiE5+ZUeCjGpIH8wx4BRKUXaEGU/Wqdnet+tLb
w2NmhcdBdUpd9dGz4ir3FMVwoAvLuUfjs+7N8V8SH7r32/P+A1kSziz6OdB/BAQs53AQzqxNyzmk
YVYEVp7s416/q9vqj2qXXzrAzyCVHLDhdPSya420rYji1niIRg6NEL7KWrEJa8OV6vmBJFvkuFe+
bSHo0UxgrZAIAgcWDvrlplCNelCNkRSBaXyP4XSalcSxoE9RzB4lTznoWOpHY069ro+cMdxpVucS
ZJ9Jv59DCH4g/337g7g9ca6grISqqQ4kJubr8nsSVmshGSgLQit0dQ2tsZqZH+MhUbySPt+2tTj2
M1uCu677XDLCWeOxgEe6LQqhboWJbzKPmWu81mvjEg4fo3FmIZ2Jq0GNfBWNwMozkdpNPqy8Vpeu
Xmx/NLwBHogkqtjYkyBnZBU23Fg9QH4n1UoAKQroXYJXJ5XcLpW8KFM3M1rtTLbW579w/8E2FEAB
kES5QKwUgD1hSlgfs4B2tVvE5j6d6ld7lRXsCsbFT7oloSqN/I0NDi3BVctpT8wmbFigAsheN6Mv
xcN9R587809Gba81nNnQvCGMd7QZfmvaa7YqLcjPrLhPwRwncew32pJN4bFQdbU6z2EO92ZomatY
BRQPbeP79gZduhBROOYM0sD2GICjXJ4GAGXSSK8x0Dj/Z2V0zyLm66PxNeXjQQfW1YxNV6f5vT7o
R0vymm70bn/B0rbFhYhLEXBA7YqKVil7XauyiqHbDtZaYHUgsETRM9TQacV/L20e7FnQNfBmYZSa
Lseq5CoWa2g5uEeSHauzCTiWbcWXw2ktFb9o6ueWgH400kdiOIzuFANNodxU7o8U6rNT09zHSBqs
uNdlQ3wFISkMlllhTHjJVm1sDlg/VQNT8ms8AJucrtTLloygaQeATTTggwpTeDGr6N5jhY1AgoBz
1O9N5WuoC8kxWmMNvbW06VFNVpDmBgYa6PXLJQpZUUpliAiiJgOSRY9FPK5M2EKMovNTjUZ8CVpo
opSx3veWPVZFHtRzX4QHNraow4Qo3mxLMrXhPiIq3soknOzEI6ggbnFRScy/vekXJhSZaJQrIHTF
i4DCqQOL9VRHbZ8DofWkWchqdo4NqeLbRpaiAhBBomwtA7tnI3V0OZmsyCLLQPkwiJn3bvu98w0S
bfcheH330fvvvHUOqCRWbtel3Pe5UTG7YpcW0xIGo2lTe+DDhwbJCH2kqWj8Otm3tjv24CLzQ21X
pm91fCAgLL497oW4EJQsCl6hgBcrkji5fZGhk0lN8wCINmNjxlHo12jVAekzOrEstdzUBqTbZrVc
S7wv3RoASKGJkzcEAWYtHEYWj4US4a8AN1f5u5LaYW8Uo+ZCF2HYx63Fd5ScbMspHtEmXRnuYANJ
EMsJe0SHIXEzNW82//lkoM5qYpfB8+HDLvfACNXGrISySFCR1LqrC1v2G8RFB6WspAOtbOrXQzl5
uhZJT7ctL+1xNA2pXLkIdWaF//wsXypFUw8W6rwMiD5vwrLf5Yk7VdL2tpWFCAtVI465woTj9Si4
JsmO5rGdiyLoQr+qfiv97n3Q/62mQ5fMoFMAKEI4WiRZhJVF1XZsCqnGNJYpVjFLEDqO0n6Y1VPR
z7qHJMRa0/uCo0INCVEOf97AVQind2bRyPK0KKGHpB7kHG3UIPbKzGOhyp6e7fqtBE2f25O5dHjP
bYrIzLxUWxANoW7bDs8WPcbSZ289dZm0Z8jKZepJg4h0ozzMAKay/KWmxbZcy7Mv3AC8dMb7hsCf
jivgctvYckhq9A2XeFfNLhk/m2ItflXwG4TACiIhIBRAgRrxhnjHSIDUpHk1oDid7uTEl4DKL/Fo
9Pv+bcje5KlzaPaSpf6aFuhCpAPoOGIBZK3g+8Uuyn4yxjBU8XrsMqXxmdb+ViGT4qZmLDmstErv
9mIu7R+w2vCWM2SaEfVcTqRE0qJj01QgsOrmyjFiqXQoOHsf5R71n97eV6kBXaM+qSCITKSVWGvB
CSNoRVwHHDyYwsX+swKJbTOJCYqQNsDhTeRCNynNNrW6G0jOXfFKi8HCtkEnM+IgdJRAb1TEdajh
lPZqWaMO2b3LXeska8paCwNCdlXmXfpo7gAQ7HI6kwxglB5osyBRtXpHJxCsF/o4PTRqlgZ2oQA1
RRQKRnJqrpS4Fhwpz1RBCNFCJfKqD2BQx6Gx6rkMQJWHfJXd3vfdtEvm/6KUC1+DLkzgVYA5Exsc
gKbv5GFKUfafRzeihkNV//aWXHptACYBuCpKSrw6LdxGINNghWIDokFzcrDgZPq5dSvTs8LaoX3x
FJkNWHvM3hsqywnbbNOyNaH6pY2i4HUHJXAZyCOxb3cyNAqJbIA1wjRGGe2l6b5vD3LNgPDm7xtr
Rg9WVgVNfjdK7+P/cHZeO5IjSbN+IgLU4pZkihLMaq1uiBYz1Frz6c/HWuD8lUwiiR5gsDOLBtoz
ghEeLszNCn/PSy9HbeXAAHwvEB/2kSBnlZxqpRAqmc+HytNjjgDtA+Q2qls0Z/nI2JZU2eZe/2Tj
+TMIpQinKICBnFpZzMMqi6MpqC7ZQlYdip4BW7t6KBSIbHcClq3tY2xqGdLioJB1XN+zbC5Fsyya
6lIYtXQomll0gjTa6dFsrYfYRAJUoJLerw+BLiZy0ZRqdVHL2ulm2RURqtCb2Iag6j0Z8U7OseH5
SeGBn6uyAdxtjXKHw3I0p76oEYGm+RWMj0annhQ8tB3uLGzLV7B3JE5LmfmmDUNRWSSrSepLEpvV
QbWqlyHpinMe7RzyrQ1c1MYW1M4yGrS8sW+CuxmRgLHp1JrgLj0OQniRyhOzi7T5yw+7ROYbRwLV
I1IYEFYAC6TVjdLLOkxiPW2Qxiu+zNbo5HG10/TYMkGUBWQHTiVq5atgK8mGaaBHCHas6aErMfz4
0HfpXqtj4xyYhDWsgsISkcfK/Vk+/i+VAFbJtfnUG7EtzFA06ZnbR6f7TmjDEsEqaBnG7V6bHdff
R6DfmirM0F2gRHHV6E9bfBGhJ9wlE73dN7BoixIIUDHKVGuomCxkZa72gKD1WTRfRs0cfgQV5c37
q7kNZbBCexM8DkU5/ML1asRIjgcpIJTJw/5ZHfIcBhG0JZWgtR78GAaEcTRLVIIb4WC2k3W4b/12
L3G1xKQAlHEYgLKvrTNUXha8mMWlGUokZNJYe6/6Rur6xUiNbDTCndVuABkX3055FaQHFc11oDjK
kKOHallelCEADjwLrfTciLFpp5JgPI9NHr/MDaGAWWfAlPXG17/pfYmEU84M2fH+4m8vOh8Xj88v
4iDxGa4XH+nZEOo+WVwkTV/gT3xWxO9oNXVN5RjGnlveSKCxBlMRBMN0MQiTr621TRIO6NosCEe5
yNymKavveBhtsNU+ld+PRUFtW8grKHhyIVK/QXOlys8D89OhMyQ1DJdKL1Sohc1GufPqbp2CZWIZ
WCsunPLz9U9rrD4zokosL5D+TMH7Nn5fR0497MR6W9uN+BmwM/DZZLOr7Y7rQIv7zCfWaxr9PAWF
f9L8SDqkSay5gh99hJFK3rG5uTLqoVxhoPfmOunrJzGP1Zhwoq3DoygI2aKW+GhUcelUevPz/nm6
DaOX4isde+IvAnVl9YWlrNWKXMZYU0z20g+xIGhEKnbyE7tLrAMV753Hd8t5EK7DnkLmheNdfbiC
8JkYAKfbJB9l8UcpHULjUQlgaGzUP7G+5+NvX2AW+Mbc6gsOXWOJMF8BdYnbd0glnUf9O6iiPUmz
rYMC6dRCbWsyNbGuZatxUFZGTr7DH5+GNDg24+SNPfmBnAKrj3dO/6Y53vuF6pjpxnVNrRuFqCsn
Tr+ZSKcoBEs+W90/s2L+EqffIbwi90/Jpgsk3cILgGyhVr4KOBfCwVpVpfJSPyfJv50rH2vTTX43
HapWjvT5831zW9+Mpu7SZqGpC8D6+m4nSSc0faOWYD0ZrG5Ax0OsYU17JL5bFw0CNii1eMX4dKuz
HwZ+ZRndROqBsmTeiKU7acH3cVY/Cqr+5f6SNlBBDBczsM6IA2M1jPZcr0lqDD8UEhlj1GFRxTqH
Q3EcZYfBx0hxZo0UrzzK0xfD+igmKlJlBG/Di2h4U3S8/1O2zg5ehZHsRWDyptidt2OhpJVZXarp
IOuXJnpq6k9GcNbEHUObz8dbS6tTk2ipX/ihUVH5tXXD6Q6Fnf7WIpvx54cCNnDkMxt33mNR22iI
stXQWVDrJC9DReF6q6N2TkrCh+oyowQrUfSF0fEhrYcH0dfs1JLohY6f4zL9PJd7VYkNnN/CPU4w
uTTwqH6s3E2dwU2XxnN16QH4kVwwsVNXXlt/zwzVLmIvlT5o8k+RAfPWf0oKSF4z4R0KXzt5x8Y3
XqbViM8ofBMsrH6GHKUVPSJ2PmOGUTpmjjxwUxV3JzTauKg4cZAEC6PggsG43ml0OOY09IXq0snG
pQUwGMlP6LV+un9gl+91nV/j5N5YWbmDqahmOWLs7RKn6aOuOzCG2tReDm2+c2A3l0MZgg2jpU3A
c72cISgiTYuq+mL23UE0U4g45IdWGf/cX8+mGUMXdcbu4Whdpx1CF1SjP7OeVFAsRnVlwOxV2p5C
ags7jnvjsV3ygP9vajknb/JCQUSnFjrY+hL2HIDE0+LACWPhY9RCUltZsZ1U8Cf5e0297RXSnTSg
gqJGttrIqDf8WtHi+mIRpKbn6Le/B6jdPBPgDemgQAYK8OF6YZpfEHZX4ZLwxjYTFoeC6FeNrUNS
7FylLUv0cdGMI4PHaS5rfbOFXdU00xTX9SUAWRGluqskjwxBH6v2n/vHYstvIVpAfsFgDDIl65DW
apDiHoOhvkiF1L1Piqk+SuU0/8o1uT3VZYHIjKQ+9ZExH2dRfmyjYk9BYcttLPDNV4AD8KBlL96s
NYZjtWbGsb5AcOfqGTrL46dAOEaCeqy6/3DZ3tpaHU1dyPwua3su26nX/zFfjP7X/f3c+nD0u5De
I0tlvnD1vAsFzId+MteXPPkcpCi9/ACb6Uuf71tZnM/aOb0+MoxtEkCvh8CCVCuHRpHqC6y0RXlS
lO/3//6NAJ3ZWBBbMpQzMEuvPLluNYLeJgQpUMhlLyHr/J4JxaMY8/8qMzIPaZuKNuqpfz+rTouS
9gj4AuboWNv1WQj6Rhj1gUGwtDuU1nctfG82O02JLe/01sTqatV92uWhJhIfpHQ9critRLqx+fRB
tdqDKL5LxYNcne7v59YRX0px5HIGRfx18aprqLjzZ9WFG9RrvdurPyrLnvvOUetgh8Jg80bDw00Q
S7oDHGR1n8Q+iKTe1OtLXco/hUiUjr1hBk6tapXLRJN0lBSYDYosyN0mAPDWpYP18+/Xi+YxAA7y
ZBrPq59gZX0AIRKVwbZ5LCPrmQTmYxBFJymQXlp9p2y3fLD1ZWDyknonOkEcndWVi2mW1H0UtYj7
pghkabBZpb6086Zt3eu3RlauP2hygLNy2F5axNeH+DRb74TBLuf/4PcRnqf1SXcJhMrKjMBkZ+h3
JQG7NYqeLGVONhmPTWypblgosXv/M20tygI5qy8aPQjdr7yh3+ZMfSDjfOEYVFCTwFvfSvXgplp1
9vW23TG38aHoei59uVe8y7qqL8YGvezUby5123L2dLNyaAUlIOjCPeWtrSyAJr3FDDSHAuXtdeaj
+IkV1l17McKyZPDi3zwG2B0FquJO42xdWiabjuYsqOe0E5VjI2f5yxAa+THMQhMcbNnvfNmNxdNo
gOBm4c8BFb1yO1VkTo0xxg2vHLCzwLSVvnN1ZcfRbF1+GjRMfy+VFTKRVaHDkseqC+uwu+gnq3r0
zUNUPbVGQ2PtoSiKo2xE3PyHvz5G2ISjmjydzGvNwNkYRsygcNpdIB4z6TFf0uLn3x8d6ooiaSyi
jqRZK4eS+9mIm2n615Cy0z6UkmLHnej8/ULeWlndhyYNKqWe6/4yzHY5felat5DeDXTK75vZOAoa
8eMCLSUr5ytdP3LyGPtpm0fDRS/+DOFjKDlK+/u+iY2b/UqnC/U+iD1z7RPhQilEegvDJZu9OPpc
Aqv2E/lgQdV839DrRVp5X8rhoG8ozS8J2SrqbiZxhH69GS5dDPx+CsvnuvpKYRx+RWXImI5k6IYy
tWKdi0z6UBtQXHzvA6eTEST6Neg/Zv2lyGO74oPWKnWKd2n+ovef9Uh3ogGUWJuc9bh6f/9Xb20P
sD/aSIgAIp6x+tFRBiPG7EvDxYhiN7dcJGrsRvsc6dHOud02xKGFuXmp5K4CqWlKy1Q3uuHSlNkJ
Npy+Uj4EUfFuCtJkx9Ryam4+BOkwtJNUcGHqvj5V4yyOY5Iow2U6BfHDoGsnqqixPtj17rz3bXiI
Jh/3UIOdhIbmOpyJ+nQcxRgOAr0HJ8N70T7FbhT+rqR/S+Hf+59KvVkWBBKILyyfis7zOtRVUFif
6f2Qh2ujPeLDxz3ygdvriA4u+CqT0iZl1PVhqOdKD5psqUantexSRLMHFflSSf1bsUvOGhN6yEvB
5Ai8Yv3cxs2sE/zF1EdSvbXFsAF+bJ7ECF7EJHPmVLwML32S7sSDGxtIVUhbmhbMBhIXXp8LfzTS
Zp5IWiW18mAS/CFZ+Y4T2KjUAudY5FGVZRdvuFxGsTH1JCLk7KCRcdNZMpzCyF70Nkxdq4JBFqWy
2k1qOlVyaDbuOGeOD2XGzhXYWuoroJYxGJ5Aa3WtuzItzUKklIIK+iER8oPq/7p/Gpe/4fqS0bdl
Jo4iOGcfFOD1ZtI48fuwocRVlqWdRUpGv6Kn0FX7XqlKrRuY6r++DKZTrHbeptvrTShPY2xZGMWN
tciO0GsadT6jvkRBetYorOihFyzgtSR4VtSP95d567bA3sHZAuco7U4KKtfLlFUQ0YzK9pcJcOND
qaAEIZth7IZtOz0YSiHufLiNxbGdQBzBOBK6aKtoDamEQsr6AntFewYz9rX0If0RUBay1al/VBP1
eH+Btx6MBb4xuDopdTJlQSlX/SW3jLPMzFZYuQboqpkTmvjyiWmy032Lqy3lsQcDR0JLQg2FxU2W
IqmBMoxmU3hVLMFDqo/5gzakpqNK8fyUttpew3rl1V7tUQlmPkbi+Weu4/oTIhNpar5YlJ7BhJ9K
8zSiwF8ZP+6vag3mejUDeyezm0vJF6zftRlDbcyUxiFmYmZTkGHUHmHGhe09LktnNgbldzulyYd+
gJtSmibjyZfU0ZXzYXicIj/bSQVX52j5NYCFQFUiNkTUsy4NWyX9ykiWG09Qp+YozdHn3Ig/6Rrk
K1aQqQ+CD7XX/R3Y2GeeW1ABdMTY53XFIs+aAPFHpfEUTjDDx0IINW44EObM4c4RWmP5X5fHC0iV
GAEB3pHVZqtFpsDSLKPUFEqJcUTPxwd72zHAaiWRQJAf6Qncpk1dfw2LpDcPgoQ4h10oQvDbR3r1
W9f0wvukm2rTzrq5hiwWSWsF5vO0qA813F9Maee5GNpMGJc7dZd1M+r116OdpSxqsLy3NzHpwLth
VGbj1VJaDnYSxNU5MObMLQoDNcKmHwT6E0F+bDq9OCXCKP4E8tjKdthVwlGoYqjvRKF7jCPkoVUf
uuq+9Oudz7lOoF5/5dJHWVjRqNisv2eSzOEU5kbjGfB6QHwR1+8bIQAcNqazE5hpdRSaLnU0PbRo
8+hI/SGyuPOhX2/Nm2eGH7EkydQzXqdoSa2ub1Ux+bB5UgzzZj9BsjGTfS1w5XFeBoR9YyTPKqLm
C/fb744hYMPuWIMNbe18GoNfQ+8rAMyGtiIyk/rqxcwmzak1LX6ElCUP6JeYU0kOOkIDbIahnv+K
prFvnRxCevKEPlA+waNLqCUq/jwf0rHzG/jCRvHT314dCdwQHHwKFcwFnny9yjqaJz0ZptYrZKk4
5HUjMZZM6tBr1m6Zewm01zvKu0J8jAem+7Ha0a5aklRRxBYs5K4fpDKKBk2MEqDlm24R+P7n0SiA
UArhdK6Vjosgz9/RYo53DthiaP1D8BYQuCwE4tBQXS86KOqoFDTOV2GMFpI50SdfT5NzPkSUemK0
Y+Pm7x7X18NEQZpZ10UaGV3ka4tGo2p1os6tp88lTNgGYVc7q7D6w4h84JwNJ6Bw7cP9b7sKlP5n
FJwjyYEOE8S6DhH1AaqfsdR6KHPW72kbRtAa5YVrVN10IBpsTp0UqqdwmkLHn/X8v5gn3OYeL/Op
a2SECIVS1nV8br1EhVnVsuE7YgsSkhnqnyRrsgddFRon6WvZoTa7hzZZN2SX1dNOIVbjRVzQ6Ku0
TxNpd5u+0Hu62EQfU71BEkkV4as1R/0Uwah4UMZoOoxd0TkB0fuxaSvBIcz5oAD8cdpKrtwiH4Kv
Rt/udedWoc/rbyNTB4UKZE+mPnt9HMRuZDRLGkovCKg8mC1THL1qOGQnkl1RuHtv0kh7V6aWshPB
3r6UvJEUhBmrZe7thrmOXlLZ0xqsvR5xv9Gug4ZhT0vQO/Hkq1z8nSNwG3AxDwSxJIUwitp8iut1
zkYXDjFzJF4BAOJ9qjLzperN5JhayXRHUmrR1/tHfvkLVzebMQs846u8BoSi1wajIA7jObJqT5Dj
+SgsB4/a9163bHNZS/GIWgt12/XwM02bARha0Hjd6OuZ00q9UicOZatSeBf56UykJ/jKMO9kkRtm
aYZD174QT8Ems9pNPZrBAC6Lk6cfkgYMDfB3JsDjE7Q7KdbG+SSM0pbTCdzwRiTZKCWrJptsvAqR
uDbVHENvDzoith14rdIoTk2+xwawEcUSlFBhoAnDkBrFk+tPVw51nvRd13t4JutroKVfRz0tDmWa
aW6oIRhnjUrq9IStdoKOmUM9jMZopGrIUPb+HvXixkFCD4UhZVJp/PV6enKMi9JvoKH2GOdVP4Rj
MB/Tvtmrxm94aEqDcHOimAxCcj30XdJgqKJI7r1EzV46yz8mhuhOAuxE80NRQylmKJ8GNdyJ0DfO
EVUjJpVBeLLba8c8SnOeG0Pde3XQ9XYIIEdqsx9iE54r9Xz/Pm6Ey4xGLLxl6ELx1q45ELOCLLzx
td4TpTb6qPhCp58zIe4tJ279+EWPu/xD4pulZYcKftoVywbcaFtX2R8lUJPjIBaGnfCMvQRlNL6j
+P29ShrpTIzbPNSJIL3rFSRa7//qrQ1Co5OSKuI8y3jC9VEMwId1YxkMXstUzKBZPaiT/qcyVqVT
1unpvrGNu0alc9HHICZfynnXxkp9ULI6X96pse6dqZ4NO03TP20g/wj71m1KQJlquxf3bVmFIopx
VOZINDL+a6txp3dGV0aDV+vaxyZ7nqvffXpKfOKQ9qAhanF/kRsHHZ+1lNxeJ/7WSaE5xKUwtsXg
Nb1+HgMDatEvObysZXKwlPyU//FRnLtvct1+Wh5ZGhWv7x1NWMp+10s0JyZ+EjEdPGM24b7JJvOh
T3VkTyDLPbWq2J8goy3OQTQlbqaZ34gz24NErdPOrPCkTebeHPjGsVoeQdzc8s8Nel5C+yKIs2bw
kH6Kn+BHbU8TlemTjGN4ENJ5b4Jnyx6EroA6uH+8icsZeAPqmLtREjqeeU9SZ7cAJW9z834GSvGN
WLT9+zsDupFohpLcAjxbHaistVodOcTR64L4e0UJx5r/LbXpc6BXOzDpVyKq1SNP7Q1MKk0oMv41
AWPMIxSLVtR5ky5Pn+DT/Nw18Xex6ktXjOf5KZBTyw1rxfjEnErhpENTvyDqlRwMMYqQj460OLOn
Mv9H7/SpYmbBKj82LOzoU8G1w9iX7bhIxhPsKfJxoOqwc+PX/RpOJm8cTbplsoAsZB0/NIVgmHWT
DF6sGjGMA0KXPpA6mB+DQDkmfR+fg6yt36eRGZxDA4JmSQZ1Pug5mW6UGccyVEboLnXFbemanOoq
to6dpbXnos8n9NOkFm063bfF1PwQZrHghlZHnsMkm5PhhdykTB+jvgd92rd7PBgbXwcNcnotJtEX
eIs1hndknsuqs3bwqgRNN4BF0ce4b4JPET23wzD0dWaHjfKZ0eLJaWdlOObGNB7kqY7dvhvmQzcB
Dx2bvn2EQtt/NHFQTk2D62RpgX7KJ823czFCkE6pxEPcFerOQb59+fn9C3H3QrKBz1pC6De3phbl
pPM1bfD8ufQZXxVKWJqQFL3vnW7vJlYIIHn0cYuw4F9bMZkpF5McX6C2QuvmiTQ/B3IxHFND7F1j
7OSdVd36e8rxAFyWGiHhzHo+SNIbpZnncPT0rJedxDSGZwisZlsNlf5gJEXotq1ZIHOg7dEwblmG
bYoqCjBy8GWruC7p4Uj2S7xQM5b+KZKDz/EMZevQazBAi/L03LbKqWzGvXr27ZNDw0VZBoSp3cgM
fF/vsJ51umAO9ez17YkIzIUhaHyv6c2jJJym0mn2WNCWosG1V1rswU/yWojUzOXP35wbg6bSlMfR
7A3lcJKjyFYkJPuC95WkOnO+R++xuTo6IMgoEaLwyl1bm7plw7Vu9mB36NzaqsBxWILCTdcsW5qM
iwCA0p2qpeqk6/POado4vRTSGURasmvKiKu1jtRmACOyt4N8nMaHOPT6+of5n4yQZTHqDcHUGsbX
lkpa5BOMmbXU/mikzI3SH4P+T4i62f27uPHlWI0FBRkE+eAaVoECg2uGNIjN7DHuE9YvYnzRus9i
MjkwhN23tJHkLDhPFsPuL/hc+fqzhaMv6GJqTV5Qk7so4I0PUejGidNQhFCd9mvbpnYtA4zU3B3T
yz1bnc9F9htIOKdmmRO8Nu37Rd/KwTx7dFp7hzJdOzi8QeaR06I9WWNY2YIWUZzTwsydDAiSwqqP
dlKPdZdyefrgR6IUprMHxNYrv5eqXT02Br8il13lq/+Jyoer27Jr2g4I5ftL3vqub22tIuug6UKz
UrHVRbOrpvZMVUd61NLQ4Y3Z+bIbXo40mTIRtU3uw5ricZZGeRwLVfSouzzTADAH4jqNfyuQ/rXf
5LLeiahvKznUVfBtC8SbLV2Dq6i9j0VSTZIXaemDQNbwCeHpyC5zYQ+sebuNWEJiBpFW4Bp8uuuD
o5dh2TSDL3kNVLbye7P60+uPYks3awp2dnFrUThraoZEdbRyVhGrXCu1YaWR7KFz2D7ltRkifiMo
x65she/3D8ftM4/azP+eQtoMN7rMbSXVRqBNihf3eXmg29M542zuLejWUYIzo7ZOwLdc+vVUyGjk
eSYOoux1vfpRRntDrC07QvO+TvcUTpbPcH2/MYVLYU6LLAs48PVnIrPQ9SkyZA8WtXeK6EriMyIr
x2ASTxAtnGqqNky775Skbj/YAlkktaOoCKrWXD1D8D4NidX2ChT2PpSmNDME5Cl6eDB3TsZGNoel
hQ2Xh4BQeA2tyes5SOOM5ZV6K3la3/7oW4b5ulwvj1kRvJNUVF0rAfKm3kA5KZGq2cb9hPY8Vy9V
1P4lQRqOjCYG8Bt6nEQ2VAKvt5tSXz8ovqh4ZZLbdfaP4n+5f0A3CtivbZIlhmaLb2RUTC2ozbmR
FNQZxTi2pU5pYDXxYQ1XJ/yX2Mj1l6iKhtwlzyCvUbQ6BUkMgq51mkjoxsPQtaPghLJWhE4qhvA+
WV2b7VykjW4d1LbkM4tuFeM66zkJqxrDMh51xTPKRrXTJDVOXVL3T0VgVe7EIIejzZx6RfER/KzM
X53QTTvHcOOaQTLGEaS9tLR0Vi5q0BKjG+pO9WLzp9ItdFrn3MqOmS/veN2NSwYfEpqmXGrIA9bl
rMlHHivuGhUe/gloS4+CamoIul2XaXHSxDI+lNWYHoW0DU/9qOyye996LbIFyrLw0Cxx15plKxDK
uJb6UfUYWHpSi8iOxfjd1DbnUYyeggQCA+VBjX5GUkQfAQZuTUKT912P3tv9w7lx74GdEZYRzjDq
swanGL42dlQeVA93zYSIlNmIujwxSP7pvp2tD7vokC3Jw4LXXMVLlpi0dSyXmmdBgG0182lCBGTo
AzjqdyxtruiNpZX7lKPaLAKz0LykrgHTfY2y6LERf95fzu1TSj7JwDUdGHowRLbXTqMuS5rI7ah5
MJSjtjqMg4NS6GeIduAU6Jhwm6Su/g+fCgoXYM8a4OAbpKua+w3viKl540B5d5gMoB9mqh7LttrT
Rdr4WvRe6DSS2DKEuW65paGiN/yP6gVl+U63wNOF4rNW/6ng1r6/kbfhlrrECBCEUJ5fBoavN3Iq
o9AqUM71EF16FIzHUoncUIRVXvql1P/k8vG+uY2iBvYoOsEBSZ8U09f2gNz1ZddOmpdps9i5PZGD
zJGXppPUzWPtjFVoPQWQ8X4zsxwi85am5MkQckb3J7WCEWiQJu1SSVYk2r2OiquTasoi6MQ4ICxc
Whv+UeUsBIdvpENhC8EsPk+GUeq2EhvRr/ur2chCWA0ROEsiBqf4vFqNL+logMuah+KSXEW24U92
KiSnkiFoU3RiCREV8aUDJD8No83Kd77eRhaw+GrqhVjnP9bFQlUh+loKO54RxI5a+B+GlBm35qsS
xpf2qyE+Zt1gt+0xDeU9DN/Wc0VFlO9IzIwHXzf/xyoBcAczlCePP6NZc8AN/kiadxDz0ipk6lyJ
HV0eS8bPT/e3fePtIKuiAAzgnHh6jQbLkmX2QKt0z++B2vhj0B/CrBXOeW8hECGLxcGsTQnZlXKE
P51u1+G+/Q0Pp1MyJTRcANdAW66/egWLMfFVTywKo7EbjEXqagCInSpSmp3M63Utq2CUtwE6SCgm
GCZbFwj8cNaUKSRai+f4AG2tG1vfq8h/SYBs+oozhQ3zmsjiBf1Rrz8F6kIzfp7yc6ldyuCfdDpZ
YWRL0I43FFFgT6WYcjRaOCqUh/ubsnUclioGdUpg1DA2LS77TdnGN6geKXqqeKr03a8it2qsP3Qi
XVN+XmoOXdkf61E5N8keIegGFmvpML4OHCMJwFatLM+FYMYETkS0wVlWgpPvn/lq38xydPwUWNiz
WKVnNdFOhtK6fncOo/bs5+Ox1sJzGuof7u/E7du0/BwiTV51ftRrOPpmIyKmU7MwnXRmFQ6D6QqX
izx9LfakEDatcJeof9Dsuq2uGsmshdDBeigzF045Q8KfxLV6IHklVwH1SyXE/OunfWFMBoS5SM7h
w1dJyqTEZun7EYydzTyc/MYv3ViWMzvrp/h8fxNv7/jCW0WsLkKbRgq7iiJqsdT1ulV1ogjLKVMF
bprGGbLiMo/K0Qw68j6d6KJ9d9/s7cOLWYWBgCX65YavrnYZaiFINl33hPzTVL8Lx99pQL1179Xd
XN0bM6t3QxbydBIDU/eUuDhS5/9HAq+i5N1LPDA2QiQKWaE7CDtTW3uLW91QLm6edYQAHu9qch4N
z3g091riG8eSDYTNnpiVMYd1S6kPu7oydEhdq3op3IR68BSOZfWQpnnmmkLZHswS7sz7X+3WIS9f
7f+Mrr5aG866ESbQVPZMI7q0iSjH98W3oPLbw31LG14OU4xukDdTA7wpF+etP2lDwrnMrZ8R0iOG
dcYzOXIqnnP5Kakf+/AclnvnZXOBb6zK1x6uKnsNEDtWceaAhol1ezvYQ8UsbvL6qVmWtswr8+Xw
4atdLCVdCINM0+lsuNJ83pWs2l7E//39q0OvlyqIpZ6/nxTPTttPgfRF9/doffaMrM64nNZNLnTL
zRoltzZ024+151L961SArQKPR49WAgK/ruQFVqxDSGfhfK0gODRUD50uy/9Q/euP9w/c5kch2iDA
5NiRsl5/+aAvx0oWQsOLNYCVuhRXTglY4z9YgVtx6TZSfGAI/9qKWYl1sjAJeUMuFQ/mINEANonf
7q/lNteAypaGPZH/AmNUVgcs0WeAxn5rermYwZ2eVaKTWqmJupfVPEK1M9tDUf1KobvZCZO3DAMZ
pYu6PMjWuqqBMsk0CeJoev4wo12mZ/qRmcIMQeFoPoyxkZ6lVm5OWpIXh/tLXmvFUd1apsugIiMk
IDRakxYpygACXRhMTys/zeIXVISPWTSc5wxOxujHCCI3kc6qJhx67bFf6jo0SBl3t2N1sq2mODNg
9GhCiBWJ0aPRLKDG3T7z8mqv7j0aNq8hG7VVmPGuP36QpXFpRAL3vk3jf6BwKT91gugTuPnViyqo
hWNWSuJSRlFPpT5TDEUoBDLO0IGyUHDNUOmOlTRoL/RBRaeOVfNzbA06WFC9cjtJ+DVmc/IhEoVh
59RuvKLMhMCfSfJDGrQW/S67UjXTCa9ozJITT5or5m7Rfw3Fh7n43VbvJO37/a+5cRmJSAiBaNYx
nLHGAU/RZJWTn8MopQndQUqNH34LqO6+kQ1QA7k4V33RmuaerCmFjaovYIv1dS+dKq+wDpnxRCG/
RcfETmY7sMLjPP3S/X/yOLSz8CVg0MhvnwL9otB2k/LhGJnDU0M6VNvJcKjNT515ruTnomE49JCE
NFR7vd6Jm16FsFaHiE0BRQL0kKnANcm5oNLa8PGKnjhLBWc7rf2Pkl5bn6JWbzNnTBTxJHdGnyHA
pnLBVTm0ArDB+fRvp0ZMXlb0+eYjdGURsIawKr77tRUFtiH7IlTfRpqDch6ggwqNRG5dOYMyKdSy
9vc4azMiZ0MSKa6UzOrvGABH6MpKlItOQxzewEXq9wzsFW2XHgQNZlS3DOMuA2caL9I++WT90KrG
MG1NyCpv0aNOAPT6sAjIqQZ3R1vKc0pDeGoeiRn9D0ghSt/UMPEpQTQy9YtCS6QOX+YLht2lUhI7
0KJap9Qc1K/BrNSDbY1a/bkNMzG2677Jv6bowrR20BQBSYtmdRBhBmXigt0E0OHLQuAIVsTj2GRT
07nTAB/eo94b5Jd1TZH2oHWFHp1gdNLLh6Ztuh9iL0jyQYDRRj3p2lT9KKiFf9eDPsuPbJEfOEaX
z8MZKVlDsdNZ1soDfKr5R7GjVbTjb19nZt+eBgZ2qcrRBgalTztjjVKji6YIAo4FWdB4bm09CerU
9hvQyo4sx9JoJx2VVAUKpdEWBFq0amil7wwBdWI7nK3pqaiY9xVnUz4qPZA3W+ql4Y9Vp8GXLCua
nV7qOmZlcAMRGBgWeNGXGcFVYBI1htXOjUBhLxLLUyHBwSqVY+xaRe8/RYPcHvxQ/NtA+X9GAcZS
PEIB2lglOGItRWLRR7o3Jefui1mo7lwcpObYRn9brlgsQWnM485TxBzQanm1GDJRp5TkNJZi+6H+
xaq6B+pCf5ld0A3HNZI3MTu7zFOvYogsKtVSzETKQQIXVnNlH56x4aQoeyMgN0WvxRIuhueEXJRJ
4FU0nOalP/d9q3lT/Gdsmhclrk5D/xzlmd322stoKicxf98m1s9k2GOpXL852AZyBsh0OSusdGVb
q6xZmH0iP39a6MbiI51WO8+1RyOubYkRTwmivm4ncFq+0PV1uja6OisKeK0kZVDQU8KfYfpZQPou
+tscalkYp59thTuU/1jZSC29SQAD6l5XxXbYxm7NTEmAyMzO67aONrADzRNwUsog1BDWwI2uC31J
riXTk4rcPKWNyaA46HGHsTTpKHet7AapHjhQfzTAYcz5W6M35dHsrW+JIXdPUzZI3uQTKaU11MCT
1iqeoCPNKLT/j7Tz2o1bS9bwExFgDrckOyl0S5bkbfuGsLdl5pz59OejDg5GzW404Tl7BjMGBuPq
tbhCrao/xNFB7VDX97RM33pSsKZivDRLhIWJDhYdYdTt0Flg7Z0nSuGEOaJaR95jmPi2Ek+ZHQjp
W+eLW9F78Mxdqd5bleGIs0KJJzz0Y7XJihGQXesUqasJL0bvbypfsiswIZG59vsuqtGUfykTosvI
TwOzJC9+X1PFvkg93XuUpPeAjxiVW6l+jjdq6buZOOGLQzFM4W6T6oe8Wvuyy+Rojg7YDyOguXCj
LSH4coPhj1In3mMK5c3OQ0G0A09fycCujhHRTXoH8x68cAoQpMAokBQmz+jLP4oB4CCS99674DmK
8Bh69avm91vNl7aIDuObu4b2Xj4vGST2IwrWZFSmECNfPGGCXKb5Qyr7aKqZ7YvpVoRIXsNZub1L
1sIsjmxF9wLf7EbhUQ5Hu9F2QvFbwrbudpCLWsY8mJm7gAsCr1mSzvP1XCc4R8SeJTxWZryT+85G
bFfvgR9o36sOYfCk9hyzaJxkTFZu3As2wxx6dlLiIQgtAM71eeg0agQIKJF/9CR0+QxXUI090TX9
yZMapJMre1K0X4nSvQht84QD6789+saNSoo23MmZTgH7KUwcc/xye04uku+PHwasiwI+k0OP+PyH
BZTIY71M/WNXb5Afwb3DURABKvNtoh0MuO7QhPzsS4rJOD4BDfqPcv5lNhHChc2V0r0EKreN3qJ8
Y1lf2morR9mmGPZR1FGHrpywuDNrdcXM7vJO4rnAI5Nbkbm8UDABjhYpnlzwm4XtCJ6bSLS+2hBJ
x8hwTJGpK0yIVBClb8/W5b00B57lckgraF8vJyuIVA0Gt3+0QvnYG709IiaBKeMmToPD34b66PMi
wiZT4gd4e/5dEsnwpQSr4WPpmabbGNG2VqVp42c/IHps/zoWIwLiC+FyrgQvepQJlQspVacEayxg
CfT39n7m3dHrm7mXKwvu8tuhovIp1qKkbshJUUJqwup8TGYGu9e7+Ti6FlIE2ywwv0WCOm0DMQ4P
vhjV+/9ioBbJGnhi2jPLxLf0WE5ULpKjED2I/lbPH5IqdK12rYt1JWMD0TsXyyRIG6D6FucZ1ewq
tdIoPfI2c1ofHd/qrVD/UHjYTHR6k87ug12ZCa6WGytp6eW1pOEZ8UGXmd/US51vxRwSz2owx+WX
NS+I+kr3qRYrz7dncllh4sGDij5vHpgyiAYvWUAlUhumMeAgq3VeeDfQoXOA1xYAigY5ZHCi8pZS
R8TJvqq8leV6Lfasl8z+w/+HjuRia6COlQ0ChqceYoE99l9qGTuBgE4NklWxrDwXSvHt74cLmJiy
FmtnNpA6D1lKrSxYrYJpLe7K4cSaVXZG9I153sZ1AxX56+14ly80MCt0XCHwsP8R2T+PZ8pjnimD
lh6zDuI7ZY8+8AW3yIc+e6qGPJJ3VmxO1R60UWz+vh372gKa5a6wkmX1UkE8j92MeVLW9YRrbQqP
cBobuqeKmrl/H2UGoUIx4kCAMnEeRcbbDEySiNF4k6WcbaJ0sgppXClHXkmfwK4ArIWrCOicu+I8
jJ/2Yho3Xnqks2gbWuA0PdSpbi/CIQiCYSto/qbR7SA1XwSvfUzMtczmShIN9wdwL0nqrDu8XK2i
QYvB0kbsXaFp2KIeNdvSSI+ikf6UtdbbIroU2HFucBwNjedk6vTTKJt9VInj1sNCYpc1ySviYKkT
8xizZ4yi4zdyuzGUVN2GtF7//uYBHUMJnoc6aO8lh7Gc8LiPkdg5NpawRRjqNHDD19VTtarIfO0u
QOCebQylDWjmYg2UohVbpTpPTbXVpbt652/C/i6C1bfBm/b2eptP3PMnpQbDwpz5wejLgGM4Xwhw
qeRWFLv0KLde/BXnYM/FZXR46hNLZeVp8srKu7aDeS2zh5EOklFXPI9ntIqV6Sm7SEzeLSu2wf6k
XOb9XeavORV/OIBejA34Ls813rIXegk6ypeg1QXmEbu+57hDwEb2JXGv+Vb6EMDXd7sGOpuYCtXG
SgVOaVR0XfBm0S7Sq3yrKKn1QKYfOQCOFcfow85N/Ep4Tn0fsr1Um/vRagy3rgPt3tfKeEf79uSX
hbBRo6zY9ZHi34lKDxy/Kbt31QxGnqd54uC3WSKzqlSHUa556OaGuaWq50GdjJuVu/3arUAJDnY7
5wmp7OIDdwl4VkqKeDMK0zvJ/2sgerYkxVv2kKPWvjOKYHr/i0VF63fm0aDYuayPp4LpydVQZUeU
Au4racTo50ENskej+X470OVq4gTjPOatCTmV9Xu+muKmCQWsgbDYJmnCEj6VErfh8Ign45R20+vt
aJf7kksdqVc4QpR8UP05j+ZNvCktvciOiv5vZ+xnhlBa2VX/R/WTe7DqX3BLvx3xA2N+voQJiX4Y
4AcwstjYnIf0hybsRQkzFC3A/QzI8tjkdiyE1u8GMaTJzqHX8lBTrCp3qDnAIehxYjspwZD/I8a5
9iYjTjTaRldMrW3kutLahRgrh6nJ5O956xUvVqCVP31QJJ0rpqkPDVIrtB81jp5bFQDnyoCufTCo
AaBuPvAqy+ut87MSXFyfHYUGDlch2tTDwamNr7HZO1obramSXvtkvOLo9TGF/LM4bobAr2OeXjlg
Cv0wws1+9LNxm+AvG3ji3lJiaJ5rXrOXO45DE1woUmx4RrDnzr/Z2Ol4iY9+dtSRDCusbab/KM38
DlhCHQQbi8f07UVyJasm4Mw6h7sygzcXWbWZyqEBQhtLdlFo6EWgD/AtBaB/5/eF9wbfxeycVInN
lwC0uU6OllAOHbocebhAG8A83/49V8ePmAcbBOoX9ILz8U9TYlHnLzOulDh21IguYZB1GCp2cUYL
0cqffRV1L+xwrZXI81m23C3UZHmtYOk458HnkVu6JKIYs0HNQXU7XXDieKcE4l8/s5lmEn0aUUwd
98p5FE8acAj0xuzYS3vUFOwk+tLR6unzyTHEHl5IvKGssQLIv8w+56AoZyB3BBRqWXCSrbhLxHHi
7OnRKVFPvI5XMs9rk4dU4cx/hNlObfN8WGXmW55vzfbxiETk5H7xY7La+r+2/5UZrQ3AAGjg8kkd
GJ6kkLNlRx8P5BiORSl8GbwXDySSP325vQ4vU5tZIQHNoplEwRN+keM2/lAq46AwZUqymTqVBLd1
lGzayF29phg4f/PlygMPhgoXz8d5Hy4mLxyrJpgN6WMhv/f8F7F4E1Vb9fFxIbX5OZo/amtN1e3a
kgCdxiKEA4itxiImtOMaNCQG4XQyvW1taJMbIQ6yvT2LV6qDFAYRQ2RLIXtAzn4+tLGDXqjIdX6U
ggJ3FbrGT0FWOt74mu0xg3cLU7PjtQzi2mKE18kWhnzCdbs40jqliY1Jhj+tGvdF+ppod5W4Vo24
dk59jrG4G6jjZF3QYSBfRyPCtYepgAyPpjjycQqExpXVeG3lf442/5pPaFBkcitDqXxszbRk08ay
kxmFrRRfo7rZa8qa1cq1tQG8BrAQKvHcDYvNLPZtFAkd7ztNAywSNeR5yLOvdeCu7DD4cYgHWyQp
wOkWY0oGqWymLC6Ovp5lm3oylBLoeyvvxiEN9xnyVCuTeGVYjInXMQRDuCtLSt5kRUmRJW1xxJIk
2Pr0vW3Ufv7SLpr+Dv0o4MPzu8EExbDYWINphtFo4qeiDrJ36lqkmsxCMNyVjXVlRcxcekj8KOMQ
aRFGANQe41Qwu6pQle1fiyF4iMVXtep54BZPCZ3nRhkP83+jwbVRUDcJsK/BgcLO025LKd/1AnWl
TPYBJDs7yagyUs2h3sePggq/+Ka8OzutZszHzmiH78kYh5FTRDCd3X5U831TKqHotLQFIlcJY8Ht
Ik3fqQoUOldq01KzsYI3fsZgI342o4cziF82ss0qrGpnjEb1GTmxCo5CZQUbD7shY6M2QT84ZQWL
meSzbCBIIBr8W2hl1d8KkMl1h8Zn/x615jBsE93r2y95pjf9viqqWLFL9Itq2+gtOdz4RjdXLjMv
5o/+qIOnKBDdXfly85F3MUeU2Ch3s+gvzLrk2Cp6qwh0sthSOehpcfDElKp33YuHDFSjY0yNMdph
ENSyXVdokHSWOBsL9uGDianAin7LZQLIrT2zkYDcAKyjbHJ+tuDexFsU1M2Rz9TYeaIc8rRxFWsn
JQrytf4d4tXbCbKXH0fPU++tJEQXh/VHeIpdPC9BxC6FjsMskczWSPRjX/vbrNQl3imhE3h5uJLp
XpzYcyCqBrOfJ523pa5AWUZt1E2FfszNDDAMmjNJxQsitasG0n3z0Hsre3QloLHYolZpKcC8cv0I
08Nu0fO00ASuC1fSVNuI3wXr68rKmnOSxcriQgeBDeScy3bZdgpNI2h6kd0HMLzbcFLl90qo/pla
eB2QCTBvDPNJfa1LGAtdpuTbou/1nTA7/9z+Jde+KahtPipnIXEWSwq7bbXDNwswWSW5rbVTpQ3F
upXveT0I0Bc+KkntMrUgQUt1RCX1YwOwsabDSU+cc39lu65FWbwKUouSje9lRKnvGoqaRrZTtZUE
8HKhsPQphNMopN7BH893IAKvaDvkqnL0oIzCBZSlvRcf0DZzlOSrFJor6/KjI3O+Tthp0Evoosy7
YVn4CEQceyotUo+kUKkDDnhCmXrUxE0aPsvx06h+F+WvIiVqUc2chrpV1Y1bnKwffRX6ULJ2Y14b
/qefs3wSNbo/KH7Nz1GUB9VD5lN/aKyvjbwdovs+W+mxXGakwJRIOoARzHYXzPb5ZLP248jQBAML
cFF/GOLMsP0COKRHNrcFbVod5dTnLuBKee60YnRKXM+3t/fHRSbCb8CDCY0TuoAI2i0KM7ISxCBD
DeOYcD/S6XLj9NvfR6ADwB0MFg0JsHnOPyWM5ixlZU21eSxEQXViNrsrJsWaO8yVL0eJAngp9Rg0
mpZHap3XbY7ZLUdq228F5R0A8IMQPqoHjC9dnul/faxQEaGDAnADqJuy1PTpQoxbOyFm2kzxTpMp
oWf4taq5vuZIe7np6fLxcOE/Qc6CoT2fPYyYC0nG1ADH4O4+q5uQ/nz4LHnWyk68SIHB/n+Os9z4
ck2jQiRO3E+2iRJKHH4FjLwp1vyzr1zycyQgJzQf+NNHS+fTeghZ4mY3CxFlHApbs60VW/T9xG7B
Irte4gmHrpm8PaLEKJt5g7Bt20zj+MnMze2FeaGjwHNaxUaP94WmzEn44lYUEZoUDN/D8HYU7B7b
tTT9GsibLFVfPeim5c6Y3LIYTpGWvRTD8Ep/cAa8JnG58ksuqnszM4zLck49OASXpAjdL0HE1rJ1
5I1CP1nK6kOZGP1+VLJ4Q+LdQT71pG3Z+MbBG2XpcHsiroWHCI7yL19EocxwvsYCvSwiKyO80FtI
qvq1WxikgVlk4CVvHSbExvUM71ptZdgXD4cPXBVHIIXNGYG2OP/qKhe1CNWSY/uzjG0QKN79oNrp
SsXp6uiY0/+Lsrg2QzZ/6M9RxGfR6Z7aty5y6JO8l2t9mnkrLu4yYGL/CTQftZ8WNkI/jZpOBFJy
m1Lh1+T99me6nC6aAzyDKWAAsUXa5/zvj7iYoXto7VEdT174TaMoGU7vZnbwtJXH0+WUqdTnkLYB
+oYY0xJ4541CjIJYNRwnCzldocVHZXAE7x9KrGWvUvsUHLSzV9KbyxOIoDNyC787TOCXpJaxV4Je
8+XhKGlfwIuRfaDy/5Tp40qydmUaeQvPsfAsQqNx/t8/faa6FbHFCozhWMK+RO3Hbs0Mmj7QfOlF
CsuVhOrjEDlfFSq1LQqdFDzpTy/b7chneTGtivHYuZym383SHkzOcKdU7Va1Y91Bl8befX97af+p
dsJd8gMUfrMLt8FgF+/De/Fc3GXO2svvcqnyo1hIyKJQ57soqxS+2NZeH41HCEoPPYiOQsCYKluT
Wr821dQu4fOodEou3nODGVUCrcnxWNew1/unIAC7n9kN2tt/Lx0wv/c/B1vcYK0JAQPjlvFoTAHL
0xHzyrVE/1FJ0j+Z+rOqHzqheMiLfSisrKhrs0nSMWtozPC/JY1YFES18+JmPAb6ITSEQxbbOgik
v979YCn+E2Sx+6csh0MsluOR6u3OUEM76cf79sEPNpOw9t2ubEXQ1/ybetjM+16kbAO8RsuIq+mo
RIBew+9KLTui+MtQVpKOKxkwuhlkAXiOgNYCJnK+FyuDfZfp7XQUKugRxs78Jjbw2dycHB958U2W
rORtl4ARBLU/R1zcdXEvx2iEENFop62p5l/apwkxNod6FN7JQ/4wmMU+G2y5W4n88QhcHASzuj5Y
f6R3Lx+JcHHaUJT76fjt22Nobx+f73P7xym0T5ad2qUd2o+DS4pvB07p+JtDvInnP9jB9tev0q5t
yYYrtXn68s/Da/7NMe1u892z3wJ7tGW72vGA3gUb6tp26Mr2857t5hruy8b+snt4uPvzfB/Yf37/
ub0iP/iNt0a0uFkryxyMumdEmp3bp+39fbeVN+MGALFjbbFHuQfmcrI23oPuWj/qB9Q2NSc8Nc/O
vrfvgL7be8Veueyvf99Ps7y4hKO4GnTdn3/TycvSTVXsUkpZW2r7evyzegaWV09f1lKM+S9dTATO
RupMakVH4CJ/Q3W+H0sJi7gooiYeCpu4iFeu5I89t4yBGgU8ZmB50EQWA4NmKsaelotHyc6dX5gK
8S98/ZzE/uftZ2CL9lH9svJ9rxwDMAP/E3I+9z7dlGmodlNvEVJVvutOvE9cwWns1Hn9Ni/YH+hw
2PU2/aYwxUfnj3lUDuD1bH3TItsobtHn0HObu0Xefu/XNFWvZChnP21x2EtjFIeGxE8TE2WjCQXP
Plzfw6qpyVPCTT2GR6VGN0UVV47hq3MCLBmnJwXaxxI9JdH1l0alEo9G1z51+T5LD7X5K1bb77cn
/3KAHyaOcEHn4xEfgPO5B3ZZjVXkS0dUf+vmwSo6Oy1w/HZHuXMySdkY9e/bEa8cxnCZFQVLGM5I
6FWL7ZxOatJIsS4dUWdTp9SOasmRoz99goZXdq+3d3HXH5CZflqJOw/lfGXPHGo4OlShZ4nMxcpW
tNbk3axJx+xBMPeTKlGQx35l/Bd1fRiwTfZS6tlGMja3414mJ3NY8h8AYzTnlq25KGk5q1tTOkY1
L4/4PhZ+NHgsh6dQWKmAXNYmziMtMs6ukBspGgy+ZRPZ7U/Rf5XFr1kZu8GdhzLn7WFd/4xg4ciG
QC3BYDtfOWJnNOiYM6563Ewni0wBzRhPw2o0klAB9ZDC+u1zzd4Oe22MzBcNalrHKs/q86ihhfaa
pmby0TTgdFrboHkysM71nDb8KYgrE3ptjCxReu+zIwgaOYuTqRLDeIrMXD6mMDD73g1rW4VUWZqb
lJu0fBS62E6w0bo9xsu9P/P9Z9UiCqMKV/j5GIsm0McpSuRjKT6CM23jepONr37br+STV+aSOPPw
yIjoGi8Ot9JLlLDUK/k4FLVj5j8DPAmjsAB9x4FvaXfYrtwe2IWlGRWQs4iLr5dkQzdpRs3Xy2M7
TrD+yO2s+wawRlCccih3neCqtYU/qGFT6bOFwIIr4ub8sRn+rbXy3rN2TWr3Jb5NLLM6NHaZr+8S
2XA0BZJLsL39i6+uAFCeHBezsCSr7vxb5FEqt3pbysdC2EYe1YOocrMtgHSpRNm0tD0Dmv+alu+V
2hUqMKSq1Eg4KoFGnUcNRqkA1dKx7gLtNz5lzmCFG1FxC97I4m8er3gIVHZrIFGfWvvbQ57/7sUx
yZXAaqc9BsFhyUeVtKqf2qqVScpNDQmhOt9OXhKvTOyVewfLNxJUNNDQu7EW905flZOZBh4rIcpe
vGE6lpPi5GHrCnqGNILI51Sohtcrh/G1mZ0VqCnJAYHkcy6+px5UfSVQKT/m3b9Ik/ZEGAW87m2F
rNi0w8xW3mtBdm/P6dWws97UxzYDMSQvPmhXykVdCfQf4GiP1bYWRnfQU9scDrr0rYiLN13YyuED
cpMrmeq1z/k58uK2zaFQxEbsa8d8KCv4/z2ZS4ML2e0BXvucXAMoheDyhjfuYlqVJFSyyAu0Y+TR
gY8h7jd/xvIgYI7gd92mfy4jY3c75LWtCdxlVg+0yNFA9ZzPqThpdInZske/tsVNM77I6M6W0a7P
38TE2PZTbEsrOcTlZPJ4JJmby/Gz3uxiMkdUEAS8XKZjIkfKpm1D/VALRnW4PbJrUcCikBrNYo8X
O3AM1EnJg2I6yhP5/RhiDYdo/N8aTJGPcI1SMqG5AL9jmflVHvYPcVlOR12Y0q0ZItZlDkq4cppc
3mXnURYLP08tHbAL76QOv/AHA3+0DZavZPeyKRwsT+1X5u5KPO5NSk6gROBKLgGzgzXJiRfH0tGL
FP1HrlnjVupM0gPNCyobVFG0srXnFOD8uCSP/VA2/d+MdnGQzRagFc8yki5gMpAsvCaAcImOo5CX
TbeyzeZtdB4MxX4Ty2ko1WyzZTsoyAaQonhXHqtUtI2RV/vAuzz6ovnvk3mvRCtb7HIyz8MtdvVQ
Cn1qgQ0H4hg5WjI6bDin1t6qvwdknAeaj5dPL0CZzpPa+KIBfC3/NymShyCMJruVbdkIbMG4FwRt
lo5uT6r3vceE7fZ+m7OOi1md+yFIWfDUWgr5GGahWzF57jGFP/979A/69yJ5jxGNvB3ncl9TWZvJ
X9Cv4WIt12ZSh0Ep4OV6nCr/Vwo/hovOS1duuMv1SBConmAheL1TgT6fSglH0cHMU/NoJWnoAOxl
TPSaoQY1/X8znk+hFtmcnmamXiBERfvYzGxDLbJNOKBF/V/M2qcoi0XY+1PU5SMDMr102zQTtrdr
MnHXFsDnOVssP2T+66zz+TCp4WZCkTkpSIDWeDX1BF2m6O32gK7tqk/Rlu3AWQ4o1z2mTdKSemu1
Xuv6U/MyWv5DXI3Tynq40hhgQdCzRqeCsuCF3Kw61VXYKaV5HMfMldFH9Jr6sbakjRiZ7tTdWU27
wwP1oMqtI97FY2KHrbST8vaHFXnfii9xZ7xbsWcr006RePzQKgxi6ZQquj16roHkGatgN0LGyVW7
iztS0i+3J+zy88zrWKYcRWLBjbi4Q6YqRG8eNB0alsMEdpa7XXabwVW9Q6aaa2fsldKeaXAn0qMk
L+XBvljW6pAUlgbpg+T7n8jaw0BPc+y5BDuoEMcN29HxhuaPIjwFqWy3qfDXghCwimdxYJIaUg0a
Ouc7uBZmyLlQKMcOtVmXHrliq5G4hg27kj7BuDCJRe4wq+cvchm/FAQ4eqF+LJXCzmpMjze8+Yyv
+NBWr/0pC6qVY/Zy3dMHQ03ORMUEOfUP+tmnQ97KYXz5XgVEqsMaQjDLf4qUopMYfxdKq1tJey+l
lIDl87RAdYLOO7O4ODbUNkZQK9TBHMbypswmOvtytgP4xfvWkn8BnoywPDcRWeqSQ+qxL5om3mn0
wrzwoMiFglBKUt2pUjfejZX26/aSvgJIgjWAGQ6ZF+hZ8snzj2y2EqQ6LzCOvind94L+UDXeCwoK
dm59lXkG4cnu6nW79+pki05xqj5oyl0tmRupO8lr6PGPvPX8Bpx/zUwUBgE/o4TOf00vDL3lecBM
5K8DiYWJFMJ3C/F0B6qp1v4K/5V6x3oy2v3tWbjY2EgnAstivrldkYhZnLutHss1WmLWceqyzRh8
w9reEfInY3pF/vp2qMvlfh5reeqWwDhpxxBLQVzvq/enOg25W7uBvCtNe41iNC+us/mcg0Hbot0P
8gTUx/l8QqJQ0yxqCKbomzp/wQXDFjBdT+it5N/WCugXG2sRbXHlK1LnF5ze1jHT/zRjbcPwRBHh
++wCfHsSL3ILAmFwCqV35u2zbs+HJVX6KCRW4B0TfbRLrmE5+GG1aypo14YzV72IwMwR5jyK3vsR
3hOhdzRkN7ZcoPhpcG8WK8nL1QUBOhZU1YcG9hLyXzG8PjEIM4E2eJ72TWX7qRPR0uoSx3/5+5mj
ogfACoQ4qIrFShejVo0KIfJ4llTI67hS9ktJV86UefYXiw6SOuMBYz1TuhbvYRn+hy4WvnDU9LR2
ey0XbKWX08PtkXxoFFyEmcEhMmJJ4HgWn6eJEjVug0Q4em/Vk/SqSjS9nPZ98u1x3N7pX7RuAyEY
XfuVuPPPX8QF4UvV7wPNjMDIYlkYWiVkiigcxeohosM/appdxz+wv+6azFY9Vy4A4EkrS/7yiOIN
aXJQ88CGSLFUZ8fXTgi1QvFPsNztbvptNbXdtb8M6RtWZSuxLk8N+i/UfDkwmFzWyvkIy6iLYiGb
glOfvQ+h9Gq2j2LcuqDxkHNU3X7NG/kD+Hk+pcSiGsb/GyA8DMDzgG0V1NWEaddJ5XxK65+tE4sn
PNcgYSGsMj002r89opRt+wW2FKa0sEeE5h6tsV04t4m+YbtkFMiYW2yYii7KmkDPlckH9kiBZ87G
eO8ulto0TrpnhX14Mr2HuPApkGlboX4vvG8Ylq6cBxeKs2RcVHhZVzD72T5L+lun0WL2sPE4Zd1L
lH33+rdpfBgRjPb0etNLrOjfpWCHvD8gpGf/ZtVJRo5T/acrFKSmJtFWMKFpZn6Fv4bIvtzZZIOs
+1mKlxtDXSwMsYFxNaZKdJJC4NJ1RuU8GTxrZYddeCYwAyxxbG7odAAxX9a6p9Gj0IsIykmT2cxN
4yZifJhfkQXifL7w1OTloS1E1/jHG3KbSoocgEABZ5v6tO6Sf+BDOwLvi7HYjNG2+QBzD+gpaW4a
ru3L+cBcLF2Q47N1B8oIaE4t8idQm54RjGJ8agOnzl7UvNqWs5+D/quV+72XYve0cvBdWYzgb3mI
0niiH7vkNgSZLCWTYcanyroLqlepfQr9u6Z+AJS/cg5cvkDo+8z/AFbExJZE4nxfoiZeIvLsZacg
77bApu0wHu2KkfayZhd+daKIwDL03Hj8KnnZYzl0fz1Y5hbxA1pQoLZhkZz/gjaMjaL3Su0oCJYT
joAtauTM6HrIyc5cQaxcTiyyvXO/Cx7V/C5YfEpfH+NKNkPurUxrtmEqADYZNPnByyWYXGqtntR2
1SDkelBUN8kAQFJcWFMnwZSGZiwcw0LCDkQNetPJLF/aTAnIf3Gsa6eBzvT19iV2ecIDgqPWCrSC
7Xyxw6Rc76RCHgQqQGY1OVkRarrD892sOOHz2rPr0bPonoZiLW7Ae6VrLrxXlhZipnCeKCKCAsZQ
6PzDUp9KVamf+AWeH+T2kKAAA/A3eMhoDThdxkbtkjRzBeR87SyN0Y3Vqz2prLzTGtTQbs/HZUJp
AsDEOgG8Im3I5SOtD8IsM0wxOQXiIG0yQR4cYgIJKNq1/OFKKIqm0GMBHVDzXnK+sp4KdxVY8ake
FMWNZ2zpUEF1K4dxTSDwUquHMaFqBdAaPwAO1XnxfXrp5gIg07CN0lOBf2QDp8wsaxRkK6e718lV
ODfk4Y19/MAh0o1uVhn7Jkl3Rb01tNyuqmE7puWvGtawvLLXLl96sycOuQWqd6S+FzMuKV0SBE2a
nkTPwgybq17adWPqegU8mB9S1TqGtlVwLmx2jXGfpMJff3FU78yZjooDFOfLYrNzuqqNnBvpyRPv
1ExlzyVuutYautjcEEwQS0XDxpxdzj9S/0/z76stewDzK/Ia9S5QZaetny1kaVrtRAd6e3sNXz4k
FtEWQ9JUoW390c9Pk9kdzLK3Re9QDO5bhN4pAjbaUVbWMsXLJHyOiSDU/EDiIxqLmKRjdWcNVX6q
UauxA6nLN5GcPcMz/VmpY73lsgrvoy5EYb5NR1cZ6+gOAQgUmUUrdwsvEn4GmbDWt74271TRUeFC
/w7ZksW95XfK2IzdmJ/onLGKQgOSeNMZcB6iH0GflJtJXZfElNlMZ5kAU8FzBBFVCmYk6YuglRnp
dV/r+SnrMWjSalU++Cpc8bJPfUpZtb83fZ/bSxAEV49T7x4X+++5ZJSHvmzMPyuLYU5JL34NZZQZ
tIWk6/LxKpp9D+FRzk/ai7FX7qOCspLd2cMfBS13OzzkjQ33cg1Ie9lfnieBweuU82hNflTDPq34
QkQo3ijV/DRM+b6UdNt/rsbCrbvatrBijPW71sLMzMWw7vaAr37y+X2EXoyI49biPrHCEWGTyS9O
Ytu81e0YbbwSFQxZm9RdlIkGwqhT9ut2zIujnMGivsgOpxBqXvBnNQHMnDBN+SmkMgwJK8JitGgF
p4IBtrkd6iLznkPRYAaGR+7HI+T8JNensSbXkoqT4f1Q5Dfderv9918kBIu/f7GPJSHQ9CxSi5Ns
uN7XqMHHwq5KJ0t2LJTboeZ9sFiZsONmAhCvTNptiy+V4JYeeYlRnOI/xaF4imPbdMvWaV8D9f8Z
af5+nxZjL+EPllhKcdKsk2Ee8s5tYmeov4wvguZKzcr5e2UFno1r3pGfooXypPfJPC41edHCjaQ9
Bz/99HW1AHHlU83EPzIkbvT5v8/jlBjJxZo58qmwtUdzt/9TkjGJ/gtSpE48lO7tz3Vl5Z2Fm4f9
aVimJYwkgYSbcJSNXts1KMO15QBqDxgNsgUkYcr5328JppmFlP5PiVzZQv2qj3ex98crD1Lp6PhD
d2ix3B7RZe5BWYPnPC9MyntIpi9CotTYNX7MYoe6PBWPIZY86Co9UGz+7b0iJZKbhwgFgjXCz7WZ
xD0JxU1KfehhLsLKFC0hHLJAzOw+EPyNipnd7ZGtRZj/90/fqg5EBONMIsAoFDZp7KM5NlLEvx3l
2gL8XyEgUBtkb4uzgmwJWItCFLQmpddEPSg1HMF9NO7admVPzWt5eVbQCtcRbCd/oiR1PiA9SkYr
DvPy5OvbAMn55FlOM3swVkDO1+btc5jFl+lQvcvreg7DQmiyu0De356yawGgXsEsQUMJH+t5Sj99
mKHRx4IHT3kyzdqR0sdsPdefp2IxVewg0Bgmr0jQRotjIcFsVaNOVZ2M9g4rFLhW+qF3Y1J8xdiK
4ZMk77vRGTbD3qrfwkDdyHYU271Tta4mbWmrpGukqysf7+wXLU+OLCrTejBocAjNXozFeS3aWfCn
E/+6H0CdDNkFho+2BLzOxbr3hZxETzLq07CNzLekfyjWeoZXDvezCIurJErbBhsTIij96IjdH928
D8lnpcjHuub59mKZ/67Fl4ScyrOcFiXaiEvLqUHUk7JIi+bUYrDiUGsMeDdEyT6JwFD8fSgWJSxO
xIZohy7Sil7vyByDujlNveSo8qMUUXgYd7eDXFkHSFHMmThdfzbxYvETdzQno2lOKeLYcYoaThz/
NPLxruyLlSzwsqwwV0yt2caIahV11MXZFPU1RywuFCeMuu6lejcaLH71RTFeDKiHqRptY2TAPUHd
14K+C5I1LefLsaIvQHUeEiCgTjQuzze6ijQ1ZiJlfeKHgMd9T+RXT3AHDOtvz+nlGuHdDDL3Q5KV
Jb9Yj7hwhBGOz/VJErCiyHIEueWdkK9VAC+PepB5DIjq3+y0vhT7bXBqkLNuak6ZGtm99JpHB31y
RgV/iDGD0nm4Paor4aiAQRsFT88/yz7s0ChK08dKQ0KtfxXaLSC9rnbE9rX6H9K+qzduJlj2FxFg
Dq/DsEmrpSSvLOuFkGSbaZgzf/2t0bk43+4ssYTvhR9sWICak3p6uqur7LkS10qxt2cavHz/Wbup
xI6A+0aJ1J6qv+ETSP2NyDv3lK5FG2zJr4/ztRluS0ogoIZmyNSe9PxrStAVaxzq6pcEscvAiWOE
GoFK2uT3/Zlc2IcKZDaQy8JfOBNs7BcXzlA0oyVkantSN2ASeu4e1sBDt2EbRnVhgDvUYOy0ujSB
AZCG2botEd1RNoUTe/fHsbDPr8ywz7gYR5DSOquhinyKIZKr9geWiwrKlcO0sBEYBhsvZRCyoAuc
G4tEs7KciqA90RL0GSCbGZAADXKg+58Co1zx7gsrw0RWoDkJDArSP5yxtkee14yH7jQl+e8ZfEsJ
QHH1LDnasPYmXgh0QYb2DasFgohlJ65nr51EfVBDuTtFu/Cx3PVf4h4a05t2nz60f4O3fmUeFzJQ
1/Y4ryRmgTAmotSdWq/dIfL4oe5KF/1qO/Db/vO+uBoZm+WLfSENYlK2ighL6tkKq8/ZSt/H8N/x
KMgeAeeFHDkSXMjVcmY6TacFwpjuNCTHIDlpSvhSa64g7PX6rz6AuidEydGStsmcgVS+eM7D7f1x
fnf2cN4DqVtGAY37E3ps3BfMYgAO7K7oTpZJQQRMBlEhUXiQCy/Q/Hl2ZprbtUGmCCTYfoscXGk9
rOFS2Za89w2cM5HlIpjmse9wCyBV2z50Cn0w22bb1BW6Y+Zfs7imL7Nw7MHEoCOZBlQOLgLOZxad
3AxAa3cnedpG05+8jEhZeCtTu+CYr4xwj4s+B3++mY7diQ6H3gDCUrJHDWQw4rMybmi4q/Wf8ct9
m2y1bmYSoFvsKQDCboL0Qk4yPQMPLbZtbCtQ54S4X/4z0NbKK4t2QC4MHklkIwH1vT4es25FGdWV
7hQn1scACUUzEj6z5OekrjFILfoYiGb8rynOx3SzQQegprtT6SEsaJ3WJGXtFYXXDSSiDtqD6tYZ
f61JnyxEejiausJadgBUhaILN8Q+kWaxxBCtpHiI02Pb5W4Fwg6UchzgadxhRjkc3yD1AcjWxrOY
N6f7i8lGdrOYF1/A7R+hGWs9hnjqifa1n8jtWYvW1nHxHFyY4NaxS0xryAGpOkFrwW2kiFj9g6qv
jOM7AL83EG4Js66awAgJK8o2fm/AcP/7M5JI7Mogmq9IBiDSod9SpI+RRX1DSb7Zln+Kz3y0dfRP
QOMSNeDRTv6s4lDWJpi7TpQgiouww9aa5NzpJdcY1uZ3efeCNhMtbgD0QrfhehdJ4Ac0IAoH4XaZ
qClazMfIqXdf8uh1PUk+0p38fH/TLJ7MC4Ps5xcXV6yA7SjW2Zj2dDd6oj0oK2+626ofu7QuTHDu
uhtiEZrIFrsy1B+0OsYhKF9sCA6W7R6p+51G9X0e2yr6otAr9Zia2kOoh0Qbm51Yoq6v9kQVJqJB
+NEcVjItC2Hj1bdx0Q+tEM8NJoZfuWVbIT3xpD9J6Rn9k2TU/amWV14Ui24CaF+kXAwAViSR29tR
k3aNIoT9qWufxQnAGCs+BjFDaMnHeXzOkbifkQPMxGZTa+J2jMo10o+lFUf8AFgr+joQtHBPQh3c
b5Muz8NJGGqihJtGHohSf6lryixLvoJJtUIeBg1HGo8jzBtQAKWWNCBKQZoFqfXPuZpWwq6lSABi
jmB+AVMS4/G73r0KdFRq2UjGUzVXbiI+GLI7tv44Bk45umtCykt7BW3BaDvFIw0lNc6/ZlYnBLKe
jSch7e0hSjYa+nPh0as2P/SJQSqwxIuTc/98Lr0FLo1yHrcWUIanWTritfYnSj3DAKbqTS92eLjd
N/Rd5+C8LoJKiJQxNCGgn9zOHHow6hc6LBlFaNdxY+dmve3E9gfa550g/VTzX3lLqrg5xWh9hSr3
Rpd+lfFHIfTvemxuZpC46XXujhK1SyXwKgjsdi9tBWEdMVuL7Bc2MTDiSAYAiWMYNy8JSYsiaPpg
LTJx2xWO/gaJyHB0rYnaGf1s3ewrRg/8H3DWjcFXVJF+JbHDJoOfrEv7nJ8GB/bYAHSGvZDIu8oQ
XsyxWAu12ea9sQG+ERHuEwUqPoNq1LFEtaoaTzMuASiUvpvKo661x6w4RbNJGvR7Fd1fwOVdY9bW
JphtZt44SOFZwRpwbWTjrk8W7bROVYJhOtHOGmzZnLYiFFTRSa4EP4S4/xQVkFeFrbCJK7lyIxF6
2J2ROOMsDSvzsHDGNZA6AS6OrDvy/NwN1Qt49bRZgi9RxV9V8Ue0Oh/KxPYgoPPtXbTWGiQW/BbQ
jqjSozaCtA//+gYBsqYObT+h9FjaUjhu1dLtjcEeI0rmCMSo4R7Qvqn8yNSfdWWd6o8uDPY0WWMu
u22FwJAB94a8AatK3miOmHlj0rCZp1ObnxJwwXURkZWD0W9Mw51arzesTQkOKjCQ71hPrxh7Irhp
pT+5Fq7s9qVbC82jwI2ghg7lKpFzfb0pG2EnTtOpKQ5didiqdKyezABePsq9axxn880I1xh3lrYg
6jaoHiCeB2SAO2OBME8ghczmUwlZ1hHKwVEHrRwoPc0oFQBcaSLBKJM0nEkJMfjAsNYScgsrgAYM
xtMGkVasAJ/H1+NirA1NmU9V8hO8pg/NB6boUCVWZVcDmKKC0hZEu5wI2mVqYRt2oIkKf/d5/jtK
P++751uHA9ZB5I/Beop1QMvs9Xk0lQkK57I4n7oRcFq9mndgFlmrCN561WsjXKQmpbkWQf5hPtF2
X4C5qUSFy10lw16yAqw6iCPANYNLm7vSon7QlLqtxZOWhHZhyAQEN39p/+PfJwytzlg3YIRxXzO3
chHYmgn0QzWhEk/6NB0G2YiJkplP920sJJjQ9o5bE+9N9G1Z/LkQakAo0RMpnqJuH4xbiKzFwrFN
HmnQoJKrOIoV2pG61ha8tBegp4cKNYB0LB9+PTS5TCDUE8AqZDAnAk7K1DUAFF+J25eWCSSxILtA
txjja7y2EqWGRuGZxFOB31+nwQbwvRcIen+UUezen8fFAV2Y4gY0WzkVW6qJJ0md3X46Qs5gZTBr
FtjPL3cD9I+VqlJhQZwALawKYil0Jba/vTiQQ/kGyqNyhT3HBdZREstGrWUiw8SkEPMTq2MhzSsD
WUA0MSv/08aMbkg+KoiLPutKA6cn70FVZ+FN1BFlLzv5vj3m7+WKudt5Q0pKRUoDnFRA/PA4HyNq
egmDkk8hdBnaekOhSnx/7W9nDb8acQYymkBbAIZ6vTJWIwhN0lDlJM7A6tHaHdDhlwGfdd/M7W5G
JIUHFyt44wbjCxBjjRRt0c7qaSrBsCPuWnQ3zdo+TtfwtAuG4AvQb8T4I/As4XyoIWRyP6SSesrb
ykv02C8D86/SoJekzX7eH9PC4uARB0E4UMSiUYWvluL9lmeQTTFOuClJJL6XcKT3LSzsNgDYgIlG
+RC1X4gJXK9OO6laPreFeTKA08se2mp6agIJXnuwSJN0OZpAhA8tHoC4GI8W9INWPuB2NoFOgQdC
uwvzRXwFLkYb5DirsXWKmmPXiVD3OOo1UnjxCv53xQ5fexunPmyiPrJOQpTYQZyQHlhf2dr19PP+
jN5Gs2xA0P7EbKKczkeX4yTK9dSn1qm0jpO8R6KABCDc7fIPKZR2aEh/vm/vtt+XbQ/2AEeTBnrE
DG4FC13LUxDsCCctasF3K28baS8Wg1+bIpq0extEOOALQ8/40ZqfZhqRRvhdDgoCGbDHAEIb/3tY
d/1BbCkuXLFltrJBRVM4yU8VJcKb1pJd0Nrhj3zfH+uj4N2fgIUJB5oLDDyowkMSg59wBfzirDge
+UYhOLPwkXbKthYqNw4grDIAgrcK5b7ZSzCEjkaEBAgdob/K8ggXAzS1IQzksGJiHy/WBAEVIUTK
uTeEvwOU0++PbtkW82l4GmFDyde22rqrs8gc9MfO1KZ93DRns4FaYF3VhpdoCl2ZTOa8rl6FjNIF
TQLAyiMuxmvg2lxdQhO3rTWw4fdO2UFSQN/0df+i6sGr3qdr1m4SLqxXmPWEoDQJOKvIudKwLNW2
AUvNY2e86cbPvgoPWk1aowI1OlJXqmmr3dqE3o4QNhFb4YSivoZ1vB4hrYMC6RhQXtT9DB7cqvUR
W27qPkDimU6arVloMru/hrdHlI0Th4I1mKG2xPvxIc2lsktb87GqQQENm9vC0JtNEYrSFtiOg9IF
yUOUCu0mLfJfBVIONmjoSqJFs/5SWBVkIRsfaKTgFOgzdap+lR7s5pJWUerDXcbWHbyGPGTGGAQr
BvuO+ZgILbqBQUkWdhloCrKXlalQbjYYDIGFHJEt3BXoJK6nPxOkHiKoIZj4jxjv69xuwFfdQ1G3
PaMlhsQvyt9ph5yi2q5lPG4uUwyR8a7hgYtOYTAyXFtuakuN+q4ECX9CB0+q0biIrj9zJUa8bVCA
GTylER7i3YDp5MIdzQrLoKaq9WiItf4+hR3uGilSrTdDnpvPqs3gpKchtN5mMFRUpAviNCQCfE3p
jdMAZpIujgy6jeai32S1OazpeCxNAwR0IOcNrRCkA9nPL51X2IhZx6Sd6jmcH6B9VZBInobNyjov
mNFxA6IvAaBhFDq4adAL8FA0coAmc6MtDzOCf4tIdQpcDbRkiT7rxSY1JtNV00F7lBRApXO9DO12
yDpXMBPDLTuZQmw5XeN+vPE5AHYyImyWXWR8bZyHa6qxTMUkzU6ZLNMnNY6kTRjQ9ikIpcaOYvQ6
ojMIHJ5mNaEvC8wY9yfm5qB9m4faKdOZBPyYn/4IHNVdGaENycgsJ+/F2E3nIEZSs/pnOKQOb2Mi
ctRQ/JUhDXO90lMVU1CBmZEPcZjhN80Q4PexVG+nhopon4m6j/tDu30swyCbXNY2wJ6t3Is81XOt
o3EY+3rzpY4/Bmgsg2DTi8+lDMG2qPICwRbUNR6ymxsSksdwWdhk6MaAh+V2WhhByK1KzdjPFbXe
ypUcevXcqm6qNyWJp3xNheIm3uDscTfyAEW5Es92jNI4VMMzdElTNIFoyNHaGUTV7s/p91P/6kKG
NUQ1AD2jtwPsBrzXatuINshE+4MNcbit5VKnd0Dg65gOdcATChJzwfYGFEV/yV+Z30m2ltvDGiya
WeG+glFjighn0ZULEfjrrSRIEJ/s0CDtZxqScjnkeZMeNCmq9gku1c80Cs2VOGRhURHSGayzhzUS
8sdE7lRVqDpKfSV+kGZIds/+eWrWCIeWduyVGc4ZSFWjQmkooxBOCDfoCjPy8CCF8aZI3SIMbIrq
d6eY21IyV57dN14I4dzl+LgoBMpgdDRSIfVFiMtr4yGhp2oEk56PGhQBKb+elO79nbS0hJcWuY00
CGmr4nBSv54eBat2ICYaHoXSq6E1f9/Swtohow0leaT0DTxeuUk1BKhAyrGc+WqNhHofb7L4VcmG
x1lunPuWFtYPlwyoRRmREGIsnqTCrBOrneW08KfCAHeZZmMe49GGxFeSJVA4snN0E2kJmuJWDLMN
f30ggGIGTgs1CzS7wf1cH4ihLmJ5MGZQ9jTtezXa00wapO0tT47cNttJtCK1uJFiutVX2fRu5/fa
NreSFm3BBiZKsD2+RKAJpPk260J7+rkyxhu4Ejp+8IBlG1VDxZDnuc6TojWTtCp8QfIbDSS1TbgZ
g4fEOiBjjJwomBJ8Tfi6b/X7IX47s/9ZZSfnIj6Zpng08qIo/B4OLj3XL9pn+pSc+oPqgKXWLjZA
VT8UnnhA6+5peigfE5duZl98lp+nTetpu7Wjeuvvr6bhew9efFDGUgdt1xS+1AqOAF4ebVTtrN5J
IoRW5tqGyuiv+3Nw6xyuLXI3Wh2NSSjOmPi+eQpFuPn5mDdeFTvx8Ah9QrRabO4bvAlKEKUBi4JD
xBL2oAG5nvM2K/MeEUvhgxvI7iXBCU15m+UrSj1LVnB54A/uNGQC2dPgYiKtpjKtqphLXwkIoizh
fRW/c5vNYuEm9itEIpHOAoTx2kQQjjme61HlCwHYk1CE6J0BgqpEURrFbSv8XzOmolOMkF6lypj9
RL9PZjehUe7uz+jCGUVFEyQW6PX+flRdf0g+BTGiFq30Y3XAe42pne7RSwKK+DXCioVZRXYA9WMQ
Z6NObnJrV5Qo1CItV/pFN5FcHP0aOLQEjSP3B8RmjjuWeDsBKYz7GCkPvkfEUrNUm/us8s2c9l4V
iSCq7uY1DfGFnY+GUxRlwVuHnCBvpYnmKq3jqfJRtva0YNiDquIpOQjx9EsSzI+JzpsqXDltt7VP
BBmXRtlHXezLaAinrjCbyp+EYpcmr1WNrFi9z4Se5PVIDK0DEHw3lnYuCOewjv37M7u0gGiyxZZF
TQEYd+5Y9LIxRlkvVX7Qal43tnbfd24rFCt35aIZlmNBahxFK/7GCmbktKxSrfxIQEG3As5OaE1v
KvXf94ez4C6BXP7PDnc7mVGsDcA7VL5m7OSqRjP8DykHZftDQU/oy1+Bd7Hfxm9Lk1HNseZU9Ltx
axd2XZZGWl37Y5O3T2qR6K9dkVo2qoaQoyrk0k2kZI3kbsnNADSBBwfrFLyljzIoUq2VmtW+lkRb
scXhrogmfSG3mirPYOfC+6qb841A17grFyYXfN8oqwKghMqnxk2uBIiCWYIVyZ+1AjqK5o++Mgtn
zNMnDQ2tcWsatiWgEnp/SW/PPisOyDCKdwhyKGxrXRyQFCCEjApN409GDcSERKPXRteTp/tWFoI5
JpOKgE5DdgKpXM6T5VUmCnGmYnDZlG6baNL3WmXFjiJoIah4xOa5qIbxNRE69G/rneCleP9uVz6C
3a3XGwofgfwQhOugAYDK2PVY9dRsUypZja/UlUygfY6cW219SKAT3s0TkI1Gz/hDAi2zC9oVLg1r
C9nY5J8bOFkKCdlJvKZRmwFk6/o7igZU9UiaNH6HTIQL8Ei7nZOsWrn4l1b20goXafRmjaJVjOQi
KGgHF28WkK5NTeven9TbQ8rGgouXaZ6BqIGzEqCbu4kzzKnUVQelDRJQOelfiRxtwjDU7EjvViA+
t74OBkGIAZNAbOO8XE+eXMWZIlgwqIkTtM0j6UuWggIt67Wx4lVv73k8iHW8AWQAlxga4doSMpwG
Whjr1m/q3/34qkBoMzvXwYpPXZjAKyvsNXJxAHNkfkelKlofqTsolIChkESQKgbLIYh4czVFW0hu
rBHW8HsD4QiKwigt4T4GozyfwZtqdPxZnVb7wM0MdllWNRLkkbryEL7xpbwZbmxyW+bzWJkAtJsN
uKBAhgRd7OFPABFRuXkyoj/T1OzQ6VL84x7h7XLX7jyUI0WquPYt/XVINu10HpPX+/ue+YpLX/Jt
gs0hIlGUGniHFqqoDNMmbHwjfZcbiM8DTgotdhftLODyRneNqhHoNq94629Fad4sPAfAKozjACnv
691SzVldlsEEd616ySk+y7/0H/Gx3wcP+V/DDvcFMkZQpbebHQ33ybjiUvi9KqMxA24LFXIki1hZ
59r6BLXBIAhQVokp0b7yIdolpu5UkuboqrUSOt0gz3ljnLcuaSRHWSi1vkWRRPJEMAVAyi+f0HbW
Q2yLzEI67ccR3mmr5qOhu4KcN5HddjU4QjVDC+JNIFk9614vZboNqsYwbZrG6I7TYwh2O2XfiPNW
1ilwPkqpN9Su5n7+e3+f8E4EowAAFCsFVCOqIjxrFt6Vod7SufeVqU82Aso/m3SKDmhCSrbBVOdr
d9zCErGDjasWyTwgGLgjF5fFoGSUDj46A+VjnLXCuZkyY6fHQ+QGQt/AvZQzEoti09tKWgpOWSrg
8dWT3sbzTraLWd4mZYlcoyDIuwTGEHplqx03fAIC88IIGXV02SPKgiu/3kqhMKkjqIsHP+kCi+hy
cdCsuvlFZ6l+oEqikBFpQrfSi3iHph1pX0OgZAUYeXuEGfqLldcB/8Ity/n3fMiVsijkwY8Hddgj
7fMogErhTa3L1o2FsTh1cXA2QuVRKvs1PvbvUuT1QWYlJHh+ZNPxquXB71SeKOroyugnoVydahqM
niYrE8pH0WwjRhG9VEFLYCcJ/YM1Q2xXz/poC5h36WZhOXwkNMkf01aR7WQQQM9JtQEJDCi+KWNj
kHSAfCONKvjZsjb2EMmrwNrUp4+gPxzs1lIDggcRSGaLQLN1cXrW49nyerEPt0Kvv9RF1dto+HQF
xIdkyFqoUOV5sfLsXLgeUI0FfS+om1mMzwPw8jCtaSTGox9Zn10hO+EEMdboFTJaWzOV/TEAGkv2
EAi+4AvvH8uFY3JlmrshUCSGHs0EVd1c1h61NHipdelttNLHpt+nAlLu983dxL9su6P0zvreUREH
N/31dm9KcN+NIh19KUmgSqY6CUh9gZC1qayQQmhtpS12QgnYSqh6K7ZvL/tr29w+V/O+M2ojH/3e
mKAuVqExZ5adnm464SMLDFu2AmfKwd+hNulmiD1DNG1AphW6Bn1cmvTv1w3YaNFZwoduViLOfTXW
WO+kI+hCFREH9Ojpm5q/QFysBB9Lo8YVhY9FBgBFaW7GjclqlKafccASAbXHQJO2Wm3V/76PQPPI
cjQK3k/olbleV1OJMstMzNHXM+2pj6C8q6JB8LdqgfrlvLKOC9OHIpwKUCf8FXwn+/lFpFgYYYsi
kj75cVtt40gjtflaTTsVjTnTIBDJmvdaY51yaAhGqDtjrJMVkcLYNsZXDuB3XtPN/U/iY3H4bjxU
kXRAEQuJOX6Op7EOtLKKZz8MVLxOu7EBay7gx/GEi/i+qdvlZHhJ9FNg8Li8+dexBTlPJZ+z2YeO
60BiBP9uUCi5c9/KQtCBqwjuCNw3AMojCcDNca/lQhjXkp+GfetSGre7UlQLUprqsBkmQX6aULgH
KXQYemGlGA564g0H7Lqmo/Vzv5FoYDykVpF7YZRVx7ag0sYQB8OO6g7qkZHUKU8WiHxXAt6FuBCJ
ErgWDaledFnw3Bp9SSezNxPFn8LMQcZCdSOns/6qHdFLTwP92mQnBBqDoMGIHRAs5m8zO3c1KdeS
iQuu7vpT2EpebFPUxQ1By/Ap+l63cy9y/PoD6rJetRbqsFDm+gqF1gfiaIAymOY9T4+iWEM6SEqu
+Lj+SOZWe8lJvC9lHxxyO325vzEWdjps4cUHVwqqW76dYe4KMdQl2GoR3+flKwRVa2sNvnQbK36L
lzBILbYfwEHXMweK1D5qkkzx6/QM/j4vmRqXDhCUjNamjrmlm6lDOKdBO5wVBThLsaJUZqsXik9/
6cLWcKvNlGzy2kNOTdjPhT1sNYlka2TTC2cYeVAZDUnAhLF06PX4kiHGJo1nza81fT9Vk2prWmq5
/7xS8MNM/ZOhdEye8VyRh1gd09r0W6mvHSNtKZnq+mFu4zVR+YU9gX33rWgDyiNEstfDUeWeymMo
m36iCbGjGXHrqJ2aOVYBWpv7g1qYOXScigDsg+oN7WTcZSYqTZtFiWH6QqXqkDKRTah1jmvKaIsD
Yr4cFJRA0PFWDKFR2nIUTD9rlHrXIwqNcYt0yc8WkiZP90d0YwtxL9NmAd4AaRSUN64nzxDCkpYx
tfxGFounNAgLxRNkaKKTGs15q1Sit+YAlkFNVwF9MdsUXAwUo/3NLA1DQKxPiQW5HCt4N5QB0r6b
ocuIks7+VHkq+rT1uiJhHWzwX24voCwZrqCVb6qg+ACNKRQgh4W6tqmyw3nhICkyWMXYBvNZO80d
CQLXxJEj9IU+9Nv5Tag2zau50x3pkJm2fmyOiboZR8fQSBBuTBDKgOOydF8jL9NI8rSmXsMuuEvP
8P1xrMSPEMO4hTiHxSgaNO7Fc1DptY2+0tIuoGtNyjISiDwC35XOnUggiVa593fEjUg7My2jsIaM
FCp96Py5nhcL9aF8ANL/HCVEfprN5xGP1Y/p09jX6caSvFi1x7/jZihtBc/8x/hHtAYk53fJ9xeA
KwroU1CVIcq6/gIVNY0U0ujimWp0gIxYBh3CSjLsMuij3cpo+SPNbCnw8vgLThFJ6WtbolZ10dgU
4tkpyDsE4d869715K8l+jZDohpGBt8RGfbHfGsh0g9UpE88Z6R2NpKQg7F+dOzrhVt9YRLWBzSeK
40EAY58TX9tAWLv7MTl/V8a8tLkux8zNb0yNXG/RZHN+A8cYPuIokd3GJ7PdOA/7xM7tfw2L+KFz
XqZsQ/R3K/9jsHUM4uAh71Q2G1/vhrZtD84amdANyQ5vk03CxXQnTQhpQsQL58PR+/y0Hjf70LFF
8rJdGxx/ifOGuOs0HoyuGytmqPec+VB66s7OnP7orLjqG9grM4Ra93flHfJFPNeolmSl2SMsOhck
jO33qHbrn/NzCrWMgNhoXumc38mf+1tlaaf8D4YSVFoIFriFo0lQyHUzimdPE2zpWZjt/ROAhv9/
RriV0uUep5DCCN2Bq+PBwqmwAfywnPtmbiDibP4uB8MtFMXFOsoSfGqlesVP+kvdma+J9RSdKlIZ
Lj1AL9yIbZq4relCI1z9f9ko4H8ElwPrx0XP4/WOHAqrVrJpkM4OKCsCkqqkAk6Zeubb49lO/zXK
Y6NllSAEeixQ5mW+9aoyzSFQp7NQSLuiOUiZ6N2fUHnJT1+a4AZUGXhtz4IynecXqJe/ph/vnkS8
XX1AW/NzS3DDH/Hyycmju90+oQ/m94p9/uXBD5HzY0UKnmEjwRDNs1a7GXHef8RusTGdeJMOex2W
4Vy2AnxL4Gq/17C/SzfH5ei5syFK45BRdIycSzo+mnqx7YRmra2BjYAPAy5tcEcDZO+6PNTGdAbi
FpSerijuzLLymqD6cX8uFw2BoQB4NJT0bmqyWh1pEIZO5rMUnZH1hcJ2MXvqGheksrRieFyhZIJq
HsjAuBVDvn/MCjOYzq8KwT0gvU32W/3mvJ0k8mMkGagCyPPwK7ZdtyQ2pFoOL+fGt9dc9tK+vfwK
buWq1MiSOhGmM4gAI+0o6IchWXkpLM3npQlu4WgsQWYnx8KpIviajckGxyxUdh5meY0a6CZ9y06B
pYFKBRBNHcwjnFtrY0Uuxjyez8lOe8u20qFuSfKZ7bKSUJXEn/c3ymLYfGGO72bVqsEE1ysmr+9I
Zx+O4NUYHS93doW9MewHd3Dc86/g9PMLAZvrfrw8dcRa2aw3uQ1uyHy1ewB/RKbO0XyWp2NloIe3
fBJNJyxmMnQS0ZqPGB0O6Roy5LsYwp1G8LoARQR3CqURPnuMjEoI9W9zPmeP+mtY2ZIHWub6ACKX
eYek0mNCBHAuQ2iXTGs5iW80Nm+btQ8ztV2USfjmSoNSqidVJ5778GOUXwr6M0aXi9USdf7IYrT4
DD54kfZRqr60cb9LhADakxBOfuugZJe1thlvq8DJ2o8qKhwt/AuGAiKuoA9vNN+wLggT8DxWAGBD
MpbbivOsUzlVx/msHo9vEgLqA+6F8Wv08F6hiFWK2skfoRlN7JfQeXq9vzOXdsWl9e+fX0R8UwjO
PBQm5/PY7LvnwSCZ8VMUvFF5ihsHp2+ten+DamPDxeUKzIb43a3MebO8MPu+l/T5HIxkMhJ7DC03
iAN3Sh+h6Nur0RHZpb34I5NdWVltK17wYqwjw2IRIYCJfBo/0cW4i1phPnf7xn0bPaeYNlRwkWC0
X5x+IIV7f34XV/fSIOc25wkoAlMLxfNYgVFMCUk72EVfEDN1xk9I4hITfIs5kCf9VxhuyvJRkE6C
4uh43+ibQd3UsWt1RB0tO1xLSzPT/OkAAT/at4GsBSKei0T0Am1EQtbi0yTyDlJN/aNJ/xEG973Y
SJCwNUfbMQ+5h4RuYtU9DmBGBIvMW+s8vtLzyhQvxNvoxvjPCLejUhp1rS7DCKoKDorAdrzPNnCs
uu14s1c+5DvtwRt0O5QdbCjIKCGGfIn24iE/xt5aDmJ5f4NVAORFIJS/Id6GIncvA7crnkND/Uo6
kAc2u3pIXYH+VYMf+uAlwp8OhSppIPkaUdgNix+bbwbAQz8u8rBQT7yOlo0iHxMFDNHnAfqRY/cW
g7RGtEWdpHTfQaobqQES5ZJXRDMRylea+PfXYum5AK4D0OagjQyYPL7O09EZyvMR1iJIXjr9rSyf
9E33aoKMJPLUH+qLMk4o1Yn21GyaiMy504JsUVhz/Mxl8jsb6WEFXAjfFVoWUV04NcxSCZiELp6B
bFZEv3pFn3m8ayJHrZ16WukrZ3N6awz5JgCr0bfHd5cZZjNDtzaUzpIJPSGcI0UlXbPyDloIjZic
z/8a4S6JqarkMelhxGo2o/6KLmQg1bP+bWX5WC72zlj4CzPtq0ZWBQH7B7oMhvWr7V+z5BBFT6Z2
pKPbDwWRdvdtLk4f2pAZuBEzyBMtFKMhCXSOpLMiu9ZjH678+m/iypsh/ff7+SG1adWPnVjIZyWE
sCFpRDV+QpmylL0Q+gJM+22G0kme5POHNNTZiwC1FJWEfZhXToKn4khUq8fNpIYxmN2GqaRuogUj
JYOF97ebd6n1MCqQCoTEptRAnBQ9GYBRoUqnEdGscoWUQcvou9Dp9HvMaPcegah2IGM940ZASgk6
veZAe8UG34Ul23k4pSg5NYOUbyStH1q7xCujAGQIL2EIFGYaas8ITtxMoeprIeWm6kwo8TYkgwBu
sSmnGV1G+qxRJIgr4a0e6nH07q/ZYtTAhAX+76LxCJCmLzLIZGDRnLZB/sHYZmimghqvPUUk39w3
tvRiRpbxP2PcaRYHZaoEsNyeIc/neI2NBpzd7MVb848n21BseJZJ+zg9mJ7oRIfuR0LoCtjmprLK
3OrlF3BZ705UJ12r2B4VfVNwBZH0DdglHyrqliggi+5Ybs0cnY81uHfeoMvg9HoOZounKfLStgcg
2rdoSu7Py9K1d/lR7Kl94eSiQpOrQodLoI0LzyPONg1+ymStVLkUJVya4a4UoG7nciphJpxIojwY
kdtbGwWppqxZOaqL4boGzBliMwBXRb7jwJr1PqeAreIi13o7Rlr3EL/2u26TwaMmpHoQH9QtuOi2
dJ88DZ+ljW42pJxXs6CsoHLrMv77Dm5m0zLKCzHIpHMGlg6/LZ3xYD7kM3Fts/55fxGXMq6oeEMq
DjgPgDH4jJMY0bGbilw6AxSgb0K6lcCMIjnWU/i2/z+cfdeS6zqS7a909Dt76M3EdEdc0MmWpFKx
3AujLD1B777+LlabI7F4xTtnzsvs2L2VBJAAEpkr13I/ykOG7t3zasHouGN+DfDC6GRN3SFP+l6m
nOOvEZaVJJXHKUZ7CUidDo1TZFYcmbdtzl5go1wveKqBtNYmQRrv+a6kVhmHtBe/oalRlya/xFI/
uyMubIyufLEjPC8rk4yDDUbQ2ZOcmmzqUIOq0EFfiGtnL60RqgAQCQCAU7YIrFkqlai1O2pso9FY
krcsXQgrxhv91xoB6A+OGJw+oDe7HkxFh1bo8F50KDVBV4O6UujtMpmwR6lbB9LC3luyNpm63vfq
WKCwhuoh6pj8wR3zIFGln5eIvWbPk4txjYt4sUjoHog8voElNTaghpD6xxziJs17mP+J8xGFbQXx
MHqLgHC6NgS2Iw/dMDnvBN9AFFlyFRAufKFsRzj5z9yHl7Ymg6JIjbVpXfDOcGARTQBBxXAfAqAz
GtXpodhkS2mVOQe8NDiu58UsytDwBkoMBiOQVIfpSpCe46/bO3bOJS5MTHNW6gANU8GFCbSZJeaw
e2226aPKGf5CAmT2xXRpaFLfztqu6SUPhiSQSzKeqvvDowtu6OINwAeIt9914rk+535NukBe8PvZ
SObS+CS4AHuu10Dagnd8bTO46DIBTBsOQtJTqgfZwp5eHOokkHC1riwbHkMtCyuu0Kmz9rIjU26y
XUDvB7bTY+ht16tyqcl+9ppBGQVIVSDRgKwe/enCX6DZnSd8XPJO4uvDmN4xVMXwxFWRHbqH2JLS
dVd5ppqhxWEjW0Nr3PaluTIcIIaApYHYgwPEZbJB+JIyLvYoMnGVXlTnNNN7o9MlU6AbLrRZeVeK
6040tKMWLLyc5tLnV6YnW4Xh+6Kq8GJ1pA8rWkkWCEwDUuwYMhixZTG6C/0mHa0q7lo5iSuKvvUN
v+VZwuM/xmZscTfoYMCt7NtTMnch/jEjkNu+XpFQKpMW2WnWQeGAIP96WmoBmtu/6KgEbhcNvSMu
4NqAx+RZ57YF54Btvbcz32gzkPqD7gxZ14UAeTbvMJKAaGMaBh2/k+XtqVTFntghFjW4d9e4q/QN
SkgnV19qcZwbFC4PlOfG7jNAca8H1fVFHHktxzmAnrRRs3Ihntzxpdk2kVEA/RJUxzhbYlac9V5I
cYFFBphcDoJm11YzV2GbPlPx+l4loGK+03oTPVyPLkmOZnTe0u1SbD9Xn0BLGqhqETFpKPlMLDaC
0IBdVeOciGyL3b61Y9C8W7pniPe33XD2ZEC1DESYeMyO7c3XYwOmOfL93OWcoH9tmS9GWbfep1yu
UzOzC2DwfYNlzaLQg5ew3ebcwiU9u54X1ifjZMSy11w6Wpe3NbXFt9x7itR14UGqFtLYC9bmXhjo
n0ReCDzbSP9OQb9dUOKv+oB3ejsadL7PdI3kw7OQmpxbkzJCosgs9mm0Sj7K3DyLsUmRMaPZSlqD
faDzvlMPSI/h5fYajDtxEuoBswPaN5yPCrh1JxdgOaDFgqpc72h4xQ95YGnxUt11bode2Zjcc3Wf
NDKfwgZTilbLJJbIiDu5dNp61RX70Nt3jOEXqo4eHAv6n9CdX5j7xS+YbN206Pl6iFD4pr0ZlI0N
9WNIy4pmh+iMY7aV622bHA0FbkXKtrNELVnn5QJ+bXam0TEMxUB0D/5qNgdZS9nVHds7vdC8dugf
YMJwYTF/MSMhWQD9tD9sTOJOVaGZkg+Y6d7ubdDnrf11ab4ePIL/7Ip098gurcWDTF4255ospYDn
Cg4wDyYxoBd+9vX1fg5rieviDhX25/3ru0fGprrErlaRbqOy7+DeJS10a3z7tMRHMnOhXRqeFvr6
CkANKFL2Tj3YpXyn1G9t+hzLCy+vJSuTvaLSgbZNAS9CfzCkxvL6WCYqWpCRc2PRen17Y/4/JnOk
7wUod2x5up7MzP/3ZNZ6Zez3h9Qq7cAcyD3BbL6gPW+dW+fTZ7YQLs25KR5+Y8cNrm/Qa16bDTtW
6huI2DqcvIm8e15OFzbjz0E3PXIuLEyDe07owgJZLVRlCXRc1T3oNIHlOzzAOWMSPmp7bd/pFflI
9A5+CxkVAwIna19/QF3l64kwm8qWdE5Hel1HB9ciu+hP1vfW902WmYkryUsDfB/QdsgvIusXW6FF
bbp3j+460W3zzgnNyCrsxIpN5G/1ljBWqiPouO0CczcxXo//WYspUjpRWw24h2FwADgUdSjKvKYG
3Q93ffhnnO3S0uSAlJWCK3MNheAEQy7HSceQ1bVvNASonBcPRcozosR2m9pLwnY/weCt+R498uJ9
EOE0STT5x/brwwDb6Eog/johCDsIFr0jx4/agh4FqVZfu6eMFOSMVK8e7z2j3C7ChGYvC1Rw0BEy
aq6DVeX6e0SxFKB6NfSYi+IBPXX0pBptcScK54TjIK6Z1ipUlHVlvbDaMwWQsbHgP3Yn0VAqS7WK
lldgh+wESJvyCw2eemKtFjb43LPzys54zF3MdxO0QutFsBORymI3BuT2dKclnwvDmTstIe8OkgwU
IvHumgyncYWAz+WWhRnp43B4yO21R9jQGB4pVD3Jyr1beG3NbpdLi5OBDR5qBlwLi3l2TMGwnIt6
GyOduJaMZufvNenOXYINzU4mIjrg0dE2rP3qPWGghJyLHbCQ+8ZA6u81iGxvrcmkjnTVXJjROQe5
tDV56QTIC6t81OPZVpP9c6saVFeGvWFKzYKlnxrKdEuiGwIlRXgjBGEmx4Hq966WtxxA1uhprO1c
2WnYhdwmWdvk3iMDsUpL/073qkdi+7QVHh7Fu0fNoCWOwqVVHbfb72/5KS6PvfPTuz0shyHlRIx6
Hz57J0XnNjrUq+FB39j8C07701Z+y9jk7G+V2G29YlzO7WC9v1qvtd3a6saC697fa3pD4u3x4ct8
Mt9y/amwOyfWV6BkNbzz8nvzV3PaGM0hAQsJArz+wP002UFtp0YxBIQ5p2rEdNtHiVFoMXpMAdsx
S0DrNxJf+4Y2oOWaZcBZq7mQNY5SmT4GcsquJZTmbPSOKncNDWL8s6y1hUFUDiX+jwS1py2cYLMh
i4r+F7yNwZiNz74+WZghQI884455BcNF/x4RW91ljXBl4G7U1if6/s0Yq620romqL8FdZpK7YM0G
7gEVHMA9pmjrPM1Uv6XIwJeDOXDvAvfQMxYkS6Vev70PlwyNDntxfqroNPNdJPudRnFeRTSIBs0p
w4Si9/+2odlw/nJIk/kMZYFiSEijKCkxnreIR0Bz3prFi68SyUROBbxK0VHdQpGHIZ+rx9vm51IP
KhgzRnYaiEf8Ws6kaDQvTmA+Kzw9VvaS8CWi3bkOoFvIfLtMobNgzWhA4CGTMttwnhmJw8Ptj5j1
KeQHQBeCsjXQs5NDvUozEFJHFeeknh1tB6K9PZWWXXnkaJum93K32ZyUF5w63CKf5cwFBkIrtIai
RxnJl2kkrCaMoAwF0IP1JiJ7pF1aE5IT0bFAgukkHGuyEO7NLTeY36GTAFEQGWxWk+XuIjUWg3G+
twL6jzvyVHynaPLIyB1BKSTVNSNHi6awflytbk/yGNNPTj1QD44PDeDbNHTVXHt03uH8EQqeddLW
0tLX3Puo2l0MqQQA7IXQaPil+sg4klsGJ1sIevaS2iHR5oQfHN0rXGHI6hLab2ab4qGNrryRB1XG
gXQ9qIRnGZnmsJE0+74xBz0YjLRa4mJYsjJxT1GmJaSBYGUoQSNzCE7RijUhJPHBax4RDXmFO3GV
tI9sZi64y9z2HDMJSNGBnH7UTb8eYCD70AhpcNqqaUA89axxO5qYSWQCWZJ3tQHBB9J9KTIoK/S4
dOj7baeZwVvhcIA22tjggqh1qnUZZCKXNEPFAzzKn5SPEYoRmTYHnYRnNyAroBBK0zWH422zM4CI
a7OTdR1En0lVCrNpcZJ7z+BToOr2mqW2q6IhKih2MsXSDHxC4r9J9yzyHJIh7ppHLTLyYiE6+X1G
4GPQIQniO1CjgUPweg0ary0jvGV5hH9ryB5vl4o247+/3ijXvz/ZKEihC20M7TcHeEkiK2tws+tI
LerSsE0LSFAwOlvutdAAnwEd9lWz5GO/N+q1/clkIwnRNSBJ5wHcJvSpA+ftgxsZbnIfuW/DWyQf
QHihfFLSEwBYby/0TGh9bXuytTKlb4RcwtjjWEfNqikzwtBj95SXqwJAaVMsl0oJYwD9a7bHRldU
LgBinHZP1XzVR1KOXLuA9mfANdkmUYgC/nYRxB6yeI5cnj3XZdCAvnQYoMaY+pJA4iKSZSLmLLCF
TSIJvQXurmA7JFGWgeK97d6joe3fKJsMnyCjyBPz9kT9PoIwTxdfPXkWgIEvRrM1EEKF6BO2lFcC
gNuRv5W6Ug/VeMHajEeMXLUABI5gT+Fn1S6iH46rMpWiW8oJpCcxX6vhQ7LErP77OkJzPQgDgF2W
Jdy7E6evY7UV0r4ZMTBgXgC/VJ+Xa8aPDCV7FGIIi4NnkC6lQMYfnaw9+DiAqRj5aQGTmswipJq1
GtRJAIlERWhDuf0NrALMQkTHzZwXEJVDTQW8NpzKTmmt0lZMPDfweUcuge+PN2VBAnFf+5B0jF2r
aXKQ1hcD5M2sIHkG70idnJIURJrhxxK2aqb4gvweiCuFUeEEz+ZxFS4W0oMosxw1Ce+4++wB2o6G
ZK6DTbYtDRNa4mYqEuHhtqPOlKBhcoR8o20Jl8Y0JcD4al+zEkp1/YmSErnhRBcN7q7T70D4/ifi
N2ShR9J10CyiU/6nb/pigHg0KQra1gEiiHETAcaYfbJvvJ7oga5yxPVJDU1hkt23T0uEADMvN1Qj
MbNAHEHaBX3C13Mb9DLjMgg+HJ8S1LEgurRy19VWuauQvN1W5uYrXwN37+DpuL49xzNH2KXlKRcB
+jKT2OMzweEakJVlNtuSpAV004RGjusvnAVL4+QnIQgDRW3KMBgn+50Z+Z1grL1NoqMd1D0Upoj+
MBcJRCj4+CRfqqfNbqWLOf55OFwurzqIiRvBdnbsKlLbqeFtBTTd6axv6kxL6i3mVwed9dIe/p2G
uVrcabRcIYKvIwWGlcyI3kQ9PkjdTtLZBwQYcbgQYMzdgsgrgfYJqUF0iykTV0orJNdUrQNCpdt2
jd5o5NOTrEwzAI5u/behXILEzB3wFwanio78AEIkv2lw7QLB35OOJzzi2B163KVNu3tznzYx3iBL
r/clqxNPQqK7q/IOViG4x6Z6Wdu1/KdGBt4IGc85cK9Oj3im5esqCgXgbfjHihHXAjcYFRcSiXdy
gajMOmHVVy79Ll0r5i0+XDHuqi0X3Gdcr8k9A56kEWqKW5TjpusZQ8I7Y4NUcCCuvI7f67VnYT6X
Yif+tpXpImZgc0cDIqyI+4SIr51R29xr/kzXKOMvJfBn3q247/Fw/WGYH/vsrk+7vsI1E8s/QzKS
lVghJNe7e/Xho/1QPxyeaByRt/x+OKDj17eEjIj36dJrb+bcu/qGMUi6OA26cpAiKuEbIvTfaHoQ
HEFoREn77tOFBZx5d10PdxIpBDEbKvU43MNA5E/bs8kTxEi/qamtyqVukpltAWkwgKZG8v4xHXs9
LKbo3bAbbe0l83PRS+Z/HW84cJMCqPgDWbiYtJqXPaoJVHAKK33gdStZ3Qd2abCWSV/gJsbtq4kT
5pwSj6V/mxs/58JcESmQGVfHNSKFVX63NoDVuA5BDL4716tmkTxwdhNA00tBal5iAZi9tgep8zyL
0lpw3CQk7aYRTF7dh+/BCRwuRDw2xT077Mp0iVV+hpAFDqKxSBmBDG2kebu2W4dIpoFji3eMZ34D
KTd0Gt75pHPaMxJHpyW8zgzIbMxR4RYAxR2LSGcSLldqVPd+lQFYkpgZa4Dp3a0DI2ZjNDFGpher
RurGmINdlgWkzaBtJpw4BQGY30J32OHirT9sYsrrJV1Vo4TzLuINxT+3nC4Wuvwq+HheGmzzGaOO
skSFNztZkEJDfIYyN7Lck8nyQZmatVLNO48GJM6b1TrSmxWLwxEvvBztp/f81igV5IvBqHPbH2cI
XjBxF6YnGzlscylKPNw5/Yk/odhnVIZ7agyNSNDNfmIL03xB7k0XA/LyYt81+1W62Nk+FxKPDwHw
9IOGjsfT4NpXRh4s5FdwvUOgAlkcqrscqXQ0hJ7aP/GWvzI1mWnZDYATHmDq0TCexU3ukQjsh3sW
AdpqJS6gXX5kKab3HKgJQHkMan68pybWkH1TvCLC1So9l2/so7LtjOZBuIvMB0W3dxw4ZHzinwrn
fBYcpyDEfEpXO4J87vnkWQsnz8yrCwIof3zLZKGVrgfdHaMCjo1OU3AyWZKI5RaXMhZzdxCIz9Ha
D+wci07j67VspFyJenUQnEq6DzWSpLZndggNUzOInNu+Oxd5g4n7D1uTi6FnOt7tKYujG/SvRDuL
+vAeOIzZW7v0TSWbzSrTv/UFq3O5tyurkxO1QbWjDFtecMYSQE+4nbuRN80DkY2judsVhLfehkH3
V5Jeft4e8NxVBUIbZAXAYY909GRuA7dKhzqS8dJQIQbikfYcti+3Tcx5CcifkdAc9QWknwfz5fU0
BFzAlxhc3AOUq0Fstd6FycZfiOhnesrGZwvYNH70ucBufe0mfOWpSsJgKC3ayfpH7wm9w8cSjAzN
ipBk9wEHxZP4oyFfjPkulMTvbW5hNuW56bz8hsmropRE3+MCVXCoRBm0NUVlLNmpMGhPWu7nThXR
/sGD/N6X7GpybdDaRbu4yPjKvvMG9AJqeVMlZtVCShAdInkPouMIIQZYMyP2nU9EAHNog6ISyXOm
lHTBY3xs99BN0XjLhRAFYT0p/YhlMYkt2U3ACsnU7wNaTu56v84a0hZD/QI8fr0euK7OjURjJEfh
S/mBZml85GnRIGVR8Vmupz3InHQhlQXPLIFoAil56vcvIVUK5Eq5LFsxYoLArFI0AM79UN1DIyNe
ZbEyrPxM9j55iOp4ei1K0D9Kq5QjQ9JUGzXlmXWcpVAOiblMaXSQodcp+uVjtjXTAn2YBFwCgE6n
fvHGxm3BErlta1dHp270nmCqQN3PcuwSA/bsjfHH0slT8HYbNOjshPajEz7kKkDOEvSWwbdGCbP2
t66pgWDVt27vjNmQ99Lm9LRR5bJPUXJ1/J2s++dDaHgnzuZADBFDaUxa2IgzNT/sEFSQ0UGN3f6r
YwAtqakWpi680/R3RmPt99EqBzCJkmfpAAq0N5rpYm7Isa4z1DYWbov50crIbaKmMvJ3TDaHJEIm
W+4S0REbo2FOA3gWH0U0ChWEXcOnFAGMRVBm7+76JWzc+MvTSxPaHP+2PL1BPMon2SAFoqM985ke
EaGwebqjjV02x4VwYPYEQGwBQS6cqWCCvT6F0BOaFJAGE/Hgftb6fd0ANLBQvZg/6S5siNc2kqzn
AwkCBHhf7LdgFwFpkG/cf7mWt2t0Ym5W5++Vsn5UF9+/s4MDZFIE2zPgqD/H38VRzggD03PeIDrb
AGZub4YxcPm1Rhe/PYnYaqSOFWH87d4xN44PAODt35/f4BcGJpGTInWhrGUwoELqwPYBLHymDUp6
kKfqlIwMwonWMtHorq0WgrafaPPW2CZXU64kcMAcpqm5378eLKC1SJsD7wO6wd0uX9/dbXhinJWQ
eMbStTgXPY0w13+v2WTXdV6YhZ7PimPbwb7/fsV7BHTMaBBa38dbO/t+ekke7jYOECSnFXIIf2rT
/2F+ikpluIwV2hBDb5653WF8ALjGvaL3h3MF9KMdLnjR7CGDBxvifjxPAbKfTHU30JLjAhypEdCO
+15PJKMy+4cNiHY+3SVCx7m5vTQ2mVuta0Nv6CWkEaABvFH0+H7FvSy47XgHTH0Ha4cTRQItJugO
rzd72kRe5daxiFSFlW1ZS1+dPlf10pttLoeAJz3yFdIP3fM0AsW+UEEZLDoBVCa/rfecgB6ckndt
e1i/NKZ/rxbGHQQ6iNM4kXG+Pca5CBFAP3Q0sZqk4QuuhxgrdSLkDS86ofye9289fUiYt543b1uZ
AcQirr8wMxkjIwhpLJcCTq/n8dT09QZqH0TNyfsDVPiwH0RCdsxJJe1Or3Q5AntlYPWEMTQD5F01
Kg63P2jWe4ANAWqUA6Jieh9mPp+zfK+IDvvKHOLWlus1VCfQQSEv1PbnDckgJQfN9RiJX8+vwuec
RlVfcipDlS3hnXVXaWo20SrTvm8PSZj1I9S9JFkDuQnIoa9NMZ7HZEkCU9QsTYUw58EaBD1ev+6t
gGRnNO1+eWNyKibcKf42UxI9gEszOaIrOTDA7efc/p65asYomwuOfgGJPhDLXn+PmzAa5/lwLWPf
6vtiRwnK+nrxFG+TnbTxZb3Wl3YsP3eTXdqcXM+q5PpMFcMmAg1kP8C/NTLqdmcLbkbsD7Izq1w3
VyMH68l4XBjw3AKMOoEjjQdYi9XJcVFW4sh0gPOWOWexZgnxs+rfC+AJ6lITxGchtCXV3Eb4xcC7
l5Lws3fspfXJHSsGzUBFtR+Hvjegd/WksGj9JWqof4P+brUw1tGZpkcjogJ5xAkjPz7N0A2q23FM
IItOgnaYap3bXqGnvmJEYYO+cNXoQqPyP24bnb3LL42OMdJFDFRD5r3MEN4iZn98dveAcpH9oSTr
r/Z4PD7R3U7Q7/TVSn9cOi5m3AqcAcAHIH4H0Zo82cVRHrqhXCaSw3+DpKRFmtcAWU3H2LcHOBPj
XZmZ7BgqenFUdRkOC2nI7CFUMadMEOq9iwrEbVNz2RZAuxHJgkeQA+vCeHBdzKUnRxmUXnPJQS6S
jJSp9/bR1gvikzPwrAtbY9x2V96Cyw3WsC8gL49LZnLLRAObt7HktU6qxp7h1xhY3fr1wi3zO/E6
mlHAjY9zZ0z/TzZgi0y8VHhq43SH6I4zhFWyR1r8C3xddqBL+6fKFI3S0JrTwvC0X7thYniy96RA
ClMw2rSOJ9+5xZY5V2shWQe+BVRrU70p/GfS674u79B0Q63It961t1g0EzzPtRe+LEllJPe5Eexz
p6/XUfAEfoqY1+OdbxcuKaFcFpVGibDZ9B7ogcY6lKAcLnxSE92Hzgop4kOX2VKug6ZfLFfZWc6P
BVcR6Hj2DAlX6VsODpRSszwe71xxlaHNdxMABBruEs5oeSPRI9QoSQqEn6SarQA4Cl+R6K4bu/f3
uZQQNAah2F4xT2AzQV4AqiJ78T0sF1vbx630y1Uu1nDil5oboBitKo0joaH/scwhhwQ+5B0HNj98
jHKSGLP0TfX+9nb4dU3/LCBqUhwK4ZqgTu+NyO8bZVxAzvIPCnJVrkeWuOyWbExOr4aiuF9ksLEV
bXS/ZVt+aU/Pu+Efo5j4f9dlvZp72GZgqzfSQwWowmMEFyH51n27PWG/sTaTGZu4fNvnqdRwoy2C
ZkGJroTYlE53LskIp+dWu+X0s5YstCvOTiEgMHgDI3gDaf71oZX0cg7F1AhGq7K2ajeGogcXdSZt
10UCxFFXdY+pzy4xVv3GhY6DRTEDvc44xoClmtilYaKkDZYuDF/ZAf1qPLph7tKAG/HEJUsEUE52
tvwZ8Lvsiz0UqgFdASLWx9uT/iuXMvmMyZwDN9mnbBq2Y7U/tRiUwQsM2TUD1HPyQ6II1m17P9XS
X5vxYtyTzRhKdBC7CvMt5lblE0mDZEAQrgvRqD6oRJQBCgIUnG+6fFQDM1lHyop+cF9Na/h4Ypvs
JwcUIX26/VWLqzF5+pV+UFMliEfXo/Eqqu8lTvffvexB0xNKxHX93Aa7CFOSklI2ImYb9AvHxe86
G1ZCATsDQj0od6C4eu0QKZ+UdZJJrVPK20BGjviYHjVBryiO3BfJTUm3klISr3MJ4gpoGQmJds8F
T51g9SpOdrND84uEXG5LhNAW2r0srqVFnM3cUTregyODJYLwafYf4vStyKcyPrIgMiRAsYDyKRXX
cmV7nR0Hm0h6LbWjJJwXFmjuugcFwsiUISgsXj7XsyPgVVkyctVBvmPHBffl0OlDB/7pPDiGwmsn
s6D02RS8xbmhyUD1TdZei3oB+Tp9CqDJEQIFKnr1fsRtIf52/RER4yqlVKPJ6lm0n+EhakjUFzws
bWondlDrQKr1q8hCG8jevQeyypD3KaAk0s9/tydkPB4uttGvT5nMBwNIGdD8A+uwgLULUUsi9g5g
bjdZGPP0DTA1xE3ORwEUDE3EwFABhsOA++zco5pnBNx2plRIVpXoyVaoK5DlvPZ1unBaTE6nX8Yn
QZ4XDI1IS5Z1KvpA39zkPLCboFkFnMFVlswsJNcmV8Eva6PzX8SvHMuoFdNjeSMUc6B827bQzamN
pDgk0VJvx+K8Tra7G2tsRyW0YaZr1vRKK2dXaa13INwJ0dYtpCvJhEQlue01P6s1dRvgLUCsAHlr
FXq7kyEGRa8MPFYT5dBGtaHPYoXg04ZcBNCX3PsSw83sKEdKIxwVUN4BzPPaXh2yYEUFFN8JRVOK
dWiRh2tNWOX9EUGkH3+Xml3gxuXcj4WBzq0lrleoWYlgowF+99rwEOVK6PZoPxNq332U6761Ox4V
NZp6EGdP/P61D5rkkVGFcM2xSr9KmB5teDF9SYbiO+KS1i4VkZ5iYOEOA+WBW2Klt6wP6er2l85t
ZBTC0ckEuVZRm2Kdu4T1aeziQ4PSqnEb+pxNDUFd0qiapst+nHuMNIAgkUes1CQcbRq3bFHOACFo
YaBOpIdHsHQek5Nshp+tXYHnnjElc6dYwRqqVUayZq0cpTKQm54iQ1tDtQDxemAxSwHmuIWnHnn5
XVMPoRzvCgK+S+G/5CReNVZVBmaHtI7nvSotnjFCqkv/tPpfH91/e1/0+M/fL//xP/jzB836IgCR
3OSP//g/dVkVb3Hwlv6F1MXXW/0X+v2Xc/VWBWUVfJT/M/7Yf/7xP67/iN/6ly3jrXq7+oOZVkHV
n+qvor//Kuu4+vkKfNX4v/z//cu/fP38ykOfff39rx+0Tqvx17yApn/911+tP//+VwVz+V+XP/+v
v7t7S/DPzCKoMKzpP/h6K6u//1UU/gbECdCdI8JypB3Dydt+jX8jyH+DShZIwGQQJY86z9hZKS0q
/+9/5dS/4TEjg6UGtTeEKRL+UUnrn7/i/wb6fg6KDSMVAyCbf/33d10txh+L85e0To40SKsSH3Pl
EmNqD3gjkGqIuGdxVP1cwxfncCAxceIzKItXKsNbrcfJZtQx/zt6L/zsSDEPZv2R+Bwn0BQDDlkB
vEdbSQTRe5w/V1rcrZSUNhsftLkNUao2WXD10ZP/8PQfgyOXO9i+VLTAI3l9fSR1g5InCG8lArk4
SMShSrWugrbaoBc5XDD1awYBTdZQZEAjKCYQTZLXpvq+CuOUQThdQ/XsFeoBmY5Mrv9w4U//WrfL
dZqc7j8jQt+7iLaIsZ9YmALbOTSW+QAeSAhANISriksDwrdMceYBd9f9mNIvt4KyNJ4tvGB1nFJb
MQd10BLNepbIDfECdnlmhuG7aEQVMMHoTZo8ZkohgBpRje8JkTVvCK+4jE7Lqnzzan4pfzdrC903
wOLh5EYwfD3FXholCd5NkKEAquuQ5W39kCmRZARKzCxxcE3y3v+caGhyomscrcao3IyXyMWOaHFt
97TNZAIFT2HDFRp46iVPNSFGT/dS09BjNEj5xmerTkc3HLo2cpar9CBFT2rDhLKesA3osygfNtuw
intLBOX1QvQ043Nj/zG+EdRveNaON/LFN/ZY6IGLEpnkCZOaruDlJONpbdz2uTkrAPlCzQcQJ2gC
T+JeRLu14quQDFRyufPwXBQfIkUOlxSKrsOHnwmHB+E0Az5N5sEucD2YQEuKNok8PMP4AZHmUHvr
EO+CD9qHBfJwPaQbfaA1TbQJ8+fbI5zbVSo4ZcE0hgNa/fXG4sWsDSvPFwlb+DQjYSUrK81jE8Vq
FJc7SKHHDaA/5yW9lsFBQTxI269SoO1KUsst/WqkcgmsOzPr8DrEjMAJgINu2szhqWku0wjSXmoi
uacoizojK9Xk4fbIr0Ohn0kHkQOadcFxh5zuNERhfKFNRS3Euc8xyapNBo4nbFCIKLnIEnSbsJ8X
wsS5calAlSJARYMIroHrZXbzmM1p4EnQ5ASTHubR0xsRjbC3xzVnBapJKocrFXUNbfKKafmAU0C7
Al2bSGbBRx6D7pEy6sJbadaK9tNmPF5s6mRnAI7Fc12SS2Cmz5ojR+PAVPMhX2jlnjn2IDGPpyXE
epDrVya7HL1MXJwluFkQWIg257eS7vYMNVqGUf73A0LLpoKebeRQUfKbHHpKymUyU0GHNFF611C7
COSvLhrUbi/OOC2TWxlCIAhd4HAaBG8mA2K7IoHCSgUrpVzjnAQlcMBFpuDKBi34s98DxBkL6rHx
tYUDc2YqR25qCOchk4IM62TBVKmIcyYLJPB/hCMDR5lY9dDIOl+kSx2V42U0HSRa7MAzhFITuu0m
g1SSSKk6XOWkCakV1zLg24iqfdarCZPym7ysl/A5M96InDeA/QoiHtwKkwNUQoW6qmIIuQi9AAX5
MkGxQQiXuD/mphDAN6RtUQsS2Wmcw8tJPvCtIhIpbYQVdUXfqqukuGvrWljYxHN+gso+ynUg4kRP
6mQTe2LSNnLLiKRjZXAXeSqPRqi6hXQsz+1CIWF0nonih2LwGovNRHbB/NxI0Q4F6M0IiAXf3fVJ
RWklQt2UxxmSyLj2GDHey1pR7WPOW0L8zzmLBMAtVCUBLRR/QVRaFs1tUoOlK9pD56b3feDizVgM
37Ib7lQPpE23t+BvX1FYBEnISKDAzYIl4XpsdYoTUkUtg7RuIlgh+se3QZBL5v/eCtqJUZ8cRWJR
Oby20kViWbsuGnYDLksMpax4Cw9vZaGc8HudkBaEdBY4WFhgiaZUB1LppwNo7sHVT3P5HLK+9lHT
tvqM3WGwbw/oJ4dxvauBsGEFxN0a6CTBo349Ij7yCwwVLxjEhgpLUObKakMIhEEwAq6RDlrb1J3u
qy3UrBKpEUpTwv8LAuC8ZSuDEZvgdXDxK0iW0ghsY2UjMrqkddV3wDbxYHVtrqA5nqsTpEyEJHmJ
Wt9Du6McV40F2c//y96XNMmNY03+l7mzjftymQMZW+4ppaSUdKGlNhIESGIjAeLXj1PV9rUiMkZh
2ac5zKWqrVVVCIBY3vPnz53cLUCz6SbUs4kA4nviR9EOLKpI68+8RNYf21KPIdQQFh3TEl1GsHUd
yEpn1oQk3+o00L8iPIoPSTJ0z2MO+YDS8+cJ6nUmnaYrJUHzgx9Sgphes2JQuwa/+EvruanfhgNJ
bgt4fWOOqWiu6wwWfhvs62y1flGeK2kTJ+AsR4klG5/1cX6BnnZm46IxBgr2KWBhhInrZvgj5GW2
y0jb+BHMRpLwrp/413wJ6qsLnxn/kZOvvPJrEXZAsgn398kzAa+LUa2SuWU30+UGjZnDIedFW4me
qUs76sxQ0PJLAWUV61k82VCdIL4cQawtHWxw9jSlqShrKL9v+nlhyYWH90ycixb3CKK6SMGRMZxW
3gYWtqNhyKCGjGffDWRRCfr7efEoLTd9ieBsVrA46usqkH4BEf08XH5ErSIoNdDunUgKfWGpTyqQ
awS6riSESgBV5lFyijxMPIr1iBi35Dpk11YygqOUCH3LY0e/+wPLUbjGZiujpMvyyqjG3sOPcEBJ
KkfOUDUQ/beljQbkYSxr63fC5v7blLX+/SPhjJejrJwlgGqOd92Yh6MaLCKWGorx35QI7IZyL/mF
pD/8aZYgvW/abvr59l2I4B/ZCHBckL1P3vOsZQRA5YKVGWGr03dTvOl9EhxgFuFd4Ne+fn+AhwJQ
gCFEgULhKZGOBl2H/GqAxUyLRNbPHWi8mX0nyfhzSbr7zIzuwgN05tJGY24BtOm3lcfpRRrVfdJ3
zQqXTEZA2z8JPzH8n5WbrCUXtv25sQA3rRJ9eMfRknj89YZhGhGEKYTpAZ+uAuOlVWIifusJd0nQ
+exQ2MnFKlAOe9r1z/+4nnK8dm4eEbI4HZhD1vvYHQyZm0ZT0tt3x7oXISKxOq7EJ2+rcf3SLTPy
KCgQRuCjMEhEoxUT1BQkp5daOc/dujAqBcC1SlZgYsfTalcbavRqJqXJOL1bbOx2SJjTb3+f0plR
0ISLfKpYu+Cj00QnaPpgDhRup1YE/QOVdDw4X/X/xWRCUGXBlE3B8nslplP4plOewXawgDWuhjaM
blNi/cPbJ7MaGCExRKKLLvTjJeOpAgLmRzhSWs3vbBEum0YU4YWDu148Jy8V6K8g7q2gMrDb9WD/
sd9QzFpdBrykRCaPNzHuf9XB9BiQ7Hb0AKX8fUpnNjduIQimAqhe9QxPzlHnpqW2EQbD+xLBlTXL
d4Xfmr1sw7cjW4BSkbz7yDRi9EOfvMA29vK0MynICX6T36L0nO/yVs0X0t0zqwfxPrRgA3AK15N0
snoqaMbOIZfJmZ8dck9OV7a38ZPQoGQ1kQkvgKUntcDf7wgQNNAtsfNWl6STd8QWKluwWsCZ+FCT
Khto+Aw6ub72AEi/czxwPwh1wVOw0DEt52aaDwa/70LMcW7acI4HlABzLagjnGxNF6W2rhHhlYJw
dxBdyLdZ54WftG5XlqI2F47CufFwc/hg3oQwmj2NOnqckZo5zLqR/nAlYSWxK0zbftSuRu9ekXjv
3rxPURHx4RDhA5uBVNPxZ5WzBRj+Gyf2wC/KpwK167lJt4DaPv8XIwE9w3WSZglA6eORSBf7dQZh
eShytWFl0LpZFd0McvY0mzdDF6CowLsT/HuIruMePh6qKUYvaGKcaeHHjyoask9eI9xdmttLVZr1
85/cKXi4Vj5pgrolmt2OR0rasOjCGiPJcKaPeBWe8sxbNiyWKNK0WdpvZl+mBzMP2YUL5swDAIgL
GFcElB9ikyenXmprKIorSTm3Nv+INahLFJDdhe1xZjvGa5FrZQgiJ81PVhKQRpF7Ee4W+FgyqKu4
z5lA8NsE7U9Vm7df0MAvcFkCQIDJzymGISKHxCzEnZmijQhvQQGJvJY21dKhW5MDTbmwTc4tISot
ayURJS+U844/HnPOW1M6yK9KYd+zJmN7M7WXTvS5UTI8Xj5ueqBpp48bgi3GwwH7HialH2mdTlvT
XUwNzg6CHjloDaN8B7HT46n0dT0qUSMNHVm73KV8Su4l2pa2bz/CQP2BrmI28JI92XPDGInAE3lS
Lkhm9zHI8NdWxN1mDLpLUjBnJ7TSD1H+REX3lH/exjpFbIaA3vG6Q6Zsi9tu8pILcPH6g0+P7yqc
BnwCunHJaZFVypwirsUOsGQkh0YmsLBS2bibI+eujBiTTebxW+mjtXgZ04sIyZnREb0hPFjboFAN
Pf5oDQmWZvJnHOGe+p8YV80LmYrwYSiiS7ZHr8ORVXgGZPT1qocE78mX87upIYtKEC7O+VIpj8xP
7TixvY3m5sKL+fpKxFAov8MkPVnv35MXxYiwdSRxQKy9WbSViZKhmoRIXohnM13OK1gOTs9aMtz9
fXueGRl5CwJiXCDYpKeceymgqe3lCipQ6IrZUyTBT5ATyj8iB83RuD5GZItoj2zcEqKK8/exXy8w
EkIEYCjToIqOGtHxtywG1i09sotSk5BUa2J2ADWnuVrGzF0Y6vXRQF8GghGocqye6L8Vev6IY+s6
l8kYA9LKvCl7pIPRV7We3/6+ILlAyQmVUrQVQHPkeEIAWXlnGSYUL01RJUviVfgtl0gHZ+YCr3GU
ShEU4Kz/BmH+mEs+tgsuZoTjIfP0IRW9KyPd+9s3f5y1DwMoLsKc9Rk7nkuSjn0U8DwC/9BB2FdD
f61YIIetVOyu/j7U+iAe3yjom0QvKMo1a9fyafy2tKHpDXBy6A0kwwvEBoBCtnp6iWuyPBjK2W5u
w+DNDxkGRVESjxkKNbicj+dXN1nBGmkBcjZ189UuDtYfs9d8+/vUznwrhBmgpED2MQfp7OS6ChYv
JlnosCOQRu+UW+INikLL5r8ZBVcy0ifkfKej8DGlXqcxihy6eovPBgpDz9yFUc4c11WYFKnZWllF
beZ4xRSWp6U6jKCrOLstUEtXQdrHVUB+zAX05gxqt7bHoXKMkAYR9ik32KBqtqBtNypFNoKgTUZ/
2HoZnVQJGCG4sngBvoC3DDuAwJMbY8L+B1LVAsZiNpZ75rVsm8rEvO/UEG5MssRvhonX2xrWjiAD
4OY8lSeT6bjAea9BQcVMUH4bMx+/hFy6tV5HkhgF5wGAD8qlWMzjFW9kXZOC4gw2WZM+w2FtuKbK
SfQD+W1f4YEkFz7xme0KMw8ApeugeBZOPvGS66LhAp+YN6l/Z1jkdm3SXTLyPTcKgqEVUEDWBoX1
42mFntaTQwd4SbM++oif8Xmqp0sn7wwWvV7EMORCbRsY1u/+gD+uSYstsyR6rWKMHGKAXZ5epW7g
T0rqgZYZaYbnnsKCUvbDeEf9hv1wtJ3oxsydukuytr9wy505PkAaVqYYsCdAvCeR8yLzhKKNHB8T
yeX7uM/IfkyFfoq1Cy886meGwuMD7G69DtCWfvIZY5Y1vgzB7eh63T708Om6TRemdsbV8sJBODcU
YKhV+Cn2kVKdDBWN2fBPCU6MufiWp4PaL10NZ4SZkUu6dmeOA5rPUR2DyhzYrun653980cl4Sw0i
DNCNoJYH4Wx333pZsSFz6u3UQi4VaM/sU9RMVydIuAQiLTz5YkWMDCQP+hiofJ1su5GQQ+ov8sJd
d7qCWLMECTcEXwBeAGc9mZXRKEZkEqMsE+pAQrcpvGca8qFj3ls5hBG6PFZ2AuD+31YLJxNKF5T9
FIXHtEXVrvKo322t0hf1h0/XbR0GUDA8ulFbgJ/mSeAMgqib6YxhcopGwT7ZU+gdRoRtnI2qSWZb
V4SVpRwCpF2wK+L6o/PhrdPITR9eEq18vbr4LXjigconOFenCErIltn5GYq3ycAgltTEIZ55nUMq
M7rULPt62gCDsDFDfEuAQvnph0wHTXsCRkbe8+4awuTqRoXsUin/3CioNaDQ+rvCHp9EFBFjoic4
+qVQqf0aJIt6FvHw+W0BBWIWbEl0sEFGGof7dNUWMbV8Uj6EjIts2LQ0VFWckLeGLYDq0OWLIg2y
bwBP6cnzlnKjB2uwYDTKxTZFXHuTDNASvjCX+PTeWMcBCSFCZoXLF+Xd43sjVHNvUNSOSnQEJ99H
MBq/Qt+efXXpmMFaNsz4L80L+5HyuniJTCBeIjJ2qIuZboK3Aehrc1kH/SBLMWbLIy68RECpkWXX
bLZ+9oH2C6dVOvBM7gkEDa4aN/LmkBGuH6dgzmxFFOpBV4iBh9th6HqU5+0cfV8YunC2pFm8wwDb
72DjuSWaqgFHRQEc82Gxa3uZwdAiNOK2TQyadETa6i+RrBHn9cxOzYGbmcsKb0h+YFJ5L2pCSwAU
uvourmyYkmQ3+LDvhcNyvizNIa89P61GBKXNgy3QnsiWbPk0x8EIt8VkTB5aHFwF77ChC3fwwHFo
1PQXJ6/8mIm6tGPfP496ap/yhfClKlJH7nopog9+roMXbsIY6l9MWPhdsgBd/xahS73NE6vvEBDQ
ryaH2jGEumwc7GRhg+IOXfO491oSjt1VR1s0NEtEds2+zruY76LcFl5J49A52Lvzod9oyMLmG94l
7bwPQbdqPrbCWDhcpxymBU0xQzkCZpwdPE8IGv1qMY1QHPc8dDmnqTAv3OfBp2gxYq5oC7ev0g1D
8SFOLPx3WzW6722UgnKnCjuFFa43+S5pGX2MZ8lZqWqoRiFsIbQ0nRzrapEQmSo15ZmoEiKND0MS
Ju5CL4o/heOgxtImKf3k439jn+s5PSiPhhJc8VxMO6e7WW7mosb134HVzDa6dxSBgQMNuxxGY2Cv
5HPhlUSE6be6G8JPc03keGimAf/EnI12QYyciB9DI9v6Dswqh+61yIs+ND717Tbsu/o5E8tcH7KA
t++zecofeU2jq26ZCjSfx/LaX2ZZRaDNlQZc7K+LV6efAOErGLKnGe1LL9IGojMu6lACIsKg27qb
vbEELa23ewVk44dvM0o2vDcWmz3PiYdLUHrf8LbRz9SvC151k2BTlYPxYauiaM17mcwO2ukcEWep
MiH6a6Bn6GFKgxUeQ/ZL/XJp5uzTrMYO2nT497/Ps2X93tW5vR2KXKpS6KI7MJ+zusTW6/C5OxkU
5ZAL+0Nbln0zGsyeLcw9awkB5q59tgAbhk1t0vFxtWLIoRc7yggNwjZHQyYbeOyVS8cndLHr1t3K
nPT2ATSK9KWVJIEJQ4Ee/p2mqdbbUacgOMRiyNGzH+adeUiUjKIPCQsc+vjzpcFhEAw6SkMM86wN
SwsjSy+l2fAONAn1pV1LVHu0TpAQfJxkrr90kfL7O+JaA8lzT9LPMs5zXjYWhiDVIMjyzNQiRlYO
dOzyr8J5bhcUxI63Q9pTc+BgHg6o1qn5i2wdVPhFtjDcD3qYg4omvFWlsrP8PPl2ft8ECdyWCqzF
1RB1OQGpT+WwQoAq7SoQ3mRp2XMGuVA/RvgMug6zCL7Q7GE2uWxIXoaD1Fnpu7meb5PW74NDR6bh
dhSyl5A06PDxHIu/9n3qw7MlV1+57lEtyWFvgs7Xma/0Jc6/8HmB6kDkpaLYRm3o50irJJVVUxj9
0C1dklTWVwOkDHvkFWgwZvZTS2jzOC8p0eWiQzdBQpbVcMzo8kWXnpHJL1aMuybO2EtA4uaR1iIJ
S9L747KvLcOaNH43FOWC9IBVvG5juxEuH5uqL6yot7oh0YPuRRhu4E1pxqpYwiFEv+RSmI0G2bc5
9JliC5RONZ/CK+CirOkqVwzmwyLr+V0TTBRNJ/B3jj+JeEZHb5fo4GsN30H0seIquJ6CxEYvKVSu
I/8KtpEodfK8qO8WnF8DjxUZfvGCeR5w/5Mwq8D4pMlWLQl9BJ6GvSkiqciOJl6KxQ7yvi5FwdQ7
krWdAsmCTvk+VMhuSsGKgm5N0C33snCz2yQzwtFqDHxhtwJaePceqfkH4jIfnpXg0CTXaTvNP0Hh
cqLySWSe6GLB1nieBibaK6HlKumy4Vym15Mf9b+WRvIF1hKJu6Z0Ng4aETXaNdZCU7jF0VBTNSGf
H0oeoD8Phn1+Tqo5Cuh11IKeVokhzK8S7fnBZvCF/9U43AKbzlvyb14L5j7mZ9lPHtfQm2gSG9qd
AtgN3Zo+BrOXjPPy4hVj+5Elo4a7bgRDsW2DAwUsnDEoZjnHO2zgnpF0C+px9t7BDftdNgVRswEl
v76OPJ/SSvg5fnvcdEuxhZg3/0bMNE77HFycYZPGArmH6ydyRXRuIOguegVwNm4hUod1DSB17RW9
LY2t6V4YSt7pgBi3xRMGZ2+dL8lhLkTxlPtQX8aHTK1X+qg/JZugwZWxjXHlveOWBGPV0onHFYIC
D2e/yNxcwZTGu6GWz17JnZjYIena4p2rZxtXPhXifmJW3k86i9sqbl299cGDLyoxqvQRGx3N1cOA
B/57ELUttDqB4s/3iwXL705ZOtYPrg4MRIj0VGe/YpZ43m6yPPcfAtBiu61CiwnU9FmqYc1C50w/
+FNMcHcE2KV3Ydp2IVjwaZu+J7HC3UdS9GfuWlLH6WcVUrts48mbxD6UTOMUQrS+u/NYuATvi8Ik
4d6jdRteIeUZp6vWZYzvgpaYZFd3qjGVVzDzIrk208PSTdF77uq6hkND38b5YWR2DrZ1VmOrIiNO
hi8TmaNffw8iX6URUKnOAImAs4e/vWqLiihVuM4X9DEsBtqcYZ9UNG7oQ5aa5vHvQ63Z0Z9oKKLV
tbiyJi2wikHl4Tha9aIAvBHYVZYZWKZ4l9J0k0roLpaxLuxOpvV0TRoVXim+uK1S07D9+/hnpwrS
AgC+lQd5yiEw1G9p2yukMcQVO6EhnifqyG5yJsWFsserXOa39neKlB6WELDPPMllWjqM4ZKDljzW
KAB7MDvdC67tGyEKLGgOtAl+eGiUhZvo6YKm/lBnBi9XqEa67TJEX9MEqSSu/Ust4Ge+HeicK16w
Ou+gdnT87ZyfM6cd6LuMxn4Z9hHIsQkhS5m3aXSPi4zsOsfbu6nL+LVJ6vz737/duQX9XcwB5eGM
8onovGxACAdKeV6L/bLUfGsSlFH/Psq5HbJKQoFWin7S5LQwxqfeIZMy4PXKkW9j66ltnCGwWExd
vHmHAJxHMQMVCFCpXqWIUscTlUMOagcpuq1DVeAuVUn+8+8Ter1s6yjoa8DLBnTpd6/eH8BSkAWI
YIA4lSEBrzqcc7sxttMXlu1E+RKgH4y1we6GNSN0L1cQ/Xh3EJKDfdBgGE8x84D8O9t2ST9XIEBz
byMVz++tshMijdnep33gbceFQqo+AdnkKlfzDKC5ISivFsOFYsh6BI7vHFTy4TeGujFYGQCSj39Z
D5+xeEQAXcYu9V+aOfF2Ph5gaOcgRM/RowYPvqm9RAQ5t+zQzQS0BhI0KBkn+X9dLNOIJ3W96QI4
3/QjgnjbRhfus7OjoOcOJTnU+iGRcDw3SyejcXPG5TT0+U715tn37aWCxWuIAb2paARDDzW6jjCd
40HwoJG8SfE+gL+Phn8dTJ8HqFyUgaLZu7EP7D+TelO3+x35Lkc1/tLHjezHLfL/+4H/HJ7QNf5T
373w03/yqCH+/40O+BWs/r93wFdjP2LSf3bAr//Cvzvg439h70Y+1CTRrYqtjPfknw549Mav2vbr
a4bSKbgrOHr/7oD3ggB97gDs8MfAlWOAy//TAu8F4b/WI4v2OCDpq6tZ8qYm+HWr/eeYgZ6T4qFD
NQcXzVq8PS2vSKFCn0DLH+WVSaal7yXLQQe5e49yiP8+0vC3qlfS/DYOxAxuOqLxmvL+KRxUored
9N3VOAxfGBssVJ0aCQSgiOGEPfsD3H5axF+we5n78bFWELqqigSy9UMAnkvl8lTbMgFn9INJkvoT
CwwBfBBp9pXLob8dB4m+3gG5rzcB9Nk0WWzhGx8XbtPxmt8x6rvPS5vFTxOeNsAs6EclfftRNP74
7JlohCUyQ95Y+iJI9z68e5pqNPmW5qZ+Jsk4fEcMDNPOP7794z8r92e3+m+uyfGCIhZDAQkvLtru
XskK4EENFtaD8YLMPPjgxkle45phXSWoyd+Niwp+QJcKtUAXw6bWaGP9StRKvEdVnj4vtDC/nGDu
4GrNg7Kv+3TAFUieZNhbswFkM193LUuiAzWuufDjj6+MdTMka5CF9xPV1Nda78xzDfwDwJKMBotn
ugD9YggXu009km9Fd7Ga8bvgdbJYRwOuP+iPVy6q/bbNILCI1tu89Dr/oUfGGAChiqb43RLTncwS
WFTZ/Nqfop3XDrfMsXvGwmtZL89hPW8VFBktQIa/f8XjC/qfhVi7bWBQBvLEKwGbUCprsOHR4g/a
aOnqfrz2qK0vqB6dHSXAA4+WNHCxTp847imhsgyVceIl+lbKQG5FNM0XPurvYPJkkUEwXF95mL8g
UziJACF74kjcFWhm73JIr5Ex9mYkvXVzEzJTf2qnFh3QJBTLs59K/5NMUm9Aj7ffvVDI5EGrNL7K
pjlmmwgOVQ06xR2M7vue/gxCpkAjQJq2RQ9D2m5tbsdNTeOcH7Ia/VJ8PvCwmB6CyPbdtmMNf5oZ
lBkEb9PrJemlqpKabRsArQCyhwnQogvVoKohYGtBPYRmT2fdFRxj0vaf0Of/P1f/C7fPH7t9FYQ5
Umz5MEna/xygP/NypPPy+1/759VK038hX1gjaZTN8DKsDMF/Xq0Er89qGgohDjCNEW7/59WKw3+B
g4edhmYr8ALAN/2fRytKoAODflZEImvA/LYn6/iSwn8doRmSZkSuMf6GROr4zpjrBpLcCS22IZeo
H8fxVLVoXawWYyApJNrpQq/l8Sn9Z7y1IQ5GsWv+dFoSClNVDEUPcVHIc8Vd6ekanrBeU4eXYvH1
HP7nnP57oByVJ9BloNDknwRsYSdy9OuH+Zb5dukPnYDd7l6ArHMP4C8L7rrRK0iVZuBFlwFN6+Ca
0SLilQOkcalffR3r6LfEq4wAlg0Nemh7jk/qpXFM0IGRpPW29R095CJoPqSQ8LrpF1gpX5j4+sFO
xgL/GFsKCRWQ2tMeGItykpiWvNiCbueV8yD8R50QfQV+V/8caNneDKAiPnrhrL7/sfHPPNa/OXan
Q693I2YINizaLo73EhpnaRKkc7HlWWBuGYAq4GOpvIPARRGXAYIYW0JwwV4DTVYPLdZ5z/K6+6Bs
0vUbn6f1TcfH/uOFn4Wg8NWKAGXP1tQvWDUqjn8WakooZoBquk1GwXc5bbPDEC15lS9hXxU1IgYb
WaDTALw3Hp/sXjtvuIm4SDdLXAMS/vvveXXiwHaGVgiquxHKojh6xz9n6CGAnGh8INSAgGR3VKSm
Ip10RQWWnLkam8ZdkkZ5derWMXHWC2gm4CycZi+6h2Rq6DyMadEYyVgTbdIBEsx/n9mrrQeXeD9b
rzrw4FD1PU0yi1HlHoEcXtZyGd2jMqrbd9ynE9DT1uu/W6+nxdUconf0MNJeiUtJ7m8yyp87EJfK
2mW2dh+s/P9TqcsOHQ2hrAO14+j4R56maJCj7gJ/TxQdqZpeZihXfLUuTL6KYCYfY1g7ydtiKQSa
ZhUfX4YlYj9ZsyrKsraHvxkcTSdwpHIkhpuaKNis1SBnI5QkXgtScpiyB9MJ024bGi8fWNP70G7O
dfouNAvC6D5uwl/xgP7sB0/1ExSTUxk3HzsJkV5oxVrhi20+ADn/6M+oNBJoWDHpDuDhKXk1yzCH
NbhAfayMZQDfnBF42y3hWa+33kQnDwVvBzPbUKf6saOEYImXJt4KRKZtNQB8NPsxVG0NyYgRFigH
JQB6P4iY8U8g9pDbbLH4PqVVvSi+9WOa6Kb0xyEqaCU5oKZH3Q6F3IzQ2g1KpQLtb3gQzjC05EMQ
/6p9TPppljM0AtFox9QjGu/cL1TLw3HjJX37XfiN9XYoAcTgz+UM7tS5IQhM5qjXQYlTGQeVQXnn
q4mzRcHxonVfSagVMBE3eXaHi6R2O2m4/kLBA9O4Nfp2wsL53RfjPBtvxthHoiNCONdslmAuQqic
hF5+kxIFJWvDRaMrIXAZlr2ISHGDYofUN2FToFzAPDBeAdiFGQoInq8gC94C89+nNbrqD2gp9XZ9
H07Lnc5MfBf2YHuUvOXgsgBET6ZK1pwdWAaIt6wdArCSK4321ygS7VDWM3B4UJ2VgYz0mM6/5Fi0
/nsoFCJc83sU5rK9FKz9JDMqoy9hVFvYobvUtI9t4o+g5DLZJ+8V1FFbiOjPrf/NFbLwWGXkODwt
nNTBTZIpVNhH9IqRbI/PY7uqw84wzxNWz+4b9PbNe983Clxvgy7gzCtHIgAvOdNECkXXDJeQ2i4I
qfmWKT1D8nHstakEysNjqWON0kfeZVrtIHzJBPSO4/p7NnuEXlNmRbNxII0mGxBmgIdqr+iSjVVz
zkpoOnBM3C1FtwHbv+u2o+K63bsENYZSgjxQ3ygb9QXECpJeVTLuyAeojYHJt+pmbSaQ/+hGJFGT
gc1QpOAqoKNvX6M7G/VFyBnQrT+mvqxIYSn0ETQT92MyNwMUtNrpCleph7nEhRg2i2BAg6PcsRcS
qXTZF4LKbudQJIRIc9CO/iYMuvBGpS7HCfX18rPDX15oHQWmRIgQhJ+xXVN9u7TDENzowXPjhk4F
CpbOZI7tcWGo+SuJhhAbfM5M880ODQyWE2Q8ycEFYzrs59zQLygMULiXpgqmAYV1bbeNew4h3CXm
ypRNM1p/6yLj2/2oG2PXe8zcGrgp1PumiSK38XuzgKWRNTY8SMrSXZKwTlYoOLfRpps09MaIHkRc
DiJD/71qu5lXekq8YMtqrGw1UBrus56NUZXOOclQOzTUln4yNmOJhvH8s2sIuWchoLsKvqo+BFXh
bj9vSOrqcSMWEUAYIw6vDGrYAs9XHNyOrpVf245G0Z45CBjtk0h7v7xxbvoyRU+DuRcN2ntK5cnG
3DdNsCRo/43mW2hbpvJz0mRQUnUCPYXAHJokRZUVUAnNUbvtYVyBjzazMgTV4GlIGzBgkN8+kIHM
tvIc6DclHcdwqgwQZL2RY0w+5YFL1LYGWwgXGRCW8YnFcyexHHXNbhaXQ8VaByiX3mYd0/11Ycz4
wTGI496Cyw0yWaO9GdJFJmCk4oQzXkY1B09dWYdvkw9zMd1CdSq3ey/NCIw1aIS4Rw2MPQ8zyl6b
fpEzpCIbk+3ZEnk/cS2D5pLVkPTbwXYm+lEgsYuqtdigdgHRqzyYH82fEXwLib7OOBq2uIYDfUOG
aKgP0jrpHVw8qOjKZX07XvM2k2jbRbNJJKCp1sZ0b7xEQgqJDKDChFPohSVN+eCqIh6j9jbinv7Z
+MHA3zsQPrLKa4BdytWRqxx0RKbbVIn0jucGcDyL6xaGAvjLU87ZFO77RPi6LMKh++UlnOmqVo0A
xs2T/IbUhczvfBJnztuFqZABL6eZaX5jJeqwu4TY+QY8fwFHKA3RpFLNS/S99x3a2iY25dCxxe0H
owFWpxaaETw7zIaTqFoKFZKyQwFdlLTuiqvB+VD01igr3Y59MRZ4ukYAKd3YquUB2T/3bxbwAMiz
9pgcb0Xce+x+BO+X7htWrEzygs0ODIOxAXH8gXnWuE3McU/6O48AMzrEOjJFsWklmDtgJIGtAH5A
H0uoqtTWhAKr2UBHYgNS5xR8xkuh582Ke6Q3o5Tc9SXsiVHhkoDfps/AkhNaxRQ43J5wG+Z7Cpna
qz6NZbftjdDL9yVT2fAQpA1bSs1RQi3jTIymK+U0+P21DTiZHnjH/HoDalX7LDnevUqYaICzBOTP
w8qznXmSEDFaPuo2GezdTEXtPQ4hUY/Z3FhVGhFE5HrsveTOkzVbNggVmFeKtifNU+F5za9+cr24
lWNawOPcSt3s3MxZd00nv1Hfa9DT6i36VFv1WXIIWVQW3FnzmIpYPaJ/tW+/TAEBDhh7DGwdYZXa
1N4wJVUrUojNRLDkXJ7HhibJV9hoNmSXu8AhNCTpex1YrLOdZJ3tfEAkEDamQ/6wSMhMVMpxSCWB
u9dk5QJTzO4hkAv73PI6a0CPV7hTUCgmvEpEA6Y32N0T5OdScODKzvmhWa06xVQtGS++x6SDIwid
h3SrvCJ/xMkPv2V+196AY6Paitn/w96Z9caNpOn6rwzmng3uy7nkkinJsmwttiXfEJYlkRHcgsHg
+uvPk1U96JrCmTmY+ymgje62XUopmRHf967h/uaq5bhPlCSs0Co9/SjHWh7shMd4J8swUp+qTaJT
8JehejBo41CszAAxt+ssQlJ2Fi6k1D1q63V3a2a+uYlaphC+c+dl7U3YFKHojH6c0NJ8llhv98xY
/jR8crSrTSq06ay8dpER5a3XlAwU+ADuSfaZOsQlEbt5XUXQG9ZmFaaNY2TuHk3ENOglwYgA0Nbj
dbBztxfLHgUD8nASq1MtOAsya9R1kAVJWTsZ8nElc/wWVpwvHHVrzsSCeMONFuNnfVwKAvXxJvd5
BRKxpDZ8eMJZ79XfEQ7y7rabWJ+s2dNb4ci6+XDiClHDuHfD27rEx7OkTBC9HFfekPLUOiGfl4oX
hCTH/haKSP8aht1zL5ktzvMxSLoAI9RMr6xqynyuDqYzULVujfR9guJDnZe+bGQejltofvA8TPFb
4+tAvSCCcOdrZsfE2QtUORWDKtg0/SYw3DK4RuZGpBKXeAIUL9qgHn4xGg13vUw8/sxCNg1Deusl
j0vdhDWx6E1MCmewwxfkSELL8nzES+lzoLVuoC1KSBqRcEf2lf0euCpuT1VHiCpAXmu7aUBY7C3K
mvWnhcxvPiEvmb9ZSOq6u4Rx9dUSrp5PI7xxc6p3gqRzbe3Nt6gkFyFPJm+jMXL32xhdopgGJLNW
XBeR0xJf0+1m/iJtXJspvbIzp2q4higi9k5FyB/9rUlZu8p3m7DJNm+2Kbnd+QEmIPabPac6iFDB
wZR3VwiMJFU4fkeu7dx13jNS/iDKD+17Pyskpi9cNr4p+q1s18ytWUOyRonlZ+TLpcrIIVqbNJ5E
smcO9sk27aqN28Tz+5q2pzbS5hSF+1Tn/SCjOR1jb3urRquzM8ISZHDCPO3e98Zv5XlvJTqEwdvR
J4Jdcis39oRDd3cTU+XKHqPfyLm8KbMUn/KzGA0QqYs6jAuqOlCvudxmb4EYklu/jJIy63XgUaYw
HDNzpRKuyic1RfeROBp1tScGCdwaOeaHt1dRdBrWnd6KoBFRmHkdT9NAB+1RVPPgvBvIAWotense
soE8dHnlGn3saRAaAu2NZfkvoH2ef0UlVHxXmzr6CFzJd+CMaheZlInzdQ6U7RZxI3g+Dl+Ft3NM
DOfpqCtZX+/9sn84k81RQwjuxpcl3kOcPX9zfxjCc5DgGWteC7mjSMuOjkiOY3Di5iSRbDo3pEGR
lxeuzhp+FqZuo+vOxJe6LTLTXKpQ7MkLM5jZZikWf1TsTOZY+sxfEWGPFDGZlEgRCn0gppATLEFk
1eAg/naGLLfEyR3X1SoEizGCV6epfwCF1HFhbQFLbDtUPFGjFouf47GufnnSYcecD7eJzqafl5dF
NraX9fjIXvtNLknOo9qgxdsl4TywZEec28dRe+fd2CCAnu7n6Qr53di+dUFY9b/tNt7a6zDQdnBV
j35tXdWSFIgCQ/panfrAq/0vnE/hkgX8H2FuTLP801rwv6D2v18iGf5rDjZ/74bfmlD13//28K7m
15b/Qs66qd//LSNrf/grOXv5N/0Jc3vQrDY+IVg6/GUX4+9/wNyQrMAywNnslxfbxF9g7uAf4M+4
vdHokkiNx+hfMLfleKDjwLeXDGWqyZiV/ifcLBD5fxbvwBaDT/l89cs/JGv+HQhcGNsta0vqVOzb
WuZJtaN9nqiTU8MHn5e5TqddtVzXXsemiwzUKXNsVu4LmaZTkzpIwaq0a9kyUlxvRJuWOqyvF0PG
HT6KrtU5VtpDnAnFiL76lRh/kYdXPdaNZbHNN8KKirXc5iOVuq0FwzWeQJAQZV8HnMgM7nE4Tqlk
IQ2zYyCnMK9CKmxQKxoioZN5AXfYOR0sv+co10PbfpuiaqiKwbMRE4Zl5SPzXjaG8N06dH09r4sx
6Vx3ODmr8Ah/g0hsL/zQTfxpICrOopJwaN9KEAhzWoYB3ZItBTNNE1K7kByRvhk89Ez40sOjzXS8
DnvR7xMTwarH8pvwRP8bEvSYr5Ygxg6G1jZxUnsy7dM0rExhuGPnS+aa1f+c/WMPAQcc92wb1zDz
7ao/6Q1vVJrg43uEE0RiipQjovo0Wscfo5doRTy/5AzioAz41Xh9VRiUjDgTxmDfzwPm5TZzqcvj
QFqT9Xnt3ahJ/UZuSxofov0Z+8gz8sXVfJ2oXfyP3W6OL527E5+o0Pg9bDC1/pURifqIrNiy064R
y3Y9KmDgK6u0xXFK9hFg4bDn2GD09dFUS6MD9yQmq+Un4sr50d56WzF7WvYT42PwU0QLW6NsTPw9
WOoJK8Mgve9DOU2/G2L8DOL6zf506Fa+gzwv3xdvuyiIdXlMF5Dcva8RzrxBFY5OKsTlvGXmJnMW
Vb1j8ll5O3KpZdAydecZ7TbJV054X5typObHh+gvr/FcB/hWGrEK87mZWttJ/a7CT9cN6GCLpYzt
U9jZyjsvXWD9HM2239kyjI7yDGhe91ehVuj1CQaTNwgU4TzFYu+2+RxXlqDwamYKSv0WLCyVbrWg
4Y1IPQch7bcpvi/R/NM15De9tm/HbsOUmW0jWdR32risE4vt82ucjLv43utEe6d2CZr1OnTFRVuH
VWcPfu6uz/eZgH6KYmh4GD8dMkmWWxvl6XFd6mSwT8odrZlXPM5NkbT9EIH3NS4LcmwRRigXFEMZ
iXfRlIclMofPFrZR99nrfb96PDwCKTPyR/wgm3R8gDuVdWt/W9o2PLKld+vyZwu41n2fx9Bd72ys
+erTjBs7QP8jkvZTv24NPWBqxujwelyqnh/aS0nYaUs4gR7szt2I1V8Vcj1729b1Tqk5Wj6phssu
R7uESz0t2cE4CeZ49Yp12lf70R+9hcdaSsluLkv9RfIm8mUAyCSNQcYLXloLyUIxd6Mz5f0kwtcO
KKnObe/ow5eqFbWbSrm231fLhWCwEs3NWwEQZIfu9vh2DwGcAPYCO+vW1jHXTj8ZFpumiz+vUUMB
fNV5vp81etisL4llg92WHDPmBCjgzb/22j8eSykik3HuSpFvbaLEZ2fs/LIIF5TTD1zPzZq1Q+zf
EwDI5FInyObDzXVb3veaQylwaabm2wnWW1GG6/pRuUS3o0Tg0yxa2a8AA7ylaWLWYU7LwHIfuZ9k
9xhIIR5Eo90tawhvvVp3O+51ppdqQaVNb2Z5ggkK7ptpn34j3Zqf/aZWv0Uk7fmEYnJ9bSoSVmSK
8aVTqZGi3l7wRSP3ZmHu5BUJpy4dkYmnV9h7wSupGG2tgr0eBX7SC81G0G9YWIgzMGVmdsEPy5rt
dTxVpYNG3e/H/QvPwOSfxeyj5IHw7D6TjbRDM4VooDNqbTDfJXM7fDH0aDUY2NSY7B+uqrvmLOc4
xmtTlewEAKrkrwJ1xGxCi93e4K3ENc/P0y/vGmyJ30K37XWxMSJZF/F9+LVtwojg1nbzRDYmlsf0
XQvxbMbFe2mj3eX3Qke9+KEMg2Lde1WlQ9iinBntWt2CQ5s2c5wuJBRzcHs/O/ajZivl4/zdGZN5
L5yl1lY6u2J96UFEHi0T6imvGQX3z46qmjuhuvJjmFgtsOtUx9NQmWk9jw4P3lXoLcDlZUwSaxoQ
VvtEXEM/52KbMSlp7hxmxQiddOY7i1rT3luGszfO7PuRvLzUpp1A5mppBL0I4Ic8HH3Co4S3wSUk
G1x+KYBv27ZYuni/r7t2fxlBfGRRNxKTT2IG9gTwCru6ib2yJquqm9RIZtsWTGzZc/Rt8+oZGG2P
Fsq6cEjh99lcAqutKeF63jjP0tKb166oJT0KRW0N9m2nbBOlyEP6JLvgL2GGc4Woq2bdFL2eysbr
0R2r5WT+MoUqJ600Om9YXqLcSBU/uUPD+zeve/LQ+rYp01YK+UonB/vxekiOs4409a+Ti+YLJ4zj
fVvU4VELurbTF54J+6ccA9bzWIn9SIm2cV+ZaBB7rpHZXtp+7V4J1YwIoJnclR+xNyaXx9iznurJ
r59pYEreWrdZ+8sI0FBB4dF8ngbjPpiMVFcURS6JhzLUvB5sxmNwC+LAWzj/aYWxQ5yPCQ4Lnnty
8NKJdLW+wDJrBY8xn5k1t3uHMmKrUrrOJzpVutuo7asOj75jvTfVFA4nXADSPwHAquujilc3HXyn
YpVZneR5SeTwZd6aoMviZqI8WSaD/uLSlxtnkutaFFRXzUBS5WjOm/IGkRG6GjSpLKsejYNo2UKb
irNJm6Ec8SINMykFltON+bz0tih85fHHS8HSn/XDLCk6HBVzSrNtdXmqsC/erggQ1dWE+8ZjreEH
fT4Q+PZ3h7D2l0V73XKm3uP48HTk8TBMIt6KYCQn+3ba4nC7PHvHLYp/FtdNWD+Izq6eqr0CuY/N
mryqfmgQKmNsfu/sqJzzgwfzpbw4T/D3W96tLudpwafga4TGKM6vlm06fnl6JoOKxBgfp2SJ1QpJ
ILYQRlpbfZ+dCKvS7k7RXbvMas7EBTfNLkm+M4pWLT95EMNuMYqxvLGDZfSKUS/mvmecfVurDu0c
OG73OBF//zNZNvlWmQ0jr71E3ZJidRU/x7VagQKE7r/Ndb+/U/GkvspVlCaLDzt50lHS3LBUzr8Y
X8lpjZ1V/+ZW1veDCjeNFcaJyAvWSn4XgXA+XL0fj8kwHler1eFdFaPl/lxsq3uYLTwpKWUJRKLu
ZNz+9iczMJdNVfJK/nD1Y4/a4Fc0V+g7tnnqX9WhdZvNzZ7cGi9kvioJqW0ypsv4peNJ+byhT/az
oZatTKW30o/XYwmjVNN2W7D9Q8W3a7QTw7NXcqNCd7DWLqPcQ72G44hzcscdSsiRntVTBaJ81dUb
aExfbfFXTbbbjHVRX4Dd40ged+Q2BDdOx37tcOSjAIuh6zjTbIurp9X7xZOJSc06vIiByZuWoZD4
dXSBccj64TYLVN4YirYpok4DOqLZC9aT3pV5V+6kf/oWmSgZmgtaFdd6xBvru/T14mtdf4cwZk+S
EwOs1BhLpIIh/9suG8DH6ZDzcEpMiFryKD2GhRaBGo76ySqzElPuXgSBubAtqhYK3JXcaTjSw09S
uO6qooJBN33RW41JrozUlBUco/RqOEbm6UyDqXLWD76StE/4cZcyH1tP5URcZOZYvrrhr5TfRyLJ
4XqYs6yckOb9Is6JK6+ozLj7n7e27LsrrFiE741WuzJehkv4A/IRLhM3mBLQb0zs2WI6BfsR91zu
OKWH921bwqTAFQrk5sYaah4LGDeLFXryl+Ep6VLlbVw+yiwoBKwL17nUCotsY3VEvcZlZOJM2XzR
Qqyb98z7rL46jQheNGGAJJbPer2zMDI9lwbuBUYmMXFh/Lj+XnfVGJ/gRurjE7vl0EGIGh+3Z1Ou
74ctS5+X5NgyU9MI8s7HZb4qKUUKYLDadce/HChcC5Xt4hpn1Rso1vBZIFUZ7H3WtQ7JYe3YhvXJ
31ayh5YSvJ/Dt6MaxTKtq65iu9N1RtIrFE7Y9LDA/sxZcwK9kyOmiGrjrakrq87bwOnUecIM6JAG
bOKTlP6OsBh1MVtHtSdAf741urSXHrO+Q2o5jec2mbrPETiPe5JVfAGCNwvIC/3E0ORm3snXxkjv
iNPco4fLosVppwLNFfypakMRPrYeYHzuQUjBka2HqK4G9AkAUmVIegW1mYs845umLHMbBkflyAfC
/togKKCrs29YESSMEjZW2GVm8aNM5pxI+d5LA2/r+zPDzPSELXdobkqqFtvUa1XDkdFQV5K3SnHK
koQcgNF2XpxD3VoPG4CbOU96xnO8h3OTfJ73Yd8y7HJ8aw0c0ZvUllqyMbrswwiPVHlSbBttVgfh
tN80pTOKK5jn5dvYotU4q1DByA5QWu6NW9tJ9c1ORkO5jGjWMSW/BcsqED005d46Ysr5vNRJekyU
OefRpv0G5olrKJ1GkQxnOO24xi22YMVul1gydnoYBFMf+5+TQ6+3Vs5KOFL+HJSgA3peMAgvNXTb
uXOmtrypvQlCYOpaoNGW6sX62o2gF64qLubhrlxbLa+OuFIdyoeSaBTuf1Hx+TZoU9Ha7+Za2e2A
r6PcQWLNePlds219fYodwdvsBtZkvjJmryp1oQPct9KDoTvBd/cdLLB/9JltoZG+wxPCTem03SHP
Mli7+kotYe0UvMCGnnRdaa9AX8GiD5NtdNFMU6nyigXxQ9o4Sc/wqn2SGyR93k3NS8PmeBBy92Vm
V2/vrEiYI9+OUXVcmzQPXkMG+DNxyvsmCjIZXHHySSPts8Xl6b+fFlT8edM2ZXBSiB/IbUjscjiT
1VoS1pD0DIMXia+OyUScp/V63YZo/bKr3V7uWjPM3SdsoVt7nwxKi6cShzgkliiX9WUJKp5HcsSP
I3pYDpbN28Rr8ZPtazNtp2XniKe8VcublacaqYerguDkJaIsn2a1CCdmlp7/dMv3+2lkxdWs6SAn
BQ/UCB+KadTNur0+5tvGjFAZyF6OoQAyr2L81iG8z9iFpr4i7k85hQtLSysxMZwj4hfhTAV25US+
wplbz3HUdeONGibgWjC/YcuxRTOGxHQEIrH2pt1wo4rdOpu98vYC2+qqziFQus5i/0CX4KmldzIX
uWKVjnLtcT5IJ95z93BlXUxmUmgwIXXUtWjgNK654GeetEDr8GH0/Fo+zFHvXLL7D9Wdo8YbnVOw
CioyFoemtBxfV8XN7fGjPHvJ5t1a8TbvOXWP4ZCpkHzHdHE9/SDDVv5a+yrAXDvBZ2f7rBl99XRY
tEfPYA55qNrpjnyj6Ku9VV2X7ks7/yTzQp+PDUXL2eUTFRYQ2nrIe17xUAx9wEhYDzzrlGDtj8Kx
yxglkESWtJNcwTtzxOopJLcM+faKPCcFfuz3QgIIikIj2ogzAaY/FL442q/AA+ivAohIKH49rMRr
ypCQzUl2L/G24Z6y1sTciWPo9pPFovssdJx8Txa6AtMj5KnNSiqxf2KHb153Zz+geGWMGBzz5aWG
ehHLDeZ0mpYbl58zpyUYItd5xy671fCYqMzaXeVulyQ/iR50mvQgB0ewBw4tV4lEH5DqaJje+PDD
pSeRHvebZZkgd7VgP7jek2r7Ps/dgmoi1JqtsYo3RtFmWedLLVpFUNBnPky97vn5bma9a9UsiNwU
g54YpAabzZkIob4G0g+tTrRbaqmQve1czs6miY/s5vUOdEtWT125MVp81U44eHeT5SSk++Vz5zfq
1CSdMic7nAOwWiuoJvVoNwmyygBAKSyCUjbr7zk+XMdwnSEG0BD+tsXgXsLVybSfN7t/cgZEDwX0
FdXCY9gQxlbF4EXqNOzaxp48+fO4ExlSu8q3Tj7G3ThDp7WI06KFNXMDJG140YeVbb6MQ6hu2AXh
l/yGBQ6Z2AwqfvZ7J4j1WZrocH4t7Z4shO7aXXzl12Xg82aHVfTQN/a+vU+LXzKh6nZmq/y0Chje
M8CAzQrTwa5y87Ag1xwXjVrj+Xed1Mv62VaazU6jCl2cNCIRwL+kinSV66Wk6rmNTOcReyDRI3ov
fxo3bOanpuwM4KWw0YAJuu1DgDHCSiYj9zTqcQ09M1DX01NQHchzDpyq9ZsrrLUm35/ZN3yEb2f4
TroB6czF1iywRAgUOF8qHo3hgQuJhJ2001KpnGvSFP7RjjfSQ8KgaaeUiKW8wdDUPUd3tr4AvDJC
WuVb/nHF6o8yd3Qt5AW8cd11ORzheIP73Fx0chc1ASbD9t1GCPKuBuF8N44E6RHrSMagN6IXZJkI
a8Xhukl1rogkxYLh9Id17TeiJ43BMtFtpIxGE05s0ICKMC5xFxHHRyiu16P6ib1LDhSlQczJDns4
p5il9sfJIk2EUp6RilDvmCmNQwlMRoczNjFT0diTFYoXrXFZy5zJzVQCmgQ8ZI/PCeEtb5ZsgwQs
qbEeqZBBmS7pPXKLHYQJ3UnDB/u634b6Kxpap8vK1TKfgYmqFYXHavHrYEQBoLkFqD8Gt0qB/2NU
PBXqmrSp1/ZtiPvt+3Qkq5WLNlZxinpvQx26ToiAdFSKDwcUlG8hqi3EOprQnAwEc3Jz2Itqohko
Xn6PnvE5zl1PMQyW6KjgKFf9jG5U8Q23i/sgV7MtaPJ25zdrWnWiYLN5aPqtJvUirq30MOH4LYYN
7rL5CKIF+g6nCkD6hVtxllVCD6q4Oq1/6Cl5mtnGN88ZKZBXR/Rz2FaMTFHl6vclmkOTj/bS3O+R
bYgqPiIes8U+1FXD8/9Q9lGMwBGI/cFnQRlylrz6neT45AE4hJ/OYvT6aLCqAgaijiFayZqCr5ao
FBG9x8WxZFFvRdCC6qQ4KR3Tuxb2om6Qjw7rDwJLQnYMymY+J5EYuxTynAETwppJ9FgkW+NaA/3l
nS9skiwaNMJZI3X8yxIJ0tDBVt3HULXmffEQoENz2wgWOShurTK49IHqDmq1BojmKhN7b6VdFzcv
dNuUez4iYyLUhxrspxLqpb5OWqtaoaHEFqNp5MbNfCtaPxOxFKLmlL58Z48S6DXVEN92jYTj7Us7
yOUSh0ike2Vt167w4zFrk1Z8BL0dwmWbHromUAH4iu8R1nInV8e+GAfxtsCpNMT5CB8xEPTwxtim
Of3qGz1XAyOyAUAamqRlwbQbl9WVs9FOj9FynqqqXex0wAlnTkkXT2WacCz5iBkqJn24sJ5Ov3qA
DgpjzcqptAXwwdIbPparZ3+PTZkcp+7w6ntP2yNPkTykTEkgEm8NhztwCJIpBY6zsI4DY/j2jVZq
/E3+y/bN4ZME8Y1a/A7DuztmEWqL+/aifgQXH3YCZyYD64Xuo3zSPgQ3gK3n7JmnLyqtMYEEuWMk
jEn0GKjW2WhvvEDzE4lTFbhvdHWExOLkM4Eqz8m4VVaG3CTEiuiv2BBikOHMdscRKCfcuyYzi5y7
a3Y/95HNLbopK0bk4iJi2XK7vERf6Q1eDve6dI4MTdyBaGH0tHyZjsF8yJHA7NTu2uUt8rGVPIRm
Mknu2hcAGBgGIiiOh/nBqCOxPoVR792ZJNjQf/pGPtPibd+v7F/m7Ctfi9uJ13c7xjKJ0hWT+Hcf
2kllXHWeDd7Tqw9fIbLI7BVbAbpOW2/I7J36Yemm4RdVlGOT7/Y4fR+ToUJdqtrhT7fJ/5Lz/37p
9f6vyflinH+ZQYtf7b+dZ9H/57Lwy1/9k43H9Ow7NHBeirou2ZYX/9M/TWf/CDE9XNzQCDsSx3X+
ZTrz/vHHn774qCkXoTSW3/pnWbjFvw8TDX8NKh6HD+P+/4SN/yPw/K9OjUv2P03XrocsgFcY/M0S
5SEvt9Z+h2Ir7aTg3B09LtUDEBRRYv8cJL3UudoS7zNbFc/+No/9du56HEyfW4UIJO/wYfAJD9aD
JzLCCV2US9g891M0iYxeG6oZ5sSafxMtbP0KxsBuP/l2PTEpe/Yw5RwP1lxoy4+fyJEtwyyxV8gt
iCD9pfQbfARUO84odvtjLqyW2/lEVeV2DUDs9rdzZCFJ9eeLYecv7+b/w0X1dxMNvlLeNtqfqCT0
fPcPR/RfTLxsxRsnbZyiZlpvbDHMzw78yPXGhnbbSss5I0UKakK7h+rHf/+V/24Sunxl5BbhpWgR
78zfQzJqZ/Y9vi9ATuD2OVSG+CBH/X9cun9Yjf76xjNg8tBdcnvBtOga/Zt/dl/HXc9hk01ssaCL
EZBwijoruLctSmu86wD0cvkELzk299ZiL/fS6tlL09qa4Xen9Qg1XOOsmoEVDTEsPDTBore+hSAt
beTeTamFv6m76PUWdep2H0bG6TEWpPU6AY77wRh9Y1mAUDTajG2KLo+IJX8LljYHFTPByVTenEfL
7j+yBvtvUCjjkNs1kqv1oSG86GFene1Fj1F919S1i7NjCwnHq+z9uLlk/vzCJjU0We2ia0OiRrg/
4bms/fs+qtfkmAi6IhvtyMhy9cYbSBYuUGvfLFnoFjzw8xZ6+PLRLZBKNukFyQNT6/jCde2PxQHg
+x6Hy26wah+xWzQHSwvX6ESHYlTB1mdcXqF95Y8kyd2XPO1fk4oGjKx1qTGD4XCdZ3daYJBKa2YP
EdUyvHckwm2orsft8eiN7Z87lXAnTkLWVk6Kq0hyNKNl84myDrFBRrXLkEexdvZUEVrCqIMrBrPD
+Aod1+6Zm9TTVPz3D+jfDIZY+Mh24FQjbZ1zjeT6vxnccV0wPk0Mscjfg1Fb96yQDIJ1TJ3e2i5M
FQqHCt/wCyMXmGPs3XV9a+fr2Ciy5+vq6o8X9L930L9fmqj/6zvoXP/qf/1VBXb54/+8dy5Sr9Cz
bU6uSxL2JfLpz3vHIqKDDACHLHUMqthE/X9dPNxWZGZgkOaf8E+p139cPP4/oktlEXnDSHT/TO/4
IwCleh/+eZoSa/J7+z//+t9/DZQgDvM/uUFRmeEB5T9kxQQXUVpwOX//cr4GjVraOvlVMwDTUqps
SCRYERcXkiesb5q98rab6JoAEdkUglLAXXgfxEYVH99BXXe1F5APCF6645GzMW4hBpFXuu788cY5
tLQyWYdk8s372JjcMJd7X0s6vpcb6k2RSKQUMW6wFUbI/tMkYYpu92ofaScYSdb7VOLT5ywJZ5OL
eiDgbU5gBMmQkNK+bpHfLTdeBUfNHirNk0UI0X1dh2QdT8Z+d0OlqlsLpbCT4ZSqJSYjM/5opIdq
k3M5wvlGP31zdUg1Bb/a/djtu2M8LhQB8MlEyZDqoKUdD9WrdJ3lI9Z2NBaJRPlzzaQ+eVdglpvK
o4GbPZXzEltXYdkE5C3X7ZJHifbPKlqW+bKImUsyYU/TvaRityqCltIfshJmjiv0QuEtInJvSknF
DN57p7c+EUeIutlqvZ3RNpHjmkYg+t/iqfM5YCZH3QzhKJM0VksyXAUNwuZimeuRoF/R/bKli2Ym
jscQP5aVzGlQ7d1DcqwweaJNWDvRrDTfECjId7/qKiyKA4oVZcfdPdaRGfXWQQgusEdQ69vtqCww
dUaD93ksR4TfU2h9s0qDLYbV2Z6yZEUcyE+pjYJzPYzoiOyk1BiCnMY59WUCvxxioHv1pV/amUIM
/WgTwIDDUqDSyEuQYKaOwV26AkdPVF4texLhVu1ikwf+RJysj6DvFUCMTETgT4XSJrGalx3876dC
r7ukbOLQhoSGemSJAh+mPREgBkE2kYcpqbfLqbec9brEIbLnXh8Aeoumt76gZMdEsglKf7kbpcSc
Q2xEmyKrqq8b5QuilJeZlyqtiZ+eU1t4icjZxYbFWtFY2dH0nciqeK6/QmrKV28RYrqufCd6X+IE
bguJlXkNy70HegrnqbASq+7y1a7LptjI8/2k2FpeuwhRXGF6MdzbAqQ9A6gU78we4Z1HAGlb4JbZ
EGF0/nbk+xJrvDa66t4AaLjP8DjAiMHpb5C53hoho/cvx367YOcom9gMn/AOOD9aqKC7wQcGT43j
b32mK1qNyaSbm0dSD4IlFXU4qLM3l5/CJZhevXVo6gxHb/lsy2oNUWKHcAqgRaLKVqO9D9ue4NZj
u0Z50hy+IHE9Qf6N30rO9Xm1hX4TydLw6hK9QNnsbQnF3RgTZUs5VQox6Vx9aLvBzlkt6MYRT3e8
ocKextuyDA77XDED1LjsmpJhaRxK3hKyj/cc9Cjh46YX/XgMwwyAWU9ufMKyaiOtxgncADAeoAVN
It7QUIVAEn6zDidtcCug5/LXQo/DxRa0lBaA8Np/lBXsRGahSXsrI082j4IgmY8oEutHPdpTlKJh
xZMZEOVOj08fO88xIUHPAQLTAWO1E3/XAhdwsdqkbvuBJHp30Ij/DiJJPwTZkeJUHu7/Ze88muNG
1iX6V27MHhMo+Fq8TTuy6b3bIEhRhEcBBY9f/w5aYyiNi9lPxI27kIbqZjdQqPoy86R8nby2jFd+
QUKTflhHnnt0s3y1G6cab8LK4nPxuCTztWG7xUlRYxHfdgSIGWDzteytrMv2mmn11K4GVxov5MeM
6wqS3fTA4T54Ihtk9pu51wytSsQD8kNs7H0I1YMNIVfGCVLlOBbHyMKevmlty5ue8z7MakxApr9n
1WDw4Cq/p+BVKYw1alb+o0+QML+w/c70d0YeBh9Z0/LLlV3rsvtpZ/scHZjhMUZ/+SaYOZS7yIsn
rDB60JeikhRwa5mWuzCucBzz/mxMLSTLFmVX+Wx/FUPZaTLaq2AGyLH23Rm/MaE09nhZN07lxiQN
OR6zF6wGfDO+d0d8GOpT39bRZdKHA7GRMdQ3JXZUfzVrWMLbtDYUdbh57lxXaTlKpkeYo9D953oh
1Talv0nYclXrfGl1ZphoFcU6hfd7lwZ+JteB1+BDgbAUXeRuOBy+d3XWeSQ/uJSK+p2HAfa1RLgM
tFyVZmQjIkL2a4uFZt65wpm6bcU+VZJr86N2xdSc6gNpqJA7mvlpw5asSf0nKzBqVknfYZrJIGSI
9xHX5wD/UsFkGlSR2uus9r180xBsfSDbRt9klw5Wdjo4U//oWyNQ9RhbXLDLhIiJ7pNu+oJ1OlJ4
Fi1ut7M+xHj8MGZFSjEBY+mlmhwG5zWBmdTcKB4w9SZP+vZxTvGGHxEtJES14txqjCvfGELyn2bU
n0VZzbJs21H8AuS9IzArKus6aofpYwyyQgNmLWovXPVzXbxEaNrHQpC+uiiFIbKnkbdl3+WCaBBX
BWyhTemiVm1VFNhf6wqMoz+43lHijem1RzIbQif+HNxcmXNWPBLRJIWEGtbdNT7iycrmkkjOmEz5
1UYyZMKP1gahXCkxjx9hbvPWnXSA1bpEyzkMs82SUAZTIMqCoP2johLljYDwgqg1XvxgKq90q2Ez
1Gmub8O4rowzoxIseXndl0/oCGJWayqDiQBsRNh0w0dqzdMzZxj3vYgKVQKMcbyziHMSJupSJoCP
HHAM3xBM/+26f3Jggfz1rvufsxj8+C+78OBnj6IRJjW/76e/7cKXnbbDppDqSsBqrLGcoX4B5TH9
YeYADA9YmSA2vOQjfp3+uD+bDoZZpknkNXi+yH8z/AFE890mPDCpDvE5zQUW/yQkoMN06NMm3GKP
5GH12nneNC4grCk6R7W37bOxnuvyrNfAmnHvU2UCN22Ox5ORUOpT7HRY/iizIJkuOyNYTKnDlG6G
sOvSTYT3w6T7Q3lq06UTmalMquJ2Klyii+OU1grfAF5zLF2DXDOFh1msrIFdiU1NwEcJm1nvJoYg
3F4mq3LHs/28tdUC18NUzcaX44595Dtq6rcOsQX81f7MtH1cRM/6oH92By00OOii4qCRgtFHyqxR
i46tg4raI6mgjjLJyUiK6vDFaRMYnMNBf00PWux80GWZ/UR466BoFCu6dpNzeVBxPatDZZkP6m7f
GRl7KMt/MQ/q72i7KMFoC/JhTtLkqSZDPO2iEdEYK1QVrgKZiw/FSF5gr10UZpLhHvaFRXdWicqv
4oMabcPv4IlSRVaynR2D0AexStRr+iABkbmLqJ2ko9b8SgmFZ55dGwEyXzbfDknimYCoEcbngUfo
djjo5eKgndtjgvnErDpaNPBQvDRJnxcruUjuXujpi/Kgw9cHTZ5AsOTM3gxZt3awnVOQsEj45AT0
jTro+s1B49f5wJ7In337DJMwLgBY9TgCiCMv7oA4wClggzChi4JzTHFk1R5ughqSRHoz4nD0buai
HpJjjjd9s586w6/2TKbqZM2RI4Pq0s1y4hk3KbEtpA6jFQlhHA1N1YCv9/Tip+97a6yOCGw6OOQi
4EFHhoukcZblsmvPEi81il0Ma3zcADswg03AA7I+aTLLeKqxlKdvwZTSBMKmOMGFapA+Zmbk1WJb
i6yPj6PUrkmqHvwb5Tcvxzdfh22b3dl08Hs0CU7eVT2i3m/rSiOUG8yOpp1PDk8gTh2MIzObBeNO
qcFzd5GoMlj6k9EQ7cgG4zEpiH/A8/bxomgvjRIwM1Rf3yRd3XT3uKrQSMcKOPZzkaQF9sG8b5M7
etiG9Dwrw+aECGhfnCZJa/UX+BjlcKlbbPv7eiAMsqvmknhV32V2+NRasA8+eN+GOsIMD86j4QJy
d800CeC3ylLVtXuw4zBQY+cYH2w648SzcFPFUZvsRRpg5dEq7mbGwOA9Llxd+MElZ01aROJyNGzk
V/h6GzQ0UxzFi1PId8t22CwKL+SQg5nIzNLG3uoEGMauPhiOsoP5aORUxcnZzmFuIoaO+jwKgVet
87CrigtrjFi5wki01rtiY1WtCjPs2it5MD0BmsEABSshXXJKizGqPpikYuI37V4dzFNVufytZass
OSZiUWOwoisiPeY82agLS7DyHI8sFvG+aYYccxYHJBcJ3CjCEx33eFHKuRrEOm3c2lnjXdUhiX5B
dJxYJOYv1TgYwXL0KOfWSbsl55Qw3mTjOAUPjszwbPHt80Ol3wQn4Vj29SZGjX3OLF9/1HRwfUwZ
o19iJZN6NIfl1YvG5g84c2JQpWuDcGcnCgwegYOWz/pmLq48z2K5iZM245twqHqowyDPd45BEt5y
W9GvsNL6FzGFTe8Vrov6uMA5C5MBwo1eqcFPvgqr9i8yfC/YVSCQPHIu0x8t5/LwuHEc/cGQFM8X
qV9mvVhb3VVJvoKbNc7VYyAakAGuatR7SGSB74v0k2YxMjnrdGFFVMqeXbZ+1bJpGcySMmr8sJwj
LQbAS2o8zTeUtBJCM23CF3uLNAdB48TFMaaDIKXOpQzHhwFJvz4TVMTcVa2CLDG4ejD2vaakY80D
w6g2dujYTy6bdts4jqyFu0MIXxgpx5KOPfSUERWnGqmb107KxbaOzaK/LwTbQJpxMnPjEbC46f2m
xrszmgDyo7Az7+LYJdAeAkLZRcoI5bEjmvC8txz7XXc57mtY8hP+ENE2GPhBtE6b0OlIOCs7b88s
8E7lWsipKHdxE6iLbujwVLjuZBPNyDWmWQYNVKtYWJbXTllo4gxMr9adXUzX2gKdf0RIrpMrv+Zw
vS6n0fY3YrTt8rQO5aKH45e+q3n5bOUVpRvv5m6yTplz9AwmPIks00UZuCpM3PMdG8vmOsDr9JgS
iscNI7V/gu5bgHSw+/gpK4XNYqbH6MViLef7JiwBd2qovYksQo1JgalXfjebOjvzTKTKnaFT/dza
QXROEFCUOzsPswuANeUjrSR4rHPDejJMHFgr+DXFVYfCHK09EovFaqxJsZGIi/qalIAu7kWLd3lF
f4XNATegCGRDMiPe6zRVtXHkTIZpoBn0qYkg6+MmYZG1qAoBAOIKnJup5a0xSPjvVlgSURsHr7/u
/bIhG+iW2CHxonK8iKsUrkMwBJdsAlp9bDZxb2FoZaCzqgKoJZxkBLMjYeGD6ZCr41UxJhxcrVC9
LfkDqru8EWZRYts19tC+Rv6uwGynXFc+VtFWJOKRA77+kpfLV0lkILkCWWuAQ2k59eC6T8Yb33bM
Nyuakvs8kUmyKYOkttfYzauenNZs2VjrhLpQuc0n29Rxs6ks8G00L7n6JUhMcm+dm99ZkXJPRTyS
cpQ5PYvOmKt317cKDgPE0eSqUiOiGViopN55MlcYVylXeqxZh2vM3tHyJXtCHCttAlroAqspMAry
4GA4C60w8X3mOtaosBaZJcYc0jGB5xw7gVNP29ZzcuiqZjveGglzxrWdF2m/MWAWXNVW7zhbrqfo
q+tiYj6hNC4mtTR0dB/5ptWvK3ZSbASnKUg2bus1uJ7MIP5CsRgGKHJOztWCFubSjxRRMGkwqt3N
0BpS3CpO2q45SjV07WUzM6aZh9GJopCqXOERX6yTJrUEoq5CYAGkh68U1Ithh2N7yNfm8jgFy+AC
y5q9cngGdOyddinBOGYG0PTWeqby5khztKrWBvOycZcV/RgCJIpqf+dq8jobGyLPuRFht94JOO83
jiz9fAtbPrwirxw3W0lIjuOk8pqaXQgAW9aKJHoC/WIzhYpH8ItmOhZcmHhyVngVins2fsNlybYA
ilTWTueymgictJONw8kK8cExTq3tYl33c0k2DRwZRdrFFOGw1EP5muT4yvZOZw90ReZNMOCYCPyX
Khydh1RRW46glpY5nkBF8GsM7GArY9LIm4I0z7DGGioDlrIRFleL5Y+heReuMYtPN8rNmy82Lg+K
gdTYP2FI5PEBaLGwAAYlpH/ZNLNPTTyil6uxwsG98RuvuAJtkXwJnMJ9FkG6FJixZ3AgZXCy51c2
02qLgAUPhMvfscD5SH2NETTDwFPU9K13tFA469yuveuoif1n1D06k2vTi9/N2CFWW0MMuhdmrO5n
Sk1AI2gqXJipEl1eUU9VvQOa6PItmygeQgiQWb4ac87+RBE6m9lfkE2MFbCto2iVQEhLkcAMZShe
3ICkAMcWmSZdGhxPsguUcS/lxeOaSLAX5zTlAF8Z1rhGnC+MElA34a305P0aO6TvSlRfGFxClEEL
87CEtZaat5oHHMkeKBO4c+ogiNfwAItyHZL3jlewqYxH5bShd9O4TfymZdG/LHCZqwCH2nyNy53w
TzkPA6J9qPhGO1N2bNfdtryGtQEtLE/KSvB009JcI+6EZ1QMYcq3kCdPaHnosyOywkuK0J51twlc
K7q2PUqdMesoIN9iGNIvCQy0r0ipVOZJOXrRBovOeAYag3WlIVhHK9FkD+ctBqZ8B22ouU29KfmS
MHMBIAbC5MGrdPc4irR+s/rRAA3E0/lBdRp90+za7LahWAp7HXlNjMZ1nz2mSKARti8unXXHRvUa
gqN1Mfk2eaHMGxvECcKlR1Yb9M++PWUDsYQanOZsEPpf9QzKH+t6ZirtV3b8xoi/6ldG0rn2mgCF
m0LbcNrXokkSuo/s9K2BY/QUZaCysJRB+Fh3vpueCebf0Yo/Lm8wfFUvHG9yMmkBHTmudponmTJf
MjfQdNPuqesTJmyJzfGNmGyhKSED73KfjdK7N0tlvJmyB27L7M59mi3y2xyAkWBW0xjM6S5y4u5G
q2xAhGK7cz4NRfExD+P4OPbR/OaPxAW2nOibr11Mkm3HhUWZW1mC7CJwxfA6IKIc45dy/JRoodk/
5fh+XhAJXZ9hJv5LHO9xFxAMKPqeCDtCEE8yHrdbhATvvsWiPVzI1PeokatyGZx0RUsCgr4R92Mw
xjjamokh3jmHVfl6XvTyayC2hr9G0XaXBazod3E5sx8sEo8/KIcg4uhp5YJsQTkVbBha9ei4NB4t
rG5JOZNpR1+arMfe7ZAyuGRTbFm0K4V8xmGXmPY2zMjp3ToDpyl8aRgFWH1azRViTdghLZZthIRk
5saNvSpseLr5ojvloeptQ3rG0NU7xWQuqNkobiEwqPBczuDbVsiCTnBDncUCZUzG2HwerTZlL2U0
RNtoC6GGbQbyGCiqvuc5sh4TgoJXUQWw1uXDy9riG5T5v4naTwHjrb+eqN1BNDl6Ld6S78Vsfubb
GG1BkOBPAt/m0F+PM2bxxPyiZgvvZ6gkKN3WUsIMchYh+ZdBGj8Fz5nl0eQov4zYfrdR8Vem75mW
9H3fJRfv/qu+CWF979mhZxoZHaHdgRtpBy6Q6e/V7KoZxQTG8tpCSq1WBjuFFzbu7rXNYwQ1yE3D
srrE8t/KO7+XTbgem1remSQG3+cqh7gamUF6QsCxWPo8g/zRJkg/gkGGtZc3yn6kjNIyiV6bzgb5
ZGb2MmdkHys4Qic4MHzjDK6sydl16pL7rjXrFy2GoD+aLYZK7E7oYjjHDWpCESryqF5rLAItMiUc
gCzsrM1Y18GLTAJVok9ENE8mrJksKGiNgLx6LJRrJxngg3oFlZ6YH4eG9Dfs6K3HfJlsqTY0nEDW
P7Y0jLdCtuBoGDv+SeBsVW2DX9N1sOx9zPBLM+dk0VAO0K7n1GFdiUqhwg36uFzJiXpKejsd2AcM
FVhSGo/1gEcqdDcoUU1frw1rQDFpIeBSV5+N/V1lts5F2y3DepZ8ou4KuD+4JkfGUE5dbeOixrc8
YYaujXRPpGXawlJAwbJbgNwZvn+8K8gPjwNncpvzWW0kW48pAptSnSaUAVRE+ze23dcRUFXtXyRE
Qzl1hBW1keYQmuPx5KcZex/89ymaLGmgYyOnbHcdgsNd985svbsixoYt0dnyTZRoEn0144clCaBS
cz1VAxVPbp5BzAsIHUfUa3TUOZPdmO/aKZ1M8dBYMaowvquen5pZhI6FdixM42TzBH7xLj/Lh3SE
/RUWWQQwTBbD1kK5vaCosDnBJi1yqjg5DK6KWM7BtlEtslMG7gZylBpwq/9nzmmn/fv//STcv9UJ
zl+J47dfP/tzDj/xbU1z3J8hIzFx8A4kJsf8bUnjb0ycoTYmG/7fwnv424q29OQs1TZLxc6ysi0s
pt+0Af5u8XA6SA0sRg6evn8jDvDyn2jtywvTeYBHTuJFFLzvHyDiRi0IbGUj0isVmKQBhY3mGGc7
Zilf0LeKbxauvzYE/eHlKDgDFW6zmEv8rYtd6JMS4bBuuoz10CibEMwddBf2T/RJfnqs/ImpU/wg
ePBb8TKu42JiorfB+xGNH4MYIq/MdAV2BgWV3Mukg8yR/GOSnORdNBwDBgIjJSZbXIgJorUaHWvz
9+/i8Cq/ey+XzxZvJ0htDxQWv67zg/dSgxtnBzRISl+1eoMpGl3P2dGchumHUsp9b1i7IIXn3K6M
8hAZ4n6H/VLrbamz6qrs5/kxrVmSwznjB0shso/Mt6obvOfuTdtnhIFUm50ljcFiZapcnAoaP5Hg
kbMDaCXBriPIuo/6nqJ4bSh6fGITR0hqspkic2S+ByQwUBQSn9cfQONiLexe4rIcXmY9XTmyCi8I
6ol1wHAWkmAx3PkGxA/B7AeaY1DMa+EPZJ3/W0u+rSX+3y4l2zZO8EB9tz1afuKXpcT/GQgrPi8p
bMQG0P+/7o7sw5KAv87xrAMKjtvq182R8zN3AJZv1gv2Ts4nldH+edktgXFn5OK4yJf2v1lI3GBZ
Kn6/3Jla0ZyClRnjjaDdhPf4/b2d5tNoth5OjSgTyj+BOONekaetDazAVqRPdNpGHYGlUuGRgVcY
m/6mz2bjudGa6mmdOpZ+qmMNVa2UXsTTyu87S5+SZkqf7UH28QnTrhjNYtSJtzFzOle3Iq68YM/0
ME+IwCgUo7hIhXOUzn747LtVeEUFOVsoCxIwA3V3IgBCDrF4b6sye8mKTPjrJmt0dJRSMn2b1FQJ
bRKNVRjSEebFjQceuV3n45BcE/9or0K8veDyvcgdj0xXR2rNP4JDfK7ZUWzSttKnC03TPUknrMtw
M9n9HdUMnMQ97t6h2lMqybyR5GHOpCYro2ivVSvJjWO1inYwSiNKfM1ampeEXA0NCdqvo10WlvG4
4nQSsDfzNZnhFTdh0Vuk72xbXqYKYwxBsgDILxHxemJ/CmsoJaXWtrrBGTIDGkKCoMwY5ryuPNx+
JfasTT2mmHq7qcui+dZPiTjd9fQ0uPM+UYxngjfS2ePYnSLztGbHWLWJ85AxlBGnkqG2CV/oxjKK
pdm4aAC8YJ7vofqgDMFhKur5ZmY8i6zY80sRT8yaUlPFDcMEWbjpVCQYx2np73CYN93WEyqjx8Gr
7eq0oqcEIDcNaS/CQH6AyebHdXA1TLHARz7GhIZMqcv+Nsq5X8g6+3hEaDMW5Y2qazs7t5lrZUdg
6IaBAWWqDXo4gjneiLrD5BdoGUJyi8iub+yEkMZ+bgM6yDGzDRUY/AFAKPRWgLcNCdUGtzoBqFUK
iKzf6NS1hi2dcaO/86CNc1VFvWmfWFNsqnPFzInwMmjwO1kWwDJGkZHN74kEb4TNNbeaM5/6AyP3
m6OWWOcV9u0RZY7CeHiz/FNnfEPpZeJmZXUs4eCJVQa19Mn30wGtXgXDct2Cw052Hi0E457SCh6o
iddx+A8CEpHbAUaDBe2odSM+mQQyyJgH1C4jn4zWi2W0ZIZIljfLo7/v6lM5EnViU19YDKwo2Kr0
tUAkoNqtQrEdexMsR/2tKLhnYizueQaYSLzx0iucHDqGs0PfMJ742NoTxiXRvUoP1cTu5DfkfJND
f7EpmEGSRTiUHKcczuOn/lCBPB3qkNtDNXI743/nGHBoTuY8BVRg3X4rVkbfsM/dQ+FyXBdRCETz
UMR8KGWuo9i7MjHQyLW9tDZ3fUY3h+UV+kIsrc5seAZnLXoRXON96OiTGJcKaEc1xml8KIYeDiXR
SdZBcajHpTwaopF5bR0qpU0jntxNABgCcsahdhp8X3ALU909lodaaqRwKqon0MfX0WhnR7zqgmY6
1Fl3Tky/Awok3DMYeFDrzKX92j8UYWcZafhNSnK7O8LEUb25EcyUbRIuNdIgfdKMSLghT4JuKdlm
wMyZbmnejsnQeFtW08Rb9YLZ7NpRGUXdke9mzpbiC+BovgpoQVlavRnEEIsMioIC5CFpxLirDyXg
Okvyr5TCggnLlpbw8VAYrky6w712qRGvRRjsHUIZpBGWnnGANFSO10z9QOlNSxV5OyHrwKmPCUmo
Q115ThB9BkYRmyeERhD6uEMKqI9lfor1ybnvD+3n5lyEsXrMZD3copmxjkzkRb6yPfbdE8oIcG5E
aYgHIp6ci0rAV956PabztT0IFGkmjdMFsgwPAxTEAgA2VrrgKD60tie9p68h8NHMF8Stt8DOlo53
nmT0vWeseVfloQUeih83VGQt7fBOLsWzZ+A53AinQ4tzq8jYTlMUOpz3KqsDl25wJ0MAzxEFVpZp
RgFAAMaKQBBAcZEgBJ3AV6CLxoMUkRcOT7rAG+RjlUbMxMKWxWvlW8ZYroC+YB5OScyOwE0GuKYr
J9acZifD866TVCatTdg95/SYmXhBMGmk5qM2AAacID8ChvSs1gL6ye7MZ6rqiHcLPafculQIlydV
DqICoPgiJ6PX1/mWgI4EmoJp/x23/ayPLC07MEPYDTpYKNCT250NGQlTp1GGkBPnsmYkH3QoVTDz
zmurjDEfNuRQ+q2B/Y4RW6Lt7n6QTndLMQsifJPn9RW3AL+rRPKlyEAb/b7AzoJL0xbqcba4NgAw
xYq1hqYe9qR0xHSnXjdnbEXdpHazD4JIfrDn2iAsXXB2yVacp/vlTU4alrZEwGArilPxwcdqRMtN
F3fRnRG7RnVhJq1Tv6UNwHlYPooaVBRFNzWdbTtr5FRy3LVKNkU+pyAt4zayKMypxmLdpJVhbhry
Cdm6mEVKbc3gpxTLV6FutypuiaTCQJ2uMj48pg2K6DLw+laEa7dHlt1mRpa/8t9ND37fypsp5SwC
KGyc7gb4XRcDcx9zJYe6fnIFcc5VOY6+fTIPVoCWpQf5gUlkjjYZPU4XhOSSW0mm6sqSDCBgXMn5
kVG/88Jb7Z9TQ8/nSRapfuWT2L2GSaTvbKJODLJtYJe7wuHxuOpwRdN8NTFyRm5Oet41aXdvNQYE
AlaxbCRYKyqj2crYioy0KyOFW3QsnHg7FON8FjbD2OJiLKJjnqgApKBfZDsvqaPiKPac9qTkV2nW
fpbpGwPaI/gwUkFnWKc15e6Bqx4QpPRFT+8c1oAZZmeQVs370DTuDaJZ4aDZVSLaTgy2SR+HNXu/
NjbCo3yB5xJaHMqjmeyfv+eoDEItHyoBHRXdqdyZdq7uXTOpTmg70XpjNUP1Tsuji4E7xsXGDq2z
2FDG9hcWWJIgo+MintcjItvKDEJ9GfvQV9dy7sm7c53gkRIyNKo1V9Nw3CLkFrAIGmIj+LTYcAaV
+cWrcWgzQRu0ZOokjQg5aAJ6gBu1RCKP0OjHAkojjQABe56yVC3DHE97zZGMg8lA4+y9Z1NkqEyT
TV3NWcwNWhF80SmLvdEx3i8wz1dbCjgE0Eopo2DT+C3x9txp+ufOctKnlIg+/2wRg+0KZi/L1iYb
GIaMsisgLBmCLiZGZQZ2BWTjVeowGl+5DjcM9ogpbDdF2SBTeu0U3C+vP2ybERwrsohd45KAqxoS
5oMdQXtaUNRwL4bIiCVrnF0jG1OYU+yyavYuxxB39abFGEw6LB0zjdOjMM47X2lxZLAbTI48idWa
7JrjNZso7szjsQS9u1iBg63CHBNQ/WQMN0MIV+5octksGqzYDp/YCvqGna/LtHO/Kn4l8xaLE9Yk
ei/KB4VJNpcYDJxEgtVNOUfQ/jibN4KIk3+nG0eCmlFZcxaqvCcS3rbVtdEKWfDrDfpREpjJ7aNE
BlGzg+CiWZETXxl4GD0qUcbzGiQQQveAEwWBhNZeOFY8s2d3lwW1vNazDC4jXXKNUECCq97DRs2G
qhIjeiKOUY7lQw3RyFIFU0THxKDL8l+wWwBPSryC8FO3i/pqegiAyFanJXTEeFvEA1otefZmWqWq
il4r6pTQt3UwXToy6N8Y92beBtMGTkxMjIhR/53Av53AXY6tfy1RrF+rr/97+Krfv5vnLT/zi0Rh
MZmjBBTPNZldj2wNR+1fJArL/Rm1VDKvW5LWlskP/XoI94npQSGH8E8jIIj1TwoF53PTXqy+nJut
JSX3bw7hS6bv0xnc5eeDJbXJG/AJ29F++v0ZPGKQNBBmIhtqGu4+4/KKaNqT3jNIO+eE07b9UrGT
sda5tq1tFdcQL2Rm27syCopXJdIT2uu8emsYCnh4mjcWZhIzvySe7Lw6gbJOu8AE8seTI4DbOVPQ
s8KFFjyFUhiXmN8GSF6TKh6JU3dnxhgunAagB5C+7GMtpPHYkc0l7Kamo7hz3DeeyMarU0yo5pXg
QAUsnDKO2V5iRdMeB/WAvcdK7j99qX8yIFxmq99/TgH1yAxTHKQmj/7MRej5NIdUwL7qrLQ/XGSj
e9uEld2wngxHLsU4ayfK2QaDfMEN6uIOQnHsvriTlHRzOb5QAFWjxfaScnsDyukfTC8rphXJI00d
XHyuclXlUKdMcBut1hGt0F0HKSZz5n+od/3T34MZJ49BRK6l5vX738PuG7b5g/qglDi+KcLwa2xn
01FecVbOPcMFYafedUXe2gemcRT1sXcjcWLDvKHzb/IXOGQbibcwD/uT0G2dlSzMs56wxz6IYn2a
lb1zZVM0sqdvJjn5+y/h+9Ez12qwFHIGBNO5bZjV/hAN1baZ242MPkp6ws9KM3DOgogn1tT21tli
BPuHcewPQ+Hl9SQrriv5TvlW8eR//1nNQ06zh+V/7ez8ycjce1wcYutWaXtM+Uh+Gg4DZF2VgP4F
+ciZutj9/e9r/+Hm5A0saiRdrb7nMBz+/g0UaTPqdlRfgY/BhodpjgrYNWn9rqg9/ZjzsIYo1vR7
zh5usq2Bv79hi4acNCfu9DqIOu63hS6Cs3y0Lt3S5xHZAXJ66cM+R9mf/HjjmC2Zz7kwktMeKkW5
BfNqPKjE2PaemWFEhqUHc1vbN2BJjO6YFoXosSzL6MYIOdWS4g+qf6gJhVTxw70mWZWQXl26IKQL
h+L7X9sh3hcRk/xi95ozk7K86WSCkvPEfByi6IzxfqfsxPyITSYQKwfH0rIWhM0FAql3G3txzOii
a/jIiNVNmAbKFKvSVHWP0P/bCzag87wb3eCarJT7QI54uOCPNFjp2lmxDKl9WcX6XLgqueOYSPjU
8f+BIvGHSxnGwqI2cBPiFSfO8f2vyM1BeEC7b1XtOyuadeZtnhl000QCMzD+l29P579UUew/ez1e
UrCAieVyXq60T8tXnZL2sKGIda0cn9wwcjGfJdmmpFwv3XeFtF7tTNLqZsynVBRU0zoLmxsLjoxG
0mU9snwmTNASjWLjy9I7bkSZRRvtOMZRXkh/j2SKJVH4QdsB8sUACLSxuU6Cur/ri84wOfEtHAla
Py7JAG6LPOaMQ4rDppSgbCEbGXYPDFTqE0nR3Qe3v7h0vd5mgqE5ePz9ffXH6wt2ioMgBi3F9JzD
XPrThwHoySFkOH8ZwN1vskgDdOIjIz5K+TJbarhxLM5//5I85L9/fCy4Fo8hKGsYKfofR92Q3X1I
CCO1OTrYywzcJbHkaOMCrvqnVesPiwY3Dask37MkCOQuu4rPXzXP6sKwdPMFUt2TpxVCT9U2+TOR
MhDcEuyFFw1Q2pAf+UIC8qAJ6N/zyfGG8R/eirUM8H8f8LOAcnFzxZkuFgient4PbwXKnx/ElnxT
zmg+Z5RpE6OlK+LKSnEAgSlCrF7H4+Tfp+Fg2liiIuMpLpvhyUohkJT5UF8aRUpgZSL4eWtE7ivY
sklvJVaEbNVSGEAsXdPMyMSh3LJtaaEid7XDaxW0ifz9V7gkr374bWxiV3yotArgDzk8Wj9dNvSM
BDWIyVdkeIYQHtbod7PR81pzk1+C+yBNXwYl+5sco8q24r75yv5brhqaB4INNDTUNC1oWVqAshez
GtutSOKEqkJ+i1fSkNPH5PWsB5Yx0wURz9atQ2fvRRZNztM82v0DKWPrklWYIX4qjrOwTq6zGKrq
yp+CviD+Q8/DCsga1C8dqvLYmrrpOcs7DdZzyu/NqnVPPRfKMXCo7kzkPhhN0adkT3G9ASCLBMYt
UeTQxDgAGnsCmkb9Dx+j9cfrE6mHyBm4IpJuXBnfX592T8tAE1mvGsbus9Npj5FM7AwNRsyCOURT
ThrbuhyLU7gP496PR2OdzWl+knJsSTfKtNIboNv1xglnqsHjiml+bGFPiHgqfoA7bTamLlBw5Bh1
TFraRl0froT/7Fg/EUj8dFNsXtvX/30tsbZPF6/F1//76Y9Aq8MP/HLS8bEgBA57SuFwoAGyz3Lw
qxkL64IPuhQb1IIYQfn7/ajD+cjnv0eelGQY2Wf95lxYDkEcc5aQpBQuf/Ov9MbDM/XzaoQPzMQC
EXAXy2UHuazRn+7ftOV6sIuYis1BvzIXRFKAL+Sn5PazkuqDpHCu6KykGjtUlKRtrcHq5r1Ho+RX
N+iKaZ9x5Zb/sEb++Cxa3pTAcMBRjv8xpv/+TRVFWZvWmJ9T81zdFrnhPlfDlMuN54TZC0Oc4V4O
uXxy3U78ktP9y03Bj+vZ4aWRhvkweJyyK/j+pfPBMsLeT89Lwo67SJbu2QBHmsbaxLyCDBm/fbpU
rr590J/RLn/2cssMxeSoSw3ZYbP76eO3/5+9M1mOG8m69Ku09aZXKMPsgNlvvQBiYDAYnEWJ2sAo
isQMOObhufoN+sX6A5RVJVIqsXPZZm21KWWmCAYCcL9+7znfyUeD3SY5OQQLAiyI6vwZH1/xNXB4
lyGeiu9/vt77LXf5eD9fT3/78YxEsXHdJCeNvE8y/lR5wE+i7p2EP/75SsuK9f7B4jPBqkFfY8Gv
eXulKK5lOc3pSckKeJ8YFQ5JNPVXf77I7x4U3YYVB2PEoYB7dxF6vG6H7+FUIr3bT2i6Xmu66PgL
m+ygBy2lXWUPmzqz9Q8+3XLK+eXTLcULEXDL2/vuPjbprFLuRyfQjwQiS5KPAdgO4a0zW84tHqn+
iJuw9xFeK7cB7hvxwYbx27vrassjSty8rr97Q1xRT6mlcv2UzHV43cMeGeJHAqDfPJxoEFhjHAyU
CK+Wu//Tw5laDlNE8tViJ7aeOxViNgDN5GZM0+iky7q9/vOXuTD83t9UNj8DbQ2XW0Brb6+nQyMg
ejg84dItj/UolS9lrMfXpWoENw5jnkdsYM1+IvzAUzsyN3c4ITIBzhED359/ld+8JryOy/94hI1f
vt6eqGxVDcITObkaSb4ZtgjSFqjTyt7/21dCV0KcIBNDBG7vN/6uhl+SB+Ki19vwC17j5FC7s70b
MEWd/flKv7u9BiI6lSYRAhYaBm9vL5ZhLpQYF7Eaawgk8+arkKnzzdQmpTjkuZ0dZ/4/dqQgSpa+
fZ4+WUoJNilJ0B/8+ZdZrvXu/eGkwWemBDbhBr57f+hl4yiztQveIQKf5kwyiyHtdEu89nyatDB/
mKeMzGna9B8cpH/zUJsq663GxkK/572oLSe+XvSY9ok3dqgF3XaXZpHYQAKpd4FWhB+caX/pl7Di
ArMwllM7cRhstG/vOqV9xNarXyBwA2GSM3IDHyxcKK5pJbovQ2+MFzWW78+x4mgk9xXGZyQ+3Qfr
xW/Wqze/xbKe/PQqs9ITAiD1CyuT7O0BJqhXsALVvrPQI6jZBaf5bD+Vrty3DHU/ePJ+s1iZCzUR
ACDtGrBoby9uFynqhlm7aDlfnqetbp1pPS79Dz7ib95ZVOULcQ1SBJX0srr89BHbgWhKKTUIxGq7
Daxe37cRwUkcytsPWm7a7y6FmtRYOtT0mtfMzp8uJcK5V0DLXmBQS2y/j6YlpZHmzA5HpMEsK7PD
06SSsRDrk74pTMZeVqJUNMaAcj1MUT2dLMLyLkfEx5Gno8L46Gj9u5edKRADadAXBrKdd4+dUzSR
YlrjhSbr6WJggrPFfpxd6/Fg76cwGhE85ESpxHNwkB3Dk5I+ElByIT96/pc3+e2bDrqO9jAoIsop
6K5vvxYU5UpfKfYxi9XhInAKFSm32W27Wro3kZhMEAn45wJtzDDWmtGZqJppL+y6oH1F3/qDguE3
r6OmLqpZF/ODQXX5bhE0xm4oabMde1IEdsGUdielM+U3MTDND4q+39dCdGcax6oto7x8iwGqf/jz
2veb70bDFa1DNIEighTx3S1JooqWQyGOCseyE+AbcaGHQXBpNSiraksUt248xmdIKtzz2C7CG6w7
gIltZ/rgvfzNc7zeCZdWqmFY9H7efjcg/YwedsgxyJvke2BbxJNY40HD3USw2ET+x0QCJqbbujrD
TBG/ulrdf3FkVQCpMOZDBOzSo7ddXzrDZH70ki134d2Do7NXLccmZN3W+5dMi/WcG2gcLZJ+FNAp
kbXppsnE4D52pyp/CtSZRMYZLZaJKWubd4G+oajvjhxUomqRY01PH3xxv3mWdTDCtJ35tYS9EmJ+
eu9Dsx2VdFKPrcR24+G/z65JGAP5S8oimhaZ3U5uU5Oq1DxFWH7R0JTuIejL6Saqw8j4oEj53bPM
r0MfiVWPwdgyX/t5xZPgF0CeGUcigUOe28CmwzFC+Eeu3G7RNMt705zK27En9sKUxaVisOv8+Zb8
uo8zArYsh77ashguR9iffwVgYiaaNP2o9q3YxTHAdEfrVPKT0A0+dpNdHxj6P6LSMz96dn/7eHBN
R1AGL2fXt1eOC7NTM6Edk6KpzqBwxfs+LMVOwNO5yWpX+6qNIGfdPGJtTtU4OIxudhAJphqd27PJ
c7f9YG359V7gBuU+0F/EdcBk4u1vlBUM6uo5OcZlOT8h7eNRnacQZVEamrgvWxu4mqDaAz2Jb/TP
38OvW6ylUTezmnArNDbBt9eGaGKmwCePjoYspCUufQ8fLf3254ssKud3ryRXwWihsYZy39/XTlbM
WKSao+MspvKSLNb+UOdK6jORiPl8wtwRCiSQAAdEAqSj6eWWxOYkImPcZLhlH8vWxMRdOFX4wXHs
N7eeXUalc81ciu7Iu4chIzrTrvnFuDv62Vhq+SWaHfB9ox76ToF7aqIN5sdd8MFSvtzWt2uU7S7e
E52L0zd/7/tIW8OJilw5d+zUyRjSOnXry4UCs4WzJuNNNhBv7elDCLL+z9/FesJ7f2lnKXYo59lb
33/k1mGeif7tWBOocgGKBl4Bick+1OOHBuWi38IM2ubzeBP2lX0chtraWcrU7JQVt6DUZNBg8gQ3
ErR3SCevliyRm1mz6lNe9Wjo+vC5Vrv7bkiM8wmzxbaQlesjMVe2Nn/8oEz4tSqnL07OOX4dihWW
17fPL7qrjEgdca5Xy/uR1bWzmaPA2NcWntytoc/hj3blf+zz/PooLxd0eGQ4hSzw8LcX5HHB3Wra
5yMhTwCTnGqXgsnz//wl/eZT8VaqOgMHaznmvLuIGidyZkB5nitacE0TG/1kRewsykwtmzwod8rd
ny/4a2HKxApMGpKYRb2wcoR/2qCKdCAkUNTnLWjejduM/TaLNHunWIX+wUfjsPTu2addRfVL65Dv
jQ/4fnpTFVmHtMHe6nMKgp4oHx3ud6gWn9XCJuHPiXsL8Tzh8p91dGaGN0ul1rdiMPriYDeBfdLh
bEYeeWvGmToQR33WTDommHmsIupDVJlXyOHifJMUjr3PhDsSDg7b53tXzvmLMgIdvZvgXYGj6SR0
xqbKjIehztKLHpfic0MdGW1Id5BP2miKFgGU3SKNcCILVTeMn+dadoIAxQCBmocdNrmUfF1M6iIo
Dju904m3qMfc2kKGVUK/RI35jMBxvsAaOZBe7RgMWeKyUQM2XGY+3iCz9Br2L5IOWxrdMy8/YKJs
Ho8pcE5QCeWApqvLuuy1kdjQiR2e7JdSQPXirKq+NsWo3yDox0AfyVrAz9E17VvRapj0FSAdcBQ5
WTwlgJ978l5UKGw5RlqPsXtmbBgWJeiezPSmyyBXeJzolHv6AXq0D3CuQ1hDpT6SRA5qw8cEqaFW
1Edm5yG5gx7Rhwk3D/qS10pmvUnnFsCbKuWl5hz0qYXiEniEJLk8wXLS+q1gSqrtyUtN7F0W1Z/J
cy/6jau1REknUVhVWxTRpObqRkJ+4NQmKM91u8YjRqFmvSK0rs/VPrO/1EUK4cpgo3S8Fsbq7JHc
5pq+Gk+Tha4XBb2HOno4luQoxZuOxm/jt2rWzz4QVEIGFVt2nKGKaACiNbkRwxK2QvBcznDWNDl2
jraK4MEzHc9RoVdWcJXXPUJ+MgVgl6WAfK7NIFeifZ30wzkhoLCzNaj3YHb0mDoP2hO/T6U2WbgN
cKyUPjlRWnDs3TQrtx2U6D25Q86zBTHWhNzU8lQ12AwgR2VF/8BroJQoiSwoR65VN+3WqM3pYDRG
/khBpUuPlSf41lnR8pUUIRlneTylhw6u1QOL4jgCYBiNe2Ikoi9RU41LlOBofLcL9lkCMCvzts4M
XWyCtow7kpon6BI8lvPStAIQyNM5WXcDCqFHJ0J4uu3SqCK2086GY8bwztr3MUdn6Bp9lZ4xgHfj
c8A3C0ImTWgWYPDHhYKGURGeSsb6s7TjBhxdnhVEu0Mr3ccDlgVPijkPgeMgf9+E5SwhACkgAD1y
bs3uiHeijPeIOSnNXb2swG4C1kG3iaubk1cN2ZoNzCVbSRL3AbYgzzsCzKY2KPgCYPOg2k37b3bS
C9SApoi+itkyyF2ajEzdwSsOL8xBnfe9GqP5A6CTPPAgd7YXFmF2hZAQTkhc5gheQwSRF5BYQLwM
hRVWBw3U1dkIPaTERQnReTtPCjNAdSzqI9hxlPQlX3K/BTwbfDPtEOSKkeIP3oSQz6zNUOVKewb/
rX0M4G21V6INh1v8M3rmVwF4Vs/gRoY7xXCCh0Km8YBRuURU0Q6qdAgnj1loEFhgJKkrg9Ipmx2c
pLFEIkYmIPg5qiy1xB/Q2CLfslW6z8SLaOY2wzQhtq4UiFnSSSqGN4GgReuYaRT7JG8vOhDpfAsr
MkCQe/fJM9lz+nkOeOreSMgL8ZCa1KQZpeTF7jWEaDWUZZvEbjJ+deFrnWzubHyN9Sar6Q14LQwa
g4YZKORtVpF45wm5FNhxrHef4i61UvAnZQEyLEW45XVaMV0io5k/GU7DshP2eg4asJwdznOD8ipi
05r8wbSJyrCtUblJgrEL8LFTYvvYNsyZ0L+mJ8QUuyQLT1ne2EZTx54Y3eGzSubWo6XX+ok7ZWH4
iZzkE19AfxsGQr3T40wxfCcv+snPw0Il+jAvzWQLRtGtwHWNDYRNV4uKnR7G4s7lNIuhiARbnF9G
ol8AAJ0f3Y7Sy2ux6Hee0S/QrdTSZhXTk1TDTRkPFXaRHt7eZjLZU/xhCIzviAjik5EUieVPfEJ5
ZilzdKebhvxMw0X/1qvl+DyKvLO3dgS0SHB0vTbRdDwotjlcEnyGGyTMC5Ib8RbY2H/MEMzKnGGF
2sDWCtJdGw/qDeEeyKLbzOWbccVo2X4tkaqTjdFoM1Z9oVyXjt6y9bXZcBa7RvJZN3vthX5scE1G
LzUItif7tgzIFvQr0j0ZsVFjE9nCN7cxYbuIPWX9krg2zOySoCECgDGqWr0OKtXhGatuj6wX+l+y
leiMILVjFSMlmYey3MiO6DKQOdbwxR0a29pi9xDZQc3i5AtE/LTf8F517WGyNLs+TmSs3SNpsrBD
dEa0z4Y8bL0MUDtZzUWRfUo1APpeVAX2lapUGSFXuQxBkeGX1CAtCKfzcwd8Fgk3k3ZB0ULvPlFG
WfvDpLBqWxDyQSgrQZ16ZA4Tr8z0poC9x47rT7NZd76oLbc/yDEtzueEQkJjwbuKB+YrLwhv6Aux
13SAINSiOx8hcROXAr6m8k2tdK5qs4yh0RshSzpphsZXU8nTakMxBIG4KkDubNLE7h9TArAPg96A
8qvg0BX+2GvKbZERh+hNhBt+x9zZTgzxR/py9MQEOi0TXKJfGHl3y2l7TjZcPFMAgFn5c2P347Az
Rd03p2ECjHcIM9c+KwhS0TyGrCYxtBipnvFxhZftbMNUiusU4g84+RszF8o3TOsh0LS5MHPMdBIO
T9u5dH80kyBgn15xxYLjJneG3Y6XOas8gy3qdTaFrkViD2AUGeRcZeq5ymlkxtQkgHPmpTWmezWI
3O4QDBL7S1FA1gCCHijmSWP9oSacOFBc47ftVd8A/wBfjjiCCDwtT1SPiwRZ+TaVLeRBSIAuL2yW
gMeOOjroW4AM3YNdBtQUfRVLmmhMpraZbdVfmkpLgk0oRJjsamFHn2O1tr/bAMELv+gpe2jexPp3
sxPDjcXE0MFbm2lEiVq1fdMHgpSzNA9TslanXHU8o+AO+oFDHe1Z88B27syTVAFRhBoFkWNYXyIl
jojEsJ074DfT3UTz9d5AwmEdFKhv7KI88DgyyUSLtw6CHcsPo14eYXaSDCQMuv7mlE4vQBlbuWl7
w7ofm2i8R1FPWCNtTNa/WQ8EFhUsNFfY1LSB+Dm8lLcV9tmBZclqlwrLCiqcZTMsuBAnDuglkbja
bimsTwq1gvTHBB45kYh1fyOwgH7N4ZhvWnc2T45u4XDVsjbaU8uzpgxDAytuocxcKu7Qz7ugclPV
T/knXzED1eMmGgGvLEZ462R1fX8/W2peHRLVbAByD1N+k1ml2LPIxMU+mYgb3IaBTQsg0CMTC19p
Bi9BpOa3MhPRVppFRbxR6KToDsjTxmzK8glVLVZyGzYgAYNEO5DSuUMzpZAbng2kOOpqms6UuJ37
qjWVdIjfbvJ0k5c9X9/k4v84QW7Vw510TSKiCqc1cT13c5F60xxYdwUGy08y4m/tUrZ8k0yKpn3s
I1xBntmA3z06QTghaGrjSfNpi1rfE1CfT21M2PbGFnwnG1tzyF9IWDp9txnCYgcDn5ZPDxSGE/bk
lOQvt6b4sricYBXYc36vVjkcfrIpCBUnS2QC72oH4WcZD9qJGfL8dXTG9MFsC+PcyTrsiJK8elTH
NaGSZd9gbhxTMXianCvKn6mf9jYN0+AMLfN9Xybu3sDXrPkxmWDl3qh1IhMpvYzTyM256UQSJ2cy
tpwL9lvslF6sCorrqGnhfZ0lfY7DjAlHeSvnur8vzFC1FwsaVhNnSFv0tGX/OGXFdJvzUGXgvFrY
p8rYlZhsqqK1z1heIes1k6amPjKl6sgsJlDQRTfAHoNJ1nByRnP8Xmctj0NkNuNpBu87b2XT9I9G
2EPkI2pL/z5O4Ot93NlEcAN55QYbLaq3ySrJoGim9JKxdPYq8J8NRPvO5pdSt/poq8Qa0HwUpQXm
R+JqBuhAMPLPapE6GgerqgFWUQHL82ln46FTsrGijUjwjL0xJLgHn6RWDPZRpE4X+E0gQ+YkvqS7
AMNNyFYc5BurSsIXmlmCmE/LJtAza5URdWHSmXsxqMFrpvU6XqsJDF/BevS4jCMusbRN8YFvYdiy
vhMwg0xrfMAiDLEwa/IrDCwdGpzZjIYLw1GyO6zywmUs4uCkNNzePs0pOHSf2q8Z/L6aTD9Ku/Bb
VDdq6KNh04kriFB1oNhcIndcjeBoZ8D449mIIK/xPM0Q0ELOM/DA7OF1TomG3NWTRqoHqpAByk7h
iseCfwJTrWpumz7TrrOAW4PvLc1hBtmB+6XpWCR2smnR1fVjieFS2lFOyErYKV9QLYGli7DfG7vB
UHOAG4VyT65zwr3rBJSeCaICP8kC3kkRuvDjXJy6cK+NjPhKDPR5ucWr1vU7JbeKc6tmSrurrY6K
GbolNkWS7uul5jMps5sisvpTjdN92NrlOJNG20XuV0gIRbOl60Lkqwq4GYtR6EJGrfBdeIlay8uZ
NV5BFh1zmixHZXokJgXJbtaOTrkbysS5r9uornca6IVPa6vm/+vl/jvDiJ+6Vr/o5fz//b/al//2
/X8cwLTWL2+AP8tf/KdD6B+YSugxI5xDCkZ7k3/1l26OmABON+z2Lnl8mkGn69+6OZXgLQROtBCR
jpl0hP+lmzOxFTFrY1aC4o5SHvTZuwiuP0VyEd32rv1Fcw2Nirn4kOiEoRJ520BMMrJLsmqiCA3C
9n4MQnS2fjeXdnfPOwEh1ZukrdSPtpoU8deOQ55+24SdPtUHymv03STRGkrofB8rJQ2CXSSlVX6f
u6Axm5Pa5cqnOaiT0HfZtJWLGOLkXbUGXRDSVFz3es+5jjfzm7qkYjiRgPkFL5awjC6msvd4FQjR
CDiOQ+XVyNZw15gNfmUiNxq0AhKq+BLFgbuJV95ZEjr6bk4IuK60ztrMWFbxsZApdANjpD5IkJ8v
0AT6aRsx2jA23BQtvZrWdJByTQrR19QQAObaGXqi/KsVYeQMOHywa5HgQtxIVGh0uLIZvsRMCtNX
s1KWwKglpMRZ80psmB+gMVOYXgswzbb6iwFA4oJ/RcKwGSFBzjcgQ0GRtk0IPky0GPkf9C6m/oP9
vhSHYHSNaAs7JXd29pqyYmbh8LmLOfAepzTCDqqSSvKQVUs6C17IFKrPj9SW0JLDgRha0lxwhZHs
wgJcsd2tiS/Gmv4iqwhTK1RZUmHglWID4bw84XNck2Mo50mRsddEGU1iImITW5Jmliqy2PQ4TYkq
Crt4h3tGXuRrQg0RYeGlu+bWGBl9CR/AHxlpw5JsYxASnvrUv+V8SU9juhfmyM4TjKNqPgug7iZ8
hp7OGREJYQh6IcJwbtHZTjcdHLbKEzrk432CeCn1ZrNIiEJvu4R7bpHu7att1F3xpTPnLlM1D/x0
nIcaQGvX0m8h5N3eJlpXPNZOBq5IQNyzPdHonAeJRXYfCpytJIlzID0MWKoVLyRum/Hj0DmgTbB4
cHBhf0/3hEi4mg8GBYuvLRTnO008HjrSmmvhxzQTJlwTbAtehs9CHE0ToAsnmtmFEzPMT3LE4+xP
auDSZC0pUoh9iJfDujTHr46ij7darYqnRsJW8RxyFmKvT/WAJO5OpWInoiO1/D7sg6dEc0kGs9kc
HuKqNSrf0cfCwqrGz6hk33wBV18AZ8lCmHplk74klQ5ghkzL+Fs4QqafBgfLxtDX4xmBXTB56sZN
eH0s09g3McKQM+6OfB3Q8vPJSEz9BOAlf+C/FNeSgK0IjFbX3iGIMS5y0pXYhzRcv7RaC1AqtLBB
So2mGeLMpW/6mID3mLxZw3zGbc06avJI6q9apZe3hcHL7aPsgH+H349GBEzX9nM42Qnmv6a1kl2m
pRnfx5I1oKCpI94vaZtnwkDVq6wJbUFmNw10v89m+3IYCQ3b1VWqqlQnBLn5ncI0K2Cu/MQYKVG2
FDb15FUkLx9B/3A+VMYmgN/O6ZjvArly4OvANs5tUUyP6tC034yRWFvPQGJwOZttjxvQmVEpqik9
eM6fKrxmLZHAga0icw5hWJM/oSjqNzDJGF/GTogKxHOZ33BRqBFZXXD0sjBjXekcKT7rgWPx0Glt
dWyksL+VU0UZ2lX8Pa9No+mh6dzosqkCecfBZdEETKL4FPZqe0vomnFc+Lck9+kk35UiRnMliEf6
EueDA08gnMi7kEVcNbsch/1jlrQiOQSVAqQ5VIL8pktzZeQT50jmjMqp0KtUanUSro3xrVAz5bIy
BNHtIce0u5x+8LDR2RHvOvxDnDetNj/yucuakPqIhhiXosnJ4BrgvpNUdX6yRM4MvXaKh0rJaw0u
UD+oG3ew1WHbhxlwGktL4guyvGgg2ilrkR/aUPM9o1QBneOXDb8pBr06zjGREBsRKPVzWufJdCE6
oUAEr5PsZcwjawSWgwCFviBr6RxPPaPSbrg2Qlq9mPn4rcGPlHjqR1xkz7oYabIMad/iUJdT0fl2
V2lEFIedDWOW1o/YGkXg7PUG2IM3DaTYIHzT01dd2t0jGuQwo9PazKkfhqpLexXY3T3uUpAXBBV2
wlNkr59o3Ve9nznlhLGDUuBTmwbGLU8KXW+6CsZ3NyiHmvNfEX0hlJ0G+aiCXQiA0DzgUUwPqWjo
2umgsmMvWVrs+VDRmtGXxvuQWZPYgx2nKd/9aNDHdvdQr217qFeU/i2Da5Ovms5+u/T4u7Xd76yt
/5zjfenHWpOH22QdD/D/LcfDVyxD2hbLCKFo8uG8xKQDEHCZMSCwZdwQmAqjB3OZQhTrQAI0PcOJ
eh1UpIq6sBKW8YVrsJhDJSBHwVOMghGHJdkHR6smf6FdhyCD40wM2pfZiLQ50NOUcEbCJdbxSbOO
UtoxU4VHBx4V9LxMW0RT16D7mMDQcqNxUmhZwElwHdUYZlBWW2cd4eTqgK8+tUGs7J111NPiHmtO
3ToIKlxpfAJNrbw0KODuB9tIaU+6GZ8MfMFCZV3nS/zAYvC1lu7GkSGW4MS/zqOKolHu87znNRhJ
OuJWrROsQUZMs/DFBV8VPWfGVRi69RSsky+O8UzByinVvzEQYjaGkI05GfdcvwnMSnulz5Hcam0s
Xup1tpY3QfoarRO3ZJ2+yWUQJ7WufhXLcM5Z53QDeKjrfp3eUc7MgTfPCVM9QM59w2m4mS9CtFfg
15cJYG801lZb54IB+jB3hxFh6iAwMTpsyTQkL0JzeHD6ZbhokrU9bLt15qiv80dnGUWSjcIxblgG
lIPVpRcQmo0Hdj2RHHnyA6Zx+dyeolC2cp+VlpsfwVaZ3b5Oi/FmcNz5OxosTviASuMNkw77ytAl
tVJJYGnhM5BgsiOsxnyRZJracHqi8QoARjNuLNY9JmzT0jK1kyKPvEgjiAqeRqLetR14kfMuIvZv
T9wLuDBoPNbGmrL6imE8+Uwxz5DBKhNqlwkdtJOMAf9zo4j7gDOmzboX9w48sSkaqsqPZtE+6iQQ
Husy6T/FUhD2p4gi2Rf5DNik4ImhDO2FvK5TSocNCx65ovx5ODad3j3ShXQq1stwOOKyNPG+2wQi
QZNwsb0jDUuKfYg043M+4GBFl90pF8mIRcw3ybt9wh2ZqOd1ocnDCCLvSeAfvw2LEYVY35qQZhq1
ce4qayLjMCr1hhwXU4ls3quaxEzYQuZuEIplHZkBD5+02nRf3amAAePGiOi2xohucG+aXR/6Bf2f
r1bS0YifWyVmEwha/VxozvAYAtgh51SVxX3FOnNntS09FiD5YIYMSDZbACzJWaaoW1hORHJOtmIf
1FbPXsh8SO47sjvUs9Rolc8jM9jP8FzcI5ob+tktcXwMdNuGQFA1tAcM8tk8nIedWfBRujA/amMi
qCRDR3lJpE1tIEF0uJvUqa0AqWoWRfDT4xruTDqRqYpaFNDuoDEtpGHX3ebIsqHc0Km6ADkTjpt+
Dhp1EyW9nnpuN6u9l9lBkO+avKp3BgAEe2c1pSSmBkrddc30HCLRUPTCQ75Hue9W8dh6aR/a0EMq
hz3j75+mr+RLcdfWLy/t6Un+13IQf2b+XMdh1P7Pt3/kpPfXOX05nb75w3Z1dt10L/V0+9J0GX/1
h6Zk+S//b//lX/6w+0niD3suu6JdflpITMCb4+7ClfjPEI2L+NtL/ZZiqS1/41/GMgNM5BIpjjUD
rc+C8v6nsUzj8IzxhKOurnMaX9Q0fzE0nH9YrLHYZdRFxwgyl7/1V1weB2RkHBytVQR9FofkvxWX
x+78/oDMZIyf56J8wcuFG/ztAdmZMrPTWhqnjSHKHWN65vZp5vAAYNHkYWh1lQdDXx8ShbTS0KuW
Z4cYPx4jwop4pNja6l2+PmjB+tC18BdShDPLw5jOdG0JUUvV1UWA6GJ5ciM9t+ns/nigu5DAYFS2
9b4PyjjakffBgTRTUkK2eofEVS9Y3pCRgQU8nuW9KaOajbRb3iZ16EaVyk6QDIQNhBdOrC9frivu
cVjeyGx5N3PUBdqZubyxTpDlL6Roi4OzvtA5r3a+vOPj+rpDFXN8e10EJhkkd/WyMgyxZHiCF2Z4
bNNMBy5CJgkL9LKglMvaEqKWpq+3LjnBuvyQT8xSJJvSfQ0ao/80rktVWQ3mrlsXsJJkaZtp97Kw
1esi1y7rnWhKlj6CxlgGldyobwHxGE9F48oDbBMWTGtZO9N1Gc2Z6F8U6+IaLevsiDyr2MdQtwjT
jDWn9ox1We4Soz+G1bJYt8u6DX9sOKbrYg6Bx5kZZbDGz0hjCq9cl/5ZdMk+WTcE2WgbI7GG2wDg
0jFc9oxKM2TlJ+tW0jiMlb3AaR3UBut2Y0hLP1nLHlS5sTB8aCJsTbh46yvbAFa1QazWHiFDpl9A
8dbZxspaUZ736xZnQuzwOPSx83XrLkjoKsET+ro7QmgfrzJ+hM1Zju3THt2nYiJ1Gwxr0nL2tS12
WcZR9tWw7r3Bsg2Py4YMYGK8CdZdmpEXO3a87t4648ut7UCPN/BnaR7YqMy4BdNcvCwJZd8jpR2C
AzwJey+DnkBH9KHJlWKXYbetVyFUk5ijfpYBWD8LigypFPWsfTJm2RUHpv2IqbosRFg1Ddb02V3l
Vo6MkV6pWl58nhwyvHy9UvR2py/ty2btZIb4Yu7ztb8prREKPYfm6ZGMVMpKmKl0Q0mUlJfEVdIj
pQnL961Cm78inIYuKilPOfMKzitf8TdAd+U5p5HN8MnuT8iCFsLU2pftUm1ByVVd5WzstXcr5qE4
L9aOrrN2d0Xl0ukFPEvXV187wLHeE7g0JXNgeuraJa7SZhkJkjN+Py5tZI24dJx2a3dZXRrNS3NJ
YTyw9J+rtRfNBIO+9KQMLqOApVsdcUKxPVUbNJ5D2tnl0tgG/SoeA70lkbZwXXpn6toFDwI5vtZr
bzyfM/rk1tIyb9C+d16wNNLbtacui4L+eqmUmr1pZ43AX61VlKckMtD/VDpoN/VHj55YpJOzdu6D
gGbmmURoUTBRJX2dg3R3Rrsd6QCVWil3yjCX9y7uNjAUzM+ac6Mmh9pu6uAqgZ9gsm8GwYT2iJr+
1tXD6MkJdFYfJpJsvaTvqLNgEqWBy5V9Gje3fQsPf9eWjuyu20g3SRVjnb5Bqwoq3K0nh0gy1hVn
25tNsGtnsyQKnBRQEmoiIrj9ymnqLyAu63O7GSbeHVKkrqauUi/jesFrOzACmUq6Tvwt6FC/UEcD
Ogo62vJ8ayRvkzoD0rejPnl2eib7W3Jv3Oo2ZsZdb5JInR/AE6lf8iRjce0D3HV3FaDPGMoe0ODk
ahhaY7pCXZNNO7AHWbxBlAKTDTGZNu+abM6Z9iF/uKoDRSC2MMpQNlsYTEV8YxBhStkxNXG0mRuR
oChqek6+s8WszRubWp5kU9iOH/KSfQXrn3YbpU2ogoWiygc5RUXlh5Ul+52hGA13pqxoWfo49ZkT
T3OtQUO2FOIL80aQW641o1APZHZ3Jl6arAEzN7XpQRJc+FijLbkJsilWj0U8FhonC9yxnhM4+v2U
9HZ+lrBunaapCefrYqbi2mM0JO1sDAtSr2XBnqfmaR3uYA+Ot+QsjM2SRkH/j+UcLeORzA99RHjU
BupBFSMp7j4tP3llzbAQdxHBhuqmI9HgWuGLzHy7Z0mbZMKMPIqbrtsrWtmf/f2K7BQ/10Q8vbZv
y6+1pPp3bfb/Wt22aIX/c9m2DSfZ/lzmLf/5j5rNIH0FBxzaXIKWDENXmRn8KNl08x9LoYRfFe0N
XmkLse1fFZuhgQLA6E+WmAoBH4/ovyo2XSPDgOLKwe9mkynAlf5ZrV7/kIr/aaTxVkPPtISfAffF
NDmccLAW7+s1hbhYViLCyx2CR0bjDIjjOe1uL6nYY7NmV8X3P92Yv36Dn83vbzXYf10RUOkCZsGo
tiTO/GwekXnkRPVMcEcqnCOoyz1O+x/ngv8o815xVP+Wyf/zGsQY4PqyXahub69h63PbB6gofGys
B9S9mb6xX4NzwnO9q9F74ZOyQD3X3rn03cOfP947f856bZoiYjGEgIDgC3p77SnTJC3LIKSJ+hw1
VxmMV1KXaNZILwwVKFOXOVt0Pr3+3esC3uUpo/jm4oKZz9vr0rubIgyfHE5bA15ruVdq7ZK89qNt
bC0j3I6JvNHRfTr21z9feXlE3txsBwU/0zrDZL6Gw/bdhVuHRXea6CiXZhmAsqFMNYTcZv+HuzPZ
kRtJt/SrFHrPgnEmF90LJ30IDw+PeZA2hCIkcSaN8/D0/VGVdVvhigpHojcXFygUKiuVaU7SaDT7
/3O+gzKk1PXBt9XAPPOA/5i1DAlVg2YcLxUBRidziF2Pk9NVgzwnp9dmHPs9Hp8WhZBy0wv7EeWu
e9fkSXrGfvHBsGAIMaVB5DJU9RfP5TehvRj7yi7jJPLKOWSTOKjaK8lAzToY04sB/Yru7g1KCG+f
398/XhiHc53pUgo1New3pw+2UmlHpRMGgkwxmiXMts2ep8zJx83n47z3LTBxGcdhsdEsXV2oFCdL
gRVij2gqZJxBw7aqVDcjx/5SFJfD9FfgzX98Qd+7CJahyNDBeyhsgI+siSdTxgp73TYrKEAFEv14
Po5UaJF9fn49f963ZRCM2MAYxLIMvH8h5JxltCgprMd1vIlbO/Aow/Xrzwf58EpMzIp4vSlHn960
fISb2vV64tVRGWzgtcrVOMtveiIi/++PRCuXL4lBIxUT0PvLCRM3QW4/MQ0i4TkKHELEMLx8Zy7o
o7uGs4NPlYGpBFPb+2EIWXIMTRJ3QojEg23Sf87kmSFOHGX/evxLQULjo6gLHLnvx1Bgj0sx8mT6
Rq3hq+kaSpOq3GHPvZ/RP4fF4OJ9Vbve1xU33dXuVHta0Yk7re5Vje2f2RKAOZVnftgHD1OjlEdO
wGKfpijy/ndh2NHDJnSIhjGR34WYChS4sygjP3+Sf36eiCXiA853l6KMhdjh/TitkGpLJnzq6ePw
Sn7DuAnb5EG4mekDGlTobpQ/XLuEPJrDSCf5eWnFVF2zj02RHlDxxDsjGc2LJWe1szv9Z9vpxGVS
iUem24nvn//c5Wm8X99NHIYOJjpMby6v6/tfa3Hkz1yDuMR5us/G73ZwRDJ0O+mPnw/z68P4xzi0
oPHZIvbnfXo/Dk1avBVg/2GBW/tO9gM8jHw8ki2YKB6VbjLN6kalyzdpIzmeOtHxXapxbgYpup0o
71jg4qszi+KfSz57Nsymy27MQV1y8qhy2Whi6ho+bvQCnHoKb0a3/0akWGdekNSsoLhVlTNftw+m
IbEjLnMQ3Qq3/eRGWHSjWe7V1KsMe10OTraK4mKPwfmM2fqDV51vCquJw6WBIDt5DUeKUIuqO4Up
VtghPpxg2HD2D+4+f7Cnw+BR5hu9MFUQ7oCvOpk/iaqgFM+ZP5LE3Wtg4gF+Hq05czGnX6/TUZZf
8du3eU7LQKf7xcWUlYbJKrS9jJLYpdbr1RombXdmYpw+pNPxlr//23iRcOOwhxnl4Z001Mu5elLP
3bgPh8DmCY2Y3b5lnM6DUnR16zKEmx2sAo6/E9OyyM+tRssU/v2940oMsCy8dq6hLQSe91dCuk+X
JgWSTdMMh0OjK/juqIh86e2oPwpRN/SvGkFMCQnF+XjTqCyOS+WoOfNDTteZX7+DOjSAaJyBf1zu
mE0qiSoT/eEm2vaFSWsz6Fj+hLmmatyvE7c8M2d+zfA/Lp2NCIsxEGCIXO8v3TEH3RRFn3qG3Y1b
Q+bBbd6BMQ8sGupz3Cf3kBRN2OWB4Vc6kl9d0TZjGt2kaig9kRyhLe50+5aTePXQVsHx8zfngwkA
zgNcJMurCrbmZI6ZMypGtND8vGBo3vDDpZtyQQ1oQTCeI4GeG2t5v36bz8jZS1NLWH0xkaK6wWk2
uZsxLs9c0jJn/7jjv13SyR0XVj5Q/WLnjnbIOYSF3BOa4Q2WcU0e9t1EzRKVevfNxpTof34zP1iG
DDYdnJzZq7F3Pxl5jtPWVPSaaW5hthtrK72sNefcmqr+8Tbx9QInjVTRXi7TPrmPfIOhTsYa25oc
+1Wc57uJYx8NNmKlpbVB3PdYDuHODYo9mRtbIs/PLEx/HEDZumsUkMEjLFAcWN3vnySB6PU4OySB
jWH43SbzE33ZvSjRQxB3cK3W7YMgzbQhIlOrg4vPb/Ifs+hk7JMZ25YgtEgfrb1afxt6oj+VeAU3
+MxKccIvtCG0v7/Ek5sMo4XGB2UED7vBekG32Er8raXEsrI0ubeowacQ0Kusu9Bt5FpY88mjafrt
5xe7zJh3c3n5FTZdGpMDDYXckxmV2kD04oZH3abJDYDpfawoa0VN7nWyXQMiuc5c9kfjLesA/nXW
yj+SGR0qjqmOFoQAGvqxMBeIXvUt5pRlbkYcWZ9f3Yc3eRGnE6X5Kx34hBMTKX3fNDhDucnuLpLx
Hrn1LXkn+8KobtXEvZIW9cwFZEPzSlvJydGQhZ1bo083YMujRt2Lbokc4qWz+X42k0M/dEOrVt4c
Af94aBsiN71ZaexrJa2M+qnQu0HeZwaGrA0kS2nefX4bTme0TV7gQvvjVUKbzLH//fht1BMygvTP
K/JrZbp0G8OzIvPMvV7m6+8zaRmERwrGghVjKWm8H6Q3iIAz4+WQE1/kaeybArCvjuExObO1/Ggg
lwfKEyW2kLDo9wPJTDNybfmEGGO1RtC2peZeH4nLoUD/N/EONnJ/DsSWytNTVQ6Npxv6ZFTApWQt
g/ViQw3Ms/VNU9Zerutn7t8fq+4yFG8E7CtuIcveyQ0UdjKFFMdqr39xr4tgY9WPQU5GA7a9+hIH
5cYxL4jHO3M3//ikUCQBicLHhFIfL9zJzhZnvTK3GKjZQA8H3sBw1VvR36yuLYUYNicmTE10ZLCs
3z+xMsG/ro1cGflNX2CfQhyKbhzCkSxRvrS0hj6f7h9e0m/Dae+HG1IQT1GYLGEMdL/mtNqPfXf/
+Rink/D0kk5u2+gYEYUoKPPsukzUPTWWbHvdYxBcvhdnLuh0MGYGeRVMQzbS1JxPJ2Fcu8gN6dvS
CYoKejCVeKYVPngFNn7otoly5gt4egOX8eASLSBJEobZWL6/gZE+aHWGBshz05A4wVmQ2mSo68/v
4MeDgEDVOC5Dij85GeC3g7+EQ9WziZaAdJASwhgZ53ByH9w691cEPCdRSO2nvYGOZ9QMOreucK7z
/q4YvhsR1IGnz6/l1+J2svgxDPmrC5iFTsTJngEHXE7fb6w8LdM3XZI+NfHwLSM4dLCyvZ4kN2wZ
NwRelCskjCu7dnYYag+a3Xnu4DxqoFWgFRj0SEv3xiZK68zP4xjAI/v9BwIv5PMOD5WJS0X/9AcG
puJEWU5yaW2RMjECLFF9IMRK/bObLVwXaqY4it9YODrWBIyV9yVlLbwKVkeQlpwDibyM5Dmc2pAC
JF6voIueo9AxsyM5KIW9l5j0kxKZnjnfa7M9HvE4Ki9TIexLfSY26WuDnDnyrdYorwHZUWWPZVBG
NM2ThOEbp9uldVXfOPaUI5dyYu06EH2dPrp0qVW2JN18GEb3DrUkYea2Yj/amOdvBy0anEOsNYOz
s5Z8TfJfsWTugJKXtzXwAU9VyclEJtyPT2Ig4vI4z0uKksgJKl1a1qLSgp8xu/aXMAvllYZI+5jY
plwpaSt3Rpr+NFH8GhdNinWfBrVKAFwYzSGS1tIip6wms2Y9obsHT4jVN/YKigXVFhwmVZ7aTQHM
O/UmJs5hX9DKQgEN/pbOCmCGFyHdRTwfFIeA1M1FhYttcd/DYrxJW1TwWhsh2AmCPd3lfpOlRkMN
rbaeBVSVemdiUjwItTBuwavrPvKDeyst2yMY5vYCE02j+WntbJouwv+aFMGF2ri2F2glsW5DEbU7
pUSI/NqY2ZTjOyuHTd8ZAMb02L6u+1a7aYNUdkRI5sxpHqkPb3Xu7kPSSh7NdmyAz8yxNP3RQTxy
0TvFfKmmUoAHBZZgpPm6LZUOAnVdjSu9EdHNkE/7wUhaby46zMei2uYytV/AKDY/a6wt66knp6Mh
nsiWs4+BsbrJR5lDUaGGOWbjT0SqlA8iEnfByxcKDuZ8K81pr4kBH3dmWN9lPkWJB3twlSZz5itQ
I9f2bMvG04xQP1Y5Qi0iUcQtz6u9BksgcNlW86sJvhVxdqGHQAhgt66MAqpGynFdd4ufek9mjkgc
qAQUrdGZemESkbZbGkTLVcJ4Tpv51dZj6wvuquKgNoNcB8XyA+NUYiezJGG69ozZP1QuNHwQUjdq
08OugwY1jdcyRD4MrkHJ0sdkRGSOEv/C6ZWJdpBxF0Q/kAM4BYrJSXkZzfJ6KnnGfNnUFcqIh1mv
S2/A1723Zd7DXFGUXW5Pw75eThMKfktSHFVySWSnXccumWJzWZJi2EXluhiFuknU/hqnmOY11qTu
BuiFROyx5ajWJNU8ZHrVNyteu9DD6EhNvV/s/2P8FTE03Bcz73AuV2+6qJN1FWfyylXVec+5LL0m
VEH/PoydmBEbR8Y+qL/OWXJJ1V8dPBdNnPtio20agvyalILH3HyRwXro1OERzYIobjUnGsu1M3TF
psjibhc1LnZywMPp/aDQDV4JDCX3nfhpECjpC6fzrcj1CSv/Mmvat1Bhmo3sqFa2guyOR98+gIY2
Lxso249NYMS+WiXWmgZclO5b1raqR1neKdWmUyztDfu2tcFG4V7AeFHtdYj7njg+7JrGOgQYiGI4
I2zP/GH38WWTmfsCLSrKs/XcNrxApK9GjjXm6z4zW7RA2tx7ZF/mntOWT2GfSd8ibwMODCwYbDfr
OG9IOSCAZz0P89aIop3hIAqZ3YsIMZAh3K9mp21IrvKR63rZHG96o/D6pHse7dQXScxwiZ9hg//e
5WGD3E0Q7GKtW3xj1tjtZLdL9HFFDs5qECjd+8DnS7Dqy3Jod7209OdqUEcfjfsL65jvWpno92IK
91TS8EuI+afltJ4RQ2TC9Q6kZuyPicWyEFpmQjQwCaIbaI/qqypwGvWWdg1WsNobtTFfiVS3qk2c
sLNYCATupg+75o3sozcnNG/J08x2TmIh8G6DvLqWRhuseyVR6zV5zfd6yJNuTCMiYGxeEAYDgT8E
dVV3hDjOPG99kRxOmrjRVOAaxmSkryBB0KhNwXenIREZ8IP1JODp7GY9ujKK4EC85FNhGi+E4nrS
wV0WOs6NpRfj2obqhW2+ujHTvrqrFFsnaXRkeS2UIUZYM1bMp7Bz1QuzUut8X0+jcZu7NDlUKIqI
00n2I1qL7wNe6+e2KDX4C12SrckGGMZ9QNVk6/bhNkC+RoKa0v00ctmJdTLFU/RQtMV0o4t03CpI
dA6hlQXWdm5y+xJ3BXaLycFxEze5cZUZGtSKJDzA6sSGgaNKNjTTyF9cDa2T471S35pufBb9aMk9
3Upj3fVD8Oba5PSughHk0GyaN5meS8qBgAeGVB5hgkxbzsy+Mo4+xQjfSac9xzDoSHLdFpC1iFXw
+inyAOyMu9jWxBLuGpi0MDoUdxabj+eEiHdjL4ibNTCO6vqPWq3YI8uBEAYcNgAtrnQI8NRft03Q
rGdMETjTg+oY98e4oS0hXctLsqi8yDKjbryBoi5OGqu6q6e62wPtGkA/40HhvXGSF5LKpmwPc2JC
q2iCIonyMYF/gdyMF5pXFLKEVl/U5kUS6vWTO6bm3rQJqOlEoWGkw8PhXo6hOXsV5c8Vk1kkXtsQ
s11MlInp9Vi46eddNITzg9N3JRcoq/YRgRJmGQK5OOE2ZDev3dCedwE2IOiJ6lso9OKN8HmYRKUq
X1ipvtFIg0SUQ1jwCYuebkNNGXazlVfHTOkT228CzGGkt086xNMsL4FUjVPNEpMOmV9jISHUyCmB
Q6gBtpVRKa9GexI+FKjkUUnrcljlxL/sMvJ8sSblA3IxIurjnVbZXeNhIQ+PyVw5X6taDtvRNWeX
T4o5hr7WOCS2DCpeWr+P3cqErlg+u8XoJYn10tgStkBGZhfpUeOh1ZQLU1b3o6OWX2PbbIlpnasN
nmHV5u4NwxrGz3DMrXy6iQqbIBvhPutJW11JWyH3sxwif4zMfAvEXQN/M4XX6ohVy7NZqRVdIdm+
B74HN2WWG1Hkj40JcsevBkmyU+UmV20ek5gchuELQlE2KEHssIbm1U62RNWtNOhHmCmOxQgEZGeF
+i5ysPzpIYwbhxPuTTs47QHMZ/JG7mDhi4I9OPVotLBGsLX78lI12+qujMLYn6gE+m1kpLu8i6JD
4QwXbYRAnT5GuJ7n/AvWwguyOrFHVultHjgPhSyaazewn8lgI8Sm0DezKbGajKOJmobOh2Kkff4C
Fkm4lyj70q3k+wDnYA6OTWrYO2Pur4G/3hMpUPr51LE/JB5drGRh5Xe6yh53lfIurUr2wHApMuNu
sXrC5lDEHmhufeloUfOSTeNdmKm3ejA+K5O+HeysDXcZ4KQga9fEdXPmkkVofUuHWe/XQa2Dm0uF
mtzoMR+bNrgA5NDfYJ5pglViKoG7Sp2ifh1QFz63gVPfSTa+11VTcMZpZvlArO8lsdh57ZeDvIsR
8vla2271tLX9EhjZzzkS2y6oxxcJ9itb2WQzrKrMeIrMBI+P0L7ZXfwjx7B5gEAcyrUbm8G+trur
ONGGrTpyEWWhUYRJ4yddL0u/TrvcH+Aar8i/C1e4TC9B3JnXYZZoWzLbu5XRsx1vpvgYCnFokR27
M7pXl3PnPTDYyk/icUzx7AHRL+NvFghHq5f2T7g7VCJbGV7nnbO34hRCFC4R08YuCJWhK5Vtm7Af
yCq9PAyqXuz60u03lhM1O4AqIFQdp/ZdlJ0hiblCh+ABpMHKvTKybibimfD4YrfMgMXNU1olK3PM
2y2AGnhPMuPDraEr6S91MCaRN9YBxBSLxE61/TkmJd0kMdWLiHcU+RaTzRR6NoeSty60AxBFg+YZ
VTR8rcEX+WYcvqKv7FddgC8YA/Kd65Zfi2qK1r0I5/xQ1fWwYg2ZWl6ACF5bp4KolmyyorYdr0mP
Dn2HpLNyk7gWZstO9KkfpxDEBIFzLP0BeDkJqLMyaGUbMeupPdZ15Y0z6U3Y2ZUL4jDcdZ9UeLft
0I7adaKzqubIeNd2FZdrpM4CvUmbEJ/VvBYTZ/U2iImDD/pVMrCjgvbPIp4CHdpkdWfssFURdcc0
6MG/jU+F4ULFKpUjEKWfpdbVt4nVFtlGB4x+DdjZ0HYtyygQvQ7MHnpnary+NVRliHdLK77Ng+tW
WH/1ILzsZ00Wh7HQJsBXRaWDdE3N2L1zg0X/xRkTQ1GnOn3mkZKepzt36GrIH3ZVVPbK5ZvZXqV5
a9NqD0a39V2Z8tsm1U2tu5rSsL6hndurfjwJ94LXfoouR7uo8xtDtchzAzrYDDsKqQ7R8Umr+JFt
qUjlJ316jgFf4uk0B35AorjNiubwEgXnkNzeFm6+CqHFBs9amffxVoBgqbZqpCa4HTpbfoNmUGMC
SNOC7ZEpsscJB1u2qJqnR5qHqb6t4GT9CDWssX5v2JIMUD26sZusvXetsPvSaWZQrMN5isaDXGCT
/ElV+TqETphvk6h2nkj7Alc3ldmov8I0cG84dpSsyjLR9Ws2JPbwFHUasW5QFtFax8rkPPVKWICE
wr7urEI52vEBv78VHkt9EqbP8gRhUuQorGO3PcgSt8pYkxFdlDNsKggsnlH/qNt09JBzt81K5hy0
Vghran2fp0XlPpdF33WX9LqywlOk7m7T1HS3MfuxdjfOMSQLhXOUJs0wXfPxDmDCpu6RvPXhCoHP
NzCvl4Witn6ANr5ZqQp2qRUrW/qGtax+hGQVHUgpgOdD25dlsDOgwoKKHh9jOFhDjz/iQXHv47gG
h19yEE9YVWYAlhDRnGHDh0/20bEk3zIxfsRhdV8nGz3YU8vRDhzNwz1f094PDU6xggSbW5O0bX8M
RTaSA6rb+S6afXiD4WJjzxQ8KUGkYTU0OwLstdg5BBMZdxs4rOve0efC50Yfszi41GNzLcV0qdfP
hv11gjoz1yrQaR04dhjXenZb15oV7GBaYnmcZ+bdsY3M8lYWJr6lGwYsXwZNlZuhT76mCdv9cCZZ
HQBU8AwAGbApxfnLqemQaScmJd6krjZRYrxS8MD00E9GTFG7OMgmPkSVaK9aTnVAF+CNbhprwNCu
BnWMTR9rahqLbT/O4kdDS7JbwdEIbGA7Tv2QLZ76lBdvotvd15cU6PQ7sparp0GrHuUlFcEaw3iZ
8bWUC9Ih8RZKiNIaB00nG0d4ZUEaeS7WqaYeLaBIBcu55SobGQyRuslEGlzHljWtcAKSrVpzzOnY
7EXKq2ZBYYWEu8JnjPvkFWkDsMOC3AHcoS1wr6HHFQp7TXoxiHGCfpZvz8rWM3VFEnN+Ybpg59Zx
beUKPfvFQJ+GcUWZ0opuJ5Hrysaoy6i9yk1lH2naVxc46psdZqlfasriZxkAeGNiaTnc2IX1jdxw
ii5FSVGmptlXHJw0buuNMmbRGqBE7PfgtFBCZlNzhEsVUNDRA9SEkeAHs3HL1l1lG4TrwPztwggK
byG/YEG9sOtgYAtndOOwLkNm/FGZVCwVXfRQoWCV68E2fjRAJCjnPrcVp7BdnreRTckK0IiNFuKo
FoUOlsAs1ynvyQN70vCudeUGj4kBmDYKzAtNpQQ1D0K/dqamqTeZElbQ66q8Hx/wmBA5YzQVtnUn
GPAnNGsRtg+jRRDPa6eK4JCkjk0FJMZJwZcZGBQmNyDuDetdsYnIsVcuOlO5StMGYEJU74eyP/Yg
Iai8uftOkfLYCWNdlEL1p85pUt9s516GfqeYUFZW5aDThYEYlh4onc9Q50IgBHIuzCtZAV+M2DZ8
U4MBP9DETntvF7lGPSFFzksxgcDDqM/G675IWRWdeOYcZpc/swyvyi1cCXHvAsDtPbVZ4HfgF57L
NIkOo2KL4jotwISt3BaENKjvWgtWWFQrIiIh8c/73mzEQUe/6ayDoMRHPdYRsywLZz/t2eBuUqoX
mEnmtHiIUhdEDHG6z2UE4vPQRFqpeE6aVdo6tLQUh0zQh8l21iZ72qsyfGD7NClrF3tPC3ZyNH4K
gjiHdZNyPuwVLfFxcckLF/7HW2BYw0PDR/97JupU2faOkt/OFMDZmPaB6qcyrTg9NMa4LDU5inz8
jZRLsq2Lze8N/Ie4dNUk3AVzT9U8SNtSt1YZar4LOiPqenJU+lebpLHHqgAKqMrcvJOtHQVkbg+z
y/cO+7DkNPpliHWDk5dijI3kBIWDhiqV6EKUjOomCrDUjIhCoHV029kKkMzAL6IwYBZxdMMeynik
KH6jN3OxS2nyXeIWM6/HnIOR2ukKaUvpkOzDNssekp6ZRV1CLRsvF71jcD7LE3OtVRNl+B1mJzkE
6SqttblSvg0DCkBFGDgtoY4NZgbWpsrOBaN80O74pcq0CHRA+3ma86FqxhzBDqi9pgXPQflrYg23
3IdgPNNSPm1pM891FAMWrRsB7OpXuupvUhttrFrX6Ol/0VZoPTvRpJeryTPko2cOrTAbIg4GZm/8
3Xblr3FNzCi0pYQuzNPWFG6TUMloTfV5nm1FHaZHMCbyjKjqVKWwjGKiJqTxa5v814lsIGyVNooy
bmNkWJ5ewN3LtWoz286myK3+ou1Fcab7+8GDo5+NMJUeqY3W8KRFGrV5U2FDrTgjqvlOkvzg95Ms
yFQTqqcjNNp93hI61TAtXSA4RgROqSjmab+9b/Gpg62XmuTE4TTJ1g0ncCXOMald9ovTbpjazRTV
r/h6Xz4f9s/LNJBLL1FaJCUgyzhp+sW8oVVq1/TPZb7l6fpjG3lmY90FrXOmv/jhUIaJy4HGqYv3
4P0VjkWVav1ymsgp3UD2FQhO1Jqt8Jm58uebgK4CaSiT0TVVnt77cXAhI0aQyBH0KsG2O2EnlvSA
5vVQR/7UQrKtzsodl+7y79084q6FTjIZoh0SbOjVvh/TgVtSKzZvXwfQbDWN6raN1HTZptDOEo+N
mn5pymYXUnusBHvKlJO13t4lBDidmbd/XL1hoVZYHGE4IIhJO7nLvaKCslxa+yZ2xUm/LQfhUc5f
6TVbqWwHourzCfTHvF3GM2nk4iMhdFQ/mbcmtWhRlwugfJ3dtJfzCg6+Nz2328+H+WMBYJilAb4I
3CH4nQasFxabfItvO0x3pVjh87A9lEt30lQe+FDE0Ld6//9vxBPRglvoTq5RaPesDLYotgLA9EKn
UKi0myQ/KzZZ7tNvMwj9oLHoPtDksojTgj+ZQWiVKni1CFlk2e1VKzjqTe5L9pEcYcpwp83uJpTK
JoJx9es6/6JS3PxrjH+59/7LKHnyl//nocz5z6fWyu2Pcgkpbk7/0Ds4xn8XGgY37z/bKqFhLHFd
P37hOS6+/+//hWnw375Kzfwncg4MPqSVgrbgf/7bV+n+k/+TAwuS3sVi8esB/dtXqf9TtSx0Bija
KDUuUSl/gTBUF3wGnhSsXShtl7/7d2yVpwuojowaCTOaE5xqi5j5/SLTTHre4HKkiNznRB+0zdit
nUKJb2w1rO/t2hpvfrsvf82M312Vi0jitzmJ4HOJ5HKZj4hPWLZPRBRmQ+aD1UcGHJss8WE1IkjQ
lNce+Pbm85FQsrwfS1exyOBIFZBE0NMQYP7+4kj3zHDbAQGc5aShL8g4lEfiXrp4pjmK0PKk2RHR
E+UsF7qjIGbYd3K89pm6yWsLJFW8iqM2jVUvWPatk0WiElKWofmuL7vckuyAcAdSQ9iHzNLl0VYC
GkHKwFGM7IX0vmtBwG0y7Kqtr3RWph/cMc6qiwjAIHABVXbuulRytXwb1boYN2Y52OHWsmeLJ6IJ
CHC7Im7McFMkapP5eZoGcHwNB65TA0zeOBKbmTc3JSEI2rqFIZxeJbSZ3zoZN5d1PEv7W56MJfDs
ObRvQjMOruRkx28ZAkQ0DKYKDMvUaI2OPowRAoc8oiBg82GbR3V0nSUiuCrnEeLXKrZTCjgUDLmX
PpUmk1LyQB6rczBzG1ADOTnZQPCeYpF0Mo9WxY1her+FYa9mXwolauFYDkqeVJfj1EEtHAV5YYSV
BFOuXjpRNcqJGmnpNGJlpOps0XXVrMacaHoGxgwlnqKrMYKdIryBBkvM2Tfxq06Ww0sVJUN1ZdIK
Lh6coZww3RSlafYu5mDRiyd7GNNmglGtj3TP7DjA1ELD2eTMs0FiVsLStkalWGhwAfyzRfyHlBS0
u2gokBNir0TSvm7bysqbW3DflZ35Ek8v5BPBd9Ah3Mow8F1T+zWpnNhtpRZUUNuE8s313Nn4wYIG
NsXz4o2bm/UkIV74hC8NzTdy2crK5c1zpumWC4A1AVyx6cwCYbbRUGU1ZVTCdqjIUwAxj8Rvqu5s
vWvymzxWjOsAtXizadS4z/3RmOvnKqQxuaWdP+UbWXP+83mOVuHrceea5OzUEf4AaB+pP7dWku/6
FNiCN6r2gqS08/ptTvDbrFsJ4347C6mHT12dlwiF+LcJdAFT33YhfV8RQx3TgpzaAve69LUigeZX
kXQA37N07YrqydCWKwPQk7sNXDPe6bQRcl9UELRXRe7o1zbnTJ4mZ1XKvVbcoSRQzUHuhyY3y6Nq
ZY5+yPqxyi7h/kV6v6KkpRCqzBFovAdL0DS7oKqWP0pNkrYQb4V2ROAkKMuP0UCqAxZPiDKplaZi
B+Sdon8c2pb8IcqMjo9ZdlN42eAdg+SuqfUrvAGTOo0ZjxfkyRliL5W4D+QqI+gwnPd1BZSpWzd1
2gAJdwIg/z1Bbq1i5RsSBZAXtHR++u1ilAn9NoikusWUQvGKHWOBRCaa5E6bGov2sSVTYKkxZ2P4
/pEJKEwqRbkSZtWkm7zv2GTViVns2BxaAuddgTQBArsL4ktpKTOkrnQbOv758IDNQwuvEHCNzpa+
Qqfeh6PB9F0rdFeTp7LEh7HT21GOMCKMAjb4l7FQlCWkwVX79spyCjDgYpyVeDehAFP8zoChz346
FhyOEqiyhyLBK3qhoJSttvUQRN8LjNYzMDWIrisrg4zhaW4UHqewJvBpLMV8H6tZH21MS1JJAatV
XaYz4HgISYPZr/u8M+kf8UHI/VSNu/GeWTlA/YzMyHgcAKcCYcVDHMZLIIbLYv0FO6TM020NLD+Z
v0zLARLhjDo7fqE441R+jYhT0bQvFHHhWhYrgDtkCoV+LuOi1laGKhA9rMsWvO/wPaxQQVSO1xtL
WeW1B3oY6yFU/14xhu8jDba8evz7+6L/mdQJbTH//ef90QNZKs0/vhXf/+F9i9/K5h8XTcZfNb9v
mX79K/6ND1P/icEbi6tOLrUGjpF/+1/4MFv7J+ZiKhIaec0mrgY20X9tmhbihMWfxkrNXkb8Onn+
tWvib2l8bmBvLxnPFqXBv7Nren8gWjZeOJtVmwqPwyYNRsT7jcWkTEoQtXO40cgbeJpyY8HJ0a20
WFLgWcY/+zqRT+iA2DP+1007u3n6a1yMuAKROjruU43wDCB2kIoIN9w5YIENlKykQZAak/jSnzn0
LTu//7dR+9dYpgqkgQoJN/v08MCtJDKjn0K2L2FKUFEcUrXX5jMnovdHvX+NgmPBxde3PFDn5KjX
NIYNn5FRSFJFSwiUdGMHarpjDSr2QzTmB/SLa83Y1s2QX3x+N9+f/36NjVoY9TNAisW0cfIUzQEA
m5Mx9mia+hqc6qFW5ivMjPFGg4m1RgJ2rrL1fvf715Co7CDjsasELvB+4ugkGbXU5/nQQpkj0ZkA
gsxZgMiVGZ3Je/3gzlISQYiPMZcWonOy+XXdSLLfWow+cOVuUD4A552L+CIw7fRSaaavZiouHfa4
u6y13DMnePWD2bNEZS5X+Yt1vxQ3fisdWkpD8VXBIs4H1wGjZc9blJ462pXI2eWDWvukZtqA3acO
xdiMxavtFV91hpU+py84Q/iHRGyeuScf3X4dHga/zFospCfnb/JDo6YsdWVt4BTfWBWEL6zA8E7i
7pwf+6M7YNuCktFCGOS8c3L4RnQ40JcG69eT6nBZEs/xGpVO9rXgQ/NY9YI4QmvwJPz9C0irSkUY
vN4RZBojPtvMfTvfpmpAUNbnc157fyb6NQM5PS6FdPABpuWeTvpcyLAle2OzsOdjCOhod0bxf9k7
k+a6kXNN/5Ubd92owJCYFnfRB2fgqIGUREobBKWiME+JGb++n6TUNg/Iy9NyRy8c0RF2uGyXKg+A
ROIb3u95MYHZ0s81Kj7Tufcpp9f5zhoWhLI1LjxBAdrrnV9Z48Vo4p3UOxN/ajbyeNuqECAqcV+9
gqq5nxFEh9uuiLat9MRVEmnfC0blA8DMlNE1kp+z1BntWyImaOlvX9pqSFZdmkeZ2qVAZYIpYt8f
77nMRXph2DxdCR50bw8LXWEs+7AaqfRJDxCi6z+nsIKhNyvlm4UAZgowpzFp+JW1izt1PF8Xk2bj
kgvC9q4okMpumyiKAfbTNt29/XuVR8TqhOXjpTOtRdhClVZf7ZCpCe25muwQM+yw2naojIBNl6Dw
C1sWl2lcGTctBqmVconrr7HG9D5A1hhRTJCmUOdsKMFRtusQuU0m4tMxa5Fujjn/Q2f6GvoMU0NT
5InoFgOB8UNCCvEROywI1Vo1uZdJnNkfksnPbxLESRFdtCjRPRrhfScOgPnNC3S09g1QSm+icYWG
tzLwEhiXcvmcWTRRUt3yf3Si6/eAi09NgL08QUi9dD7ULrMW6pQ+fprWYA92BKN5F1rJ8DmvZ/2A
m4194vvz+ioeyg9m2jx//ZWrlzgNNV9nHiLy2u1ozo8VXeQTp+HLcIFLcbkWqkIKt6SOpWeHIQle
sjT2GO6MER8eG4D3vTTJn6OozLeYzqFrqulDzLI0T3ziXlnZMJ66AEqUC4fveOW07fyZuQm0OcgH
M2CDWMJhZsvMQltuIvfzGMn4i4YH9YkrVvWp1d5WZwzbmwgC2MzTHNyzS8Z/Am58avk7q9Lx0bQm
3CWtgRF9s00znDskKUZh6Noew0n48PqsL2fVVNR20NNmapnFRZ8CJmr+O23Dq2YssANimBxILzq8
T6GZapd05pDFaxGzAw5zszcoxosfDuyh9xaWZh8mCMWHt9/Yly/sr4PTZUKLTsB6zH2qrWauax1v
txopmAB4fVvbzU1LI/Oycifs8HzxjopzfEAmlP1Lt5QXztE9nbLuU7Xr2S3NFiE0oUsqRgxsHBhJ
wUCFokVQom07QJAf3ucactJ6HsOtlkLutwAm7xH3Wx8oOs+7pvS+ZG6I2SsN0q0wlwm3Nrc8Q6rg
7DAGa4JCjua21uvHyGI0pi/kQ878zrvOtLRTZ7X6zBxHlz5vA2e1BVZOdwnHj16JaJqMIR4QCjeR
6d4sHCebEE/0yxiUOmWYUWI64Ro+OThEg9xu/POpkNWHULbRl7cf6mokU302FI0YsCiBtQIYrH7K
VOZ4p8Dc3TGIRKkclsUDVjNYgVBjOfcWQ3vvxnhqNiIqgHjKYZPN7pVhye7mxA9RJ9r6nhACC1pM
DrXR9fbyeZr52Mb8kEZelb15vmBYd075NrkiQsNskoZRkFvR1Yxhx5lVt/7BSMEP1In5Zx2Yp3tC
SZj/dCCmGaa3+jTFFmUdhmJ5PG1lfY7izLuGywn93CgbCpCRe8Bb8MFPuvlSg7F++fadeOVQRttD
05Lvuc243SpGqRrsfJHtubvJD8NryBbe3irEb7rRHzUp/g+T8QGFWS8f/wNyd/sf+778G/+8qvw3
aFuo3us/EkzFCP/dolBtl//6TyCasm+f5+Dq7/9NgxR/2fQYaFAQwQIeUcfNrwzcMv9iRFohsQy+
yr6jNsf/7lrYgCIpuXPqw0XzXYc/9DsBt/jnkZvr/CnyZvA64k8ScPP4/MDQSmddygPMGZumTkB7
fH5U6BKMNkyWoECfIDfKL9nY6GlW9cGAI+GttIfhI3J548rHPgJFc8HURiUo8E2pg9WfK1vzzC1E
/Tk1Jo6+TvO6h4pK1X0bAnFF+mS43a5JO5p1TP5gw4u53CL2z273h1/v9vNmyPHnWV2FqxOretwv
BW1yVkePhDNd6VLDfEhJoyRKMSZEQcWmi8DWx412sAGZQuu//vmyKgXiO0aH+UXj059qG3sePI9m
7KxGEW65NNoN1Kqn5aIehutROqeYEMcBwa9Lfb7mKpzD41CzaoJ+BpamcyMEoh6OlBybxjwxh/6U
xP3zGP21EndTKCIEW9RZ5di6TNxEA/SPkgx1dcBUOl4hyaAcdvCG0JC/+eKyiBFAoSZq0n6jMd4y
Lf0sd1MSOZeaVtlnpO4E2mi4kTHXsYW+asRAGjNu03jQbVRim8laerDLuV99qK0WcX5tDNkpFszT
a/bso/B0NUCGFBnQ4yW0n/K5Z199/K2EWWJuw5CG/gSkhoxP813Hs5NMd9oJG9uyTVj2LlNNhYVd
K/2J5d6n95McRiRIl8s4GNdhWC74Jxk9NeQuaobHWMy8MRl2TOOOGYOw3ua9qNBk5qpYazxdoqmu
FsVTdt5lzPHijZhzO7y6Qmweqrs0qvuFz8gidyE3UeAZ0+OSpW5tq+5you63YkI2m/zpMYza2OxQ
j6AWo/AUAbCvLbJIAOPicU5RegcLR0d1QfkcsVw19VOz9XpaGMaCSZyYasr0MYsYu3gU44KphW/9
hEm/aJuxMDocREwNFy+6EqIJamsIJzxpmEZFCCcn/uHFhGKpaOWUb1FyIPqkQ9lCFIsW09i5hoh5
rjMWnlvEolF6O/v9RYPvIz5jpTlcYFMZBoazTPau1E1QkAXct7vShrUZZCa0azxX+hv068sNvlH2
pzityChjw23aD3qEgQUNgby4KfKuOo+nYR729tKOy9/RiBnyztQq7QdjqbPxkVEtRpzsUUtwvKGR
c8MsNRjvGNQR27rtQpqEeWYxsYUvN9KIDqPkjdfZrhb0vTSGrRe1OWrIAv+6gvp5i8TahEmdTLO5
Z5rDBJLujPMmaQdmRGlV4Iw+avb4iThRMmgLDejAn2KD5CHKtqDpgOODlbaV37oWTYwvReZPdHkM
S3MSW49Y3tnGFocEq8HbaugfkLSMX2qjGjHqSnjOedQUzPeliu4zEfqkykfO304Dsc4lngV4VVmI
vWaUogjqDhlM88D2pKPc7avmvlXH86BKI8wScWg76vgen07yUh3qVYuFMDuToz5Uh36rjn/Xsrvb
/1HMdpN1qCqDxdd8pnBrZ4e8Gua948caZkcAHqHAg4uPN5aT+Z+StFh+CyL+W46o8eL4I78ny1cF
Y8pBzpokOVLSHmOXoefFdN/jlP0344jDtvA6n0MowecWLxYa0T9r1NQhbfjtIp0rYUs/CKPhZl7m
MxxSdm9/Bo7TGY4WVXOg6grKQJWx17XXf96YpMWadmM+XbyXhejbn+6J/XR/sI1Fbtqo2zarG/j0
G/5fBGEAAW7/jfxTeFpIK4hzUE46kFd0xcP972Ox//l9fkyeh2Kv/vlfsZmqbP0mc7t/kU/Cz6JC
b1JhUDWk37GYoSsFCegNEgq+g0/Q7t+xGLoTWLOuTmEfORfFD/NPYjGDoO75J4oUThh0zlRThPKG
WAspmaoMR63uvs3lxCYRGHmhqWolQ1FYsmXU3QNRIeM+j9sQZbPFCWM1mLdzZha19Eif7SgPEZMx
LS2/AWyXcCPGJJPuluoks8lb6lbC/fHnG+/fDe0OY/OtLXT5WK5ESOrv/7VlBK0xAj6CPfRutK4U
A+x3OG/x/6DFYSf8g+D+ewvZf3E6KLEOPDqOL5px/wjnNaGsbGlCuaA/AXkT9f/RHlKR7rOgzWKP
UiMj31BeGh4yqeN4PsSgfi5K47s9laFh3k9GOmHuZ6E3Ge+Z8YWWhX5+1M61oU8BJczUC0pGV7Wr
sNIYF+iFt2j+AUUh7XxAvQyAfX12K18J1VcH+NMPpG9IIV9V9fU13siM3KoOs/7viRpzRQM+FEVg
F3mJpH/qKcC8vdpxBkzqS+oE3pqwj1EU3tVV/j0szNfh6p2iVTCirWiX/Es9ZfXHP1+FuFIdG2Qh
xlrVGlMOxN2zTDfR3HDXirQ9z0t3OEFSPE5yfl0LUixaQdTmfY/D5qjU4+kVM9MmE5C1UaT7oR71
d/4U92elY0eXjLv7Oz2uH0UbzScu7/iR/V4Y3BYnHH1fBG7HCzeNP7Sjsg2ZR2YQGGgZz2WrZXuD
0crg7Tt5fAT+XoqYBkWpMFCCrLbvwslnN4tkytPAmqTvGKaIl+Zh1JafulWc6nS8uDDQ2pwFPvoK
j9R3jW7CXC83Ut2ICd+ju040+s4T7eOMz92Jy1I/+59vJZelpCVPUE+SRCWXP76DqZ5lkkHTBHcZ
Q9uaIL52pRjFDru7MSBDKi/BAswnmnQv9r5n+MrkS+VugvNAHRXPMp5QDEk65bjkZqOkJ7yMdf/T
6NP4FCT/1XWA2QHNE/xbX+WJzEpRM09ZZxFxdW+HlKmjpE6/v70zVl/Hp3v4hIm1UFdS/HiiYD67
HDtNZ7ODcbKBidPjSEqmiHeuOCRR9onx6us8qhBoiQNOOkHTyDO2yxkKyfNFr67JP+AfyOqd5Swf
3v5dr129gt3RBFVVlDWIbkgwd4194t90sctzw4aOkQ3hqQ30yk6luGoDyuXKqSWtnqW+pIU3CO5x
McpRkVyqSWzslqEdCpnYFG7evqgXryFbh8Qf8QfVJx1u4PHWEX6YaV5KAKulkbYn6P5mDN5l69kX
DKZFJ87o1xfDxN2H/OhxhceL2RW+JwLcFRWUojwrFr37aCTU0jeZZpm70GyaU1vp5eto8hYa5C3U
Aoj7ViuG9pTK0eB1HCh3vUtj7741vAu/GscA9MoG2IfW3Sf+jIGQuQXntWzx+KZ8heUlUTy4o4hf
O5fpl1jDRu7tW/9yP5nozalPUCx0FaH5+G6Q9xDoeVis9vhdMEzHiAAtrvn87VVe7idWQQ5kUbqC
Jof2+ehsMMIkpsnlojJsdWe+nOqYYe0hzcPxQFsz9U9c1Ko3oF5e1qMEzuPlNODGH69nUWhpShsf
TgYS2uJiGBzm+aslzn4yuSkQz1oAKlKISeSztCa8XYMn+53OFKy3Zaayun778l+7ycy2qoCLWQyY
JMc/p+txjyokl19kft+egSbppzMKFpBT/u8WWn3PqrSPbfJVHHibND+rCBN2hiFPnQ4rAvCv26um
L8h+lVJCrDZNTuW1YiI3wZpdD2+6JO/bjQZu4KcsLX2CE2Q5X3D+7pOzDkfd+Rxzbznh8Amb4MQF
v7axlLkRDUtV814/6MrI3Tkh08ViTFu2M0fjvohcNd0/aGdv31tLN3lMR59V9UHg8TGpx5r8l+PH
qIMuL1EmpszLjm1zloNCgWMh/bbgnCwjzLASz/9kiqnAArJq3SEw4d5EfKhsw/8bVYj3OSlCJI8b
C39Kpo9i+vuYE1fa4FXfCfWb8odUVtXvfElBIdnYcQwUitALGDjItCb82tVzb1y4BcLyzVQmpgb4
wJyyj0zE50XQQ4bUb+Ip4RtUjjS96FV3wB4OuqzpCcBRGjNqcmAAUQsg9HwX11NEpSflNwXaMkgq
YWbfdLthcrphO8qJ0WHP15Cb9mnyd6RFgBMgi1E9tCp/AT9hME7MT+iy7IDjo4X/ZlGi1DCt2RoC
PalCue30qSsO0vdkc8Erb38jNrKKK9T60jwUjkvpkSksm9qjsCACOcDk3Ji53aEgu0Biy2T5GF5L
vNij/CPQYLh9l3oVCZl+xcTMiFyMKeIM0TjVyMEXZ7NvTFocxFJ6s7f1tEj2524Vdg+isboPdZEn
H5GjMsjatkU1bFOJHCpoEoE+PsuN5RYsRBMd9LTW3QDtb/Zt6IribymxD99YWWbU23Z2mdyE14SW
F5TV16RIDQKBvgpRBPDiJRcmBoTeuZFLL9t5k0ycbTJZcbIVoz/EFw7SiK+D5ujykjFlHJypBM4W
Y5OEhPJeH0UD0i3Kta9o8z3s9zxum3KA9m2NGxyL5iIcoxKaKd7r4kPkJyAem0JGtBqBBDH6W9Ms
2aYYhx6YcodJlJY4NG+Y2IoemqyAMQdMB8xLleGmiYKCbvElBI/5i7ALr4dHKKi891MozqImkeEm
sqoCXj1VwcaA7EL/f1NbtQEWz3MQG6dxP93EskwKioOzh69g4wPdcid7j43qAolkFNHUbulS10A2
3bFOpuvUrTTbxxlbk/DwU7y0WhbOaeoyrD7Ku6g3/AKrqa7+qFX5oAWzAgagO/STLaGR4X4qrWXS
b0b8cdpNYfWxf6iFseRKkx8N5Rfc7PptbUSdfpt5k4OxoAku4kBSimj8QgAlKb3LcnDg5J2nfLWS
c5Kb0jkrNPzrgzHu8+IA0Un/AJAw/T4aaRdfV3jgyW3JfAlScy333sWMd8BoIV8AJ1ThFh7wFWjy
AMu9st7YtPS1TTK38SOe16h+srid/F3OBBse5RPz4dvUTLG3Zk4S3BOcGiukJaA51LEHcA6Bb3Z6
v4+bxV2UVmJKNoAo1T8S8d64SauUW9c3Rhfywk1i2tZjMWVnkOBMsQUbtVyl2oSJY+P7NsV6GoCS
6QW/fU9aR9+8dhuK0ygOFKrQNdgQrR7hBAErOtzA/xP1NqzzOtu2pTVO5JkJdM0wLmfAUFPiaZsi
6ZYHbFXsO6wVxLibGKU/TyLLRONa1mm2RShSf43HcfS/ZkuztHciBB227cww+9HknsFbQL3UPDiR
KP1LCki2deFJt3Z3zP4WEvB4Sy4t88L6NoTYU++beuGrY/lTo21DR09/xJ6fDwe4kvqZSQJS7upU
wmtt3MyxN9wlgD6tTJtmT0DgOvQgKPJuXF7oGZwPhmYbL20L7EqdpHnXGpW4h8+V/qw6tFOKGYK1
W9Q0Lg5rhVHcZ76+MD1TmDXSOqvklFAy9XiHtmvAyhGdSxZoXQUvCAymfRP1GLsGDBhlduAsNb6r
CNuBniLOjfPLMu+a+bZzDFoWKMW6RhxMMy5raFhYqhr7NpO63PVDDrh1HKfkvbYw24UZe5ks2ZfR
QfiUnRH/E89CduylokhK5ku67tFNQ1t+LeLaxsfTGKQR0zCZJW9YT1jff5iGyDzX2qWCEcOAEoRI
u0y3LvX27CKubFFy4ign8TKh7F8HEusr6vzSKpjL2JKTjJE4+Cb4reZXmPj/q8r/SR3lWbTxoqN/
/fD3Q/TQ/niQz0vJT3/oVx3Q1v/CogM3AFW3YzbOIDb5VQcUTBx6TIwTvFOsZlqOEOl3HVAzqB5S
NiTTQajNXJYabvxdS9YYbySJpgiBhcOfK+vXES5qP+SQ/ASmx5kVfDH0XGNVbMS44wxxPp0vHp8F
weTL9tlNeaWYt06kVOT15LBBZYio/oX5t8IqTC2VmsFuLmO9+Tz0w11vT7vKz+uNFAyLvb3g+rIA
GTDwSCWPe0snbG22MZEJhWlE96rDMeE9M0Dhwee0PxHEvljFRMVEPE0tnqdLseE4rkyzqBjnFG4C
BfMWrF1rHkRriROVA5VlPo9eSb9g7Ogkob7DlPY6p0+1zMuZVsQuvZgEpA9JrBbtM5FcJV77aUrT
H/2Un0ov18k23XxMf9i5WCvQk11nCvMSRd3Yam0gmCyE0uF0e7cGXGJr5nzF/GV9Yoes8wE85Zhz
ZyWid6qj6mV4XoRy51kPPafpQAq694jm3C3LVYGIsu7ESi8fmmJ1U6Rk1J8Kkav+/2f1IRqulZmm
U8c4ZjxdzIvIArPuTwkJXlsFBjs5FtIdhAGr0sEA0MRJIGIFcRM32UU6N6HGZmza6cTlvHi1VBGA
d5hmA1PLaFqOLycVYE+X2O+CPGc8sh8J6P2hgn3IcNUe9JP5s+264kRK9crTojJPM4uhSw6jdfam
u6EDaFQZYJui3DmCUVqJWnJfNvWpksD6RjJyzQsGjgY1L92u9e7X0e71Y2NZQco371BVnnWOkOUU
/GG13dl8nFDsdVIGDw7CWj7bNDl6AXOhtQ8/8wxqFOi+/Kq4KyjEnjiaXlnqqR+kxJjIDtedF3vR
y3qaajzGe2BhsW/zvHz3Iq/N6rzJ4vzEo3ptOYpE1C54YC6p//H+aKjIe4ircOZzHBvGE2RW6lkx
A54D0bkR9CJnUuCPTl/upumgQ6a9hSwIYfpqT1qlk7aMC2eBOzraeS3826yx2z++MBo2bHpq8spi
Z/3IYiNqWpzOWWQa2/NIL8Q5o6LpLg4bYzeNljzxoq024tNFqYMJFRe6Kj7NxzdSeOq4L/Cm5HVP
9r1b57vcj04VK14+Lr7EahFlqMimJ/p4fjohE0vm2vDSYMqqXOUU+baSJnh0WDaB3mV/ZhhBtQ37
HEIJNJ/oxlXAcbyeK7QeQh8bfwmRvnFoZjt8iqcTe/7lveMREV7wLxUHvJiNgmA42LODcWFNSt0N
rdxmfVvt3952q1OJa2GvEWpQiTYoHq7xA2h22wQOdo4dYxxtTP5yRz4HHtCywhMX9NpSIFNolgjK
STAljm9bh1rJXcC/guQkVYAnP922hhLnmHP68OdXxZ1Tg5c8Ln39AvfL0Ockf3kQOtEnqkvT5ZCA
7EN23u/eXumVp8TgGg1KvibsvXWUFupGl4CpI3u3IzcDNt5rAUZv7r9wQZzqSAaJcX/Nkz7f4rFV
uWPXUvVyUq29XjR9Md6ZfRNG74AGn4JOvXZNvvrM86HHy3wt4h/TsiExzYpAzwEd8HYN19SgvBNl
8ldWUdQuiosctAZh9PF2KDR9ZLSog+woa7lL2wVWcu6e2N6vLqJYVohJ0IDYq2gzGYw0ptFOsYb8
dMeAtXgfdc14ouT9ys7+Rcz6vQr5yvOnY9ZRlpTwt4GxjvGZV+cWor+m3+Xm6N6+vd9eLgUW1UG2
AxiEHSdWDUHkdtPcDLh2wdeFv8GnMEMHaKd3udefct95ZS1m0WiKKxEOaunVE/KzLDNHTEUCz07F
JSKZ8qoDG/JAFiFOnA0vn5Ng2JFvEzppgpanavSzAHMMERbOFUtVnKs7W4IapFRwyn7m5YeC3jc9
TgOgEjncWrNfpu6YM0fEfFFUR8O12VfVfR5BR7wcvMii7GxS5zqxA1+uSfqBtopwQrWLrdUDG0mr
zLGK8qCmbbYJYStvtcy2t3kLWERYABre3iArP2T1dbLVScSwHr5PZCKrBSuejhFX1OWi3g/bwGXQ
CCWmXysJqQ/rVqOckh2AsfRSUTLaeTdT/v1qtnV734EUdoIw7REB1qUZtkp/2L8XvV9o8OezKVeM
0Fbb90JzLhdhRSeE0S+3HLpKwuQnOQTcodWPl2kbRYwxUpNcirrc5EDra9KBJfyu5SEDgG/fq9dW
Q8Pio/bnuOOWHb+3rczrSdbEeWPqdvO+yGzzM1oCTNYkY3jxidVe2QmGjm4YgRODrU/qpqNTgt5f
0hd8/4SF2HUSsZPuKK9mEfmbjZyM9sepk3yV6Ki9oFT7TCYShbHnreML1CNnibWMdmDr4znbO48z
juBBhp160sBuFWK8ffuOvnaNvL3oAglYmKxeLQi8tG21hs9hAg+dNqt1B0zouoH1G2RKl/32aq88
P24mNSImyBF5WepUeXZqWPlguRoo+wBaJppdrWvrT9rcZOepSKwTio/X1lKfQyaxnmBUq7W82pbj
PIJvtr122sVOpV0WUEov8gIOzduX9cpTw7dQ5cBMBxCsr87dMgaH7wHjQQxc19sGTuFnE+TQrgKD
AGagTHd4okUnvmEvnxyMCBean3oBOYVXX8rKM/sFEyLeBadtryHghDvEM8a5j6vWxgcbtv/Ti1Sa
HYJ2lRLj+Ll60zUTsK4qaJN+T+PBG6oEpnEi+6s8HvWLFFeED7hXnRqlffkUke3pwAoRFvMXazVZ
K2ZRuT2rynGhYdTwIWuypkB6AEbr7QtU1YpnJSjePc4vS2E+mPWmMb+6oVbquzmdgSJITQW+WGZR
fGh8CbDTKpfyS75k+S3y9SWmadL3pyAOL/cQhQb2KyyRp/rQKtjOE6KhpM7KAMZld13lhR00OPlg
dbqM6TvNztNPoV3Yp2L8F99xmB5MPSHYUXhNTp7jNxKjmnlmEoSvnV8wDunRYvEtIM5v39rXVuEM
pTENfksHv3i8ygIdf9ZxeArMwq63bgbGkw7Bn5mS8yGl5MWLoO4gPE2+pcerdN0kB8MmdjQkNgUq
INtgkcTjwnP5xMvwYluqpVSnXTHgFA71eKl86WVX2H3BBY3Omel001boc7HT6Wkd/vjesRTul5xl
HC/26hwrjMRzE3MqgqnW3E2hc9psQ5kzYvEvrIOcUm1/ql3rMGQ02z6luUZihAcZplNhnH9zPK2f
t2+v82Kjq1tH6YTnhRKPKOv41kXaJIHP2RhWNWZSb1ovHIBJ1z6e0ZOhnU+VZrb7zpzrf+X6OPfA
c6JNR8J+vG5mpXbqlGoizsa1QYZa+mBnlnnKcfOVrU7G7JGlk1yqscXjZSK5pNJ1Rry6GPWFeV8n
QwW9uaxPbIu1iuhptyOu5mVSLqyIYI8Xytyswoae58UMa+TNOyeOPmFwVAF6yM+Zjz+rE4o35Yht
VuP1Bxfa9omX4LVLffYL1hJ9P59at3cMhfrXnCHweqe868VyyoP41DKrc9lRA0YtL1cwWNN0Xfje
ZwtpxIlC2+uLqOPDRSNN9H98N3GmA5wXqlhrjjK593RELdho+fqJx/ba7qf4gH21y/anrnK8TimZ
GewbE5l32jibUUzGTUu7nKoUEZ/YVG4TXhlq+O7tl+7VywOcwKFItEet+XjZubcrX2dYLsB3sUS+
sqTLXR711se3l3ntWESDRGJEkR6AsHm8jDPMGhVL4ruQAQDsCmaxn92OMosYrXD+42tSBFQ1i8L1
cPavPiogi8Uw2lyTVo8dxoSYdAdWIhmbe/uiXt471iGIJIlXMsEXGTxiEoYYObCsxaPh3w4iOtjI
Zk7Ecy/vHZk7cCWdMxGY6TqTchGx1jhN4vTXzjhCLO3MBCPOjnhlFSeuSG3mo0gHpR8ffFWlJN/g
OR0/Jhye0PeQSoLtKMJ9WmnNoZZz8V5NIZwBvGhPgK7XkjxwK2Tv4NPgoZNSo2s9XjC1a3s2tV6Z
gplZ+r7OMQl7yInIcEG2fNl9jO1avyvdzsfpoXZz8wuW1r17Tsyg1bdvP84X9xk0BHE6rUxKJbRB
Vq8COJQUZduAZMRttH3i4oWkU8z4GFvuqYiSbbK602ooXTly0/jmuyrWQXMIDTDEk8gN8gp9TxFg
BTj4791ZiPa+tOA05dvMG5veQYaniXAMyHyXBQvI2OsOgk9HGuSUYRl3nbLkIZ1bWW4TPCXBDy2V
/S4n07qx6SnaF6C0p3Yj65Hx3Rmpxb1Is865nJqCMeNGWs4UmHJqos8a36en7kiCMG4zLIR71s7s
xADsR0wVk32bwoEhRog2AQZ6l1SU+25Cf0InidfrFIZfCj33z9oiFhN2ImmWhN+Fn/dOseMr5Y01
mmE8umJs2GYMjNEDubX1PTRnnEUDRoOL8iOumZrLFGakGTnuOJ4sqMD50m2LyyqDbLXrO8PBgmjM
I8u6bhNwOgwKO23co4UF1XlVDFkY5Tvfx0MvwWXMLhELwTzr078nLMemC6bK8jBISwvzEwuroYQK
X9yMoErLaWBMM2pRrWxLJDPpnYX6TeCzlsyhc4OLm++fy1CW9oeqH31338yO1Z53PGAz6ObKN3ZO
LdCXbNAFWfF2rPy0OYi5d/x32ZLPDFK3w1RjE9c083ummHPts4YLQHsZDp0cPnlzZdlbIzH0iyGK
SxuA1bKUj3gJz4+YdGnmldWPRYk9QuKgnMP4Zbl2RJbKc1OWY38eRegWd+3ol8596sSGjcH8CF3I
jcLob0FQ5TF8EGVCh1MryugSdVSURFuKgXFyp4k4RGnJoVxtBiHk/KOcLbr5yO/COP3G25YxKtrY
ZXgbhrnnXBh27bnIfczJ/FpMRpLurLKUzgN2Idg0ov5MCiSnc2c20S4rW9wjM4ai9Zso7rCrFuiX
nfclpmXjrlganesZS/+nhC73KPHuHTc4cBfRmdXrcU5AWLsYDIOTEfuo0rX3LQlptqkx+54+Wdh2
GtiYowLcmvNgy8cmCfWvlhW3WBg5/LbNYtYdHwIMbpu9zMrxSp8d/H4p5+nLndSGpoPQkGClpIcj
CkujIHjZGDJL7k1pYq5hgFcWm9YO+2bbU2TEnTaOqmiXi1Jnby+Za2EtPFk/DCwkyg1GPFoZ+LTH
UDT7qPHYh1X6vsVH5odutlmyrYZ5wUAv06ZPeHd68hy679juYoYucZ4SbSWCDFKpsy2whbT3Za2b
jxH82ZRRa9OFk0sibm9aY5nGfQgU8ivKTktcR7PHwvPiYCKNBAR/ojLSIInJrDI+1aMAxVuJyh8x
9bXJuWSMh8qFF+LVBl6ojH6Ah0i1nVmYVondgNN9c5fU7j4nBMM9Xo/aSMabOURBFICb2xYS9Xzt
ZpHZBQ3wxJjaKxPyGI0NCNne1ZUetnv42/a8yQsv1rcDXn7hdVyHnhVEYee1F2nTI+SNMHH9tGTa
Et8tiVPyMDDwntHpoR3cp50hPnPwx3e1P4U3nN1mtitbx8GfEmNEjhuvgeY0cmZi+Cy6rzaGgdMl
RYP0KxNZSYHdythj6Nc2zrQlBg+1rd5nxaNuhsbneKBRvaGDhSsUjqADzkk+OzYYFbnt21ANif5x
qgqjvStAgt1Az+jeG4tB8WjUfLFccg6V74fF7vNzraj96swOZQZg0TWa27qD0KCo3d5PXGP96nzu
pr45+GlvJld1bOhftRjfokON/y72Nv0QPVqjYYBC8lp8dQo8M/ttV6a1tomJGL29kTRpehWVo29c
iFG375xYb2F49MK8T3USdizPvFhreNknL7mYI927NOa5WK7qPi7LbWsjnYVEjTA2AE0+DgqHHTsj
ptMt1KaQyett1rTFgCXxIrxd4Y1j/z1En9NcIzp2uw161cHacZbg2wm4ZGY0X0uXj/lCSe2b1Fv9
m+eEUfYZsVNmYEWpOQibRcyR30S21QZ+b3RmYPSZlh04SwZzX3htbUaQsBfH2EaMZeKJh/tQdJ8b
U/a9HhrzzskrL9wLQ0PxmOJ2xdmQ8A2An9GPQ0M9xoqam1DL2+ITlALp30UgGqKDm/O6biYE7fgs
VZZ5AwJSF4EJ3zu9NEIfdgBZUSEDHao2OsLGxlwD5TMj8aWs0vJ9VA51fueg7TUPGSbKy5UbIRj7
HHe1Ghmua76SWAjm8IRpE3psxFR2gR/LMd50Q6rpBzmzy79qeR9jPtsN/QVs6mk8F7hS2TvfSyAm
I8jJwg0WinN2VhbTUv2UdPtncqaheGAmwn1sYOLIH1MGxZJ/LFKCXaJVqCYBejcECXXh2F84NnJL
YsmY6/5HTis41Wifo+mi5h21gmTuUugn/YSofWNGucTVr3Ga5FbzerxgxsmDPJjokycPqs8/3GSG
qOPbog47AYTEqNnSSKxFAR4CI6pPnr5U8Ava2OvZJUuaVNcSvWx20dbSz8+iCP/EYFg8MeNWTj4j
70qtS7sMf+6l8EFaLZYxfOt8uvoP+Fi30U0y1EX7A27bxCuUhLGNrXrkPYoKE7bNqPudfZEg28Di
LTXm5Xx2Bi3ZhRXH8iF0kPGjGEA/PPRBidi5+UJkhM8X3m/l4J5NTm6ITyKbdeO9ROCt3zl91ka3
E3e6P8wDVpDvMZRujD3txXg4pNFsxYFn9fndCGNovpkHq1SIamjy3+m2dlHgZ7Poz+3EbPRzXfOW
EZJi78KPnl3rwm7RTt/XkKpDdNVpITfwRZdLgCqjd4bYmuL5ZPhlE6TtYKCPz/4Xe2ey4ziWZul3
6T0TnAeg0QuSkijJZPPktrkwM3cnL2deznz6/hSR2ZWRha5CLXrRQMUiAgi4m8lk4h3Of853KMVO
FGBIKzZ8abR3/apmlqB25nce9XAj2Ucyfay1j6oqNIpLsy6d95rOd7ixSap4e+6VpXEBa0297jJc
gxzdpOfm/kqtr2FybOZynxJGNV8n19JuOzU23s3EOHf4bgN9mm/tdG1QW7zCNvqnzMQ/QtXZbA77
QfNa496Dxu0f9MEOPrVB1/tXT8xzjTuuDQgYLqM2OnRwDiiiGiw4WyMT7a46hadz5uufbbrO2jvt
mNd65bVaX/44t/+3/fZ/XLke/wHDoU5HWZaff/He8jf+tN7SJv83iNWM4LC1MK/8o63oT++t5low
ta52uavmxez5asv9B8fB/xsq/tUKC/OPW9B1VPx3763h/w1HDtg6UrLIWOT0/0sZ/Kug8W93TV4R
Dh++hociS4qZf/569duqqb42c9pxY+ll7OjyLQ2skraC5rsJhi9f+g9jtxpJZhbtqZ9GNglaK/8T
qeBfLqDXV4G2zgWMB5nRxb+jSdg4czx/9u14xPZ0Hv3p5Nd0yOT586L1Z5lznvJzj9BJ3dwwSpn/
E9Xn31Fkr9+feRe+u2sxGDakv74LwcrUsh87O65sXyNpg9QQtXZBYX2FQTMU+jbQfKQZOARWbFNt
LP0OHNTWF/OeGZaGG3aWTph2adDSrJ5nsUtnQGiqRlHN3LZN/P/sYfv/FmP3B5rg//7cXeBQ/vWZ
Q8v7O/eC5+pqXmOEcDWwY7/+h99dM+DYMVJBXsC9jnHvnzh2eNoBBjBsAUGPpRR9+N+eObAqV2Ql
9TVYkvm6zn/lmcMx+peHDsAhFjSeYUz1/Bcrzb983HxDG1I2v73dL7qTNHne13FJtcbwbs28Mqpo
NUXbtKyCzY9ksBgzHgeyJOcg0Mbg4LhdOz0y3Ta9S5WDTTzqHOSn31lnNv3Zm8W0CyqvHeHxm0V/
NPPRAvPbuZjr4W+1WWhseib2rVPW46tXaBRwAjabjQSaQWPEsC2y4L3zCOBloVhlPT/5HVjRn/68
YMQOrcWjAJT+9qr/SUJf3lVWr9qYwpJZ/iSFjA6hXKWCY77CDbjLpJI70rMU6Y56bnsPMtuWjADi
RhdQ72SGeNa9OVCHsRkXGpSBtc0Bi898mTxRxZYqqG/XbpQlcdBZWkkRDGvm4B8qVAgzw5A4tP3F
bwL/VdfVxxiQ2zoutrAII7tFFm669wKS+w0fQnBiQtmT83GWjbc03/yK5vLRX6OttSZjV6ceWdSM
JfPVph5dhcLSFnvPAzyk55lo38nzZda/2lqubQf0jj7a5DLNr1uhtmtTeTOq+lgsjXXXaJ64GRkM
9HuO+8uxbLS0CWvqLY+96ZY9JgxlPF8jaVw1MxpEOWsKXxy3RguaiBSd8Qj+sgkiQ9KPk0dGky1f
ub/IZd+QFdIPy4pb5J7Tp7CiMg36L7M3KPsSgIYfGMZmKVN8VZakhlfzh9mN6yddPuphlrSQkKO6
zIKLbV9YBEpZzNzHQJteNihhx1Ua1i/YZNlG//M29zA8FjfL9vXCzOPbXkYnjeyMbNXBsddlvLT5
kld4BYLpXQKcQl5ae/rLs1KVH/Swd+sBMywVRvkAW3+3DnMnHjOKTe+WwdBzTltTWni/JA0sxi8S
ke7yVKxYyo7gigN1Wy6M1EyEDM7/NO8YxUBCyto8q7PChqt3YSW91+TtBkkrp9W21Rdpfrue8Lg/
alw6850+cqB8awdn836AFtLlfaUQEX5JTkkDYHCLLqxwUhOd0ofeDzjPuuHQ+TblNoBXL+NmCk/t
QQxqarfS1ZPvCo72zVcgKBM4OhTVeE/tMij5YqV9r88hvpSyIx22XUt7kV6G/h7SmCxvB7/0aEHK
dL00EmEo7AcYYx0rdCSJxYk+SJrlfY0cjFV55tFt5uZc5K5/KJxJHcy5r2+JR1ZR11uXDNZ5HRZj
Tg6MoqcPeljTs8gNc596zvRR1C4XvcArvoiHLKHsCh+/kk6DIVQ9DsoIVAQsszrRioKib/QPzOCo
PX0IoaGpo1xrabWal+1swtaEGrzWxTOcl8aDRD7y8S3G8ZU5uzqzxuUJbcnuqQbmB8hs/p3ndnq7
0JFdKsN/bIotPemlx/ve4JfmNVPoEU4zzwPpMPeuahfr2S9N8PJXQ+EBbrs8zb5DfzFsfNq0ie3u
U2NxX3RHbQ9Bu/anUhuGG7WqKUJzdeM08LXDUFrZEuHKmN5seHGUzXQW1xwZsJjuEfr0Q2fOMhx6
yz/r/jhmIZf1GoqyPyUbQY8fZt1yYTKlzQXLbvde5ttTaJOTJrEq/Bi+0BwNrU7jpNlrR7OU2mWc
+ntjyHi/xp66nnpuIrKKTjSJwiWMrBD+UPqXZ89pgTcCAzkv6pri5FIRbgb4f3daL+uiLV/OpM2J
43TqcegXmWi69COMxnqkTeayN+1CRJqtGWdb+sNpzebsPV0LL9JoD4uF7qo9LGpxlFX3RA2n2KPM
FOHsu+lhYxgSpuWY30rqlUh1KvWIkCiPk3TXH5XSBWXXlgazMWu/AH6pvVzm8T31vfEB6xZB3bSx
QqNbS96R+WAWdnbW69zc0ZoGqU6rpqObl5/pNklaefnD14+8cUm3ij/im1voMCKMl4WmgKolZAVE
odhpROQ5U7rzcVw887Jkmv1u5qZ7tv2pPU5KtiewiefJVFDxXGRDtixn16ixTuw+6OPOmebL6KbW
aZkccUmbTBwszTGTpW3UJ33Hamf0Vnd021zQNVeNSbANXx6/wh33RfOxm6c96MHspkjzOjHc1Trb
9Nr/KHUKmkKd++neLjTJQI4G5yhgLHTf1ng8rlfRH6aUSxmWPhnOAaTKEU3GuicnySA5Fb5+xPs4
GuGazvWrXToPjQYpQmm6+ahx+I21Puv2rk5inGLv8mHy9KdJOV5iVbmLekPWo5KztUeWIAlSWP5p
Rsd+C1bPIfBLtXXqLN+IGSwt0lLcVjVK2EVEublFr/JqT1ErcutJL1wd+/myKv6tj48DTy78TIJb
LF1+pMh677A7d3yAWu1CYyT4W6XTyZGqZiCafN3FcQrUVJHnolT7erO8hy51qXygfvr3vKVWf4Ms
nEswkhSojdKYQg+sIc/jfp1bA4H5MGd5abV26PpsO+n76KfKSO+lmsephebRC1fbZamWdyVd7w70
NwatE7pISSLaR3UR4xZafp5Z+vUXjqT9hNfD7IHJziMNz9GE82689SkeqX6Rd3HFp+mOa0H9QeoM
HwOZ3GOHrM2Ht6YZumwG4mvDR9kR4PWCOU/y3pH3fk/gH622fC6cuvQPmtwsfU+/oFvsgknRw1fP
JPZHv2oeuYc7cQ1q7JIH7rBTymndsK2Wde8M/ZYUwFLj2ZqQDbyWYYpXlKE99WMWDb6ljvRdTUdN
W+XNljnVaw2XtQjL1mu+Z1Nc2Z9Nll3N7k0s6trbW135gvpMDZ+teSdLMmdUTpFfNC/NP9uusl40
KgS03TA4I4L6PJzKeSuCqG03n0c/WN96OsKTqimq/TJvzq98Xe3INaV2SDfvcxYtp7jUMx4I7AYn
v3KHR29sWDb4gnxs8tEbj0EuMy3Em1hzPDNR3wv3qe19n0KDHGqCs2r+t7nIntz87L10TvVOa8jw
VHOuSTH25N5Db07WvrsuWjr+M8rVkcf25TA7w7ltegUONFXmE0DiCilGK2t6yq3auowYuT6WJXgy
qsy/bzn97t1sDFAusvy+yzVGRcvUQ7CtiJl3WMBAF7jKrT6Wya4uMnfNhAlce7HWdIxIJ8tDmXlQ
TbLJNBkz+OOzL92FshImDZm2mQS+KbQ7+vnYxJXTuWwY25cWwIYdJsMMndqu3wdwIbTFTgE4hIIS
DyYazTKHtTScNRnIfSCwloH14G6+/j5a3bQxHGjxqo3p5L7Nfmd/b5Xev7AzTnU0ENvgDRyL26zO
WMMXyzjmbm48Z6tvXhwKJV+rRuRfNPXBu0nHZnmZTL1LvKW6buXVnO3qVTMva1r2l8xd9Asxc3Eq
+BJBZGutfrNVm/tcG0N3tlcL6kDQF7YNVZdzDAPf7AWCU3qx8W9s+83ShqfJmM3D4CgnRRtcFj/i
rCH6j9QFwoopHvbNr6Wq/UdeKfMa2MB5w9iDisdWGuaX33WDc1Fdr1YK5/UlfetARJh3+QiPCWSB
61M+wHh9Hp+NqpHtBeYywy48XJThAi7pa1Y0bjB2ADe4yKdTUHXs56OinOViTDodimllYWlnGrMg
vaezV++9KSh80L9+kYJvnsqdK/otZGxJKqaXIqFz++hbHRsy9wKkvu6Nn6vdpfPU87J5ojKNDTDk
vNYeK2vubrRZW8/z6HwVOCYv0G+Dh75Dqq6KHgJPRYHNMDNCdUcHs5dHH2hp4HQcDC2NnTY/Z2Ab
Qi8r22TIZHWEFuEeHaf6gbz4MJrTlaPPpu+t0w9hckJvearjpWDwAIjXTVCU8988oNZTytId2cNs
/hjmJXsxuqA4wRIWB+l17oXFFKSH5hjbXrN0+dm7ROkWMVmfemt7w+2sN8v30tMpmthKWzOuSgvW
02nlOhgbpavyW07x7gfmA307zeifWmTnMAXujGHMy7dKrsuv1LDZ+uSi+2VSGe50bTAVvDJac8yk
m2bvY0RKrHfUtQQMBio5osJa5UJbNCHbIyY13g9NNlxht8ogkqLP68S8vECT52Dn0nOK7761dj4o
5ZG7V8ZH2Ks4mR2pAynsk7k4c3+3+mu3fNqpLcxdNo7iW7oKVMzSNTPAaYutBwSwV/k3Y7162Sd4
Blu7iIxmsQfNm3jrfFLESMWjxXLuuMRtN3R+LSRQRS9i00rhxTCmmUM41ph6D6UQGNjzuW/TB8Mp
PXGxJwA4cT+JDP19k7Oz0/ihfk0uNLVbn6ufG/mMzZz9OG29SIq8RMjaNAaasXYtGMuYXLkhniaP
fWDryibZUKIYfI7rmGj5+OrIvjwJ26Y4ZR0F1ViBfkf/p9zj07cTU+TqGwEq+xgnUFseYa83dPxt
125GfRBQvA95XbNherQ0hjQoBDXEiaX8WicBzaK2rDKx9dI8+0sd7DrdfS8V0zmqtrzqlAFHPKWz
ueycotrgkhRenNf8tbTumq/JrCgILjkWfFdycrvQNMtgV60VJBaigSrRHDX8XMutORE+El8tCgpr
oNNCeQbegrvIaEGZoKx0KziWLdt2gEHsXa5b7YHM1bp30UGow04b42AywXwg6yrOq5FOB08LzPtV
r6lbbzZj76XDq9es694rXWOnA3w+T03Pk7fV5o2/FuYlLXIP+0+r/PdAVv1uM/Xhy2q08VzqKtsv
JjmVqvDNn2Br1TlDo3lMV/pKQr3zmd+C5alDg90mHJkjMsnIUPFxmHJ/54HfO5XLm7LpPu+weIBn
y816scR5xgEdc70ujh44j2EnCju4GYY1j4UjnKcGu9rLkKbFse55Q+KKM83REd0VQ28ax3WlWr7E
tHHO5maOsT0XyUDEiino0FKjJoeLXvq+SITo2h+5/GPGoiHZBnd6X9bDaaBvzeEg6TBl0hyLxtq2
u8Z5C0PZAXfiEhH3T+P+fwv9CP0Icf+h4vg5/4vmyF/4U3O0nL9BA8R+j5KMfo2Y/A/NkeqMq6GV
QC0gIMNDyP4/Mr8GlBnmBd6rP6CMVJihYf5d59cMjzrMgOwOkjSogGu4+H/9z7/Ax/9sX09/Nfd/
Kvr/3DqB5/mvzipaXRD4yW1gc2KiQBDiarD/p3RHJZjnb9cGIObSwIaYhXfbTQ9FdS8K0bxmtT7T
xKc7846Lr+K87DvHDLfZvQxGN659szr3piqfXXqY90uhqVPH9hHXaQt7PTBYQF1I/enWY3SycXOc
aPtujmhndEcHeQRT7KzcGU9AZf4yA66eE9CKDQTcVu94cW3UNBNQ9plZlr60r/agr7yShVWns08l
370djYjd985SixOvbd0dtaCmMppy3lAr2mDPBnPWVUE3lKH91szgbWyKfbpR3ctQ/bjCWwrJaYdj
a2u7RXPbU8toPeQO0+y2QFEh0PvxWijx3HWf4IbDYpFOMpr5sk9tl+/fUbFbFfvAam4H/GB7wj/P
zDUPaVvH2bIlregSJqxxoNakId6F4FnQ7DP3fdhl2V1NyYLifBJn5pWQ715srXgR2g6WWGhXZXDH
UeIt44TTWUs0l5LSJztO3faDMd4QVoMLuNMyf+l9n/0gilTHOgf1ZHXAtFYtHNixKy0QSh6HLRFE
S+DvoO1UyVoVFspKVjzWKjvbjfxW8GnPBZrJThv7LKo7GwDKqH9bgw1gyfkJgOyU6dpDWz07zDKc
ao8r9hIMHI3Lef5UtGgeUN7TR99Qt13Rn9rhrS5OYg2KOO8JYOmWQy/z3BznwXjnE4Udxp/OZjA8
1mZ9A+x/DS0O4gdcafdbvf5SdPbFVl8fg2mZ6GdevtJ5TYqh6GJPFKd5ZOtVW/VTyvE7tZ27zeWz
hEsAvz2VmrnUBE6b+TfVRsRD7PpIEIP2oOsBgb1r39hjnixlyXbs5DuVL1fsKTGFsK1VfpfrKUJT
OpWnst9uzNqzD/U8yz2W2EflllQn0IiQcz4QQhaJ3va3GJ5A95XdtxiN77pharWuR6sYT7nn1qEI
OBAqyImhGEirtGl+PxbFr146D9AUf8OjG0N2M7gzhvxlKwtq3oIlD2Oa04LxrHv54tvDS5H3t2mr
P9kaf4KGa8BTq8EOgduAavmdJ7Jjs3WnzK2/+lFu+J9S93Oy1Zc9Te9TAGwuWnJG7TM2ukA9U+QY
W1jPDK3kqpOZUS6Gn+kAYsLTeOjdJwlK7b7DBBRaFomTUB+NJE/N7yKzzBOnZOqWlwAtmKq8mHva
qSucTybUO8WxQSF3bOsx2LpwkvdbeoaeGXl9H9fSpzIyEUUQqsD46a7OyaTHoh1PNGhvQOCmxUlj
THU+D38ZupJS9qo61upAEI3DlgI8IPbroj6Mq0F59g0Ky3gW5nKKF0u/qcs3q3+i1zBWAJdzuwpN
yWvnkY8KSMxw9bgIeO3b5Ls/MwZxRdigt/CHMHS2HWQXHV8jU/j2Yx7ma3Ze1Y1GQ4rAqxZiscr/
KDFxRnI+uBHWR58i8vU0IfZzBbRW6Xw7OWg0ubdZdbg515r07WOAPp99UPL5R84AFaB+0N3eru88
5P/uB2fOioGqtIU8BarjMhT2XtV6iVjNdY3GwRLFGadi4YYM/1Mz1nXb7FhSs4wXNaTWl2or/47u
Cqlig3Pmw4B1Sotg6LTHJW/qgD7VanKiIccgF/pD7meHrLOtt7IoFzOcV71Vh76z3O9UpxQDMYgy
1l2fTxOrM6TIwQpdlXYBeNOcmji4el0fobXlE6fgVaOyd2QMs9/YbzgXm+MStl2biiCsB0tX3OjK
5p4btbcTvfIPGdVhPyqOamIteeB9BxU/S6las6f6QrfbkRbx2FmH4h0DU/nZk8Sv8/IO1oV2aaDH
PTeChm7MPjmXRXd9sgwUJYdrzo+GIVl8NbxaAdwIOY8/A9vm5tUuFReZiUcHbxASDZrwktSmOmlV
Fpy6DX2q5/pdnAdnvuDiDQNK7Su3jdyRRXTqkynPd2kx8cY397PVA08MDoXF7x1WidaKasdKuyY0
wxsz1TICicjTqsuEyRAn0PAspSzgmwgQjHIXiNa7mSf+x9j/2uwy8dBNw9nNkkp6yazQ3ehhjhcO
d7ROFXtYmWFnUUJcavOwm5FLTlpWEimaD9Y4OR8e6mJoLta1UgUg0sZTdOQU/epmTaSISUS2PPVb
G89FJ5BIeCTNLnt0pbj4bUrHbPmE+R8GIxHe53TNqptlpavV1LkRpcsDY6rqaJfluVLFgPC0oCw6
glIk+ln4bSICjS3Yh/6XKMvfDLqNkMS1TLJpbWMjKMrESlfSsXT8qdJZwqVdd0yPfjJHKne+yKr7
uVr3+DN/q1G7AfKFb6iPC6Xf+tkPy157jKXyXPXt/QDBEPMojOMxXGV+GNM7gHho+n4AyXi5QeR6
xJImQs4XU6xUxaZDyGVoiwOkisTT1W99He49qyrvar5xvNjboWfksgPweTM5462nroPKIlidcHQb
+RzYy6eY70TBzNDJKRagXGjPJT4KthuEpXisp3jiuMRW6k8/G2d4tfNcRi3YqOOwwMLUKpw62WIh
k9fMGNfuZfC4bWbTdotKnri6Sm9cC6lQmveDk15dqbijtKW6rxyISZOdP2/ZJ2zXHXfp/bTNR/w9
BkgvGqfa9iSW/AfAaViW4Fabmu2lG4OjMeRnv7HXncc7QP3TY+/UrMcH12NdXvQKP1yTRrJ1g7NW
ZL89a8Mvq32Vqkl8ZH2zNXYzxUhkQSLIUCiMHR8ALqbFoZDra2t2+7VJ41Q3ktSrfqRCXdomSzo6
i1PdC1et/pVf5c6q2hHORO3ku8qmeKOFJ3EdnkVR3xVlz2Oop/7ep+nhaDnLweqaZO2X/ZwFXwNX
Tlve0/iZkTdruy7U1uvogsU4eO5xakPq5HzzMl1rYXX3MMxvndUnmIfL17HV2QXvgk0PDhUFSwCu
EpN5zaIFVAv1OEDdN737nCrtOygytv4brGz6L1k1Z7MwI7sXobMMcSmCwyi1l6uAtktzzzzUhV+9
tnPwZsx6+cQzianTY5drwBw0jn5IS/e3m1s7hs+PdRfMrL4Se5hlLlGdMV/J+m69Dreb0GnfNPAf
kSOMnb/O9cFpbMEZuo5TxVLor5jK8B722m2VW/zIH266M4tzLx8qiZ2LPtywlxtKhdzS+7lt3hxf
3o5Q+mOHxl4+al6YZqYOKmM8T4wze735JKpybgf/NihI7HWyVeGSq6SA5UdvM3FlgOCsYLtS9Xv6
H7b3WU41O+1HS7FZnHZGugvmaTd6B0yBMpr0W3vAgUOhp5+AOBcv+SySQCZtvbxvlftQGhDFtMb+
EXRfE/PN0cwSOqaG3Sq8BxJ2c6xbOitDj6XVxlMwwN3Z0+PkxdgVI+kwE8r5/Kxm6DbuLRnBQxps
fSwdveNMVKkXCpKZEOiuvX23DPprVq91urGWCVxth3oJs3SODVMrLoiIZdy19rNSbDFGS0gAf+yP
zey331LyNUd8q4aVXXI+Qzs13qNbv2wr09o8OHlbdyy5nIfMWSJlMH7pZJyv6Y0FR2Vq3T0G/9iB
cOzYJZC4ytMettUdwgC/4muZbc/V1dyPftiBrdvVQo1Rg29eSONNE+5ZeYIhz3RUg4pLX0NA8IIb
f8luchkAHiFFXPtvY7V8t32OJvwQoEIKKa+by3u3GHFW+TsxjrvcZ3uahXKfHaPWks3FytjbWJ9T
xRy2ORv5djHzFMbzRMGwErSHjfVucvQnMlR31dztF1HHG4HjkNkbvGWdBoKWHBOjIX7w9MoMdbz7
lpFqhl4crMP3VDVuwu0BXPPQRp2bJn2f45Bq5mhCcAh7x6VIYSrWxPCXF+s6Zm4qH2llKJ4DNtms
Kg7KFEfE3xcOgqexqZq96O1rF+B6kjOzZ+ONGGQQ6Zlj3jE++HakdppZv0RdfQU1wYOxFBCJ5W5w
HthWnh3+EnUp846Q6BAqZdsIolM4g9U+tcv4hrMhcuV4u7VGHjnK+D0r+Std9P2Y5q9jMN6MGUbJ
2pDvuHAu9jrxbAfJyq/FFclQrpw4PoS3l4o7gc3xtsld9ld9NxD4iXIud7uyrN+6ZgxeGYgPN/Az
ExrZlqgrR2zS+t0m2ZGRa9ewzbkTptb85rbWR13aRuwF8hY6/2e3yZ2qq5esW9Yor65uD+PnOAQU
JXQedru7DuwW7oOkU50e6VoXz61973uZeiI8ss8VAOHN5HTaeu1D2V3H3B7DEDn/Tjei/6MwG5YI
XGuMZLtQD1ixgnHadYv5iYSGI3u1forMVWHjZE6klgo7wFLvGTPFlhj2bt2Arfa5fFjeVJ3BZ3JK
tD9tr2YdCRjppM765G/WF0PDZ673ho2Q7JHdEsF+GMd9VXYAgAtmqU36OI+oaMJ8nPN0N9Hz6mDN
aEbrZ92rBGfRkyva95aDO4I6RyXuSDgSOv8clPZeDeWLaG7qvnrAyIjN3PEod8SuayMEM2Vps68R
/ICc3xCIPWYQHWObzc0/isJXO9sQS4Otp3tkkjFyU7gfvSD7TjOpA1mXZUb18bhdcjsHwa03tXHk
E6U1uyEf+QVzIAmzZraO2SSC3Sp987k3zPZeZyJ9A9BnCDvcOlGpy/GtqsERwg7Rj6WHl1utXJ7F
tl26iiOu3cIQxvzf7DnPZ9yo+QBLM6UU0Zv7w7aNPXuFvp8D/UvYGXRhXU+NI8BsAONOtyQYssqD
msSHBun3xdCUxoUuNb/KpezeenopDvjoJ9oI6YCsReuHWC37o42b454rrPGAl2lGR3SdRHRTxntf
ddY+y3zrxSLmNEfEILoi1NBEH51N5A7fv+GaoyE0PQu2MlzsxB3J1NhAD1KTZb6cwMwLkiVsGm7R
3LC1FN3ByzeGoFeZg47skaBJZtzVrphPjI5ktdfnYv1J/5EXKYT9IytQc0z7bD1OxM1O21Bz9xhs
DCoqRTCQ5n7Vg3GnZ97yVgRbdXQKc3nvW28BjU/+Lh55mY8uVaO/BeepWFL5fqgpgUx0kCl3i6jW
n4UTcOnVK8g8TV22UU+jQhB5Obeghp+suSnylK6Dpt0OA90SIB5SxsB8Hj6ZSrmHwFmLLxbyE0Oc
bNdtk55g8QMpwE61/KIgqH0fpskJIrNwLRwCwxotNHjeWNait2EDLj0B0S8TvbPNuOKq3uew9Wkr
hDoF6Zv7b4eZn/2wCjOidHtML86lquGV6KnWRqMx0j4+eZPDGBKpsGUpca0nRBhRRMXm3Lrm4H0t
ZpU/61XB+wXjIT8EeqvtW1MXz9Oc0VSet9YNGn5xLWA/42wounBzdaY3xBrpgdSb4cGzW/0jdbLx
R+ahnYdqGLYHj7QL9Z9zVX6lJIE8akZo5jQ53SZeN7gFbiAr6WgtuAbbpfOz1suJjsnOmmkqF0Nx
7Bypzqroi5OjNflNzvHofSjm9Ygr0WE+JFMFij5wtagxTXGy+K7h5kO03peNcjiuN531xv2JknON
TUbo3lGC6h7EdnQClxENn4FaBY/L2HyaQh06JU5zodIDHoYJ54FBYGbA+lYdBzHg4l37EQWg8Rrf
j6B4rOdWFiwjYmL3D0ka0rqa1cHBl/MUc5Gfnl2NgnQFcEWGHvf6OnYHz+HuUYt9MGh6RNawPWBE
JX2W4zt7bOY6O+i8K6tD22PLM3AoxJCWZNZGLjvprImDxvfZK7814qrPiFj63vzpD83bNAXGvaYv
NueA+lxa8wWoRB2aRTnERRDkD5i3vItme4+NXZHaIaq59NNhsLZhTJqum9ID5grvsnhDV9Gk14/X
eR1mMEpU6N7NhmMl896OLPgNXqi1Sp473XTK3VCwpBKuUYd2sb8cgdUJlchfLqlDdi5cy8q94YSM
RXLVUFsry6yLUE5DdzLapsP4OIiDqwIY5hYTn5+luaF5YuZL+Y2SfI3GGuuhzlHbNLlLcRgZpx9Z
W611iGViY/XDhRlq5tKJmOQlhOGuVi8YU9s19Pi6J5GqfCc1r7zZPHtKcjM9DtAXCTTp4/9m7zy2
60ayLPovNUeuiIAf9OR5ko+eFM0Ei6JEeO/j63tDUnWJzGxpaV7DZEoCAQQi7j33mPNRVd4WLYu6
My29lB7aG05GS8IvNd1gPkUbipYnSaGJkkuAkTnZUEdVBaphC5H+jkANqlKmqRJQpetOAGXg3tIG
Fr3YDmGPhMgd+s+y7uNNC7t2lThOBUWw3PrOsDMic9/X45GBznijcIdnummK6ZXZi1jZaKGgj82p
jQk/srB1wiF+QntVf2XqF+201yYZv0XYrLPYjs6nPJrOUNICl2DoPpBn25fhqTOXV2gLKoqfPGyu
4Rio55AezF/VPRJmekiLry1BTEqS7ypJm+FSueEnq6/voSoCLHbMMgeJ3bChnE2ty7VZ0tADdxAD
QRjwqpQNq9u87dReE2HzRCx9eSSsiVAIN2MQS5IG6sNnUxrRYcyaJydPruTU3Q2BfGMbWY88SspS
+nDjYsCDn8KiBK2xxk0t2kdvdvkjc/DYMVrdOpk3ov9KWEultxGlA68NtSYlm52FekmIzo+1+wQR
4BYkSe6DprZWfmZejZM7r8RY7sn7WLdpaRyYxX5qa0IBQm111+BMV0hvdjHYaiLuTC3dY2mnnyf2
P9I0wHsN26qZExv1tWEAprc28iUN2RTKGsXJwJfkGfiyueB10TzuIhWo54BcGKKlLAcLtcG9J657
C2NonfbibgafX00eTFaicdGb5q+ZpS6EVVa44hf9pvdwpLOTGaa1KF9t1krFrrxB0nQp0gGhaR1A
ojM3ozveZo7V7Rdb3puhFx6uVNOxTtUDtKvXtnNeuuSejPK1CMptrAdzn7kPZcYEgtEhmFOX406X
wiiT9guiVB5i7N6j14JZmI8rAwAAYdMaFFGvaiEBU5J2VXXjBoLM2g7LqwGUb2gryHPVllvd2ewI
AdOXvBM7+uZP0+xyrudwy4I6gYdQwNRMphzA1bpx64KAz6K5G/v+MvBhVdJAH0eEtbGgX4gzJbbx
nH2NWjRkXufeDKJODuj73CN4w6H0whjJFEWe55k7MnKCK3IFk5X0m6+I4nNYPGVxBUB8g1/xvHIQ
lrNE7FvMAU/nCnC7jl1/2wlJlzwemOlYj3050BVUnzIn2tEX1ZvOy7+OcTJCAaq6DSdTIi5RZBn3
pvKKk9EPnHxvOsYTyMFZX4BVS3KMPdWvtTtNBzG01/Vcfqn6PsahdqREK/O3loRo8JW3qZAPeBsn
6GcwBLSsBMJpaMf7xovSHYjK/RiDmouwvg4FMl/gZ31uxEG9y0ciFawsr9au4/YbKL3Hcp6enSw7
8UPc8DlX2tWYl3eg8caqzcVp4MTdvpksa93OLcMjhhknNr4rpdXW7koFdnle9o658VNno1uEYmYg
NkLWPLlgXQ6KnCOZ2WA50+NspyFRJP4xhd18brSCBArDG6+nXuIQLuhiI3/ezbq0tnQGZIv1Xcod
ao8zFx1rnV0HVewRqazuiAPBxwnjiOfejsaDGIVzYRYhSRu+PyeX+KsmqwG3wBVD+gZZ3Bevae0T
baTt7ayH9ImDfDory+izNoL4ydKhdxHAosDiC9aq4dCe1Mt4JCG9oqrR258GdRps48CLUbDCuTdT
k2/Ca+cjNozGzjTVxsrKY9DDWNPVlpSvl6kGsAP2MICkGIz55nze2XI1TuNXxb5cZ+ljxBwGyj48
ITJQNCgOO1qAt0MptlHU2+fK4TuFdrRtrfQLDhW7ApmvpMxbIbfYZWZ6Xzedc4Jt8dqSANUyNbej
YfCSFDU1fVxg3sM3h0wbdS14dPcGF+kRtl509N1kM0PDW+UNhwoVxsrEMHivcEHorOS0QNzYShtU
my0a0jd+DXp4tmtIXEMACRTh+r0ezdfBjc8gmp7KxD0kGQbsKXUVvohO2R7wEVnZaVAfY0ziYAdJ
3AN9SB4ISCooWYHeMNKYV/jklWsR+2xqCTcJdlVWx7rXJ6r1MqrW3j5I/1gg8T9YVZaepsGSu15Z
JJRU6d0c5A+GOb0xxeJ29aVDhD1b+1IhRI8+AFPfZ9PGzBtK/VHcQpK/nxoDnVURnVg1alJYEEEh
z+3G2ScMsVZM/c5iazzlYISVHpN+ucw1dx00h00CS0y7TDeSlMDhWPhnmUTArLT90OqOlTOSPOhN
tjxlHHJnwJkf+qpd10b9BDfI2iAtsc5T7mRXOhUJVQu7w7Op28xPZfLUjm91y7DDYOlHUkMM0bH9
tYMx1XTTqnGtRdcrGWAVAL6W6d+TPZOf2hUfrAovzEHflXH8UormSUyMFaAobnuYz2N4UQ8Zr7V2
5pXOImsH29/b+HSYvjRWyuyNVUB5RtkQyi3i55XdyuuhRl6R8xySGJpK2K+AqAh7EGddaOWHqmN3
0B5QQ1rCTIdHvcIOYWvL3UiOepvog58vrjj4AMD4QYZB23+RT7ncZLZk0hVPp5NpWvsI5du9m4Iv
j1pGyI3c9hLF3mvPtGNojf0y4hwMMjocFUSbOpII2Sv9bCflNWr4MZ22Oa6nG51ZNDBZeVfzFI46
lWzg0rmTKb/fnHDkafxaU9kxTvtUsu7sQbw54jUZmvFzx/xwZ7spF78SDmZqbRn4FySQXMNIXOPu
cJl8M6Co8k+pCswVBBcq7uEWbwXInuhcfb9/QUo+J6vMHz+ZALJJ7QFSd861UOFBdy5ioHIPpspQ
I7KYkHO0T+zjQt4IJ15je5GuCHS9J9qoXEHCfnP0DpMDhVNGjbShiEKsKBIUfx6TRRVe65xh4wQZ
sQ71TUAJYomIuTMjkjB/C7EJBdEmdgnJ8d7GDenAUXNZs8m7VbFH97Gpe1IT/SlcF0lwFo75mVnn
tJ/a6THhyw/Yo5z4FWd1CtnnlQMlXJNRVu0Ko92XMeh6W5bNxlc1+AxjPBHkuCCMIMN9qW/ohWA1
M5QLSnhHXYOcpcyyYaXc8Q4EGLirrw5IvOE8faHwP+SRcV6geVyhs/yC/cq5kzUPhGvy6Zk+ihRE
M4gjWMmpZEPGqmBDgPCxoCjMHzJ8T2TAIMX0wNScPv6Uy2xnamK8404GN15avY5mdtOOfGXCESeW
0wE+xmc+AVGJDB9Tlwl+Jau3vISOMBsQ6zlC1lLEy6hsBvS3w3mlhvg8j+TnPnVKzIYJF5OtdSbC
vt9kJlyGgTyyYpyfHZE3D7Huhv1oAP65gEJwet1DNxtPE+byRVQD0dnjBh7IuG4SaLpuemrlX7Ik
uOhId/bniNNxuossUurEeFuS/tyo7g2sk3mmCPiwgvl+9JIYTl5xNdOsjg0ANZqTdDBoh7z6zOu6
M1X1V4V+CoVeV14OdwA/k8y9BrYj/MlCehZvF2aMYi0GZrOfJOBd6c7szq23M7PxJOvYk8y53eRD
fNENWP8MA//hdRctNLqSoBzoCpeMB06qRO7Qnb0aNft+iEVlMYjjkmbl1/jGtteDaqkzoXQgZ740
i3ozmJ9y1Lwhgz/fui3c8rSbxWkULaWANQa4ucFZxC7EKzgRPePRwKloRZN11roj7J95L03ysWR7
hAS845Ql9qlvT6RSCFYOwsspIll7sbfv5uh1JjauI0tOwG3PeHyCPS4L3bsWLD8tiZrrLXuHE/Ka
GeKNgqUbzcTmpOE2wrZlsKN6wwEZvZkhu+zimzE56Qk9/qrJna3WUJrCLjxpnPm8lTFfFvlmdRo+
CGM4TSXQSn5NuTnuEqbEEy4fqxxvwabAIAitIUxBMYTbCvcaQy/MRHqLRjI2UGd9Y51Uju4gc5qg
uHkHzG7vctXkm7IV0doe4kOhYQKQb+u1ei+D9jRH64GLxirI8hc7sx4Gd74Ec8s2E9i+U5wNTX0o
fA4vu46ujbYIsBUR87RFmAZOn1TzVxXQOgWz9QYDcZ1pHpRd3Qg/vdX2qV90mzlTt3ExXIwMTdjY
Gzqqqt1OftxtkzSFFlHuGTViqzkY9NEeK3vmfNwWdXphZrW+bylP2SAjAFfgFIi1p/ZcbL0eraCW
+rWlcIqb9NbP9K3Xjoe495iT5/55or36WAt0RFCS9GU5TGeT0pQ6wZefWHX/QFWTi8XXdwbbyZf/
+dc3ohpprwtOitOrQJ7+nqhW+YMOUpLe2bpc+3LGxQADp6JPvxRukz3U0wiQGsP2PU5DNVABRvgb
bceMUe/2N7/JB3W84y7MO+TxGK/i4Ivv5vvfJEbN4uSdLFaWstsXPwt40xJMEPVPXqQ3dW4YX4Dt
vbusL9tbrzORg3tj220M7aRfv/0y/+VdwrtEIP0L3iXZfa+v5XuxN3/jh8OCXGTbDnJq7I4webYX
F/ofDgsLhVLgbufxBmHyektuxQ+HhW98TRBwH9+BH8FnP4iXSvyFFwAcCAxoPYUd3h+JvbHdf7+a
XYwcJEop0wGcZTl9zGXwtB8axRy+NHB09FkOVTm/qKxkho1c9HV9AqyKvTY7GJrFTTeZJB0tilu/
NRSFXWJnSFdiVYCy9GZY9DM4SNdUwTFVwoGjIxoTgx2LI+8NHZJOaTGAt7u7ZDSRr8DXMpk3n2Cp
OeEaS/Cg26PHqlu/fggVHG7T2gQSj4Nmg93rRIWB3aCY4EEq3Lh77w6vnBIVZORHoivO4Uiobtj1
EHX62yZK+uwKfU1vP5qWnaltVbL7XJHKCpQN71X4L0jY8+TUsiO85VCbTw7K9Kl0qebCNNthlSfE
aahaY6GqdKLeompu3ohuXagmlhqaWxsroerG70fRXVZOnj0ZNX3aiTsqxkYiH0QJM9UJX5J87GsE
q6SELv54iQvHzpuopDVWUPy8oS3sjLrd2C32Y0xfZ3dl914x7AqlvPISXzlRQwusEnfnW3NqHLqG
3NLrMjGLZu0NNRTYqOnsah/btX1oMYj31x2a8oqQ2d7BTSdLjYhd3k4fyR2az81ACogRCCjfKkQp
/asF1b24qOCGyTMZt+Gd0ZoOZbFnBq8YX7fJ3pziarwHLIp9eC0hdoLpNhaejl9yEZnWKb1T5n0F
E42SRx8+S3PpVii/z0AoTIcOo8SZL2JQYJ7mlCTX5OFW3s7ymulzDpE/3HZFAKkngR58Y5Q2I1VL
DhaoWEamJrDSEuRQocJYOFPoJNZxLSmxNIXqs13Exa3O29DcNFM43HV8aincgcGjWmhC98pV37ZG
y1niD7x0Mjf8LzzbwpLwL+Q5EA1TMQy3sUlnROdW2GKdRqK5bNwR7c6KCfVIbhKCubZC6VWA1KwD
bKTov+q6LPZFPOO8JWKEap2qUaelIlZMI0H/9HlXeHTDWvAxr9DSSnsbxYWfXqA8qtLdILP5vupF
dR650IxPsbie9ApGRxxeui0TuE3oFSjYusqRz6R+4PuqGe69iaHyzL1oLT4YUaOuPM9wVLU2cyey
mxwjR+9kHGHf7wcgLthHoTWTC2HF6GezOLE3jH+zm8wdiV8dAsQMqzBujBJhrqVh5jAp0HQmaQDZ
2Z8ESrC2a5hH2ZyyZN9ULi0XmmTv0AeVfIobakteVInbGTy/oDZP2oaU0w02bAOvTTGpaGmw+yRA
ZjMYDYzVLKL+mqw6PhnBcHCLa/R4zwgqypltqfQ6ilB+bhBlkRSPZGNC6tyD664iSKwhsroJrXSW
Z8YRI1CKb8+rp4ayKoY6LhHrEGLrza23Bpaj/qpLV96x3Ya3HNRYMAVeD9VKBcFo3aUA4eM+7pnY
X8SG6IFrg0VsomHCqrViIAUbxIjs6HGA/Yu4Y6zSmPVI5uBG06m+8JTH8WoqHes66TrMs8ZRGcat
XzMC5saNbV8U3oskV7w6scbccnjgOZPnhCQpdx03GNRtQzy6zd1QmA6Rz30R0+dUMtVQSdupaA6Y
LAztLnY7+hbVoUcl/R1mvNro3FPVs8rL4oxYJMu8UtVIaFSLg5K9sqYOsmU9GfGLbmz7Oh9cdnI1
OVBnSl2N9KgwSN9cLIQPA7t89ZD3I0wxDw85bx/Xli2PaVfgtWdiORfu+175j3MQlHcWHVh2kYxG
NR3J9tR667jD4K6x6/GYHKGMYsHnwvXX8ZCgoF35Tj9HF+NQWeqcEtcl8KWtHPWpr1z3xbPatH9o
wbe6ncmjIZt3itL01g4mH86RIcz4MDrIGE+syZmGHf7fRnlRTCXxxzgtMJguEic5jaDkE3uB0Ogz
DgUQk/x0dMstFo2peSnyaOTdGVVbbhozzaONNbuGYlvSGgpr30FtbfFJtb7Wc2QxLoRep1EADDIN
JyJm4ROA74ooreerKIGx7a4DWKM9iIOG28T3qWcX9qqKAyYtqybqqe7xUwihtKckLXRrnTKZO9oJ
IcyfEX0FoYmzXtMAuMxZM5prw87D6ovqJnjjs2hL65WhtbjHFWMG65rtIQmmtW/kARvLAKzpXjZh
P4P1jBmkRTetO7EZQaaiQzIXbQhox4a+ToYk768GDOLnPUUp5+PGaoY+CVcgUvBsqEySYSawLVU3
ueORxlgpZLrbCdxg8dqbbH2RtBEsTishI3k1u1Yf7sue84ysGVNdW17sjtMqzc06xOjF0HJvQ+BG
OQygYjNl9qJ+T1Smlz6mJU7+CfHfSTyoNWQuWiFsFSPc/dZ+kkfd13hxojxrU5Ic3G0ZVFNW7ALb
8LoXT+fFBMuNL6zAkyO2vGIFiU0Vn5IsmUBVc+05EU6kvNzqJEskflF0TaRUT1uGZtF8XkyBS8hF
RJL6mdX2rXfaGvPo7C2Vx7w4HTXCmtduPvXT1uKUazFmCwLP2oIOL9E4pZBVnzLBx2QtW7mmnOwe
5LmQwx534mlGldqjRSNqOw3Zm9Tsu9E58c6G81x39tyeD1JU/eVYNEBfuDXFQfNQKbOyj8TwKLUg
BoTsRJh+pFdel5bFxq9HF1cppyn1cFU5hTHf1UEjhqeuXLLHV0ZTaxjyGJzHJ7MKaxwqkDw2zY0d
uDRdNN+h+VY2EEfOMEs1iq1lN1nwFPh2WW/RLbt3Ukn/nAfn6o12reJz5fYLW0TXUzI8j3ZL4ngR
BeG8ICGOdRpTDYCkRk00vKREx3+uiy6oDllJTuJxcviMTwKRjPG2wHp0vErzCiwLSqzrMFEpi+hs
Dk0rPw3A8osDvHPdPSI45k4twZz9YcoT+7bJ++LJUdiR3Tu5JFqi8ObG2ldaVPEhhM0xYEVYDDVb
isrERg1wlE+YiMTGXZZl5Xgz+rhtG3y/5LsfPCsi3X3oIskvhW3LDfBIMH7vw/7b+vxLLs5u/3/r
c/z6+aUoi3etz/I3fmjOnL/wj/t3t0NHQ5lo21gnO7iuk5Hyn2bH+ov0G6EEuXA4eLgOsrUf3Y5p
/sW3Tn6lhc+4oPj4I5WZtBdv8v/07ovOzcNPG5MVvK1M1Gv8sj+LzBpAqhKNlASigdAOfzUNvzCv
HrDCdb30XBjMkl2+wKccNeeec6qBwkO5Da+9cbxtloTlF+i2ciEWZtl93I3B59RXrrVpcOy6CgLM
EddFYYAd50VePIcpTBWVNTC8RGqkR3xFUsyuUKXguNhKDCRmQ1O4JM3gEf2MHQijUkeO1Ubg3/OW
1b59X2R+cpfgwXQXFAPIaKEN97Z0R8DQEiOYY86pfYfsJL4whn7GyWiIw2PfyM7ZYXIEHG46IIzS
mBA/DFgnPHbYNQfwqRsftojdhxdRq91l0Nc69z0ifm/TGLjq7nXVV9WZHKZgS2cFGSICOk8ZRPTY
SjTzmD6FMWSKsUmTDSNI6nVLNdvagJO8GlBKY8RU+yHlXziKZ0vP5jn2SeWDGcmLzCZaeGtYCbZb
SNnnHU6aLiBQ34U7FZUgFHBswJlwCAP/xsFQriw+fRhqEy1ZBZmbaazKo2ebVFo8DmD14HXfy85A
oVTDaSCFJjPXMizgNvLT+qWwaM1IjsKpfx3JbLwdYARctK0tLk2BYRY3N0MKoYZNUqTt1dxsolmK
YO+2o30Tt8X8jNI19/e09KTdo7ZO4NYB6G6RGyN8DsM+vLIAAUhblS5GqnFajRiDuGb0BPknQGHs
tJA2KFx9GMWeU0IpcvP6AIFKvbKFpnuhfSavsy/Tt1whCYqjLKlPddNmcp0WhvOV57XwZuoeTwC/
juha3DmHDjgZcI79Pv/czC28KkckjBatiQkn5M7Qz3dNbEUJ0wim5RBo0+Y6RsdCzUIA8jJx9fA4
M3X9tjTjGHYObgeDwE7bO6vS+S0cC4zmKcrRMDkmU85G297jNI82TOi2F833MI3/bqf/Ynv71XZ6
/tI3cfdSxC/vdtTlL/0Ak6y/8NQ0gWyAaqCGkQ/w7+110eMKxxPsbUvOFkEkaHV/gEnK/QtSAluL
5Xs+9HHnPzJeaf0FWY4fE91DmvmyK/+BivcjlkSINxfxPJhtxHgQ0/N+d1VO55dDHz/H3ogu352C
VT9NYv3TM/kH/HUBNf+zheNHuFxk2cQBAgDWrA/wq5XnLhyB8JnGPDoUc+dDrTCMU1GNzm98P//x
drAyhZFI8gAhi+9vJ7SJlPVn/0nOWVqt5OgPNx1xV+nm1zf098sA/hGeRcKFcnhzHy7TjwD1eMc/
jgLB8haz+P5uYlv7XebmcrS9f25chsPVR/bGMfwxdEqBKNAkm486ootO7MB8CL0Etkqv5MaPjG7H
aKdeDzkMDxIZfxdev7yVj1e3TZJJTA5fH8Dx/bNMWYXMK8QjNlLBxpR5hxIBFiL9B+Cak+ZqUxHu
cDEbcf2bJL9vHrF/vzQLBa06icceq//nM7+MyYRqpH6sVQhPaWJWHazBpCT8FlztADhwfUKDRP7p
S2cWkGAdOoVsV9oQV7elV43Vb9bV31fwIn9fSlhWsSLr6f0v5MxxlelKPfZJZG2xrLyrK4MJMlzq
P76QD9Foya12WFzmRyNPGB4RpiPmI0LDehf0dr1FA4Ex9RSGJ79ew4DWH18wPgAeP6aTpIDz3A/B
KIVjcO7X0QXHfJitZywtGeYHEx+OV1Y5+t0RO3LCBIjgU1h/nLp+CH9PODlsnnZ2sPZiWA4JqO3G
aNoUi7UQ/Rrz6b5xzJcc+I2JmOwaYhILOF0bRxP/vR2+2RgNs1beSjUx6k1DIH5iUl2g/yIcDDOk
RtNarqB8y1cAdQv23aABnyx8yBQjwzTsVgbJOfmqqJH17jFGNknbMKU+92zdH2Ot52mHBs5DdF33
1YuXW6Z13hqYEl57vhE9YMWlyWiBSVoeULb44N3f7KdSaQ4YXjh9Dbo1ehOUZh+hpUH0160zYOS+
VopKY1uBqXTr/Js7lsjy8gves4m9zch3GU4Caqq7eYAut3KqBv1HluaGSzxX2J5UQRWJtYZ4jK6j
Wcy+bA2TO8RbfYGRAgZ3gz3Nw52LV795pgsH8kGexsNzZBTRF8IJbW8VNLFKQaK/GZShQBTh557J
/I0ebKO7GL45mU1TQ3e9ls5k8GD31EsRZKdOmXieoYRdHNAIXDWNaxheLVwVJA1Fi8EH2pBap1fB
D/O03MgyH6kU4o1OGrg4Vw1Oa1Y1FujLsKjB+++pqoiGNK+Vtr7NpEc7b28SPlEgFsoQhEq3RKaU
3bSHBtugCjT7tEOTCcpTix3UvEHhzpbaUWV7iEO+jwfy2dWdd5dnYU2yCINUAfqNEWXMy18DyC7z
BQMSyDJucFTo1g/BMJgAq7Hl9swlMmzJmVIMleMxs+gpR7u77Ps0w1wmG/rbkCP5PvEYvs8/hu/T
EFth9gWYbFZmk+ydZLYXslMuKLDv26hJSsTFARGk9qqsK5hDlsmlYmItoJOd+HULZbnvapFfRL5I
xdkwBI7YI9xt3sa5HHEvNBvv3I+csDopZe49mM1A9lhnOdnXJCtV+EbkbW9dtLjgRKumRu17qcLB
uOw8Qlr3uB4a0afZi1S9ll4h1N5tplxfBaU9XHNO2OElcxlDr7CoS56mskvc/dAIz8Y41NKSh6FG
KvpIAY3sI+145rEjNMKB+uo3UKRsxgBk5oSSMAVoDY8OU6F6leu2iLdSY4Ox7jC5V3sD8mz1OYzS
CVVPaE6aSYUj+aMW7GwcQZj1hI8EMAwNpEWG0vfz2A3mHQhdEFzGXQ8s6s14gzwyt7LNO4JbRPTF
z2EyvbaQ/WEmgJFJKl67z1X5UJfSB5Sc+NwZHIvaQcsedInfIZKGrGqiKaSxw0unbYbkHviuQTgT
NxHclNksSStZleUi4jcE47mj0YaMraOIkJJCJs7VTCI4E2vHgDNejEN23doOfpoSwqlPA8Z8AJuD
wYJ3mrQQtee+UkdmIYgoK9lk15LhxlXfIMrCoLMN/U2XVTEBkfj1wBiyY/nW1zzQHblGkbcuCBTL
YLUvgh4hJQap+ThE5zk7S7ueCdGI9yQ4c9rGsKrSPeBvcB1ig/WpxfpWrKfC5nMhKyJgkJ87HENI
KiElFTDc7oLQte9LA7L7xgpzyCZ+qZtxNyRO7OyUgUPvShV9XKwDUjEwuXTjp3Zmrsc2n0xX0ops
IM7SSGMIIwFUlrgIB4iWhZ1fjiZ0CtzyYvsTGYPhs9f10Avt1AieBNS+V5C0gSpohMDkRir5GhGH
IddRG7fPjiHEeVVDXaexixnO9H0nou2IVvUJO6GcUaGd0M7id4QHuitL/9n2QdQ3hdUUZ5B+OmeN
E2r70I4YlcyenX+O1FiNnB9F/bnLS2NCmYc5SDUVZbyPHDWCNUu0PalhiX7nYXA3bBJTx59tN7ch
wM0ZeqfeZMhnTA54F160a7QH8a1kXvQcTdK674UxvrJDIY3EhNL3NhxzEmsQt1FMtfB/wBxGaHxi
dOS+TeHkMX/gMgCMNUYfm0o04K2Ml/Byn7te3GhygScu0sC6rJyacVVs64zefAykseOmUQzk2k87
LA0kg64Ke46RL5EYJYy9FKZQBZ4hyOPDdLzAu26E1a+c+Wq2LfXWx2l3bI0B2jdvYMS4MAZtLdJe
Zed8OsFFiVFPvXEsL9DrwtcTphwG6OPG85qoZ3CC8ntV4gb9auLGRjc9TEzVJp2Gr3PiYpfc+ZGJ
D91ssBcqmOUI3We7vMjgkKPB1WP1uQF8pCWXA++lI1zuhXiTWm5KhzJjZ84FRFMQ8AIbLQGzHII9
pi17/nQDqc1rh3Sb5mV/jFIbyCCneU92tRGkj3wyhdyPQYExN5guM5IGr0c6dlXZN+Y3q8FvddF/
e1l6WSrA/x8aPC/1S/45rvuv73tZ/tL3XtYS9LJosmlaoUCYwqIK/s6LMMVf2KRK+i7ox9Kh1fu/
TtaQ4i/LFYvVPYQFDL1N/r1/O1Ip5y8PwZQS0jeJxrasP2JGvC/S+WdIHRREP5gExtOdfYw2F1Rg
RmizbzMQN6B6l/Yx773kunZaPoafHs0/tLRLX/yfDuX7tSTgJPEbsDrEt/yHn6yvmJESQpWx1D1/
CFAxNN5Axhxqr1c4psOZyQj6dz3I+6bz2yW9Jb0R9pApeANLOf/TJalmoYIthqeGM3aw7WZji4A6
/k1b8A835tHRKjo/5ZrqG5Xqp6tkrmnVweI5GYU+PGrXBnxzKB96xCuFZ1MgFEXxR/jA9zsjxdln
p7KYPX5MIl58dBgkLtlTPZggY+8cpjxo3bDqXEZXf/zmgFSW+Hbp8xCXRfzzY0wCNlFFBiPeXEWF
sMC3v6A6rw+1MVSnfdxApfv1BZf38vNSMW2X5BWwGptlwvfzAcBmQYqhxN11hW7yTLQz8qGgOoPj
8qlNbP+YF4yQ6nb764t+XCzLRenouKLFNe3FPO7nu4w6FMrOwkTGsokhaE4aZJuV2W8Wy9+vAo1N
uJbtWIBRcDLfX2Woq5zKHDP3WlbDRYwzw3ndup9/fSsfP2twFjLoaYYVWBlF0Id1D4rt6aphlFvZ
srn3Uftepcop0TD0+eGPL+Uqmw8a/B9+18f7aa0wiZKRYLuEKYBGzVniChyb8/iIxqfXv3lHy0p7
vzAIsmW/Agx3YTJ85HGNcVnn+BFp+sPY2mfIxlAwDv0DPuHOpe6huq+c5Ldg3McPnMfpOb6JDSCA
NPlyHxA/aqm6rryIq0qnu44XsUzi+cXRpLVbkw0v7N+s/39YJCCcxBKxTQq2+OX//7SjkJNYeyIv
EVUEtbf1Cd04MNr+w9R02i2PqywwJvsjmMCHzzozJaVISmpDv/CTiWQMN2Or5G92qn94eAscC/hH
iAJnnXp/L/iIY34gMASG/lXvy9Q2LgL0YqcKW4a3qC/qq18vyL/vHZ4P5sT+sdyYJJrp3bMjscLJ
y6pemkZ94P4HMiAAK8quf6xyeZl4TQcTX/4mvvcfvjhfWSaEWQltke/u/VUdS6i8KeA0ed2M71Jv
lyCNjn8IDN3f//oG/7Y4lj1KLQxdOJVKuMuv8tPiqNHK9MhCUY16ZnuOCXyyL4o6+dMl6Flk40gT
oGuBvPwPj5FME3JiZI7/4hzP+BxT9W8qAI3bP7yZZZcSgHfQdmAZf4yCRxtCn9DhjTg7VblyRvwS
i0a1f3ozPoWH61NwcUA77t+ipeC+MbKsFPOkBOE8LsJrBvLu5tf38rc1wBcrfEfYy05o8vTev5jZ
lmrAp4MXQ4DVKeGXGpcQ3KkTp012v77U39bAt0stUwgKKqW+ocE/rQEmA/E8JoUFSzBCezXnvbBO
5ip21fbXF1qOo3cbLlYNFCwLD9yH6WJ9OBSbwUNWrrSLX6cTSPb0uXMPsZWjvlXuPOp1p+Z0Xju1
my0A44SfiTfSFP3x/dKY8WVJm8Ejp/OHR8v3aiZhjNY8mYYpPJ0Dsvr2ysyr/2XvTJYkN9Ik/Sol
dW5QAMMu0j0H+Br7HhmRF0jGktgMMJhhx9P350nWFJklXRwe5taXEmElkx4e7rDlV9VP1Z+833/9
DAMROqfVg4Mqr/PTc2ylJeFu1PtEzqrZ59R7Eo5fh2PmtuLx3/9q//UzDHgBz8cc7XDKET8tv8Hq
+Jpq5oi29LW9CQlgH1VFOv0vv4oXY4gOT5ISa/3pDf/um7I0WUDqh6BkGTUZMFMXx8wAtv7fv0p8
6uP7wxcl4g5jc4cIOdlysvlZRvILuLYjqNMNGA+y35L9i1DHlOuPMOpT82oxyUHLDzXn021ftCke
QDAR9MRnCMbNQ2C6sN4DH9AsnxZY+sSg+ALbTOvKvizwKn6E0DraBthFZT5pXqb324MkAE2i6Gzz
kLndGIKQbmxceaWeyUc7mVOZc3tOQXhT0elqCZYvRvhNAWKOi8/4WOWwopnKDhQGn2lRxsVdmc/e
uJ+6KCPHy36mxzt/TmETlfyxt1ubZnDuwhAONGyrcqBxowULsdGlv4QH2rzhu5Ltbp8Bj9kHF8mb
riDeXXuTerEVvlKKusgru6vxpBJbPMVdxyAFLLSoPj5WRew0tyvmpeVs7rCS31mpV+i901nzfMl5
e6kZ4YfD7DN1K9v4MDZTPZONwOfGnlr5NIz0syj8e9XNab7PO2zCG5eps3dX1b4p6BBI9V0JZwFx
oECgSYhMMmKtAKqqhErnFoa634nmReDes89V71fukwio2IRtN5tCfiM0GeS7NoJqTou2m9NlZjNy
pKA30j08oBGLlnYULUWghrOvVTlhkgBtKgCfzE7xZOeFtZ5FcWvhB19KsAmGkr7iNqSB94kpLVhH
6BEkr6AYuN/XboQ9R4UJHn7kVkXGaxoXY7YUGmNQntMhv8MEGCrMLTmRykBVdBKT6bbEXW6NzGSs
OiDz5ta+BCsig3kiHVfL/hrvcxCfN62Qt4Me3OBxAdaznNEH1vgpi1k9xfWOSTNFSgAAZdYP22nu
custKpk2uxsqSubuGjxnbS5wZvnurrUY3n4UNb2sxl0iqtJaCe+4wdKLs5e1moZ2uKfC3TNe6w29
yOAs3hZEDdfFUGNHJt6RrO1B61WUyWCL7lJlC8ZStc7CcZdRbUHVELXM9vgBAdnuL71Iy+5z0KVp
KdquyG9me29xnWsbMklODS1m8t1oAkcf+SG698pmNHlIY5qgYGDq71YXdE5C/LW3SD/G4TyQK2xq
dasdy+k9rnyuO76vlObyqWLei62zeF6D8c2eatEcsiEGiyJiOAngnwG0J3BroRrEpYFeZGyi5KBN
A8rXzFjIcLPmhc7uqOjF3OtQVxZfzX3edgeq0tRHxEM1HnLkZ/u97kjnbSKUmAuqtezlUs4UG5Ps
YY545tJkZ+/wHpIflOSxr/vJzbKLeYh6eR9JTMp7U5eCsgJLa7GDNUd7B95HLKb0JESMplNSBjtq
veD9a4yyJArLFAwAKyk72DwAL4MhF68cSVQa3Jwqh58XLNQg8flPejuPWDIqXpjn1Q6xbVTHXhQQ
UnvXHuBNdK1OKcukVI2y7bD6JPVacADOJdJfWyvPOfrD1EyvfuXp7iznxhMfaTar3Yu2qzPvdoiz
KfiiFLSDezSxpj0LIvKhB6Em4oIrvcX+nhha/EX7fXFlt7EFr1CW6tNGQcrAPWnA2WvvIUBUKbTg
3ZR5kXzQJpIUc9iKLkO6t6dvHkoAFRqVyh/VVMp405wg0AyyRXMNgwxy3eBExXIMaZ/CcY6F2kfA
5MJ/nKoc7mzT5SiKNHeaFxVa8MIsIDV33WAaxKBZWtfVUmlS5lwLUA4jIqUuTTRu0jQY7SlIILFO
ZVrrYJ6KZnPI5tTvwLFEZUt7iWDejWIfdIgAxq83BTV50a71SyKKfYNWh7LdarNRcBXTl4xTDVd3
RSr60oUJZK6xMhRnhHNPSXGHqhyqgETRvNL6CHirGdb4NZBsnBsRRVPwHQZeztjeIU5+EaJZjcT/
cqBDms4h6zLQNpzfqJEyOGdG31EzOtmQ8tjEFzshlaOHnSfwV+8JWDjAxdM+pASqo640ceKFjGgG
3Wk9z3lanL2xShsAwdDM/Tm4IKbbJNR9KqWXzi3PiJUT3cmkLMVTz+ybQEvoZfG5zVYOBWKquf7O
DIU4owRLrPcuVPhgV4k2fGNZ0/ZVoMIMwh6cldPQHZwZ/RoUROWh8sKvI3IrXHKrtskkDhkEVD5J
dTJ9QwYAkrPyTiaKbhTBXJivG38kDrGLjZdhincYpS3zVNmb1Bmx/65t6MqNNU2KvOvMaH2zOi2H
wjYOzKeyTAr4De7ItOELFXDGj93pOI8d5K1xQY1L1FT52Z6iBu9rQdPzQ+kUHhqxFfAoSmmsm9ZK
gTKIthynROIzb7cYuePyXFbCMnScWAW6mfLIg4eAesR21DO4dkaN5Xdxyoji/3MmwqRDvbxFLTwB
yOTuFO0q7GWs7dCA8NDaDlGruHW6YSfo6JBEmtqTLCpG7qtjCwMMqpAUUDvHmCKzdAy+RH2TN2c0
r1hw7XOnBt7XTGmwoUVluWPqtzSboGtxCBphkf9RlLNd9BKPN3HwznsO1xGBAGskF9MuQwLfupga
baox0mndhi0gsHxdq5CfJ8cUSOEUcVEdBlRVUSePsy6Ua42jgMj/mthwH19IlDg88qBqmmTUJoQw
7Wv3Iw9NwwY4uYy1urGBAYviiOWwqkdtQXNnMwCrVUL5K9aq+YYHWQGTcJXziKEZzIGSAiecbUpk
cauEH3xKde3CbOzCa5fmRxLScTRHHJAkAZZfAdSDL2xiaDqsyj2Iq1TfZqmts5slly1xrSyqYVub
H6Br9Fag1xbre7EJ7UblV9UPOrbUUzk/iB8AbUWusLz2Sm8dD0DCyhnMgMd3p86XwLmAbhZXFy1n
if6xKWMyIrjDT1DvgCKZE14r7zxY/IqUhb3u6x9ocCoXVJ9dih/scEOwoGV/FTpE+jNspCRX8H54
KFYW+t1Xji2CNAUsLZikekrTrWdRZVewIXaHkRIg/3gy9APykDUGh4zLYUv8b4AeFdBmSYMQN8EX
bZFUOCc6hkmjqY3DVBgn0l00FDoGiBrDW8RkUVR7kwbDsl0h8qgtgx86XTl0uYT/dCn49Wt+BTs+
Gf+879yuI6DXyzvbInOAg95fv6gclhBncJhUsG2Nd29QSulhr1zQCqxQl1nqeuUmW0zQb9wssNih
wPyZ3dSnlIcOmXBfFu62fN1EPDh7aBXw5mKgdv1+LJaeAFsar2ITgmsjCxF8MOsPgkTNC32Ui+3q
29yzQ4i+/OQtCyBbY2JBe7q2jR0GfOWblB9PLYzIR2YK2Y6wePmS2jkriGUBCkwGl0NigkyFaQJr
PDQJNvVpM2iLVMUo6r7a4PedvmiSRSvLsJiwhTpt8AhnQ8odlMWBXIKsepr4VF1A3FgzM+4WEZmR
GgaAZIlE7H30LYGIu4wWeRyOfeFtQJ2DnbhSwoKAW1G+CFGYchNRLkq9USSbY9CQteDVEWcSPczR
vTOVVr316hLAERodlrM81+MnWb6AVD94N8FXpuzMdqDIjf/HDfvnjozQu6oMI9M1Iu685c42fcf/
334JcFEcvTTlLGVXDrcl7gKq22Rwei4X+tKarW8wOLPf9Lip69I6BfOHsGXoyXXo22T1IfYXOIA7
kZUy2M3Sz29nVrr2KS6MDujTCeH/4gEG96yx0GH4CW1rb3K8AXvcMzWAYTCUQwLAXvSbUZAu2MIM
We+GpsRBFLOZXobWmGXn+YndBIQ2tJ/aSKSAok013qyadNaMXdbdRLln3VOjlFu7wB6DfUxx1KW2
R29Ien+BV+RXrXrzwN3cjgB5Zo7YleQyLAINP33IqRqonQabAttBmh4EaaT5rMTJXd8x85g+M6Br
32U7Ur1TWx27Z+FXAhKHMzewl6PAY8v1zNxtmnRcTrCdzO+5BtOhupKaak3DMs3XR5WntuZyjl+t
Za3NXWVbmB6SPq8G8kZFZFdPLh53oIWtWDLBGduFQnGTN5bkqaThrSO6xwGIPwntNHyuzbw+TSGP
14lN65PTbV0J9qH3/ZesK8dHj6vgKcwa9tTuruDX+CqVS7/B7RNF9KxCd5hXDu0gSFauITytBV86
ewhyjE7C6/NP8OCdR6g4WqEqdcNHqft83IBkxrweRWANk9bSOIncOjuxh3TV0PeS0h5MSD4Cld/U
QXriTnMCph8UBkzh2s9jyeq9UZG060McygHwSUNbl6YS+7qBAVfzObTw2uD91B/ZkKr4EEZ59UKB
tUtfSd/IfdV6hbsJxBq/QJKz2ltYnNhZEmIKfvs2FFzkHmWNSPaV3+3i7Cpr0rTLzBy9k2oegqe8
NZSXqBFAXoLU3hfbFFbzSPHLunoXdTj4j14ghvkwcxQknjQyTYjvLMYZ5QWA5igE44p9YSfGDvuW
qPW7g9TP2gZeD7ReP6TEBZ1qHncMmziQq97DRmR0y01h7Gb/6E8Ue2GIKQwV1M68Pq6rNdC9F3cU
HVe2A0XPD66ahf/IRhc9W0UxBePzRDSU9kVja3/HN46zA+NT/DMRpheIOCEztITxMNwzbcpMHjTo
1CoJ8Pe/13AWWPlQaeck8EvsH0MfdufwxghoLXmMxYMDKJ7JaVDDN2vKTXE5+Qp4T7lEoTkgf6aA
y1t7uDddXSi26Wi+bpyujndCaStmk9fz/drjAjuszQhylGiqVRwY+wEX4XQbUhqwTsExDLHoMotg
8Jz4eH70NSlhmE1FJIPwcqwhxDQmUrAhg7btk9CvxaOlgrphDeWwm3REozi7ydJcFFTdzdtwtcpn
jnwLB9CcPRQKts/DT9wLP5rxmpq8be9AaqyieAg34+CZ91BldANhjR6Z84Q4Sw4ze3W75Xt5CoLM
UNl2VlbH2VZm4NchABbyq4Yrhz968Thmr/Yqn2C9rzegGOdPU2syKNlcmP58asfxg+9l5hJ246r5
fV2qRh9szsbWeeoAyUkG6tHQp0fjyGNkhr45ELRh59RONLh7br22/bWuPVJpjVtWemfsfn2bdcG6
MwDFuZXpyVJDD515xadqODSNhYkMVSDVYqVX1hKBiH3Il8Hj+aIOvDxMLUeS4dpuo0VsK71iU1Yr
N9V3BgdlTX9JQCN1ZpyuP3QZZOYs0SV39ceKY5xm45tEYL1IkmX5A6JiCLQvbclggsH3bdndS1fC
xPWDGcFFV1PRXkVpMH2f5sqiGhWqDOu0SLkthxX3lSIMistqjdJPX1MPweF2eG3HOBdfYA4N8ns5
c/reByFH6MQJ1Kk7rWtL9YArrNUHIaM+fwx6xGqmALr80mf9fVMtJ+7+2DunQgdzgVeGw25JlMOJ
fcDMrS+O/J6/drVzCW70hiaf79x3q23ehh+NFPNrGUfdjrbN+BCEE60aHDmt1jlE9Uyc3ZmE955F
3pJf/Mc/kSW5sUBjjTjmb62ggTFP/HNgk4SVXtJv2vWvjCVw9y0hI9iDIPpy8x+Rmsmpcv3jgt5k
wGxUaY8IReVwEw+u88DNzIHBO+SkKJcp6m7bWM3sMbTOPf37Weq/TFJxb6OIOJ7tnLJk9k9z4SYe
fb6ZgcUFpMQmwYhyQ1lpvO3Ibf3F4TAXQ3QXNCTkfcz/P5vy/dmd+5OpKHGAEV9lbIMAGpb5L0re
vAqSiI3kfbKDB9FPw/uOeEOvcsJHgxeacy5BzSXGFvdPXuWHzeL3UgUvE8dc0DmcIzQK5ydlvcvg
a4keQ1U8WTKljJddB6Sw1+hd2FXLddF70fUU2qQ1abK1niI2vO924HL0+esfIG50Bu4nwdMLf/pB
Rj/1HMviA+SgPGymnoC4ZXc2zwRA8x8v9b/Oq7+fvov/s/HqYD6bbx/ffu+6Ov2F3wJEgfPLiTdD
cCgE+ILgh+b8G42GP8I8gHUA8wXOJ775/9d25Yhf+Jp6mE7An0GrOWWLfnNdOc4vWENOziUf1ztn
YvevBIj++IAzyxMEhxCnMdQQRYIZ/JMkg2iNY5DSSdbBctN5Othx6uuO/tz/mST5Q3f+50Px62vx
4yJMCs92ecd/fC1HsS3NbCXYRWPrSg4jdMPUC7Zxt3wVVd7BS4enzqJGH1PW3srClZQJUiQULTMj
az9jGtjrwzSsOW0tDUkOfM37JbMoFqc+oj7R39vKxAnp8HbbRBw4OauhOJyMXgF06VMCfr1qZO/e
/e4Dv/31Pfy+TPGPOv+Pd8bN8uS5wjgeCe+npyxkGhZTmVgCBsMY3XNn3dCNoHbCNxqnpuclcojB
iAy1/yfP9x+Fu3+8ckQ4ja8Yu93pz38nqQXzOvbEIsotu0W288eaIg/bW/5Es/6h//300WF/wpQk
hEdi6mdFTU0xXeVxXGwnH1Vha3ybifWQD4RmG27YtXEN07CILC3YivSdBvrsdWnXL8xOlnDj4Ih5
CK31PFwqcWjrmoGrT4bzez5Fxd0cnyD/jkesnBIHSjeSEm7JxRw55dfSzEgMYcSNnMYRl5RJ1Z+R
35q//H9bu8ZPgzX6829X39rub/uh+fjWF6r5z9My+a4IqRZoiv/nj/9IL+dvq+j2W//tD/9ABr7o
l7vh0yz3n90g+au/Vnqe/s3/1z/82+eP/8rj0n7+19/f1dBg0L3/ZCrzx6B4iGD+Py9j10X2aX6/
iKED/2MVcygzRYYOTmE2wVJ28jr9uojZv7CJktjjtgYyIeapZun7RwrS/YUMixNiDTjlKVjOfr+I
YWICtIXpE632hHT7xxv/7XH7d12mULP+oPiyu5E0s3Fj2TFbO+eUn5YWBgpLkcFfTzMpxou6XBUt
5BAb5GbSxv/ASMjMvRsoCzha7QJGXXW6twEoqdQ6uDiGUOOqcSE4YxFQg6yMueYjj5ZC306Ry8So
pDTlQCdps269SadfICnhQQSO0ryzVOZvHT4pCjEbJ0oGX7Y5I1ftnhPVVdnbRFgju7SEs55HolcH
zqQgghkFhBf0Gdtyn3LzmJFBahOu/o7YSRmfMf5szdXSm9NiTJ7gCaQ2VCnJHBsLd9nodbd2OXqu
nzX5+n1ZW/h3AdMFygGqsj3SHxGWCKNxmO1moMvMciEAefZhwawHt8eHtPrZoOHpZo9uNnpEJwZF
9TZu8ib2jiR4epfKk3ROyQqIRYEdXFz3OqCixdmkAE0CQjNBTpBjHQ06Smj56cfAzZCa92VaEr2k
jU4WMi70YI/Uq09BNN4vYYb7m/pndEyby/JtNVBQtoV0214qBSxpOwutTdIOBdNN8DLg+xkKOltT
tuK+xZi+pz3ZuyCUkyK9LPJlcSw3TJRFXxI8z8jeuIRR3snpV9Omn5v8Ie5aN6nnKgYdasS4rZnh
fq1d2sipjYxB+DuqqFNgncacpQCBa1jIgplHvti0d2Ls967Zl7oWEInrOluvHF6daYLaPHKz60QO
W3whHVUopFSTi+C+aL32nb391HLGfRCortO8LNw6jhQgQACo53B9Xuma+CDYEjsUhE3BCVltoylS
ouoMG6dM0fKAujzU7jDaJ2S7WtMjuQ1+V8wxgG9j/8rUoxx7Ikw+5wtGA9rM1WWdqSmCydxHM6Nf
P1hcWpKyoHO/4dE51dVj5u7Wa8IvMADo1mDQYoqAD9YSKz3nPBcVhTSdpx7XxS8vPG3irV8Fl6Oa
r1Yw1YPC9hDTQpAsqZZJLouzbKQdCQIDLaeFz5ag4343R8MlCBSbZIps3kqfRJ1hsguGx94OrY18
PofR+2RavXVnQM2YoVTicOM/VhPXKkMnXCboKctzSbtDNqPj5NZzL+3nykvdg/J6xLmpOkFvWnmw
9XA5t/HWmZha97zn4yJbLlPhc2q7O9UUxy6i1pQDUIyHzCnRHc28A278Aezphc6uNx3Ii0IBD50D
NOvJiz4hF39YSJTsareM48RDw9R4401rdyq049kHhJwyrdm6CzIlzT5yK6fwA/mAORfyVELGJSPZ
am8rnxspqAQmknO5yVOrQycEDr/2U/E28nlfgLE+BHV2GXeaL83kw/lX2Zeepoc4zr56OnyYTtaE
iQFD7PfpVnt1tB2t4boN2WjbvL6DWXeG49o9lk5JdcRgzteQZpu+tW6yPD1CufiSn7BQdbZC84nt
kwxmp0+YVIP7rm2f/HZ6ter+hkgkkmt/YTMbond3oCBD1U8cTTUaYa/ouCPtoiYaBPB1sFjM4bww
zQjuy4lJpRxHiHPZDKwiQ56TnPEYUXtih3xCZqVofLoz7fWUoKGYkjIVsTGtLPawGbiSiKGFVN5/
dQsz7ks/+MDbUF1pHMrXNNbeZs1IqdvIoNxJg/iSpBi/kZBy6MXvomu7CcymHXxGTw78YXtfKtdO
4tyr7vq4P2K9RyRQ/lkH+rSc09c88N6aWMtNWzL3lt78pZ9TSpVn+mWpdfd3gdvlV6SYNhw5oBiB
eDhmIzoA3ortYDSXx5biFJT2K7eIzUWGYed8CNEwiE+1u6AaLziAPoQDt3MqFK6rtsi3Q7i+k9e+
r7nrnwejNIcpnF6kzOoHo+h4ltNMo5fNBL/ohTg6aX8U0ECuIyPBK4cFs2Lb3hauvuxnb9ejMO26
yipfi8k9oIq+wYjy6PfxbmTdbXGZMoTCs7QrtRPDcy6ibd6PLZNF89TNw0cNNbmqioumRTHSy/Bc
K/e1ixAGWWys6xn3aMJXTm56izKxgvpOmGlP8Nbmve055/a0XqnTQj/JAxQjgSaP5lrhpcp5orDH
pIfC8w7V4KhjkHf7Xo3jhrQlTLt4KxeLb6e2mLfTnWnX5wsgetfRZ91qW2dj492xvtXX4cp77iPS
dGXBINb32w8mRU++3XwX3XIeePlu4eq8nZW6RBKKDwZ0wH5trDvibIBlYsOzPltnNY3h7dj1bzlV
EBS2zhu84fCkhY9xCzEXYUa/K7Xc1pKOjqzt38PMW7YR3MALzxQWRsJTKUgn9pWd3a9DjBurC6Aw
xx/WvN70vfQgQ/rnwRRerU5UMkeN0qhujmztVUFVtJAsd5ize/3d7u3qsYf84dNWg4/DS8rR5hOI
iejtXbXS/6JQQtT7TKMK47A8dLtNnPer8+zlgMcICfbMXHNiEG2x71Sv6ZZxEQXB8/XCMc1udWqc
1G4WukO7jdeoOO1jE66N8DGienq67GtdnnGXqS1/0/SDXwR3IqoVAr5tseOo78IZQlWfaZYMse4G
6MBEalMkA2dT5MxmttBEvY6TEwMrcQGdJ1u/erbuZzp+sR5HzmGm6VyKg0vHuV8eUleJuTl0iEWU
CGZdc0TFH8UTH55Q4zV3OPvcZsR8O9MBdtd1hf2mbZ6jbcteIZgEw3yeH0zoV8o/hhYRwaSuR3dP
Dd6a+V+qiS5YJMSK2lWSlHyH7qTgObR2ynInuwelpjI0U3ZeHwloBZTcbi3ba7P6hZJlwtSRUk+2
U0/SuilsU3TO2RBV9uvcyGnst3nZR5uVjc8XILTUlqGpp+fLEjdZvXHTQufePcEq5tGFX4Nmq6hV
KA9UIpxaXV3GyAcRlysoGEziEjg5cO+FxKg9aOzFdHDUeovyGxJCwh7X+C6wmzakHlQh96BN1a6/
oXEhZF2oVjaa65zxYEdDqm1YZA2n67ulXrhouZ2uD3OP4Haq4+uK18YxX3s2guLJyToVPsxOCRib
GyxyV+HxRd1xhLo11lCyn6zY9sw+NT2unc5yKXcnUoxjYSrWKT/J/VS3NeOhI2lJGkBgQmO2avx0
+CQsvxS3UxXN/UuvyL2e0ao6p9ucoT+I7ZlfuudRgry1lETJiPCDBHtaBKbyZo1OjtBdYUwU7nuI
H0lT4Ik+VFMNf6AMx3L+giLe3ae1n1Ft2gWOQXpupQBoHWvvOh/p80kKuRTToZklDWt9XPbIFtIK
jnSva3rwYKTZPN4ULWKSoprWgkILS9KJUQxo8aPvLOdEs+VJr+tt68annmiLmFrWJRp7kEZMRefI
lxuzZA3GTiRoeea0jfCe8wkpB/+jgVLSMo+Id3OYK8UvbQQrmAH5QV0vJOvrCj0I4Jx5cSLKmgVS
UwIYVp7XvaCCisJruly4MtNk0L4OskSHZ8OSJi52c+eLw1SVKQRsK+tQ4eth6+YzzVRl52+4HViX
cxyqsyCovMtqHKbj6s3TmdWF+l5JVjt/sQY/6bpp2/PrPg9oDaNGNxLHEFn23I5YtniX1i7OsZ8g
GFKVQBNedQw0abhozaqLSA71Jkxlt3eLQD120uo3nR3JDbAJ7wozqKSTKKTyHp7eczmH9qU1ZOZ7
s2hOiSFn/E9JWe9300KRSAgK4VwcsAglgqf8eg5kuXPqk6MrqoatyiLt7B0VDZx7aPyD00qclFnZ
ewTjCSzDTL1SmZq7AKguQZj6jW3lrSWrmHDFTmlD1hGewaB648qKO9RYgKNUVR7nWWHk69gqz0xh
z3uqbN7IGU5npqqXo29i+pvxg4IoGGbqxTLWRSurgjOm+vZ+0WOE+6Z5YdeRtPHM7QstoVTjoh1u
6jbNn1u7nreR7C/iAeS3i5eGprmW20k4BM4+BmyAX3Z0xy9xlzJEWQoKb7lBbaIl8I6z7j+7SGf7
U0vw3TTp27oZ68us4FtPnwuIZGBYnFkl5rc6pP5O1rHYikl7T3MxPAFWzc9K27N2UR3svSykwDcb
g13W2s65kwGmKnVRvNfmdI8Na0WhoINpeHCoiyo7/HgIO4mYAG1N3th+4Z1wQl0oBz2oeqS0m/sk
9dPOej3VXXs2pCbkjY80N4sFubwI++rXydb/jpP/7pxiMn8yiPmJSHX6G78OlOFHwdTBPe9CKSdx
cZJkfh3FCP6A1sGYfInnkV5xGLf8Nolx3F9gRJ0iSGgrIRNKBpi/jZO9X5g9C7YICE8OkUP+1l+Y
xASCcc/vvPfEihmCMplmaE08AvXoJ8UolJ3ghpxyFSiLdj4sNgULiSuUHZ+t0l4iriwZNrB5LKr8
Cn2550HpMQCcccmLsNNA3cQbIgLzGELlZa2rpmy6iSEWZxy9C6DkSTZoOzpvwfAjtXpCCEkBBEQV
PAxU0OSJBvZR7CsRmvIYLl7pb1q7VMGV13Ah3SyZwtCfFekUYEDrMDLEFBvSRGU5iq4SwmPY06Du
9bRkVO4VqHLr62oVAae14cTZg/S0XHkd97KqLHCiujV0HVBzdeskqvZwn3hTxYJfRVnYHj2rz+uE
WUS9bspUsL64UxljFwzmXid5GU60URY5zavuSNk19pSipSVJV8Fy9BpPvsRhJa693FPOjs7I7Mas
ffwtdyL/RWV99EFpYWzo//IxGuXYKCDZDoMTvKSCl/ySOYBQaWWb5vpqETKuzynOpPOlUWz12+EU
pTzzZLOoB3ctA3ot2nUSuypc424Tch5Zd/aYAzYoIaM/KzpenAdfkaS8Qj4dLuMgjShw6i3Jyajo
hvVcUn3b3XQcTOSZKHFAc9GjuxwNYu4T1U3zS5NBgmYtj3K09XFu0mfUuJG6FBxndNOnuXGTLNCl
u9NFp98M9C+6lmntec8DShk3NiSF56n2+1cbl7i/czBXHahXafUmb5voHY86FThYLDhzsdRRY8up
TnkJ2WfU/SjKzEXp+9ZJMx4Wf2+Yki2byitwxttLMMLhGGrW2tnhxzr4HfBjZjhDd6RVyfrIR6vg
4j8VxQXVHvm91Rfdd2LxTz3wmCrJOwJDG9lHbQs5JyoehonRA78gWFBSOjPE4dUYKwlW4X4Raq6Y
DMHpp9Fy8f37wRtLkYzlADscDiE1IqPEd8/VYeoAOMz1/DJjXIUgoofmXfRWgXPHxbQA5Mhf77TE
upXMjkOlrnAViXnZjFzm0SLMZy7q9D3FrXtDPtx5K6hPk/suU8QPBvr6xm0w4jzgf4vpa0TGSyf2
YAtzSO10aBPuVS5xjLlZv3mW396MLgjLhCkdhs9qVFG/tbFTQIPMNTHRHP6OOhe9Id1T2EIVm8zv
EOntFOAGtGY6RV5khUhQT44XogYogScowiHJV7duu4cmE16+pQKWuMTYi+rWKX1xny5tdelYK9OP
3FT2h9Zwh/bs0NQOdpAlX0DnBHd90MfYv0PJua51QjzX0u3VWY6x8kZz16qSWuIx4JGj7XcT91H2
yT3SpqzRkHLlDyf8hJ2OSBn6VGJmzChm+TTlGSAZV+TkJ0sls9ehPH0+sSwLDzqIEwFjWqA/0WBE
GThW6FkxGXMjzfLkZPoqpnHmyRa82i4Ny+V5XSY3vxnrzlCpEwRDdW9mz0Bps62g2qact46eyPV0
OAXD+l1mglnuMORAXxq0YnLqWrLmgSLKw9ik8CR9YWnNYbUaUHASC5MAXKPGOR1mxzIH0Q2ffcBG
UJ3eXQx8Zmt5CqJvLWlQolfC9RIFHoLzwBq16TYybhrsoXWPr5Ydqtfa02IAsm61uMyAunGKnAui
fnKIuLfKIesxDHEfvpFdM711pEku2jlbZZLFPizzamnndtsFnnvPF5bOPJrh4BxnnsfstFgYvW0L
hEp72/LANYnrMhjbpN7gNpsliMppF4Ztm9+kuZ1zUBsqSC0izO4LXY8Qe9J12DdCsyZrj48gWqRF
PVqmu/qK3p1GXcAXojBNL2WGL57dZ0iqFSj4nuNUH+9oWW7AJ2q+FEORzQ1DiTj8b/bOZDlupMvS
71J7pGFwOIBFb2IeyOBMidrASErCPA8O4I3qOfrF+gMzu38pxF801ararHIhyzQlGREIh+P6ved8
5xZ6Djh++F6hXJG5ZOgs6yF6iiJSvZd1gzsGcZ8RQbiXLVNGjrcHPzONZp0g5kDSKkp6SeymOj1n
nW7cYqwYvi5aWmx0Po2U4PaUIHEY10A+Hwl+BQzutDr66oo/kNgNevloRoWHMLpLZopRpOchiRmZ
/RSiBwyWaeFHq1rGEwnUBOpBS3Qc8ZXUHxhOPOXjJ9emR57vhWpspR6JtOSGZgpaG19Vm+Wnbppg
3jOTcPYocrN+6wMlm1U16ckepP1gatH0lHZm/Rpq7IVLfAPyK7J04IFjoeuPQxFTU1pNXXwXZESj
jXIKMvem6UtkmN2lhz6/WIR+YXmLEkNQseIcQDMtAmdzO9LL+ITCjMMx1F/yNRU//ZkQA1UsIGZO
twlF+PdEa/sD06UookNNGKpKYwhQIeiOq5kgTkGrM7Jc9LVZkY1ehUTToz009nbnsGY6lUi2Rm4a
go471WP0iHp5n9BpoMNZz9yb1BctoLg4KLuVGGrQOL2d6JdhWoEBGUgbgAVUWmJpp5xQYTjN/fHm
rVdOH4O+uRa4akxANLz11UXSR9YzU4Y25AenlrYu/fpsuJ6mzKYXb0rVuReBZ/TJhQy0HhcWG6if
38sU+96K8DDBGkhgeO66RKtp+ntBpiNr0kBT3pCN7hoones0WyFeZopAtjgKKk466TFvQ0Y6zhQb
r45L0uFXY6SddlGkforD+G26MbxNOiAI+9b8kyN0hDG0XoIUJf3S0sesQXgjBXmAuMCYvExDq/v7
phu78BOJVwgZG8Kp4vt27PM5siumHYrALGAIJNnljSXJ2QwRvLdJUYhPzv9Cj6SxsF3O06Ti79FS
//egqfh77FS/zaCqhG0MRB/SoC1AynlQ1XuodNTCxr/sXpBj5Y/fWzIxklPDBgGQzMrc+hIQVVFf
+m/DstBLDCZnGbUFczRScxmqharsnGOQxFihSBEtENkD7gpeilpjpIHIV+driu2sXaLR542aYefj
CPE7YQ00igJLfO2GtksPwdtg0LE9kBJzr0XbAjxmeOi/DRLJ6pqcXcrcSG6qt4kjy5TpozWRn/DY
6HjstkHlUASzkO3hwe3jnFGbbSvagvBgKufJI+vhM46ywdxmbud/1zsYOdscR9jILpGM9Lp8nbOk
ObGYV22fdajEK0S7uzytk3E/25675agDNV3KGgXuVczGkx7D2Oy+aRTQly58zS9OPuoOyWxjEm2M
umlozrm9N64VWS4m0bYGbKnCloG9ojsQuVy0vjiVZBtb67EzdGK0pR0wx+SDpUtHswCTuBTZ5F8i
IHlhT4i6jd03LkudYBaxDCzVu1ctCBhMmbChwVVTdlRUax2xMY5v4u6R0tW/V5aeULt7xMkDJp0q
ay07E2MI/PoE7KThDCk1SN+mWwoEMc8uB3ojQPXZ9Uqemw/Ci6BOcqtW9wyGonDTMby0l7VSINky
3yBlqHSieB4fht9zU8KbTnt8lwtCc8ZjSz8Y6wsldbvCiC+CRVE3zLeaSipvUXuENByMMOAS144e
ftKMchbCShAjWOzqOCOdBegbTpdED6+tjoyIfW4XmIF6jAjFUagUIMKIhrxYTkqLaX2qouQ4j98E
S2NHZsQlSSrIJIvUrcxj4hUj7Tur1sI1gvoeZhkeOY12Jd8CwwWZ2GtRkPC5pPOfp0xRqxC2OM6O
hgiTMe+W9BtHh2SKkOa83njqtdcmQi8YFxffghKm2bpiNBu/lCm2KuBtoJZ4JjdRSSaBNJpiWlaF
g9mehmor65l53nZDRUKdUxr9hmOHR3ydYwfkzixy5M/+ehyt1lxmeJq8B8lD1N+QABLpt2E9+vaN
XaPZJuYC+xK6fwEHrXmg9IzJCQhqUvSmv5WE/9M5+A/DQ6/47zsHW9B/354RYzbNc/eTlGP+uX8E
afQCkHwh+kKARWIN0tb/20DQDPkXcg380ygz+BdU1//qINBdgDRr6Gg1DHjQP3QQIIQhC3LeYNZ0
EP6IATZ3B37QGTmInWlGkJrkzHQb+tD8/Q9ypqHC22748VVAJQzJoWmZ9mFn0Lc+P7QuB61+0NMa
PNgPl+kd/daZXhPENa/r0h8xUYRSzb0RBX54XTptRdWX0VUYrIVRXPbMKcMMVVKtLmSUfRNkmTU+
h3rPSj7/+UsjP4GcQe8EYscvUATfqVJEKldUDzXKlbLq17GXTxt6kUa7ZPYbBpdEfhWbKYBpuIA8
rAA7YvwIPpCSGXy75xdf6DSWXNO2YJ7P3/6PFx8raSBRL1/NpwWTTZy4j1WDnjtcAHYxgGk0k1Gv
UpkbL5gsGwAYGef9peEB62bDclHlxVrbLrAVltUH39A7CwMZrWC9kmjhAbT++b2R3qWhdfNORMwZ
dFhSN69Xoq+zh3FoB55h/lRWx8Csio8w2vMvPluRgpQMh+9oJtQZs/Tvh5Vhj67IwiK40lkDL4Xd
FS9D4cmVz3HgQOfZ+NTjW7rWvKp41CWh5L9fHdyLv7465PD5E1vAT84Yz5kuUCw33ikO6vCRs277
YnIM3QSt+RFX7UxION8BKFEREXIPIAWdEYA/fk7p4qEuAu1UFXb6CYNOeGMq7wMc0nufxqYHCXl9
lpWfo6Rw71KG+dYp8Ek2TEUwPAyBrq/bqm0ffn/d3vs08KpsqFUzlmhWnv34adLexIxuJVe0wrr7
qpHVFV7yav/7F3nv47hgRkxBR1fSlf35RToCG8wmja5yXNXVorLDbK9zCL2Ni3Y8/v6l3vs8Hopg
VHQzmuj81iwUlFE/Sq5EPXVrwnWCepkFXfdnGvy3bXAG1tO1tZEc2/LsLms9ReGURFysZLqPM1Rr
zVyU/f6z/IqH50nC5mFZ3MyEJJxr8Jml1j2W4SsD60kNCjel71o5VZ9vhJuF97mVtXfKnGx9hSkd
O1QTuxnkhtI0YCH3RF9/8IbeubhIqbm9EN65WETPPjU2K/KLUvfUtHm9TxB/7HqN/PLff2oeuOd3
MlsrOkXU3hjiidX5aUWWQI5rvzJOpomGhAZ5tyCf6VOYJi+DV38AAHvnA0mTh6ftAIByhH62Z1H7
ZswHhpPyk2CPNANQsRV8pDx+2/nOdkYUoawTmhwSGNLZ8o/zEDVmap68sTcP2dy5wVYWYntDQVEJ
oAKVb+J/K0inRIUS259tOWlrwrGsi4k2wt6MUv++qtr4DoR7DysbTdbS0uL41u68fPv7yz+/mfM3
CxsQYwnTfESsZ5dfdGZZMSk4SRMn/4ST/oWDDqT6UXiLbAz0na50+/b3r/nOo4Pnxr9e82wTakN9
6OJWnIB/0LYtW41A5z701sAIIe1aQKyI0ZnZDIadjhdg3LWb37+B99aBg96efg+TIZqFP6+5rqTX
x65ycnwoSIRANpdDGEYfLDbjvVehejKkIeFh4Ub/+VWawqgAVein1p7IlGeaTUhnIFskJaEhECBN
Xv8Zpnz4VCap/ZRxeO/B1eQu/Q/pEpEW43JdEa2KSaXDhp18cHe/+/6485h/STTCDLl+fn+TYcIm
QijAYnZXfl2Et1Cs0xeaWuZ6Surokb4TmrimocnNw3xus9sGiaF9xL953nXkD8Z3+q3qg2f7W1F5
viY9qhl99nfAYTtbH/1ke6rx9FMXxcYB0YAZL9Ok7w9N39AxsQcGCHVTPElyF491raJPVtPi3I6q
Zpyn3vDVZFCb+6HMk0OOI/b+z1cPISwWsW5zbWCdvT1Zdo3OWeGk1TbKHRR4izhxu8vfv8g72yLY
KljEhLHwHZ0/Q4PRCGjk9CemZ32yqloRPmQYDRfR5KN9ymOkJL9/wfeePiDxQExS1cHhPXe8lFPP
3MFoToPetUejTeiIJzA/wEOZ1wrtkkd/dlY1j7oyLkVkDDuwaf2dPyET/2BpvnPncF+a3Du4fAy0
8z+vzKRAo8jo8ZQGGsrTqPuum0P6QeXwXlWPpY6jDepkmwPkXMX8UMC2uWn5mGtOWW3aS7qM8Lpr
0pR9JEYr4t+dvSAFeFXjamX8PwI+zAK/IARkBFyznMY2BIJY6x98C/M9d7b0eVMUnTYDa52Z089v
qm5rB1VdfVIhRwca50/YSb8pV3/Byw3IZto2jvXR8ea9q81uZ/E8xCVgvi2MHy5Egj6ksQuYwQpn
qlbizPFjYS+F4TFKEQbXAZtQN5oXQzp90uZt0+pukOWsW6P4AinE/eD+f/f9zFsSix+H8zmmc2I+
BPIoP0HJqvcsdOInwcB98Kl/fRGPASSPobeCQMw6gh+/fS0PaqRJ1SkbzPCB6UVzb4SF/ONPMqes
43Jkn5ij1a2fX6RAc5lVtjpls23aUjI5TAAVPvgkv1bbvAjsbO5dArfYKn5+kVwj2MCW6tTqyrwr
26nd+9OUw/jrbTB0H2wSv5YLHFIsB6o1H4dd6Wx9jqh90dPUJyeN8nFBkHxwEw529Gg1wzCt1eCS
JFPG1gN0pG4/cJJ5Hg0zPAidGaUJt2ilOfB5lmVZDvuUkiRdqHZMknVjNaVaffBm523ix5uJa27P
wMO5Z8KG/cs2Yts+Kn+TkIDBtxat6oA+6V4fHW1bkhXhNnaEStHzAKhKRTt3Icne3aEHtNM/XAjz
O+Hw4ADypY/jndtwEmsAKlONJ4mEYElpmtCLj/QPvpzzhTCfUnEj2wYWCpiE59zlkSG+BjjrRK4r
ehEVq0sJsECMeXz64MLOT7izCwv1hLMwVY3kbHB2MOjqzFItqwB7d31D6A9KEoRgzoGsFWsTAZGc
NQPOtlbhTU1Q5DW4Eu1b61XegY74dP/Bu5nvot+8G+/saRE5QSDNoj1Fomkueabk15WpumtdV5eV
JuS6CsbwIZUR6v9xOpRB0W/w+Bs7RwYmxg5Tg436+7d0XuC+fRP/uj6z6/XHzYU8ngjcWX2irc3U
kR33K/rAFO0aoSh+4qB+M4S9ThI4BtDR/nRrm1/dxFI7R+kZM1H351dHHQSxyG5OTkY4KLRHqmvQ
Kx/sOvKdiz7vN9jebERV5xxdv9eqOk1YAsjYb8yucaAlgrj0bbk2bDd5+v0F/aU4mT8TtnT2a2fu
Krhn33GqMRTw2oqUTJcY00GZ5kUGefPO9ci/4Qq3Xb409QKvuOlGtzEITGPF+E3YxGoRsfPBnTYr
xn5ZcjZas3n6Lh0qlJ8vsRXnzL7ThhNM4B2nPqO5F/VCYsmKtc9scMRTcvTYe7lAluLJbNXhYtpw
UMivi6ysnj+4Oue78nx1KGGIkaVgsvnn57fD5MvFBNqe2n7U5sFm2DwZUeMgzabAjJdd7qnLohqb
aj3QGyKBp8CQtxJVr+4IvkFoqZWRxxRGuL290HqykyxfR6CipbrRHwQR8d8+eMfzHXB+z7I1symy
HVLtnO0gPDz0YiiyU49FeFpbCbDSpavDWlpFyvGg5iUtdos6aMJq6TV6e90hcv5mTSQKochg9PTB
s+K8HJiv4NzqdvlOdfcXdV6ddkMg+/JkaNUUYZfR0ZigSO//KwsHQaFr8GCi+pDzbfVDrZW6Vh6b
0fy5occsTPZzvNuelVJbJbm79AmL2edVgYaEOdxUgeLEibQqKys9RX6ABc/PoUt+sF298+DwBKpJ
A/u5mE+qP78pZCmBObneZeOO3kWAuO6mN8LwC+BZdff77/2dy+wJDvU2rVSOT+dbtRP6ImH2flmM
zrAnPxP8VVJpF79/kXe2JpqPlkV4A1urJebnxQ/X2KE2J0rSvSzrTuwI/utWOU3kmyQp65AArzzd
/f71fhmSYOOFis74hzoMz/V5mZdPfp/Vqr9sIrP5rIMQIrc8V3m5UG4nCIcPp0HfNJOHv86L+xTZ
p6HGr3nvt9EH3yS7z/mNRWnGFGoOmORtMTn5+cNznAqHrisvAbMS45WovgrWIAzaz0M9I5+sVj1I
z2ZGESZpO7wKgUUBWWXVNteQaQQiw4C0rMs48wmazzwHq+rkh163h+eDQto0ikn7pCOgnw5jleoH
0qZmmkfXcm272iZGGuph0C9N2Q4nYyqTO5jL1StTAsBDWOmBRoKHqWdVRi7Asg1a2K/tzNFewPEl
N6B4EuSfPBVf20YPToUaxldbNoFYI44AgovvytkNI6KKPenZQ3PZyn5Qm6qzs9cRDT85brRI41Vh
Zd1tI4zaX3rpTBck29jvNjoyJ8xYppl8Jf6pCgAtGdptxUSfzGuzyQl9onzZJ3GhnsrcGpNVZGpT
sSxgHlYrp7esL4aFAXMBko6xVzBN7lUUWQV4sdYiQItpf94dhtjrOoboVrdrc2ZYeB7j0IG/UMmM
zs+A01TfeqVnAH11ERAhXiDYKnptE50sLXLPeoGYT/BU4eQ55hsrcUEBFV7tZltoDgiDIDMSKYWv
1HXSABGnLrVZetC5oJ2laV/6hCSCnPeGaCBuU/OGay/v3a3lN/zvnsDJv2vwCHzP40ifvQ+KtHFU
kVBLWz9Q1UKft+eFW6osWPhuPZ0yCAM8YltIZYu2MEySuWU68AUmKX4t32D3f2iBT3arWIjk3uxt
qAVkCUVwB/2CcTw6fIQlFZrMam21Afq4vuHbWUGMrm8wV/HwNGVq3kgonsZJNHiBsaD0EqaZ3Rgp
pu6uq3ewhKYndPkQi1szbDivhlnuLzExMpTU0i5s8LZFxrdGo8PrT9rwpSArbDrkejFqW6IT69dC
Jvh8q2jMsyUqrzaFNNMWdy26s2Y1kiGJChKOkEH0mmFfjwgtb4OpYgXpY1o1i64Cqo3IYoAYU9Re
EawYkLKqPb9s8Fg3LlotZcPy3BRjbgQzAqI3F2FJg3WJ8AFJYqeM0VsHKBPrdZhpwrowU9iDq7KI
g2fRhi2BkFbu3BVyHO6t0ZTZRhAX1m8Ygw0h2pwhuQdq7fJ81JMI6S/QtuveV/2NUTCuW3QUAJD2
Bs/8KpOhBGXbe+Y6m6L+6NhWubVS1KjYt5pdARjc2vs2v2ZZeb5cKFXGDyh/Ec/6XR3eR1VuXCCN
1Y5QBMMcv4qBjjxzy07uCy1v79vOi66G1m8QOodRpZDpde1jC7LUWuLk8dJ1NynBHoLuMIBW28Ns
ftt9/0fUgKiB7tC/FzXc/u//pJQ/Q1nMP/K3nsG2/2J4zpmT6crcF5hbSX/7IfgbJkIU0zwqiOJ9
e97/44fQTP2vmcjD4wy7AtSIH/g6mgmxB6QFoUsMRIEzWn8E2Hmrkf9VAjKFMYRkqDRHpM1xEeeS
BtOdWhnPfp/cSULt5KhEFUuXtFZtBUxeOhuSwLh/qBJin+A+D02rbxLUdzRqgRYJzffETuLjH9xq
fYGQ0J9yr9kbg4ntqGd8kh4cQ6N1xd7gc2d6aroF15E6q4ZJCBGPdWhew9LW8lUXepAKhTGyfeAh
qr8GIvaAWgKcv/WbKYYqIAYbO0HqYW6NFLp3ESirW5J18LnpZPEaaJEDJ7Muvv756r4qv+V3bf3t
Wwta5WeAyn9Lngpd69+uW/UMG+ZHFc7bD/y9ai3WH6dJhq3233oaird/XDwumXqIDea0VaJuaFP/
Pw2OZvyFIWP29lDDzvE+M2foHxuPZhLux29jvjX3Kqi7/8jHI97AYP9atjZ3lKTzxdQERxAiofNl
W+D7IOnduWuTEDFM5IFD1QPf21elqh9Ns0UQ6kmcqNItbvJpdC+VYQ8vOgfGZU9I24r8g2QVUDWd
6rYfnszBV3cjMOZ7u7DKTYdEbY+uNkYLb9yz/qcHPMTA5cImuPHTbjoK1NDrcNQwYFh9MG5kxX/n
MfgfC3Tb0kEOeAEZ18U+idd00UKLCjaxVnfIyBGmrSus7p8TF9AIvlXctKsod+wvdmZQJ8PwNOUy
xeF/RdiDe4wrGyU+lWB2kJ3yIGVXEhb9UJagKDLgWelST72kxtnDXYtZOdrpQsfxQccSXLndivIm
s3IZ7lu96x6xqEYIzsUobjKVOFveSnOZ+fSaq8I3rgWkFvR6cO+L0YamPxDXsEjy1kDZqA/RArrt
qi2NAxrEHON0dOLQqB8JQFplejlcK+ezZ3XXLd2nMdYQ3lcVCsov2JTUDdrfAwrMF1ShFxZZnX52
JJ76oPr2wcn0pZ10AEgHh7KnvtND/6sGZ/lQ1epzWfjZvit786oWKD/ZqRb4N0AvxfLF1Af3AhPs
gUt1BUn3bvCqci16IgUrNSLmD4OXOEYSGJbuK3TDehnazvCsZ+1XlECgq6GOPA128wReeq9M7ZDV
ZBGEgZ/eUiHgsqmG4muuyzuZ19/FZDwA5LvjYb1DCgYcvd40PsawnKjqDXZpQY/BEuDAIn715Bf1
Ji7dEpiyb65rTdzKMruvM6O6iE31bFsIoQku21X9yDXtCM0AgL3tyRM3j1YXI94uImDNisBE5qgB
dgwFL9xXtf6d7LhlZWoLjrfoRTXQsCaYVJDmAFK2NqjlqO/2ldXGj0r442Fw5DIJa3xvnzn6yO6r
FnV3deCsgvypsvHYL1vGeosmGznZj25jrquSNOFBE0D1sT1RBtp27YMiRllLleGP3SEndoMECAuj
w4UBu/kZN0Z+3fSBXLsgxfc2MdAwZkoDFTqoGxoecb6KwiZ7xH9OQw6lAaIUvK90S8eIcbfteNdO
jC1Fjc0OcewnvHzr2spuLTWussC8iydKm5Sw2tYsb7oANIc9QAu0vaQ5dhYOplRET8AKNhTfCMIo
wBZM2w8Nrr91V3YXhDCEO9g9F4SEZ+SPTeNy1nAnTCdw6SjU9uCAQmTcNNRq/TBR8S8TMyhW6NEI
5O41HaLIxB9icnDNlc4W6/dVZZACgRjfv8j1Af9ull5oDAAWWQ5Vv9Gyfs3TDU131mEKKIK7GXWx
z8fBvNcwjd+geaMVn3ApEUGNG89RKQfktvuaRsGnLKr3Wvqd7rxxT6xFtc4qqT3mUvCIrbwd8RWf
ylyYG7Ka2Z4sY5dkOOekC3Nu4HowJ7ARqJREA8tarfzGnRbkcWTLqdUBDjRuJxl2i50YfHdj5MrY
Wo1wXgwgDpsuVOBRysl8GgfvNkigRWg6jIEy3oX58MK576YIlaDHJiEQrOKwaO+afvSWY5b0zCdd
bEuZH8NdD2jyx68+l25Flg+mSd9+DftkP1YJmSThY1A2r2Lskpckb3ZxTaFaK3M2ki39TEScTvGJ
mfZVJDpwvfatpjXlUtd6alvR7QZX57TP7ah7xS4ikqQw+Q4iNZBt4BcQANJdnvv2KYYzcM3HwUpZ
TNEps61uDY3G32miU+vCtQ5BOwYYbhQZHoazE2GEZG6CU2KaT15kKr5xOif3bT4FBxisMKIjk2ms
JAuo57j2gJ3hU1yJLeHT1sqST2AXs4UidS/flXBY/DWbrfgU8vy8tqzSeihVx67uBi9GZHLvAtCB
kgCYpIqrRTE5/VZEgQ0luBev9A9WbD0u8eqtre1Lj+OjNYTa0dJ7vXumTZcdhdG1L8Ug1bAYTNt+
zU0tF+jYhUK8HkElQw6vVysCn51tZEQ9zOI6cS/NojAeyASqloOINW2b6fYpJfHklPXkvy5k7VvX
Q43Us61rMFfJ6G1A+Nd7VYNfQpTfcZq0kNAXXpOe6lyFG4XZdKklKuXGbPRVrAWzn9azF/Q8ox2m
x3E7MHT8VAaoWbPshKtjVxPEWma7YujTHYKIfGdNKWHXPVsgXYd+3xdqhwTjO1O26mgNUGaCIYU3
1gBy2kSV0HZuq+INDjp/4/BZiK6ajhCNjWvCoJaBhMwzy1X7QT62g4JwPUTl7dTYOqEzz/0URxu/
L50HrRv9zeBAp2l1nL9AOdQuFo2/9t1KPgZ6UjxrVjrdBzCR1wP9pkvO4/EjtstwDyFZ2worCg4q
LsJDYnraSUvr8QZqcfkUjZhqFiGlCE9P4o72ichMHtitvG1rLb+Avp8/MsnNX0JDTnfRQMi3LoeG
kHJf3zDd9a+ZaaUrmc++F2OcXv+8wr2MXuuiKb6359XtT+zA/+/q4Fnx8+/Pb1+i7OX5RdE5/5tS
uP/6v/7DnH/kn0rY+ovJGsez2dCOHmOOuv2nEub8ZqFeY/qA/lbQ8f+hErb/Ah6ILBbWpikd+us/
VMLmXwQRUz2DAeSvibT7E0c789OfW43oOo15yjifFiVjlXP9UOWSh+DRPgQFJ+1uNxYdORR3QZn3
jX85TFMM0aZGwnMZ+w0eIMMqjtIz6nvC7CGB+5g/YCAa3EQxsWBvUG68TIDJy47QorYciJnX8cQ5
7iea9kenMYdtUwIzqVx74Tk+NhXXrWKQ9/V0zMOg3yngPkHn2a8YxAsSWpp7B+bbBjnoI8NAB7a5
Hmo3bkyjZ4G9lwoan0f+aulduh8hPe9qCVVPhFO+j3n7u5L/5a4ULv5IhXP4aBaa3OKSNRYEZJjL
PLCJngp0UDO6Ea4KAffCaF86OzxaMrvhK9WxsUAWT93EXxQd24wrwIbwotddDPdizG8IjDhVFgxG
Svbu6IxB7KzGN+T5FJp+9J0dh8CALMBmsyCB29iKYtD3hT417YHuj7yIOsN+rnpM4/GAvnDQxV1O
KtgeA57atnhRcL243pp0BJxfqb7D30tzp8MLuAEJlW9qxWNRWT0GVjOKNmBTX0k9UzclqTBXFXko
Cz2LvZMUSq7cBJEtrR3iiBr/AdomToSyjAHLYI8CxYfdBh4gwXhtuW81a9gbethcGRjWF0PTF0cN
ncKyo+O/NOgA7ulKd6sqD4z73vWZhpR93r7Wypg2Cs7QZ4JlxHGUofUF1guPh7jOdiHXb++2XcYX
GLX6WkbmnKTQ5uWqFfSvPF+YK92xL7pWlbS4swlsh19vEoPm1EJXatyVnl6GBOmWombyotOULvvp
XkUZrvG2aA5j7Ng3mRtqO6fEVTZYnb3GRgroZaTg01tbbIO04xpKk9wKu0md18Idis9YmbNdgkF6
OZWDuReDFd/HvTNssqmoFons4wWFS3EIA7M+0msz9pZHEE7Fpz65ketSo4rAX6iyJdBugAxLGWSI
C1Xo2lHGntFQhzaKp/RoG1u/JkpkVKrfjramb6tuqmdBIQkBVuXq/dKKOaYpUFKQff3gwqrbaT8b
p1nXbnIswCJ4i5BwBV8wT7MoaKiKtBfaklvMcGQVxI3SHr0UQDt5h8PW7wrvucDd96BBXLhj4Uys
FFQMjZ0MNxhD7A1UX7zATtu8BpPQDmDy+luOFNqSOEM4RRjabexgi0J3m6UeYlxTUx9eqMqg3+1n
1qbUJmPN+b7e2Hhc1sNbfIKuNxTSiRU63ytVVVuPgeoRo/hNkAVMffM8uskBIvaDdlXTw9nWWbFr
NDs7YRs7lG1WXzD32rWqyu+cySy3LIMT6u47fCTPhUl+RFTVOyXbeFUDe+aC9V9Gnp6XUxHcil68
EEJiL7pY1FvEG8A0cLncGRpAoYUVGcDnjM/OIOQjo6GYhC+925m12JGs+JwQjLYxQTSchpR0lFib
XvGt9S+qT68S37svimJb0mVduVKsXD+4IknqIfOaLWyhG6r1Zxyyn8feeaBHvGpyDVN2m9sLp6jX
jWzWTFa3tuRQCPv5WOj2ZyPtXx0T+E9O+BGRMsELLsIrBqpM8RBDU9WlwHJoyH7zZXnrhc6pKbLq
mA7apyIyNlOjF8s8DVeNjI7ZEO1lqH3WeuVcm0Ib11FUferpuEtc/SX0v2VRhtehUx2s0tE2RCIy
BcrLDdKyCxTu2x6dJi30cqNFQbyuRuKJG8dZEqgh7iRMp20aj2yNjjFF9wO81e+lqNKN5gR3lqBu
VnIEqsT1CxVcpzL3TkErCAHK8aCDgWWqQQgGbiRgisz1hvXUuaB9vgoLZZVFFg7e+PDSxWEIE8pL
DyMZCIdMIMcOQofQFddf9KU37erUJiUHUkM7pa+xN3yLJo3jqznOBfElpogDaak5By6tXDh2+Bq0
8WGqgnu3J2NIh8YRigE2qX/J8KdehYpnCuI9Mk9lC2FC3oRK3ePmPw7cGQunN83P3Rx4gKb1Kuud
ZjfAqVuCYrtRJmZgT12TW+59T4JwjhJr5SZswQ7gyT3FEU/PWGJtd/gFm6kCWyWhBToR4NYAP/W6
FUAXhB31C7wC+sqcnCMRvByhwulBzxzU3HHZ8bQFFwbVrrkLqxpbrDV96RqjX/uxm35z0afcehpf
Gs7NgfFdkUN7idt2a5hZ9UrmJZDDmiwFH9HHV2zMHE/4pFvP1Mhfe4t1Cfo54kW9xb10jmSBT5z1
lqHAPbFBpuKfinFifuH3kW0s8XalL13bR3dlxZ+rWs/Tjjyirle7bizAWjnyhoChYq11eFiDNrSX
RKDbMBT1/GCmDXO9BktY1sf4lE34rqArFgI+4yrxRLRkzJRv+LI5frnER8CJ3WqwgZeGWSUbOUJp
MtpheK70TEaruLX0tV7XDKWg4QFtkWNpDoeGPh/N6LdMnIx4UO8QFQGJImYmAXlD25rzcwZAXIs+
mdboOsqlUka2iXNOeJEfwcVMFlFXPNsdMII6IIKzAJ3IpK5MnnQSbBZhD9RkTMSnIe7aPRfmWodb
5lSMzgodTz+zMsita78LTkzOV4A1IL9GPAGW5dDrS1S4Rz0dX8oembzttSsC1G7KGEMt86ZrOAyK
gSRP1nmmt5z6is9YRczjkuy7q4/Y5gtQB9LIhxVfIQwQNXnDqhs5wVZp+ozNGvaDL+l7ge2gGIIP
CjSgy817jlvcm9LS2FWKdIO862Uk4vFKElO2zTzrc1Fk7JzAgJamjRYR2CARwIV8iOBRhCnnLq9C
VU4GIsAGbOcLyHHlmv5mTHMjoA2TjNPKt8d+n7iRteOM0jvo5jBsJDTeL8EIhkfDVcku9epk28+I
P73Jnxhf4NV2lKRdglY3Wpckpl0UwvVPAALSlWvDYFNVNh17FKZ3PY1PJ6yqTZW72gVG6u9Vlmyq
ireCZ3ylZarfU4bJL3FjQPWKYesuphqAThF6OMULxLgTy8hdCTl8SsD+blKVBGsQr+GSGLbj/2Hv
TJrjRrIt/VfKat0og2NwAIu36AjESAYnkeKwgZESiXlwOOZf319kZllLfNnKyrduy5VMKYKIANyv
33vOdwJDPrnEcG9Mxp33BARBda1NMCIJgVKudNgEXZW+9SpKj3Op5nwtPRoMKm+HV9AQYeeB9my6
Lt+wsTXVvJHEYdFvHlIL2JsLMXpNu6fkA6jrXu7zmO9jw1HaIFuM9Jic7SCeDXUL7AgyHqlpJbuN
49CJuCDIypahPYupHfCQ09pa592cwi+083ryt+N0Jmpacf8UEy3fb4zEgGRfJr5Rnnyjos0ymLbA
RJPO5q2ZCYNcREfqdltCsS1ujHi2xQtzlumgmE/pImwJqK+/JpnOGMV0ZZ5ciQZnvGSBnb33porH
CcZjYkfNMSiAP+0UYcffiQD0BiPEcEmq8wqm/vRotjL+mATUCWZAaWuAykvIxVoViPnSo91HOght
PpXu3iBj/qIyzUS9NZ3fj+EEolbsl3QB26FqY0kfGsraYyPxi+UGK9m5pZik+wgjNtIp7RyLjlOK
5rAhLsDqRjTaZz1GL1JH8iI1CVWMz4PUAb22U9IJbPMkuccvroHMdOlGO2PVX8zzkE5HMpDEam5t
v91bieHWqBeCknvtnZQNv66MZLVwiVffI411WJdzjzhBKgmUFBVFpqmO6eReuXIeOJMQrDkcbES2
90Huum8BgegAvKTwAYMuMus3Nh2uBCnGrCsMVc4CXUUS0GXdZAN0kcMwZDxf4wTFADZIpV+q2ZBu
WEs/NdYZM2NnP/dpYz2NsTa8I4R1yUpUWSl4RRE4OOpHnbXNPp7aybijvbtA+puUr++qVKrgUXia
pdr25tTcMiEwuh1vlwmtljFCX6wVArRilbGpAcKy4tQIq4HAtF1V11XF5t/F8uSJMrWPE+rhYhMT
/FSECDWJvSJgNG6/20M3su/Q2/fYkib3MrejhR0vCuKvDuK2185n4YWUELUPPgzMMmRTKMd91EZ3
ZidoHC6zl06n0V30PqUvJ7779uDrnTnN5kBGsBAcVoDj9DP6vqy+AmnVTjteLjke6y5iVDD5RrZD
C+0PX0krMpswy6apujHV2LDNljMHYztLKQa6RsPHNjRZRlq4m36InurSB4du5uUhBXe+7s67TavT
knMsXIN2mGBOAXHbZNk8IdQ4H+wsqz/4i23eeMrMbyyzHdbFGPC9tmAavFVnWgpgBmMU2A3OM0bV
B05MPJ+iR4JqJGdGmMVrR1hwUD6Ng8yuacX1qAfAlFFcMYwKfUit8HPnyXwNCgnm18SsutKN1wV7
RRX+yFmvM8JWTZ4+NlBzzRCicX9BjrtcxZZW2yDCmLiWShAgmQNMDY5DQAhcCNY6v5dT/IqtRJ7A
9zCyiESw7n3narGGflPwBVRxf7IAvzGXym5R/KwTMoazI5FyE9yHURTXbZx9zPT7Q7KO82A7N0m8
Hm0pNkoBpxsGC1a6b/tksDlO/7u06v/rDP5pnZXi/+8+1Ze675J//O+PNv32aWrLP/ujV+X/yzRR
3JGQYIqzqxi97O+9KsgJjPiRGuAsPCMQ/g1eNCzrX2iTLUaoiOZoSQU0vv49snXkOcknwJ5nmmdh
AD/ub6AXhWt+kusSEI68k8bXWdGA+vCzMp6RGAE/lOCrVAJTDWnZqJVLDUlp7Hhd/2xxipuRdFXa
u0xsYDVqbfOQU6uCaMMYIxbpXMqyV2XYNu1Ur1FIzMQC2UWyXDlgHf3bUdkBhYvLShvd5Y7TDpdV
BrB8Y5tN0O6XUma73HUI5bTGRrD6iYoTKzl9zjh8kYsJjpy3kBw0qnxrYRTbodd9LUjSGi2IplYs
/BAUTnxLaO0yhW7QzvLF1HlHXG/AXce7nAaQ664WUBHTNYLHCcsSGrto2IwtybAPo9dITmF0Bqf1
5M9LcV3WJaR18vX87ItpGW5+B4WuKd8gGnm3xGdI89btpeMfZa00QMOpBp5qiakcyBRqVL0vhnbw
74HK1K5m7OeD+qUhWBVvZdwxrOl8NBdOaHWg8kkFBUt8GuquJRlgWDxgkWA83WwJu9JDMbrCXTTG
V8In7jBdc3v1/Ox2AeE4sN+75h2MAlT6VTfUOn0tkjpXELzLM32c+QTiq5U7V9ra5wlDsdtGJFn7
wrg11VepNAiQRl82gjtv7Mz/8KHQ9nvR14t+J2VVoCCf7Dx1zPMozjassMBFUBBfKLvKhp/YTmky
hZ1c6oXIBb6Sj8mEKsjkfAH6H9Wi5mtTJerJCWV/E8TX1ehg7+aMlUkGOd0Awyj5DZWe8kFg7yWH
V5Vtoa+RGNf21RBUwfLEQQdvPlTotJ+iA5BDoV+cSejoaSF2Q31V3VjXLP/VZiSdZAfX/B5FuHOR
j3bOJAsFQDwGI2Rd78mZZfNd1Hk0rY1heGIi1oQRws7fHtzbJM/rNTVrHCYY6JdVCemGHKE4RgQ4
wfW7oUPq2Y82crn+WRE+NV64VtutUAaloxnq1CQwgdxMp/dDrx9owZyVMeV9MdVVBlUzq7fZsCy3
kdE1hFHA9GIDgtx2jkLhMbaDpFjROeLXmQQmx3VApO6zimyRHQKX4PpqXQZjapJuzyz0ZjRoYUXr
2JekiZsyTSU4Pnqo/WU6w53bpYY1LW/SIRSAOIIpx6BGTky9XBcWs81HD/bVc17MzJUdRs9rGAQl
ORkAt7a8YRHRhbW143xs08Z0OByuVcx/p6BI6CGZgr1qjSpg6O6MPzIbu4RqdGUSdTEgAqkd4ykd
Zj28zXjLx+8+BFT/YMrScEnUKcb0pPAOWh+tyQxnKwwgYsDwVZZtErhF/WqhwVh0160mT3y/GLq8
c0iTzdfdzAbJo8e+i9lQQ+PvdcshdfAc0qq9oczX/WzUz8aQqCTMcpvUlqRn6bhqIt4ZQUokCacB
HyoqZAMcaZDn/t4jV9fb4l2HO04DSK4Dr6vRIvq1uyZKmnzwtjeyy3yGC7tiuJzbF9HSlcueAZGT
rDBA0vw1m9gnuWKsyyeQW3SeZxJhLzgfDDf1XBoFkWmZ7BnXOoVeFbZbPfVWubxHtSMvhEyX9dCn
lPaWP2zIZJF3nCqeFg57SK3AERxSbhoAKHEg29HS+a6EcLKJzIVMjEmxfvKLGP5q8cz64KlU7DCt
Q0vE0IUw0dD6eQrA9K1SYsS/xdFoPFbOEF93/Ez4bjrdFLM937mVX+wa1HE7FfXzZWUV5X2cleOt
rnLbOkae/mC4TBpXlFbOVhlLgxEzqB+oTnwghMRnfgyWKOisABdeERnqrdol9UYyMDtxz9lk4YBX
DdhROtt78gqUreupRwGdzjC32o4w6mMvW28dpb771WF0uuyWSKB8LgvyQKyahgauDi8JBytS10nA
wY54Gz/fCJCixarS9vTet8NDR/YReb/jUD2hIFD3rADQDIVjRO2mxDN+6PElfveLIbhKNYBMn9N4
aFfWfAItHL2MSbKIy6LuRpBaBUdB3wI9T+ydd8vHPB1kGeQvuulJDzhTx7eDz01xqjSdFv1GTK06
wT1eM3EQDbNm2T7iVfURek6WVDtvcJy7wvAlq6KXPFWmN5ziAU6cGQnnnuiL9hmcXw96TUpOnF56
1zgEgZ7jjOmiGseZmIkzD+DezCfFEYvy9npG2btvM5oXdsP5fM00GFIZ9CL+3O1Tq7PORNVW0USi
L0nGgfvQivTNoatzFFN8CTMSmGQxut1X0TTklCBGO3lOf53PfnFPy2oJZzG0675dknN6BqPbNLrs
anRRLiL3274AXRYs51LAbqzyOY20d7QIeL1DuZWHHUeYaxNfcWjRpGB6P7Q7VXrDBpWW8VEsaIbW
RPr09FOM2rmdzFrlh4beyQrlsZRrstjjrWFm6WWx9B8xzcIAWGulVPQcCesGkaT+4ihlbLK0dR6V
gY3RThvsmN2pFao/EEVAKIdRl+ZHlA/lqm0TcjoQJgvlJF8Nw4SYG+twoiN/COKBckHrowrol5Tm
wMKCVhNIxdRaCEGWMbqfAExv2fm+Y5ZOB/oTyLqast8FKOQvmrGi+9tmKhx0gWKrsdocoH9jDufp
zHWlnemCIsffs6AGl+V5IFiWsfuVMsiQL6puh/j7JGfsWWZRqbu8MM/DHLzXIShW8CpRFnWPBHTT
MoG8H6jQ9Wtdku8DfLfhDNBiUPZdqrV9GVOV3ImFKd9zAUnyLQH2Dlp1TuZ9mvVVyLjbDI1GfDRx
n5LvBFDhPWfPv/J7+VjURMWUbcL6XNMiTD2zXNNHiBn4NwPtgC4Q4WCmJApPLtYq4BXWqvJMdaJ/
nhPcmzZbL0CsP80Tfchm9qE5D/TNM8N2d7Vt9yD7kiLe1tSaXyfQssaBJDSW7V7EqKN6IgS7rdfO
8zeUFWf63sD5+NpxIrWDA6e+uVNlbRBNYFwQY/EyRFlJ9owphzCSQ8CXbFjBNtOe3mSzQxutaa6t
LAOq6/ge0lkoTaFBh2detcIpL3Gd8PvEGWnm43LpRiNo/bKpqkuQdNMqIKB8V1tD3ayl4YmtIUZa
xLlhWChjrUKtHM2Cil82HhkBWf1GD/aIXQxQeJNOjUPAUT5+D7K8+lLlafXsAwN6mo3BAeSYdHdT
wGBnFXuL2g5Azx/9Vnf7Ycir7dTX35fSM/d0voqQ4Gj/1IiqPNVYc7cQt4vvJZ3yXQ8Zep/kDMJU
ACTHwudx3Q5mErq0PUId6/SOnJ9qrRNDbCE7lw+W6y9HF8PkY+I1D0UKqhxutrmrs2V4t1yatlPh
vdc8DTswnCTKEMK5ahKAEkM+3FEnaHbT1CnXSgUu6DUiFCxO04zSvPjU4uWnsptiNlszOuW1fk8L
NzPWvADkgzmOumv5Nu2j1rgAsTCUj45dGvAUzYK2XZG8gcGV+2T2eeM0qrUHEiGKnaMh0daEFr1A
yi4Q4pWcbzmKMDcjtcfbdVNDfcqsLrl2iIcEepERfBABuEEQ2OWE53Log5raT8O4djPro0rd/lAs
FBgoV0xvM3olfoQ89VBYM25g90c202+sZpSHJgfpgHyJtjA6O+eADq7NmCD7gtSPuI2Mo+8vUKIj
JDA73UUWnYYkD3g4CU+vmZbDe4Zw82RYrftBw6p4g2g5nlKo0uSNOy0ztsoKF8iqxI1nwMHID6qa
V9B65VFUdMXlEtGRmxfH3MQ0BENltGq4LQsvScJRLjE1nb4prNG5Goil2gkSdTYlIJI7T1guPniy
XNa6mt0VKUJDtXLQFmCK6GluFijqj9JaTIbyRBCKld16lRdOXdYTqAUWdM2UXpNRSv75moEd+UbI
dd3QsegeR16yXMIW8sxTzbNNButstdwSDnd7ZSqboyBP7HhFUHp+Py0jy5YB3rK5mNzM2yfKt+8U
sMo9iRtOdhza1CPIz3X0w9igml0R7CzWs3ZmBh2eQFRJiqGYHns9nyD91ef8Z+L2qLTNZD8nlb2h
hnFvbJy4OxU7EoXpSLemyOv+xmcdPjhznl1O5RK/ebr09SE2Y8vb5GDgN6PjorbMZ8miladIGdIA
UwnM5QIphVuTJrCydTqgCOzzZyPzqQIL2d7Hk+ZVpLVPnYIX5cPxuxLZWpQdDFa5x5i8pLeBBO5N
3WXDE4qf6rp3WJ+EhClhoYlgqeoS47onIv2aTmPlrCOrDh4Z+55LWDDoa0Yb/rVBgw1hn+duMiI/
oEML27yCWuZdBbUzvgpqStKtpPONvnfK4DJzTXIVyD25LlgUD+CknEvfkdV95QcVariYerpxOqbt
U9M1dw0SAFr+RXExEzn1wmRNI6CO5MFEEAWhXi3Rd6fpVChKtNm+3Y63BNYTbY+Abu7IYXTPvjQ3
3fSd6ezqpWfTSlTwAPKdlgBj070D3PXRyf12yxPRvLhmbyIwifJvc+Vll4pp/7HT9bhrDCYso1m5
RyX9ZQ7JHXhMhIgOdOPmL3NkZO8Mp4v1jLD5QqECXfVmF31Dj0vb1tXJlSS+8U6wMLL5pD1kZI5M
t4kVFDxkk36tgya4TYHVb60pYGws/IMrTQIIydRDROvmYuXzEayrqlBf4PlFLx1pNyeraTl1j6hV
k/PkhcMbydwuT7JhufsiqnAGahIepnWKlvHFjVBTS5SRlxCFacXZ9Re9ULlgcxP1NqAHKres4TNy
vWxOoVUz7RAxXWCBS53IorEtvjqLHu11vLBJe1WBdqfkYMgaXorbgMbiY6WgqK9lPY9U8X2cO2uE
ogv/YpTBLfb/umGzbZDG2hWwuYwWCpU1ObArNJpy31E6VavOcp2ADJ+J4UpbO0/9pMeHRiz0XzF3
uNYmVsL/KqrFIbUim4ID2uQmuABakWZvS+0FwT5TFPpjUOb2AZObIu6Ng57eUS9/L/TghZGpxxsy
2ggcGJT/YfrZ8KzTwtQX0+L32XUtXJpKPtX+WZg/0wJv8zftttOEVCTn5Z2stFrlaowfg2iWez05
+gvdj2in0gmHH6oA0z3YrsqZd7XxvB+n1mUuUrq07UsTQUloxTMi6Gxuq6PhOgDkRhWMl1Vfmdlm
oQ2Xk/5g2zRqyTNKa+V+R8CkdhHInXGDIla3a4+Kaj1650Eq/u93eRYOkhBgbabAK4lHhEeUE8eJ
IpqxFIX8oZEjUWCTb82XdHc6kgBjVd7XbJkFCODBIC7HFBB9zUY9TK2TQnnuUCWnQcxgvEzLb30n
3KNOMPgwN/6SRv0Qtv1ofDN1mXD4BXdfLvb0JSFV4JIq1Q5pUhFFQU7YlZGl2a0olmpnjWSt+m3l
nXrDmb54XZVfcaecxowyf5Ys98h/47mFUl+S2eUIO7+afVjCJP80G/bWLEZPFsSbxZ3nk+pA/a4C
eo3Rus4QRrl1m93Jmi56qitIwcnsWOaac1dxI40012vyIF3zJLyI9iCebVQPiznZ3pFQ7sW8a4uA
CaZSpIpd0PKI/TBPLcZQ6YQUCzWbbdhf2kbX8Y0RNYQIbXiyxpI0rDxx5LtTLn311sdl5m5zt1UM
Q2AFNuSKSrXUX6H0Sx84eg4ElHi9fIqeOrf3yUAYlCTH1yqHpA/wF6KSQ3zh5e6N5kTuHAhdyDtA
MSOnGab0QXSRWMO8bHww1fI96VzvEkK7/zFmXRa8TL6OXOJAOhanDZknsr0cGD3ccHxwsoc8QEgD
bQS5wsGp/czfJn0d+aeIw21060Z2VG8Ljg7jARM/8/2ly7lqGp/TXjkwq3AhinhF2oJFhhpShQz8
m8fxdlo1CKOCcHatSBAT4fH3BG2Y9m0CFLbYZ4K8zw3X7raSfBaxifuhAy6ddOl2LNlq7tToDcs2
zcn6YLxD8MsJK0iHSjfPZ2fvQn5P9jSJSu+iAHfU7+yJGASyFPpFRHeG73JxbZiGH/rcaLyjXchc
Og502d3MRkdMie3nybzLmIcY2zwxq3Lfacswbgj6CUpCZm3oM3LWVr0PnElGl4U5VRTKnKXMB2ky
dHnpqqwHxN9mzrjKwSYYN8Eycd2lYyK//l/am30sMASKk5k9X4KCr6iQndcAo/RRm1GwrMkIjBek
RLq+RBtNLGyZDLOPHYED1toYmXitYreUN3oqx8uol/SZI4sGoOL15IRSEIwW7eSIlpKBlSSlRy/l
Dkqlte7ygNoDr/4beWrxZmiJR6WXQdiy2XqHnhbiocwtcSHnhZzgHmZWZHGUzwfC7RJiEpD8pGu/
Z5JcBz2OZUudaMJ69y6w+uuhoMTA5+sNqCg5vuElrb6rCACqX3Zcy38i2XhaAf84MlYlPaVDviOx
iLsBiapUXsVqSKoAg1BurZYcUlzS0dZKiuSxXag6hgxdV6ZIlh07A0K+s5Q4oOJkl0wahd/Qch52
KMOqjgBcFJMaSeqm8wEtNO4ybqPSnFdwsBiAs1neuFpF68GKbey1Q5NEB1fjryfyz8zprLCAz1jT
Nn4l0ldtJ/7ZI8KLnqOaDpD6DLZ5Wlp0pUnhXRiDjveZXZcbx0hmDDzFnfbd11QWHnpPlvjb2Efu
iT4kP0gcKYcEScp9l8vmY8bbfaU5mLUkaZTFTbH47F3KZf1q6v4k+l49Oyaic1NbxYE6H0R+w+Ve
cGBzdnIrOyx5py7iVE0ffhVgVXA1L7ZMc9IuGiHfSB66HJap+EqMcvw4NIYk2KTxvtlR5r2ZZUrf
kg/2CUluh4s7Sb/gJkpXYhLDlRDFvGmZE5Hp01SbEo8a7f4hWPtG3G7N2ne26C8fZR3gcOqEMlnE
1EiMBqGCd0Yvmz0atHcnr+QBrci1TVeRLB3vQVRg2VBFslSrFOVLj2I1mKIP+AXZQSSlD4PYRwxM
h1xZ5fe5OcsbAnC6y+I+9tLOVgL2KDotKnajU9HF4LXNjVdOr5T1BuK3gb4HL96qdvP4JvVnP5SY
2rvQ8/pbarA3kshRo0UEnC5TdlMww1lRpIxbDNEkJdc58aIF8t9NkzbqS96lI16lbCrulnq+Ff0S
cXDrzc1ijM2h7GMjJF5qQopjihBPOFnXSAuzpCTWSAVtG0a8sjvodM3rkJt3S2eTDTI/QMraQ5lm
5NHVT4bX1hdZKfepMGPmszxXmT0+V2JaTmk/H0kRXjb4f6OVkzTOLoJFeTFM7Tngzp+OAt3oaqS2
PSjm6ic8V9MKs4bYBbDDrtKx28YEa7yrAGs8JBnr3AdGyiyV7A+e3X5LW2ZYik7X0QNRi2+33hMp
pCAEBMXWVNRbmRPsBiZrYTyIKRwkahVLyyfW0OG5b8ajUwzRIUXrssZwJodNrxyPEUFGplRQH+fC
MkKCDApajFgI6cQKMqs6a7Cv8Tzn8BFsaK6copzqyOmtSkLB+zLuiggJo40K78qWPLbNkk77wC7n
cBmKx8bM2FPbSABLR8FLj6YMmTFVQCbhHMxlS5aZWz20sXyKW57MPO2mEGsby7cnHktrcdZ8WedT
WzYhHiVac6Ac8NMNp9hHUQjYAglRpGdHlHZkuaMWKDcD6c6XTtUb35mOk9F8Tn5qRg/cTlI/NDlf
6dQz81oLmnl4zLRFAHLm02dR8eOSF9R+U6+3qYdeaskzRQaWLJ8Hhoib1iBiMB4A8DUIQDoOj5l7
a2uN8BuG4DnotjlvBHP8ncMotYaFBGXKWRtZBxue4zpujiMNYLxA1WWfR+qraBtUYTHda/LteSl9
Ve09kSK2tdFKomNy5b6P+x2YjpSjcdc5IVPCedxUY3rZl7I/0iFkDU/6NQmx+nbG/3jBd1i9E3ER
0WSoOKSYafLg9L2+HLMiv09qio3V4nIOWFvV+O3cIP4g4cYLa4yeD9ZspmHPWYq+CeOjsCwSpGym
3XO7whidU4uYszp4jvsy0Uc+GEFTO2x4hW43CPzM04BxZyuZHYZYXN8SywiWsDfaKNtEw5gSWZ0b
JskclYNicQSfALyj7R4jGqkX9cw2mfpJc8twu0IihMIwPzfSQC6M5F4lqfFK+4Ly2ch3HHbEySKy
72GJsnlLXC2Pq0q/+7Mbh7SkbkUV3Hbn8JxzjUjcw5IvYUZKbygcFNtjDnDXyTDnYkHLK6oPhZId
42iadcaqZBoRbYBpqJg6qc2blXKKDBta03QrslfpB0s3WbsM0qhnS+t6YPRK+8fR2yHt6QlNNiFA
tST5Z26bcUtsO6tPVljDtpnneZuYWAMqB3qfJoj3vV+qY0a6CI13c75AjG+g4jflbp7ZlClT0YD4
kXkvHbsjow3yzQ/6gpvfzdT/IC/upk6Rm/7XPz/xiCQ8b/DX+EcdeETC8XC+/AjwUWU8GnaFIy23
BgyC1LznhA/Kcu8vcExoDH6gUOFYseEYwggSpgOwGfLRzxeKRhdnXFRm69auHHVECmpNF7O7CDP8
9R3huvnxQtyGBBImHPRlpgtw4fz3PyCJIn8es6asUkhXxeht6sHr0I+WQfQ8nCOtw4APFe+KGyT3
IpbusPv15T+xTmHvORLgkg0D3wM8BRnp5+uPCmFkLUnMTSsD2WFEE9ZZuSm6BSeBRLX1DS9onpBP
ZMMJN4y4MZeGHoOj3Chknm4k5DM1ZnASXY8+9bdf7m8Ja+5rDoTlL91f/5lHbPdeX72W7/rzjzr/
Nt/qZm7TOOn079iE+L0OX7vXn/6wQZfXzbf9ezvfvWsmr/8Wnpz/z//0L/8wdN3Pzft//fNbjRHm
/NNoN1Q/eb3O39IvZDfpe9u+/uPyva5+toid/9nvshuDhBE0NHQeHOjN0DLPMILfdTcGaSa2CTYg
ONvBIP6fn+0/IB/BvwAl4BEDrIwk/zdVzh/KG3Q3lgC8AEwOxifl0d/KLPn0GvMO+wh4XEoMWM78
fp/ernbuqjJa/AMp6eJ1Bnw0r/Ku794EE4nDDx/Nn6wYP7/IoNwhqp0pqDZwZwd27vlX+eH90mDU
lFLTgW4IlT5crJXpdv7fWi3+fRE0t8SI4aEzP92Pz+G/y9Lp4HmsoK6VjoQnkSL66zv5kw9NwKBn
9OygpJLOp4tMvY3XuhwP3DGYABLO9rVlj7eTo6K/oHh+/sxwAZJmILChwXt2foPN/PiZ4ecck2is
DxnaqJqeDdmTmMFhIP36hv78MgBYCbdi9mt/uqFOjgHZgs0hjTr7vk/gcYHI6va/vsj5h/wA5aDZ
zF7DSAM6zXnL+EzLzhjITvPIYb4c510/dux2tpa0STiY0nq1G/UXcPf/fleIyuDiE9pB15TF9ecH
ztIU6b1n7yUxiesOmiEIxdbf/P274tUGGwuYG6rjJ5Yb0owx0aW9H1InR0evIhxsNAgcg5KIIuCv
vqk/+xD/7+XQdf18TwWNsGExxJ4QeHdrZlCxO0KosCb1zpZ1RN3++u5+I6V8+tLouIJlQaEJVUUC
KPrxAVwA+/f1VO2Leaxeak6Cb02/xChd8vMAJ0/FHK3y0s9vJsnpIbSiNsBlOPVEHcU+zY7ZcYd2
FVeF99yUYua8F090jSdmLjeORo9PR6FLH3WpsAs2OtH7vs7N4TUvUte4bVHUcm2tlfiLr+3zK+yi
gHRJCuLOLGRHZ+Puj/eFfy9yUtUz1NPuzgvG9lRCXd+DIk7/JunwfCWqJdZycH/4cT+9W1gzWuwf
el/FeCENO/aQLczDO0Q5YDMdPsS/uTj9dj3mW5aQZ5r156e+ULPQTdzuqxTTKG28eef707inn5Xf
//rh+O/vF3dG4orNk++57ueCacInIONe7UGeL8zyaiMsiKn8vfJgq2dr/w92DW7nvIyzA7JtsCl8
+qIImJNzFtV7e/Iw0HukX6djKba/vpM/eRpcwedFlrONp+Pz0mTZqSF6r9wPHSN1cGwcreIYjbNy
1V8Q7f/0SlwAMpFpsiidP9MfNkH6lL5tcA7P/Da9zERnbJHTN5tiTOzrX9/Tn3w7RKSh6xWSB51V
9+crqdm0JmGU+9kynLOrlVOwl/R/saf/2e3gKvcg4f8GTP10O6mbK1N7+X6s4O2NrtS7BHHlIa16
5+Z/cDvUJ9S3nDxws/98OzAOEdvNxd4I0nlXjzZuNIcBw68v8sktz7dyvhOmnGcsMxX5+e9/+Hak
udQcl7I9g6RXtynmU+P1zWksLXlX0XT/LsgCfvkfXJJOH1XEuSHuWz9fMuG4Dj8y2xMdmayxfVRb
cxTlXrZztZ/nrmFSY5T1X9wn9RY/9ud1nYLUlmyQ4iyrADPw053SMOti7FY7LUXsbwY5mt90nUr0
DbxsoGByeIhZB1gRbGjTPdtmm72Rcu5Wq9nGP7ahnDWvGFaM18SyLvMqknV7lJNs0bH6Gdx2liC8
xvz+2YrOaLQdiNf1N0muA1xMbYAFVDXA6291YjlXbu61PbaXeiDds6hyfYdUkEyHTiE+D4ul7Wps
41bZ0VPOh+TVzURlIoTG+MrZn7cMO4MVwcMS2UfqBkofmcwxgEYHUd8jxmia7WBpk1FGPu7NpTvT
dKbEPJlWj85CKz6MtSfK8Wjjy1QrwaAh3ugSWbZgWpui89X+VQ0O5pn0WVyFpRisQzXl0YdyXO3s
JnxZT0WPTj2kXUJEDCHw8Ts87AqoTk9CN8M/L9/G8TknJEVUeunXADpXlhcN0M2rqZchabtK7YNG
4dtqVBu0a7ywmi/Ey32xjtXMIq6yYR7DnBmhC8zIm7N1hobUWte+OybMXRbnCZkNcK5cD+VHgtjt
qmU5K9aR3UVflJph7MVp1GzpBaOfN6pJfHfiAfZIoeXwbMaiwSznWNNJFx1BExVKo+/G3ABHjUrN
6KdPyogYP5JQL7oZTcd6HusItKiqOrmPZzxSYR10WHIrw02KcCmq+a53ZI/rJe/eIl4wDYMhZtCh
lna4z1Cl3yVNNGL2HycG1Xs1GTOkVWsUCU7Z1PUvB4/x4X7WAIWI6Knt05KMBi47ejm71p8KsV6k
5+/aRt1Lg9TgvT+z52FYbRAQuKMcz331fpcAGBpQ1o/znS8EEWQ2uvFj5+f51xnx0UsRl4Ko2Sl+
pPSfcjr+Wa43lPkukqy+QnoqwSXgHVDe0/+h7ryW28baNX0rcwPYhYWFeMqoRJGUQ9s6QbkdkHPG
1c8D7fpri6CGGM/ZVLna6u6yF4CVvvCGZLCzhia4hzZwM9SkM7kFyW2nhcjmsSDr6t8BjaR2A384
DoDamsGPxg+NX1UdAIoEKo2FsZ5neUJtOGKLJwZAz5Xo+vgPakcca1UcaxaU18T/QY8pE/dtbrhQ
4RS6e1MdjkZ9B+cQ9aO4DD8ZXSLrtUJCCVQEMGu2bjhSqpWHf7EKXxdJHmqm6njwLA1toCIZ+vvc
Swt4pPjLgiDSS2VPPETFu2l95au0wOptXBq9iOX2RaxhdVojJ2DT93z1WydgI6nNsKftCRTUtwRw
LRvQljiDj1UgHNmATE08tLM73OTRjx2G2P4aQ4rOV6kPZgh0M4iMLYQj5+vQqH2+gRSuAW4BtJqv
DfopNbXjOPmSW/ypFdg+VGRDSmU9jSE/+Rn1Q/ApDkaj2g4dG/05t6wEW1cz0f/EA8AfIJMpEndj
kuPnJF2jyDb04Xh3E60cH0nIiKMkMFL3J3BjDxIAfWtkhessjncUVcAKxQDIk5Vl0vHe6JnW/wRh
U/e7PKBPuS4HbYAC5nolRT7fiLuvfZvrBu3bpM0MhMbaOnSfMLawmtWAH6W5Kilw+QdTq+r/voH/
qjLzf1d2+f9Nmme6Cv/PpZdd+Tv96f+vKYJMf8MmeV+1mf7kf6ovUv8vZCeRywYWC1lJksD8p/pi
6P+FuRjKPRrpKBwn7sj/SKxaKFxOYpXY/ExJD4KV/8N80qz/mvS7UdRBjp3fDftvmE/aLOawp/uX
W1ho5kTPohh0eRPXIMqQQ+yGQxc07q7IoagiVtUcbXDcq6ikcIuTd7cVcJhXmN6OD02apVu6mfGG
Phk23EYO7Qeu/UrVfXWnmDr07zFOgCtBKuz9oPkcJKayCdPxa9k3X4oh+AGMrfnsRo2+V9kaRBip
vxBhzPXWoSGSEkAzJWnk68ESunwtAKsORtFpf4jRobwvnFZ9zdti1ZUoOLw9qGp1a5Cg/kk3g+EB
ptKSH6ScQqd3Mc4Ulho6ad4bT41C9SzGMQPTCWUuaOiiy/wNNc30xJkXZndtpADMK/ud6FEbQlET
IQ+Me/18jchN/Y86iuwcdmmWr5B3JpmvM7QoksgEumfZFlSJzAh/0uFKjqGMmodOVhZYTNUI73sJ
E0zxx/DeJC54KkvOwFWM+hkt7GbqRxUVvBQ64g6CZ7US4qSN5t67ffBBxjT3jJvem1STvr9Ku8WS
c2eTsvCbQRRlf0igdb/EsNTGFTJRCsouNKz+iGA6kNB57EAeaDBG+s7VH3pDHH0NdUXRATdfjUMS
frfUkCLNwtNNX/1yVthPbMfJzQp7NnVWUQijIHTiTmiHkKzlB4ImaO1bVeTuDeROv8uoMwaEM6V3
DOmMPUCKUIq1rilohQKtzdaKbcco8nSRu9DQmOVLfDVaGaQWUtUth4x9VsipAiRho7LqDshhvYKn
cFgMSAvefnt9+lsu3x5bS0pRlMA0w7KNac2+yzCgp3ulgX/FQUUNcl2WXc3yU9i7hv8pAnr0gKTz
+BtkKbiMUUXDLkF6Aeh3nSBUknloZsDKNvkWSBWN6uC24Je5OFHnUfYw6tvPtUxBO6C2Gz6bVUjw
ITABs/zUPidCKdM1hik/BiNzYJH5MIiwjg/0TzpIjlcrKRGiaUcP+0C4iGjf+Rto2lDQqcWgkeHW
obaprI6BI7P4xcKLNlhVxOnCN/pg/XJscPSS66HKQ4X78hvBU9ey0O/Vg2yy+psGAAiizpAaJQ8r
lbWSBdUOUP1OR7rSRG6msT7R0oVsVYFUczbdZ/gWZRj/uj11c3sbFghsV1bHVCawUDmeL5CqqqMu
d4ZDSkC5VtxRO4DOTUDSyOY+6dRxrSgdyCmoTl9H9KR2Q2hYd0McJd8WnuR6C72Zk2gmkqcUrybK
7vtFJEbdC9NcUQ9UEopN7cZ0L/VRMklhpSNLAuxrBz0wDNYiU4dXnLeA0GRgGFcRmk35Fop+la8a
aE6b2082yyopU5tUgtAmB2VL7WneFMTaofZiJI3PVpT+yDU+k23gXDP1HyiraAvFh7kH5TQcHFnG
YzPxd8yL/QrwOU83bGDnWvGNW0Ddl+UBUumwFimJFlqxwcaPml9qo+d3Uv1WOP+ieQ9HUk40kbLC
PVWxl4xa5ucID4WZmaBURdUZY/nZ5Ci9AX6yg5Zb9RKMT08nH5J/ulBMv7pfMYYmcKEpiueSOh1d
l2sArgeCyIUnzoNayRXcHoU8NvEfR1e1N0NL9K8m8jW3XDTpHCd4hTi3ZEv7wfefmjrIGKK0jaK3
nBWjRycePLQraNXB59tbhNw74EvVFvifdvAtG86sdbArM7wDx6ZNcDD3YNnRc0LJFFiNQ6qtQjNe
uzrU4Nsr8Wq3YkxJmYgKAl0Nmm/2/NnCysBUwo3PTorDVlS7NokZaoKRDnmh8+HwIhARoRpXGy+R
wK5HI057QgvY3S48yfzIf3uStw4EOvpglGcLQvfSvgf3G59FIuI9yml4y/SV2Nib59ZAKyhBM/fR
gDyyNnB02i+MPl2n7y+c+eizupmupY3UQjU+911SrmReqfhLgbQqkrT44qKBvQrSXOA2FQLcVDqg
K1OrOXS8pQV7dTZoaAhYrNQpdqbsPvsMfST0PsVJ5oxkH6R9gnUYiDSZ3EYiwh6m2cbzUcVOFTdd
p833zKi/VymadaVZf+mq0TqFaGcfzLFHetCPy4WT63o/8XhiWs0GmAZ6q7OwpFEcSiSUGs7SayAV
ulZ57uR4Z/Sm9yhCYHwwe5vnMKydR7NtjJ3wcm/hGaYleTFVPAItRUmTgOSChOByS9tBGvoy64Kz
qrvPxWCoL7o3ZFtVWoi6InaCPKXrP9uFlZ9uL5KPpoYqPkIhVPKxoZjdbBr/2UtGl4ELo9rJhuUB
owaCv2L5OzP2lsyY3qqLV2+qU3XkpKQv8qZa+i4KGkita70Mw7MxkbngyoFwM6lsgEkHUoiqAq2g
EjuUhoy9M/t6XY42rAQV65tGKZSHXu1eoWc3u6GEaW8gZ7DWhVdsYETrmy53h1doCebG6OuvZom5
imdKb6Ez++E3I4qlWYqDFcHs5WS1QSDGMmiCs9Y0wVaJ5LgJ4vAbhUngY8gMLARF8yxRm9YGXRCu
16kbbM7SKbtXcQga4/Bc+NZnBAhbBJFtf4d44L9Z6DxlSEksnaDThrycJLaqSgeJ/M0BdzlLTI0o
GGNc0oNzCPlhFbvaN+D57n0X+KuiqSiuBFa9K6PsxbGfYQyCRwxqyAXNvoRqu4UaBZVz97cLVefV
Bek3TTvu2dkOSamp+UrGGSKqflI8s75qWnsea19sJjX9pS9wPcc6IhKEWBZRqCDGuJzjsUWvgfpe
cE6V0YjX2HXqcq2g16quyn4sf+mpOKHjvRshF0xArXIy2FEm8UzsxMDfKdggwsbBAcL4gspd/IPP
bSz5WL49xWyeUGlB0okOnEELf4oW320m8oGkCLoxPCNPIo9tL8YvNTJ/9xj7NMU6zeWYrPQY4Oeq
sWMi/n5Sq0PVDWS/MEP5qTPa5lk4cfzT9oqGNo5oQVXS90UVpErlAVeM4skzleGcxob27faM6tM+
mT09bQibyaTcYplTEeb901u2m5GCpN6ZUjFap4VdbCm9jXeIbUB5a4TckGFo66QJ0ISJor07dPJx
qIbhm4k40d3QaejfZdDNix7+WhP6G1DV/jpX+43pW9ZKs6PuAbcZFMwVGId4I9EHc++BJbsbvTSd
VdYaMJW0+LeXdsqDUb7YZhph4eDkyLBFk8qe8slL0/owlBFVY8rpd1AxbMhp6AUMtaPdUyms92iX
hQvr7yqS1HQ2HqUTikP4mBjzEG+IVM/qR+U0QIheaUmVb1JjDBZQEm/XynwGyLNUdHeoGPDT5Qw4
XgUqsk+8c2UVw0Y3cuseKiOwDO4iOD6QT/OoqLeA2cdPISWsdVUEzTHLu8++m44HGmnZQ+zEI4oG
+Q/NStCLd6wN9+xnvLG+Q+/1t6OXbHEUQBYanZm9q02CMBBa1kWZFAuX6AcfjWNrSuHxibSkMXsb
m7o0pEahnGQVKaux1GJoGn748/ay/SBc4BwyJbxkgwwDj5nLj+YqOcUviGWnIGBjua1FVOv1JO0y
PepVfQxd39qhv5hv7EQ9GCV6twtPcH0j8AS8ID28yXHVmT2BWoMcw2MvORWt9TnI95bxrLjDyvo3
1BGyrGlrWdGjGLdOB5V+6J9k4eD60Bxy/48H2aMPnYUCyts7Xy4knsim6GQDCJ3gUZffZCxitI/U
PjmNXi3vpEtRTAyBthtDPQY7myaPdhaon1vEGzl0qnRP0winZbfNEDGrh63so3bTZWP4C4kQF7VF
JcHp0Gi2ufBCAq7I/uu1Ml0mE7wKyOfU9718YMvqdICTenJqtYmt2lUdJNto6Rq5vkeZH5XTjQGE
LeZW6VCB1XowZHKy/bbaR02HnKaQ1QaTlCX02/WFhYjXFF6DNpH8OFsT6NKZatY54WkMEsA4Qw2h
yIXRG1iQbiKoLQtr8INX+5/xJiWwyw+o6SgUtlBSTmFs3wd2yxkg68cqwnpEF9tc+ofUzh9ima+V
xFwFClY26b6Tw8puiwev391+nOntLtcf9f3pFqHKb1PAm66adxehh8Nv2Q9lfMojF7qvQbELsPa+
y1r/TjNxRoTWWK8I8w3EnvvFPO+j4eETGmT9FBFJhy+HN0p4hoUB7yTQ9XFvWmX5yR0K62DJ7sFX
QqgKiiYPna40WDuIxrmTA67zqeI9IcYfjSuoBcPDEJXizlMpTaSu1qNONHgHGqrBUy3cz7c/13W6
YalEJ9QQQAJQCZ5NXpabrpTU9k7VCBGSGUzWkBqQ9dchBnlxOu4qSzlmCIatbw/8weFJ7YLKjQOA
leKBnM7wdxNlxRiBIAXln6grDhAAkYOw9fFL22q/EKYZ/6kFasKyVBHldgIX7UgjWXiE64XLE0wr
BY896WjzqEMreqBA7eifnAo5zLzUTmWl4QWbpunCV57Bug1b0xhqwlrwtqSY5mxPwq7oirzJGGqC
/QBLpYQdSQiwWfWIl8gz4tnms99iLanQuMndDZIp8Zo+wjMSy0sAlw/mfEJ4Tp6D+EKAjbz88lpn
mWMjh+AkRwQ03Dqqnm0zMs4Y/X0LyuquNNPkk5rE4QLKZZrR2dYEXwUUiUAPgNXcvdiUoigsrQpP
wjWMvULLdu1orbO5vbCujz9mcyovUBYzACxOs/5uXWWV7o4R7PJTCIH83glhM1F+zLcoA36qxLAA
7PtgDVEI1qk7UoalwjQbTZ90X5ESCk9K4XyO0zKCsUFZlUJCd3/7va6vetLkyc0RRLMAEjzbqaVW
dH0VxeGp7QRyu4PcClcrv3p2/DMeavUX2Dxre3vIj16OQd9AalMbbRZGZUWQoDKlBCcRSuWJNv9X
zzGVu9hUf98e6IM5o9BPnxXSMAmMmP7/uznzMfUZ0SDWjgAAILrAa70zA3SztC5/HFSke24P90G2
NNXMWRuEKHzRN+vAd+OJPHapNWniCCXQOhiaKHcoWI3PNL0oeBjBBqHFFvEaa3yieWc/FLSwvoGB
Qhy5sO5L39XuSs9A1xhVEu9nU9f9vsn7P9JH5CEs8goafBQsQPk+mH+OqmmREUIAxp1NBqYQtmvq
mTyWpaVv8jYPzwhTPdWwQo5pqSAV5WTV/8uHmkD0tMIoCl0xAwY3yNMagtPRiNL9oHqoYXyOmj9I
L/4moLqrwefEwHfxaFqrCHWDmAzwPniAoVyl+EEY7Rd7VBANr6FRueIu7JqFM+X6q3CYUBEx6Nxb
OijEy5WTuLaUIdfnScvUU9M4L1WnyudCs590tUxeurTw/zohm/JUtsOUXFDRnR3lOfwfBZUv70Qh
DRq8k9rbOIaMfnuJXpeutYth5mWHlIi/y0zLO5nFTitrtPLjh9ZwwrVhi29mPH4b7XqfeMpTqff/
wrVf6uIsPsDsyxpD4EmEQD1MpfSdgngvNCR8DEgKd02u7VonOiix8y1xH1zT2yYA+xcW3/WhQFjC
agdEyNlFDeZyaju3iPRWZpw+hewQ3WGsofkjPByDkuqf2597bpHEBc0vSjxU8mjaXPX1YoykA9jh
3kkW4YsqCMLiHJ421tMaHgsy26GXUP4hc/Eep2L0d6EW9mONdM2dXnEU41eCDhuKrU/V4Kl/wjqH
mZ/GCpJJuV38ziuXGnszFl+pL3QVOoTeXrEixKl1vU8eFcf3IePHVo4ZmxVuAw8Ru6QHehqipbrT
DCB8mh3nOJBB7pdIhAH4H9COGIT7ZDNJC0fNR3PPjppwtlPzn+rs5ad3ZdE4UR4Epway2oOJJiSC
/MWDqyk72WrNgzHpNHQjmtkaAs9b+tniSy7zu9uTch2n0GQlrSbFdqaO4uxurVWdgm8p/JPBMlx3
YfTHQeJl30K7fCLLQfYHB8QkrtU/fz0uAQSQIJhVkHvmqBXN6EcvrVrv5OWIDYcE+uessb0Xd9BO
KkHcfZ+YQPlx7lnAhV/30jT6eJQbydsIKWjtXn73TEERoKCncFI1eneGbf+pIT1uEqnFuA14qJsg
VOo+OLnyVe1r5wwCTdsLDqNjWPv+1qiQbLFy/Yhqw/n2N/kggqWuOHmHkStD9JwHjWhAlVONyDmG
jvYjpxayzv/RQAd8M6nU09eNPpl19NSYZJudljygrPW7ikRxGCLP/PsTeKq4UOrUaMeb845jVlZe
aRqhc8SdsP+BgGy0Uq0xWlgF18EPjUOuFkJJat8g82ZzEWMMEYyujfhyg/qF3z9VoVPuu7Y0g4UX
+uASMxx6lECwAYbQRr0cSktHGZgampnoFWXbyGlDOP0eHHML5UBkmhCQzzWxMKj4YFSWGFS8t0h5
0u6+CLrSQgvMMvSdo4rbFfraJfa+VYZmb4ZDaoTxyippTX8fNwPHb5hq7qYb3bMcbR91lKLAsLW0
nHVV58oDBDksYXJb/VM1+teFlTd96Mu0ge6tQW2GnSgoUc4Oo7FTinZUE/vodSb+jxqqIZiOhOu6
1Jp/OEB+pELmT309qA88lX1vF2q5Dhv/58JzTONcPocDxkCnGULsSCtguq/eBY0O0ooCPYr8BOk6
/wfGX3xPAhkSimGbOtDg3Zgka3ea6WK+BdO+JY7ftEO/zpU+Rchj2Gp9aDx1CuY1WBlh4Zb7KHoM
vfIYxyhb3H7c6WkunpbqA9EixDesCZGLmi1fYVA1zzhMTiqqBGu1L6n81+EXZxyddT86f72EGU6S
3mpg34hN57l0RKrgdq70SKGbEBTjmOx6xS5gv2FnZ2JcseHSjRfOy6uEchoU2iyHgI0U8jxCKFnC
FkRG74R4LIauisD3uk6GhWvorTc/+5TTrpwKBaajQsq+nHjyVjNT1dw5RlW4p0xCWTtdZRFA+Obe
CayN7aHT4u275nfcPmbKfR+px7b9gm0qfZb8UcEjArz1zx5HxKwId0b+xcUxSg9aftcXHvYKN0Xo
wp4m6uXwMoEozdNE5E7Bq2fKsaZxsLWS9sUaS+wviGY/A6PDiCdocAAvnRcL1tsD8tRToOLSu0L3
O6XUr1p3ASy2+9vL8fq0kczEhM8hdYEtO49nycijrodxcGropu8Qp8R0iSTpvoQZqPpmdIeQnw42
Cck+Ww3DPf6T3QZxqGZfA6PyVrVtI79V8tFwv/nt0Y08gwYbF8Luq12jc79x5E+4yalgM624d3tc
9/KyFr7QXgZa87sk/derzxUKEasYwtlCoeL6SiWnItBgg04cHApEs8GiMSJaJI/D68w8onR3xOgE
9+oQz4+Vl1sPPiD0xynenWS6HmE7qCsaCf/KJkhWCv3G3e05uk6LDZKHqc/ERQRidg4BsMfGIQTR
nBNyFM4eMROUlUn6KFICHnppRjTSy9b5boOS2Xe2XW6tDE2aDcwz5rDok31hBO4aoH312QYS9DMv
FKrBqluXuCs0eCYOjv0H0DKKPLef/GraeHBKiPRgiOKvCezYbI+jUF39BC1kO/aBtVa07EyDjuuC
BtDfDwZyk4YcQcg04OW0gcfyIFwY+ilBlgw3rzRduyndxtpk61SOry2Md3XK8XIUX3TDAGils1Yu
x6uREMc+oeHlUn9y4XHgOLSok95+qw9HYRXC8WUlAtu7HAXVsLywS1M/aTBF15hGAMBxkAm6Pcpb
leriLOUEoALINarC5aSydDkMcOkwjpXeOiVCa59UjEW/ZJHXbZqqM15srBmpeiZkGKE14oVMmX0r
wmY0NpaWYW2dgJv9obsggZCcFNFLRoTirUZ/cP9Y9WB9w/nT/dQ1ZRPANkYWfjVFrVidUsMhlYMI
s2p7yN+alXnPVpREXwB9A/QJkEstEdLJq13qpjJeq0MGAYuoBIlK6EUrT+Hf1yA5c5Tc2jsENgAh
O26JMu/oaT78D7MV+DG1MVIwKvLCXQAEM8pNdohQkJqKejSO0VEqVrkXYN7QWjGas1xb3sIevtoJ
3FQaJ9iEneVGnMfGZC2j3yCbetIDREwqcMArXI10niqONpJGw8LilFdREf4vsIwn+CXBMuYtlxNa
J3Dx6rgfj6JVH2zru2jla93YT4EfA1OG9R0+FPZr5g8vXYwdBDjvIowh8gYr11lTMN2ixHOndc1a
sZD5+BPrv2kK0yvW6AsHqxy/yZqucoDIZaydJT2KKPQfcxpJKUW7RPlitwPOsKY4N6Wzy0S6VWNl
U3cL/fGrZGB6S/p/k20OhcM5P6MheO9UXIuPzdCS6Wtl9dR7RfwrGNvPCzuE73WxQaaRoEr8d2OE
1u7l9+w86be2r4/HNrSGf2hyT3a26f1Y1/H29kjX2SZDUVAmyYV8AkNjdpCBCBSu6RTjMTP6F0wH
fkI4O9smQMCsxWsLv5OVPtR/gtLd+wYGEWF86riUI7/b5LiHKmqxsJjeQuj5ywOHn+JIbQq4porA
u+s30rRAHVR/PPqVhbBAg6Y1CufYJiD9h2ieI/JtiU7iPomF/RSimo+R/EOVwFqQvYKKtqBa0pq5
/Wwh+b/JurhcaLhfnZL2pNACzhXFDzpG83J/hqddYGWWOCqjE94bWODcO1F1WpiY6TUvPwMoPDYy
M0OfBPWXy8/Q4hYGCUNTjxF5305oXRdxdcbGPTQ3gQ2ca39vMuckM0e7M+OgX7sj9NIOgsreDPwQ
HmXeWIfWd38hHMIeDAKfqYwE+o2KniwsozcEyuxp6RxCN+FKBI9sz8KYKNRzhGKU5miZ3IKtEwZ7
Sw+MXSJGrSDzqOIHx1CGQ+DhMpLrFYLuZeWf+rT0v7qeLE8x3r/7RJYmpxRYOtGnGCKWkF9XomwG
HDIr534UTbJuabCvssDy9m1jKRayaZD8Wuy8NxayWKsGp5S9I8edkybVz0irdNaM2rg4G7reBhPs
ep86MTLjooMOhKvcjjKCds8677YIxpSbftCCB5qPv5MhQDotl/WnYMCXXAn8s437AQsxF8Fr16vO
sc6zbEdDv0edzHjm1n6qZOjssSvoFnbFXH7D5saFlGLQzJ6STyK0y+WQRyUGdLLuMe3UuNkco/bO
Xo0JqOdiWeQW6qavhq8VzORnuu/WMdD14RH4YHAqx8I+YjiDzXZiBfsCLc39KJ3ssUbfZdNVXg9p
UliPgxtZv3WRyA0Ff3VVKHl151B9XVjY13cFjQSCf36B/KHccfkirYnnz+D73bE0OrH1OxIRlm+7
L1Oh/mZ1/SzqAHetGgvCXdSXYgmpMO2b2UrVQeULXRfEpOTwl+MnBT0OCODtZLpgfRVKBe7Z6u2H
viMiJQAZ9iIMii+N4VWvlUKW0vSYOgu3w6zeDja3d/lba332NBCzJpkxDjyAt7PDbvAkfnp5bR1h
8YX3qlmAc7VHlHzNfnhBhVrF79Oqg00UtpJSe1j9wH6y+SmaeHih4VB9li1G6gnB4SEsVedcREX2
iAaz9awgnHz0dQf/XEsmiI1Ceqc3He7qMWy3Zu+R2jgDAotordBVT/TSuNeC2nwdrML/lOY5pqW3
X/YqLJnQmqDQic6ppV21fjPpUfIs7eYoRV7uQmjkRzA34R4EsFiXRVcuVAau02Bn6jFThgQxC+5m
rhjSAbDP0RK3j8JVkMLP0/GVBMI7BE5eHZuoVDdhKZodq7/d6/2InVKst78a38p+gMIrt5yo2lob
IM3d/hBXFwgFBBrg9KXBAV1nKkMrQz31qF3CTTfhIGa4OGidtzDKVbhC12RKtukVk6boc0yTFDja
4RDnHB2txslNU77WWvcAl1H8e/t1Ph6ITFEnQZn0jy53VJjAe25908Epu0kPplVkqBX71T6vtHAh
Nb/OTnkpwHxTt/2tSD592nfBgQlLDPONGNeBdkh+pWkoz+Sg6nezTKqjE47+EzKf36QSF5u+yKYA
MXE+eepgYJCTVK+47YYgc3PzbkgGrA5KJfxmZkp715GEo0JFSREmkOH8vv2Fru7yN4IwrW3NYeFz
kl8+9dDEdpi1tX1UU+yqe1VUyPdKPET6ru2eIntwDoqRDl9GbGAXbuarAi9DT5BtFgL1DLbC5dCQ
0LFQkpFztJsx3Krdi9VjBNrhq17WiHygu7RUffroZS22+lTkQXBjfqSVhof5Q6TYR3ZnhJAruq4t
jsHPTGszSQ5E/pNNb6lemX6/VGG6Ti15XWroMKhB2ag8xeXr9mXo+Kii2cdJX+GTmpYdwp9NvRlL
OztEbSN2QeXiRWqXKN97OKNsjFhgSiErbxf0BWGDV7RPnVHSqkM453UMJ5pMYI7FahibhAyy8Pl0
I4zIJqrVp9HAi88I/XYjYm4t3x2wvTPIWbcjRM67uvatN0aCt2UR1NCNhnjXVuVwVOoeWQ+hVusq
RD91leVIErcJCj154DgjntppcIeqbfDgjyNKCCPsYZyx7920yO9Dr60PoROhdl90ulxR4AjWid0P
a7NR5efbi1dcTyic+AkpRAwCH8WYVQXC0hdB3ETymCnSWHVBC5cRka5DkIwWOhi1hv8dn/aRmP4L
YvdiHda4tOcGyBtixU9BrWGfBw8PHmsDTsBNuupgITKxVYW2BFa4Pot4VjAKYB8prKFGejn/ojUb
BQ8Hul9xJX6glLuVI5xubwxebn+V68uMJoSgSji1h/hxdnH3Y5CD+6nlUYwnglVAqp1l3dVa/nkw
xULIdH1fMMAEHOXOBKw2P2CtrM/QwDAkRpU+mt0VBkBJ2yubv34jLmcmiVI6EJw50MfsNZ0ugiKP
xaARf7XoX8eJ/6+vt/nKckEe3B7ug5cCy05rn6McBI6jXc5UIZKmsHX6lIhs0+e0sK6nHNA1C/N0
DTGkSMt7oVBrczkhoXk5zpCVXWOSHxxVz3s1Gh8A/eCKYFWpiLqqZv6IyR/+Bn1cbsMq0c+aH326
/aZvccZFkMcjwOMyiTlpnlIBvHyEuK/HThSjPNZjFG1lEnd3YxrYp9pwz8Aphu8w8rgSjDKLsbkz
i7VJ1b53YH434SAP2Lv9ExhDd4DBgLHM0PU7pVbtPUYGOLbkuCt5kymqjxXKvRt3FO7a6nGIdbzj
cG+tKi1f2y0CMxHUHETP9Ww7yc6uShjMm9IL/IcQkfKl2Gs6aGfvjCYwfQjuabLleZJc+gPKRfil
H4OkMVcYyPYYFxJiIamrHT3LLv4pFedERYoTj04BsAZhtd9vf/irVINoAP4eoRZJNOzU2Xc3fI+i
dCLRIIecdN8YRkNdOtEf8fNuNkla/6iNOt2BVj6axSD3twf/4CSSBq18LkBgBPTMLyc9E1oYdFYu
j7FvPGltjfdBlopDo5dAkm8P9cFWIvN28G2m+Abme7aV8Dsb8DfO7GPWDcG/npO+Fq2vLqzijzYS
00gcyQVLYWIuX6iYuaooklHkYEKwiTucCx1uPzqiUwupCp8sBd2uVZVaeyNxfxcRvJ3bL/rBTURR
CD6F1DVCTWMWaUZY9NmNTJxj51lPmj48a0OSnE2q1uuhyJInjOzcdZK3CzHUB98XEsNU7yGengRi
LqdyrKtAp9roHLMkEjscg7EtyXHiuP1yH45ioNIHItpG/nm2WhOB70vZuM4RacjmhIjSkxR9fL49
yAc5EfQw9vdEz5/6JbNPaDRYoTS9aR/zWKIbTVNNQOB5kH6eP+WmXrzITB8OutV+Db1ePRt+Yuxc
zAp3sZ5295Hl1Q+NUS9ccNcbdZK1hQmMFAaObHO4biEGekbgso6tPrzitVE/hgX0QdfJWoTN1Dpa
S7ODHh5yBD0oLh7Xt7/K9bridnUYXkKf5/tPl/27rKK00TuLBFmF7tbDQ5d22aZCDX4lo3NRbUrc
LTeUUZegTdOEXh6RcAQIrKZ+CyIJ85sp9gPVHgphHa0x+xZHLXAz9CyyLnyhdfsDa7JFYfHpIJiN
KMiFabw6UJtZZZfvGbWR8KpSGY/EZs1+KI1gjx5/MME3y4MwvZ1ll+JRDwM8vWSXbO3GEJsOHMOa
xn2zVIn54P0nwWueZRJopgp9+TSqknckqBzPTZ4aWzXkklrZQZi8RnRWHrEEzI91aotfquMp6Bc0
eAziWN73QI0gkMuvuorEjuZOHjG66p9yKSklSe71v96YGmR1no9AhYNvTvANg6RUcXzRj0IPzJPp
pIe4afyFLfBWwJvNDYEkB/h0aYF/ns0NoOMmxKxcHL0sGeMV5l6oQOJosUuG+tGPknRj1OOwTRtV
22Ewh2tb3lBJdZ0/t/fCdZPeIUuVKnA7ekeEg7OM0VWGhjBWEcduENG9F47ZPYpmJECUkEJsXJRc
f3X9od2YaRPt48oaToEs7hvog98rL7cPTo6QDTkftng03Irk3tOS5MFplrLq61OD0AKhTAo7QOHl
PNY3afhWSijM46gp42+vQj8pa8UmdXWkKbFw7MMvsajG1wzpq4Ul8VY8uZwtxqZ+SJ9tajjPkTVK
M8qwc3rz6DghhmDWU13IfBU5KGopD+P4s0x+FW3/M8MaBIDafYrXhk1BYpWOxHnQWRz7vg8PVl2t
WvsxNBEVqBF4NNrfimPc357Q60CEtYvYAhBaNLiom1xuM9/PwAZ6vv7s2/qftMV/OIkxmHf01l8Y
6TonmrIHGPBTuAPvcjp+3h2jqhdWSpJ38jkXAz7cMpG7LraybQXgYjsl7gvhwHXzirFQtgJ7Q5Tp
wBy4HNBQsa8x6lg+l7htU+ZP9L2C4wuAnNj8qWGZ+GAWGI13U7xvRDb/cP0tJRH9c2z6yqtnh9au
bIsA0zgsbW5/9ivRMXYRRHFqESyQCTI0zcu7r6FwumeDrM2j5z4DCsjLfJsN/k8fq9VETH56ONaa
jy1WvpkR92v0eHDQ+Lc2xrPpVY/4XZk2kkefFUjHCtrQjvpcaofAPpstiFs/JhGXm9LBtgQVqB4U
bo8VT7ZvFWtpsX8Q+fEmRNGWRHgZsYbZQU1yP6Ymvyiw+V/90og2yliWK4x88rOHzfmmQqvjW2OK
ao0wVb6vcmWBYXN9VZBJIJNFw+AtV5ytLETAMJwKTe1odoF4ymPlnEhn22AoI9r/zdl59LaNrWH4
FxFgL1tSlGS50C1O2RBJJmHvnb/+PvTKogwRuYtBFpmZI576lbdUoP2i4cv11XvPDdYHnF0F8Jl+
C/oCq5AgkFq9DseAbBjfIhXny55GRagVCKo2btI9m6D9VQFIuhjt5yl3uhBopF7cZFXxhqqpU83P
o1k6onYK/bsCWyccL71pdNskdMxWPqaKg1Ys8kTt8/Vf/slDwlzBm+IakcFKWktm9mHfVWJh5GGi
yB5p9fgQZkXyHPQjPvFlI+EBujzwRh+4GsL0h6ZRNdeP5GjXzADRr/8S9ZMLmgIPx4ADSu67ftIW
e0yzDzMVObkZ3IF6G5uCU2byY4Ibg5U8S/FT1sU7bB2P1dTecIhACkyYt1UuNaNHK9zLofDYl2+j
cAI5qdVveJLXGpJ1GO2IDxqyeuWjkhSvelAdKys/Dob8FuU3uijwrwSeETfu4D/4CHci0BrYQQgQ
ok1++7J2qOT5CU79C1bmFPBa+iCzYLzlnXW/KAeQumxx+Bd9yVXwhd8FRX80XaiwQDY+Xxe9WJLV
she9GnEmVeDax2ZMT74K4+B0hD6R8TjFrxT8GpqNuWgrkddLd+H4d1a+jgrCv71HNW0cwn2JFacK
kxpb6pvOVH4g0afbOLE+oefgzfm+bb8UaAuJ2vH6gn6SPCAuATOCFJOrTTFWWwvdGETl6m721FCb
70JBRvKAbPExK/1sH81yeoibYrjHSTI+iLg2AUZPcFyET93tBE1Mb40+7W7CoDe3yAqXyRMABiJJ
blokwPR3tb0Pm37Aj3UqQQTjZhWdYtR17UgftKNkpqY9Y0VFcTdrfxCITnuCuP53m8+4hM6xaFtW
8Vr42fitr5uNS+Szi5OmL9xaUAw0Lt4PyMdfNcq+GqdQ2oiFpFOjyt8Jb/Eip0v/1GdhdND1WnCV
WgajRqUZYzNlS2VxeWVW9xjdYvYcTGSmRl+9/r1gxVqhgO8IlOQoIRMARgDG1u0chluBxiXtfymz
UNQjpzEhB6wZI5qvFVbf+pPXoLx8Qm7rblarFDf3sLoPEgTyqgGaTJ2L4fcAMG0LCihjw/Yh7p49
IiR5nPIqlkrU3Vu9LP20hMA4yvi7PYnTbNwreCNvvCuXbXVKCWxpsEtc8zJafueHspMS7Fgra/Q6
MTtBqxi9qKXxbYeiTD0w0uyUG9rWR0N9asQpvBUjGue+FY2ntk+CE/qIuL6a4fTQ1NnoSVlsPgya
4Xal0d7VSVi5ZFCHIGjQL8ir5LFrhV+BjjDLxlX7WeSF/RaiTeADTAAj55+BcaoKfq1THuI62yGS
4O+A8Xj9rHSOVaobg12eNaIu8mT6WECecDA4HwzonhlqVaU8jEInOZWgGLuqqf9cv2su9+0iHA9l
euH+GDxo54Mk8RSXQFFTz1fD3KvM5nmKLO1+Tsp/zv2XgWiRUtdaXFtWdTqY736vyk3qGYGQH62q
/w/331M8RLEzSMkdpuSSXSfZP8s4AVfHXwzNRguoLLvv/Pv6wk+sWMwKLzKs4E2Zte/yFL6qOAza
vWV2xyQs/P31Kb1ct2VIeAAKrBnygdUD5MPKNrK5LTwhMPU7ZH/ku1bbAkddRmoLApD8lWwDvqgh
n3+XOCh9hsoHsQ7QDxfjAJOaaxG7hp7J9ijLoy2kfbJxjC8DDZ0qKwo50NVIBteAR8PMAz+ajdLL
J2048AQLz02pdg91bP60avWO9rhEDVrB8tqnxLFxHi65Aazlx+GXn/fhmo+MWJjRiC+9WaztPnvy
03sBVNbQW64ydDuKiq9+hjcecPei+1WYPcU0tIPq/KWKWxplXypi96Q9zBUa94JNWf2HWdaPFh5l
Tic9h9aWXuNnO4F8CzU3mvYQqJa///CDLTHPS3OKKgrGKEi3viW7plUkG/Py2Vag40L+wxPI5bo6
WaIIRVoLxRIZnCS4SaOQyUnyt8nM8I6Iu/oRl4KtOOCTMZEugj3OdW7ycaulkKtJb2Zdy7ylva+D
flW15lkTkKlXJjfGD7hG27nrfyEu8RCXL5llPhe94PB4n+Qhe1SV8JAPW2fi8nYGl7CgjdiaAPnW
ld0RU9muTKTci4vha4vnJhURUb+Z1QxVjarcTIsvJwEEHrcz4RA9GC628+Ut5Rq/BCHrvLRX869J
mgb7ujLnt2iSgVzJWDPjGREPD0kj+zetaj3nHOgveVQRDRnoDNY+GDPb0gPlOWvz6CYujfknNlPh
6/UL6ZNUZQHQc/ESHyGepK8uiyLSAILVJRLnBC/HxpD9u3ZQsPFU9eTbaLWPft7s64ISny0Jev6l
mrXKKcg3Nt6AywUiseXlJKIFk0Yt8nzCYlMKsCAFvSjWqJMqwiDsu8aqDkWp0S2Uii2ltst6M+MR
dCxXJT3qdWMKxGEVF1CyvKgPEvS8KnySWzO+z2p135qjdFcM6Ap00RjvNmZ8iWfOw0EwKDREweAt
HZS1a5hszIpg9kbnJZGo4S/ZyId+0oST38DwyNpBeAqDEcpQ2SKRBqX3e8TfgpGING8GGr8bcMF0
r/+mT3Yr+SFAKEBRbIL3vOnDZZQo9ShmNG28rJX1I5Gsf9K0CvuQzCy+A7a13D4dv18f8/IC5K0A
E7MUnjUks1avbzsFQ1VEY08hnJTUlBLDmSU0z66PchnDgFR6J4kgd0r/cfn7D1+GaZQQ12ldeYhl
NOAHs+ZgSqX4NIdWtNFv/eyDFv4Q7FwAAqzx+VBli9uXafqlN0bEDT6YFmpC9bzxzr63JM63z0L9
BV7B5cq8rRWs4IOSzuSi/xA3dKH1Kc1vCKDu8kzTHbmJKrcstF/lpI63PTpyf6wWSrtikGGndZK7
HV0EV0izxtG1+edIZLQfZD+yodAraAlgHk33O3MnoVd//+tKsK9ISyAMg/2kZng+PbXeGhMACv+h
DzvqNAm8vULPm8NQU769PtQnSR9ByBJQiqw9V/5qKZoMSV/gMJUH1eMnvi3Rc1T3vjskQbDPItOy
U27uoyIKNO/NedFibLe8AZchPi6TIi19NHwk0E6gqLD+3HbsjDrX2vaBeqewH8wocCNrMt96vFmO
Q1JEx15rGq8PlbuiT4Mt8bGLFoKCktNywyByzNlS1yisaIqMqDQH46FD8/l2MOUKe/hgP/qL1JsY
u3nMqQ4VdSY3T75Hne7fCD30v5Z847kUetlJ0ircT6H8bfTz4VhEUvePtw5ipqDhaLst1Qwe5eVA
fTibVhDAGZnU6LG3qv/CYdCouZj1jaglhafUAGYVrMu+bWyN5T07WxcGpZBKjErAyR+rQYMcLfYi
jeLHTFGDlyGw4BdpMQoyKS1Pc4R7jZxqeBQUuXXGRsjvkFDPnESfSw0eVLmVEKyfvWUOqORQM1mi
E7Kt8znogBIAyTOjx0GwfsVy+y1TtENqciLzqug3LsP1DbUebHUEyZkjyvVG9Kh2kXnro8MNUgCt
3OtTfPlJEBeXVi7BLUH5xcsq9YE8jX30KGPs+GqmPjkIq+zU46gf8bTqNk77+oqnzCEBXCSM4aSh
zLO64mXqOZGf81VDoP2aNTW50ZK2dMJJ2HomPx1p6d+QovJyrW/4QhXI37oxesQ8xNTsHO0uOx17
BeP4WYud69N4cdG/fxdRL6je5UkRV981JDA5ueJhD0itUyrxXjGX7lWEhOAwYlM/+90z9rMB8rAN
TBzD1YLpKGbzvsyS+wkbOFWiKJ6SwBDY2Miq7AMluENN5hQFyUbQv46mlt+6EM7VBZDHe776rcjo
GX6MXfZjWE4yBJDcfMbYLXfLHh0K/OqHXTFpvquW41be+dma0OjSkHIkm6UPeH6A8sSs63xg5CjT
VFvqYuU2Sn0fuy01/0fS0fKRdIaX7wSJcmFMKcz6pNURMlxhZGTOgGODI1jDsLHul4d0uRKA5LHN
iBLXbU0/TIQ27oP4sYTXSLMgIQyDSbi/vrs+O6Q8DaRnbC0ETJa//3D36ogcQlEcokff8h/SwO+9
mprsqRKG8SFCR+3m/xlu4emidIGxy+pBBriD6UnJGYXmgRCp/pcQs3Itwfwlp/LoXh9sHc2+rxP1
cfpkWA4QiZ1/G3KrchmPItfc2Gv2GId/KrFCqquLh0OamY+x3Py+PuLlJlSQWmAi3yvMoF7PR+xn
uQw7daANrurgitOx3iP92dm9Ug0bt+tFpYMATYK4Q7GDC3aBWZ+PlfQahKpc1oBsKHsZM8eRKuhu
NBvoyEN7EoZW2Jmh+UsrXuRAPo7Rfao+FuOXMHtsaiCH6kkCwyyHlEPTeR8Jo+zURv4F14XF9K7d
m6mCklSx8bMv8kx+NvU9apWLTB8An2Xbf9hwQxnpo0V66SUY5dhxpgw7dMqJXcPY3CWVVn6NUQy0
9bbVHySx70+9hMpLbFjtxs7/ZK1IcqDlknpohAKrtdLqttbjBHFufO2l26U1fxyFCE4r4O2Nj16+
6TzWMBYHAWAKXE6kIatqHzL+WmVlwujluP7t0UBO96NY51+vb77Lo3w+yuqDiqAsddzvJsqYJth0
RcbAwZQOiUJTyw/Kw/XR3juG649abNigphuIJbzH3h8WUhIQ3jHrZvKCXNpjgfhamrLvJA2kwhBP
gFM1fBfi4K6T7vL4UR9OcfUcxW9T7Gn+Hc59gelp8aOc5HY2OV3VO6X+CEzOS8ufTfKrqU/Z8F+A
A+gsIsCzl+X/zPnX3CFlj8eA5VJysTv/+4C8+GSdLBM9lxbx729t+RiMd5H1a7AUTApqGNfHWIgd
S3pRtCdhfhVFl8xWGJ5aC72w+KBVf63+ZpDekM3vKUdivmEb4V/Bcgots/sYr0R0hn7lwddBSOw8
/k0/PQmhsDQ/jehPnv/NYMibvkqYcZqakyR/La0HswMBJe9ypIQF8NtGeoPviX19/i9yG4JlUGOL
ijF1ecoHq/OPGEI0huRSoAc7WpSdJb0hw6/9bq0xuK3kMEAePpNuoEuodwWwPhvdXWPL0eU9TF7t
AtKKBS1I5I7C93LKPuyCLBlNyFz+4LW4Ls6ReIrL46S1P7GQoFAUpn9oAi6Wo9pvyYwdUfoZT1T6
crsDiFNhpaec+mi+S5tv5vjfLP2xpGNqwucQHjr1pwCyopjL+6S4Hdt9XBhf8Xx80rKfxkj3GGUM
h7Ldxq1wGcAAESY3pdnBk3tB9dXEMDQGPVU8fGx/N0r4KlA5dSJIOns11/JbNPttxaq0jWEv2rnK
e5sOPOhiDgfIYRWSS1WOxJk2Tl6nskix0VSHcUb8MtX89qDGIPLQHu6lb5HiH9osT1+STtHuoyIt
H5OiV+/brvMdHWjsPz/YlGWwC8TqG0zzBTCySBIsY+NA9BoEaQvEq/dqn5sONTO7WoBo1zf15UWJ
yQt3CWU/xVoQoOe7STSzQJyigtGQvN1PZYdVbzRugSEumqNMNq80V/8ioYng8eroGNBzZamUobVn
wo3PjdzeAGW20/SlzzL2YB/SStOcQBIC3J9BZ87Sr9jPf+tFqdh53bygNXqok9TpRzj3ymzU/xy5
LMw6XnXqFiRO62wwivnrdkLeoNHa4QkmbPRI7Ks7vWk8+7pkvtBmUf5en/vL95D/KdOPnCloZKDd
53OP7kalUx4XPVmAnd1aYbPvg2J0FX0rfv7kjMHU57HSaCYuFJfzkeZMnUMhALpgIHm2CyKgjVB/
O9sP57sgPFBY838PWvfl+vddVkJYdeIOkEQArgGBLe/nh6tKyQrwRWE6ewMM8bcMoOIt7a8C0X1p
8nKK2l6YVwPGN+T5qiD8LloB/apoKp1WCYBTkOsdelipNzoseFtM6x7fqCH5cf1nXgatJm8qtwH1
kAXbv4oVIhw+4qnR0e9Q/AJyVyM95VWjP5TqHDlDpMWu0ndbHdBP1p5CCChksNdkNGu0QI6cW+0P
EitC1jyPkknFG08I4AD9xi67wAly9mCbg4KEfkMKtRZznIQJqJZpgVuRY30n9aL+mNbzl7RMZlCX
Vqv+mRp0uqwyfaILYOtYZn4vLW08qGgrfq/H5FUJ+nrft4ryz1Ea3BSdfI6fR8ViTSOT06wOm7Gs
PdobAfpImmCXY5ltXHGfbcOl2/f+vizrvNqGaVUCntGq2ouaGWRRGk63JiJ+tlQBoWsVQd3HY+WK
chvtCUb0XWQMyIHntYdehOICzMr3RSd+h3o2O+niwjIl47j1I5fn5vxZRwWL/J2OITNBbe78rJht
Bw5b7wqv7b5FiH6dZL+uT2qqDd/yHNhMHlgQIf1Ju5sx5HlscWBxxawMv3XicBqyf3afVBbZPPAN
VBboopHhn/8eo5WRC9fq0guhpn1RtaF8mM34WzZG1jehiY2XfgK7L0TmnVCHqWfqof5TRjMUE8Lh
axzV9E0qMf3352oR9QGWSM+EHH39XHUtBjhdQ1c1DcLyNWqKcN/nyexevxEuH0VaIzzBMjksLgbr
RKUDx91WQO09w8zCu26OUP7VJ3Nj9y/bbr3ieMACFqAKgHzI6t5JU5AOYlVUkPHJiSBUVm5lavNO
F0KA9mP8j02SZUEZi3o0waMCmPV8QQfNLOexlAsPh7H2VuxEgsDB2OglXl5r3DM0eoldFjuW9VGT
WzEg+9ZLhDqCAHJ581SMUvrbQoXx+hJdSMfxOZSeljYWz/YifXb+ObI0h0YqWI3HQ4aQRyf5R9mI
D3rcTIcCXYj/ylo+Rm07/ehHTMqBunZOJysJatHKa2zkWxplF5jZ5QctBaolxEEMylyFOGULDiPG
W9ZrwuHYqZptxqVkwRjofAjNWSI6RTYoLyEHeVdYoiu2g7Wbxa77ivniwv5UrYKGfTHYVoh2jYUC
7x3/rWknWdu78YAoLm+j1v8ws7izkZecXvvWEm+aIqodMW3r2Q6VCAhdmim/rk/2Eh6c7VQ6OoQn
C6SbvimLez7XZTfOKH5Ooic2QFjUcI6QAyysUyehFZJlZnTTg8h8LaQyuolEYXauD3+51rRIkUyj
Wa4u5Ld1Yc5Mw9qa41Ty0jFLXn3TOpbxPB79VNmDtgTx3jf+AcmvH3kZJ45W9PrOwNJBnrHMm+Yh
32gEXmxyfs7CWqLVjh3BhZNNIOktDaZM8mjgp6dUDsK7CQrgzyrzt3LOi5toGYqeI8Q79hcSOOcz
73dhO2lWIVFhKOZHQTMaZ5Tpk1+f4IvwkFFMrFqpy8CWgE1yPgr0gjRE4l70FoKwk8ptdlQKaUBz
bBo9jlb9Umla71aIrm88exc8AZpBFHbJYqmtQRVYl68BjFe9abWNh6sz1nJZ0nwTcArZjdkg31at
NB2NUPuai4AR4yIAP4ndnzd1ofkyGfjK0lDusQ8J/JcUwfFj2WP5W9TVD3Drj2Tqoi0lVnuarDHz
hLDhHac081dNF84JIonysUQ6a6+MWLMOpbAvQUns0lwTvtM6kfcTvq0bW/ki1uRzqcRCWOUfGiar
QDwtIqvH+JruY1UjjUoNa2fMeH7Gk4RZgGJ1aFsZyVbhaLnaz88voy5tGuCEOANdOGoas5lkvdp4
iPwdQHYYzZtGFVAoe2DSbkdsXamJIxeHrH5FG8cehlMLIUPIvwUx+PDsKWia3XLNlqpKvfPJHxCN
kMtFA+0oxPhZWT/LQd4nbbxLi4c2FHBB2CPhHHZ0QKTsWPoKdpaI7UStY6qJG8hMf4j24T288yDR
HKEtdmE/7GMj3sPGOxrp4MLF3aGIlwFRCGtkP/PwOKq528TpbgkU02RwUv4zX3OT8diqAaBPICtg
jE1X0ep9buKJzZ/BIOIEbe7VNNr5wg0I7kNqSE4S/BL5NaN66GT50PjTIaNOgohU3YcxDyP0+Otn
7DIFpshBj8wgt1xqx+u2dK43Iv2qWvT8brZLYcaDF6NB9NusO0GZAm9itg4jsdhO1tMa/gsSjzgv
VqdJN/4KSlXcpFpu7HzaFA6e1YErwDrYNbWp3JO+bQkLX+hegChH+otyF3uGq39ttmElpi8JqUyZ
SWuLY15G1R1KrRKFw0G4VedAegjFNLJDYN3SYKquWLe+26SKdIv99XdgDl5u0CZfBGUqZ07iYe8r
Vv6oZPPWy3t5R4IzoM1PqZfOA73I89tLn9VWaSbwUiUVg92UjcF+ko3q6fr6fTbKQlygYUPgSfv6
fBSrFLUecmAH3c/ETqxADFcXUWm7PsonTx3RDKg15JGWstg6KKy7PPRFpekesUIyTnTDvsv4Idh1
Jv8ZRTh9iprh/dgfqM05Sd0gYmPEMwbeQRLdMr/SRox62TwgOQUlQFuZ9Al+9iqqKbJaqwMhKR9r
K1ccpUgGz8xR7s6jQNtHVfgTn+LeHQD5OXlB6CXUueFESftyfV4uZ3+BcjAf1FygoK+nRYuCMcb7
JX+cLeOnpWLSXAZisfEMXgyiAofHAQMpJ/rMF42S3GoCDD9iwZsR3ryDk0gFsBmLjdv4IphaRkHa
kM0PSYkE4HwjxRHbVJEmwRPUYnbbtC/dTi/6o1WChTDNMN530aDfCJNpHMAIChsR+rsewtljgG8Z
4NBFopzyDLXP8/EVec6VWBu0B22IEGTHotWWRhxrqiIMdmSeKiwtaoW2FVHFNycU1KLsv8nqFTtK
UuwkkStr5GRyEMX5Gvc9YKJA6LFYrA35cbRi42jSer5Nmn6wJ1zf3esb4eIBJfuD14W4F74zixbw
+a8vxixr21ZLvCSrpB3VpxxOVUzBaGgPtRTd6FEnbp3Ji+cT0Rne6kVPliVj5c7HrNWxZhpp82Q4
KTktliaPQ4x8iDEW6m8jUqKbsaA+Lc2zdo8nBl6Xvl7eNHNkHiYkHp3rM3ARfVKf5BDwY4gK6SGv
qhkWOvt+Gc0lfAv0gLFqUr5WiAr/FSZB3Tj9lweC5pmMGCvNOvCS61MXjprqJwKQhUrIk73RL5Al
pBQ3RrmIPpk1kLowUZZVpbVyPr0dHIeJWkHs+UaX7+MQL9QECbM9UufBW5UN0dek8MN9TetrY+TL
2w1RMMxDcd6C67hkkedDJ+Pgq53ell43tNpuDMXuHheGGA/CeF+oY7IP4HbadRoWNwY+Bz2CjU6c
q/2v60t6eSUsAkc8uIBoKMSvEWO+Maj0a5rM0zSwIsiKtIdWMxwpnoanMp4mpNBp8hTqgMyy38gb
s3B5pEiqkMkHQPku9LGKSQcZp4hZHDIPek1o55CmDmqn9TtO4HPcJ6abS/GWr9plTQ4ABPePKZLV
UGNZV6SRRJ0R+jLlBx4u1SVALV0ivTLbtYkafA8EMTuG4gzJv0D21KbsE9rF2CHJHujJfV4mslO0
c0kDUhF/aGXHoU/KRLlVUtH61/O2sKuRxYBhTdMVaPn5HonnvDfLcRQfVEH+Qqe8p+Kkot/j9xvP
z8U6gNEgCQLiQpkWXvdyGj9Uy4UMzERZMNAseEaWfTewnswL5CfqOnnzM3+rn7z8/84egmU8Og9L
AWpR4F9t/rlW85p2v/gA/bS1Q2OMHD1I042vuriullGQjSbXofxM9fX8q/Ik9RGMG8QHQcjQwsYf
7kbmxrYps88bFa7L4ImxVOgs73w2LpLV1ViOkZRlcyM+hLr8oizgWgxeEkcFFfVH7cb+0DfivV/K
L5He2DJY+8pO6sA6BBkd03w0/7t+rN+VqtczjIvAgoaluUDoeP7tSmfW0WhV4oMZlNMu10PfRQ4k
PkmF0tmp6FuHWAyT4+yL8d9Sxx3Thpcc/rDkWUG4vc0sF1Ot5lAHRmtjP57vfVoVB91MqyNqk/+N
ehoegVAKBzHR/vhJUu6qWp64pgTlVhuS7CGai/BnpfvTtxr99mNayNptF6m6V+Wt5HCfY8Gq9tUd
D5n1KuXdpsPOcnefzwCNTAA6xBuw2PCQP58BwyjiuJNLGIZSp+/0Afr40EtPSSw7VjFoO8bUd81Q
o92nmIFT1UK1ETBc9sspK+DXRNQFOmgpt57/BF83YjnI4YPIuXBSNOGuU4LGrWpjvM3Q6zs1Yfpz
mPv4NhfREcRksoR7ECv4bSRZdJemTKgSzNIBd9r+r96m6s5vakyaUyj4cRkca4KcQ8yT7VZEP+4g
jeJdY2blqYqU1hEFlPedeYJVOU+Kfp/7kWqbRSbcSYpU4bmYc9cb6DZF+eP13ffJFYs4CHXyRdMH
4fb1fVKNQhl3VQLLZlKEvYoava8rDWIbkVRxXUZtd5cJVr2rk/mYDvNLW6W7VMH+Vuwb7SaL6cMS
BLb+C/1Pa0dRw+vMQdm4XS8vPX4kPBDSKmIMHoLz1TEDsFS12QjgxdXq1Ewhsokp7KXYBKcS1fFo
N70ibrx4lzcflVqaTpS8LB6+tfpeXApjuXAyvCoI5hd0w+p7MYy3WnzL3j7b+wsBSQGXuWiCIIK2
elfRcK74CEQURPa/PKmDW4xD4rZDXAEq3fQhuLz9KCog0kUYRX0fWMPy1R/eD1PnptXSSfLipETj
u2x0aiLd2HwrBlVwK7/GnUCJHqZGkm9iJdScpEA7XhbGZifH6fgC9G0rtLtY3eUnIehFbMHFRkPl
/CflDTogxoSaDhJ03/gnc9KszH5nBVCVQBWjL5O/JcZ+sbbvQ4JqR8CHPOddQ/fDLGASPepT4Uve
FGmB0yJ9uovHYvjXEjBKSPQsF6FXmkQUxc8/TBSRrk5oiHpqLQV7c07Nbx3y7cdMKJSX6+f4Ijgk
MmMYOlFMIGyx1QmJyyFGehgpPbFOuocoue2sGjNAyxJSB4EhRXRosbsyiu8niMIbg1+iZDD6eheQ
pBpEu2WNi5gTszQjvc28AQm8A/KL/jHRjJqChCRB3sTiSnSHSnwVzbB0+yaVcCooejejKG6Xg+Y7
QaBPG1f6Zdi+/KgFfgF1mdhizVs3k17gYQ8zL1LU5oaitrgrisI6JJij2AlNo5telJ9DbXQSMUa5
KUqOvpxulVUv8WD8DKoji8QNaQSJxPkmUIBVYvIzpF5eSfeTGAX36G0qLlE2YCapKnYpvI6d1YnJ
bswx+E6TfCO4ujxfRBWkDiQPVBMurDKyOUh4Wnp44p36oqpCcNPGKGcJYdnu0PNyU6XaOtKffDVY
LUDS8HREjHLUJeD7cMBSJDvbJitSbyrzGinW0vpRhwKOdG1C6XIwReAdVA5iKmZs0qZym9GiSHD9
UFye8vMfsYorMmpESV13qSckkbCvdCF20yIOvvzzKBD86fHQoIWIv4aIZa0lCUkWh548hODsREnY
DTlEpuujvDNSzx8KyjC0DKFuIwRIzfV8RqNJVKt2ykMvsIYdj7mdJW+pEu3gK+1H7ZslP8baqVXe
1CF3jFi1AdLaVtrtJgG74e7B8Cc0mSO8CkW7jX7Kc/Kg5CdN/dMFKqbxL3L4xR9xlkiAX3aDYzZA
Tar0SGS+N/PhC2SoOzPo38r6R4FPmluXv1A8/vf1ggTIGwi2gYdgzUyG+NMFXSQHHr4qt2YmyPhF
NJsRz5KxrCfSBEiInOBCFFjH2+jMjkQoVegliNcfS20yHB+W3nGyin0oGIGLTUftDGZsOQZ4umOe
ypIN7qLZWNFPdufC/ALjDH6WZG71OjQIe1gdGiPe0McKzQ0MB8WlQnp931wefvhl7JvlBkCydn0L
lp3VB5GRB14+16+DOFsvVWO0rwIXFU4okUGKwwZ+/udBCadBqRDXA95aB/RhA4gqNJEXmsUmvZkx
i7gFXI4Hiz/u00Tod0SiW26nlx9KSsxEkqpiqQ3B/fx8NOoY0hVuc5RVwAhqeqy9iebc7sx8lHZs
o+A2qrL0cP1D3604zjcTowJOAmgCYg6livNRrYw+WjXVudda3lz4jhTicailqI5ldgHLYB72HTzt
/HUEhysOr6lANqe6/nBT+seSWpWePLTdDeIttmE+9dEPtbIcfZqOyXSUFBxqoIDBz8qKvTKEdqy8
SNm9Ej4YFmXgQGue9FnaTyK49SZF57GxI55VK8r2fpsdGuQye6ndtUhmGk3yMwP87E4puFmzFiIn
bHEMGurheH1Klkzp44xQkqBCh+OssSBvAEmez4gxc7bFIRqecx6HYyXijVZhCHkUClGhN4eOQmv0
hpt16tYV+R61nQ2N3i1gJIL2xdOBUsL50KaVhTOPUvqMWKZst4jQvnSp9ljLbXCDhwsttIC59s3M
d5WY4613g3qMW9DkmT4hmdVnMs68enQqAA04eZJZ+4or08DA9WXOsN4a/bfrk3XR70NegszfXKQH
2UUXdo/jGCShWuvCE6n3ESGV8lQAl/LKMG1codTqo9A1u1QTy50wEMBMo2i6vipIj7EZWcexxeW4
o6SuTzKW472kvExmX+/aIkgeMzmWN7b7RaC3IHYg5WNQwg1K82N1yArBqjqjr5UnXwpIFGS12UMm
KL6BMv8h+B1KZAgZOKLsF/fBbGp2pVudgwKxv6+wqnJ4ryhDjKO60a5YX6XA9ujsLWnswuKgUny+
8EkxC4VVjPKTXwShG+tCs+uC0N+oHH06CjQZjMfg4dOlPR9lLNMwH+bFTmOKyj0WfBy7qmpvrm+J
dyWWj7uYIhvAK+DdynvmsH4X+kxKpTYVtKdYsqq9XquTU6L2Cida/Ik6wGlIlMRNzPRVX3Q6pqZz
8z4u3WlE+Ncy29otsjE5WrklnRBc+Vrj5GN34UsYRiFyyeaXWBPHXa/kxYk6u87tQAaEukrlyIEU
urlqVHeWn2nHMCxzR5qFZE9xVnNUMTNQ72xRfsOr2skrVX01Ez111MSo3Fg0042X6+I4MxHMAh0F
Llfi0PfN+CGGjMphtlqsAp+IdVxtj+a7Mzn9TeRS5r8dneI+3EHz88of7Z/oxd94wpYts1qFBWEP
cGcpR5Ilni82YsutHNat/ATg8wiTU62Nna4eJNKF6+t9QRh7/0xQF4hSQUYH6X0+Es6LZsbpl5/K
O/OgH5KHcV/eSHvY1nbgSra4zxzlUL71rvGkHYyTuMsPwS60hf3137F+P9c/Qz7/GaPedVEvVvIT
SsG2hhxcqv1QykMt66BKN/b4+iQRK4NrWWIvIhPkRFafrCpLNSVEcW2Ucu3eMIO3Jresjez780HA
TlPW42Fea98SUFW1n2aApyMcFYsojtz/UXcl23XjSPZX+tSe2ZyHPl21IPlGPs2Wpw2PLMkAOIIz
wa/vS5U7LSHFx07tOnNlywKIIQJAxI17gWJlK0OZD/g3+wTcJIBAINc/09fh+Hk7bdZAQec68eLK
7ggUnFFvDUrokszV+XEIwozvSA3k1xUwc4GSTmub569jnLGE/47mIKwtV+0hOCxQi4reKzW1UUEp
yvmFtSZeKfUCsNeMMoAG75xeRwjPeDvGPEPkJwf5xBUiuHnnT4D57jM8qG/O78AXaoxXc/nvfhAD
Bw8IYmGw+bf9ODXoMYDty0HQCPxR1rrdbij5jV5YT+pkaWCmtJnwqQBhFOrp4lAMdn9hccY3EFSy
9+ArbMJKo4Ov9hqDi2xD0AgC0DkYdGuq2Q6Pv22esFCFxnLgEeeT5qQXiZp6oVe1W2Eg1F56irXy
qpEuRP8eFXJDyGPN4GyZRkGgejxuC4yq8siNMBHyrbFWFgpCfbD5MN8k4Krkmur+PYN+6ddElghe
HLcqpGjfzqYAGNIBlzmCMo1m3Wd5xo68w7OuNXPiZ5XzpeFrstDvbBSgUoBSRlANw5VRC6mJw2So
WHbVOibdx2JyceSjROpln/zn4/hf5Lm8/veOaP713/jzY8kFEri0lf74ryv+XNy19fNze/HA/3v+
1T//6b/e/hG/+avl8KF9ePOHTYEaUnHTPdfi9rmBuNBLn/iG+V/+X3/4H88vrXwS/Pmf/3gsu6Kd
WwPvWPGPXz86PP3zHzhFXhnD3P6vH14+5Pi9TyUp//LPnx+a9p//0P5ACAshPVBxALeEWBY80PA8
/0RR/0AwHFo+83+ILsEPwZEWZd1S/Jr2B1itYK4zKAdI+Jm+oCm7+Uf2HxpOtTlcCIlh2BnkRf93
4G8m//di/EfR5dclK9oGI3kBNf02WxDp4CmN9vHERJQc7c0u8tU5zdVJWE7y02GpaYMaLFNODtLf
4qLrSvBU1Y5XTw/cKQUCDrkHutZmTDKUzHj0UtG1/KdD9TFFwYUdX5McN+wEjug7HVJ+jy+iqAvV
kYsBBLEyCp8SFawFNig0H0pFrwwfPFQ2in5QVln5HjIWkOuy+u6Kt0oM7WMPhZgBdZ0CBaSmWV4b
mVl3e72qVdyXlMoAKK0xxWMRi1r7Am6CmO7qpvfojiSMjhe2C+F1b6pyqIGBRL26LzReIqqqANx7
byg6lGq4pgA1KFKAUfusRLVF77R2lQDmxDUE+QYuPN8pofp5sIXW811SAae7HW1ky28bk9dm0JKR
+rg6m/YJ8jv5BbL4KaT/nLI1QwgeAEY20qb+oSRQ39u6NhilfZKWKcRoTWM3NA4DPwtKSCkJoNlT
ZxuvHQGf2w5g1BFXdYdkiQ8kvl0HbTX1wJJ3lM0SXSnKfXGNLeLArJzuU6ZZyGt5UAL0tlMl1Kbw
9TLvmyfwvqLaDlVY/N5qRgvkAyPrrG1DGfKikwFd6BtA77UnMPHFfaAi+vTTbPHY7nOU8/lJjYRG
1XJcDgEeHcot7zXU76Ke8MmMcXj5tgP+243XI8zvq7Nc7VYgCgQVMPDf3Lkp6HNQzOX1UOGpytjw
e5bGKUTLvYkevNia1J1IkurUTjntfQIgJAhTVeBCAkvE5GcHyi7k6dIWu6DGw7cObEvpR99OPMgp
ldVUPTW929DdgORMAn75BGk3R6UOzji1SQq/qRrvPslqVByXgikA6+d4qE8JQf0P4VX8tcl4j7KB
LDEfAA2KmDcWHHdEpEtRFtqld1UPcg2/Sc20CgYjg0IZ4uLZpWcp6hfdLZsySrMesViE17LR143B
ubeNbkjBXuHojR+3DhWBUZP8ya7sBnGTSRdT2HjxyAPdrUm2aW1uX06sYs9AEiVO0BSsvNHBuWps
ymYqf2QuGSJCqZduYk+hOUimrbbZiCorvo6W3v5ISGpOQUlz51nvGWsOApK9UMhJ6LVIi5wFKHRK
FLzhjQ4hBqoout9zW9S+03dAASfcZBCbpjY5gOeAQcJHLZIkGqClC1y1VU8A5qaFgryqBalvb0wG
ESZGOxySSQfJI6lp6eeo7m39ThnHAehfYSDx1YKfuu0arGrV2tl3w1PSb0rblgDjslRvIWlr1j8y
AcZs38zngx6U3rovnNyJ9y60kPONR8bCDlymewruYQk+tVV0+w66krEa2BNvf9ST61Ubx+wTbTtB
pXznjT0SXhiDY+3cAUR3gYCIWhPEcUuJP7atct9WcaUEQ8/i5wy83hVuDQmpUW2lmhmUFI2W+14x
5jdTp9ALcHxCbTmZsuR5pGZ6TzMPqGeOfQ9meJ7nt0Q0AHM3XNi7KdF7FK7WavYA5YzqO3bMiPKP
NHURF4BH8TDkmB+dBhEn3wDA5V73kmrwp9IFz4lpFbbu51oB1G0fW8+IvxiNr5HePgEawyrfzCCR
7LMGhSUb5P3qZu9MyMH4pdP3HRxqbULzl2Z9aMWptQNnrwdy/dJwfgmc/q2z+4I91tjaP9u3B/Xb
A///3wk/l4T+5/8epH854UE6kzHOWfHcvDno59/6ddDr9h9ISyIkPB+lCGD+edADj/CHB60EBP3x
TAQ+HBfwX8e8rv6B4kgkl1Abplv4N3+e8uYfKIZBWhmPV8SVEF92/s4p//YSi3MYjyhIO/1FZh3n
KO+sfDqN9nAwh/ER5ZhmABIsA2yAw8YSmbtFGP3Hq6n5dcd4fad4+xb93dt8v3x1k3CHhOAY8cSp
09sn0yi+jWz8aqrFJ8W2HhKtWwnoSOGs3/1IDxrUslMSa9V4IlBymjZj7Gk3gG+SyyxJ2ht7UMUN
+NndqEQ05DPoBSABBbkwetENCfQtM5DK3476hPR0ZuWQrDw/+PmV8/s69fujcGF8PXgCuioc2lSA
T7l+QOmhHtpdPh0N7lXB+R7exjZ+94Ct97qHskbSBZri/UlT4n3lDKd6Qq1AS8S3yijXwHtLnUiB
k1jHZQiEAe7BaV2UJpQhSjsQUNwoa+ohCx3ILF9mnuDSY0GCVMm89Akp/nFf6zih7MnNb9peUVdm
S4pD/TldMpOjQ/LaBUnfcPK4U92bSB5vnTIuAyJcxKDKpt+i0qUFHEnV9hx3pgcgrbotjNQqQhS4
dSfFY/RLFbeuDmUCaFYNQD6rflPr7ApsWwYOUtS5HGnVr5UhSOnX358sRSNKM4eiDAL7pyQT9MFr
bT20gIH/BC1sBPtdYEaZP7p2/lXo3M2BWU2A5WQVwKznd9jinM2L9sqCcQOdYksp+1OWQlLRpdeV
0TyWqti30HvnWYXKEOt6ML+4Ot/hFemPmRsyEMfg0n4YrCHAyyXIGvNmIvlGKZIdc27Of9mCdck1
crynTqWMmJleXKtkq7oXyRpUcmlDSl7L7BtII+J2doJ6UJA4VzlN/Knpggbx0/Mf//Z9/XtZJX+l
q3SwdQU9mPVnk18Yw4rO2NKXSy6H1gRQugymRPhnjoxVw1iQxJdeveYMlj5c8jhT1ySpqaGDKo+M
ukUVWfvBKZHcDGrRvVJn86drN4Bl+X28Ej5c2CgvGZtXOxhhUKG5A3WhIgq8gNmlF6j+O6RVwVa+
fKkDKUuVe3pPaGezEyoGGsTuQRJk5qBEMltxfX67LByjMuQEVMQNrwzuRJ2qHkwF4Z6YeU+lUhwn
C5kwG8i58x0t7B8EEt5Yu1q6atHXMR4+wMe2QNEkevci36M73873sLCBXmgrXq1GV+bAhiW6GwG9
vc/GYgcNyx8fa1oyW7UyGUoKWjfKSddtk1R9NhDsXpmZpe+WLBbpKKK2qPaOYhUK74y6yOJBK/v8
ly/tIMlss0pjOeWOE2mWdhJtemvXyXUsqtuPNS8ZbT9kmqZAbDICcOC2YWIL0OwN2K62H2testwe
ilG6BYmiCEmAfaLFUa+Mma+Za3UbC1MvM5Xr6pAC1ErsqOq6QEvv62pY+fKFy7DMZZkgOzIUEPmK
aIECTKuOP7vm8I2k5LKh+p1oDNenbv0xI5azjUos2mLgsRUJJXX8glg7Rvgj4Le3SYEKiKafVka1
4C3knG6DqFBlpOioLPOoglZXjzoXn6Bivq6yDHzTbO12MLuFd264MmNq0yRD1g3oKSHQcnZ6dBO7
5hSWbXlsAVL5mO3JSRGNIbzvluimBUuAr3uj7oPJZcV7L+0uybChJdbSusLuyivFPKqlVweIlq2R
jC7NkGTZ9ZAiBcLmT3cfiuzB7BAO/NaLFWe61Lpk2FkZ6w0rGPxGeVO0FzjmtoMx+l2zRqy44Jjk
EiVgYQe9EPAcRTnH//vyGXrEECVVib3C9fruEMClIcWaCwQjh5x42Ky6QB50vrTg2VT6atmouwrQ
lvM+6t1Vnik7pIPNG4zeHAcnQjAX6gPEAa9A9XC+7XcnCW1Ld/SsrygxeeVEfey6e1LqGw1xlt3I
10SIljqY5+7VmannE0X8hTiRqqTCL/M4rMC+44P572/BLn5dRzGCueNXHVDuKZMrFDtS9S5BiQoC
1TbQSeenZ2nq579/1Ti46ROhl7EdaXquAJ/Eme+S5CMXXny5ZL0A2nHNHjw7qhuEzqjyraxc4ju1
xv0eOt3nR7A0/5IRC4MY3CwdTA8z7odO/9aT6kHXijW45FL7khmLEjQvHehlItaeYlKHiZn7ajft
z3/9koVJx3NcIICcm7YdNexQspuqbVHR6oSKQrfnO1j4fBnIWrQx6o3wCEVhDXssjNr7mgOSfYcS
52bFepd6kKw3SWfllw4LYNIG1Q1GEYdlP+ohrcdypYuFWZLx9l2NvEPDMIg+frAaZVuDT5QloEWN
k835aVqwAxnTVI+cCNOG5LiVd+1ng7jGzrPT5nC+dQkl/6cNu/PcvTIzYiCa3ZlWdppoBjZFyDvS
bdxn2XfXViDG2o7Olz6zi2KjTFmP9JuroBxPc5r+E0X4fuUrXlCof7kRgBJJMvYmRnEGBGzKkzI0
AGeTof6htWp3MGKSV36XJwYY3DOVIUtuKp7PTXBu+F5uNMYuU3Rzh4SPiKjpsJu0iy3wrk1O5OpJ
RcOJifia6aZ9VGtAn02ixCGj8VgjKu4oJ95Xq4f2u9fCmRDt7VQWXj/WILSsT8ZYk8mHDh9p/ZpP
bu/3BYWHdMSgWz5DBJ4iBG/ka4EHqYjr9yJKniYFiwU4T4sMmlh9CPrEr2NlH8s+Bg7Mu+g9EqY0
OSrGRYvPqkvnYmxQKUVTX9HsHYDW1/bU275rrWo/Lxme5JkQyGFuD2LZE+m1/tialXXQEku5TGaE
/8rGnWf1vS0j+SfDFikyfDw7aRZ3m0uPQvXeh4BTjmsGamuKlIgkNNEUDW3Rq7ueKYC8ZxZCcQ2y
MBcs5+KEiqD2aeWDFgZtSXs4d5K+1JVCRJZvbXGYh2xzew2pZb85xD563q0pD7wftkYYUdpookvj
LGXoKc9872v2LT1OceheO5vm0fgJcjDQMmtJSH6sDGxhX1vS7tJq2FFJ0J174VyRyzFMkORGKNPv
/cfkUoT6lgTOGBgbcO6svGwXnJ6MhUNeFvmoshQRGc07i/SfRGt+WhnO0jpJG0djSM/ruJ5G1QYv
5iDfgCXLT4PCB2NJoG3UsA7clU26cDrIhQw2z5G+GXIRJQOocbhzbTKIFtooX1cGdY3reWE8sk6V
h4dbN3kplqdSrxMVEGJmoaCjX5NHXRiEDG2ncVr1bcnTE0dNu48XLw0NK879CVVSm67s1uL5+lJH
0nGdt5CzARa2OCEemX6Hsy+OKuoGjgWxtWCa9AlwL09DSaqdkr2AP9ki+kEgUTTW0OYR+efYqsZj
IQT/2acQyvKFqlAw0MWp5gJU0PfXEOoEcxYB0DACInG4bkdNjTK91L6CiQNsRQmZuoB6rfjYK0WG
HjZKbfa17Y4RKih9Xn6v2g6A9+ngkXJlhy0t/jyXr47vxoTXE643Rm19yETj59ALUPS786YyP6be
cbEyDm8oAKDORiairu/ab23KCxhJnRooPfLsE9zduK1izUJ9KEiqMsPTVjzOwqDkMt+R2SDe0rDj
Mu9KS9MTLa8Z0MjnB7W0y6QZ61y1UZmZp6ehyFSfcVHuiZuaYYFzMqoVwVckVxZcmEyDSFBOPHVJ
mZ76ujWD0sk23OjWworvJ3hm5NXbdW876rkDuOBO3Cv3cTIEBkWQevoJtTy/Nq5Ant+ptk+Vzx+b
NOnE6UD5W7lOXp7s1vBVUEia+l0BTXZ9LS2ztCrSGeN1nKJihKOD5EjVU8tOFBCSAtZ6fgBLZ6bM
TlMMDLiNVitOXJ+VCgBJ3EK6yggbiCHsS061Q53w4osxWOLEoWYcZG5fHEuq1/cQd9TClqM8BALo
+coJtzRg+RQyidkBClOcktrdZwLw9VJ9TEfr1LFs7QktSRT9eS+UeaNdXlUW7eryNARjmG2rXRIW
WxCobLWwDNxwDGJ/OIDoYldfFDslJOH5yX4han/HcfyFRUGrY6RjcZ1vQ2jRb3+gbm5XBWRTBs+9
/+V0ujSCh/u7wacb1a993b97euqC830v+A4Zhw14WGt4ZVKeqiHZNWNv+nwcbjRgjM63v2DWstgy
AFexgcqV5EQKzh90pkFDvuzWxFnfjcGCBWIe1St3nlS6wUCuk56IepGST6gEDbh5k06PuM+f//6F
fWdLjiOrDVUjHXroFBSIgr1y9NXW3HQqyln0cs0/La2C5C9Qw4uyk2p2skBg9Qz3Qw/PVvdjLlwm
ChgVIQqQGKYnfWJhrjz1BbjQmBJyZeU9ujRJ0vtFbSA628xnBB2Bi3BYWBgkLJ0rxbs9vwpLu0iy
fgv5z8JlXXHymHHTFOUBEoUrxrfQtIzCHajXw2shrTLUdntSrHTTKbGycqFZWFdLuqI1eMoBAMuS
k0r589Q3X1qSH2IUmK246aX2pZgoUG+1gYKq5DQS7QKUq89JrB2Bk3o+P+0S/fKfDlEWf3cEKmCJ
hwt5G05husm2bIP9eWgu+yuooOwfgVrcaqCVeqh9sMQ9F7vOB4dXEG+ywFgZ4tL6zEN/ZeJaQzKQ
N+H5YQJixFQLKo/1yrZ9d/ZmkpS3TRut2XnUJWqkjen0fahmTCX1JkRKxl75en4K3/VQ6EP6fKFW
dgHRDv2YJbpzD5XTCfq4Tg5lHUKDGNCiXUxotmImSwOa5/DVXFEnNmjlqFM0Gs8px9XccoGVWUsQ
vmvlGIrkpGqgeho1KYyjPUFdhNqNucuYW0GSTnwdOrrGI7PUjf52EI3BNKfqO+1oD8YBlfgRaANL
lOIDNF6DNOf8sry7qzAWyWMxTzeLsmi9I21H5NDYtZf3Hzkx0LTkq0DK1MVMQI0DOaM7ooi9pw1H
a+KfKAV06PznLyy0/Ma0Jps5BBewqFW1UDSTEcQD/aHHxuePtS/5LWpmdUIy2zsWXdnuczaKk8Oh
SqUU3XB9vouFFZAfLUD+gIk/1sD8QKwUXCvDY2W6H3G7EHCUDLuPHTyzUC11tL1mhnqz7L4El4s/
qOVamnlpBSS7rsDlRrqqUY/tWNJj31VGgHGgflys0XwteA75yTLEipJ6uaoePYN8i3uF+jRunwqa
b4py+sLGNUalpZFIZt3AzBqkE5qo8szreqxNPE35MWtxFTy/0u/HzGc9zbcWDTB2qTtE2Ec77cEX
tLPTEe4D4tjC2xS2DX4NkJPH/XEasgtdZSs5q/fffOhWsvHJTpmFgg39iEW5qoxBux9Hphx5a+T3
xLAcANtV79kBT+WXxtaOlaqtRRyX9rbkAlC6owFtb1QRJF9C6nwbxzXDX2hZfqHoSkZjpTerqDNQ
3MNY8skd/17h3a/DHkAwyehVawQhKmvrqJ7q0yiSzZBG4M07Nmq2UcWdUd6f3w8LG1t+cggLrKeV
xfQjiuzYNumQGsnZhDBT/ZMnObJma5iDhZNEfnuAV2IaG5vFR1x4gzT/gko2n3tJUHUfiiViyiQv
MMuZd6LT2mhK+xFOjGUHADWqUJ2mZiUusmCe8gMEDSu1McX2Ebw/7aWWa4mfjgLxF84ez6/HUg+S
A6BEADuhd+ZxLq1kyDioxAo0KPF8rHnJ+g0KtwUsNo9AsxrYaXLkPeQ6PXX/seYlK58LpfMxs5Cv
crsNOIBSfyTis5GUa7jDefv/5XGONZaMueqHyRxYauEG59zwuDhojjIGQ6FvMgoERWGy0wh1h/Oj
Wdiy8mska1K3cIpRjQQq7EALGAN/oFdTAH7EDVKZ2/O9LHgR+VkyKZYOYRG7jIiX3vc8PqUeWXlr
LmwmS3qRcKV0Y7c2ysimNQtA8xvpaoHbInT3Vo6TpY+XDveclIrJB3sCwKs7QGkB+gLayrwsffz8
96/uz/FEK9Q1wm/XDSQxIbI0FL45PZ2f9AW3J+e7ejWtS5WrVQTdwy4ssvgrNdJbIzVQTdQjw5m6
a2KHSzMkGbSajVCtGWs1Ill+MEGlmzrt3flBLM2QZMx9mqcow27USEVGy3BwdUbUVN2db3xphiRT
Ru0TyVKnVCMQLCHd/N3tqx20SFwbNWi1tnI9X+pEMmfH4bo+tJZxdKl53TF+OUC/1gfqoQs5DjqS
aWsU5wu2LGez6iFztQl0Bkck5zaDXpZBDrK7YOJ24pvJWupvqRfp1O6mSq21CQZnzqhQz4cUVdBZ
xAfF6Ob8siz1MM/kK6sw8YoEL1BnHBWrdy6Joteh1bjxjgLKsfMETT7myWUmqs4rOsjP194RWrbf
rby6LxXlwmHaimtdsAo5O+Oodc1Rk1VFtFR9zgEvsFaeG0stz3//aoKKGnXCqJyuI2M0ioiYvQbk
GKlXWn8/FI9CNsmclb6p+xF0+FHJ+TW3HLY13cwNaJ+Ph6zKGzwMiKiuU6grIC6ZxYGL0t8tayHc
47dFA3S5Ae2IhK/pkS/tB8kH5Bm4JlwTNbh5KgiKYUDEfDG4eXvUWGdEoE+KVzz9UkeSP0g1qjME
FxAJIGoeasLqH0tHazd4vNMLOzGLFb+zcMKbkkvQynzKLSSHohxkuLkG3r+xCPQu9R0l8orsssQb
5bwpLeyUF7LCVzvFnEBK0Ce5GnXDdyXV90OWfcxIX9iRXrXstQABYTPg4qCi6r5ufA/V2H18x5gI
z3/7gus3JDeAK1BmQHC0wi5PIVxUQ4xuwyE/tXdjMq64gIWVkDHoblGQ3uxJHnHrqQHwD49svwJF
QWvE21Q91e4q4eZsPO/c6mRMupkYFTE60UZFPLGdQli2I8Monl3mbgjjRtSDxRjZe85vDMOk17Ht
9rtcdyGMVqjJPp30bmVel/bEvPtfrdwEnbeBosg+4k4SxW2M8gG+sikWplOuQtX0aVA6aPqimsL6
Skb9W6c6ow89ja8dc0OjAx4mF+rHbn4yQ3IGakLwSmfGMTXFcVCKEtyM8QVR+M35/bc0GMkNgs3B
gFhmrh3bgaAaMKl44PD2sbFou8t697oQu5R9Ot/XgueROWBMvRwb1HPoR4A5bTPfsPjJAVt2VdvB
+Q6WjElybaxjqdrOwR2eOjdQLfsMgS7Ayzvrg+1LLs1FGNsBn5I4OmWxq4scp8VnZfhQrRdYI2cA
xKstq41WA8h9zCKP6wdFQyXW0Je575HsQ2lD9DBvglc9MBInSc3q6Wi706WZpMCnfQiCiqYlP1a1
WtdZqasd89SK0iH1e8oPkHqNjRVDWNg8L3idV99O3RZhRpBFRKNZ78s4tQGErw9koN+6vF4r1pi/
9h3/JddlUk+HRBOZmigGx1wGFhal93VQ1sb0x+R+qH4SUzW7rFcjsdIpz7MKuzRJ1M9C7+7wdF+5
1byLlUHTkjU7BoCzeEODDJHzL6xUbk0VQFScKZewgoByLQIMBOmlKVuDl78IzL43ZdK9Jc5EBxoe
oh8VUR1QbX2MGfGVrgI/3R0D90mZqlci07dq1SOGwMKJPJ039gUP/wI3eDWNQ65UuJcZmMZWv55a
cWvEa2LP7yOBMY+SocekSbk7eVVkQrdo5+p9eywBQko20NjNTxmy+kCe5V7CfbNxs3rmlarvtHES
Bw2V+73vTGCADHIIf2zBLDaBDcctzcKvxupxAI4NuokutYSfWFp9nVe8haZe2pNkx7sJGMA2Eyvc
AgsOUS4fZe1gaW3hqJDvKG7HGPXWIkMyMUs+hP4Hbk3yKAUIoopxwPGhlgXgX1Nef7FcUZ7AzEKv
z6/zguHL9aO6TZW8ARvEkWJu3PpSHypoIN5MyYrNSOynf0Zo5brRfoQ3QXXNeAS9WwyFSWZsocjY
XiN6z/Z1oZWgaIu7z5miQNVuSnkScNWrt1asA2qaWF7YOSK/1WpTC1W1TTY9qHXwYPQGvImSYm9z
S/v6samYl/nVlgcIl1cAFTZRz7xLbKlbMGBFRHjHSf97wnK/J0NyTqoK3VHbTrTjRJp9YTkU5FH1
2vm5YLIvchCvvt9VEINzUVp0rBz9AjGtS8Vg+/NTs9S05IY8cB3leoP8YE7H6rve2/zScSqwcZ1v
fmkTSjeLhCGrkYoxjzISH9Os3EGKI7KHcT95/cpNbOHseUm4vJocfQSbh6Y34EeaLnJna+j5rmhv
9dKDevGwMowFfyCXcTaTNqVIcbbRCMaiTRybzbWuJvom7601oO7CQvylgBOa4FDTo22k63G3b3LU
O4KSwPsYuEAu2jSoaruOYveR1+5KhwRGRzYG+xBsC2KW0uYfaUZBImalUe8KkvmpiJuQdal+yfqc
r0DuFpZ5Zs95bcMArprQTRta3EuddKuIUkDYVuOdX7lesonTLKU+ONB6vnJnfb8/R8YXlJxkpZrm
bVS2IFZz9O9lAgqXdPK+x1pzbZP+8byFvA+30yC9+XZgU6sbVNiKfiwG95ZnIGRLEg7uMyMefNuK
x7BrYhIaSXVJEPmaudZ2qSZ2OKAqP+usEKouIFBjdNriBG0CVjtbrup+VzcGSm36Psj1ottmdars
wSpXBv1EuhAohmpDOx1RZcCugyZNjC+QL1I3VuetpYzf3dHQfpN2hRCp0SQj0M1YlvIuUYDI7FTQ
h52ft6XWpf2Qisko9A7KTgou/CMKF/m0liJ+19pnKe63KzK6bgWMvD1GwrzhJcKj/NjGK/72XYeI
tiWH2IDYcGh1bYxceKv0KTUuzfobXzuT3920aF26f02AFICIJvMiaj0Jg/v1kPh5jEdF3qJQ8vP5
mV/oRA4bkR6U854nxmjqM6i/gFDPPVlevhVmDZbD5/OdLMyTHEHKmkIjEHMRkdNpvuc9pl170s1H
5qgro1jqYB7dq2MD8nCWSCbsHw3Aw3Gy8qDizalO+ROEAdeydQs7yZg7f9WJGJDBAV3NGMX8sei7
k0fHcGrT7fk5Wmp9/vtXrQ89saGVYI1RBitXQPtGUcyzpkH6crn4ywMFnGSS+fa0LzjhSJmZu/in
1/vDRXnRhBAm+Nl8AqnWXbly137/HomOZEvuEupyzFNED63uD5vp5GztoAiLcPS1nXMRX1nH/Mnd
Vttil690uuA95JBKpSOvBtA6Bpf12baxoYmuFtb9+XVZnDrJyDNq56pCMKIK4udbI0y29kE9gLTl
VPsiygJ35YxaGoVk7jmN51MCG4BpesjNrx7C6+eH8P5LDrqwUlClF6Xhjs0wRo1nJJdpw71rrUBh
Al5s8WHqLGgtjsxIt1TvzYussrPQHWPtoFGh3nHV6nZu3XqntK/Y3vMq84uX8uGQq3FxKiE0GuQD
GBk1QY1LngwsRPWqBzQEc9q1B5ZEzP4nWFSO2YB3jhRQ6R1R0Fcc3Jvxa3yTX9pHdwdUZVCBT9an
V85l70+BGqbf2sa3t8qx+QQy/pUpfHHp7xiQHNqZVKq3KOwco9RvQxhnoPhfswMURfyrT5vbA/N/
ZNviavR3p28PItQCbA7Vf7iey9lmbH8CgD3bKqG7WQMCLfgLORRk593gIhg/Rqq5pb3ue/29pq9d
kZfKFeQYUJ52itvYGK6ybzZjqPjWHixrvhI8t74Dz9FuXBQLpCC9nw1AXXmFLs6y5KbUohOKYsLW
hmDadhuUxZ6s2ejwv9iIYIDagAiSQxuWPkh8/WZjhZ1vYBHArOlnKPMsA75vj92j9z25tB9jz0eA
wQroJl4x0vfZ1GaJ5bdumpqkHvUZe1BjF2gnEhXbMgCX7WbAnLAT2fENUGd+iz4hCbCWJ11abOkS
045K5bCxw3LAskoCpWoS2dqKh1twPHIMqe9MV8SzcXUmSI6vsjWV5KUqQjmAlMS4kk4pGu4fyWcH
KzZvJCOEGN4+3n2vfAY1BRRkB104/jSO80odh1Pi84tm5X724h/esVo59OPWTpHGLr7AQt/xTt+k
e4oyU7Jp9/EpPjlBFdYb70LdoqBok2yUMN64G+PQbrsg/7JmqcZ8Urz3Fe7bPTM4VeHgeMeuvhGb
YcevABs7TaEGL5Jh9+Adt7Fu9YN+4PvCf+BBEdBje1Fe8WNzpe+LwLpey00tnQRyHKmq+jFpFEyI
U4UjHBi5xSM7nAuC2j3fpzCr78r3uPPppRYI3wubSPlU7de6fzmR35sJ6QpV9wVeD8W8I0Iz+Nr5
g89CJJV39Cm5Jns8v8FIHuEEvI+37lVz6h/MbR6WW9A7YXW0Tb/RfSVcW5f3s9+6JzOZjaABdhmd
7yrMV67aT7zwpy/2tXNPcEE6NVcgjv2hrQTwlq4RLx/x6n6neOAzbsBgE0H94q64Vn7kF6go2oit
ddRPWOU1aOq70W8MSnJQOMGHDDS0/8PZdSxJqgPBLyICISTEFWjLzPR4sxdiLd57ff3L3tM87dBE
9GUjdg6iZapUqsrKxGE7VjfFfX037sqd9YgFfbJ2Eo3hSIU7IHbYscO8uxxfLDiQv1nxT1OzEzHY
Y4NdHSPilo1wSbimPLPg+FT5glnWZZTqWDWopjlduxNz5KIfdeVWX4or1HSTbjWFzs+XaAPFbgdj
Gw/sUO/Du3xP/fql9oyfGduap3Zrb7of6a3pFLjKi9voN/24vHbG2YV/YRJqXZoXeES25ytv2M5u
cagOYhfu+13mpUd0xOxSt/VGb8Lh7w8CTqrajStR89LxV+vUEJ6TRmUbCGwzR3uv7sfb9MU4zKf0
YB3Tj+wYPw1r8cTS6Vdzbn0ACuympJPPd/F+eNZvkyeOGFq8i30JGU4nuu4oqok3AV2xnAaYU8hA
ap5QyMytQUb+psK/2qnzGf10zMc50WYBZQQ/upm2fMfe0z3dh0dxEx/0bX0AYtBNT7Z3+VwsHHw1
C9c2fUFAyzf5dnCyxIemH4L67fLQixNRXMQkWlFFk0To+JA/om8v+JN9mC/GR106gWPGwPw48egI
SJkf1tr4lqajBDBo/hRUy/HJupHuHPuBnXssX6mKLvifM3/3540Bfdo4aiZyGBrPnKTYyVUC6KWR
lTdZS9BtHUZI8DStudGiHzlaei5vwvnu//cwQc/6/7+5nsYxPHfm+sPAnL5ATSr6qScv1fTTLLD2
zZqRf30dCJU2bYbYRBUZ+jmiNo/AFaPrOPG0x8qHKNlNfkj2gMnfWocacU+wuTy1rxcN0qH/n5qc
Akythkdr5XNavIB3ZiX4/jrLI1QNSxLJVqMhdgPJHSfQBzc0R7dDwXOay5Ub4W/N7qt9UYxc56HW
8bMDaTz5Hn8P74xjvC+2xNfurI12Wx7C++ixuSuOwcqbZyFjIuzzMn5yK8Dgj8JqYOnBtyaGcLtD
ntlb/lC+BB/I7eL5uIGkAXr5fOMm/Nnv6eHyLi1E50IlXrNM0HDwEDNNndxhwWnadt64aQ5Qy0SA
DL2L7ehFd9Wf9JAfqu/o13o0wMdyjhzWnPXXTgFNU/+feQ40QcFL7Gfbje+N2I4Ru22Nwbs8wb+5
ra+2UnELNAqllVaYYL2pN8zR8WRvd+MtZEacxvv2HCH0zrbsR7lLb4VX+C1e7XimO83vbJP4xQb/
buz77Hat23RptoovEcMgG0l6JIuNKXYMRqFwXegucA8rGcQFu1NZ3OSYUHAuwsc2VuwM002U/r68
kguvBlC1/X+jspLxwkpwRMGgvdFOIFr1q+10sLfJadpD5AxPKHKEIIxb3M77/MT3DVzK5W8vrJrK
6ta2HQjFRmzi1BHIcnyPmeHU9sqKLQ2uPEfSTs68GeGpkH3dhGfidbnXGNtc/ukLAdY/DbrxaIRJ
KfHb6Ym9N8/mq36bPTV+sO1e41/WK2SAyMflTy14eZW0LTSlHaUpvmTZ0FKbUreLKqiavInxgcZ/
LFC2STKs3bbnA/uFXanFNCs3ghFicZP/brjfiJN4z99uUwcP/Nsf8XH7o3S2sfMYecgUZc7k2juO
ZK/u/ImQEEucP/7rQ+a+Xp720olXHMgwTmk19LjcMp3+YbzeUE5Whl7IgP3bxquxDIR1GLvclH9o
5kLuE5ie+aV6sh7tb8Vde6i3CSiq2MN0HDbM5X5yVQz7T5fvrIuoqGtsJqtKsG32TjnKFZ+4dNmo
3b1BkECxTMLlBi+zq2/62/iYnIJDAGEE5CmHDbRgbwzIWbJDBsKQx8vbtGBmluI+itSSiV4gPhv1
W9N8zqPvs72/PPTft/oXh1Ht9a1AJadlMxZr2Gqn4Yb58UP+Im6mY32P/TnGJ8urV761cNrU1t8q
DGsLwpnwglPvlmJ2OmslOXCOjL6axHnhPoUAuT3qEz2br0xeSpAuk4h5QC1tmJBA+axEnF+D1Ayh
dv1mSTU0wJzAlZ7oaT5WB9sBVxTyb/oJMIiflzdkwRNZytvCyFvNtCfstU6Cm6G7M2qk3nQbulnR
TWmC021maPrOVxZuaUsUB9DiauB5gq+x6rmi32u6Mu7SLJTQIR/0eQbEGbNIOgiX3SWQpJlH5uXt
Uxa1LodimWmsHKvFfTn72U+7T0dUL4dgQmCQQQ+qODRl7YKqwMlMZLihrslI6RjmixXxm7q+79O1
ptwFs1Qbfkc0JfMhg4frA2DQ75LyNRQr+I7zBfrFgVb7fQuhETBlYV+aXr5UQeaNlnWcx/yh1bKV
LVrY+n9afemcVVPZWQc7GaTXGUX7yAhdO1gLb2ShNvimMgtyqeXWgVDaoeXJ7KPdwHoKvRnCAUzu
9K2VFdkOEs/V/ayZ/Q44gNZNWlvsJ+t3DYFRF4LOdeWgt2QSm0GIdOUCXvAWamdwE/R22VSmdSi1
0UnqD1sOni0fbLtyaByuBC9Lh+O87J8OJU8D9Evktjg0w0hPEHHnJwoVb+jtlWu+e+kTiqvgtoAM
YE/sA+hRm+9jEqMLwozDE6W6uXKVLn1C8Q+Ey7asIGhzyJARdQIZ3pZ68yuUa2otf6+Zrw664igC
AazBQAzrcJZd9NE8ZDuZ7BJP8nJ2yBiLXzGBXIMwJ7GzoWb5bJTduEdPAd3TsKxjJ22qGRnFpGUH
A9TIm9YM2pPUKHE7zYzwX5JudZAxbsOZIBcYVe1rbujlM4nK4smYeISbO8n2sZT2g2GkUCI0rWqT
ccDCIR7eeXHbyK3V2p0bJ0W8Aa2i9mxIK7kBxRSwJFMPmi7HSOPpMFAbrfJS1qgw6eGxnSodPQqC
H/I41d9IU06/uJGWP6w0N7jb6xHERQywyh5qs2wPZ9nb16nv6HM+j80m1xmrth0HvUobgp7GzdB0
vGmKEdRmdRMfLAMtOKg5jfo2bYYaTHYJNAS9WXSD1+Y9uW2LHFr1U2dVO2nmKOGFIGgpotr2ysmG
IhEBsfDNDEnOB82eu5PMR+S2J715v3yNLRwctcEys7OkYFEjDqHOD1kDkrZhuq3pWjfwggmrRKGZ
5GFdp8I+2BOVwpmaUd4OKU8dVNtTEFcADeSVYxEdLs9mwVeqyJVqjts87Wp0JLHhTD8/JC5IPlYS
GAtLpXYC5WNmcTRx1j7TnrX8jszPGV/xdAtDq/3xeR8EHIC54NBCWRaGZd50kUWdqQ2v22a1J77V
5yqeDGYdJi3OXYhRoxEnM0K3qYs1zqGFOagN8VYXWrHMQu1A88SdYDNjfJOQq4CNhlB74qkNXEJM
S3Hok/4Zx4a4WsD3NrW+zZUAHpCXz1cdIaY8lQvBIDWY2vaBF9l9BbxBlk0rN/lSDM/OS/fprhk0
VpgErZ+Hgrb5gdR0cLOug/7oWHa4DgKu7VLL8gRF62GRB05TZOUeifiQgl4cYTmUakZoqc1tF59B
q91KV+9CEKN21RelQYd20ixMmezmbGfyxhkEA9PmSq1uwSxV8ui2A5+TnVn2Ie2q+1LXXFLOK0Hl
0tDKxTdYBotbMolDwHi1m8LKAMVPxldGX1oZ5dYzrJHpoZXBLoH/cRNIoTmjAChHb09hjerxdUdO
iYvTMCsCYPytQ9ryx1DMe70c1wpSCzNQ6YC7MgTWRCuDA+4dcct1Il6ZqIe7xqj0R0vqay+7BetX
G89p2cVAQAjrUHFAekngGFO/n7rrwmy177xrqQZR51w71Lh53Tnn9fPAKT0YtEs+Bl1by0gszeJ8
yj4ZqB4YEjSiWC0yk7eCiec4jY9WPPy5vNFLm6EEgjSQeSykLg76BEDIdCNJ6In6mE4r18jS+Iox
NKmZJADOBgfbhFbkyDLTbcLgtk6bO5lXKx9ZWiPFJiwziCBIHQWHcuaHMiOg9xBgJ2nqfnPdKinm
kKSBTA0GV5+mT0k4uAU5tjkQC2zFDS/EJCoSuNJHktoN8LONOQsXBBmoNRTtbddN0TGgsLwMDb5X
TeUfPDBY1OKxnQh6sV+nuEKfEKoede4k40quY2Ez1IbyUkozMya0eJBAbMoCUbnRRad0Gt4uT2Ap
I67iaWNuj11YF8Svy0TbD4ZZvmalne+7Qdh7i1rpU9qQbMuFNv+Zzbw+GWSG/IAlY2R3xg5N3zjx
D3ZU8dYtg0Lc0LHooTw4tOCPiMb7kttz74b2OWDQ0X5vbyGJ3R+6aoRW++U5iK/f6CpSVyOJ3UlR
zX4aJMzt89aD0My+odXgkLx+gIbT+xiu6mKczeCLh5KK0dU1sB2g04b4Q9lbEKMIime8/9LR682q
80Q0pJE79+Cd94JEA0osS8YJvflW744jXfNjf7NQX/0KxUi7rAlNYRYSra3jDOENk9eQhQjwovbM
IEZoMQua/rBLECM5Y62X39g4D3uI1LQQnq/ozmhCPFIyJAT0kpiOnIrmubDk4HCqpW7a9eJunHj8
vU3z7FtGuux0bmz8Psh8dsYwCk5BPU9Pk2XqG84q2rh1S0oDrzCKYEfWjc/mqbgHmAZsHCX665wE
esA7iKcRiPUW8+sgOnmv223qcVa2G10vh9azRU+9BpRFD8nY2J5RVcYu1EPzbQZg17H0Ytqjf4Tt
kJqr982ktbDk0fD0juVeUdPuZUYrbu+wZJ5vbMidHSF6LbejpgOQFhbpDkSUtWuYc4HGgMx8wNOl
24BjkUZum4OADx0DLDLccdLj0svLFvlLKx3aoxwKNP81VV46vDAYcYppaFayjAvhzd/2m08XUp/G
7RAPQ+dztJt6tW0wD3JX4jrvocKlQ9TMg7gcwFaXhz+hW3BMuF04KY7BiuktXEgqnNkeDFGFeHr7
Nflo4FlJflsG38NiredlwZWrYGU6mS2ogHjtFxkeAQBnbTle0q4eWyAMoh9ggn6+7EMW9kEFIbcy
NFuIgYuDnaKkEOnf+jJYcbFLczi79k9bnDPaRUVXEr8IkdXostIL8+oQm8Np7vCI7e1ke90clOAm
Lmk2aOe0OFgsXhJQEeZR7V0eeuEa+nt7fJrDNBYjsHHI7MKtICdEMnIodIjKZQ1bK/ouHCUVxDWB
AY9ldk/8jOUPRjNqTtzrr0NdPWiW+H55Gl/vMlWxKkYvKj1P0QietzcWutaieo0g9Os7iKroFN6Z
WkSAAzhmxVmUEHyhh8xgPonsvSbnEImp6KWQ0+PleXy9VlQFpjSinEbSgN4tGDyIwTwM/XSTT4k/
5e3D5S98fWipilCZK0IRdk/S7wnb2G3pUKtzi1S6aKrclXgmXf7M0oYotsEy1kfQNpV+M2cbC0i3
KbwqU0RVMEo6kajKCSV+OU+u1aFXPp/tj+t+tRLmk5Fms2b3tS9wN+Wx9VZ0xa/LQ39taFRFkmTt
MIuiM4nPUlB8dsDtH4s6YBs+NivR8dIXlMjBqKKC2ZoFG0iixJednd6ix5putGlgK6/qpV1VAnwm
NNqWwVj4epN8dFF2l1aRd3l9FoZWoSHIa018nC0w1LLSjeo/Bcgfrxv5bNmfXFxiJGhcpIUNTbNq
UzC/LXP38sgLK64iPzrWT41sU/to5lWPhDptAFOiRforrPJoZcmXvnH2FJ9+vR73FiPGXzLq2mF6
6k3TN5N2K6u+4G9UgvYkifImNaLgKEw/B7aLy/fSeCVo37xuhc67/enXt1BDYUzq9tGYb/uQQ1n5
T9ldRdBiUBXl0dbWOHSNIf0kGuptFxDNi+yKr+ASFxZeLdvLqMvJUBRgzEtR/uBx+yDs/A6B5koI
93UBFyR5/1+aCGnCBimeACySJXW0vPazwPCyaQSOSP+FRvbGMcf6GJnpykn620Hx79OCWueZftoM
aJiiRCLo4A/vvXSbD/uNAUCbO/yGzoDVVnf68/TtqXqAuKl8urz/CxA+qlb0x7aWEtqmjT+VjHhB
WAnTrUZR/DBGGfxmJcu3jEf9e5JoOQBbTcee5jRNt9UcjJuhympQoLWzbrhaXNd/akghnDori39n
JeVOTwhwDunYjLsU2jUo9jRp8wYmQGFsMxD69E6YowPNkXMW/9JCkhfXmY1aes3K88kIc7ytqwJ9
qjM4apvMyDy7pOwu1WS4Yj4L5qnWUeNJdF3QNsTvutEZ4h9gWQylDc77lTO+4HS5Yp4dHtgjZFSJ
b4vAIfAqUBm6zjdy5SqFnjOH+ptOIHseDVuU8fmmTYJ6Z5vTGk3WQiijKrvwLANix+xNv695vCN9
sDEme0YFsr+F2P1ubOKr6kdAaP3fcKp80AYZidGvIHH2qglhuEOHWNnR7V6uJOcWtkJFpZCx0Sdj
aMBp0cXHYTRvSEFX3ilLQxv///mpZmSNmQy1fxbZRBDyXBbk12X7XjigKst8GWWdWRQG8S39j23/
CNOfMfrnaXrl8Eq8IQoREaMPTN8Ks5NRj/dTof0CTqtw9Cp+v2oKKsYkECNw/zriyQqeQpAcnNYS
/QUPYMG50oqVAKSVLWOxnEy/mMxNHUt3GL+JMIePWwtEFupTVIWaRF04sCa0TJ9An/dAmjreRqIJ
vzWE2L9YHUanyjTNm7kZO3dKG7HJ9BqVRN00Y39sc45jEQLyCx0Nc6uP03RV+Yiq1VFeN2aRy0H6
Grmh3eRACGFlTRduZ7UsWqH0z/BjB7+GYDMbnVpLHXpdWY2qBdE50Rsam8g7ZuJ7z8MCslqCYnHE
O5XpGpHs0gzOXu3zbcyA4JIUTqWJs2HTD8h+pGTIHB5NK5fvgt2rBdGWlwyUv9YIIQaDgJ1Id4pY
rpV1l36+Ekw0WQlQRKxpENycgf8sOwjR8Zonj2nUz9bKJbI0g/PfP60RekUg8sTNxI/bGLTL8/3Q
9Y+XzX4pGlJLm3FWDBxJtARvmVLuKTgU0Oda5WBzbGuy07JR90xTsAdpcVR3a6HJb3oNLQLH5mXr
FlkRgmkgLL8nTWU/0MFOHk0Tf+tsblznmZji/cygibTu/FQfbZxucAybG1KPqH7UQb03+2Ctx/Bv
L+EXgSFTLoiR1Wj1Gc7PuimUHjX6yLGq9jjPAYDZ2nsbafcB4lOLITEs+rUU4NfKKAZlyrUK+VbQ
mPFRQIaIb4IYfSUtRMNDMKm6yDSHHujD2V5v+sTNJYv2CQiynbDpVy7chfhbxc/EVOd2Iu0Zifb+
bbCrX7HJoYqSaXcyIJ5dZa2jTc2dySF6d/nILZiMCqlBn7ehJb0ujqCpctjEAQp4b4I1+qOlXVQL
xthBrGPELLzlQjeLmBtq7abRDccIXulcb9pyfpqSzjHylQfFwuWvVo6RG4kbPO+so2nUG6J9lOB5
SIKbPl25PZbGV1wM6dMqSPRR+np1JzM0nvZ4mECjt03nlWTY0o4o/oWQDHUUmhSgcr1N58wjw3fb
pCvOa+nnKxFwkZDUiuxcHAnqOLasAbNE6cP8Uco1truFAFgljgItJYQBkxSNQaCqjJqTYcYHmj6V
QJuO6ZVLpBjpHJqJGQ0wE6s4cbBVBOYvsYqfWJqA4uFEU5gstqzZj8bQtS3L6ae7Htw4AZVu2r9e
NruFj6hV4zairV6FgvimRvd5k8XoXeSlkwuoTmgyc0xynVowVYvGLLJ1NE1qBTJwbwK9OrEdeVWI
piBjjWZm4cCqVWOkVYvUtEDjX5Lxj1lDSF0m435k9Cqec4OqODzU/kKQQUCtKkuLCbzJU7mHk47u
qTTWBF/JAkMJVfF4hdQ5tPQi65jPET/SIUg8o+50rw/mDsRhNWlAXsOD0odGFt2N6KDZBtCUTzwL
kN+jJk3bmauSbYQME5fqQ7GvcktCZFWGpdOj1ncHHcDKp5FV3YBQF1QJbG6OaG5DPdSagps8hods
2t58GYO8P0EsrdzpQ9U9970VPM5GW3lp3YpHGlZoFAM414OQVuUUrWl46LeVXqPFP/jQAAjKRXiK
u7reAPI5bpJujE9GB5gXeMb1+TQVAu1FYIx0MtHE23ga5tfZakfPtJvkkA2x3HMxTseSaemRBxb6
2unwk5VJsEUHXnxE/BPezel8Vm+ywx8ohie2E9eh+BMH6bzjSVfuaqnXNxB7ytw66utdQTRIUFZB
e9cGpbmJ57HfTgOt3bGy5Vtqy3KbUK3Z8DqLbkWXpRveQVjLgXC7fkd4qSHhUgnDCQ2j2WdjU7z1
3P7Dgch0q0TjqLLGti9JN+4GQag7D43wh9RuXaFH4gcfebkt9DJ/swwZvnU0jDyITHauPeunCN4W
aPCCbqQc20PfJr9rEZI9lITyPasJVDyG8LWFnuoL+PzR3MmgrgktwdmlsfV9yPXoOZfcuhVmlt3U
Vls8xlYPhsKxF1vbSNBOJuXvyz5jwc5U3o0ZZLxtgHfRkbbtriQg4u/b5qGf0pXk38LdoIIzBshU
pt3Zq5o0CpwyBjYw7ZJvU2PMHtRr1t6FC9NQARRDh5zOMCSNr9XaQ5QG9yHI1rM48K5aJRUxwUlI
c93sZp+xBMiR+6INnWFeU5BZCP7/ctV8Cv7tvk+aEfCTY5NY9yVJn+Eoflz+4UtDK/cOH0QUl8xi
xzqnDtPuDP26gdW6PHh/ozHR7MqPJvbK4/muJ+ZK3WthL9WKfJz35TDP44zXHHG6egfVPo8HK0+N
pcGVx6gWZSbaNYbZp0PhiiLFexpsnvZaz/rS8Gcz+LSVnUxJL0tZ+tIsWi+Cpg5YQhFXB1airZzF
BYv6hw5sZppWVAU/DgFAMhmP3kyt80g0lR4HqOSqc6NSwtc8iCfGIXOTVR9G+dJ3b9eNq4SKVS3i
Os/hAAcatSe0SPdov5Z5tHIqFyIgldgniemkMRO7O2aw02xySfeYxU/Q33WosZIjXfjGX/KYT1sc
8jJCrwOr/IkbYAGFSA/k41nbbbtzVGqJeb4jetWs0RcvnSglLNUA1bLMmZnHwsCWN3xLwsap5bgS
uy/NRnEQpKmMoIk1E0/TuDmC9rbe1gSXKB6nlUvTzN4YSZs8Xd79hbmoFGB6oZtZ1NHZn2wgPsEu
pj/YlVx5dC707lGV+j2Oqr4LJEaXWQZGbxCoH7TAsI4DKixukJjBdprbwje0+MVIwn43AxnmDuVE
D0BulJvLU1x4bP9Nwnw6HR1Lui7PInSWt0HyNJ07R4NyDLYlsx275Nahmex+S4sh2UPniaw88Rfc
/N/OuU9f1XVtHOjUz37PBe7XUxuvIRO/Hlmop70r9bhAKNn5KAZYvxLgNx+zrF5rn1saXTncVa5x
8Hl2k58z/Z1a+YYEyUrg8fVZ+0cxoUTbI/Kdkvhzbp/oEN+H1nzPh3DFQS4Mrx7l3Abau5gbyPm0
xE3Tc6Xawevh8iH62sX/I2LQIQZNG+iN+UFxl7QfFTKOuvUzWVMCXRr+7As+nRbA1GVbyLbzLbPT
nHluzrH0hKSmhg4xm3+/PImFvVXPJHiMRzpD9sgfA2ubZWIbm2utfksTOG/KpwlQnqLjTuJQBrQ2
vE4Mxqa26egyOxX7zGyq7eUpfO0chXqdNBS5ulHaQOCU0S5M+3ozmlXmiBadcdBdQLNLvdZetTQl
5WJsDJISMwVqJqM5VN2jEc2LFdoT7T7Td+aQrKm7L+2K8f+lKwvbtMK4QxHI7G55UO2lMF4vr9aS
SSjGXFKkjiF8T/yE9uU+JZIdKvQT3NrBaK/cVkurpNxWZZMGIZEzzpTQt5opJyecpp9tmzyjZnYd
okuoLHBTG+Fs5RCyCJpZv2OZbu5DSAh4l1dpYQNU9jUb7NhDnxS9XyHIOrZm2m5iGq5xoi6Nfl64
T5YxdiNwB2Pf+zazj7XJbvpojQVtwRhUpYMyq5NsrIGLngwA461mHxYo5PTGdjTBCktWCvULO6xy
rSUd+pyHJmt8QZLfeqbFB62cHqbApg7gI9pKrLBwVFXNA2CWA+jvpjhHqB+SkBfOQOTkMWQAV06q
wIL/W2kQumJnFCJ6ZRsgF9dWsdOn93XwZGT0kFQgNqos6AprV+WOhUq4hlRQLAuoDvm0e0c4jc7l
O8k+IA258hpbmohichHwseidYdAyDAwk8xOt9vqO7FkobpARAcevPYyukNfxh1sqvjXptDLjo90g
75fcmIQ7VhE+XLa8rzfdUgGuPfSdoRM/AmMC3STS35lTBBTSx3WDK3cqK8YWOAY4v3C80czYs/Xc
sax65TQt/XTFrAukzmhcMOJLS+67EplvaFs4ibiOfMmyz9/95Dbw3M7hKIBuMDvDNeb6qUujXY/+
/8uL87VXslQkaxnRZNbLvvO7oP7omfE4lKAevDz2127JUqnTwqI7wxEBiK5EjIf8B7pK9lb0VLSz
q9XXYXwsFdPKTR7lkBzoIEZtPRcpJw6pkqcOB3XFIS2tkHJ3MrPVe2RiZz/u8xO1811VsaviMMtW
DDhPxJzlZ+gTZL5epyC5MaLsqmeHpUJZ9WRGgpXhOs4SzdHRMs+bbnN5W7++ByyV5gyCPUFltRDu
jONyJGjUxjPNlNm4r0E2shFmaq9cOAumpUJbhWW0doLj6ee8KNw+QkY7IRw5oUFfy+8tfUKxXs7k
JOQQ1H4K4vSYoOvRba3Su7xQC89eS0W2oqsOABeK9re8QZeaVniizUYUl/u3YKL7OTH/UA0amt2w
IZ38YcGtsi58vPLj5/P8yXG0WiLaVmi4faoeylwBeEqcOtDhnCxQszvJbOoeNCGyja2jSuhwbtve
hHYrlDmK4d5mQft6+ZcsGJAKkQ2m0I6TGV2GQdk5BTVv0He/kvBZGlq5ygda6dA+hnMcOR3ABFTp
92hQW0snLY2uWH5ZQBCp6KvON613Nrwa8+/LC7J06BSzr8wZ3ewVxuWoDQmiQxmugnpgvLk8/Ndh
gaWSl4WpydtgRtg383cDmfAa7W1FmGx1o/aInbp9u7v8oYV5qIRlVcLHKq8nKB4b4r7Pqekg/Eoc
OpVrWjILrkbFP5PUsLOIQpCKVVy4WqNX2ybsE49lI6jn2ya8ztOoOGhBhijkI5g/EkG/TaiU6jR/
RWvB5XVamsV5/T5ZIqhLcbn2uGPbwNTdgAXaU8kpiOutONnZJAxX7tul/VAsvuQZg+4IDI0mstER
lPeaJyHmdGQy1VcitYU7XYWI6lwHE6TE2c1I5IYiO3b9C23Rtln/LO3rHmKWpZi1Jbv2TOEDHTIy
Q/lSTz/szl5Lmy3NQLFqO83NrOlb6ptz+l2vkiO3ISqQTtswtLYzmDQub/rSZihGPqC4ZkaBbfgg
+f3DZdlAkGK+1Yo5XYlLFsjCLRU0mmdsmmSbQSg7qfvfAH41nl2kKaT6SLCra9oe8tq0PDvUgucA
BJDom87076Desl5xNeS+bdt0e3myC55SJTLjqVnGJnwOuhCblw6UIKhxr1GqLCykCiu1o4YHbBio
Dwwxc2LWfMgS1Nu8KVfyhUs//my2n8wTULqMtuGIHy9R8ojk8Dbr3Z/LC7Nw2FTwPEutDJL2FfN7
46Oq+KYKmUf1A8Tuj1n+evkbSwukmD0buF7k+WD4WviYWsI1UOrv6crinBfh38eypULodVTEZ8I6
HGMuTlaePoaF/Z3b+rPkycoaLf1+xdq1shN6yQLqlwFoUkwjj0/gXW8gpDzKFa+1NAvF5iOOqlA+
cxOp/9lp0Dg/V4PbVROUA6+7QVSUMfiqo94MiOmbVU08w6iM2z4Lwg3T4um6T6hw4yicWRuCHcCv
wwBGHjrWaLm8u3L0czTx2QqoQLksznM/qnRAe7IEDSRJJodnVvL0uoqZpfIwxTWanyMbfV5GcTe1
z3r3we1vl61gwYpVoLFsJtAUk6gFQjQt3JkI7WhARGUl1bJgxyr3UsxirTZ7eHM48ps4HH6Xevva
JdF71bJfJZGby5NYOKcqlxJKcGi0oXgQjrzYm4g9z2qXoE3oqRvW5pqG3tJX6P+3WqSaFRt2M/th
mTyFU/I4z8MdbbuHOUtWTtPSJxSbRiA+sJajOWnuHnXEoNV00vlrPPy+vE5L26HYszDBd5aUNfFx
8TSb2crrwNHPBeuO5h8aj8lbS/vk5fLHFvyTCoEGvgc9RBRG0XLQjMxVXu3bKXiu86xdKYgtnF0V
BhzqNIXADtJf2cj20WSBjqpbObj21/77H7zvyJImTNEDTUDG6WgMdaSgNm6LorhBlvsbwzI6NniQ
AFmDoMLlBVvYHRUEXMhOD/gA+hBMJULHIp92EI8h0aEXVvetCJJc8yAuXPy5/LmF944KAWYAExid
+R9nV7bcNs8sn4hVABeQvCUlWZS827Ed36Cc5IQkuAPcn/60visHvyhW6SopuQoglhkMBj3d0wxa
4D79csza38WiIDs6UoOHDMkzABQdjsh7VGztZrKwKXROKXCeGdSLzf6Y2FteZtu8iJxuzUCXGtdO
dGOGXqZhcVx7YkLBaz0OgZEkr3U7rWSmlzrQPIChPD/1Zc8PXa/uRkJ+NV6+6wxDruyApQ2tmT+1
aQwifBRSq4E8VTGYIkRMu5vL67308Zrxu3jdhUjj4B+o8TW297MEXG/FbS01rQXtUMFJ5dTPBoqp
7wfwErApDSq2EoQsNK5jgME3c9JJmfhh8h+rqQ4T9axktnL3W5hxHfbbgQICOaTUOAhSvxQFyhfA
nLRWAmP+hyk4EwbqmF9c9UuORxMIPsRQJwuKoa/+srTwnzMWkyycpSfywBVFuwc+1Aq7SrxbvZh/
K4TqQPpYDphPATnlHWsjiQDjAMp/ZyvSqfpSfmHiuXYW5tE16YyyllZ6G66MgYdFjkq1mdU+OPGT
Tt0Xqsk2eNwyv07HS8hbMRzzhqtwyrruwTZmjkxByfyw6Eb/sytrEAv7tvBBXGkYQJR4vOyDMe2A
/QLj7Ufjj44MSrcdX5VywaaaqQJq0qpFpc/oJ8b/MSNz1KYB9eKD5AZwBJXpqHTrM7t9NSkDh0/v
Zc5vIQQn8KAJe5uFO4eDAm7ZGYkLoeapebdjo/scBHNF0Gcl21hpH0DmKYkAJbaCRHDzgJoiKKkw
Ah6nVnWvACn9ze24uksS+C2PJsn0lKdZyTfEj+tfCVi7glyQJmiLwkZXmTfsoV3aPrE0ljuT1+Uz
n8YZf25/KTYq8CANYIHs/PaQEeitO6Inj54Hu/QodX7bDnNuSniF+5QxZ2em1NjG4GbbJE5mRi24
p8LaGuuwZ2MTupPp7mZl2Q/A5fd/iYEHibtcwrOWPVDSQVECqFRwUgd2X3afhm+W79KwAEymNl4w
OmsMK5uBQ4AkxWYcUiv0eJPemZOZgONrHDYGiEaGbcYTYLa8uuvtPbR56iI0UD0tN8JU2SfJpv65
AgDm52CnZNzaynHzHTUNvwi7kue3uIvO0dwT1mwmWrH3JvVnFbjMFPu5Tyww/8I4PC+1QFHvZA4A
+DH1NqNdDR/lAFXPTey41RY4lT4Pc2XRG6Y86y5lwnuWY+pScFGhNqfDu+Fe9n4hg6JnOfDcDLhL
sBEbdUCcvJojqx9ye+tSJzk2kEXduUKE4Jey94B0qWCGG8A1gfQ/cmO2ho2bmOUudyr+5HfTGPkd
CEwQ6UugQFgut6DCLXc8q/oT65ZXkVDWLVgTspz9Ra7f+OmD/fetEhkMJykrq90qS9aRxW3rpkod
9thXlWhQw1VWdwIAd3ebSDF/eApi4u4shze86drZhsrUluEgZdluK8uet+1gODvcOQZAgBwjKhXJ
33g2ej+83kc5Je1t8B6wOvCaanqKK0PtZc0EMgBdf+xct9wWNUnfigrPkx5I3D54p4x9V5bG1hPF
K5IXNJpqX6kA5Kn9ZxOP+Bzil5uptkmA1SYHMhfiMfXonN9Q33XYis9ccsjaMctOmES4guboA62A
tcg2Ht5ownjOt1edVDr0mXl2nbK0bY+x6/6Mvf4ESZycwG7WXnkWdJhcHf1s2jFotE3XO8wPRAbJ
4/A2fYGUrblLf4xPxqf54X0Mr+1Te8fv7efLg1oI7XVIdNKwyk5SDyVFzVwEeGLgwCdlsyECybwG
5NPzWpHG+fVhOm9D1qRqcmKrO1YphS6pC1RPYeZ/SmMtEb8QqOqFJtyaMpAPmOB78SFTwVpwCLJN
nDzXHegE63l3ecLOD8PVK01yktWgThjaY4HSuF1fcvUqxn6EEq+xRvR2vgtLV7NsxxNbn5LVkUkL
ytTZb1T47UnMr8RO//fA9S05AMAQs3lRNUceu7elUruyEOCvK8lKCH8+erF0/cqMVdxyjBg3Us9+
TBz7HbHLVaGu9V+l4rdPr6iE2rnjFUdJZeBagIiZ4Cdmj5fXduHDdUBS39t9ZRcmqrSNKQLp9o3v
xle9Glg6ZVnhFDZAW+l8jLsfLfsLWGDgVT9Zt1YJuvTpJ6P4NjE1BXdN09nuIcE7613FwJtZduOa
aNl500Id67+tT74zMxSwFEezFogeCuvYOf79IKo7lRCQ29fkKidu6dintvU4EJ9YX5rW4VjSoAck
s0NUcXmBz3s7SCr8O47RN0GjDRL9Y02SjaGSiHcUdJQ1MqzXibdaOuKpsX3Fsm7sj05KhmhyO8R6
c4e4w3ebr8ujOH9FtnTIE0J36jhOMh171uzKtBYbUbIvBF+Ituf8GTf0XQdG4cudLW0s7X5WxBny
0Rktj0ZWBryLyBpsdWkttNvZVHFw+Nm0PtLC/A1lzjho6XzS9jBvM+gwXHV3NXWYk+LlWA69bx/I
kL9Kb/rRlNOKt1gQdjZ1nNPcVc7EiwJsCFAkfikq29+zwk8QTvoG6ouRAwLBadx0I7Rzki4N/YG1
z7Ku45u4mcjNYBP3RHFKjPSm84f+jwITHWh//DzNgwGCFyFCxHTXOYzempVKDwY1hidUNdI32hso
uvOl/zfhMUrJXDOFQlzRIPMzO2l1T1rED0Q5468Uj8eoGk3l6+XtcP5sgp7NvxaUOSli1TxDmdlc
H8y4HDee5C9N5f24rn3N0/it2Y9SpNVRmXWoBucLagU3Wa2uCndMHX+VtLiX1BK8lzbPo6SO93Fd
7RKidvWcrhjMeeuEaMW/M+TFsdl2fKyPYDNO9vZsvVimdZNwVO8arfdi+pAfBRX7yv4+b0WmjspK
CHRxwFRSHbMmD5HNDJL8/xr2VnUrm3xpvc1/RzNwUOCmHC9GFgXrbuNZ+Xts5c6hbxxzZcLOHy6Q
a/i3i9w3Y7DbjThTasjkEnAz9O/l+CNhfajWHnSWpklzNngrndM4BXZnZN49GFbBZVw7+1k2tzH4
H1ZOl/+Ktv43rwLG4H9HEmdTBtBUIUFBG467FDKqdqjCfEOMwAjtQIJJamPc9Vuy48HhJd7w++Kd
bde6P++pTR3JZScTsA55aR7HvineqiGxdl0T0+a6nabjt1wfiOcTdu6YVX9qB7wJ1sMIkSt7jRZg
6fM1y6cUOcXWBKdR0nih77m37rQm3bDU9GlzfwuOhjE1BbLiJvTZ5Atyx0+scG8u+6uFjaWLUIom
pfmco2mTdVFBAcVyUC0eFLwiSM0Pa7jUBRvRUVd1Mzm09kaUasbg4fbabPyZFnb8PgrCwtpMsxiK
adkaE8/SoDSjz0zeyazAIz2bcS9oHlTzaXl9UGcridml9jWLt2NRIh8BCr/E2M0zzsvsAyDu0GxX
nNZ/xbHnDFEz99qUtESGzz6S0A69t+EOtITFjzZ4nA8SKr9yb/4Ev4X9QnbFBnrfP7v36r34RZ5H
EbgbN0K0tuISFtynjt7y+iqb4zjBE6n0b6CHNW98Vb5wp5Hby/tvYWvrqK1ZdQCOTMwCq7Y/36u4
Fiibp9PKQi21rp32+WT7VdfFmEdqRX2Tf1Vu+3Tdh2vm7nFVU7Bc20c51AIJqb58ASMBqkkvN780
8ZrJYwuj2st2rGMxGjceQbLGGdMGioxrZJ5LU3P6/ZtPQexgGYOLlWXgIZZyvM24v+JTlr7d+rfp
wjEar587wExoddOWd7PHQ1S6rmzJpQ/XjBtlgMbgcwsAjbz7I6H0NRp8d92ka3bdWIPj9GblHKfO
DXL1XkAvNJ7UlUuqGXUKtqrRLpR5ZGl91zJ325HO3YIVf16Z94WZ0SFYTCZJaqaudRytJGqaGgFb
4a9N+4IH10FVQlHTIYS6x/HEXZ2PCWrd+L2ZFUkAoSIZuqN71fuzqUOs8DThDRAXdI5O4xZh2g5q
E+f2SrC2sDd1nlJ/RPkFSCv6Y2a+OlMT9A2KpKfr7uemDrBCLakZ28RGzVY//PbI/MES+0Nw/57T
/DruRFNnKI19V/q0GmBdFtRIANpNtoPKkClnMwshm9NsLxvD+XsA1blxBacVvCZgAInZ/HbBWniY
p6kEG5ktS8gTFOQHaZnqA7xR8j+Xuzx/rlJbcxwxiKIZzYR3kHa/LaGztfGcSWyYD8FEYV8JVTR1
FFkuC8IToLCOhhwR9Nh5tlMxuGpUk7i70TZsPKA0dX+YxrreOXkz7FxLqL1Ru92+Jpn500txz708
5CWb1bwZG7O5KD3fOqpy8vHwSDv6E8AziMFfbn9pv2surZJJyZvTMeWCwtKyvmzhRO28VrCw5BQ0
lzbn7iR9V/TQKMxu/OktYfEW4e9OeH9d8fvyCM5vClMHmvXcKJmtTiFI4wZODTRKsUcRbADAw8oc
LayBTm6Z9y7Ih/wEMtRl7Iex4CC3rsuVxOl/NcBnYjkdZTYmjTvFLXwCcDVt2HE3eU7aUj7Kvjfu
T0pjKiiALbydfVJGqVXKHcgPIKDZG/XrYA6WDNo442Gcz83PyzO6NF4tdHEzVEXDgdjHuM/v+sF4
9ub5yqZP2/BbVDHZDvLymTTxDu7Gd2XTJ0jwJel1J4MOSDO4qIWycFnJk37ad3hF3HW8clYiugVT
+R/6Szt37a7GZh7ar9l4AJE1Huc/Lk/5UtuamZvpxO3cSXvwScpdOSUB5f62jN8vt75kIpqR52WJ
vFAOE5FtEyTkVgzFDTZRYOTX1cHipP93XUeXtcWIB1kUcHnRAMXfYBT2T1rRtTzn+dPG1EFnRVIJ
J2l9hKNQ9AtIoX4adr4BgzmOUogfZVYCSXKxVpSysBw6Dg33adMsOXoTvgMl3djZysRNAt+IV955
FlZEB525oA0Tbo35GoYMJG1DtTWtWgU0H5/8MVuDti0NQzNknuUCYpsAEtunYK8S3pNd9qCuvw6Y
Zeqwstrs1QC5QgCVoWae5m3AgM9LpjX87YIfsk+/f3MWYzMa8VC05bFU5TtK+F7L1lp7T1qodjP1
WKIdUJTj1HByo9NvpwbSfq7gbywxEmhf2aBzAflcBsbRymu+hknck3T8zAW/MtjXiShpjjgcLHow
SSRVPkifZAcD5LlbWtprXJdLe0yzese1GtCx4rYy+uzFzU9Hoqr3KRD4IZ7n3i67lqU10gy/7PKq
smacjd6Q7mXe4uEsfbzc9ML36wg0mrpxMUtUQpexHZTD/ehB7cr6y1EmfrmDBZ+io9BKd3JEOcTO
cTbbl3IWYWOxmx51s1UGHSEbvKz1dSVbpo5II3NpThzsrMeMwn0hGY/nObwq7qysvu7s09EBYwci
dl/07MgQgxfuDytZaXhpGU7O5ZsVQlSzHIA6IqDCyt1A+mX5GoPPNJw9KXZeVqwxhS04K53gj7qt
5ecNBpCjTNfK7mL8M1srUdbSUms3h0k5xPLygYFODcFbf8v9PJhmANt4E9DqhTTF5vKeWuAUNnWM
SyJUztMYT8ndKNwbriwPQptZ9ToMhOwtkAwnW1LwAtBs1+nCtFF5vvGyJllLYy98AFBq/64XY3aa
eY7ES3kPEp6QTNCoAl9iAOp8kFFaBlhnroqLAZP9tyeFR/NUsGZAHSJ4xuPpMavd6xJzOmyHKTyN
OT60AKUyv8Yx/5LVGg/F0n7WPFZhQ22TUGyFioibSd6T+Nltnm1xHXOKqRMaGn0+9nxA+y6gpkVZ
gxhwJXhesBCdz7CDoA9Js9w80hLC5iDryHfQiDHDqoUQzOXtu2AnusggssrdGE8c1fJeubGsR25W
r4Q+SmXdGBLgvSsjE11jkDYVLXuUoB/BSBHmNA7K/o87xNvLo/hvRs7cqXRqw7GpR4S7OJXqjfVi
HlhYHNQP95d/rCO1dR6n0N4CBP+SPnk/yYt/Rw/drdjnT/ln+cnM7RrB4sLZqHMfFmXcFakEwZ9D
ytfCbe+6ybzK9ExdhBCEityVYCo/ElM9WU335jV05VT8b63PTZ7mQLqiI2XbnBhnIIECtK5bhzyJ
25c+E1PIbDI6oSuaKSyrYX4oXYjICDVYH4nJ5MPEEIyDKDTeQDfBPoCDBWnM1Cs+jRmJTT/L0zHI
bN4GE2utr6Tth52ShDwUBRhv+7bJb4wmdkNniL0NTfPuqgsQtTWbp6Vfm+TEijEVfwzW7WY/3yjj
19isyZqfdypUj1VySb2qh0w9RJvuWuFvpTNGOQS8jI/LO/p8+6apuVrosDZ9j1LZ4yw3phHgKgo6
xZ/J2K8s+tJW1SaoblGPxgY8g9PEfqAlyCH74uXypy80rRPcDUCF9EiI4dl2ttxt2UzejTmXa3DF
hYnRuRrbpBuGpGTy2GbkTXJ3n0wJCqvE+FQXzuflEZy/K1Cme0XuFRAacwhEdOWwM1AaUipv7/Ay
6gsbBAXlazN0G9+qQmtu9kgKbnozjS73fTaDhq5P4/4WfVWGSzpTyvYwGk+pOdzXSXHXnBBRFruf
22ElalnqRYvx+ibuOoUHy0NqdPVGFKoLge4+NLz8zDImtl03XtnTaZd8G49Tm0lPUJVxqAr5CRT9
qyWgotnGI6D4avpr92OyuzxzZ09LzJwW8rm1OzejQvGGFJkfJhmhYW9NbtD3a8COpR40R0lJkxak
w6zhJB4eoJE8PMYMGlcotCpXniPOGg8Godn9ZI4tMD1+c0BW/5dTGDu3wwX18gSdNR20rdk82DKN
Xhj4/CmTN77xas5kazR/BSmuWwGd9bAdGgua1Hl7GGaU3QS5E2dbsHE5wVTJNcWXhZ2rY4kpMVzX
NuPiUAx59pHWnIY1uPAiUHEA5or7feB2eb/iyhYWXAcW9zWdyn4m+QGos2GTNhloK1qbRU1WrFVG
LXWhLXiW9HE9QwYj8uktioa2rrnnvbpyQbQVr3LlEzzZN5AfqYsbiJ5akWWrPABrTPl0eVOdDSAp
0yHGgy+As8/d7NBQAdWOEficL5F57nNfWuCyL2jehKNyUSY8U6gAXe50wUp06jo5mDz2G54fUKty
N9XGS4xermtamzI/ZVUrelkcHMhuP3TE+dsBBrVyqp//btCd/OsMS2NOuOWJ/kCFArW34p91n67x
q5y3DEdHb6reBYpJoLAcwUP+lcdTyoNmsLM7sDI3t/2MsqbQAL3GSkZzYePqAHA7Zxl34V8jaJ//
yifvlbHpswbL4+V1WGr+NMpv58bQowbcmIfiMDpFD8T0WEbElTRIfASll7s4vxpMB4EbjnK7wasc
yHnTdhtzNtwgvblGI7zgbXXk91g1XdJZAuCb0oMW1oNfjUGRedCPfb78+UsdnIb1bYZyVOyNsrDq
g534w2enUuBmu9kfd8AeJhD65F56c7mnpYnSTtbJ7mhv9RTmltH2Rinfvy26NN9c17p2qg6Q/DPx
FlIdQHvTbS0OkjNuymolm3XePzk6vreZS9vrOjzetieN2pIY9o3gKdj7veJESAM4BNKyv1urfLtm
NI4uHi4L6K+Yrtkc5rl8rtLsVRVrnNdLBn4ylW8LTqcCPMvEbQ5sapKQcaQait65s9sC9WqpHRZC
rrADnd9ajg75LUY7RglfLQ+ZUb2JvrzxU3s7Zca+6tX75Xk6b9+OjvPFNbYFGqiXBzEZL3xSPzx3
+lQTCOeua1/bVX1Sp8TpTjkMhAQyRZmfAMG5nPeXmz9vEo6O8TUmvBFLH58/WcN9VVegd/OKNaHv
penXziABennh+lJC95hbAWhtDOAA2C0kah4M21tZ44UR6NjeruCdaG2s8Zi4421rJMNNrorrQmVH
x+6Wsq/UbNsncWaUS8dD8rsaqRtO+XVxk6Ojd9nAMwqpdXkYJO1DKbPfvlugLlqtzc/CBvVOi/PN
2kBujrcCwbFBh/eGvbfTQ85XgvzzdZEUANp/284MpNYNp+oPDA+b9oaKkW0aLDa8NjHGn67F5CdY
sbu3ehzcLfc6cRSzPe3dgY47KmJr28RQWWhbM0FpMAi07Jz86hjyvvGQW4+Xt/h5oAJ1XM2EAHyZ
E5VWPCqy3PLA9dKqJ+kLxwXbC3DBVi2SfcYLhVRz7zuApM7lVtIMLxIzhKoyz38XEE18M3hOtpc/
acGZ6+BkXs5lTJEVOYiKH5HMuW0SD7o38hkA37BtnCdjJmuqEAveVkcoC6+vs8pyzcPANobp7yA/
Hpg12ZL6g/lXYbewEbQp7u0Eryr2xCOs8x/ViimY5/m+5OUf31lbx6WNrN0wRgpxrbmevAhVaOAq
uFGmESZDuXJ6L7Wu+apO2ITUDQqv08kddpAKrB7MuU4++Vy513WhY46bDs/BdGRG5GBvq4bNIWXx
TUPUGofugr/VMccWgG3x7Jo8krRqNkZb3A0lHO+Y5/vBh9Tx5c274HB1tki/9coxqUsecf/d7f6a
ciXCWVgBnR3SgIoieCGFEbX0dmRVOPQvCWKoyx/9n+jC/ySH4QROvX5zg6x0DDJ1M48Il83RGCzr
tk5cGkB5NYa7SWgDNdS8/gOtLrb14tEPKdTpoabVzDfDDC4AO7a9oOKoDJuS2N9OQEFedUVw9ALs
lBsCtboYeKXACADJLjU/OmWxvTzypWnVgt7WoykKu9G6qu4zMPqVIjLJ78ttn9d1xaxqNtmo1OJm
1+HTe9DhqXTuQ9eqAwFHX6h6lwxMBcrD3XYE+wHIx8nWnbOVp9EFx+ZqFmsbPaJkRXlk1t0Dj5Ng
dLogS4vdJA6qXnvwWehFxx6rOiOp3TTJoZAWcEfEfzQTMHPEjv0w8x68JxNZydYuLNT/AJF9MASX
fhUfEM6ke46qwZ071f8nLLNe2QoLlqsDkBnUuOTkjcnB9t/rAXLIbr4SRi59uxZkSBr7M809HlmV
+cVame9iRNiMg27i8k5b6uD0+zfzBSTegwwC4dEw2FOYGqnzUFPZPXOeJ1fOzmnWvnXhItk/+xU8
RC33HY1DUq49bS/Nu2aCHShvRx9cU1GeId8u/THd1MXQrXz3KelyxrMx7ezlFpVDN+C7JzLxAFwl
H8Ryvroh+TVX5mM8eTSYDCfwG+/m8losHDNMM/qxs8uKG4YXuWJUUU/pBxP5i/JlB83e+vlyJ0sL
rln3XDqtE7sWj5IcGprlc2a3YTVchaBBUbaWwBJp6jhlbfOoleI+seTvLG8fvF69dqQKaWq95ey6
7Iyjg3CZIWqkdDEQ02J3o8Oh5HeVVARGcfJZ33bsBBiDVZsKZ1qVP5Vl8prFa5wqC1tW53lEYbIq
qrRJD1aC+BysleEMWqOVw3hhx+o0jwaqsKsEBDgHM/OLFySNhRMiYYnKkQqs3UcfdzhAJcdBfoyz
60fKL6crYzAdaZsO42gackoOJsiuHJbe28NxmuzXy5t2wTJ0pG1eTG5jtBhYO7ehyHYOyUOXFWHp
rVG+LZiFrt+ectVPWJv0YGdtFhTjvpnAxwgB2ev8rC7ULuqm8GOSQnk+daIMj7aglX8Ci1103QRp
Vg0Pa1byZNW1awY1KvIl+fTyJ6O9bgF0tC0IjSiumrDrLAOiUyaEBwLuPPfq1zTx6IrHXTAOHWUr
q96eBgv+nA7Gnghn19X221UTpONr49Rt/FhB+pjWzWZu956S97gYBrIiu+t6OO3db06D+cprUokw
Iyv+OtmDQZ1Hg993Dn283P5CwKRja62KQpaKIixz8hKAn/j/ICEGa266PS2b96q11qAkC5doHWWb
V7R3rIzDsXYQXUZ8CTIb35KbKYdlD8+luIqEkjo64jaebDq5o+dF9vjAcxmWUMjwqrVL24JF67A3
yAj5DOUFOE1p/yZcVBEPGX111Np6L21W7bQe3Krx+SR5VGbW3svMDajDXi4v9dKna9bc9E5PUUrF
IyrsoLcywPYmlCWvXTQXmtexKUmOYm0TkmoRxD+/nA6pEZDBguewgOe7PIAFf60DabvZYswgOEBx
JMu0CmL/bWxz8Ji6Kx0sTL4On0UWwQYRBW7kXt28Fi2SlL274oSWvl2z44wWCY5FRMTQ5d5Y4tXP
7HCEpKiVXxeB6YRaNvRDUUWfxwgBkn4n4ZQie5Duth4MvnJtWBrDadq++aKeZiMwDvBFnvdCIdlm
MFDwvVj8yihGZ4bLaDqnme2issNsb30yhoQPK9mKBTenw2VHt67YVMLNsYLZH05igB1zSv7WcWcF
pKLqpWjKZGWalnaRZsJCZHTopx5viEM1bAujyLb26Dgre3RpETQrHgWY+e22yw8lics8sBRIfclJ
cbMeK3GXQxJiZcoWOtIBpinzQbUFaDq07u9o++Slj4p/Qfb0si3/d8afuQfpKNNZSI85nowPHx8P
kbF9uEuf7Rv75jgEYDgNppCEQJwGRx7+cYIqABYtVDd4fgqtDQKoAJjjjdrQg3OY36rIvWlupyqA
znz4Ymy6oAv+rHzl2csa0eNqtwELNSQi22OZDQ+eXd1CNG1les/vEqJH1aNb+iNBrdGx8dk+Vc6O
tXTljXyp6dPv3+w0qVLhGwTCLcx85dVz5q/kj857eKLHyzYokoa0gfDMIKY4mCw/sGL6yJKV94nz
EQLRg2XTqSokgprqACrF5LktDBexvttvhjmDfgO3WEhA1nlg1lyt5KTOA3gp0ePnhGF5Y1nGR5Ur
PF4X9TS/5kXv7WYkXjazXRVd0Je0OVJlW3gC4ck9DiAHyD+VdtvEztOjm3D7xmpsqwxnNQw/DZrG
Jo7X2d6b3jSnoVPFKXThvZpBO2AaSJRLxOwBU0LdOZbf4YSvjDC33P6H4dukemZjslY2s7Bieujr
C98uHQd71o2V99RIk269hBs74njVymY7z9ZzCiD+3W2kQ6FlhVrOYwWS6Dp0TsAJxo33oaqyKmKx
U/uhneTGcTBAewyaYTCe5nI4tCbojsOEkjbG32mxYUbiv9GmsAPPr7uPGBM0hb2rml/QhYrnMDOz
/LFqqfHTmuK+3aKIY7j3UgiqXjb28w6P6MWFWesyCA2YfkTmGRq2rEpfIeboi6AhKNIei+HKQIbo
9x5BYuqonvpR5ZX8D4iUKwRjvVcbgd81QgRxCa6yy4Na8AX6DaU3+gocmJ44+Ekb1wFOJlx13dr7
ebn5pQ12mstvrqbthUz6QsUHouxfrgdCiVNtfi5Sb+W4W/r+U8ffOohd2pSllyLe5vRecvPBaevX
y9++sN76jYQPPR17sO8jJ2aEqGQ5dmK+FwAwBUNJvy73sfT5unGACNvyTcPF57cvsvE2KKlYWdml
zzf/nRnAWFktvAQPbPF8IOmL2Yit1fjhBOTj5Y8/n/gheuENKJ954RaDG6Ea/k718c4R1kHUjynL
g6YGMrE0/1Qp217ubWk8WmBTwfJkaRA3ypzx2aT1+2SXN7ltpUHur5X3LvSh31Fsw2lsw3PtSDR8
3jMq75upBYTFteZNotTKyiwYhX5P6RsCMHWDFG/PshevZbcOHZ8R7qzs26XmtTwilfhuDgxR5LHU
/8Dbm3pucg7WBlB/D38uL8ZSH6cJ/GZ2I7OMDvAAL4ppORykP4kuUKozAlOYcFPXdXLq/FsnAOyD
tEHlXkQb44FCYioxqihthhXbWxrDySa/NR+ThI4zoCxRMTpPKiU/eINAsey31329ZtqZbOXoKN+K
Yo8EY9FvU47/epvrWtesu2e9aofWsyLp3RDc0WOw3rF+XPn289chote9NXLsaQ3XFAljx4eT5PlP
5nU3Y2qEpre7PIIlW9PsGTBTZUhYVsRz/qcujSIYXEoD5uYidMp+JYQ7Leb/XiOIfkvxvLgEEb5t
RY4aflDoHASGNzxfHsHCLOlXFAVJNT91TCuilb/pVf1pt3MelgKVXQzMqnXavFzXkWbRoL33EguU
SZGUZv0x51Mb8brqNrkv49/VDPRjAe2plffrpVFppm1M7ZBCotKLWmMOR7Fntn+byX0xz7vU+nF5
QAsvzUSvjBMpREIQbrPIHN3MDMQ4sN9zxVCR1co43rLM4iGpB7qTc9durI6OLwASAYmUuoa9Vti/
cH7Rk2P47gCUOQLl0ibHuu72YvB3U8E2A02OhM03ovBxuhy5Va/sxKXeNHeD+n5e+s6UHM2ZRcTw
oN7BQW1f3cJs7whXOzXgAuCp18tTvNCdXvVnegqSB2oE75jDvL0x2PBtkASJYttvAwvWDZrUE0FG
7pgsatO6+3/OvmNHbp3r9okEKFLUVKFi52B3e0LYx7YCRYoKFCk+/V39jc6t3+UGzsQwDEMlUeLm
Dit8kiX/mfgb+JeEl3GBh+7oedERMgVengTbZM7NHK59GWhZ32diTvKUM9rlymdbCWmZ5EvYss8A
ElfwYf7/3Fj+9VbbiM5dQnkMfwTrXsIGMJoz01sUo5Uc8hQuNdwc6k1HAN/C7J3BgoGDK+WPQZgH
XddXbbxpkE7J9rbNMvskon58U3+KQxdNH+gKkxnun8kxyrZHZgdXLB1Uyb3OPvz9fV8LdBfh1KyR
pHXnxUdD5STyxdPxLoRK3Gdq9v/j+vzhCS4JdDKBOgzsctIj/R+mpa1UY54UMC4WI6sIpZugFDix
4QOvWRrW5Eibq0hCpua1g+Ks778kMFeJk/sOAxARiQP12SeLe+UouWTfjb6FfUoN0D8H4W7y2mIk
B9lv95J+/U+LG1wE4K2Z5LqZJEXpV78OqGXBFf7kvf2vDv7Tul7EW6J9vw2nmh5BVJHINeO0LTwL
CXBj4KgD3xhx2lycQUfdJpVIgbJUnkj2rQG6V7ppKWNKop9/f84/LmSYRhcf0QREzDg7Rk+GrieP
di9NZ79tHTt1zRD/l6wOmPOPgPWv/bmoIGqCKKSntjt2w5vsfzlPFn+//z/uMlz7o3X0r2v7W03h
0w1DyXV1x5A0lSVsN9HPmNRXlueSgGlHNIFTsm4AnNU/lA9bOLX4EQzCuzfwXI5/f4Y/fxB4iIsP
IopcuySpgq9DANdmxIpdOkyvwTB8jbQ8897ek868RNE25Z6fmBxQgYcObhl5W3/mw/vHHAC38LG+
/1rHrLHzGE1xf4ZPeLtvPI5co0/l/ZIor2yyNNgHC+0/+SD+GLnwYx///q8f02k7bpOE71nn0fUW
wuqu+Hi4l78v57WrX6ThgjRSagR7qHy+r/OzHH/9t+teJODa1cKbl56dwLwL70bi15XNWrP7+9Wv
fcgXx8WasW70tkmfabbMLmfgcuYor9iti8X2SVZ5bWUuNrtHRMRoXNuz3KbhuKxq3XuOTD///gRX
rn55XHhsGkZU6duZ6GR5yOZVH1dbL//x6hcbffGg8RjKkJ3idRV5K9Y7tZjPiA5XFv8y2tMe1lo0
SzlEbWlTOsnIEcxRUzrIPH6SZF/7iYs93reGmc5T7BQ2DcAyaUnbraw/E+G5sn0vE9skHon0NeHg
uodowku4h4mmSXOn5I/awTIs+tTq+NqDfLz+f21ew9Hm3xqLE4LuXUYQkVwlsvWTWHjt6heb16K9
0wei52d0eAuz7RVQmzJVh79/olfC+SWP1ud080nQ6bPtvgH/m4f8B/oyhf5PfNAQxev/vzZOAeS+
Tpk5t5aPJUhZ/SvzUgzl/tvtX+zfaFvSeBtgjdiNsugWqM+N96FFTfHZJruy+pck2jFsM+IrzUBq
7t5DNJTSKX2Jm/rX3+//SoS4pGoqrE09exk7RZOpb/Tow+p2zD6ptq7d+0XGpuC4HUJ1OT7L0T+l
xPve9vFJivk/YQ3C9JKlaYgHyXEL08v2AzZ/xmF5RFqo1nr/98W5soUveZqkgfsZr5vspPp+yI3t
7oIgzrMFY8+xrTARevn771x7CRf7V0sLW+MU6lBuA7INKpXho7+E7Sc77NpbuNi/oychOC6NhgI9
L/t1LTv1i4i3v9/6le176c8D21Eeoj8Ynz2AkPzlp80GGKm9cRJ9ssE+DpP/k5njHV/s36VOCAal
iG3gKLeQ4puzJ0natQCHnHnwdayXB3hrzsjAhfuszLr2Pi429TqkseIjTGbHZNtnsXrwFXv8+3r9
+dLkkuataTjIhsy4dAyyCoY+sM3RwScJy7WLf6zhv86BoeHdohiyeo/T202rt1B/pvx27dIXWxmE
ZRk7mK+cAX0Kb1DeZcVUD5+x3v78iZJLZmyvoIi21oaeanhT+gkc7mWTm/UzhOef9zG5dMKBR+PI
oZ1BT6Ea/lHklxW3bQBr0QBT0D6dP4kW1x7iY+n+tfoegdMl1/iVcQpwDHfPUpm9G8knwfTPO41c
smK7UPvWzz42gvcc1m2pPxxilS3Wz+A3137gIpmuRYIhup+wUzv98HxNdyr2zp3x7ma0Hau/f/7X
1uhiN9djPYOAhBftr6Iyzj/MPmgTovhvV7/Yt7AjtfFUe7h6AizKVNExy8n0ycWv7IBLUqwIZniF
rthc6PKO+dbPP9Zo+fX3G/9jnzAkl5RYxuKuh3UXPcEHFSKEGSnoqNG81t1xjVilUnbDIilyKCZ9
ggi48iIuObLQNmB+SiUkT2tdUgCh8jmJSkLlJxTi/+Xp/zduk0uObGoUdx2s2c7d4Ln95Ciqm7Yd
X2XnghJWwbzwMjnvFjRcMXpz/SvKXZGPWSP2fRhk5ZQYEuTxNgeHLupNpXsYB6BpwT5LHq69z4+V
+dd2DSm8IAIUwhDJHH6mYNvynHUB/fn3N3ptfS+CQT/OgNEOQ3ZqDC0C+61d3zz3yZl77doXB3pr
WZSB7G/Pm4d2qZXZDwKxxQFr+N/u/SIQ9GsEDsSHWGVKeL5sX7h64csn392VUEwvAsC6WsGHDflm
6HTOkmVn9Rl6Avm8qWr8zB312qu9iANJb0zX1gxJbaZfue+f/YF/ggi7cv+XhFPIsk+itnF28mbv
65ptv8NQpH6+TYG+CTTjFW8+lS68EpAvuacwkA5UbxS017vmIVzkYarJ2UvFfZd+pvV27Sc+HvNf
myBAHLB15+Nk1MyBbNgwDPJFkgf1CpB5Uv79g7ryPi5pqDC3Thoz4UECEu96K/ZwZf3kVLx26Ytd
PAUubSK0CKAQokhuJ9dWMph//P2+r2y09GKjZTRI52zFaTWudYkGwSkV5Mm6z3Rsri3+xT7zoppN
AdncmW39g9d4BZtQHo2wNPzsF659rRe7bcBgaJLRFpwh+HLumI7KzsSlm/qP5r9UpV3j+JPjMaD/
4zz+IeRfskelA3lAOeXOspnCCuOk5CVCM/to2Kj24dBPv4FPmd6wf5pXvc10L6IWWreUKFh7wtL8
qwQhq+ph/y5z6k/eNyt5u8+sbZ7GuYu+gBLfnkNplgMk8puHmdD6Bswv6NNNPT1PkaxvxxgSXBHc
20p/gEcUF8n2gAFju8fxKkvfXwNI/gIdvRuWTVS0D4JfIwhTVRhu8JwHRq6sAWt717CKBqzNa1Gy
Cs1fQrIOS76iPDtvHWHwV4r0A/Oa9h/pt+myw3+PS8hZADA3NfEuFWH720Au/gsGcdFOynb6mqEh
84CBqz3N4wIeUNS4Ry9ITVYsvnVHiBp5LdQya//o98zc884N55HP7GfmzfUuA824VEvTvMGlev4x
QQrwpiV0bQvFDVhRfTSvMJYK+rPtSVT6CkgTwPDtY7967KuDwMYPD7U+vOmX9imFHzUIxXUD4dgo
gSnP2GpkNG22bRgH8qhILDHwBZ7VnbKNqFCehi7HDt70CQ/uWJG4wB/KDn5EwFcaky9MemeVbP6z
SABszQllyU06L8FpTaGuzNOEvuh46KIKGO8amuPtOO3alqY77LBe7vxOpY/A9W9RBSviRZZxONO7
gM0hLWBXz/OEu/WV+IN7NmT0ynRhAT6HetxNsdC7bpzlTg2ug+jXsB6HpK1P4G+tlQmlrGIxLOVm
l6mkTbic+Lqsh1C58eTLYTqGVIeVsEvyyOi4vKFA0wtWQYSHLQXFzInZHJCPkHwZolnm+GCzR+vP
9imLYghvhqH3FW4sbC8tDXc0DSUsgmW832yTFB5Qqnm7Ofszoc10I9SovkAAs7/1JzGWOEbGe7uk
2xsbVlmsE6YHgYnWXRNl38lKZASTAXzTwyhptdJkKNQyil8p+pYPI7VJieNG30z4uV1sMQ4c2fyh
08tQFgzxek/TRe9CPmAQN6/Dc0CglZ7W4wYvOHT3b+t5oF9rGwy7ZOLtA6zDpvuhCYOSzhj7S25B
3t+8vhAZzaolCpYv8boNO8nMWEmf9lWtWyy6r9cqxXh3B/dMAz+Ucb51gLLckDkwOx1nFK9uI7u4
IX0V+XIqOpWwuxHzp7yJoY84RU14yAQHbmOaKcRMlbxpWxljM87iJpli+ugMa28DxWwxx0365m+B
KfzA8x9NCJ2mXvhhnauVRI9W9eGBDGlw8C2+TB6s7k6saEjYmoC5S1y6z/qY7T0aLtUUxcuXINre
FW0BTIG2/H7eZv9gly2G1Iqztx71E2D3Ayp3MFvvDymz8RtdtKsGf+qCfPAmmdeLje8UEuii28a2
Bnc9IaXP+W+fhOLcz1P2M8w6ktd13RdxltTZToC89aVvli/M0TZPY0D2koUfkm3wZb56JvnS1ab+
6Xg9FK3s7XbqCZlPWicw1vSCofAm7p5pqiHzkmWG7YyI+ocw7tQT1xyatuG685t0eBoHLUCbTKOv
hhO/LfoVRArV9EMFRmJ0lyb9+tpHEBCog6l+j/C3EzKOFNGuW9N8kxQDeRd4eT9mUVkPw7uB3NBx
9jvA+X1PvNTDOsDLq2/e+bauUYHJQvM9syFQ1XO38rsaTgt7udWiz9XUD89b0PXHjELLXQRwKI4N
2rCVIQnb9zYxcJXc5u+R/mALtYs33BENCwFssuxXMjVeDlfZoNJS4nl9Q/JZCAs9C54UNvXIrtUy
OAAzE5URgRQyjSa0wDsB8EO7dP7OuqSLdwlL630rejXl88LTqejTpi1iOAbte0a6e5bCz9TOExYy
YEEVKqJ2ggXBaattWywmGvH5Zs19DW7Zs3OeejZabK9QsAb+C95WN5Rai1GwTFH3L9s+oRbig5nH
4HwVze1X18FBnMgs3jsoIOVmntfzsg3y1a2K5nTC3fcsCAuCoAO9+yx5jepofBLbsFTt6C8/aumh
tWB4Xx/6qXlcpMp2Uzjo/aQ8nKSN88GFd2YB4kNj7k+7+Y2YqHkI1BLvof9jyjmN14J7Hi9qX4tb
DGuXnWmm5mYT6/pzVIO8owj8u3ag/bfe1fM5hY5LV2D2Et16ceAd1y4aDvgs8IXQRBxFHfY7M9RN
JQDBBkTXgLLeI26PeE0L1JsF3QUQK38d4B7d5krR5FFzQreiy5T3c0Zf4xZsOn6fmDHYkzl2d60R
9Zc+DOlb6/fdSWWK3zbEkD0F1q40lo0nHeACxo0C8XvSD1BlnE9N0JosH3D2vqSQf8o1YfGjmOYR
arJh/7xByKUr6lX7c5WNDfsqqQ1OA3rUpY0530dCdF9hC9AjMCegt2xkfuh1SmBlHUUFS/QKYTin
9vPYqlc5ar3LqOJf4q37Z5Yw0ijXNN1u4gHvKoVA8wuSCWx5FrTtEUJg5hhvAcb3YzBDgTaotYTh
AEKre4pQab0DPEGmqu9bUjShenKpuuvbLJfY4muPsMgjldstZvSYsCYK7hMBq64qXCcLa+xafslS
fzqFwsPWmqQ4RCkbpzwF/04Xwrakvp1D3kyF9qJ13c0IjwcfvothkU04fZ2G+EAOVVzx7IsgKLmF
McLa9cHzwEPYbdgIpYFAPyIaJVg9Mum9ytsYeXRD4FcIW34JSzTz26ezqmAKbMf7bYXglDTE5UQy
DKmTbPpJXfKBkRTwcw1oYIecBE0U42TrMr+ckP+8geitXoMsEVk+8lDstF51seJrEbklIeugHxPX
74ThAIhU8Hvsffe8rTIDjIFpqvOJ+1FYGGBECppCbD0fu4HuIDJlC00TcxvFnt4jFEa3+LzX4zrA
BKFvXazyYc0WXQTKq98TL+NnGcZ+JfzRrAVBKM0TJGpeKUiEkLil6bFJU72Pa+fuV9BWX+N0889o
VUdwQ9amUNgKP2FozvNtG9cSUjeg0q7rHFR8JnzvbOuPBRA8rilVizIgX+NMhHDH8+xDUrfrzo79
BLoL6CoAj8uKE8d3G2+HkxaEP8Flpeb3hDbDuQVO4SVetc3yxk7eXeTV0JLkY4dwHy1e+CoGkf7W
XtJ99zON4zd18XxqHfLlTmCmDd3i/rAuaYjkksoHm5p+z5JQv0wrmR5FhwOktzwqwzF2KZzuCMx3
+wzKVPky+u7FSGHnEv62fQ8M27qSk4ABbDViv73Oo+jKeurCsJJsE/eU+CwqJRHhfSpiglBEehNV
zAnvaygdAwm4HaLfEKhw58hO4x1QHZiltcRVJu31lMugEwAV9RSWw3Jkv+Nxmws1seSbBogu7601
lYzT6Hmhob3jC4MCWg3UjlfCc5v9nP3USw4cl+qQXkKK/BEImEUWdO6XnUfGQ6fGGPYvaY3GYdzO
e8pqiBURSeBpb7m/c22Wwb83DO3DDHFFKNehmiV0cqWZNTvDomJzRWdcMBYyEkhmrG3lM0Sh20qP
brx3EPLS+eKaUILEFNtH+Bm5HQHhETDAzHUfqb2Hv06AckEiH16T3OdVMAPd1Q0TcvxpRKOkNzYs
xDhyaFmvXBR81IhwrV0kKWICJlnP/FXmk8EdD8jTjjKGqhLGNPWxTkd2bluNImdd2HGMAm/Ns97z
KxuE4jjbzlZjIuVthMLshOUNCrtkwW5NhAIEJujuJjuwvZ7JmM/ggdZIXvzxZgoCXkCMRRyabIpu
E2Sk3wyBfuORbt4EcbR2eBxpFlZzrclNl+C8AOZhe0ibeXmQ0aRJPikNfwa/A3/P1w5otrnbDpDK
ID5m2Qx/kGZ89Z2KijTw6goS6+LV6xdyG0cK0qbjMIz7LuPJLmq1wdmOFCSXQGoUU5h0eyYb/xT3
a783MO978mtv+OaQZB8GVw9noLh7kSMD60uAJfsE/C8+DiUfXFMkyjfvNWgnb6MaeQle1ADiTwyV
+dxg4+6GKPDPWd2n/3AjYc7X9Xwumj4hBXK75oa2U115QpsPeBIkjovWLfgHPtevQLeKG+eJ+tfA
rA97KTbueycCGCf3YclTHZeJw0tC67N5sN3iusqoOtm1oaeOEWhP+3gOkptsEwA7t3242xZdo/Ds
g1PtJ2NbhNE6vDYzH39Y+GG+C9om33H/tiug3BB+sQyOJF7geRVqdfF14rW/5iEaBrsR6rRl6Mvs
EPNkeSMqiI/wJ3Ivk2/LzLnN5HqCQmeKsi6w7Dg3AmqmEfKkchZdK9FF8tesCD2myoZ0225sIseQ
EwcfNzW4oUSJt+amyZQ4tDgJgBAE782fxgycRc/QXU3r4WZKzVwtG0tNMUGNHuNXr2vfP0SL+H5c
B1QxAEij6oI6QQNp4aptoyT3SQdFySxbiyxtfSSuWnzp23n8TgUy0irceJLet0qI6TlsgUp6bzDJ
aqoORXNb+GJ0XwAVCM9i6MJD6rIxzybEeTnVsDmvY5ANp2cyUFZZHSaVioVqyyGTwZGFwRLmPRYB
xlqjUT8wLZB5KPXylqRdXIKlEx+Ric2QlDVyfOnWDqIEibeNgOFi5vLqxiBpylonEfohQwbOrIlI
h4TOkcO8QlEXkSyluyVj/4SOywfkKlNewzU+LD+M0dICrHIblzU7aNQH8kGmoVGFi2kqCwWNZ1Nl
Q9tkJVMcwEZ0tX4xo8zO6CFDYrsJyLh2rs8XYM5zGi0wSGGQLB0yEO0iSC3/AGdi3XfbxIsVi/gU
QqLrZewJK6F5HiEIwYTkLNH+ybUY/DkfIVN1XJdF3m0flgETl3wHoJb3psVqTxlytBNkv+qb1KSw
HpQ+lDiMoV2pxdIeDPXEPh0TfjusAZotaKU72M3EYB5H4H1tmTs5ZNs5ekAYFNaDu+tRG5WRQQKY
97UfHGJvE/gaUReBsqeluBWZIBWp+2nvedDBaRbS7hhp7a3VmzngA04LUFuGKoNh6K3qgZBmaQo5
xHhac+ihmfexDzrkchvfhSJQD8ykC96v60SFmP081CiVwoyb55RvCjWLjg8x4M4F4wvdSTHQ+ylj
4VGHDJDcwMUM6gKLrRSMYE4UW3hBtrxk37cE2xSsLU1vlMeyg5y0hiM2QFDjsrYvELp235E+9m+d
t67wE8IRXmoHrdw8WXt7F/SedMjA0cZoNSH3guvuxtPzdDNgcIgTGv2jnUNh+gjZRP0rM15A8zT1
039aaTyQaFFZl96Q+QsUhBNE5REl0pxC4wWB+D1r+lsWAKqdyM6WXi/Q5xrHsIAYnqiY38N2nADJ
gNkOHGShMx6Va52toKNRgj5j1L6O8IfBvK8zKFTsUL/5VLSP2E11zk3Q3qQ8rsvBQZJ3Fpuuwo+y
LAe+rLc5gAusRLEZnuYgwlZUGnoxRcTD+h05lF8BNpee5s3CGqGD6crkSYj4yEndERqbxxRGy/sx
CcPzlDbqhkdc/MhqVE568+k+iEgM1ktn2R6txPRorQzzyO/Ne7BF2z4lzPAccau705nzz10QzE+k
mZPXhvOg7GsRNYXmfnxCIugflbfi/tN13K8CndbJ28gNWuuwHeq3pKCogHDg+xpSdKmxedc1aSFr
TPdwUigo4iuP/Mxsh5OTSehyICBP4Yu/jAE9GMHoQShLqwn2MlnFFuVsDshyhx5Iygf6UdUta4EK
Oasabe0Ntuuyh9HZdpvBWSzfEuN+z1Pc7F3TBHe0jvHG0jBcbybt4iep6XRWDRgSuBBDTso8Y889
aiRZzCOKQXT+4l+BBOoWzTS1YngTJfdeiKGlZ+YUdrtJClAAtI/rb1G/ts9wSFgS2ICpNSyToJ5I
oYjRv1Pady/oi6W3tp5jU9Kwlfeg9dpd27vuXromKPGakoc1CFMcmFz9rnXGn+jYLOWiUd1gPhqr
iq50qnjcj5UP38xi8zP/BrJ+9GAhcLIbehHuVDugFAqsQi8UUm1f2dxOB2Q5wwNDIK0oACMHPav6
Z9/F6WkAuffOMWv3jETjMZKjfAn1SJFPYObyFjbomQrU7XDQltFhITDKgEK/f6Opbw8xQB0bBOgx
baY4jn97EChJ8n6biCoB4Q4fmKXi4OsWGdsmUcHnftx4uAURjnndecGpmQAlnqOg38dY1FsL6IjO
G9l0fT4oWt9NXtaULG3nHTLC8H2Uiq1lDWobargROAPA+59cJPoO7b0I41wPX/w+8ruW7cm08n8o
cqgT7UUa535Ntxvl0BQrZkPIziTAzXZWuO+DnXgAGBuZ9uuahF+YsapyOtSmVHqmBcGuf1rtgvLQ
SP+7L5ut/LidwnMINWyM/TyDX+oBlt/8loE7WHpBl0EA1Pvt+9O6W2Fg8qqWpN952aDegOcP36cx
UfeRsts3SOKjM0uzuZqh0f06IMmopKh56TdDiUPsgx6SmQPdjLe3cULiw2qG8AsZCTgNMNhS22PN
ffRjFyvgn0osmvLgksav6UduVns1zDqg6F4NkFgujZfp3QIZcCjGorTbLCQ9c9Ta7kU3S5ZzL/F/
+KvLjiFUGB+lnqYbtC7kx6yc7lCKZQfNkJ+pFg11jnNsDxmCD8tOIU4NqjxTAH8T75NGDPvVBT9c
ytKnwespTj88Da/RrbPQf/+ZrENzs6CfBjvIYH7xJ9D7dC0Ijj2m7wYrp3LGIDDPoFyFPq4qDUEZ
5CRdi4ag5RqAKP6OkW1360UI15GtbRGNW3oOBxNU48Lb77IP0FvATONWcYE4zwGpwhtshy3fMFKZ
C/SLZbWyFolK1kdPCAxs5xJvQO4ayVu6sQRZL/LA59CrAVJD4rQfuHTH3vhJgVIMlYftZqTY6INH
Gwv3rV6S5xoAgBJZB45VvbUVJA1sDUpMmhUYgIx3iW7ENzhaQ9i6SbCBs14UYeyQENWGV5FtgyJU
H+370X7NgvTDwNDnuPImvtqhme83oYKXwCVf18ljFQNj7StMq35b39vyblxFUrYUCrSEx0mJIfzv
aJPmJ/QM0JCzJkGnOdMVN7zZqjhF5MnRcId+nYt9dHohgrqjfUbf3CDci9oaURedTjgKuajL8o5k
tmoi0uaxztJKNAiXaYo2dAwbtOPKPXtTA/L4FNcbtv+y8Ce+NuMuZD49amQpFY4xeesvlN230zS8
M2vcvuaR3MPGbSziDwOF9cOvZlyVywWyEpk7JO+7NEjJrtnQ+kPCye8s0sCsJPBGLRhLvSqeomyn
eBgW62CzA1TC/RKZKK1SogHEEDEV+bRFbwk0+6reDeAUxk5UxDH9OJlJntdu4GiyePVBjUt2B1TE
XOkIKTZf5FAiXdV7tow4wNc6XXLGqPuCnDC5I5DT+a0tz9BtJTY3LtmW3KszCcYR3OHqxPxoatRv
+bD0yWvQ+M+xpf1cTZLr35kX6SL0t3HXpoG6W0J07DvSqa/x1qSg3eitSmDJUMII8uPzQnViWwVT
OThmFPCLM3ng4YyKZdt+6wn+H+yt4x1vfJDSzbToY7axYR8xDJ889JPe2zb2D7UH/SVMpVEo1ZNq
buAsgV2IPmjeULBVUrq8IwahUcDAKhVCLS89z5LdimbFoY5J8giGToQHSTF34R7kQmF1jA7p3mIK
8BG2lYWHS+eH/wCQF7x5MwvuGSqp/eCF0EfWKxw5HQY1Lai35xByejmmR/CcgLt0aTdMOrvGvPVE
uRKZDq66DnwnPe6fZm7UMQzTtBDobe+7OTNltrZLYb1BlExQfWgCfPVWokWQb8jDn6in+N7XDVTR
IXVU2szJ08BRSiadyY4sdsikl46/DKT/gRGMrIzo2ypbYuiAoOwsPNP6e+tWvFYoS015jMzqDl9o
UHZIRI5brziYPmQ7Md3YU4cZXbktqE8F6zS+4nh9mGq57pFf0BR7Ox7LsWY9jK4J23KjpubApnY5
Qf8PmM57CXR5mtcjXX7MaP0XozRbkOtEpqeARvPe1mubYGw5Jw8AErdN0c5DAoymmX8qNPrvk6ib
IHKNBmudtzQM7+22YmP6jVK7mAfyexBv8ZnyJbiHG1V7mlNAlwqjOSZVbbekkMyhHrxtMdehAk3g
sYeSUbBidqY0uplNLUWRiEBEObQQ0oqrJHij2Qp2tnDxkk84jHbSuLBMe4OGYYOICK8+RXaeVPP3
cPT6HaD0XdlacDEV0sOvZnYJgE5j1n1vIzmslecrEVUWNfY/ILQMruobfz1nXdhCVoeQb2rh8lSn
0v6zYMQ15wRKJLfpBJWfrEFSiU7l/+PsSpYj1ZXoFxGBJMSwLWpyYZftdrvt7g3RkwEhRiFAfP07
1StfnikivLkL3w6gNKSUmWcgd1RVDtYz5HKQ6N9lsE++C2D2dAeCNARSfDTO+LZEjGy3DhreUZr5
yaHsiCx2LCnVkSmF2w56VOKmtXKxy1Se3sDMbvqhUqPHUJZtsxsqMvzspTe8jKk7nocmcfaWdOkB
nSl345Ba3DWyb88FG6Aun1HniUjHsrelhk6vVyCJwHbvDk2pglspCvM4Tl2w44kxB1Kl8OlMmwIF
S5Xm+0l1yM8RnVCiraFyqWVxRgUv3XnSOMhnbZaEqe76n9rywJemNLdRGBuxL6CtE/9wVM12AnZK
B4+JbC9cv3ssCLy+K9RLQk8b6Gd5dvlow6Iq1HFD94kdBE9ekoxfvazkB5v44q7+7RNLfwUGH1bg
INO2YCnUrK7OWo1abwSWX+gMKLVuBtQiX7mJsXS0l996NPfwuSbeE0LNbS5yZG+2bvnZdvv6F9re
dESKQd3vuOh0sCTxBeu3HfW6NBRJjlIHSPryFiVxLm7tLq2AN5o0GsjO0D+mTYOagcuZu4PIYQ7m
bNzro9sxufOZHszRd8bkNW44RARqnvv7fiis25Fi32xIScofaUD1WyntbAKUjMcvyH3yLVBB5IZ7
TQpKT1vsDGAByIcmx6Dp7HRjWPv+pTOv0x13kBDhGgodxwBfD033rNlwI6Y7H6bAf7LUssIq761d
D5GYNCxtMd7nhk5fiD2mP3y/nA6TP4104wyjhN4bWpiIEpk+NyDgRYal3/2pzA9jwOVfrVV+QolJ
P1PNODR0LZRtugoG1x0fXuusxPowlXobsO+ea/T4GawA8u4YpLghdEPu3QdDxu4KpwX0pVPqzR7t
HGQ3We+tDN8HKAr8VFCnv7DfBnjUbRQU+8D1LIwkyFKL6dzKFAlfhlNwqzPgdQ7SYqkCl9rDpSy2
bXsHbSVtoQ9f1F8Djev0RnsUbZIsaEq+46nd7VOFBkowed2uQ9Z30gYEsE0urOCPl7rFk+xA9YB4
Vdd8maqyV0jBTQ2fKEfD6yVNzbEjth9WsLV9KHI4hYQFSgC/PTiKk1NntA0cXaN2BhkEGr0WKMmg
88OkGwUsDxotgDgW21oUaHgBoROEqGQlj5ODzDeDJeJth1bE99z3+VevceQdLk3dF+kZCVHcvNh2
JdoUvpogx9O19ND5yKcHzM9DWZJih3Ndhj5nyWNj4uHBG4Y7t67+prBoODccklJt3qMTDvf5Q4tM
ZWMbp9iNFVbpBr42+ZazjLwNaPLfNHHa3k84GLc874oDysHVPkmGIDLZhCQbonQ7a7Shz8W4Ql3H
rd6w28QDKYJh38R8eKDDlN2gpOM9UDQ/wlaLdNs0FWoHtO1QI9djvEPHyBxNBqbCgKT0Gxi88p7b
vnMOGOwS0OaBkh0maMc0hq3pp2HbGsAgFCvVbauo88hY4rwht66OddF2CqiUAZJUOkZtitGYPg6E
iv2lB90D15GDA0uRg6Aj6qFuG6NBQ8ZM7mwLa1N0qEBVbl7fkQrlcLiDkWoLXmB8xJoWUeW2yb5h
3EVMhucz5Ex1iyt96UFraQeVfnVG1QP0aMM3GnnxyUNDD/0lnLp9g5q5k7LxjPaH3gxJJ77buL0O
Yc9l8avMyzcj4/qQZ6m7qwRW0HXk3AK0bS7xn3t5Iz2/IDDZBXSmKG2+B8jgVlijj9Qx/hxQdS7v
7xQxK1IgNyIXZcMCBCbkCCjay/zr9V+xgP/7B3R7h45sFUG+GTQmyiDakG6swq+AoKL+W5qbNU2C
BQCjexnBd+8wE9BfVU/7qM+RDT0i4l7/9gUGs+vOkJFIKXLij/D8a0QH/4McaahIw0uDNJPwdc2a
0yjgIEX7AwNYjKTuTQtMnVWvYCeXftfl7+9+FxSXJwQ3DgB08dx6TzXA3Nd/2NKkzECZRQLn8Rz8
nMiR6Jg0G239cYHzv/7wpXU7g2SiRpZ3CKQgFBsw1kgbWjzHvn0aPmWNSN250H9t4WAYkiyJepMj
pTxmfY3y5ZoQ29Lnz4DPGg5LdofmcTSh0+ckNN4iK91De0RvbLtcM35ZeMtc6d8EZKrtJE0iYB1x
1znbrD7GEBTJ+LQSPhYWz1zgPwlaR2NShyindZg4f8qk3V6f4KUnzwDPqLtCPqPvgpMtikPF8p09
tivR6GOmmjvXIa0obAT7hF+yoeYM9OFflTh8044FUmHaQvPN71+sKVnbB0uzMNvfpFbo48WQPXXJ
d548UOKHSnypWmsF0Ls0Upe/v9vAHbISiAe3ToQOR3eXNFUQkcbPPhce+GwX63aoAARswKbpxSnX
/r1EQetzUzzbwyOgaBm6WcGJT/5Fq35nld6nrOWoO9ciNUhxYV0OvHzlA2RC2HBU6Pbs7Lx4uP7x
C9Ftrm8pYZXkDOiJR7qszyxDogBi6N/Mdr5ff/4C02iuatkGJR9jNRbAnJsUCjEVu0/sy5XC9Qk7
eLLWjxp9hMdqqv27qRrK7nORda5y6iZE9ZMLUolvNJii1DoPuHiE+XDJg52WrEz+x8pH1J1raaoE
NzEnAF8aANdDCjAKlc09AHW4U46/xqKOiMOf4kofGzJlK0HlHyPjA+S7c9mj7/ZKwkhJLQZx/sAb
2dkigbw3wPVNW5T+UZbxk3oHY/piLy3NIckTZFtOvXQPV7d4M1DHCpU1OkfRjgNgNLHY93Wm7wFm
5Ad0uh2o1kFDKoxTVJA2Fsyg3lC8FxsuZCuOaadGyPw4ZrqjXS1emKy6Yx1ANTGb/PGOTGP+oCCw
d3A6om6V341P8LpAVtF20kHhpNS7LsMi3uFzi6+Z1rDvQ7kUylBjXeJiUKExfWt7wjw6rQxCHozJ
Ph5d9xDEvgfXVKS6AaCLWfYtZs0z4NfWocgJ+12gunZEv1Me6rbVN9rxLkhjn0YEJI2oj91p27DB
hCYX9GwCLXfCUuxQJNDWySdHAB40ob0eWBxd1aEb70wMvHWqLrdIKd0H4Tr9vmo4UqXR7zzkbiav
Dvnoib3HDbsF4NReOzQWNuVctr1HrY6iFeOfAMy/lAcJhIHcbkWFYiHOslmcLVgPiAAIxicPl3Tw
OZN0jca8sNfnUu3ccGsSwvFPpG4f6ljpLY+tr1OfqNDGTbbpql3niBsCMPf14LL0U2aRl+cisxXD
1Qw+7GYPMV4dgfFBVy4FC7Mwd8HwUybQErKCE0OD2vfTncu/IAqvxKeFb58LzfZ20vvNMCE+odh8
ExSAbjW94x6vj8zSt8+Ou1Yb6bccZ5Lf641Bq7dCWTxAnfFzj58NvGXVtQeF/CkC7vdhmkbAme1u
Y6i7wlpf+vwZj6gnCUPTH58P0/uwjOOtrM6Z+JSBEEL27NZqK9TlhcYOiNEIJ0eVeWhOmZWhIf+W
+wfBea4nG+eTLSSt4tMEM0pYXTB9D+n/fYB+fuSVRR9OreMC82OxbRc4v7OiLn4NBf69pSWS9sGw
Z6dN2XZML7U92JnJHfB+yb7MEgmsQp09S422rW3J9hZNNKA+y8S4jwEDqLZxM+8e3UB1cNKOHGLS
1Vtmp+YGwqeAJ4o2AwoNZ+BXO4n9PRIxSKfZ3U8obWca8KV+eJCOL/d+peX3wM2GE2rDcJbJKudp
DBDfKj9gezS2kM8DZn/vIVAloepGGTnQYwZ4zvZwxOpyk7M+3cROPh201ekonghQ91Zidp0g1snt
AUxA2TRAOXh0fqKE1//khSxPJR2rNzfrKgAhOvc1zYj7rKxuuB/tbjq7RTJdGgA8R71cTvuAEvlM
2ro7D3BrBrW+0CAJkfFFS4+99gGpzpbRaE8ALytuYbrETzpTDsoxGfkZl1J99x1nKrdxa5PQmWh5
gAQX/+Kh5XkCjLj9QqfeuSsmF2h841PrqIcqO7qqH781ruXf2gEn6JTlgJVSAmwLNliGEp4DlHjN
xS4XRoLeYgDkq+1xkwGf9RX0NjfqdEMAX0czcDNaI9+kGQX1wh1RYtHwWwVVwHpigtSRopnzw+Jd
84uk8biHZFN/m8U58M2gU986QgEkBNrTDSgrKPMRQJjalDzDjZIDteA76a30NIJvWjUbBkn2r1bt
irCTitmrqx03jo8W+2yngm1VtEQRXH75yCMoLHbPQKilXycoWAGb1pbO0UYb+z6bkDo7ZdNtQTtC
KQ4Uk7s8dsYd6refMuGkuNv991YU9/CQ7uwhOCnrtjf6bAfWLRyGttdj3kL+M/eB6XuDNwZ2cHL1
T1ASQpMAA+yei2E1clyi50djObvVSRd4dRR6fHiEjCcXecWmKNDIatkbaEr9ZqKj2gCSBn8Y1T1B
9fZlDEQXZt6acMs/qaj//wAyV9GcPIMGZqnGKIGR66kqx/bcTL355dOkDXEr+WPnrbOlCRJl5rjJ
Li4VsGDuBAIXzbW5TXQMOKRocFQmtbNylH18UJJ/0pTv7rpF6TZsYv4ITumwY3Q6FapduT98fMwQ
OjsIYlzRAQXEhYVPL27Sn4budSidzwh+Y/tfbknvvlu7QD+PtBaRKdFCRZV23wFkEruU7T+zIBFf
/vuCOmHKAQbLRED9bMfxrzup7eD9boZ0ZXMvDM9cEg1YFV3hEsQii7oPppWwDrGAQrTyleG/fOgH
y+2fz++7EVKSDy1u8iZKIXb8WFGWgCDgAK1OQEPa1UyiN4HWDFScBnh+Xx+0jxnKZK6SZhJ0hJEZ
ZpGdAPETTPm2LfRBqe7Vq5IYBf769+dedFnO736cdCqkXTDtiKzgbgQxCYyljRWjfDiB2hmnK0Fp
aQhn97wBTl2k6AIRJRI9+w1ahfGLAkAcbWWpyC1AHcNtbDP2HZ0551OXM7QQ//vLEs+2RRvHJiqY
OMl8RH/pKRnXJIyXFt3sQAEqmPV5oKbIBaIE0K8bFgMeTtiKTsjS42db3hLooPfK905lIrd5DRhy
tyVrhqcLoWqundbnMujhxeRBG18/gtJ6dpvs5vpy+qcf98FmmQungVEN/gWwixj18T7J0zMgoyjY
WAdi+M7vgqeualEJaHDraizn0OpuZcQ+PveIPatg4tbZUuXlU1QNFWoNIKbfTNoD1jRjFLxLI7KV
rflvAX30E2fnH3qCExHGIH/sC3aIJ0vdtL1Vwj62+BbneXFWcT3AgtrQIyDb5aZivnXugMtDUj+Y
tdxmcaQvS+fdzqV+V4Go7ZtotM1t1UCJoayxv+J9XtjxK2TBHKQkEIHrphyobirim46PaqWetLCh
7VnYMHkLqnKPoF6D4CrGb8wOQI0bTr36pcV9l63pCC7sA3sWOEBJ6Xpdygke30MJYHA3he0YE1Dz
i8+FiblSG/CsvTMpKGU444/e/lOicOJZa468S58/ixK6BV5LpbUPdv2z54L9QfimiNessJf28SxI
2ETkSibaP/WxeWBdcMNL/an5Barjv4sL8kOoDmtviCbo2MEyqksNytE1CYPclL/8NrZ/0NLqTy6d
mrWL5cdnnh3MLgpOEcAsIoGS1MTERtk/hPkWqDer/e1lf69Hp4+nww5mMcLraQnoEFBmGnCpc2mB
QWahBu4gDVu57Hw8JfZcsc3nYJO4YANFdsu+4SIOEkn/4/rH/xOp//+4g6Ttv3NiI+zQosFKtaFZ
sQW5cQTgq2lD6vR/cw8QLStTduiPNhJJ25UHPbbk0UdifuLAO9yBO/gyAoZ4owB6+a7Rat8YNYBI
ak96B+Jd/9IOWbBDn88+DpDw2QQQ9F4zr1ka+Vm8oARZ7dRjqRZ8eoJsYeSIAJC8ZM3uZ+n5szjB
PAge1kM/Ra1ODNQo1M62A1iFgdZzffT/tas+Gv3ZdULV2oPqZWFgFVZbP4ou/WMc0X8ByNGDPFej
3ypjioOb+3fU8c12LBpxO/pND+KJHXwvYS4KdLJnQ9tQ5g8xeH8/wL8FepfF/d3gxu3PCqwMyAAY
UPNJn4ZtyxioUvI3sJZiN8lShl2uQZMxhnyjWuah1xnzpnHvOOSA2j1CDaDetcDo3Lg9urMNaJVh
HXTtsaSmjGzi/koaQEx4GVfHOBCoxwAD2EXAAaYthAjwaEoZEOOBXz24TnVKQQXlQ2U/FC1EYAyT
4mfV1yYHpBNeWRzyOWFNdTCuHKtLMzgLlYGkQ+W7TRUN9vfRBjyoUttmfLs+e0vbchYp+9w0cWFV
bcRqmJTh1wLaBsWWz+l423MNvCEoswA6je5pwGS6MHULLOtzXz6XwPP8HOigNKGRBRmWfTyB2ea2
2Zrvxz8d8w9W9Vzvzo0nm9ioekegJmxRJdmkDdl29VM+2NBE8DdgJd0MznQKCMJFLvuj0F+UMTsB
RlXV9gdjQNIEuyTlzc4Ezjmx8kM+oQ6Gg65BA4av4TYWZnCum5fxGiUpM3gnq+TVxrgTyJfyU1cA
1Hn+G1gbaHGMAISZaCjVpiMQd9PPvBnXIgee8tEQz0JfBxFDUUPh+oSrUnannaQER4jmp7gt+jXR
voXN48/CXwroNAQFWu+U58dhegTbtWC/rm+dhVPZn8W9LNBciMujG6XDeAD5Q0B7QUFK40cZrCmR
Ln3/bPMPkGHv6Wi7JyLKs9fJb21PDoP0Dtd/w9LimW1/j3pQ0XBKpIIVCmJ1C47p1L186tlz5bse
pcMK9zwTEYhFpfbPWq4glRYGfi5zJx0bMmi10VHl2FuZFUeYDG3s4IutBFqEyUqbbWHkvcvb32UR
Hvr2eoAQQXRBevvkpRdvMF6+PjTkXxj5YO3PFe4QdA0nfttH1ALts7bd9gh25QACPShL1pYLQE5Q
9Z7GPiSa0C3LZHeUPWSPAmdKI5bdQMeaHpqkrm7aDnyxADR5N9TsUk4CmNfeDLGVoIoA3hBI4Kzu
xo0LYSxoPZVOBibhEIjDAPrb99huX4cUuD5wPMwusat2b0MvaBv41rDH8enfu25DUFlBQwKVnVbW
rwGPi9BzqFRbcGrpeFv2AvIDAKbVOyiG8KcclIctBcN4A3ipvFVcZJHMPHFkwOXvmsYZ3vLEEz/7
FOqdHm/FDnwAgXM7p+jItuMTWPscmh1xDE/tBsJRj4YkwBx4VQHUseZJEfVW7t5UdsoPUMVLngZo
Md2IgcTQPuo9SHik4zbOi/JGagiW1BmHgAmMUkPdd/pIBFSUWZaDDwgII4zrHaUPXaGdQwW6UQnt
feB6kY7QoIM4SKxAtypAex44+GEVs6ooYVR9BVsSTE5gsdBkiYV7tLjxXqwg8Hfx0BlIK1GzC0pw
BL3S7Z6g4lzsncTzdw3rQXsDZF9AvWmsnQfRERfqL4LfOX3mwR87L46537PnmE4gZXtGAXJqETn+
ksU4QTF+gmSMXYi7FDzHXTuo4p6Uotx3JcjqmtfqWPSxs6kRnaCTqWiJ7k07QtusBo7b8SnbJY0W
ZxDM8juonlV/oZiGtkjVTjkExeBo3uw8z62OcvSCE4W8wEPjN9CvkoFCFdtJVbIjnmHJrjDA28MQ
SIUW0vmXZmgtfKdj602pwNG+s2gAlLmsCpGCWgLyddrDmq40VroHtvlfCgBctQZtlIGjdyB10++I
y+snWVL+m9fG3sk4HqDi7frVhVwRZM9tCnbOphl89lgHCvkoKgygqMlpGp6mwCiwDAwYDhD60lil
29p7shyctSywnN99o5svsiPZ3pZV/U3E2Ve0MMyBNqbkN27ag+jip+ioT1MXqqRQx7waXibqTi6k
4BRI3pY9FOAuAjQXNm3M+G1iQ4En12zItk6e6M8JE9ve7GxxUEOD1RrQToJZOqwm/yAZfeYX45jr
EWgpus3OFagmoSMJvb2IQnNaj0gNkrbdxRTA8usvuNR8Pgpws5MFPBiqnczipxq4Gki39e0J2mQQ
y/A8MDLjNF6pqy2cYHPgcDEat0mmQUDHUCe/QGWDJWGTenTljrL0+FnqnYHIAVoIgbSik1N4xYjy
BpLddPupQZrjhS3uGwPMOT9BxwMSHWGCKxAl57G3Vz5/YZrnYOHUMDhF59w5QQKCotDXBHdiLe1e
evbl7+8OSDTH5UD9HKK5QIo/GIBg/45WbG/7IOUrd/yPi2m2N3sFTcZR1ALwH2UgMyVG/xXsa8Q0
kh5zYt0DwH2QrvrkteKyBN79nkCAbdQ5QMNn/BUUgbBFo87JcKdrQNco1e76lC8sqLlELKifPJ1M
g7pdCV2K6qIA3FVj9/P60xcGzJ39BiiaovgEFnJE+TREmqTgnqYAzJXApe8cbI5NPXVm4wVFu6LP
vLDP3dkFm3mV5/HCRTW10bclAY0xIOr34KsbJT9lIkyhN/HfmQElqostiDxEKdSNv3E6mCdVVxb4
RoLvWJpaK1e+BSygPQdb45xFqRpO8BH3fFBHQePctZ7HwjYjEFcTcsieA+EFURWDhQTER7Lr23bN
mHRhZbiziFkSCNUNPoCIFJpB9XAhhAboN11fGJfy5AfheA7Bpol0inaUOM9jv9rE7dRtB7v9Ywdx
2Pt4JW6bYqB3YP//vf7Cyxb96IWzwFmlQEKMDPBNBgPxI3GHoxXgPgr73mZlJ3288ty57V3h137r
17iiDOMzgeJbBV/MoP6iu08FH3dueee6Is1jXQIvANELlAA020nopIFFJ+gG1Bn5y2pZezNRv59W
ZunjQXPnTnhSAOUsWh+2Fv7ZoXdOp0Lg8VfOgoXxmvvgVUaNjjUivhG7ffHb+iZJYWvaiOfCGVY2
0NL3X179LoRyeN/5gwQmLo/7cHCcSPD6myrST2KC6eW9755vaMEpbl/eKVCo60J11zUvPM3ar+DI
GzvsoBj8ycGaBVIwpOsAvCxolaDkXiHdKbx2w51y6w1fr2+Qj7NYoAb++1uEldYjL7BBRgc1g2LY
FHYPbbnXWlkb/M+VFbX0llno5BxqfEVJoNdOql9Aht2poGj2gT286lyD3cv0/vrPWZr62YUS4KFa
mzRhkY+UatNaBZThmiL0LXvlaFt6wSw8OiYHoNNCGxNF1q85VAcbUA75ytm/sDfmWA/HDK5X25hu
BoaK7Olm8H8m/La31q7DC18/x3poEnSjkApUu4Tf2AnUDkwNm8gsfrk+/Es/YFatmKw0h/sKhn8q
MicMmr65g4Q+lKuqSh0KW33KtJW6c8gHLIBBo0bIO/nsFQJroargDquyA7P+Xv8hSwN1+fu7LT40
akhVJqZoSIF8hVri7yDhr0KslV6WBmq2sWOkgH2S0OCE/2wq+PhZ/VvRprtqWvkB/86H/z/53H/8
une/AJRcPtm5EZELRPkX1KWbB5B7IDiRUnZE4ao+uQOUmCYAsMDZbLIcjDSe7TI0LLbQtbQOreXz
Q9tIfki93L2VMboKFlFZ6DMCNe4e+MTNJBIQj8uEHFEkADilgY/B1FpqmznNeDaj0cdCJ8ELTigK
0TOVfg5/4c4tzowwCvDRCe4AaT4BVNl+zzPW7iD9vbu+ABYmaN5ArxnE3trLFVan8iXux3uJK/LU
JdC4LJ21svBCWJx3zy0ryfMpLQFSCc6CDlD5NJvcPhN9b7LP1VYhIv3flVwIP3CVdmlU51CV7lpI
no4J/XZ9lD42dqbu3OYMRAawJDj8YhhwaseWqXybOxp3O9VxcyxM3n+JTdY+S+hXQasZeNJJNfUD
KDT1X9PUyR6MP6gEIkeHsDJBLXIzkNqDdFUKyQCik+OQEK/eNw4csNLOgyLu9Q9f2t+zUXGSvAPX
eYD/BgveKq9Pt0gh4PjLV+oBS8+fnUNMVUkw9TEgkA5rDgXqVDsbYkdHxqx45UxdesXsJIJixzRy
woEu8K192l1E3bPkFQ5nent9jJZW5wxjkJtsyEsXL4DSsT4aNCbPSes891LoTZMgOJQQ6f3csTqH
JaFyK/tkwsE0THep8wv3dmg8rYFUln7I7FRCOgq5q7gTUd1CFo2adBMwKJsFkYx/pMnaZr6E7g8C
7tzVscdI+b3C4Y0p98PYz6NO8DWq1sJk27PJju1B+D2Uj6MerCvSwwoOAipy5Q74cbrO52CSicOU
GTJKIur8zvlhV7L/UfqD9cz6ljd7qIPKEirGZfPbZgag8eur6+MAy/3ZDimGFkHAwSW6HppQTizZ
IowcQH86Z3n25fo7Pp4S7s9GbeIUAdsGMrSlHgGlsq+geLFmrPbxlPB5YwlhqVUxuJYneEnQMPXr
HRQCsp0gKHpf//ylN8ySV+Jqwuq2dk9d0G+1qW/c3GwhirOCyFt6/GxbcPSVrVI5ZZR0DLYJUP2e
yh3Xn3v6HC0k685QitQYxMkJqrl/JIGOQ/v0qZGZA4Vyhnts34HPyrzxlMTeq8z1jZ2uwWEX1uYc
JWSzaiw8yb0T9Z50+QJ3x10PzaYC5Yrr37+wMOdQIdAmi7zsiYnYoNGEgV4068EDuP7whXkNLi99
d/Mb/CD1OIyJTqkL9SPufxs8O8MGliuEtqXRmaWMfR1PgLtgdCzRo5Ly6OkY2nxvslrZtUvPp//9
fldApQkmBFMEddUYKuZMPk3ufWmVK4P/8XHAg1nkyZRblBbYciev7KEXOnq3lvIB6LHlGbpfT3FR
rBQllyZiFn5ak4K/ZVUAVYnCDnnuHRgZSrgQraE8F5bRHNcCPZRGMIi1RrpINkX+AA7H59bQHNZC
KTi6iiHNTSinoQqmm5ogQsDu93NjMwe2QJY0E+iYQGcDgeJrMZI0rGvXHEfZ1ftP7YM5JIULCCYI
cxl+rs7wzvlZC/kTGuwrj19YRnNUSjmkU4uir4m6zg+O08CqrbYk3aSpGk9AXkG9jre/rv+UhS3h
z7Y0PDUKBpeaKQrKe5LYwJ3d+pB5auVaSWthqc4BKnAtUjD6ukQ8p9oUaRV2vg+7m7W70dLjZ1s6
TsvGFQTQSNp5oQKPtONAQk5r5aWFx89hDHHX916setB2UZuDoi8vkWEAXpd6UDa6PgMLW23eA8oa
HSSTQ8oIRq3o1O8FSHefe/Jsbg28xieAO4AN75t443cMrjXWWqxe+uxZrJYgSHrQBy0j6CJCnvDZ
0r+vf/XCnXHeGs4zLuHDkOFuYncX+fDzCJ84WCP0EMoyWxYXNEQP/3j9ZUvzO4vY8DdKsjqXTZRk
I0ExCSgI2GxZW1s5K5W3BfAun5sAEtR5CK8AExogE7x3Cy/dZJmKNyU4lU9t0PEjRA9FVCbo+Cdj
yk7V4LZ7XcOGNnETwHLjst8Pvu3CxCip/RsXBeGt5BRs2ThNa6iep+UrIgOFFxR0T3EzSraql8HX
6yO0MM/zDquOYTbOnL652NbCC6Fm6Q6tli783NMv8/LuRgF1xAzrkjcRaOChXzc/hOW8Xn/0wtTO
W4VD4PepLRg/wdBv71B4Ek7DHwe69J97/Gz9A4xbQ5AdrW1W9R0CGrBAsPPbTmrtCF6IzPPGP5et
ATYRLI8U+GxoyOKavoGDwMbR6crgL43QLAvogIHpYEwDAqDNfls1sEWKcmvbok28uz5ICw1HPgcA
wOOtAUfcwVGGumcoSgH9e/Rp9oAUSqioBxCEtAa5C4YiOyXEEAgsw1X0+suXBnB+NHRW2TejNhFI
vDKGtLfzoqo6NPH3zz1/FjvAg4G+Ud01UT+i0EmgW7zlbV1CJqTx916dr9wGln7G7K7n2k3fph2A
Jjlkfz25ifNka+e3WVWvHEALy2DeOu2mPoMvYYdcNlabtjzjxi2yteN/IXzMhat4YHVK5gBRZCim
G7CQRKxWduDCQcEv16d3scMf+AhvsbzC/FIXEpngwGvi1mJjWe50BMMBOt5BPH7pu3xaocwu/ZrL
HL17ZQP4R+a3QXASxIsfbDdOdyQfgpUftHDv45cJevd0pmNtUSXiUzACl0/ZNuZPUGyCtii8zqY1
RvzSb7j8/d1bYuij2hMDZGZq4PYFGCKkjhRdyc2XHj6LiqyF4w1svxxEkkfHCv5Olv/n+m5bGpzZ
bg4IBDEk/NuigjMLvEX3iLzWDiE9BRHlWD0W7ufIVXwuaRVkRYbzeqpRO+/vBNM3g+Wv7OWl4Znt
ZWkPzAlEXQHfCrlY1dIY3hj59voILezjuZKVbhpYHpaAm8OjzgWkJ+Dmzq1KZTaFJd+uv2MhGM1F
q1SA1AqCHvGJIK1iebOFycgGpgibZE1icukNs13t5mVZdbVFotQFb0awsMvoyQdA1BO/rv+Gj6Ei
fK5NlaLYMvFxhOJ42wMLqZwCQWmww9JArIBLAjcl+zfcBX7F3edoInyu1GOZzoXRclxE1hSnQThm
rYKI4lCMn5l64jmzo6jy+z4p7aQ96eqCfsHt0oMYHkz81lTEPpwVvGC2cI3sVNtxpzkN5bRzgm+k
rUKW3E/Bt+tz8uHaJd5ckiadKj0yWJ+d+uy2sJEoit8Ah6/ccz7cdXj47J5TjB5pAHVvTzDmKc+d
BQ82ger8yth/eAzh6bMFCwmvKZfD0J9GeF0l9DUjVpj4ZNN5eyfeI7VbSSSWfsVlat7F7cCH2HMx
Fv2pgntECLEvFQncyffXJ2Dp6bOzJ3XBOtMigJFo0at7+G04J+iDr12WF5bPXNLL7mFKR0fYUfs2
+OBWCweEpoGP89RAdsBfo5EuLaLZ4QN2Up/KydQnkbBjxScZwmREAtI//r4+SB9GDkz17AxyPcd1
GbK4U0UhYGeyBjIGJfPkrlQs+wWujxv6Tf2rHSBlx+q0XyPJLC2x2fZmpQvd5SIBeruCi6KQ+nfQ
1bA4myrwrP7H2Zn0SKqzS/gXIRljDGzJOal56mFjdfXAZDOYyfDrb+RZ1eUrEqlWR6rTIsHYxn4d
EQ9HcRpR2pjOLP9L2zI86Gy4D8K3wYcDlT0gcEbEpd/uqoGWKxW6hb42F54xhCRJ2Y/ZuXcUeItJ
XZ6qKvGP11/S0tVno73vkarTIJv7XHppvKuROHDvBkytKMA+39HYMBD9/2HI/Lb34j7zTo42f0Au
M6FfuA8g3T3ZCIkCN6s+iXa4BSjnD/aya3L2T1c/+NXZ4EdFQFoB6Jln4UYSQBveIIXXuaeTOYIg
GF5vuYXx8z/qM560IK+5GQKEnOTeZEgHAb0I4OnEb9YifJZ+4/LWPsxicVXbA+GmAWHh1Yg9IvfC
oFZffIDZBACTKtA8jlVFhsbToaKIzohTVtxqntOVn1jqXbMpIC/KrncbECIQ/XrbxPwUeM7K5oL+
dyz6Pwe9eMvzca6ZgkVFBecC4gcLKlbl3DsCZqWwV7J7QACM3lTZxDewbJSHmCF2BuWAViNeIm63
jMtkCDUAzweVtvSHT2qnux2nCoWDjmhdHyE9Vk8DlrNkM9JM/UF4ZKlDDljonUOhxAG9GIB3obSO
bIh7LocvLdDyvp9GjQsy21QjTXwUJN4YARwEB1fKwIxA2X2j+Lgvpqx5IKLLol6R9Fa6tXd27LyC
/sI5yFq7jyoX6UZ11HxziBvsx8HB9zh17JdW4+ifTPCUCuYi258NQ/KSJSm7bYxmyNWgIAjYij8P
wJBu7KD4FaSxeHcbcC8bAlABcQg5TNyy/4AXan0zfeX84sg426dWzoa95VrJDnAJ/8mm2i3vCjc3
oBZUprsA2ew7YpXlvoCn2d60rYW1eZ5mI0UOji9v3Jh4/iYu3Q4QPjHw1zS2bMSaWaArTkFMb2t8
EraYmRt4u6A8DHMucyfCGW51qWk4u1KX5Z2bZBoY64CdXeR/3ouR9rcCXLKdGGEcGqrRve2NHzyC
h8BPgJKrqM3BsBJd7L7USK3bIWAkjxBG5xxGpLr9RHicUjjBQvBQlaPul7m1PKWybPYiE8Vv1Q9k
1wXgFHiIJjjZUOMdegQEHLyJJkcHer13n1lArSVuvJM2kkd3wGkjGriH0thBmME3V7Tld+yqoIIi
uofb2yD3P2raAf5eq4WLjOIEEP9U2Ki3pw8+h/wLmF6gwTN+gcS4VcFTEBFGYBvLAp0PfsM9k411
QNzPAKccbDMlF+JAmwlrSgAbT3YLyHxeD+ONhq8+qnic3IFmnR2RaQKQOavYlpQOTJzY6AxvPjCk
YBlR8xjryd8PgsMmaajj7XXq1nA0wWW1RfprEuWK5ZsSOPIwjQv4BDjhux47xz3Kg/HGc2sgk3QP
kB2Y2BRsj05s4dLyNlaX2/dWHce70tIAxpDE/GiAVQKEJNE3BhCuc+UI+5Sl5aA32oZ5PZkc3gN0
7LV7znuzd1HB/tGATbStaqeJqsbTCN4tg79Bnld3qBkNCUq2yFvCV3ZowE80gLxtTAXEXViAKQYr
/BTLKnQNk3sKwDwcj3z6NjmgSAtEgz33CNW+A6cAKC4+qijH9mY4B9DUWPhIqHZXpAk5NSVV4PVA
113BYHKgVVI+81GCSQQSwQaLynw/WH32jAwviRxbDjRmEj/FGITwy/oemGG5DRK0a4GeE//jnHvY
ePeWtwXObdxKcCNALxMeIvsn4GMMiE+qzYqt0Ta0eWoAH5qPfnyync7/mzosJlFVGe6Db+Q7h4Qg
mjMIxngL3o3PwJuhtgCX2xCYqdz6tw2Z19YHDgTgkLTYpTkwKNBVdfvL0ALZVgdQqSMXi1VgspXv
YwZZrulNCp4z0zB88hp1uTL5K4Cj+JGRYHpJpqw8KlYNfw1vyC33JX1XCN2E37IswPRDymnSqele
Qje0GZ26QpaQHdymWZId4sBv9pOYauxIE9Bpgac37S20nHY4uA09CtdH2HEuhbe364rI0DHAeACE
VtXvFChEfrLwH0BlA4PD+TjrwRxIB5rftjD3ASk2DVCtAWvWssjxcDi0sipa+O7+j4aoG+3S8ro6
4kM7hKTwzRbAWZB0lEwOX1o+zJWTWnssS9qyjvIy3kOlEVXeGCHg62s7lLlu0nNiL+ghFUU4pXAg
DXUPrIfz5/q9L2xQ5npJ18ldTOKiinzykqJfgfC3bU0KlFnxtYXDXC3pIO5MezKuIw+w7TYIbgPX
Xym6LbzbeUpgHCgEnmWjOLsNODBwQLTQenK8hlVT10LzzOXjqNiL1hSFQMnEHFgt3nuYfDdg1f0W
Uq8lDy0sreYScuANwKISXROB1PzgMwB+RrPSQgvL53lQIEN6rFUyVUe634y3GsSPbIuls9fvrnef
pVufLc9blVnWVIHtYSr1m9J/LOfP16+88G7ncYCsJwVpelZHhZuGZZdtEgKTurW20Vt6sZcH+rgc
J4r6+LKgV0rnMW+mo5uqvWjGX04Vryxrl9pmtijXCUjKAxN1ZLXf3fTFK96vt8zSdWcr8XIMVIME
2Tqq6unRBObNbuOn65deapXZOrwfUEe1kaoRadi7qX8jE3UK5F01jCv9ZemtzvbXbZkjPguE+wjL
5Mx/Ud7BuA/X732hWeYRf7qrEhcU+joK6L+ifqZrPuSFNpnraEt8o5rYynQ0eM8oCOyRQbYtW3Fw
IQ/+2p3Pdtb4wFtWPth11GHTHiLnn4Zdlq/0Qv6fNPOTzdVc6Kq7eog7cLhOreitPQyD8ZuRpX+E
tz3bD3ac75qKGtDKktLeTG6WPGYlsMEQeOZgVCHvHiStoDCRX4v2wYLXZY+sJPu+57H3A7Gz8pcD
qMJtDqfWy1QlCmREFJar3iS3CqXeu9R05Q6W/+ngNHo691Q7t6nXTHHoQB9Gw6koKqQIdL39dywt
5Exk1j+VDuN7BSPgts3Bs98S4w8lfI2MgYPHfcBxeYdQ6wxOpMs6y+887HdlcZrSYji1tUPlppps
c5ckNPM3JtAVXhsnYoOIxmlXTJ4+BMZJ9v7EQDGmbQ1xPVL3cO0Culzm9Ig7gDJ3CxaD2cUwcjSS
WACiY4fZcQvpkdnkvU+ONDejMMAMcGS42/3U16EdG+huQVhGyDQf8lscekw/tIedHc77Kx5WvVLH
pEcK2QFHm85PBIYjjRl1f7OXaY0tSJBmJBSVbBDjEIu7ZEyDQzba2dOECOet7be5FQZeltw2GKsX
LJ0C8hFn5j+R2ArUVyu9Y5aA5hi7NVjDftL/dsEt3gNQaqNuZuTLiBXn1p7iACDn0TljW+38th0r
i4JgQDIFWMnbWscc7uWsYHuZ1BL72HZAQLjtTcgGt0S8kV41bpKx/JtiD/xrRHbaGZIY9qQ4qY5u
ErANsWj6I+OQlVBteW/wqw8gvTZpu5V4oq2rUqyrvR4CXPw1LBDJCSpt5x5yL/aeXVA5sNBJq6Nf
GDjnB9vyAV+tWfKrQ8jZ5fvrf69pk/hhUnEkL1p90d8xkRUHwFlxlqsHJJ4jvv1OpKU4AqHmnaoR
mchbI1wURqXQToTbzMALA5GW7ADqVeWmKr2h2HlxjngK7edFhA+nPnPXNY/GxN1usvNpn2e6BmKC
troNy4A1P6jNEE+btzr45mFI9SHF4H0LTMHvvUDjc2u78mc2keBfizSR3yMqlvcoA2YqpB6tXnld
mBdbEdDZ4Nmd5N51fI5Yeo9hw9PpKoQWtLlDdaQ5d+6lB0xugWwHJ3joSk4QYg4eSA8v/V7mnr1z
NTDCoaedEcT4wdo3xVgdSS/qbcEyeXYUg+Sw5MbC/tXJz9qHtIXZOt0XWkNPiV0aeGDCRW2i1kfP
a9ub/kIp5rapsatyzcEVU7ZTQY2kDc0vmwxkrRRjiw05YlFuCorQFccjw0EbLY+6ztl2dDUo2oAv
fgeNF0SLuCzsbT+WyEMljekfMyTZICp7ah8v24oHzFQTTvztcVu3GWjKCEZBBmMdAJfuy7ZAHIHI
nrg3uD3y0vh48O2UlJsk9mskwtBhb8TU3BZ2I0/YEfovCfb+e7jYzZ+YYcrBTqYLm4FbuK5pwVZu
quo18T33pyx6tu3LrL9VhHs76imoAa02hnrD1AKvXBmnflT+iLTg3AEWFXHLSJqzbI7kuw4mKZx0
jbAbMT8EaFydgb2bNlAXWI9150sw/SztH0C3n35RMsgj0Jt0LxzJvms1qHdQiLOdxIR3yAMyPeeJ
EG9k8rJTbyOqrkgCt0KxgcmbFKzZRwqE6F0KYPNDUqb9Nkco49H0uTkLgtdbZzy+VyTpj5C5IM2e
jtaRQLIGknbM333LtOHUT+0vmSdTKFKHxOFU13wTC7DzvLLKdmNDylec2IFz2Dk62xSlH58VZut9
xRxym9MCvZwM2L0ya1S7yhRin2VO8qpGMcF/5Bp4f4wjw5HUA5aG/9EKkZjWoWJbI9kHaVpVfEQk
vN4gIvnFtzuYvAEUx4ROEOfDGnEqPRY8+CV4CSGMdtoNC1/We41cDWB7MvOgYf0Jsbke7wLJ89ss
IEZtmfHYfmCORqWFJ/BOEbyWIWY3BKD3FyGIfOkktHQ2CGhbHtD0lZFWHlweA1QC5f6t3ZL4UQ1p
uleFDppDQ0v1zWrACdu4GHxIYmOoSzCpDwJnmL8BHe1Qt2MNOOuaHiH5AS29xBCgqsg3Ugl+LBqI
1khq9Qe83TpMrRTCdBvoPdljLStTKWjo+GCFdw3QrqGnaohcB9Wh0jl4b1mP+STNLuX8giGfMmN2
fQMfVP9tqLjBCkogdaiEmmE0PN6UMNB+qxgZdnYH/oAfW/ww8Cb+rsSY39helxxaUfZPVaqcbQx6
1XEwvN0SRPOHoHgjpaSgzRmJVTKyGIUUw6P+uOMsZ3uhgmmTX6KdLhVVew8eb7vp00Geh8Q4G1Dm
xWEIKAwPJeYWK5je7YbHP+HUMruSWu4O/1MAwwwFCcRPGv1K+1vX68Adx1rqHgFTqNU2xNJ/ElkM
xzbW7hu+PzQSReUge7zHLLLHCceLbZl6FwtS0W1hMlCSvDyRD3k7mH0Jh/0NquywcoueShTr6vYX
xgf73vioz06DrbcIDq2e6qGhJ5EqYCoIhQrR1uM2EM74hOOTI+g+8oDVUo+eU7MbjF32gHwi/rtF
nW9bYsO58/KyOqLg2N8H0qmPmRDOpnCS6mDGxgcPlY57rVzrLqksuhF5a91hYWofEQ41AV1umvva
r8RDmmXWM0i+9WubApbRmbaAK6V6SKREJRV8my0+DemBsKK5fNa7mwwo3b1BlzyyBvloji36rS3w
WdcsbW5kUPs/EDWl0y1PjLqRdhHctj3vsHHKur0ZrfYP4rWBoYt5+pDb1L2fwBLeU9TO3+qyVL/A
27VD8KLy3Yiosr1KcucRNlH70cty5GMONPs7IoEZSHTpR23Dn9y8znZVzNJD6evyJh6p/ezYlfVH
OKV87o0CLhkEDrPXmGnugrT07ltpI0eE2d0vsG7pP6/z6RkPbHZEi+qUZII9oVgQHIJpHF9ZA88s
N5T96d1i/AHNub3zWy32OIoqkBVT0VtQ7/jvQrT5rdsX02uMYmyMg7Wif8565NNXfdH+w2ceAZjQ
GstfWdpUj33KYV3C26VPPCdQpQ4KoLiwyWOUDgNQsgjYqpV0dgxg+SGMe1GgcFRWgFh5tEHdy2bF
XYK9+l2r8+CuUFZ3M+aM7mDdtF5rg/yaAYKXOpwgeUUpcOBqqxyvOyPtqUNOrUw8CI+4P2w7MEZe
YcEs0dfL6pTXqtkmjds/4NAiCQvwILNDahEUPSV9swkANYVByq3vlP4BiGW1GRtpPxa9kbdIInMO
jXTw5cpK5waOC9DVCz++S+mIExLoGA5e67sPORX5a2wkg1yP634Xs8HdBdrqt/g4O7965nj4gnhI
xjMoFB+1KYOHoSXONqcWQ7nelOMO7Rf8EUnmPaNubS7HMe3O5dS+yTpY+UPka8Dj2wfku5+2cChJ
hN8FAaUnv+H2qZdtQvHykKhJizi+z1OidCi1b3C2IuxtlZpia9kue3IHZBzsKMrp92nn8btAE3JB
1Q+7tG26XSlYfF8mbnpncSvdT1nn/bFSpwxRygaWG5MDuyfa2jIErIUQV2YPHhacdz225X8bMsoA
KmIQxMHEbk/uiFoxIB/wMYpKm9sYS71HCTzetqit/LGxAsq2CVZVmONbcID78eB4Dj9QUfgHh431
I8oV7IVmYC7K3J12Gau6w6hxqGRqReHWdy0s2+2k+ttVhj2kALlv6q7jTyPy/wC7jp3U3bIyyFYk
oJ/vs/ncf0iBJnFjQcFzl2rTjN9xNhiiM13fry5dfHbQ7Aw2aRKgPiMuEAhRngv9p89Wjpk/323z
uQ2tQQF4tAyu3aIfYurfOF7ox9uuXeM2fl4m4HMjWllSgiyooI7ARDv7SXLvmTV379KlL+31oaZU
64owoS3UgYM7fPaxA1mphS1d+PL3DxeepoYFxoL4jBPr3E3ua6XSlWLS5wVCHsyKVGld42gB2YHn
3GJnZGV/y4W8wVmBDIPRealFtvIIS31mVrTyERwN71aiIxRptlASbBx+B5T39Q651GlmZSvUZwPs
DREYlGKlOVConKwfZelvJhLvrv/C0u3P6lZj2SNlJ7mESxTYPzrwArS5vh9Iv+YO+xyxYPO58ayz
AJzXPc4pWhGqHTZQ+SbZqlf+w9sg0hLL1XGtIIRO87/lID73oQnSAE3ZFHUkG8CgqzDHBsm1MB3J
L3k98SizelZqSVAjvVhHvotpWndI96ahTacwX5OTLvRa/9IRPgyItvGHwq9RMRMe4txLJz4XqT5m
Jem2ZPBM6KUo5nzpzc89aUrljlcN0D1k4DOP/b0EUD1XKwH3C91qbkJTXUuykaA8X4vnguGU2G0Q
1/glfTvew2xsk8a3RtvilxJ6u7XSb5whnMZaY0ouTErzlOQy0ZklgdI5N363s7BIb6DRv97m/518
fNZHZ8OtIAJrdNQbT5luUEJBsXvaJibvhzCxe/enryV/mwKBDFUptbqb2iLFjlGOJyTI83QnGNQR
ktIGa9rB+mMUDvET6NcQ/gO1RdIMa4ERCxPP3LBO7YyYXHYOiCOIGMk3KSaHEfoKTr90esnnicg1
pRUO+n37LJD2dBPngHpVFrAddWqZlcZeeobZaFUxZSrvSvc8lWRTDqcCGeiN52ALsrIWWfqB2WAV
xKWgmToUFPU49PM/MniIxzqU1kobLXTEuY9QZp6PIGHDztpDKSNz5DGt1crncWGAerMvr5fCGTcB
U3zOkqem7DZDcD82xcrUsnTjs/HZN43jWQOfMHn1jzBQPzJUuq6PoKVLzz63SoEuHneopMWD/w3W
ctCg1PZrl559bJ3O8QZTtfSMfTNCoQHhSLX96/q1l5p7Nu6bGnkfHqHYE3ZDiOQPhByj13wp+s3m
c2NZ77QxdvnoKKjgAwi5rVCqSPvnQqy90IXb57OFMbJw08Yg1PuMUkGoOPq4/aPhK22z8M2bO8pA
BIWiRnTsjGU9aMsMgVGT6l8Czs6lW/zT+SrCZ6HzzJ2PMaoTI/NtIBDEL2g8NkKtLb4XpgJ+abgP
3+3JS1EvRKD5Gerado8jI3UMsD26t3vsQlUqVLYyqS29icujffyhacwDa0zsM/X9YAMvVr9x7OS7
ZwX7L/VUPhu76eAWqqI1PeO8dGP8Fz7dmXLt+7fUTLPR28WV11Vc03NTbTS/YOu/ZzUP65J/bUqe
x6HCnej5KNmNkAoXwRY80F0h3D3Wtq8aZyBffAezwVwWSqFOhcEc+2rTBhNivv4Ek1iZ4RaGw9y8
h1rulNXIzj6T4m2sUdA6FtneBbIcJ0grD7DwGuYWvlZaBhnoAT2r3sEZabwtdbLX3W9sUL/4ELNv
L0O5ovYD+HxEi/VT/BJk8X0i/wH6tam9VUznwmD4j+/zYTA0TtH1GpbdU2XlWBuz3jkHQVqfE8er
X/NC0cdEIYI5HD1g06AFGnZWluC8rShQzUEdHtKwPEcS9JSR4QYGGPtU5khTtKCO3ujLUVaIwcAg
fevlBG2YV6Ms2dZbAuXSpqu66kYiCkGG3VA1N8gcKe+y3s43fum6Tyhj85039ONG0jZ5wwKnQz0T
DuMhrPOkPTGT51vQiFs3tAfanaGR7dFCZXHuvMTvjjh+RD22U+zolkn7xoGZX9kmLfWv2VRlJz7C
4+2M4iAnh3Ay33dFCzPi8L2EKFH3eqXesfRuZhOV7SAfClyhKtL6WKM6m8HZABnpSg9emMnd2SyF
Wh/tEUldRW6Fm3aKvSn59voEuHTp2RzlTMb4KGHDHh+Dve6G01oMwlKLzNYXbZrmgsNSECX5TyRD
bBlOSlv27fpdL118NifVakjiDrnFkQCpgabprvJeuLuWoblw9bkRsZ+mAGfqcjq3fWSZYGt1bwni
G6/fur3Q4nMLIuIZxzT1J/+UOjnQWBnMy3sOWsROeQihdPO2igIVoHCc+1jZbHyh650CsHFDAVG9
64I22FfJCOeia60iwj6vJbDZ/FU70NzX2UDOUzz9lHkGT0hNDhbOiFc68FKLXqbmD1MXhcLbKRmm
YIBud036DOfPtmr+Xm/RpQa9/OiHi9suEXF5Wa4przjWjvPLbap/X7v05Sc/XBo5HtqjaUPPCGzd
iOTB7tZaZOmmZ0Paj4uWWT1aRBAzhshZBCLEBCvfo4UvHpsN6q73G5BoLssmr3yD2P8VIOND5iOU
KoOp/HrTLL3S2fjuNOEFgxzo3FEWNtktXBChydescAvT9tyvKSSHGhf4oPNYv8uJ7Sr6W+gLPYvv
rHTl5S600tyzmUEZnvhQEp1971n7P/MmQEKr3rhpd7reRAsPMfdtCkc5cMRQJB/Uef3LJZwd04IQ
sQVWC7WWLO9snPV45v36zy28kbmRs52qxm/bjJyBDo9I7gKeY448X0mLWOiwzqUVPwwF24Ji31cS
myLWh4X702YrF1667dnwZRCTIyeqsc+jcb09TlwitzEPibbWAoqWfmA+iC1gKlJVknPq98cp7S7Q
Jf8+te399XZfes2zoexmE8ja5YS4vb687bGaCmvbeS4bbOac7N3j9GtLGWc2qouW50GSYEy0yKHY
JZW89TLvMI3aCZPAOnMEoVx/oKUGmw3tscv6Inet6QwUBSBCxBX7wAq8nSsVO3ztJ2Yf8CQraT6J
No5KOZwtj32TvfiZ8q85Af8HDaCCwVZuEg+g11ZnFN62cJ69Qoi8Mvf91+SfFDbnHACcIpckqwUm
PwbjTNxY/T6FXnGXtS0cHgPEgWU4SZP98hpjR9gVV682VseIcdHxAf67VIWoGHXbCvlW1SbpS9QZ
IK4/mrIIAuQEIwJuAxSofWupeIT+0kpwWqGs9j53GPlW+DR5myZ3+hunXbl3un54hHOYnl0bOqWM
Vj0w9RSCu6kfhz/XX9hCJ58r6PUgoSsVTn329QjWompv88x/cIN2nw39P89JVn7nUmP5pGXnIvqW
Ol4CkUl9NqX1QyhIe3p9Sox8UCrY8Mp8H5i38hYXZrS5qB5iSAhvKqFhcqNbGKLi0JZrIeNL157P
loOpMSm4+hxMHciTPgGdEVz66+9iYXzONfWjYgppDAgbgL1v54jmp5HDnqTIp/vC9anLLg/1YapP
YEKn0G8WUQ5VWFGfvS7eJd7D9Yt/2jK4+Gy2tOw+jRsuddTT/CajGZhW9u+vXXo2QXYB0nMQSA/6
hAMkrPc2Fl8xfOOeZxNiigxelQHDCFcpD31zV8ev1+/40yUILjybBs3QkxzZi/xMe/6mdCxDt4NN
rIAwjwx6LfZ0ocnnCx1YIry0hMctsoTc8BSGreEiD7n+CEsXnxVLcaJdeFaLE+EGmL8wsex/XVbs
rl/707wC6s5XNCU0tLKzkHeKEK7NlLt3LLcOcPzdFJ1zhwiubUebfRXzr3yU8HOzQdtXOcusGqqX
qrr1gWqPnX85lK7Xn+XTQYuLX/7+YVAFAspEYiNJDCw7HJp4Gw8aF2v4YirSPKHCqlw9kNJXkeug
SQrIYmBG6lfufaGbOrMxy2BKHxER4Z5tKBgVdC72P7eBX2Wtgy5dfzZwM0IKqogugQ65K706NPCB
+k+k+9qU48yG7zgy2AyAUIxgcEhDMnp/XLi/rr/WpVufjWDlus5EWIZEpKzCqZULRRM0ZVnow9iw
TwGGuP4z9uVe/+e7iGTZyxD50H1UmpqsIDi/xpE/EtsUvvmwXabxgaV+cRjaAhn9wThEVkkpjB12
fu/aKkMdzyLZ9vo9LIz0+aKn68rSaTEkz62lnrKLOrJsX7526cuq48PTyQR2kpwjh94mpoDgZthY
0Jev9N5PlxRoutmwZl1vgnSArGRMY+iT4aRm00NqfvDx2U2RtApex8ovLYzxeQCFTFvTuj5DehjT
BrVyeJNJDTMyYOZfOubFw1xezseWmqBJJCNl58BF6DBRoYHijjcvTvF0/VUsPcNsrEN6kzRFiU8S
XMTYKH2boES1h7VZcOldzEY6L8hk16xFClpGy3082s0+wUn1UUpWI0sRcNotRMjpSWJf/OdrDzQb
/UOXEFm0eKCK7QZYPCaIi6QZttevvvRAs/Hv6lyMRuDwzpLF7UhYlMOXNZocmmRAcy3IWLums1d+
bOHdzBfhaR1bUhAE6zNpAgz/+C7z0hs7i79UCKSAivz/3oWky04GHp5GCHnAKu2GNBoRAV+cQeYr
btMOtqnohUhZghwb+HtIzY/X38NS08wGOY7fB3vwIYeqW2SKeOOmG58D90tnYGiXy69+GHU+FNxY
xE8YdZPcUcASsqLfTvlKMtbCN+S/SvGHq3vt1FZKInSwVgdJn7rgL45Immzt5pcuPxvRoy9qzw1w
8zQ74SjvkSMuYrywmdXL19p+NqiN3WrOoNeKNOkOnPO3EbXksCTN6fr1GVr5k2/ff9/ED+1TJiOS
Ekti4+OG4IHBQ1CCn6ytMZc6zmwAw20gxEgqL/ISea8mR4RgF2/UxR9+/e4/L/hTd+5oHS2/aQKZ
FBE3yL/xwJa6w3HRBGowPhINc4Kw8XkQIZ3LICyDxq8q0f69lJ258Tyl7nnbZDttA+Sw8pn6vEOw
OWNhxC7GQDDOonIs3RBMzd+mIg9Z792RHNWx64+99COXl/nhpWklcfBoN25UK7DJ43szPqXKRz77
9+vXX3hvcz9vzBNEX+MDGBHrUpr/M+TN1gOh7/rVP797l8wWJN6l/IgNDUOuNg8V8nR8CCgg+Q4t
6q400EKvnida+KgM8zgOWNS60ya1t0O19plYuvnZbOVOPMl1jZvnfKvYjzpHott7uXZiv3T12YtF
Zm2vcsTYRAV/Z/q1pLB21U+5u6JpWGqW2WwFMLkf10LwCFFYOC1WfRVCBbXylVi699lM5RY4Qkvo
pWUGFXbixkLidef/qt1+Zapa6pWzxQYGMzwoToZlAFebnDkbu7yL1VqX+bQIh5lkPlfRxg+ceqSR
XcJ9xKp3xJ3BdRzA5kM40vFF1658ki4f/P+dctnceEDgdrE0/HpRAKMP0jNg8n5x4QvrkcPD0l8N
WTsH+7zB2ByGU+u0JgMmpMiFlb0ekGkEHNWWdZPaXR/Jn/cnNnci+LnMTJ3gSUiRAPL2nKQrE9Dn
L4PNHQjVKOMExX0e9UDPn4Kyhj1oVONukjVU90hvhCnTzVeeYul9zEZF3ghUy90SWmwcTu8Fz5EE
VED/OlY4mJReRtOwj/38mExJ8HC94Raeb34oTGxvsEep7KiRR7srDgWLj5V+V6p7zquV8bjwcuZR
trE7pXZbQQCu25TApCNu9VSsnYIuda3ZYO9oxwn2k15UWW3YlPwoENfO3LW18udJipTNaTl+7uh8
wNlF5GFgtLIMNTlUUC0NMYI7qRXG7D7INAzca2rQhZUEC2bjP3M4Ewywv4imcMJ57+n0XoGFaupb
kr05zW/iPxTpN1LfG6y/GvepxWb3emf4jx/6yYQw9zXIwsByVoDpUtF2k2j1xm07zGFgAWk5PuKk
M+RWezI6OUBg89f407BNev5CkviU2u6+03pn196XghIpm5sfWNtZ8I3VdiRSQKVHVjzmaXnyoEm6
/rgL/XJufeiJQdxFXrhRYpNItM4RSufXr1368mn6sC5SAWndRHg4oa30JjNZ6FVr5pPPv25s7nEY
kEmW1Kq1IwmkSeanG0vfuH0eIt93Zc3yXyn0s25wabAPd9/Ccly5mOqijDnmNtFNfkAYNdIwW4Fw
AJj6N2OlraPG+UEZ1toujxYwqvdIkmNHe+BmG2tkXsFlqZONzODThZjXh0R4HP4FE5iAkxek4HMk
5LnwbfI24aDpndsWUhWGso2/6zqYImrS5IcD/NJjCse5CduaDjeIb+N7qKStu9j2rP/j7MyWI9WZ
LfxERABivIWaXHge2tv7huhudwMCxCAJEE9/Vvnc+Ncuioi6dThQaciUlMr8FgAKaXHX1h59TakH
xPfEAhD/rptBbY8P62JuILMqEiPsgGIrkjBz/lz+9PnyISxszcKF4yNcIOs2qZpu+EyZY+wywC8O
k+nz36jsd+8nVbksVkWTP4K3Nw0R4k3pI5Lbx/3IJcrVLv+SBeepF51Yg8Mpskew+nmDdCBS/qiF
9xJYZC1gvdSA5p0rUwYO6wM3QflJnLVTzNgcC+P58s9f2Lz0ig7h8hCJtwqYU2aQO162DmA8QC49
NoM7vFVOX+FdWwIJel1zp237m1kYtaqohfTGJK2E3CE+esMZYIWTNz0i+fLeGbuV0/H5FxHHP/X3
W0PQpQ7HEJyfpJQEnL0MVKB7tyrtTc9aDqI9d5Gw6aCo328GEEVMd8jXtoAF76JnxaU99ZrZTc3E
gZZR3Lf2wW6gnmep5vfE1/IolxrRBrKiTWeMZW8lZfoukeVKqycHb+nc/n15ohZWna6HNZc+6BsA
myTYt38Uhq2wf4Wz2QJJ5vrXmY5eyAIwB6s4LdtE5epHkYGsPg85jUmeWSstLGxPejkL8vVIV06O
nRjEva/c9hOaj2us7oUZ8LWTZuqGnVkW9Zh0vPldgzsZNdBjBJTC/mc026fL07DUAc34y7zHW5uf
D4B8ZQ+FanYzSkkvf3rJQjTvbMnZGFMCuSqoSe1kgfp7z7/N1RTLAlGUsYjxch4Rb224lhaU5rDn
ZkibnFDgcllzS5h6FMz5laXV2klnYTr0Yhdk+ZhMZC1J0kyFyCkxUZ421U24DU77bDX3jthcHriF
K4au8cAqlgOcPHsJqyFOPtjpnQC+NgyHbeFmIF5N+b/e2P663NhCt/SnVj9wCtvsob7mezeEvwLl
uzWh/1xNVwExbUd/bh0n3iIxHTf9FinTNq/3bHgLh5va71Zu+gs90IuEas+ruFuDPDjP96y5c1Tz
nEvvYKVkZT4WbEQvFDLB4AJ+FQnUXvru+Y/NuBYPXphovS5ImQ0QY05jJ6oZd5UyfgFqAILQGNwK
ADHJ3P7rGeXKPC914mQ23/arah4d7sncSWQx3zlQd4msiR8ur6Gvh8czh1FdIQ0cFSDSwdhOstnu
Xjp7Ch4JKYNHKoLpDSKU7iaUc/83a1t3U3ghi8SJ7CvKyijweOIBGWIajrXxhZ9tR6hs7xpStzu7
tEPoGNaI+fmSHYyRoB61dYIn2x3VEciqcTOJLtgD7QswV8blXd34QJIN3hqjfeHw4p4G89ugMWT6
m2XljklQIBwM8yu7R+j6yo/AY+P91KZ4XRKs3l8exgUPphcXWIbT1xaA1EkbZodqFBsb2TO4tl33
dc3Tqxo4FlKAAGSM9ZPbQUcrC+/Kuv+47vOat2/LLqg8S+DZBwG9tq032fBPLdYEKJeGRnPu0P2s
R2gYqiTreBkBZ/dAJuc31Jrqlc3qrBPB2fn0928zbfhp6XujQY5F98uTZcR8HziTapPZa4nUZ7uA
FjQDnIcBL5TYJaC0O6NEzGl76KMV5o5V/lqs/OxyRRPach24OZhI3yRHJsqk8O8D78ZGyjbkPKI+
XbH1pTb0U0nmYf2YLjmCm92ggKcsx43PqvJZeSD+NQPKlobBWMu0XRo0bdGKuW9cEVhN0rfNUUq5
DQfvzhjXHNfSrGuLtrKB/ylNUCiC3u7itAqz2xmKO1vMldqrpqlWLHupHW35lh7y4aBgbh9lh6Ah
5NleVWA88twobk1kDVy2wPMz8/9aEN+WsFcjBAroOzmOmauAZ89vIBvyaQp/L8fu3af97nI75+fE
1gPFXiXVIGfUvGWt/GObdlyX9Oc48J/Xff7UvW/dUEbroBQN990WsPMgV4is3hXW5+WPn90FcQ/U
zJzlXYl6iYkl5jQcyyY/GFm6ufzppWHR7Lsbw7JxTQy/mYsPIzNV7JfzR8rHtcekpQY064YIaZfy
kpsJGRDhaZ8FFxH1V+JsSx/XzBocm8ajLpkSK7u3gVkFHm9XrQYtl5amZsbQpcipmpsmAc5WHhAN
MJ9BoWxurZI7G1KE1S5oCmctEfK8tdl6OJgiz6ScbDc4zuH4yW371qZlgYww8uGncxtdnu6lRjST
JrYseOdPPQKfbNcqM4xyr0qgbvHbRVj4chsLq1UP9aKIpBN8QLocoAn3Vjm8ssJa4ZgvzLcet60C
7roNcIHHIvci8Fmjsjaj2X25/MPPR+QtWw/bAlyH25I1mIkBdZ7Os8uj48h9FpifwNrGfWUd/Vlu
01D9UtVa/sDCjOgMm7AoaQbpgDmh7q/RtjegkEY9rQ62+7bSq5Mx/OeYi16dBvOba7Lxxlc5Cm7c
mEGwD40hO0BFpnsFcF7eo6irf2GzYR2BniX7LvTM14nNNsrYbfOHabDqUU7mWiL02asDformDMAr
7fmM4EMi8il2oU5ReGM09mMEOPGdlf6R4YpbWxpVzTH4VUFt1ozWkQwzQw2xt/WIeEvV+J767Zq2
61Ijmn9AvrKbTw4qj4QslIvLgBc+0LF396jaqDcCDxrdSneW1r224wO+bAcFkiwSK7VHlAIMG0Wy
D9sV15yyMS+aW+Dc53ZnWtYRdSngfeLp/JMxoEQz1te/Ly/DBa/wn4gq1HSUlIwc+6b77KGo1Jrh
8+VPh+cXuE7HMXpUpedtDfnmdqoiZzw9n5kxXmAefJE+WU0AXZbhDxnKx8vtLewLehDVq4lqeKrm
kzK174EALKc4CB44acHGfr+ujdOa+2a0LqsM1MCX4XH01SaVLjSkisj2/hZjGIGbubvcysK60kON
o+82JoPy+5E6842RsSrC6e4d/OkgvtyAfbKFM85HDzVO0Daf6tGFoNY0mdYmbxFBo9xmb3mazxCj
ZoYTCSJlu2GISeJyzfIHmVvkcYJoYhn5TQ8Oqdu5xwbcuCRMmfsSep7bowa/ZP/6viwfsjCtaOwp
oH4Znn8SCIWjEOLy719YtXr4bLSZUbuDMCF4TO+qXGxI2a/Y9NKnTz7y2wyjfMtyPXNAbbDy5ENR
WnTHc1qsJHwvfV07jwZUWCME8yAFBwz7jZD+eA+SQbpiAQueTw/yOnXb9tycRNIAMRuoegQqKrvL
cuuVQPRnZe0sdMHX3Gs6hPXIBYr0UcQh7lXueEhUpms7xNLS11xqqSaLBxMIk9IOb7IgfcWDyzGb
5dvlhfOVk3pu4WsutYd8oGGDOo5c7sY8dFWdbwpwSXYW8/9afVbsjLK1dmUvoQJGK3KTs9Y5OFNq
QJKg+yydIt1kYUkBxhn6JzdsyWsDGvGKx1zYh/W3GLNsSpTj9dOxaQckDmYFWPjdaz05T6hb2VDA
7TdsxOnz8lgsDLUeMAxPwkvcV03ScHIrqPc51u2h8duVS8DCYvROzX4zpE4VA8pXbPOIS/FtBgxM
+APpWRD7W3suWfr9pwX6rQErazqggmdyDIA2+QmaOjtyMDKPZDw9lF8eo6VOaAcWSNBXKMkYeVIb
tx5tnkzrFkSVPQBAK9a0sGl5mjVlvKgKu/JQZazUQXovfuDHhRngWane+MOwv64bmlVJPrMS9dL2
sUAVF6571hG9Aoq5Go5+r1b2xqX50EzLLVAyM6bQ0Jz58MgJ35sh27G6XNkUF/yOjhSyAzkicCrV
cRhcHMPLhDf99vLwLEyCjhJiwZznocWh3AD5ZV66vz0OvWpgl//Uyqti6QRvlxta2nfd0y/4tmYV
YMg1KiWbxP5X/DPtvONuupF7JLzg+PjLe3VevIfs0bxNE/vwUt3lb2sg2YW5+Q9kaJbGoBjaNerX
LuziMoB23Zp46tLMnBr91qnC9qfSb7hMMkk/ytH9sIw1ZtvSpzUbl6GfsYwgxNIDpTF7xXPgXUkh
Q+3e//5spBaZ1MqRTMCprLe5Zf2t5hb8dF+uLKsF5+Fqtk17Mw+oUY9HF3Uq9zQl87NZlmrD1Eze
M+WpFR+y1I5m3cOg/MYo+g7ir2USViB9Q2warPAdy42V4MHS+tFs26xJbZuKYh56Hjt1/aMn7Sul
YIRcNoylfVnH54RTCKkvyXCqcIZ/UoeCHvDXhQJSkc73HQTpDRtysp48jhDWiT2Ub06BG/vGEAmz
Rc0lBGaLMgbT6jpno2dJZshAnyDe1SZZOR57j+zTeVpZFQtDqSdHWhUXpAlxwoFE0wNz60czM7Z2
QX5eHsmlz5/+/s0YMyfD25ycZcIEo7FvkTdVzw1K+9eWwoKz1MvISxZCfSKtYe0KCWC3CKoeQpJC
wiiH3ki2ua4Xmm0inQwStw0SphSTnyiQTDoyPyhRrZW+LvgVHaUzQIzWsh0D53Da7UjVRy69LoEU
X9HMsUHUfO7mXiZIrfkNv5jUofGWEdLHQpbbTqgnkonXnlm7pl5VKVuads1AgZMfnLZG3UQwN1ug
XG8Vrw+es3aYWxgvvdac0gxasbjQJS0ELkXoy9gI5XUQZ1sH6gwTIfOohEwUfWdI3fH83/awYsgL
QQi91jwrS8gReNj4ynbEC5yq2uIXtnoz9sLZ+s0dkT+Yoze+kW4AEQyiqSvtnk/5s2w9FWKwAJDJ
575NupJDQOGhEPcQlUD0GDwK09oRZ74v2urYIGggmgcrvTKWp2dIKMMS0GhpoWs4cRrladR28VwN
WwiGRO0MZddxJTi14Af00vTCD0iVz6xJ+OSbbxlUwDeDa5DfrOagFdPMiC3WraFZFpa3Xqo+p4iD
Eem3yTwmDitiLxNRwOeVyVr6urZRdzaiaur0dTG9U6eJM0TbwtUjvgfPe+bKqdepS7xfQ0sDWxu2
Z/enAYTuSc7S+wuFI7qx5zpfmZClXmguoIKMuj3V8DujHYIYygCdKAD3SVfucwsuQC9VL4YWWihd
wZLZ4DemmHYlsVfeD5Y+rcVcSAaMalOROgkRZhpY8zH4xTWZlZZtawfusrAmL6/gFyVSQ3bjHGxM
24twVbFusxnqX4Nv7Kc5dLeBH1xV/II2Twvh2xbspnicHwEJSKzKIJCPl395QUHYHMhaKsnCktIr
0tNaCWYj6yVpBPIjumZX+XdiCo6pR1YOZAuLSS9IJzT3SKCsEYUBz12YRWl48Nw1jtNCnMPWdnd3
BtGiJLxODPbvxAE9dWXsOEZM+zffdveBvWIRS+tKs2tZgZjXVyHaca1Y9dVN4JGVQN7Xsj9j1ba2
y0PLZjIF9PuS0JFiIy2TxmFOCHQaLVSHN2CFRSnl053f+eQAoFK6m6rMeYe8lgCzb/QiaJ9DMoxn
dcSs2v5b0ZQDwooq9rFw1EtaZOQjtC3ypFglbiHrJcGbq9kWJCWoQRQltBugpbYbh4me9PeqNwRh
+ePl09fS/GiehDeuTxGMkklaVgpJQ/muc3mcOuOHz1HSVVpQrJ+uo4rbevX7MJOintQMNghKhPoU
pGlxqGmzudyVhV1KL30POvjzOs1lYp6wiX2CooIIgiqbrLprG3vlArawzvQCeAV5EGkwNCL4h8h3
bbGW5rP06zVP4oteUlDGJESKY2L+cUOJVIwqshGnW9tZl377yQF8c1aoVAXdeCzGhIbQAukC84fg
8/a6wT+1+e3bxVxb7WQpnIQlJC/HidLIgoAUJB7nIYIy313JitfLTVkn3/Efe7QdHfk9NuaYj23m
JnKk5b7oGZIfQ0hfvqOEQt22OA6/zqwuNpkojA3xWbpRBsnjabCNXdtWeTy2svxx+cd8SZyf+TH6
HamWkwRPuZ0SaQTD46Dq4pAbGUkRd8mzPQ3D/K31/UE9E8sr+l2fOcLdIJxu94g6NeHGLvxql1UB
NeOcioxs54wMNwZYNJ8i5GqOWujSfoROHgoUaEFdZWXCzi4GpNdqExbakyQpinoSl0lIp3mJTc2V
Pf7shoJPaz4/DUPueqgVSkamkLxdAMsO4ORVSueYfc3TDwN41WOPzHPIu4YRnUcWyzxb+elLBXo6
kL0ohBhIPsC5I80ExS1zJPI5DlT1s0zL9qaR/NfMq1cmS0g2p/2We/NBNlAKnuYax/2we7m8rs66
A/RS88tdVQS4D+ckqdvmt1sIyHDVG1uMXtw13a/O9a5KerEdPdYaIpHe4r3oEyNwp6hmReKz/NVQ
qJIH5uXpcm8WFpsedbVBykJ2E7S+UghyxnZqPFi0+ve6b2vHvmyiZVaR0kpETUrcgsZHASmYlbPR
0g/XvLJtF4M4XUiSNBh2vZeAA7u//LMXJtjVnDHeApyyCgSB/NksnniTTU9G1XU3oLSSTd/Ww33r
ld6Kl1qwSB3ZF2QjHjbKGqQCICicExZouJ/GlZ6cvXfbjh5gaQaTD9YpQ9wr0kjKZx862qx0ogA0
ubZXEbK3I5OFKzOy1BXtMGYWTZjD6J0Ebh6IPYL0buto2Stmd5rXc95cM7uKQvEhNKrTQDUQKWoP
AKdFEoWHTPrbqyZej68INhgjNVLUm6AmMpDiEMrgaBgQUIUilCXXUlQX1pceaYFGk9+DltYlExD/
rRpjRdiNlAlRPdKsf17uy8Jw6SEX5qcyGI0ckAGBdGFUTuOisnNnXFQaY2W+ra8s5DNzolNzT3Xb
vm9gu4dCeh1PMwueREPrQ9lBDzquZJo+lhQInsiRZvOTtYH1koWZd0dNjvkb3Cae7NmOxYh/jcLO
CPezMw55PAu7PjjCssBGkHa1QXoE6uTVGB4B6R1vocidbxH/9g9t6srb1mf+hnk2PxTlHIDc5dLg
1TIBizUa6Ue0FpC7ouIfHE3su1FI0IWU4+9ZMXub1kHxNAtT3NUD5ALIXHhPkIltYuSrsodmGv17
QQGzGKF0gLlC0X7k9Y51oEaYgXqQOvveE6eK4DGcoVXago/UzuoV4j/Z3rdxESTuON7g5EVuUlQv
IaUQUc974LCD2CNhGMu5sKGBbRLndwqAU9IraNV786R+MGI9OaL4lQ4igRhvsDenim9In8nH0oMG
aiZ3mYGH8GEoiqMyaQGt4A42HQZpeEMmt4XSeEb5RoKhBfjXTKC+jUiQ45N0M08tfVZ4yDuasFWK
9BIDXc5NX/zKDZTUWxkLXmsbuS6besisg9lV3hZTajsY9gCqqblPN4NwzMiB6PijyFCMuTV4M5RQ
AMVxcmWBLTgUPWZTNhCVNmkgcYBz1cEejDRxp7TfebZLr9r+iK7QZlm16syUIWmSjnHZgPpgsVUD
Wfr9mssyOIWifOs3yURQ5TdCKB15fQWPQfW86uXadvR4EBkYMHttimx6p9y7Uy9jYRo/IQCdAhc6
3ELIdc3aFzqjEwpbP+jABCIycWQ33eRQDnriKieAJwXz+1U+Sw8T4Q7vj2GDEHRnGwpJxF6NfI+C
f8w1VXe26ZcrvnEB+OjosSExSF61HIV/nk/aW1p1/b7p2/wzrKfG2ZIA5AULUmbjFmUQzhMErcu/
lDv0nVqhb69sNgvnFz16RBkLXcB68bg1Qj6+6dSuxi4dXzeS2hUi8IxQIeqGSC3tUbJVf3KJgz4u
BBt/ytdqU86vCBJo+z30bAqwqb3gOAWfgw0Kc/0D7MwV218aHu2m4iG33DNmPNC5U3GUHj0EOV0Z
+YWt8Sst4NuFmE2Tz/lctQmT8smj6RR5w6ii7qT3CTHIK6dAGx1/gsqiVCDuTy2Lacn/sXmza/z0
njTu7vIsn58A5+vi+60jxWgJi7jIY/NsCZJDVUSQ1jXvGK+mlXDzl+md2eH1uFBvo/g5rGc7mUza
A1FUQoGomqwKF6rcb2/EmLFHPKmX20mmw2HoR/+A5rMXqMiNcd6Q9j6wAm8fluH84toKChBhbz1k
3OabcJDBHnJ+2WsALbUuItyAvAKKKyJjVuwmEwFNowDICxahaB3UUp+ItcvDwhHsi8TybeQgggip
cJQbJrn9OQReNIx5BOBZVBg/uVy7Di+sMx1saGP/zUD5HxPLFXQ7sQnCVaFFP01zcv9azA2vCbDi
pVML3ENkqMe0SJ64dHhT3fCUsflweYV9BW7Ozf9pAL8NFJPhYNTmzPGQ1d1bROTWCaOXQ9vdNqDC
VM7q0JslGTZ5XYh3SNfLf1scoW8rYtR7pJlbty2X/RuxuXsziby+g0CbsQ0aFFa4ddeZMTRv+0Mb
5FZc9sL56c5dvgvazPrdSSESKJj1+5SyDkROT8gt6nyAG0pD68AHY96hPjHYF82kDk5XUhQk5O1j
YOb0h1kJ+93onGKX5iI4zGHWblnpDT/MeW5usnzyI1lb7sbv8/EwqZLdOKIb78psmg9Z0DkxJ1Vx
pCdyLkhTpI0nYwyyQxDkw9b1e8SMkWmjqhh6x+19XQXOvCmbWtKb0MvZZx6EQBAKlHgg0mb+sCbc
fi/Px9mYMN5otRNF3zIFJa88OPaKJDmHkpu3cfpxY2Xhvu2yiLOVNXXetZD/ZKQX05Q6ZetDpmLu
j0i4tDaBJ+dNE9hrWbhLTWjL1lbzKTozqoSi8KK9YfNdYa6oeSxsHl8hpG+rVqSp08/Qx02yjIJn
6UrrbfBVvXJMOT8Jzlfw89vXPTUq0pa+mfTI9FGj+WSXFcRDx+fRL/aiCv4qU61Mw5ILsf/X/Lq6
o7mAv8UhoYYoL+r/ELitgvcqV/vLK2qpBW2b6vM5mCYK0JYxynuU0EFIrB622eg2kYv8tJV1e36u
na+iom9DBoWtqvAze4ByN0VJwEdZbLM8u26n1RmgZtMiQa1u0+Pcv7bQb4bWNcBZd0b49/IQLawm
nYYpDMMeWd6Hx7yj9aYZ5tjiebu9/PGvaN4ZD6vTMCfSULvui1OUekZovjGBTx7szEVso/A30DXI
HqdRFDFry/B2zJs5km2Tt9A2I+62tYpyh/Rk4O7THy6i+TjjQUvcDlhklx2J09IL4y43oIaiOobH
6KDItzbQQLEbpMWxGnp3axt++5QPdLxz3KDdTul2SKfhvspHd9c2XsFwg55qAPvVsPEAq3ux7AaP
t6qDAqMai/QtbAb/gxvEerStXt6WYzXdhJBLeZ9omt1So4FSYUPLv0jlNDZ20PBomiQv4JB5d9eO
7gTsoZPPOHwZ0w0jpnI3om3LrVcqey9oYDzMTdqaKwN+PifEdvS6cFR82TmzPeOIuMCubssNnm+3
aaH2VbE3DffNT98Nr7h15CtHCAE3hBUbWDhz6NXiOCsjl7zp0+Nodn/9udtQFHZ4DnumEC5w/DUm
44JBf8Vqvpma4iX1JhumBjnsbV+RTWmBMOO9+Q3bXF6ySy1oR3POZiiyV8ANOKaM5mCOzOAnD4s4
91fc99JIaV7PyCxcNHvTOAapCXgQpBwsdiiCo8VejWKttnqpF5rjQ9qZIGODXnThy4gQYporUP5v
hTBX3NKS29D2apm7tRtmCsHXoAG5UriPaR6uZWudHSILL9D/uzHMReVVqEmUCcptUfnBogHPwWUd
IhMTr/j9eE0f0Iw2EyPz2rAuW4aga/9h+PXONcXKe87Z4cGntfFPZVUyo2PIN+txcOTpjlrN7vIC
Pbvb4NPayKNuqurdEC/BLpuhDGxn5t4j1siiRjbpSurBQhv6pjN4numnxgmR7LhxjshlwPrHrF7D
US6Mjr7ntLav8oKkIuGK7OfQ3khvrfpm6dOnJfXNQUBpqgvDOgMBpYdaey4G9haEHV25MZ41KwvZ
Tv/79dbt8PjHyzFx+yx2mmYrQxUVFTalYU2iaakDpyn51gEOmS7XrXMklIxs6wtEzYdylZm79PHT
3799PEP8VRp5WSdCvZCwicLmqogGRkYzWVnUoejyAvkcvvwD+iDe9KDHNa2JVywtSM1U1ehbnJuB
SAgYkncjLjWvYAukyYDHqpXb4FITmslyKfyByBOJT2TvJoK9I0wtkqJcKyZaGnzNcEM3LamykOCK
RNTbPBWvQTN8XvYJ5z9t6dBlvASMqQH5s2T0IKlZ1nG/5m2WvqzdY8pMTAbt8OWstiMjm6LGu8rH
ILb4v2uxnwwf4o0Qyi3xjgOSW2L24ZuPRITLQ3J+Oi2dnFH0SMCA4glWjEAqi5m+VacSe1WulYCf
36MsHYVvOYx7zUBxEhnqbeX9KSdzPzcZJGhoVEGJ6LpenKblm8F6DQABQDchO2eQ98JwDqIhH2W/
RjVfGiTNak2zrm3VOUNCAesWhX0oxRH8x6ssygo1o5XFVM55hdSitG2GTWVBblKW1q2B97CVHXzp
92s22wycM9LPGWCdxc+cgkBn0l+qbV4uj/55d2/p1OReqNQXDTrA0+LB6KFzDrj5HXGCo0/F6+U2
FgxMZ2ZkZVpDyLUVSU5uHYPt7clbOSgsrFAdmVFIixe2jS+j3vUF6q67LhieeTbvU2zmA5vmlUk4
+w5vWTo7wydOm45Q54MuH/mbq+Kmm3oR2aR46LkPgaka2VihN0V9sEoUXZh3HZ0xtS4nYYoq5BYb
TzwWaC8VworGvF/LsP3KFP3P1RXdOrX9zfRKyGyW49xz3F7G5omi4vCYCdwVN6Ho02dScGwO8mky
C1yyAiQzsqg1TqekTkBfycSt3YpTPNNOUeq50KwBjw1H/U4WHvgEFXtQbt/9ykxTqpiSGQ9ZgbBO
St45hISD2r3Sf+sVuA04dtANnk68zPHVqsOHSmXPl1fuwiTo1bfgUoRBF4xDkhv2o5MGN53wn0DG
2Fz+/NlAlGXpjL7ZpyGvZhN1jKb4kRPU56Tpfd37Eq/Op1xFh37aA8pqLre20BmdT8KVF3oKMdTE
IoOKgsZ6AyacRua0lqi4ZOeaq51NS9lhjwYK58lngKp9XPfDNScLBFJh1JChSGb7tqCfkt5y9Xn5
0wvuT38Cs3yzD5jo+wQqAQ1At7w02oib4CIAROGyu7QW5spkL42OdjbKiElc5asBFV9B1E33s7FW
7b/wZT3WG6BKJussfLll/7r9b7K2dS59VzsYeZ2Rm2OL1T/b7TYfijsyeFfdMpBk8r+exwhPOdFB
MSTVPOVIiy9/gNG8dwtAKIpOrHjthQWv84xzd/DbgUJRqwf5C7fMhzDLdna2VimyNDya97QYKv2d
IqM4kcri4I+que1QMrjy489nv1qWDhcpSMi8oZcw11r6BwPiFdDaMZ2470ucNFTNo2JOpREZgZHv
+qm0IPg51HHllX4EycMSSO95/BhR/rnpAvBVgpSg8M8wkTjqg1S9cSRpHkKnqleOQkvDoVl/XrSd
E879kJi8aX7QMqR3EFzv/7nKUHVeBsuLvuyKTBxDIJ2BRM+yG2OcxSb3oXHgli3fXteOdtyyFC3q
PsdmMirk2jk+yseL8IcqW7IxUMp6ZSu6L+jA8sWZdEgQuRX+nxrh4KK7sZ2Ve8fCVPwH7MIMKToD
S4e3fwr6K6zXnl2XPqx5BLwLjGEGSe0EaHocAmJo/64s9wVb1YG+04xfPLczHEJQv1HT4jH1smea
uj8uz+vSL9dW54xE9q/rUuKYD9aQRR5bu/Mu/XJtd8qhNU47LlDjw7cdbkYU6VN9fVXWDo4I2nrE
sW+SrdmMENIJtv1URMS0NwgrXTcq2joMLD9DwgF+e1lB99i4m4a10uCFjfU/uc+NZRhqHoFKgISF
aah4HrutpM9TvbafLoy7nvgsGgtHZM7HxOMkGvJb60RUUitHjoXlohMmOrAi0x6gPxS8yChXD6Z4
vzziCzcWHSHRE9W1XoWbRGcMR543sdXb0cBe7CrfzEj6utzK0s8/jdm3g33YI/RAPAQefOq/cMpj
u6+fLn/6K3nvzKVBBzAHRIwtVUhqhDw8dSAIaJkQ5S6czdRzb6OkhQpWJvzN6DHECgIGyKCJDK5N
mXV0g+d26xBmKOe2oQK1MYYw3ba4SyVG3/IXVML2kUS1WQzKuhtDvDe4d13VlBEE461oKNp6l1Z5
AE9pjfc+bcO9Tbpi69eZs6nqECeJwvp1uZ9LC1gzDZOi/jz3sJ25rl/HLM93QgSvLl6eYoLr/XUT
pbOK/MbpqpNTPTbpCwpNMZprzJ2vl4Qz86SzIPySGOEMLulx7KP8s8ygVxuXf/hHYUfVfflBmjit
ozUyysKC00kPiKQ3EHlCYz0EKWrrJZ1XnpIWpkHnPFAkXXHZVFht9Ii3z6h36yg1qqiehs3liV64
2+to/6ChBpU2qRKfZ598ADZGZs/g/NC44OY2y8ob3hl3TZWuGNDSUJ3+/s02+2p0hqaAbTrqw+lu
Tio1lzuy4BD1SoRGkV6OLnxWG7ThFhk7Q9QSPt3U0KhdaWJpNuz//e3dWPWdkwdlUlfzcXDrORHd
xP+6gJjdIaLfrkzJ0hBpm1465LMZeFODuhPkXQ3hDXX48+VBWuiBjqth4Umkm3KRuAEjURXyF97y
VzEDMD21N5fbWPj5OrGmrwJkZQcpcq5c+ujy9CdYaSvm8FXDcsaqXW1oFMe2OnjdkExBqGIkDTtb
lOQa/8fZlS1HiivRLyJCAoTgFajde7ftbr8Q7V7YBEggieXr7/F96qFdrgi/TXhmoCSkVCrzLAnj
o/VjyMgJAIerrEuALDQbvXR8O5dVCIJbVk+bphiLXTUM5jHwh/aKVyWFgaQK464oCQxAbH7fQNTw
kTCXQS0ejAPMitqaeQ5TNCshw9C5+baMyv4xF2Y4egDtA+7Xh1WRFBNt//imdb8sqrdbKJRxG1v0
sm/bbO421kzuJsLhkTBc8tzmmXAna3ZWBDyFtAq5sYb2Bwnfoa3fevU9HXLyp8lz/TzW2t66eMZu
kNAKNpEb7pG3gHBQeey2GBTaF/AzuIgtfEtm35lifxX5JZhmlQvk+qlkgd4Ba6YfYZI4p76Pmykk
JkTcjzroYjca4GX/8ZI5syzXzBXj5IGbRbhqT/1Yv7nioS/cX7nL9CM3l+w3zyzLNW3FDrbubYeU
bKbVa0mLn6BDXjptzqQ1a7YKTuc56OQiTmqeTNI43dd2qU9Fy7+ORl97g/3kgbkWBCFF5DR8ABnW
n/J0RE2oC8nncr615oeWBaT8SgAvxKhSTb+T7PXjj3vmhFnzQd+0ehd4HupTE8zhb+EN5daWDMrU
i+B30nhl0lezA1O6oEgNvNu2H7/2zHmw5opav3SDWuBK5Uh3A5rINudunI/DhSV7LsFYk4cspLeC
kqD9lGnb5YmEONpmaILwevKjaq+ztksloeU2D017A+9oftsGNIOJd9ncz4XMbyDOnj1+PNb3yaUU
SjH/PZkq0UP6inH02z2jNrah9TUEAWTigy27n1s/SB1E442EPslGCk9sxtKhezYCu+RR07/kHQA8
zZjVF86ZM0Fk3f8XvaYLeIH61NdmiH2NKkUQuHsP5sAJLYY6MaF6tt3w68L4//9V34laa65No9yc
QljzrRPVFyeQ4NjVEnpGxKFSyzcCIuFBAb7yTKQtHyeXBz9CwUE/8mboY6cjuADw3G4gi+kJj2+8
UssTyYw6gMmV3ZqoJikhHt+KUagfbsHtdSgLvikXn41xQPziNqMQGnPcqHnVVsNvF4GrvKoZ0D+5
XqrbSs/Ola8KunUcPt0R0/G7uYVP5wTNoh2kVucBXRwnTBm0lL8DetvfaVmyzaC68SkLyvKx4GP5
i05Ncd32NkzyQZFdOS+5igUV1RVkRJcvvmyBOzNKPgYafeIcq+J32LlgGRY9rR/Q5piSsVkmiPjA
uYQK7t3qpfTiCrWyGLfv6oaZPEgKk8OxVhqU0toWRHhUn8vEdPJG2WB6KtuRbkYS8O/Wb9H38Du9
7aCInRptg51tCpVyRfW3pWQsFiKkCVOEJbPl3bEiYOniFqiToYQgOAVhIXag4309Ftz5zTPm7oog
yFKnC/TVSFgWNyPmvmkV2xdFSBKoU/Gdo3PnlQysSCLG8tStfKGR3xfuU2gGZzs2lXzkkA2NZ0aK
JA8A/MHCd/c5oXmiawiFQPCieDT1IjbB2Mx3qAj6wAbR9q72YO5eRbbbeZ3Xpf1Isk0vc1TFoSxX
xJ6TsUTMdjm1XvSnl3bcZVmt0iCQ/VXbReOOWw6l1b4T35bc5L9E46q4qUYoexSmviTdcuYsWwOE
R8/zeiUjlOkKUl65THnXLPuUDx6la2wWBSvD7Q2ufpHb3eJWG8WyLbde+zk0LV7g/jdYwWJvULaZ
wIZsYWV/W3S/w/lCgngmkVijskgbeJ2eW32qli5lEQfO/U3lr03HS9J456Z+lR6pOfAh7YzIBltN
IIPKKjpgR7ELcfPMofUPLKvE2pLIvk6GkTT0GYyCQVWZ2IUy47tHsev+ozEiZmiwwC7lhGZoEHtT
ZNEUqJbNAgZnWkp/V0jTb6DxGqW6n54+Ds7vzhhe+vat/rrxKQ9uC2MIJhFc7F+GJv9FUS35+NHv
Thce/fb3vx6Nx3aNvxAXig3dK3HBdIe4QnMXGGTLH7/h3I9/+/tfbwANmUtRFu6piNoxNg6/nb3l
68fPfjdrxK9fHdotXShaMyE9jY5NAr9Kx3rIwTyH0d0Y9Lf4N3cfv+jcNK02XE6Vlzd4GU4YWiJW
RXUsgmYET3b41J0VY1ldzDQAwSGFEdNJs/KRz9m2z6ZPTtNqx0VzqTNGlwmabb+WScX19D10usQM
1zkY2J+aofW+kxqyG/ABoSfuMQ2YuBwSOzQ4/ksYtn/8indDk+uuUyLuQJEpQkaIZnrA9yFac13q
ZaLb066dj1E3iM9Zk4FY+t81OxDVESeEJkMzZfxp5CbfZf6QHUG2zZ8/Hsz7dioYzWpTM7eRWsy4
qJUjyQ+EAkzfFL59rvN6htOIjBIy9e6h7v38MNVFk0DwrblwUzk3k6tdD8/j0gDYC1sVcCRqXIKW
gQlkQcVD2dELHdoze3MNQ4cjgzu7fUlPEWfBru+yeQMtkyIF0xK1EmA4nikaj78vzObbRvwne8Vs
riJBTlAThqIyxCHCkX3BvVseFwoYBxqXwxEakPMj7YPvc9TDUNrOAKIIw+GOI+qI34uiA0P+4x9y
JlCQVaAIRZ071RKqE3NsSiInRcE3AbP846efm9NVjKi1bnpFLTzIvT+OgyQMLUZXq9gEP7zsEjv2
zBFHVtFCVJrA/ziDbVRb3UWqdg5wgExcKMIx0P+bXuz80n6fmqy9IA74/pz9g8ysgmFW8FqmpxBR
aVO1YRbbTDXIqY355CtWfcdmbMImYkg6w3lftfcWnt75l898k38wmktrGF+kM52sCTa8HrdI+KAG
1P0YgnYD0Mkl0PP7e/YfsCZlU+gLU5LT0B7LronnYdqRuU37+dvHAzn3Gd7+/tdBHRB3xtrNCeyH
nC8kK9LGEd8HEVxYu+9f9yEwt0oE8lr7Trgs8JRA8SKFVxT86RseJL3O5rghQiYkb2o4obneFQop
aGSIgOE+Bae9IYYtd7cDF87/5IJYxYtxHn10Z2h94rXu4yFQG6/q4CneyU+duf8CO2e3CRykuadK
2ASCXpvOH7aDGzyZpr0ZneFSFeVt9v4NfHRtjKa9VuQtyxBwbAs+uydSXU1F+vGSOLfmVqFgtKYL
mZMt8PnNkwFQb18Oe+iJQDXxU5LGLl1jO6M6BwqwI8tpEHVqQpwP1aWU5P1oSdfgTgVlaR6WNTmN
MJlkFY21fcSpu5mGMC6rC8v6zK5ZIzt95aBNiRoIhFtUMnrbDHpj3qVVeoaqBqL8f/dk6UG22Fcw
gKdL3h9NCIGlpFC9kyeBLaOTY+Zyi5o43zioB+5aFFPSKISF56i5A2kZ9rlrwj9AT5TEWG7bgpw6
+RR5Iunpzgk+BYDAElgFBuI7VVF1yEYGXO8rKmLqf2WXWEbnFsFqo0NubIGQQItfPtbLhskAkkOm
CWPRsj4x0Ls/FsF0yc7xzH5ZV8jH2XaQ/y7mU8h9EY8DCkPtm4eNLqB0Xc3thSTjzJ5fF8ujsqxV
p7MAZoiWxJnxCzQ1/At527kFvcpg+qoSuhwZjkpaI0/7rgPUoPrPZdZ0jZccQnDy/RDJBVqmG7hG
74xxD810yWadv0Wmd8Lhmh+v81rOTAfQdeDM+T32JhNgwyEXTaD7OG+UP84vbILS5HZYUFouwib0
U9fPC9R9J3gEe6YPwpjpgm1Hmpmj1EG1oY5XegnPoB/uN8scT5XTmiQcpQ9MlzV5UgFIcg1dwCLV
hegOKI6a/VzWwbbhPr0qlJl/GHfJvsE5dPnCWwkkcwQ3VCuQ5eTOGO2LKgxjGrpTqvkAnV/qd/Nz
C+2ZeMaE7RcoYyVLI1WZ1CU3X+0SKdTdjPvatWGFDqSUx9np5AMkE5ZETUtxQLdtCmPr2f6Qo669
se0SXlteLakbRM6ecofxOGgEkAOS88SQcowFcAnbcWLVsGFF7UEgC2D7oSsQUPqskEdZT96PpTY8
T4UYawMJTXupMXlm6/yDQZ3aXHazXk6LgQAqyPXAgNeQTVjqqkqsGu4/PtHObJ21G14/054yyabT
EJRFoiy8aEVjL8gdnhvDWwz6K4NqCqO6SuPhtUVYbl7m4hfPISIHbPvnfv3qOMAFrYKkMTJl9EIf
w3ySd6ihX5J6OTc1qzBceIzTcQHRSNcWRWnlykQ6ENX43E9fxeGqAzTaR/HhxLKexQDcfwPz7fDx
s9/nIaAot4pZAfFyKQZYr2QlR2mm7M1yB2Wv5Yn6GUIXk4uTtKoJ79GaYJuADNOehFW77wE4BWam
5xDUtBrpX1l514M7eXE39u2tdmD1Z6kI91Cqc69DUOQP0CB00zJiPuCzWetcCLpnTim+utjNEPUO
ehGYkxjQjrBd8JxTfbUIAG45l8chR6vk47k6E97/Hzj/WqOcMUYmON2eSIQBV5G+qaNwTlAzSz/1
gjV2tDDR6Khpnk8itxBFoZAB6vss+F6hKn6pEnRmEOsmboiGZI4rPgQfjEKu8yRItIvUfGGpnnv6
29//mqJOhmU1IXoeexys6HPvFYGFePDJ+VldRZ2IDaMzQiPXkV99b0j76Ycw4YXM4EwEWqNg887t
ut6O2bFwdTKxPM7ZjUV52nUu5R5nJmdNloncrPWWEF70xrcxFHnTMXsYySUM+Lmnr6aew7pM2HkM
jz5ORtaDB3dDxp+fW5ir+NaNHm26EFVQJu1WMG+G9kKnE9fn+49fcG7yVyGupoHXQl6aniB9GkNp
9ZiLLCFNhS7x7uM3nJueVZzLmz4blnJG/B9fqPzm+EfsggtL59yzVyGI6rLgCKSoLfFuL6GEGHOh
N2okl26q56ZndZnUMzAwoaD+ifPQ7EpNhy3uxi1ktyWgOBA7uaArcGYga+TwOE8VMp6Rnmz7nZOf
jBxnUB8+/gBn4vQaM6yQVaGaiSylKYsXxt1T57sHpVBDRGGm6C5JeJwbwiqRCHAlVqVclhN1Ifmj
Ipo/G3Bcd03T6kuIobd4806mvAYSLyPtAjngYoSzZQ/4/AlFLDdezJv8GpRUQ+W8OGa68E3OVLvp
WlJ5cGlVBiFVJ+JQ/jLjGI4gmW6qYkOjQd0W0A1MqC10AuGhjS+iesPMdOl0PbPy/sHPENgk1Eix
j8Qn2UMQ5stR8Qxum0AA7MNqzC6E9rdI8s6Urt06rOBSkbfWtoMycKw8+lrP/EKOc2ZJrPEpWNCQ
qCcQyfE7utNtWcZzUb/lO5e8385M0hqWrea2ydGcn07dcl3rX44dYjLf1Fl/YXLOPX8VHT1Iq2Ze
5dOTsvYlsE1zIxvhbBjU636WMrp0Ap6ZpzV2khKqxnJCPUz0ot6Idh6OVip28gHI3XwcBM69YhUp
u0HBy8DBSLruF6CRKZAzcVGWF55+bp5WYbItdZuTrkH2ocpjZvlzN+bbvPXKDexmyIU4dmYIa9g4
7m5t6/chP/Y8i0d6a4D17fil9OzMPlgjxxfBigD37+hYAcdJ/eI+mtvXj+f+/eYEXePETTn4BSyz
w2NX+Arch8Lddw0cS3Ie3QOaxl9EUTQHCvzKtu4g2f7xW89N19u3+isjdJyJ6m7U0VGM1Y1bqW/w
Q7wlg3r8+PFnPvkaQW7yIW9xqi8nE6ShKO6dRn4fq6qOL/GEz/3+tw/11+9v+0G0XUDdEyrqczpp
iAW68BVImF6cz23vNViwhSdVJHIVwmbeHgKn+2NUmMw82pEW0pofz9OZYawBgy5xwDWGfvWpbRjd
NRn840oxDWne5Jf29plPsUbBRXxaKuIW2bGD33o2N5BVgn0bKod67i6M4kwO4a02eKckOC5ALRxb
6m+cBbi44CpbvgjboSn59VMztVaFnsUgS+PiHdGiN01LDm0u7toxvHCcnxnCWgo6hCJD14VqPpFK
kgci4OkFK/ryYWhMnUT+ovYA2dbPH4/lTKKyFoWuSWh71YLiUkCz3A29pAwAO87k8i2wJkoqw/7o
7pIbxrmRrXb6MlUCNE1HnKKyzU6QvF7iwTjzhhRT1cc5bGoeBfTUPnlZXmtAN7oSNesq5JOt1yQl
dW/ghPPoe97Dx3P3ft5F2XryZOh4xEoo/cmihsY5KuxwM59yvikkGuNOiX9yK+hOpxWMr34FjCOx
4EsVXAic724nvH41nbJomHSKPj/iBAZVGP0jYBlobJhIPh7guyEBL3j7+1+RLQQQbjRRkB/B9tiN
/VClsuSP/mwvdT7eXRB4wSp0RmMNgKrrVEe0dtlWTcw86YWVB2YLOcTV7EHc3RfVciE4vD32nxQS
r1tlSRAJKbNQ2fyIwvIt9JL3VZh/psaER7v/naosoJZVFSz9hF+OtzmEurOMk+0bageK51MCwN/n
kONs7coGizXPtTBDPmoQk+Xw3RXssGSXjoH3u2IYySqCGh2NbrFgUS/gtOpledStEx4FD64lqf4Q
9C3KCqG7LsYXcBd79GAQMJrsEpX8/4vrnY+01sTOiiLzix7wy8GHrqb84qG60vtm7/i/HBBMatrG
fvcjHOFOxHR5tKTdCVyrlpbekAbgAM+7M8zibj1fweJ46/HuuurlTbE0X6jZ22j5xkv3U1RuttaG
FrXTwkqdlseg7v+Aig5be/X68d47s7nXWEhawNsghOj4MQth81JGVw0Z0kYHz2Cobj5+xZndt0Y+
glsHILTCl+aO2Nb1kwzNAUBmkt0R/sktt4ZADg54hznw9Ue6wPAdZh2lvGTk9T7mgbI1zFhaQCtp
H2KKejcJA6BoQ4Spxk0l/Z559Uujv4LXEbeTTPRsNo5vToGoL8TGc99nFUtmIsJQz1V9rAucyH27
wNEPYO2tzKfumJWtuvCRzsSsNRpZzRnIdu6QHyGxdgc1naMtIOnz8QJ4P777awW0yCm030defeRL
McRAtkMKCC+MB64/Z3Ltr1XQcrTXi5ZV4jg0roR28PSaW4ighMPu4yFQ9//dpfcCxurGyGnf1QNb
vGM702JLzDDf6jCXe1hqD0ushgo0C8Lq5qcMB9XvEfftwWQLeYIcju2PkeMpHms4lj8x7rR7NJkd
KKr3xRehHR5PbujeMoeWcGCvsieIvwtMlVexqyF360PfBtnJtKR4YkygEWL6LryCqyhMiaGqXz9P
hVq8xCkE3/WoXoLHSlq58SNZwK2kdnkifSOjdGjLCJTfwiWJqAlNoaYOvCXMbsV9K/mwVb3rJdph
6KqwTMSAqeX7jKDTHiFz2gJkXEKiGLLVYFvMLN/a1tP7NnDIwaFG7HE4+mnO2iEeYaGNcDr3XtIN
szi20mdfXHgo7AZnHrbtnIXHeYRdzhS4/CQb4zy7M6n7naZa/tSz7+whhah+RuiLp/C3GkDDVcMm
B8xgSjTDfdf1K8gjW1Y7KYpPGVyfAz4mqu14n4iqLH61I7h0cQA3lTJuSuJ/6ZSjYHQ85bHJdZ/O
OfyPIx9s4sFlsDnCfMH13g/Nr9Ev6Q+TG90kDF3nr7ANkzAXnn9DJSvCN4YK/oMZhxFQSCn9WAZe
sQVnrNrUAo4KLIrm16EvUViXIzgcriT6Zzbl9jmqpvkFJEn6pQUz6cFnXbvNaM6/TaDHiZSTCirG
8xLuJLSXfwbl7MKvqtWwH+rmUd1GSs11kgsybgC8n1KYQdZQHDNjdLvUKkoEOr0JMS7ILctEnBv4
qlEvsVg0EPB6I1iKDmTKMhfBI/MGkDq8WRzoPI0/BJXhVSTc+QlWiGpD58j+dsoi2nRBYFMfSMJU
cKS0XtZzEN/ZGMYQwR2fNI+CE76L/wBWSCTjbIpmyDL2bEngmN1yYGEr70j7Oj9g7tmOtm70oIYp
+AO6D6g2vijeAIJB+3OZPOduiIjzKoiJ7pxINxiqcvIX2KE1uyHzwZ8KnYZSyOMOfdqasfwhhwJd
yFyG/ivo83rcRnqg1zOa5HXciCriKQTBWnCEQlBEdyWEgBKn9mYT925pDyNrwwedjQz/MwsT02q0
crgj35ismdQx1ATkzvfnMqENtLgKXqs4JwGATTqkUF9TIsNDM55t0CwGx6lx+y9NFPKrvBZwa4HM
1oBNF9R0E+HGK2I7OMNzU2vzh/Vo1MPMSVYp5OxDqOG50O+mSoi4hbPBtqj8+cg5dl2ZjxZQR/q9
Glp0Mm1j9y5rx2+5mw/ApPnmDo5ValtXsrkbfJxKpMUhMVEF6fRwybYqYtMRqjXBtWsj78iVDxaS
9YItlLvNDRRFpgN0KMCDenNXPght6Ya6Qr52yLhi4Xb2wfIWJVanaWJaV/YavzT8jqSt25azP9wU
uYJ2dBt2iW8K6MXZNPQQ6YzfHWmnHQvHsEjvalnWO197RifFMMEb3rNjdC17kaX4yezZEvpFyRzY
5ayCDnrkRVunB/PKeEt1HdVF3ibD6JmbXktnQ6rRbGxHZmzEqc/2tAJhGZKOFiqybWXqDVFlcAjr
2t0bWXR/oPzoPw+5XPawtRRjPFgwkGFpoaG3XHGIIlSSPQ5h0OwDqGWwGGw4s3NrtRzMbJorN7Lu
jjNVbZCvqpQJXhxwGRrTgGn/eQJJNKFjwZOyyBw/5hGgGSPMRrdKO+0x5KO58vyZfJ1Z5exB4Qq+
Czm2KuZII2KE3noXVsDPgJ9Y862sBwIWXVjGo3Rg8dbLaesZx31aHMnvbFT4P/yeN9UWNNsahY3I
Dt+nigb3LaPVnaOGdgcj0OwZHNb5OXNmnvRjBcHAYED49Ii4WsYIEjK+qPehmfOtzoncZHQA/ZR3
IFyTufwWYN9fw5KRp0PA5dUStQQdMAhHtYHv3ha8ETg93qjbCh71ugnIVa8cfuNKCwHfKKrpvSZ+
vteQPL0JSz5BYX7pDw4ctNJl5N80qHM/gO4extj2IUBJVHr6C9zJxgqeyFOfBtZpgxRD89N6GLtD
Zf35Hvx1H1/TM9ue++Czt1mZwk3TPuXWbx5U3pT3zjDBdi7yII0lKYVbqK7xPWzTujdqKLMHWTf9
T3jNKQvXzXLYCz6r1xaa+td27POD2+DKHHjjCIQ+hPX3AhWqAN7AJIeMHe9ueNexF9+t2Ili+l6b
vC6Pjh2xkrzJQaBi9BBOrNmQnDTbADRUrH8OHURdZbBEAWQe5L+q2yIJzn5Ni+39PbIrcz9kYXSV
IdP+gaZvsxe1cXGJH0r62+375qsVLL8BR1/dAtTrvcyQGH12AIb8OmQdAwTSgIWV0MDQDdNvMivQ
TCVPvOQqDnyUWJSzRM8CDupLWpJiHNNS8QowBA8uI6KurzNWAOg85uwAqIu7IeDGHgyMfAERV/pl
Eo6/RZCcNi5kaWKWw9e36tomUaqXaUtQrcPZrV4Nzsh00LOG9zgs5OIeWKPd5NYgVmUqu1b+AjnI
iqpfYbQ4Wz155W7REVRYOfaTVV3xnVNSpANolo9FC52yyWYS3n6kvJlRyQEH0ienuRqf82Ayr9qD
24zlwv6idlF6WwyshnVRQ76NvRqufYM4RIldnFh48OhL2rqs8iQDk+Wlc1tvPxVuAzxSR5erac4h
hxKBidnAKPhKL250C4g5wUboVRfDacFNMhNR3DxRiosbCEze+yHcdlHl0Zu6qKs/XmDYqbHC3vS8
VDewPvDgevhmeOgQaAkfalmzOo2mMJxvmnJYdg0rffi6Bf1dyLx6S0qfbVDD5QcozIuvPvCZ+9rP
5nbP/Xa6RyHH27rQNtggz6qROqHQA6k5NyUUYsUxzUGxjgdkXlE8eByzxqAReyRZBCptmVX3ZbCA
NWq7SnTJqHh0rQD++jIG4LV5Hlwrea+dPa4quIXVS9Okgw9gVQLdfndJNRvlN+vXLYnrgXcIAFZF
t612EQSh6GkSJosiiuuuJC+micxjRiea2KjvblFm88H6HpiTx1FZ1HITZhQ+QnqALIxpKoJ7vLuY
NzZqHRxY2Dh76ReJY8oEh6qbLhTE4RGKVEknR7WDrGckEhgksjbVreimLVIj9ur0k3rpFqhMSrja
1THojnUYD1BwvCtDNHIsCdh9roLox6Qi8XvKijYtcAAWMBumyxZCYPM3M0QzPFR1KZ8jTnzEXHhU
GYj3Nh4cVHzDbtvQjUjCAKz71lZj+MUQ4h9DyryHfBhgJJsHg7uxuS1S7LbgVoQ8vO7nfGzTuRrs
LU4sijRq5OTGB9ZXb0ZVWUxHH21ByrB3oVjkb9+QFoUOKulv2FoGN3NmO9BrUbK88tzAf/suXl0B
qjjmT9b3yE4uVB69RdfPESnaEyA6VVoXIXCHTV0cQyV1E0fAHr0lyWgXIH9m+8EHyz3msK/s0i6n
9Nbx0LCII4GmXeeEebTxHVxpYU44FBA6Qr0Gh4nn7LoegrojxG11XKPvsCn70H/UWCYQ/T8CC0D2
OOqib6HG8sCJXPtbUzXmRahgSiD+4e16K1oYhKr+J7xiSLvRYQ2BA5ktCTwxl9dyGWQOSf+xw/kv
nehrZGs+x349tt9LxwmyeJ6te93XTFxrNlePog3mTcGo+wDlCnGs0RYx6VLZAE6lHgUqrSqm38DS
VzcenKw3sp/2Hit2oEiPoCEs4han1ACLkG6ukjkK6k2lAYXsZofeC9dMUCYAwyE2cDHZoL9sjq7l
wymaud4YFBZ3fEH+UaqIAL43ZKk/zeCWWTPfibAmd6Xv24OIxjztDfgRbdOHt28x9NrMA2qMjizT
Cf4hV51g8HERNG9OVNf4XC33gt2MDKrGdjP8RCAPBPwmMJ+LP5k/0LxyT3PTNjuey/kn1B/zI8d6
2AMz525LEbUgQMlxD8aJOOkhjLZ8qEBZcOicVssS/Chzwu8H3PPg6VvDUjKPMpnAYsdspkljQ8L2
U7kArzJtkmom8JT3avA0przr7rjfNb/7zuJ60db5DGqmVVsReCrJ+nLOU6cthld/BDt84XIsU194
bQqVzeGxrQRksGVIVJLXPTapny/Tkz83y7Zuyuhna8K3G6Mv64eKkfaGdU2mrsrFhns3WuT9BHDP
vtda79TiIzkS4dSoXTYSAXiOA9kaCMKbjVTDsveJzeeUTLkGSBBuNz2Ub14REfQuBP7iKXd6BwOr
i9+OZHMSGPImDVEijzdZWzibiZH5dydz/95vWlHtxjmgSKInJBeJqvvmKpvzMI+XsmmuMEgK652A
YWsKUXFsfZic9RZWaiEchg4a2z+hPhn2thIscY2GQswoqvk4IxoePIgO6RhUwfymzNw+bfDpO5gX
VgrZUKXqtIqE+koqAi9YNZcPNaf8B4e7GbxmCczt8IMfAla6v/qIzQ9akHzfGa842b7g2yl06U0E
DTacvo7ewp2jNOngliiKSPz5CRo7SJG5MHfOkjvf4cKQ/8o7Wn3ljmMz4BT9DP9hN9qkn2Fqu0Fw
9rx04GWn0tJrApkAOey8apf0SHfnNoORG4f8QQfrGCzYyFto4njNm79RNC0vNeDzULarZLmhAfNO
EOuxuOVo4uFAKXWgY6sCvaWuNAfUNUksS2h2ZFEHo1qaNQeLG1cZg0Y0uzHpkZItIwnAjmjya8WF
9+pNsOOJ5di0p2b2gHQqcZXPARJLURanJw9bfVtAKebb0Pn+rh35CJtIU/CTNuGS5ih8eihyeI1K
aggi3cLGebjDv67vvI4PEmLWVV3EtR/IH+XiwaJFBNgqvd8cmVvnm/9xdma9kepaFP5FSMaAgVeg
JiqVuZN0v1g9MmMz2vjX31X91IebSkl5OjpRCwrP3nvtb7FxwP3f0zVoMcuy7FtwzzY5nbyfCBQ4
qRTwn9uWTt8nPfRYNw0d+YYD95JwjTgNb0KGuINm8xZHlcCPlU3d3zZqQOJ6pu3W0Ut73/oT3RrV
VG+NsrMbFeDwRlhWv7AWl385TdkPAdb/BrQNyMOVWlKJy6aOXFjUJkNgW29G5V7MER9KeAbbsalw
6y7qiKt+u9SSW7hFzV5kheIVrFOSzqjP1ZFHy+zYTQD+uz04xXPjL6/BgHBdnKN2/msp+vENwAft
R7jheCfJxjYhDmmxoyNyA2yElxJoL28sVTNEl1wew/eebKcwFD/axlICIZpGm8inY/nCnHHZUNX0
kZuzMYaeXie4V4sEkg8cKrNBIanKMmvaGciJbltdYVXPcPDSyrRoRSHSyfbFE6BD1dcJ1Qoims2U
YfVGWha+zih8cqR3bP2KxiXV5Veifb3VYuhfXRMsx0wjd4s7vrxneMw3K1P2q/F8th/Dit7YVo6Y
D6rXnDCylO9shywoNijZgGjVEL+8Pwc6jvDRPY8kOM7jcDrLItbwrtktsNZ98iBzfXIDQpJM9ebQ
dkuzz3AL3HVj08SYKVXiaFrccSV5rEAWuUMVNnYcqci2D7v6FnU7cGfSLBR7Zcrhm7Oo+u58yEts
xmEZZlCw/WvwZHCCHyqJvMXFtRFanA11tEzyEQctG3xE3OpqiobD1m8PZb+zSkESU2GESBRFbH0H
sbSo7YjY0ELkT36OLUZKpH4YvjDGdabdgP5uJ4vVhiZuW+4dTcjn7cw42wTYgba9mgASm1CYNfZS
nZyaevmmYg35wkeGE5fOgK/vz7xGUL6czcI1O1gGveJPk/VIcN4RyaDG/BZDQ5C4k037hFpGwABC
5VmPVKvhDhakSwxM9/RlKiprV1Vje9OTZtpKWkgQWnDfikjoemm2TBmJRJXrby2OwTEgjm2JbBKO
wmbm2e2Cff7NHuz5lwBE7anVjUwadG0M9+X2kDPM/KjkwH9i+g8wjMuxl1Yg37vjQwX/r1vMYHP0
w27Y2qzoTtBxOQe3ytS2nT2+H0plHc53w1sUSiNENOvAwxIjcOICmsUMkKsvIqaMmZ0r82xDhsFC
TK0O70en9/3IKzqVjMx2f7qMAd1oCAufVVGyDSQgOOcNY3sPO1J2qokFzFLY+2BaD6OFsDROTJh6
/SnLuagT4tl9kgelPMy1wx+8uSrAcEDbbJ1A4qsC2pL9YhmXgv6DFW+awTtn5exvAHXJd1KUEjkP
b16SipxPDIGU35ywdjauGw4TiHFyuGF8tg9LV3ebEme3t5JZ8gQgKG4D3OGPfT0Uz7aappP0KdnP
Zs7RvJ4xuHsNCBXzhdU7MDiCA/MyeQjlQrYoMPKiBovgzRCOCsbxVf8DoesxDgY/j6QmIgVhjJlY
N61AzKTVrgRjx1/kbpE2jEp72e3GkJbpxNncnflP4ivW+e6uMbN7AAZpOiJbCuR+Ubu3pDPNHQJG
/LUiozyxwM2SrK9oYoNtmgA1NmPrg/EXDEGnXcVb75WpHBfz1i4nOHW5Zhe4jvWHLj7ZKMvB/zf+
XP3GplZA2E7qGvnfM83UdPph9OrxhSpvjFyF4b7USpyWKst2BcJ02w7/OOHSdbaLi7C156EuhIf9
9xCXgafCH/wE65QP5B0vtkGQWacA7IEbB4VFSedmxauVM/mMqI57I3sYWmFaNUCialHqrQpRUOpX
VeskHtb0k1uGCBUyYsgO8Yc6gCmrRX9CTjZhlQyle+fN0PrfQ5gxTTGBqOGxCxz+zLtsvtMwvniG
HUydHWqgbNnWQcHMWzli244dGDHgtql493OqxuEe/oY9iR2YzVWRRvj8mWSKPk+IU5Mo7MHzpLja
WjCLzZ2XMCxmjes1eeEGFpaVhEEhXFefGOEAncsBkTnXWAzB2sIedpamfCMJjjlJ4/YqtQztchSH
aQLGUBOoCNReuLR30GHBvGF40nWtZdR0Vfu91NkAHQNjzkMA84v9mMHRWfWWTjkWw986F9U3r5Ya
x+R2+KJbM/gbLMjT1wLp0n1YZjNEtsxcS15dSpCuUuGjpDMsHFvIExb51KAyBumW6ivyMSTKW4kT
u2e/fZzGeld5Z3trwAecUsioW8s6NHk4nEBUyHE81/V9aBXTI+WqfhAWbHSBqKtumNeEV0T1/oUv
XFM/ltnrkTrLmrQEyyGZTOXEjlPpxEh9ZgJPNdj1ooZ9n557sF+oKLb94llg/lC6m1ogKKHwr3cU
jPcDYo15GS3giOwyXA2fp9bubhe7Hb4KBjmcLnprR4fqz0RDisMZ7GYEC/xj144H0MUHHmPLQWyh
Be36sQtLxOayqax/1f6IYERVcB11ZWEwKAahNzzLEYevnA4BShz87BPiVygBLXC7LhDiKKw/VtVk
fyqcee6zcgi2Vsd7F7Y5mULAZu4MNh6EkGZF8g1rkFESAy52OKQEN3PhuKd6or+pcOZHb1YB5hkA
s7McqqjvqXiBeBS0zJyzN1razRchNLJNLi43Vjg3O2dC2GKupbklNhS/dLDULhc9CgZBFIBrG0ob
Y90iIOpW81fc/3jUBdSDFze95kp0qVfPf/9HtzPlGXxNixzpPVdYhzmw86QQ2Cs1IfOGhq2dIPHS
bj8eun8ZOu/kX9eslcUaAJcrkOJ1nIG6MW4Pw69ewzhx5Dlwb6r7pUbEeiMDt9UjDzscRmYEYZ4m
2Hs8XfkN5xn53m9YKZVKU3GslbROpwpd7TK4Zor+IKp+j1QXLnU+KqsntalBi3MGdkUHeCE1v4aw
DEHdZNzTZQrtdf9KDFI1lXDcK+16QWCwhq4oz0ZGxCV5WoN4ejTz6G0DEqo7FxlkJNBAkb2iAvir
9/j/xnPXTmKGuRmXCAKl8KXA5SXrz4KGMAAVHFSM+VFUGD8WdoPYYFMH1lN7J1im/URX9iQymR3s
BTh0r2VVTvd5PruIRfmfbeOVriofUA0M3ZZI6cDfEIFuXlECoD7ZgSvlAMAo3uIVDPcUA7tkW3Xs
kdBmuiIJuzQ8VrsH5I0COHaRpSWI2JQGcZdd82O42GXnfeSfGd7bPkqc51GkgTWyt0DPwSPBJPgB
9wcFopzFXhxHdzjIFvZewQg88mfkmUJcEpOipAsOw/V4L6hV7Jgug4Nv5fKKacH7a48bnoWm//yy
CWdJACgnkUokAuK8L16LsQxhAgKEunZJnM1zuft41r/fwO6aeTICOZOh8BQNHPKo6HCE/xxj0A1X
4p4Z7Ne6V4hiDkEFGAzMZL6bAP64pm6vVYRc+vGrgR0gBbYwPbMDdqD7FsVmWWWuCIgvPXo1rGlZ
hwz8K5Hq0YOIEhWErx83+KW+XY3oCXfPPKuByBnMrH5Slrsoz6pdeJPZCEPnDohCFfQoXz9+2wV1
0hpeAiaPz2kB5ZPBpcOab138x4RXSIwXZI7uml8yYgvHmbmXqWotcJ7ArT6qKp+D7dIStkPupXAO
CPVl8CbCib7c43jBjwWyMfTgIDM0RaVTqisr8LsibBspwP/OGeQBmqGFwD8liOzHPgLUo0bdbTPt
Zp8dRJBvNRb9Ky+70InB+e//TFCfFbP0WNmmGen2k2U/8kCCv1CbX14AZSzy4/HH/ff+BoYM3H9f
NCyS2qDOZ+nCl5SIbEfKFu4DP2h+ZZxfesFq07ckfCnrnmdp05QQQrSj5q+S6mBXGOBbbCBV1Obj
T7k0FM8z7Z82MyL3O6T9s5S29xnI3/MQ141/pZ3efTglazcTOqqQKMgNUkXdBDVJ0LFlG87LKyP9
3VbC41fd4PfdEioJFIUmw9tosa1ftDfTkD05wTUA2Lu3F7xi1RGs9EQWQPyVzvDD2c1OtetocWCy
AdbIbRPb8nuIZzTywdf8ty612apD8l7WpaMcnoKafbJLjXRYvil78pmtGx+0npBWVRSsh81mj/TS
YKyvuCx8ZlXDo1frvlv1Zh4mO0yD4HXpcQ0JZiCvd58Yp3j4auWHugwuXD4J0qaot0iVfHW6bBvM
xTW++/uSW7xgtQMEMBTwUI0bpLhuUYiL/PJugLNY4nJ7hoGQIHccWZSNy8UEHYaEIGxorB0TBAfx
s6WMYZokn/rWdZUdoPalj4gKqnC6PGlbCcVZvty2TbN88gWrk0wzQAUNGYyfzt1SIqS/8Nj1mueB
yCuj7MK0WZfbKUgTgecrUG7n5jCEg2AkHhW9FYJvUfn8sAB6Hi/t8tS24a+P2+z9ihVK1oYtE1jM
Norcz/1n820xDhspnG3esZ+li+inccqXCf5VoiietficBSLeulofuE3g22bnLIUkwoLOWOnDXPT1
5uOPendDw9PXawEoQEHWII07ckT0rPwFiqg3uyQ7qB8g2dLLNQuXCyvp2sJlcGwBk74ay5zH/3DC
v4VLcwfU0hF1QNdAAZc+ZrU8VKPyA9GG8uiwCiz60l9+0sBuYstd7G9gosynSjT968ctZ/9FoPzf
1Q9tt1owyo74MDBU2TGHUv+Hr7K+2EuE37xYZVU+HUpI/2LlOtJK4WDifnFYM7xaEoIkAHKKG6+w
m0cIW8sSGHlVP7lhA7svpedij9Si+hGWQfmKHEcgEZkB3TWY4Wti540LUYPd0WREuvehDcIhtuCO
fXLP9UzRhOyZ2gBUXtWRrl6K+qdHxc1ADApRK9u8IfiLfvX8/lvQQf/jFFr+tA1odBEHBqpHlKXs
XzJRhfsSW9UGuZ75ZuqGQWA3IsPPYkHueUaMJO4Zsbd+R2BMpSFRYQ7CRGTJ7FfqDtCNhCjbZbTI
z+dCe6ctrTSSr5316qlCbekEOpjv6/GQW94jbzx1Ntao9whSt+rg5RYs7EgzjxC01L/a0oBYllnW
qYBCIjZZANMqJH8TON5Mm1Lrr4PiDuQdCk4IM8QFJfLFWz7N8tk0rJk3wG47j2hS8ztrS/erk/v9
g1r2czAgYQs1GgTIjvTdX70of+eMIp1hENVPPNkg2WKYZ2N1RA0h/GSZ99LOg9h6relTd2nVFrI3
gt8KaOwXAiCWjGhjodfhSJlB4TygsIxXsx8V7qjjWnkTNCy15248KNLuIOmF8Lwig38D2jwcZZYx
i/z8XCDUI1XiA7MLPw0ZqJbi+zONuh3D+m1RBXxfAZafMjLTvas4KbH4cPAPw7L54prGf/Wmudt3
NeNgCNEsOKAy0N07SwBHg7xCOT3K3dAIoPOHAGaZYfmZwdU4lUGY72oP6jVkaCGvyZcl5DFVmQaQ
ilsq8ibPgjShQvpU2KSBtDiXJIJvjzj1flWihijINlVV1DEZ6jkZw877sYQunI4C6HkiCB2DQ4mI
6b7CubyOhSrMfRA2y64XdLh1lSfuBC3pI64HFiQSyEHBnBWpVoiqs3xOmlqMNvQuWT3CdpnQp49n
8nmte28er/blsHHk4jbhcPQX57h0j6jl+8whG+jf8+b1z9G3g2DH5Dk84EJqvRLZ/KaBewhys28a
+8oB+G+51Du/fk3240DULQJx5GNWotE6kK1/tAKGSROleUqnqb2vy1wkqrdHHvsgzIRb5GzVD+qJ
JUfeP4Rs27E6+id3s+wZ2JMSRkTlQAXk8cgdR0Ejsu7K9elCS6/xgCbsF6raYDgyOi+xqMQchzCi
+Lgb370IorFXZ/U8UCFmjYb/HgE/qu34URXNXW6m59qDjJbPKp5BNfr4ZRe2s7WjTquWCXXMZjga
oIyg04UXyb7Ib8fsGiL0wiF9TQYhDTwqCLwa0oDM+45nyEP2w6bMEHf/3BesjukoNCnYgtjycen9
IAW3XHaQv5XsC3Au4g8W5+pz5+p1bby2/MzyC8TINIXQBCLe79wvb0V4jW1yqStW27CwkTkPm248
zuGw1aaOF/arz+BMc+1icGnUrtaHkcIEppkFpG608iJuxjfoeq9cMC9087oc3u+N3+aT2x3zZXxy
OU/DzI3JPD98qpPX5fD9EobWQkI7HapliitsSrG3tDhqyNOMdNLnhtK6lLsIhqaGkasAoIUdfEIf
siK7b+bhd0WXKyvphT5Yl2tDrbE4zJVgAvmqv1mCrLgzOuuuzOYLl4l1rbbOGZxtEHNGieM5ahTN
/tsU1ht3ciPRQslU59uMfLa1zp/4z6ZQGViDnnFfMAgHl9e+870UjgFxW18JIr9fBIyI8WpmNwa6
Vo0CraO747tir59EOt6pk72H7jz24zk2Md0uN2xb7/u0uyN7sE73bHOtMvZSV9H/fp9jWj/kBkN6
9ooIuUQ3/BTEkqxrt2ccUUaky0FqKqZnVIkXia35YwckJPNhB/PxjLn061eTHYDSqR26GkrYQEHF
zh869xoo6cIGtS7O1lMB5U7ghmnjkJhD+D0hLZujumB0v2pgmaq+v/IRF1aVdWk1maBwlMEcAMMb
ppMTQOvVDs/cZN8/bqQLS+66vrpTlqxUAK2QyGO5MJgz3i2DjHqYtH/8gksfsNrLK2eQMIPywA2H
/VrI+QAgavdF+Pwztefwazy/9585aHV2pfLGgdhJTieaVRsHh/CPf/qFS+i6sNotmzFzCtXCkOWF
djeyYEdOujg0z8a7Vrj7d8i/c+j7G2L65/cv0FciM10FKYc2Bjl3jsGTeycU/vLfdtjmzwBb1g82
52G8TCDyTqVFNkPZ+pulZNVd55Y9hG5ddyNaoGqQgw+WyMnbbGcmSIvgl10hjG61r2B0eFfG5Pup
bkr+z4CCQnjKM8CF69ZuUbFXzDh+tvAjinpLFQDtOahlhOdXtelJsDy5uVMVsN4rqI4GmfdXRta7
3QPl+Pnv/7TcOcjH2taggrB5bbqbBgpIePFIk2orv/KKd2cHXrEavK7FimkZPXn0u7cRdzNSDJvZ
SSHG3H48xC7NjtUKa0FKIixIZ1PbRZjA6I11zkqSTwa9/3bgP020lE7BO4IDlTDZgc3sD9A2SThk
X6jVXVlALn3BapWtSpcRqKvNseOqiJmsD61xNk3WN1d29Atr7VoThJhEsRANBbsZ6JPVTWMCYu4b
et9LZit7XGqT5Kh6uTLnL73t/Pd/WizwatfmHfNTUXrfh0ylhoRHX0nIHZ0GMRv+R9rkSudf2KDI
agDzsMTVXAzjsa7bFxaMp07Pvz41rtZilMpGFTgvyunY9hAgdrr9RVHpJzWoBh+/4N3JhyVgteyS
wEWgy+9pWvHXrrmHzcUBFUOowqq2UJBfecmlBjr//Z/OQN17PxZuBUffori1DU2XsrvSQJd+/+pk
dS5J7hygM47lGexjuWG4R26OvyIQLbZa+1M8jST/+XFjXVrkyepiM8K5MPemgaZ6bh7GhqibnFYQ
frmotkKRIrBfTkDLfe9YJoVqad4WXf/bVW63CVwCy0Y414Qo1CinvWwJRf3kBJITHIedfQkPoJOH
IN23cKD9idq4xH78o99d+9DDq4k9A7uSZS3mXTfLBEap8Lx3Y5G9UP348QveXTngyLMKqVjlIhGz
ZDh6aNDnMwqh9/gDZenLlcX73amM56+msqd5bfndQNICaZmk9lBCq1H8viltiVrWnENYx4MqbhRk
6J/7otWEtsc2z5pGoSSZeacRgsDR4s9Bdu2e//fg8X9nBXzRajtqA9KP0AbbadvMj6Non+moNwaw
BpT8KZaODNG9oPRKmKiycZ9RWb8KBmUgnj3BwFP1G/irFFfGx6XuW60AVjUKz50yO0XY8heti7sJ
uvUYaLsrjfnuDMXHrib/AA2ZhTiWn8pmidv+mXVW5IRzPNU3HIf5z/XYahkQZdlAqZ2To5+jJkvd
z3KJaL/73MPpf5evKoMTEaxfsbkHPd2AF8aBPaAI94fgRHz8incnKRppvbDUvXb6Cn1fNWHs1r9m
ejBtlfTyyhw9N/Z7I261CDhAscxzPpi0Ge05HQG3iOpxDK800IUuXktbgnFE1aMJWeoEyC+HIWBh
NEKeJApQtabKz/XxWuJSAxZhO5XlpLy0rJfA61HvCY3EYco9Z/9xN1yYC2sxSUY9uFRknoYO7SZo
coiHdz29luS/oHIL1woSTlXdTp29HHNTFEUMzXn7WFoAq1YsN+12aIPuh4CAHqWPbu0CTBLMjEai
5zBKFr0SL6Ly6W8+oDTNkLz/47cVzrKydpcrcYr386k4J6/WAsmmqSYo1kuRaEeda5BHKHmeIuyj
254YQGfgw9V0tU5QlXsz+97hU83OVkuEKgff7UuANBvUEyWEyjDFgILdSamrK4Pn4qetVoiZV3lX
TaMLdR2dn7TX65Mr/GDHFk9Cop/puGIThxFr73eQwyMEj3j294+/78LsC1bNitxVhwKSBqK41i8j
2uHhZhqvnD4vjdlV47VF3VaqO5tazu2jM/QtbjftyfHtl49//IWlaa3m0qaYLAity2Mr79qS7ha4
OnfwrQ14tvncG1bra9u7Q+AXDG6LdfVm/IDHhQi3GkUE0cJNf6Wd/oZC3lkD13ZCZpw4lzBTTcux
T+faSlqwgnA0RTZyD9bCHZ8OdPrmMBKjGnGzwKN3rL4tLH8tFSoZnW+45F25nFzqstVqXKIYkkKK
oVNokauv0A84m3nmfVwFbv4ZXwoYDa4OZYYSSAcAIEhDWQOIJxCNENswuPIBFxb8tTNO15QLHR3X
gR/QGFnsN6+cqAjuBsag+1iu7IkXWulvkcc/t4YaJ3tZq7A+gi6j23iskExwYQPVJUp01/iQF16y
lkbRRfeWq104WFlniFjAxWaWkiec9M0nB95aI+UxCKSalnXHltZDHs15s/wQJXO/iEy4D5PWWPEt
IK1MbDt2+Au0DbBDagMH96QcBcKQgcmQGbA48jaoep4YOLbn2wRBQXDV+d2V33lhovvnv//T3toT
qBTxFp3qdnlwgKNo8jkqfXg7Lj8+nugXGts///2fN1CSgUo0uyrlBjXAAAYMu8BY9qYTlXdl3F+4
LPir1RC1xZQ5JlNo6+WPLYBFUXmnU4IjShOJ2UOVH61RbWkNZtl87qtWO8uYoZJXUjEcXe5bmzk3
Xwu7V7jWtVdm26WOWa2PXbVUQc7wFQxE83vjNf6dnAs/KXPnLLZDze3HH3Jhm1obC/ECrlqgsaI6
Lff3KIXdkJB8sltWK15b11Nua1kckYoKvCdLdqD2YbdCLUtwn43zla648AVrP6HZdvwO/OfiCFT2
cZDeM3Q5V46Glx69uoUaVqqi8KgGT3C8gQIwzQtx5Wzybq4Lp65V/45jjZNJ4Dvp4GkKXkkh540F
3gjMp0BJCuXgbKwRtHRUR7Z/7NkSVyb8pffa/52OQGPYMImUNM1geazGVkYtlZsQfDz4nKmjpcev
pAwhmsGB5UoHXdg42GoclF2BPl8GcvRaGD4JpaDsgd4mKqnCS2Hssu3PFLxPjee1uYujc2h30bLp
WOd3Kms2bRZeOylf+JC1ucukW1AFKT6kqCEQ2tTTZvqSbfLETZo5yn4BriZvxb2+rTfZnbn/+Hsu
rANrZbXRvDFADfZHsjiHYvHtE+DfGpV7SiYZRTnix6+5MNLXCmsUuLtDj4DmEecUckCRavsFPMNr
xXyXPmK1B4CUDqQKrIPSuoTP14JQGGoGD7Msl+1sL9cijuenvXPW+z+DEm2ZeoLk9Wj7O5Hddfl9
Zz1/rnlWs8aBemqAaTfy3mH1WjvFE8uv+SJc+tWr2eFnqobey7fThWUFDLvDvUvHGreu+krO/sKo
XYuM50by0VvgFWR5INIs3+dCRgH/BrFc5Fy1aL0wftaOHhXxObdseENnpnoAURLiWBygP9X4a42x
o4w/lRpZCtovUd/8JvqTB8G1lLiiGpTJGRZHY9HoG0gxRIy7un8IM2pf2V8vrLdr3XBpj+EwCkD7
+rF2EjlPNI8QWAKCsO3qzQC5Xht35fesL7emc+rXj5vsUp+fu+mfQ9fUZn1ekdpOZ8pACVqq5zIk
NBqluK3m5lm0jve5xX0tKM5ZOJWzDTfYPvgC+CoAqUmHceZ134vhUyYI8AVf7ZXGC3hhfCi+63Ka
wfo4CxoyhPp7N7tWyub9za68s3qsZcQoM658YBYRTbSyahuCjZuOtuh++6EHWJqBnPyW9j087RrE
iasdK0i1H+ylBVQZBsEwRWiAeogcpHOxNwxdCuWrjkFzc/Esv98InS1fSU3rqAB9OKknYCBjp4NH
Bii1Hj8g1cfSAj0Vi5CMyWy489ttSHiAIZqH4JBdBLeOh4JZG4CihIygbNCR0Zsih6f0UqO+Cnxw
QDMa7b+GQxk82/YChyamCu8J14Vyq8NQMtRrd8vJUk12Q/3RAVSKtSDUl4LvoDzL0mzMxQ9EneB/
V2MRGtyqiQF/AzWjCOotxcUcRGnUh2uI7nassrpNFuDhEc0Xfw84pv8FlNoM4fOJPIBaok4jnCTT
3q6WpA7rJp7PdaRkDPuo7ka+B3Sw3QeVDZ5CHlhgNnjmD84mbOdBLRH1YQacojV6z3PVLEeLMLLD
QWKGFQWdExCMSKQaHx/uqvbGQpXqRtNMP03w2Yt6wHoeqQUxJqAoxgeZ0qNb3ZHmAMw9zjsFVNWC
AYQibLeCNwkQM5UHYoquu/4VQDBnV2pVfukZaif6DtdCt4LMGQDGAtxn1MT+GD2mEkTl5VPnwUJq
ycV0FKN3HLwZ0D6A5g4avkwbMRuw10bSJ7JDSVRd0P42LH37Af6g/g8nGxF6HzsftxShDqxtgOgg
2XT0y0WfQm1n20X6Bo8Ct8EP3J89GUZkQ0DZBXQ1glEkZMCo84tBlTaRG+b3VmPRg4ZKe+uHza9s
7L0DYqbkyXaH56quRlA5SvoTggRwd0LRzV8pUOKxAlupjnCtbLqoyjwnBoCp+QOMjIzbRS+HquuH
JJB1kUBw6d+X0DU/NWOggc1twk0gtfkKTqz40nViuM0UywAgWP4AFtRDWK3LO9BFOBpA56fBH76w
ThYoV6YzOkQ0R60FrA1s1m2hyJKRo8WL7/X5bdihhe1KNgeOJx6ALgF6sm68JpbzUCUyYPqVl0ql
i1OQHW7RDkDaqHUkghVbtoReJCTg6TUT/U5S4/ygzdLc9AXqv8m4ND8tELQO4aJnHBHzfufgtL8p
bMJR/AXBaof5w2IBu4ab3gNlMHAcfGTT8RgjWiZhhxAumP1/0Tb5tpz86R6EWgjV3SxMQHpWW9tt
8r2XAxLdYkkBrRLKxcDQWIeA+VdKt4nTM0CqOeKfbwyclIe6A8Vlgrd0IqspSzzNQFHRNpk2nRcq
ECtHGJTXuBCAhQWO32BZRdxrgkqCDLDHhz5wyH3VlyBiBUKmuh+XXeMMLjKw5W/utIBLeiVPMgfp
fe6wYs/skAYRaB0c+6ovxcHrzHwbtm3ZgOplh28NKbwopz7i0nbDUdcg5jDYa1m132xUXRQwY6/k
vTYNoHzDRGFh0aK84Q70m+C2dsPsG7OtF900vY+1o8ddI8cSsgFlK9w23TLcmA5Kv9bFS6xm6U6I
wUwAcCJlxFqEIFr4XwD5TYW5NzlGYV4zk5AuC44AU0+bMMz7JJSeiZyx9W9tYMpuNUI42wq3pVMO
/NpxtP3uBaO6fOEOcb5g7KhHBHwV1lNrGDywn5Y+jEhtvGgx4bKremo9IvUo36CMJijoyOe44ZO8
obp2rIQrhCnl6CgfBmIL7OFl4PgIWEuGhRSUrr2trBCB8wlzs6E5fe7rArjyHABMqzb626B6msD4
rN9YRchhAFgVYb4pwEXEVAAONh6bgu5rGYLfnNcqHsde7UPHce5M340JsFDNbQGVxh7MEwMzoBBh
t4C6zV4vkEgSpyR3qq2d+yYH/qc3ZtpiBmOYCswF6bew0yRq3Kkz3hA87AFuuzP8fQ8OyeUX0OeG
xCGVOdWyGBO7KO1tGbbBLSUqfNQN3GZyA1ZKOOHmhnID+w511NAR9zT7OQCPtxVTl99mWHFi6Ron
KZkn4grlX1EWEp4qh5gyKghftsVZfFSFIc5AOH7VID3Cu/A+hErksa36+omMUD2Jtmw3wBpXJxQ5
N89tpXnUmEw+V2XFqkhh9Bw6QeBOoyjZSgfQW1ACk8Il5uAsLvmGWDjbc1C4gd+U4S3kvW0UIOcZ
wU9wOQU54LwRKxScYIxLdoiqdA8tcuapro14/R9nZ9YkJ45F4V+kCJAEgleS3LNWb2W/EG67zL4v
Av36OemnGrmURFTMw0RXd0Ci5Uq6uud8DjxQtgXLxR5Vot5+WrwZ/3jlS9gLP9ZL2n+uWY6lq6mj
5wn+fP8lKCvco2hKPLGhW/bF3GaYJ5a/QfUF/KVJ6x7hhwUntrHuLyPSnGeO4P2d2UR+Lobm91xQ
G6ZesB3pJ9kWmxnp8buxn+d77pP+58QbmBp2MZA8YzztQNBaLtOi8gRNPLMlwGYbi3kORAQCOEbR
Ni+BWwjGibcht13ygnvG7BPo48nPBdjDUCEsPNB4yL4PPYwSI5pUG2opipa0+i+wlYNIgbioDRd2
g4UlyrrLQCX7OSoFV8ZlsXFhWSfkWCzXzdgwduOnwXJQPVs6WciQcd/PsIIOmpiq+6ipm1drzGDo
63gC+qmro+w8gdRgJelL3GfpJXGy8RlxW10QehmcQZTzXBZLdWkR4g4FIf4ftqB2IqzbgZ7EhE1X
lXk8tHtAPrLKgmZuyrOXqSLOzqrq4liX9nQYAUE/23aThDNT3MYlFoNbNWhTpyyBVj2IPBnDd7+L
S4Tz2js6SwFzZTjo/0rpePWGzapH6I75SsbHcNDTFSI9H/jS+z1u/lJIQmTG6pC2ZNwwmOms5KsM
52xd2NGBdu06nfBPmIcniFzHTYR1qavrrUcc8rHSDF3g4XhwBm8nlGZYYwf/xoFempJc4mzcOWVy
hImdg8QEWzn7mb7o2phvDjLInXsIojih1QO7DLCPEnEOsHreHiNSrhQ0G86uusYj7mpfpGNjnQay
NBABQnHVrOljTc/W8sSgclYiXTLr1NbtN3DkEUIab03da3q4di7yaji9eGML8J0LA+oF5rMnCA/L
j6WEuJaY4HZZcNh7j2fekR/5Qn9N1FtJSZimgnZR5UrU/TaFCz0EzC0DeJ4emya/t2BAefv4a2oY
LV1DUNUoXAm8QOvQYbPMswRSQ36//XDTj9fapZ2WOi9KbP+wFa52PLOrw0IXoCY6Ma2oqg3Hd12O
UnaQryJbgylGQGhxRhQESw7Wufpee9WzatTr7U8xzC5dlyJKmy4VTKhPOExt2m7exKAuTyN4UzAI
/dgrrp/4ZgKzxhLcLSYbltLtZrZ/9eV86vxtA13H7RcY+lqXpLixhR/dM3jTN9gi9eOlz8XHhqmu
RynllKq6bO1zXHwjWI367qlXaxc8pj6+fs+bhmnTqIMTSwxyigO8T6SwTGWky2HRmO/BpIMn4YCM
ze02Mr1Li0JLWcDsakASKpZRdW4dbz/CX9rt4BM+cotBaOitFXYb7uJ0iKBv9cjW+AvK3Gbuh26Z
wm2eurDvHrDLlzA7gh2vRJUmyILh7Y8zDWJtsmP3VIHZ5WRY6nHl7c5sCtTcfltQaAYT4HwlD2/I
4+lIwTyyUgi/4+ik4uexhhK4t8JSvZRxGcBHYtuN3+1pJWVo6C1doALvPdmCmoPK2eYPm78OwyPo
HxJ9lZKX201mCGG6MAX4rU7InpRnZbXHirf/gYUV1qP7Ib4zjiHapF9EFGfW4tgn5cAv2mrpt1EO
amX/YWqe6zh4M3Gcqm5TnyJRB6dNFlBR7wWDyt9OtwOfvxB/DYdpaqTr39+8pyJA3eM0YJ/aUb3C
Z+xTOsyHJq/XvsMQuHSFCp1hH+pKlKa4HauPJXK298OERMTtLjbMCl2a0uWVDY0nriyvpC+YmId2
9sJkuq3JGvjU1D7a7qOpfOL4FXxUFt/b+6X3O8rKJHCVu7JfNrWPNq991maO40HOiGMnnBvafTI2
x9uNYxpC2hLe2zm1R2VjfxDDa6EFuOwPrO5DleBeZ2WXYIiDuvIBhymkEaiCS0kBe4TUt4dHeNzm
52paHsBZ2DEWqy2JYvGxKKi7oPYzLHRHHFRPlQMPZ/lndNrQSn8OSGPcbjNDd+uCh8atiOQ1LlYX
sAgnpCia5tWpf95+uGG06pIHRgmHlQT1cKZoD+AcfkG6pdiQqX1ARoVvb7/EMKB02UPecZg4TNw+
XV0OyKy+FPAHWVlhTa1zfeebYIEs1OD1TuydmtYCEMJ6lgQgRbFSSWEYr7qPpu94PXSEVzVkxsHi
6wB+p4OHs6p1rDsOtkMGtdjtRjL1hDarvYyD/ddH6uy3Bx9MNF7+lxZTgPTfykA1tZQ2reMcnm0p
lG/nFhcXvvhB5/tM1CtdbPr12sSucp4iNYUKFkgEvtYVxMI2ktElqqADP2nWIvf7n+D9I36wWthD
x/NyzhrURFKaPtWLQ5FCnFc+4/2R6unqhxJqlr70G/skoxrmiv1vknkrRQzvt5Cn81KRmhsrqPkQ
lxx+gSnOy5KCHgFKHq7V/tweQu+PVs+/vvrNXKhTQG3rmXZnXqlN7+Jms2mcT2UuPvUxTFXmKlur
FjS107WD3rwJeeYMZZDlcB6XBjcHnfNCabVyhjRUbnu6hqHLaAGvpBoPBzMRLA2wxqyaD9sl8Q+i
no6dtPYosvyaqOUHtasHkbDv0s8fB8Wf3LR6GjL7k29bn2436l/Z4r/3k57u52l1FgxncG91yicP
OnERXckbmdw7LpH3XtXGD0vRxPuI182ZcBBSC8ro0YrZ+FPEg//Mphm6KMXKTxyuL0FFiv4LREq4
pR+rEf8M95JPvEVlyzAuqIu2ZPPA6UQvzG5+M25JFKzXdAx8xy8fYFflXmQF/xkYCiJnFlfFkwLu
E6ylBr3cKbovwIvfoQVlQMYxuotwmjkjD2LfFWB8HjOccuDR09g7W40s3Vg+nF4Jw4WP8obyhLRf
8b2ASXlYUWUfktnOtgjcoKpkWA2awvbOGSkjSEZRRaYi/AtU0Xobv0dkVH4T3+ezn3yLpC0OgF7U
OxkDeFNxhOVMDtP96At3JZqZRqAWLptm9hsGH1tYqZQPjDVHzqOVTYopyuiBsvDhSe2inMWHHz2/
ZOKJzyuHmb+nlvcGkxYnZQs2R8Gd9jye+L65QOHb9oFzEYdyE2+rA33Ij9EDT4PuHke1u/JhXIk+
hm/SRSM+TmqodKDVufEAht2WsoQX/9jZfEtzT67p7g2dootGkvKK1QaT7Wyp5T9eLy8FWCMr6+P7
+zpPV4vgYsr1c0fQU6dIfwFOFWwNyZftUPtyi+Q1eAS98MK4WIbPt2e+IZzqgm1H1B6RSxaduAOq
mEPBHyq6O2sRr/ECA8Oy8r7cfpHBT9bTlY51xitAlvrp3M1qxpIPRz9Sq6/gMz3Ho0u3LlffG+k/
lSVD+SC9A5YPdL/EXtkEGgaHLlrEPSj4a4mHUhnQawfUAxS838p5bdV+f1QIfdWuaDUDzsuGcxQX
zyztfqTDakW56dnX0fJmIXJcnzNqJyB1eXzPluYORtxrh+n3V2xYaPz/s6XbWWB6F1Aa19W+gue8
PwTNgjsfdwhvd/z7uQ2Alf//DT2dfctZ4I/V44pxqzL1tbTYQ5c0uwTFUKkfn+O6fCxJtZJXM33R
dQC8ba2k9VLIZ4czEH92ONlKfPZwFQ23T/LdRoXD9vZnvT+ehL6ATxA2KZuQ/jwWoaTZJoPMjtZr
jl+mLtdyajWYbOnoxpDYei8pLsVU+uv2zzY9WFtSWuCqcG+dDmfasu/A7X5tm2Z/+9HvhxKhKw4b
MNUgUO6msz9kO/ir3YPb/mAnkgaoNMrCaJSH2y8y9bC2vqCmPBULbTCiuniLO5DQjX+nzrNqi4+9
QF9ISE+8ZmyS8UwXBTAnuOzRYwxl5tit7LeooRv0RYTmRTyzq5EoOUy7ZRPtrW2yKbfAvDahvFNn
6PE2F3lp7of74lA90W/5Q7wrNrfbz6BcE/oyM8UJgLv+9e2o6SoCFELlcgtsZL1zvQDiNfH79osM
c0SXJ5IFoGTPxXu4f9+O6KYtEMm3H21qQG2Wg3vjAqxIhvMcF2HNCWCY+QcffX3lmwBCHMHaKcOv
VgQ8n2wKatGtxCaDTlvoijFU+40ldYvouNgwa5QZ7gKDArbWdYAi/vJcIs1yV6fAi6E4pdsgZa92
FMHgRUZTNG0tb5y+pdaovkRqpiufa5i2njabZNXYHomb6VRP+RIMQOzCjPO+ZfnXvnaSICudaCVA
/M0x/7sxFLqELG/HiORgJx0zkMm2MIbkzyC9gfDoOaiBiGBa+RSzlr9UTvEnkdCvKnczLuqRAX53
sCNoO9AA0zdgP0AagAtDgEBggb9bRhFg4Xb05fbYMqxYuubDbtMJxU7pcPIGJe+HKkseO5nwDfxW
kwsIWfGR8Rygyqmds8eI8zX3HENPuNo6L0eU7PSLNZ6G0kNVXO1t/XZB3UbxGLkMjl6rduSGF+li
O7SmEiLCiwoU0+YKMkF+L1IauC2MU9fuakwvuf79zTRaikQwlEl1JynqM8DAcMBdYFLF52o7M8eC
IVaysu83vUnbYbSRXyYKWMTTBHbpNvXK70nZPw/+8Nxh4x+myhlWIudfe7X3RrAWdmyw7GtI3+Nz
FAEtt4lV2ydb6WTLn7qlSAEtbtb9VhzXQ1sAbvPHcuT2z2VOxAMO7C1WKwDYkMa2sqkCRw3FO7hb
Wh6auJyOasomcFpjmEp7Xst/ja5Qvzz4VlVhlmNFxRGbrdwBGYKn7o/UNJY78sbuTkCy1/d9sTi7
LiNrkinT8qJ7I40w74X3lmhPw5KB+eR5asSZeYBbMfFAVt+ACk0es3xCaWGjfLHr2ZBeCY5V9+f2
BDZsEHTJXk+casFV4XhSRWR9qsuUhbnoyL2HrMqhHHEFffs9hvVNsP8f4mnW2MkkxulEHUI+u8B+
boBd50FSRGQlFhm6Smj7NZbELvDttDvFrZP8dMocIn6wtl5uf4Dp6VoWYIZbNYYCbkBQpOjuBlr5
9yxu+Upi2dQN2spSgj7v51HUooKkSQBCZvQTygNR2kDnPCjZPK3chhi+QvcYKLsCgljitScGWDKy
Pahm7WP6+KEm0p0EhFMkspiG+OzBrLmM8lCQ19tPtv8asL8TTVxt/MRNQmXm4NnnHyR4cQKgI4Pf
IvQ2cuMEd3fhjzTYtcHdy/kc3u3wv4fjcXfc3YXh3d3nh2dkU4Ljc/Brv3/dP78eX6fgddheHvfH
Y7A/fj4Gx9eLF2y2+yLY3p9O2+32y+GA//t++rQ5nPb3pw2eE4bnwwb/zXZz2hzOd+Fu9xI+Xf+z
zSZ8CcND+HKA3/jKdDEGBm0wC8iR2CwRd5jjDj9Sx+dPEeCEYeUhSzculftgp423JaJArW8GtnFn
sfbz7dY2DRJtqLMljpIUbu7IrIo9ylE3+ZKuDBHTrk7XIC5SOUmfueK4xD7UCyQYCnKwpv9yF8Xu
YIVx8izT6bHFMREvpyL9AgoJuNJrhjiGOPSPLLFSfJILPAisxeLHmSz2S2MTFKEnUf7rQ82nqxMt
nLdgQi0EEKSwDqFfnXwtiP4VA78zC3QRIgFDqKUdh9m6azWoes1/5P4M53CkvIGVsDLbfh1nnsQH
wvM6zKfG+jzypfhcR6n7ZxZi2ouqhttgmuXwd6AxrNlR722Hs6MAWsshz67kQc6cPQEKm19ai3Q/
u0nBAmVRtUqvRZkJDbiAjBzADopP9DNgEfxe7hUslDa1QBV4kfaokUhmmT4AzFwHjkJlFoiw+Qxz
IBHt65L4r36twMXOuMQSX9k5mIfxAEkK3MGBSgYS+ez5lb9fGPcXeGYBh75RlLswzpGwZdwILuXZ
bjtUDYO2BOWOS8cHGvVRSBamAGGM3XsrrqfPHuxpQhigRThRld2G1U7x0k2yenB7d9rw2Uu2ACr3
MpiIFX8powwZCjYw0GhhSJD1Q3dxibBWJrVhXunyKbjbFIARWx1EMCiUD3yr4FsYDQEX8LGBp23u
0nROaNJk17LaLn2MsjjfpFWbrdTCGZaof8A8qDRNYJQujg57nr1npdTGIyeerTmNGbKeQpeNOnAY
yjzwpI6z396PkuxFXBz72j8SVDnHXrUhdReWNQM1CaIkmgNTXUYraQxD1+hOFLHrKVTHIcmGzEwQ
dQ99/PV2nxg23Lr9xGLZkpe06U55Q/p9xvzlAPeJ9kGIgd5PYAGfhsjxt7dfZuoiLXCXLFEwFMvL
UwObhfNSZ8NdLrl/5hb8EIJ26tYKXg1RVE9QJx1jTp9MsB5urNc6zvaDDbA4CgBXRvL7H+LqZ38x
Q5CQIZl7cpS7rUvGQreAeWEn7t2hXbMNff8lQucPQW0hZhwcxLGxw3b6T/Ui6Mf7+r/bffG+v6st
dLnvnOZTPbhtfnL80eLAgkAldrBbAEsClWEF2nTDAP3H7LLBDqBHdViQpTF8Cekw8n2V5qOzchQz
jEFdExwPcmJV7xanbPLqHS4J0//mcWL2hrlzt42BYT4re5D72x9uGBu6SthRXjP4AnHCqryTOzQX
K2FPRDgrBzLDdTCKVv//JDEtuaWqZhBXMd6CBYE2Mt4sydx9w55pvjhxCqqeS4dnu5zB1/ZmiA/i
ki9HyP3AHZVAgIZlNZMQPFv2deZQh8ZAgKz8PMOg0mXG4rrSJhVvTn7UioOKIvsEjKm6a6D0AE+6
96OVcGzq1Gske5MzAKAkLpjrFKcZupw6mCIcIsmcQ1fpijy0E2wTG1C7VoaQIT7q6uLZmkonLdwO
PLl8PkR23e9HUYuV6Pv+kOEe/f9vWSyFb5Ac1F8nToKyz75Es/y1FMXr7SH5/q/nejhJF7vgENQW
CCd0Tz3x6PJoJU1perR2cAMtqiBjMoMbOHv5HfYwau9H3VqllKFh9Cxg50FezQHEO1lJvOPqM3Yz
u9LOVqKs4bfrua1uEPmUyQpaq/yHBeFaZPUffPJ10L4ZnJxARezOeHKXQ6cNVJCzmkh4f4Jx3Sip
ydy46v02PglcwPoC5Jso3oGp/litVRibGv369zc/Pp7qVGUzULAe6i8c+mUaVUDyNdzB+/OW6wkX
aou+iccpg0IEaapNK61cBrGT0YtMh/x5WBSay0usaSXjZ+pk7eBcRfAutqMpOS1inu5UPAF9nttr
a6iprbSZ2/RN7Q4ZWJ8tsXEZ4qaPsN8tN6Jeo8qbfr62paF55RVpy9JTFacX3lZ7pC9WnJ1MPaFN
3dlOlzQBu/UknSlwKr5DeiHgygl7YW/px8jNsEj7/9EkBM6wSOamqFNQ9FO7FM4Q8FRZx9uhzTAd
9ES4l7qkcKhKUQdg/3GVvS+ivANfC2iZ2OnWaHWGXtCzoCrvZ4CYlxTuuFAZdt888ef2z3///oDr
+c/YzuoSYsH0VEq6Ybn13ethoZjVZ6crIPJXryX2Z2n+dPtthh7Xs18gXcPGvZMI1hn7Gomoh3lB
fEmIvOs8ZL+Vr9aEHqZuuTbkmxgCkhhNpgkNJuZvSZ+fBPtMZQSR3tpZ73rR8W8mgP+TD7PoNLKM
plDbjL9BbbjMFu4jJ8e5cgtoUMzDgfhi7RrUMM11k6xMZLmduXALqLLxzhkqGWSzeyfbbF5ZMEwv
0KZ5YiOXaksA6n2QJJcl5M7zMq1dRZgerk30UflXz9eOHOfq+9KN8LN49MFkuz2mDFPjn4TSkDc5
HfHL89S6H/PxWIz9SlLY0Md6IqlZ4AAhZUuOdoaiAOaz5MRzuFNfMXO7JRmcO5HU6VO8uNbKRsww
bPX8UuXk7lR7KTlSJdOwHSBX8ARKXCiwgmHXw4f0dqMZekR3uYIFyzK4mQ/aepIsgT3T9L6aXbWr
y7xaeYWpX66vfjMDF5egnNL1E5hDXM1siwHgFJd+LOrqqYqJ57kgok6R/mg/L0U1hXHvHYZrEdrA
qpVoZfoCbeVO2l4MWbYkKJOvgn5yNs5qSYBpZGnLtqr8aE64m57gBRiqCuG3lFf/y53XLHe5Z32B
e8kH54c2szvfj3jEsICzxNnkY/XbTZaVxcPUQNq8zjpp19HI01OSk8fOb0IXlz+3B6hhIuiH97LH
VRXsSdMTyqaPbvI6V+4u9pbAXfhKuxjWIv1QPjI4PTcUuw/GYDCRP9g2PQ3+p5T+V3ofq/zg+lEc
HqZl1Vho+9aBwLD5mX10AOmHcG+O+jSLIgQk6l6KTlUBHefvQHf+5F76qFxyzp3y+XZfGILFP0dq
zyOVnyPC8mi7KAc3Sw/wpF3phr96yHcWUp34W3vARyg1s5MsFgugzogD5ulY/blKbPI7qwFSJkk6
X6Ilqo6DVTrIijO5TUa6/Oi9BqRWx87PhQdDKdl71v1QKjscU4BfY5ioJPViw/0XjFRqteQe9pX5
9narmEaoFh1S2NI6jnCjI3rZOs+qqZ58N4lf5QiRZ9FObCXUGXZoetJ68ZO5HcEbhXlU8T0tvWIz
UfZkLd2jRbOfeakeayRurwH2QxkUrvt/yQI72vrqxOW4yJ8IjNsfGblPiyS83XCm4aRFDZ4COmYB
MH8ULPtRFux3385nOfWfPvR4nXFa9NOyoM4lgnfdfAD5SG5UUp2EV329/XxD6NbdK3Jpp66N0oej
yKq9s8CFKbGG/4TNT2ndwD6nmcD2XGsrQ4TVfSzKBjQXCTOdY0pANh598gk2R2vpB0NH6P4VPAcy
YrCX6Kjo13mOg8JGjtpaCRqmX3596Zvl389U7reoOgXJoYPjuzdM2QNb7HR3uxdMv/362jeP76hd
zHOpQJR1Q1bOO7uxN5nrruT2DHObaXN74HGPWyes/E17nKZp05c1dMc4pGIa3v79huw0iqL//wPs
kXdubOMDijyrd3xu6XOcJe19uyClwvIYgpAS5bqFJVKUkzXpJ+mqBfduzZqhiKkFtX2Bq5rYX/qa
HPuKMkCTUUqICjq/EKHd2svKftb0Em2u1wW3+olCCeKDlJ0BW1MW2abql5VWNAwy3R5CjHkxtDWN
jg3s3VwwPwNKPnrm1j0h0onClGokqH9cjhDyw55mTVpo+tnXLcmbwasG1jT2dekYXBi6RH6EhFPt
rjnY/hWXv7Oi/mMEQQSOc03OTi0f+8eoytmh6jtr102MPMA6BrDbmZPNAA+h0PeQ5wVo5xWXJE4S
Itp4m5kuw9kqa3r0RCbOOWzOCoyMxF1ZYAyDQtd7E6+SpaJVdKziZ6f4TO2LvTZxTY/WJm7BJ1Vy
q4mOFGZQ2cYltY80TEEGWLmn/s/bc9fQfX/vT990X+vLqhQxksKSS9Rb+yr55anE/nL76YbYo9Pu
hh5OkRUUwMelhLlfS8qHpphQbxONrz4Mum6/xPAJuqFHz9ukiClGoEvTSx7LbZM2K3PS0AV/y8jf
tM7Q8KFFbIuO9nxfOc3WahcMtTWMjKF1dJasRxoSCYnVd569jQA1j88+1G9qW45fbzeN6fdrgXmw
LGx++uvvr+tdVKdZiCvwzyTv1pBkhg2Ejo3NYGte9XWcngrR5H1ouXb2RLwuO01wR3uJlxF1HHAl
Gb8qEAm2tz/K0Gx/q5zedornwXvC5QSqPHJuuvSpkt0eLmr/Uct+vf0KQ7v9o/PPKLjUKDU+li2B
nYD1m1DraRlgC3L7+YYhq+v6vaaMZ5GI5kT6zgubyj5aSZVtbj/csMnWNf3+WI51UjnVqYyE2DEk
lH645ehve1jDhSnlKGlpofYvKqttNklWrQ1n01jQ1scyjeYi5zhBlyAKlTsX+Dg7R/77F2Snm75Y
W3AMfaMbqdQtEiNzjCS1aGWgEhY6oBxiC7XSeoaiMq7bqMyQBzfjzK5nlA4eG/N4BD9K1jiUiCKE
fVMcLtSrwgh+KM+sA0sMZsxj6NudH3KZg/paut6DB0jFyg8yDXdtgc1zVA+NM6aYO079njPf+zJw
lYmgchbcjsw5fFJuDxxDFuHvJfmbiZXAXGssLaQ2BUw98/w17ZyNy1Jkgi+Zt4YDN3Xf9e9vXoLS
BAIQVY1tTp2FnQdqgNcABP5y+xNME+vaiG+e3sIyig5JVJ4YqjHuBjAew87pi93tp5tmlvbb0xpl
RSmh1YknTVUHIrfrZ+JCXsMUuYqcu19SAWpDI9p8o/0Sr1wLG/rFun7sm48aOpR8ZEXvnsDWgpO1
nQ57KGW6Z9j0unu3kUgsocrtY8NNd6WwJxg5ta7tnrBnOrU0OeRjCzeV/JK4K/toUx9pi1LWRARm
oNly7oiq7kaZyiAdVLJyEWeYLno1UUFbmgv4bp/zcm+JZS+jV8jVNk5kfzB2a2GOTkNeu7BqPZdd
sxsjsZOR++n2+Hq/ZZguZu2Re++qAiZIvbSeKI0eMwiVVn72++2CKPH/gwjJ6xl4dBs/W35JEfMt
sZcj0tjx79u//f15zXRBqw0D2LkuBNDcUH2gMBIEnc1EVh5uahhtWnsshytlR8SpS9kTHD4fXG9c
mdOmR2tzGg0sc1pSgGBJmQV+C6f3KRErk8lQec10tSoMEP187gmeXozyLi/SZhMn9EfcYL+EqkOv
P6MGd7yMCQEnCk6z+y7vl5VLC1OPs//v8bxeLDi1wo9xXtw5cJj/3c+SravmnWcN6coXml6iTWaU
8EbDOMCRijnlfzCc/dbD0NXn3YENw7fbI8vUQ/rh3qZdqq6eerbKxyC2872TyQ/OOG0y+3knJ+k2
7RnhtdvPKpGhV8DW/PYvN8wJXc8KgDTYAxmzTmMu7mGGjypjcrImsf/Y47UpDSFr55T+kJ7LmMPK
3EKFc37JsulDcZrpalXpwCcFtIn55Nfke91iXWuSP7d/+fsLKdMFqjDlh3FM4kjcnSfuRrjxHwWF
V1As7bMHaCfUPKwOSklCkpCV2XBtlH8TCUwnN0bA0nuI2jP4D+7GhXZw6B/joxrFRqm9V6zJ0//e
mb/3nusofrNYL1drzAVqQhwbROduoxpWy1Pk55smUvIBWXXoTGpcqvcTG578yW9xdMH5JZ6BQFb2
7F0KOc6fFfiigZhYeZ5cJdCxXnGYomr+2ShLoc6b2Md+nNw6qK0539qwHDv5aZ4CVVF28ddYOMkG
NerWYb56z2HUwbSRu2Q7MNsNYaAsjrxKhkMapc6+EfDYc6pfcMCZd07hxY9sKKxf9lQ8Q2fZkI3N
lb9jRDYvYzKmBxSyNxur9YHIVh1xltDuMoj97Ko/uJyzXS0LtW88i53BRV4uDLbCYdzQPsxK0u2a
pByf4nlQj9XYcReqIZts2SCHO2I17C7Clcn29hgzTD5XCxs06bxGiFSe2v61K16E9QB5wUrUMz1b
CxtRNHqxC0DFmXKU3Ad9mmLDV7TQH3RTm66MWNMk0eJ3DQrG0nqYf9bIdhBVpEHkz9/obDlBlUY/
CwdeGiXYd+6k1oAphmiu106myPww2GABekGiKZBUpoCd1BCeFJWzQTX72kHD9B6tb2DXXfg0HZJz
CUHmubW570Dlq+jFlXG8c5R0wUss0904ci+HdDUHcyPu6W5hdNoMQFN8gczVxYLgk7D1lXyUE3G/
2SjCrTey9ZIfLPLGR9XPsEEFa5z+xI48/bSgltYKY4c04ZKCc1lX3hA2SWKHXVFVj1U92Nu8hkUa
Dlm4hUrbIf7WJtF08gfW73pgagLHq9yj5fp2mKu2xml6JLs0b/jX3HXz3xOrq63nSoQVjloHEkIO
V94Dz+w9JpWCEz/IFtvCzuRhqlu1y3LehEWGumIf0IZdqQoaFgL0+GxKONLoRbur5vl7j5oQkKSp
fyeEN588wHz3WcX4sZu7KiyRwAtLu54fxrZzQalBGm8pVAYfKTZ9Iu4E/K2SRYiO/SXjqN6Nfvqx
Qhuml6vUdaFy16vmU1yA3xJf/H7c+NnahbNhkOgVK0PVzb7tZe2ZijK/bxPmnTKS72Yb8EEvqaaV
A4Nhe6GXqaQsn4uGx/XZ9n/5gH6sZsZNv//69zcrQVFnE83KrDnPI3w5asyn2QMIBUAK+bFiJKbL
aPo28oZGwnnJSuag6IdT0pWBlGsWMoYwp1sUFB7GL+RniEC+8+Kny9PksG9T3MmPnUn0iuQWJUk5
TOWSs1t1IUQacFmasajkgZD2yipgCKJ6WbJXjywuYjGeG2ztUlgu3fmM/+G597Vdqru6A08hs5M2
tAHxWXmlYUCJ6zH+Tb/3zIX+jxbpmTr9vfLyp6WoVzaUpkdrQ2qe8wgslkGeXVfCtO1pxG7i9mpp
evJ1CLz50YsDNpDrlSkoLPLJnX3cBLvyYxXcTC9TTkgGYmjfy7OznLE9gNSqWWnr6897Z7elK8EH
K6GECJqcIYN6ytP04HTxhfRrPE/T47XTjWVxsMZBOALkcvkhWRGObREHouYfy58DX/L/zT6QhMKC
1Z/OsGuBmV95cqU3BgvxLynUhHMa2bsZrLmV+Wb6HG3bYi0D7fsM/g/Uab6pOMYyTw9tQj92YNCr
kymxeiueuuRMpD3uyrFDEVXT9h+6x2Z6cTIB88OOSwd9UX7nKdmwBWJ25YdJ/vX2FDC0jl6XnALP
VHUJpkDd/bITviXWnTPL7e2HA/P8/lDVq5OTHCCxtufRyeKkxA4A6p1D7oww45sTt7ufPdb+KSQZ
raNUyPcGNI2dUzS3XRemgEQ/MbnML05tleI4xLz5NC5D+rKMnvwha26dvaGIv1Q8c1+yFuyTaoBI
dgOzqQolkSjK27uso5dYDfPj/zj70iY5eSzdvzLxfqcHJBZpYno+ALlUZu2Ly/YXory8QmxCCMTy
6++Tnr53bMZZecMdHR1dzipIxJF0dM6zNMAh3U+at4fcpeGHFhvg1pQUeT+w0luDmmlirQm/CM+w
T0x0BlqSklcJDgrR4+S60K+qB3jWFSQAl9evlbqd8r5IiVcUe9nVKuV57mz9gJRHCcuhT8CUg3UN
O65NSCGcHBezsdcgFlf7TKkMhbps3o8eNksc+XR+DY82/gjBMLAaeNTuZjOSDTe+8zdMDiPsopDR
+ArXcn2XswoWXB2Y/LspCsxuDuvmqltcs6lGHX2ZFp7dVS0Ltm0wwMY1Nyw7Wq9voEwxdkeqRtCP
I1lDIUWjI/MQMUdvszITLxB3rsGjAOb9bskkhXuvDv6uuUKfYWz8h2niePywyXkc4cgKyf2y34Kz
qA6zVQL+f9J+BdTLPHkWtlSbnAXdZ38mdKPNGM7XFVzsmms307A3auVt4GcdOgeQMGNTqK5J5cN6
HbIZaHH7RVr3mm6j0Klv8G9NCilSPwmllhvWe05SCFElWsMOg6Hhcw2kGJjbC1yhkjDqomTqzLIp
B898oKEbvPTFEOyXLp/TxobwbepgUhdTaOCjErhQNJiBL+oCD28yFwz+QDS8mh0axFEAtHmeh9kh
k8VyrXSbPfvjnO3bVi8Hhsm478w0gw0Xyh2o0DRlRQuWrW29Lx0tu1cxI4g67vCnRc98G5TLdKdy
Sr4Ah8K+8kWOHyKF8HCg6PkV1ugu3D2Cfk5wEGBJu5D5G8QlkswxfcJJ0CwbLX1+bSHgGkz9FckX
2NyN/KmeG5gRsM/wPJRJaeFK0JWAanRhcAwq/UiE32xbRdXGhK2FgimkiiHLbzawEvPeYN2MV1VX
9mWMNLuxrsCgQpV5Pw1wBSk0xEp1baNNJDWQGYEa93k0dLFfwJwWiAdb7qpyqW5YJug2AwtgKzIY
WxXwCU1kVTRAblHjJp0DhMCMHtOtdMBi4tov7xqvxTE5bOkdZRCbwuF4jOuQO3YLSq+b+rUTfRtQ
kU9yzEoNp0rHxtqfxwNp5+WDsHhNLqAp9wFl/t6zMjsWaCYnDkzMbxcvih79BQw7Q5W778IyQ31T
AictR8PTzOPDPpAcnmILRC6bDiPYum2VLq2t0jAyBmHghlv49QH3xEPAEZLWAO7OmOo2Sw3lxQPA
gzBWbKkgKS9JmQYGf5obiA85DEEtyyZLQECttq6kZBdNPXTjgHzdVZLaNxnBDSxt6FJ9NqKoj2HZ
qMec1WanXZW/wvCv/YJprRLeCZ3ArxcqL7OANfi2BQc63HYQxI9zuKpniev46q7SlQSTy5tgxKZG
VLuLFmOTmEG6SxJ6TVQntS6bBwvcG1y5g9JUMSehB2ezcPpQBba+sdxFzHfUnR+ZMeGuKBrnCXoB
BHg4AuMvQLO8FiS0wDefqrzLPjtTNR2yFppESUn1cjd2MNeMgTvi95gaAWhAUEXESuNXxRX6iWwf
LDCDiKd27sZD1sAqK2EgW9yOMKI7gi62RHt4wsnhrnWXIW4yU3ob4zTyLT/hzvXCKHJ9WJh5IM/Y
Fp5wRVs3OBZ5pIXRbTQ/zI0FwK6ZInhz5lY2f7+/hZ3bH0///lOKSAf0do1WE+Se6F0mJPKURn6a
wqq9kIP+vs9F15IvNWszaXilj8vQXfMOUiF8+Oxk9ZOHzAvz9hJr7kyuu6a7QOZkML2Pwspk5YPf
R1sB99ALKdaZMuOa3ILag6sLhjJjEUq21QW9tg6UO+D9k6N8Y66cJbjzs/GP8Cl0TR3wetRq1KRh
KlI+AUC9Ic5dFVxqdJ0OFb/JrdcyBkAb05NOnjq60ET7myG9O/Q+0VCa7sHDHJxLEq5n4mqtagCP
MQgb1BUO4AKYTaiIDeXnobbPfxS1wSrDhhxALYRYmmNNgo0eDSw8uy6KFwI9sPfvcAYxAA21XydG
H1nb9uWkjnKy2SEnXY0Cc95+GPniwh3Rd69H0xznHjUZSK5cw8xR7NvF9pu6HMVdCUWU22aQl86I
Z17bmm2A1wS6gRjrY66dOw0RfuPBpLFg/Qvc4u7ff2Tyo8Lwm+BYMw6czmhIEnjdscMG+DQPY3Qz
9jrrkn5EsW6p7WjRNUZBLa+Gbk4AAuOf9JSRJ/gv8iCGreDw1ocqbOIynJvbrsEZTjBTP/o5Tl1w
iJ3pW80ZqzHxUTiHJDkMxeJujlTC2mIBUN4orI0EB1bqMxhdzkOW+LwJroTrm9fW+HOfAkff+kAa
wyw9nsbeRTIBV6kNajIDJJ9o1twPjjc9BB6XSQ5eqBOTyoP3IBwaP7Ywg3U3TlezV2gnzZvWhtnG
pZMDr+bOeYNwF/vsLYC+7hxddR8YZWpOvKifn1oV9OkMrT+UFV29aWwR7U0r/Rtrq+ZYNqK9GypA
K5yp1rDxJrBBT4uhh3AH2k8ahpCE46sr1xnSfOic19xdnCJuG6ffmUBVifQF9HhUWOUlhG6a7MF1
ggxDHvYvMDD1nh3NYL1MWhwhWHHfR62/Jy58SCvFyDcKvRyx1Y0ctxFYtk+T70IHr3C7fQ2R/aiV
y2GEhsNNDfPp2ENr74ACKb+CMiRqGeC9xQwHMZg9t3YrNZtQ+14iki5DUd93kLJOFQMyJXOks6vh
PxmzMnBu+qDTaeeO6lNpl3y7zLK7m2mdw/DWg0Ozcd5KnattHtIMxrR2Kou4WzRUfyJiEg7EIFQ6
uSjgAtXQe2fBXB4kPA5Kr2MA4HoyuvdGU4Ji1k3sbugIXI/b3BG3cz6SKFFei4FDEndE3U3fEmT1
QCJOMP7KdQOdIx8LdGKNqnLowozey+LU5CrIBNa3cuaR+KakCQ6GAGEOVpNGNbyIBj/RvMk+zmPh
xKzu/cRnPrTuQfqATTD3cErhwr114ZaF+4/zvsIR4ZkYPu5LOO9uCIQ4YZimvCNZZn/b16U55lLB
JhVChluo5ckrRJWfOFyZPVxMqyTPfDguj5NIwslCyKuZB3jD6jYNgja68X1Cdq1yYIsnHf9uClnW
bGf89rEnYkmIE5CbsaXIY2DgtQ9Ht0ssP3lrWuslSJ7aTT81eUwHQWGY6uEcRsidHhGmcT8bMDQr
tw2PAvv/dT5l5aYLO/8rBNn9m9odXKh+oJZWmi78hBJlsZ87VZwkK05Gtt3U3xKTO7d8hlLSNspq
+aXIAT4okXt+cKLxb1+N5a7VHOeazkYJ8Udv22RTeyP7YfowM17dKQ9HkESMi3pyxMzR8BoMDigj
yvb7IGMWhA6A8+KWKhZsDGPtXsFEYFvBwTZ1Z42VuKqyl6HILERzKjKi+eZ4WEg4XBA8DvXPpOV+
uYckpKbpgJPas2oU2iwwi+g0HLgL9YzMc+k2fWjBWBhhUHBdQYb+I1xw8TMH7yTxGJe3Th3g5wp6
WjJRpECaaOFLDFErwxssjaJC+8KNJu/L+8vwmaV+zahgQRlYSD2OB+f0NdGxoZkPUasqUepCgnHu
Dqd//ynnkwviMfMce9BLH+CQqd2E1PZg+fTCxHSpj3AmIVtTy9DF6UynkfhVsHIO+uXoqf7x/SH6
AdX93Ua1eoK8shxWzCjvhw/dtdybOEy2Jr6CLvYncJt0Sh+WQ3Rwds3mKT/sT7qsr9MF3Na5x1ol
zI0GnEfZsDmGfQVJvZfav5TBnkmZ1jyzuegM+CJovMCE/invsweb05uqDv9+f9DOJLFrgRbMa3Iq
yrRH4lS7cKiSzPMei7bfdBWN6278xN1L2oTnxoj8GmDYgjhSWIwRqPQmnbtFpPCwYNv3H+TMiWJN
/5oz4kY8c1vw76qDBy95l9OHnsy7RX3R9aWe/7nhWuV/FcTpvKZUI6B5/lXr102MOttrR+Y7XYyP
JW3uRWXUn7We15SwEoc9bO1LfmTYND/1MiSv8LqtUm2wtb4/ameeZ80Ka8Yw50C6N0esXY+Muze9
w18b0u/qrgTDVD+F4pJ2/WkW/mZ20tUUgepX3UrYahw4TmBzhAStFZsJXs3dJTG2c3c4Bd5PK5hn
gsX1x2w6AGl9mEQN35lqb5zi0aua9P3xOhNla4aV51ac2hFelW0JbVBSpWQ85OhoL7SFnOaH92/i
nZnza5JV4dUO1bV0j91H+lHfLs8l7KbRr46Hj9ObuTvwT0iQ3c/v3+1MsZquTk0dhxxEB9eGo1lO
qoq8U40T+9Zj27kUzcErhd6MBZCicVVYB/r1juwuwB7OrAh0NZvaoiDYa3WEDKI5yJDCOa74+v5T
nRnCNcXKE5T4OR/Dg8w/UpjdieUV+deFY+C5i59m00+BhoI0HWEqGR5IMz/Lufk+D14ZC/1n4lCU
rNqKnbVZR2wZHYwf9TuP0XAPf3h1oQt+JobXPKuRNsI6ObBkZRS2OzA4yvs8cFCUUkt7HEC5/17L
6FKh50x0rRk7DRKjAR3B8BDC7knZr7MyOCbNcNvIEypNPDk6sdUfbjFrEo8Ip5ypEY0jCSh9jEp1
/olAqe/t/Zg6s76sSTyK130Bw6DpkPvfZm+BsnZ/qjzGXF1ilZ+ZEGvz3VKykbfNhFMPK/+uffrm
T/bh/S9/7kWspjk0qVCrdDXap7pI/IUcUQ9/GPiC5k35DERLGtksHtkl6bRzY7Wa2n3ENE5e7nQY
gFiKKqh2o13C4YQBIvL2/Sc6M1hrdsg4Q1cbyft8CN0QGb6UKZpNl9xhzvXw1tyQmdV0CARtjtb3
B9g7z0FibGdSnU/+7SKMSQEgVtvWI+EHCNG6ZcpwSoHZt3Hy2wYSpPu6sUGF85PoXvsp86+yTDVH
U5ji4xCMzTenYn/GMaJrr1gYyDE3Ml51XLgrATiaNk7F+wvDfGa5WNMGXdQ5c0uc5ngipgt0MqDD
G3d5nkzKu1LtJcLFmUxkzR+0eZYVkJQfjnXubcOg2aG0mkyDuGV5cfBd+8EN5KVW/LnIWQVn0JS9
i6pOcTTBR02PMwge74fkmY1hTSZrLRRm5+hUpLXFFXyOXybC95bl396//JnvveaSLa4XTsUEC8FM
+oDAsWfimr/fv/Q5+PqaSsaCyLB6DtmBnPpWAnhQmMkjfhtHmj1qO3IPMscQTzXqm34zZ5u2nIL9
+zc/s1j8YAT/tJ+6tGa2m3DhGlJOcZPDJwP47/vCm924LpYLic65CDvd/ae7dJ6ynQzq9qhQe2gm
BXkiewUVsU0FfGzD6oOcLuAXzoTBj7zupzuhs5F5csFBdLFBSotH7S/bKn96f7DOXfwUHD9dnA10
qWnBMB/LckgyDWU1kPIf5+USLe73N/DWWVmxVD70HbU95rCFRi/QYq6L8vn9b//7EPbWeRkf0Mkv
g94epSli2tyW9YUL/z6GvDXtHWYybZ1rVZ3Of9iXu16Ie9Nl7t9q8fIH6GFWuz97glVyJm3e+20P
z9LWvS+VSOucXjjvnRubVYCixWam3vb9kbn7hvYxAKoX1qXfr+HeOguDrPfsjxwWdKJ88lv3ymmf
hAXsoYQtJ9qn7w/MmbhZJ18BgAbBlIX22KOr7Qhs9XMXW++SCvrvp6+3zo36YImUcmH/lw88JuTG
K54duCmzekAyWcSquMQ6PTdYq0xp9KgPPL2Bb2wPbb/sSgs/hZFKsgAGX/j37w/WuadZbUF9K0iG
Pps5ukx4V3U7y/1oBd+6jlUHXdH+FV1xltQ5zzd/dMd1ulRYCzn7GrZ0Y1dcdx57hm/rtQhA2C0F
ir+hB3nD8FJn6kwor7Mn5c+WtxJriKNbgMvDuPQvVNrOvJ31XgHsyEwzB9MvaNzhxvWGLsl6ZSHn
io6Uzd1yizzM+aMtw1vTZOEKI+0Q6f4I1QuRLJD5j7vMygOLUHn1mhCIgqAvPnpTcyn4zixj662j
jOC05RcehCzgznVLqrm+F61ZtrYRJNZwYPuzaFhv947udORMuT2GLIWD8LhZwDXZyLtSX7jBmQhw
V4sZTBbG1sKw4IjYjgfv5HH+7f1APhMBaxt4eJgA02URW2ysrwoRXEmp95JoQOVbT6c6Gy7c6MyC
tibjCp8VDskaeOtFJURe7wF/SUmwe/8pzrSSvTX7tnNrvE4VDEeghybgXbxpT6Gdc11ClPiqWJwm
Dnq87pLVJB4mHt7rEp0zh6LopI03bpRFnzei6pKWwBlpH2/tUxsF8ErwAVw4Zqyb4zKTu0FPm0rg
/UG86VPr6GenrrceGi+oGXJMa9iavT8Y50Z6teQSQmZfUkxqWHclLr0H64M1V+9f+1wgrlZamucT
hMEQ6UZ9YfKNyj9K8oBK+zUPAzxwLHyaDUcKP79QvUDyKPHG7MKI/P5bu2sOL6CZUEmlALPbrti4
zrTv0Ht9f0DOKOG7a/4uCdvZkIgNx0WBgIfCP7j/ENQ9Ug0/XbTr2+0iW7Phisxvfen42BxAftoA
alBczX4xJkTWPHZ5O2zKviY7CWuAL+9/t98vf2CE/TqoHmzLGkAIYXBaQ5cgcvdBVSZetfdd74/C
weWrcDDAdS3d5GBSV4duTMPywgs7Iwjorhmgfj97vOhx4SExm/aqfBRH++ylTVpt862Nw3Tcqit+
MM/+NTt2uya5VGI745jnrp1Oa9JVGYCqyIyu6R3b9VeAwW7HmyqPoX930x7Ntr4S9+N1cWw25Ahl
0w1/VhdKuP+duf/vur675o6WLFyq3ObVUeRQOEymDF1zHQwvU1QIWEV4yDRyMIfuyaQzEwML3Uyg
xgTNzWyN98kRTsCS0EI3m9nGv25cLoHFQCIJ5x5Zn9x0Qr+8tQ6pobTY1jIO4dITjxpq/QCFNDy2
0SIT4xYtzqYLfZiq2qaVny+p4w4ZAK0WTesMgEjq+dBe0cF0J2piPyh0o/7mXiZuWniDfOQnjlcA
LY9tOMouhS1HFAdc2FtHiWpbAHoZW+ZFz24vbALPDRnXpwNr1aMFNAVTta1dd9rIZVR7uD5OL8pC
SbEArncjAXD6GgyEiXiGE9FNMbfhNurK+aZVNdkwvxNfOwAP4MUwQiwGOiTwfSp129y26I0+4azn
uHEZUOctc7rommigAUVQQ5ukZ8TE0TLk3yLu8hjgAeeFKgEnwBDIDGcMRDK02ZegjrxXmhMR6yxf
7iFlwUArBdBmoZGOJ88WkDip5hGoW68G7qu36aLa/trxF6AFvLBydsy15nF2f5z6/f6uDsfxVQRL
k+/m3NKPSPLgfuMSxLRT1sdO5ygnKlRIJzs3r13TZVulZH/L/Co8RgDPJliT+VU1CQpwQgP4ioGm
32YuhwhNRynnhAAWmcVzSId0bkgdxm0n8Gt9pO0GxrH0mjnUe2pb2F/G4CrzAzX6VYxYPrAuibk+
BoDmQdt8BDr3/ZXp3IK8ymdyt/M9yPjww1S8TFW3KXJxIVP6/eYHftWvax70PkHidTQ/QNuuiH0U
yFUZwVbmz0Q43LUwgeldOTXAMRxnOTZoHQcfy97IC6iBH3n3b6Y/p79++6IUZiY9jhUwUPVTkEnF
2yL7bJNpWNhkNTQORQa9o9kb81S5TbTFmRyunhVUAVXtO/fgHXdp0WAjcs1UH/ugJ3fo3V1S8ju3
oZBfv54erFaGF/YIhmuGXLTYNQVjcKfvdZpnxYVXeCY41iR330E9eOngZ8w4nHblbVa/vB91Z2Jj
TWUPxKTgqKmgiVdgEoCD+cVIhLw00YXt8Ewa6rLTI/1UTlIw985G09EDEHXVkVG17EOcZ9LFYUCJ
N+AHe0UO1mmDGhlAX2xEvQkYzru+GqYdBbZr54g/SwNdtoolAHuqzJsV9ublSjYfqlbGIrxwbjwT
CGu+c40kcAblpzhO7R3l7ZGz6WqsvB343ReC4AcI9DdTYW0XkzvRJNUpCkbMr2eAgeR1m9XeVZu1
zp5BVlTEWR/5X3lvlhfsHjUOjl6xrYLKjWEoEOF/OvOgUARKsUbKtJ4DUIVVqfeV53nwdB3lHnQU
u5OBVoChayCBcqFwLmHLfjbLsI0inzxodx5jpO7D1olaNx1sJ1554MwH3c16VwKZeMOg3XhbEXRc
ZUvyJGJFs2lp7mzaAOpGamH8WHiWpVGXe4DRed6G26wCHg3/zzoF2aMA1j3kgIVtwLz2Ew6k1oUq
0u8LI+7ap6VjyCidAWmUTctmA8B5dINTN5gEFw86ZyZrdJprP0V8D56xEg7KbNIzMM0ND62JLoTA
j/rGb0JgTX/U+QDMIUeUoX9r+3gcvKC5krCeeWKwz+pimLiAmSKE732sKT/0ne7ipZev9VDsKegw
X6RbesiSHLMcZMC6rTfLaFd5LQXqrL8EwjodUX7zLdc86HEho+39qT/Sbm7TtjL1Rk51sQGe0t+X
AJq/uopzaCrlL6SvzIUT77m1bJV5F8p1e+gGcWzL2duk5LNv3ZeZBxeODude6+o8VnXAr/cTynZS
gN/1mhXP7y/B5657CtSfwqUq4ciRFyWaRabZ1mLeBKK4sHmeWZPW9GE4JBCYjWHBCEM3bkHJcrXa
wLh6F+pLgKUzg75mzea1CfvBGftjM99agNJ8mFQ2g7v9s7FZ7a5cIdkqm1OpFBjVgu57/e39C58b
mdU5cM7yOopczFHgkg+0Db72w7CBU3eKleaPYBButArHQec92ovYCYBC4M2N05aJW9853ZR09aXG
7JnHWNNkM1lCdbWi8tgv4VM4y++tP12V2XBLiz/M7tZcWbCMwnw0tDjiPvOmrBa68aUNLixo5x7g
VIP7KfgnwOWV0zX6ILkvNrXpvQTSu/6LYlHwYYk8fWEmnAnTNWO2cMzEZ9Dkjn69bJjYV0RtyCXR
7XMPcbrpTw8Rjn5jBaT0jl7W0Jiy8ZmH82speUomLLbvR+y5JzgtHz/dxGY1FrcQEUu6bd+wOGxF
kvGH9y9+Zg1a05iAtIdHiOf2xz7qs9hvOx5jB6b7969+7quvZjHRkAFuWdcfebikBjp68LIa/AsJ
5rnBX81k4sBcqmYoobfzNlq2sBIdc9Aytu9/9XMDs5rEWCeEwPEbrzaENEo4JvoSlOjMoKwFTwTy
xT4nKMSb4tXNv2fwEO4vyW39voLtruVO5sGQaZlKrPuDOyDX8+RmyFv46aEKmvJeyb0Y7Zz+GKJ/
/zr9h/iu7v97Xzf/9Z/4+asCoVCKvF/9+F/PqsZ///P0N//vd379i//afVe3b/V3s/6lX/4G1/3X
fdO3/u2XHzYNDnvzw/C9mx+/m6Hqf1wf3/D0m/+/H/7b9x9XeZ7b7//866samv50NSFV89e/Prr6
9s+/yKmH9e8/X/9fH54e4J9/PQ3f3v73739/M/0//6LsHwHzwiDyXQ5jS35amcfvp0+I9w/mBTxw
4YsURmF0ejmN6vocH5F/EOJz4pKIMAKELz4yajh9xP/hM/wH1/GJB5GziPz1f7/XL2/mf97Uv0Fg
9V7Jpjf//Cv4UWv/n8wsooT6NArhzu7hhiFdVyl9pst+6cOPpluG8DnXVgMwK3QB9s41g+to9F24
6OPlaQ+xobb77PejQ2YUuhqcnGcqPfCPF5VtQ3fiZZvqumZenlQ+HK34zvhLJZOspRRewnQC/Jds
M8kG6OjnQeFXYFyFxOzLGhjHRMkR9SEn60NT3AyQwwhTA70hcgsgSohLD45sxjKelavQJdFh7eVQ
ODMMogJZXsxox6kZGcJ2ZDQoo31UdtSigVFFDOQJmodggp8IIc20SB1L3nJX7aAqr5AMFWSSYjsE
c4UT5iKmEfpbTllEhzJ0xFBt+mwmXQq2sDYSakp4lwdUooLgG8oJzL1RQReA7TzP0mvjLPcbuQXL
qA4gksA6N9YDSg+JajqPoHncgCa++APox5HqPGhFIUJ6sITa/ganhUXHLBhnEJVgMlq2f1OloH1A
l6DOFbg5YCl/KYYFNgihEKpD5yYIGtQvZ5DSYz1VFuzxxoMCTlxDfmABP3hi7Ko3BVB+s/Ib+DRJ
IvhwdE09lBtnzBWKhaSCCSajnnrNwP4Ewapz7FUOdbs+noQ7tXFXVfp+0JaF8cT94QmvC3VXE8me
HjWc3EsYnDcDvZlqNoAyVUKwNiZg5h2LQZgQSyV4ZtsSRTJ8PVItNoqVQXF8B4Us8i3oo5MQBOu6
alMigCFfNeRljkVw7qE37RqhNrmHXxQZbaJEZ4pC2RwUFXD1oDAxHAJwj15ROIS/nF8Q/KUMQM+i
Wwg8Rg8qz3KANEZeV3GjwnICWaZnGMxmnEBM5/2CB/b0jKeMbLPwV6+q/SiFLEDUblhJoSwPXjQJ
prQRXj4oSGDpnMV1lQkda+VXVsd5SwZ2F7alDIqEoGA4pWWt5Lcxo/m4i8KGUvfKesFE3wTUnOlH
F7YlKoqtdloIFPHFtwQgLrPQYmfLEfa/U98pNOMqVHmTSbSUpIOQ9K7hKG1vuoUB4uihITmlCzxV
QM3xA9Snicwq6HTVvIUcFAM9K57yIr/HydB884cOIjNLweY+FpzhiD3TFoQLGPDKPvaEFfeYsdMH
RC2GcXRNI2I5FwEYhWzs77q8xKVJTvBhAcwwR1NwNnzLB9p+4sAoo5Q4kGw3Orb2U1F0/eemDt2n
KFv8z4s7Rh9a3dUAaUy0gRuTUN6eRZUYIVKaD3C1bolksQlcPoKeGE4woPYLBFvVVv4YBx2JwhiY
WLqkGu0QqHSDdgnLlDFUV35QqSnu3ck+spp3H6ugzU3cgqbnQVxkxrdushKhEuWh/aR9LDExjEuq
cQ8O/6yuu8VZttEIicLPE8xeABs1aLVNd71LWJ+AFJGjxEHGGv2qamKmOcBfMhy2WKpmmhaKBP2T
8kAJvWlED5xXCTpZDZWKtgkgqEDCAlIOQNfUxWiSgHrR8tqX3MkfnZ73k0wcDRJBgQk4LxNc/yZf
+zeCYpp6sSFdBiJRBgOuxC5tIHaEmzzyEKWl61qIe7hedwVPRV6no0VxbSNrT4dHtDn8/qpUkIW5
mYGBco6Yt3kEKwYo0+l05HrqEjjDuWEC/fkO0Mce7RA4m1Qw1hNf4XSS28/QIulUDIWOoU0MGIXO
a8NsQeY8raCNb0O4iEwzlJxyP4IcB7QO2FJeNYUDZbowFrRziz0f4YP7At2U4E6KGlIdvYj8lxFC
pdW1MALqDiS0XbdrUd1zw/ojug1YyLh1GjpDYcBb5twFJwT7BPOPZJAZmJND2b8WpiydazuQdnhs
ILjQXuW5yeB7hgmTP9VoEsC3HEqXdTpROUGKRPFB4u33A99WwOqDz95DjOFR1AZtVJSn+gcGPodM
uiGDgD2pnWLa8bnNshREm/o2s5qwFBp/5I25kGbY1tkwwUzMzetbE/hQy6zCBeRSsPYQkq4MFEl4
ZLROoMvSVDeBPtE5CxiL9rGjKcgcZV6hzURB/fvsm6CH5EHIA3LXmyqbd9oBXW1n5jy7h7VCnsFW
RI3zlYJIt0pc9I++mzBsP4bNssxbDsPwG6vn9kZgbzqFhuseaugZwelLurzYL2W2dDFObXBzlaHB
7qmw7xJIdGBR2UaOCsU2H6qwEknR2vlEo+3tm6Pq9pvgEytvnI7ocFsMTavjrOChSYjrg8tp0ZdB
yAiT0ZhkvnsYZ1VAU0hhA1BxWRsoghh0WMtYa8VZ3PMa1VwxskBCw1B4R0k1KIwcFMzPLPAgJTx1
PK+2WXM6cWD77rGq2gqiLTnkbMpkJll58CPhT/G8LLqG0VBo9yVUrKCJUrTB56nNBQjNVRm1esMi
D3KiE86Ty941Vb88htpAE5ZTSncAWIXqgICaBsg8wtMx6boxfAJivZWbYnLzb2FWaZbgjDgfSJU1
8FLoCGzpaQvU7e0Av+KDoNljpReFS9Zjdcu5hfMec+bmrR5M+zw6JmSbCeRuuAjAQKShNzoQiDEp
Gm9+mcPc+T/sncly3Ei2pl+l7O4hA+BwOLAFEBPJ4CyR1MZNI+Z5xuv0qhf9FPVi/UUqyyqlWzfL
sle9qIVWpIgIwOF+zn/+IYmwPNHGUfeIYh3XWfqgbzMru0OAvdWnbFjZ+Sk+kgd2EvEm6jFPj6R2
pd8kT5kbigWw/ToNtjO+rzzfHw+Gm9UVXjB+Yl95E4jXoVJT2x6rgcFdkPsl26JyWmkhOC3bxnhY
ZCOGrylmJ/YcuoOys3A2/e2sOyL+knaJn1rh1CRLJ5b5hTRGXWI6MyLcq+u2HHcr9/rRnsjRCfTc
qcvBl3TP7myZXztnxNayS2LFczXF9qVYWO57JcsyC72+sAdk2JX6lC/CswPqOAs1kCfEtTnInCfc
YzZC3pLI552tTITTJTcCbyQHL9osdaZzgo1UwnNrzPddNVgz7mk+RUUMa6mJjK2xUMe28RojAOlT
tuOh4MNnCIA+42SrBiaIyfDJZ+h55XYieTEmDGKsxF3tnVpzDJKKpp7OOPMrrBYmhVuoK7ep36XD
QCJQxQl76jOz/E6YbXLT0yh/75fJfB0p/bCWmoQ8ELU05iEW02jva+yu7NNgTCbRd5NrMcVt9QcT
r5zvifRr/dJ2mSDIxsQVEfQbLffbUiCIfa4RS+C6FCdjpQ52inQKGSO9wr9jgf7cMF9aACVoUXzX
IwvR9n/lO/pTK1ODLxUkrV2XPImmKHY1Qq2HVEG7YGFO3b9TO/y3azpK0nXYUFYc38TC92cQw6Zj
mrw+VYGymOM6ovEOW24su1UvuEsV3Ow/NGS/Nz5/bHQumOxPbQ7XU460BJ4Q9Dm/Xk8aWCcUF1+f
eo0fXM7bkHs87qxs83dA9HM0MJ6O7LHyd1iXTf9mFPQzaMAddhSDcRczUywbICL8Ah5sebsOiZVT
PdeuufMBb8iQqr7++Vf8GT+4XMRXwrJpNE3XkzSdP9/SbGiqZGEzD4wJD+RmdVuHPdi0dzGmGp/+
X67lksFlOja+/JfH+wcMSltZH3dpjakYRVc0xEb50s6+eTPi3PHvcK5f2EM/vpjDhTx6XuxofqXh
GVY7bwXKLnoadh93VdhYz6W5Hbu2HcJyKEhnouqOUBK0V6oU3mfDU+4OlgIFZ8O0i3PHeVmWdvjU
FNV6tRkNtLM/vyH//Qn7iofsuni/0LT/qpqf4ljUOcmQQVZ79W6cUphERqZ/gE9/CVk5p5A0+vr7
8Ctu8hPUctd8q56G7tu34fyp+fU3/79EWFhCf4Kw1OWnImWR/oBrfmAy/I8fGIu03jkWLhCeL33f
RW4NXPIDY3HMdz6OCwoIH3d2ZpIgjr9jLJbFjy7gi7Kg1HnyIhPuf2AshvXOdW0cl30LfEVaEqrR
XwBZfl0b1PWWQ0qVwFnY8xz3F9TTrf2592gSqELX7nM6iz7IRrP8d1ZBl3fuj1vcb5cRwrVdH7cb
CtKf30k7zXpNu2UHbpH1NwY+u6duHqwI17lml6hVPf3hCfyLLdV2LtvWP6/oWZbyWfVCQpEX0nZ+
1XRrkKNZd0YSoE/LzCHSPX2MGZhVCWspKVdjMGi22pFOeYYQQYhf3yQg/K7SXh46g1+3SUifODx0
TlV6VzBTHX/vONNae3SwCUdVOPhVDvtzGgxtTGGaZvMgo9Tz4yGNDCcRpo4WRfKt+I1cPkMWbQwG
0YchtQCYqBZHx5pC0o6wbQ9UI1M1X3dTvs5fLKtB/nopUHy8k0vTUf4UTrjxTDhm+/WqtnCmu3LF
WwfWlc5Ri+1SjAGiiYuORn5X+DjnXXYFTkfbT9kJj0tVxDR0SV4J/SoJ090+qNYqIJctPfqX49Cl
/F7YDZiaHkyndUUGzrEpv7xgGTWMNgxN1sWMJJxpD0t8TReFnBXEa9kAe5ZCBh7tdH4qNtd1IrMT
bmXvkJ+rmaYkLeUiAz6Lb4eeQSMLyyfp8A3Pc7oYfDUxt+wevC4lq7gcJ8OnYOaLa6hQdVdeExRc
vDhl0bqnOPNzyuFms+omKqWyYrz0zLI/ccStmGqqrrTr72s2dM9WOVT2ycCbLAWC2gDKcDxJ4MxJ
a/bDqi09+9mx+mYJ4iquxl2m3DT7WseZ24WuSYzo4eKARFlEaYMFn2785AvxKZ74VtWbgzUOy8yC
PYo9OaydVlhGtFFWCAdVjzN5n3OgzXzfpByxe8cu17wLMPxrZyN0gQYwvXVmhfeeyrW+XpC5lo/N
Zhj1lasqA1vo0pzISgvamNbrRizVOD41cWe6ZxK7qvZxzVYumBtFbt4WszkLaCoWyQu0jAYdPEPb
nLgpjhSxK71euBvd/Dw5sMukmdb7i0LLxasjbl3IRkkzwq4g8hofw6z2SWROJdzrk7XmJuZNU1HW
zm65BCR3OydOJxQnRQbrjMamLVS9j9GubW/+JGwDUC53RvMRlx+YpUPnOfm5LXls96Jubf+2i4fG
CIzay8snIxXpeCs9V1jPTteTk0GxXhknQ2/lkXwgL5Au3pqJNWCzVU0OsTuBO+uiuk0n7JvPU7oC
xm5ilc2pXVQZt+cpdmYq3KIz/bYLFe1mcYAc0qyntpTCxalu2NbbdXPAykbVYIY4ky0xNoGMty3B
C7KlL7YOaUcNeGysxu3e/Lbv54d4MnUhos3vqumpyxcHcqlptDU4Cp1q/pG4rHK4NqY8995nMfg4
u89m6UFHo6CF4413wQDHMCEhsN0e52mR/bZB+1vienpyIIJ1zdPqDyL1b9mzYNGE3WzHxfigDQij
43ULatR5nzdKfbmdsBDT3fPY1I6xPuFT6DQ4XQoAPrfuGvyys0nFmHi6m5k0Ue13AGEqczPcgFQG
yzKYE5fGc7KaWZRBzVbq31G5EZ2KH3OX+1lglKAFYZ+b8RJgxtDE+63D8uygACBJl1CZkVGwVAaB
Fv3gadLNJG3jAoEJ+6vMSFfujjk2J5eNw3pv5EYrD1WRqoLSTGnnKh+a7rqKTRwxc4fHEeDQlWkA
esdevWjVG3bR4UY4t+8cawH91A8Ecnaqpq2OnS57i41p7fzrafWnuHjwK1hi+hxPJX6ksGMLlfy7
qL+fj0tOFU8om0NcQVC0XCJmfj7H6JfHQXjIMy+y6G5Xkjy4XkCW9OXPz69/eR0mMDYOo7Ytf01t
59w3hwKqZVDnTQsbtmimp6wGfvjzy/x8LP9+SCo6HGoTnzqE2uSPpbLKUq9VmssYJKa4p61crluz
PfWd7PArBvnd//n1Ln/vp0PZM03LthzXF5Lp0a98fl2reNlcbNLEBVPciOUqg03WdVQpq4/iMjYD
RFPmp1w3c/jnl/65A7k8OZOagF1ECO4eVJKfv2ptrkAeOWtskLrYZTP+rKQPm3vThP/+1y/F6ErZ
TMM4oH91SOCwluUkudRGcNrdbOXJzWhlNv7K/V9SZP22HPkyNDmOohqksfr5S43rWvRKbAnWYFsP
5L80fCENt9Vxhir0mOEE1Zolx0kU5Y9H+Z9y/7/si5/Nn5T7f/9f9d+YH//9f//tU/X1b/fd3/9P
9SVtvv1U/1/+xI/6X72jqKYYZcUpynnrIub4Uf+7/MQSFPI+1RUN8qUo/kf9/+7STlo0DMKREjEG
P/pH/W++YyH/9sLiBqkIbrLZHf5CB/CLt4MSLFHHcaVnX+p8x/51ylo4NsMmGAN1CoVxHpqTyTR1
CaGRH80i7c65to00nIdsYwxVjPqkSk9S4BBFejXhzVxEZFuV780lbu+lBkDF923dPq7tZESMc7CS
c2PsgP9wz/9Fgf+bk9U/txI+NVCuZ5loboAsXEtetrY/dPm5UzM/UW+TJCwm0JNl3SdpTGr0kPfZ
QyxAvRNmBw/UmYx8y07Hd4Xntri62uIsCuHAlbeXD4bZAWsurmLKSfTQ9cKQhFLcmOa3qWyqZ9aK
6ezo59cdBHL3BsW1hQFiWhhfOi3nb2Y6NY8zoTV7OYrpc+ZM6dmItdpNCUBH0HVVdrPW9p7hJ9bx
jBWNKlRb3m+BF2/9d5lrHKAA825EYUh0Cj15Pn9+o35mV+B4YatLG8kRAlLvAb78fJ8G2yff7XKf
1BAJ079NRoY2eUctZ+PdGVgWgSC/XfE/O8N//dZl/s87w/uYDeFnHODSlv7OtZDvTN5jzlhOW8gu
FyrN71wL/51UMB0813EgYlxYtL9vA847jhG2DYoOulkeJbvKP7YBYAXPvmwRlAKAB4IX5C9sAsSe
sQ7++T7xJgHEox+TfA5P2BzSP6+TuViznu79sW3VRqhAOniISBjSzUECC+i8xt1TS15uExp1ockJ
bnDYlLXwjYC0l+TNmFVHkci0Gy9Ti3brMNgjkrpktVTMTM9nVFlk1ozIpYw3cEAJjhQl2Ta/mkUt
19PsZavirbhMcQc/1c/TMEzLDlpW5gUWE61P2KJTh8Ia3tqb1sHERx8EY9F5DnJrm/SDv22uIhaZ
brO39kzTqqYJc9funEOim8a2wroY2vVpXuOLTkv2Imwnt2RsA6mBjzo3aUk235ilTx0Ej+5gdvaa
hxj7Tlhg9nZNPglG/vEhTgewAXMqzTJgsFm+zqOBZCee0GJjh2YZXpjYOvtujrbzijNFC7+6BARA
7L4mlOhxRah6P6IHtzc2pZDM8q7dA2aShr5inC0xnqdyZ47HRBi6YWMe/RUfnYN2s/xLppbOiLpm
ixkk6KGw9tNsio/4l7Xvm7GPmUrBvth7m24VIWK2bQWzg+KjMB3uRwvMAa09tZR96Aqq/TdG4/kX
iaibAerWbv1LOs+z/2abRvOWEXCdE3QFch2hcSpO2O06824ZSvlSpcP2Ca4/68RIqtUOi5I0hhDv
uWUJDSrWPMIiLtKzTVSGKqtNM3sjr7FTeF8zd+5yGluFHCD0bOZwu3bz+7uZYDTILKz6hL52QQ5W
Out2ozyGSVE7l0t+pMFxlmhqLTiAVYJII3D7XjBmiT1tBK4SC7M7q/K2gNVFLEteMnAO6VJcDZ9l
EpqBCQF/AUM+k46MFsyMysplEIij9ezvLOARRjlrn3yzSnqboMNMuwlAznGlnTX+DqE3G6gY/Fjm
9FK42N92tp0y1yTwoYsQMwzJuRJZ/tmieb9faA3LQ7EY6VevH2Y7QOuVpDuiDabntFT24zwoPYuI
8WtnN7s85Q3oQ2/UImfOWOStfsOCzi++x2V7icCzZ3cbT3EK9elyxi15HW6jdL2w5g1nKlrk3pfY
G2cVjNjx9oeE5UaygzWtd4XYhHsxr+3kmSk/OQFJPU6vnSfcs1+XVnMwt2aO95VVpZKUCGMawuqS
wbyf0zW9sktv+UoLq9DQYd9sE7uY0if7qkmKY4WwUJ425mMH0WTDZz0k6jkh6WIIt74sHjik8Now
3GKAn+EZfQ6L0xjT3Toi67Ubm9K/I6mNNA+53HoXVtW+zJvs6BR5Nx9KjsvnecYJLlgb2/9uNnF+
i+Putp6V4bV91AnbfRrsdH4zSYBk62r9cYXKnyQfZpN85AgX4tIJGTLuRjz9u9BKMkxKG1rjm7rK
2vaxnlENBsLNXLnDWKZ5kzK268uASbwllZu9tCWlVFgyL+QAzV1VBx5REfeza7PuZNupiEGAjKPe
l/n72NeOvsX3DbZU53eobOvUaw7byvLdF57qnLAw0hwHbQIi84M1DOt3ojqqpb+RI37miCNFXtPR
62ouH82EFI5gbPL5E0SA+k4V0q2iWCWbCkmSXhlcD2N5zkaHWeSS9Gx5omrXu3i4zMj0aM7tXvpE
6BEL3fU61NLLTP50igll5SRZ/+CYCXGZXepAYd88wFJSwuAeRMbcl9nRMh3+TjnkHfyLThYNhsIe
cng8eNP5s+9lzrB3h2T5Qkrm/Erxqj4DtFqPRMZ4e9EXZrHzl27r72uJ8qMLie+Oj2QXIm91i9T/
Is25klFNZTRfecNck7QQ9wWG2JcgEUx+pwawqZXb0UKB4++kxlUjWJasiwM+kuvusnzcPg6q5JVQ
DJm3cIyLuopsd+vJDfNtNe6WVRjx3u4RCyH0HJENzdKHuVFZyGy2Mb9oi2pz/tDAfvEQgPfelbjc
ApDNjkkzEYj970ED/6mUqJSoM//nSikYuzytPv1t/6mvf+qbLv/tR71kv3MoSdh2lW9dJiEX64wf
9ZIh311mpbgBWAwTgGIuZmz/aJyosjxyxGmchMKp9TLP+L1igpzKMlUUYR6jFfT+f2luYql/0YEo
+jf+Qc2gz/81i6LIk9IaW5t6A496lKXtditKX3wbDHC/qeinwEEbDDWA0Ppyyu23Ks728J2OQC0X
V+nFx8tkJTBADzuwNB3NRjIy4cZfDJNgdb1pUmviAvNxfCH2JMNgPlZsIHVr7ASD7swI7mQdVs77
rhuu1rltwsLmZGF3aY9j77vXdZ89JcZ2mJd+aiId67u0hmE1+O7evAQUrRfdt2FDSgEDvIOYMYa1
z4lnGSkv39gNjx2ITdSs+gEC6YuuCL002HFatS8TPe9dhOMv1GpVaKnqZoWlQCu4mdEMxvOKMjw5
NFvZEMoFoXvrxRJqt50gOPTvyymTd/Ngi1MhqKKUW34vC+Wjl537e9PNtu/SSD/a3oq37GYVUV/n
2YnwHbIMuOhd5o/OdeXN+QMTN4yDEohVld9P71NV1sj+9GJd4WhPcrAFCfURJyMjJHzxoWFSgvD8
oz8V1tclK6Bb9NlSzhGRRObDuqCQgJXr6BvPXhqLqzrbuR02cfaVWdW7mbnAPi61971NLLlLEgFP
FYqo1wU+ovW32uvRl4vF7u/j3FYvRasFEDOm4vd1W5S3greCxNyLF4yMlTj10pvb+35bqnPaqe/+
UKROoLmFE0QwmFUoH9WB5hzNTNAPfkKoWaziGTeAirJx7KeUBEnci0MxIlSM5rj0X+3M8ZbPfR9r
eKKtedeUonfCYSps67k18eifOvVQuQZd7WalLftvgdKeCUkNC46whxFe0A2hPN2uzkQFO7VYyqvF
Lty7yedpJHna7JhvbXe6a24d+zIqJHNtuS08IYARS0bYsfpADW7nVymGGYfacjBjRMRKRbru48r+
WFJqwjUwwwG680uqETRtNRzRTIB0mvLQblJEmsxmGHDbHRVxcrVuUAX4FRE/XLiRpLFUt3p2bpzc
vMly2KrpFMBLelVtdo63chd76XWF20CkPAoeROpjmTOho38QlXGkKaH1aILGIww7AewMJtkSNpvf
CbLKsU4IvZzRXdk/494QQvstDotpM7qZltuFqK3BPQ3icaqfWglJcELIbX/JxcYRs3I/zVdTZv3j
mI93+jLDc9oD29G4h80TmNq+LjqHzgqcWlQRSsAFQij9VGbvhqqcdv7mHZkk6mNhYrZFjsQcG/61
lzbViUe1n4rlumiWkOGCDR+XtK9xWa1wdvFZSJP+anLkdi8TrotabwHBj9WuVUXzxGtzY2X3a2wz
pPuYMqFIzCqEvH1YvRQWtH8S5Rb49H7kttzBKQubXIX4k1/TtUZJ+t1hV1GLlZx6uIvvMfl0A6Zr
OBO2B6dWlFa62+lEvVeFpj7qS8k+13/ED8G6gQE/hUuefq+L4r7Imh6yL0z+0Wxfm3b+amhf71re
xhOMsetlKaNxKW6rtmfsnh4sY9mO5Hh/Xqt8ic/FpkU0p/14WLNKFw91zpQ1N2rnAq8Qhky+OBza
VASe3dwOyxDWWZ3Gp77aOrHPcG+MMmhM132ZrAZMaUoIajV8LZTh7+OWaRWuDYa57ta+eIrz5Ftq
mJ9x5GSLS7z8odzINZvyXaOnbVe5DuxJNRqPzqr7r2LrHpl36Meu1Clor23cZgns150uoDEFk+lP
Z6nXnFh5ozvOTQ1xWI3FKY4b64Nv4WJRl339atTVFNpOp3cGlO/HKsuIU6LD/ZR3vX92RIqVAPl3
arC3XddQk6ATyAIa+zO0gScmQlUoU++1MMjVXIoMfbc/UT1N5k2XZulVInBv8GgQQoe8hhvNpIUy
y2ec6oV9Uz5bxXxfkGCeDEgBu20oblqcC+4wgGLvT97DQdM4GGDMVtZ7J/+U1iKUSfyk0hUOQW1+
81L3GJOcV/X1cUovlW3KqSLc5Tqe2mZn5C3Dbfvs5eOXckn7UPdOHeZ1/tBZ1pfW6CB/xyOHj5Ue
y4XEv1nZu8bNd363UskuNI3b5sB+V9mywzICnjIh14G/IjYrhFuyFcIYRB/AkHNrvmgLK7QCqv4C
5fTrNBfeQdbVV+y9r+acvkbFeVhKJ2zKaQwrM9llurxdy/SubRnyZN2qwqlKdrhR4TGJSBgtQuV8
sJYP2/bWSwAEUL2Eu91Rpl4WHSlwL/40QyPnVBucbDeMy1Eab6lRHQgCimFcbi+Q9g6Z8eZ2/XFs
5zM6iOfYmBFHdG0VsUoC4jADCH6H0aweumLaO/Vy2mKX18F2Q0dN98xP71AXXKfNtAVpVn1WKmFe
6/VnGzbt2HcnYhvxDCnOBO69123yqh3japrGq5xFXKMwiAd8cFw/HCsYCCI2P+ouuXXL5kS7HZbq
vKnxJV2NK9sQzwYCHYbqxq3yq2/b9NT2Ktlbk87hM+BGO63Od1fLncjkgeRxZ8QEOGNmbsZo/xb5
BB72uvbfS1UcpzI+M3zFXv1if2Nmt3Vh4ajagYR46T3tS2CPyb2PADv0koLR72rymtMyM3Hce15y
TgTxRxhWlMWXlsyYuJE7u2+iDGRjvJhRD86895ePeAGEgsceJIsUO/TFZ58olLY0jJNn9qcC1qQB
/wBr1cBEV5/0LwnRMWJ9Wefk4JXxfiHdEQfYIsjMubky7aUO0nh6nFqMbLeF9IkJYYuPG5T2v/LS
Ev8nDrro48BUej3JlmzBdDa+ug0UcN/fc8NClgY55cmpLqHjbt6B7MEdVvKR6T5Lo/vUJeYBk5to
Y9sgFRJfjqG7xUQHxsrwaJOwpUQRVkZ7WqcsVPD4tUOIMxlOYW1C8cjys9crpv1F+Zb337zCvV2q
/tW21v3Yrkcnl3vZbBGBS0VYVHXESBxE/xQr/A2KzSxDuBg+iBAR6q3pEmw4ErSTsFU5NzCXblYT
93jTih/oTd/TKRvEsL9t5YjasKiP5Piq64WMAb6ov14N5Vce5Sm3uSc1XHc6U16tYOmzaMqdK7fX
IFxTftth7ojURT24U8mcfsTdn7HquVEwk7dU7frEfowbDZpk948thcY0TPdGwrG4WJFM5lO3JWbg
mz35A/3BWmTkzrDvRP+EMot2coB2AqOliXrGG5EDveK49c4rjOjqGZelaidk71+TxeIGxNwwelwM
+Yxs7NWqn/1tuR0a8VTXSySZg+LF8JB47bVr2zcKZ0/wQCpOx4/gLFxhehW4cfvgdPajl07HxU4/
zqZ3T0++J9nYno0o2Uxosppk2Rpfpv6mnL1nQN1pv5kD4iF72JcO+gSFr0UhCaPuhvctzBVzy4NL
bUogpfIDk1PbTxDZeE4wI/VU07BX64uTMTk3nWIPajMe6FtpfQOvTY8TCpadqVJrt0rJUm+8CIbC
zvDtL3H3uQI3QOXqJiwlB4aIPX6AxfJmrd5Hu1j0lVTFzvNttgCL/cLOXkRV7VLGxIxZL/Imzgz2
hWmr/JBBNidHis5LKP1pkJhDTcWtgLBLdRKqKg1F2e+0mMndhWhK2pbQt058q9OPFVoiz7kr8v4w
QfuQffvWw0AoCYNqyXc0GvMjgeb7HLBh0Ekwx1BwzXonaw/neTIaWrPbw+yPBm3Dl1HFJ3hLh2xZ
d17KA5HGs5phSqTEeJLVStt6XHBTim2fxTM3YdnYh6oy9CFFaoer/Q6IzSVjQukD/rZB6+hH1X7M
So9ENw/bns15FHii72RroETKvb0G+IXNHU7ouk6Z6U2hUjc0eHtNDmaKKoRM1fxDOw1Ruqpjuvi3
ZC5B4C8+gyeEjvWpV8796qjPVvylMN3l4CaIJVqigK0XUdufiI5lzYjntMuTfQnc49gK4QV0fgpL
Rr511YqPibY0wcUtB2mFr4cRzJfEl45GMrXrOmi77qlblP6Q1BqqCiK79dwDVe2HtKGGcIf6RGAQ
B2aPJsImBjcS2FqxTbjXwsk/Q3Z/ndmfgd41plvGZUm6066P03t7FZ/LRaXRkrZP1qIwuJq3KyiF
LxhRPs7S6V4yM/+aXc5Snd8YRhnY1nzotvRBkuSzs4kDBp362rfGVZeWRPJW7kVhEWW6+9o6c7iy
hBB7nOGG30IL2fVFboR+jz7NRCHJyb+bYuMGsL6/z3zaPcD3/FxNbXbb+J2PHYy0qU6LzgdwLbLR
t4IsKzs8IEYDM1FfnMY5l0/FYPd736uS18FV+UdtMFEvKqykU8fub9yCsh7C0vbRiIc2ZBxg7GDa
Epm7Gf4R9mZdh5bdTKgk9OzuByR5N8L2ijkShFtbgXGJXI6scnO+T02CwlIBat3mmRjvsEkx8lBu
pMsiAISpE8T9hZEYW12SRhZhyqQZpnZj3dTUuXN7qHJjrP1jVhPSG2koUfIDUwjIagSqxt3BaFbj
rN04PbDSSjht2xQs6QWw3SjB75t5yktCTGcFBUmnt34qZppvYzgNHUKkqUfmFORFYl15NsFEIQnb
SUs0XY4MD5YRPCkaDtQPk0L2OAF/AHFQWLyM7KMpzw1oOnQKwz1uwpt6Cjk9L2GxIRYlCrS6aBlj
Z12jhMTn/ZxTbCDI6COK1OHoZmnj3GIaX6AMhK532kgQQHaHUOK4dqq79scCv76SkwAim1FRktVb
iVUIaZrMFRykc5iZq1s99EaYEibME+SHx5HqNyCivTqP8caXJ1KieQBCKlZvN/fGnN0x0JXk6jKT
3Z6lk6Y5UYbSoIP0/SRYfSs9lXgJ6cgx9PqhrYhx3rsO7xLedZeyM0belZlNfx0jJcx2SmnVkvHg
Q2X64nEsm6dB1XAVg1rJLhfHbMvNloAEq7WaszERQ2JBGeVGnXSF99RNNpMXQbXLSAvt72ZN9Ndq
Ud0tiW/tDLVSuctTNsrC+kYDl6hvaeWz/RC46VwlUrvLa4my42YYHPRF+AFgjr4sM8nYXnq0UQVZ
jy16SyDgbLSuNbxgdia0aOuhGrJCH+QAA5OBUQFQQW7wZT9rKu+cuZ7XBC4zPRlNAK8zYmHsDAOc
TzDrQ0HGs3C3rD+7hCEzGsmNCy82z+XnWmIkHVZoCkfC3Qnt3jNM16dOikSHol0meShjTa23DjKz
gno01V2zeLKJQFyNR7cv4Fo2/viZwb39sFpL/60eqFAKP5fR0DXJYanW/qoxp/qtsRhcBEsu7e00
m6tph6OvodaWBeqZSjbVcKjsrX1M0qy5wkAvfsAvWSeR124owNwl7vZuuiB3hVYTyjZJX0my7q+n
pUDq35vwHqG3rgxEB2Asd9P0D3lsfRtc7Z/klPtPzSC9xzb16rM9jPIBDoOkd6tm66rrm5E4+FL6
L8OcyYe2mu1L253lc1jIvhsCZGArwAacTlJi8JTi6c8ZgEgq/Xv6JxkuRpadeisugzZRtRNInStn
vzBxfllkMnw3O4+1Pl+M5VKRVE+VEqhy087Yt/lqX5dOTL9g3cCvBfVSOTUEE5/y5G4X0/ylM6H7
yiK2n1DT+q8+7fNVZtXxkx6wcgodEv2AsibQNjIShtsytf3XfoTbAD8X9R1svYXxeFUkh6mkN876
3vqSqwKa8zBZ5YcsXyUwY2yIIGuS+nYTVveN/Ns71lERiKHJvhuZZ7FQSeOsD/bAeAycCYGfi5Oc
WZiApBX7C0V73IyPWVuirBJoNZGf9cyjCxfuw83QeO4LQTtUM7HqGRWJyQL6sWjfIJ8PDctLgVu0
ctnA/IZkfg/mOhOBgPaT2cJlnFA7FMnOnXDRalvwRA6NKbSC7zcW+3Hp+yMwnDjJJZb32IdrmjVR
n8T2Meke5w7BtIY0SNLmYVVqeVKTSK9a3sIryLeIvhVWxwHZfJTPhpV+s/KNEmex9EXM18X3cez9
X/bOYzlybMuyv9L25kiDFoOeAHBJ6e4kg4wJjEEyoLXG19cCM7seCUbR7VlPyywtc5IRcAAXV5yz
99rqqSfqkh3RVNsyKPw7TH8cfClB12u/1YarpPVVjq3FcYrV8VrCrsXHpZgXGubVLc+7OSjMMGw7
qmzVD3dKTIVApsSwTaxSBnyUC5i2NFIBK0qSvAtxuIgVifqLWXXrREF+WSopo7vPRKfTPCqqzXXb
B1dkfm1HLdrwWSVIu+PHctROZJzafb4RButiSP3XTE02daLaAlsbo6ZbbI3blqBJbJhsOybiZL2p
vezNGtU4nUOnUJHGMMtACzQoOEt51V2Rjunt1WrUOPzEyqueNsIPGtBBuhbzXn+IE2YnBf6afOuV
TfgIj+FiNMvq1zClwVU6Dsrvno0DvmXSUtDLyvFjko/jW6IqyZOkNureGwXXHIJqVWG+xsDtjUa1
7QKzsHZNItQRe8I4A+onVWmw63RLfkyMLHpVGi24ieNJeVEnvYyYlIVwZcRqco+3SnrCSFFcKzUU
BKePCHj1q9JoXYTyWIDj9o7gXKJXTcHqbkYCSg89xjzK7mKj/4oqNd7LIdtY/qcNoTjilr6t/lpI
iXEZsEOSVr0cd89Vo1Ke6JvyRsmSdGuWmrgJJ8HgzGVMmww8qqBkh2GgPtR6F+OoTvbMboEGPwSP
Y5VKmz5I8f+Kbeak+Y3PEujSR9Md3fJB8vmhtRM9ZV0zmZYi7W0Wctrg1vxJDmGzDiaE1X1aU3su
TbQO/gVlLVrhiq+vVMh8TudT451aS3/op2FFcu22kIXgtTGImATneYGnPF55bdtscw93QDxpqjsI
xqWBiRiUq3VKyQ138qbutjVcF/YKAQt7tzI0VbaT3LtHChZtdFWPLnMphRVYNPpKz8fp1qjzpyGs
3qKOXOG05qxSYpNUs2zfUop35G7I3Riwf9ekD0KCWNkrlWdjbCksBZGw1hGhtmW7Afzt7QozohDT
6/cSmrDrqvOMmzaLqLQIabWmpkW/umFLZxLYRYG3Aqygnbrex2hK65xuseH9Qr5+QTMC9UMzbcRc
eCoLKpg54aFqyjC2cOo6At2hplWMldm9RkS9YpMFJ5jVqYPJ+eD5OlDDjOeC6t5YtWb3YyCyne9Y
u6ZoEz2w/Yw3udZ1K6b3DSHyMTCMOuavIb9QiVz6Qms/AZTedVa+UqV8RD/daTvR1KWdRbF3O2ZV
9wRcI2VrXVGsUHzhNtEeNTPf1C0mYkq7+B053Cj6eJBicpTgXgM4I8m7mQYF/VqMcl2sGjwnaey7
cWKy/1XlG6XSKROHki0hxEOTULG8Za5Ooc7sX8yp1yh4iGuO18VOktXOhv5m4xmRjuTPoLEz0pXs
o/vBWIfa3/85mqRMl3HBjqltfqgxpfPSKteoSuilqVp/K5gI2BL2YU4jYDYQESA6vTTs6qHZJiq1
xygIq0OPJ4+dLcoCTPXMdYQOJ2mbXKZVXJwIzLyyrFratUJ6V0vjpewPr8Ng7MuivDAn45I2/sOc
motbvTmxgyePJ0fSUEjG8OpTuJOjoLqmIy78jMLYuNHFOKFGUbVb5t12pSUJSNE0A7oqczN9m08H
XY5/NWQq2B5fWkB30Z3VWXiQYmjFtX+dVsG9ShFfjPKU+r3Mzr7d4SNDSxEfaBFuU9PYBkGUOPTh
WZ16tl9KuiWSeFUL7U2mNatiiB5n+85hLFsHxGF2iOpSe86Hzjxifk0mOk0M2yEWkwuLnJjUHmT1
buAk4CSzx7UnsqzS82ytKNQxU7osm65JmsveUPYyRTzsSP117dXtA7KT4MYT6rUGAvcoZcDXoDIP
yBmBZaA7QYljmc9lSVvRKfORZOZeoqpTd95OzFUKYpLbJOLPcSolZCS+bWIRohDYb3rFl9Z5q+Bx
kAV38Idq32Zp82uYpWI6fmoGRXZUQt9BsnqJjfgo1NIvWfE3CVMifjeHN7pXGmgX1inO6Nr4YW+j
wdmNnkAKjLqTM/bnVv6zAPwcZvBxydRgI141rlrk8aqeKCcWRUJpnYndSga8NYX4onQZvEjuJorK
VwTnx6KKL8BcYJDHYBSFAzRmQd9wWhq3eiACPpeTh5HiYxfIyn2bWvuWQl6GJ9Nu0/eyIB/CEMj1
w4AK78eQCqu4pOtiBnWBA2SU11IwaRdGVT5FfnCh5iRGsvXGBFZC71sbQ+mvWJdDRxT7R6M2ftRp
fuI4m9xzO3iktb50CnPX40CJVSrGABbcNvIvFW3fB8UFIJDgtm/FcN2O2k0UvspJH8Evr6nLlGO3
NoBfDBwIn7CGDL+qatBuOnQ9r6GPG2hVRzhOBiCCVNLD0vIcgU9QtXOBIqmNctE6pJnXsA02B+vB
5wgiXNAhF26U0cyectK1nsW55pbwKwlIMefvySzESnDYt1X1Ck946RapkKQuOZMNW5gsqVu6KdJG
k3uqzl7d3QD5MF2zCMQrlP8xOfQGDSmVxOoXI2CLQT0mfWMz6tNHjDqnQcXMBEbyvX/hKzQvKQa/
iSPSRPZBYZP3G5mNmRM0evSktP3YX3mqMlLcrCOURfz/EtHyzfi3UPd/xSD/muFh/7MWBCRD/H92
dYJ2tv6oBZn/1N9SEEHSjL/QpNJonc3jKi/zv7Ugkq79ZaoWm3teqTpbWf9bCyKYf0EpQyGLvl2W
kd+r/xaDULv/C0MuIhK8RP85quyzg18zTE7SaFKAV4kWUDRlIbI2cDa2euUpx1qQB8p+kLrUIDc2
jWaTx+PTFLAJpwe5NZ0+PKo/yeA/qXbfL2wg7kb/OztqUMR/Vu0SVadquN2pSmZejoAqsOzJmILd
91eZ/5Z/a4O5ChIXfLQID1G7K4qGDPmj1l7LuqhN20Y8TIJyJRjlGwnpgYPHcB/3rz61lz0+5tX3
1/ysR/56zdkh9UHfn9egbIdIFA81oJkUXMdGqtNxXYj+rYkD8fuLfRbJ/30xFSe2KIsIoEEULC5G
3FAHeUc8BFkvzs2PuRAcj27I8e6Uiv25oOlFusz7BTUZ9ZiGwFvl+S7urmtRwEHBlg+VHx+B1NSX
EJVYEeIdncC7Sh2FXSi3+1LdgkllH3nOj/2eoLR4pYam4YjCeY5aypwf/8fHqyA6gLEoH7iUctmq
8nVo5cWmRMe9RX+HNkKvLTTOuezqQdacYtYw2rJFkUU/wjDbCTs26s3V96/hyzt/t7rxVEzRpBS/
dKL4sokQCX/g7aS2VM/negjgZQtrtDFtzaE8N8a+PgUuqOGikQGHmTIi2c9PAekgMByKP7cZKRcO
QohTJQkXUlqU6yJiSyDQZL9LsHeAHxEcrafz1ve0nAvCieQMpbLIQutj3/57LYCC8Gf04Zf5hN8F
qU+xcMnBB1iiMek3xn1qTcZtLpYUrrWd2ng/06gtV7MqbhPoM81iirZjIp1Lof7jM7FAWug65EcZ
t8LimSRUTlr2jbeGT5vKiH5bY6fcS/6w5tcOPwyrvaGAlG0mrVJXtLD8nSV1m9xQclvpxvHSGrxz
GT1/GhfwQ5j6meosdsOff9JMuNP8UuY1sdG6RTZYYjFq3wjlecpqUz4zCpcPH+c+owEWCop7DBtL
HnUfep7aMwseTat9pmiyqwqaBeQ+DYP8M5ia+yHsZuKkd2YSev/oP36TM4sMUIIKXBOXKdyHz7fZ
h0FRePjJj6p1CpEXsxly1RRjwZ5zXydcgsPu2sbWUjfxVGBDoat0T99/gQtkO093/g3gEmTWEpgt
xmIly/1KUadelo5oRswrQ3EC5ZdK+1O/1iqHsfDb0NdDuNWpIpFzkjvBzpuo//5tIfofx/+XQbj8
GYvpKSGqMfFZxI/+b11dVy9Su5UCt+pwkuz1zKGcFJVO8qyTUSPtVeGMgXMR4/H1KczrxYfZsckR
+YnIBo594obS1peRsoAztDPjphe2/j19z2BGud0nmRs+ZsltHdjB25lX8Zlg8fVHLIZDG6WZiWFI
OrbIWrTyqaPB2SI17IaXTDwUDJCKyn89qmcmn/dg9S/jUMGqiFkWA/IS39+JUHXHMJGParqKAweb
AN6N1if4YNNNR4+Oh6ZsWRogCl5F9QDA8ueUX9N/GPt1n9yhqbHxDnbKKUAfUOxDdYep39evZHn7
/SN631d9+aV8L4iAZZYxdTlMNKGtcsqXx7haD9aGbteNPlDdc/LWbRq66e6A7jVeZSfaUeVL9xtG
RLYSNgP7smRdZJuyvabdKlvYZO3eFdfaA2KONnDgPqpAvltaJmeG9ruRavmbUSIzybBbhAqzmMyK
wPTw0nfyMc44IW7H50q+9GmqZU+GukrgmPk2jWLiwnM0cSvgBJN/mPr7QVhx6hyugjOz3QKU8vcw
+/h7FluRQcqDLBdafs/oRNSffMcghOrKj1dTuNaN1UB/J74C2KLUbjCs0/IexD1QCNukf/kzZSJK
Dql4oVG2DLF10anHQWRXkMsBHmGErNSLkio62lVCwB5j85B4W72yoUNMZz7b+YP47sku5i4LUj4y
DZ5siBeAzqxBjWfjmc/t+KAot98PvS87ODRP4HJYJjlfSJQeF49NFQI89ZkqHa3G0Q/KOt3mG29r
XVk/qRudQXS9S8k/3dniYos76/NCNQIAW8e2dwuFf+ymWtHlRPCwMvK9RoMg28fBRo0vOuRcnMHZ
Pw3TMey3JMMr0U3XXjfSSiRN7rIEPA4/8yBeTjE8D7s2nbkOkdjSKTwhki2pYj6q61yyY/2K4hmd
Xw69/V2tbCfodhGqDzJZLhXf5Q+HL4SlBsJRzs4g8L+uAO+3DF+YbSBHvuWaz25TFUjYlo7jxoIu
XCLTW0svKBF0p55BzRtqpZ3hhsElos3qXPDoIr2Gr2K+PIsw/2FNZIP8eQUQeijRUcETt/xNRM+q
gYTrzjOwltkei85qjK4zbZP3q2hNAnhAB+0Vw2+PEAXPfX6F4SbwsE3h4oseBHQsie2RDpYe0NCr
fGvJ5VQ/0PVXT/IWhqSCyv8NgaGcPlr50RccKV/TevfMu0m6EIstLQsgCeeYCF/nove7ZMsIyxAy
07sp9MM6Vxc1RSSfh0zbrgZiOrjys8js+aBTlURSJ12VWGaGfeY5xTXYxEbH9g0uaB3prlgjkTkz
ORpf1rzFD1osvN7cK6yHQToiuEGcLsgPkXrZx25wI0QgaBDjU3q66fR9GwG732eT2+KIO6HgDiZb
on5Er4H5ExOW52aUnQN34KVktn9jBpjdnPZX/WC8FO54DA7as04y3onR5U27tY4zIIGHaFdHVD2P
umwrD1JM8pKt/mZpMTW7f0iv2QNYN9ZtNNlluu7R6QroDG0OScVeeP1+hlGXh9L3IWgCbdMobejU
KT4PQRhgoiQKvXQUToBZXqJXC6ntr1S+aNSdKK11Yd0yXV9We+2tQjhCS+qGe0+f2Yhbj2B58mdB
ctPr5qisiof0rtxpv6trhhzK1OyxNfEE2MJLeMwuvYsMkuahvqx3ZwMRl1v395uwZuiHoZqqKc6b
7Q8jTDaolA0WN8HDrVBiKA7N2vRaKNyZrwuFPN7y2oy3BhorEo7N2Qjh9yz15dw5H/IgLcmcud+H
3IdfQN9aSPUAKWHwSguuvg/Qh2yQN1rqxqN7OdhJv06sNZMmgGzxETXaRX2XHXmhLYnU0HVtOppK
d9Xc99DHJ3p6m+9f9GxX+rxuMegBThoUkDhwcYr6/Iys1KgK3eQZVWsRlV5iD3es/9phFRHpeNvc
W2fWybMXXExuFa0PQZ9HVlZxlLB1BBZuIeI9dmEPTleQS6iJoiP//7zPxVjI4swz03ksePfTC5Xc
/rp9M++kQ/TcPVsPyZn985dj3OenugS+CDo+nfer+Q/oTQXFMZ/huQcAqx2wxt/f2p8H2b9fob5w
z/tTowe1xtEN9bQ47BR84ONNntfsKzEq5o+BQXsFLQT7qTxZh+JaFajIr+mIDt5da2xz+daaUEJf
i8gGtepBza5UhtssPNVuvPKUD+eSxf64gfkw6pbkPzqfAtnnTLWl4SqBO95n+TavsFbYysi6Ttc2
i84NvHmf8uVb/PCYFnvfrG8S3Q+4psd7kOj9oUWlq3pijyl4K+VeMNzsiOiFW9duveLchza/hS+X
BwsqS3PdV3x/ix+mAsFHFd9OqXz0fovP/rj3nixplf0qLiQ0C81NmJ7ZW3890c9j8N8XXOKi6GRm
IMpL+ahbK8xItI/mLLvxDqbbqM2WEJ70rEm6MNhnxaK+ls9Fz/9pEfn4CxYDs6ssmPEGt9zdkcjA
sShAtBXaY3z3/RfwZe89bx/YNomGOVc03/dTHx5t4FdEFnieeOoHzozocdr9WK474kuLQCbR4j+u
Uyyut7yvGO5wFXK9eMTwuG3TVYNyunRH3ZlEUARuQ7+oPCQGaQeOdt8dajgBqzA+84bP3fZijYbd
qnl9x88w0Uyajtc7ab2X/KcQjQX+m++f8ddZZnHTi89Hi3Ks2QFXQ3w8m7YGN6/XdNlEDZ+obSGG
1W/SK5MMW3PlDzvxKUNaheNCoRvhxvAXPNsX17jFocxURF9IlDQp4zvFOc7Xe5Hw05e2+KXq5yUN
rk1nFjm/NKGbDFunuAyU1dRtSHXLr4N65+cXhb8ZAdFPIN2QYINYRPWtjS+leq0W7LHBTRqYB2aE
t1pd9eZ+AqNRUQBzR0EGkMw8ehlMrZ362GQCB3n7pCORg8FLu7sd3UTY5hJYeg6qpXFKu9fv34U0
P+svd4j/F17K3BaxFqUHTQiiNpS5wy67+VlYvaOGzqDvoABoypMS7yyO9tNtMmAWPLeOftkkzw/3
w6WX+wX642IgculAXRnWBjFmimqgcS1MJnwKsiOfy1//ulgsLrnYMWRZ2P/zPpPLXNyJztDtO2st
6q84WybxSrFWxrmExPdFc/mIZUVEPyXj2Ma6/XkQBQLEJRHE5YkqXFPuVHFTIr5UKM6sNaDs7Xxo
HR8EZk4yzMJ9FK+NYAPMLujXsopZhFVzlyZkm85VIDwSkeBAZpIjd87tOPZP1pVo7jz1Rfg5PvmM
RXKYeYoYqTgfoznqjjgGVW+DOca6Qv5OmREtHWcCNqoh1iLz0gJL0Kg/zHLT+HuULj3mbHP9/UDT
/zTQZDBhUGwVGfjgYqZDZNXKfiOIp3AiHdGuase/7H7rTga03rshNEjMXEaBitDrV5tvSEzl86l+
DPsBZZdt3gnHmBwIkwdwxQYPDZlobhETtthMn/y7+CrluwT7vgoxAnWbYLxo6zUABL2wfUiVw70l
rFr1dyvsE9FRMFi26ynCVmPLG0pFEw/zR6BTjn/zsp3JGY2qcHRm3vuyk2PwfXwCi0mWIAWrbiPG
ey0f0HBWRL8KW333DL0Vq/ru++ctf9mjLK62mGQDwRwF/NHiiSLLrnoxeNVmukJBYT6TbOMXONNs
4S1J7FImkHUzZy/tOWNyrnqpfqJ0Z6HxfsXnKkB/mG2oyoPzgmMIq3nxCCBAiWE8RdKpwpxBMiqK
6nNn76+blfnGNZEcMChmJEEubjwr40RKq0E6GXjUZRsAL0fj5jX5hWUYWSgc+qmyc4Ah/tb/ceah
z7//y6f+4dqL9UIZFCtQ8XueiKFUH4wf+EiRm6Pv+dH9QMyZYv4ZbYPj+BPVnlpy/B8eNZUteFsP
z93197/mT4v6xwexqLb5hG/14dBLpyZ10LXnh1QjlpuILedcq+nrSWzxzBerSGZNI8LCSToRK7E1
Y4p5fI0uGClTugQM7MNWUtaCSFrOmWnl7JUXi0ickmEzetwkFnMKXCVkrX7V99gUV2i6VdLSsF82
LhkP3z/cs8NssZSkcYSYRuPC+s/2oXpijOnPE8lNmS08CHganLIEpGOzMzlz4Xn8fjfG5mnmwxZV
A2RjGjHPWlOOiuSqnevjzL9mA6ncjM/qG0nehcKbns4MJ/nP42lut4sEPfD1fr6wBWZC6YhEoh/i
EESjKI4wEgC/0fBejD91s7Pb4K7KHzNjIiTsJfRP4/1U7CvlqZQkRPq3fUwHhl4srUAybRDx6vJo
K2HlKHJNh2X1/YM693MXcw2sNKlruPLJowiANZp1pt550gPtx7Y8V+ad7/3LS5mLWyAwYdgtMe0o
rpO+UAvplCHL1EGVwTaQVHoFSA0uAyjRXrgugv3Z0ud76MF3F16MhhL6dNFqOXfJtj2xWQNpG5Wx
m8gr2BqiitfBTTt3+kEjJJbXDcTuFlS5m9VUgkm7W7XwQdpVkIHE2I3DhUwzvNmo0VrRL3Xj0Kkn
P1xH3a7r91p7NQ0b71z2xB+XxX8/uvfGzofxbGahJNRpybCC70FlumJ8UA0do6dm2E4B+53Y/X5k
fC1JztPVDJrF/ATedinQSCSY5z1u11Ng4HkAXB5d1hIWZRS+arKTW7f210a7KcldVDHfpeuBM6CE
rS9dJ9U6yR609CpJrii6yY2rhTfDdGWiUBdcRbYr+N39lcGpCQ99JT6F7VVNsHrymKi7KtvJ5jYx
SzueLgvwcUWCPDiiXg6mHEtT4F2G9enMzX75DmgAKEhREFMrcFiXOSJjqIWBPrARsIqrnK2darZu
i3ldMjfpQ2XtjOYQFQSIndL0wk93RrSe0AQbB42IN932UGMXTk+S6VtjOcpvaVwFqRsTlsdejU0Y
m4drwNlYToKMc9tFQ9qYU66TcTVUSPp3/aN8ISJlp82GCMY1s8P3t/fexf30ASxub7EACNqcp1Vz
eyp2M2gQHB5KJ3/Gm7q3dl0MDMOBfBBUB6rIhsyDX/nGhapRkFqrFfZWnEnUUDEeupIMiQF07G/s
65W8anlMyob8KRwetbApig33nqbOsFUzHCMYC5y+3jYGqCNHDFztOjUIDHR4NBX+ZN9Jp7UeP5Pi
1KAU7hxSLVvZpWNbIdNXbOpp6GthvjY/h9IufnJ8reCrFhC6PEc115X2o7DOhGN/XbPmZ6WrSLBF
k7qRtpgSKymUUNr4bI1UaAJrMcCg3txmfmE3SILUTa46dXvrl3tY5XY17PXm7czbWk6Tix8wr20f
vvWqk/sG14l0MiOcH/dFc22AqpQveu/MJ/71XLu40nInVmgKmig226K3ajhajuOjpB+A8ZSF3eZ7
y9vG1QWOX6DdED6+v8sFipjy0eLii52XmCoEc85jshwd2tF64loMhmEvCps+u6y7nRasNbgf3j6s
NlJ0jeUV76uFF5pl8Vzp7D356MsX8uGtLzZnE8EfkhcF0inNgBVuTboT7Uo95a/o9krkA/W5PdmX
Hcri9hefJIoetYL/IJ4QOGbja9nt4B7auvJDTI/ZCJnq0KaPPHW2Lt5Q/8cHH0Q3soiwicgkFLNf
hF81rv9sUuNTqmFS1gvsnVD/wlVjTU+ekZOLkEwqh8v2J1m1wUU8H79goPRubXAayjQNlFDlXfdV
mjnYfEEtw8aXJOGtavSf7PkAQ6bjS+Cvu6k3rlix7qa6qs5stubh+emdcROEhukSkDdFxzXz+UOZ
W/UGwb/xqcpmUYVeYkVi2dqcGahfti0cxyWdyin6Ddpz7/WSD99jYwyKEPlGcMJK8jTkxLUrYYPA
N29oMcWehOdGvbSY1ZCn0TltaaorBPSd+RVfb3b+FchHNdJHicJYFEjw9OZ48sfgpA+0MuPax8kK
njRra32nVm5uIpuCM96vOKGn+VYQLutIPhH6ct/24XRm9M5fw4cnb4pIWnSTriQ4c5mUynk5/fBI
yjnDKvA8/wTnQyaPJjkFQ41Pv/F/9xW6+e/v/R2iv7icRlja3DMTZwT64nKxmWniZOXce6dckssg
rSWlCTBEyPceDuSkUMNtIyvVqsjS5zLmJKXgxbog2vcx71jFi84QbFUnkdFP0hcaoH7baltgn5w2
B1XBQw4jVOvjXaBryZld77LvPj+ruQtB2DPCJUXUFieCcQSYBdbZOsoDrY+ppHxYSZm6trx4B9L3
ShMMaZf5Q2OXQoo/GX4d+Sr0kIoyLqHl5Q9jDiQlJH9QLkx/g/9Th2flwgaOHK1tV52mnHu/8tcX
/C6zktG1wIk2llnw/ei1QNl88TTo0nWAnwqjZeT2ZlhfTJF3B81UOMjp5NN1H4xtEhTZKqtlcROZ
/bUWFQ1kL4qFyEsvxzAdd62CAdTTrkJ03fYoisGtx306bTuxCyCB7zoQ2/4a/BYusjSanDPjZ15K
Po8fHQGWpaMpJvqcfz4P10ZvIyvUxPrURSDDIlASax8DIpuLzFhpwCicMHoE/tiuZ2So4/kIaQyc
bg7hKj7N0XbYCwIhKhWd5SyuYb2GlOD8SV+HNLnzqikPjYy3B8ZQum66wsQRU3kuJKFzKPylZhOp
NGLRmXU5azhmNfPnWxH7weqstLCOUVER3hP29zJbzVQ3rjUGkpPrRe0kYbvVJmqlyqD11ynwWwe6
abxPpHjV9uS4KAlBPviTXeROkSsrLPfvT/x//S3/Ip/lw+Bzn5vnf6Lgrp/Tt//7L/4d/lrkw81/
4h/OqfaXTFahglFlhr+TEfH/vC2EwLHppOIrmppEu3JekP/BnAqS/hdBkeg/5BkbjzyEGaT+JyBO
xvcyx0dglaFuzgHxP4qH+PydsLRg93hfSSXOfCJiqM+Dq5D50aPcsA3pKumAq/JnLWn5So/Nc00j
NhufvkmupcO5n/NM2GszqvV5vfuwhNRlJY2VD9pXTCrTFlpEVD3rBwrDdBCcJoMmBqKAuOpSRZAs
dkkAGm7oT0bqZc9Fo2TXAHxnOHWQ7sxUi7edSs0wInfLTgL5zRJ0dVsUw48wt5R93dbCbdhyECWu
Rr6N0VQ/KaNvnghJvA4kyp+ozq1VrXVvY4XYtc985SUUcDqbnv/oWRMfjF6ArNRVpgW7CT2OJqoA
/84BEt7d1Glz28ll8+YpHt5dZtRfphbUm9BSa7wNAoXOIdon3YgkJi87KN4GVK+qRVXvZW32Oprw
oPR35HRXIfobRxg7VWmMkVsgiQ1WLf5cfPwptffJB0zvKrAp17gIcTsrWsMJE6KOL1QNzmpLiCWA
3r6QcJwNdCLQzG1OsJqnu0qrqUm5Fy1BnnD5Dvlo9HtjMIX+EX9wBWMcDEVnW/g+tZsKs9VtF0vt
S0IMU8s7Sul7JWKmPNdDKQ0rX4T8xSEqQjeMR45M07oRnixv1A9T6uWvrZ5jEW1Hzn6FF3aq20n4
SJyoH7WfzVTq1i4pgGTYQJx55lKfW/5eCxTjccwzS7AHUkhA8PXigIWyIiFaqnRvO3ldfV/nJO3Y
fUUG+h56AqUcqaR7NIfMEVxCqpZJt0gSwx8yWNxmD4F85HyddAw3v0wNa59DFkWKZFoxtRTChLWV
n8ZgJS0ujPiu0sqSaGNFy9dF6Qd7owUJRCUvQkVECiC1DczozZp7aO4iUSPtT7XGmpBesdV/m4OZ
j2ygu4SrNX1MkcsMFKrXatrX+MIM9m+qWNO2UkYx8J08NpQfddQhWYNAY0T4RDPhrfNqDsEV0uxX
swCxAnq9hieiGKRdxbJFa1+JAktwOhzCHXHalbWfsDMEyERVJPMKkCpWAmEeubki5y9RKiU3quiV
lYvZk1qN0RspwJ8+p6ijUAR8nWKdhlpneHEOjtIodRBASVu5hCqU3Rp1wdj4hxpWLfMCk9JY1G9x
ZdJtFoFrPIEQkBF1pRjFCjmhgqDogVXictblzAnIC6aII7RZsC+1scq3RtOkzzp5w+AKgipxE0Ua
mvUoEdxkA1bGCmOyx6Wn5cFCYm8fDkSOYTY9KFpkvjAmUJoXtYeAUUo69kmiEXF80pJh/FWRaq1S
UIjlZB1BIA9XcWsymzB84OVNonCSI5Aobo+I7WaSVIC7Ya0kpqNGwySjQGXM2ARH9Ie0C3XDDkM9
DanLkCYPaUJpHqK8be/rLOOg3OQxvj9mMApBtSGMdNd6Ldxmep+T5zWI9VumS7ASxjBsV1kGp37b
pJ1eEoinauVKETs5uhW7oX81lLoakC12EHqDHFyFHQiCcOtLZfgoDl7rPyqRpbwOkta+SEmTHCsv
SBU379WJsoTQzR1DvIcoeQEvqusS5g6ZCkR9JpOckgw36jUqGxBwNnSaoFxJGuygbd761VHC5xjZ
hURqEe3Vwv8dK6lP6GIqqMUeLG0xuK0HSXVVNYlCOSsd8vYGMu8skEwHijtd5uloxAn3C9bArGY9
eF9S3Q+8zpD3Vj7NeX0KBBRAUqEiba1GywEaRpH82CamrDi9bHUbfyAOzBHKbP6QZFX0L0ey2aFR
Wv2or6ZM5NA1yWIp3LHV91+aGDCAjX8UdJTOrugiDtPGIwVD6R/hwcnJVoIXb9oDLOLYCWUB8kWf
prX5o8arDU4Koxz8/Zx5IODHVny8SfeQVX4i4+KUxuYqsbTU/5mDf2neTPbs6e+yy6bhV+7J0Vze
K0sNHIEk9dXRigbVPNS5JkyaI2sZGDFy4zkTEE9eiP3JEno/vB4p4875IsZMAsjSWo5w+HhB1tFo
1BUjhlZT54Kyaasx6m94znQ8U1PI4TOJelfg/efv97ZBKMTthR+MKreE0izpDBuwsqdQlIuLdNso
GKNbKNKdgAQUFtUIrK1UBLSx0Uh730mFVppKl06zx4wkGmV931viCJIDnExqPhgj1nQmZz8qj0WJ
Qcola1Oettmo5SgpawVaYK+UHVMJKD4mvzJOw70fEp+41RJCqG8FAFMlMlqZkEpsBmb7SLp6nG/E
jFoEXfoopq/nhSpfVEn+HhvtqAXnlGacM45xzdexzeKqNXZ4wclHB5UUS3BZeqm0foy1Dk4uqyzC
3dyCOJXoZeoaubkrWr2Tr8bUADqoaYVUgnVWx6rim8Qte1kQlAq1tCtS716MZXpvBIJ3wUaOtDzl
19cVuEEh7W/6fiQ6IzDhYl0x//b9WwM1cwZa+ql26GNRuRwC5teLfir7zq3jQJF5QvqQHWPLEpp9
EHj6SyGp/oj6hp7+KiTgwHCbqQ7aW7ga8i8iSf32dzWWXvCM1Tltr9Q2Kf1L8L6GvIv/i70z260b
2bbsrxTuOxNksAeq6mG3kixZkiXLzQthWzZ7MoKMYPf1NWife9Pa8pEq3w+QSCDhlCmSwWjWmnNM
AhXIbGjtmFPuyDRqE4WBujA4MlSmYtjLbqXmbDMvXbwLGFuPk485Y5oQ0MRFXr8NLIvtAruUmkLr
LIl3xGHon5lKrm2pGm7Prp0BigvyGgDtFuw4YBie+dBpCxE0n8ZSkURIuJzc50uV79Mkq96yZ5h+
+C35DhSTiV5ldPYHr7EXvuQImlU3NdddWWcHASkfBiOp9LTsJUqlYUTREQQrWRu9YZMof0celTwf
hnZ5aErKbhvjQPGM1qwd0aMPnn1NLz6F6XjVOFN07MSEpiuPxx0MvrdRZG8aGYZnrnTHS8fpx8PQ
h49yLoezTCPCCSEkkMObyIMyqNoLPT0u2EWOgQA5Z5IS3QfG1w+qmJqbGP/ltggz56wLvOJjM2bJ
p4l8FuT/LUEZuyFqYl5yJeIO8bhgkRMzm0yr8kHZhKE6BIV/5gHT2tNW0POur41gQIOSWlNOyCtN
vLg62OFifSOC9SvDpL+ZPGjHroYJUnSeueogD0BdAH3KbFV1JIab5WZuK1J15kBeqED5R8fX1rfU
8y6jbNI7ZZWc+hbXuk6IWNxKpcqLIpy7uyEwKBdyQNU2s1hXHKM++2GQQnLWQ50IYZZzfMppGF42
3AXhVQ9lhy54nNCZjf1ovwObPewwLlIF7tJ2w2m5vgPMOl8lTqSutC6686by2fzUkNmKGZFZZlPT
sAO2T7pN5AU07ZyVzetcEqDt/NLR4m7ScbrHfSTBTWb+NrEoGKgeK0c5NelHPl7MfanRn2wgHavZ
XFwRPSJ/NC1xBMlMaUm6qHSw5d9kcfNeyMaGeW5ZZ5VOfnizX5+NMf5tdsY7/uYcqkTXmmOY2/ND
lUwL/ozY++yzxd0MJpjOm8YFvOjZFTqHaOGj3mkrCr6sALkbd2JZD+PevwpYOI/SGR/Cqas/zQNq
3bE07kU1heBhatU+qljgwOl1e0G4U3UOhOMuVuQiZSO/OJRStJFLPTb7gqyIkOaGZ41bDvbv4xyc
FX33rP3utMTNgFMOuh+iF/l56wkKBzQrYypBo91QYYzXSd6lASMtbXZU5cqSz67Q3xdkhzgfemtP
/N7CEuJ8LEo/5IxT+TsLIN+5r2NSoLU7gt/Us/lRqAw5yX/O+nr+mezucgD+9zCL+y/N8qU5Oeyv
P/LrsE/kO8dx8t/AVK2d1DW18H9C4FaVmwNXz4FRQiTN34f9NSc+cNagSHelXDi4Bv8+7a9VggBS
UgwGi7o3f8k/yYF7WlGO1oTUtUBODdeO0Uj7JxVlgO2r1ozzAbvost7HsSImWjVT+koB/bSqAGvB
oVpFq8GmiIv14elJf46DWdUs+cDLJZqpwh0NXLWl/SBCjDi/vYGbXzW9/0VS7E2bN7r/P//1/J5w
Vqxta9LnUSbHa9flt6pCKTomuRYVUTaLcN9IKlsLKUqv9AifVkfXJxc6FHN9EYcrBeRUoQUAPK6B
g3BH6FPpAauGLBeRw4yLlgzAXW/Xr9zXs2cYC9JEGRoMFm+Fo5zel9cDvmN5L7weRz5ZCdMucwum
3LxIp1dac69d7OQhQkBd2AHBGVNONE/HSrTu+zJ17XynyP08/MM3hgWfFkK8tjUiMpBPak6Ztu3G
ANTcuFJZNNlDsq5Gv3vlKn+4JRSV+PuoAFODj9Y//21cOMBTtMgMhxQ5F5wUXH3sSphKMINfs1Q/
G4LcELnDDqkcKMKDU1e9k1eumaeR85uWADS5mS0f9PjKR/Wnq2A4WCFuMEye6WVx9ficMRA8d9Jz
sDhFxBIlfvFK88JdX/XflXNGOjdDmCjNHuKXKJyfvB1hhTUpSyUsqRRq4q7rpwB8ayRlpo+1P0Ao
CBeUBVds9hQcRKuYL1HrK+c4qTUtvl7qrrsXE1/7FneEag7JZJJokw/EFcyNgxyKaD8DWbyNSBAg
wiPwjxxeJrNlNmJ7kIQ0cihSODSW+txNdtpdSGDyKeR/CaoQjfDSuDnBXn7dcwizlTrP84WuQmPa
8BP7R4obL4/X9Y5PnwgDde3oIBUhnPHpSGI2SPvMgnMZz2W0phYEYOnpmN7SBijfBWunqdLGOfST
7ZsNyUbxK/LQP7x5ejMu+CPygtcB9vQXAMWCiGX0obnZbNnESBSn7Y7Wr1X931IZ/vDBuIB8MPMJ
mgDidIpLlwXys01F1Sgzb8Ug/DeutpErqjL49vITfTabMqXZvk1dnDmVSvfJdEMGn87JH6g2Xtk1
j+G0VkAaelqIQjs3v2v8RPivdFP/8Aw9CpM+ODt0aHTmnj5DS045EX1c0nFYkQxpAYc8j+ZXlonT
qwgwVB6Mdo/29Ir0O7lK7lJ7Are6fqOWU+6Mn68AhXAkhuHlJ/j8QhGvCPs0CxJdfZoAT2a3rgz6
NrMKEJ4O+UnO4lM08frp7p9f5deGYaWG4NN+epV2alSWkfq0iWIkGMbIYgf6O39l4P3hXlAkx7wY
ruIyAp9epR4BtzbC0CYk9eBN2+JOXobKunn5XtZH//tXjCvMXZcbH/4QOzH/5InRDuRcmJOhEfeL
vM2dut6BRZgfnfpRGE5hTSb2L1+RZszpNVkXgIex1K2XpRn59M6aKUjB3vVkEdadhbPdbhqszNR6
zT6SDpylCKDqB28YEk4AiUL6yUxDtHvgC3UkW43EFMeuqGtRQ9O0fW2nj3YqSAllLTqFKyqn/R/t
+7HQA72Fev7aQ3RFb1ULIkXWENYf1Cs4+g+B7ihYtF5XHAJ3KSaQw7rvdoHdpNWFX3rrMU0Ww7hx
3CXCrVMI6xqIJBq3Zgk9vZ1dd7zz48n7nPa8IFCCmVCbKk2oWE+xO551ogncTau7GtwprdBuX42q
/z4TPUcZfRQBETvj2HZQm9eoE6BCWBFBl5eYTRJHjRuZVNlHNIABqW6xLArUXkqSpqGczuz7KKsn
DqagTjezGFP8IR3VxYvFpGO8RhkE4edqciCEtjiT7EM9TD7hZ8gkDyYnS+8qWrzwqwc/X70HkRuF
WP5HL3U3SduEAP4p9RVetUubwCz0SuY1VsG32/ADCaMkaEzJxJxLcjJBE/ns+JJsAoUnIK2m8X5h
IYKgTThyvg2GeURu2o9NRGyJiSILCC9V5F0bD3TN0x5y9zaWjfuNoDJT7axoCL7qrM7GB6utky8E
hCx6oy0+bSp/4F7jKrAeiUUKJ3oEtbofTOFZX2VgL+SLuDDGda8i4BSBM96la0rAuSxGUhXo0KBa
6axYWe9V1FALj6zc+aiDPvtszdIm/ysW8pNKmxzIda9D1CXFCKn14IlSIrRowl5uLFGPBHU4UxpR
88iqjFoN5RX3ohzIqTkQszB81s1gy89hWWtvbw1ekh2KiqPB0SzSnQ8kwuI3Vv3gWgerTyml1D1B
cSTSjQXZDZnCFhbbVvjZah24j5yMV7tKljLO4xL0ZmVndNyaIlD60cstMb/p68Ql58dXnP6VXaV6
a4EGIUJElcsNz90pPtBzdbBrVEml39N5gOptlFNR+5JW41D3msOP6UQBe5cOsqB9NoP8bmbJg21i
wrHO6zmBRFvUA5UOsktLgqBmqlwgM3MZ/giIZCAoqoeb+g1t1GS9HVq7CDeCsKz8AnqVLi6VMamD
6JIS7ld6gTWm16YzKEE2Q5AtZ6B9E/mobEnFi+1iF+xms0xUiAMnl7dzPCIaTWisAMMOZuFvBj/z
kSc7VYC533gdfCJlvH6nZngtjkjJCiK1FR1bDP4VTyZssXTvu7kXYadJ2QMTNYv9lYKz6K8yQhDq
Zh974Zh6x96tx8Df9RxoLdAQeWszxglQJGKF4Hqv2fGky/KCLBzKoSlHPQxKemk/z0MqzmsUKeaG
KSfrD4IGMomWTSZ9TROoSPzuUx+6RuvvXW44yADi8am7gpwBSR2VZ1nX5Ev5UETAm+HCT4AfCPGg
KygLb2ntTegUaRrvl6VUI6hk0WUOSa4/U8Knaqm+JKvifxPKzkx78r/j+ziF/LVJczOFNHO0epii
gZomsdKpv1lat2oO7VhhTB69oIMqUnsWIEeOCZSzLddBD+d37FTjrEOp3zuWPRIUyHHhzNIxMDhT
VYF5HJdurrbuoAzMa9KcMdOzSyXHahrS5MpL2afuZZlTqpVkjNW7fKkVYIGhsL2zCd9RvreHvnhr
TS1LNvI6H8SITumWEO+FG0OhW6+3YqQPW1HqxaehHX77gl0LSYJ9Ud/piVjJd3aQcoxRbaLIlPET
1W+M8DTztCwVzjAp7VuawUtyIZsxIemGROUbUPz1NSdyiwi5Icnv+DuCaTOaiXpu2UGZftMS88ip
Yu7bhN5OMMKOKaLMIa3DnpqDI9vojicl6g2dhfojSaVhAsokqL5rpQhiIPTA56S6JDHu1Yi2w4Xb
RslXK4LGvZOcJOBNFyFwMTlY8qslDJ1PXWTlPZoUbQCPDQper+Mgp0t8a7iyxqQRR92TzcVpJErW
j6WmshoyqzzoUNtyZxedgNzWcIbE15ANm06lHCX6OvCcPdEHwRfJ0ik3tS1yulOWaD/Xraa9QEKB
gpWdUyAVYFKgEFqG2Rot4PJggZJ0D0JnGf7ZQI9v+Djwcxd2I6+8Isxzqry2sfeLSHpK8rYCI9LK
yC3JWah7blL76XtT9L6/pb3Rqa09tR5Zgy3fyHt+Tb8972qA/gwgq/A/kvAcyDe6tkNA5L0mUpVI
A1XtTWdA85pGZMlnjx8zO6dXIWDtnlbCtusiUg7iwHg+3kBNibVQtkjvzOT52Z52XtRsw06MLaHQ
VWlf9SUNApCXgbtmiVsQs1CbifYiIi8s3NpSEXbaCmWZI9E6rX1YshxwylyQp3XZlK1bvImYePL9
JLy52LdJTEvfF3npQd4eiEo/rzvW5EMY08F7MLanCB3Qgn+PqvaTt5K2YbOScJrOvoz7UJEXQ2hM
H93C/pPd1yRrKYiORWJwzLsl9d2U1YGgPCbmnGAvcquoxUqBc425hYZirLL3HQV/xVsNRhIg+ihp
91VeWGt2RoxVeMWcMaWO2aw3qOFhJikvwF1g5Z3fXxSVZDUKtaCSnZk8TWD/BHTKNHsnApls17hb
WhBkGzUVZ/+zBlUG5W5rWEgJF74R5wUhYDxdq6QjpLJxPEatyxyaK06DpEeWrGEcklFSV3mbDhd+
TIULARqbsjlDn7/Nmnj0N4r639su94m9G9i20LpaWLeOpmzhgxRT2P6YmWajbZRn6fvQsTrGJDNF
8iZywy448O1DxbFsSfmYlS6+SodApFtFoYgwI6dOvJ1DqPv7zHZo6i1uT9taVzTv9nI26/OtlPVQ
1wvfSFRVqAEKHwkBUoGUiJcqt/yjh9gNHpSVUDDMgEXu23GCgIEGcX4w/WBd90pFwY5mCUIIXppN
WvpStXsdBIm9HxKREIyWUDSYfiDf9T8lFp3N+ymbJutoJ+w/yXiMaJ4Oqd91+5Gt3we3TPxvyPdk
c1lKwyy/2A3+ncB1J3hXI9GvW6+xYOTTdMcj7uerbcdH8Lb1qwxrmYF89L7oKiQTFYEe1qafcvtj
YUgB3YYspew/p07UB6v5CWlPWvfOq2u3O0/RBNNG7ZyauPcu5FAf1hUioH5YaG3pHok7Qj/Dl+63
mX9fBUX71QuTsTiqNFmoMDGj2sg7FthJkW/BAxEx4pDbsKGucwhSelZv/aZgDXRKTO6uySHwNRUs
tSWfMoNuo3XuSeyS+EaWsvky6LDh+cDY+bkQ076hB417sycdjENm15Woknu8QmwRlPtoiKkXmyYn
HWHjEOBEYqVp5ccORQoGCtKlKR6S7AZ8ifyQcuMECwE2jp2xFHH8LymfhlF/a1wG+U4Mho4amHH0
glXvIOwYGJN0ZILee5DGTuMtu7XqDakRXXTwewnZRnvDxOmlzefbl49S7mnFgIPUKhxz4JYG2OxO
tdBE7o6js0A7tzSbngsY6Xm2tXWSzJdALRNkmZm24uMsEw+GTz6qfGPKZb5ZHD2xly/hCEJGYDKB
kFGRihvRJyYEI5C6vals32neeeRjRduME9tyiFKrEOfpUIhPJKo0+JQmZsNbjtoprXR6+nrjtkHw
CdF2FpL+ERIZo5sg3EVGpg8kr04PxeIm8fVc5Q4S2ZJxcbSSBNUZhSSEE3U3mtfgns8fEYLAAPlu
uAITCVV/ethE0SCTlASmTdQ4znuLAKOzJC5Wphmd5feVN5v7l1/KacFoBS5BUqU0jotKuGu34/cK
6zAXoV3OePmmyq6+LVZX7zh0sE9uF+28UiP4w7XwLCA7Dz0K8eEpLasM0CuR9wDZrrOhN6smOlTL
kp4vQdm8cmx/fmj3Y3DBFEEBKEeQJ5/eVtwQuIEKRIJnkx/jvJyvIAd3rzy75xdBIY4Ekp3D2vU5
hXAWKq5VMExsTDJT/KgLkd0QHD6ev/yG/nQVEMM0pPhmgvC0flNHHUcbDjkkNFQkIOVlvnUQGhxf
vsoJzI9CFHL3cC2poJ7DWR2eDASfRIyYkCu5isqY+HsKyOS/onJtt0Hf+dY2MnPDpqwqvBDrybQm
GRec5ZY9Z3bd0l2fCSFlaVLB+WycOTzPnLQMwTnUU7x7+Zf90yOJnABeGPhl/rX++W9tAZeWqsdp
mgcf6neuRG6D9CR8pZ3yx4uI0PEopFJKPy0DOkM8CA1FehP0nEPY2Eq8b7OUaCZevptnnwVaWhY2
LhTQcUO09fRuyiYcVKdTxGWB1gdrzBBS5CqyyMMayYv8pxeju7n22tYeBCz1k44UOBYqVz6UACpI
HdZNC7WhiR460dqvvKRntTomMA9agQOjGdnA6cwivC7M6UmRKkUM8sab2/Gc5ay4zrM2JQAxjzfa
xK/hwp+9tHXWxOBCmX3t4ZxaTtKoM6LHU4OuVpIHSKojnBGG88+H+B+d/H8xCfw2np7p5KlCfkHB
k/8eAvHzR371zl3xFx/jyuKk+bR6Hhhdv3rnrv3XyqxgmsQ/F9tUcf/unQv/L5AZK0ybLjPT0DpS
/kcoT6qEE/JGHc8JsLQE4p+0zhnnfEt/F5BZDWwyV1ancOzwqdFAf/qtMY+6Qk6JBWQpPSop773J
GgiOHRprPnY+eUkYq8N9nMLuMKZormXf5G/GQpFRxgT5eRLR/M3KurXLSid5R0449PFWUveA17eZ
W+LSywYn+lhkH6IA0MuQf41YeA9+4V00Gq6XC/mp/qnB8++5FoDSpjgXc3cwARgc08RvCmE+mk7d
EPgaQLzPsp03iWkvhvreNQmIl6nzHmqMc/sM9TQVT0S59j5BxmqOCGJ1dl/UInnscpIYyUdlOr+b
2DERl+KgtKNfU6Ggr1Hm+xWcGNvyCcetR1u9TZsQD3De6RvLr+ntinmqxZHkS4JTSYFU6QM95cbc
oyAjozpXrEx7PWbO8OgpaikbIrNI0QVNTYHURdBuAcJOHHpepD5m/W7Wo3PVZo66JI7R4l6roBw+
GHyH8R4BXXBE2jBgHJep3exFR0TzJpUmvc0IkbrK0OthJI/IlUVqj6lWuMjv99JKUgCsMZRod2rM
USQhG+zWjtI1pm56EMkQ79s4qK/GCiq/o24R6Sz4191sk862uxltqz/jhJ1eMnT2Y5nwFmWxKn3x
j1u2geYg+uRMAfMaxwTgXr5LTXbm5bN3yEKJ1kuF3puY47qk34qc/Y3uynsVqnXz0aEg1RK70bLc
hk5J9pWVf1j8OLuiJl0cuxzd4bao0Vrv9OzZkhpl1jkfImq+Nae9WkQdenYmTGRWMSI1q/Fc6Cr/
fDa7lt+bO919/66vvsj/vU6E31pJhFua6f/79D/7X/9NSMI6Ozz5j32jc03M5vdufve9NxU/+qtx
uf6f/79/+C9fzv0s8eV8a02j178tZVv/ZNKxWSX/vcbn7jsuVQA/3/tnP/RrpvKDv2iQIjj0VsUJ
VhYWkl8zlcef2Eh0sEeuSp+fc9h/W3pcJirMk1gDHew+7JN+m6kcm59jX8uGhE7e2un9JzPVyZ6A
LjWdVVrVuG3YMYMSezpPNbPpRBILmO6VZx1mMtrginD21/MUv7IjOFkyf10qZOqNBf+wcp5cykNd
7QkqzhE2VdCpMcEiYRW+ssl5fhX8U4BVEEaR1xD9NHL/tmVTLSlVFFXoeUVuvQu63sNXkEav7GL/
cBUag/Tq0KXQ6zzVPRibe0iI6dzynJYzmgzgDSg9Hn4bSze/lovf1Uonbj7kX+z26UZF2D9RK6Hk
ePrIVvzAuFRNtqUo+qjMpaIjOK0rRoFMF4NIuoQXktDddq6Qqic7U9tQEwj/Qa5uk0u7tDdC2lek
AN29/Js9Xd7WXwyYb8zmB5IuQhZWyycbYw3gtOY0lDKnOKSE6vqO9C4NxSEbmW090iR7Cp8vX/OE
vPDronSw0TmxVFP8ORlAA4E8OiGpF5N/EZ1PrUVWuU2o4zzBm/MjAL1joEaMIcV4zqYa8IgTvG3g
dhwDt8kw7zLbpn4avXIEPDHD/vy9QPmgJuNYC9jnFL7SkbAea5ZvWosWkdZtPEPFcEip8+qF8n+J
5ww/Vu9eEx+X35CRdh5MgqIyKTsfIuLbIcwgU6ZQ2R2XMENXHYXMijTZaN/aUUd5PEyCT2bxLaqq
Ynk3CAonOwulOhi7HItYT+ttixaCWvvLj/z5MIdAjCaKqYG99bNm+0ju5YhQJdvO4TJtXTevKF15
r4ny1jnm773Sv54fZ+iATluAi32V1Pz2yS6lOwc+McVbCxv3vmqJbUB0G6Ddd9VWlEX4ykT0fM6L
qQkJtjzssXhrJ4PXo9gpQ2KSobdV4XZEHAsHe6atNuPh/ecPECIkWkymfiYM9+mtddVcUix3sm0Y
LLSMbAe+UyFeK0KcwEB/PkE0Xmw4BUchm9ry08s4RuqssHmCixc3b3PsT9dhRCxAmUfeUcvQPthO
7h6MCUsCHaPwOikccViodm/GqyHZZ0M4nsvyTmecy6mA1zdZHVOc7i1s8KL4HLkxlI/UMgfPSZY9
sWf9G7+Z7H1VuIC8qclvRRUF5yRqVq/Mgeuh9GRwIENlaXLJV7C5t6e3Zg9lOxliawmgp5CaU3Lc
iqWsdmHMPtPgiN1ZKOTLEnPKP351q/Y2YCtPb9z7WWT8bVRS1w/6VOFSz2Y3O4vVCBfdFK+BRf4w
kbL0ovggnA2p3s9zxG9XGaew6hqxIpDxObFmoackUhVg/RAH22icM+JNA7V7+db+9EypvtgcjygH
oKx6+kzpudoDS2S2rQHtkU5alJdWHJV31SDUGbv5/INx5+oQhU1+/vKV/zChsDazzUAhy+dwemxG
EUcfCrPbdjaz2VqNNWGLU+aVGfkPHzheNP9nVN26kTr5wCPtVWvVkwmZ+hPzr5jOQioEO1lY6SvD
8+cG6ffxyR6OvD8OeyiSgIyclrPEnLEJ0dLblJ3zWebVLjPTDn9NcRxRuWyCtr9LQ90frIi5f+6a
+6yuRrANkTg2eVQdpXLN+SSqmD4b57N/9rh//XKrzhTSnMvs8PRFx4mnKMnyyy3Gz27HZamvkp5C
/ctXEadv9fQyJ4UlittRsGjbo58fz3uHqtw2G6S/teipfi3tJDvv/aS/tNthvlcVepzWEFyFG9Dc
5tOMu6JLvk0o3rFSeu55FwNasOb6E0tGtA+jMb0dYuhDIizqvTuW+aEu6nrvmPj7K/dxuhCxr2Yv
jHLegwOBRfXkcTExz1WnFm+jo2gf4cJ4RM4aY+Z1cnuHZ+arThoCZimT26tvrvC3I61Ge2Nm9lqy
z6pPUlurlIOPlyaJg66iLOtw3qjWde4qnBiA9Wnlkxcda2/alvk4GhB3A53HdKARsxMeeei+IVJ7
qxZadS/f4AnQiefFMr4GXa47NubsU+2xWpJ6DPuZPiJ+KnLX2/ETt1XtpzyLL9h1rMSHaNhi/u/2
yCPGd3DPAHY3wZ6cInDWxHS//Bv94YmvnFGyVZjkn+vxe6HSuPRI8E2idnqofPeHpXy4dWpJ94FH
KvnLlzthF/98AMgtCQFdU93WVLunH0StS69v+Jg34zjBLXYuyyAAET2VRMyaujuWbCo3S58E2y5S
tLhLbHNuPL3yWZ7CDXgPa5QHHRGfJR9V68lAm6OyW08V0QZ5hNyPdpneaxPoLVtuc2kyokwmVJpX
oupheCwaSFqsOprNbbSXE4iUVBbOFykAGktZlwCwFEoKy4vvh3JQO+1738HyvKJWPZ1UVwEpskvs
BTReqaudfOSAHly5JNpCdTsHh7ixvlWpg929aV9DC/7xSj6qWKTja+bPyW4GeYjsBjXCO7WaHzVC
NsJBgD7Gmf1auNv6nJ9M3itmguMiFTpcp95P/u9vqy8qLvR5HXGPuXL8s8/nEwXHQ1uP447U8uaV
r+/ZWKcVRXgQw2/dSSPzfDr2nCUzwH1adjI9NnIvGzJSpOHFyX1UYfd6eaQ/vzOcDFD48QDwviiI
Pr1YLNUUlSOTVUJrz0VS1Hb46xIFTsPvbsuoWt5guC1eWQlOMGl8X8wwFCc4E4cExj0DP03eYmtt
Id2Ymn4X2eZ+qKerdkAf11FuzMeLMvQA7IyX7Ote+aiejRo+J5q+AWfTX0ELT++4mn1IEuOSbd0M
2YGbyGQLyKBk542v+R8+XC5Fa5kMSi5J+eTEsVQkUqtQsIup0kbsIB9g5pjk6ifqrV1Z+OikpNKH
ly/6U1L/ZLCiFOcT5AHTTVl5V09vEE0b0hij2QRzKDsqUxW7wmnSCwRv6bEtxXZpECwUrryWqfYu
FaGy105q4nNyZd+/8rusd/jsdxFQhmxqRqF7+uFEiK+WiXe4nfRk7UTYgxKgNGpvAjPKbZWE8iiT
wb6WwYE2EM13QmS0bV5JXHi+nuGQj5mOaM2hteKNPH0k9uh5dl+hgbLYXd8wlUjS2WV76Dhu7dw4
fSwR6R2zDvQmbXbnOkgkSVWjM++oHvjfpto9/nww/2nY/Bd7rd/GyLOGzf2XgoZwr788rZ6uP/Sr
EBr6fznsQoOfxUaiudch86sQGtB64YTFusxrhG8Us738VyHUc/6ioUcpLxQcGZg8+ev+1bFxg7+Y
3zAgYT2iFrWGff93Ffjm10ilgPxv7Sw/e59/D2iaSMScrgA/z0MXBClJPB1Jbp05c8rm6djUHtig
sJz1OViTipKbdL9q1fr51k51uy/GhbDLEgR5pMZw741JDOQsEO9b04K8CftiH0+1PMfjlwaXUpe0
NyqZTx9nI4oP/D/jNYiW5WwJlP2pwCX4NR2LACX9XO/i2dFww8Zu76Zptf/tffzrln8vJjIPrjfx
5CaBOWIM4rMVrEBedDJvJQJQAHJ+5yjQbtPh7+V7Hi5CwilMEueQ2AtKYmhv8y5IAj1AUk3eINlo
9hN1rG99FzW71tjureEQhygmDh/ibEnvMO6hxka86OJX8LMIVXhOM6WNxdko3OE2KuO62Rjf75xd
pr3MO0DJGG6caAq+JsihdkWVy2GbTsmljBbIrknDA8HsntRZ9zXwJn021al7wPkafZnQP3ES5yN2
DgNEvE3HPK13ZqrHAiJpsaFM5jvbwKmb7zA38h+a+HB9rtPa6Y7zmHawSrGP3Hoae0FHFeFSjkl6
hVSu3TR6QKBSl0Jeu8UUsKcyUn1jUZF3ZUuzb2cclX1ryyb+qIq02YfVrHcRcqd0662yXKqLhFUT
41QOzk6ywXtv0dH66FWjKA5ltcBe86xi3b8lNtP1FBYl/bu6fqBBQoTsLOIJpcEI+n2uoyt2xM15
2K9Sv8COz1JD6i1JxXoruxncfVsWN2wkSZo0oJ5q2y5+RHK09o3JkrdRUmCv91JhqAuH4kpoF7mq
7UxXTpzI+yrMrcO42N1ZmZTlzdhW+a7sh+ag2hV6yOb4k/bzitPKNNQ4Cqbq45KkzpvZNt7VMKTD
YS5c9eCZ2jm4+AjeU5e1djJfUgG+LwphPxT2IYfUWHIuluoxDkayqxAH7hgww1ZaKdCbZe03VZbx
oAjY3YWFmOCtNH17nDHlo44S+pDLvP+io3gnTfd2PZU4noebrx7bs4aS6nkQ2bD1pHCvG4cInBqT
INr29JGZiJCKsC05RjnpIQMO86axajppEj9A0VTOA6WIHoQDTs8W6sq2qOz6c+np8LYHb/Kjzil2
br1yzu/kwoYcdz4Fi5Im504683C5UFo0F01rz5/CEoSkvUQpKCAdo1wHuAXeyE1q1r6UmWCZzxdP
fAP8nlx2KTYVvoSvig8XYNdcUFaVIUfGDHGeNd/4gRV9dyNNuiY7fidu9/4wHZSfWHufetR1CmdH
gt7eJMoUN2OEcQywiP9GTc7eSYPuCFzkQqfOO9l7+E/q5TFovXMzJXvZSnNZxJC4G6isS2pt4lLo
jcPh9cMonAvaQNgg4HW6dvrdcu6UtN4uIT3kCpDxPGS3U5U/wPG674LuIsndeyvN7oDqvBOZOiuM
j0uo3kXFeAxMfuWiW0sA04Jh4Lxfaz4m9CfMa909tqYvODoeuhBoc8jHvkkCH8m2c6yS93Ps7/xy
+Jq53n1Wis8z1cirwAraa6uLk23ua/cGLs7jjLgO0No0veXIfYmw7AKVOOpG52zNSlu67zWOC9L6
rAtJ/Wajh3Snlr4DI9zf2zGGBh6By2meygiKe09GlzoHc2EV3b1HM6WNOffZ0z6Df5NCRrHxHFEY
45DvZfm2y7S7Txb3WxWAWLVkoK+Mm2XnVVuXZ03U3HtIUi+6yZdn1GXVNzezml1Rp+UBPBPg+Pka
IdNHq8ii71bskl/S+RdIFu9BQ3l729ftneMPe9FU6QcxKSiyA9RwxMyqyi6Geg0G+DC2GlyJY/Zt
EBHWyYSJbHu7yM/+0ADGdkknKYvvjVDvitqVWx0zvevg7TyCD1nytEbn9576+H0Wvc1y+vguVvG6
bB6Tkr9/Uti1pEiudIigRsMiKcz4Lqx9LDf1MSeSwlEeImM/h1kHxTyzCX22r6eJVpPEtBUNl6S7
WVdDMA77GZMKL3cHofaMnbk82KA/9zLr32k4dYUdZpu+7fciyPatpfvNiJDc8vIr1fl7mPxbP4/U
NoxRgBu1vBXMVGPR3ooFFjparP/H3nksyQ1k0fVX9AOYgDfbQvnqau/IDYLNJhMeCSATSODrdWpi
pNDMYhTaa81gm2og85l7zxUbN+NkC4tPUYSfrkRzz6h2UwzeR6niHbOLJwiADwznnhgYlVs7Ls9D
qGrUCMldaY3MQDPgcr1ceAJNsbHL4qEEm8JL/WJhaioivpoIQ/QNycmpGN3hAcOxgnKVLu6WNBY8
TDGUnELKh3ma7qSlf8i5vc/iIFWZ+KU89vmLMWmWJ9FhsYvLGo8Woo7x4NrBFf0aevMhfBZaX+pM
3rdrnOrSeg+89s6hBy5zf8UFOD1VXBahA3rZjpYdxj+AdZ13msVMFOuabGzpbp2o3tSZ2rXGHFXw
5tKJgXiLhrQwOtkFAwruUkDtVs5wZ5rgamRYHnz5h/eLcFRReOnqmeiSKY3pQ5TVLueAv3NE3afl
YjtbtzWvuZz9bWUjVSPq1G4fWzI9X9c4tM5t6D/XAb6kpEHmr1q+21p6yzZpasFDj3qdEzjh+ba5
BiMeVqHiY7nauKM6eO2GyuJc2O1ymEzuoEVedsr7Jeew3C7+xFQMZCOTqSVK+yKrLkVsXSOxWDw4
OJbGomz3cN7Ei4UKjFwkadZfU6Sfs655d1T4sHqN986w3cR3Sxa/xR3ymbjeT3OERjk6xz6fVB3s
xqTco5JISJkx19i7U/07dD0E0z5/ptEqHhsCeBUpdrpb7n1Rb+fWeY+s6M0nM2qdqjhN/PKHi0WP
0y+v9kFDAlJk2uYBcQzLFm/8GYXD42oA8eFVSJchPIuVG2l1jpGj3uM+S3gQy196gMSm3HivRrxf
Dtr0KMJHVsyEog7BxMEp/e+pjd5Y/fobGUgQRLL+QoCeJspS26IpCVRT5oTSlkCwsqe+EvWLxocl
rfDY9iwiK/mSl/lbPRaXzPLZ8eHIz9tHEwX1fTu8aHs81qYEkpVQsJCNmrevC4Y+yNYJhEovOeRz
fq4CsonDpj+zb2ekmAVv/MQ/Es1nlnUnd7D31Qylap3sT1T826rozkul/tJDXxPVnwe/uVlIfpiy
eJboeCIZ75wSfHgmUFx2tQSW0/tpLoufALdGvGkME0IrOotoubD32ozNzFmlePJJz8kOnW0fe/Ba
KUE6qSRSYDVmKxroOB3JPSaCHG8yYEJWtmJqZLrnzyfE9D356v1dGWu8Y5xgYZ8gAaLUh7k8PLp+
+zXYir+W3xYHgYdsa5V9uJGL8XbKvAg2OLiwSCGSxDai6r5U0JUKHbrveOAITNLFczmpaVvEszza
GYKdsSPqYpxv/vzpONmgQuyi9/d+01EoM0NJJz+kqXfKNxP0ZBeTmKG1s5sDvXNGu8Y8kjXMoR2k
UDHGVHt0iI5uHNZwFNs78nw+lYPvtK7PVt0++Tkl2cyJstEq+pkMRCgNJt+GC3nFQuK/sigvtlNY
9PvAo+7uCvFVZSTyhoAE8cC7u6QnxwOdwjtqnKdsXa8OUqltF/VJCrSKz77P/hgJVahZnrpiHjZy
IBu3tsp9u7h8wIYzsdwGnE350n42iAPOs0cBzrN1cYJlxFQiiJISZLAVWK+mgfhbGfuQDslpXvO/
TgJEVLTDe2XpRxm579jDjyJrYTEPnBxularbQxlWzQVzDUb3JHowIBu77pbIgg0AO6F9tYIw3nuN
/OkiQt8wZklSe4CR0dXtDSyLX7JrfOJagU3wJA9PqyreS5UfGVNeEQ6lQdgzfGk4dKOPPrN7jrbJ
O+SuISqms4+jqd6ilbWTJwm+bHhQoQS+h/Vy9d15g1f5WEfTRyjWtGmCR1cnx6I3b7OJudCtQ6eC
7yW8CDGW0MoWQuvm9bJO5oJh8E8/xkQU5cWtNru4mfrhjZQ5ydpcVi8iqClIqm3fT4S5BeMvqbMd
McJmN/VumAIL/Nn2ct7M5fqLn/UXC5VPf7Tv+wL3jdP5zcb1rGxTt9NX3NRP3pLfDWNgthZH5hb6
AlQZE+CcdcCQpYK519lanW0Wi5PynbvChrVW9kSwmzvIjOD+e/HahkvO0PYWznEDnQyQOmZ/ucKO
RfNDzqrAuUIxrQmD4XAV/nb0nmMxnJnbbJ0QHD0CFxidYcWxYw8hB3356lUK0UtVble2BChzNk4z
3ZUm34Xu8opLaNn1kTp4XfE+eMNzXfXU9Ry5DMy2emQ/41tqj7VlOrDEzV/x6ZCVN7JxUFt2QR2A
MN7rTZVrGsYm/kyiZkRGrKsDOsd5301ucmqDKXxCf1juBhMNNaheh2DNhbA7m0zfPQNBgf9w9f5I
FbgfcZcvOOTnCC5iJ45RjiRH0UtsSmOIDjR29lCOPmhSq4PcszGjbZ1zP8l+B3XofdrBhG+EMoPY
Tgkd95GOCudra3q62PFG6arbJcL8B1viNZxgws9TTWeZGMf7U9FpcGYQVEIIeoVRLtS3fiKfvVt/
7gARs3q8U9Ix+6AfrAczTPV3N2fdZeqI07Oc2N9VEyqaWa362K/Kuo90iE3IQDff4G+vn5miePss
MpSNXd+Gn4XL3iioQuizDaReRiJYmNpkjPZLFPffxFv1hEWWLenLqM3ewqGffrt4u8+xquQn2jlo
svXKINWuF3N23NtsMY9gpkez0x7dos1eSkWgYpFY3hE/Uf4NNUbhTYqGCpw/DlMyDO2m4EBL+jjt
m878VVVuPTQZSD83ys7GLDMCTQwNi9+TfjiFQ/idwfZ4pJzQ0Ja73L8X1lrQuJgxOJuq4LQKKY4V
hhJ87aE6KhZZ73NvOb86jw/fFM0fhq7Ry9quaueO1QCk34h75XmnOq/e48LGTasK+2DGUVppH3fu
zuvy7molszkMvY7psDqiUMfxNlywkuMcWDUPbRdaL0qUUZLi2JsBBHPdbUSbBOdMajc/ZJE3vBXI
rf7M6zT9LEPD3hQp7X5oFkpmv7euCPCtq51prsJshjkJJnMvkhuTlSb/YKY8/1VzosPQCVGE3iAa
0XEiFO2xGqPy5HTBeEm0MPtlzoPTMKPumhxpjnOcZRvem+6jF838KxzVxwgSTHXzRdBLHdrBI38V
rmHxZXsl5yruuryiW9IFoAE7S9KlGsIFmW/NpMTX5W8/78qL3/n4tiWZLxsmzv62RNwHCqzMHkNb
rymDB3nGc9VfexxRQO48wIYLNMqwDQ+Dg20iQpKfjmFw33v0ch2M2Llxzb1qdchrbc3RcRSTutxM
gPt1HNcvy7fqLWrw/LObHHPghqmfemzZP0o3QKGF55+JVOs+j5nTXHs9LfTLYCDfEo6PI4JkoJmK
GB47XYhbwHYwRvReUXAPLhL8owfNec8SlkiwAAVX594gzFHh/mmKoPxBCxF/ayGXPbF72V0n/X4D
R3r5qBZXvGZzRJovpL4HXwHsyGN84NJT486fCMJZ3QF1Y2zAlwpayjPW/+IBEg+ntgnG/TCY8sNP
VPtYuXbzECF4Q5pd2g9+F81P1ThPd3m0rj8rh5suzHXwBP97ObiVs1zYW+uHpFvWn9wPPpVx3Ibb
qvP1bs4rBdgyqIsbyimGq7t27bceJSUkNeudhN30yPjdB+PkuW+9QymX42q5AHFfXu1o5Jah0xtx
XrYCKPVqSbglPhqkIhtRUY/ThW6lOCWRDB+SEMCIi7F02wTELcSr7b5K4InHPOvKfW8H4w6gb3nU
C3zDqex1lyrbkb8Q2FdbrlJ7N7KK2+I3HykLVJbWIFOQUNrNxxJn66VxOm/nBFZ2iVz1IOfmJcSQ
fkiyyVDjUFRgVHY2EFL8lzUaJ3i9ORPRJAjojDvBtxCr+szXFajblBSXoWvVmzS2f3YyHe/Kqc1f
Vh2Xu9ENKSDjSG6iZB0ZIISL84qhFXdk0hHSkLpLAArXtvqnoSXCGGpx9VkpOel9W3bRVfNe7ru8
F1TzSlv3OCXz/Oj2NIK1VjlvN6nIqR274tJUw2jvZzNY6goYlCEqzsep2ARV2Y9be2jVa4Or8a3I
6tEHgJ7UD32wsJTJilsv6PFCulHLAFvTAdLB+3Sk8RCHr41cIUpEfrTNS3+6RDhmH2qqE9Ct/IiI
Dp2RzU9C5wxSswcAVlH/hGbpd1HW1aC+e/nbWQGdeYCmbyPO7gEPFJcCNAVncqv7tgrUc7NEiNGV
0o9QfTmiMrrZ69DVJIyF5Y+iBg58qfw1e6mmtT0gDh8/3cbyfluFHR66oVhOjtWrLzCF2e/Zle6X
Lmz3RcaFdQYBr0CdJiui/thKENCGzGcBv9aFeY+SpiA/SXAiM/MYeMJnJ75qX9NTFv1cgB8OE+tn
XIvu1wjS5CuDGS13JdLf45QQA7JZCgXzPQMvesyrOnmtG/zQCkFq8djaJmG0FIkQyC4WfbGbFk3n
Vs9tdoKQwRFli5H1f1AIoDUMmF9i18yH2VqCx7x041e2EBQBCIT0XUvA9B4iOzOYvII7wi07lMdh
Esl72OPFRR3n7FcG5CFhyL3hwJByOq9B21DU4o3vb+bezN1NDGzgEsfD0WgCqeulnQ8udJKfmarc
H76Fs4NPu4WaXwYu6IUMxgYnbfMtHD2eDCFYD5iu/XeLAuUhGB3hbAq+PpFCRXwaMdo2IDmk9zb2
zI/3Sb8Wr7J2wsOcF1jMmrUM07q0QKITCAebyDo4reOf2t7nuF9kMLz04Kp36NWBqbf5sjwA7Leu
RRua38LLEbgGa/dSGOASBIMK916DrHgUN45xi7KlSsH0Q6up64Fc8MRqExQWVf7a4xE52Xat39xF
WUQ0ciKBYRT9Z1zqbzEtJI9q4gVECq1AztvwziJY3CmnbTy1j5kQ8mgJtKmgymknHJaIvT4K4xts
0R3WctJwCA8NJaF4xq7BaItiYAHruJdMjzZ/UccdNjwTZJD3xodDwQSIE+xbaMlIunO8qxeY4XWU
vXzrhM3oKLfm9bwqxnFpZBXWzqmYZsW6iRzcbP76ACM8YsiWT+6+nbv1MLgQkhKf+opwAgrbtcq3
E8PhN5q67DKFU3ehwRz2bqvky5xYztnUvQtYz/eCJ8Zn3RlW8pJOlW8uQzLS0Cj/1s/l7ZISysNT
ASBml8s+ehFdJqj5rUK/otANP4bOCsldL8f3YA7ao0JZ09SLJpyY0e+vbIVTT2ZiEAHdzhuYinNb
ftbD0u4AVw9EbLOC2qDJTW4FBqmOE2dIsIMC4x48Jt7mXes+fKDFcNrrwmLe22bIyqrdCnR438yc
Og8+SPmH2JYaAnrV4nKHiQ5PpgvK39AGCCQL2zy/FHJU725pxU+6FsyGR9n+XkuJxMQd5Z5SRL/N
DZGjdZ34P6ZRgwyKqq5+GfOwOxqviU69wKzJY1FBnXZF/TCSDHGf+R220ABFfl34+UOHtR6iz5hv
BuD9m6q25QNTJp4slbi/ihiR2aFWC0UeCiC1q8Q0vTEWw+elCjHuRAtAKF46f0d/2BBDpPNTwal0
IWPFe+P5+B6xjj/4TJcOWZmoZ0slivA07GZQgC351HDU5Ftn9XgU6iZvn+KEtQOIxnnrtBTMCEGm
HUuA9pstQk+U3tIYdibEMlra4t0Ze8ySG3+YmztIWQoWg34aNNMvJ5jrV5VLe+e3iXtmLTguCOW8
mrT3tnvLK6LYOeyGg5/E/bbwl2rcBkqIr2CO3XoH8Aik/9TvNKrjc9er4Td/V4+WTKo/0ewS664s
+zFMzHqvUOzsndx1t9ES6isRHzRPfjQSqIZ8hVoN5gvVzPCYZZX1WIK3SorkdSgz89xEstkFGFzN
hh8VJLPhpdqLLljfatTnIU0FmrtNEQAggTHm43dxp9g6rSsbUWt0sq0DVOd54PIjuCkatnUs2p8N
vJ2fHDLznR8u69UuM++C7rO/K1p/fROuR/hjFMqfVT64n5gMw3RmB/gFoMh5bbPxu0mA0qguz/aS
kcqd67ND29i9VxNp2bBc0sA8Lo6fNQ9TabxfixbH1YvN2cX5z2C/07hyprE/MZE2j2Ebw1irRyaA
KXM8zGD5UDZ3GR3WGpr6sQzAQpd+Iy9AYuTMcoA8Xa4x+Zss8+mNU4hhBy3qgdaK6spdL4sTd1vb
EwTZt953VS8wPKfGzdmOVB5suMEsxdHjLtqHawEQkWKle7cG3/kTRgwS3Y5NncnqZU97O1+HdZ12
5ZLdHGVje4adcamjcuAxCT88f4iOljd5+6VyskfQC5LKt/CzA/kDlkpxpzf3Glngxu2s+7row98i
tH9VeBPfk46510DYaNDY6hA0jPFoudixVwm10ph/dJUmcD0Wi592lmH3FPLHZva9MA9aKbpi6SHj
7ON3AfV6Cww8Qr5COMakT+TBDWk1tzfzHhHYlvU8jYN3QXzebmh/501+g3Xb2sGnKZePtmSfYii8
iIjh145Ymm6rvuWj1sMhGubwxbjA1cBLbtjIr3Sia9rlRGlFzRsUvLe+XuNTSZzFiSLjvHjmpzXh
IAGqoqwnUcYPdSnv57LdMbO98zr7Z9a2l7i3NwiFT8Yh3cu0T+U8XNdybfgovPqI9P5J6CF6h8lX
Q4uZshTyn9mQjHMqqTzDjT0b+4Oyc9hoqDd1q55RlktYIJa9HyzzSrNBW193h3Cmoq6jsPm9Mm4+
r+XiYdEMB4B/JaXgF3no8cxyGWa5BSjzMPoBoJyOwlfumYUtZ2N5w7aYR/kxc/Qd1jyQ6VrE3geA
BJWKfM1SdnC3UZOcnxWvNPhBHbAFRR/PMHusbhCVpXwdlziZGcVn5Z25qbgSMzdEqgSsgeO4+cmS
m566Hod9T/DFlhEFG3jj39v0lgdVLxLVvp7gxHnu31Iafgm7yyKAE2CLZs/ilESy+4RAw7+nJWXY
S4RNe3DCbL3HZFsdTNScubCmj1Lj5BxZxW/XSjHKpzM/uSbP3m1iqvfhnLA5VL5P01DZjF02Lox9
vFDxvHfGlksKfpJ8Et3UzUe0oCTG9UPFhwSNBk+cQyheue6MlyR6G972s6kjZsV42VbDGzLWNVXT
Wl0gLi93dIs+LB6moi2tMnSifNafCfvD76rLmY8tvVA/bWI4nuvMM+yMHJ16a7NcGAW3eMOCLjg1
JDYEvBZ5e7UtCzGyCsY7rur5DZP+cDciwPkVWnpkxkeVkaSBo8bvXipzNmWYE5jVjhezRB0LX3KR
TwnL5kNr+xP8GLQYIp0K6VGC2QLGF6KYJp3mmPt2LepapzZVBwOWZUYPHXjTm26ncqWxbkJvN2Je
uVuMY3U7oYybnXvhWT0qcn9o9uzx25LCag1eagBp5xjSJAnRc8XSv7JO1lJptkrGeWZ32DNOaNcD
NWl2QZqDXxp8Y3POoNXVwCkd9ZBVQUlXtbiE/1R+/B7k0ULMeD52vDFt3r3XsEL2E/E3xwl+yJNj
HIe4EoWi310T50rB6J8YXFv5xhMd0D0gWBRoub0MyR6Bf7hjetuhDiLgGDOCCzxTxdHZltEr/hsG
VEEuyvuBvvRSACfcZxZ8N0JO9sUCGZHQDPsQZlX01x2q4nElSoIdL27kB0/zAqbwEeEORWF9iVqn
YF+k+ocS/fkHSzdItVZtbUNocyk39i3cSF9Y//PrFbM/PU1Q0txNLnprF0fz8toScfMWktV5XFBV
wG6NiW4AEndvO5k8ZvlTDgXNa4uPoMeX1d3SdJLAnl4aZ+2ONrXrJ/w997F2K7Wl9pp+jnDTDqoq
rTvZjhP2N5v4ZymT+nFVefGyjFo+TfH65RZM7XaM+yTDpyrAPWA7S+0B3CJSAkRF2z07lJrPbVuF
j71fRZB6mj5KhRclv+ciqE/l0k3sv32HJQNnmNXb1l+Hv2EKACh/b+hC9xwH3kkM/i3to8GJXXtr
znrUCa8JSFwkCMl0lrqhdZGD84XHmxSWKQjubHYG526a2nugifGJVaHYi6j9yjP5Umd2d0vfpKSv
Sr5Hf3uWNHGvW9IfiMIGP5r6A5bxwUn+jtW6kpmS41WKiz+e7MeLRUQuNH3WAnFTgKkoRAyUzraf
81jrp4WtDqkyWLhzGFHsNtiMbXKQAC+eFfVYPyPQ1jT4tE893e8mUU34ZNyWmdO6DkPquiWNZRQv
7TGfq3gXLHHwh8cfxYdU/vsoWnGkyc8ZNVnJnn70SCLMesSQ4UCh6sJoT1ZEvveSluVaLZ1s0+es
gwI15Dh3lya/bxOVbRmUh0/2dNth0tith6gporSoPHwaBPtokTraZfhXwyM8McRyHps27h51mev7
eam7aznn3pxOCUt+GwPNiR6fDcNMpmZR9+Pfxi7yD20FZG/xCZasOmYr3nV187Yy+fpgGsforO/8
O0FLuWlXolu7GXlQLRirsOyM7gqvVg/lbE17OVTkJylysbLeh1FeQBVf3aq9m9YuO9VJzUbSHThl
k0g962Bt770F832vFJK/psWyV41cnx6CPgwaFHLE+jio/5InL8fpWiS199xJyD9Ei2AnlHH/Hs27
Hm1CilD4McyIuNeoFWw4i6lE27TrdOS7aR1OCSO1m7WF8iS7tFBnt2C0DCHvXlRcan+qL+GEG197
RYmU4dYyC8VX9XxzHvqx/WC2iERGQIxF6nRpk3x4cCJZHOhsq7d19dTDEsxlaha7+eHQ5R1Et/af
2ZjHH2Fhhd9+M9zqic7foFAzKSlozhaGV/02yO5tHputoY94iJeRTEAYhPfaXi0+496/ur4y0HJ1
f1mIpDqwknc3TT11j8z8+V0dzzh6y9jIPjFXzt6j0jaHCi8kAbYosLide/mgV07HAeWjtQnAtIGG
i5Jfucijo+P1RD164Q2KEFXlizfw94LCGIVX9hkzAWFOo3nIh/nOFa4hI4+jg4SupPC+bTR4W4b9
12TCbr4dfBEhhmBqI93bBt2qluCsJ8pMNc7sXeZAaiwNY/BKTlAqfavdTRCJvyrStTha7cJ8w85u
HzWNfLx1gFeVmwBuA6Hc5PfE7R/VUIXk6/I64TAzgzOd+T7epWLStsty5SIsCbv+54iM5ZCh/GQE
6rv5czWqNKF93jksjq+Yut14OzRd8B0UORv9gMrunulaeT+h/9qFsUcaXD+c+jpa2XFQ/rAr931S
jyooejD9YgeSnRUQJfnfZaP/IelHGYtVz8fBmviejbHzn+7n/8MjAfHDFBxMxVFnhBHO1tB2p6J0
OWoUS7E9GpVh56M02HV0bXdxrHEw6wFh3uW//yD/bjLj54gBHoDltpEp4tCx/8MLXxSOMER6hocg
N15a5bnaFd5Y/n8Bd/GvtJqbNfG/kCw6Rsb/40V//4eC+/a//gXdCf6RwKJIIh/j2M04zV/oX4E1
HlE26CV5VGKsfsxg/reC23H/gZ8OHIPjoE2FlcSX+18K7n9AvEKICUYBclrIPf3/ouD+d8NL5Hk3
pARPPA+W6938AP8u4CZ+Ir8tZX8EpWO/BsSRcM0jfwDip3DVZWDi8Sz837I8oG38m6T69m1Jp70h
hXCUcYL+pwMhQEKCVXZ679gClDtdxcIcuiXIPmEoywR528RaaxnZqyd4rBWOWx29urJUX164QgKC
lUoME1Gk9ZEQy9I5SM3y+N2AqUHaFo7meyqW4hyFGfN9Al34EqXTlyiVtDJiL7V25WGMvfAqOj19
ZgrrG0GkyxBcK2/leMECszwIwceQuizzx4MVaURPUF7j3y1/7erqudzAQB4N059m4GfRtM9SYsML
6Q3rv+wvx+wHQk2PZXVZ4AscWZPkxpU7KNqGNEfgvVEBXS/0x/oUs4QIP/OkQgLkoDZjw4jYZKBG
kjEzrd9JR6rgtlsJ6XpiKGR/wWosf3R5IduDyeUQPMewsa8+PaZ4559MCPo9TlZrP/SFZ9JZO2wo
fERCL0STmncrrkk4m5dxRajwT4FhkrO+GDf0fpENgKkRWhxQkptnWYNs3rNtinfAQ+xxm+cauRAP
1YifHIXzRswmKA7aWNI5FB0L1KI0BPZq1zDiqdtAuFubSf1DNzMg2zvrIJ2jEVaepPGN9LlhPpig
v4G4qlifuZW203HU/vwkixsuCZnAFzMdxBjAXOOZ2gF96dys4U954+9vylKwJxSU5PkmCnSu0jzR
DSjfVSFWrixTV2kGVAIHguf0AINw/33mfjj9UJFCuKkXyLdbm+j4dtsqx5c729JDvllcQlBQy5YS
lF1BVOYFCLq9h5Yh34phCn9kQFWBKLESH8FEdYoyXKueph7OfkhfPDY9I9BiPSXCF5fVX/jeeVT+
0fPc/GmAZ0abpM5BcwAGyf+M9kKar7CpeiPRtvBueRfTtZPukYmx6FPZUMqRSekLnQZDg4bHxZnK
AvPmq2C5lOOZiENkEl6RFd92Y4yb9l42fKIFCkAmj7P8FqMYbpkEhTxT/PZvPrumfj+tcG5gzgUB
BRdGvug0t3N7aHwUCNRBXnaIsp7nZQW30YM6kLbY1VXW+FuU+wERMfI2rUuK51lkKKFs0wz3RRx0
7749wcFaAVLdWUPJ2xRX1fCMmZcI6hqJ2xkInWgOk5LVvsztcU47aaKDA3CPb9yY9S5pqhWa1NrW
E30IzChWkiMKh2Tl+22SzEOekTEFCDeNW+AaqaDRA/+s5lFtGnwETOc8U+n9at9ElpKh4CtwEPlU
VowWNoU1rNfeNNMPtsDBz46N14eH1p+AU7fUj4ETFy8l2Tv3KxsqsV2GOflLAczig0838s6oPD2g
ZHPff/oZ+IzNXBMa74B2f13Yl6Dxm1Ty7Nfh8l5pgOrsim9r/UzBf6k7CzF2PEEuQ/5fL4+Iitwl
jRNrVDtp4a6F8+3gcokNipd0pDNwtradk7JKtANRGlkZVAgFddx3BcKVAB1lTVrRDd4Jilv+xUgw
v1SBiIY/hbesYFyiVV0T9qkq9RBVqK0XNC2Ln7KV1OeVoMWF9F6yYmXVZW/gVbA4I/a3LfYr4dkO
MqRgCPS+avlVr2KQQfDdRID+zpTO/VhsA4mbZQs1lGTDnS3MTBC0OxB+O6S2EX4h9vG6MlyNA5oN
s5/0CBjZrEW/WYcp9lMkI3m4I1IUky/vkzuhWg6cKjpG3dKO0BclBP0KCOMYh1+hpuU6hMQIE6mQ
yeImmhpk3HIUuSKwgu2ar/NYXjt2o+x2BmQ5qYtqYTzm8L4porU3aFaNpl9aly/tecq9Z6wBwdMs
U7gkB9k0McNed7XCivAOIOGIE9BKpnPCkvGYAQ1mAJrkdNPn2xUFzqiiJIyOPbMvwnXjJuGMy/sS
o8ZdpIp1vi5j4rFaYe8zhq+4a/C9pl4xOPbtVG2jgySnCUb9UrvN9JpNVe7+GGzA3rthINZ5i2Zj
yD4cpoR/l6DP3gn9ACxMRoT9p3ONdE+tLVB2RrWtK7Zyc3CYstznrgty+5PTLvvLSj2/U6Xd/C2r
jHGqUr3aCsvy291Yxj0z8A6H8cbITF/jpSLXMh884+4E6YvPrMXyDymEOlt2rn7pfzoUrKjqv3wW
NWgrG8MvTCLAItCuEL+yEYRQyG1INke0sSaSHjbItuw3Do8BPg4J5fecWBYA3SoGA85kaDwNkVPO
Oy4h5tnT1BO+zDjPu7RODjq7Nh46CjJmol+9gceyCRjo8+4bz1n3ATu932PG3b8ZWUzxeleN/e3F
+fCqWxvTASN0rru1rqJnyuJa74h+wCfOJoIffk1qEi08n6llImvxkgyF+2VIWaYUCWeWOnpBr6DS
3poGLt0QbvNektcRpGGL8Q3MbGmeWNvE78QpKLWz+5oMTPInJhDVNjGiB9N5DSEyY9/k27oU87iD
bjD9mD36UCbBC1MihAa0znVPth8+lhwvVIOxY8/eO5S7Wwa92iaF8hDcdgxE9iLuyh/eMoPBx7jp
fhOSzlitXHX+S4S8P5vmtnZKjagkEiEWb+U2QYrjbnAd8d9hPEf37GPbamu7KxGnCGENkbeWR8/H
EfzPPXpnX5LcYCPRQ0ENwoEMJr9NChleASXW3EKy1NnGtf4ne2eyHLexretX2XHmcKBPYFotSbFA
UpIlShOEZEno20T/9OeD7X03C6xdCHp2I44nctiSkpnIXLlyrb8hfJHiTDDyM2Ueu7bVkjJ6Zyqf
k97glW9NlA53EwgJoDC4tVZ7c8iK6sYBSsCj3k2I6PDk0wbHZB3LPyOlGrVDz6Uaj4h3xyVSa+Q/
wzjRYjKlTNJb2cOT3jumKdrjOFmAnhoDYpfIcmGDi48q7HfxOdh16LVhgA2wi7jkEHFpN+CyFMa+
fw+xB3OCpFE0jRqr3xlbWwnZqZ0lfOsmgGovoS0AEOp7LD62rh5lGKhkmvzRNoqgpaFNHSg/RPAR
asxT1HarbDAfY61znrpuUG60SQVz7A4W8SOoUBJRbcXyJEY1X11A7yezsYndMf7uHltz+IoOcKgf
8M+iBoI+pHLndJ14UAdbxdl6DCKgktPw2MPZo4OEjf1nZm4LDEGC7qOiqLNL9SgsKkMyDJqNPTrm
N0odOVeUa/y0qHVwOk1fi9G+bzKiXZgFD0MeA9mInfqPsY6DGM/0FmtepNOC54FsgaZhH556OSaf
+VrtLXimudPrVFq7geyNqSwGcbRqlEj/iBiIZlDAHQRe0elQ98dCiumIg0Zr7VpLQSMJZ7r4S49G
YQZbMANINle7fc4/suhYWBd4k6SAGbMtMElET1SlER/oCzagu0MbrBEp/twbhGL32SFVoWmbEGIo
0MZgUOZUnwgWKZwkTAaogxEbYzo7KHDqYOWNwIJtViF8GRWDfd+3wfQeUXuw0r5mdjhvTK4uD1gJ
JI90MJVflh4odxPYci5JMFLPORv+cVZafnKbxrntRGaBi4gTEwGXMADXPfSKlLeVK3AprP3AcDYj
xAR1axp+6FlJ4/7MYWZ+hWxV0MoMFVs54CBMULBIwZONUIDMH9wkq7Rb3mwJeF3aJgfbabD6ywps
vjduNIEcNROCw6bpcqBusaJlFQj9kSy0wjG42juZXb/HODEDVY9qOeqZjTX/9qoto61LQocDgtYC
HqoUrArIZNiDiKvVD9JOYoo6NtpX8YRQxUYgef5A39N9zsqmM+lKTYaBPmde3RZNH5uHOJB2cagy
TfmZCz/IcFII2uw+9hMZ7ihdk0ZTDI77HecvtD84qm/ke4c0kX5znE0PiFihaQ6InSRvqiuAEjLu
pHUf2TVapX5MMbmv4+oxhbqCZYIRNKApEzuxkSmi/8gXs9wfmp9GzxmH4PfBqJBJ5HEzuJtSING6
pUadfQ8cMXyJOslyO4DZvjsT+thgOfRGAv0Y1K8I8ZC3UvHyIUuE5u+1rgGB8xW/eOwmfiDsvgp+
niSO4u+YcvBD6J3vvteKBMlaGZfOR6y0wND1dSqOpuysklwIGAtEDIq+O6m1VQWPFuLSjbDy2t4a
sYv6AF72vHuaSpnuA3JkPCCMts/2CmE1BzEi0bSK9Na40RUDTkimVEDUeiNsS5qCLVyWvoJoVQ1z
mIrygtswNBU1uCPYs75wf/QM8Ac33J5arPJM3X58ohVPOZ0TlXT7Rvgai9yXcMrIqSyeWfYYj3hM
YTkNa9TAKYHCs48rpaUXR0PruBEHoQ1zVyGqZ+eIbpLs2nB4ljxF/taN+D91gP+xZiWd/15cgm/3
r4/f+ih9qZL655/5u7Rk/qbihsHhcJADmmtL/y4tGcZvms0/2BQAcNFfqqTq+m/IqKiaq6K9hW3r
zOn/u7SkY4QMoQN9Mwe6O+oB4i2lpYVqkEDWkf0wq3yq1Kso8yxqSyjVJLoz8eZN3U5q331+D+/2
KXHrX35phJWEpefW1PuBBjWQcKzAHILZlzCGWrCVSpfgMU9pxXr/5yK+aT/9/yaoq81lw/++Ux5h
p3z7l/ez/9exjfKf315umD//6F8bRrNcqofIIemIRvwtDPFXLZJa9W8OVUDXoFiMCeUsGfFvWV3+
D5XL2Twbu2T2m0A04t9bhpToNxuUIQU9hOTZOe6bypHn1WpndtVA9RcFHP5C+lfuolrdG4OqEMfE
vXTQLaOh0yi/QDrqNy8W54KowyyF9B9Fhz+HmXekhvuzq9qQyc6rnpk/FQpANuce9ef0d0ONpx0k
+8Kryzz/HCia+bloFP3W0DL1cxXa9or/7+tZIoiEeLGtIp+BSsdCZUgpXBonVMVOuYqfjZY42S4b
+r92+X/V5rg0CBVk5N7RDiEMLOSgQlXAndQCpKxdy6e2iRJWqtdr0kWzVMz5Ss6uCI6FrrI2/zr/
FC/aHEjVBbhUReFJxV0ODECe8eqdsP100NS9/tEuTQh7DZW4RWXVWXYykrZiW/NgP8Vj3FIPdUia
shou3tuHcangorQ8K6zNRfmXM2pCxxrhYYYnNBxgsvQZmSgp24os2CI4zluQZgz6mPPXQTZPXWjw
kIUUpKdqeArcojxJg0dnYajpAbTxz14OKZhw28G8qHUOyFkWu24AGFFntvv2vSg09MnmcK2ZhuDc
v5xuh1qxr/ROiIC7aO9ChxdrO4n06/VFJUAstwm3DbKi1IKQKJuvvZejABDK/IH6yalK1B+9sKh7
2uWTBdScIutgv32nCMNinxCqDI1qxfloLWuOdLsdniIw6RDXDLnJ5FD91fP6rwfswtafrRJMF8MO
9GONxcr5NT5velbHJwNe8nEAXb6rsvFnr/r99vrqvdr5dEkc17I1bnsTTfTFloSlgCtlGWcn3N1w
EmVgie2Q1FYixquPxFuCkqBFU4YkgF76+bL5jZMl0C6IGJhY7Www4T/soOT9SMb4VJD/vvUzMZ5j
obZGa5K9txxv1ChI1zKMTj7sMYgSRbNRDAAgb108WHB0t+ikCdZxvrtebr0qbfvKAdd5GnQLl0WU
dykxJ8bKKK/PszkPI1QqUVyS2PGcD1NYzLAWfnYqZ8ZfPZgqZKxq+EFC7h7CJtAfxql7MhxQGmVX
Fw++3uXbYirGw1una6HNLHTQsujz6cZirwDwGQt47+EJwaARJQLlh69Ew5u/HBOkrQ2hkNsLDY3z
yaZSL9oq4oC5iB7golpHu1Gs6u2+3vbnoyymUsjAlym82lOjJ1RRdXOg0eTUK3N5dYy5UubDRd5h
otRoLUZxx8EB4lxkp0zR6b7Y/fg1DWfzaLLkx+vf5vJQJN5oSJEzLeXf1MLp8cdQs9OYafYHA8U9
HpBV33xKUB41V+6xOfyc3cwAxrn2xSw8iVOCNf8wL27mqZbBWIiyOAFWeRwsZKbhUOgbHzC7pnbb
tFLpW+Tw6K/P8fVHY1iLdQRqQBSxFkm/kaB91FBbPTkaUjlGhi8hNaM3al0SBhlFkAiSyHK2lwmc
E+ZxqaCteapczSm3na60UNhRIJ0JAzACVkQSL6wlenkcYbAUlq4Zi7VEHRCqwJSUJyENzdn7eC9+
osPX+ofMmRyPtorzY1RaG2kQJVqDkrwOyyQj5Ny8ojBn4Jo+/5BBLcwCfZHqhHaNlu8oedHjTvM6
/hKGqfE1TFUQTtc/4quNSuYzYwK41mawgbM43zr9aUlbTp4CumIU4tLgcXKxC7dwi3m4PtSr/cJQ
JCC8P/Dl4D5dzA6z3hgKQNGcwP/rv8w+0rwSXYY1Dd8LMyK/IWTNkvJ4eC1ugR7hbJCwaQe/V+ve
mVmCylQrg1ssN/3n6zN69b3IPHidkNJxxgUv8/PvVbhJbSpW3Z4AM8od/YH0rh8q7MIcpbkxtcZZ
yeAuTE0gR40IM4kIVkXzCr846EHRlFboyvak6ExIlm6zy2uEXwcaqSuH+9U5mKeG2J8gOeCRqC6G
YuvVA9Xl9kQ2pH3rAXVtlaDL7gdL9Ejw1AW0drez9yILrBXRygv7hLUkquAMpVmkdeeznIAehg0F
tFOf5OqhAvP0NTfCybv+7ebodBY05wm+GGXx7eyKbnTr6u3JyNQvrZnj6gTF6iZTCv9jHKf9dvJR
6ro+5sXvhz3HrNhoGcB9zmdm5AgE6z5j9g5oXQzYn6s4rPeKP66prl8cydFReFfR/0Q3+nwkW0dE
zmhEe3LLDGaFEYE9hwVB11VbS0MuDkV8RmIPyWxbXXwuyHVDNzqwkKa+K6DFq+qzilDiXSTNfOWb
LRVe0Z8krUPJFDgRGraEkvNpwRfu+iDSu5OjVH60KW0n9uaO7R3a7sFJbYH53gylQJM7idB235RB
pv8UVZ0/QCjQnurQwhPh+je9sFtxn+E5BeYLnNbyWVyqA8L5Q9edxp4G8QRj6g65cn/lWro0Cpat
6hxmAJEtvydVeKWZGkZBhQARtqodDglp6P76XC7EM971FEko73ARLW1ho3BoWhiE/UnvuWojrsCj
Si3+Vmhp9dxKGb85nmmsGo98hMZdvA7mrfUinvWjG0qlUacTrX99G/OhtkJCaJg0vdy9dWpsGnB5
PA54G/DL+VCID+TFlJrqif48YSuTUkesDspWuFOQKQWiEQ/Z335e//Xd+DqImqD3SCSg41Ie1Rfb
NRAZUBogXiezHVzUXTRLRkelydP6FvaaX+5l1+TdI14MSXFKKbysGbm8DnK88kCkcmMADkDH73zW
bairdO0i5WRD17vrRak9jJkij5nUaH5BsoVrG0s/WoP9vd6uJuU2jgQekEIFFnI+rhVaPldz4Z8m
dtkeyrrc1IUfrtxRr0eZbwcqGmjcUmNbRgNV98fBLhz/5CMwecD0NNwL8HIrO4dyIT/t2VUhyKl1
Y0bVUmZHHHYxGzxOUz60/lB1LNjTIAbF3EsHgNpTAF9+OMzFUtil9EJp67go199lgIBpbMalO2SH
uCrBAmRaJvv95E8q+AIkKpxCRVoPP25PtgaFEcPsVeUWBGVt7Kw6DsEdGQE0PKvt/E+wPUC5tKNh
pjdJ6SNlV3dKwYfU0NZC6RLaxK5Fkn3YmWqPQZ7rFrH1tYb8Nm5LAHGf0xzNhkcgh5wxAEPSfgft
MopBSg9JiZxi1M7SMmVnWIe6y9r4W5R0fXMwOqChjyHIWPchiS35y5I1rdbQxRzlPocIat7quds2
M2O4rFAeCrJmY1Z2qt4YAKOTXWy28jnIJlpl+GE5AfhnP3U3A3TheGPTF882YWqjh4gWT4nx35B+
ahpRG8gIO2H00R6tiDuFjPnbAIxU98JEYvEYSmBX+wgpwK+0zMrPik4h64g6ThMeJAImwXFKer/9
jMhRotwP8RCL28HxA4hT44iSL9RAzaoQs3KE8zCZndIfaKOIbwZy984uhIqR3MLigpDrD2j53lTQ
RFGqmJ3nd1Hc6QJMhms2t5058/nzuo+dg68rwwelG7R0V6pV/Fw3WQktoxUZHr4mV9XWaA0z24H4
jL6VodpmG5Q6sC5rqOjeKg1ylPDtpCo35ZApMbg2X373Qf28hzBOgZB0sovu1cYsEIcsTfcn7sAo
WzpTCrghangxHP3QRyR5spXSPOGzbfUHcIdwWDeuJE+EnE59/yEzIP+CbElb8Z37EBFQJREt/LM8
tSrsE8SEIGOhuMV3e3Lkd7sGlbhVmiTF20j2QfKUAJaB1x9mqv51oCwX/pyE2+s3SmQ5BRKlKrh+
1HNKQY8e/ZTDNJiJdRAWArK3PqLM7kFaSa+BfkuEhZQPYKeJN3hYDXew16V9mzSwFY2NlTqtCWWh
a3qwmhXU1CZRkaSRU1+NwK+apHlnp2Kmxad13X4dR62il9/3RnSAaFNHewO0T38nXaVCg2M0rAGO
qNWjYlYp6IHB1ZQZ6iQyT5OTZSuN9qP35ZQjX+HEYXlqB2hl2wJhsYD7ovL12wZr6OhoIc2nfENS
CupriT5yt0PnEeptJ6Hog+dM7Se6CcCttxGFXxTf/QqOj+2GenAQaVlgYtb6TXkbJfzhzRg7Ubqf
6gZKUImFp3rHTWnaO7tL0V2FthX5+75Vy0c7yHt7I3qaHA+yrrEmbrpSd56DNEVKDRkHTOg/TVpn
+z+wac+D59HSdITmhjQYyh2EOWBrt+UE7o7qvTMYyKBBRGreJ5z28R6NVtU6JiKj/t2gpUPDOw4H
v6yB1vXFj6jLG5MOcVyoxCwgDLm0Q9QzjPHGSPpfga98H0LqbYmWNvqmQYsIyT/tZ6hZX5paPARu
mO7s0vow9gP7zYcEiZO1uheWzH7JdsgPTa63O5d6/CbvDC/DJGbErrhuj7KR3qTrn3NgXojh4Bhf
xvpDEymz/A4OML+PpCibiNo6XfDymNmh3Ls+1WZUkcB3oCXo+ZXWH9zJxGShGotDjF7PRtcgPWvo
GtIfRw2ynCYAWVH1EJVQx8F/KzdOWyBSGlG2Q27k1xDU/caKoNfUQHJb31LeZ9CrblPdfTByH05M
P8BJ14zvY9j1u0Qo96gcy72Tw/kF4oPLWKsFO2Ok9QSdOd+k2NM920ZzIxzATk6DXHDbF/cubM89
6jD+bTTF8Q0JbbfNNf1xgsOya5tcO45d8k61fDH/ZzADcqqPjhzlA/TVmIw4CPemnaPyqmVfjQyh
b3AGT5VQgy2YPIl5tl+9o8gRPKMrnuzyYXxGGpFymw4KauJhfmeHaY7yVnwA0/gTU65D2vv+Dbgl
TCndbVkNmqQ7Ae7/RmuNCtQLGs28Bmng9cWHEvdsZdfGTVs89lnsTjdNmpjpkwkD190qVaQpd8RJ
t72zUwx9bmpIh4Dq6tApHgqknvI/BqTChtkHSlhggerCGbaxGuX9T3SSiu5XEoEkfO8mRdB4cWxO
VOGpkhjHslZCtKN0fOoa7jH8gz+O+eR3CE8rgezuKg2jwD/SYlDrR9iJebRTOdFIEJVt6t5lqHEQ
JXU1fa9IIxLHtJ+M8ajFbZbdoCvHk62jZGQhNorSza8MyN5s4cRdGzu7DElmF25tPxj3fiBM5HxE
5H7zCdJ49EgV9y47jwNgfzltcZQlk6gxbmK4WiOEUDCYyGKGlp5uB1909kZH9f25Q/W7v+f2Ap/i
AFdKdooeJF4BzAWdgNhwzJ1A9PhTFmYOF64iix+um5f6xmmUaXgHhhB11KGwM+R4IaNbe8oSmXkT
Ar9HedYCIgKWNRN8Nl1FxYCHtvkrb/x6AmxvQd5ryUjTfZ/G0VeudKMGW4LMJtiaNrwLaxhIm6Qy
IkwjRieFetyn6uPQNgYo/6o1mWlbKCZ8+TD8o8p6uP3ARozovtLcnGvQ4aIG6te0qtdYeZpunTzC
DYV1IXkbnQFZbiGD8gcuHr62K7J2Qv0vGOmPDUB17Md8yKb6xo2AKefbQamS5gAK34Us4k/urPIF
og99Sohzw33coIG7DwuBXWKm1xjUOwOVX2QtDUPiNm1DKpgA8jcm7LzBlTuKX/CokFKOucDszLKe
KgTDUIvW2vx9CR2k5mZWoYyEGWnbrqgsab5vc8QZH+sqjYmXkW4LJBJwcQPg1MjCc3FJJlrXQIl3
Jizh6ibSes0/9qLo9TtRh53yBPQGtnpWqeVXsgL7ETGoMdjkei9dON1DG+1TkvyvZPlqdldxJHnQ
60bc/EBburoHTdEhugwxTp+OXBZWvG3aJOkG5F6ittn6k2+BY630xt4WXeibx6QjBd12XaEiv2ok
bUpEdHJwmIMkT1ecuA4PeOz29i4VHQarG1k1tvqOFlk/blyFFsmhJnL9Gjs9jm757dGHAJLbJ1mX
iCVuumHOJaCUlMkWfWDF35pDMeio21rsGrBvmfIegn7louSPqtGHKvA7NDWkhlAnInVhCYM+T8sf
1pxo3kIzFqCVIxS2AF8GJcqqOse0P1YF5MiTBuC8QFojN0Ae0sXFezrrYo5FHjfZFi+0JNuBAS0T
qPhK+CkSWY14eVGIDzlipA7mY1VVHJ3Wd39AokNqVtazWBDiQrSc63IKvlE2qfKbkZw+P6RxAu8B
XFpcb66/UV+91ii4abRyCKogeSh9nb8zZAiPUIs6CMShHXhxgRA+YoU5NNDM32d6M6Ki18KBuD7q
q/rNn6O6lG4gm1JcWIxKUp/UxdiGHpycHI3EHIBhNIhdVShrE3xVX5iHQuWYAgOVReqK5xOkeK5p
4FlDz+XQbGrgqycAq1RrssnXt7VeRG+iRNJ6Z0CKJjMsyqa+sDROFYFGLa7QQw8jG/EcOJb2JXHN
YqVs8uodOo9Cx9aGWDf7SS1eu2o1tIhniNDTJr2SN4pV2v6DO05qeLj+qS4NNJd/VerntCCX9nud
bXZQtZvIqyyjutVTiYvCGNfH66Nc2hA8qx0QJZZqwd07/0plA0x1RDDcA7sS3LjAEUBwx/lJYBK/
Ujy7tCHYDhatVAoV9CDOh0LkimS97yPPUuv3TQrw3MzhkZDqfaHN+/wP5sW+AwjH2aL+ej4YqpSi
BvEReblMzYeZPPHHJId6a4z6WqH+4oeinoUS5/y5lq2OPM3TwmhSipMaEHVCf+fLT4orwu7j9Tld
HIjiK90/wgal+vM5pWYU5QaZuef7ecNTQxH2J0Pt3eYfbPEZMwCSiXIy3taLcbgVzFyJYy9DQ+gz
olNDA0OxTPO3lnQgx9IDczlG/AIU7Xycqcp9fWrZECK0WvScMeFFHnfNnPv1qtFlnVnbuAvOX2kx
imzCkdu0SjynHob7tOrU+8xO0hXgz+tzNLs26sQ6qj98nUXJMe1oy6iQYU5tkarYzNkCTXj4T9T/
9Dd/nvOhFhUqVaadU46jOIm+1U6VmjsPNKfWXN1eL9vMTwYANpdSKdsuDpATlFll5r17wiYWrbcW
iS6fJ+9Kqfv1sgEzoP/JHmC36cu2cofln6nhHO+VXdhvxyJD+Uyi1ztAlXHjT28+PwbOwlQqeVRT
vl/sBNEJKKiIj3lKGqj1Qw5WMDvR3jUP18e5cLWfjbO4IiZ7gh+moA0CWQbpsBy9QvlTEQgcwTuZ
DtIJmrdHcQN4CF1zl5jH9js/ScnQONGcgHvOaCIrBHY+uzNAekQ3vTWGf1yf3oWdYQLJY5fTdUWD
av6mLwr5o97HSgKd1YvQX/SE1iSCLHkof10f5vXWoFwMtMyAyG7jYrhYRYqfqjtz4zwZpPGXCb76
ASYwb32kcLuVq2ltrLko/GJKsZM6Cqa9iddF+vQEttTcoZnc76m2BCuf6vXqzWVli5AENRxB5cVQ
yFDHfjAMkddkhv+JwoB2oL8q3tpswe5y7tLRpuI7vWpGZHaJthyuF16HTZ3Ya3bvtu9rUG3Y2SaT
Y6wc44uT4lPNmgbgUpbBQvW1AIK2QRbR91QEhgGpYa21V5LXORc5K80jp0BdHkDB/C+keudfSZ/r
/RZGjx5MQPSoByAk6HVHVndTq05x3zp9jIlNqHimWQxUP7TM8Vd+hAsbxWFRgcTimE1oXHw9S8bU
gcYq9lBXRQAuR7Q92rZFXHzWAizmdtePwPy3vZqwy3KScZKgqYtIbwZm2Yfwqz2zNeSBVxBNTrts
toirxXd23DbvglzqNzVCLyvzvPBBHZVUAwgfHUj+OV/qqIsQ8oH46MVjmu7cSov2ba+PK7v00iho
mIBpA8uE3/sikliILKhZ1cReBPbxMyK3YbbjP+LTen0d58C+XEeMz+15GWl5LjeOT6nDR1E29hSj
nz7YjVl+QFDC32KAWaDDAF1hZcBL24QEirM363AAuTlfPkyu+ynolcgrYVpT5UB3KZWKe9eAF/hw
fW7zl3g1N4KwPd+iqIcsEvg8n+IqNv3ISwLZotvqBGBIkSXX1U+QQLtdDMHtn8xu/mBkVTj4LhPe
nmp8GiFM5lmdZuLq5ud30LeVTW0IuRItL50Aupkk8DZRVyyNKOuoAbcxEMfaqEk/2GGVvqsaJbvr
G/T7Os2KrU3tl+6dTES3v76wF7+hYGAmSjlELDK6gbI4Mgl+7KGPJr8abhPDHJBTU9Jc8Ju17vjF
Leq4mmqxPS0i3PmOCcOsGh3G8JzW0VDKMkq8AZNkn3da/s5WJ/PL9dld3DYvxltsG3QvKWxR9/Ky
HoHQWKQ/A0Qe4VvH8R2Nq+wed69sBdFxaUVxLgVFqNPB1aGUnN2yRp6GaC3PlU3fH9/5GL7BxYUd
j94GYksrsXOh1DSXA2zaxP8ZbRE8KTvR3Yr12NNqWZq7Ia8QmOwU/zFu4+GYx3lIT5FC8Ng4rUA/
0Mg/Qx9Zyyw048L5pJ1MnqTN6Mllncf1w8ntI8FN3PdUPPNU5D+qBDtDNHINKrZdESALiFtYadPC
Kvqn2tL9xzYqg5usNOLboUZpO7Rzq1wJ8Zd2gI6JJNcYgeqVgTJ+j73tx2rsjVob7pMi7uUh1xIK
xOAYcHrpc/Gdy75cqdJc3AQmGRR/dkZGLTYe0ATfb6Eweq1Fr6fIjU9T7Kv7KrWVldhx6XbhPUaW
NcPsQVieb7fKQbjMQY/MMwaaQyg9xjt77NTD9YN0KUJR3KJt+2dqssQLNIVMctmOsVcAnPHU0JYf
0rCTqBr32ftJNO47zC+aG63ygxWI5cWVtMAkApql5LU0hjdrBORkjiZa4iIR7sqp2gd6Z9yBOalW
9sr8UZaXDIAS3bBRqDLdJZiaC6yNSMMTD4Gjn5nLVm1kNf2UlYFKvtBHbDad8UvhFNlPep5yBSN4
8QwZpD9QyAB0W/AXzwIH4qkV/8dPvJo3wVFRsgZKyxS7SHgMZf0hKaPmM2TtlK59r/3Ay+/LmHfm
oXRa40ONtSH9azRDVyLopQ8PG8UCIzILfS3xmQmqUpSOSZHUwqB4WmsIVfjl1HzT+7GjVJfmX+kq
yPeKptsrC3JxaBBb3L02aJVldtaj4uAWKnA4USBKi9iBiGmBxPTJEM1T+xyzKovGr6YmotilCPi0
K0frUuwwXGzfDZh9QNEXh1iB785jQMaePiXaQwW04nd4RvFJG5RgJ9XQOrpoT40recelOxIsPxwW
SojzmT7fBm4VowuK2qCX5ibcZaswi7l5ha1RR6X81sg1ZeVwXzpiJrVk3lKk/RjUnI8YjCH+NShu
ztqDFXJ/GbYIOC1gELcRCPiuZTuXlhVOL4+2GQBP5nE+XDf5auakLldWWM+ODn31XWJ/mG5cXEkP
fY9IUchL69P1CHZxWWFNzpxhw7b1RU8A1kyLJAAXQdsN9FOnIEVNUqfnCiWc/srBaDX5+/UhL60r
L1O8j3kUaUBJzyeKzngx4mnEkAOKmiIMkAMp66ALgaKbydM/GAydDHDbAEp5tp0PhqAs1lh5w+Pe
qtNPVgs68FAMUfq9FgkN9OuDvUatknYwGJbuNgxMZ7mag5vLynVYTYlv4FaJ8atSwLHu6chOWxvT
si41tadIlflOoIS7Q/OE9k+A9NVGQRjuHwRuQHncEKCmKDYsdtRcpmoRCk7ovbbJFz9rGg9pbIqT
5DuOZyRD9dC2iY+eK33Xe8uhCbDyE7xmUM0LQqyCkMtNRQw/X/4KGlFlKfwIdSJNFK6kOtxPHa7q
cRVNDyWyWNEW2MljozXmvRIJbaOGWgspoe/X3oGX4iYIafpAPMko1M4n4UWZpwvisMIPNfFiPCAP
FK4KtImnoHrXls54aNvQ/QPhmvRUFqg8reyL+RQtr1CSUSIX7C1A2otTJut2DFIlwUsUPbxiQ9Qy
nxv8Vp6VxsLb2h6lPBpdi1TQ1Je4a6Y4xiLSVcGoXglql6IMrymqGDBB2KiLPRH3GXrKU5t4GgJ5
KKnU9Je2ZiRpQaOlh6RakwT+L0VJ1Wkl97s0sqBBR//MIqIuGwsN88oV4tmM8dEEZpu5Gu5bpcEp
twWasKlBH21bqxnXSuaX4g3M4rnliXQ2qkHnH94csPEye4Wbw8JZShuqfmuqefW+0yOx8u64NEe4
nGwxEjOmqp8PpdhTGAHloN0AuP3gD02+pahlo6xsKO9kFn6K805dWdfL0/vPmItMV1oOsMAyTzyV
yti7fgzegyXI3/lFmd1e38aX7gqqlvSsBT08SLjnsyuA+FUqaAPPLyoxbHo9Gadjlbc4Bgp07NpN
3yr1SrZzcUxIiS4FHADdywCCthH0pLFMvD6nHY9w0tQqG044zKnEcPdFJ9au/UtxgoRyTq6QcbWW
NdoBM58qMbDjGiJwa35WgobTc7+60fXEfteLKMT+mFtyp7j1WvPt4v4ho6KsMmfbS+XWsAO9hRNY
4ik4gBaq79nxAKnDbp8UzOF2Y7ZW57j4UEY34v+NuAjQODammjPEmI/p4GdNUq+dLCt/D6C8vhMS
p95J5F+wD3SPOt4Lxyhs9ZWQdOmphjgYLUCoFQAeF+eTmi1g2JJtpWe5dYxctdw4tt+tlBsvflaU
m0lz/mLSnm/edAqNqcpk4oU5yoIWtf1ZbMhBJa8L7zsg6wfkxZ1yo+AV9+b2INIbL4aev/qLm8dG
zD4C30Qzg+4w1ol2Gv5eOWAeN6qYQcTXT+nF5ZzVB+ZDA4Bg8UWDSHY14rOpNyoTFh+ojJFZlVU/
rFU3LgUegHIzUh6Uglj2aPSGgryGYahXO6VWbFDUHRrAv1pGQaFWwcRfn9fF4cjGZ7IfOjbLzlOp
lxjuBA471abjsInytPoMCFb+Umy/Tf/BnuRtN7em506NsUgb8fpG6HxSCHVtWu4keH00W4dwZU9e
nJJDdGPX0z5ZkuVhBkjESaPUa+hpoCQWgo09GnnYfOilQFr4+gJeCqWkgjDi4TAh8LFIQnB0oqTZ
1qnXFkbyoTGb8UttuCFKcIrpbPEBrf5BlYkHGxoRGsQf3qqLZMPPtRyFiyn1LKEIcvysPHZuAxYx
BZqOC9BoPla+HG+uz/PCqrpwXHnMUIB3uDjOj1tj+alj5CRb5mRgSOgII6V5CD4NLzSpr7wvLmW4
EFz/fIw7XPrmYqcQsX271qn+1Ggi79rOlneRmaa36I+ORzuo9UODoO99DPKs3Fg1TtmKKcVzih3O
ym668H1d2jbsJAsqJ++Q83nb0ldSImjqIc44lLdt7YMo9DMVrGiNttvHJq/l1+tLfeG+QndoLs/D
6mJbzZ/iRWTDS5OwMvXkdNRZv2tFAGeljtR9pnbGA5Qv/wAAXnQrkeBChKNsOfNVOZsoWy2WXIal
W7SYC3pmPo3Krg4F8niyR+Zyf316l2pPRDi4zBR5ZrmdRW4FCVEoRV5n3lCPZrLXUL1ttqjFpr9P
TcFzGUh/fBN31TburBgJcCPb4VEKuxr1lROuB9WNnQ/K4/Wf6tJ3nrtmFqeYHHNJuZpq1694QWce
4Cdt3yAch/mRVlRHiDTqLWTU8sv1AS8lCS75LMU/k4f0KzKmjmlyl2Fa5JEBoWCaNy4OKvoI00Ht
Z1YFljI0gPGAbUHFqqzYR1VJ8pVpX9prhEpST/oxXAKLe43+EvAgl2NNWXX6GFXTN0dJxxvF7MQH
/NXtA9ttTW9h3kmLdxviWXO3XjAX3Vzc3EOSmkpP19lzMmN83waqPb0rKd+jD0xNYYdQ0eeElhTm
f3kbYOTs4nD26friX/rapIOUsmfZtVek2xKlQdUaONUD/sE4YfW5ae0snoc/RZ3j4uxOrVWs3BSL
peZtQgQhlMCameFmy0QfUxU5dorje5adovLua8XHGi9PjD5ahW6zKXHf3glczp6vz3VxsBkXYKWO
rjd6Zki7LA+2hqVeTfs/flCqGE3weOzNDZ7Kdr6SIi3WdB5nViiYlfIMmKLuImxVBTqPLXighz5p
nIAujJ7+SsM6+RSoQRvu6lSzypVQMv+VL3bSX0MyI6bHO5RQeR4p8WsF11QZyYOSTIVOO7/y031e
+mF3P6lY4K3cga9XEiEqEqU5PKDFs9RmigqhQ8IrfC+jqLNPu1E7+JmWrATi1+sI6YvDSN9S51/c
xXM3H/oABd/W9xLDbI6lWYbvi3bqbpBeCfb/y9l59chtbFv4FxFgDq/sNDNSdytYku0XwrIk5hyL
v/5+NefgQk02mpgDv8gQoN1V3FW1w9prMbXs9BsG7y0Lji2P9jr1LILA213UzcRM6JUGl0hR9ZOX
0NUBI/FGaCLfCtdgqpU3zaZ/tKQlyAVVdBsFiqs3muYVmSx75yhI5zx2dnlf3XoEpASvATpj0RJU
cruWFH0m8PNmfS00NL+fqiIj93Lbbqa3LSCPPomkDLqXUZtmjzkyu93oIK338r+kCLTW4ZNc1mMG
JyYJLo3qGtHbObSgQf1KR3b18SrXVhADJxIjmcYXrSVjDSS6eZX12XhluKD/WOUmepiRPh/fbEUu
QgIhDJKDFbo41FECMO3xauqFeKHEE/g5GLaNL3ZnLXSVpbPr0sgygEaAWAjbyqZrOsfRrs6V+OdU
VWgQPV7M+qoAFou4jwY5GBpzSycvdKU0Ea+brklTvIsCxdmlqCzSMUY87rGlV9DjrQ9iil6KRgcY
tOeSmnGOzdpojERcAS/PjI1OYfSptgVzJE426wUE2+PsfqiQl1APzINY9YcptTvNH8tEGf8JcwWd
xnqcUTdLrB5VMobVxvfWGCrWD5RHoLt9/Hvv7Az8pRLLQ27L75X30W/hJmpxoeZVFSIudSNOzMOq
T5PW9VfXaef9Y1Prqw2oNeE0B4ObTV2mZqGhDv3cKOJqucHQwAMMvW8RjcMPpGWaPxR7bNoNH763
OFMlmtZg8+CRWCRLRpA2I/J583VIe4Sz2iiHSl+z96g7ahv7eMeRPeMVqqcz8M7k/u0+Bk2qhGaX
5ldVqNpTF87RLkyzLT6ndRRBBMEdSsEXHXv6x7dWnFg1ZiWc8mtfD/2TnpjVV2Ip66DUNVzXBHF7
qOvfiCrj7pYZ0Gul0GS+f/m0y0JoOHkokzKoYR3g6c936LNVWwfnzsei7qEDJLYIh1eRStgMfaIk
RcEUaW0cvGw2TlnDjNqoGukHU8zV3300WbnvUdU+Bc34Mqnm+LeZhNkLk4ntu8Eqm0MIyfPFNvM3
4vfwVslDIYH1Uq+I5Pt246koCF04CPQOORoAlYVejqo4+vPjE7JyIgrB0E0A44DUFfKuxeOP/BvC
KSH480joyFbGqXZAb9jdcNVXaoebKwrKKhmGMtlD945veruYBA6tMtW7/oJ4hkDj0SQy/ZnAd96+
RwC1Vs9FrynREzKxYto5s+NWp0yBwAvF1CLUd0GfJN2BAaR58hHOHYLLOIt8i31j5Q78SEtnuxkC
oEe9zINtbQLXwmT6RZf6FklsJIdBEkUoevpGFho+LshrWdaQEwfQsy6uiWScG4Lbsb+AB2x2gxNB
3p2k3sb1t/648shiQRoh4JJ//9tNm5FjM65TD5cJJoBd7enRSbemfOOlW1shzQAeRfBIlsVldmtF
NdNWa/pKlcw+GhqjTO+pvVA2XGh1lZvSCggsIPKAMpfNtzqPp0G1G6yQxEBCYH3vjfmprOm32kG4
hVNeu4JDlVznIxE4Mt2wOBZoTJIqZ4Z2YU4V4iIjzdOTBfEao/2Z8e3xEbxry6TMJeEYdPMWZ6MM
2qCpoNm+KAXKqFkTSbVv3g1oUreaaPc+FbmSHNqBHhV4wu2nAiaW9ShiaJexC23IBsNgH8+1teEQ
qyeDT0Vb2oGyliceIMStlTnN0BWe2TygVOV+7AuxV2gqfe4Mhjcbo6yOGmo1G3Wzu0ujoADtJbw7
q2x3sl2Uuqi3XJBDao9QdzXPUdoHG0/GXSuEFBI3S8D/Ch347URpfRe2UWlql8iw8x3q7PU7ow+3
+jn3rUCUS02ODNpelMbsbhKQ01gacI7OQmMBSidFad84ncgdxGcCTSGLq+TPyyZyakW16gkXv2sc
ytYJ9zJVkPl/cQbAbTqNIVLmJc4oF2mB6h5TJoAnEHnKYxQlgj8Yt/uDgdnzUARvQ6j+d1X/b28J
3ojUxKItzBdKqu7vIqTD13thtbeKfqtNvCgr/ccScF8osVxi2WVHunWbsjeFol0MFB/8QXef4rB4
ciKv9o16/lLP5d9BH3ykzdFt7Om9G4PdNGXvX3fIom8PWJs1VpfE+AeFvuCkIx68D12veMrGzHpr
PIuTSNA2fQ3SC4BUt6bSDreAawOHh3xvx3yIC48gooViZDT98T14z+ul2CZ1AWoeUEXdmlLB1qLK
l+igWZG3abxcgXSiSE+PrdzdO1pdEioFaHbZ3I8ns7dEU+uXJoDqiu7zzyCZ+r0boi322NISR4SD
wPFKhRtIP4Rp+rKHh2BHi1RXOV8KI412KXI7TwzPo5NcOsVppIvDpHg0nftBQ9NZ66Asnd3qqejC
EU1LR9/owa+3F7gCcaQcopTxwOJL5oUhLHM258tkhWJXyOHdkhH8jUXfs+JRz5ewMJsYXr4Nv12Q
kwcGrPIC/VKwrfuwG/62pnracMq1EdmnoHnAI/aKB7k1kg2wSg2TIS6hUilHLRyA/7idueEpq4gD
nAkjugCrKVTTPFxsWBBEvRZ5kXOJa/u9cK0zwwoegpxQ0qTWlrOsliTp3kCXW7wp1DicxZXvTZGW
DEmL9FQUm/sxN+n25kayf+yS96zoxIGyBcDE+JI7IBD9kHjTYF2sBjotWx+8o5nCjPI/WKEqC8Mb
OhH2clzXdZsOyT/DunQGwLAAyTIGu8Lg85utAO14fSQZCWLI9dYJKjjZTcS9nEsIQ/+e+SftMHTK
Fp/26rqAuFUS41FChBx/FUJPwuvaSUlchCPb7nOdiRGao7T71+7nfmPb7pli2IG5Yj4PtbZFcObG
VTQ3/JBL3qNZhp7scIJfOED4KWnehjaCAFNjZvsV+EtMRPZ7u3fURbMcBcXgUihptAd23CNzaYP7
zectwN4dl6PPTxBNtReF5aWiRlyWHQyGbXAJVXDOfQBPrOZ24q2vvlyQQ2USS8DSlkwVTUS9L0Zb
9VJ45l8x0xDPRu/9QOJ5emv1EMQ0DWJ6xTxSsC0sd67ThRGjwHs1FA0m8kr/tyxTb+N9/w8FxU2+
TCZAJZ7cjXoeZaTFdaAWxFK63buXsYFGaQ9vWPihBp417fpGq+DiKPTSufKY1tk+EinCwrEoJ/ej
AzRSfwlpJYzfslhNiwNKYKKFaIBccBeDdrtUTTqgUzmO1Yz+ajcMfqlBNeXryWAbz5WluA0QMFiE
mXy324k5ASPyihN437Td554QiOi6aqjsdVrDEwy1RMTHoMta24eLZTSRTZ9G45h7Y1cfwYqO+SkE
FDihUe/a9Ql1s/wYq5XmCJ/+yaR/Enk5j3+W4OHRua0n9yVMI7N+qqH3iZ5HqKN+ZZzBnwSwhnac
YXAK33tFZMZH1UuHvvMnE1aY/Vh5tvoJ5VfN+RikZhSdxEg7+92gxKJ5D0GqNZ88qrKgo2Gbhmin
Dby/JVdRyOTOAMtSSn+lQHauyBlSQ2ENlmZThxqp9YriPU/51BxrM5k/QZfn/JVqY1bya7Mq2k+z
Yv7tmhQPDi4cVvpnG1bG7ikGB67vXA3yen8CljF7zI5Xtn6wQ9Qqf7SIDH9kvkbTzk5D6HUsOguE
OESUUXdNkAc0XkRTjeNpakEZHNOk0OqngOxw2AWxqgwf4eMe/lKo8trPFm+hlcEQpQTmT8qPobqz
5ykTv8AnORC1qiLudrAwVSj72kngfJoJsbxjPZgVbGX5MA8nSyus5KmzHYDdfl6KUTnzJPbBwWzM
8EPJFsXfEc0L0gN8rH10rN3U+DOyCtPYgdnMEMAc09z5CNESmogFyqafGJ70MqTq2ko5FJ6KvNrg
JKOKY/SDvh+nCMZMSJd68x3ER6n2ko+BiEkUhZd86MoQEVezKVK4TKIKwjcIYWt3l9PcFztlZMz0
F3xLnbvzwib/Nwjb4pMdArbxLWItBPLCMfkE++ak/pHNvXEW8FQC+MfTNO8lRe8v2YnCUkroLqNy
fu46Ne/2dkuB5KM1m1my79Bpi6+amSnJKSG3DE+MGNgRcsmlqx9EBGPeQZWf4Vtdaa1+pECgWzs1
ScbqOJVJpZ68CUDsDoHcqPZ1VXjTif5QIvwozua/Jd0XbAxOxXmCfjMws30c5fPfg0aTft/aY1r5
jtNAwOQatYZSKZNQ1gFyKtX+qWk1soGR0ejpE8vRP9SGGtsfNLVs0QNMwaX8mXJutZ2NaLx+TIZM
645la6r/vvX95XoBFkRrGdmEVX2yr8OY4qqWXrWx+ATIOfqC2mzz6Y1GeMUposNBz3ysteKAob/c
oxw9F9dBpZXctLqyd3RlfOvLy3ionGjkzUU8A9Lh2+dQG9VxzBTkFUNKWMfOq+InK1b0rw00qhtX
++o5lDPSwKgYLiBMBo2xMNXlkAu2bXO1qs5+gnowR/lWM94c51HzA5xNLAHyjaLcrZWeoSLaAUN3
Tb3Btfb5OKrvrMmb3jjtQhxhA7Ll+wDMpnK6TNkYZ59EZScGsKlweqnSCJZiZFWTL5IM/zBFSBWG
dl+EG8tbNV2RPJN84lLPgihmOVSfQXwdQL3pXGpnCJ4d53uijQBnwjb4hyePjnzUwcvX9Er01q8H
1zZk1DSvHUBp/OF2X0PVaMK5su1LUSGMakqkUOKanx/7/Hp1oGNITF9DdKmMcGukMWYo7vXMuUA5
rRxtxTTeJfTi9lblmscs1d9lsRFCETsab45tQGORGgI6JUAgzrk1bPRwtKtG511GuOP8sMmydy04
oI3Yc51WMWpHpkO2Q161AriRg9T1aCvepemD5COcsslRMyvlWxfRtoaEbP7yeDtX9uSJk/1eeBCI
ppZdZWiWoOBT++ZaUxN4YXC12Zk6Gf/AtRh18Y/H1tbnmylH6vncIuSmZD+3e1grHny6Y9JfvRLi
vaCxS18N1frw2Mq6nyIrncC4mTSndkcl79ZMYw1QAHNtXYWSF6OvIe8m/LoKtdxHeVvv0XRFW/vQ
Qhab/9CkziizO0rQHOx0LNv3MOiW0zGru9k9p05mQWuTwM69UZJdJTTyR1JG52WkQEYedfsjtYp/
OAq88crtC6FS3CT7hFDYj2Dq3bgR7pgiwaO7RPTP3i/brmGIx0aT2l9zSwyShyr9AjO98a4qlf7t
qwK2zKNHdQNL6iLvVKJaeGNk9tcmDtFZ5aKjpGOFYU+sqDa1fdz41PJOuUkFKKLI5hyTPhrJhymX
/ltFRVRZp+rCGa/M1OQ56lRIIO2QubFU0BGlNe+Qbtbt58JqHB2hukGtv7gmUHW01KvE2bu5FodP
DALRMYFaOt6qxUhPW/48hpd5B3BDibK+/XnuqHSdLdzh6ihavDPGhLiVNtr7WPdoOVl1e0Fme6vD
cOeUSaC1CgqaliKjALdGI6M3HUHj9coD0Ue+BUHVByn9s7H3a6+SZxmPIsIBaLLMyCEda9Q0n6er
3tMS3hlKOV9BH3vxHs0ac2vM7o41TQoP8pQierUqF4o8njVqZ/N1CibxFMd9c1TQXX5f6dH3xz61
/mbsnUqZVWbLkNAtXhivBM+di2C6clspH0XQwndNzVzfF7lr5EeziiHsztKxiTYCrTuGabZTRebq
ksOci/cTeSQgJyjHXyk/VHtK6oofacq471WvvGp1nT2NMp5/vNr1AwDMjKCLYrl8vZ3FlezMTReX
QyiuRSa8T/Ewh+8g5/eeujIe3rd5miobUcKdD0lxkgRdTlWYBGK33qlBoU9mWGCQzT+HTlI8MWaf
fAmCLj49Xtv6IPBgU6fkQ1Lrh5Lj1pRdBJoxO7m4tqobvdOTFALnPLY3AoN7O0hEANOE1JxaldpK
0wg1sjNxNYNIfEWupd2HmpWd1D4J9j2SIBugtjsbaEm1Y44tLVESgNtVdbPdalFSqFct82ygyFUv
dfoyP2kmZSMaubOBmIKejECE+NWRf//b7RoM3VDGba1ejXAMDnXtmk+msanadccKIFXJREPPkLty
sSAjz7Ko6GPtao2d+ZyOiItQy3mjuCY5Bf802k88uqQz9A1v1zIWbUt7utGuzPF3hzTrJn9GJWX/
2OVeOSpvb3zMUN0Fy8zFv5rMYHYuVFwnUK+oKQhjD9EN4LmSwksLmnhSvyuTW8GhCer4o2ii2jsy
T9qGsBu4leI9iUbV050eeNNX4UxihmsBQpVDoTq9tYMpa3SvjV6o2U61gRi+pEHT/OsEsd29lHU8
uF/IRSt1V2kxnUrDiqLkCIH7JufLHQ+k9Sp7N7KATT32dis7ZiKyoai1q5nHzoV4roN0u4olKlHT
vj3e0DunS177HGHyQqp6C+eYmpxLJFG1a1aqTFloFqhYH9Vt4wOF4gby9izR7Te7PW8ijWWqYZLI
btkldTtbj6apGGFQTPWT7sbgmGaz3XAV+ctvPYVqNjSDbCPsJoxI3e5iqmtDkXb2fPXscvieWe1w
xHGNT8VMXUtMjf3NZJzlWROq+bZhPTmpTryEdVJUakJLntU+MIAMRfhoHmjVe3hrta996ubHUVDE
fPz5pCssFynh9YT7BCL0vG4XyYPTQeeOKdinx7OBq7zEeu88P7ayfjmJCKhMQGLBBbJiinE6EcxM
PxlXCr/NvrBG65hPhYt0ahN+TmM7++ExMnV8bHS9NIhR2EowrLC8Av29XVpio3xUFrpxpQvj7aBe
j7+6XmS9OaCWSCi+EpIttNGX/MWiSkxRBoV5zVQ3fj8NJkfdHe2zXTtb2N/1sabsAuiUS5Kgmj/f
LiifHA9xoNm8emr0vZnhQlX7ShzHqN3q5925JSWdG7Jx/AfQZhk7RjYFZrM2rCvw9BRyGZB+RXJI
E+hynzWzgCwrNsdqoDKvxxoiDvPc7mu7Lq+qV7vNQY+nSnyLY4ZRfDGYssM1mWryFDpD/KEWaSj2
olHqHw63cfzRAScSPumZauRoF6hxhJIa8jl7rc9jzwezUgd7ZEtasRXqyA27dX4OuCZpQOjxEIwv
nL+f0dJAOdW4Nm38q+xqY+eYqJZIPQ89bv8RQ/Qs0uYkQuX7m13T5nRTRCAkkYCw2y9pw6WNfoPQ
r4ZX2u9nU1H+yaxG2zgAy7lA7hF4hykMgllUsbMs1w3xYDaz21jXvojdHfV/65KhnbcPk677qDlt
e1UjMzsJaE13kxirD1YwxvvS7pSNW2btuUSvICO4qgE4cW3frpckrodhsXavTuog+pApyq6Z6pLq
/bw1L7c+9WTScOuC9uBR4o2/NdXZZZgH9NKupuKiyVMUPV0RWiOPP+CdBQEpJmekdOhIUOitFYFm
a6W4mUVIRA08t+LwNKBuvfcifOexqfUz5MguPoGrrIiu+tEKM0FeX7XWFeIdZS/Cvvtia+mwC6EX
733NjazSZy4r2U9GVr0VdQG++JWHm+uGHH6J4kVoo4pVHdsJdJxoTRgZyY4ev907AHQwXgZAEtX6
pVqeM2RePbaDdY3nqj+FrVW8j0jEjvpQbuUC6xPPghwJBIcRBq4h6T2/Bcx1o0xtO6nWVQDJDH3B
G/HJi/P2W4Tb7lPDyH9kTdL/GVDjDP0wtL3p8Phz3vMcggqG22TbYfVemLEZDfiOda2YdPiMxMhw
zgYv/Ib4x1at8s7558mFCggHBYkNqP92tWVjCk8LdPsahtrgPAXzoDhIqdhe62tOkji70ovGr5Dv
NznB65QNJ9Vr4/psN5o779H9QJvn8erv7T8BM68YGTz30yKFNlPhlB0zhFczbAW1xQxZJF38UbX1
wSxty4ei4HvrhUetzLYGxe5tPPxtwEY0ylAIPdxuxhylxUioZV8Jnd3dEKsBiPSwOcVNt8VOds+U
B5SYN5TtR//71lRL44TycORch2LSfTBN9lXp7GIn0sD89HhD1zAtjig8uTgUEQjVnoUtZJDquQ5H
B3/qBqiP52H8mWR1ku5yJZ8/jlqLkIcz99lVjCmC7bZXBumxK7v+U5vk9nQyUj3aqpRIo7cPq0zp
CbyoIlBCXOKohiKEnq+M3OuoNualHPLhPIEm++Px2u9YIcdhjhICOshuVoj3OKyYIem9Kzz0aFxJ
Cb2/B8sWGxfwna8p5xgYhCLL5mMtCsE2Sg79rOQuL0qeAjsS4tNoofGlRba5sSIZcCz27XXKFoCf
R2S1rAw6SEw5/aC618zthi+DFQXvgNfRvnUy1VfNoP/65h20mHNl+yBHQKFgUf4slLLWqWm5V9sJ
Mr9CPeub7nbeP4+t3NvA1wYGpXT5Li82sB9aI/TcFE3HvOgPgdv3Ow2JpEOfqs1GyHPHJV4n1gAF
wdy+QgVbVuiETp1513aqxX7sqgrhsmzeuMXuWYFwgYhGY9f0pTJK1CDk0FP9uVpda/kd0uz7hDLP
0+Ntu2OFThNcRxIjSx9icVdOWlTQrUmRSK9661SUY++rRrA13HLXCo+v9Dfuj2VoZntUaTUXIfZq
NLJdHzvpc8oNuVETWySAkgsX9BQ3AjcVZbhl6bRpjMhOTTu7tEo2fNGTWXnO1cQ8O2Ko9l2mKk8R
b9iGM9w1+jo8yxsoi9O31/A0WcJoujC/OEQSB+Q4lRNYElSjM7V+Qoau+2tMlW6DImDZ3HpdqmyA
UjKjDk7z/9aqknVB1ilWfjGSuPxGdSFG/ssZvzZzOZ5UI6x3biwOCLHNvmKS5XAhVzsIeqtnbe6i
A7hs81RWSLE+9qa7PBIUC7lYKF9TFFq4U1AqMQwcan4pXAThBqXz9oisjPHOpW61U8BlnQNjtP0h
FuHe1FsorenKgWAAaVsLUkA1SjY8fHHd/Wer6LJR2ZZ6dsufJBJRjXpU5xdIw53RJ3nWbHanl5Ky
sdrAGQKoSdvYiEUI8l+joEjhrYBMdjk4oHVlFDB4lF8UUWlHCzD1s4cAwjOC7PVxsmCA91zF3g35
FEiMyyi2HOSeW1qQo3B9QA6zItjK4jEqCjjEGbsDzLUHraaX/mAYiMIBsAbnJSLrjHPt6qDq/XAE
M2QjpesTCDS7Rknrl6RtxC/CRxjrpsYtfwRdSM1S1cfsx2Onkb7623vEXnHqqH7RvJMIk+ULGxVR
YyYBgj8MSI307Zjz+WJkjbk1O714IV7twOAkSQIYR+BM3J6ZNJksXZNMyV0NB6Pgfy0oTaq+fNEy
yog/37wqhpqRfJFuh7HFSajn3kN8zkaaKTOBjdYRIdTJDON63Igc7mwfNypCDdwCVBqWLPxGVeRm
EcNx7qYo8RhBme912E03rCwSRLl5umyH4dF0Wpkwu908RTdaVgtZHHTmZYyYh1u5ewKZuPeL2Ii+
5kqRo4faIj3g1xJ1uPG8rw8U9umg4s2cG0qWt/Z58y2EPuL0gm6G88FDh3I+FPqghn9WSlPBLAmU
7d9WcWKIQrqubQ+jUoqt6cf1oZLdMdnd4R2jRCZ/5O+JXQTMJ1bG9OLEIjtkTIiPfoteR8qJ0QT6
FbXLYakz/a/HvrS+wnjQoJJn6zGN+97adcI4LCGegaQLvFuwc0BBh4epdXNxsnLM7yNgim/X98Eo
A34g7SULxRI8XpAhV/rEF2/MbP5BvjPvnMEaTmZm1O+hWYv/rL1hK4q7s1Iw8cBeqJdRgVy2yhUl
tKu+h8LSNkcP1k45+8VYSIGIrjF5McKWVEB3j3f3zr0g2YXg/QE8ILPm291NoizK0xnCPPhJ0nrf
54OTPmW1URu+myv9H4+t3VuhSRWQlgIXHiHxrbUabrcycHOowuzRQPiZMqc/u5PyBUaM8QJ3ardV
gLyzPipzsvRBQ0NKddxaLInIbeZNsoumd6r9PHdqPR46RiCrrxra529+bonzJUIfhDkZ8JKvfTYT
hod0o7gY2VzuVR1qliFvEBuFmPBkwjn75c37CYpPhf4FEhg5vnO7OjG5aeG6GbrGiZ09zZ1h+Lmn
i5+FTQ1m16FMvHUV3rkF4MRAZI2+F2nxMuJTMuZQ4rkvLhTuAFtWU3ANMhOoiS2yJ2vovXdeRhC8
4aV3rnkqgVzAtGG5jZcJIr3MCHT/XFy4gPQvCvKn3+s6Es+Pd/OuFSiDSEMBLtLWu91NrSHVTRBb
u5RTWR4iox12rjJuhYl3zoDsGYK5oXQEamfhkQx7A6WopxKifdjNjmaMeoQ/xlaiH2fdjfRjq4u3
cviwZwynABhkLprZBJQFb5dmRGET9yDVLyDarE9ONJufDSTkf85RYH3Oyt629m/dS4rh4LuoaMqJ
7GX9PSlEGNBPLy+9bSuHvkLsm176Vnd+vZdYIYBisBxGCJKB22UVoWkmke1iJXfQmdUzNL3zMkBL
uYH4c9aN4/+wKknKD6G/DDgW3y4RgdO5aL5fbGU0zlGHtK5Rio3Xfn3E+PdN+fowW46Q2OKS7BQF
zuQmrS8UB5OXIpizQxAOA+9sriOe1MbTnwHdG20jyFnflNKsh1EaCFRHFmuDpIqJCsOrLs6kDFcr
TLQXiM6Rd6fbmG61K9ZHzUU0QnolpSWoaRbG4p4cTg+j+tLYw799lfe0gOItEaN7RvA8edLIvVfe
USP0LbxhbC5JXxcG6Dur/lO0drM1NS9/7G0MT2gCvI0AjZG21b0h6E2GGfSEF11HHHSonPCFGvwv
PauKy6RUW8Qfa3PcwLR5IFqSsLPlBSJK0xu6dB4vURn+NdWus1PU9qNtDe6uy8SWpOs69n29719j
MBA3K5qsri7UsBini1YqNuojgVrtAjXpIJOaC+99MeRg4KuwzuvDWHjjFqn6+jBwWSKGCSZeUgYs
R93dgtHwIq0FJzxX/cJtvnXa/DVMBw/wIPCESq2Pj8/4ant51JiqkaoFFBhIzG7vlN4yEM+rPeUc
NQ4i5pN5oAOLonvh8r7N2lsjhldroMXJYEDJG4sbDFIwFEUrTTnHma6CzUo6xqribn7iwbcrP+B+
2LC4Ouc0Kwn4XhNB4KLLxhpMbmqZ1WSctMBnez+VCjNPYaA7PxoVNpvD491cnUGs8W7LpInFEUvf
7iaU2gac+FILkblY35x65aPZiy35mHtrkrAp6KI4EEDrbq1MYxNC1uHEl3Gax33qCg1cq6u8KFkx
vjVIkL1eUDicd0C3EAffmsoiKymYwU0udTlVL3SGsoPQxq1hbJlM3VwpWAHZJvO51xaoXPBvyRa3
fTDASQWLL+WVP5ggBIRoxElj+10eBsX3sYhTaE5aJdTCd70RTKXPcI3uBRurvbexxLGAD9g+usuL
jYWALwjTCYU0So5Beej1umz3SmRawznx7P5/cBbEdohnuUcpKy5W7dGh7B1rIJsvkM0C+FfG+64s
um7/2CnvrYoXQcqhvILhFt9wbEQuwLUgj5A5yexD3O3+iF193mlBrJj/kzF6oRTgSO2WalhBF8Co
YmIMSZ+BqoGXhAe035tPc54zefl4ZevjxiXigY0kxKNdtZwL9VSYuCJYvi6DqMxDbNBkzGEW3EDk
rK/IV1oxi+YbxLwUO2+9c4xDr7NHBUbrvIbNIrBA0PoSwvovQuPxVbfzZMMP76xLk8+dnAd57fvd
WmQYuZ2pj+UXuGelquPoFMqxy8uy3vha95ZGR5EWB0EDABL5Q34/eEkRRFYjxyGybqh9tWI+09cG
uxR7Z6hoaNdgQLfGhlaPHL7IGeN7kaiyzMUps2ey1LjOw0tYmsqFsUH1qFiKAaSwyZ/mqv0Lnjhj
I8q8s1AgAWDGAERSW1lWhhNI2pIYHaeLmUzxoWsq868SkMAnXo5krwSAdjdcc33o8EgCPqCMUNzy
/NzubOWW3jSNNCjSidrH3iud9l9FDcUf8O954vT4HKxXRy+Eljw9S2JacsZbY3WpmpGNCsolnxSl
3Ol6o1b7sRJK7budEyV+bEElspGlrj8jTBDQ2JAfMHgDj8at0cQzM9vOu+zizVbAGOlUR34mzO4T
lAuG3yUTRC8DKN+3QUiIbU0GQDjvILyJkFYYBAbN03yg7eCNMwpDXoLYzuRs9f3u7ChoAlRtCAHh
YHYXJV27QFxlduCjBl/0k5Hv+FcG8uerC4kl0kIQon9+/AUX7gLjNykdDffXMQCaKgt3mRmxaRW9
nM7cqcFOk2zMbmK4+6hz3sxHwZQqlWraV0BWYKVaPAdqW9Vq5driXNBe/dzEMHBC3xBvxF2LK0wu
iNwA2BRxFaWv5Wfq5gR8BPR1Z9VsqZfw/hwS08g2HN+Ud+9vkYM0Iw80VWI5AKO5izcUfNnUlJEl
zlKdMd0ZWlLrzFc3Ue7HNWdl7w2tA4de7YhfYadXpQ/JoP0+JDk0LmM6Bn9pYel8KtWung5tkRu6
b3fZVO5Mu42VA2tQFT9E32Pw2xxxo+dRtXPxYtLk7s7twAnZlWNeZ0cI0szxBB1CGR3VLMjta9/A
NbfXzcj76Tm5KWi/jKR+vjCdMHyf2E4bndPKbYuDV8E6uAvVRmWnTJK3JxURBfFceHX+JU0jIG5w
ohlbs0oLH3/dO7D+RP1UuDhSi3t41rUqjjJXPdd90T4HWeUdtDxLjrOX1Icmr/WNnu0dH6doDs6U
lgy5/rIqo+VMYyv5qJ2NsTZ3mlFZBylV4wObTLb8Yu0WoCAJd0i4aRIvWxh0JgYbiLB2VtOu8/uQ
ydS5DbdeT7lBC+eDIZEJJTkIQvt+sYGmE0HI1EzGuaN4HO3iZgqOo9Nqh1BLlZ0u+l9dotnlUQwI
oj6+L+4cLzZSBlg08yWN5O3layjjAAVgNp1rq8j3hVKEH+WQ7PGxlcUVj4dQ1gShQuFOjgotsY9G
Fqg29Lna2TPHP+zYhUzXVf26iH6GRVb4jEq97XKXBhlaBD7NHD0sQ0tmZaXoR7spFO0M2Lp6apPi
i2C+YWNV673DiHwseb0A+ViLz+aVbd8lds0sUocgWx9q0ZH7Yotsd+3t1MaB+UMKwJMFs9ztF+qy
Cr4feufwWRRBeRyqGWgHUlnUx40u39SGvfOpKKIhcc4suEQwLRYF7L4ORDCY5ynytL/6aS6eDUTO
X0AshOe6NczjlIpk43PdWSP0gpgFEAjJ75JASbEAg3VBY55JihX4ZZrgyzzGyHVmhthiNFzfVpDA
cNqgE6bJChPM7X5ao9AYmXXNc0IjYzcrVrqHmx2t0KhR9wFNuY0TdteebMAxU+lQF1mEN2luj2FA
QeacBOm4nwIr3zkQlzAnN/Qgm8Lp41vPmoyIaTbKPIOSzCKGi8sYGVgYrc/Ewg6sJsKoumdHceVE
iNc69bsW1UWk17I83ZofXd9jEP4yLowOBdOIFGZut7Zj5MwcZ806M+hYwlClBt+ZfkP6AtWL09SE
4pOJNu1u0oYt0sU7myw1ghhWpgLAsMMizEroaEOvK5wz/dRxXyVBd3AoO/toB7l+wUzYmz8qVRNu
aoCE3GjcMLcrBSpcV8gaU+1ywgKOG3hMX3nPjThLB78exPDr8Vdd3zXYg0KARJh5elKBW4PCmwHE
x51yZvdNv+uKYje59Vb7YQ3MxXPI7ZmpI4eTj8KtmWGazdRJbeVsKdalMNN53w7VP6Ol/rI62BHc
uPscRy4Taaq4jpr15CbTtJHwSP+8fQz5Ccyockgly/syEkMFDPkeIptLb9roTdhTYI+f05JkIPQL
z4VHp4LnPj/1XhoFP3tNCwzfUWEs2z/e8fVFSHZHI4acSyL3lrnQbOp1lMZpePHqgGERqHg1+vRt
9Y9dIadcJejQmtFUbxVZ1ssnUZfJF5VKkiJ9cV0MjjfRKM3jS2kL+wmpt1YczCqvVL+NdFvshkG1
/zF0YVl+NRvdF/iLzJ+PV772NVoZFFYZq8QUs/i3TgBDjurEI/A0cKTOuU215GAV9bjh0esjSy1J
lv6ZSMXhVpn05ARphvoTZGlQZI/J+ELvyPW9AaKj1vo/zs5kuXEky9qvUlZ7VGMe2rpqAYCkKIUo
KuaMDUwRqXDMg2PG0/8fIqurk6RM/JVWi6wwSXT6dP0O555zLVfwwpxW3OrKzrcyO5xfWIxV16Si
Kw5QI5W/ZUZpblwvHW9eX7lf0cjp4WVSv+QPQCNQrj8zvnE7CnNBo+CQpO5i637D6mW+lCRGd32v
Jc9VaapL6JVjXca+Uk/FeCua2R1Dt+zjg12rgxPYhVkZH+Cb9H4XVEk0H+LOsgvSVm2qcNY8Yeyx
OE56pbnvpSUi28zrS9lgLR2cbnuRwm9T9l5xSLXeDij+K4EDYdSV63351ANwAgJL2plMLQQip6N4
UyP62YvKg6PoZqDMrh2OUW7Tempe8zovJkRSj+4e+sRwOQntzlyZPlrsunSi6tBpXhKMQ6wEbjXE
V3o+L+wEo3BXOFNrvzMP6+mEqijtQfKONRe2SLaNNHAl5GwrfhRF6egjbTZse/pCrxy1FyZHeovo
m1ONu+ucvUCGMeYwoVLu7OwOsgqlR0PZ1K41hbw4Cp4ScAlMIHTkp5PLiynJZlFTVI20IejajtYU
eAzC16/NxZmgLWq1slQCeU8hdT0dZbAjK2lgVD90Y2TcLLOd3ue4NiGZn2tFx8uhaAf+5WvSgInu
ytmyTcusW4O31IdlbO1dC+FFOAgbEVolfvMDggMEawpMAmTvVgTc6azIxGRGEqfNodcm/Qt7k43+
0OrVJm3mKfGbERq4clj0t2WZaWRlWLpr9LWdlfzM2QzVLi31uJbNIdUN5FG7Gbr9MVp+i7K42HpF
rrxRe/KPAQEt4EoTa10kz5OuWTMRZXNQ3by+cdHc2sVZ1oGid95Y9vs1FIu5Yj+pGJM1PF3SydJ6
k058hkq0+kZNcyggErPfZOSG7tLczh5fP5iXx1+jPM1OrV2ttESemXPTqVNg6EZzAJ5sb6rCKreF
prwRZPrHrMgQcgWgqCKFcjorq+nNhFar5uDMtgrlNGxD+WgvW0ufr2lzvDgh0pCUyeBdpcvzdCh4
5ewRdqLmAA06rF56NR7bbn4zOTlHkPP+n1HOtomSl4iUopYHRP+sILGdbgqMVJexj08nfles8Udv
D+mnv7BZ0K+utootOw/sGqe0NGS65WERrrgdJ7MODHsornj+L6wg9wsQi4r7T6PlmUW0zC6i89GW
h77LPa5y2oRRnMzh63N5wUzhkvBoEdHwppwHxFEBMEDCFXpoIxqmTLqbD24DF5yj9cbxLwwFLgeQ
LEQX9BOdHgmAiwIZ0qU5CLr9PuRyUfezFt+JORmuPFkvToqcAnDYFXt7nspNSNtZZec0B3dWoQZv
6UiFj8QN5oT6wuuTemmXiEJX+QzSGOS2TieFG9MZQ5HKQzcJJShqvdzqwnj/FwYhE7lmE6i+nnuw
hWojPBaX8qCtkX1XLKPfzdq1y3ThJ3MQKHNxXamtkYQ8s+dyMKCtRFfp0HNT901tw/801xJSkLLZ
i6K8Rnfy0i7R14vCIQxuiNichYBOQlbL62dmlURTih8498q2VJLuoUeY5829REwO5CBoNA98PQm7
040yEA6OinmRiHkb9S4RaulLa7hGG/DynP4zyjk2LPIQGpWpIQ9tksiQNH8ZNGkvUNkVz28/E1QQ
1n5o6uRgAE7ng6Jst5CYlAepJMMeQRozEO0Ubf7CKKs+3lqOdy4gz0IvK2VCYv1Q900aSm3+ocHI
ccUGvXSHCAHRhQG2SkZwXdQ/1XQT2YyKGLP2ADeaGYqxG3fxbL3dScd55uVjc0AIXmB/LS9yvd6t
2gOACfebZgyWtzenXOq7v7BkEDDCL41vdJFGVToBY0pUwJuWyWXxvWxSbfieS9Tw/sJAwGp/9ZRR
DDlbts6zOhq6EpYNRbyQ0MDx+4SS5ptHAciB8CwkOiqp2rNzlvfWBImC1R5yMzU2Ud3OQesAxfgL
o2BBsQJr8vIctpwPYKMtabeHJR+0IE0TJTTq/u0WDmdkJVdasUH8Vz89aGJI7XrRLboGqqo86kmi
/qATzngUS5ftYW1Ln16f1epPnQTppJWYz0rWhqQCkdvpeG45VM7kAsZenFrtb6q4a5QPYzz3y300
zlVzX0I6bW8TZ3SRljC7TrzZRSdzSCYYshRCEKDTp19gLFjyyRzqQyZbUrQxXfDPdY4gSkB3mPLV
tvT+mgW8fEWIehiR3tNVp+DcoTC9VFWL2eSa4cH0QVkqZrEFx7DsDAv1SR9J1OJaOvhyTEJGTiev
CAkt/KXTaao9sr8pMLmDQDQ0Dj01b+wvqMEN4pNiSsV4qrNUXElirJ95urenY67f6U9GS7TjMJHz
7Q4dfBDvMpJjoR0X3dc5wwd9/Rhd2sfVnGDqVx0/FbD26VCuu7SmAvHpgY4tJZwkKOq8EfUVp+ml
ReSowk2yKmaxmqejJPCpDmrb9IfZyD4XZttDPpa+6xd936fVNef2pdWj7XGlR0e2DjXe08GqSlsy
Urr9wZBJeyvc5TvI5lVMMrqmX3Ax0mq9ONH0IFDW4ok5HUkxyPzV3dQd3KpWwjR3ShqSjNZPllm+
dZ+wW7zIoKXhM8BjP9unYm6qxFbEcIjKVvhZiixnipLGlVFemBBeIABw6BVW9PSZQYZyf9ASvRwO
LXwyui+gwJ2yqCjDzKKH+fWT99JYK2iFgHSVUjlv3zO72mpGVx8AIdkoWXRQWTZBNXhaHTR6Sa7r
9eEu7OUvRD3oOKKR1X6cnQr8Jku2hTkedHfkGeiBGkIZYU+2vCkX6llhObdNGVCqGz4jX2n0VxyR
y+niiJIRx3gBaiYSPz0r0Ev+QfB5sPM82QykWoJWi/rduFiD//pUL5J5ZIg5mDTqcbepu54524Cb
lrgZCwOUbzEHGn4W0Ymbbl2lMQ96Lp3vuRElb61+UjDDNvMmkZqCmf3sLrgC7euukM6hd+mN2FEB
EtZO49LEoTIoc7d5fY4Xdgs8A6TvpHgJ9pAsOVvOaeyHTHSVS3PzoAZdrNm+ql+1jpebtpKbUYSn
R467dx62KEZvdZ6RLkj90VoeSrfjdDpd65aI/WXNNbz9er1O7L5OmLxSsoObXout69f5k92vtdTR
umw2Dnqkm2FcAXmCPlduEWZU0RVqdPh8E+rJJIFhDdWvvQUX5wYdL2gK1rhptTLnep92DIaj6J3l
oHSmFFt3lAzRGm2X31HmkpYfF0WfhktcKun29e28uJ0MDWgEbAq5Z8Io43TmphaPsRpV2oFOhrpG
mMCIta1Xx6gcclOHKeTZtdzAiqd82dRKa7ZXzMPFC0U5kvZeEiLs9MqvfvoFGhsvqtIG85AuRhtY
mecetRhfKh5b7YOVm9eKLBdbDewMTA6xAv+jEnpmabu+8JJlsS16pBR5oytRhlRHZeWUKXkjN1mZ
5OpxbBygEWan66lvEikbb71E65cguwpRJ6cN1/h00gooiWLOM8SYpmj0MUn57VJa+pXawsUlogVA
w1sFjomHAdLkdJSirRd3cFV0WWOtuh1nB8Va8v5hD+vdW6V+1qHWcivQeYzsuSwXlRKCFs2NDpbX
mfO2c/SsCMTixUtg9kVfXTG0F0YI5mBwGNi71Q0mZ306M8donGIaOueAtJnwbVHbmyZJ6itB3+XR
BNJNsAeydM0znMMCat2j2JS5zmEgT/fguFL/4QBk2ddjVt17Ral+e/0uXu4Xh4JoGdwlC8lyns4q
HxRj6XrXO8Szm9GGAh1CQEE3f7QH3unXx7q8BogzwbOC1SM9RFx7OpbUrbzucxSg6KUvJWQvswyV
WiKg0ppW56utOwCVVNxC36ABbOdB6pjX+GZemC/FJyqeVA3xT8/7HFLkk6mncGgqVAaRTen7MCkq
dzM4/fx4ZbrriTix8AbeLzlrXmfKzmCiT+drG/nabTFmDzLSms6PFWrxu5SNNx4ytenh4E8wuGGc
mlMZILKQdFtVSmnu6mGelRssYk4sYImWToxRjRM/NRDS+ATHSwkjeJqMka+XnZ3dycWQA7yOnvVT
tg0kdpU1aAiULXkxQCzZ1Knw48wz+s9yTkxGcbRchikasOjp5Gll+O3MbTL9TEjaKunyKqOPmWlG
442aVa7wJQZF8UfNbnczCeooaEtM6y4zu+lBKzp7fIw8O4r2aQ9c7p02Ko2810QjZdgi8J74U4ni
1L7UrSoN3NLsCgB0uVl8ob9tXrbSlBFCkukyFR97h+bcnRSqEJtU7xCCVy3iIt+FLPwJfpcyDVSD
C7FJisJ2wc3QuLtxCzG5/uguRvOYtfpg7W1UlZUbS+bREHDPRrFlXVVzs2TWZD3C4Tg2ELfN8+ht
1cRp5ZcYBiU39XOiMQMKkabpzAepjM1vPfs1fEoH6RbfJr3vi6OSSPLAohZZ9HFC7sYagiKa4ujW
NZKyP0YTKj/vPaNqZzApiSb2y4hUl197dVej5zhY+L94nvYjwFm3unn90F3aD3K75PLAbVOYxJc5
PXNgT1sgMQViPFFvfBubZvkcG7VJEgTSW0Wtyyue4OVbTvRKgQtuMmoz2nnJsJy0ZUIwq36okBy9
03ixhzDS1OwLyef4dgTTdg/0anhGh2i6FjhfjE1vwa+y0IrDX0sPp3N101FzCpowj2bh9ks4w962
fNKytoQgvJsUd98L2yvDFC9fD5pWV8UmszskbvPJNdtH6t769J42K1SoYEiWeQBLKf3aq2FSUt8a
tfa3ROWZ9hu6Hr0QgLDH/8/6UrnJIxBa9y4sIShbqU6JwERiWcUnydN37KjOJbRo2p3qe/1I4MZ9
nPPvFT1e8r5yuIS+JkT+vuyzfv44lqAqMl+3U9MMmILR3tUyQhzNEErCnaQDzPMz3Up/jBkdae+T
1OqqG6lXurUx8YXHu4koyPFVDcr830apJgtRjjbbd4qZaM5D4uVVs4ewqItCtR+JRUp99lCPWdpl
9sFPDbWvkNTOZCiGTjG/ax3ozefXz+XF6wljFSh1rC59bJcR2QAXIu/L7D70NDuHtlEIyg8AD14f
5eL0r6PArEHgtTI1nnNStoqi6WjDuw9u1adHG4CrXwzCvMuNadpEY95+fX28y1lx6iDiQgeEOjIO
wukJ9MzGq/ip9pD2SbVtdIoc0PxYb54VIFLYvgBIrr1R58QoFurVKqZKf5DCkWHlpPXWFbNyZ9WT
srf05lp193IVucoWPhxNEqAczjMdRaoqvS1b4wHErnmkY8KL/RjR2s8iMhThqz0twK+v40UwQoqP
rCKP8podBihxuo5z63V1Rm/JgymLwgktp26ezXGO651dwkO3ayxlsrbAdCb7SmLzV4Lo5JEmkEV/
iALpem44oqdDj1KuXQye91C0Uz8f6snLf2ROmX2FaCwTWyfT+28AVJE0ybNJTOQEPd7j3ov657or
WmXv5YCNfcPOFVjAsJUIKBrI8HyCrqDVdzDnyiVMEtMpg7GZuvo3wykEqYc+na2gzmSfbCqTGnDY
J1bVffAi2/4Z6YPzpRl6A26YmZyWr6aD/TS0aNhsX1/4C5cMsJyNF0IA6EJLe146E9Crxc1i8tbV
6fheZqI/pN5oYXVsRfluL+qn0h3CGSDGD1kN7W+vj37hjAEkIKcNoI5vQAvsuUMYGw04m8p7UNIs
2Y2d1CTN+7rIgrnLsivPxcVr4fJGQV2+FvnZ8nOmn2g0urKVrffgCdQcR3hjfTMV3+ypMP1SaXZl
qT8KF/P/+hwvTAT5erA0ULIRD5EBWy/bn8L8wZA8jDB0P+h60W27VthBIYxr0fzlKGAfkYACYwLA
375YSekUqpUl6XFMqv4rrFC5T+VL//z6XC73i1HoH9DA3DGTczIHq1mAgGdlemwHJds5haa+K6cl
28LyfQ10d2GDACQzEDT35LfWYtvpsiEa2haE5HBP5x7II3v6bcqEE0SKu+n6Ib5ify4nRoZp5ffm
hdLXJp3T0URcTpWoa3GU41AHkCgjtpPXxkEr+je3r8DJBkDCZAlhzuX4nw5VTBMZFfBOx3Sq0Llo
ZLEd8tF886ljFiTc4GemTEme7nQUBb7ySi8b3kAZ5QEeR7yvUuFdCVZfWLa1v5PHCfA8jP1neY0m
dionG+OMZcsMEdaVV39zl4Xm9bQtYzV8/fRdPBJ0/PPGMiNgVLQlrN/mTzfJipLRLkbeddUSC/Qv
ROFeo/yQ9XCnpEO1Q1TzWo7uhQnyBoL+XKHNa3/C6ZA9Fslesi47ovRb7yOro/157pSc29VFwxVr
eHmHyYeB2uahZ1Da0k4Hi51JmKqoCTCqVtx7FDI/pmZRbV5fxZdGoYih876vIcL5Kg76DCt37hZH
ygqEYW3nbQZvvrZXL42yKtCQ4+Ra0ZB2NhdIZcq6zIqj3rvRFolu+0lAqHAleXE5ykq/CcxzLVqD
AD8bxW4BUBljVBztaMoAn4G3zzqSma+v2OXDwSiQJpIfAQdEtfd0LoujLnrVluWxyo1lVyBsv/Hm
bNm289DtTUWf/IZa813XFPY1JbDLI2+s0GYMErHIqml9OnQ0anVaq3FxrDRnGN/rsrDTA/Lg+nSU
wLnLj7Ne99/tOrLSN4MCfqF3oHYi6wXD9/lpbOu81dKxrY45/dVuUNV0Njs0ZL79itExsKZhyQlR
qDkXVsgTqJYWV1THaFhKSiU0G1kFgbKX286bjeLaLsj7xctFjv/cyzTSonLipquOZb30Wwii7WOV
dtUVj/JXIvDEo0SJjswk55Inf0W2nm5a0qZGryh5dRzSbLyBqzfbxo4S7YjCko0+1nZYFIiiQqjl
BhMg5c3gjuahxOZdMc+Xbyi1Xq46IFfCY5ryT78Idxs2usypjjWwzN3YlLZfQJi6MRQZhVqGlMjr
F+WF6wh5CFu4EpCRXDsbD2pbq4FOqj5GVZKiVt/M9J+W11zWl2ZFOLuWhEj/XmjRlHpuYr76+ojA
uQgWw0uD0oviINOjelMsanvz+qxeuIN06pBVWfsZyRyePaUELYucpVMfuSpGwPNkbBIUfrZejtCj
u5BUQCVVPL0+6AtLiX+w5mNX6Xc4Bk+3DrsdkZGzmuMU6V4QkTm1Ah0P1r2yZS8sJuzesPhDZACc
9zwdqtFVOFmz2hyrrlR/JnZZvS8yu/zc0g2y0evkzfKcLmlfICRogLKYOOOn83J1OWKx3fqITKlx
u9Zft/pk2kFqmF9fX8GLyIaRsCswemK+8FjP4jopG7QvBTMjAWNsWpE3Q2BwSVBH1TNP95O8UD/Z
c0ffyBB3e5nW1ZVv8MLBATq6cn1Af0bRZ/35n/yVFg6dYVnS9oiNq4wN9hpCMkOD3OTWq7S62dsk
qd6XsJVVwetz1y79Flp8SbHzeKwu4Hm5PYa2CArX3jrmDaArhwfKqsm4UxKrxS3J4ibZezXicO9i
quHyZ+1Mi7NTxyJtP5TOko28o5W92D9J+FbNnQJb3LzrJr1pV4l2tdy//nXPDyHFeo4Ce0RviL2G
aKcL1Y9IzkK4lR8Hp2zDYcluhRId4Vr7gn7OWyOldTBomMkSrdHgRVJe16pec5a0PMZVq9EemEPV
M6lvDV8YZSU/YRjMLrHS2ZTavNa7ouzkkVYXO7Asxdtx1D5ZXl0FAAu7K2/O+WFfh6OHixCeyIIa
1brCfzpqtYl6pevO7TGpFWfXmbwxuTdoG8oGQzC6U75r59HdSGmLQJ+b+IoVObdWDL8Sqa3dpcTY
lJVPh8+7uu1wvLqjoQBUNHJNbBU76a6c6stRuMecD3w9irYXLfl2S63IWER/pLzk3jejmhY3U9GM
1zzkX9IQf37AoePi8eY4urB3EFCfef12myul1/fjkcQQkEvdSCd313qLektxYim3ubukv5mW0miP
sdT7YQnrzqbWgDpSp8M7o/ZtQwZDH50gr0XykQK3uuyWWaRT4A5jYyHkpUJuhDhAmvp9ZrvLTsCb
8T1z1OJjAleG4hcyTmnLdYX3daZwgLyzqnwy7NZO3+gUMdkVwYGtgCNrTVKc7p2RlaYxNeV0rDzl
mz6Y8S6uUvvKDT9n8ke7hII7VhDsD0Nxzc9GaYTuFkk9k5MdNG0jJwuK9gbhvzlcFMj+AiiDyIcp
U+dR2hGTKI+5we3fpZZw2y1N0antN5I0oj+5cauEiG0Y4xtDoxWow0nm2lI9IYtytu91446k+5b6
OHguznahOQel6BEv+mXu/uvH9N/iuSIKQHC4bP/1P/z7RwV/SSLi7uyf/3qon8sPnXx+7u6f6v9Z
//Q/v3r6h/+6T8istdXP7vy3Tv6Iz//3+OFT93Tyj00JjeD82D/L+f1zC9/mrwH4putv/v/+8G/P
vz7l41w///PvP6oe08WniaQq//7vH+1//+ffV9Ll//rzx//7Z4engj/zqzwZEhyhPz7rf//g+ant
/vl3xXL+gRAUKdy1lRjI29roMz7/+pHt/YNKFiVGLj5WFVTh3/9WVrKL+TN+RIbDAL3GW7c+83yF
tup//UzX/wHeYoXZwGXEzvJ3//vlTnbp/3btbyX1uyopu5bJ/EGB+X+G4VcOAB9wNbX4SmABVgv1
JzMLlkzihDnqZujlJDaRjXoyvosu++G+FIk+flT0bMZM5KNi+GrMGxpKmKnn79bcmd+FqCPnW6d1
EMO1HjBTun3smaKjbQqjD2qk0JBAqZTyfYeaVLJV6zpD1LpLPUtQpyFz5FcLKg4PDZo2HtxP9Uge
RBpW8w4GPdOtAyoq8fix1GrrnvbkpryJBmnhewyZtUwUl7qmaTfdgGzgZ6KRJtubTUUCyiTX/XME
3fgtFVJ3tm5HCS2ZHXtTjlkaRl5ymFRj+ij7ogyiuHI20Hs/KL3ZbtCVH/nV5LPd99UPSJutsB1k
FTpi/q4mrnG3TMot1dwoiJ1BJW2Spf4Cz6dfJ3Xp14Vm7pZUuaOfs8a3sNrAEVm3hco72s+Dd2e1
Vv6AjRJ2GDtoChrmYzsvSZjJugmTeRSbAfq2w5LBfw3Rp011JH6MitH2XVpprH6K9108yw/9AFzD
HYS7J2WhB9psdVvD6p7LQptCrXEeBAZ839DJDX3ZT02ZHw0rWwKrEspWTsmnvB9A7w1i2TpzWj1q
uf4d220G0qNEb0Z186kukE7N9KLcpGr2XRHuN3KKhs+5rHa2uvww7Fh5UI2+RtExbXzUBCf4K4fU
11Gf/oAu3deZS/CeJKQN9Ezp/bwU0adMn7NvCSfgJqnteqO09sr27Y6BJoqcp2aVa/qYaFOs/j4u
TfZZH9QkpVHT6e0PTZnMe9tDwu+2HYbO+D0actfhQEIECtKrsEb9kCZ40Ftqlx2mVrHVd7W+mO7G
y0UT38a963zAJNMR0PmzMuRpqJlNoo2hMWju3N+7HeRrR2fuPLfauK0GrdbPWhXdPL8TDizU+jE2
hTIi+Tt2KowsrcQNDRFmGhpKOoURbxA46N8Lta7mO7dSNSqQitQ+jLWlPzmL4wZKt0w3CLg2jxrp
x8dhhMk9oY090Cab4uUAMXOAp2F/5dgaUKP0rl/hlNPWpBbdTZzJ5l5Gaf3TEEbnl6KsmgA/yr4d
Id849CJDuHFT1TSOt4Q80TwGTprxMA+lHggxJgdtMo7CqYywoWQZdC6JVd8rAM+FGW1ubMDYk34s
1oLkra7lc+3s2kaZlpt2durAFMhUj3QG0GOKBrMZEUAiUDlvvFiv/TiJmvZdWzdC3rS1TNWwBcYv
QW9ks/fdi5voJreGug/GOILKyRQiuukjCnBz036KZWV9U8Yqhr1/iIFsjMq4nfs6PiL+Nu8cKqEb
T9G8beWW6tZsZOePnqgDN3LxaAqTDGaVfF1qi67vjrYsbbSUUKbN4mexjHyPovNjki7LbUtx3cwg
AjNS96FN9ORORnW5r4Xkwlpywt2RI/VIU36tCoqSVQfh/1h17r27jOmTEAlsIxPHXswLi4F8lW9a
66+ALPTHEc1MNxtxrxD6JuqQTnLnysHdqZV0d66utPscjpEAuv3Fb5Pae5ctnnuAk8AIKzoEblQz
Se/GeFTucObMT4mldkEr4tZvWwlh65LuWygvPkApOfm/hsy6uflgzpHrq96vb+V9FhKL5Y+Dl9gh
28G4SSe//trBqq1BCU2LEbr6+gmKPT7LSZY3VhE/ZeDP7qbRVG4hYhv3axXhozuzJNje6KHrwBai
DJrTXF8n+3Loum1r2syvGcftqFbeDrGLBV0cz9gj6Vn444SMaUOib+PmnJ6ktuKgnuzf3GhOn36N
X3l2/GV07HyXtfyG2gjv8GsNK1FNH9Wp6PauhOPjXuRW/EXl6v2OBqR7Xxqx8fuUdupjCxHqU+tQ
g2/lkj5lvSG/llCPf5+KoQgLR/RgbYYZ0ze19m+Zpkz7TijeR6edhg9yKZXPpB8bP8+oyqRw9BJa
lu47kEGI5AG2/pnQgXWfta5z52mLF2iy9Gr3C06XpzjIwaaEWusa4+Bz1ZcqH26Nya5T0jdwqwiI
g4nb4swHKNbdAvpopV87VrZXyir72CaWcTs587TrRvshqtQPXZO9R3jyZiqNJUQreBNbMNHl7b50
+q3ezze9YXyvXbcK1FSYoSva8lZF1MyPawT1DDqpwCwfXbF8GRKvCoyskUFtk7BbCq3dLQrqrebQ
c5jmZd4mspO+J9psa/ZWvYkq1wjmaXF9V0nERiQeFHZubN61QH92alz2gT0kRmCXjuY7AlleaXPE
W4oYWkBu7slpND2Yejn49PB8BjiRsP7VR/JY33oZ/bDAFoRaqXzQYNM78JZ4QT/O5Q2owWKTAqPY
zA6muF9iMviLm994XWZ/oqg0hXq8tF/nuKs3zuAodzIZlF1bxfGmlNq0owMUXqVmxnCb7s9JbbfL
7NyAcvLBh448Wcnyvu2i/k6R066NjHAYbSOs0Sp40DPFua+tKQ7dsRP0byXu3ZyXarB2zwPIgiC8
jj9FpUh9ZYxmH5TVbdOlX5pu2dU2mXI7H+xd5xrI52jZj8RMEFS0tTLIK13+7MD5IOTVqqHXRoMv
Aa/4uTbfLL3SgAxG5k71pjKkMBko5uhuhVntzRn0zowoxjuR02Pgj8UUViWxbpnHmEHLUW4HdZl8
VfZ77mu6U6bZ3vRave+81VZXcdCJuXxK52SFP3fG4wib0U6MQxRYUeMdC6tr3mstPawGyoFh6ebu
h0o6+k6QwbrJQH5BxZmjBimKNglbaCOWEKGl8maggfkxgvkEb9BNw8QbdUhQzHHk8MXJYWmL/AEJ
jWKLrR5iwGiK+ijdSH6Rs2k36HUl/d5NHC/EIQWZJiqeEXvWu1vHi35PBnemy1Eb71UE6oMqMyHC
ruviMYFxBRBRI/Y0JmqbqFjrf3jIXRiZvbGTTsZ5NYf4EKlls5VqKj8WdWZKTFtVhb3dLN9Kr1R2
Tm/JcKKLIlgWMe6HobAhVEuHbTI1yl1SuNneKlvtzrBT52bEXv0+9VXNkUyVh7SSA8dUZO+ggVm2
2EVtP9jmHPv2NE4wrCsepIQmRiZGtW8OIUkmbI4TugEBbtVzKFD/mABExd67ZHFE6NRQctVFVd9X
CUiJNMvybTXril9OqvxQjgmAAQOP0XZnAabCmb8NOrS2aa4nSLJIR7wnOhhDGKeRU5rG+DkFfQ2L
fZ/uUBfJbT+G6mPTz8APuqK2EFMVdRgt6JXVo+491lG7utDTtkXA+zBWY/SDD86O3tjlm67B/g/0
0H4apnlnR2bn01yVAvrzbo1xBsCZzfOz0Av7d7d21J1iO0EDdjBMMsO8SdKo9a0oGncT1RYeRLjN
6QWIOvxj3iQ3jX56RZFs7NxxkKDKvnbZ2N5rUJc+mlnpBWNZfW4SmW3qWJ1uS5nFHz1cxpBqUrK3
K2sOjA4HtJt7kLUzH+Q65U9e9PeLLkuoNScsmuoeBq9/H8Gk6486aDmeZb2/kZLXJPLi4tGcwTvi
1WDVmsn5knvdxxTX/lZY7e+O1/9QcxvfCx7jsMxqM8hHjcdM6IvdYS6Bqg56+t0eUy/sRfrk5Auv
3wLKVOubB8kd8zPyBj7K2by0tRkHuBptIIjVfRvq80CN1GUD7vq+AKHxjlik2AE6SAM0VeLPayYn
AVqZu3cCujXKVKLDVdYD+qcrv4+rcTuV2FFJfdcXSllvE1V/ctOc+aVq+dStJwIn/nam/cBX4sq7
QaOtfpxKZwx6LW/uCohQ2SY9CiUptdtenZYgUecPc+naN2bTqH5C7Q6alDEPwbQeSst+cvP2U1qa
OkDbbNnMXW8F0Fgo27aJKBGiv8SlX+r3ioNP6Qp33dRnIwHClzR2fxTVOG26rHkeUfoKNBACvqSW
6rfGUH7QY6d/HJSyq9BVt/XbRdHrwGrclMPWR5/bplbqEAfL3o54Sz4ieM0+S8AUe04sgyn3fgy9
npF66svANNmnVurRfuCpu8kN5WNWGXtDcZvbyBxRKTAS+2HImnvF1JadEhfoXdDqE+ZV6WFF0INo
hWdv0SbTg7xv/x9157EkubGl6VfpFwANWiwHIlRG6qwssYGVugAcWjjgwNPPF7y32VXRJMuYm7HZ
0IykZQiEi3P+84ttv/AYQ65tq0lo0rMj0k2WMxV4PBWb/pTmlvZ+mRoRzql6XBv52di66l2zDKEN
aPk0apZ4yWzT3JO2bn2krxp3yte/EbXmngJr4Sz0+ntdafeb3t7VXrNffCqtJtO6qOtEQ9xmvR6N
1hpCFu6XUhVnnef6PmW0H1Ku8zsaZJlVRXAq3XkMh3Q0osnJ1tipxiqZzarcO5OJuVdQdfZ5safm
abH9addrAkQvxeakNEt9hx3PdCirLU3sJgtu5jSjPNM+eU0ub70AAYtVa/P3VPjDq1UYdQz0Fexs
bXEOnF8Zl2WXvjL9ae6qQl/2CEPS28XQuMJSX48X5VexVVDzpDxMV1+yh8WzmnhbCQ8v2rzsIrdt
xwgUY7l1pjIPG2xFb5kDkjxdy+lOcDiTQW2pcFvr/q4w13o/dAqfAoMuPsr17VtjB1ssVD4/qrXS
9urSh1KsuCHaYYfGu5df7NxWlG/mGleGi319UOdNpLTpSz4XVEqeW0Qr9rN7t3DkuWVj4/lgfHS2
hfmtT6RM4fQ263+l1pnsD+tSZRgYQHNdObPfN5o3MJBMvZdq9PRHaKf2WQQd4IJaNArzYIvmbM1u
iqZ8nPsNH+LJtXaM/t77Re4efLtz4m6GyVpN/XxcZn8MfVRwHBsuyZPuqlLoNXmR9GN7Z8OG7kJp
Lc7zJuyPA1GRoXLLXIayswMGUc2WFIE5fsENy44agek7FVpaho5OJSJlg+/94iJiXTKCryZNv2lc
kcY+vj6XaiN4xNt5fh59M6NnF8KEBmOtT0S2GAm9cHloG6zhvEzIMy3qlLSk6h7n3IBDCGvmpQ3q
9slq8JMNbc7Z255AsUNdTcON1aIvl6k/f1vxL40sXIkPXlllzzUzp7DakKWpFu31ZLnq0AbSCquh
6e5rHLY+6r3dnQqp5V2YkQi5MwiPCSfbyV/HXDzmentr0/xnuf6JwdD4zgfOYn7qVbtuoXZlnNrv
N+W8K5gbJaWz1h96s+rPZdb5IQOs4n3fedVZCooAw9g+D+bcJaJK170cnO2MZcp3nenDTbbk2zld
zCU0bKkOVqkmqgnphTn01Zh4hPFgN0aWOCi7wy7NvrbKGpNUpF/mfpT7aqhvB9qvcRvb+8FTzaOH
weC/UtevQivL5BmjWeeRWXax9wpsvEN9zrpPTeNUZx5dEXuVb++91QxiXc/HR49i/EHSbB38NtVv
OkCHCJyzMkKnl26suWyWyzNKQwhBpsEH2hqPDREYsZ4Tm4XMEt72in/O05KP6jAXjQdn0ZiiwKmX
fdB4WhQMvfYh6FI70p0tj1skV8/bUqkoy7OOB5P3p45yaDd2YIyhMJeJvscxWYSWckKj7GG21as5
71tL5Imc0v6uFDJFclSOEQUtwlXV2J9a9KXAbJkYwTl692B2ff20UVYnTW5o79yJ9iQf1BRL0yv3
zQUl0DNJ1oDgtl1L/Rj0+nTgc+XHQAEmgTVUt/ZcDfvMnvB734rqc+MR6bqUU3Xw2nrcz329fhw7
Dh89gyofcvDZX12zt6Ku3fzPvtOWiegaedicyT+4Y4P3M7DNh0qXJPQWdpaHhZyMb4HUm9fJ78Yq
NAoZPBmdr9/3m9C/NsGUJigCh2iaPPu7BE6KM6zc4lb4KpSraHaYvCyRmbIog1x1r0BQ6RfZiJZU
vGmKMOppz1k39VG2NMvXIpDvrcwu7xbiSA9yGilsnEC1n1al7CdT6UtoK6E++gVus8ts+1/mYstv
Ok2fDyUXdx2pZXWfRkcTz/OYcgi3PenC9aXRblbt1CoDr9E+LyK74xJqc7rmEHcb3UK+x4CqLP3i
poMY/sUql2q4XDsZkcBmLR6mYfMQdlqiC90Ru9d5REpruVq53ixbgKYsdy/Ccgy8NHO6mP16o4Xx
UMGlI4z5RmpBf7RT36BXy/rgvlHCewJtK2+Nrsw+V2aP5KbS6iIclm2I5tyf39dGhlfwyv0/gLm9
2Jmb3pDrosXVqpk7mFPLqUXNFkkLl8de07Tvsmvr0NSLh7HP5gez9tSpxeWJAN222CNo4mwst9sA
c8f9DN54Fl6ZPmr8bBSla/BgqtoA4HQxS5JVd9ulenribMWiszSspHZ6dc/2mEJvzaZvAYVQ12Zf
8Eb6ojn6M+YP4qw1zfvJSJ8La6MemvUZKZBSsccyIT3vG/JUGaFK+eRKkVRVyrdFVXADuFi9TPAu
qYLMWC+9d+5FgQEnwYv0Ndthq2mFC/TM2GA3JNZqxg6FLM6WeRbllYkQXoldIzJSR/uZI75bKDDX
7jS32fQ8aD7LZixv5zwzOe6qbYe0fIlyZAmn3jLnuJrWV0gvH9o+6KPckVjrz7uWbjQ0Un2+NQwQ
RMQdBzb4FhaGlt5202TGGyD3jac33kEZVceDXyjXLD+LswCnZ1NM4ojqZzqsalz367BWMfGzp3ZI
p1vaJPRdhrK/zJ4QcQ67mL1mPlptvxzIt9rZs1VEZmFl+27Y7O+u3g3PbjlqqKFsoFmLRmpDBhZZ
sB0PC0bnoTbh4eXmjpnQWwVA97K8JfQL7JXUiyXEeZ0uUogPUi/r2Mtt/UEInH6LXjNEKDaJVakc
gnvXA+INivmlLiojNkYvDbV1qcN+moyodyDR9G6aPxJyNiX64mkxcrjbLaOiHyvgWymH7BiMbnvb
gCXtvGGhj7JosoeWZ+/rTjS4hnayfv9mLIcX1SC8aiiVi7m0Q+pOqr6+H8JLZ2UG+Zz0ju5FhaNO
qTRVDH2wu1tEezRb8b6Dczl32rduFlqsFeac6KtX3OnZ+KivehbO3rQSVJB6hw0xZawTzJfAvvji
u3hyZ37zAYinj7C6ZXWR7nhcrcyPuvRSt9fmrlXgv5usEw0n6Me5s1gASw0kbenRSDsREePeRxXi
+RCdXuuHavHvczY3TmodDgKirI9+7Z0J/d1hyPhhWXWmyLjet2vvR6VdvB+JSE9oH1L0fpW/6+1t
3Dml2zPd2PSY4cStLdoXdSEKegOYbGO55yYohxDjDBE2eb4kveWpZMNAMxF+t3MrG3Qv78awRdIW
mkNpvXja+FEGwHQmRjFRpnmKG1O/SdtSRuLiCVtjtXxj+8u7ccXUAUhA32EE/EH4Fnbz5CIdXBm8
tC4lVz9Z6tbMi7GM6EX3gdVZp86RT57bMR1R1XxXgYxboABalwStKnZOs+4Cc/4058GzkwKJiFbs
OellXE5mytnbofhSpf5C+Sj2RfB18x0L/K4BgNaDF+rI91mh7mk02jAjrOK5kM23lXnOXYlbw04i
47q1NeObl3oATV2Mjio0hgsVsd+aw2LJ/GT5as+NiVJMsiQ8o1j266UNCCpYAXb3bZ7qY96a79I+
teO21J+21G5PIqvFeajpbANDxGbQfHb9HHyrpu8xipnRVmqPR4wHKS9Srg8G4s0Zz5QTXRK2gJ7e
7U3N+FoZ3UtWFp/nojBOWacZh3IR1aEOKiZJFKw32YQLg0WpdibyCuvC0l8OYxvMyepuwf1qmd+s
eq6eS91Ux1brVxT2Xfdo+f0c+k3exlku84jmfcDHyFwRRMiPheIaOS/ZEhf5C0f6cqzqpYPiIde9
WTPYITAp+9Spzohl27DE9VFE1F3HaYHasKaaiEfSlK2mPlbL9rGWxnnM5G5Dj8X4X56qUt63kgVY
OGm5MyrxkdTDR573UUGRdOAsWay7EKKYnoC67seyeFZjGivB6I/wjvShwM4unGV9M/TjGmtj98Sk
7clSw06a+bFz/Lg20Xtw1xDxMfMJ+266sdMpxr34QQbGKz4rid6pY1laOf9XfisrVcapZnwZa/2I
aRXTXp1KT4rbTvePmuk/w1KpotmuT2rMTg4KfhTj4RaU5oMSrREyX8NBHoQyhgV3qtoxoJ/s3dd8
aD44AiEwkekfe6U9OGUe2cb4bBNxG42bcVyYROZ0iwlz3u6Dvom7PFWhVk8xV1Ssqu6dnhNfTxW7
a1zrzjK6MUHFirMOpnd3Wdoe2qlII/SpZILVdcpkllmXqRXxkqkvG7r2kzb45WnWiKCfpvQD2TtW
6OD+nLqVjF3ZLmEnszGpVvWxzvUlUVt6a9K2OLOuJ0Ofcjawj3B+YoKLcCdjgLDzew/nnTy46UcD
IchqNd57ADEnpC0swiadlntEpDc9AdChS6uZ1O5U7IAaug/2sE4PyrPFCT1zcRtoWweSQDBVVrtD
WFnuHpylOML4cHeTWc3sXE92r3Yvli82jpPhqMBdWORN9blwHbp16mo75czvrFVDWI66XFHKaV35
zXVnO6phazCQwc1RBVuGOHpkplvrI/M8oCcSxr3E4pdBwSgI04E42FCa2DjVIRJOHAmSnIFmwKl7
Lny9PMyemhMsjr7aZQnywJAKzCKUsjjyC0ZUgy2gumxiWEoDh4bjnMylfjJqd2akoe1yub7aaXPq
vZKsFl2HHrOViel1FZLi/rXK5cMym+8YhZah2zH/11xbxD1Cz2MDKzXGJuPrkPUGjbkuEUC47Yts
Z+/k2+IJ4tnRTwNrJ3srjSxlwMa1t0ez26DJDnN7GiAuudVaMY83Ps6TPyJQ60RELGY42nr56PCL
eljrh3XhULgiw1sZjIY+AC0pzWNUV2kZK6T0ZZ09eQ2gxYgtVz7lU8jtc5jzSg/TLN210vk0+sYn
OasqGpgpJuSrGeEgpteslV8DfYrxq2eU4jrJbGcF69h6yKFt7tpqZBRU6V/dsqgPmuvXoe0xn7vw
0CkdTJjTG1HmVXUzTHOckaByRB35UWsZRuDUTqk44Wq4WHs7743dNvZPpOnScjtPk+sN95nyVIz0
3D0PrS3jdALenmtuZY5P6+Q3XuQtWRszg85PMJDs3Wb07SEoKdsZnwOmpzShnoun1ZD5r+T9jXdN
VzrEBRc3YzPKxGuyg5Gqe2FfTA4uF01KgzGIMqnbMWFySYhsaQ0gQExwS1PcL9jYh+2I3l14OD4u
RVHuJAP7JLcpFErfzNl1a3GskMPzKU0v1mgLwrSaz05lP88bBgrKWR57C8aI7umv4yj00Mk6m3+0
+bGYzc+WAsZo69spa+pkNZvqVs/sigI0qCIDr2Iqcovupta8BhSXxq4AFhbgntbrbHWqgkCTdYb1
fTO7FCfZnul96G5VOx+tVnrljVKbu4ZdP1bWLTNZY4gMBwfD4+hrhnHuuyHXOqCKnknUkGmYyzhj
sAwxOPrwWWB5AE6P7P99DlSnHkegpC4sACOXPf9zcW4n+s82qUjxyh+439MBmX67/mvDi3FIGLV3
4PW15+kH3OGGclekzZyZoWJU0iK861s9Fg6RKWfYHxSE7urlH/tuyay7ybG97slkKEY1zbovi7Ny
UNM9zUMaULhmJsaVEo5Sc2qyPJA4U68a4L0T4D3fWf2s71tXH5g1l1tbatjRdttKTmnKl0vTFkiL
EIhxioUv6BZIDcB9S4XDtCj7A1kFsAsDrFgtyhplG1NC3eP694QaZKzjpdbc0ND8NV5IZZ9Do/aD
B9gUOCJ5xhfVOw/+4DShPc9uVLlNsZ/KcXmC5AYXRHT9Ybw4u7OcZPapFkv3oJXajMl/M21mZOrc
pZHeGP4RosfTNnvOS52VH7LB27kiBwAnls2s5bzLSuvBX+pvVipjDQZOHYp1sB8ZnLcwdv3OjzgN
5fZqF9L3/zUPg3l5/9m9IV763QJHkgMm32lZ+jW3pbGvK28fiGHf4enEsP68OoURp8KYwlq0BaOQ
fGMIU4A6euaO4UV1HLGWCxsxbUejbqt46ANoP96kXvvNOXSDam/SyaR5o+y9Weq1CetAmTe1k+ex
d3lIjdNYQN/DHiu/9jgqWM2L1X1pNP8uN4OaHqk/LR01Ht2R4oDbenUR3ueJlnGOumY3RHrODlkm
z3iXjh7nsTLd2wpniRj0Etu5UqRHbR7s96uSGTPQ7X03ld9aio54UsNejFt6QNwsomwKmqjYHPG+
6YJv5uqLo2zlHeYA5b6dl5dcFepmBvl67Hu/SpyFnD9R6J+aqSFuKx+5ZSwNPHrYumwnaNCaMJ9F
+9nD3iQOtm1nK+bkKifdbMpV0sBdo6nqGUT064mhnXVAjCPjYDW7xDaWdV9luPQsmfdB5oJOmUDw
x8xI3dB16iwiuFkAH6dZAaMhuPW94clu/O6FEIMyFHJzH+H0BYelz7yY4Ur/Fa09GtsiyJKgdxSz
mdE4jLg93QzDSC8hmNRCnc1Ci29PRoqlhXLomyO7HdzV928KyDTfegYHgPtbYjXLst375qpHTRk4
5JBqZrik5cfSpf8cC6621hTPpZhVVPvKTxjDPuMmUt8GJc4iY9BTDXpyCmKnFuq1ta2aYgaO1ImB
t1xhWvDsQ2DR1Qnxjdo+Qw8zv1RB5bSPU0BzaILqG7umMhRsgbUVMFL1XD85ou6+bHMAHhjihu6c
7are2kir7PdlYRRMGNvuHcw2jDFAQCMsBDci34bTdjmywmlMy1vb7xrGYc25gi4Y9TqYSwc1P14u
xY0xatuBmkO8irLL4Tzly8kcU3XiAKOwJjaYrPiOdZA06bDk0SANqq6RqA79hBsDu8+apPK/0fQ1
YzRLJ0h8lTbnISjj1u6XkyKH9Elz3PHky9qMVa65D0Gt1h0zCXE3rXnzlHfNV3PIzFs2cROVuPE/
tmX9iHC3Ow6DZj8zFtkDHX93iKiK8Sw+u7PDUYio/LGThpzjwki1eHMzkcIByrfpxnezT1bVvmPy
KOO12BLZ69qRBCRmvkXxpEoGeTYezjH38MHvLe17QzZ5hNNCNK7tXlw87lS/LUdOiJ3jwCPy2SRJ
rYlVsshLOzac1OBmdsvbzNOf54DZnl4ZeyZfXWjay01nT+bRtLSRhPPAjOZi2W1+ybNflrF4wCJ0
ppxvmEdOOeKJFbMKB4LAO7PD/ilzaw/vmGGcolYMeoSCeToaeble4m6Gd5soXxEecHnL/hsN0PQE
BQ+WQ7s85xy7G7wrpb7jMfUCQFTsJPMWJvVPWa3nUToEHvX38kIJKsJa55zoZbnsStm934I6AJ6t
llM66vw0xsRMfEGwQ3exDIsOFWdVwSTOmeM4IQN0751VuvZttTjVDiJDsVeBmQh4QGtQb8kFyue9
wbd8sYGDS7dNavi10xmJXGPvTEP7IhEcJOBE/tFUhX7ny9Vm17HCUgOeyjL4UNOsjJgf4bgHTHnE
ErrTOkVYchp3Wzt9wsVuuZXkyewrQShQJbHiYBg53sE4t0OEJN8a1mPcyaK86Qdoq2HdZN/dvIAp
RMr8pHYg+ufVZKcF/fMyt9DZGFoc6n4+e5oXG0h3DrUFocOaCGxHPoLViqUXLHVzpP4JoGYQQtgz
aBhh/jB6PwXSOEhGcuY6VXE9ymgeYESMwngOsukOO5lzjb4CZKydd12dQbC1B/LWKtuTSbYF3VmI
QYO+I/LQgakUDw3GgGW2GJi2pm3YF356GAe7O0iAN74vxK8iWF9rY2qjysuB83lK5Vhk0HpFHUol
nrRRe9VwAmS+FXRh4ChCwJZ146p3Htp6Lm+qxmGmxcS8wA36RiuXBkVtd2BUp+LcoCRvW4BKq0Tr
0ZX+xyrXcZBT2lfLWJ+3TprRBPyelMN8Xhah7bTZIT523WgPkU59v4DPx2Xzvhtisv3IcOcpKSkV
sHvatmPDw7pNG9nQgfxzGvxfktt/IsTfz9+HSQ7f/wuu/PhfO1CZzxPM8/8PCPEXrfBfE+JJmP2v
8+em/IkSf/mTf1PifeM33/OQ0yCXwCADi8//ZsR7wW+OibcoYlYMkKCi/8GHD34jOwDBGXbM/JVO
yfoHHd75LeDIR49N6DI6N4/U4n/Ahr9oIf6HCu+hwbH4VKQi4BKDePc63a1rUhfRllSJMczOY+Cq
/mZyaY/YSvWy++Gp/IeJ/yPz/iIO+V/v9buNKxRu07m2nSDsEw8kr1EJ4888Liytud3gOkFux7Gh
FOav8g//7LthMYCfMEk41G4XtdUPNH9PuUHJ+ItUXIT4sN+YTtY1hYbdQwr5+6920TtefzUPhpvp
IBJDunX56j+8lV2AqEJIXxI7SIMHQxuHL5L4ghdvIXINbmWa3nKtUixoAuPt5J+/OVJM7CiQzl8c
AX5+c6UVwbjC62HE2zQHyxtxmmk2vbkXZtHe6o4xPuim8I+MdsXXv3/rn7Vc/14+hJ5cZPUUInzx
n9/azAwLRYiJKZMm6lty5MuDxTUQ//27XEmxf38bLERwUHZA2tAeXX1DD3TDWdtJJVRuTEvmSZ6x
7BL7jmH683BZUtCTgYOBQcoHlxiJsK+n9WETs/yVT++ffGMDQRlRbpeYctRlP3/jdLLJBa91lfRa
X8Za62rwutv2F3Zsv7/M1YJCysXmR3+NFPna+TgjSBvpLr8pZFy6gNoojfPWM3oMha2tnzAHrT2o
DNhz7ACIcOpAcJe9GH41Gb94+D/LX//97PE7Mjh1cJdGiPPzF7azIZiJf1RJIEcoG3OdvdrTYt9o
UmVfC7LN4gZDlqe//8X/7CmjuLxYV+G1g53Gz2/qw63Wuq1aEx2qcZIF2XdjZUD5z9+EH9CiXw+o
/K/fBK8qWJRQ8xMGiylOSTkjjK57w4KhiCahSgfI4SC6WjCDJON1KS8LxgryG1lnIppAaX+hHP2T
B4YTn4etCsIrdG9XImXTXVJ3NkgAV2WZ0lLkXTSYdfCLE/xP1oKFFhYVBMZLHj5bP/8sg1fNjm2k
SzKNkBSghs5L2GCZ9m7FVi121KTtqYh/FUx5edWrvWCZXHQGXg/IU6+jQa0yBbUbRp7gsiJyqmgb
spkzR69L6xfn+O/eBlfvxUqwYbxfYsX06yinqu/sph63OZGFZnsX/YT1Gd45aK2/Dcx0jI10c0ie
M0ZXWjU3cHaZPH03aOTv88skGu4kcUlHvzXK/Bfr9U+eAyNJLFe5/llQ1+t1E6tVMDidksGZjFO9
BM0OFXSAO6P5q1TbPzl/+CFtbjQcjtCeXycoXMb0Y6uWNfFRbWhWt+d+eSm0+WTo2dlZkLM5wkvq
Lr8pNcgo/3Bj4n8FOYdaCasUTLeudv8sU2M1fG1MFs/BGgLD/qT14Sv+/bv8r3LENRz4wKwnmNdU
yFcbc1bB4E2QRpINuiKM034NB3xAoGRly97yteTv3w6jmet17HJ7XfzdL8kN0IGu6pFFEnal6aJN
zBUGGe6VlewjUqkdIB18iKD0XfgQndYO0GhLVRUxES5FcdA7b4DXh3WsFWYjq3GHlGbNTqYuGyBR
hsXnqjbMDuXA3H5NsxzGhvTXtdhVFTy4sC5HZm8in2w7mZwUoCRVs4YysBgh+HttahS7tMm9fm8L
2yNPyul6YtOy2nrMLdQltMa1/uoJMOSw8tP8A25aSB5M9GplLNFKZLupwv8rGg1LGolwMMx7B6ag
AsgukAhjr2kLK3bhD+cPUIsRiW1N6/oPvXJTK1mDlSew2CIHoOAATTy3TL90YtZexy0vTr1eiw+N
CuTzCLn6ufSZpkamodBSLZoX1M/NLIoxEo00rU+wcyo7RD2PyK33Z46Kzu/hatqZMVVANS6efdJZ
qnt/KJjVgPDiYaFbGswS6fafq7QyQc2QlupR5/FuLfItGnoHtU06jRXT3rRYv49MgttI6NX4HZNU
E+SDw1c/aJmd53Ct++IsZLAt2LRICOoXvAhX0xmDcma5pd1Gpdwurv5yy9ob+BNje8YqcZMrYzXm
7fzKvWZVd22G120sZ6Sh4RTM5hxtvuhqBmtcILDgQe9p7lpZHmcNMOFoplrzyaWFbsKM+OAywisi
+JLhj4BQpDNLj3EkQaGDleqIcnzDvDMteODT1MFlGRwvFYmOK5z/BAY2i5M3mdqjr5WuEbcpUt3Q
UhcTQX+kGEHhRe0RlcaE5YLyR1DlCTcKGeIyHHzu3EBWe4hrLo6klT+QPsmkEHp92dtwPeUqLywv
I721m3lNb9aZ0i/qt0o7wSQau6hdhC12AYF37Y01a3oWmxw/jPrW1H4os8waTprZO8yveZovTO5V
y5hHTmtibeUw3bSeLe9raHqER9VGkcXK07r3EChXk/RxkIekyZR5X8wps4Gqv/gy57L5F7XA+p5D
L2/2hZOPH9GTwA3tEftCKDSl5e7ykjnJfqh9Wn4L4d3XyfcuOECzTp9tWIxGtF2K7DDd6uFfFSdB
EGMhUT0XruI1FICxmeQQhsTBI/qHiQmsv2dlaZoV9b4vkFC0/LTJYE+eetjUtuFpaJstcQyTJe1d
4HSdBkPaGeE+TfoI7KH7o+bEOkNsYO++NeWFyFH5x9Z3sS3QORyWSEH61ICaEGN99RCE1u+AzAMt
hDfWvevc1lUf8qwZHxWG7zquuSgEwzq3CtYv5Ml0pzms9KhReY6FzcoBBvbu6EdLIuYrQhNV49mG
9PfeGi0XrD7DlmwHu8S8//0A/Y/e/T/945XA/upf/1pF/zPQ0P2NKv/yfl9/0PP/5/3/X+rtL/3O
X8ML/2fILkr75id44fIn/624ty6yesLnL+YrFxyBe+c/invP+o3eHr00/5HLHL+NPxAGzTR+AwO3
iRDWmSDyy/JnkPl/V9w7zm9ciwiwqLroPS7WGf8AY/i5NuWNLvgGNgxXzaHdS86NNK+SrJLgnuuX
VL7+8CD+syJ+RBT+6pV5GD+225WT6ZMteWVa4lAwftsG/x/VIP/zoa+qAlKAJrtXcEHWwMOhRHuo
aHHf9trXgEQnPbNJy7SEJGdtt61DUgdUzl/FKP7FQ7GvqqYUAIrbzy8TY95hdx1lCNnf9LgvYNSP
j7sVOkenb5TJppqZtAkGThXa5ue3vfoVdmKmw7Y0Xlsl3TLA6rMFdAbNfv+2F7/U1D8AM96ae3BJ
VJlI/LAOWTN9XvTSf+NzufwSP7z45hMB3Ht6lVgj4oJsOxdDdnjb57Z+fmmnUcqfdHRpVbAPxs9V
8badcw3Y8LN1HQnsZTJmo3k3Oo38ajGP/GfuTH/sHvtqY6Jy8HxRyAoRnnXEe+SlhK77tidytTG9
fukXt2oqSI1S3bRCGrepr/0ii+Qv9s61e6EzUTEMK48lN7+i6ovc7FeRdH/1yte70sXT0hMmPyST
V7dD82BrdfW2A8W62pjFPJajjXdrUnT9PW7T2cFBILR70wO/tvNyPYgScNVFQlY5/AhpQxj4Z+DI
H+vEutrz9HxtNxpdlQzrWn3dhjo7jsIMfmFX9FfP/GrT25VdKlyuGbfjjBBZ3Ruf9tV2T33HXAvB
yy4jnieDwVjP3oy3nSXW1YZvGBNccqTLBNo6hJrFxPFevfWTmz+fJjN1eoe8FGmcl41hpeAWLr7s
3/i4rzZ93lQpLTMXjx9UHFZ+EQECDW986FfbfqsJN87GrUq8rAC6d6gwV/hgb/vo1y25a0rJpJ9X
78R5lC9t949guT/W97U/Isl5jdi0tUogoN/WaSUg6XT/rocpT//cyOgvVvfvtmc/3Dr4WOZ6sNki
gZV1ZIZff85bx/r0tk1/tTF7zO6hYloiEUzdPw2uDnMvGIfmjWfK1c7car3oC9sVSToWu21p7cNq
aOoXONlfPZir/Vm1q0Qdw4Mxq6qNU6eB10lOyNvun+tEJ2HYOorXGv3w0OFRhIBp/va2Z361f2Bv
Ca3KfUTdHQx/1X0CSFzetn3Mq+1jgFyQRNKLhCmDHYKiHmqG4/GbPvh1gPt00VIMkJSZM2en2nKw
wBLl49te++renP28qU2HDy54Wd1q3o11/fC2l766NRuFR4ePqTrUock7TpCp9UH9s3TpP3b+tYdi
Wa25TXgT5Oic7BkHxfobP/XV1lHE5w01d07yf6k7j+W4tWRdv8ud4wS8GdwJgEI5Fks0kihOELLw
3uPpzwd2n9MiZBgbEXdwu3v3psSqBWAhM5fL/D9ynZxQJsDqRixtM5MX3b+fYkqD1MMk6iFmUgmq
04QglnRrer+tv1dDW+oLlL13WbzTYzR/qTljw+8TiTRFuW32hj7cq3m4YRRtGbZpvCMryTGFj2Gt
bItXLweTP/XLZHDKhUhwvCuE6dSSL2tzOPC4rVtWrokqUNz1xhzuOGn/QqnBjc++67ZgJa62mgvR
6JCZo2qrR5bnPhbH96oWyG+QOJZ4+p+zkv818TU11M/h5SkWwJNACi85adU3lL8320bONcnEkqnM
Rs8gZDX4nbIxM9+2oForVzZKiHJwQLv+IDqiBTa5S7aZ3/qshNpjlpQc95AnuKOSBy2ijZMfcXkD
P5mfHKgSOh5puEOCDzWCPP/EgvafAd3/8xpXbumXCbfdkhUbtUm+47jFsous3jZJWaOPc4F9qkii
8TL6ZIWUMYfitinbWhAa9lkcB4oaYn1UONalZLFdIBUbbXvllGIsauWAJMbOJ2MNB7qT20LeFGRh
1L5+m209BEIn4JRj8JlBObH9DtWHLcEEperXbadmJCFIvVhKKqPhF7QfkPQwN/nOLwrYQx9RexXQ
uNFSiant5WLbOvCXlKBOA/4+T5jJELcO2qCD3elJvCkIwsZ83ScSG5PUBtDfmYm8C9QAxAAtYdhk
h5q18s04JreTmuuQ07w+s5H3iJ0Ske5Nc1nNWjmn1pO5MlInsivE4TZFVwb1DH2jrayGy9iv/V4O
CYVUQasUuKm7ZG7egoT+fnBAiPh1p6sBGepVqIc7vZI5NCcT1ZGyKtzknhjE69ZJYO4CceLWTaRi
UPjVy6dN/mOufJMjnbkNAiPcKYg+UWhs9YhUmubG1lfeiZxqGSdhQVRBWyBMfepxNk2TOVF63SFo
DCHtivoZ5XyxO9WHFOHubT2yWgnWk28NSNfhPQK6E6HyZezYwdrW9sozKetBrmYZ15KhllwIVxzK
jtkbOVR/sEBz5ZhlZZKUXjS4TmeNNrVULjrQG2O4ufLLsEn1DAAsjbc30bTP+k3THnAYr9+jIXMy
089duGuLCWZVeiEFZVtfrxxSrM15NK2WO0aqA93CTQO8Zq48MVeHrgmbmtmDOR51qT0r/j+To/+f
iYlmrHzRqtrcDEMkVJRZJ83lokzRG3TrP5jGGqeVToo4jJwL76owju9DpXlPRvRbgLo/Nb5yxTGr
0aEdeYUFJXy1eSkrf1v4WLPnRup921plIFOnx6BDHGab0S35xz9PL6VUFajjwQ2B4HylaM2eZ2Xb
1FVba2y3lh60bYbZjaXf7f1kqhyEv94CK/2pr1dumAVp0ojjYtSFUO/gOi1CTsK2ecMa+qBkhjIV
VU7jQV5SiVVKN6E2UyO4ySGNlUOmll73sUXzHZXUdh8igxqQALCt8ZVbIpsnku/C/FVDM/njTN6G
7ilGR+3WpvaXXPafTSYQxUSIg5K5QxrfJdJox+Z02Nb0apCk3jlM+wb/yTLpEKbUzUaL4te2xlfO
WVR6b9Skre2KbG+o03Uay23DzZrZMcXoPSAGQrTKzUOSz9UeifV40/7DLyiDJEviRleIsmAoyskz
AtTjbCPuxo3GuCbt1mI2sUrjApSAzeck7b7Flazeb+v0lZd2lKgrMmlrO1V6RKHARuzb3dbyarjs
SNMaoAYx+SYnJVT8Bm3UTNxoKysHNSo4seNI4+lQHMLoMgvRtln9OheYJLmWrUzCVmKCE6KQ2tPD
ydjWJ9rKNY1plmQqfIxdTx7gDSoE+U3Fec+2acQarYnYUJBkpJp7UVwHbt2r+XECgbKx9ZV7JrkU
MxS1uhf0Zba3akqDffR8t3W7tprKGkbZjlIbEQn9AXoUTINdqJNXvskW1+UXiWDO8Odr3UusBjnS
YJa8kWX+toBOtc+rgCv6mWBRnKZ7ZldmtxAkkCWe4nbjva88NAfGOfl+sGS2QXUgEzFFHlR6y9yX
/v11o5CM19f3njPQ5ciu6R7ZkvFXg4S2d3GDLEVRVbEnlZG+LQRrK4dFBBIgs2honuHX0pnRG8GK
KPA3+tVqSC0mMI3DVPAUlp7fVWqloP9svUWaWt7jb/ponROEsqRRjXOJLEo3dnfAiMZDCkL03Sbb
XOcERSBXKCDLUZHtTAgnqIM8ZWrXbev3dV5Qnc3hmHSp7uWTHB+EJFTe9WiC3W2797XXZpnVyi3W
UyRyYedIlF0GWRO2TWTWhW+otigVSlGLbXYm3AW9mi9iqwkbb37tto1PmY5A8+RFU7kqmJKbIRG8
bYRaY6INaTJNHZKIhxDDHamx2U0JfHLbyu6XFCGFncMYFQEPsZbopDTaePBFfeOEY50hpIlSZuUB
8UxTx+pRK3L5B4m0/wwR+r9Lx3VOf9SjETkGdMzYdpnri0Zx6Jj1bbOZdZaQJTYK2fJEy8ycWm8c
Ct2uwettG6WWNM6fp9bUPydZOPiaF3RduEedTEUXR0yOm7xpnSqkkq8Xk1dMnIkT2Wt6ykgWJMg2
g1zn80QDG/JdKHDvCEK6rThk507XtiWtUbTxumf0BNxRbGTYjNbLB6ZjJkUhU7Jtjr0Aq37u93Gu
9MbsxEVpu+muoRYEiOhIb9Ho/hDf13k9mUqO+lgMulcP+X0laOqpy1V925JJWQ2wXZLkpTz0uie2
xbekKa2j0sbFxsZXo2qQmVSgo73ndSlCiYGSdPsQQdGNFrMaVZWuiuZEH3VvysXwuVJTZR8bZbTp
SO6XUptEjWslzcjYl2D97DNfRTBtUqha2uRM6/SeHPJBGasNQ1O1VNOYymSnxphtc9V1go+P+EIq
5ZbmyXEmOlk+6Q6kQn9bmFmXKvc+CutIhWqemmTCg0+iqYt4LwzxbV2z8lXT6NSxVzDJmqPtc5yD
4xCzsd82G5ZXvirDLMjGBG+qIhnlrCyJPAFWyxsWv9zjb+Zi6xQfc6mXziADe13YNPbYLJxUbewB
jlSmu617Vh47GmE2+yWhTJXk6amUxPoOQRAEqf/e/J+eYOWzkUpRrdXxBLVV5LcwQ3KHTSyMv6IO
/o1r/CGirVOKwlI3MRpd8xSgRkcrFIInhvHh69+f4A+tr3OKcuS4Jf6HUobZRYdSiqC7tBTAbGt9
PcYacSQLvap5M6VU+7FWM8/qdX/bSCKtVrEyRegSw54GRisyWAT6xp68gHTb2dc6syjVko4FJqYT
qoKOWKEc7Ujmlrd51guK+KdUAy0UhapVZ82bdCRkwToDyknQrd3W78vb/rl10Qz1ZmYFLlA6Bz0B
NNmslfO2yfZLUe9PrUOfMQwjQkV30oiVZBSaB8NEBGHbva9cVmr9IQpiZn0iUJlvY9no5wFo0OO2
1lce22qJ30sls76WyuudLAzWoW4jY9uM9aXM96ee6cWKwCcw247bHq1pITbq72VQyNsyALV1ntFo
6PWgTbTfoF6qglE3jL3fq8LGWLNONRrR+8xzoNwe6RjtR1NsoptFovCNeL/45W/i/TrXiExXWBmL
VTZIGgdAKPrZsSzkUDO0qF0/aZD54qgy2OYE6xSknhOKGCF/w1M4DnYbtS5vC3QAty3111lILNpA
Sfhs0IFIr5BmQwYVtTJ1t8lM15lIAJ+ga5dMkicSEt4zqtdoqczqw7bWlVV4wGAmdWQ+1YhDf+ZU
sfVmFJu3TQbXuUimJdXJGGi6p5MhIzk5nN7KIQYp/rZztHVKksShexoQerwqk+cPnemrP2rL3LiH
I65myshDhWUv0zop9gi/yeVTpKXTpgERdb/XPZ/kytD3mkHj/Tg+9LkqXdUGQMqW96qus5IyuaDq
WDB5r7LUvusFKDJGlhabhlvVWg23SIcIoZA3hme1Q+EfASkUDy1e8Fbl/jI4/RoekFR53TcCpWOl
uIhoaHVn2T7VdZ4wMZna1jeriXJcqR38G6TQ0HZVbrM0E2+sJjGetrW+GnDVREMKPDQtz2yo1hM6
w3of1OWwaeNPXWcnNSL1llKnoOWPgvOxnEIUZsux3xTJ0GZ53e+5X8ydKeiW588JmVWakn0FhlB8
39YzqwF3oujAQleOfteF6QPZZi36p2SG3m9rfuWtuhGC1DQmyxMSuWpdbU5BaiIKNW3anVPXiUra
ougZQr7xJs57LkXSWrYo1sqmMK+ulTc0pRtaGY6ol2ro+lbi4LsFUufbgs06WamINKtQKUr2lKRF
KTQThUPZpv9MO+h/9v4oen5tNlGjIP1gMplnrzs9D22onMh8abe5q7ly1yylZi1Iat8LSybeuqii
NJx3cDc2mc06aSkKfQshjd73UDYWUYwQ4s9ZnrVftrW+Gl9rpZmCTkaoHL2mDEJYLHtaz+HmttZX
/mqMVuGzG4IMupVJ73UFSd8SKdVv21pf+etcJorIzFvw/Gwad50p+dCaBGnja125a5ajdNpYqe8F
TZo6Qo1+mKEkytdN977OZJrGIhmXEzwvVVL5AtOpemT9nzrbWjdfG/wshlmrd5Pg9VU/PsljkJx8
Q5w37UIhNPi6ddWIkQzpSt/L51n2hjK+Rbay2G+79ZWvQnaXYLoNvmdoYEEkQG/2OAO23db6ylf9
Xs9LIekXYg4ELQoK4IvI9bbMJrQNXneM7CtdoM2a4LV5GszHCr7Jg+Lr5cYYbKycNchajmEDRfAk
I1HIJhmGUnLkLhK3OdQ6vSk2FFOqVO4/E1vdZX8a5Q41irY51Dq7KdG6fGxCQk031dU5nKb4CD79
rRXb0se/mZIZK3dlnEbY3dSIwtCojjKVyR8SHXrfG1F4Mb/fNL/ObipLloFTMQieGXYoT/ndKO4p
oeu8pAqTyEYqxZi3Oe9azIv8ODPNUHf1psYYIGwoKMPMRbOx9ZXzRijYoxU4E5KVUTmJaqACIp7S
bdO/dcpTRKKWJUCN2TeDNqgnFPb09wW7LrW3yX/1lf+GVjG18EKrfdtJvsd50HCIy2ZjdFinPLWC
rBYAupt9kQSp2019kqMDFc0/tt38yn3VTgsjier2vWGN4BBCgC+wZ+NtoW0RdPl5Iy0OJ0GP5EzY
qx2zy7BIh32FCvtGs1mNtX5oCb6gaP5em3JY1nIs6N/Vvg427Ub9IoUoUtEQNkkbHBJZEHO3zDlz
h3CERP+mrl9nQPVgwAvfRIPDKFURRF8PWxKS3jarXGdAAdYwIlWU6wP6oqrglmlQolQSZttqo9W1
zGHSgahJOrM6DIkGvt7kreaIoWwznHUOFIQZXfSTAL5CjKQIyQnlXaK0w6a9aXWdAwU3bMAuR+EQ
VeXHaYAcmhpD82nba10NuDWooSGLsvLYK2r6rElx+a1s87cyQ1Fd/n3U11Yem3SiPKlyVx7DqVWC
s8ZWFFr4RqsoWo5qeQinkeohCCzn0kRa7JIMg2DuZUmZ/O+DjIAhp395XMNXEZui7GI7FOAwA1s2
8j53oEEqhmfoQhh/qXIULG1DFscJPNiUAX4O0W9D002ZfUuEDNEryRdhVEqKzmZVH6RPxvKVkQlk
VM33+jjV6Slf4NkXIzTi/KQFZhl8Qve9gidVFs1YP4hVBanRSaa2XcgBuHPwRZAHKUDjVASR900Y
hHaYHRT1xuC9P4UD4DBVFQAVIs1Xg8CU1Hi8yVoAMDWafr3ZupKaJf592aNScSk4FJ4FNyYhNb43
ELaXUO8bA3E03KmctPpDWtdpuKegIS+PltmZELvbPusLtxfTNOP5Q+TvjnOtWlQkiAJ0UblMlfwW
zUyk85yhVvX2Bt6ZXGXOMIym+S1TS6m6NUKtEp8gF/ay6PZSBo3URoQfioWTy2GAlqHSmsnUIYcX
VlUF1NNUpS9zKsJrRR+/iuFiTsroi+i1a6NsFLYlM1UEMm0gQb0L/MEvbuMpb7W7Gk4XLZiaIAAc
Tzlg1qYdEB1Fu8ZNnsS3ljz3KQwhRQSfYkCHm7y2QX73PJtmlN4hEQxy3mWAL+Z9qE1ac2k6Ja0Q
XRRIYniAPSi3qdOi8h2AMx3noDyEoqQJnzKlnZrcRpeSs0K7H7MFgA4wUxsGG97q0HQuyZJKPQAm
yCZFOU9x2rOtJkpTC7UK4LkW75GsSoMGST3E4ThpyU0fzLOkWGr5uVeaYXjfRbAN31e+VvU1sgOI
6YA/1eURtQRBCZTwCEJM05+jRk7jH61oCHPskaU+yzlSfgJfgyrZx+MhHnkqaT9lfpMKNkr4yCHa
Um5wXbBb5ODhE0PRmT/EJghh4kRx5VP4WJldLjwJc9tpsVOHszJ/hUE9Cd9U0UgzlxIN6K9hXFrZ
TimHaszP+ZQsDmZUbVjtKFYvLDTz86K3xrMaFdCJvFg09DbfCVbYwljSOiX0c9cwo2z4LrPf0N2b
WTBFjdsuEnsoMAaf9LEujF3ctGZli7WImdeVEbVfpYY++lbFjVwGdF4mTadczKE2UiHfyPdAKgwK
wVk3pneZrkenQUrEd0i5p+q3ArhB4qAfNn+V5yZ2FXUy0BSSFlRrIg3BtwBpUHUfGNBAIR0qI/KS
lzEt2uRmAB2ggnMbVd9KAvAtGBVckTm05OiEnM0Ypc6QWHX4sSE6qMWujkcjCl3Z14filAI67SuX
PMsgrlw1nfThoy6IzfxdUPygft/0RmnFdhuyQy3anaK28x1AIIZjFwaTKOVOOhhJPNtED2Gs7ELk
DLP0epIEanjVYo981p46Sr3x7QxJo+oHlWflNNgBkixtSX46yiwm4oOTKfe20cVx9SnKW1IjvJHJ
XIpyoNwncN+a3OoCy54FtRLp9gn9rCeNUGrd13I+6J/AvbXBglXKapV7G/pB/QFGWynuoOWY1dNY
ZIUEP2xUy+7WF2N5/DwEfZyiAzeJZbRPfQ0UxK6BndulttiFWQT/ONBBGhESayWRbxK0OnvJTtW8
Unq3Nn2FJIVUFhrpaewgcoIBhLjxoxNYhAErKgBVpZ6RcIrgIfbZ1LeoY3YQ4ZJo7AGXcMpiPITI
PohfeK3d4NvmaGoR7Feqjax3sKllg1SugoQXvoNY+fAlVooakrIRj6JUg6TKR7nbJxANgYeqJIMG
Vz1UhMqVW20Wj2KktowXht6bsIiqwf82JWkf3iUG1Jtr4Vfg2+kbQM4QG7OF3GpqZvCegb6L4a6Z
cN3guTVZPhxNiG5ou+qWOQC+5PCJA3awEn0uD47RAfZ4Dye7aA9iLTfDU5MOai5AeI3CZNil7Vi1
g1MOo9jfdRVx5gI+I12UecRIAihEspobpLMF3q0pCukOoGzb2Xk6RXJsl+owph8Fv9Pn4o65fcwR
Rk1BcFyeJ7RPjd2AhvJ45hgRcLAty3DX9uSCS+oEZtfKUiQp4fpkX7R0VCMN1lA4sDkZVjA6YrsL
kQRKkH4IwmtsQC+3Udwf1c8om6V55s593EqDTWFPXep2LtPGxwZxzuaaJUlc5HtIG2Fi7nOpr01x
JwWSEJ3lIheb6TqYfQIFBoV9OZgvyjzzruwKMdma7IR2En3RLWQhi0F667zc3KnKZXFtt7MilHcl
OD4DPdBpnuRqNw9s8uV2W2tBbl7Tagg++UIBl90e61Yev0s8+wzXVZHj/ps6DBYZbyP87AEK9Ji3
BxUxeAVcq+gPFajfdjDvxU4iLzawmqi3bI6FWNL/iPy5nyqv5FjKek8EFGX4dGoEyESU9a7T97Ve
9gmw2DyUpy9TNZf12ZeTSTzFlTEPj3k6N/1FFVHcF522SiJNYW4xEwQSu8Qf5/D9ODQYiCM3ELTg
G2sKoA/If3I2fiCqx8JzZ0wGXKhYzkiCCGJLCb/H0FXrR2gzShHs1UIJTeDBqV5ZN5pYmYHudF2R
9I0TSWURHaYcVo3lwmvKkWSv4OAk98j9gopgrlKp+TtFH/QOsV1UZu9mEWhKgCBKpCFXLLcw8Rqn
pk9AIEuBQgoJU9JucJIwKKhZMiRZSR8smDtgfQst1NpnYRz64HsZQ3AtyTVGuHeye476409WUiJD
AwMsjZWPUm/F4EWrumABY/tmNwuFPYaISEm7ZoYaiL9NTAg1u0/VKT5rel/r95z8KtYDlLAqbXkT
slSxCatXUc72l6nTnj4HSQnt0dfiD+ncaflXQ45KebJVgPJSZacWSOevEew/yKdypKfRx2AK/Dqg
kFhg7oO0rOZXx6wJY/jZqkLK+gcoYRHivFEvhgIdqLctpuVPkRHstYh5rOxEaILGxMFegzzVWwjM
dMygapbFMMvT0j+GYdfQg8k0SjfMOVTzg5ISG71ylhYdsXxGf+5pKpQk8cZKHurEVptM8T9ls1U0
d9yKRpDzuxTazSAWjfxOz1Rz0Z0ddck2sryDsWUlrZQ6McJ+/n3hq2N9lMY0lb1Z5f0w4QYW9L41
wrGmnrIJpk/+DFqts6dQUCA8SsC+1Isw4xPgnWMy2yAWWlB/bCDtWhoRYlOkk2E/wTDVGDX6PMuZ
kqiRmuwUqwmM702CPFppl6Jm8fks5vT2oGWMUh/nyTeM0wi3Q3uCoTaqX+eCDrtDYljrr2GRKf3t
SNZMeCLPyqCWj+XzYJ7avKnbH1I55wBpRcvQOrvvpLCAc6LE3VNSounxoJDxGN73g6B0hV1QBT19
SGAoV+Ck+3CQbFPUjeJDLXJm+m3OTCmXdkrdj/pgyxwSDo+JVclM6PtgKLXjBEY1Mg6L8i5VrVEo
dBmQt7LTvktdEmuMr0mQfRgIIvQPO3IRjEFxFHzeAv5cVedxztL5s0hm4B1c70i7MTqhpna67cR3
Y9FR0aJEdWS9j6Io7jOHFVKtXYTESpJPMtJV8TVhE0L26hg//Bw0FT7pJJpvaZR8SdBXZ6QYvvd+
IVh3E/IDI4unQRC1Qy6iAnTkENpsH4tUbsMvk1WbPD6hPpmuxpCnGd6WTm1+CYQp7mw5CIf8Ce6U
z5sudUM8xmVQVje1GI7KvodAlTxqWhlmCUjOSc4OaakWFVGgUT50pHqV187v+2TfwDkXqoVdZQqP
IYRq+XuStkO3Z+SDFpiTnSfZDIsGVinFcuOKbR+LN7Xa+daHvMwRGR9rUytdCUhi+X7MVfYj6eUZ
J2hmpLMLlCyYkt0JzdCy9dwlfh7veq0SErc3+9a4F4JmlE91H6jGIZ6HNKXOYbTSWyWdkzmws5no
8wjacNScIq+7gtEm8Bt71uOmO4viEOr3CPnBlXL83EjbYGdKZqfesw2nNV489gmRcFCRcvPU2YDk
VjaZCRC7bPqgcal/VocdKhBhfsPk0+hPhhlI+g6SVgCHUMFDT9mc6/5OU+eYxa4RSdWN3yfionTa
FYC+okwdUhJNpCFpj+LUdqYrs95Nb3syu5pjF86csephWmSBDXYq1Q9gVCP9doQLqNxkIkcirqYL
ccnNUltm2IDWZxjktZ4UX4Gzmc1TZ0iVdJVSZtEs4Kh/0q9B2ST1DmgbFCx9kPXyCCW4JeZDqBOP
kVpL4w3lqchb2DocLOs5KaJy9Mxo7vPHBC9GMyKepWpfKyxqrnrfqCVTKzM2IHn3MvTIC5Qieb7t
dToavEMnjMBzjtoUqMLskisYASfzhcmwkPSUdUF5Y+v5Dzvb61opLaskoYjV4DgyIiINkxXAjzPO
jZ+3baKstvYq2cev+jo8pqNYnTleF2+TvNhWXaBqq315OWs7g3nSfNQKGIpDI1WPk1n6d5vufV0j
ZWgzUEmlGI6VDjJdDtP44zJjfuOgC1Hr3+76r4ukgL7VAbSE5JgWaVjGOxUMbmxLau0fNRKdqItD
zTFwW10WMPspI0lSRLD7ewRCeFlyBdpthCG1bJgy9ZpHRy2tGtSTWk8KA5FJbaOrwkngA02pBv4e
oXYIcbAgZQMsMgm0F8Ey8uYU9JEUYtYNZ2LiPKVvycT+4Vjjlzotg7liEI/D0TJYPnh9bbUjLFlp
+FGIrZRAnc+qt86C/2DH6nIPP2UcjlWiCH0zNcceUT3hlEaFhUC9Ekli4VrFzDaMrfmzqrnsJgiQ
B0OySyab/DtJ0NgSm8XJZsQY4KFrrVB7Y+o39cHKwF4BpPSFBWpAOV63U9tEsDo2BOo0b24jOdWZ
kIEy6MwWKeamKesr2YhDd4v+QMjioQnN6rQkrxWCa/gJq+pdFAtdou3SsYgNV67DaSBiEnfkfaIH
8rjvg1oaHkE8c7Zhp3qfhSOIZh+1L1azrN+nPXxmiY2Yag6a0BH9qSpceUDSaJcFwtj0QBZGq7/N
AGUiNpYMzZD/G431/0IU//9b+t5S1vJneXy7/jxHKWr4uFw7Hb/93/+zfP7f2viy+V+L8D1pH/IL
Ru8/7D0BbXzLVERZRc9qIactv8qLetG/1/5L1kHPWGCUUL+XFJ2d4v+RxleU/4JEBIaI7SRLVGWy
zv6BNP7rkLPAfBTT4vqqISuSydr6tbcoLP1jOSBYVFqbKs4ctm2976gQgsQ8k3jzxtHFr5dTOc8F
KWbKigonanUsCBYFybFWHW0paSbtG0A+aU7t3Id19BCoVj1//elNvPvXiemf9fmXx2MoWDJ6DAkM
ASSv148nRnlSTynzqYrl0n0L8OuxivR4/8ZVXrJP/3Neqxmg9UTYV1DIec26tE6K4q8kAOrS3fl4
9a4H1/Ns2ztfPM91vYvDny8u/++6jn3gJ/dy9o72kc9cLvzx5Lr87uCe+N3uxI982jser+6B3174
8pGPOs6R1ry9TZM0v3zEK/j+8dG7Ho+0ZtOcvVt+7R0955mPcAu2s/wNP/OHnW07B+fAdfksLb7b
X2n+7Lo09czfHHf2bkeLT+7FPh4f7ePO4Tu73c7ZOY6zfGzH92lvacy54YcLT8Id3S+X3x+c04fd
afno7nS0d86t4/IzT33YFzy8w915u8ON43jHi7fcKPe255v3zmdaPfDR0+3D4fCwdBMdtXzbvVwy
e7nsg8Nf//2VvRTq/OWNrYW8MjCIqsha6uJdn4/eIw+1cz47h5Pz8MaVXsoi/nallYu1IMlZWEh3
nnv39OUa2Fd79+nWEe03rqMsU5y/XWd1MkuxUBkay3V4RU/H+3ves0N/80oO54t7dpw3DlFftEf/
dsHVsZUvtVU8c8GL+/yItfCe/v6OiHNvPNIyxv80lrP/zcFIxBXuzt55MWjv8vJf/n199vCNK7Z6
eb54z5drZeM4l+dn3qV9s8ewjvf7436/3+33N/YtFnZyzgfM+dPNzYs53tjO7YH3jefhFq5zd3Zs
/HN3unPOZ6zvdHhjRvKmISzB8aenUcW+92P6y31yH/Ebeuwtq3455vzbK1lNfmYiea5xibP3fA12
uCXufl0cnm675z9He89Pi1cHNk94+nEoncH+4R4Ohx+Dfffwlom8nBn/7YZWAThrTSXOFqO8Hh+v
nvPjcIxsb+8tnX7xiHHuw2UJk7wYXsTOJgY6yx/dq/foPh7vL+5TQWzb20/nLx4N8CjXvb1/fNfT
fS5R5P64x+52J+y8tHe3n2P79MCrdl3Zdu8wiGfLfr+7JZJ4rn1wd3fEodNlCTB/N9WXI9q/Pecq
FS4pODOVsFQC9sV+Iub2Nvf9ae/Z9/+KzDweQfTsuGePm9gRd/9+B8pLYdrfboHpxM/mNRvTMA1L
Vz8R3i/0wmWJa5cH9+o65+ORaH14xlsI1kR8Ron9blcRXj2PPmfoOSyjgPvEy/Ge3eP1SsDGbq73
gW1/xIo83gmjxO6EFz4RtU/2Syw77o/X4/33Y2B/v18a/fJ4fY7sx9n+EthHgh1x6HrPH79/xxqJ
+Qfn9oEYy7/vDg+7h8MPh5B/eLAfGUVG2w7sPa768eb29uPt6bB7fzwdvj3cMVI4dwwHzm734Nqf
bxiIDndn9wEXtXen0w0x+3Sg61169aWbefIfdDeDK1dkbDlcGJcvZ+ewu8XVXz744YG/XoLCg3u+
e3rCEJ1vb7yRv0cveV03YQbsN6GQzY15Z/7BdvcXlyEP17cd9/SvQc55ww6kl4qJP9uBvC4GSXrD
6AsuyzXpjssV/8fVlqsuo3dl40X2l2WsJ1ziF0ebDxIdvPtlVOZF8+L56Z4vHO1bJgQePy3fPR73
t/z78ECnuSfn7mViQ7d6y6iJR93iuceX6cLhdMIhF1P3Fhu8eks4De0DJkT3E609l3h8Xl6je3i6
MNNxD1eX7/z9BSyjw386QgfbSMGHLBmgpXUUHdd5kj2nDwGEwsY2Kbl0JyhzjsG54+7vV3n9lv99
FYXpH8xOS5bXpdiF35QcMmaNzf6atfM7VpF1PqbPAXX9bpRY/4wQs1wPiQqRnXFRUiFrrbMzU4nN
NGtE4bmrLdWLzGH0kC37Zzrs/7qKAoELwDBLF21d9yZ1JjJLol9D+w3lj0ATsmNbjvMbxvpr32mi
YmkAMMH6gsBchay6SsWwNazaHhM1NJzQYq8Xsp/GjnVhTQWCXdUQPv79fb1egrw8GQhXTTaBG2tM
11fTJCtXqjLrpxoRoFw+UXSquZwixBcRgZo3Hu83l2LlxzrH0pRlibAaFOSSE8OsS7hU2pd2b+Wz
x6Fw6YA2fwu/+5ueXIjQKie5aLCyMnwd/LWSw28hz2q7j5r42EWxftBZvt1wzGVdB9IM3pjM/Opb
2s/XW+fBTm0xF2xI1Ni6NJeHjH1NYRf3evTGdX7XhZoMclaTeTyOhV8/l48s7hQVWmVbaRX2ThwD
oXXbqJuflaB/a8/od51IqZlpiazLOaJefv/TBM2qat1s0Du3g0kGLNrX8m0IPsnRVHNy9dFU3whQ
v304UzF04MKmRuLF6+v17OX/N2fntSM3zrXrKxJAZfFUUlV1cOh2aIcTwWEsKud49fuR/33gVhW6
0N8AHhjwjNmkyMXFtd7g9YnR+Ho+WL4tMWdM6NVjnkn9/dW7HvNXdDo5zTrv1d0jhNqWnVFIbvyl
FXnYU61616UrMIcibq8csC2lex52mco/Q+0O2Li6ddvpzMpeq/dK0e4DE9U8ubppvZmsrHmiA/v1
5dld2o3/Dnm2kOjlTRl9StpxRUDd1D4mXX/Nr/fiKPpmfcxDn27cbi92slbtCkrNrxM5PGRVnQaa
V5qv4lX9jU9cWBAhcZoFg7nXtY3syGqUdBu/6ooEy1N0v5Kxuqbxc2mrO55pUZTSJVbHu3p5C5S0
TRqHxlQrTeQ9ZJ7doSwc/SnAOX+SxKv+fzjJLB3hUPI3WntlpFRTIBYcEydT6mWnfBy+2Zb102gM
9/D6zeAKgLDbzeUZe1FZnEFVPNmEDBVpLvXUzgOOpPdXDtTu9bt9J4o60vJM6TjbRbKLuErzwPfY
gPcaE3vcDh5rYK8YmNR1HZ/KqaI96NinKMqyk2n3k+Y3Yzn4q4AW/dr5OhwdB/NNW99+rG3b/hu1
koKH5cgto2ME4TyWnaW6W2UORXflC/6VMXh+shnJIdcxTM+29X3qMXexp/S5an1avNkdQv/jsWlq
81M1tm9jR5vvWpBhhzardFCfQxHMS6YCvkGv9/IWnlBzhU99HmkklysnUlJFhYa5O/bTQn6kjYDF
agEuxZ9iWTi+0U+xGYIuMmrshkbnA2jpq/yM81DAyIbH7Y6A3Xl6tBjmXAw6N8VsVl7QVmkWrOZQ
XvmyF+f3zyi7LbaMtVzjDaXGs24Mhzg3KPVHyAmBO13ktyqdmvC1e4l58YE3y1YXS9dd7PZoeJtk
lI1vLl4LNmK2gtHqr6munwcfRnFgzYEt0fE/392zZWUgbeD2jZ/F0vlQeUtzMLMuPYkhT3/2Sbse
X57VpXVky2J+zljiLCJEWUUB3+ZGctLJqsOx8bR7IxJx4HlF99YYF9mHc0wWeCVGXBt3N09niOcG
LWTgM0XZ3qdTVd3WQI/fpoAb7oElW4HI0mv+fZcWd8s2BbhvVK/3WmVz7RVNjmAn6EDd/trjHzQc
DDnCQCulqH2YUf2Xl5f3PI2RW0PCNHkCcS3uc8HBjKfS7oARj1FXhk7TtKFZpKOvlfPr005SaTIY
7OuFcOw9wSKz1hXxJav2lwmPT5GtA0J79uuTaWlbOgkJiaAh7H0LsVxAD1rGgne4W08nM7MKP0vd
R9Fk4Pra19lbbhH7+WjbLvonfk+x4XSzQ7QSSR7pgZm4mQNYtV2XKxfjlp88D9+bnbIrtt1h0Vba
5S+c4yRXaq0BXInuTnlacarKQtwhOeUdatCdn+ZJ0zK/oIw0vf4oSLF1q8iveZDv1f/cbPbWrOf2
h5ggP+YgRt8DZR2CGou12woRQwCaKrqm5nthZ0rqLtwQhuuwb3YXBG8Spzd1sIq2Hg1+bYL3B/yk
/ARY0+tjtfz7VtbJfiXX4/Ov6NW0nC2AQL6mqvHegQ5xC5LevkuQF7jpI5feO0bvw5VlvfBJKXFQ
dyARwf1zL0fWqsZY6TkTrwfHiP08SbxwSqruzq5MOs9WBcjSkwDxk/GawtfZFbhduo5lgpyCaWLs
2UJ2BPy6aYgocerVviFK80gtZrzC8Dv7goxC9UFubzLSrX1saaMZpsHKnl2TXge8PWDOzBM3vzFr
t3wVd4iDuI1FasoL0KWWs9cqysDkJXbd134mS5xPm0Fbv4+akV8zcLw4J8sEruhRGXD2QSxZ0xr0
81CzK7Ml7OrFuhf5UNw289BdufkuDQXzwhKms120e/53P0VlVRUFQzXgJSl7QBtbl2+qEq8Tzf+/
xSMX4gjotpBgrZ/v/wbxgGQ26tpvLZEg5k6uqyaoEi9fNRc23XbNcDWyeMLdk3uBSyoYOgkhzF5n
H1FYwHlV4V05y5dGYWuzBxjDM/ZNcU6R7sV5VPkToqUBrXrt5zggGnvl8F74OCYVStsi/tM/3tO+
XANbIg3crY9RfXTss74LMnPcoGTySh/m4oT+GWn783+umLJammgFnQrydXzy3NI8lEZUX9lrZ4mH
JOHgNUnsI+bS3n8+iA46H2YEcGTdqcSbJp2bj4UJulLGQPiAmM7XbFb/2io+u9C2EXUwcaZl6Yy6
y4/XJk/zqWFEK5YsYINK31yW4BGhbuW+siN1U85jfFjQ/TiVojH+IIl8h+d4DS15yj68fm/yIR0b
dIMAwL2bv4LlpXszuyZz1XfwqxomL874Klb732OGYDb1AYDZVE73wstOM61JV9tgvpPWSAIQQ04f
dkLWzpUzcOlrutKijmNIYsfeuyyyshIYOZuzTMs5SJWJ2uWEJIA93pS9tlwZ7dIG9UBJSM+1HJcj
/nzvYCfhzBD0ah+Dt+g+gz1wWxNBw9d/IVgV0iL/IYfcF7Xd3G3NJSYapl3Rvqmg5hxmqAWv/0Qs
Gw8oouFWyNmO/T+HDVAjwOREbTmqq97lk7QCPbHVa8tEYH8E1QfCBu8aby947K2jBlmHvZ8lZvEW
ZRIjrKPSuxJvz6sc2zBgg2yXPgqvtl3kKCDL2AKyup8OUfJGW6BT6U1+V0229B0xvvMm+0MNH4S9
7kb31LrvHFnXNy9/t7N3FD+EDgeLFgGVFm+fBKyNGGQf5yQBzmjoh35WXflgzbYY39jDBCNlnoDO
37ajNK6VaC8cA14C4LAM0wEXvE/rcB6zxVDIyl+K1MwCJZwlnOrkjYmiQTB0Ef9+ea4XTgIXD8ws
z4TPre9v7MFAxncVRBFLqQQgq9ke3WK9dhLOrx6dT0p1jB1kO3L/FKDeHM8ttrW+oxJ0Bz23ul3K
1QXLLK+pHJyvIEN5Jikibw9D7B9TxEpHwLOCZJDZiRYuVd54vgA38ll2pv1bTQU0qpfXcIv7z+8F
ylSGtVUZCV9numwqa+w5boC+1mUB8lU29lMzTOvPZnDzUNdL4yclkPm+VmZ1A7uwu4JwPt+uuknx
xOCVQxZJVHseAIqyEfE4QasQOU4lueP+zlv3u11SnGpkCffXupZRnm+abUQerHTSqLDuFcS7KUFW
Vm8wKYBnfTKbYbjhqJRXgsHZY0Mi10jtloNgbHfPLsUz0h4EXNVXME+1dg28Mkm+NutSWGFbR9ZD
k41r4meeol7k5nl37Y64sGdt4ZDKkv9ROdpjB9u1drOS1rav5VFztGP45eia6epT1bXmNcvOC4GP
NgnPZNfRqaHwHnj+ERGozqypFxx8p3sgLmafdGix4Wi1uR5anbI/ZiZq+f4cTV1/NKIocn2t65rP
qrWuSgNcWHl6seAzPVLrDTD6/IcxcugGazMR7BvFcR2H/ufkkMuXYpbwvaLsbec96U38Ol+2Ldtg
EWihUzUDq0nH7/m4opC53dTsZAg3eRXA/zDXE4y45JpgxqVvy6ML/KnJU1Lfm2EUZZlGoE4rP+6G
6POIp5V7WHQZ3feJNbinl8PDpcEkJSuqj1Lwa7eavWUYSuuhaK1U1e9qvRreTaWrwa2opk8vD3Uh
+DnbEIJmokujz3y+gHpk2QuczAoamBv9Tnt9+ez17njKyjy/oZmpvrw83oWpUZ8HcWxTDcDbdNfW
wU8vKYalIq5XrhdqiuZli2WpX/H/XLmoLgzl0W7mSmRqVIp3eyNxijruEPv3JWQsOJHzMES0/Erz
Voc7W4YvT+xCTPXIqawtyomt2Ph8IdO5dPJ40EpfL4o0iCB5wIhsaPohft8Zv/ulHcWp4a658nK6
NC6lRoY0/wJJdntl6Cc9N0yXcScIwf48JNY7Y6HJ2JaJ+oyUY/XGG5V2Jbm7tLZQomgNk3zxm+3P
/0khR3e0il6LCXVw8kMk8qVfY7IauG53zYP3wg71iHM2oGwqxgDSnw+1mhPEmamo/Khb1yAfVuO0
wPO+GdooDacy1q4UWS5NjSf11jqhVsxj8fl4zeTGDXagJe1Ny7k1UHQIi9iuPqyoVlzZodsO3KUB
MLlM+gwuUHouyOdDWRgAY+EVQTWMk/yd1VI6SvHePL68My+Owr1rG5DFSaV2o4iizgrHJprAKG8O
TSS8e6Wpa0KnF5fNoRrhUcC1Ddd4PpdO0XZzlppRcnt2A1Do+XJj4f/chAveqM2VEHlpV1Cd2t4x
JBWWt5+UQHllSIhbWt9/HJFqgA02+Q75lO826TW1p0ujUd/b4FOUiHnXPZ9cXXapY9Yc7nZp4rsS
YeRjl8XurZjn+n6d1uHK7C58MiIyVWgpXMbck8Uy10BDYONPT2Nd05NVwhhDiNnRtSziwldjiK0o
Rn3WEnuL7rm2dNUnnON5HN0iLMANhG5WeYmfJFH78eWNeGEVWUTaknTZpaQ1/XwVo1mHoh9D73ek
ssuQH6f5VbYW+ivRpllK1d+65kN0ITpyY1MpJSch5d5f27CRi1nNaLKkYxIFmRaHlgH/uxts7WBB
s/XnWZ/Cl6d5aU1JqrHeNqytzrQtwz+xUUHurwvNIsfs8juDTuIBn5XYzxBQenV9DtzRPyNts/9n
JKcGEgYiqPTroU/GW0J1nx/QgRnrIMlqPuXLE7u0mO7WFN1yE+6U3cSKvsXvBrEFH92j/oQpvfaw
OpEMG5SADhpE3Du3SaIv/8OgzhZWNt0XnkzP59gWctITzyz9bmIRE2Agn4vF+axQJToKpzGPU6es
K2NeeJ4R+MmqwaYCWdizATsPmcHUbEufl5Lux6q8kzXSHEuk0l9w2ovvdiHa0NZEe2tMc3HlVjjP
pbeOECGUjBrO1f7wC6tyZzNPSpT1Z/0RUVrEs1Qb/9CiZniLdnd06KKme6vV3ZWb7zzqbNuVk0Ie
TUFhfx2VkIGTnvqkHxmAhmhnxIfUTI3Hlz/oeRTg1YmlHohX7j7Ss+cfdHTLIUkMRcEmGtT3eMXG
GsWhriqPVjRX3xE8in+8POL5gm7vXEpqrsMdaO/jjkIaV4mWDKLo0TryUZWwH+SwIuLQ0lJBPbG0
fZjXYvSjOoKv+vrR/2bxum25W569m69Wof1ikYaKulZ56GocTH+CBTwFcsoT3U/wJJjCGvOA7IZi
sf7fy+OfhyOTOwSOHi0J06BS+nx8RDQS0mSChDFn5i2/fmQozZwM5XnHV49EiZTKEG2cvwX25yPx
djDkmnNLIr/mlmG5etPiy4x+/tEZ7eWaQ835KTXZRx5xnTyNwLBb2C7VsnTuUQJzjLz5zQUSZlOa
hXoWUYHry+oUF0vzrZ7c+pQupvX08mTPDwujU0oH7CxcnYLYbrKD42RDx+igxtJ7vXYgQael8eoj
uY3i0eSn0wO8dPdc4oR4ILSnTZBDk3fpYr0bvVm7/R+m4hnbqQfpKfeYmg6cnwYijYWc1voBQHq0
0IAW4zUc2IWTT3HboFTpSmCD+3YSvVO7mLCT92MBu1k20BylXsS3YP3mO8/rtVe3ZoEuiK3Z4cIi
PUODdbGBSfn2iTQtNQ/56OXvbOpeUI9n6+HlJby0F0Fdiv8rWIJJf74bCmSUeG8t3PmIOt4KrAsC
iglFaCxTflt3rbhr6LU/2m1af4MDd81c5kKEI41jSak6AYbf44LtPBuBfZB8R3OsIb5ERfHB8nKX
Oubstp8MVJNGOPpJ88lK4qW9MvnzvIAMC/oqzR4q4M4eLVVpa23YlF98fa3ENz5GsklIcRiDQcV5
B8wxyz5A97b/h4DDwGAL+MiEnX3tv0+SrolHHgGL3nSBxk94O3qr+qq7Q3Yld90dd06eBM2juzwA
iOFkds8/cDSqspDWkoRi6uwQGcPupFfjNRPzfVHv/w/jEc8Qyydo7/YRBO5CJKaZhCk9il7mQzii
UXyoRIrImNOJd/QTyzsEBB6iOZqPDd3Oxwix1StfdLedz36MXXCzaoHJgWUkYdK2SG/ZbnsiMZxO
lVuYYSbXQ+WYvc9ppvAGkPHw8mHa3Vh/RwfcB1pFp5JKBef5WrdVUiVolCWhF8fDnd04y0HEw3is
0P68cjlf+qz/DrUtxL8Z9Gq6i12MSThImRx6M0eiZe6u2a/sAt/fCcmtMAyQivqo3P78n1G0UWVI
HqcqjJLWne4wqLCioFvqrL01l1SKj9hvR6/M5rZBQdHT5YNfvnHxd6toLlbT2pWMwylS8dt+1vqw
ZAdfSVYvTA2xNS4PoDP8s0+VB4gikUaBKZTz4mFpihRNdtOjI4cLqeo7+D9uTcR/eYPsAs7fqdG6
3FBajM1j5Pl6VqiRqmSxkrCYRRrRAK6HZA3ctUOnxM9md5ZBj1XEdIqHhm77y4OfbRn6+ex9cBEA
7Ym1uyu5RZnI0qLSCuwGnWbRRkvgAHq9MsouolsOVXRhkEbxAU16wbtRhjyBvFIZehAnSzwGi5lX
79NmlgfNmbVDt3BbF4gsHU1jja8c/rPjx9AezWewcAbtFGsX6mRaIYOcFmaAIInSHwy7HpunpO8N
zfLBt3T9lW7UpfE4F9z55HJA1XdnUK1WbkQaNn1LZo1+Pq1eiORDjkDp2l457heGonYvKeEDbuIc
7qZWw+ZqM+A0iJOM6hA15RrO3MuEtKa98gHPQqhOQgXyhpQbATMup+d7NM2cRkcrk1l1orpHabU+
adFaBIbmxh8Q+639aBrSIC1m882EfvuVj3h2LrfhaY2Q1IHcYac+H97QpCQHVkbAJvVOKA4avuW0
FKYFekyNVYnH154KkwyLZWXzkC/uTSnreM4ipAGjwMgz6ybLUXZrEtVfWdTzWT0bZW+smUlTasjn
RAEdfTeIPacK8hnUna7k4zia9pU4c2k4qrMbMBsSBfN7vog2Kod1gjRNSBATZXqs0StKVKBslLkG
3yutxSjRdc0T6/j61QQ4RBmA1J/C9/5IUGoEv29ogelVzjeMFb42VfdKOBAfCaUTrgYqOnSAOPHP
Z5dXS64cT1jBwnS+SVGVIV2M+kp/4jxcQn4QDhU4XjLk4rs1TJEUiKdUpqFh0PWxvaQ6aMDXbl+7
YIyy1YhoiVKY2pemusqcVO1paVhbBpkZdNdjIrpr++E8fDiERJ640DPpuO5dFyjVR4vZeGmojUvl
KyW43lCIvUEwe76ybGdX3IZoIqcyebxAFNpfcW21MWyTJAsbaGK/1mwoEO2LmyMqgnPYeZV2F1NE
vbLfL80PJIRJ/5a6IrTX5zuixcoasW1WMU1UQ8sYGHtnlK4/a2g4vfzBLg3FieJ+4b1CXWS3Lexc
jQm0Lzo4q9m/r5GKDKrR079ZAAxffZg25h4YJCrqW1lvt8/F2iRLPXgZlktrdZJd/qc1nWvQg/Pv
xX6gHQHmf7s29/G2M3VUg2C1sgHd5fNQrWuIgLN6A+e1eytUnb8tV6291hs7P1zPR93FichBrstS
URKa+rjejHXSn6oOA/iXv9V5LkJTkwoa1yb0c/qbz7eFPaP81mg8SlAjSx5wYFj9xZ3LAM15415H
ULXwkykybyzVRz9eHvrSBLnEeNka5ECArJ8PPa9drWnzzHvIcebQGYzsTdaLa5Wki6NQ1Ka7T7UX
CtnzUex0APEU2UnoGuN4NOsKGetGv1bXPd/yvGkIhOammkUvbveoqlxRlHqv0lAMazScqqnuEHFN
26y4wRWz76+ExG1b/9NcZBoMBxkF8SxeUbwmn09qjEuraVYrDaO1QU89a9bH0k7yMG23WpUcRnll
m1w4AlT9gOBsdXPS4923Uj0OCaM7paGHuCdCczo9K1ervBseKv1xBFP+ZnS7rji8vEUuLCvxGNAN
ozrcmbuP12tb8oXeeBhz+RztMl1vo2SgpIuAr3GNMH9hUUn+HVpyHDxxViqTpUDWMm7wpkVBuYJ6
RuoXgD7wnCBxZKduMqtC1/zVM6SoQhmLCw6JsL3loOVOU9cNA/rZNEMDakvRJ2fqzZvVrMZfLw91
4STQuOKYUyiGP7pHUPWDSxdAjUUIht4NRn20A+TKf/8vg1CJps4BDWz/HBZ6HYPn64sQAPR0UKUQ
YTnJ9coNerYvKJ9wjdH3o2azAV2f7/+ZxxvNxbQK4ZU3jzll91B07XRSi+58eXlCZwGS/W5vDTGy
RKg8e3Rb2ZZtjA7vpnRpm58ikFnRbbIuEFzDKmrR6ObmnjwVWFPdZN/TaZDXNFFpoZ59Ot5PQCVJ
kDckCET65/PlOZdB+Myaw2KLDA64tuKolz+MSJXHWYCudFesvpNgrid9uJNdiva/Vwi8N3Vad1Fz
kInQC/3jWiCO/SPJwGJYt1Pu1dqTcksqFF+iJUvL9MZFvVL7XRapFnmBlohIw7UiG/H8OIgpFpEZ
KLyRGhH2I+3e9NTLtDU/jXMttQpTDDVt/71aG/Nb4+LP90fvRT19WY3VMd+1CNAXv5vM6ofAGJZE
P6RalSAunup9WtwNdZrcCTd1ELR303H5OqsSQUu/HOI2dY+GlZQD7ubZOEmfDpvXvhX5ppSAInnu
PVHeMax7Bx6l+I0cvCU/ZzwI8dyooETh78DKFG445hreBfzw1Rzd1W1a9AGd23L6qGMsBVWy6tMo
Cgua5FmQLr1sP8+W2abv28rWzJtcyogCIXOp7G/IMg/mGprNNLv2TYsI5moeUEmmFhPkIpfoGreq
06ZTXwC18p3cGw03hJmSJG5QyEYWaFHXm36+iszlwyYzXf7O69IxklOPSuCXpuM5O4Z5W9XaO/Cy
VfSuT+QK2HnQu4SHytjxozogS77qQywgtJprWa4fa6cG0ypjZCMOcyeaPhhcO08fu02Dpggx1xzk
Fzta3O57PWBVMwQUmcrhY1elFF1RfU7zVvGUjaR+o0yjnz9gbdRnvCLidWjoV6ZCw1knN9ph/eLM
bh5/TmxvbLCo5MiP+W0+jIPC/mCoR7wwFFnb4zS5eHX5fR5PSxpsXVly7GRx5upL68LW591V1rJ/
WhdzimZU2+1Ve/Q6M85/YRKcGXFQaJqHcvM6tanh0fEX9vCxcpSw/zPW1YozitJdo0Sg4tFNVZB4
Y6t3wTI0aF6GWFhMMcNzkOWnNFoKMOtD7XjraYntsvzm2ZnAKwK8hFq4W/LBnb4TK0dD+P1gZetD
M3jAIE9aJ5fOxBisxMMgyOLeHFoUblcj+q9rMVZgK0dOB21BWxZdfPWsZe3gq1vz2o5BnGrN8q1W
ctXvJqO21s8WwtbxR1NGffkJZuuMIrSMtCmAFrG6aKD3WLiMVbKItwVyTpD9KcavT+iYa6IPq8Fh
8HZq3DdomjvWU5+ix3/0oooIFAC765QIu6jSY+2mWXI6r37ZWMvyrbQKDir2hwsSDb6biRWISJlq
ZSvuzdYoahmsEXqc06lUmu3mgVAeZUB/NTJ6AfeDBotTBvpYDOtvG7F15YUYqYAC8vVqQY8e0wa3
9GDL6dq66H4q1nL6BsJSS2MfRnlUvjGMWAOlisYPsGR/qXCW/WE37VwnAWYaq/jgqBrhBFg7S4Rr
y9oDkRl8Aqw9/CrSJVXK14xYtkOw4SG67s7V88bq32WVsPP2tu3RMR5O7QwtuAtQ9s9dJ6xNJ7Lf
lGbqFAO6RYkq1W1PtEbZONdlX/sm+jV2YFiaVmdBMkxebdyuZkH4+hzl9jIMH0r8KLEgx8LFnfTP
bVTx9iG7wxYp3XqSmvt27td5vvcADXXGoY5Xa/InuQyYI+Cf4YkQgfy0fSjSZmluGrQ8EnSWi77C
jAJDpEn+9gqDnsexTxfnT18nk3uvi6wT393E6KpPhQsbH9QfYCWAh5BIq9+GSUz2jZFsIZjmZBzv
hYNq4aeFB/LwJPqqzU95HjvGfYfnUBcQvrBp6RH19ZNhqW/baM1Pkx2h8NtMTaz7TjzFb53IUO8l
zIOjkcvsPX21mn5PgWOI/clL7CI7UG5qMQKh6V2p9w4q+hB3a0T9ta+GSe37F3NKzK89GuKUBSAj
yRM/Fi0HXWXDEoBDyM0TcGuR33dLGdmhM5GmB1kqjearORieJnytKJr6jWZnMv9gZEne4MFQ2dFD
YyXz8oZ4V39dLX1RT3Epm+iXuyZe8Zhmmuc+9o1Y5VewQE117CotcUOl1+NyIlddcKCYS0Cjh0Yr
ov8q2entA7DVpDjOcTLLn2zZij0X6cBdHlsHN+jfMrJSB1JhyzocqnVszf8Sa6Q67WtVa7Cr2SNi
frTNgvaUVi6987Fc1ma9U1pqQevHTy3PnqLY60V5Y02dg2e7sNt41m9mHgrRHKALnbZ/Rm+ZxH9j
ZuGT5qtetwYt6HrNMn4a7YzTFOz5cnbWEIbG2OUBKkhxPPtSqsSGq1GpDZXaKrPBUNBZyqb8zx0K
IXK/8poOpqyKjV7+aKxU1E9Y+RUJl1LFRlc+yLDVMYKsWrB88wd9KPqSQOrN7cnzxhz+OX2P5i3e
XRMGCpFCLsirZuI50INu+FaAC219OFQJBgWpnukBTjD0BSq90mgkzVUCrEhkCQYac0zj9CmatOJ3
XNapR7UyR8LfHmr9SdeomAUme9EM3CZui1/dsHofAHhxY8sCh4NHp5zmG3Typ+hNpkyFu9yAfZqn
0/j1O3PMvuHy03zIF1zenMTui5u6ms3HepqcR0incf/3WvgWe3o7w3PsnLtyatTwkUzBoyStbFmc
mhVhixNiJlF/EDibzYFZyda+WTsBrAW4b/FU6S4fa1m127ZdhB5SG1XCV9gXDQFAPKQIcDrJ02Pq
2NEbXjcY3NSbwUSicX/f1r3RWIdadbh6pn1fHNpGz46Ot+jW0RJlfOLxgWJIvWS1ANQWNSqsi7IS
wQhoPGzpXgynievtmwkWMw8azHW6wM5GPkqy5KgCjaBa+2BppyG7xQPGxUYFD7v8gFKcjFEPwuol
TBatm+9iJC8WbMtK9wafq35Grmby9FBoXEO+vg0VDJWBP2ipD5EVtHrlaKE5G7MOyC5WHwh3xpfO
rMrRNxbZfbZSN/5sx3P0R9HZedRbpE9YEU0TR5VU9JGE2+LJAi9cTr70OpJVRGNq500dFXP2WFVr
2Z0Mq0vrW4zjlH4cTHyBPiOs32Pq1bha4qd2N9EGqtiaTicL6xAtnqiClP/n/fYdqIQvWTUGfRQZ
RkCOUrkhBhBqAJe4FFwiqVuMvlMOxg852cV9bFbrHIJsTpiDmHvzlGhrA6N8TdLvFZ8mCRKcQzAA
6XJslxAxOFI+rEtgf0VmBDx2imNq5fyWMiw5eJx5pfLNVI+f2ixNoxsE7ycD8yoF4NNJPVkFUs/r
91nueOroGil6NrIbnP5oVp2gpY97i/SrtauWQI0ge33N1pXF0S+EfViHov4wuV1hfyyyONWDCQeJ
3i9mt+78TDXz/NZ24xqadWzKOCjjydXDiu9Zv2tWYdzgAlPYt5WZYzhdzJpFdukO+uqbMINGv3d7
glm3JlZ+LItRe28Arap+6lWGmr9HzMRGZx7iUMUNf62ZuTI7jHIk49uch2KQ4qV7L/PUtU5eTgwf
MO4ps/+y1Zyn/xxEV75iq8N9kqokMcOyk7I99mssmIvelQHZkoUa9wTc4y6aW/vJsJfOw+4RHkCg
zDH+sLpxKfwa5P39POJj4o8TtlnBuNbSCJ0Ko+UA0SmJ5KKak4elMYzvnSXVmwQXDsvvhRn3BEOZ
JkEZYcboT6tufW4NsXzXqiySvoZNlP7BGHrkCmwgDsXXrG1GamNZ1w/lO47lgsdgOXPzYYQhtAdM
uNxP66Ah6yIqI7mvdHuQQYXq9+p3GU5CYRwrz7zhU9njcR3U1LFVS/lhhG6SHqI56SM/pketbpJJ
a5wjDk3TZt3iKfcY9RHl4FWL8IBR1ax/tSZtA0TB5kyPFCG7gzRH0KDRrKLTaowCDSI7jouTRj5d
f1GpOfm152ZJ0MUDsYvOhpsV/gRFsrhp4bs+UHsz8pD+0ajfNm6vwxDTeLNwvpxEG0+Im8/pTWl5
bX1PrsKrLeOzpDcUGfh7RDrg7dvNFlR4CCzqC2394j9DX+Pfqq6m30i/KLzpsvxNaYPNO5q80h/W
dMg+lZGWz6FgQ30dTFzGTiIzy09thlH5MS301Ty6s5OTFIhIaqFNQmGeHH3Ws1sTL6VP9NnteA14
7/N6W/vS/NDCsVsOMJDqUEWpw12gcWsFgGvRxopyy0tIBkseqGNuOg905RGmWCEzySMYfdEeNbd1
589pKb3strcy0uF+FO5hzUfuIb9LSrM/YMYYY4GtaepbGsOc9wGtieJTOixTF44FhjwnQnH1FhBF
BMXXXB1oN4N0fAxk0AkASCH/YK4z/xG9Jv90ls3LdkyjZgkGMdg0LT1swwMAdrgwWXphHCKb5zm4
l00scsah4sc0TTBd8JHE3KeTq/mLZglvoF7qGSmy1n72Irf6WZSLZt6ZsNNPunC8zdfSaxt0OKgC
H2GuZHWQ2hHYE6Ua/WmsopHjUq3xd0zjp3fOakU/ZL9oj4NpDI9Sk1N2qsl4gE/2Nqxit6DphHVE
2hwnq+iSg9RnL/LVkCxvpwZzlWNuTfNPFznSzLe1pf+VmmgkoPJSmk4YYTt6ykU7Cgo38fqjE9YI
Vb72yvlmzDrz5zRZgwunZ6l+1ASP9eAOXvrWSA3xxxiK6d2oUQc/mk3n/Bj/H2Vnshy3kjTrJ0oz
DIlpC1QVZ3EURWoDIykJ85RIAJl4+vtVr7rV107bv+7WAQtDZIS7h3vR1i9lgEMGK43tfE3eEC1S
AJmyphaNz3rZIsK1h2mruj9mcsRnP5vao75Z+1yRgrkQ07e3JOZVk4Q27db+t9vOymabJdnpaIVs
W5Sb7XIjOjMqBgQ7/SlCmf+0/lg8LhzhD2Fb6vdSB2T+rdy1LwI61Y0hzIZev+eZp/ivGDdrG0Ef
SNbJeW1XErvGiGdbcgiIGPuWKMbwtDaNZqqy5XlMID/xwfU6059Gh0w3JFC4GZ3IFVmXtJ6qILqA
uXTfQ90EId4ks7iXKuBz91i7jACqmOEPhrV2lcrIEMBXoySIYZuETY6bb1jhaIwZrnc4X3naPAb7
ozdpaE8ttb6Iau51muiOGKth8RYCjOaIlyxfpbzPp7h8RXnRvmzeAg7E4LfMqT8mk3NO7aGGdGFs
npq2CH4TXtbebXM1F9eGwDJ5TIh+ak7KEAZDBOmZUXFyt7hyJxKcTsYkyQtn+lAd1qDqb2o2vPWV
Gtrw57D64s7UgugZNy7LHwUN63IdFSp5KpPcGnYfG3YMZt8EeWbLaSINykTN5eQSXZMVcpS/4sk3
iID6vL2Ru9pfJYFKOlPBHPbYHVmxpZYnc9FBRRIRs5b7W14Ya26pFkF3SrzGO5LeRgDkhGSCdnYs
GO5yfjx3xyb2jaHbfwkav3huFIu+aaWnwEsLQQ9wOIcL/mmrurth3e9cwkGvwpNaqzHK2KLRD5G2
K8a9eDtwA/YtzHbWsu7xdPNNVo57SOwskUXTsaBtDzLRSucqOCeXHZNzJFsmui2KUr5n+QXDl393
Rjn/IPGw/QlNYG8KgjBNpkmt/xET0PoLJLB9UORJfdbB7l8N/EyVwZIz/hpYItwy0Pyjg9uS/Mrv
5zbmuovljRK53o65469e6pI7xZ2lZoCDeMH81GLuwbDvoYqgekbTw8qUuqWY+NbuzWhF8HO1c3AX
hbX6aKtG/iCASpIIJFv92cy4TqWmBf/M5m4IO8pe3XqpIn/vA4aZJnkpk+J2DyajUstNvCPIw6lY
rTLL7bgUNCmOu7gHEuvagbWuSYSpZe54F0iz3uMqJO0r90ZWQhBuDBdkZuZNaldlGIFYK2X436th
usg7sd3l8TkUJISK1elUelGRzeUQL0e6Jttnct7rN2T6+YO3hNuadsxHe9YV565tkutw2Yf4EaYr
2WxDVvgs7F/HyqoPb7XyJdwTSe0We/849Dr+ERS+a6+Iu21eRl0PXxqJ9R32EaQpV2GVmJQMTv/N
MQCpqccJzPJ/NblP7dpzBBDrg6FUIMLo0fRO9GPxR0Y5VMTytVxXjo5tsGz9hKox7bV2av+mnRmS
6X39YTn4vSveyEHElo6ZIWcgjSVGTjNdyy3JZ3pOR9lOa8onHn4K0h+LYzltGB/VTMRZWzTNfe8z
T4ADwSlftFNe36odo4SLXCTuVUxK3++ik/01+nW6mHalxXB1bF5AlqPpgAw53zITi7gkZXpEQE9Q
HSVKsjd/V0E2fW0EF4YnrQfvFIQrHX2v673KPKXmd2ciWDZE3IfWvseSJG2CrlVZgvfjDVTmEKQQ
b9Vz0TV6zMhK91oMWVd6rxjTKD8l5bx7XhIRbVm3jf6eaUlsmowLm3AU6uopxoU3SrtRV9HJjxf3
xDMedzo3Vp07bxbviItYd2fpnWS8oA3m25btuO2ygSV6icSmymtcIzkcS9rqMqUWicukdMx64RRj
FB1UELOlTjrk/iYBy65zt93vZ91OyXE3ZXNje0uGq6sCYm8TYef7ags51fqogMZsF9VfVhFE0XFH
efgW5OP+MSXGmQ48w+Z2MdpzD8k283K3Td790KIZP4mQlUUW0qF8QTLYuzradHlgZu6/aWNF++Bg
xaCLp2QEBD6Ywdek8uRLpd5d3xJhRwWQyzeZe0V4iPt4sp/NTr5y2jear0DEmqfg0KozGc5+QxQh
AgBWnCuVfIVBpfrjpOZ9e9/yxX2OIQ4vLcGcfDj7urwN3ZZ8dQvpYyeSHvtXjNPlj2UQtco2X3Tv
DmGWMnWYuL/vok4wXQqT4eSqkLc0CZetPYp5SeKjWfKxulRg3XPq9dLdb4s2oWchSmx8DuUMvOga
D2cAHwC7PVRjE5sUq9LBHOO4HhpgDr97bgzGCVin770g47A078TI04Z6Ebnex67ljzkM68SlTTxF
BCPu1tzRPE/Msra1U9aB6FVHtvOJep/ghD6EXcO4+Gr3M6RgnWl6jGsRx0cvRnGSbdtkt2wnkxJk
KlqInBXWkJQMOqfGbIDT/uPZyMH2l+dQeZdBso0/JzIIXXLbl8nPwJgZa2zkk/c8iHAYr2dJKiUW
nb4POoSxHiixIhIy6/c9eFjqrbldHbH1B6M3RqFiR7aXlUZhIl8qPW4nz6PHQAFTIAPuxo5Ix5rl
vqdaLZ7D/30dvrl+Td9m693pTjuor8zCvgofuxbVQGrsMoK4NV30DUs6P0r1GC6/WIg3SwoY4oyH
kMc8HjolSgCrMSkeVosxDmnYXeNcrKh2t0NgcOfMgi6JFa+OJ+9INJ6fIFU6Zns79O65fLcflZEL
ZRpvNf55RTeditxdXzziU+/HzmhzgVy/fpj7wvUOAR4RjzrBvBE/b43jex9uRDMTOrfQCTiz54rT
kgAZvXZlXaDxqAui5Yehr/a7RjaMagHHYJfGegnMcdwFxp2iJbvyplKxe6nGUa/pCP//UvJWaZQ1
bVyCVcihoBhXfFAVWpkiNci9GETDoLhYCj/eDxgTj1CZea2LNMZ0PM/CJTcfsm+1c1EypV6Bqfr3
Q7SFf0pi7BfqVqFtNvMCRcQet7tzIjSz2Q+KmPGXLRCdSF23sjPeGJJs8Kisoi4buxHBN2mpxsSI
Lvx9A+ZFD9t8I/atDDJ42m2i29/iO0gi9T1HIudA+AOF4GW77aB+roYIqEh8E5nNZ/SjbsXZ1Lqy
/RRltQNKyqR5yWHox2MXicRmgvngITE1nRPbRapMHWfewZlt21zlvsderzbQMmmAMwOB9XSuKlvg
+Dqe5D4wABgZqCyoR/lMCjBztcvS5ROUjwuEMbkLjdCyNKluYjgpG+nxYaloeQn1m5qrrinpMdZC
kA2/buX66eXWaen3tvG2brrWvfJ0Ll7ULv1HtL97lwY6T0BYnV6pYwfbd7cPAQBYWQT6+79IBqLZ
k/G3tyhzL/pcv4p8mNpjoqb6d0C6Om7Aq9k/NyvUvW/78vc0YOHBcODn96PtQ0pQPnivxCPj17uC
Pl1G3uB95Qslj5/KOwYvui+HxfTqZ9QLgPl9X3HcWuKyZSUZKxf82urgyDkn72HQ5idG1X3M/CKw
b4ikxc8eZoKDLCnNnLaLK+o73Erhkwo9rc+jjUuL3n8n9oD8RfVbOXi20K2HvwUmjk7GMBp/87zt
HJWrzPxdGELIQaMX566tz5XGlGX+2HN86mzT7noDOcL2LULmSKR5NbvhnQl2GULNdO2jcS39Lpfs
7z0jQmwNV867OFopVioKnacp7uvpZs4jz0AwdSvBiFELTImFduxdLpPEKivAYSU4aLe3f7hD52JF
q0kSInDqq7uVgKUN/nhbGkhgjwJrkuCSQ9AF1+5yiHBv74bH5uw0cEp6z95S9vye8YP2Pg1jMfzJ
RSdl1ptyYhRe/eGpNgnp3vDl1XxKZI/pi2cq91HRgjhZiMrnYab9V5SDuIR8Yn1kYTPeOIomuzC4
v+fduKYNtY71pLWK7JVkI/B3HNS1TDt3kV3GS2Lf1qUWL4VbqwoqWKmPvslBa1eC5Jp0Mev4EGJN
+qU4ee5Bmt0H/HoH74GQ8jkHsusaojfODLGpe1f9yEH+nIvat8tD57hzd5OHet/Tic8rPLGMCP9X
i7Ph8dlr+NjNM728H1dJhZpnFlWGxLb87BuwWZYoFQOtUE0DTTQ25YPHNuxyVHpVR0J4ofgNUj7u
r/VoKlTrhI+N2zSk4e4FvcKAGvTTaSCmj/1MKc5sbXhj48GJ/mjfsU/SLut8M8YhR45l58bNojUw
H+DgkcxmRMgXIba3JXm2yOPPxxx+mOM4+LR/QwFuhw2Nl2fAuvsbSb/uu23amLhirxE3LL0Pv8No
A3jG5Bmz1RoK+MfSRitZo04Hhx8U0TkqXPBf7tQ60dLKqA2yqYmDP/AeAWwHKoIzWdyxc9XLmTEL
03jnC+wEWLynqK0kqSO/vrWqc763Qk7eUZBXWGVbBcsPjpxDxkcl+O8BL7nhqdl8+2lQcr3zg0ho
Ydho+2PEdkiYyYno1IsN7/RrAB9nSwdeoWe6pb49FH4unGyId+FfWFf7707QV6+oVMufC9jsO1ae
bnkBT929TqRa/1b7QEYnTQ8pohJu7nMcJnlnknja1DFYE/cL4fi4p15eYwJAEoVsrpym3X70RHcF
JMv2uTpo1CC8yCx2/uF7NBPo4QRPXK2tpcVDeTMdw0aU43FWlbyZcZuAbiIA+nfudyAB7hDnh1Jt
4XaKqh01YbUEjmBiGMRc3BVB3fGbYQZEZnhf7WlYFr/NOp7dde8ODlwyC5m/m3HTj2O/09SKfM6D
zAJX+8egD0ydjYQnOzd73qo8xZgoeBdEoua3fRF7+lQzwD5FjXDHLAmEsFeVKr0X5LA4AzhuSW8Q
DXi4DNoFnSnOfUBa5Pl43/b+2FLct/5ZKOgxTmnSPtLdHaNHZw7X4rQJ3f2MRrqjrOoBq9NWFAHn
mdeOL3oywS92LsBn+mYZolRp9nHkm8TJ0L3zrfX220bJShD1moM2rUUQ3aPVHZtDzDm8H0odTxQl
ESys1624Q5wKwlvai7ydovrGo3yAPJeTdo/kVFYvdVNY4J5gE9VxQJckgfM8YOVRh3vm2QX1sNvs
zSt7XWFH+mtTFPxztR9Cwp11yhEJx7Fw0vyeMdCVBxgf9zrcurzBwzIJr8MmFgZAfzPPJbfyddx3
loxNnVRk1jfUvmwlZBq74X6YxhOQUPEwl2d/jnYL3VfhlMsP9j34/PqFfGqe3mjmQynjWWaFGJFi
yDz2ruaa7+8DnQAFUkY9RJfnU2wb2iw+zt5TY+pWQAyYmyCOxDdxZoitwkmTC9S5/kWr8X3jNIjy
ozQMEanEMfXUr1rUt4Hd8jCNjWOqtFhxJsraHkD1MrZh8HsMpvJHT0kpuQnRcjW4tESHGA2UfNqb
drm10hmqW7qz8HYbnai/CNZ+rbIg6BDV0DmA1rju6qpDt3oCAGYveHnKIBjeV7vwQya/Kh47hq4f
hpmAFR8xYHCwkwn9vYmLkZDffY+QAXF01EeoXnUzjrQppw5Mvcna0aqF9VlffXOXbfgSrQiqG+OF
RMbnyfIVrm1wdLxymb4B3cN5aZYiLUVpCv8ka1f9snCrv1vQ11c5hkgn8hFHn8xvCro3PdGaH6p1
lPcauQcKMThYfJRWa6AcVtlk1sOCHNPNTX1E9UARJMyc4j5pHamsbqqZR7FFvPo6HnuZ9uUsXxOk
Rx9l65pXZ4riJe283nz0GES7h7pcxSP9xI5CZeKPj+Luu5SLem3M4CQptdqt2YFCd4JyTCqaFluM
FZZHYb8zu+2zTisMYIAacI8H5hojFafuYuRH4Gr53Xei5VEKBtR0jtf5y3OKnn6EIWg85NCaVx0/
kJYuX/ybipY0zNpqnQc0K3hWY/bpY0y7jogs+PS78YKzsPyM5BZorKXt7uPzNFXhQaKEqQ45N9DN
kOVGfKs570FWeX6FbBnPMPjzEcFWeq7JLK3wgGWqiJS67WPgThi5ZnzFYKr91ZhVDajw9/a+b+k8
j3YtRmgt6N3ukNSrNCdTQ2tPJuymzEaN5JflbIke95wDBm48Nj/Hxmk+GAjY4646sb94rnXYWiHf
+kUWtn7y7OoCGrkbLBzHxzBm6DVgpttYD/erzqdvnfT876pn0n8EdvJlNqG8+mnZrHsvBts9z2FD
i40CvEYTVuX+axnYgQ18W/nfBDR3eTn0xfRRrsNZgcgM0qQbNm76YnH6RqTrknBeCLvU0EmQiS9h
iKilLrG5TLep179XFi5+hoygBf2Gz/fp0yTQTcBxJcch3CqdTfNefHe1i5hohNE5J2qU0BXBsHGf
qw7r6XRZPPfR+Jt57AgmG4EuZf2Boo4hxOr1l0FZ3KXlfH6L51lWw+U+Nv3bACHMC520psoEwICT
wh2USQroBBS1h015V+qxjzIlPcU5vPGPTlMpl5JojxJwvHWEbS9llyMcmgujH4s5R2JRn4X2qZRb
adGjLeKN2by99wOgbu58Le5HpYsH1mkwz83dXl55rgYDVmeJEh9cEGAQ2QxLfIgA1V4BFcd3p9i8
4Bg5Lbjsqir3G5rJPszYKwG4Yl4LYaVrN7IZdRbxBq1X/2gX4mEOYvJ54KWGSj7wCbDlUaDYexOl
P5qDX1rnchPQ79TwwnzEY5C/BHQx3KdQLJ+uv8Py4+BZETHjBpZBXWzlq5tXQX6NJet23084xpz4
FChsSPM4K4eAHGQY2HUq6Nx9Bd7UjSFHhR3UrZDUljTShW4OupXTnorQ5vfsW6xPqxfrz1VqqS5d
PENu+hYqns5tyKElZfABjrdR/iJVXA4+G/ZgsdVw4WwTyh4jxXjDT52RNkReWWaWlavfFe8PV8C/
/TQ7XfhnlGUbHoVa+49zeWBKg/PAx5tO4irKTYetIXzp+xRvLvsOpV/0nFAiBp4Bo/jWKpYLkMeE
+bc9aknz2wHi0CKU+7AeknwoRloiWV3vQQ+CPebo1AEwUH+cJmFJPk8GDs9u6jaP10f5100A54Tn
jTO0zFBh8+RoU39twx79LNGDI8gsfefHvE8MRUGL6440JWqbwnPYMSwWJ6ctD1f/B29hfYsU/8vk
cztlfj/S7UUV/Xm0xx6OkH3rXNbeiJ7J7JCcFOx6Ko91TMueroJJNK2h6xAbJZt3hSinjI843ZHL
FPbC/+gRw1GtfI7hul+dy3Ke+CQA/pOH2Rv9hxEEuj/km7+9Tx6nJi+f3D69nqihtG7q8Gad0X6l
fTJUr5uFLgOT2oI7drA33nDEleVxQdin8IYaJdN81MBihMp1rnlwCq1GY8RLk5gCIdtZgDgESdVd
rNNaUXDz/l2xRPq2+fPwrXcq41/W7eicemG0vKC4Tk0W6UGXEtUEkCBRQOAJ7Xrd9PCf7plJRFMX
pxEbpeulSYIOvqGrwpkK5AH2EpLCogM++dDbq9/wPfEQcoWOSQchxMca3zVbRZrZ7AOP37FUBnrQ
myaMyJVR6HOBJUArODdKfVzHqPVPpAQBadeLr96G2tt+bz1nEI5cMM6HWtvpOUpc0d4i9K1uaqpF
l0XbeaqCY+aPQC5TFWlE7/WGD6m4YWsRGjvat/pDlnL7DcfHVVUzN8kB3KqN75XsAIRJN9yZB/C/
hXXt40D9YA9uDG7KYKi+IzrQmoZrHRckM5VAM2JYZWkyNaLAuiyA1OZb1mnnuxWh+ZLFwF37JemI
Y1Xew7Ua7wWFxf5J47WihzeRzOdXXTSsghwVFlzRlYDK/8Dle3szhW+WCzj5eDgkTMVoLBaBOyTz
NeB2Ee3iPcESDduuOEy+lUuTlKjBypjmehieZ2h8hFVO5XwK5BH9Ya+aID8iDkmQRjGadgc5oxGC
6T5/AHKxmBV6fbxOWcyZEtJhRyjNYPqSFz1M8eO++JsDWbnzM9lQni5Q2m53+zrvwG87leEAMbI8
FYimF/ght5nANOPmtcIewT8sw6Bw/UEFSJPZdBaseA4oOcptGPpjhCEukjGtNboUUTZQDILXBv4W
G8dm3KP8cgJbrjAposHNBseDMoSC68MTtmMj3kxYqcUnkPuGs8n3oOYkMnI849TOuNyr1YO08kXx
TPO4rccSB9VrzGRcEBanF4LheOb13YyDq8JUdzZPG0t5h0cE8LnCFZxhGsFJhLZrr92PoPEa9od7
bDRxW10bc+j8Vf4q954aKCqSaFLhd2C0SY0GOF0o1k+qndrvCBP98chUb17XouzKK0HjDbdRjf5j
VHg4bBl35I3UYa9dWEPXvdtobj6meo2fsQtOEB+RVJQf22RnpXP3Pf1NxZX3sxy8KDjUtXGu9qAY
xnuVDOpxs33goN2IUbAP59a+y/1GZdJZUIXRkQs2r/tw/tGXLXNujS0oRR4RZ34AGZePlAM4JHbM
kOT6fSsE4jexPFCm9jXz6waN41jjaLRN/zoHpE7WdHAGfUdphCdGR5S/sYnRXlqcVc0BwQP0IDKf
6d2yHzcfJgRv0zWZKc6fwvSxf+EIML4MmMDlKHFC0iMpLiI+upvP+InxuP7VFd680VA3xSseu+uj
LdXKCTOGxcekrf1TRMjsTo1Kms+EQ1odQz4smIipjicsaOoIXail5cx44yG7ZSn4bthioPFj9G6+
wOj7j2GMqi11sYZ/hcUFo9lmbe+GYUs+8H5BzQNjHEywAHuNZNkX8a+27vbPitmKX+W2aNqWLlpl
Vld1oM90XrBmThW1Pyu8XQntcXfW7SVIHaxndd7pmNcEsWg/7B3iE8fh4RfQdtfzZj2dOpG3BXwH
UpSojOpCHeMxQXbN2UKcUlzIvcggZKdvpI459hA5oXMbFD1hA5W7tcMF/WPzYxqoyjRxSI8Wb6T0
I3jsvpCb1g/stWp0hpXXiSOK8PxBU5/KjDbfZUyrhuXZQyv+fYS7eQlCeATJ6XjbDa3/VLe+7B+n
eluw2kmq1V568Wqe53KesUHdlY8N0Njq/MIOfv20jP4M8rRZllass4M20rtgmrp7cRMfmZJEeKzk
wLho5ilUB0/z1RwLXRnqY7Kp/qqXxltYx91knICtBtSHwNf8zyXrPF9jtY8iw2ttwNGgdm39GQ8I
Jy6wyFjzu5UZB0EXKfVPBt3cb8lowKN2z2YufQHWnssSOZlFAYO8QTvt56ZM/pLT6f/CFOoMs1qz
SQoBPeCRVRz/nX0QlB4d60HvU2U4yJV2k4up3RpYVjaEukuDvvOJWWUk1Lj2ZuTzActBm7tPbja3
bCKmjee1LQoTQJJDnrMmQx8ZRQ9g03SbAVsBN7VCfneoiJeMIQ8WjifENf6rZ6fq08Qoe7O2jehy
2f5TUzY5cf7Q1xKdEZ0/TS60a9mcBr8Ln0XnIeRZMA15mIWr92yK82VLWX9DzTRGzvDSRJX9GS+h
+xxCaDlHN98dcSiTBHKCXKiiyhrV0Zq2wu8f3VjHTyQ3Du+OmAMES8NQeBn1EPiQZLj+lpU00bPX
rPwP/OQRfCLH7a4Ui1fr0cX3XWf8Pc5Lzs7z9b5vAxoRANRfc1MV7x5oGorayXQVTCyvWOr5nbAo
Bdez7hKBG+IAJPA/8t6W8oAiaYeGj+LxAoU9/9JHWzdw7sG+0RwjyU8XH5+0Y6F09E3XgTCU6tYN
wP7q+k2NTfWS5E3yAG0I4rLl+S7OAJcZ0jgUrLaYStLuWyrbB00Do4aHyjLVA8sOKYtV+WdYAlWc
5mSq5cGihUjQeWl7Lfeww+vCOZ8wtTO11VGuJbBsi6LDP7pdHN2f586AorLsV/MwFyrLlxVsD/8m
73Zed/m9aKhiKQaXFelDjCWnWI20M5g3qz8bC3+31dRp77AqB768itkq4E7zQmaBnoo2XXcr3lhA
5BkbiyV6XO3ui28irFomdJce0BgtGgk6g8fiTdMnj7rJ9yBlWC9pGnLX5YNwPPF9q/z9e16ti4sg
/IwzYwa3fMh69qds38Bhsp0EivzsK2gh3MCMHjo7FgL5LGN1av3IvWNdTH2LkwLBceR2dPaFjDRB
Ucm4GSo99Lw3W6je3TRbfkIoKovL1p2TR9GXuGgkCYz9jb9usBnQ4fMhp+zPrFhw1l95tUxEOmty
lHWvBLOohnY/Mqz2NWuI9TA8etZFFoBmbGaJJnfgu9iRW46TKe14UI5xZRbvrEBnxlmWj9XfxHbc
FuXWp6RMGr6pMgnptBCg7sjniqI+uECC1S9TAMwcl124a9YNLMDTmNkGyUUyedU1/mNJd7etVfwQ
VE07Hfx1b1nTGtDY3bPyA6m9sKfAzZj87pfb9O58suWem4M1QFanoqQxPrjcRXXYKeL0FjUsFTe2
HYULKuTlT9UU0UtMRF8IhJ4rTYjlW/3d9oYw9Yq9j6dBWxxeJmIA7ghE0G9oZiUk5DCHd1MA75z5
ux2RFsdjjRejzF2Ut1SuVECkfHNzF8mLAUlFibchyz607A/9GvLRfh9at76XqNKds2AQ7Bg0NmIQ
HcY/cb4y/IHrghWCHtJx1QGEjY5a5ycd36YzRpSeFnRV8b07+pN7kct4/1mIzbljxXR1blgm839t
geufwZkWeSZZQsUVwHC5w486/T3LBb6Lht9fSmh2Ag4yREB8UZGpnceS0IMmG6TDA1sdJ3hZZgWt
PC0h9G7jzMmVFYXeLjae9/POCW4uJWjGVQ168qj9FQwJj7PlFkEEp+SA+uQb3QHHRevMw5ruMyDG
RVxNCgDLY5vgGUyypQUZVg+9VN/Ej2E3IIbluCnupxYlcbpyl3+gUF/vz4MeUhynZR9MiGF+YE8y
/2pGEORs9Q0ThjRxi0yESJX3pLR8zMVY2gh9Vgtc0dUY6x5xw5NfLWAbzrDeWL6UstdMvk4yveMz
FLaAbH37VbiTQgWRN0BKbHO3I5r0fnxxBxQAFFn0FzLA8zitZgLJD3zF9mdiw32lj/fRgmxAtQEq
HNpGdNKyfZIVuwwZLFT4GcQqeuQMmv3TkBfw3Ly66ujoQtHiq9Efs3N1tievBtw51kYDYwfxjjCy
jLv7swbVHkozmTs6l34OLwsYbXsspRtPWMtN4m5eOTUvm2Hwr2IwES+NMZhnhB/M6N7PLAP+Urmz
34dV3Op0Q1ixXOod/O2B3bMcb1MRDdybUgbDkRQvHd3uOmzHV+YC8SoSgFFooNFBnx/WdLl6G933
tt+lQw/IePSVFPUqUsYvNIq5y9LUxTihGv8RkRiaQLkkfUCR8IHG0NkWgPAIgCr7HXXpSt5GwurS
yR/Z5UmHxZJD+88b12cvgX83NyA8AOtP7BocTM5AIf9a7m5dGyQTwh8IYen9FMuQp0szLRdRs5kH
IVrMXkVe8Oj0cmibxb3458v/vfB9vjw5razjx9jYwoL95641O6xKI1vpUlavGIdapMzLpYNK0Ge7
c7yHo0jSPZDFjTItsuB/vvjfqWKEy3F1z3FgHf3w7J/yn1cnJywMoO76tMk5co/KzfmQOiIBjw1T
RYWsCRStYDMb/rxiomJH9Nj0qE1oYgC8p1C//Y+/6O/d87//or8sVhA855PqeBzFIKnDUJiHuki8
jFbpdaIVpvDAhSu20Y6t3gL8vWJ70fcgAN5WIA23QA7oSZL/caf+tgD4159FgOHZ9db1/8tZbDJU
6EUyEvddAdzK7lyBsKMFjWzmIRwO/3wX/vaGOF/t7PARnd1N0cT8ZZMybrIn4h0lCHLg+FNWkY88
jnUp2kITmE9Cfr3/YaLz/3sNsdxzw+D8DrrBX9YXCCTnoZnh4VkH9B5CZCa0uS5aXO2YK9RzycXY
s7s9+OH/Lf7hHG8YojQOz28g13f/egPjgQ1E9C/QfRjhsXIF/FuN3zvJWXAFEgS1/c+39r9/6H9e
76/3y4aCxZRxZPGwd7azqaq9s1z3Bj2Gj1Z80ocpnqanJGiL0z9f+b/fbK6M+UyAqXFEHtX5L/s3
68bZBoNbSd5sEpKc6wJtKwfvOPwfvVr+dT8JCeS1YSMDEOc/r8KlKz+Z+KL9zdXXwVn6FnfuNaT8
9hyht/4f781/fxe4b1M+YI8hBHma/3m5WCZ50gneVKU5zTTQcAbi+IPlGvfyn2/ff38TEp+NiCRy
6B78fc+3999uH6tcSpmKsyGfvOmKDoZdLNaHqwyBJ1vJ6v+xd17NcVtZHv8qLr/Dixy2dqZqAXRg
i1GiZEovKEqikHPGp98fKM+YDbYbSz/tw5anPCVT7Ns3n3vOP5DOXbFcP9mighATDHioCUv1QokX
dpm27PkiEPpv3kiiy2qiOZNYBfEtao3mis7IqRWCdYIJEcJE/mmpLt7jCKFSueU0rlreK9ZU1IVb
GHWX/Y2liAURmvCSqjJri7EMAZMTUTCWU2mUYJ0bC8zRUK60cmr8kCuXAE/hggIm/njGegOcbhzQ
SgNCQIdaaE37KJCrzUCOlQo+ubDzS+TUYrREC/QAYRmn2WKH6Xml+aM5LxGps+76DGEQZ/B9Q9i0
CUHNykmyFCmad5qlGCKjqKIasbQpya02IQaGeVxJfvoYUtADHxoDXZmKS7POZjtioek+ne/iieOL
iwERMomzEuM3+XhMJ8+cFA2QqI2mAIxOyfB29Ui+VUmjbZl4JlkIRd2pCoDHle6emE1EYKk2o8nE
4aIuApVODvPALNnptdean2WI1xF3sdTtMStrtz786M35rp7YDXNAhjWLInElLY+WurcaMHYJtSzg
oa6GsuW2FZQ1R/ITs2jIKLrpEipFSD8vuoVcjR9l857z5FgaQL3HdbRT6loSt1IzvyWkGkpUILWR
tdK/ky1zEUBhwywQvfTjqfTA/Q8NbmAUSzrxAbZVTH4n9sKbEWeMrxztYF17mJzeykF6YpfQnEhw
gdY18Lb5e704SCsY7wYEU8Y1LoZDnYndBiFY4c4igbJyoJ3oIup/Cv4l7JTZKfy4qTIR5anXUroI
9c8VKpBlg1bBuw2pH90VoJQfYslakys+0UFrlobHPkgjgSIuphS+NBLMHXskZO5csQKNBLPF2/ki
JIU3r1ELyIeFyQauN2hgHncwgnNOOokOeugBuVYDjKkvtTW5t9c7YTZcEPFY1RB805eKgGJnYuJR
YgMjoB9wE/cxcL4g6lYisROtzNJ4/MPhiYL+4vRsoaukmWZRizaAiBZSpgHWCfSVVX+iFewMkZZH
QlEWET87HrFBDLqB6B2MBZiR9KZCWyd380pogpVlfqohAkrE7EXuOFbCcUMUlFQ/I31qTz3CpGEq
Vw54xRXB4deH4rOjKHJZuMMT/Sx6IxOv9ENGjpPuxgfOznDchDXwj2KA9L+BYF2Mn9+65NDixasR
hLo2O6ssjo0QVDfpAwJmRSl4sQVmsS3GYXDPt3KiY4bJsaiK3G06z7zj0euRb/WruOQlbpVUDJPA
uMRLpt6aRhs4xeCvefOcbo8XAD6mhHdLUfxOFlvDIK0DAkGoKf/hJkpx1fMh2kRilN+1Q6V8O9/F
EwuELuJixiWD5P+rlzfy+JBWGMgxyEKIuznFhbyZ3r7ekeQhL6Yp86lrLdS3rVqH4g7nwG4T0bs1
B/hOdRSPKz7Mr8MCMlEaN4nBVQkjfrF3PT1AbWpWz1RwtgOojSgLpJn+A4h9a2f1JhTc2B+o4NVN
ujs/jCdmjmgLuUANq0KJVMrxSulCMSxL/ErsXFf9BxhA2gPMPLXeJjmqHbYegyjanm/y9bWCLwVD
ORdyuDyXd3bQy5nVY6Jte0o27TRAWV8SgYLkpSDzOr/1IPBKdl4GpHPPN3xiyZioeppsQJP9t5Sa
xfaS+BW5QbsLGuE60tTUrouif3MYS/csZC9l+FYofi/ur7wYoPKb4L6sxMx20Bo9NN6EzGArJEmq
rSzQU0uHq5lk4DyiYOaO569VcMQCpsqz1BzCHdJeQOuSUECU3jOiK+QIxyuNnN1OIba+f/twGgwj
ZiMmy0ebl9aLSMQISV37ugb4HyzTrYTk0yZHUnHliXpqgRoyT2JCSI2X6iJkRvKpUBCcB5isx4Zd
g1f4ogyIegK/LffQROr9+V69Dj84l3lJo3PLq4ej+rhXE2oqOQxB2D1poAGNVH1KkjrVWaBeCGWt
LMmTveOlP0cg/NtcvPdRpwIaikoDKi4ePALcgSma1Lk1JPs41cT6/QT7Zy0bdqLR2SiFtw8jyj2+
uB0mGahyMcG1GXFto04FjWsEC5+jbeOnqfvm8QSagFwpb1WuBmVxwKR9DNMWaR1oUQ0EIyechjJ5
gP9llAMs8bGX1152z94oxznh2TaF15XJuBJCLKZwSK3A1ylP2BZ7L92EXSNe9QMqYlbYZHvPpHwk
hWW9C0BH4gMoUKKy/dGgKJiik7eyfk8cOhbiJ5zris4Bv4wxgx50Jg5ROfiayt9gpguMz0ct/vwo
n+7zi2bmZf1iM0Z6k3SihwOON02DblftLLCFXaSqOaliNTesZuFC7KmxmQmqtUVCORrxchNnnkhc
8ao6tb6Y8Z/mChwPiy2bIyjnGSpd9sGPOyqI1SelKmNgYaJ/6Greaec7f2qISYBzoXB9zsZux31X
9Ql/CqQZbUNTSrTXYBEZY9qv9OrEwUDYRjkEgXyFuZx7/WKEQQerydDyWEBGr/zsRT61xFL2HzHf
XosHTnaIh9esUg6+V1wMIArJgAQkoo4KI3HXq0AFUqwJVqKOk61ALOHgIf/BIX7cIbhNXiFjnYpV
sB+aW6SK1NbluQUL+vz8nBo5LHy4X0m+k4BYxPIVEb4JsZWGhEbcCqDTXSPvjLsC1vCHv9MU4s/W
HF3jA37cp7Qe6sYSmKRiaIob02sCqpwmUF4QRX308W80huMVaTjibGn5FEfSJkAhmqi3owizbdsG
80tQ4m7XJOn2fFOn5oo4jVsQSWau+UW/wDGpep2SvlEULb1DzsK81s3OXDmr5k9ZHpwIJRtziogb
YqnHnCWdPoYT6y6rwU7aLXjRCw7H/lNAlmpbtDB+znfr1Mog4QdMEcQSdazF9ac0EMdTnfIZmlqZ
E01Q5KoIozCC+2Blsl73jZSJyqLg4iOdsexbr0pWUoOrnhnV1S7wyrvcrA7A5fS9WIXdSsdOtGai
vYyFAr4vM+TseB32rSLgOE6JXesF/eCnlnCPvRP0HamdbpHp81aCztfrg+y6hHkOcYQM23Wxl0NR
B7Qv5BDbqbN/LqRpJO8m9+/PT9fJVnA6ZBuTz6DuedwrQej0YUKhCVQbKqxq51fXwDjXfJVOjN0c
C1Fs4YVA4nn++YuDlpQ9DCkTbH3Wjd2tJHkzbALm70FNe/13ufSSH2/uFkuQTJOMYj1VnkW3FD2p
Qj/gXYDKGBF7Kn8PM+ONPtVkF3gUqBxLHOhcHsu4UhYQnMimjjderqCkW6MfQ4ZZzRzgGJDUROZs
ZTe/ni3OdQ0LTh6WhJjLomDZFbBwOgtMX1K2l8YUeVdi2yv9m093aBWigXu5wekum4vT3UzB/AAC
iVHHaPJNGqdP0ww3q/RozQrrVYd0ReIZboi8k2UczBebCrXfSmhFyIhSOYaf01woNnETvDlHTyu8
TwknZsMEOnS8/ACDgvg2kByu4l4p7TgzkcPpxz5Wrrq2ALoX1RZAOrjybH7ULsvVWtmpfs7HBs9y
ThCqjsffIOG5M5N+QTBVCXiZsFKCSzXU0rfe/1wns88WFzM3M0fjcTMiEvGtOufyoIaZrqX0TxlA
4/35vTXH2kdXCmnP2TJkrodb8/+OG6nCrK6aWv/SwhMucuFOD/epaGxzSbZxvSHAgfiFZ8PKmnyV
YphbhXBEbledRYMWcwieEMXeQf8ytAcrMC/TbiPnnpPokTtND+c7uGyKBLJIBQKjHNKusKAXh0eI
tsQEPBRmsD741yieeE7bp907Ac31jZl6AMq4Td3zjS5XyHOj1Pmpa8qEGMv8XoTykNbnQ2Cj4RHf
wRFINpM5miutLG/nn62YxLyKMpvrLfYbhWgfSWC6FkB16gGWCHM+FiUlB275GmjiRGOzYQhcNKre
2GQsTv0qz7Eq02ZEYuDRVl+Y77nQuDGHxnvjwqdfR00tFr6me54xlTQFP7GHyJB6OwRW3hqyza2Q
/sEfg+QaJ8niXGxbKQB9j0Ijh4y266kcU3CbjO1bVwIVWpgQnFOknEiSHO8vWAdTpOkQFL2wKHjF
1gEqi8lbT17KP0etLHYxDxJ0AQYej4iCejbaWZ/FWPp8vievFwDpCORZTaRdSCoZi1kZEqGR/Qk5
NYyL9O/SgKZDAkl31pYw1uySnpfuy2OJAIPGSBFQMqHItHSp69FJUMeOUhaVdJRkiBkFCNtGfVkJ
aXkNADffNnrb7hGAlZ0hjOQLlHKTlbPx1S7mjYzviQSCy5x5nIsepyUq62lgPFghLIASqUVn0OO1
aOpkI6A8GFPKNrq4bATpF6SE/c/xWKbWRikV7ZDhV2ft3jR7MypG5SFEHYWG8EBZnBVtkgxWoA+9
jSFeAHq5MD+inQKNVI2ClTfeokc/myLKxa6VOjaWhsdLXvGMMM4Ibm09hQBe00G3TQTpbYfEcyvU
f547gw3mEo0w5TlSUlkA2ybAiqOCFX2piNNa1W4J4fvZDCWG2YCP56q2GDe0czqKaAJQ+k6r9tFQ
jpcoybXXWutru4AHM+yuQYOMCYerjzFSgSzd+hca2i0OU7q20Reb8Pnr6NQD5i1IQPwqH2lmMjJ6
yEXk45DYtRon7wYkDbYh/LYVU+5nbNiLPfjcFlA5mYVDAZ/Y+HgeVTVF/nlkHoOoum8h+CCfpewm
L94jW7zX8upLG/ZfWgkLHdX7kGntw0AZeiTqK5v4Am36tTzFfFYuvhAXucmFbslA6ZaIIWgWMHNN
ZPJFqbKUpxQN2PiQ1ZQ6b9HPzOJtHE6p/B5duPDbFKJIvYJYOjH4s5WtCFwJ0AQCfMcD4lWT3CIB
2tnAw9Dx1fPcBUNcuGUQJe757XpiDx01NX+VF2+sUhrlYJyXXdDowkXMgrgkGG3fvlNpxWKPgmab
78LjViqorV6WsIfayQ+2sjUI20JGb+pv9IVnlUQdkEqEvlhHFk4LCfJrrKM8ir7AjK6vhU7Q359v
5dTiAO7BliA/QgF3ceqAuvCLLoVZHYdStMO2NTBghUj+xlf95lIsUHaQ26I4KF3UfXx709xRIMsA
fLzeKNCrM6lPoRcqJOeuBknrH/FGEC6ge2u3KcpyyKfp+i1n/xo+8PUyATzPewvIEsE0R8LxBAo9
9R2hitDwMNXyKoqzfB9Y9VrJ5fXQmpQBmTrRFHngLfP1gVh2ulikow01772oa4+dat57k37oUHFB
t7XZG2r1NmwLhw8ZSRnFANKsMjDdxbUIB6nn2Z2NsE8RLHiwCsTB94WkhLqDzGwRoNtY+xRhkOmM
Pp2fznmlHB8zpsS9BaiB8gu4mkXTIGgglMU0beqAspXBizZ5EZQb/I4gPDTVWubhxPDSnkopBFwy
ANbFyh2lyVN9GU0chJBjZ8hyfW+lreAORVzsIXzeI/hX7NEkXvMBfH2ezXVBsErAS1k9y4x5gOcg
BGl0FhE2EpxYzAU3VmtrW6CztXKenWyKdztkUDQNubWPFypyQr2RCmjlZAn1eSdA4yC+CYsOnbRm
Fvw4P4OvtgXWe4AqdJVVO9fsF5e2MEChNjWIGNqAhIdQIXNVxPinnW/l1TqZAes0wQEKWJHH5XGf
LA/c2YQUFXp5qVlvxj6IMjfRA+07FDETSbQiWrMbfjWMiyYXw6gk8ABNjA0cGJ+FK6nxU2RIjZuW
SbfSuVdD+IzGB+pAgEX9Wl9cDcE0BiLKSEiKjmV7gWRJ6kARylaWxetWSG1QjafWya2KhPvxECIu
2kVGCVnZimttUwbdhHCTPq3EvvOnvNzQhC9sLLYWi1w2ESQ9bgWCloT1E4iX1vPE94PV4Z3ktxej
YnQ2PkTD+y5fqxC9apIR4+0yo7dn8Pby2ZdIhjIoNXyKsK4kd0DGXHOsvBFuJQSWbiyzmWXrxmZz
fkXO03/UUd5mRGoz/JBGwVwedzQZ+rYTY/ygmm1ot06/yXfKlewGK80si5mcGcftLK4dAsZWLxPa
KdwvnzIXCw77++H28Xxnnp8k53qjHPdm0OsAAiCtyDuABTaWHhvpGrUXFxsUR9tQfbPfVfYBFX17
/P1828v356sezgv3RfzFCzpRq9lZS9irTu+Ahbe/GVfG4a1X63Ik5w3/op0hyZCFyGhHvfN2Jez6
T+CaD97KhC1vmGUrixsGVn6UCHNvpi0WIQ76gU7mFCt7+dVTadnKvCde9EUJK0mN5vm6KjdfY+f+
Sds9fvqwZqD57PF7blksjl3wzMkohTRTboCfOsgQ2J/Q3LyZHOMjMp4XKythXsvnmlscuRbGlRwf
NNc7X9F+tb9l9uGH8+HTSjMnDoyXW3f5Pk/rrDZQBJ17hRCWQ77IwTrIMV3dfdx9rt2PSAatTdjK
cbHkQTWmUljB3Gbn8rZjg4Wb3yf728frwL6t3UeeBTaamysXy9r8LTH2ClodcjLP3+h8nbbiDmOs
Tb0NrsMLz052rb0ysPNdf2b+5MUpEqtQKWEZzp0MnJR/VBvhTweNtpXhnLfquYYWR4Yq4EgUULy0
pQyF786DEZFX7aGLjbU+ra2VxaFhGlFtZvNGM7WH1tuHSCYXMp5nWYwiyVrN+TnVdq5fi8MjMgVZ
Q3fs5wAmN9g1uMYWKzjnY+iG7g+49xzEov1jrZfP4ee5hhfnSe+nWAqUNKx8kA/1p/y6PChfvVsy
jqhvF4/jfXYIb5Rb7X5lxawN7+KA8Zsh1PN5xSisGQQYWJ/dnijP8WzDKTbZxndNx3TWoNuv8i2L
81NenDSjnMVJPW8MapDbcC+596kz2U+eXTC8+Va2V+/xUwcANUHA/DNpDp7N8Yldx2aaifOSxYt4
I7E/FNciclAd613q4OR3V98ibL2rduqldbEyyqfO1ZdtL0YZWZkxoUZCrOL2G/1Tsg22/XZ04219
Ie/X0manppSSAnULcHXUxRcPggi96misitquEIEXJUi4qFSp41ObVW403Z3v2vIgIOwn9Um+Q1EA
+4NbOB5VvQllL0jUyRGURtkik4S4slSFWK2N08qZM58pL7cITYHwpNYPFck0kMc6bioxZX2QOwy0
PMjq73Iry8AFK8nKGbocvbkVlSIWr4GZNLtMraiYVWMLiepRAzn3Bu1J41B1Se2Io5zeREWafoTR
JN2+eRRJ4vCsIminDqrP6+dFNJGjl1DVBZaN+E4WG+RZOVPVJr1DtT5ZW4vLlxwd5A1H7gZAvgYL
a7EPMOWpJssQRsfIusxykMCoP6IBh5RSpeVKfJ9IXYPua2ogX0tyuxZsJBLT2yQavU9akzU5OgJd
112UqS7fASgpsRqqwsK0CxH7pPPj8ir4puxKeUyXyDYBDaN8dTwwKl4aWWMYeFlKXYf1iJD4I6ch
0rWBO9TYvaIGrXVDtMXotHusKD5+82vLN12JAuG0jQpFXyO6L+PL+SsprA8qXCi+Ymd0/JUEtJpC
zOIHB6eFGL1hRbbxpEg/k/tHk6AvOvMwFjLXbtgNK6Ht682mMGkg1EgJk6RXFrcTgq5CP8IScarG
/FKC3/jYoEF0g/DmGlD0REszo0anEk9WATjPcSf9ena+s+QJVb1IB00B58nNxwjRUEpVT+cn+fW+
JotJ2gv1ADgb4rIq7xvikOYoWjkGijibphrweSr9lQrKq0cO0wa5UgGVSQ2ZK2Du8Yst5lOfUKKp
7RxPCDx7wFjUjlJfsVlQ6SFsp3xjJF6ykcVIvaKgnzxp6SitnGCvtx7fAejNzFoCabZMto1T1/t5
ye4ykXTWN37uCR/UWAQWaDVI4lygYoyiy5tHdz7HIPqA9pFI1h/3O9WCVMkTD759nSOEM6rxNk0N
Zf/2VsA3z/UCYAcQZo9b8fuO8tQYdai9YOuJIBJiw3hqv3n8VFGhIxKJNcqVz3P8Yg7jUYmNBmyI
E/ZFdpWoteSGAiI0PSKibtoO3vatvZphG4AqKYKwctTFmpFHsU6wpEUmfgr9Q5QL04WHNcvKI+H1
gWLKGtRNOkXV7RXuEPIvVb3RrB1sYjNXFJHBSdBq34umJgDa0HoEYoe6u/CE+g9U1n98G/7Tf8pv
f96e9T//iz9/y9F8mpFjiz/+8yr8VjH3P5r/mn/t33/t+Jf+edM9VU1bPf1y9VjUv2zb7PtjE+bZ
8neOPoKW/vgm7mPzePSHTdaEzXjXPlXj+6e6TZrn5vjO89/83/7wl6fnT7kfi6d//Potb7Nm/jSf
r/XrHz+6+P6PX+cb/D9efvwfP7t+TPm1bfWUfQt+2bXhY0bO5ucn/uvXnh7r5h+/Cpr0G6jamZ3N
yiaHN9fi+qefP1J/I8KaWTwzQHouN//6S5ZXTfCPX7Xf5l3HhiepPkOn54CTLTb/SP6NMjsVBu4R
kKZzSvDXf33Bozn7cw5/ydr0Ng+xL+O3n5Pmf0ZGmo4DJul0CiM0MhNTFnu8REkXfl2v2aXvdfFF
+9NHWSUn61hotKmIolVi7cjPvss4sfWf8bNRcWMGXkYOsvMmBy+9PnQbAJUi0CgRaxKfAs9Oe3Z3
Bm0Xb8No9nxutKnf542ME3RdjSj/hbEu9E7R+vrjrOaInFQV+DdVLeTYXT57SvvF7C+Ni10g2ijB
TZKLLKxwkfdV/QMv5fRTV6Qhgr5e0eBW/exc3ZGOKjdp2nriTh1rodhVUUu9oPYCb/jQDpJ+6Ouu
HnBKtarPLDXUyND+0u/KfFDudESL0n06m2nHwli+j0Ur/mw9e237HfrkvtzwTK2HLhKujdmYuxeV
EiPLoByfUhlJU9Rmc+MbDtLBQzM7eWvYt45umhsTlUkP0jPEkQy11bzW1I9lYiHPSlEBU3Br9gfH
50dPP1Ep0s1PnB9S6XqCqgc4O3bKPQ54g+b4hiEAs5w0KP9e2iWS0zybkLejQLxCnVoPb8XU92dn
r3iWQEyVllmE76rYZtQK5VVczzZdTRVP1Y7APrRseCagUmWz/M7tJ4YErApep5UxmsgnIw45C/NU
8ogf7JRfp8iOovVOSas9cKYPOCtQt+QilDyOG31qZ3ujFIGTnWdpOOYVXc10yshio+6XoUk8BVnz
PbAGubpsUef3LuRUqR5GUTBRX+7V73oAnMTWDX38pEaCj+Jzj68qHtNpuZELVecqasrYR2zAapEi
Lfq6xvGO3PYVmXf1yccFHjmqslYlHLgFeDV2lw7Rx6ZWatVt4FwlmEcqqAvLLWNrw2SNr8A4wR3E
v01FPDspWv29YRQVD0pBFy+oCPuSi0jwELl6oBcpDtKlH9xXOYrFHfzuWUytLNhnToer+0OFh5Rq
+5jdf8XEAgXHsRtCJO7CsXpIy4E8d1k1A+JFunmXo8yJ0zY6cnPIXviV3Vp5L1yoaFT/qDBmQnWu
joLgkQOsMdkEnmK8S2vo5DjRIITkAhCqsexIMt3DwDoVSruqO2RF02nIdFtrkqi1JRxbLZzWZgpf
WZdJ4cQRmnc7pBXDBzHTcWzKDCPGG8woJHtGCRKpK0rPuzrArWlAV/CumSpE+pWkLFhNuC6Mbmio
Exr/OeDPDURjU3HDCG1+V+gs9QeGGeC4pKgRdPT9Tbm+1PF9eDSkusQYWFWqD6BSVQGwbSUXjopr
GAFja1Gdxba5GTZyWniSK/hzhNPlcnvoqyEveI/q/laScYiFM5elO+Tzi8oNErG7m/LSe4CKUZG4
TRrzOhVrnF04+Zr7pMKZzrVknii+j8+t3cmD8buP4uf7oknkW3EUqivMGhQsW/Q2h0qVBK2LSnZe
ulUKWtuB8Z7PcVCpf+GEDH+3mnp49LTRNC9MC8FWh5MaTD52q3jperGX3fSm0AUbvZfhL0GK7W8x
5JMUXrizq3w6xnAgxApOsDM9O893zy70JkK7gxPO5vRY1GFBHjx71hODDZ1r9i0qaMqzrz1If1yT
nm+v/7/RX1zNVHr++kL/76r9enSR87f/uMd16zcTJI3G+xowOjwZIoM/7nFD/I0yEqAGlWISCOH5
R3/c45L8GyBAbnad+HmOo/nAP+5xfkS1C0EKnhQqtz3s4bfc43N29sU1zmtrpnPBBgZXMaOgF+Gm
YEbNaAix4SKJm95pYh/jkTz5+x7iZIAbSJ9e4A6Q3rem4B8kSpUQllMMPQphiu+RCugOYpgitFmJ
G5xRErzvhlK6KcKoaF0EfLRDhUD7tS5Exnu5N7MPnVmbpNoAhv6NRfi/DBiPQs6/DEX/L4aVRHp/
vQq3j0mcPGbff7mo5/+rjyJLfvNfkaXxG8msOVMHoOkZrPjvFalLv/Es5jXMk19CBHLOrP2xIueA
FADFLF4F9gdRCuXPJSlo8m8Wqj4ofMyA/VmP4C1rcpGXFnj0sCVY2Iu1WIVt4nVpDOhk0G6GYKIU
2cTkhbVQ2Q5NpXwR61j4aCjJ8BCi9e7k4dRv0wLG9egNKK8ngDrFqQg3EEGlT3GFj+GL8fwjCn4Z
9S5S9X9+s8VTMxAisauR7t4nSpC+k9WxuIwHxJYj0zKvSCt7jlhZ1NfJK9hSNyYfGoRyOyGQtrLo
l5h/eiiAq0i+8tRK5C0pJCRg81raGbk5bBJg7u9XvumcEfpzX//5TRfVGDFv0VLgptrP8neOUs2G
EQK617kRB9/ERA3e6eqQb7opiJGX9lTi77LOV5iii8THn60vHgWKWXtWF1TxXixRTSAo6F0h9HGz
KwlxYHGme8xlEgfBf4TBpL57p5fAO853/fhp+2fbrM+XyZY8U8KJJFa8nzIkkexC78I7389rRPZr
zdF6S3wfom9i2eT2/J+Hz9GT9uXCmFfmqdFe5OU6i8BdkHg3F6iYbnvY0zbuJclV7onfz/fqGdBw
oomlzIep6kIqTn287yQ/eDcVyFwOwNDuUz3s99Hk4VCixp1j+aPoGCjg7HEJbrZYzFzjVefi6ja4
uDIOVwBAvmalrm7zUG4dCT+TlUl/rmae+obzhLzIkKAxmqPa2kd7XBEGJ0M/dqObOQIa3GB7ZRKz
Q68l8cG3LDw6kPq4JycXbdCjRS6hFX02r0+tskqMnRIPwUHsJfm6mNrhnVIW4wWpidaJMQ9GRHps
3gQ4/fdaWYLf0hrDpMTUsj0Sy6kTWVrpDkPU7bLC+HB+3p7FPE6NCpf7y1Fpg9hP1KjP99DSk0Ng
wKQKMlPYa0kxvOuI5m25wpdHqC1UyrGwvmirMj10Kfq64tBKdyYO5pugCrSbPCZAFIIu/r3JfHWP
AHC7N6IR5WRZyhxv8kvELRJhMwx5t9MCKXCkGsuGOBmdUpWHTep58ha/1uyd2rXlxVDwGik0ulzB
RH+n+iruOkg1u61P4AKM9Ur2W3Pb+5WyotD0F7tkKaMVjdqELoeO3Ttq8k5eYESEsjA1zWJcY4P8
1cmzhA6XUCRkCxf7fULxFrR2KbpYdKZYM7bXhZ/+3nvVZ7XBCaVXDCQAUmVcmegFOuPPtbQ4cQvB
a0Fnqvk+DvV2oDQQ4efaEwryHA+6p7SDS8cDOjHwAjcQ7XDaApOA2mp8lKz1QRP3UyNR4Ti/7v7y
6yyO4GIwixwbXga7SJXLforxnsZdPd2Po2bYeaYeMtNPNiXITN6xeb8RUNJ3kroc9h2+d2tfYz51
Ty3/xWncocRlYeSR7zFOCPeZjGY/vm+VU/nex1LpefLNr/JRbHjJ9aW5mSrL3JnmtFZUmLfZqfYX
J7NGRUMg15Lszb4zHIkcgevnSfkuE83Eparnb86P91+sbYOI6eU2R0STndWZyb6LhhQtQ13nsrdw
l5fK+/MtHBcJ/72+ljyMKrGsyUM+dB83beR6VNfcKBYsZhA/Z+oL0iZC1P73841RSD09cEsWEgmP
NuO1ku2hiI7fQYJniKWjbXXQNTy8t7U2ZDWiwTpG2W2VJO8SXzQjt8GCu7ULFYtQpI519Jf1otIv
hDq+ivSe0QkbDy/BzoyvhqSiuiNFo/hNw1D6sUw9qXXFQImg6NTt50DsfDcNmnyLvScuwZyBcWBD
ZoqwZWiMrLRxirbine6Fxq1othX+pJYn4VxkGp1oj4N8VbfdeK2gaddupqQltT3WJvFHiJvGJkk9
w7Rx3cPXTSdE280mn+T0FaW9xW6GnFxvZMaNr5ngsRUgp+9QRSdZNuioy6ELIAu/j2oVk0WEYLlp
LAxSL8dy8D9rxBXvwjYazOvOyqSNpg+q4kRa6mOFQrLCsnGTj3THCoxS3wDY9bdYevjNTg5y/V5p
oxyQFRYwPwQvEr5hNm9tZIy8tH05ZspdaZJzsQtLUC+rSLfuxxq+4kZSYb3R6Ihnj9+lMsYceVs9
aJbX414R0D27Li3E2FNTqbRLDPYcBak6uya9tG+V5JCISOrjxBXCNm/00ugcCQrGY0R67l4J0/gm
Jid0UeKtvtN8mfxhU6E/jAeZQvEVk0G0pHlY9uG+HutQcDPZqnoGutN2EyYGD7qIUTL1SaygnF7S
4xs9MizhEDRa/QTjMPnRQ6x7V5VGgVZLUYP8sKx8A7QYBKkQVg12JlnjUT/TWmy2pGow71NzYpal
uE/eZ6hPIjBQyFge4v+iPwh4BceksdQYF1TFigvbQKTvoU/DjFzaBFV1g4ksvOJA9oV0D/RMeYhG
vdsrZlx9jLIoekTPXv+WqkJU2y3OjtnHshH1b5bWTcKWV8vQuBE5IB8ar5KVjlQIeUBOzCTglGM5
f68ipP/Jx1bQdya8bcQ9FGME6BQJ3Q8viTExLLtavogFX2i32AhMJJxrHS3LAQfVWhtBUytCF1d2
WOBZ4+pmz8iAtm7v1CYjZsigf/eOGdbyh1YVZN8NGyhi8DgxQO4LPFiQ/sEvvrKsd1qVt7NvvbdB
QaBvsA9Jsf6IeD3ZaIZOn61RKzExsia8mmRKTB/KYpaQ0dRRiLZiW+BYjm/lTgXzWmKUZGHbKLGu
nRb9oM9a0vg/tCArGmwD+jm7LGFaXeHuhO1CO5V7wZLSLTY+RXTTN5L+AeRW+1CJQtFsMJdiHbJ0
fFcbFG5r+LDRXR0EIYSrVLe+5uw1mJboTH/w2iL7ISi1/s30O4DYcHa0p3JUZmv4sq3Im5Zt9zES
ajki8WtYX5uubgJHq5XsKYd69xG4D0kJn8Q08vcqCi+2pKijZJdSmz2Wot9et1Tifh+HFl8hoWrv
dXAFkOo8X7loTNwtNp4meJLjBfI1qYuNPxSkfgs8Kn8MvlZsotTUcDDTioOf4I/USCmZ2CFKy0eD
5UQVO8WUZy/joryN+0DBNSM3lc9d3Q7BJvPzQ5+KwUXZeBXp+Egqsdwd8JcVcSUd9o2aGDLIE2n6
GltV0ezHGpPVjexHwqVXTz34NCzE33u4qXNqNnjSSMj+HMTCE6/CVpkuyhYfN1spjPyTWkdMPDaj
5qVUTnGziatyq5pCT97YJ0MjlWxfJrLca2WPflKP4V0LahynSgk3TXdMw4SDohnDfTcCE7GrwbKe
sBULvQ2kIPFb6pPhhegQavFFZg3t15KQNduaBYcnvjxoDDs66dGrEZT2hM1YpcMkagp0EjIj2HmF
T3G8Fwr1s2g16WOX9Jy2SS2jDGalZVggxAfkwK27zsP+LOXMdMLSwoZDDALt0hrwjF95R/7Fjb7M
iJW90pKLrwigmrHeYlLpXySejifgBB7h/C07pw1OBCf6/N9fvJgQUZqFWPJ8T6a2oiI2Knvsc8eV
+viz+8Gpj19EpOEExWwy5GwPxiHZSFlMQQt1XLtFAo+iUV5/SLSk32IYkSPPYqnO4Cn6oa2IXXCf
DLaxpHmuqbWSHam5Rqa9D7bqFIWfis6QdoLcpO4AkG6Pk0tkM4Xcsn08HUocq6/FKlL/Zgy5RCgN
FAW8sJmSfdT20SWVK9xsIyF0I1nttuE0Spvaz+fdZtUXJXHSLvEABklFJ68Ed3MQd2ogF0GsEWhV
GptluIchJd5gNuxdDX0RPQglZjJjn9ZuSMVyL2BivYsmf9yeXx7P/OdT7S6C19EYky5o1XDvRVH5
PVL6RtuGGZ59GJ4Wly1WXrMVC2bhdodP6kd0puvHhniahBlm4CIOWDHeVJNVGzhGT0O6GaQ+pDqn
dtTsMED7H/bOZEtSJNm2P3SpBUo/NTAzvG+ijwkrmgwape/h6+8mqmpdd8LN7GWO3zSq0tVQFFVR
kSP71B+5mlKkogd0mPdTm0XvMQqJuHnGWenurXiwvijdNNxko11yBht6yAZi4BF1/gFPzOu2WanA
cqtkc42DuKeVlBrjmsnAHGPfTyO+hlMdmlykRBXhlw3T7WfcptBNz4994vPekjGWpiw6SyfD7RZW
/sWKpnlPEWfy0yqtLjT4nrh7bOV8YP7tpnbalMiN3nmsSY95oRHIKthE6bN9YRJPPIi9/vuLTQQL
UBxI60oGyaAbtxGlZUpOhN+jRZB5fq42krj/u3tsNqqiWCwl02Ex6uYSH5oxNvAD10nMzqVm+zbH
jzeZ6fxYFG7D2ivdq9FZ0qMaifCvCz9h3bTe+BbszWZmVwq+kqRQ+Mq68qoK5/ko3CJ+1GSXPNUR
hqw9GccPhVb03L118w7TA/NpqSVu4EC7ggqd+PH8bzl1E1uvTC9mHJZowsLsZKAQNoMRVCmWqiat
4lmpeLQwpHvbnS81yJ96vZu9h3QN7QpdVAa9g/jIsiIH95JS2etNWD6ff55TQ2y2mW7WYCLj0UgW
LBWHGuc3gh05+HLU1AuL9NRJt7keV7O7DLiklaS9JoGhHFbyrewuoQpOfGhbsLgTjvFC528RQPBt
PBQx78smd2/abJx34xyNFz6DE9uVta6Hl+99oHBVa1oRxFO14GuljvfYbd3Bxl5u89WpFoFk41k9
4HRrCMWFqdNPLLctEKaYcrzfMGIIclyNPmLfyQNRSONmoiB+/pwAhITgoqYRl16MRIZdk4UlZC2Z
L1gI1oq87bKmpfk0TOQv1CXlxxJdi4Nl+dAoxxTnGtqhfl+olZm9eCkydnzdrMvjXOXjY5VPw2d7
SkKs6hEmXAlBMt2Ha4mUUQ8JN4+qbLmb2UrtcoNw5uZJw7kMeYHRdKY3de3wlIS9/Fig61V3RlGX
lwBfp7J9Wz0x9H9efM0mTjJCP8y0nj5l0lZIj5MblZrV+sLRsdc1ql99bzS+NaXFu/MfzW8M1hsb
0m9h1IvVQCrEwcWrU45JEhfXbYUyR4Wm8mWmVntXsUz2Jm0/iNOJHohrRTSRDBpWbCYONN/VjrrR
riM9FPn6mLj3xRyGut9gIxkk5pgfIKJFgZ4nWuVNRG3fperkn40kro5uryI5ghFNQanmMtj4iTFP
FPZxXnyoO8vt/tk+t5Wtut1INSvDcS0s+fOZXEC0t91yq2cIBtNEpp/rOLsklj1Rttn64ljaqFel
UyWBFMtfut49IdZquR1iJK8M2rF1xuyrEWEZeP71nTrStlC41VY4BXwog6KPbzWn75/UMkd/tspt
bJFUh76N3UPmym/hYiufUSLBgSQYejw//ok91xSv9xKphXgtT6kM6ANfkHOX9j6hnngQeZZcKMic
GmJzcjSUXBzMaOOAUlx/FSZC9TrEbjeZlV9qjzixNW316ItTyLzCEC/o9FzfRWM97NmC5W3VaNXV
VA8992tD+fGPpmyLSSnW7vDZdaKAq3nrOThDX9Gq73r4ddv780OcOEiMTQkrtotpQTYjg5x83qOG
jfDOKSD6dZ1cjiikL62+33/wjc1j2xDkdrU5KQ0blxZaxU1azbrXWkBdNMRQhwLjt7veaeV1q/YP
Gvvqo4157N7WyupjXwjtW4m5IUG69lfBDQ6/aA132k59H41pEQw7SwmrIIvrFtS0/LQkiXVYuixa
cxCFNyrKtJv7SB6UpjviuEvCr4LGPtDgT1ppkA+zZv5I2dxIICQdlzvFDYYStbpqx7iplcSXkxXn
TwWvdx/KhmgHH+4b2beN17bC8mFpf7W7pD7YXPEvROunPldjfWMvdtsuQxgK+oRLllORTUlXX6K5
ayzPykrLRwfpHONGqEGj4BY71JnyJWrr3tPzTL1wnT6x1reC7HKwcnfRtShoczv6KuyleLeIOvNE
r2reoEiyHk1pDH+dX4m/2ybfWiGbkNuuBwWfVonpbWerd7bVlns9LJagapvmapxEfOysllY1vRW+
YdOrl0ykXHOB4jZMoJlT3f/gYmvuQcttvN5s1IMxTihnc2P5alFqWUuEqW+KTPhkORDJzWV54TM6
NVWbWN0d3Faxkz4K7AlPbl0U2CYPxXy/5OanLpHJ05KRPzo/USdXxmYnnedIpnlVR4HISXUY+twe
1aybv9tAU2+SIRmuB0u2N3EWx+9GmZdIElPs2ZPk0tOeiG2NzT6bSjdJFFxOA3vVKs4J+sE8idQL
QeepGMfYROd127iDiAgGIi0iOy60JCiXsdnbC6ewO032TaVMAr0jTRyNWdu7VXx24QZ74gjZOlSo
2gI6pCJKxOIXSUM/0SMg08QfC2xozr+/E1vuH1j8OkkNfKnjwJ5n8VkPBfavbfijdZZi8EhNXUrn
aScW5e/w+sUO4swFciLLjgNpI/6o3Wl+0sclv8G4tPOhYoqjY2bqYcyQ6i7plDwVolf2iZUQUVtV
SpWI0gnKbWXeD5GtX8+mKPzWtsJ/ONebHQ7Fu97NDsc1pjjpUyjItmuLWA3fTe3j+bk+9TrXf38x
BcnslIBA+iToYukeUcYPXkynx4PRG+aFuOpEGKdvtq12zNTJ1hOGaNP22h41dDiKdA/CzN2jUSXC
k5HW7ynJXYKWnXqozWaDErteKqdLAl5f51mTkNcs2dYz0FlfiKROiW+2TQ5o1CMYiS4JQFuJ35Ph
zo+D24jHrGkqb44UHaf3cnjHuPUVRfY4EPhwembkLIjgi96fDE3uTXsyvAVHC98ocFcgR9P5TTNd
up2e+pA221Dv1t1I7S3hdooViTua0pvByh1KiyKanSyXaEqnxtnsR6FVK8KO2L8bbTYppufzzVK6
SOXJVnpxPl8itJ14r9uWWxfqXFnVZkJyvF+uMhotMTB2lX0zgsg5/z2c2Lm3hOOSYmunLYgThmEM
90vnGnddXcz783/91AOsG9GLr02zBloFMCEOGiuxQNk5JnbdnBDOTNX+nw2x2TNkXXZ6n6FfSgtg
9TB57Pu2Wh7Qko8XjtdTD7H++4uHiNy5d5o54yFi13mosDMHr9Msj8OQX3oLJxbU1oVFwQLFxUYo
D6I67D5CDqroBpDalaXioIUUtLs6P1knDoDfkdaLR+GnN1Mv9TRAZ/nOaqv7KG2tnVYqmT9U4U6l
H/XCujo1aZuQZLE4WEYU+oFRUG4RRbLsoC/hO63G7oUhTukz/mCKYJ3SOVCdgjRFxzcqU3itToni
pUMhjuPY0qixVsQE2Zt9IjWsrjVDXDe5Y+8z27kYl596eZvdwIlN0gIF1+i4rKtpN0Jcaj1gaNrX
sC5p4BBz2lwNIuxdBBz9t7wtta9m31alN/SG/qOblfHalSZufZI7B9K4jGuEgymuc+FA+h1IvBFI
bykBpZKYXO/R7OrAgWW6qO9mo0cakU4H0chm301ks5EeIuq1Ssdr9dn1KNP3Bzfqx52RmaaPdGu+
TzJe45gZBcV0u/7UR5pz7EwBpzkPpz3ay8XPaWACU5qWWK/HN83Y3tZD3sLxpVeoN6KdSjH2dpgj
65MVO8ORFmB56KPmhjdYH4dOcX0jicT9pLY+4M0Le8SJE/kPQlZVp6LSWCjIK8RVqk3cU9wU3a3a
cFlcxC9lwaQ9ahrXP/+dnRpwsyTSMLXansaFY+qoQFoS7YcxZu0DzAT1Ko9Cg1wOv2GQvXvheD7x
uW2xiY1iT0W8DihMpXqSyIp+sa1bV3aW/Dj/SKeC8K2pJNaLWJyYpnu0B4LAAgCGX2L4cABc2H7v
LJt0djdkfpW3TZAgXvC7rJy+Xxj8xDGlbg4SFc2JpRC0HgdtfB+BJ/fmIUa7SQOUJyJ18AX8uL0S
RclO6EAbsnpUb8Z6pKvKkIUPHk05SHX4dv7nnHi9a7fKyxNhWkSVV8NoHdWxDHciGqxDsxTtvZvE
5REZROaFaoKTbqFZF0Y8sceomzOIWmQnLSHRBSqp/CiQxfp6PkXXSWqJK9K/0z9cR5vYVSvpxRRi
tI9mZxT7GHrSnar1g1+JRD6dnzx8cZimt7ajzctExRxLh071YFxclWaAvnRukjpXy13GBWXxJ7Vf
W18zy/WqUMnvIHANPTVDSgt73UwSn9QKajjoXFzBEqJQbWdPUDO9MV0gtdFOcU3df/D4Fg4DJkZk
agv2HU+JsvFrnsHiox1OCY+ddADA4CeK6Ijyz894CBvIsUS0j3gGDA8k0/V3ma5Nj31tmT/juog1
v1VXHEnXJtbdiAImgR3QQrnGBTd8AHphlv6guONzhKpj8KPKKvuDEv1AoFGUtKyF4r7otATZWS4p
fwp6PjGgq1LfXbo62pk6KXJ7VlnoCcqFaa8lEufF2bGzoF8mBAmKrSyZ786atPdhS+/oDnBR/pdF
ktOfbFOx/WTS2y/NoCbfnM5BZKzUjUsplKbUmZ+2hN94odNHeoyfOyser80ZaUeruQ9VNND7uswi
2hlN3FfeMFsKRc3WFrflWKjqLlNjY9iFbosUiOdLfkL61m5xvwpNz9L7sPfR5zUHqy7jb8JuMF0z
Q5gPnklbVLzXC0P7bHa1uM7iot7HsdPWR5CjpPFWo6N0J8ex0TynCutAV3icZOxLG8eEiBJnzkmp
eUXYp7pHmW76q1SrbnhGVVw/p3Y6oNJx3Cxc9XXujxrip+4tppsFEcjE0uc7DOkgrOZcoUYQNeM9
xlDZz6JqzM/ZTIZmp2AoGHo2lNKPTooP5m4Usfw0JrFpe9PoTKHfL6PzoaOtMvUGPGm+p/3MFr7I
bClR8s7DlTaler9TEfLgVG7W4oA6sGdJL8JCIYEAKNuxIMfPs6aVfLgYpXyAU5L8UlBdJkfadXPp
23kbBlNXpKbXNgWKIGNGAbYzRtwqd5VjhtnOwjrPOGZyHt9zGy+QT/bwjQ7c1s0F9XxuTEc5Ggnm
UIMu9lUaGfg/xnZyN1rJopHFGNWnMYoX2ystmmET4cYfIsgIyZ2jFbQOqdWk6lfDsqjaTs5RVuxL
eoTdq7pViu9JZ1i1N/Wd+3W03UPoUHLDQ7aYHx13nmkwzlz7OODpoHtRYowex+Cw0NybtbdjVs3y
QMa3/jIPSfStVZfkoAxZumZ449QTVqu61wOV/NLDc4WfPrLrXY+JJgZPJwv4RKNy5QRcfSi6O5x4
2b5vKl4okY3x3U3j/oMStnTO81XY16nQYOhLDlzYWraaPlgl0HDQRcMNagda7oTTmKlHIdt9FyWt
ItGiI8VAVeM26TNVmPJYpIr5AxesymctKDlEzxxDzU7WyYe+CO2fZW9KAto0n5gSSMjRHkvBkg6C
miLloQMjHBHRhNVdNE6JPHAstU+RWaiz55ATNL1FuiHbldP0/Q48PuXCMl5MZFz9KN8r9DivHrAi
/0C7gGLsJhk73x2tJAsDorteaONZpYG0wJsPi7M2uGA+bmV+anfhEZ1uE+8VsLHLoSbRfp/lkxx2
EztIQk87fnJoRQeFzqusRcnaZ7Oyn3Wl0vxMp6NmXy5OdzDUsHpPOxmtEINq30p9lM4hdvPu5zBA
3d0tmr0c5sRVqTBrI/VXw2gzADUic3YiZTW43UANSe/Gu8FonWTH33M8MYVR0IRtKq77fqmMPY+O
YrmKm+wnXt9j7+ej1h9aEvJfXKNR2bpkNzND9TA4V7qBNHOXtyZPwPIdbqZFRs4OXaD5oKqOE2FI
0Y1XuT6lyc5xE/OJrx7qsB67derlrOTZnyNn9Mql6JtjRIXru2kOd05ef4xUK2l8ADbuzSSU6K+c
/56VgI5wZ2lF8mDAbfkRxhFtRJhgVBALLGFeRbSe2Ac9Zp/au5DgG3Q6Jn52UyuTQ6muFYEps42d
VRNs7uKqxxQmbjpqam2B1YPrpsQsc64BCiNzqX4OccHMgi4PH+pEtx9yfdDeJyVChwVSTbmrRWWx
FFOoBzuVxGiI7LMwbjMK/Sz0agwfJzUzjZ3RVdoXG7hJuTdbVI7IOOuHNhTd3ZTMH9BKr4otNy3e
K3JRUiTdcfszAzM/ey2aUlyw4Sx9zdyMH1diSaF5aWg012Tf88XTWLL+jIPPuJsSR1V80cn+GTHs
+Byn7vQ1Ko12Pjqdroi9Jc0Gz9s6GWfuZZkLTS9UVCrjZaQGBVOwG9ys+E7P9/B+KYv8vtKzjsZ/
NVqqXVGMdYIxaKgMnsXCCdSynfVdKUvo2Ko9xb2XJH2iHyuaNX/EfLtfCAwascupclcofNtwBQcA
zl+rxLjKqW7odmi97PDK6AsS4YhJ+lskNSbe4q0OykHA2zLS22Ro8PKbTNE+/487sDCIGpzjUKT5
J6SC/LRYKapP5wOiU7G7/jqaXLKwkpg7Osdlmcm+uNZDNs0oiKGeX7gpnxphcxlv01zTsVp0jpaj
fOjwqnpMM61AIzSrFxILp+LTTeYNKAWgVNOgAJDUYj+CFbkpp1I70BVaHrXeuYRVOpHAUDcXq7DR
jbaKJ+UYyfgzl9grRRuRcufxzzop5ytpdfaFTq3fdcg/o1Sgba9fi9VkjUrPQxyEPR2bdZlFj7bb
DA9UmugLx8cq0K0e8W+bFnf0oOle2UTaXsTx5Ot8IB/dzP2Vjw37ctLJ2yGctI9pPur0+OijL4j+
9k6EOATG2uxHPWwXJOfWHlyp9ah3U3VIbGqtFnlpBIGFfTUqaeN1s5HvFaqQh1qb6Q5wRfYQLVpy
1O1K3oW2RQ21n8fbQammfWyr+VWeScrDMFD5AoxlX4xpvpd0Avh2jxKFaLtDrtnOFxbaiUoUDgmv
J62OshSFYqYca6torzTO0n05ZbFPE2PrG6GRwnaZabSVUrluk059jnEi9zMnji/kOk4s9S1nvpea
4k4w7gOTfoTV7d4lqJ67AzHvpYr/b3rsnytD/w3XfJFF6+l1jfV4kQF8D9fn+fDDjMg1u/hC/Agb
lMBluoy0mdbLvsT5/ktvoW1OJzXdCbHM15kgjgudJjouI5iOvHXDOyDhyYG7Ce2JkftYwg94kl35
ozHd5HB+mzlV/dkahcVlGBV9RuljCZduv1INvHyQ4+HfHclLZz82uvVjcmr9NpsNM3ATqhQiUQ3u
9I77qGvudI8Yl1UYGu47IzbNnWhd7YIZw4kd5DfK98WkYrWyGAumBHgyV/aTa/XoDkgbegJTK2xv
bSM4Pw0ndpDfycQX48hIzWUEoeIYu/MjFm7lUbptv8PsPtzxEuG50D9xfqhTj7TZFHNn6LWmFOFR
babhdkaB5hEajgeY6rTg0VZyYep+v8E/FyQsv9dfnRRRLZoQ67JhbF3dd7Qle6AyrjfQa43maGtW
LXyny1wNAXPbfhvEkCMEs/qjU1YDN4NZav6Ymua9m1KTufD4b1/zMWl8/av0OGo7QxnjoMlq7Vgk
JKaQhwv/9+T+f+LKC+LKKvU4Dbvw6Ab66yXhYv2//5e5Yq2IFEy46Gpki/wPbgU8xb9gV8CvQBhJ
7XQV7v0XbqHZ/+J/0Ve0pm5hJ7imEv/DW0G/+S8TIbyrrvQLLLZV/e/ALdb3/3+r1VKJpHFewRQI
ozcQL7/3qRdfom5neqpo03KjxWaLpN8preypa5ws/CCIzbQPMWnk7y9m5vHff/0lnWBzMAGLA+fB
erdAw5ksyXWqXqbuEjhMeRhlzrW9e4h2z59u7989XZI0rZHBywfbjrH5HBE+G5VlSuda7j5/fR/t
bsPdJZzmGhOeG2Jzzs4UduvFZYh2//T57v1j6j8u3hcO9Avf7ibb++d8baKg2miy2ZwZ6IbWOv99
7PMwuV9cihdeZ1L/GGarogtFjHq35LXIcASHdbTzflegs6fzASkiGl4d9pQTuPY7rZQebiE7hU47
8jwesrSdblzLnKZSQDvnl8uFN2ludnDgJv+Z5uXw8OB6x/tmd6lEcGkI8XpB1rNqwm/nyfPd19h7
3+3uBcj484/xOhiyWPFofAWOVVgor4TXdYd+8aVVUUjni2t3x9I26HKXYezTtKnDK1Tsx/NDvT5W
/z0U1n86ZByNXWQrEQMBIKaMOvxRMcOSTL1zXaDxDEYlktejS+8l+ZNLivrNRmIAfCalAwISw8iV
mbt+LC8eT85GukhMO4O61drDoo4w24a+8XMhiutc2Mnx/DPq2/lcB9SEvm4mVDyM391mLwYMlZTz
VggGzPsYeIVh7Y0CIV5pQo/qq7H2pazJL6exu4+72r4xzaYKWm10POlG9SGS3fitovpUeZ2mAWes
CsfPkmTCSSUhTqWSmT4rVo5Aner5nR1G1q5HtxpETeUcq2no9kk72FcGnaU3FATqPTxt3ae6Vx+4
sjrebKtw0yQp09nOs3015Obh/By8PtTZsnE8MrDVxTxLJV7Zhhxll9vwIV0at+FKHtwsyw5lOQ5/
dxTTXv3FgfaSMjSsrTJqVkw9lOpSH2YrF95ohsMB2+fmwih/vM7f5E7bBbZirFbmm698aRQpzDk3
Dl3nNh8rp1Cus9oc3/Wg1y9EnW8MhcWo4fChrB6tW7W+kGFuxzI0DnNkF75k5A9z3vV7ZzH65/Nv
6K2hYGRD6nVhkmpbdTeiFKdMoFsdyPbBYyLb6RtLER9icbEC/8digA3O+a3hr4wREFTz1x9gKoql
CpPYOkBZN3EfhnXUZTTcn3+g7dbCZcpdq08aS4HwZMtOCds+abvRhfgSauJXgUl6DKXQSH5locu2
trR29c5tSSddOAQ2Z5NhEOcYKshqe3UY1Vfa18vtRRWY0nXGEB4jundI5A1Z8zkz5SgPhZoknzrT
br4kxFr1LtNacel82G5u7G6EYoaFBeRKz95WPnGgjyvSp1mgSbWmlT4qNTOYWny6PbuR6rMY3Ej7
mzNtsJWun9zqN7ZauG6e2MmnJu8KxToOdZkE7LrR58qCZNk2tn6zOMC6oQB3Fz6N7SIC6Y5HMtd9
8sTwube3ajMPl1w3HXp8ihmhNvzMOwpJyd+SFrJnraPAg7BoMQHAb23OCmxro5kPsAzqjhyVlofw
EjKzO0hUjRdO3TceSEBMJcDGVxjrhM0sRoOpzZPDA8EgWPzR1hQ6UJdhf/6r2H7mPJAAzs9WDMnY
Bmv8enWmZT3Z0GCrAEFqSZDULllyiFwjFn5dsw9dSIf9ORxnOnaoJmwA7g1buFAPB2CSopuA9uKY
XJp6fOPQogN3dMwuEKn+nL+Vfcc1hE/PsuztrrLQalLGpjUHahg299S+mqNaudOFUPqtUXAlgYWs
GqaKlcbr+VOAUUaU3eZAy2fl0I1JEyh18f38S3pjEFO1OS5cHbYk1suvB2k7FpurpGNQldqyB4U1
F7s0iftf54f5Y69gtlTiIIjp2CHj0/16GAB6U21o2RgorMkHu6/DWwFz4a6aIcO28zT/OD/eJnZl
FQDk5O2ognMavt/2YwLgFfVUKAOrMOCAyA7XNB1iR5rntV+7o/S7qhN7Jw2tq05Pyguv7o21iPeJ
rdPNqHJ/3IoisH7Q7FgMY9CaibIPK5SfuzFWp11WW8OH84/6xhu0WfJ8YmyJEJO296BZzbMC8UkQ
FVh27ObMFYDm1OSS5dhbzwS0XIVPoa7kx81yDKtWT1PdnQOsAopvzKjdBg4gOe0IX0Ivr84/1fY6
bBDFMXurJQOnKvDTzYppk75LoEgqwRCNOtW9zKqdR1WJyo9FpCj3CwXl9kuau877MXSc56IpdQfv
RAxTkcJn7kUf6D9WsAXg0QSmbmFizztdX8OLyDqarBS4kaoGEfMw7EQyDe5RgUKUHcQS075Yd7PZ
0idG0OuzvavaQcbWAP0YhZd9lMBbsKVBojztcmXBKhk/BOWjFiXzo5gKPfXPz98fHwA/1+aAhgHP
Kf3H9E2WnfZgsOcAa0z7Z0Fla/Ri0XdU+IR5M4InObj4dd719mjvhTqPF3bjbUjECuH0RejiWrw9
a3uxs7u+Mo28noNZrylpFwAsQElSDsjz5nOIeedtwbNfWDR/LFEGXU16NRd0mMNm8/odLf3STaJQ
5iBJ0uGrdIes9yLZooQatOK/Hgn/jzxJDux1NADjgIFdaz26X49WjdBFBypVQUEfy5Wd2m2yo6/J
9kQs1AvBwVvTia0LWyf9p6sL++ux+OzDEW3DTMORgoCRKxfb9Jz0ASwQDC5tCIITxMyLVI83Z5TT
gfObOhO2x6/HjTWqCXY7zcFSds2uXuKsP4pODx/1xBkNL1WLIJuHQ1XZ8pMajdWDMWFfQleep8cN
HirTkNxpXFuAsmdRJy4EZm99k4SBDvBmlcTZdlaUxFag2qRqAOzG9OKind9nfUTxV+m65kZXs0s3
l7deA5l323QIbta8xevpCO2UqjI0IDrlrcyTeeHe1XpbfqiMOkLzoRvHcrSUC8nzNwdlIyS5iecI
8cbrQdVMHxQzFktQZyONPkVqYF05iPqdSJr4OdaB6+zSqkQ7dn4LeePdk7zA32SN8UnSbiqaUy24
VKFnC5IRMI0n8dRW9sB/nZ8WL/fT+cHeeEidmBSLK/CvRAqbA1uZXMhbtG0HsVQVVlEHyMiE1Xg/
0l2/53f0u7Dq278byK3nGBEjJium5mJh/HpqrQEHHL2xlkAlL4r0VjOgbWFIYF8iD/5xSP8eiN14
ncgVF/56IKqIup6RUQ7yVO19LlQImhETXnhjb40CQdPloQRH5jaFrNahPUGp1AJw/iWufSHiOB90
OW2k59/W75rXiyzvuvfptiCdphqOy71osx8VVuYqoVS0oG5UdQIMOfe1X7kGJmx6tE6fRh74fdtF
huOPC4Yxu6oRbUS/fWPHXkcjkg1Z1JRJkDiJecmJ6615IELHOGp15+GTeT3bIeqlKoE5HaSZU1EH
TaUJwMyIl0sC/7c+kZcDbV4rd9UsnHUGMosJBONS1AqWmlOdPWtNrS8XZv2P6z5bnMFxbXGcE4Rt
P8i67kCByoLdR1FsL4p15ZOVduKqnab8XW629kPSiMZ3c11PLgz9RjhhYC6CAZ5OkEm5+PWMzuEo
58xmL5jpmXlvOkuneg1tes+cC2jns85VbzH7mK8BhtN0BXTwUqnyjXfK9Y5nt3CmsyDhv/4Ftij7
2kWJF1g59rpImdp2xJ6rrS4J1d8YiJXN/ZO7uIGl+eZYL+YMKqLs7ECNTMPPIAH7eFTnf//o4oZC
hMTZqq5Vn9eP0+r92CEHsAPIdRa5+3ycXH8A4v+DjSjG0GYJjc/nP9o3Fqu9pomI3lmzKMBeDylk
GQOmzuwAeZTtN5FN9+88q9dcAcML9583DmaXU5Ktbo2Z8Sx4PRSRkaNlnWaQhu66r5S1i0fdRSvl
u3WOeqkp7aa/EPtt60HrloQNEwvUIl+K59JmTLNsKgSssJdzsdT2oZ0XgcNGncvHRovrm2Usqueo
jvpfRof3CVY2ifZUDrSV+OenWftNhttsjtymSTcSJ2jM9GZzJAlvQgNPrWDoejf15EQ0cgAfXD+h
LzOse01FKExDa9Wlx6R38XSUkzB/dJHuqgchOyvlCyoGc28ljvyYRnFNBwMnSHmVpGLGtCdrYmc/
pHr3sSiSZpWaAauHLYrxtKfiP/SuFFr2SVOS/F6N4Tt+1hfZ6IErtekht8CTeU6LbZWPv1NuHeOo
CquDkqG+8jBQNMabWNad4y1Gg1DWHWY79QCtaj+xd+x+EYDW5W2MYLj1slHIjyAEczimOWTVfZK1
5bPZD4a9S1sF/lLVtvawL0Vn/BhcB6VdooZwCetCY0pGeu0+926Oi6NpTLLxpTkozmHiyxg9wMBT
4+VSDx+oDw3lc6qjMvZtfXCXnUIOzjxgY4Ss0+ASqO3y2hF0CRbG9FXrYqV7SJO+uRvQkiBVAvLy
FXSYzS8m1/WtDVGcXQFLHGcfR4D5I2rQ/n3VFUW609tFA6qaKn/N+Lf8iLn0NUctU5Yny80qGmSR
7+m7JYRj7YeSmx1h+GTqT5lmNZE/zCJ8ahJVmXechdZzWJkpHNQiCn9gizSh7sfM6r5Tw8EOeKbh
AwaNZvhg9bSQ70wrVet9Bh3pvi+0qvVQxgosHfVRaRDFFPnXUaUkcdRbJ/swjSZdq2E99j8Nla6l
oOdvSAxo2hiHvVA1YXFqI89TV0VxE+cddAkoc9jzRKWkJGIZPVC3sOcHHdo8cmrYddxKn9RlxA0w
B6UkyCdPbY8loa6GV0qezoPXCXVcsQaDxAs+j0WAPLBUj5NwS0yvRN7qfkR/i4QoIPUfpRkhxpWa
NtqetJshv3aUKvs25f30gxByuZpt6eD0rgksp0xRN/qhQdD+PXLU8ruhd7l2wDs6A5kfqgpq79lR
PuMZBDhItlnzVBFGEEX0Kj+DdRbtHbUb1Z2p6AhOFRpRGn/MptzYRxySv/5nkNM4tWmtc3y265+e
yX7u6JXF6+D8DvDGOQ3bxMSNkJuoQ2rm9e6X6pVbI/g2AtTxwC8bNavlXk5T/BnTqBG5v0lzV4NT
NjEtMuxLV/83DjDX5IDEoZOfQDD4evhcV8JiVCsRdGyT9w0VCz/PULqdf8h1O91ucuxxPB/XQ8o4
m4ec5r7TSz0XgWiVoZxR5Gec/I7a5wv+ZbLIPNDF9vfYnrEYPD/0W6cLxzOkWKxO11P09QPSlROt
oYII5iyFul8k5nxEWr88/y9p57Urt7Ft7SciwBxu2ZFraSkHyzeELNss5hyf/v9q7R84ajZPE9oH
1oVhAa6uYtWMY45hVa5zQf31++P17reKJhadROo+ZJt3IKawCgtFEyMadGHewW8yKKioeTWsv89g
lC3bV1prmc5iUQh/Hy99f5UckxoKdQbKGvf9XJpOWlwrUxJUc5QgxdA5xl9RnKrJoVZHFwXnkgn2
Uw/ccfQBeHp7uedGGY7CLa06mbSQm60Tl24WtjnbCQJDsS2i62C7TDMVsZwmMCLi7FNHSqf5jRK3
xpU+QMVgk9lACJu0avfFVIsi3TmS+zCGVh41LdAChMBcg9uvnypxDdlhnMIm2tKH9qDgeJ5bzXoa
mtj98fj4728aa0meItpsiDyudT3ATtZFqWaQ5bpGfxJGnCLWp/cvwhy9s+UOe/wX9zeNnAXIAEdO
5dp0Vk93GGLTjbPFvbpxkl5ABLlAoZf8xUhm7RK3DHXMqtHuvOSNA5UFQsdR2SNwjNWihjqBzWA0
7Yrlzt7iyFt/QfrhFPXqHk/KvWmSMpmEn7RN1PvGSRMJ2+ms1ruWEILDotanTx2S5Off/mqvmls6
5Vo62ev4SwuZsQNxAyhHTRRcCGK6rRiZtB6BOIpFEztVhBXcVlYCieTpp9Eb5KlQjb+9ksm0GNAx
2y61Yb3MKH0hL3OgnmHUz9NYGx9KNDjtAFHNNj+MWhiGlwQFkHft2DjvY8WED9AdJ1qLSdgon8PZ
aaOj1sKO9AKJLgzLIaI5/aWtrO5DonZDiDblbH7vwtn7skSEQjvHt3EfAAKQ7dG6Q1J33c2OZ53Q
0uoY91L1CcZrLUTOBi1cx/HnyJrS379+LvAf6hYsKUt5t4entC7zSCB/rlXduzOUXkUuR37q5rOZ
5aWyk8hu3EAARxgiTdd0aVdvV6uZ1FQcoYXMsTAAA52uDQY6b3awRturmLgKzaUvs+7JQHkNhVw2
h9fSVgTBCMQG/Rd1QuZtZ6EN/4AOt053FT8hDeLtdlLHHJALqkLkUWMIwAmXdaI/uIeats8tvwnt
8VQx0fomnpd8ryiwdVFkOYD0lWuvrke7Ae1Cg9/qDL8oXfyZiKjT/0gTo/gCR7tZfX78qLcWozRI
kkcOC2BsVY2MWjcavWlQrjCjKVAqJx5g9rpWg0HbBaJvmH0uPvVdgBVEGXewm2kpUlOblWuUeciB
DnDBwJY7nlHp/AsipGHHo21YfZoV4D6ppNHwXbeTLbXrJi/XlCutcfFOV2u4MBc7e9OmWeGjsKoE
jZbbOzfnvqIDToWSPu6dco66dm3dILoJ361cmRi3VT+C4j5EwklrrVNvtxM4vHy0Pdhgi/GHoofu
RW/b2fzt0rZDoQX0H7umtrQuI6bFZOcWgPorhctcg6YiBBg2RNY4okU6IBO+eHJI2g3n5tPj67T1
Qh1wxv+pJoGduX04PEUx9G2uXLN6sZ/zZFEOzGDrO/vbWgXIPJ1ZGa5SMr1dBX3ixWrcki+bzsLx
R/pwxhEh1NbZWWjrxrqvARqtbxoUq+3YiLKmVijYjkM1KfEY9fXi4W8zoubaRPke+HbrMfIsLBkV
0XteL9d5cZJVCL6DiEF1l0HmlvZTh6pOMvwXj4Meuuy9AkvjqqwMtmuBQ9Uhmrn2aQc8rHcTyEBF
boJkzPscRKpZsb2k9rwdN7hxpNhTj38sIF3mnREoufrdwh77sOuulGWZIIW44ks2UJ+h2FqcHt/I
jTPlLPG3Dj0C9EBWd8VC4xcxNtO9ZhrE6noI/98skN1FtKX9fSdIkwUzqoKwp8gpbcMvvWxa+YWh
ZbV3rRIrfpvphXjq7SG5/P6GCMGIjoAucvdXG4qABowlkfw1SrPpGar17hTVWvSPx6jx8fFSK6Kd
1wgM3+AxUIBJc7kptzvSs6rRxizxrsgMlIFJfeU8zTqj6Y1qM5AZmmh6dGGBAnAPSg+BCqQHPfcb
NKzRJcwUd6f+ueGWPXJFDJp8/XcwXCb307yZpP9vq5RGIcMsFzR/hqeIOtoBSvjsFDc2ER8Ord45
i617ZKDxiRw97+WuVRwDH3N6+Byu9Fqa5M2IwlFGVGWCyrWVadqTB9hcjhwVs4MBv0vGUWus0KKy
iBYVrwqEPRnukSsxvh+r2dqTcNx6kxYq57S4mJvl+t5+5jFcvNEd+MyLA5SaOXrFJ+Ix/BDwhd9m
qrfzUDaKykSmdAYBKev8s46FbWUYs8LqvCt67Sii5B1aJ4deFwwszqHaKGd4YaPkmTJ/m0IZ1A7l
SaBxWVMPneZs50G9Jtu3NRdZ2qYWIQWJcSqrF5WMZmsmrhle22TMTfgl6bqh3ZuX4l1TNpRbRZa4
4SlclGE6KlmaomGYTP/Ys93/ISq37Py6z2x4CaY40fALWp5f1K53nmbK6iM0AmMdnh6/zK0vJqOL
19K87EzefrEijKNJXUR49ZKm+afyjPi7ikjMd/By2XwsksH6/2NX/yss4/7tkYrRKZdJBSnt2hQ4
vHPIU3MXUMAy1hezHbTvoRWiNQi6AvmKtoqbFHmSyvy0tK23xwR/7/Jd1aBFhutQZZ678le91cJi
EKYucZXReBBuoKZ1htwSPNDjk91eyATsCMwGY7NaSID87bvIda51FLkXRWRF0Hfm3jjz/fNmO3gJ
AGsUW7hzt98P1REYm8qWVVKRnbVlMI95A1YbXOK0c703N0QKxPATcESAj7dLibnsBThl54pCjHPw
mA+4Vjr0Oo+PbXNDhBEUDqnqEJXdrgLIVmWq2HauwmmgCPVgeICSxggcpfn9KImzI5WmGKlJQNLq
C+lGZMVTNVLqx1RAF6POp8oT02FBmOO/2ZULEgZvjvtbX/oC5jickepcFzF9Q3BuBIg9thc3rcYd
13b/oCXCyoFwzwD+QUXw9vxiC5ThYk8OwK6yC2KtcM9qno6HySt0Zp0M67cNCHsiOQIAawAnW9dW
QgFDMegi91qUtvpUqigd1NnSngqjRQfPHvdM/sb+uO0Gj8rV+bOegyjSQhA4dJgPJ1Hf97S6P5C3
1e2bMB+sn2pYJvpOJrZxI5mBALwJYE8ORK2eWDR2TdorEMgIpZ/9uBxLnw4+8qsVBC+/fflpV8rg
gFBTu4NzObAEgR8zXHQkFvdJWB1aET2+okA2aGepjddM1ZCHLEMgGQLe3pPUqw27w+lcjYEqbde0
6XGC/3vn3m99rV9WefXfv0SyhpaA40Uv48rTAHzp6TM9v3n4PLuwo0+5bf8Xt5FLT0XcwbQT9Nzu
aiR8m+nm8q2gaUEuo/Q+zPY0+9FUFmfTTOBn+i++GAVTz+NiUE5aGUXFHRxqfKV7dYYwOjkwlJ1t
AHl0uaCqfbyU/CK30QVFYGZfZRudKrC3Wqq3kpaAoOAsG1U/dBWNqdTkRiJVkh6W0VCvFfohiAbY
2tFKGv3vx8tvxPCsDzyBKgjgOvott2fblUsqDJuzHZ3ErK6xFqX/ePXSm8c0hmbskOvwrL+f67QZ
L26jOzUBkNF+ym29faookdFthhUj3zmVjXACWwDCkzkXMFXrmKto5qRvJsOh7mTNFZp4pfaSNKHz
o+/rdoQQSveQ+DOG/l+ttmgBPz4Uc+Ob0OVi0IUSG5OEq/uWS2h07RHw2o3SIuiGpCJjxErweJUt
C8TlMsCNMRrJ/+D25EXkmLCT0nZw0np+2/RFckqG2T1CBfnz8UobAbUczsZTvU4skS/cLtXxpBYK
PO4VyMPwbiwAaxw0+hz2YSoy+7tZoCLmx140BqpKsu1pI93eDhKsx79j41wZkYQwiZ4eCcVdlGbE
BgM2s3ctPJG+7dNqgGK/+G1ovs1mcSZ0qzzQhWvL3thmqsMc513DIonh+6E6Agp7hu9gx0rIU1s9
XQlMZ8SCLoMsN92eqsgjiauIwitDBghVQJ1loByeNenXDFnE+GlMsvpF6pvuFe837K9Ods/umOO8
73zMDZ33osy4n1mqvek47afJEdGLGcGtVMyuvRMjbt4fiTcE2sep0ne+3alT6sSIqUaVxDSG76kL
iZndCpceCb0DMUL2asXEqIy7epcW7YHzqHV7l2dr07QPuD/QA5j6unwymd2ytDFdrL6x0u9TUrbe
xXbyBAnhwjCNE/9hSXccz8YTJQSHLoGGO3517Xgoe4xG7uHo3M7pD80CW5pRetU5aWDbefw2tpZi
LUo30gwTJd8esYHKUdFbAh8HkOFLFnvmPy3GGY3J3EIO/fFiG+YVrOr/LCYf6i8OXFVHeLhnshi7
F6p5UIjCv/dL1gYT8DFYyZZIew/Yw0UVHYTwdH28+pYZIN2QjX1m1WA/u11dp/doerPiXhV9LN/G
SBK/YVJA3wmZtw6UHEoaGl0WZeTf/7rHlHii6mfM62w1J9OI4a6cbfMkapitf39DVEppIQMUvZ+a
MUUEPWJG1AUfZR2k4RIf0cjZ063fOjYgmDK7lo3cO1BAlzBjV6T2VWS5QEQ6L49LXFc79/CVEWlt
1WRbkLBYlaD71UWkgI2Um53b17LOKmbttPYjVICezwOnpmemNiSss7hU+hQfW/R0fYVRtzeAx2ha
mr1yVJUR/lWnbt7maDj54ZJYO192ZXdtkBkUp5kzI1Wgvr+2u/Vsloxe2WOQtEP3PkoydM76pfyS
wVX0xoXN44ph/vn4E2+uKYuqlG9pX6xvUzyXrYlW9BjAolnlx2Zu0Xe34w56VZXyU2WqaPlSgAQJ
+Xjhldljs6QMKgm6pzJtcXeN87Ir0jSZ5LWyxFsPZoxDZg7Z32Xel/8YScW1frzg6pr9Z0FGYan0
MQB5B1ht9Kkfhd7WQZUqbbCE2ujnadzujNZsr0KRVk52AU5YBT8a/gvVpa4OcskH5nuT5n7wIFDc
2czKCPxnM3K0QbJB3H82LRIWk9pdEyDQiSKnNbfLBWYnfTwKIxr+fXxyG4tRtWTqHQYEag/rsLHU
4tmpY9EFnuiU504k/VlMYf52RjVq5wmssga5L7h4CKYkKAcPtX6kowVFThW2QVW1dfd3kQiKG3o/
Z2+LCprtyxA31vBUCBG+Z3YkezvP2tjtnO3GJ6QFwPOT5pUwfWXG7aak4tZEbUALrH9DRXOhs6+G
X3//UMF5eK4G/J6h6dVO3RisO9zHfSCYfD8Dnf3RJC7CX2a11/PaeGnybVMDA5QjS2+3DmNSvVFo
k9MENoz4l35yo+TgmeZQ+G089JfO01AM/+3NgYtwQeVAoQR0cPUKqjLqJqOxuoCi9vS+gpr8bNqL
96zXZnR+vNQ6hpNXxqWpRjqFSySlXW3PrD1i4MzqA5Avdf6EKrhoGIpkKMS3vMZ8aq2m/AcKUphI
UoZ0sYPqZz1C7Pvx79h4JFwYgJL8BBXIv/z7X9xyrhuTXutLF1ACWT43UQhnogvhLjMOxt5QwcYX
ZdPMzkq6hvtuuwPXid3DCBrEbTE/K2NlfQnrPu+uVksOcWjHot6r9dwvCUGDgemkdg+ua709N5uL
IouTNsiasTxNln2yYTs+qlXmHSBbjI+PT/P+DbKcTZrMLmUfSAZ6v5zmMhJkic5tApBNfdBBl3BR
2OvOKvffjFWg6gCSR8Wc1367Slb0JcXNsAnizltgZFXcSxZ5DFNp/d4Q0XopvhSD8bSe8Tzk3uuk
WKnNUHi9sgRMedZPbWmQ5qtOeaaouyevtbkUj10OdpJLrc01Q0pL3jSZGkyqQCWt6P+Ix2o8RYbx
m/UEKlds6peV5KX55Stps+GlsDeqgSWq8Tz2oX00FXNvUGntE+QqLuwIOj7Io2SyeuADaEU8Ra8F
GtFI4aeW/ZV6E/1HANunodOg3hx074XIH9yANlc7EgHrq8jyGiOEvG05ecwM2O0mUxRu8zStUMMd
w/apUFxUW+Nlr/G5fl9yFSrqACZJycjzV1eRkW3bjLEsQcHYAqreqmC4YRmPBVTLB6uw6h1Hu7Wr
/8QoOneS0vTtrvpFIRpijjtYogxtAopyyR9N47jxjjPduIyy1Umcx/w4Oe7KEwwOVMtKgXhD2iFi
jzBxstSB0UWj9pRrjbXHALaxLTJNDtCljHBfkrbK2lbA4BtBNVhMvNRJ8oaP6wSPrdMrO8EvuYS8
+Bh6lZFtICtyyPT29HSGangXtYlwEdSgX+OSMn8gzLL9XFeKOzM7IMDHhVkkzoXZzl+NotZ13O0y
2dAua4OORkOsiXPn9o5kMVGbK3cbEdyG3md4YDJ6zvwesxodynmoP5RN0SnHUIvs9wtt1fy0ZIph
nu0xjb3vE8zk7Z+C7hbCnTONgbO9jEJ5mkI17Q+dBRnSYcpAecMn7sXz+fFZbH3gV0oAYMa8zXVV
akL3vUcdQA+E6iYBanqVnyhZGUSa2Pu4G29EVq1lacojyX2NBH4xN0nSJLUyzkugTmL45sRzF0wz
xMO92Vf/TPPw5+OdSR+z+siwcVHBJBSVhCly578s5zZjXywqy6Ghg6DuEuX/hg5qBlFllgdNTPo7
PU3zoMpNY8cvvQZ/d0tTMCE0BKV4h2LNM/Sq6hottCXpI+u5Ksz4j6wvvI9MNFlB6UYuwx6ij95B
HlP/oed9fW4Hz/5ch6X+beyG/N3QL9Pp8XlsfGnIRyRyCg46Sdxxex5Ik8OxkJoLaUBrQdHWtU+z
xrh6GpV7QyfbS8ESoJIGYw9XR++ZSzUOis2X7lTjhSGm2jetuHhB4WlvynlzKfZF0Yh0DXjGaleD
Xid2gbcUomaQTwxTd4TTS3z0lLTb6c1tXGBD5k+QkdI3u8PX1jMhSILcZdCXtCe+RsR2XyYmol76
zC3yn7o+KzvOa3NFCTyFOAYs+Tq9FwrypFpaLIE2Vs5HaNSQ8QsH9Zj20QALSrQHF5J3YH1x6YYz
XUJGL0dqbk+zhZDbqdMOhnIR6cdJBxU9VLHle0Odv2uhjQY+av9m5I0xBhtFKsVVMbU7+KAnBBR9
kYUBLpzyY9S7KspeMPGW0IH/H5eS7ucXk9CVRlhGgzsHi458yqno5vEDmruosyuZyoDo4we3eZjM
bYD5poN8FxOYech8zMRheu2oPSMskl16CLP/hRrUvkZLVX1VCU527ujWe9BptJogNLR7wEuSqm2F
IM0cWGWpvp06kV26qokvMqXbiUG2DOwrrQvZJsD29StP2mYpMWoT2t566GtRWQNFYvoSLkSdpILo
p2/LyEeDRN+p0uytLJ/Nr98RnpVEmQs2SU/5UOeOgojIbJ7VqfCu5qT1fw+ihby8sctiZ+mVsKhs
94LoIevnsdH3pWF0u3ZtVUPfJSlfdWiaEk/ehUAP4jkejsBfE5eZjhhu/YK0aDzYgH6D2cwEg412
6D1VieJqvmrWiOWCwkMzSdMhVvT1eQpdH01gmrnjQvn5XT8OZXZ6fCG37gZVIIIfZhHu0S65yENt
zlM1qDM3O48eKkzVktFLXVR35+5vGS4CCoZg8PZknSuzrA6mnZnjsgRDU8/nqBQt2vZTCXJ+Xt4I
Uc6Xx1vbemuSuYMhRha8axfnVL9Q5RUMACCdoZ/N3uhfclTPoveweuhukIeK1hy0tO0+Pl7Y2AhZ
JQ0LsAZcPZHyKpa0I/ycCrtvUKLtXB2htzB/NJ4aJ0Hn1G5zkcgZ90zLL41PY5MKtGjq1Jr9aZms
P+BSUYt3dtOk+hG4AHrpYWmO7rGCzSc6uEvapohe5UKl6j0kXxCOhk9qKCA/OatI0aDPZOnLl6Qe
1KX0Z8tWyBO93vyzi1KvOvSoPP0EqbiUR4g1oBopYHX9PMNoYvqLW6MnpfaDUzyrKs2d4vdvANVa
C5eIN7kfPJ2SorUVaR14LyXiWhVz089JKsY/jUpNsnPbIwh1fvwxNm6dxMzwB8ZseRlu32al1kSW
nUIFHt2t8ci088y1wzKcoKMMtUMrEEXbCfa212QMhW4cHYA1MryJqA5LLAvP3IGlcdbs/NhhG86A
MqZPg+rtXLiN+0Z3CleJPBVV1nXu4hSWMYRhOQVRvphkZJ2qx4gs5fZeM27jSZnUpumSSLgDRu/2
MGmFG8hQ51Ngoswj3qiZCjOkaHOVgaxpTCMfda7lTdLOyY/HX3HDTEmCW0Ye2eQ9+ewyJi0juM0c
oGfFbKuw49k72SEt3tPAbMDvDUtIe87LpS4OdNImppPH8IsvMfMJ5SVvnIO6W/qngrBYQ9tT0RG4
6xakyWwj27PDG+6LFgZESnQZZZFnZRzdUkSdIeolGIfGK166tFQbeAlSGzRb/sNWlBeY5IzpULjd
HheHtEarAE9OQ8vwH+2rOya4eXbgSiE9DbAp9RXjn51ypn+eGtdMgiw1TRhVdIjTm0QBQTPUzc5p
b31bOUoowYJA3NbWkhJwTnCuYRW64oM7jXnAHOtfS5flOw7hlYd1vVM5RCVrP/Sq1tFJqlnVWEQ1
35UwSX8nEouiatw4SnHsafU6oLKXvHoxnB7weC+04s+6rYtrODTuV+T+jAyWBc/7i1dQ208xHA9d
kJkudaTHl33jOeOuwCeDl5cQlNX1Q9epc4CHLwGERNkRTr7+hJraHnXbK7f46jTkKDGjqZLDi5rR
7S1XdK3EH8cU4fD62SUc8r56bmsveupLaxoO0zA2xiGJteTZQTiKkZOoWL5Txy2XQzel7Q+vzobi
ojqxsK6O02h/t2qo2wcB50vnt4vudAczrJXiklVjW2MnoKg4hfks8kOCeJjzl81sZ3iIqevrz+SH
2XxFWHGMjkyEpaPfxLkTQurVgXKM47TK/KTDWL8Z5jn5azJF9QG93ehfHVWx7hiOWqT6Zeio/aFm
2F1DIGZonoxIdaJjrtgzhArVqD8ZapsX3x9/r5V4yWv8BzpTgk83pw4yJrBjmdUH9pSW4bdynBrb
d9JhxmyYXjX+0xui+qbHhDzvVSD6xkudC2+6LlAZX2vkfVAM4EuJA5W1+V+naZQ9kNrGlaLEz9ui
YEeUukakuFrl2kiZmIFRqlInzJISFdn0m8AXaThJEGl+gbAHAmxJK/eL4VS9phhLeB2DWMHQHBmM
qs0nN3EciA+7MFw+0nMQv5/dUFOhIAnJOkuuLWe0xHpsTaYRWB5wzisxBOOeo95HEypbmrPXettw
gaDpX6kWZNq/jicE0HDTXDQjyI3SDgwQfRcGdYjlIdX/lkbGeM7V6sPjC7bhHLhcVJIBUWG+1lQa
5JHO0BXCpMUNAM8XTqa3B6Cm43sotgil0akOqmhJn73FjPa04zeuDiRX8LpCH459XutijfnSlmaU
2cFADeukRnF+SeNp/n2bB6U8dPm0TZFoceSv+OXmjDFSo+lc2EHaW6Mf6Q5ykEJLdtLTDVcj0asA
U0h2aLXrt6skneUhsJXYwVSqCNdqdfLGyKH+Bamunx5/s7smJm+BhNACksvEGae32lGjQxQWK4Yd
NINjHFXmWN+YbhefYsVaAPo4YILNvPvD7AfjKBQ3OS7GYOyc6kYgKuEnfLn/gINXv8GubFWSPjmB
Ndvltyyxuo9OrYXn0h2tb3PrRXtd4q1dw3TP2KdF7xYXK3/RL9/RbTO7ajxIkwl9i89qYeWXCNY7
HxqlCpxmqRya2WsP6TgxIhLF4yGsF+f4+Og3d+0S8hMv8mPWzyWd1XkSEAgGZu6ZZ+a/WCWx5cBT
OByhwdyl/pXHuPKknkoFm6kAiYi7q2IPSWYnYe8ERpgnrj91XopqAVrznTvWJ6cyYeBK3fgjKIjs
qKCrfoCxSjnOgKT9gfrvcRx09xLbbv318Uls/TCKoK8MMeC91gz8aGJT8lYVi7frmh/h6td8yLei
nfrHhknkpP9nlZXVtyQDCcLDdqCmGkqiov/T9Tr92zSaP4ZCn57asTN2HvIrBGB95FLIhBIhiIQ7
XZjeUYjfXVxu1eTorVWO1NYoi6l6jzhTG/ld6Vmlv2Sobr4rWtGWL6IK0/5FTxhGfJPCkvG968r5
ipZFOHyPM8VU3pt6YSbwYxtJ60OvpjU+6DV0pJtxTD9ClGD/26b6YB8olkbTBc7a6SsNHQVGIWbQ
rUBUDP0eY+ArF5GilH001H7JD3SsOpQUm0QLj4srrPCjG06AlEpDFhkjtMyiYzvaSeS3wDr3+rmb
DxLuBYLd/0C3VybPmaJ4SqLWpi4GnPmcJERyl6ZGZQVZBlgb/RaEo+Jrc+xcNbuf9UOoRxgnyxHh
Hjh3w/zKPg98RYh3MRCt3hoHL+61shOzHaDrEZ8SO4KQO0EiCc+t7tiADZfJUpTJLUZdZfvwdqnU
SlHLcnW8VhSLv1NrnHw3r9pTHjXzS25rE3xo2fxEf9/aKXJsvTkJcaBzhlGgE7taOa/B48+LHbTL
gGqlBRsE4Pm9xtnWUdIQJWWU0570lW5XsbNllkMPVjAuU/YXINgcy5YY31Ihvjy2IVsrYdk8mlYS
kr/2/93cZYZh5Hhmj9GqNI3LH0CejZe4A1vxeKktQ0LhmEEKGajSFbzdlFIgllhV3I98coynyFLq
zzYqIm9iMvA3+jRaf0JesBNbbW6PVIuM/xVDujrIKJmMNIk5SAe6NeekEITlh9gaqpOhpslOprC9
GEmCSoGPMHn1GM0GeksLdY0gLhgTRm2eUFzRkqvVV+bOA7hfihyWITz8MBoeDJzenuUcx1ZqDhhl
hFaX57qZ4Z1FU/tTtQCGf/zZ7m+8TJcNm0eNu7171pZZphhVBKWtsVTRO8PJ51nrnh+vYt8/aU2a
MU1yr7KxdeTtDSKEoD4xghHWLe8y0cLQP1gw3ornfELF1y9Vr3+W9+rvQlH0a+viVp9T6qWf28ZW
P3smIMNDkye1NqB9DqnBwZgnRzn2Gixxx7DttOaYhJ37dXLsqPA1oRf/LnGsfxoqZBrOYWmblCun
MPxpZwndfEi3oy+6ppT5G7fBwftJTyHSbxZD0Q7uENo/sz61jEvczOlPx5rc1HeFYv3TiMH42SBQ
8C7JTfevzuvr8kA+OzBKNeiV6nu10yLyWfXO585ZqHely1IPH1HjTornFEWAD0thIeITDtXyt4ts
RX4NyxjCyXkEH3RQ51r/PNqzASCpBvJ7AOZVaNBmpq04mlmBkm9UFcnPDDU1uDfnpJuP2FLzJa0U
Wz0Yed2pT3qo5D8UTc1Vv3fcdmGwyejtHTe+4Z3owuPCJTuWQblj9SCQ0VVnFHWNgCh4afmCmRf9
pdYCb0jZLXYFomuJDqUe5JruBV22KaEc7g4xxeoKxavHV2wjkedRyhxS4yYzQrKqwg3dMJYFIB3i
JfHJrc32lNCuv2YGtfnmxZ2d7tQ3oekrCU0spO29ozBFcsxQ06XbpKTHmfry550fJc/gNtTh/TLf
B1iK3A8vfvuSl7ysmykr9cDM5j5NfJSwizdxkYQOV82LvjkLaJbrVMSm6rcDygaH3FMXhMBQb86e
8iqfkrMZ58Pes1/D78n2ydSA2jHACaqPWuntD6MRBuJ0Ls1gEmU5BN4cVskpm8fae5k9tf+xKF46
+0MLu8Uh7Hu1O9S0tPTWN1sl/6rn3aRelXjRkX9ztAxuyLTrftCon99VsTb8/fgYN4wU/GuAD8FX
E3qs5TksZ65bRW8M2ua5+iktInU6zIY975XVvPuvRSkejDEgYFZbU4sPvWN1rmBeXB0L73s2ROoR
hEv1ziBOzX0EjxLJDzFm9WlqMyfy6yQstB2IwL0fxbWA/7dkcABD/+rDKK5e2yk6cIHFv3zirrl+
reb64Jf5pESnWmGuLQMguZMHbB0xXoD+DjB52N5Wy8YoTjptt1iBtwz6GY7j5ImsQd95pBuODR4G
gAEMvDJkuw4SwkwtFTV0zYB+QB3TxWm9n71XRR9g6lKTHaezsSWyDOJIStOS5Gdlnwjph6loMiMo
q9wKZibrPyxdEu1UwDdXkVMsYFfp0q+T5np0iyR1RiMgpoyeQtUbfKgr6h0WQvv+ZoLhALfHSIrt
kA7cPtcCmezQGOsxKOIw9P71Rt1Oj0wYmNAytTzAl4Lu9c6aGzfRhLOMiTQig/vOeAERgOug8xVo
tdH+OaoSp9Iqte8MZXyEcDl9M5d1uvPRXpktVhbTJPKh8sEkiuS+uN1pCyWGiCdjCNAIb5qXXK9B
zTmNoIsCsKl5z/EoegBRKeJpkOzQ7bYd2LQjqxXVIZHf+zxWoq6PcZ4n2jGa2iZ6NzHx9mWMFzpe
ErLx4mR1oZ+iVFTaZ2qpLXk/6UDsaykG94chSpF+r0itfiid0MorLMduC6RLj53zCPNKecgJraOP
mTvkts+0uFHthGVbZ/86GcXwmmQbWTXrHOEhclp3XYAq0/wpVKDChgJQrQG2dPp5gj+nPk5aPX58
bGg3rpls0oHbp1NnMTN3e/iiqI0UacM+0KbRe59F1nKwStc5VIXufsBY7Wl0S6uy/tgUKOlKgsGm
hiiP4ZeKE/WvnugZSHk8CevDWGjtz6J0xWEU1nQSTbf8fKWkXYq22LlnG8+WxBIbhJKRfL2rawZD
KUNlDd3Q3mwd36z17mLBf3l5fJ5bbpYVeEXSOqAzuIrk68VNxrqyp2CM+7R86iDvbq92oumBXY2Q
VyVFiZBw7bqKcsz6SizPVstk6qdeC+keDr0Rdn83UVXmZwzdoL4PEYAFAQTJ/xddnYW583s3rh3W
kg6bnGK6Hy3KxhEuyyahnQdrAY1iu3o/M2RMINAZae/HTZgFJfIte2qTW+tKaU2SYQq7EGXc3oMq
MeLBXcI5UEqnumZ9F38wm3I6DEOqvcNNtgeRNfHXxx9n47K/FsYp+0G5BKb0dtFhmGy+TjUFhrtU
R7Rb0mPtDu5p6suvYTm4wePlNm4ckiq0afGvkppt9aSbIlVNWIznoG17eOudwdOFb1awQD5eZ83q
LEM72loy2mTcAHZjedi/PKrFqmkMVt4YWKCiUYCMjPgHFMfq6M/UtcPTJBoz0JQaaae2T+NPqiJM
/TKYtfVmolU5/3j8eza+rUNIA1AVL8JE4+rnTPBrm26mtkE8EuAFZRY7Hyru8aXr9fIZxudWP2mZ
KH+/yiIjRZ6FIb/tXbNnSVM1ph/BbCE0+Cd4eYWfpVF7HQgLTo+3uBE3Ohgw/BZFHdotq5s0ezOJ
aly1QblIgv4Izmykc7yDmsTdeTKq8KKFaneOeUtn4ZbL58fLb2ViXCpaSdhSChRraEeygHKP9aoL
oCpewqMORZzrF+2UQ0Bc5SrPqLaSc+3gNU5GnKHp0iVa9E0Vtr6n5LIR4cFNJyNYJgfBJazs6kSK
DVk8MzxT2s9HG7SO7ZuKpOuHPq3Z67ZvPGEsOLMMvCtAaWs3SbILiKtrmfIaS7B7neivpFm975VF
eGx7tdjJebd2ByuAZE7ma98xcYq6LyvDS7qgm1qvPNSN4daXCeHY74MrWn1HZm/DO9KRJT3DUXG1
1pxZtPartrcbiJhatP16RfMOraWVQZ9oytmZ5u5pgtjrQ51RQHx8oywZG986ZmotMmxmm7JBu/qM
AF2SsMwYJWLWL+WpDoTqR82S/P/UMFT6XwyRvF0yd/zkITfe+KXpzt8gN1fGI2i+kBK764aoxS2L
6x6bsFKRfXfDUT12Y9cKv1pqVMdnb2y0o7tQDjq1cPElh//H2Xns2G1kYfiJCDCHLW9kS2rluCFs
SyJZzDk8/XzVs1HzEpdowbLHsAaqrmKFE/7QRsBmULYqJ9VPzCWxDpERar9zpOV6H5Gc2fGdsHI+
alWrINnZ5tNj2GvW79TRlPhsTbQMAqQ9tU9lFOamPzRFD+Sj7T96o9NgGA5lQxzCDhsJPt7cYbTi
jN5woKyQAuvV2vFowU8MbD0Ox99lbPdhAH2vcw74ECNs2TTocCBMlaRT7Ft53+qHqI7tFzLPWXOq
2x6hn1R/I1FfPRXhwB1vxxguw3ToD2qZZ752PKlFrMKosnZrATII+eNj3wwnX64/HgxcfGkBRZF9
rYZB+yfsTOMnIhFDfu7LZrQPeWOmV1HF5Scs6szqgahqME9euNR7hgSr4/X0g8BLQkZDYopukA6l
qc+0PQf7qoyi++bFGkg4vY7eplYR71zZq9f4aShQv8QbFOKJsVdLjOZAbBcUhTAUZi+IVl2OUYzb
zv1ztLqfnkZBYhaaHJ/SuRF4wsBrTFwELq5xPDtB3Lr60cAmBIG9snhXm0O8k4yu3lo5nsSx8N4S
2fL4yQX+40tShqq6ig7u1RmW/lU4xN6pWXLlkRWYDpNlFTgntX8hKYLoOq1aQIXkbU+v0x+D6vQW
IldhUKPLQj8tKv04jop11Xsr2SmObKwnaCfJDyVapOS/3qnxMnRpHfPVkso7QMRPjgPs5kvstikc
rrLbuwdvT8az8VbrmdEEFIMQzjWyk+RAzVp/dMp2QpuqFtf7W2Vj74ODAc5FnYC1XKN8qsnJepye
7GteidyPMFt6O1J8+lza4c6kthaRpB4eAwGSLPmsNolhABRzxygYy2Tww4Q2d9O63atldMVBUHy4
3J/ZKjp62pQSMuzxbDLoGiM4JLliLHAMA6NxnCwAX198FoWmlYe0NMYfrj152YmA1o18BOb1V106
iOD+j7Bx2iUsmw1BSMLdsopBu3hSUX5xo6CvWu1kVciOUYGrd0776r1+mijBF7gF6ND0wVa7xdKz
JKtrI0LepqteG1U8vLHdxXnjNLb9Ogppax9ZoS7ync6LdjL3NY/h/4OjDi5BxGTujvzqf5xCeg1R
rkxFHMRO6dVo0OD4hQ4x2IHXfTtibqXVJeINUwXqybeGNg4frGxAY3tQ8qo8Qhs0L81km8vZHrJG
5qTC6S+j4rrp0XKrJjos1Hn1gzOa9Z553dbC0euVnCj59zpj6VNq8JXlIclPkBv7jq4457CP43dZ
snQPHkgU301b9eTMuXu6vzO2jh2PAOkSYO9bHevQKcPM7SblSrNkPHr9ol/C3JqORCDjzibcOgek
1hw56FHSVen5F3I4dABRlyQo+jj1LjVeA8shbaqs+2GHhv7DHQzt+0RjQvhJbLqvUzCe3k5IuTVd
0iFdKolR5lkXeIzM6xrqO3HgalNy8twmPM3QwNo5XnZumY2nCPYXIlq0nqUyglyNP/ajSEWkmnOC
pQO9MIpkSYRBZ9IrzXKIcyJ5f7C9bjwl9diLnXO4ccFBi4FzTNaHTvD6wtFHkm9jQOvBQDkV3sjg
CkBMQ4naXMnvfWipONU7L9PGwppcqlyn5CMyF3k+3Skm//JEqlxx5/qc1V3xWc3yz3nnDjtfcGtd
WU0CQJIQ50Z4PXMsEgG9DK9Z1hCEqgokyQUX4Yd6dAYgSYjaF6fJKfM9NbitGeKjK/N4svib+sWs
al3fZSOy51kXu0f6jYXqU0YShu9MzbKTaW1cCbjU8PUg4EtRndV6Or2S8ZQgdN5MlR5dvM7BCNmd
B7e7loIQ/VJy3f8CTRl9LJSonXe20ObwaKnCVzAkenO1e1NliDmubngl1FI+a6BTy2PktDSOW8KM
6XXvmlZ5NV1RNkG9QI79cv9a2rgr/g+lAJ5BR2Y9fWDApTY3Ig5EPjjDT5z8uvihZP8NR+hkWO5V
riMKjPfSPvb7yGoqX/Paak9mZOubs/rknmB+bk1gsGCpZ/QWOMRTG73K3F74boYYR+dE+c4BWgP8
5QNG7Zn7n4CZnb3mxpaFm6WL4ijXBtGA6I1Xgf8+04GOC3+AqRuUDrl34vdK61BFsdW8/erlQEAO
qh5lzhkcbSMuDk69D9akKP2rUVHmx6lHWXhna24uikzPKHRYt1mKlY8VYOlIwcdr7C2/r9LohwJg
3TygU1Tu9SS3LjM2IaLnXKaUZlevRp6GehqmWOPEBQhpxapLyzfdeDGCyKiifxLOz56GwEa0xIso
pVHIPakoraIl0rNu0iM1CcxZy89thS7KMtp7IFtd/uSrtJNAheaSh9WI7Lo+vzJTd0mm0rWIWJou
zn/WUaolryhwzInf6Es6+YmhR97D3HnFdOlVZ1GCsh8tqPbYhogg0o1MfK1Nmvj+3BjN+Coshv4x
HhO7O3TGUFmHeRGg4YoEaNyDLpyq+ZCgE2f/UojCOn/Mq4moBvO9cmeHrEuwci8/HRpotOiQ3xzf
0dSmFCGDJFC8zPACzV6cCcgJPUS/nmcvetMLtWoOeuhF6qFfWlY4t8xWPxuGkj1WXorp6v0LZeub
Ar/hLANDJ02Tm/qP59jWlFYdDTsJNOonQVLbFSV1jGTuj7JxNIhrqLkCDAHRvy5c1LXuDo3tJkHu
WOJBJRx+l3ZLdXEoyXy/P9TmhMBG8gvg+U00teSiSZqFJdYjAJ2T0KsDTTpjZ9k2Xlv5Z3PMJfCR
/Pn5smVqnaroZSZB18OdVxwJ+xwbZOzLCqfSytS7NyhrVJe/mRuLKNFf+o0GabYMKJR0HEA90qLc
h/CoiGNZu9nOGm68chaFRalEwEdDt/f57MLRbUs7ykSQRjEpEXNEHjOhdV+hxVdQxPNCN6ke0Zsd
Ppt5LZLz/Xlu3G10Q2AvSYu9W65eVC/VZFJP5KJpSMs83YT8XVePRaOG16Lr4utfjMe7Sg4IdoGi
x/P5jnEbVaB14iC3OnFeMKS6mktlgPuN56/qJPbELDbmB4IPaB06HcAQ1jdcR76P/V0dBXnaVidY
45aPiExxCatkuqp18Rcvky0fUMgL0qBizZFzjDHKEM2NgnlocCLosuo8c5WfMS7es0XcOOkMxQto
ogbg3USDXN1ijOs0Clo78bBosfVXtVppQTUmTXD/q20OBeucrUo59CaTWCahgaAiOxxGfI4XgSRm
WEfug5L348sgD/LetpE3QaUc6M2tttVSavk49GkcLLM1F6+GNjQaoJe5ZRyresHbeo6FCL9ZebfE
X+/P8kmvZfUcwssFKyZzUWLf1ebUrLTWLXTRaSLBCr+gEYWF8OR65c827sBCgv4pz/1Sh8YRufY5
O3S4rthnx07i7GCLvp8PilGZX4dWun/Xfe+87m3+w8m2RPIYwV+Nv9z/kbc+DNRPAKRYztPdW4Um
Ka6YCC0N3nWsrYhCfeRdqQJlD2Q+ys7Dsm5xPX0ZmQeoNCXonq63tmIixI+cONgnDB4ek6Y2CYTL
EQZxBBqjjuPTmLfTqQ6T5Fg3sXqou6TfSWk3rksZo2IVC2aA8s4qLmoBpTZCbaTidzX8LstpeGin
yTyG7mIeZjMZP7hW/iuEvr+zNzbeOgIK6hPofpLyrfuLS2yVSTIhNZ4iMnoNgb69cwBo7K3xqunz
/zVGboFam3TIWNevprnqjUnFK5ZwOy18WixmeJyTro/Pem403zFgEF+7XBm+Wt3A/8EUcUGuCYCw
PCuLbNxAsfbilz8SFO3QAwTeKXOE1bnI0DWM0YzHpQlZhTeJEy2/bS9a0JOZ6SOBW/x2f1dvfGXQ
6yw0CwDIZt11i0cnoieHyvLY0Hfx7N+OlryNG/tNHdlfG834pywwSrg/ptw5q7MPrY26JJ0PpNbX
YUY70rNq0gnrq8gov7fwbA+qC60tmhzKtEv1U01tc+eu2zi9HF0SCw4uk10XnG0jjztCX2z+PPGd
SlN3gF2LynmzNDvnRn6h9exAwcpfHN8bSQW7sewSQDuS6gmo9oPS6V0PYUZUkw/fwnT90u5Q2Stj
rf43apY2PHh5o7y7v8Rb06X2JrHQdHBvLquyyZQhqSkoaJWi5zB8VfuxdSxUJAa7A8P9F6PxjgAt
ouZ8Ewhb7YSZkkmxBNxPdtCsMvrSWLE4JMZQ/83E/hhKXh5/RPZDogzRlA/hNWlFcal75btRifE8
a+n4FyeRgg5qoxrN/Rsl3nwkwYAqh1sjUNSg0mP19dJwObhz2R3cqd1DI21+MmJu9uYWFLAyDIpp
WR1eYXO0CQDYWe1Petvlvwxt0fe8gbbOILkRGRuNkdveWVKotdp2Ni6DtiVJaFOSi0fQpVZ61Oe5
osAidI2uLxKhe2LoWxMlDEcSmEtetiOff0LPmOwxnhWOvyuGk8qCPBYluA2jNOvTyzcmFTzayg50
j1vh0ymxZzfGcbMuo+UMBY5jb0bqVeuBCr18KKAZVEhM2JxcNM9nBd9frbBGc64p0l/vclWLOHuz
cxiWqt7zDty6YgicaAvKdutNpD06XpEuKo1B+JrOu1qJEHULTfU9pnDIXGrd2L4hzWoDLI3H7yOt
mb38euvVANRsoX0qafrrfnJkpsoCRIDEMA5DxEnrsOjPC2WTX2oWhb9rGCLtMRoz4yvRQrbHFNza
QB6lBnAizP2mXOnRw6Pt4DlXJ5/zt11uT+fKbW2f4o61E4tsDuVCECYYAWu0DhIABMeJRcP3WvZD
eG6EsRzrIUkf1Fb/C3cwXHyp3zMQ33QdXxr6TG6lMFTrucvryjaGQ4e9yiGuxeQPabO3YTc2EYsn
bRygj9w2RyJLFH0CXuUqfadaXEes5XONf05DJaqMvs9WyuvVFLr1H0lE+TDrbfLr/pHZCPQAJfAk
c8tKz83VkZmjDgJSiWWFXlnOoWm77Djkzh72YeMT4jVLnxKEBfL763ab4YLg1GOMwnoA3ufx/+Jl
+nQRTWrvBDZPoenq7SdsR+8ceL2OeN4qR4hzF0GS3vOuA+pVw9Uak9Qo/I7exr91nI3eV63KQhfs
a581vyKls14vk5k8alVoVF8Ws6JFZA6VMz6OxqhM57Gr5+yLMg7op6fd7GgHZSij/E2uxfnHsqLv
4oumWR7toe2Vw4xA1/J6qDT1Iw3grjkpcDj6yzKH809PVAOivmGrG2d9nGuYZGNbHMa5ixNAilpk
ybKzNh8bzK3jh3kM/cbLvG+aM87Te6uYYMLrRmJq1yJps4/a0ka232JXPhx1sGG/WxOOqp9WbdUd
RF7o6nXGx+Efpaz18NhEPVvJrdv4g5268+RXdmoWQdYN9UCfwawS3Ga8pjqoveiwvlBpk520vLIW
361c81F4s0i/liB11NP9HbhRsoANRLLNKWADro/33AyQpuSZo6qlHMZRVIFiCM3PCwtmlV7YLw+U
GE8CnQwNlur6jCeEoKE1YoxsjarzvvS0/KGrsPxAaGvnbG3teu5AaAWIfACpk7//R5zUDUpSo+Qb
BbFlpuXZ6YsoQkEuAtmvJwKZg/sLuRFO8PIRX1OQ2UAXzzVgB3Jn5doDDDrzPEafrHlqfSTT7KMw
TfNI5XjcGXRzjvypUiYDbNP6ZNd2U7eAj+lCDgBf+Xjho+6V9lsstrvT/fltXZb4hECSAuxJo251
sFtnMuexbehLAFgZ6AjpEUULq0lsv1HwTjgaGfSyQ5Kp5oMOs2o6iNgx6uv9n2JrwuCOZMsVs+ub
dx9T9Hy2J6qFVTxGn/FpKg7mguJTrqCycn+opyhsfZVJeBXlB9lUXj/xOWJTRic6GlQEgvPH3ivK
H/RDncqvssSMz1m2jPO518Mie7UkingddTTQIJam9rcUlPJjnlVeFxiZhWaVg/Y03VsLRBPml4op
3ieR7RWHZLIQ3FHivvlcZ0WK/GQLz9K3ulTJDwW9kX/AbogvhKqFcsYGHN1uz8HZBBpS8Qqbg+Qv
fE7Bs6BcgxgKgP81Sn6iJqdotq5cPTX/DNvTu0DyNvxMnYydb7nx+MFRhxxFNVGagMkT9eyACt0L
HaAYmMFnp7DKuXvLak8BfauSRKmZViONGW6DdY+irCrTa3KTz5iY0+saKQeIVGXoD57GEovCNP+t
cIE/TXb6bRxiWGq99uv+Vtq4ZPkRqCKhyqtz662eea2nkFl4CscUH/qrYqbZ6JdJtZwACmlnBIKj
HdDAxjHh2qPAz2NvUkGTv//H0raLnY5ZOyvX1DQGFFyH7AC7Kbn0Cm/v/bltfkViYK69pzrZ6l6o
l8kQVm8oVwt5jmtix/N19BprB+i4NQqJtQR0Af6+KQolCLjjcRAq1zYy5wPKtelJ73CPuj+Xzb0i
QXKwByipE8A8X7fSVRJ3mingq6gbBB5mzNdiMsy3g03l2/Km5Tc9axWEOzB31IisJT6CALPf3/8x
Np4ST5PsGH5RT1iX/yZvzLtMSSjrAzu+zvgbHwZYOidC04XqzdRfaBuKne+4NajEKgE/wNXsRu24
pjOVI0hFlzuOwHGrSvhgYKf0JovT+jpERf1B7+Hg3Z/pxqMiiW0ow9B/5miuroCmrRN7mkqAYHFS
fdHi2DhFXQ1IcTGS46Q0+asJi/RDPPFyasXfeP9JvAlqEiQ4t1UbNZn1Cn0CziVNzjdFVxVHzat+
hS6VRtL+aWeJbzcxdQ3AHQhYIN+rruvJQuu0Stfb8Bovjv7JMWaMAbxi3jn7N5kpWSniQDRqqCzw
S/4Uf5z9Wa+7uqOrcfWq1n3fDE31tvf09thnvfNY54aD/WsFKBH80osTDYZG94aslPqixCs9Hzrv
vVDAv+uv0xD3qr/Ycf2jDZdl9pE9DffM2W9PK1cBJQ2PlhTtWtoSz4eLZtdcsHcer6Ax2DSQNeAI
RLNYoreDM9X2EVaU4x6WooLaXpN46H6mjwUxtWXhTHF/K28sOwkyzH95egiU5Fb/Y9mF6NDvEsXA
3AsP1gTA/fwUsRpfRd2731y17s1z1BoOtKzYIpl48fBSKI0HhvCI13R1DfdLbAwjHf4rYYtxKDsK
S3632K1fpMnwui1AdVZZ5jzoff715SMjpiUzS97ym2aF17slRZZm5AEIm0PqVtkrtTDryTfzYrxo
S+S+apq6PwKtDoP7Q681ILC+5jhJM132GiHhWr8ndNtwQBx2vIrFGR7SpjORdShC/agP8XKZtFZ5
XYne+O7NPSYrddKehWqEfm2jkUEPs/Hbyor/68PC27nYbm5TfjD5HPIPkEOorTzfDaWBJXcs9OHa
j4r9xS1szy+qxbnAQcCdyouNz/CSx8/3l+MmzKD4BqGfggIjUoFb7YFaoZALGr+/jqJ3hpMSeiJA
X018mkx0RE6Nnrd75MObK03W+9Cqlx0b6SS/3vVjygGMquHqFeS9lp7MJ5Uy+On+xDZHATsEMZrH
4gYq1joodJVuy9kiI//X8OLisdOXPSuzrVHI0XiFwAvIHsnzb1abuEAgDTNcm9G1Li1y52cakHud
gq1RaNhjCYexCS2SVYjRzui25GImC6jQ3kHaxT7MbuPsXAe3iCQ+DLAckHW8BcTyq2GqmkqFjcv9
1Rwd9wLzMmqORWhr7zLD4V8dMVJnoABiPS5JWb6rsX10j8SkBp7UWWeOx/tf8GZrwt4AR2KitA7G
hQju+dqWThdXjlYv11jpU903Cqoufoc8ROzbXonK6UTc9fP+mDcrLcekvIaUAQ4ON022rirjoQUA
dlUIT9/1Ztc+5lU47uzNzZlhGAoThnedB+n5zNwysawB6hohTLQcStPrrwJl9A+0b/ULVgLenon8
zUNDP5yjRl+NIE2Klj8fMJo68PGaNaP+bIqTB5zttYPe88cJ3Vp/0iLnglhwfY26JHppB1GOTC+B
v3hjqCU/H9lOaAaBAkEIRqmrs5kbsLZnegm2h2zCTigu/6xnybcci/eMr4dc7w3s2TVwCe4qZbkC
bTZPTejNr7vGjj+ODb4cO2PdBhIMplncmTzd5LzW6rae6BA6na0v1zFT6q/GqMeviEfd5JyPzeD5
g9kmmt+1VvffGHnmozt401shqAjuxBC3O1Y2aGXXFPSt9CN7vsBu1FVDJAjy9Vov3kHW6M4gwbq9
FH9rGEk2xO+Af8JceT7MkHclVHG2LBssFD4i2617gCo57eXeewOtXodU03OlzozlquWK+UpgvXfK
0+zFqCuaW39M5wl3+kfkJZUYDBsVvyuiH60fF8PyvjLFf6G+DMda06edq/XmaZfDGdTA4PxIP2M5
6T+Ga5aMqqKjLld7tpdTmVsw3U1zuoxiqf1iQE1ozCkKv/Quez7oaiWLYtasxRyWq2tN2mVp5/wh
qkd9Z//dHjq0tCh48Tf3GU3z51NLdbJre+EchPo0v4v1uT51jiivEVSHnaFutwYBOxZxUDFlFLd+
bBVFxF1rDsa1UFKEzmIQPGbf7lHfbickR5FHmorzrQC0rFiCOayNayfi+qDP2XgYjan6mPRU3+9/
odt3AMAKGwMGAdDRm1RWmHoWpolqXGdMu303TNXTvLTuqcvz5DiCxv16f7zbbYjYEfB5TXImYDTp
z78V8c+AC2lsUhDIhgs6WfWPshTLMY8qqdeJNlvtA2VVdwoxWysq+wToK/H1qC89H7aEIuzEOXbU
ADnjI0i94ZBpNMtLxdiTBd1aUWoxEk7BsgLBej5UQSZXq4Uwr3WW1kHc9ennqLaX14vQ51/eTMl2
5x2Qh+j5mwPWjKCJ14CX58ZWEGVTLali2J+jnjT/ZEnq1A/YjENIMKq81AlvW8W6ZE3uHLBwUoLC
1Mv/7n/VjeWV/VyiJMIJIt3VS4SDdJtVSeFcMchGu8hzqoOZhtrJdcWeVs3GCaS6DeKfKW80dmek
/Qs9wpB9KY34AinOPi6szen+hDY+ItQYaQOCqNQtCQ4KqJUPXKNEK7VDa87Kz2Nl9UeIo9VlzCZl
LzxaTYtOLA8b/hTEmCB/KIA83zUOKICCDlMWUFlxX1shRpCdGe/ldxujQIHmZQFBAsB4ne1nTW94
eLVn8HXS4hGF3Oa44Av44f7irc64nAuyDISuNFw2VDQds5bOp3MWmFrR+whUaqd+yf51Bm2pfHM2
iIQikBAvOwZPowKIIamjhkwfdxXR9l2nwbJosmDE8++ToIn1MISGEP5YiNLzy7SWNOI+ATWuWZHx
LnXpp/3NzyCFXKRwHJGmXJk/HlncNeeJRzULhll1P1gGAdcUOo5fR6E42MnSvFEUr/YR88+/ZWZT
fX75wgPPo51HMk2+uRq+ymj9Il9SBrSZtUMzj8b30LFrn/isO+iKXryBHMat9+JRcbwEzwIAiqrF
mrOxjA0qI3NdBgtks/cRzkCX2p7aL606uW9Elf5KwGB8uz/mxkZmf9Gxd2hy3VZvtLLIuqUZisAr
a+MtIrdYFihqdr0/yupmlVsK+AEPsDRfBnG/qtQNqLVNyEcUgfRl++HiC5uexnpMqyuRTYPpB3Yl
pT8I5P79FDXw5lS1YZPs1NVXl+vTT8FPAJTXoFoFrfH5pho71+s1C3PUIgzbb6E5/DcXs+Vjaql/
uj/frVV9Ah0SIXKRr1/JWKsWjMTyMqjDsDt7CKudF2NKL/dH2ZwPd9zTU0FpeRUUxm2CslOzFEEr
SD1pQSLLYqA02rXKC+FOT0uHJKPUccRdAgH550vXWlYpirjOA8eZ9C+jkcEI7RXO7htbmWQErJeD
HUQiFtWRQqSVv/xoUJqhkgGiBDfN9Z00IsYEmamrgqVPFZR+hjnAaLs/jaWZH/tcJ+KZOmMn1tn4
igAUUHqiig4Ecg3TGxGOLQoxlIgYq8bZCPvS96Zxz1974yuiAkAPRPbxwc+tdqVRDQq5flgEsZaZ
PrJS1aUydNybFGU43d8w66qQ/IyMJcVeSarl53z+GdH6I9JSOO04gjXTxWjCuvWT2sjfZaNm2ucK
4PnryG6G+ThU+pQi5E1P7NTMTj0ehOoV2fH+T7S1xLbMz0CuUBZab+Epj6N+0WYmj3bnf7U+dpDh
kVXbydk2hwHcAsKKwhutkefz7qc2rYl3yiCt2+Z9NKZOEA6usjOZVWXmaXX540Ekyj7IDdm+TjK9
mby6CKzBSw2/oJhpH40c+aZzF8XjgznHk+KLQREXPA1zbefrbkzSM0kHqIdDQWLDPp+kNyqQVNsF
Ka7aNj4pVjk+aF6v7yzl1h7CEpCAXIpPUCZdDUOnYSQvyZsgUkz1s6c04duqUZ2L0mCgXaUmRc0u
VtAgW7pz1qFhpadT/clS8nQnhdw4OPRoIUzTs9RIR1Z3UjL1jd7FUROAAikeB9sqvlImqn3XiIad
m3ZracGcSDVWuKs3lS9RYR2uCbsOenpap6GAPMceemELVoKVCMalDhSkk1srQujOoUKmnAaqgzWT
n7HTmA16VZxRnk/1TCm+fYfj9xi9dOswMpGOxCZAAr4By2cFoZCoIQZSr4w+GB28b+ip/Q5N9mYV
GQXwEA8IxVjiytUHC72mK1wtFXDIHFy0oD36xVzvnfXbDSqHoVsA+xVBs5sNivNRQoQaJkE01Jzx
OYeE4FtN7lWPQ5qP4Wc97hb1YRz11jgP6pAAZkfsSznRAVhQhkeQQ+jB/XtuLdfy9G1lW1QScklQ
1rFdWBWt7sStCIpqNibeLZXwcTajnN7oxIY7qTlymFVTLo4fu8L7zyD6DX34Yap4FcaJbGQhvu6r
jUbKNNlG+12bISedlzCPP7VNlRYIIqXJHlPl5pCxmKhAgEGHMEqIsfpmZj8U8SCMNEAFZnqFVXeC
H1MWvm+y3Nt5bjeHIrgATY2EyM39pXg0iXNvSQPYSOl1aWPdn8rUuSZL9vn+19gaiftZ0t0Bqt7w
baO8BMIWdYKDhp5vZyC5l4WTgbBCppzuD/VkE/FHUeHpw0N3JY2ThagbG/uhadPIU0UaEGvqP0uT
PhnUNcP7rMDomv0M68QfNd/gh0CQVDzgQJO4mDH36ndIbk2GbF1voqVH2NO/sarBet9lyNmdHGQ1
y8Oku8W/ahiamj+0k/EFtf1w8fUsB22KDui8N5vNhXuqzIMuur379RokPw13EThjmR3wCxJ+rTb1
YaCxshPxbV0WpPDSoQmJ9htd6Gga4wLcsgjMRDOvSz8nr4FuvbDn9/R1eLLBuUmNR0pGz99MALmd
lzmOCGzhubiYIXtUJrN9vL8JtubCyedtBuiCmNnqyWxRZ6OY3yeBlc8WioNAkOEdti9fMW5wsB8S
7CpZO8/ngvejHpczKzamevRucrv2aNl9/vJLnFGIIwGUg9JfN5lnxR4Lo48YRZ2bEzyk9GyGo7ET
ZWxsNPogVMC0p3BqjQ1sFA+rC6ofAcT42Tk5UdqWfji5buHbVe/uScffRG5kaZJNIomtxFDrzlaa
x0gwdosIgIfM135wC0gkGaw89EyXr5MWt6dEFcY/aib2Miu5w1b3A/JQDrGpvPZu1NLa2LFlQUUE
pdcYx8aIagXmk7YY18lVyzdaPI1fCqBuvzsldX7WqvXz/t7cGp8SE39JBddb/+vQSoui8dJgKPJy
PhP1uQ3s4ax3A9tL0+iN0OvmfQv8rj9xYzXF0VjQ69wJsOQzsl4FKV6sE1ciVbd+HjNMfo2w7tIg
Vof8YmC3oJxMoFsfOk0UH2Ncf/SH2mz3Sswb28ygVEv6QSSJt+rqdVPw1is9apKBPVrGfAjdorbQ
IQVXfCigMbz8gSOJ5KKRJSXy9lWmh5td68RWUQRlPaq6ry1m86F26+jnZMz2Xki3saLPBtOf3wYp
bq5Im4Zk7H2av8KzMDpaXYvriPisCPVbGVrl+f5OWpV65V2KPACtFo8Ykgmu7p8+6cbaq8w0sLIm
Hfw0E+OntsiBOuVTgkM9Skr5tGNjoclprDaOtLGwZKOf4sAa6Vq2yHkOVZwGuVsv7716iZAem+Yr
WnfGMbKL8TxkdXqchK1do7YcDiKqmxPxY/Nvi4XlzhW8teg8jODSXRk1mas6F7snQVLbJbCw8BZs
1aF/mDy3et1HOM+E5E3AxdNy3hl143mRFyVhNSXbDW17VU0LWynTIOzy5X1XAgCrVcX99+Wfl04M
FEIpkGKvo3ckeqax6whkMKVSzoUStmcUCeqPDeiDD2mC4vP98bbOJmeEY8l54aivtpPdEZ63nsJa
IhaPztlUnqyody/AZ3bljzc2kVw3zABl1rB+n9XJnpTKzdPAbnTLt+rp38rUlsOMZcLOu7b5qaC9
ABKkw3pzBYg2UXC2TLjnelG8Vh1lfAipre2UWzeeM6koShQtWWWYIz0/+57atL0zkmiZIl+Gt0XY
RpM/eclSn5K+EE1gJ5GhH5Ftrp2HAveL3/c/3VrbS14F6HZwEyCIRGy1zhoWPBacdiGUTwsXMUeQ
4+o1UtAaCJSlScdvhpY42deiLov04FJUH/1EmbEY9TvPKT/PibDNo6hE0x4WS5jFqViK1D57lacN
Lz87/KQe5ADegFv+Ezjjwogbzk7bktWkWZK/orixc3Q2vjpNbjYxJAcCmvXNOIQm1V/Q1UFC+/5C
YpP61jJXO/WQjftX5pZsYvDr1EpXXx0FoWKQsqCBNTbOBy2ck7etNSX/zJWbfa6J1bOdtdsaUGol
US946liu3jMHRKMS50OEi0NZHzvcoS7dFM1vXGX5btD8Pt3fVU+h5equJ1KnNwrSVWb4qzC6Ct1G
H8shDrq8Lt8b9hKbPlS+2DrS8y4+amM4lG/cULXhCtLxvI79MlDeN8f5wZ7x7z4bfYp3byFbbv8I
kRs5uAARI1vf5YPhq3OK2Hcnisk89JOugSXWjDg62V5ipFS1XYM6DBwfxS9wmlEOZROlCOhKCZ5z
publ2XOE0jzUoWt0Pi5gwsBkwmnoWo9e6ZwbbcJH5/6SbNyRFMQJKHj/yC/XK1JigoqvqkBDZjbn
0+imI9oDhnEMu3beGWrrY9NVpXrMsZYFqud3SsZvjZRX4QdM3hyEhV58wpQ1+wF3UcUxV9H/ZndR
y0QIBM0oHvbVdg7hVZh51CvXUeudY1Qaj5GG5StR4PCwLMqe9OHWGaXhSa2fy4ty9GpzLXmq9oB3
lGuoqu0xwTb2WJVLsXMzb30wavyWLjvUt91pFR3yqPZs5arpnQq1q9ZetXnTfkAQJP14f29sTejP
oeQH/aOFCkEMdWYXGaXWyLqDqaT5xSkRo/qLUWAaUBQAMoGI0vNRbHuZ4kEyZqKsafyUuviFLp7Y
GWXjQaNpCOgQ6TfJZF7FAlkST5lmFlEQOkZ3KFJNOUEHT87QavWH3G7iS4TlyDHKuPPuz29r23tP
qDwTzgbaoM/nhxGeDu+IE9ZPc3LAWyq9lEOm+V7KdMchtw73x5O7enXHUbrEUkRqiRBMr3a9BwSX
PNRBssyclfdmq7lnnB+T8xxp9QENlQzi7LwHCNwcVMPRhK4Q/7OmPXU0W/Ebd+Ng1PT/cXYmy3Ei
bds+IiKYhy1QKk3WYFuyrA1hWxYJZDInkBz9f1Wv3pb1W9Hfxgt3hykgecZ7KA7Nui+ZHkVwgSRN
lC9dMJ8nzFQ/yB7vfArIO+EKjR4cHNXkdH7/53xGUzgUljWhdxO3zk3fhDPNbqQfrSXxzv7+UN+9
FDwq0LmkeT7xf18Ki7pwibFBwU2tis90WMhUWaq8iYePnAvfvRI9HhByEnDwltBUt4kKVI8iWxwM
g84czFd6Fmyd+q50sX6EPX4LXD3VWRB8KPD49sjBf+gHbKXoZ2yEL6ZZayzrreYs8qXy0jguwy/T
iprfIVA7ztZ+MfnPfucN18Ou1Efr2f/PDzktv/hYWC2+ObZlP0RDJ1Ejr5zBy4UzNMe+qPXZ6vbd
QSwJLrPbsPAonC7OUM0iKhV6PPz9Nb/zrZ6iAzkK9hxNmPvv1wyrp12DDT32qdFIqdXRi/JwsEzC
JmCwEkb/hwNM78mMkpkFm9U3zZ7sVt/FNwqx3NN8L+82XUFPnMXPGXz0R8KU70RzThN7LqbIDKzf
bt22bh/6ouut80qtawYzb7w0jf2Rv857x/cEXjyps4ILfpsEjRpCHUjIv1tfTUuOs3JwbhpoXeky
V973/8Prog9Cf+ckdvYWjiFWO+w6F8ahgL4VZO3c8eYKhy1I3Tn5utMXfPDG3jsgUBAQ3GLQhVPQ
mxqm96ON3AKHHSYCOvmxrzQwhrosbqQVmjkPpIrsDwL6ey+OwQgr/BMo9A9bqgGrpgQN5fKirnAT
9ZWfQBLAuffvz/K9CE5ZRl3B5OHPOXYBt4jVHqX42FoaIEboVcNxhLB2hsr8fDWzhcA+xxPB8e/X
fefAnFbN6GvC+IPs9OaJJivDJdHaHMugdi6F6KpD463Ryff3o0HpH956p7rsBFw4raJOPkWnt/s/
CQPV790k9VJdLKJU9tFVxTzkeEkXe6ZXd7QeizUYwjNPuao6b0McybOinUDGuHsBNMau7fiLjZGk
fVY2HiaPWi0PUk11iP1pEdgfFA7vPZn//bVvIuJomVrOk0JbBOBI7psF8bp1dtOIHva/v3wwFOyW
TuadpLk3l5JTzf6OHTXzn335am97l3Utq2PPmobbTmNXPs2z/uDNn97sm0LlRJKiggRbTbf/pvlD
enkcupGaIWqT+n5eHZOGliMy3XhuFofSytHA8L/zeux80Ym6//vBe+dTBpVzEmZg1nhKg/8+DAte
TfNal+IidFuvzctRsjiNg1m5x3LDmCM1doQh2d8v+k4ZSnsACIpCl67kbR+vECQDiImbQmK51ZWj
u+ksWNcm3S3pcIgYsTpNvwAVFP+RenNK9MQtMHR8Ykzp397uVvZ144LBvLD6IrztIrtn4Yf3nFuP
0Qcv9r0nC+kGZakTGO8Pb8bIhGD11GkXUhenkn7wnKMKG/cY9kwuS3vYP/hS3nuqcCnoik7SCH9o
Ltda1R4IwfpClEv5bZ2aHsDVUB/GwDHRJV5oSYfdWJic0b1b6oOL/zN0f3OOo1NfgUggJQPv9t8H
KcB5k632wJPVotYQRy1/yCU8DnHpIXoyHsoav+xoXUqRezMtL1sQYbspVnDtrSWm9aEcLWCxTelO
7S2U0zHI+tIpLiNPz819UVTzfTLG4yc0eW036/u438/GOOjaD76IdxINdFNoTERIDHXfHs5tFINf
D0xHhr7ebgPTO2WqsaA6+/s38N5lEnYm9CcsjP6YMkF7alAglOKiXSxzHWtElVo/+kgE9J3oiXQs
khkcQbSU39aT4RTsOlxDddEHsF5yDwYKuthWD0LOZyz8/Pd7ct85gth/OwB8WJ6CoHqTxhZMnvrm
tCwpvCkuz4qp35YUhJb7pVL+qrNQ9G2Zckxn92hc09cp+pwJDOtpM/JZuUG9n3EflcxNbfSLh+bb
nvmbO8rzqIv4BzZloUCvk7iYjt1ebnjfanu99W1Rrl/mMCybzG/x88j0UJTWJYq2Axlr0fLKL3V7
D7NpHz54ke88Yph8iOgAvWPI8va8IISidKQ9RbXcqj0rhmU9eqUvevwG+fODHPWWqn2KYDHdP9GL
FoH8/SZg77Kdl70CQVpUixNn6FxJJ9PKHlXaBrLUmXBn9TxXftNf21DH7WNfWvWahmXEgAlcKabN
1jI6mvm8hy7juqt++CC+v/dIYMSB66emRwjjzW9sbUft2wLevq1j3r/d6zNrM1MaSPkftS7/eRyQ
RoF9wiMD8f3mUrPfCYGji7xAKNU5Qwxt/lWoosVufm9f/36637sr1KPhepy2q+w5/h3hytN2u0cC
5sKeu/jMNF6Yz+icZGHTfv37ld77jMhPAOQYzyKp6/37SmvR6GaflLxgGvMsVRUfEtQnUxvRlHs/
WZcMK5cmX52+/v73C78TlP5x/0GlCUXvP4oRDB5LWwU8za6b+4NnTPTJAP767/vbkyoMUxmEvlAN
eRMl5OTLdhonjgd2bed7Y/UHseH3ZWnnI2X3U9Z5k5W4FPNIMhMQpbclXTXbhcKTkxuKS3Ep1Npm
Y0hHVmnjkIAskcne7h7+/hTfOSgJCAhOCHCEP/HOxXwyQFmgzlRmnABDTcVV7WDY1kXVByCSdw7K
iWeIgRI1xp86O3PlJiPRuLlYN2vZLxIXud5LQTDts8HbYHfsdbdtNwtQ0/BLWcZu8VE4eqfKOW1j
CMokmD9hD7MZlV12NgQe269+FRYz+3PUduqvTijlkE5RqL4i1sWkFum/OvxsmR6izUjFG6Y68Ktb
d5Zhd1xQZLgC4xVHVPdl6aeygF57+Pt7eecw0PSwmCQjwgx+O1SqIn/RdcM2rackOyp3C9PObvbz
LvD2TCrq+6Lalg/I3u++IkCadJPMl9gy/PtbjvtutYtoaS50JL3vTtLJB9O1K325L471NDfXiudL
erODi7/f7nvDJCoMvmLSMR3z20szPTItZpDNhRsZ0aWVgoqdwlTZ60wixT7kZBopERTp+jY7WYZ7
2NzFHhTtZbA+//3HvPdNQAE4QccpDllU/vsxzK1H7xwFEvXJcIhT+nv3qSr94WTdYs/bB2/6nTgG
SwaSDLPYU/lz+jX/0+LSZSvR9SQgoH8RNIcJIUb05fL/fk/Uu0wjTvS1P3SISuoVBoeaq0gnugdE
66XCNu2hJC9+cEPvfWYUowy0oWGfRqL/viHcB5vBmkMYbEHRHCeloirzNhF925pVeOwLdPvwX28O
Fi44IvBUFHNUNv++IqLAkPaTWl24EvH2NPZxN0R6sZ+DtNv38IOrvTOUoBL+x44a2P2fgoStzxjQ
KogjOMmjKq67Gi3pVgXNYwMHuL/w1RQP2QxBsL9PulWUaVEkwMfNGFjmGJKIDfPhcikO7RrW4hAO
/toehtadixQbisH/zy8ExWKkmU5VB+S2txNjd0LXpEXm8wI6+Xioki24DJq+P+eTam7nZN4/uF7A
4/53IgNYznYSjA7UoT/MPMDT9cxduvqiQDo4o+wYszrG1qH1luj872/eOeXft9ei+mBAyjAKmseb
/IxyGH5pziwvCCpmyoVeEGQPT7LUKSoS9teOtv17IaehO+7RWOnMQNfYUjiqdQlXeuibdJiVCK9A
pW+XciuTF0BMo0YIdsPd3S3XtcyhuoZrvtQr2fiD33+aT7/5/SxE/tHXBCbKMvXfRzfa0cCNBgBU
VeSMdwXjtp9rQV0H1dPdw2wsAv83jWMCC0olRKAm8usvqmmUuQ5biUaygE9TfVD0/PkFI1ODQjrA
GAZvf2iV8zw1TnOnVO10/VenssLUW5PksKjFeej19u3vD+Gdy50m9wRcaqw/Necry15XuVQS5hz9
iEC1/EbXO4CmJGSo4+/1R6yZP5MrOyGqYgAB8TtYmdonxFtNAPanmqvPqwCTvdm2gbzvx1iDGn0O
arP+oP75M86DaUaQHVsiClZ26v9+07ABOjhszXLRN/Zw2ONJnnSmow8SKZ/Y6ci8OVKsTGlqqXLg
z73dfIWqKuylkcnFVI6eOAthsZQ3rYmCQ+IYS6RqtVYnW8UWfXfmtZsOItimKEc2YTGpiq3lBROW
1j3R0sKneQvK276QQt0Ew4SX2uioZbiGVTJP2dpupmPNPIoSSI9bTsfCFIidDeW8LXeYqsswrXZ8
xrOtKSTuw9pWI4r3UfJjtKX15A+BulNk2ZIxnls8xWUp9jSUlFU5sEPrdUfZzOTtvnQ3jirnH8Zs
Ul0n+7b9CpxlqaFGBEubeQ28joxbETJFcQ/NQABj0+PpExbpxlg0OBvmQJhsTyLT3KFUJr/arWqe
otrtnpxtr8ejcOX0KGLm2gen2vc9leO64gaki6b5jUSM6C40syErjRMp1rQP8HT9shbtjIEI3MjG
P65ryOoksbTpf5SVx4zQmCH4bNld/LNakyE4VNTh69HFma1BRqGZx+vGYlV6raBLlbkONtlcaWUZ
+wrQuOf9XGRSWSniSuv+i4jWoLY1SBe4urO3RVYlRn5SbmiR8caxR+apLYYvKrCKcoEtsiX2y74N
SXtuucPqfaq9jt0sVsCb7RKaI6uV4wWe2gBTX9xY6DADh9Vu1Lte8MJmoQ2vaODNsTH7MGX65JVz
vjFxWs5lvMgXUbj6iYUxlYoCzvCgbSS4zzfJ/5CCslzbvJ6Nu6UoLEYYB4G57/HCE+uQASAqX+O2
9/wMvmO9p7pV8rkz5Qq5W5UrS4shjj8jbOxIEGFKfBuCoh+gmI3y+4yiq8zceKImNyS7BIwbwL0D
5iNqSEHzOHuqdglUR45tAuYKxvxLUSK/ljkOYA/g+KUpc3BqicwZ926PhRHODWXM/B0Q0dweRD81
42GR5TqmI153Og2R+5dZnCD1m43BPr3yjQf5Arzi3kxJW6WVmcNrq9UxULuIxaPqnMbJ6ESarC76
UGdLIqp7axqR/Q3QU9YpNH991dSx7DDb7MbHcmjkVR147dFqVf/TeKFKjm5jnD6f8M2QWYII8X01
d2GdWq27bBnHv6mxSUTRJR33IPrtLF7xtOOUd9nVW7UdYNXgDdba0pP5bJNnrsUwuJBLmt6/FMyr
u9Tu1+lKVyiTpU1UFvfObldPCSlUIqtelV+6pqi/2sGwPwurnvYsqIRjstotyl84IQkrrdxFVlkD
y7JMLWzITF40URuf9868PXru4N0lvfR0WnVl87g1e/CQlL5es30w4Y1WIEtzUcXrr863jJvqpWN+
OcZxJ2BwaQ/q/9TXCHhHqrJz0S1Gp0m3LxZ/r5NDHeuxwGmiq28RaC0d7qyKhjrXUxcMuWemyvyC
tsenPCVVIPKO/Z88t+bBv1aszG73QiS5gqGOkgmmkyYFdujv2bxA/807lnsqVWj3ZUpO62fLC8cp
N/Pq3vqlJ/kjaMdc9Xussm1fA5GpRLdPVTPKV2xzPWjDbe/wdk0ZzZzCtr0bDK72WWAq/U2Uciqz
YSvVnuJ/wgeyjNuMMnTQDj+bANOrtCCYqXzCobY4m0UYPoZ2vb5OYSwfvVY322EOlznIkikUdwH6
cuURPDlEINMOusyFHAMNRItBYE7BnzhUOWUxpWtpuUd/alR55nUskdKlnMZPW+PaDZFOrQ+F6zL8
an3q5rSLau9XZVelOJgRwaizpjExox22L9+9va1FHjMqw64VEbiHyRKFzlQVBt+Y743zobbKsUvh
Ze6vFnveE41ti/d0dyzzDePtdsyS0lLno09Tna1D4yA2gS5rk4ecmSR1rL69g+NWPwGwAAO2TPOy
pUliz89lWQyYJ7Wd/QO/iPmbBGuBhMHkNs8yMOFwKJH1C9NkndF9jCquldVVdeJYwDYL0rqo+te1
AkKUj0FYq8OybFGUDbEtb13oAPcOrIQtmzchZkzXhPcIk5sZpF3puH8oZjucQaQt7Y/9BDDhc3Ss
8bCXLdaJboTToO+o2c5xepvHLI7E9tjD0qE0xbI2wO2pxaK6QVsTPRRcDJx0H12EMxnaovEbtvse
HWJrjcDgRBbwBXCqiKj6fm8uOrsIiuPU9SfGX+RXPBR3Y+KfBU3jWhkqkI461KvlPjIe6AbEXlcA
errrvJdJJckn2EfQDSMDxyUdVKdbvC2lufe2pb8OGjFFqV+OgJtIkc2tcUfz4HfN/tDJgbOKUFj4
GhfUcYdup5wmdjTu5VY3aL7KsYyHM3/Dti5Nej0bYJXIgaZWrXx57Q2Lf1GVWvwoO8IC7ohCNJmp
l+Fh8j3RnNULJJeFMX93iRTPPrD+8aeLrZ+cH5gP1thj9PwLGrX3ijCv7fLQjtH62i+7h6Q2xB6m
yWoiDNpTl3yC5FCUudEmOjpuOw2ZVwRhm6H5Of8O2kIG6d7bQpzVZo4UX1mZvELiHrGQJZpY6d6R
LTMFDFBg5lphBcoOWr3qKlx2agvRMYvupG9SB1jBnDnlWMrUWdvkVpQC0RTbBFtmJOZWqe8N9dMi
tfjd9e665EWkYsNU2wrvS8/u+P4Dy2/ZOMmAAgNVUwBKJNZm4D2nvm6n2z129ZQZSubPhQUd7mwi
9l/ocCuSfFMFxXFPJnKZFRodA6euUL6FqkfWDcNi/Ob6nbsDwimbr6PZE3loOwCwKW5S8W2P3sCS
R1vBmezceZvOG9hqv73Wau8aq8VQJ1C+WrMyjvsmW+tk2XLTnKIWWwxzv5VdFZ7Xbl19QqoKWckJ
uz7wHMG43DU4SJij6SD5nxEl7LsYR/iNosAxh06rPrmhha/vsbeg9x39IVJ5GxigbsY6wSXIN4aI
vJeyP9gVwpRpX9qkHRzbRIQgjrSra8sq+y6dx0722QrZgvy4bD2fKNH+d7vP9R1yaXT/ji/wjMWV
ZHfP97ndXhJHl8cpbIOE72Xevnah6a6E8eavtq1Ig0jus39oh2ko0s4lwmb4Sag1Vb5N8reaBpmU
OAJ3EI5r+F3GNV+YvY/eZVGreOYOGH2mxUhQzhy59vjnWWLp0tLtwk/0ctWWRgjY9rlfe9o+7E3n
utkmBuLi6G1BkAPSAUYkUWdw+USS+BYQEM4cUSGKJrVWU7QcP2FdT4hSqLQfpoX/WC3JbSfZ25Fn
IlyFizVZ1+MyszNkfyYpvGpcA373bqArmPkUscApFUalcnI5K4XRzQv+t1uBVLJwvijVlw9WoJOn
aLJJ8qUkpusam6fjKkQxno24ZCJNFLrOyIS6tzpcbLbQ4sC3FiuUsO2elsReeiZ3jT7H91W053Kr
vK9q1NKj/3AqL+1HF0xjokenPbMHywfQHYDRyNlqIH5or21x68cnS2XhsykGixQgdUmHJTHrNK5Y
zwSrmhkNMgsZ6A16mU7Rwm1+arfdx/PWF9ZnpWxEiiaA6g/OCSCSBSMCamkdAh9PQUe4562yNvZ3
KMBiPbat+ktS9YOdNXO8PE+2U14LvGRM1oyeHM7pk506g1JBJrFodhrKQ+XfjH7RshuMhXO5GstZ
jwrY3ZTKeNVfkUkJ+NV2IDH6MqH93PR1fbmGxdpkbYRYaTYP/fZtALQ3p8KZwhUjYG/bMqHHZU6R
gSl6HMfXRhwcTSGeJS2dTc5RddqMVdL4SzT+glpRUkV1Spax7E+OBRDkiuYgkqmLbBqt1OKqz0NV
dVOK9I/7C9p5QAmStIhVR0OvDmvdcsh8jFrWFMGP4a4E0tilKA8UPz3tzI97r8Yt3yg+Wp7TqRMY
1abGfDHNzOA83poxLVhagr4ZhurLVO/JLYQF8v8emnE9myiT/LQekvLXPHjFD9aejsqCeLCXLCz8
nssiI3zTsUd6Gf2AClvY4WeFYOCYttbY3JS9zQLWtMH2A0MhlOETBx505nf9tOaGyuunHzjjt5PC
mHW2Uo88WbujX1HtUw0cUh2fgrQyc9pQvfxQcuH23MksTJfhAdwU7GPWM9eS1S9atO1V9lJMLAQk
R9RX/djQTSzDmtbCJwgXW8APXlcH0RZJj6EmRkyFN38C0RD4WdP28hfmUeMvv0zIGtJH4C0dxLRX
+Vxb/pOv6c0yf4vWJxpaAhkBC5xkTHi+bkrlV5lxqkXklHn96fkoJEXmXZrnYAuHPsW+h94ycHfv
GaIolY9VLfOWN0EiR/hLS/dUFdX6EmgFlKNWtE4p4BTrloo9oH3VgyyOy6CcNdV63njNMhiqA0bz
E+QFxg0zWXEz31WFCF06R6NtZST4+rLADIVoMzbmp7WW1VXnblN93zpAgTpLhY8Conhz1q8mgYzQ
9Yl3hQB61efxpMpjXIxzk1N39gBYHLP0R7Ugz5Buo/FK6uyia4GduJrOWfkun7XaZGYX4WlgrErS
OM4s429Mc+MmXc1e0QMy+5OHU9J+3i1/m9MQaFCTE6OLm23wqtcwnP06DyZLfl5cu2rz06G+6vBS
oXAfQnvI4BW4WDrUEYO2aQY9t1I9folNqMdsWtfNzoCEWKQ/q9EvTbHDSUusvQtSmtztvK2TwUkp
rcaHMjbxlkU1ChSpNY7WD0nS+FlsYffceOWepKtMNLE/6AI64pCqy/E3Jyb89VaS1bKfvhkZBRW2
OtsYnZH3zZfa7qofwGSGe/SX1PMY7k503BZnmLMEMfgynULTkzFUq7tM7Coi/CvgwKmiw6E5boT/
Q+txvvEqrptWOIK8bH2jJF33vhboCNQeqYZcHWT2sK13kv/2WVZWYh1D5ZjvhVLJ52KZ6yQvLIBX
fAnDSGb2GeCn/1CEUgGs4WKpi11kltQecLB4D9x8XdvqoaH2PSYqTp7XPfSJ40lbB8Q7ZOrTvi+S
32j+DE1KMTiOh2QsfHmGLkJcZ14sCKimWNU3qkbnekU/Xad+Hzi4sUfONJ119hD/2IraPPurO18G
zkmjDutW80K45qzEc8AFE6VboiSIwTJ1GAG8zCaIb3W0D3uGeGz1k/oo8VMTW+0lpIw5YkqhQRww
DxiKC9HvzJGmwd7XY52sNSN7uyZ7hPsYJTS0njrWdObb+YjHmAUpPrCcg5jk9AncijFZNcdVR2Ia
GEG1Vsnbrwc9ynRyW0k688waX1n9aj9oMepbKN8UQ7uvxDVFM+2aEbJsQUlMC4bUi8vArtotj7oQ
pJ9MRY/+/kEFbnlv4xty3rpu93ndp8nCzALbmbRw4q3L10JEfbrHy9oiEBHHVSaE4evQUCoYly2u
OcS+kD/3xUmebWsea3z3EoeF7LAnOl1i45ZpHzMkz7Tuva+evXTP9ZxsmJyO8boyfJ56+4K+Ua9U
rOtYZbjb2U4mGCyXaRAju1r6Pf1GuAzixrYSOZykxoV1BjGRbQc8yOBzLUKnzaWr0dL1GHCZ1HdC
BE/qaOteQrlg01cu0U6uT+Lpsam34vO6eUWRs2Rwf0/czU2TuPAJI0fG91s1b/xGVZ/YyG70XADJ
UmlT05SlU8FQO/XHpPwxI+dYZqobejJMKeLh0NO1/3a9NRY5MuIdaWVevD0Neg9aaAew+KbwFDl1
YEAznTknht3lvA/LrSVrJcADzsldH46aAG3ZO4ONaPTm3GLa2h72oLM4DGy8ndRWu3vZ6S70+cFF
+ISWC2y2WC7q3vId8Ql7kC1kord13yKjJz+zw2r7utZuyfMqTXhpjZ0VXQI/jh0WS7rcELkto/AS
H/PttUebDdsH8HOvvW8Yy5S+jZy1Ao5CvTJL/dIHqx5TMzfuNZWZ0Ud1ovqlScWMJ9vafrsdKWOf
2yTU6NSwjH9IsIsTNORT3aEHqeNnfOvk1wVvBVLFhkwqOMiYXqzZu+UuSbpa0Gl3rnPw1a5CKFWR
/YWFoDVetDO9dZoUbngjg8K7RGg4cdN4KfXzVgbqJxWc++opwy5A4COMOV3vIeTTF1EjqNh2ZzwW
bWVfwSHtR4DVRbfl8Vr2PypPm5gVWlJOiDgk4XSY93J8XJi1uRTvZdMfqAUYLUZ6rxCMVmJ4lfZg
T+yACvVrGUvCp2RmG+dr3Fl8efum7qbGEa8gdOix3UEvX3dn2m6NL9bvnA/vc4gJ3U/BlLNJtwl0
KNKYxfCs0Iv4VJZd6R73Zil/GCrGOBtrwx4wiWjG0r1xu2/lurTf98axn5bW6b+MaAU9WWoaw+MK
fvAWvn70o6rKokcW0TR1PjCBa/PdcrYjuDRQhRSZ7u8dFPj3CRGjJ9luasuQOqJxpVJ1X5Rhzp+j
JBVy5jQfiY69BuE822m+hn6BfF7jFoBKfPK/nSZIMyepUTIZs8Detu2YjExYKFu6+ZHFtXtfR0n3
RQeiu3KGKmrOZ2XbIm/QBvGzlWSypbPwbFxQXHwSU7P65dfCGkzJHs6tv62JsAib22p7h64bg9+t
FRnGqax8nvZKo7gpZNX7jLYbuz+w81kv+3DdIlAP0fzolK4YCGqlFx1bJKTjlHMJ5Jm7Q2rAaPua
QER4q4quYPPaO8srUEKiim0E/pEslzrrjOd12vZxzL+aPtroF2a6nAuv39YgNR17xLRPmi1OKT2W
5wHWQJtCe4mZxdXUsqlkK9CmQ1/5GJvMRJhUAcCuWJloDpZXuvL3xICBebZjA8YcJ68988EWOpk/
Y7qeGzFCx4UmQmgcLElLvPeoqqQBg0KTd0xPS6AkUt7pZsCyWqwq7Mi5XZJkZT2Ml6uLvBs/sV7q
XGFg/kkOKgkzzJrsx2Ibw9eJ9cWXtlyoMeaG86lB+o7MCYPOJzxNVoJfn2y/uTNi5elWRdXDor3F
e8DIxf88ACXr27O4B4T/jZ319FsPrkWMn2KNM+pxItcFR/wA+k+Nm2j6mUGN104FnuMcAb5FHczS
Fc+a2HFBZbips7oHQ5HJcO5e/Kqo0U0vZDyi3xoyesbqLqF17hb9MEyrYMpKzBbHJZr1p2Se4YLj
Ar+8imE9dWw0iPeBafo7UzlRi9LB6K0U/7X6tPaOe9csm10dBghaVRp3k3mtVehddSIyX4Peab4p
TmmA0vGw3pnNG3909RA+tizamaBVIe1m69X6QQK37q4jfHNGOiK50lYOLsXzopyakdCyBPQSBNJq
uOmZro7Ouexib2kYwgQm8Bjt26abbdBMkatChgXjVB7YCrQRVU5tqNxtgMHNQYxOQc/leNVlj/8f
f91io5Za8ebY+Uh8faitxruLmZxSbgDF+b2iBvpNN5P1NPJbnLRFw9+wF5oc6Il06y/R7PmsV2iR
vQzEQX05M9PqczH1pzkgUeYGYVnZwcJy1+FQF/wcthpbeAk1ovXPbAFB6EU6sJVTn+X3jOpcsVDJ
JBSUKHLR0RMcgKHNaLgVYVXcBJtvb9liVPKlXYdtOHeR6jXHRaHyehou2P25u9LEHQJXbctBem35
rbXAyTK+GBnpYKMowsxG9rXOhRH7fGWHZV0cNm+Pkrxtw3hOq6mP1rwDihFTlsztZxgbpmYxbwag
2NHKg2iScf3CIKKbsjqRdvwibBmwFYzFaF9O2tmDNCJ7imzqPcqzOS5kw8dEmX5kMYQZwqRpHIaw
H1Q+KDUY5qdQNw6e09o0gFVpo8aVGAAeZ9jFbs4dbjgL0E1y3DfXFDHD/zY4qTr2vqfsAyYv2+MS
6TnJVy+aYTCHrLJSnHjW/ZbXN7jZHLJxy+cl7q9I2uppGVfvPKnl8Kshg4nzBWRucxavRtVn4TAk
t2qZVJPzsTBCqN1oELQZYZMcOge2aFrpgAKxYsDen53So3NRrlUXfappFH4V0se8bli8790sTJfX
0mnbdEOdpcsSCVcF1bndeQ1an8omZRw2h0cn6t35zgSV3p8YemzTp50ReHjwKWNEWsi1/A2LrzRH
h9WdulJYHtESaBGpxw4N0v/H0ZlsyYljYfiJOAcQ4zaAiMg5nU7bmd5wPJRBTAIkQPD0/UVvetVV
FRkB0r3/6J+9iSiMHFAwmO6QFjfVeY3nWj0H+1jaU7Ud8XC3AafPbKIBTeG8FwzBoNFyv+9FoL0P
ji02mnTEhSBPcpuX6NRJ7uBn63YyfHVSgk/EyUl3awrMo907U1UZ3fnA+NVLNK0sdm0S7n7eu+r4
qyRQ4K/lZt68GB40wyvvQtzV0vUKwZHXFLLC75ethsp0Tt2h985TUi3spjw/UKneRoibJDrY8P9U
ZXBPGlVkHtLb0P2N3pDE/mk6Z9G8wRw+p5b1ke9LS22fyV5dONqU28xk9XZCPMXWRvKebbdvM+wR
DUD6ttUkh5bc+NEfFYVjegHK76usSzT8SB1W6VrATaTf6z110AJOh/9H7IG2b10Z6aVQW9umsKqD
0U9bsJJbUKfB5F662ve9JwJmHe/iNBJSz6FNRZ0556Z/VjizSy90SWyDgQs9d4e3/R2rBhykLXe7
Mbyk3r+Vf/n6CAQ3tWcBiGm+kTM2dKeW6mX7WIfNKrIRcwLDLQk8IuOPntYP4nmWR48WxfkvF0my
ZTBNg/fqlFMisjoZU+c1YGAbCWc4lvU5LbcESpL3ffviqWXensCm4+DDIwAkLrTVAcyK2v3tvtmT
zTzxzHsmY6scyeU0vAB5oHDFn9ZVh+4fD157zhMJFH8ntq4b74BxSRNAb8+lYfAfaM4pLofrHJqx
zsNIbvriL8iHTjhVdv+9Aw7Sp77dXMAcF+g8m3Zlh6ch1pz9HXurzrd5QJBuyarpTx3Jz90JYYT7
4HprA8gkxbxn/hikhlWIQNT7FKDt7zHucMpo0bUpWFRLca6mkuS/ivNhfRzSiecGSvuwuWHUUV+b
m1mCu0kSg2MXuzi5okK65WMuZZMWaAAim5XKrD/99liDLMUIfZx4wEx0rbq4MWfdHhFbQ0o/feEP
62CyOaCrNtc0Eu5FSaKcn9cmmPYfbdL7LuRksETvoR69+D6FS2UpJMcwE87AB6fpznybJ1viaKGW
WmUrplKbabqcj1x260rZrdmNsfe3HO89t0cgmwIXjc+fFR34Z2pn3tRzug3hG/9yLkTFH/ddm017
+WGWlDgLePy/bE76mdCjar/OvOzfI0k++Ikm8cR9dGvrbucx3Zgkwo35EobOYayro6of75vKcA+2
tXNEOYqPA7bbxGLcM2DTSdzTWRR8DVhnUds1hkC7E+BkO7AmlMvxXe3u1J8oWkxK6IQBplelS1me
3dUNxm8QD5ofZm366gHgAtZfS2PAlOGzoqKzNcJDdGYa6rrqvPU7sHtdnQ9bki6KMyKa8pGuH3Td
YWLs87DEzlOInCK5Az6IxpMzutJ7CME6vnEblWtuwBU438GQvvp8CyBxQRtQiBQjNMy6XZCEr/1+
BJDz+rI+m7iK+lMjWR7vxyMkApgSQO8NIJaNwt9TvC06crBE8ks0P+vAU0eutkOWWR8do6YZTwUy
bwbkOp9j3zPoCtio5hSLbuius5LafUlbLJPnfu0T98kl3o4DewUhgMKEFmHIwQkgwoJs1YaUSsiu
rkjsgIlsmTVOnrrpwHQ9hL7OsyhRm38JbwEcP1pT1zXc7wo5W4xNyZobILQOv46RdNd8WckT/tuY
MpngBjg2O8Zx4BqwWJfnfHLZuS7BDEL5fPheI3MHnasoTLil5jpUgV7OKXLA+usy25npARPccLYO
weFjt+7qulG+/N4TP/0w02g95740ByQiso5c1F44PMaiUeMdl1qPsNBKEBFpNLzgLMVKWb2Q/Qfw
VhllckrKmhaYcPlHngxyn6B11+lhrGYymFacH3/H0dMvG1zXB1Z2+3+YxAX3N2YXZ5Bhx6dVCDTg
PanSZKepLYin3B8bpyQ6iAnYknkMx4WYQJyHgaTAd6JqUKjHVA/+1yzaHvcDZ+BWOJtMEH1w4hF7
P8LSbLxt/htyC6XcrG9Bu/9T3dY1FwymbZ/N0NZx7g9xtJ6nAFYeF5l1lkmd4qNpaft23XUdnypS
xFfSiUFkHpG4yvUcNWr6yZPKREdWoARITN2BtAySPEsOxIr2de0f+PG79Zh/sDz068scpvUjJuK5
utTzvoqzAhMGFFhbaFqdHt6AqmYQZT76bUvR+GYSxDzRDAaoJzeITyEmtP5kHbE9SSj69CI3zpLM
0zCEWdhbf6dLa2Z5Wxwtl/PQTuPFoK2qMkEvVf3ow5H1eblgEL4m5GEhut2Hds9pVl7GTPm7d+Sm
CtWSQSlwQXOrSwGNHSxOtodx9WRpFyI3fdgSgLy0rZ8Nik2EQ/US8odJ7ygi6Rlx2dNh/myGuXpe
MSkjfZF8bo/83/58sDZ9r+spet753EOWlsnCsl1J9WOznf+LzIP2LQi78WdVej1Ci/UIjteb0CZ5
8sQKxopUSZNZA8Y9ZmBR6jhtBMb+FK0ft+e5o9Kwc9EXXg7rDP95kjf63NnSDGf6DsPwwltoksKv
47U7kxCBGMqofR8vvhO19hKhHNCZllUcnjH+6PJ9XViK8zkIbhfBYNwf/Mu8+dEwmHq/6JZNw4tS
jufnqt6O+jwmkU7Pe0NpydtSrvJb0AS8s1LN5WebpBqkwgbiJ7QOeq2GeLCvZgcYLGy1hT/nCqvI
aWKRgxNmOOFd50T6rsHW6qys5+nfRr1vn0s4oGeQvxb5TGTiVyIAZkQMSbg2Z1h0yyvk16V7coWS
6IrU4g6EAlYRCHjvDt9qZdNvzR6N/1AHB91TsLsSkXKPw8FfVddnsarB0kJXjnjXJj7ZVxNOqr4i
0aLD0K4g1O9LfCMnmKiXL9E27b89NDc9oZIJu2niqOkvRFwjHyk/5KIvo0gHD2I3Wn9s6CLjc0n/
VnCZaw6W+31Qk7xgzKOEeNJiRRvjbz1W05IFpgE6sneLjM1XInh5Nh0nGn/2eNZ+byisvzgpic3Z
UBEmw6tIa/S1scQC5FG8jds3UQ0rOiqxyP1a786qLs462bfVbjA/gPqEvxiY+DT3kx2OqHI6AyxX
SzoBxpE1FtHGtusrgqVly/lH3VesRKBiCssi+aHstfW5Z+37T62JhYTaY0jnueLR+9MOdq5OwreH
D1q52ukOcR9fAgPEeNJUgfRnURuvziNrgk/2CKQBgGV7/31RZuPmXlYuIwpnYa9PeEAUOcijr+ti
AWxtnlrVyO/11nZtPqnUc4s2Xmb1EU/lEPGjCdgSQRuuubqeCTYShHr3tyk3BDqI7sMD6dS2/tbG
OUhNmORiriiCqEaIw5DW9GSjdSeP/TZ8ceN63v529A0Hp0VAw2Wbq3EKd4NTK5RccyTPddCQIZuS
rUcKnxjH75tPovV53maacjmMWlHwvx38CKvawH3s8TzrqTcbvlN5fHh1Uw4XknzJOEOeF5ii5EEF
3kVR/63pKjd+mqKyQpNQGa8qbG3Ayt3Uie53ZxkBhep46uBq5ttkSvhlmFH5hjCkwmAOiFq5Jcoj
iJbhbuiofsnXIalsjsatrpGTjMBV61gZWnLHBBTQU7HzfR96Nia+rk/XSSjQXUbsYjD40Ly5XWvo
IDSVLmIHjmYKPSt+5fxYuni+Skj0X4eWwGQxGPHK/Fa1TBiynt7XVabrna2t91+k66gsZnDuL82h
ERNxR9Y4KMY4utGQ/VJgv46wjtg6yOENw/cJ2UxUYF0o/yNzEA3OLSzn9Yj8vrmkZe/G95yba5sz
Zgufu2Gc2HzDw0UrxN5enyvGxeQS8sP/c/m+JuZaE8tLhyC5+6VnEvFPzBpwzycZD/4V+L+6xwHv
LHeYR9P2pnc5xizqLXu8D9Q4vakI1PzkDwlgnm4Szz5wbjZbFqZjUiQ3j9jJwBx415CA1v7CQlTj
6qvaurtHodxaxJehxoAeg6idecKH9slDSNrzBoJmFBjzy/th3uen2vDzn49ocb9Ckq1vaSLSnzNK
C/B8EoGUCw7t8vAgSHT/yTl12pOBwKxzCB9PnNvUQmKAtncovyyA9zLJ+S3eAnfLacexWDeXYUxO
BoHchkBZb34But5C7nnSRycOFi8fWrpLZmxxnqkg7MGvPuJBKOdRCiaAPJ2ge7PAbYml82vfOb6g
zQBhM1OZRvnWueFTh9arftsVn7ihr7rXS4b6RD51xnrDizi2GTJP73V6EY6Ut8R87b25+C0J4XOk
b79MqaowCbuj+c8q02wPFqxXvTCL7LfsgqRkEB5c5V6gWJlDgshM/isIlDL0I0eobyadND+U3trg
JEo/nN8PcF7mqLYCAy4ZIZwf3jQ56+PeebBwByaS8BmYq1vPtAaEwTdHdYfIkW9ZIOJIiuS2nWx4
NBAn1blmopWndmuMw9c0pq8NixkwNQSoe0W4nH4KVN7N2SwBz02adhbJohD7n2VNd+7AdoJirlDM
8FCVpvrnjHO6vlXCgZPDYNSL16BOdtSigELb6yGW9SfC2XZGuopC7zStR9RfAoPoqahM6mjSm3et
M2Xj9fVYaKhmgi3Vp2ECqvCZKOeTgmKmxC70cS+lol+39wS/h/kTAf4iGQ82gwlGHaP9elAQ4r4a
gCGkEf4SBNNVbisXVIXy7Ysf70EA3hGmPwavc39N6Rx/Fyjyl9t+N332VdekX/2yQSTuH32TPm7u
WHWv9hA3ZCqRyXTxkdei5RVohrPRh9T9ckgQpMd5nqb00RtjeITArO3XED9p9OyYxW8ujD6lX/gt
hAmNROnqgGc55cxGG1XSPjYhuFOxLdH6J+WqXTNdjyNHtVbuQOHrxIpfep4G4yfn7aVBe9ifIjku
yCwGNuDXHaBI5WR6DeWJSaOno3U8uvWE/HUmBZPqOTB6e0stYOFamVrGg37j2SRI9ExwlCaL510B
eSl/EVnF905E1TJtiukiSsbM5cC9za74A3O1w3ED4KOVvC95BdNsl2CVWTv1iWJ+GachI+6YT5ik
ozv/O2wj/Pqmg172Yk790M884O9P2W7ddsLrKfxiies4eNKz4ncMNCHNT+RXIJUeU3/U7x1Y7HHe
6SK5PY0p4BsOjKbLjkgP3TlAkrIjubytNSR2oH3ivuYSXKPwwxsBlDJGXK+/tI4e54dtbeW7N4+9
zlbd7E6+WNS4MK8CbXIATv1y0LThnCk170UxjFU13m/e1NQPQTKuTKpiRYvJV8P8Ochtfx4IRyDK
a+oUKaq2UQ3bph40M3e63+P7aLoPnM3xlWTQ5W0SNTIhO43jry2Mu39wjsk7LTRA34tfIrOn6PTJ
d8P2pcPh/LoNysyFhZFAybns/lvHIAy3Da39FqxcQnCXRB0xG22zycrOR+bsLno9b4MW6SNwpBfn
S1Lrn7wNE1cpqz8UuLfR3qCYQj/7ZF0xRewzsre9CpN/lU39qmikbm2GAE6P17SexL/eQcZaRB3i
CTZIuvWIyJ2aMYJ3bu3vBan/D6u5I27cdaTPwTG17ou3c85n0BX+fCfkUh6XFmn6J2oozA7+3ifv
Hg3H88uIGM8AVcXeBr6SlOplSXYOaZ2sxNWtNgl/1bJt4gsQB6yYqrS8F/GeYl4gqb67cqkbJKZx
5Rb0B859gXYVkZzGa/lwjAdMRENWZH3fe6n3RRmtruWgEC75U8kftcutZJBRbnCfxD2nrJiV/lx7
x3fPcd1wvrOwc8jyIdmOWtlF0y+PC+WbrSM9ZzUxOKJww1ok114y4Be4noKRKWcIyYAqKxXjbxlR
kDXR1v+xXbL82HdnWu6d2N3uWlOtwdvoheMenMp+8f9WcQyLFgw+kP9GZtjnevigfRMZzc754PjK
kZM3Ax7ccUrPxxKyfoHU2ro/e471JIaFbXmtHWf4S74H6/DuuvNPJbtGnRFmoU5u1hUgX9H1HjKl
D+4PitJ0/Y7rZvvGnoKDziZ7mu8HtycaCeHipZm5jXcG9t8UG242d9TCcUYdNmIsVySInXs2zOcG
heU3IgQg14Kpnv7EKNPMKWnT8SEWis7spFzAcvTRygeQD54i8m2tzpLaD39SE95832Ui45OGHqlP
846oA6e1PNZT0NUS1dWNKnxMaJqxhVdqpsvYeOjCsVgj3NiE4wOg6J2sL0Nuxntw9BUsBaqIP/GC
t/kuXrcD17R7RPM59pGFZ6VrxXQRDGvljcVPZbZCWxSTUzODkVev/khex/reDJjUgBJ9v8udTXDM
Lo4KQKv4g5rHvofAQLc/oSRBP4hcfvBZC4pOJ44uxrSyz+QkbdHvg2+SVBXmRvdhjIMeT1Sz+Ou5
lukiimgTe3vtYhtMfF8hJ0V3dAZ/z1pbmbPckFZ/soyTPA4uzAeQ/Kh+krSFxYufQsgcJvQmLxrd
9Lc7orM6oRPv5PPh6m4qnChBycVcEgR8ucHACT1Ma7mcZ6wx+po4QOwQtwca2dl4PHMapavO6Q9R
KfqaHUGvZAjHpldRGlaQ3+0jZKnNc8sO9xTHRld5XJsqfozE7v0WlqRieNR1Cy7gSna/aJlu469W
x9rP5Ioi/v6mDRtzSjCAQED4kjWPnApPFwNGkly1tzXN0zF56g8r8v7GqdbKC74Z+eToaBkvm61k
+IAkPH0njEr+GcyyE2mGpjlABDzMlH2pQdas9QR2n/p45YJGQzVIdhNEphnWAsxHkLUVGJNiWTyT
j0Z53yQFFzSyu/CgQns1wSs2Kk+eS980j4QuH6bQDLzts2bPOA+LIGUrdaaZM5PCw39U9gTNPTLD
9SMNSvkcsG+wMlet+a+K3PhjFJisnpN0m9X1mF3zJe6saD9dcIjj21GtW39NzF4ZnlE8I/kQT2vK
oNDG+q6pYm4YjkDvm/XIuM26oOOsY+Tn8OUeXEgRZXfSZM96Q3BxtiVwcpwJwxvwtfynnNX5MyLa
Y7tb4A4RCi79L6cfmBNpApzo8lY6kkVYdy1DVGPrgh7VG8GVCIkciZn2cQZXGPLJRZSLk120QdF6
sROC2R/x78HWUHXeii+IGWZqj9wOeEqLLpaoB1dC18Q1ctCLXJrl8D/jBf1U7iHD7i5uFJe/o42P
Oi/lQr4R7NsLHhGEVYtFBHPLvkG5Y/phN3chyPe5jXY7oW/gWeqxvw3zj7pZHf+KaJG8wVmEm71M
QJ8Th0Kf/MIxLL4gpvB/c7av0U051VZnsMap/urV7jKi5OemNl/qdlPwN2hKy6Lp7b5xCYWyvXp+
5TNtRzsrJqL2QeUO4PiHmupguYidhQsGq1L9U+1TmYKTr1TLq1uHo87XaV8f27UdUJcihWSBEvB+
T9gslIsIVh5Q/b0Y6ZEMjFzs1fFAt08ArN7VH7vIRdVl8fJg0dBNTvzP8BA2wxS80DBRz+fIuYEx
ek3lKx9o+ImqmO/ndMCKMbXtXg2wQK/y+FWUFspjOVaDqJcAezwwm9r1fROrtC9SFz1ai7sO5T3R
5MmFM85dr06NXBUpRKo5HcHK35Gj70zR4eRXT9W8DOZ5S49jwfUYH2gVXMwPEBcGh4teMNZf+rks
4zc+1AB8i1GnzLbSFd9KBY2bjZ5k6Y3rOi2R3g0cxmmNQHB3F0zmK2KBx9J3wvg8YHF4aFse+i+x
S07SlW0dOT6bFpK5aPKc8qNr7QIcOqjtX4js4Lhj+ZrtxYHUFfeI4xk3o6EVZ4TtHQ9SI9unRXkb
WlQU8e94pdB68Zyq7o0RNP2DwLHFJRxXy5Rh4PLZW4kDrd+jqa5+oSqK9/NIcGfIPkETH/6sIPbP
U///5ZNcPMF7B+T+x9/GeTuhnm2eQIpmeU+vQ79mtm/1P+vXgNxAQqj8JyICeYCmgV9bMr4fZzdc
xuNe8SpXeRdI+SqrvsGPEfMqf+d2HlD+owOonmq00ck9MnIp8qXFfIo0EtI2L3czPfSdaMoMHC/5
MREx1V5wCjLPLH3bjHfx7LX1vedLRZcmIwZ2HAgmsjIpOpenqoTlzuYu0OOPTbW8Zb7fEGFJOBql
B+HgGlMAdifdC7JcsvUju+NF2f2xeqEoTnHrrp0t4ACCsuibDYR7dETyjRZ1hf5k2rfyiZcMQcVt
pfvqVoG3XLsjYXIp44QjIgqxJUVYe5Nce5qrPxWjih4XG2MyiAEDOHy9LX7a2uj4kHOIOk6DyadZ
L0o4t7R12Wz8Zt1fe/47fCv4EiQv8Mg+Ag49yMxFLBAWgp6NregFLsBi8ALH5YQF3TstM7qqLKr8
oL0gvmmTsy+TPrhYB6qUBK5hvriJREw76V3IaxCVMjivshY3tVjYvBizlQpFWxuNL0c/y+EL76+K
7krP2ewdtglA4y5YXuoY32ymxnpFHsqXyEROWJXvjt7yRB6QTe7TcR6eqx37+l26kzGC2KU92CTk
nqB1KZt/B77W+Q5ykyUKYCqV7mvvhMl4IlCtDXjamqPLe1OHKp8hUX/rHuK+iLWj5myKQZIYsY7q
i8YFYH9NRlBzIZnY2qJEChJdxhWy6zquc8zkSBnCP8EViaMjpo0pdyO/GS7rEqzbq/FUG2Hl6/bv
8UZqP/+JqE+wJ4j5IVG2ci+uQeV6Wo4KdoKABw72ocKdCBo1cfP0LcKXk20jjw9aNtAeQHQd4mTX
if6mdVzNWeXbWmbJvE9e0RNgfWdTjs8MbSWhpiHT8sz9ZWf9Ta/VEUFT0aWkGJoCDFnVsn/TbZl8
qWB4PEYHBPy5GxgavD1kSKibVY3JeSCsGQ9HF+rtFJbx9AsmBNI+HVLBJhvUCAv5ciTIBXNhe0U6
7rWFL+IDwCZaAgkJhoW4ICynis/eDAVwtyOcAboaEJsygrWuBhJETJdP8SadrGk1d1tJzmNwZw/k
49fQ9slfmAesV4BCTVUIO1lRHKrfv/EWwyZivdxPibcr7yIGkmeJT1iD9wm1oXpU6bab+2oK1++8
4Lc+vnWpij5V6q8wYv+HOFfiF5ucHQVYwvAcLeg7uTQS3E5j08vCTZWB78ZCl14cq485s1VZHsUs
BFsUj/urQhH1Dwo9zVH83ZxH4NPzx7GvR8OHi5iFN9YNjCRrNb3AUU2MhxaFyx2T+5Ywl89zclLl
waknUgIdMow2gyqo7AhRu9wWntzWhMCfGGr3H2samq9i8vSn7eP92hFKJO8n0OqHmFy0m2V1w2rT
UZuCajcm7R9kq2weJxRvH349JwOjpfJGRNcc3Dzy8WQLEqxKcE3KVeJrsjlJm++ixgiUbuRs1AlS
h8uIrI8AB2dK0CMk1fBKLdj0Sbht/Sb31vn0lgF6p4+5TR5JwupEAVy5hhky9+Qxbiy2Efp1AmRP
LhV+oo2RR/Slv11vHCjMHhJ70HX0dE86sONvl7LjrVhsQOwA8Qk4xONEVdHF0taRggsiMHoze5Sy
4HH3nFiW0u8a5Z3EJVMuEaFCZfgeol1uLmAJ9j3uj+lHFLSUTAlP1b8Mp54tOlDo35ODvuuEpLiy
FzLo3V88EuSEsqa47EXxZl+Ikwhu+XhHGNAaMrdtodNF61daXWYk1OLw/kTTMbCNwMYNuYrJzs6r
Ix6/SrJ+RDGNS/UqCYz6y2UeR7mzdLvPOu0JdLRD1/0e4OssgvMpZq85tgBNnWghtuZVIR46BMP8
MeJQRQmbtOE19lnOshqVPRCST+LyKZpJo8h8r4bXCGyVkkghCS8y0DTLpa3UWnLNb9EHvesbbhbR
hy9VXLELeU0qPtYy9mH/VWy/NLKruocI2cq/KF7lh3ZG3uWed+v/QOmx5OTb9XFGEFL9PVaqWa+T
PHBnxFWcXp1U+NszbjBavdbULqgnfSn2+yRCY8rwuIKJqJbG0lNrbPS5bxaVgF1SU15aWOkHD4ue
PI90pbiMRvoGHmN/DC6Hc+yPy2S25c7HcJfmUcvSir9wS+MHuFLd8xJOfApnUcDRuDKbFiaUBIk8
9EwzPg9VSaAFT6/7reW0GC4ItGh2ckS767c2WprXVu/HHw9vw5318FDeaHLq582qpoqO+D08sCIl
wNZpGaV+FoxMAXdDNAUuQhSHhLlA1m11CUligJMPA1XlNmC+vIDL195Pq+32roLV0WcsjNHTYap+
vkQEQHzKhc0CkHXs35BvDttpC/nieAzIJci4McnW2MroeFPdEu4ngIQdre7skLpWeRFalsXZWXnY
9vfqWoFUFr5rIfgb2XsBg8s6/TV+wpJgUBaYk9kiG7DtHOWXfumFcxbYBf64XSeiu2DzxX/LMYY9
0ErkvpZH2yOwV8nycSuM1qjD5pFRIRjS8P5AVkmxOxkhLwNJVQG2/opH6xaB8jKlCPaLfVzD44zL
fEAii43mFBI9+mvDOQ+KnoT6Vxr1tXO3gLd9nTAmNCe80PLZIB9uIIXG4NUDG+eB2wXkgL8rWT5h
PJQYPNs5fdFe19kLhkzad/0bRYOWZvrqeAakyh38tC5C0028Sc5slpd0q2xV7FtHh5gm8l1dOakY
vtLeo8mXJ7OjM8gmbcejFRMiIgdUJHUFXcahZBJxGf0gRMnzf7Cov1lCgTm4sbIdY/dDqOzKw9cj
Z2KGqqFmCG9Z0AR6kFi/27lOXxpuOmJhuFN+Rvi65ntZl5VfODYGigCb2EQREy4iczy38ZtfHh5a
dzHWPT0Vc/xq6okDXy/Me04/YYslC2fkKCcgMYUmSLtK5EdbjgBu/hifXYgqxE5DLcJsgYwBkHRd
9ca8xky3KdfD46Y5sS5HKPaXzuM4Pa07vNoWNvI2Tc8A0McaNYBkStaZtAiAT2tJi9KDGN1O33wo
TJW/WW/imCiQ0H/he+ZaCUOXqjCM9PuXgCCuH6WaNKkLtUCAf0gOkzNxXWa+d1lm3qotbvHfh6NE
LISTaj2pBh36EwgEmFildPC9TNry1VRH+eRC3ZQPgYqOOCNsw9mKNN28/nTsXrSj3gkITrPG7f9R
Ozh+OvVSft9RjR53tyiuf7AhkiazAU3EKTHHShz4VAOTeWXaP5ILzfkrgrX+TZBRHV9Ik6Mlcd+7
PWITIg/hzonH6aWsJw9IPmIHK8IZ7o+foR4wMIVRKa6xg3oeIz7OszyZpxlSQiVeHgw9QldaBsMr
PBncBTqZpsyDI05QsSFxpnSj7ZbhDbPD8ro3y/pF9EpzYqNk18jwa/tjDm6rCsaR9Z4QBgRkSdvH
2wPHXel+5WnEQRHtYljRroWhV1QluAkOUIRsJ3bUW+K+a7aHMrGIJkMnJCYTNq/PoqTy3OrU0q30
3wTlfhOvYTE+geKvn4uXIP1mZZnfajOi1ScG50GZSIZFucPJEdhUYUQrRSX/VtPi2RytOJkvt7AM
/3SgASnPIRCMISlApD/C0q+/k9GuvrZW8uLIYDDXPVKuCy9TBw84cyr/1PDQkPnP6NMUYSuIk9il
m15U2ohHaFozUMMN7v0yLB3qHJDr8N2kyapP4yJmXgSEQCXIQsXlGTBJ6uejlFN6qkipCjPtDTf7
dsWIUziV13xEupmO8wTzsrzyUe3bzD1FIr8zpYCpUShMceAzQFjJNRbxdYVQnn1w6O9kPUEHdV0y
/tHpGs8nr4oSbo1uwbKBqgMRSTAbx5yqWytC1oiyl5fZtSO0wTLT2QEwJPSzf6TyHew/Cp95EDvC
Qv1oKQtvCrneYAPg0qsFmTX4ZThVhdtuRMHwj65TQe4xgQVNfJCBh5GRdH++W8xWIElgsGQ6xE0+
r5tpzpos25pdq16ffX91b+kBSf10HMJJvlZlsL/3t5cRpKJh4R1VGr27SELINQjH9qGak04QrZPq
jxUW1F56zPXPPXcDPWoDfbAVPJTilli2n4ZM6P+ISggeA6cPyDSKkzLJqgD19D0WNpfo5lHZO2KJ
wvt5pmvxhKMFmcTBkMXzysof/vTARn94SDWZoBAhgW2ir4y/Rn4nxmKd14iIG+7mTP+PszPtjdtI
1/YfOgTIKrJIfu1FEluWbNmO7fgLYTsJ933nr38v+gUOLDbRhM4MZgaYJK5mrc9yL7CLPBQo+uqe
vxYmh2YY6RekQpX6SUIpyu4cs5u+p/ZAkXvuQzc4CZLh7Dv1WecMt3ep7siaEJpMT5MPQAu7Sy97
SkqaU1mEKLbl/qCdJlLY90a4vA/IQkOUSAf5GQk2/dPYiPSXxj75u8nG4ik0g2nhi/jcoJY/5b9g
6OsLNdmgcuaiXvdvmGm42NGQUeNh4v16dNnp02NqZukHLYkT6zgDEI4Plg324BuSGAE0NwyIoaWh
y0wJfyZp5J2h+3xqx3L4OMbx3H4s6N9BmHLr9ktGeRKQKAr034BcDM49eDJZAQvKuSlxg7StQ1WR
gz4MeqE13+mU6/lRDFFVvqPEUVwKQq35vgYnI86hHmhwGcB0oc6TjeELIYn4bgQ+gWg+gyMBvN2C
hpv1uGrR0cHy4VDRaCqoMMsyvp9nd4JKlqfE0aXSXfZcmJtEzFyA411GNsctUDRG+d7NzeQZFk0d
vxvK1AIbpGegsJJA5sCGYzM4W5SVS6LJfmmMVsgvviB/BmfdMiIn94DNKHkEqOX/QHoriD+UnVXH
d3hgiPxcC3cAnumI6hnn5qo6GJHOr4ZhI8RFOODAgWs76X1qZGl4oVZaEMLhSwRiPm8m/VvrlNo/
JOY5szsU9sukMhMQ5hTX6oBeZBd9qoK5uZPBOHXnVIwk/7PoG6Cw0i/ugNnFHwwkjtCIKopyfo6q
SuI3C8cG5zdwuEH2/D9gBJXWRu3gKacPL+hylvZTLyLfPcz2NBqn/xG+rE3gsZk3+z0WWUaWlzla
O2aengfkgMc74Oh6wR81g1Io4nJ6KOspt89px4s1dSwcjIlk2JH13FAQVQQ46Goi60q6svz1PzRx
6YZO9HzKzkMpWsfesJAARUDyClLOPVXoLblEG/8zR6FByb9XCqLxIhMKlafzOvQRTj5qR+dICed5
QhXmSLHI/q75M6mFSxxIkxswWkFgDgMwljuym1sKkbbEM54OkY0f00oLVGNLUznTO6+x5/auQwgT
feyov7+ttrkhfqlsVOEcIRc7B7nSodQCKroTGYnX+fUnFjD4KkPSRv4BzaOUQD5VpTCxbw9qbM4y
yvcGyGZcg9ZmJjncx8Gn/ugNfW98ANfg3JvC0I4mvZk7oi4kiwDcnLNGzadySKoDrqbusRyKPTfe
ra2FXtf//pBFjPSPrYXMUm3XiknuswzZPXBXjmNEj/BE+x1v1s3lBL+BE9Si6H4l7apGldpm3XmK
VvK9dKT1rNCL2xGr3hzFNm1mS0qQbqvl7AGsdEYjyWCxZaVQZVoPxVBb59vrt7lp/hhlJYkt20AB
yxo7r4QN7WFNEZwdGkVfkeDKL3ENspKYr985DxtLhdePjnupodsYCq8+Ded4l5qj2Xk2QohnWvjt
c5cMPqpt8P1uf9/GLAIOBWajwC8hU79SPu9QWQIgEnceDnUC4myrnDuwk/TR3zqOYDfoEtsbAw3a
9WUT5lznoFrYfXEjn4tZgB2dx2BnT1wL6jIKYaQ0bciRV1KzqDSCELfYeT46i3dOUYm/fHfUxssc
xcKjJOiLHU/2Zf1fa85iRKWbWAjoNsrx670u8DixESJqPEKE7ktokWZocZqcx1wFaCkvIv+JKpB9
84XYUbz97dCxGtvGLcFViI2bDn44qxNNAwZGWDR7ba8pw0tA/qK5ZGouCXCZi8LrbYCIXt0Rjz3Q
IFAVaYphXboOnsJdorsVeZUPmZh2PYItVmpP2RFyhG895PBowRNkCIDSdHXc4JLZFg35Erz3IYWL
n53xgQIymyF2AnQwnc3Pdj3Lcuf6vN6eyFvzMJhAaExMa1a2g4abFlEUickLnUR9RiEKSMMc6i+3
N+f1eVtGWfYLNzSuSKvzVidaYtLemOhaoS8QakN71PpQeEM5N/e3h9r8IFe5jmuinYge0+s10+Go
zk5gMxRG2efEpEi7YAl3TvXWB+FugXWcVKai5v56FJSj3Lp2TdwFQRcdp8ZC82AmqYPEsGczuHEA
KHLqlFnJemwadK+HAuycQ2B0Ri8gQSoOaTYgDNUNi5YRyoUifIe+avhjcDtwuCLVpnDnYln+/NUh
cBjeMG24qrQIVhcYhdU468xq9CiXaFQTM1q3xQBuj4rDY1Xp8UnJYs99fGN+HYqBFhZlXDNYNr/+
6NIvo9hu68mLtQgvDzWkZ7vuhrNE7+btS8lQi0GCiXUHDpKvhwpUjHp8wt6MzfGbKcYOnhdtXyXN
bGekzZn8Y6TVpmkrDe2YLpu8liD0IzAu9Zy7xQRXRvRehbwJ7VlH3d0+D5uDujQWJQ46OhHH68+D
GUcC7cDwaMBx/OTEBL+ykuTFyaHwZkYnfkw0YX/eHnRr+UzePJNJNR19LRQOgS2gv5MMXgDp5VJl
sK00EwoE1ep6Z1K3hnKUMAHnuYZAivD19yE6TYo6lKM3mKiBD2YFGynq/+3GwX3jS8T20FGRx/kS
Hx1UqJZf8kd8p+IJ6wZSY4+2Zml+Wg6G+x/45y68p3VNkzbM6gqdVIn4zqGCLtWcbs/q+ib4/z/A
snkQcVFx16FEhdS1Htra5GnKbOOPM5qdJxpITfUUYPtzj55u/GxTcHk/lUXw7fbY64efsTFQIcYG
0iWxj1m9ExECR+mcyJl2WJGDWqTuq4P0p/af2nfToPZMpNfLynjCFCRqHE1cKK3VsqaJjXYlRpFe
aDb5OaK5TP1S/7ft0Xi+/WXrA7IeSbxe1lGIPAJQpHstjPRzO7odCNkefEKRQg4PQWda41Td3x50
/Ur9HhTvJ8cgrpG4kb8etI0ns/dDPg/h8vA4gPO/9Egd7gYwkj/nz8v79zjELywecYyur1LQHKme
trMtMFV9nA9fZE/74btbFYn8UdrFnDzqZohwfMLfJA5tVNP6ReU2poOfUvNCa0C4lRdgJ09zO03p
6JY4284naJICMmaRIYMBCB8pkxTk9lLQKMv4EcGMEG6QStBNRZV1ik6lLrvKa1AF7tGApU8MNMPp
/ylNFHTPYVS1tAVDf9ZAZhjwl6oEQsEJXUPDPRqNgRg1PQ/YnwF0g/6C2qvsPmihnRjvHeQ4x89u
OWh/LQIyIeSGoAserd4B9Q/7P/jPV3Zin8yS7sGp6qLkIxR8BDjmgUrQcYaWHN/ruiqfY9D76Tnt
A33mGY3Ue1NliG8p2ea/ikQ37/CcMV6g79gfan78oxhcqGVBGOjQiUBxNyi/Y1lCqzSOq3eoolpI
H9GO/2K0BmrtISDxkc9rxfPQGnP8rZnhD6AhErQprXRobQiQZ3X53Yk7p/7ZpshBgLpL3fDRopIz
gQTV4i/tNIX+qULXprijBO3e9wJLoV/gFaNPFHKz5B4e4Dg8wL6aiw96wZH5lQP1qPlerURrKlQN
EJl2Fp+AWZBbNUMXp+dyLLviQ1zBVT/qo+VEP0STFuLSODUy4hoTI0H+14Iqk5X37gOYDD/yOLzc
5jNIqAuMuxZcQFIbE4J3vELHPMxb7X3a9mo4wo4E3+MAx/L/VmWsLm0rAFprijuHHkYYf9MsMHDo
vhrJ+DmdS+Ei7YgO0Xs/is3yjIQHmhY2/TTnyxDY3fBurroB9j7t0eJHkCSacRB23T7Imnz4QC8P
cVdzEZN/p7U+Pdlx7MzgMIelbz7WM/LWD0FW1KNXNjoEIpo0mgFHeVII7dDra+4oYFFCR1LInU56
bMnya99E9vC1sbRGoKErxI8AQkDzWEQ5sKygCQkwR+5f/WGCzjUC9MIf/uC2snhvWYpr0uV46neg
hXQKbIqGyZg1FXJws0DrHRF2F+mwUhlmfG5rGOyHGFXOi15ATj3S3hTf4T74dDlgONCeSdvpBYQz
5AcnAC+MHD/cHCzax6ciS6aKUmcedseETPGn79ckJTaavOVj7rjIFDd2tGh5lyy75ZsjZPXQtjQP
ODYg+RQSXQQNDG/McwpkRx2EtOBLtJaGvn/TO60B1dmRP2trwM6iArYCpw3QEtxvZL6yUyBqPTrl
oxZlD0bWGdkFKCZIighxqS8F7NJHBeAewAh6OS+61Srr7MQoKV0s0+6nS+kaUXNnz7bvcQcnWFoK
N3oCBqYX9+mgkD2HUM3BslGXs4ECT1nwTjdahG4QsUGvh0j4l+XA7gQTRUH4OFuqC08DdqvgGkst
pgqHjl5yxJIzte6BgsxPU+1Uj8wakw7IAXBcRfEIZURHz43zHLuwcFTsq+7LqLe1/Y/UdbQ0nKYD
ic274MMmrgVv72TlC6vBMo0TOO8m/ycHeGX8GsGrfkE4MP9gpML4ywobP7iPECTzBng2xmkqQJ0/
Vl1V1/f8EdLrnYgtVtTY/x4I3MSOQe2VcSYPAmBQqDmWKbFxMVevnZOUVhSnkYO7cxRUwBVD587M
hPkDqQ71CR0I+b20rPSpLmX9hEqcc9cEAvFgu7bC70Gfj/4ZyhbwARAgxo/bj+JGjEEIR54D7Awd
OWv1KGoqEg5aJLanfLTW2Pbl3ei642Ou19Oj3ufW219+CjIcPGFKFwmh5ff8EdC1AVyDtmQu0EDT
X2ogTiPtRJk++OxltDUj5X6eCr/7cvszN97+xfLWJb0B8W/rq2GBf9KySCbbc7soQvq86d/5uj7d
3R5ledlXL//vCo3OlnOxSlslG53UVev6hu1pqUQPDZUiH75vPMjnHAWAL3UV5o/0sft30D2GjzNK
Er9u/4CNCI6EQ8HWFoTn0ll9JjWVWLQ1swuurz010kJhLhjHTyPA5YfbQy1/1PpbJWU8QmOpCBrX
OX8VK33scDxC7JvXGEb1kavawCq0cZ+NYJp3AvHNTzOUAnkMD/YqehNx04AokbZniPCHGajqMqMM
iWjSrO982dZe4aia5G/LflnXGQqKignXie2ZSI8cq3Qwnq1+mD7enr/rEHixcrUEZCqMSA21uhT8
SYmqN0bHs5D5fozjAEnDGUcRGnJ4ubk6coiC3XN70OtJlFQV2CGG5TKV64xCIdwdJX3veAJAKwUy
QDbUoNG4L/s9V67toci82SG6aa3PAniqyteHGvnACTkBanNYFJrWdJ+hV7dz7K4XDLNF26a9RMmc
islqK4K3jhAMYtfjyEIW2I3zE1FvtXONX2/4xdLRMugr6S70utUocyqDLh5M2+Mm9/UzvZhg0Ym0
bJC6Gox4iot0T9++Xi5VUOzbLLbdOmXR44bTALqeAjPedbCZ4gYnIjQfjqqthh1LM7FxfWFMIhQv
FTuEusfruxmpjCKaqIZ4A4pp2hF8q/Us2R7m0ayE+7mLRPwfWEUcOozKncoD+A98X5p6yBWYJ1Uh
+4PXc3lHNVwr7tEcHAzcPoI4uesdihAnuK61cwpcVdYfhqwVHaH8FOSfAs2N7adpnif6y525IJIp
yoH7wNJnONqzcjwEZ1CXK+NE/pqrvhM79+b1DqLC4JIYShxC5dUrWBX9PA0hF3db5fFDCMXpcdbz
7nR7Nbfml9qaQUVDUl5bz6/rRj1iaVxhBZ2wj91UJ3/DVUI4Q4oWjF4Dr/eSZ6BDDqLG4RDwfPX1
rb9AkthT0offRqV2/Qw2TRO2YFgtr1tQQvje+EH4MCCSADZwCIR9GkeJ6LIieIfhih3YaXBQ/NiZ
h99drNdvB35LnCRlUtLRTWO10fQmimsf3BaKbogynABJq/zTgAhw9+jk2khJaQzd7JiSIn3uYZo1
IHp1+LtaaUft3yE1/gEDbNDCDxWKA/4ZbfWoeqziwZbnSRvAjxpQffKdWtT1JmFnSA6GUksXcD15
6WxrJVvXpGiBKFAU43kwBgCabi/Rxr25nClB8V4XHPvlV/wRIA2Qsdw6ci0vXyixbZLC8CwjztmM
Wdy8c78sE71aCEqUS0SEP6RD4ff1YDF4uDbQU0V1C4RN547Tt34eMJ9wkJj8YBKkVscutHXkIFpw
bLe/dGM+kaK24aBjLiuY0teDIz8eyESh9VjZlO3Qwk6OaLrvPQ6/mw/rb6R1xmSarmkZ6wmdg6yx
66pzPLoH7ZMzLp83wWh/aYRGD4y8BKeak663oiJL52jeZXpCVpDkGirY0seLDPUBNf8w7aTUF65P
wFkt4sUOLI5QI6+dGf24sMAE8ewkcX0pW1QNjvDZoqfKxQnjYCVd/bfqiTiA/YZOh1UPr79+bpC4
/uUYbXVpoC3KZzcjyyf9E5iwtKCh5RljLjoPgHjcN994CzRhKWgKwkT6568nH9k3n/8zdjyna9Iz
vGL5IHXL2Vnirc3MVl6eFKq0rhCvRylcPB/QDbK9KIRAOrbIyrV80fsYNtPO67W1m/Ahp2Oo68S/
clW87EXKKwrhiPiw0U+GBvojJFj3bu/ZzQ/6Y5TVB1HQiyvTTJg2Ec3noCizu2D0+88xAM+doTYC
RKJQRXeA3h2Rx2qF/AHN3wQte68Djg8rdoL7wwsCAYna0Du3gsmNnJu9EyFuRDmLc+tS1CdVFetY
yp9bkOEGxUszBBRooex7pyP9e7TGYjzXIFs/3J7QrWVTjrSBdbO/KHa/3iGZXgOKHgbbS5jL5xni
M6xJ29nZHFtzyb5wuVkJ3djHr0dx0YIHIOfaHhVIF/1cfMJgU1FXQeHoUjaD5gHo7ff6vBubBREh
k4YoYnPm1YPhUOLDl8BUXjoCvYpKLfDA3wPjd0PnfHsaN5aN2xsbXJJcixdqtS+53TEtQ0jaG6cw
J+dMLPFLk9r4TKstfXIdle3AYX6nCqtrFf9xlLP4QJrMcnV7j4BtAigiCLSkQfDUwaj7R3MT+ZX6
lPt5TJEpypOWCxHh2VOCgvZLFRf+uBP5X0dU0iY85r9cZV+/X0Q6RV3bBSaZitI6dHzkg+Z4GvsT
ndLsS0hY54IhDhE9cgVa6ofWyMto55LbmHubYwqulxhS19clFDvMslyOtua1hj5PAHK1bAKsrU3/
5bPPlRqiqrJzey/7dTX5lGyEJDkzxIJ2e72fTSsM6xC5WjCNc+SN/ag+FHAXjn00odUVLpIKLt67
PRnF/e2NtnFebeIfMjpgoPJq2Ycgs0p3pngJ9dv+MChw7fD80p3z+vtyW38gxEiicTYzUeLyM/6I
gmIcazHaqTQQKKNuQIJ3Zq9HktdGiMlFq8h2Gv1fXbOTD4hQ4q1F1Th6r8MD+4FfgTV/zsIkRtyH
4BDxNGHN43MRZUV2KCI3iGFRV8o4ulrfgpQLtMi4a1vD9sHPxjp4zi5wKXTC+5/PPaD0d40sWgcX
jtRAP1+l4LVDhXQxgunRkLzrUWaGHDINuvWAAI7xGWSXOzwYWlzQ2wh6+bEZGv9rrYroY1vj2HVK
YE03Z1opYXs/paJ5mY0EOe52WMjZLbk7LlNThR74kCzkzz4yx08qwTzniNmrjnPX1BnvQQAp4ONW
hh9SHmLMAaEth84U2pBv0P1HpczXQBCj/b2o940ZIAm7au3mlPVumR1baAHq0AYG6H+L/tBHnhnU
750SA5tD2I0VvRxkkl8wqANBCzYGXreTp6P4kMeqyE8h6iXNIU6c6ZKTjP6XWa1Ay6EQXjkxx+ch
6LLvSVImKG9Tzm6OOqo2P0Gsy891FmU/aWn6fyMbWv9CVklMlxiT8L+MggN6cvhUdCnDznmXdJaN
Io2tIWkdJmSePvUhGEtGUqbAMmLH/CvTbBXuvL0bN/cSfaNwTuMZJurqcsN/sZFG12keWpNfp1Eo
ugO14ZxNM492HsCtobB8hHVJHE6UtLq5kTkc+BkEKnqejy+udIsP+Nj5F9Q6g51HYuPsOiAEBMUf
Sy2N5deHigZf7APqd7yWjslDAunqeYoBMN++ITauQ8eiDGO5MLXIp1dzpwD6oilgO8BPDe0bC1g9
ItiiR0c5wRw/joVT9KfbQ259GHAqm+TWXArZy0/647aY4gbVP2OmTDAZYGbsvn9C3SnfGWVrpYgw
mTeX9J2q1utRnBBlqwi0lTc06EgmfTaecEn6JfUh2dl+m9/DDWtR5nQt1vz1SKbSUqVCvseGKfwA
HwjCWYkw8u1Z2/6e/x3FXH2Plog+T3OdYiAiYsfErdJ7GkfRsdUT4+H2UFsfxHtF2R8QOGq3qwVC
esBJIFdQxzIQEGgod/3TaHb8882j8P4u9AQA0fZVFQdqqpPiXu96QYOBieyK6c4oivztpwhspM6j
ZCzo0nXgE0/ctpAOXKCJkYPpAO5r7gOE36HdmbSN9SFjotRlg3kT3Eevd8Hi8p1lTU3Pouy6zwgQ
AhQQshnR++swQbs9d1uDmey034Bu6HerFRJ+T/mlJbGxkOBGYbPVTmmDRTMo7z2M/nLNrN521yJ4
cWnFEEGuY9VA5UQugl5MSvlDW/hW9McRVo9RVSu0sgUQ0Ds/8xB2gkHe/XL7QzeuJ5dojXNMQRXA
y+pDQ2n7QCiou8Mrzg4aBjeIv4al6dGvnD43pgx2lnHrcx1aqXBXTCCf670/pxTiYsAZnrDT5Bc+
RBAQ+8afT7T70mct7cczPtz6c4Nu/f8h/6a6omiQWkszQ60+dlZaHnVLduXEw3zBY9wi1LFq+wn4
hyl27seNQw6IW4I9IyMwrrZQwwXiz3Zhex2qzCgfuNkzNgTpzijXGxUSKl0TGhhLpXY9nT0mEzb6
lyh7AHd4ANnQHLomLN6PdmDurJyxnLDXOxUIPtrdFvBZl6rpavosxzToUoe+l2OOhoaKbk7ogVI2
QgdyRpqFlKIejhD51IBMaIYOdoFdLCqcpZlDUzRN4sOzPTZq3LmDrvfU8sMoVWOXoxzTWV0NOsqr
qsmjJT6Zg+COumfyM8sC8w5GqFFipde05lFMQR0d0gKa2v9l+AVIRWeCy3Z9hkangOmvG74XdZ2V
YYoRTKigRTmWV2hhFo/9oMuvAey56NwOESnYW4/w0lFnYWjPUbtaf31RQ1LCldX35gBrTKDheAzp
ZX/OfVd+zIJkr1W3kevyoJBXOwa3Pqy4ZTn+iC/quqrorBa+p0uo7b3ZZqiSsMnvpw7uWWe0OCPh
5HQUpTN8gE8K3cccyo+3v3pr45NwgSDhSCMZtBy/P36Ebph907i15mETK5GfHZM7P21znEBsa+eM
XZ/k5QGlZLowKDCpXm0vVDdUUAyF5okx1UH1kE9jgiX/D7uIHrVjU5iVWDqvThesqK7E+GCZ1Xi6
040UWk2Lgc+YIEGNzHx6SpNB4hw2jofbU7n8yetzTX+X0prJE6Ovi1xhJ6Fiz6bvlZGljhWw4ydk
q/Kjo2v5e40OxN7r+huwvRrRQJ6Hs8qY191ekPgmwOvW9WbgIUveliXi+1ymQfXRWgR+73LsTb/a
bSvR4cnN9GijMGAfc3+xHQ3Tov6vLzPrBW0Xqju3J2PrlgMPqZatxa8jZH+9sdCBQui4LoFkpFaS
3fVDknzSVSwcqLtO+3WAjl3elY2Vf9c1N0Czpw3yF2xoRX0aOjvGT0fDlm1nC15XdoCgEo5w6qyl
zrT6UU1iax2lHduLI/3j1GXvCgPoXeQ21mUKjPRMePAPnOf5hD5J+u32jFxXC5kH/kUOIxzzip+h
chFKhbEw6H/1hGLNKQlRY67t9DktQmBv6Do/3B5x42yDDoKHyLPp0A2Rr5cgCPpEg3Tqei6GCOjG
6P05TA39H6wE345uoLJLUMlz5vx+QV4P1ZWTaKh/uF5k40qPb1R3QvKj3Vm+zQ9SYBvod0L6Wgce
WCYRpFKC8YDpQS4j8SPDSKv80zxIko23z55l8xbAuqN4vb4ZgwVL5WMg7gUKUCHY0/xk574F79bf
ywGXbbc+x5T58Oyl8kkndbUt9cJBAErrXA/h8C56aHs4ALimyphSSoh+0RF7V5DooneCTzoUnL3D
unFzAQYnzCIn4H/WAB9qHw4hFveI7mjzyYnM+TzLtkJNqEfwZRimnZty4yUACM4H2zRs7avEDWVq
YaAQSxOisYYnkiHzgaBir+e59VUUWxQP25LwrNtEEwLfyIrS5g8mFz81K0D/IYsk17Be2hj4ocP4
dqw7t7BDMxcSygayYoDi04iALM4e8AnWm/pdiTD/E5U43G/evj0X5iOj8W1XZ2HSsg6JrEx4Y6kP
5140OLpQkzzqIaY5bx6K7iDcZ0AGmDyun1R9BgEjJyW90AZFf54HOh+UzCztvzJskmznAd96OSjN
OiZD8mlX8XFSGfMwW5b0QHZi45LJuEZVJ9GTQ5ySI98jioxchqyHefKSoC5N9J4GXKCSRKAJUi7a
MudRRylmZ8Y3dq0DMIYSFHuJas2qshH7bYXN/Gx5uOXVX2c9+Dqi/P7x9lxvDALThuCFEjXGSusg
Qg99iWZarjwDXfujQaXQ0ybQ/bdHuT4aS0ELqAY4dt7ndeiJZK7RmQtwEc+U8kVT2KqhY4aJk1HN
8Y9oCsydy/T6hmNARc2BQorlwAd5/T6gHG7bjRHbHurB/kurzOxujNzyUwFuBBWdsP82NxkWR7HV
7BT9Nz91efCp4QHNXl/jjeG3MtZ7G5A78segxkqaSQiqCJl0dCJlfHd7aq8XEEkCnLIRV+MlpE39
+kunxMV5EqiTtxjZ3Bc4ID0ghWK/+WkHUrUUo9AOMogBV3uxEzP9ADAVXh3QeZp0GbzL6/knRkfF
2+fPWCQPQKf97rgv3/tHgmCiH5ogV0HYgif5s+hcYNFtMyC1oxl3sx5ZO1XK6zCJTuMiHsvbS4y2
nr/a7hFggXkFhAAHo1hFiO+XVn/sNX+8aLE5HTGYfyuL3AQ35JD3K14jnuE1YgVghosNT0lPtcaB
BFeJCnUP+ArtPBd/vXl/LDRdsLQcPvKUVRUWsE/H+KP/gMdn+NI3Q+05pTHscU2vQyXAkWAwqJsA
XGAyXy/bJFtVqkD6D4VjaiXmLGh5CtgU3Qk3t70WwOZg1L2A0C4n/Df7+o89IozC5GpEtWzSVXrf
dCVSxapCxMyo9pDev/uer2IlKLq09YlJKJZbV/Q1I7caJ1N1eEHzFlxmODW2fdZR3MW6fjLbX1NW
Io5fYISAJV2dFoskXpv/yGc3zhHTwcj2MI9j9TW3iuzfIafodNfN3VRQaUiLnyHjwhWrMD09mha+
ysd4riwwkihf2O9lwJqJQxCYECHSOcZortCiLkVJsVDqAdnevsTaKAn8E4/p9FVWfvXvgNI2qEaA
Xd1RIr+83Ox4HOcYADRHmWsaf3HOh/yM32PbH0t8k95b2kyJK5uDEOnKWWZf+RscLkpUj/6b46B+
AFdkGSdEmg2Y8wOCVIdUn5OP4+xAg3njhl0mXIDroTNLpXGdM8FAzHKMTwK0jRGXp9WDNRR+fTvX
zNUWAmTLCeQMknGBJFxdM3qoSRy4Rs1rwIT9ZeqlPCGF3z0j1r9XKb66oX8PtfSRAJovwMnXRwON
vJDwAnSGXTfRWfa1eJzzbA9EsDkK7wD1JMr6V2jEOe06FVgzxTSMX+6NKdLOmHy/GVgjTUO36OeQ
EYHoWVe9y9mt496xfI/mojj7dpseDSSvv/luF1/MekR97/Zu2FgnqtyQxxfgGw/6avJohaG+UkYB
WnCFdqwb3b73weIdwrDfy4quAZ18HNR/uhR0MRW8jtcLVRiTqIBlah6WDdVfZJayPS3FtHfoauJH
QXGjxyMLR5IBquM8cFRC1V5y1Mo+Ipk7fhT5iFCWJdEk81O8Kg9FIWLnzMHNf9J6rvdaXxtLzq2E
d+By37Icq7kxcMEeW6hsnp3l8Yted9F3yJX68+0VkFtLwBB0O2iDAs9ZRRi4OOG0oVyIVY4W0YQP
g8HlTZakGOioCf8hwa9lxk4n0oLjhAyn9oCbkIKzbWC3lkXoJ7/gdKX1J/TtrW8YwsOYCosGWwB8
xXHWof/Y4oSkc3k+9gkmZkcrtOrwxfDHRSYszxSeXIVorXu8t7TmCOsg+ZGPZj8dm94Crzi1KSak
eZI08mzZHf4MobRQ4aaRB9YCnNH8H1XgCu6bj9bHTqi5tQqEmoL/kBc5a4SbZsWGFVSIdHM/h1y2
1XSRfgWh9PYybK3CAu52dXh/16SHvhGDlaP65VUmDoadJcOn0kgRI1VRj7bI2wcDYLY8rTqlj3XL
wOj9XKM873tp3CfQDvFJRAsueweSrj/fHuoqUufQ2VBhqFRRM7zqes++jem0T3diikbzOCAnjB54
6pwnfe7fNRS27jXcUlHKV+rf2yNfFecYGbIF0hScYeeqPtyHGQIAeIohoABE8VBOyA3jPDOeBj1E
Jxszu7NQ2H6hIDyf4QIUO5Hn1sYBLUHi7gj4dOuNMxgzugRd43pW7iOEht/VETWAbCc/2JpfEAxY
doHCJOBcXRLoi8y95WuuZ9o1kss+8q33KV4ffy9cvgdNG37Ug90cAeW9uWLA/NJxWp4juhzEhq+v
U60AvBU7YOswOkNUtpaY34FyAl1c5m+tGBC/c5Y5GfTSqL0sU/1HQIg+oj7ky371nTp5lws9f8yr
zr6rSyzIb++ajVVjq4IIMSkJXJfppqVEJ1GOvjhD1XypsJGB8Zn1Oyj9jVWDVrXkJbSXyRVWc6fw
nJhG0w4usneS/wLRD/c5JgPRGV8J9/tsZJJ7zcrD+ywp/Z0ds/WFC1HnN1x36RS9nkw70RynpQt2
KYvOuod/LwcUG2BcnW7P5PINryNrIMjUAkjQ6UlRq349jtvOSU7bILjMsPtw44oe5qw/u1E7Pogg
L3dG25jRhaoGTZRSB7t5NaOTnCJThEF0CWVZndPUdu+QvVbnDIj6X7ISlSecrP7WQiDZ2ZxXGeZC
UoEnw/HjmqPp9/o7sYhxnVDHBCRVYPxGdLDu2zRNPsOYlY/pXP8HP97fKbj8vqFXk7sovAHvkFwt
VyXPKVPADO00vUBNKHHiEKbmHHJ05ZuDPTjdeMYTLcPuMYoL+eCPRtNfMhBtwNbQWP+aVjG64FMu
nF8w+QWCyWaUl2fK/vPHVLgdcqINarcH2bNND42pBfcYkSl5QNzIcrjGLP09rkBGekHFtC0vmHv5
7aGwWwcXKD0T/zjZBJdAcyOvL1E3W6RYo2ewtcE3NfvDNz/Qh/8izGGLQ1CB9cKP3BW/wFukf+dZ
EAVnhZVR+GxZU/O9TSzzIw3a+dlmw0LWn3WFPjx6gZ9v79fNdeTck9+CWL2q71YYPnSIamMMFmIM
8j2bjdbAks0dkNnOAgwzhsXJ7DjCCZY7R3LjqSKpZmAF/IGsZXUk0WuJ3HjKQkx7urS9x0o2AMfY
BKb1EXH2+okNP+BwlFjvCYs78a4affpatz//uk7KPv69p5Z4nMtpOWF/XLKRIdMOa3lMoeOkTV5S
i2cbPCMde4gkXEtYNtnzfNR8I8BqxBg/jNbY6yc4vg1mvJXdf5p7GWs79/F1W5ufZS4IJtA41PbX
mZzC1j1oWq7KAvPx/sxATYleZAmzZaQJaRzQPY+se8Poy/aIfbeFwV2j8AbD/MfYySq31glIsbmE
FQpm2OqSMTsAE5QDgouAC3ha2pxn5En9Z8STjbOfKevganl+ikbYaFiD+L9uL9GyDdaHHsAifb9F
ke0qgfGnHplFNwsuSM8uYu6T9c4nqN45BxuR6CIESi+F+JCId3WfTQ4ZIEQrRgnINIE9oYnCKHdD
Ne9dndtDLc1TWrugtVfBC2loY/tuwhORCPfc4pHxImNjOKFhUe3EodtDUWzns+DgrntiZdARxcRB
cImzoT3hjYH/Bfr9h67v9rrCm1uWdBa1U0Xp9uo410Ma5kXfal6aJ+oR3ZkcE2BpfZYaJqJjVLRe
pOfpUbdn/a4dDZhe0k+/3N4rm8cZxP9C5FwYgetst/L7DFFGApnOmOy/aXPiR19Wdfm+0dMYJRO8
W7P7MTFDMN0J19vTZAzFfCoCOfxdmAaOt0LlyPve/llblyw7WIKlcOhIrPN9Pclmm1skuPC29T/D
sh+BsmMz/pftt81j2lEzHcSAf9ftYX/XJ1dHB9EoMhHicWRlTfn6cjN8A21r8tvL/+PsPHbrRrY1
/EQEmMOU3EGiZDnI7m57Qjgd5pz59Pcr3YlFEpuQBwdttBunNsmqVSv8gakLLpy17XQ/SnDp38tp
lr9i7Vh/GmYrKz6puASgXFLLvezC9kvQ18GiovWcrrM+oYCTfFnmssaSD1PF7xaqiIVXLL3yWUO4
HFfCoq4HV9ZGSfdQsVH6k21GM10FqWouQ6mrcL4dLtZ6rPB3ifrEek5iKzN8De5fC8SvSWwPmcX2
G+OLInvAVDf7ZWNfQuWfWdVZR5lJQNWRufFQAIr485wln5K5rn9JiXD8KuEBAJBH7wRtpDxKNGzi
yqAlMs7l99ZWSgWLhbm2XCvBc57SUCr/a22jfAAg2mrP4TKl51xvl/ahxvr2Z43p1e84jMZfBx9k
G8pefQ8R6v64bKpwtudUY3eORvpdHWILLXSr9hDPXu7evBKkeyDrsDgZcK5jTD9TOI3kQf6sA3oz
hnC8K8bBOhXxZHy4vZT40atNJuYa3Fa0jdBkXD1U0da2VSJ+7Q+lUz50C8oIZtmUp9ur7EQyDFqp
hZh7CenF1SoWIFgMEqbEpyXe/6sHaYxYYBBfinE8muttJJS5ekFCGyBbABPwp1WApjtrR7URJv4o
OfX3dpSXbzPMwn9ktF+ecVcc36Npn39X6iGu7mI5Ght3GLUeeXPdDr7dfu6d0MG9y5ulrEdaYz15
i/BM6Iea/ATsG1abHT5gmG+jmQt86myUifqfY2TmwScVN/r6kyIiiCYLt+FWjq1xMqmoSyXya7S2
zpARIHfoUf8U9rgzS/B/vvzFQ4pBHG3KHa4Ywly4qPGUfhLH9JggtifPoVJY/DGLg69M/yc8relC
aQcRcm/v2pZD4mcDGgGz+fpAEguRdmJm60eUu7GrFTa+gUt0JB29xZixo6hXBC7dwF5ofQ/PiaN0
ljpHfoNpjOYCEBw+y3pW3qVdgMmaJazZJTiYP+siQJpyqLB1NNvGKc4jpule18mJcqmXoT740Hun
SnATITKw2TdzwlCFKtH0Edm/qqRPo2SN1zGwncd0wT3l9jfeedVCcI9ikTxEdKdev+osGnBHqurI
V1HB/2Y1qnbpFliQt1fZOS6OjEIq7xpQDG3916skclw7uFmFfq1y4Uzacor7wJvlZPaCFMpVj47G
6faSO+8QOAfXLC0/WuzrUDtOxQjBCsXiAkePk26G8tVUGMibCLkcRPWdcwm21hTtBRCgdMdfPx1i
YokkZ2PsV3MrPQyJ3T8hNI1xWEbW310KCdf7g8+202GgKBTCvgL9w1D59ZIViF4lVDghspY172oy
7+fWsueHvG9lP4qj/sEwMYdmwpdI/fntb5YPyTxLHJ3NfH5QF9PKZZM2YqXlV92Kvw61VH5Q6/r3
7YX29qZGxKeNwVUJU+n1Q84pKKNBHM8SA8j3wIW+y8ANDsqovUVI+kErIzFCF3H1JoPSHrVFuEMo
bVLglhO00TnS9OaIBrp3BLgMBAAGFNpmk0gGJjlRx8P03fBc04a+Mru2LnqXxVgXjXLlxQ3c6oN9
sncKqFVBijF33OKwzQI9GFymiSSSHnxoqhEjY2XC8aScm4M20Eu0XF1Pgv9OK0+o/W+GEzA2tDY0
q8yHxDsFF7Vv6+R9k0/9/xrdQPkR+ggKbVMX6ieNfqOFKVHUfahQmwA8u0RfkwQtbGyhgup7C1To
pxyG/XORdWgu5oVR4bbiVNZRMr79/AZzGZFNoNoOLGN1djlCejvnc+ZXmt262M4r59oOqoPGwd4q
Ym4miw7Zdm5jOz3JLsaAvjkW8SlBF+U812n15oPJNtbo2vCpIXJvgkIfTVHX1UgyLmZ2YcNn1waD
m/u0gW3x1qPJsAY6iRgCM7TZFHSNnajtOCa+JYGlr7K2Ojd4GB8ISG3PDNwpOkAcF4Vm+3oamM8d
XoNdkvg4Nqmjq3b10nnoY1jvg47JrKtWk9KcByAnR1CMlxrs9WZmIkVaIOZEkCTXtaFJMYWyZJz7
4IM0kYi0qu0Nao/ReoUHbuQmyqI7L85nuKHTjzURj5Yn+XuVqf2XAnnQ4TQmPZRKblOTYdPQ5j/r
vFPws6tDNA1xbhvCRwcXOMCvwMR/04ac3hvop5oepAj9ve5E8adaMdFLqVWnwZuszDXMwDoly09l
19kmzna4c53GKFTnK98Lv+Y4W6b8g4GpbgaDudUbGNpK3nl2I6RZsjbXY3yAZf2fRSuhS2N6SshJ
sOiO0aJsbMSEDP717b2yjUG8StTREXQgUwYa+zqMA4sHT4nTl18VXXLN9KU6qyW+z6WVOgfBfG/D
CK49/F+wOhuBnAqzu1HSJjywETjFDNM2f+hpA87XGppnOCmKZ2MZeXAWttc/z0dZh2YLSyOZ8vr5
hr5TMEInTQY5oty1s/ByLB0F1wdVQoR+qg/W2zb+gKtQ0JkUd2Ca1w3apsXWqDCKxFfs0shOcRrp
P5PGDBRBBkxRiuUGulizU4xnEC/WTzXE2OwgoG3zD/rvYKq4/Z09+a8kSiWsZMg/qqQIvCGYw8/0
orOHdh7zR7OT63tdbXpkZfj9B2vv7SfKTcYcvPYtorwBiDWrI2tj8ep4Av8oNJR1VHExm7y9dffi
tk33x6QOoRO/ftWpVFPi5OynABHh82QX1R1G9t1B3N7ZQGSqjBVJdfCEWG+gbNYWzq2Z+qqUeyUG
fNeA/rsr10i7ALs4yMWVnfeHi54oWnmkrRRGiC+JZJRgaEK1x3QedSbzLgH99tmOijY4i2gwnYyw
hXeMixdKvU2dSo9DDqqoiePMK6S+Lu/MEdkwL4Co/pDI4ZFYysbURBRlBH1SPyCgXJyrQ4XXLta7
U89dFuLYfl2Av4CEYSKgnMIOefBHBXVB+Vz3Vf8+DCYdD1BVG3B37qvss5z16f8cQHDLg4nVxr2h
yp2QtW70b7YTJ9bZhGKXnOQhtiEgZnJV3mf0vyTfgRQweLbdRhXiv0s6YQButinYzGR4q+XOyxPC
IYLPSwaPPuXrsGHSyYjnns+goAbyWc91x9XQkT66QoWK0+oiA7jDOYXuBu9x/SIX3Ny4xwEaOTY2
NH6MXrzilibzMcwupQLXdM1Ac7uPa0P5aFSlLnlayvjCbQ1BZVOFGSFqXvMYeIklF89BuOiIesBI
n7AYljtauq2Om6w92KWrlhGgAqcHnOglYZFhpo7V/DvqESCMMxaCi4dbffwz7fSeUeRi/sj7Rftk
lPOouQoQOZzN2yhOzqk62SYejZLRntoMStdZ6WtTPY0D4126LNb0T9louDUPI/68ZWmMnZvHivyt
ruLgd14F5pNizlhtW4BiP8djpv2AQo9QY1c4lfMQFIg3uxWNz+CC0f3wtVnwEHQJ4igtZCF+i+e8
h1CLawndQbccRwl39nJ2vpBhSell0ZXofk4z+ZcdFNaIbUTT/cjrAeOcEuxmiBYKqugunY1YeZdg
S/KP0sytg9FXbBvkBbN2VO7udMeoYvjSPAVN9s0tO5uRvVRogd837YQ0M73SU4K7qRfK+fRe9Amf
nDYpmZh1xbtc6vpTxwzFs6xePYhmL5X1eseBdhIFFTiuLQA/VLU8HWf7HtESTT874RBVpzpp6+Zp
caaak6VGcfiQYjObXPOO7ACFeymN79pkavCG7pzRuQLTCuaLpo1o0OcW0iopOsiGa9Catx8Zm8z9
b1lp4s5DKIm2d852+SL3RpvdtfYSIRkfNvB7JmnAnrfq7aG6lF06/sgzC3sAdM+V8p1tL847c5lN
/dREZvMhMaTkP0wJDZK7TE9z/rOp5Zd3+Tx7UmuNiSuhJvA1Lhc5veSW3AEXn2MKkyXS8/ETpHIO
zIwweuEPc1/6YxtjBsuJQ4Emw0r0vawtre1aDvvs4KLaSXwoLgS0h2NOYrDKsYYa8ZxlKp17Va4x
6lZzzFk7aqzTqLAHpBSbt4hM92DVvU3HsghUwC1nwLQezwXYhoWA5e37CHkCNzFBb4xpXp7iqmea
1ZeZZ+dt4HVYQ3uyWo0PqG41V62djyC2O/kI1zPlCL8Fpu8GR4LGesLogx8Ctew01unyJKlTd2YW
ZTx1vTyhap9bF8M4agTvXKbYbsnIg4It2Wq3WOAGHK0Sm112ikvQJjh74ph+EVKN19vJyE67kouK
mSGdED71plUxFYxadXwA7u106j4irBMVXmKDwXZbbWEGbObpgtP8gOS+VctMMiGE9fHnfpSWb5qK
eEKNOCNsJzeMA7l4M8IM3D9ZjGBIUklvmjUTliujkBKxpSY7p3G++No05ger7O1zMTkjvpEfbHBe
/EWez5Ds75MkkRhuAZz9DC2lEbdH7/hTn1q2mxhRfJQJKjtZt2A2CIMr0K8bBB3I/NHq6ki6x6e1
nc4adslkt7ljgF3hrzB/n7sKXWhjmH9MRjz9JhZ1n9g3DFcL/Ptw8460zjmbSmBgta6hmH0KrGr4
dwZoxjDPSqSLPTXM7xNq0k8HW2f314tqlnQbSPV6TkM7ecRTCX56tRCpwJEy0zaSrAUkoOT646xh
YwH5M7xUpSI/TFioNy51seHBB9OfRrxSvFYapPeONkmXxe7l5xCv6juwKNJ/mt5O1yiTjjR9dtJi
jTEHc2NosTQ1Vilg7+AR7URAjokj2X2y5NF1rPT8dzJN6ec4l5SDl7RzlCHICCUmuifbdmOU1nBK
OtaDPpX9zGCY1F459M2HkEv/iHmwuxgNcQsPUhQZ1u3pDvF+JYtM6X6e+uRECwqXFtSi75BiMy63
P/5OEQNXndAoEFpbKccS/TdEYnguBsmTpyyoSJezoR1UpXtfS2Cc2dE8Dt/tdTrLE5JORQU1Qgb0
pKqX7KzTIrqGJEKnqFSPMHZ7L5Dbji44lLSdfipUlAZ7kOB+ys3+ZJBZnaVBrVzUNN7eRCWyCxEw
pjEYEK7BSHoQWFMWikeL5+4RZqqM9LKd3jvZEB/Et92nAqhL+07wxDbQgG5kzNqnONFWQ/yul5zp
nq5l+y1XIsu9vS2Ollp9MMxmlGgKE44XoiwXS7ZprcEl/hIG8ZuV7emscy2Y/I9pKdiG13vDAgM4
QvMNMK+TkRfsZ63xMHsZ7yaLIHL7sXZuCNoiKCGIgpr5mYiEfwzzpaZTEzAl8M3TPjy3+pI8YQyb
nCxj+Vb30W+9VcaDi3nnTf65pL2q5MZiMVJgEM69YsbQwwpTnZ5LtFMHktP2CEKw93y4cYFZeUE7
r1OuWkBsZPw+7ivbLJ4kHGoe0rrVHwqzRX12DEcuwcU66KvtPaGwxxBdF/pqa0Ar/3Lp2j6w76VS
Tn0z6um9Yt56CY2xPNiWO3FEN3UhrMVwC53b1bac+y5W2o6Ushyk7rQgy3gatS7w4K7FHqW6eb69
X/bWE6KsAsOGccB6Bgw7OOiHAnWHtB+SC17hy6+xNb7qXaf6sTk4B/X4zpukOqPTwxiUdHXNN4+V
uJCyRmBNML1/5HIovRzjnSvSkkd+I7tL8a1e7s8tj3YqY3iLsA18gu/4qBXG/ETXx/zQ23CNbr/E
HYCXgQ4agl0ocTBSX88DDDPD9cwMhPqoo1ymOZe8air00wQu4yop1kwhskCshaD21GiVsHxPC09V
KukhDOl43/45e0/O2NcEt8Be2kyitJr1SwfP2wXV0/MMAe6OnE46h3RqD6ZeO8cR/Rl2jrj2uP5W
ScrQDMFoDXD78EKbH/HFDe+UWJIvzRJm56Y1PkxSmRyAT8QRWBXYoAK4hxjX0z+1VsLdcptnCNvP
0n3SFuHZmYv0I7OI5kCvePcl/rHK6skqOS9NXCik+8FMYupxlUFF4tSxiy404KXbX2yvkgSfD/eV
r0UOtt5AvbAO7rB/u4fmYX3HQdi4H5GiOA0BDAFSUUf7UOPY9tAFk/OPUqe65cWLBpSsDt7Mcqe6
gHAhphWUGZtaWmso3hON1Kya5czvTCvzndA5srbYfb1I3An5Gqj764pVkhMrTPIq9FvNmHw7A0Rj
G1H35Dj5XwzreKdQAkiTBF96df2OIAqTugZEa08REEzVKe6yIX++/QV3D4JQfaP9QGN+fUUgROA0
dgA0OsALxJ2tGU8SM8VpMEEGd8ji1uvT6PvtNffe4UvgBr7D9bSGQANOUiYLgVxfn8OW3qBautXC
20wDSMN/sZQQlSC+8Y91MVISPjP0y9CPhoHnzXOK2UYr5/cB8m0H+fpOL0NAgxHphkCyBXYzQWtK
uaZWQ6A1u/a9LSO50qcXRFSTU96PyVcKMONLF05/0ZIGnGiSfIJkEWyO17nTOCGgg1g0UTyqnGuJ
5NbJivv5YACxF74osGiXkE4DIBE38h8ZGgr9ymjYHHWAx2iBNJJ8n6pqenAHKHsbksJRKBHgtgXr
7/UyVq8wbnWQLJMaYwldJKpqULTdMCuuiUVVcxdYi/abARmD1GZRpurUtPPQXPNsMUTfahoql0lA
55wwvAZOK/ZG5JbZkv+Si6Vpz7Q31aNR0N6OFiLK1DV0UkhhX/9oVV2iCUM26b4Y5Nlf7Cb76RSq
djatSfmLA2sB3WeKhyjhxh4MnaxmlKuMhkaZ2ycBo3JjU+6vVVcMlzSdCzcvy+SAa7b3UV6c/dBu
o0tvr3YYyEYnamTgZlIwDmg/KlhgYgRxTg3po2nP0BWgZP3F0RVkeJPylCbdujPlqPBo1ASSv6WE
+nNaNrGHEnfzc7aWr7eDxM7JdV6a3qxCVbre2XmyKFWbAHOTCpSSGCfozYMWh8oT3ncO9pJGmD+b
nV4tV6ClR4XPzrGiNiXA04mk07OOUFaCvxUOsKFvTIBvXaWRwWyigCsfvM7ddeiB0QkTOJN150Iv
AzOqWwOWfJNWozsYo3UZ5yz48fZ3KRwgwe7J5FfrdxnlKEks+kATE6Ukn2EzolYzYFDmvYGP7Hzn
OSE0QSw/jsr9vQektUg+6wAO3bRmVIZdZhvQZm36fPjEQKuGbtIcXcp7GQ/1MPrlCNBYnMFVGAzw
RbHmGspqFAlJ1iWuW/sEWUFo7FbzQhtzLCrrnCdOHrhQU8aJ7m00MixZtN7ytKbQqoNkdu/JBZEW
DANozY0QeWlPoZGUsO9zXZ6fWroPMAKmo+x898kp8CgWBBiU538d5IwMgcQKsso97AjlbqIz7eOZ
VZ5CE4qHlkkqeNA8fAJ9M7lO1A/3cufUp36064Nuy+4v4agK2wQghhua3Wj00sChte8zCSWTUx4B
YYAXbsT1qTBny7xDgqhHxFGucZxWKVTOFSItzUUDamC7qWSOycFP2rkAHND0QFdELbpRJDGAVjaz
kQb36RxnlwaUzqOWTMpFgAf/4muDSRNqFwD4N7rA+VIGiIvF7HNLjs5GVydnaaqPCEg79TXSiegp
k04gbLi+0aa5CLS2xpfCTEFQRXUV3g2ykgIBaoJTtSQ/b4eNvfcH8o1Xp9Kt3zD0HIrpMiuFM68J
xV9ukIaoigEHmSHN3n6XCatGATMS5OJ154D+RI02VSghYhYH11ZrE8nVzaZ6HNrF0MhEI0VzUyNa
/rn9iDt3KGk2UZHUBKWlNZe/REy9wyCXUgkfhmvTS41vW3P4ECQ21hdIEPhTqx0lJi9uUKui04FQ
QmAg5FNurW7uqILejpEo+X0lFfo5rhBf8uIILRbmHwXlGETO3u/x9NbcRIuan31jY9Vl1YDkoGIG
XPRyqksnSCjWfNdB1UjdHhZ06dVNM/dnO8rGj/PiSGBPmhSkqBL3U+JixZF8p704MVnPlzy+dMgf
/Yf7Zhp68H2br3IH8+RD6wwDLnOAoO6SqrEtbyCEhQcp5d71TshCdxYxSxBIq7hlSVEV11VFy1mK
SkTlJyt9rOfKudRWQuc5j9ryPnJSh/lPFV9vf/S90AyE3oafT3jeKKxmBiTyQqkR8VbV+NzXWnfN
4+AIRbB3WB2NXgjYKrGU2Hp/pOZlznxdHrn6pDrJ7gy5kcGpYvocVAYWJ6WWHvQVX9DV613154Kr
XdVUeDdCPED11CpN+utt7gmB7vfhBECQPzmuPmOMlAF4c9UAnS8rZlJy+9XuPjQtQKIU/UaK19cP
jbM4Oirw0ggZVf1+kpzmEi+h6km1ZrihUx5NSrchCv4OwwTyURvJwJdJ4x8vWarbZIjQjMG/ZMBA
etBR/oGVcDaD7KgI2oaKV0upq0crEwBGTiJkm22r+LHky+g5qCl5zO60p5Y5Ne84P5IKEh3219+U
hxLSzYzshIXF6pvWZNhMN/mmU6LyPgMHPCQglLMdB9ngZmZbfkxDun+O1GJAlZlv9j0WjGEQpQpH
FPL4uvBLW8NeJrWPfE3Lo/fRtBSPdl9Xy30CuDU42MF7H5NzgvwB+rJbKax2aEdVwsneT8Mwe9KC
tsNNJZg+ZGWXHNzXe0tRFaLY+0K+WLcaJz2c9aTJALeaTnXqEhuTIaQKzm2K+vXtI7G3FP0vrMps
m1xkXTLJTVHJYQczNp5j6WFWpOxXqw3dyZq16fPtpbanjx4YvQZSMCF8t+4bZX0uzVw7QKypPaWW
28LQxvCSBmN6okmynG8vt5PysZ6wXxMmaOR+4vf8cfqaNpnjcEQzF6lE+/PQFIE7LQFoZClXzkPf
zyDQTO2CI8N8wugqfaywsfKmVNEO2iDb24RWC8wDOiEAzHFHef1DzGyMhmrghwRjl3xwSsPxNJPa
FNkCy9On2XDjWgL7XQzGgaHHTrf+9dLisvnjHSBylBlDP6d+vchyC1KnrTrjLBtp+m6x0ehzq2aJ
B5fWMwTiXGk0v8dUoPL7LJAvLRdzx9urtaPAsXMbYEWD5gXihxzhjaTB1DPEGqjPfbXANqIoWvPa
SUt8SYaJci/PqgdtaJNTNww2H62Jrkk5yn+x9YX6Ig551LibGr7VFewq2CN+2hmWFxSN/FXp+84z
cTc7+A57W59ej3DHpi27gZQMcljTQoJIlVbLv0gpFLJno0ZzktrKei7oJBwEkN33SwJDsorstLbh
VWqRjlaFIUV+kPTZRY0UOlzxnGturwTmqdQC/Ww0xK1SVaL3Rk3PFgui5qB/sPfUZDIC00v+So39
evOhU28XbQhbTqkT+5vcdOb7YU6LC7Ia7YNOBnckMLa7IO8Xg07wQRsqh6UkSZA5xE3FZmsZuZx9
mqUkf7BGKfqYoQ19kKrtXboUOsgt0MYlgq4iTBn1qVZhdOvnPUoV1jjiMlhMGNUVfTJT2g7BqUl0
7dPtwLb7lKA7BP7zpc3/+rVGIZl/MqA51DjD9HWqos4tpCh5Go2AYW0YH3Wp9255RjUv3BioTetb
Vq2bXO4KO/Kt2sR9b0QqRsmHr7MZGGjy5wvGgVHqzVTLbpHNv24/7N5ORsUJSXmYJcTz9QVlDCVt
egcby4A5Fe6CoYLIpaKgNnSVOnO55Nhm+WqjWheMAsZ3tMu0T8WwRNZBuS4i5SrXUejHwq5DFAzx
59W3NmtjirKpD/2MebabIbDwXI2SfJBk7K5ClQmMW+PQrNFbNm/YzmxmRXNca7/ozH2pkST89+Cd
7lxI1Ok4ZzHmp4+43rcafY+6FxY5ciEthkubiDZivMTdu16u8HGe6RD4sh1Z/3FysxTsK6KpbjGA
LnWzHsyvK0XB0rizw2Z0sQ3tQ28x8RzHDaI2ulNfDMJbskxT6ehSF3fl+jOIVh1BdM/4KyPPduJc
oRQ39drxpDFaHpMpau1r3Me6fJeQ45Sknmr3X5jLg3Gy7El+UIK0+h52ffBolpmdn8gFyjfbDwj7
c7IoBN8Blm3amCM8jKwwJEBlUjheprrTLhFY+l9qVsofp2I5EsLb2ypkLjQU0UkQvO7XYYCtYkkD
Is++Ci/dN9QA8aEeDu2H25tlhx+HNj8JFCglqsXNPAy9HymiCxb6eZZktgtJLvoeBab+pV3Ump2Q
B6gZQk0Kv6u9pUzvpFnL79AsagZvgf3aPmlzmVpnNRc1CfTO6WtkmSAEKluV7DvLyOwGUaFh/g+U
v/WjGZJOvioTJ/5k2kmN8MGS58+lHWAo6jLTsbu7EUUx51z2JX5vBjRU210wnxgv44REw93c2fPi
znpZPoDuc0J3HJT0uZgr1XwnR0lf0Ybtw+aqgpX4ZvF/kv6vi+CnA61tQuvcVqRIZ/gydfh88CZ3
ti75r4oXI7C5TSSz1CUtl7mDoSvPmg9623wa27a4u73Kzp3E3JCASbSiObaOU4MTlwgAMHepklJ+
aKqxfjCLuPWzJc2fYB9+ccpA+e/2mjtFBGURoQRcCOPE9YS7G6pWzUu2PjoLlTflen5fMwM+wSCJ
DwLAzuUHdADSMbN0JIPXoYtLP8nqBdDQXJc/K8ce+Kbp/IzZh/M+CJ2iP0gSd9aDt0PPQFyADL1F
KP0jgZ4DOwRUkgMRCLQZAqWADFzqTKJhFUpaM3nQLeXky+33ubcoQwmRMlFwbmaDuPRm9dwPwX0X
S8p5GdUfVrS0rjlXSDNWy5ElxM7ng7/Bu4Q5SmBdd+lrK24hKDGf6JtyJN8ORfTmvzZ0r4y15OAL
7sQtwJx0brknX3LD12801LUqlGuB/yhrFCJkTPHADGoHF+nOK0SyExws6iICzL3qh2g6JOzKZLza
yAxRLrVKd+LZHJ0ICLTTLOW5asrQPN3+bjsv8gUhRK1JuxZsxOtHwzDWaFETlO7rUa/RPFykS1ol
jAcpdg/e4s5SzFWAQgguBAOW1fNl7ZxEiJYBWKmH8mJRvr4bKi3KvTo7DFzqzicTaS7FixAX2/S/
oYCakrpomW+hu1ych0CBjmkusjG4hjE0phtTRv5seiv+Fud5n7u6MkwpNK1M/52mSf2OiFstJ62B
uXyuUhWN5ymM7Is+28o/cHls04ucSnUgXvVwhKSxa38ogyr/0uzQxDClTMZnGzetI3fyveciyVLp
7NPS2bRa9amnQzBJqV/FToPY/VydAqxEDiLy3iovvRW6Hlivro+Xzk1kTCE1uKEv2V01InHjaPNR
L2xvFVCNsMJIUEk/xL3wZ6AKlTC2tSHzQQJ2jzG8LK8tuyNzxaNVVuGwr1lmVNvMjw2gBNpkRhfV
rOW/2NwiHAneASnO+j4Bng+THXKJX+Wy5I0a/SLmb+VFB5x6ECfED36dT4IVIEgghvv/4lavXxuo
kaltlyT1lSCMG49qojkHZm5/GhQzD0/aaFgXlH/vNCuNDor07REmy6dt+tK5xG5ldYQd8kJTnvTU
Xwq9wNgpll1NH2Y/kvr5oHjZe0pQiwywLAG0XePCIsTnCqruzNciSG7XqE3a/tJYkx16WQGB/qdq
DegV6LkW+N00Q8C9HRh312fODOmZTBLy2uu3HDfpyCSat9xVRvGgL2P4RP9Udu3WiO7yaEqeoLHJ
Fxhl7cHKuy8ZUSsw/RQNG153p1pdDE6clRdZWTw84u0fBozP0LXV6mjfbk8HqkAcP1MB0bPNg4qx
yvoWJX8/hoyNx/wcPcLM66+3X+Y2w4MxAASJuAW/f+MdkmjFyJy3gDCNpF6Bet9k5Cd0CNrSHYKa
2FpHXfDOpPFyNDTaaakKsgJ6IKjXkVyu91Ejh0Xfamnul0hQfAnKZnqXZYkpn3PUwn5GnTF87NrC
OqGw3z+kmhSmXlpkZeaaNq5if/FpadvBqgZDsyXThyCqEzQ1Mnqb1ec6yq37yIjUE6zj6PPb3zhg
CYESFXngWvYJlLHa9WaU+yDTM7SFHfnjDGXddbKq/dw4fXGxQEEeDJ13Oh8I7KD8JAYByAiu40M7
1PRu8zD3i6GsLrMZojGhGNOHkU7zqbfUX3PdO9e06RBlzNriTM/jaBa8t6H50uw0+iaiblmdW2kM
0CuwUr+hQX7ta1vzEnC9B+F+90lBJQAlBYmynThLuh0qcmCk/uQ02UeMTgfHldXJSdxMqSKBMh/n
x7ILo7NtxnnpFpU5fllwMDwCJ2+zRgFoFTb2AK7tTbQI1BG6OjZ3Pp4q6eJWmjX+qFJon0hnTuG5
UNK/OcxMzwjKClDoDQ2o6dES7skLBIUYqyaby/VhbBn6e+kYmLXbp/GQeo06NMbB8dn7tn+uLP7+
j4SB9je+Rm2S+XYpLU/6WJs+5sXNQed7dxWqXVoUzOlAP79eZaJBGuZ1wKdtHaPwIQEG6JzGYe+c
bp/R3U8H6ASRJ8B/G1HfSB6pNhyuuEBX64uh/UKJ6gdGX6pXOEg3315sJwQTDYiD9GBFaai+fqq+
k6fQSrXET0dVTT4zJ0n/VXHMUN+nphVcMUIo72W5n+5uL7vzjFD7GGkRF+AFr1s+nT7rTKkNNN/b
HgT0sFAdeEFCCyxW0/ZBLfrhoPuz7f0iXoowJAq2aAduBN+BdQ5V3NBrNouR7ro71qNaP9pSJ4GK
tcvh0yKrg3apiziL/teiSNVd8jHs9M9vf3DAskK4kPb+5uOiqKSmLB37NoDod1Bay1OlNgMwuTJ8
jKz+SBRqZ27GcwOkR48avvuGKzQQEBmNoDxjaz0mWVFQnYZ41h8be+mujWViHRKlSC7NauvhldN4
WOE+pFKofCWtGw4++95uE/cu6CoB3lrfuoi097pOY8cvo5SOZtbrUn4xWmf+p27s+DT0envvVEr4
dulB8M7wpcAvCKDVuvcRouIWpDlTqzAM8pO+FNmpsS9KDtw/Hh6HzvmgJVZxcO3tBAySVAxpRG9g
O5AGKASCYXAYlckB8i1VZz05S3nEBdtJC1kFFUAhoSBU814f4MhRc4dCCcFTQ4o9yBnNZVHm4DTn
eNbe3rt7S0HUE7tIYJPXLf0CQEtpLYg4OcsI/6nuGlyf0s4JUHMecJC8vdpeiICiBMGGBr9AtL9+
sFqCZdxGUuLn8oRTWwy6pQNAcOcs8Y8FXNXboy71Ge0xwEh0B9Y5SpgspR43auKrbV7fM+a2T8Wo
tfeUiOk5CYz2IPfde5k04UQ7mop9g4grEBHpVYn1hrGN/GgMlnOHqs6pRF7ofPtN7i4lkJlM7Hco
J5kyzVKMTLov5SQl1VKo53RqlX87fJgO3uJ2z0MoU0VvHZVPotxqN7Zt6DhJNaU+qvTkl1SeZ7WD
Dnn7gXbSLJbRsZfhBtnpGQHBN9n4KssgMOxhM5teRTlzrpzQhtav2R+QD6uvFpKmrqRM+snUm+bg
5txeKOI34FkHcB0QyDqWTUmHlNBMRmkYPRuGKH43DdL8mPC9vbFyJsMlnpcurl9o68zJERdaZKyv
633WR2sQdVp27KY9LnehicKgTT6itk3immbzkNptcw6Z73k9yB93qJb5Y2el8cHJ3P3IHExaaHi3
sx9fn8xOaXtk1nPefh515wXZ9Gtb6Nqbd+1LY5xpqQCawPZ4vQpw0iKuU4SspkgKvJL/yhsbxTqF
bSMdBLa9V6kgcck8lMx1A+4WPHrJ6SqWCrrybrSs7tIZU+Va8uLAm5rkCyjK8WJ0rXHE0doRSOEx
qbNVqjIYP+uKrK31TpFoY/j1UFgfp1JPfuaDAfpXTCKGK61JzDmySIrfMXmr6juns+IzF0F/Mqc2
/twuEVgTxB3f3NLhZzF2AXBEar3BeYTaMBSSZpAXhmY9g9xKgk8LspDtSWoaQMO3D/TejoJVAHwc
HQYIhqsdNYVVZmEXnfgB4tmaiz6W/bm2u/btEoA8FYcVQKwgWa33VGwxeF/iMqHq75vhkiDp+MVG
HHhAr8OeHsoup7aHnJyFKBJqwUEFoSo7RxblIfRmgWxupfQtfciq7v84O4/duJVtDT8RAeYwZbOD
Wpbs7WxPCNv7mKmYcz39/eg7sdhEE9oTTQy4mmTVqhX+4OXpVUpZZ+/1vJvQLDMiGQXaojz4JZ+q
ASmnQkvQFhvTUZ8DAySb4esa4m9+4ppVjC9CWpS+koAMDCardduLkLL92k16BSWjrwb0HOfQPlX5
PCUXVR2M0JezGRs7AfD2WkGZbeFcUA6xd9e9TQvV27wssvTaqHp+zbNpCjrXEpdOGnv7YzPggx3n
mKCkQwtsOcF/lXh66Gl1OwzpNQZM9bYcTAOlMlSqjjP6bMekTqYn1xqRc4Lg9j+3i0HkadgmvX6X
omGEJB0cPeZMq4iUdkkfWRYCsuAMu+dJDsrByXNnJ+5tnQVyVLzomMKTN66aqUgSx0XnAlvIs3p4
sJxGuaAZ5u41CLa+HmsghMnHQ49j9Ubl4A4lcnNMVxvNDmI1sQ9tB2PTE5Gzw8q+zeRoQICMQ+cL
GPqN4hZBe4SYMpLlyKp70hCIx7KdluU0aEMgDXcO7n+nzd0CVpKpGX0uujirV9hnE9qLixOTkIb6
EzWgeTh2TjGYj0JzCi1oaIbXvkBdUPhekZXOu6Qv3Ldq1kFhuv9btl4zmrxLm5OE6KbyoGcbKe6M
pHsMSShwzSa8xqnnnFIc6nYee3MpanhmvJyTG9VEExQJZFBgvSVYwSHQhNpqTyM6XwfMW5j73n+w
rY9KXUnrlA96CxKJsUZRHSWjpOqs4jABaXqMUrAHXhKavwBh7sF7Nz8q+BCYRtQ7SFKv7gi9QlGd
lhvON+GoCx+NQ/FodKZZXdA5ltlhLOkeoE4VfZyLOK2PVdhEl2yqjL3+zMZ7Rlx5af6jZ2aSf72M
RS1vZTTQ66JlIqdDrkkcZYBbpZehGOudK2NzLYIr9QGjWBgOL9fSRc+nxovmCrxZv9he2hw9Bz5d
pkFCuf9BN+IOo176TazCCH39fqOxMWNoxGwftALPed5Wp1AN9/goW3cguQ7GonRjuAr/fOa/Irkx
T9B2IVBcbdRaTR9ByukXvlLad4BN7rOhFSVWHWOoF499OVRchngPTj/QWk+9I2rt1afOm9X+aCLf
fymbLlKDsUrHTPMNbcYWVTNRrT6kVN6Nj7lJtgB4XOdozpXwXn+0gcBQDFN7o4uyztzwHGfCjHrx
VbENLHlrV/NFHmWXzBbWztHeOGwsRejk2gGDuq418iExBn1MxLVEX/xJU/rOPTTQkb4lvTKdDDOc
tZ3jvbXx4NRAGiIlBvO97Ja/PlPcSdQ6crJvXCrmp7413XOtRB2iib23U05sZN+4eAA6Jf8Fk7l+
uGou5QCtjymQGyXvlMJLH2ST2eWZl28+QZlzrsw1a+wo4RnufMOtTU8RQx4Dyojcf3nxfz0mWlJA
N3LWTtDxOM6AMY+dlXQ7T7j1MhdlLK50wiX37ctVSmPQwm6Zpnl1Xts+sCYLjXYl/W1LM93pK2xt
FXCkYNupmW5JV2hqpsjcdwKfNjs9JnpcPU5K9L7ShzIoHHfc0QbaWg4YxZK6Qwpgx7x8tBHxoWoE
TnctytwMWm6bz1EPvVkxh+ycG9beAGvrVdIyJgdDM4rB+iptsZLMaUwzF1eJLn2Q6WMYsCWLoDCU
14+M8AmgHUTrEI7/DQaGegUtFVBaVzUcwketGupjGuV7A+XNB0LsgaEJIKkblUPg1X1vurS5ujly
DhO92eey8kxfos/76X6Ev+2+8kBQcSBw03O/aRVmQwk6qhLZ1W06eVKIi8zAYvct0Nn83LZt9iDq
UH11F5RFkbMgXyZO3iB0CxB8dR1lBJKaVNmKtIG7rPr3/pNt7UJIKfQlybQYey1P/vcxzrFM16HM
Xg1QvFDQG7/06vkUzUMdKFqx8x73VlvtQbMuWq4FVLCHMrHeVCL/kdZZ9q7j6B2qds6O9x9ua4cA
ZiNXp82D1vpqOU+f4VUUUXadB3gGPZCDgxLDPo1KTsD9pTafDFAyUD0UYm9SSHx4JYLGbEZTUbxT
YujiordRd0jSRD028TSc7q+3FX7Z97DZQRnf0u4MXXpO4dJ48TJNnEjlq2u4qCrfX2XrBZI7IW7B
NX0746pMrHy9vkQEzh28owUN9zjTqbxEvd78h2/FhIEKlXELSeLqW7m0jMVoEw6jVE9OZZjERqBM
cjoi/jzkO4ttfS0HSV0GO3TJbpqtZSSdJjKIhUqsQlLU4vGQOAg5q5J5nVO2ewiUrfgB6gZkKqRB
AHTL7/nrlIE6gXlScI3NXl58avKu9RHQTU5J1aqf0JeRRz1R9mCrG4uSJHLDUAnz9dZZFvswb7Kl
T84LaK+lQDXZF53dHWa7iw62kmNm3Dft1/tbZnNVYuSiDMXFvVZpUhwdjqkj02tbYHWYUEGfBSOi
k2hi5xGZnuIkZam9fp8ugp3MJi1t6dWvKpxq8ORQpQ2Lzm323Bcyfp9qSRbk+mTugMU2jgR1P80w
+EXUFutPqTux6Q0hvoSTE2vuKbRF/TbKQE4+lDalzU5psbFRiScL9gNW5KKi8XLjTLh5CCMOqccz
4Xyv4zo8D33dnq1kVFqfWeu4c+lsfT6GEJRoi7z2DeyYlyiLYcDiEVqcckgSvER0M44uRqwPpwJ4
/MFUscK+v2eWs71qyC/lwDLW/ZMQrT6fXrv9YGPTfq0LrXrnaNMzZax9Shx8OZ24Ts5zVEznCbOu
j/cX3vqYrEl5gPTdbV9KK5o+A3hCIw5hr/SAXw/Sv/kIi2mw7fA/fMsFtE7bn7h9056adVIG1OGT
q2GXcXdAI79qD5VRxTTDSihV79yCi37nXtq4J7gAuddRbAetsM768JzNl4wXOtwya7G9Qjy5eHDt
fMCtVdARo8Ai4yOGrz5gatfQojp63nVuVUE2L+3Gaih2ovYG9IzzxsjPgfhDYbV+mDQSY4V0NkA+
jSTiMFD3ffXqSnnXcAzTQ4ZqReG3RV1UvgYTKIgi04oDmQA0UR2j2+kwbP+cBZy6kKYXK7SXhxNy
QpmDYCS9MMB6REOZHwr8M95osrC/4BJefS3QKcc7Sskvgrlb0Gd19xRNqEbe38bbv4TO6qLmtkEZ
i71JcHI1CmqRWc1hnszkjZUqCVvaFt61DaPuudEa8zSX1vwW5Wb1KW7wlMdFp3s9zxWQhuqxHZg/
o3m0eitYA9uyKOn1Nln8S6A5Q9WWtj6iq/p5TJX6P2w9si4iP2H/FicciRYIimWTUmqpfG85dfY2
Bqqwc3Y3AoVB5q/h6rCI5a0b2Ihv2HOEbvoV8Nl4bA3319zG3YlUudq5XzZiIYx/ggTHaOFtL0ft
71RhCN3JKVTI+E1Z/TDjMp0ecrcVzyrshcpv47wA81JjetG7k62c7++krdVp/CLvilYTgPVVohJJ
t2oF7YqrQu+VATBwm7Ruy5PWTPElq0373OA7cNQJZDvfcesN04Zkpk8g5m5dftlfz91HkTbPIqfV
rWbzMXUUN4idMDvTqSp34sjG/BnwAPAIqPiExPUORcmFKNyO0TWTbXdV1a7BRiTPD3kbTR8dNPz9
Aru0sxPjFekzZH09S5ACfLkEuHEIzOtRP7YRI+bdfOJ5yI4wVORJdhKeTdcmAV9258Vu3OhETH4m
1APavGs0CJ7nJRqMTfhQpB5qTIo1vHGdeD40ajMHGXPbYzyq0cf7+2iDMbgwINF0Bj1AWbluVrZk
3mUkuBFUXEOmo4wcpsK2tPP8KOsSh5cBtBjq1UZWavCGR/t9anUxFHzLDofD5FTaF02LsC1w3fG3
OsaiDvQMK4ZDU+fKm6wKIwHPWkegtsH9yjkPcor+SbSpM3ET6qrHsMyk6iPLEaWnrmnLr2ZTavOZ
WioTPkP47gfjojo+MexqPmNRm5h8dBRTg1l4iXspLHtOglyLyncF9MA+6JGGFL9oj1PcoeUgj7Lr
zegy1WWkfdH1bv6I/2y7h5TYOI4oxkJNYbzLy1xPXTMkEyE4JvHVEmF9znFqOA09OnhCqdL/pRUD
mTksYsg4iXq5/wE3dg10BBo4KNaRea7HhnGo1U0xMuTSq7i84isJe3OK+3/oeqCPMUQNgqjZHnZ+
42CSv8Ojx1YEtPM6t64Fljm9Bzsy76Pq6EmhBhly2V9q3RCo9IjqPEXFcGgd8GfDVPbf7j/zRhZD
t2AxLQTGtIAnXoag0hnSDFooCRpC5A9t4iQnVchmRwlkaxU6LYD4yGNwalgF+CrHI8ubs2XENpSR
j4/vEJSimHbai9vLMI5Y2hEwTtcpWSu5HmLQi9Yoi9zP5yj/UcTlnrPFRoGCthEBm4D2J8N8+c6i
RaeGnY/dY+xZT5WLH1HSGrrfIpgQlKPcm2dvPhbJLPoxkHbYJC/XM0acoryCJLrolOqaup34MIlh
b9ayvYrHHNTjLubPy1UQ9rf6iKuefh8q/0E0q9YhykSivz6twO8YWCf3HVn4Gr3hpNDYQSIhXjSa
XeQPWkm9VTottOVRAeT++v3NSnSLoFWpgFNePlVcanqa12DmRIH9WVOByI6bXaHBrZgFywYWMGkZ
qJTVKnbX91UNAulqRobyzHFyghRxtzfSzVqULScnIKIUB02bXi+y/ceaCt6NjhLHTQtJKh5csQzY
qCYZYM6lii2dVPp/YA1+vf8mN5IVJuQLKhhOBqPM1S4cY9eYmjxPrpFdDd9Kq6h5sqT9OAGU3vlo
WwdsUdqHCsxQ6cbZPPUGw006PJ3x/2QO0XjXThfiYBfycxd3X+4/1+ZifDP6wcu2X+cKEO5dxchM
zL77qHvyrCT28151TxXu3MeJd7EzK9s4Z8tjIS5AC58m92qvJNLUxWiUSNTk6XwikZgfJFzS4P5T
bXwtViGfJXeDbrdOLZNOjNOsTZhx64l8O7W44dhMA9/07biH4tzY/DYYGzJLTthtsmWreAdhgBJf
GbR45jVVM5EGtuybS+kqnoW3oJ2eGzbpZ6+W9k7I33pOoKOQNpgpUZeu7q/CKPGNwWfoOo2iyYJw
zLUPYTqmVaDG+ny6/1K3ak7wBCBTmHLS1FyfAUVEYWHXdnEVaBgetdkIg0ydhJ86nXIaHD28JJr3
kUIRD2Sr8CAla3Hg9tnOUdzYsosbG/4PXD+MCpd//6tuQGu+Dpt0yK9CL6OHAiWcwwRW/WTlHkna
kO7lKBtfeCERLgFuwRitH1tXS8WsE6e4jsakNkiLJPFXdVL0NnC0cCZzSey3bRYnwQwh8d/773zj
uADyAzoCVoXx2vq6qN2Ryzw082ubA/HjA4fWu0h1uj0NpY3kD3AaeR/Af4xL1hx2PZedpcDSvIpx
iFAmHqDGch8fixaQX42k96Ft2vzyHx6OjiOYH4RObwrfKK3QQ2u04mqGavuYm03+0IxpvVNebz0a
NQksWNpw4H2Wz/vXdgGHalaZMhdXJkPWr3aQ+iXUnOybV5UGbJoIKSe0h7M9zPrWl1tGyjRGLMDH
a11cYCrAF8O4oCue9cescRJEN/VxBy62EQCY9EAzYCKEhMO6PxbS+IZ6JMqralSl6gPjMb41aVsO
2FJGu6ZmGyeBhjQnj960hvHKKnjXHRnaoISchND2+ovrjO0T05bha+tpcRE4BtDJAz67vQb+cp5K
63x/w2wBgPkBEKEYXVIwrGsUM9Qydo3LFEdOkFNkb2aqD06s+dHGXooRX21V8jIQNmLfyaL8XwPX
+s8ybqefdae7Kb3lLtJ8Ba51uHNrb3wJbmyOkAbIawNyhX88GoI2Py1CS1WN3PnkGMK8UPmoO69h
IwCSgjAB/xOVbghhChB+mx6YIJerq8CS5fAGc8Qea7TFeh3K9U4Q2nztRFqCENCPW0dyxRIR7GKQ
H70Xds9talvvyP1r94Tb6uyekklVJP6BU6YGLZLP9tUQdvMBtVVU3J1eSdUHmWfGBQw+cpb3t8TW
a6faWdqB0NIw2H55upUqHkttYkeUqZX/UpIZbruCxEc4WubrYd688eUCWGwEb5q/iu6KiXwDfQIj
+W2FpvfGbfrhZNB8+PT6h2K2BQ2FFuRiXfXyoSYYQ2GiW+KazVkZzGqSUF0hMJfrs7NTj/wpcVeT
GCblC9iUIvw2hcZl05rjpM6vnQjT72PRyH+6UcjQHzMve9BGzzzbdGBs30xztHfc0jqOHe2bVx8f
j8DCiM2lQL7FqqRaoXhpaeTX2tBG8wCzsM8CsG4LqG3Wmz2Z0Ntt49GsJ4NYyr2F7PfyDZdZP7hq
DLrcWcJmmc3i82zbPxB6NV59ybESE0ryUYiwN83xgVu9CBGfv+o4aPmWGsqHuhR7+JvbS45V0GFC
1RKH3JvASJt8NAY3YTCB/u4n9ol6IYnLfhng7Rxfje3+OKhozO98tdtIBBwMVycCH7i+m55Rxp2d
1umEKKG0xQeUgHUYzWX7bM9mHZ0HI9H00/2jcXutsiLFLD15eAE3cGWnbCjQLDO5jkmE0/bY5YFS
OdpOhN16newKWBYLDuIm7TJKgl3LuP7a1iK6NGWpHee8d58TvNVOlALdh0XO8/VHkbE9Qrl/Cj/+
rDKVOKFQ0STVbJIWup+FHD3p9fGBRuH8oUHZ9vfItPRB6xtxQoQw8is448XOJ916wUQ5gEjLNIek
8OXJqFxz5J0wzKGTnp/D2AsfSV722iC3fT+GhvAi6VTZIJTXYRt8x6xh/ZBeK0WZ+/OcmN5F4fL+
GOlo+Z30blBV+O+xeA8AN+kPTFKbd6/fSSAM6bTq7CTizssHRbYv6nI9hjsQDtGDYShaMCKWu9P7
2zohHE0wm/SvLPKjl6v0vOS+w6DmqruRPMz51L/LGh099Cj6mQrALvcfaiuuEcxtelgAh28QcgUq
LjjzQB9QNYKb0hgGrjSx+9AhO7azUbbOCC6O2oKQW8qx1UYZct1g+zlAu2NRBb1nATFHixSGiWPH
i8pyF11kMfef7z/hBkmbrgjk3YWjzLW/rnn7WalGtaTgjqx6Cg8uQJvDNIXqmwjI628rb5vuAGde
O1tRNns+taIZHmsp3bd4bimMd4rI/XX/N22dmeXjLgxcsuJ1RZqjgOg28xBf2zExfmaRW7wzh/9g
6Lpc03ShgFgCoV7XgoqrwNRoGA24VhdenREZFk8f5ie7Ufck8/8MxF5mBXxYJPAIgIyrbvCc1MJI
TnkE9jRLBGauqDm8qfMxn31p1C0YjSzCJi1ykPU6pVyhH3ETzKOfTVTGsEf09stgV/1btevyJujs
ejDOrsOWp0XXSduXcWlqPhKOBjOYCVTsye0864hjTtWelV6tjlXrmoJ2Qp187QxvnA9GOzAH0CYJ
esvTktI5SPC6hj9pSjvsRP+Nz7lIdtEvRYnqVigV0WlyPQUExVR6H7Ve2E8CYfadsnTjpLIIexif
D2LhOgJGhtC7rDOSK+SiLsAvnJmALutHaxjVnTtzIwYBzgUTsnzK26pJj7NqrhfMizmqGprycnw7
dnr85Eip/yjUadiJDJvrLbNO9umGkNfgFEjmO9zRikAkMUnsr+hwistA9/ItCr7uzr259bnQ5aAu
pJa6ZUkolTegjhGjU9eoPfM5bTrCUO92Vtn6XjwPWsR02m6b3HUktbaEeXmdZpE+ar1dBaWiaweo
YdVOUb9EztXhWyTDSQAW6XBuqJd3RokeIy4kABzixpp/ZWhNHnrm95epF/2hUtz0jYNT1Lsu3TWt
2nhIVBOpp5apPO18/eXKWqcxXDQQJ/NoA1kndD2z5yRPm28iVbrv94Pmxi4BpEQfAcYXr3StMmQ3
xoy08kInUOfkhI1D2R16k5lxkbVK4zeFqe8UcBsbBWNeqirmLhDs1gE0MwxZTEmVX2WslAd7KIzz
4jlzvP9cW+8QOgHtiaXzfONQZCsWnESZ5NemNelwR3FyxajXPgBK25Pq2FqKHAoYN/kFvfLVRkH3
qvcwGs2v6HDJHzgKRuGBgZz9NYGj9+/9x9q47hGEAXRjMS3lwl+tNRCczdTCMLXUR/GkTePcHMK8
1T8koZ4U/qRrJWqppdiJxdvL0kTDKk5jxrN807+6d/3CTq5mcLSNOxW93xNWKn+IhXWMJ1OxDg2q
ZddZHb09u72td8sUBtQnOHKy1NXzzpyS/6cRjVNvBwn+gh8LA+fTfFL19/df7dZSS9OVvvrCRlxn
Ukpm6VOWO1wFXWGhOIPAvO9UpjjmowHc4f5iW8GF+wYULtibW9WJEYvkObfx41BHy/7SiklD39Zo
nQdbNNZDKivjosEeekqL1NwjBW89KC1m6Fm8VNPRjZcf0wQ5O5sdWYXlQnspa1Me1TqpT0niRjtn
fSu6/L3Uat+IfhRRNWlMjd08PRWp255Gbo/f0kjwHKrj8PWjVhDQuAr+af4t5IqXz2YobV0lBS4E
vTb+TswhfCPaZA+sxT3Df7O6G5aLju1Ca4he3CpCI4SSMGYANBVWsWV+zClvZOnDllfg5fa6ehIy
aR0/DPWsOyCmY/WHGAV/ymWIJVivFEV+cLRemc927drVYY4s9R9cbowvTptHjg+zJm3wE8gnK1BN
0drvZpk1vzMoSqnvuo33Mcqsorh4NnITZ8OttejYxkXZ+goC3Vehabi6e3kWqoe4mMbftlq4OLCU
rvpVswtPDyJQkv8Mwxi+zwZbtscx14sqsPUJAXcvjYY3yuS13an2UuOrWyjTEJhZH9WHQhgyDwRj
Gi9orXrofUx0FQWjUSmfJ92o7Idq7MG6jwqQ+4MHzfWX1VJYvg/ptBEzQjvTznrVtNAfZ0mfdkBy
7jAnZSYOXag4kz9bHSN5CWwRT8Q5L9pnCEc4DdfCFRXZRTn9zBEcROGa3hLIlCKaPk/RlH0iSjny
bes5zKV8sP7C+hexyQkpiFaLv7VpnYwPeWV653yAM/Kg6GMbHcnmtfRgZKorjqEqMvuo5pGJi4QZ
6QZxLTGUQ2mkybMELyACvJ7a/xE9JvtRF1OiHyNFacBFjWkxfEpnipxAumZevJNl3X6o0tp+Ql4v
yn1pj1PzbraruPJFY8uvrpV5v0ZbzidvwsPK7xOEfi6KZjfOuVDrHIXDcRie+6zQs6exHYfRh38a
uQF15Uh6n1tZFMh8gDuaeaMpLyreeJEfqdx6R2T6HRFoc282h2q0cTas6E21l0wdtNyPRFWbQdN5
yWMxj22P8XfmfUWDbHQP3VRYn2rPagvfAazjPunKOF6tShsFysJwfg8qF810GeJyrpF9cHMzwd6k
zTW/82BOQfSpxi4Q4KPqBy2Lbby3uCxq3x2i7t/aRObPD4Vi19jVMXE+tLjIq49VJ63PvRLGAMCs
tDiIvkBU0c6YUfszKLfo3UAx2fq5a9fK52JqdPsQQa++KlUrPxgpIvfvCmx2pU/Olg5sSm8eHqak
bj4Nc2t1vll1xpeq1qV2QmjVLn9jSannBx0zjb0G0sZdSV1I/49JHnnHujKusimC8QcRw+pz4x1A
3PCjV3vur5za/EPdav82UzXvXCc3IX0hYCABxQVJsnOjlN5m7ujUMAiw05mTQ7tg7apESY+zYv28
f3HdtIzo8KPWTEmKNiZrrS7kiba+ao1OfrVbXXxzJy//JzI6G8yRl3ZfK/Q5z33Wlpy8efoMXjet
jvd/wM2jMnKijqL9SLrKKHEV4ad0aqUYa3Sja6/8Z4qnGYfGcKRsa7LTf1kK7Qyg3Vwpa5REOhRF
5KkQAcMRvmZeRBJ6QmWddCXcs6lafvX6QiGbY3SIgs0tRyGJJWBHt2DeW4/1v4tb1y+tZ1L2+gda
tHG5IRfNoHVXMUrQdgPMT/VkDBzbRk6pd3Dd1PqxyMfKnU25dUlS8GJ8CuRuARe/vIvNrjJmr6CA
ymDqv/ESYzwPDIins21MpK21l0wP5lBox1LVpr1TuLVNcL6mLca0GRDKquNX1IDvaBFxClusI/PO
bFRfZ92HQum616vhAqIBF4AuL9C1GzhNYSdqF0v6qLoG5z/TCVFuN51bzEh23ukf5OmLjbJAF7kq
eaP41t7UNbqt2CWSrAy0U5GOwdIwfZwbr/0pzcL9nx2b3Fdq7ma6nzdN8ZTZTew+zWZlKEEXK644
hZNIvqlhoTKyHSls7++wm2++/Dzs1mAiMBu92WFYds4mdqX5NQ6b4oCnOvdIK0cjEJX3Y4gc4+i6
kziEYbFHoLpJNVmZSgF0+QIhRabz5W4rtSQeo7rPKUPC6agYRX4UVTWcrcyRb/TEmvf6Kzc7bFmQ
im+h71I1rCMh0sN1WMcsWOBqfC1ndeJYVe+hpIidJtWfQLP+6LBoKUwYRNISXN76X+UXrjczCF2H
SaQuw8HXxwjE9qSPVhSYRtdwL4a1W/pkLAursi5qJG3ntPmuZ2n5j4qJ00fdSsw5kDOM+MvQI5bt
F4nVxhfDq51PedvaI0YQVfYduID4JvQQ7NI88XjHQS81eRxrQ/4qJgWxz2oIATcguKoJrPOaRv/M
nu87P23lNPzTxHTqjk4LqZQpGwx7n7THpqkGSu9bHUXW5FMOOMkBh9HU87kKh86PStxfnglb2YcG
GajQ12Z3/HJ/Y94EWL4WvEF61ijgwY/UX77CoojtKS6QtU941qMtw+6TlSjZa3F1yyp0wRhnwsC5
CQSqk+J+pYr8qopOJ84lylOT13uqlrcQMJZhPkX8ogi5nQ4laSpsAab0Kp0wOQsRjkfyHTWYkrTn
+2vhIRa6+TZOugSXOUt+jxvHeDsytw7uv9WbXGf5IYwByfwgEcKCevlW7TFU6WQx908ycz5iRkSw
V1pm06oxBZmrsCcJjjvHYSvGsBxHwcR/9IZax0nz5AI8oQcSFf+LrHx4SJXIdXzqS+cUmqX5HX5Y
+hQiyr1HuNs69Oj5LMhu8AdkwC8fmK1Vcciq4mr38/jYqGIAbxZijTZ4e/K/m0shckxLldVu1G1S
paLcW6BLiFG7NDiVCKYKYgFTJt2dRGfjM7oqA1ZUWWnK0e9/+VRUEZExo9dznVuvPM9mVl2rzLGP
GqOGQ1XH5aPqhMXOohvPR0MJdRhwk0yQ1slIY9Q2mbnMr0htd98NHCnPSdN3vZ/o0tlD1mkb1wP9
MqSCaIdvmF7SOKOCGNg0DWWj3wyW9mA3Te6XrUCcMJlVH7h+emyy3v09MioMqgTMXWar7SWFRHNW
Cmk90AXrFrVK6Ye1uqdmtJFZM+6lG4RQkwrWcHWBLcpB2jRxnySWA3wKgcecYIlI3Qlrh/IjZkDt
Vwl++DRlaEShtiHmy/3TvPmOljEpR3aZOK1iZO0Cd2kota9Sz+xHtbfeYVCBMueYw5TC4WQnl9la
jrkOzWDGlrfShpVdF5KJU36tXE355JYtwgNWjvJoNYijdOZu2lnwFmVDGxJ6C2aTYJRuh5btUBWe
yDswq6FdPYMjio55V8XoLllZ+g1vovEk6q5yDkbhzR/DLh0e4DqVOznS1san5Q5Fnyrq1h9UnxTR
5CYgm9xuk8cc9hO6vUPtd0qe7MTnzVeMcxZ1GrkY4LGXBzsXqqzdbMyvrrC7oxMl3hm9FHHxqsh5
7GTjfLu/g7Yejd6+CTAORArP+HI9PZ6qcbR7+LBR3H5nJUseUF42P1nD0Jg7n3Pr4dg+HDomTuit
rg5Mj9l0hIVVhtYS7tqZlsmzVuv1uUSY5NA7U/wfHo4qG0dMWprs2uXh/8rChFZkTihxSqg4KWcZ
Fu8Hb5qOCZaon1//Gv9eaXnyv1YCVaJFknTo2jFkDoCFZfS96LvhH7vXMN36YtQTWCMthEhrfeb1
FhcYT6MknNuq9EtwfE+i7XCVgv326T881YIZpRsKv22dLMzwXjHjBR2VqkV3TRwOe1C6xLcRGzZl
p9RddtoqZV4g2wZTgz96Z6tXmNEqU+kSpdc+jvrD6BrzY1y5cicV2Xp7i7Amqbm1UfiNrZ2YHXBY
dKql8SmVcXacOkueKtnutXi2HogCh3KDymqZDb7cE4Pw6CfVDOraSKBKRDv5CnhnD8G2kVuxEUhe
uQaYdq+HIBhw2+lU4zYGYRNdVLWNfdOd2wdrsONj7NKeTeqhPZMQ7oWqrVdJhg6FAxzgLZ88twWo
Ai41ZLnSBL6GOl/oQmUHMWXl6f5G3HyV3HCgRBjY3lAXWnvCZCq2xZX0Grbz3KGpOTh74MbN24Zs
CsYXNTHzwdV1ir52PLXOUnKEXn9M21TSKFXjD7Mh0xPJpUh99JG6o5FJOnVj32JY7JQ73JRb1DB3
3sJKgb7AxXeTsYY9ep4UPwIv8U6Pjqke2hO99NQ8DSlSBIBK3BxWsALR3i8Lr+nPZZmjaJxlOLZS
bee5D5SgfyDn3mt6bW02Yg6/jJ7JLVi7GaK0CHWGAAVw6cfRrhli2I7yLk/Kn2M4qT88xNq+D4wc
dm6OrQ1AaKB4oE67pffqoWsrhleJ66QO9pPTjckXpEr2pKm2smpuecA78NUw8lh9f8wo9CKr8vzq
JE70K++n6KundLOvTZDcgRBNvjdle+7uW8eIR1o0eRZA6DrIdiYWOm6HnJOVW+pTrs155Yee05k+
kCz95/2DtPUBFwU4nEFc+t1rhLTdtK5Ucxbjx0CpNZKxOqMXEZIfN7F5RhMofp5qdQzoTrc7pfYS
wFcBfsEqU19CcqfjsyhX/3VHxpWIEOUkHjJQMt/XmvJvNgnvN1ZcMTVwPzQ7o8yNPfNivdXXbOJQ
H7xlBN4JbRB+oXfzT0/qaXD/lW4uAxcaHgkpzU0OTviH3hgbGfz9UnlSavjKDHF3Mpmt0IQAw8Kk
BPph3mil8zVV5pbYmA2xPgwXhIZoJWHXbgd2ImwtUGw70Xyr6G3dj5uuKXxcdhIR5PiNvXocjWAV
8q0AfCk/OSirm1p1sobgR85Yl/l3w8pwEXZ7+wDqtHz9bY21CRYIxGRcQdajAzU0GyPtEJrs+7z8
3JUuXauihB0oZvs/ZAbLR0TQchlU3AB4B4b7Ri9oxLnoTHyonMx6G6dVGDjT4OyUbVvtoKUpSKih
KcHJX6UG2IAUit2iqma1Zg/3ZNb733lWlT8bta7eTKkWnjTR1pD48VA7QqEcHnSj6DUfLztjZ/9u
xB92FG69IM9QofC8l8dybpvKVTSSZN2Ooy99M2sHayybqxDRfLx/VO4vBVDq5VIlNseD9IBJxXOY
HMq+rwNEq/JnxaBwvr/URiiHN4CSIX0Yb8HfvFyqNTADbpeEPM40MEsO/IQpTpMHb+qyc40y+mWO
97ATt5EA5BJwQfYrBRw3+Ms1Jz2pu7RoaKVPIQ5sYWR9pG5U9zSBb+Moy7AZaQAtefm6ZDPiyLGk
Ry9xGNz5mESJ8dSOShGESmG/Sdp2T0hgaz0daUMowWxaOrIvH0vP6tKQGm2fJK40v6208Ekf4+xZ
NwYb/BLGOfc/3dZrhPEJUIOh7NIDfrleYU9e19bwVNtwcD70ipY9d6pW76xyuxcxicJ4gpGkQUaz
LqMSk1reRhThOpL6/0IzNzxlfTw9GWq2IxR3e+eyEgXowt6mulnXAZnJPGuOgc9BKal+Se//ODvT
3biRpF1fEQHuy1+SVaUqSZYt7/5D2NNu7ktyJ6/+e+gDHFgkIUI9DQwG07CzmEtkZMS74JrkWa1s
XOxgpCmAbunVMOi9xjaGkQfHYG8uGXOhfvDiwZfi5VyC44BtrAGqK7FVujbjqDzEY3WEJN3bIX+N
oq5WTA+iKJ/Ugh1ptPL7UJ3ScxVN09lUuu8SwOfL6xtkbzj8FRfzAjLCDQIy6UjMYckjdTxVrVcM
kpW4GFiE97HZNZeGP3OgX7a3gvRFyXgV4GabDrbZaEowwEq81YoYXTOygNigoYDU3xh8lMBuU5Ts
k+8YuztHceyP5d/LrImaE7go9s/y6N+878Dzdzyo8tuQTC3YEIsMym1xA1e8nv7Ip0qkClFUBomi
Bd0tHTvpAdQ+RlaYQX4lnzN/IrGa1q495kmOUFXQH+zvLbMAUi7NVE4sKeViQfByk9lqagw0GyD4
gQV5DtMyPQ91H3xCw6h/wDN6vgPihYl1hqWIyG3ZRbNZ88K+sR+z0ooODvafPb2eMQA9/CIexUTj
1c8xZNBQcdvDtoXQX7idmQe1l6Safhvywa7dLjKK2Mf8MJ/O0lBWpW+PKIC6saJltgesSc9dO6hN
2wPMi/N0qLRR/D5J6sby2j7Bj8zKZ7BXcWRT4R/bWpUPPmE5lesv4E4mByEkABtdDsDfmbKwozJ2
zPzm8PY76RSRzh0KQ3BC7fpRDVD3cTKE4qZqKNBgrY+0bHfOl4HBJvr8C0B28yLBhNfBL10tbnZf
S0+D3LdnxciMS11OjkdN6EjucSe55TBrqC/yMKGSvo6QHC6pCEMMXkTiyNcJnz5PGNpXfXRK4RnT
PGOTVJUgECBr9++EMPIv8KDGt846CF1O2SLSgwLG5l4tCxOfeLqZV5xkv4laz99DfzeXtqtxV1d1
/qTNNSgwec4WPJZxfT2obRIW+lMLRRhK7qIRv26u8GEmViGjeXUkuCAluLEnekf9I62H8ZyrWJxS
PD0iX/+JHi92GoLZC4CWC8qCimis3mSj7cx2IifO1dGRHXzQVBOSSjOkenqvG6PzBblpG5GnrItd
s7bF+76rZNPFtT6J/BRZrydqebJ0FzgTncM5SMOPBZv3nWyiizrrzXxP9qAevT82+5MfjSgBYstU
dhHdWsL1X8eDQvU4ZqVkX3sRfU0wmLvoVpieG6j+Xtvo4iBr3RmOvNiEcAr4fcvpwRSwCRbD1Ctq
jeNzYDWNR4cY/+8plH7Zov701o0AGRVwAkW1RbhzvRFsK5R7Hf/Xa6kVGg2tNOgetF79JmWB/j5H
tPIOJGh7cKVusiEcOfCdxfOVyq1OzfLllI55JXreRs4VsNF0tXVhe/qEuuAwIG74+vdtUhKGokwH
y45mIkCjVXDru3IMg2Zky5no+Pk26nLhnQ4G5J/Xx9kuG1QFaEILGYQJXSvC9QaniVqVdRVDZvuJ
nklXqwPeE8xxfG4roRxsk03QRp+KZUNQiZ4y5dTVrmzVwRa52thXowvrD05atncCQMVdaFTlTRmd
3pWssnxnj2idT1p+VD7fxg9kOnjsoEVHXXsDbhF65shzq1jXXJODJ6Qdsu+0LTtGNQrjB8KGXMqO
JUL/9VnebhyGRY6Ly4IEaZOsd3WLajwci2tkSfMlBV/sIS/qnNESTw42zs6CQtAkCaN4ROtjvXHC
PER1UOsljr38GYC2eh1i2Tpjx134fTVmX17/sp3hFvMP5HqAi3PyV2kEaoV5ueiiXxOzHnIXulfz
fbDT+N1Y5gjxD9Ob8VCgI2DOsYi09ZeO7sszODUQ6KgEOFd7KOyPkqhkN0Hz8Ruwc7o7Sv3v69+3
s2EWwcnl6U9YY9+8HK7D74+3quJcg+VFN8C1fTelnfKkSZZwa0fprrOsdefXB91k0ss3IlRAp2dh
a69TRWgowFPm2rm2ue6ElxCns8p18gX2MYMySq+IOEo/jKxQfpZ53R45FW9jD8MDz1hU3ZYwtFpT
tFi7wTQJ5TUffZ5sLb0L+MiDqtXeKPztyLNyj3MYl5311/1kJ5rWBa3tXEUt9K8CDdFbGYdvrjsa
bBYaPgagFrj963JqHjZj6EiQZ624oAwvNeqpq9KjbHrnfL8YZTVjdq3rIXV+RNUmpzkJpwI3HGiy
S9Xh6FrfmTZwwuxJ7gRWZx2ww5Jtr4co6lrtLHylm9Sr1tnBQcDaHYWlAeqtUv9ec7/GqHIGiYye
/mw+X5UxBSsfzm/2LWRx6FZZ9HEgVnAhvNwCSqgouagRe9SS4svcBtklr5XYE5Y5HGStFH/5u17m
cOTpCyYD7Tvi4hoyoOZiUMcYy+RmsK0nqxThtx79iidllqPE7bQUiaG4iPXRHcockTVwIWr2pegN
KPVB35kgIaMIXK8+xHcIeuC4oFOUfIqkLPk3VUM4IBxp4L4Lkyx9jE3Uw/wo6eT/yWVkdi5UDfXZ
ai1AogVlPZwlk15/jOw8m9xcp/7spqS0mDhL+HtYoG5jz2njXj1nSivUTyTluewaaPD0J+THLRLN
LJcTvxS4BHoYv9LrmqzSfG/OaSHz5pGs7CQNOjeb0yn2P7qdyhXshZD7Jq1H/b09dbyNmnB2Zjca
xDy9I8k17o2mRjGyH235Zzk6yb9RpFkfoPiGgT9I6M27Js4nv/U6K56zDMm5S0H0f0IjKSj9wbTA
X8qdlGpej+vL10Qqyh9N3+WONxhGbvtZXwUDDphW9Cm1Ydb4LfS7kxbYQ3cXdKP5iCN80X8wZ1v7
WBnOyEO8CbRvSQsRg3q9tgB3olQ6DZ02hq6JGKN0TpVYPOTj0MTekErpjxjVqviuQPtrdK1GqZ0z
5thR4dmOJACRxig+QIIZ0RzrVEM8YXKmCD8YW7Xy9CwX+nVuUHZC1Cn5WiIOL7BhjOC5SPHcCddo
Wtt0zTTqJR9amdV5Scl/XFsyqieUi6XUFwGMYd8kd5NZKVOiDNFyC7+baoBQNIwm7d7KrbF+lNR8
aj40oSb/LspZ0bxUIL3g9kLM4r0apOklMUssNkIKV5IL4KX+X8Vi994wp0HiiaaAOKLbY/lhtsbB
co3EEfWdpKriX+QIsuhaMyTrocKocY3YTpz3ZlKp8lPfm9RneJ00DwRcdBSAw1VAsqzM+olDSpTC
lOrz5DmAXFoeCFZsT+HS6l+YiITlrSxGYAOM0lFSvnK7G9/7MGi/cLX0/uv352YUyIcgrzBYIn/e
wnWqaJbohGOZhj1Q+i5BReqHFRvOQSq7OwoBjHSOPg8I/5fRK+9TKbAkM731xF/gMnV3A9KT3b3x
W4iR1BdouIMGovW5ynfMWCgynLz4NrXhcK9oTXAyzKI+eFfvXWA2tzFPRfLTDbln4vIaMXdBHKYb
Yh9S1Ez7vkv8OhiOnIb2hqJsQL1mUXqjS/5y2nA2RH40zpCEnyVMlHiwgS2J0wuPx+aA6r4zFJkp
HHAKXDvtDVltysFIhHQNklbzElHn50qY4YPW9s4R4GhZ7dX9AlkJywCuZAxP1/dLa5iYyYEExxhD
707mJKcnozSyn1IeZg8DZoj1QaK/2X6kTJSsWStGpDG1ykwz+MJq2RfBdbaa0c+xqfAFgemobLk7
zNIaWmT8twpeLRDrDM9Y0jQSUD8TneM5NRbuNgohrjmo+v+Mvk7vzCnX/NwMy/teTL84nJkfzmZx
N1Rq57V12R8ci528nOI1MnU8OUAirLNHGkv42MyhfW3MCv+C0ImA9wv51Fp2+UOfTONCGnsEsNnZ
TwwKMHzxzt3SYwNC+JyBxr52lJr9AAGRcz+HYAM6yToIlNvtRCV76YZQS18UzJdl+Ss7nmYbbUGj
Uq9KGGadG4VjEH+pZfjTQxE18c9yCI6EIbZfx3aiNU/DgJ4rBb6XQ4YFhNyx6ZVrPA62XyOeeQpU
QO9JIY4CNKj29XFhEF5U/LN85AZEUqHpPNmCxlKi97Y4YRttnlU5DEyvjVBucKexsv5NCxzZz2nW
JrYr67lln7UyqBIPSX/rs0pPL/SpAMaBPw4hxFIAQyP3bGmVbqqpjfCjDi9z7GhL9SmGYz9irlyS
5qERrKdnqRmM906N6/AlK6b2RwZu+7eSpPkXw5lC9eJQoneucoilwINGyNK9nI40F6ozqv+YbW00
Z2w0hm8WCoHTXYU0kHUKKAd+L3AAiiEvZ818brUsO8/K0NMSrEvDui7U8eqsOMlk+2aPIsi91DWk
KiGKO7pv6FnseLI0dKhVYAUTnKJyBC+skCL+yGEOl1hl5CJxVRgEhh/bUqu6te7UH5sG1jOphg2m
AYU/S/HKoKPCgDa8ZiEB3teRK41tGbiSY06qq2dhqnwf89IsQcI3GWyVVEt+GXEdBx5ZQPq/kJaY
fi5ix/kmVTZEFicssvtGcYL6UpPplF6mm0107iDd/0pzJcjOnTG2z0padQnmB3E5ugXMtMwttU57
GOZ5mO+1yonCRyeV7N4LAHV9M4bYJJmNLDSocyed7yN5GjLfRtOl9Xq5xsBc74LynxZTWjz9SnQC
fSUOUgmytlY92E6W9h4qM5PuJmOo/Z6zPP+Rtq12j8FKOZzULBwb17KSUNwlaSPf4bwpt27n5ABB
hkL6RzXRP7SV2vgxDY50l/Zq9qurG/GtLrBogADxjIBO2QWxfpcFmvNxSrUpOTVh2cWnJRpCXzbz
pHCjOel/s+jiMdG6WXmP0r9pnmy177IPWGDhZNpDgax9oUrTpz4eoRzlWd9fpGSKtZMe5C3iDFXs
PKH1JAlI6ENMI8Wc21Nuq0l0LTotKD1SnupHlsGMdvW4Ntpz48xyemeZgf67HCtH+DwdJaBtEZmP
n3UzNNYxNYKzkMOq8NRW72K/aLqQLSBLYz25gzI2zwFc/sUAvNTEgxzyenDbojEsf5ADLXXxHIR5
Ps5Se2f22ezc0Z9AvXHEBfZJSJHOaTCH57kMnMem1OWPU0SD864K2yx2897MPtOIyyZWUw/rk2ht
O7w0ltb8gNsCu6uC09j/DNV5UPzcEQrPj3QyxCWKYQfkcVOn7tyKMvIixa4G3676/G6Mlar2CcLq
c6tExvzOkcbme12azi8LUwLpHkt4ub2PopA3hhTG5f0QmZF9CttkAPMzapniwohon+pUyyA0wiWX
LpOErBYk48D5jPPaOHxEU4qpVBN2OOeTIP9UkkK0H1EEjZsPs1o0oddlPHBvrIoKrn5uvwbIlRkX
vZirT1VZi9l/PRvcXHtktgukiH4dGJxNNmjnyHVDM6PrL2JvhPOIImunn7K4hqA/N+apL99MolmG
JJoAN160utYMM6ukQQiQAax9PgznNsYro2rqyKdIUV+t2Yr9Xk+mg/f6JutYBgViuKh20t1bJ4lF
Vf5RpoYZODbBl05N9Q887o6EyDY33p9RFo9e8BrU+FY3Xq9oMf7GIbyJUeQeHVHFg4cvnju9PFL9
WrLaF+nhn6Gosi7CX8g8re5znjsUw9FSvnGt9LE7dBWOJ3UKfhGlhcBtMQcC4FRm51SLw2//YdP8
6VvRHKcEshq7jKnlNR04Khy0LK+pWosiuz6eMqtFWWGMU8njIpB/vD7qzuQCYKRNSc+EossavZXn
EaIbwyKFUcX2Q4ZTtissKfmBCupRVX9vKBolLCCeRCzmqvwG/7ctxmVy51lPvX5CblvR8sLv8KV4
a9WSWjBSqIggkHNu+06aHTT6mOF0oRbKU0zme1+jvnCQdG+SP5IjMD3LoXPQ+9y++QAmF4t6G6Jr
sLVCOelPtkFDJhaF7jo85Q/eEtsJpMosL/oHtNMpya7eEoMcYTffQtMPE3ZEK8naPeqrsxdCdz6Y
wJ1vW97KTB6p7VZS2eoDCVosJnd5KPI7kRbpqc7a9iJKufJQKDls3mqbk8e3Ebh4QfPYBLP8Mq0F
YmGYbTykN72Ns8kXCDxK2FVr2YdcSub6t6qk5EaRpg70ZtNoel+MWD/10aQo7jQl6N8YbK67zlqs
ml8/ItsoRwiHscXZXNSR10Eh0KO8j3T8hKXMbnCzUoIPTdB1z/9lFGDyLDDdt7Woj6PVlENSm8pn
p1a+hNj2OzKW/p/XR9luIQ7GAt5a9MLoP62CjNHCduP2QOmhiQKsE4PQRdg7+tR2Y32A/d8bCpNE
Ail1fbS7VkMFKaYFKfyJW9CqyeM0ZsaHIJ+H0W3TcYgPjsZ2jRavVGo8tJlBoa5RJlBhNScckDtV
zVT2Bi2Kz5pSH/FTdj6J+2eRPuMmQnx4VRSZzHQuKeUn2OpKP9KmyP1RytUrQqTDwW7YjoQ96QKL
pAeL3MK6st93wuiqAtk43Sjnh0BM/2TWhGt7rL3ZLXvZcdB8l/ubHta6Ra8nw9ygU5qi1w6TuC+o
0EJok1w1qo6wMZuu8jIUH0MxDljyBpTSAuyS0YTmdi0RaQy72vruQDs9Z0htfi1L0/zMJ/fXKg5h
4Epg0Q5e61s2yvIDQC1Sq6OrjY/vyyDT95ZRlhU30NRaYrzkRWw6riZkpzpZVVAErkazzvpQY7n4
224rJfVbh5YD/p4BOgVZaiNs00am5YaKZLyZ3M2Po8ECaIcAsHXCQPHK0RqDQqUeJsqtmk39QlVe
upS4fB5EtL38lPKISmcWJTY29Mt5QN5pIq1jIbDfheCbK9k7szBTdxjAgbhRQCugbOYjXMbe8oMa
BX6yNE03FOMWywA019HOxyzdOKG1QCQfhHnReI9fWlpznxG+nr10iC5KdOTdtL3QSOmwGaFEBtZ4
E8QtbcD4ryLPEZJRfsY4TXJD9CzdINfS1MVCRz6oau7NMZBmCF5gUKj/LbPxV2kI80I5kFpIDqNh
BF/6KJQ8bHMCN22H/LGrknmpe1QHCfk2bPCV/39QErqXg8LQJ0QmMSkWeuUXA5Hw+0EsdHJxKI++
E3HBPYCRXAIvROLVHgIILDobeu+tH1WKIdR2n+QgPbpElr9lnZAvhhqLYuciprks61+zqEUdZOmA
D6JLpj7jdpufm94oPAS0dMUtx9y8JNHwTVKao77Bzm5FrAiwDbckONnNg0oApxTTFN5Eqva/QuSv
ZsarFZr7KqBdF+EwR3yoCsv6nzYVcn2PjmlyhA7emWQVegq18cWBdqNwofSagD9dhBiBmxPgzSg8
61J5RH7cGQU+yoIuIgApm7yyncuRTJdaf4JMwb0zjJHhWUllH+3O3XEoIyIe5CyGAastAyxjbE0E
7qBMxwqeuln4lEELPDgDO1sG1CPORNT4zaUn83LLKHZqqkMuSVe1ywuPRq2Dt7cyUzMS6ju7SlQv
Qlj+fQh87O0ZD69D8w/tBjzG+tJWjUjuYxSOb3EYoFdnSMEJeXbb78I5OoguO1NJSZbDjgIJ9q5r
7Emo9YNK8MY3F/WC9/VgKT9hyCUHo+zEMKoY/ESG+sPQfjmVcyziTuqC8FbamEqeFBGqv43UdJD8
GbPaPsNaqcZrGfLWOXhb7QSy/0fJos8FTmoNQMuKvi5tFahGO1Atc6K09uNprvyxkKLrm1Ni8mCb
4IK4LCCiVYgZlCbOALOhJV/FeJ7yfigAKobxGZMj9T98FhfC0lQD+7Wpp6d9it55YIVIGoYd9ipZ
ZN5NEFFpK8fFcOTSuTeJNF14TgFEhvm+bKK/gudQG04txU18SwWXu4VIkz+IwPDtWDpq9Oztx+VR
CmDPImNd12hsVWntTJ15CxdB+Eh5cbpI2vDv6yu1xVZjAw+amYwFZA3No9UHlU5tDCZZ243XUXVK
tLT+gGwU/uv1oJ3GpBU+vV6sSBPJPAXxYCDPOb0ZDcNvWNQREHVDg4fo/HJSo9jqEjkgMx/kXFwz
TSgXbUBSXYTNdLBb9iaV070I8ilcAJudKcWOnBQoqqZZ1N7ZYzJdxtSOD6ilu7MKGRkIGb0sJFxW
X0RBkQ4oNIKbXCmqH5WqdS7nfHYtuPBeJ3eZP6Aq5pUo0bj11OUfRKC/mcG0zCqUEBD3aLdt8JDx
NPVZKFcxfNqyPMcUQEBdloML8iU7mNW9U8E7ntgJKR709eq8R1hhV11TY+o+hniGdZPl1uNY/5ia
Q4TD7lBQvcHN8bbaZC/C0iLdgGh+g3mfnFSk0XxtjCFDx9qbsatIrIC05HBQPICgsqqfLApjmpMp
OUT7rv4IcMb6gjoJigmOGZkHj9NlhlZJ2QKnYDh66IhprG5YidNt6QW6LlLW9mdZljt3XnjYap1I
F7mo7F+vn/udaWQ8hvsDRNsce1nqklCVEc7pqjmPUCBW2weN59h7MFvBwe7YufJQkFmGWtDjG5Zu
r1cDxIWF90ibPPENcj0fmQSnQD0hzfk/9DS5oHJrfXz9G3eyFkgq3AjgYWCvrutfslFqFQqyZO5q
OZ9qtYqJb3L2pPWNjNBt0tCY6uSnIsuHt2ctFDJRcIW1slRqVudhzHOJU2Kgg9AOo2+EUeRjkJid
xvzQJHgv1LBH8UJcFBp5PaxCTWNOyHllWIvT4dWFa8XmeKpUZTwnhWlC4ddUce7M0rqpEsArvxxF
Z94LR+u+vnm2l9SQkiMF1e11VUlGHGaqhMdB0NWPkZQ2HrU3er1p8DtVsfSVsa/xxxGq2esD74R0
BjZhxyzi55utjD29NlUmr6YoV51H+OL6Y1sl8en1UXYODMVvIjpCT1wd9rLJ/7r4izAT3FFUb1Ua
M58UuRvOajgtghqHSqe7H/TXUKtYgGFob420H2/tWJm+o8yZb8ndUeVo53Qs9sQ6L7JFZPgPsfCv
DwLmGlXN8phOhyH/CXc3/KzC4blU5BxXPSniBBqhUdC3Nbvi8+uTuRPtXoy9Oh+qNvW1zNP2pqd5
cUKby6L9RPGU6KG4MXN7sEW2hPqFtE95huLMktqvEWulSJqpkVCWAv0ZRoAIwuyatKn9leIVVoBD
h6aV2wD58eUpCPlyJ9MejLCcH5EOzI9AIHt7adEtoDSPEDFqKS/3UqLPrD6+fDeufgT7LbqqjyZY
hsrVtaH79Pa5hucO0V0zAA39iR9/rTOFwFFzgDUgLlT9KOixnaMEdWWYjrGfKeObkULMNHIly71C
qN/0Lx1kjECnTlTDY6e6RbreeImlS34UmsZB7XFvB/MiJWvkgW1tPLbVSARDpGGpq9WgK4CLBtGH
QSoRTo86IC+DFdLCqGMzGH2QRunb9zDZx1J0JSxscx7wCNNooCl4k+PZBKojfssTejeGWnUfEivJ
Drbwzp5BlQVPF+5QYtD6SlEGzZ4y4Me3vu7b90hH6f+KcBDfq17qjiLq7lgLvZSCsrmFmNkG3aDO
RE2ntYzxoQhM46oARbt2BhzL13fn3lAQPkjIDRoAm5uyCGR6DwphNWr76N0sDfPZDPP+UyIJ9fL6
UDthlRyXyA2ZhYr5Op1Li8GUy4A+TTYayfsRYPAdgI//sE6kpcycCn1qZ50Cms7Clpeek4i+T00r
vBbAzmPfNdrBB6k7B4AGH9ctzxl4MeujLaEjlwRIPdwGe7YkwMuVVZ8wRted8wjEJva0Ok86D8IZ
OCu1sMxfQaGj8pvUmvyjnXFn5mlSTuA1DSX91OQjfyRqBxOHFKlvEPPNQv53a0wGnM6BRNjKcxtl
qw4BMUzsp6T3nMiRYh/LITZ8WObab0yth+QsGwEuBHFrg9x5fRV3NgyNlSX3hwm1tN1exk7QXB3w
eNgMaKmKE7Su6eSgOvkUNcP710fam11cI4EDIqfBQ2r5938FTslOg6ZG0xwRFhV5Y/CYF3s00wtG
DSVGbXnuaV04YsiHD97rI+9cj8CEWVT6+gsRcvWNndXWQa6WGIv1SX5KmA9XpOlwSdqwdfNC7g++
dOdkgHCl3a5zI20xJ/S6J5ybwEB3ph6eyjKYv4Gsdw7S8b2V+0MaXwr4O7AINYpmMIzxLZgh6SW9
OjxLA+pkqO8eZf57Q4F9xsQIBCnv/PXSUSc0wlCmoFCbpS/isD5DFMncFMb+wVoted/q4UZXcUHB
Q7biMl/m9u9dMsG8l9UAixY9kYaL2WrimyqhZOU5ZRCf8zHJP8A1rcL/cA4WLAGiYCRwm962GBRr
DhObcSOAgZCmxu95ML7rAks8v74bdyeTWwdYEhnEpo5AXxZArGHEN0sKE+TmQt1DclT3JqU8SrL3
Nv6yBallU7HYXHLt8Kf9McUIAE25Z0KY/ZkFmewZTjg9WIICyuuf9scZab16CPyTGEGqZrusThqG
YibYTmSArCEyvtF0UL8KkLMfZFCtX40qjz6NmcChJ7bqqEeOPVD/LcFOfLQh1sie3FnS5JHvYNRp
9aK4IkjQTa7dYJo34ILanrvE6n/2RmNXtD3FCNdpNETu12pp3OtzoR+56e10WKgd8CGIGvFf6/Ik
d0WvIxuT3IrO7ml0S/k/Fe/eX6WV1L2nz7pN/adWR3+mQ/RZG+xmPriU9mIJWkBL2Wmhj67PQ2PY
o1ULC3r/bJRfNRNkWZmG4wGWZu/UgXqit83KLTLQL08dJKG2NxZkh1RPBUDFuLmMcf7ZcUZxB1i4
9hw8k+9e3yx754Ci64ITp4O1eWjPvDybQAd80VvSLyhHymOVJtGdmrXdQcFk7xjYC6mYFIzi0/p9
MIcUKEi4QMfMsvTDlnTlp9ZkaYi42Vw+DE1xJDi2d9U5wHH+AA6hCa6mM3Iw7TCNxbY7qqsnjsTk
OTGGU5Vk665cDe0XrZGmU5axd1+f1O1CahSzYFsC+d8BRTUaRJWyJFK3zpCdsGEeAE3b48nGX9Yb
O0wtRW5EB7tn+7kMyjseTiRybhuA3izIYJIE404paIs7VdJ/DWaqe9kcqrgdZcZTE5SGr+J/eVAX
2kFLMDInc1GspmexPh32ZGh1POAropdV+o2Ga2a4QzzPUBHxFjjBS4b0nNQpCgStIw3EHcP5EjRN
+U5g7KS6DSms6jV9Fh2F3q1KD30v6AgLE0LbgWQhgq6qPAp5zxiJ9QUsRwGOCS31wDeUvviNy1hp
wC6QkqdmaotfeTiTEOmtqn1PAY3OLp3DPDu45LbBhN+EyA18H16VVNReHnOlHEsp60im5bxr77Qe
jVOzhpP4+h7cHmzKCqC30CjYU2i0ioTWd0m65QS5ceul1I68Kosl1e10Jz+yltnbfDzhQORRjFik
t15+U6fksd1JhOg0iqX7PDNk15Gz8cRjUr7ksjadu7DU73U0fg5Sld3v5DEFPhn10o2DDrQTmI8d
UCswKdABepDTteAakxSEl16f0r2PXES1oTyC7tvUW4TWJDlMSnK9MMqvEQSQ2CsCR9J9O5MKLOGm
wP4igqa6T2Z0Ww+2zTZ+0nohXUHab8HjrPPnMAnNRGcFb0KbGm/K4vSDFVqRO5dDctHVNDq486y9
KEZXleo2CimLPM/LNQXyNMWiXIyqey15jNV2KCECV0UL0aJGAx5vxrxmcWFWeHNpQ07N6Fj+tFKn
sU+W3Y3lFYrGVD+j8AZjZNZs2LPREA/vem1u7a99PEjtiZpZkj/OlloSFTtQNj7vO0O6q810DC7Y
D8ep2wST4viRjgfeeRROo53yHowreq5B0biUKjoNUkEvHgezT1oMowIT6S9VCe7ztIdqUNqz+ZVu
tB26ciSKhS5T6o9B1UWyBy62r2D2t+VzZsVIiw6jpJUnRJjy+FTP8CNcK6upmYXci9ha6Fm/gJA0
xMZ6Gn8SHx2XkG4A0eO71U3aiHiT2f8yQN2q/mCMFh3Ous845LE9WV7RzPjJqkZbw3NrpGLwZ7lp
YWWMfWq61Wz0qp81gWmf1S6OFDer5Hzk/EZ6dZMSLOHPHYr44o48TvucF5XcPebQPSpfjL38XqbD
H7tdYPaRP7eDoj2/fgR2NiHPAiQ8lzIAe2LZM389DMYKoxS14k5N8TVzc3ot3iQG/V3C7/7HDK3+
0+vj7exBnBCMpcTpqGgyrMBRuVLOrSTi5JaVnSp5uvOQI2uZuYEcav/0hdw8571dHdykeyFl0Sdd
VN3oVK83foeKBdczmIIpCTWf2hX+i+TAFzG07UGmsDvUYtBC0ETcaX2oWzryIjYzMAXOnJ+J0rWH
skxw3+CS/vpM7qwcCjI8QlBnWG6G5Vb6a+UMaPpzHvc0b5Gz0NyuNpNnXlrmpR3t9pch5CMU//IX
vnyFIDlCOZhCJqWcTWbZWnMPMErAdM6twnClIBR4V0rEi4OwvPdlcM8phC8kzo0ylmx2Jr0SHMRn
Oam9gZ6z3ymidSk79rxgpiPJtL01o/8Gl4UiN7nFKi6OgY5iuo1fkCbP1QXjKOGXad88dzRwT68v
2u5QyH7xdMQcg9LQy0ULuU17uYiSmyl3/X2IEPpNqbTmNE2m/h92Iq8AHjkaZFhlbRtRTEAps2Rk
FotCP0lNqrsijOpTpENZePtXLZUu+q/mUmJYfVVrmqMWVUhGT/mI4KA0jMkdgmlBwCMTSffXB9uJ
IHBu0dmjBvRHeuvlFMa6MiGtsdj7aXbqabNjdy6w5c5FhqK6tEhlv6OOcQT+2D5Z6RnCRNIAz/Jq
XcetKivRVpXJh/JRj3/RlhKnVFeE7dbGiIk43YuAfowJ1Qqaq2N+DqXOOUx+t6RcMFn8caSS6Vog
Uvny0y255t7h/rzBMrMoSRVCeic5A3qrVSSyBxRn7Pw5hLBco/APOt/Dy6f6nMtyTn4Ro0xzsBQ7
BxVU/OIUtRR4aWK//D2jkqu9GZdIhY8lkn/ITLp1UqquEdXpyWyDIz7GToNs8YaAVs4mo/YirybA
4WYCh0fKFKmJ6raTM96JbrbdpIosPzVEemdaZXXWwzk8pfOcUGzugtts44r6+ibciYXY11P8BKy/
EOFWP0TpDTnOba7NJMu6Oysw4g9Orgfn10fZ/V7KyDSPaJsjqbg6WDXtTuSfcUlJ7AVvYefOGfdq
HZt3tGCa3i6ullPB3+cd5NUG+ilhA5BHp8B+ef2X7MQtAFiU1eiA8FPW34toX1laaDXcxmkMfTQN
CSZGOntYiR9Vu3Y/GsgK00sXZOn5vtxVeRMHcQ7N7qYHQutduWxsA6arWv9Djlg9waBMPpdxZ9wZ
0fQwII/PU69Qr03UHGn974SapU3IZxOrAa6v97dqkpzMFV9tNBLc2ijr7+lude/NLu4uPMbrL1Qd
xqPIvTMsAgZwy7iO4HSuy2Nh21Kho6J6VYoRV8JytiPF05AyPdfQlQoPJjsaQk1lo+H4+jLvjAx/
jm7hUhvj71qhNCorbMy+TZ2rbrTWWa2K4uoM1niRdCi6CVo/OMwUR+JcO2cJyOzivbIwQzbVQA29
ESsqGDTGzOEMRiY7mT01jtc/bWcHY/lFS4bqBLXHNcsKgLpNnxD56AToqi+JJPRrXTs3UKjfHhuw
6qMMTSyiOLZOJ8J5joAqEhArUBfuqNXq+zZM1INRdhA16ALzNQsYkYHWL3R8WI0WZxWEXnEsG7yh
FdJzotj/x9l5NceJrGH4F1FFDrfABBQsyXJa3VByIucmNL/+PPjKmpnSlM/6cnfdA3T3l94wkDHN
Sab469ja5r0Kcn5jRLUd6rPp0CR3HY2d/N/TGj4dN5SHWASb9mTfIDAbO7EqkpuYYnHfoFrweS4c
y0+d9Zq+4IXn3ljHoJIJAFsisBX1f+W9ZL0lmDdQ3naNw2rtxaskzmna90Gv1i7INa8Tu7Zd4+ds
04YI6nyYHjzRGz/f31CXfwjZIgEJdsnZXNPtpnQauaFv0GiIcZRqsgDrWyPzaZTFMBgHbT+krQz0
TJdhlS26r8em/ev9X3G+rXkbKHX8YWyeO63JrrFa3K+VaFRbRJ75PQhFuTbKw1Z15QRdfGA2GjcE
EZgtp799821TmemUWEpUbG5lgZF0ueFnjYE1bAl64oisgC4OTaoque/Ek5XuKyvpbxBChtf4/mNf
CBKAHXleGqMQ/xBGfftbWM4rhGUlzM6GFNh209rPOWJvH6qknX7kipFh47SaH2XZy2hs0Lre4RBq
Gn69pmh0vf9rzpPDtz/m9MVoKsXzCmNEr9X6Y2o5KHrNmnTuurydg1JqLoJDUMg8N3ls0QX796uA
VAhgKycQEUXEjd6+jG5ojXFC/u4GWW8UGEwy/D/I6O84OJD6lUXrfZBTE+8R9NtU7hTvhneh1Fdu
gfOLfIOakw1BK3Q2w7W3PyM32YyJPSY3heWIY2XZUgnWMhvGK+ucp5383ZTxG26R0crpt2+E46XK
rMEmMRfIXE4OLtNqxv1q2amPKJry9P7nvXTGNlMRWsueSVQ+6VmkKKWtprdwu1WtEg5Luxz6dRp9
pEa8K7yLS0ttvDzAMzwe9f3bV1i7U1K7M3dKbimZnzDUCxN3RaWvRpzjSvZ+cS0wmSAFNxMX8+Rz
OblVV3VdJDciTwfIwIAirUFdwJZZ18ZtF5fa6AEuFSlDlG3n/HVn1wUAgiW1Eb0t1fQJMRnzc2XP
0wccv7xv73+sS5tww0M7G17Hph3/dqkhVrBgt3PYW+Y078w2VvZOUVZXMnP30jIbOwYoKckEPZG3
yxhVYjXxLOPIy8Yl2zuZqYp7CSk9eRSWNn7N+qLUgspZmT5PbSdeM5g7+QFFvboI0sZrrIAAITMw
fF7+qZLLkO+TiV6x3wmp/lx6QqffxkszIA7UZwXmL6I0Dz2ZxRpOq6RzOaR28jsz8771iUVY0aRG
tuRB05fOFIpBgeO4OlaWBjrNlt81RHtKA8taHvEoWmKfDlG5PHRxw3ZWEcUUwezpNTVj3jvOMXHV
zgymNLVrQmpp7NHcqDqk7Ua7DyexLN6Omr+YMGQAS3Sv6qv7OdeKpbrDy1egVo0s5k6aOV6LA0ZZ
x9KpK/AhTpvmx7WwjRe7xBHAj+sxiXfFMlXrwSlnZdhpokG2s1Xb0r0j3ZfHJEGw09+0Xz4YSgMm
Ws7K+KV3yyqOUqPvf1LeeulOUdviXu9Eh8rSXCGcAx1SjDsBhhzdpzhDHbJH0qDxB3VInimY0J9I
E4xn/UHH782va00iHjX09M0yxWxe6f1n+ZVAceEcgAbahqaqZtEBPcld4oxxsI7+TZSbc3lLXMfS
t0yAfKx0m9Mr5/t8ukEtvLnDEKqR3fC2H/PXoYv7vjGSus9uPDvJdswTFh/R8DWsVlXsUBgI66pE
S9BJry18XkWAnKEDsfXSLAiUJxfLqDej0TtuemOqRfElx37h66zNOWLsuisirIWJxaJN7CvPeyEK
Y8lm0aTZRNmh6rx9XtdI47ErTLq8aTM8uLyUI9LzD7Pprre5Z/5grKkc+mWiEd+M3ZWL+8LMlHYe
7WWIQcAK0AV5u7pnrZpZiTG7QUa09tDXmtoD5kz0pUYBB3Hozam5QR1SH3wESaoXcEbj42h4FJNo
thb+ovXGIUvH+fj+fXhhy9Gp2AZNLvHrDEDtVEm1Zr0KaqrBSpPQSf2Yj0u4MBS7srsvfXesDbl0
qQIIKycbLkN+TV/zPkWJKLOhlK5jUHrVL9VIGj8fPW/HzPjaZP7S43EFmxqMlA3edBIw01xW5exC
VIS5r++5QLQoRpTsLle0a6rfl5ZCTpQikup800x4+4ULAfyMBIttrTFutZj9hFOvTfhi1/Lw/ke7
kOFQDzNJ3uRLN/+Xt0vFs+cCTjEJYrmMDb8pveRuHptJMHbPxSGDGqZeOT0XlmQcuc0jN3NKGsZv
l0ywasF2z02wGmvTHUYD1ifmT8neSxFFK6xFuXJgLmyWbcjL8AJC1nlrq8mNmQ4GOtmZpxOix+W5
7svmBVy2Haxck741S/l/3EyAk3mzG1kKmunJzVQCB3fsxaN2zLox6CfdflBkTfG8DGWA+LIIlrb9
ZwdHvqJm06tGwwq5ePtkURsJQ3eyyekWq0EoMaEl6QQxB8L5Pz7hlo2Qo1KTAoN7+wm1ZGhQeluV
yMCZ2megkQZG3rjhpiN3aLJS2b2/Sy/kQDTFofRsSGL6wCfrxUVc5Y5YlKgv+vbFcesxcAvr2kbZ
/pa3Y6eNiUznnWkaXbHTY6dk05o7hatE5VDrh1mOddCstRsMTW/9+7FjQgg/x2ZTUtKfnHC5SG8s
PZYy9aS5nxUIH5Xhfcvzzt1h8HlN1enSkftruVNCaQ6G2WY+TO2eepmfppZ2kEYtQist9R3otGvt
+ktvEjAawdGi+e+c6owJIx2kEy9eJM119hGma27QLTWDcVLEFazupaU29jFk500M/7Q5JVtoHBrC
l9Egi+1ZmvZotgtvcYRN/v4u/DPIOtkg7JANgMZ897wPM/ScrcJJMYar9fpoIzU+AirI58hleH+/
qDF53Vz0XrHDyzr/2ZtjP/szrWeASqPkRJqGdNejqA3UvEuKZ/tZzbxVfEK31xQ7EzMZNUCfPu7C
qllV6xHnNP3g1oX1NTdFMwcW2JzbtKztZ6dZra+ooZK72/ZaGh9oyjnxnjDf/GxLo0JUc3LFfUwt
lHx3STylD+8De69sAVgWLLqWZqEDhl31ZyV2Pb81gcj7aP0L9/uwTkLdwWJNXjIcS6RfWrNqRm5f
q3MQZ+r0rdDzeTwghGN9oR9HkKJCQSrfSBGvMxUtKfzJGSTYA+nkvyta50yO3v8YF3JO2hD82epX
Asm2L/7KOVfbzu2sRdE51Qv7tpyLOJQaSuvbgIjig6JZASTyq4Tie+XsXthxNF1hDkGwR2rm9JoY
NBIoFTteTDGsZj/zX4RlOtDvkdby8f2HvNQI22AEpLgoabLeFtv+ekrRKgKcmaFECg5+R0ltC0VM
KST5NTtQKaXiE7zmoE9t88GsjVe0b7qn93/E+fPi6AI+nfGEyVDmdEhQYYc4WjWQxEq0XmAD4w3i
3lk/GaJYr4Tq83t+E+/ZhnyIK0OWOrkWq8qsncRmVD0zGDqS3SrHsujG3+8/0KVVXMSZXJa40GWx
VjA8bU36jrOjdtfI2YxQsdWvYb6081sXuSWUeQCf2BtA9iTREUuHFhE4K9B67vikAXF5LaZltQNk
5MopAGJNCx1lDPFANSs+4y6wHmQGLTZbNfsV8mr2I597D7Cymn6S2AgcZ7bz5/dfxh/0xttLjTYr
IydU+Ehuz/qbtGtK3a3n9AYB6+GmoVcjfXVMq9+T4iZHygqEBnWogXeyTibq3mr9VK3FvGtzxQmt
yVH3kzPaD1Nqr9H7P+3CxmNagzQH4xpmHNbJbkjHNVswh0FI3R2mAzaD/dGK8bipba0M/30pWANA
fnXqZYTK3p4zV3EZg5XIqghlVEO1HPFcqLt4VxrFVRm5C9sPODpMDMIIWM7TAX9NWgAijnw0gfT9
OtFCrfyGNmNxiI1xfrXRX2yDkeI18TsrHh+Av0yTD9pHvNq0NcSdSJC+WMxhMoGE0e0Jl9XTv7dA
vLBgdiHL+Miwrss+TVRBa09pusLvJmP4hIVj9tXtqzn1Dca8R6kveRnmSaxtrZdmefEswLihao3j
Y7thsUPDXhFVHxQNVdSqWtAp0xKrtSBPqcarYAZD+7dsrN6fiCG/l7lJXV8grG8zkJB5F+gYiMR0
o5vsuUtX7xp+58IO2SCVVNh0oxkJbf/+r+tRYeJVDCm6KpWbTYG+rPVOB7b9tBjNNejOttlOjsk2
hMcVgYkD1iAnm3H0SsuIPcq/tc5ftNFID6tiicCtjD7U3UF99GBDhFjSq35WC3llf57XMPABaTgw
7kOMhwHm2wfVQBy4Y0ljuDcKNax6T4TQkLsg8TzcheGFAGvsrknzXHpkgwx/s3BF+PD0UCSzUxUK
8uA3i5q7u575SyTsYcPSjXP8sY5jCSglruJD2jb0FbqxByL8/rm8dIdupKUtT2beQA/07YMjlTNL
L9ZjVK9Fwb7zyipiDBR7vyXODdoPj0bT6E8MPiIBajI74vBEUFwZoyu7vjb1x7nI3S/6Wlu/zbmZ
kVN0Jpr366xcQy5cel0MI4Du0xu60JfpTFBcTh9HFbY1HcgJ8GSIVGfkgC3NK9sXWaY7cHfWpT+2
dpKqn7VsMN0rr+zC9QKWmp0KXAZctXqSMtSZSmVU9KQnhieDWbfLR7MW7T9TMiiQ2I4wBjam6mlF
JorCGdBrVyLZZuocWoqXflwSFEGDRja9vkdfu/30/l64EE7Z/A7kJMg0512RpCTHLAYRR0aB9WfY
K619GKpJejtwOt6zy3D/8/srXrhegKuy/zf0DbSok803aDHQ8yGJo54LsSOp3gmDfsFSFtWV3tmf
fuzJ9UIuj6IYMqbbsOkkAFlFFxeZFEo0L7Zyb6Ze6fgUo6saZO2yfGfDrRgHgEUCgdzWlYyKXMu+
z/Ru6lCp2/4VjX6j82Hbeb9iG/1o31Rs7d4qZusRf5Bl9gety7Vg1dQF4ctKUYd9Pym1dSP1lq6Z
M9BB/6UN6LkEejIv5ABxm3i4GSz9x3HOMDTV5RIDeyv09rOVDTRVKZLSCjMVSsndNHUTEIR4FN8Z
tyCVpC+K+WnSVoZLfevVjwqT0sijn0XBIhTT+0hWot7iYKZpoTmZdnPP9b2IJyZVoKzdMa/WMNZK
cN+T2a1PJim3Eri1V0DDrWqlP2ZFjY69W3daGip6b+KxhrXiwYOOWj6R+gPo0RuJVkTveosV4BHg
iCAbdXXEArsdHzpV9BXdU4fhaVqqn0e4JM8jsk69r6TKdJ+VXZsgOsOVHKwL6Mam8txnw6CgArg9
OR8MsGBfXG1oXIAziE6HWeN05j5lagrOfc2XNazXden8qp8YduFwmfSB4L1M/prgyOR3dZy6oZva
LvdRFZdjiB1NPoawIdQSQZbVg2CyNCW8Ez1RVN8p2vo/mBL4MiGpmn95f7OfhxiMP6G4uzDdkE89
rdmnXlgusz8rUmkm74SiZ99K1Jn3ajWhKLlYyx57gmt514UCZ7MbZddTx8EpPo0xqaCYsazejiTq
YqgkmZ2JzpXZSIuZJAB/3zb65FfZGxie0Z10+SR62svyFsJSMVx5Befn/e2P2a7Wv9IJZIj4OIoD
u7+okrDGk3DX2J2+W9SrtnoX3jYYZ+ja9LUYMZ8SLR274mDNuhlp3JwB8H71ZrSatMLCcvX2Kwfl
Xhioi73/jS88ILhSkhgumW1gsl2xfz0gzDyRjdVkRBPX5iG21S5E2gBuxnxNaf7CShTmQAX4h6c8
lX/NhI1KeY6FzAh2O+yElX8UaqredqOVfnv/oc7iwh9VPYA61gZjIz6cPNSsZO2kJ17U6srHldd6
o83DJ2/I0BBcjeRaULi0nM5gjYDAE56NfbXabIAl5fic4lGzW1NhBiQTWuDlsRGY1XrNg/PsTW6T
ta0yIe8EEXkq8opTSGrF6gpGL3aqz/EkYvBVCj6nbb0q1+QnznKYbTEadkgiEI3OGq24BCZWiaxg
ZBVZFh9rcERWUNZ6tet0exiDVXb47U24cyTckmn5MIxrfUUs7tILJt/7w4K0CLwn33PVGUfgbepE
LmPr+0SaTnmYQJt25PZlfdtyhV7JLP5o+7yJvjw26YyBxj4V51lJZnJ7VwB7vCgtXHs4dtpQrqHB
DA1iMDSFCVAVniG1lllw4LyxNkJNTPHPoZ71SDgj5OXULZLPbZbO4BvaoRig1pfiWs/rLLXjZ9KA
YawLQpZe/8nxVdyV8KPgBtsBY/yko9r8y5mMf1Yg31ZB+hCqGNBPsu6358nTYavhs4Hpa90tL20l
bTBWkhl/gkLS5/fP7qUn2mhiQPpoP5wdpsbw5nhlnhGhdrLsyInH26zN9PD9VS4dIYROPPg2m8zQ
6REiu6sqihV2dT4XQYEXzoH+auvHHj3V95e6dIAo6sGFQFshkp7kcfY84LgIgD0atFpNfMeajG8t
cftpHKv4awkqIcXuKOlJXeMFBJ/N2EReqQAuHSCAeiiPbTR+HvrtB9QwtcIoS7qRBB+4eYLSNoAM
Nkw5jdxaUSMcSa8994UPSSuNU0tJYG6K32/XlIiak5rrdkRJ44Z1XXVHA9H/6P23+wdyeXJQqbDI
U7icuBBPx2pmr7lKrmL2lkCwaoewWYe535Ff5M8VggJil1PIuqE2dIPAOspGwhPPrbJ/RMEUCM2a
WU0X4ICiWC89xkiPY4wRig9EPEkCVVuF/OAhi5N+iJ20+SYaSyi364gwViA9J/k5mWZFjq3U6x65
XW8IVAt7MDNWMNka8a/A7GrQjDJq5yb+Imon/+mORfGMFbbhhij7SPeom/gEBXPfTS+qI8GYLOY8
/5iF2VxDt1/Y9JsAMtCPTdCBnsHbL6LOk+sUM8Zljtv3B01Nhn09Gcq+EUW9f/+znCUz9EMYzRHl
UTUkMJ4sVZcy7W0FJ25Jrh0ABvH8wUzzEFLIerD0ipIJGbHd+4ueNy63VelYMutkHn+GwqCFW7QW
sokREj3Knrq8phxgfvPcaJp2k5FKJkHNTO9+mTrrYR2K6l6hofEg7CKP7MmDQyJM3X7xkONNr9Rz
F46DxVtHrwYaP7/u5BogcFlr3tIL0BW7+REr1vokk6X7f9475QQcFZ2C+DR5zo3BEVnnepHSoFGX
IxDUBHGZmv2dA6FhjHJlaH50eYGg+Pvv/sItRyqyBQgKgo08/XZv9XrZt30+xRHAZEY9nvDCdfHi
QNp5vZvzRr0RS+nthJYsHzHq/WcULF+e9gPJJRvcPNtv+PLKAmV9j+TSGqNWeFmg5GV1LPuxRc1K
K+96rxp3wzjr+7a09CtTiktPDyCPeYxHSgYh8u3TS83OS63LyABdt/+yyTk8WEaj8uod1Pq0oQ47
rRx8Csg5WBz1Kjr6wv2OJSThbBOF4RdsJ/+vLJ7nlW5cl3Fkbuxd5PKG+jF3y1wLxbjqj8uqKzUV
Yt/9ytc5ZeMVzn+dlZq3IDpmDdHk1ViOgkHmSxybJCm1mSWPC+zo9so2uXQFeXDON17/H1Ggtz9U
9gUu1xOpa5313cui5w5ggVxSh89GMl8J8heOHFg3yO1MHbca9uTIOcmyKH1CGaCDamVSKqzf9qKO
/72/8y+8e+onAALAdGnWnL77OtVKVVEaAlCx2keUt7TPqRRir8amogai+2f6F8Re5mEbogPF3bPs
vzBE38596kVzUceHASHxfOdUY19dqQzP5S5YCIypoQPeYjTxx6bzr0216khxxDmJS60JXDNKTdou
PYjReMFTS2mevVhO3wfdRByXQCBe9TIzcXDxTHrPTp21N7nTZtO/b6A3P0p/u4Hw9XRwuuxczDJ7
uUcrPn7SMQzedWq8XknczjsR2wsArUAkAw1FcvF2rc6onb5pVTdazHg8zCm4pwxyru80XnusuG0C
iBaGz5HJcCZdaFKNdVlc2cQXTgwXm0mXf+uKENje/og279ZCaQcyfMLtvWkr8NH6Jr5Btfeam9+l
pTa2GRNKdIjP0vx6XHtpVeysxhTJ70FM4w6rcvHFsZtP75+ZCyeTjQtWfyOQc2OfpAeaRSctAzsX
DdZg7qo4aT6uQ+pc0ZK5cDJZYwNEgl0+bw+vLoNLqyfrRYpq/aKmIj/O+DU9ZrzqJCi80f7+/mNd
CAMbBWnj+RMKaUm//VYir4STqLUbNQMwZd+Zu+ylXJx8+ZZqFZArs/HS17Uvx49LCUU3mNBQvXZA
Lu3ajRSLow9CAOjynfwIRJudoatnJ0L5c35hNhcfesyJB9+djDr3Y0qA1IfMV68MJPr+FozAeiNd
rE6unJ8zPAaFxtZaIh5vU6rT61euMdpXo2pFXkr7Mxldw9esudjlGirHVVuKJzmuSmAhJXQlHP+J
tydFAWwJzuymb4JC4MmhcbDcceaksyPXaZ11Zy6Due/wSHV9fdKN6Q6Ry7b3DcQgjo1nxJ9S4cSf
cs9ZP8ihiK8d4QvJMF41GyKZS2QjN77dFjElVlqWsRXpVT9gdMT38WeID6GNLMpea/t251b9+vr+
ZrxwxpBIdFASBBh8TpDmQgck31V2VI32S7d29S1chPRKZ+bClYGiNJhnONFYDp3OQCkrSwjePJrI
sLiv1KVDN1yO8jt+dXa3e/+JLi4GSIPpCwBvjFZO3mOebA7bkn50XjVRjXTLzWYQG3rDbP57tk4H
GpwmI+1t3nPyyXq1suPSXqyILg7ojKoVe6laxZUTcnGfkrTCJicsIlJ4kjUvamXMscytaDWXrti5
al2h/FOV+ce403IRdKuW341ZkxcBjpDph7EF2uTXy4wjcq1WKDL/+xuG7r35jTI9Pxtpe04zDKUs
2Kl6k95ONJYaf4Z3V4Tq5JrjldB2aYfCXgFeAeDtvLVIr9JcVnewI4XxXiCYJQX4AJdXSqJLuwbS
LYBbiMWE0pNPaeIyNNUNqzDGh6xnWHNQmJ3cg74Z/4/XB0GdeLbhopC6fLtBkTJsrbZmKfgAhV96
8xJ5+eKFcdJrV5a69O7Ymtygf0DTp1lnmvXK2kIQjVRHqW4m1gPpuFyzbLsQTNBb2Zp/zAdwaDxt
GXi0Slz44By5rPJ+Cqy04yBehZj91ZZIHWtAU3+SI9loHFVriVl3UxehYc40td7fmufBnF+ygfs2
GVmy7ZN3OyRMzN1MsyIHENX9VBQTyEphJxMm0U51p0uhX6sfLi25wZ+2k7D1l052jg1iNUtIESMd
ptoR3tKmCAPlap9gAXazGOO1bu75VqU9ACydj/rHluEkdNNEnyrDzZwIAsEU5lWf7OknWbu6B1H4
/uu8uBQNCYTjtubx6XTZWFQDhKRlR6ViV7CmVTzbkCzdd0OuXqGIbq/pbTDmqZj5kE075LCnQhJk
YAyaMVSLjLZ3dmq8THspplctW8xdkTu0RFM3Rjqrw6BB5tdBdxsd7mx96r+N32/boLnfnko1N5QU
+I8TLTgTgYFI+mccs7RbdYrxAu60+bAafTP6Bc5LmW/U6fwB2ZprWIVLL5y7jm4YkJXzMnGCKpdb
ZuJE6qBVex1yRWAasjxqOvP697/thT7YBi7k6xJbNo7q9lv+rtwaEMZwvu0I0DUCqgiA6T/KPJUU
La7yqQTBcFCsynvu+8WOlqXG7n6Epnm3lup827tGdxizKf/ojMXy+/2fZjr6+ddgeyMgg5wgwsOn
59jMXR4dzGcUF4k3vZJ+tebTbJWaEhiK4XR7c7VRMHMQLdPvYPUIkNJSkdLfFNa0/ZJi4Nn6tdUh
15UVoAHtp7ZV6qG9swrTKh7J+Ids11X89f7UL03mT07R/QbL5ja/ZG2LZN9pIFjvhFrn+l3nMd39
ZGVUBP6Isbt7ozdTAlxIqs36X1p6Qx3Yg4lunGJ5Ejsd20jyV0A/3RxOhhyNg+IYlXYUriaMwGtj
2wzQ9x7j3w42WxWIgwUxtoBJdpLfD9PcI1EKPX0JJzTjCUdmM76WdpoXexD5YLjSCmG6IFHQFwlq
d6xESH7LTGJAXlc+pLk+0bhXvKH0hz7vbkaZzbGfwUlYfGT8EbBDDkl/dLOGCUo/dIjPFIXUqkA3
soHcE3i0C9Jomb73VjPZQaanYxqq3cj/2Wdx+oh0XjfeFFmnxcck7lR9h4sduO0h8ebhSzEalW6H
Ds1x53Wdey3Z1+bgxLvWANi9W9xMYg0BhnYtvwLPcNu7Jc+0+nbOLdns+5KS4PvcVIsaAG+3p6Be
dLPZZfWIQFSD7Gf/pJatUqIzusqXvrNqM4TpUT4LVOiV7/h2Nx+SpjDUEFZ9bc3RsA5aK/zRTlTz
vpR41QSdaSx3GzcKNMUkrO/OqFvxo2YPdLtRuOu+WnY3FSHywoDHNJGCwoJZras+Smmo/qI7ok4Y
XsX6F2j96S/NGD0yLn1Z7qoOsubBbtk+HyHgVq+MOJzOp1tfpD7yMNo3GevK8ABZa9H8XsOl+445
j/HBmux1Ri3KzH+OyJe2X9KkLOWBfvN8h25UUz2uhIR0lyWWnvv5VMjBF5a93GCSM8X7eW2mL0jB
6F4odWX+qMWWdauqhfLFk/xBs1hKYnDmVMEo0/i/hrLO8tU+LqZwFnJFEcHTasfzx8xJ1wCaSfNa
MctNAtNsjceeJsd0ayO/h6Ch5Bl9oxoNGbRGh/VWyv3y2Zlr8SoGd9RDr8qZXKjgdcbbIu4r41Ao
mTEes2msf0G1auewxiz8e+WNRecXntUbfks5ul+Fnb1myIa8VA4+tr6tlkhoJcrsfc6GVNWYexXa
6CfTuDwprUIumOdtNviexXDOHzs70/YmwE5vj8whni8KZXi4xDEz1nRyNGq8rKojgUe5PBZG1cb8
SDO7z3F8/SlmV+tCTWuXz2Mi7TTEocd9tNGPq6fQ7hfDeVq0uDIDI4tHa890HbpCb7apoDobNfWr
MSCsF5WlnTS3PYyIWAl6WzgyNKBNA+xLLZBWdbvhEXvTob6eh9SLkcSYLTK/0TCUj47ZVs4t/Tbx
uRLM+V5dWZQYeg5jnN5rfa7ZX5ZcFkeSVeD0WZMOIHW7cpnF7VIkRvzg6FnW3+dW6zQBCpPeLZNy
ke8SxZP3racu36d8pQcGcQDTgVzrzKc2LYT6uCLT5HEVog3DTVqaPzRGIEUAX9Vbbgx3MKcDg8jh
bqERYPslTlqJ36D7gookUG7xmOULSMp46nBEXCGJ+LGhTSDP+rz+OuPVCOHBHNcZejm9ucexHcoP
Crru8XGK22LajXSUEjZdJS3k37LmY9vUGrhjyRvrrLV7Hrqimb9o6RiXu4Tr5WEdRe5Ad1HUF7t1
uwcEdYWJvOWganC7GwGrlbaU9FG3Xh3fFcJ5dBBGM+H7oEx2p7WobDzB4BPf1l7hfBiJ29/3Nnt7
nxIPAIv2hRuoNjydADXwTga2gftWWCNrKL9if1XIfWIAZ7ttVi3DByZZsuZrqgxCO5gw1J/TUdbO
nm/reh8I9nIMcDubHtq4SZYATOA837fSAYqGKowjQiPr1wKpCBQA/TKTQ+WbnZqWgdOUU7cvC91O
9m1NOk2I08ZyZ+gI4pOQaM3eqnA3C7JkAv01Fbr1YzQXofn1qJcIwFPF+TTy2LwS2zDfkWXzcQH5
8l1TxuyX4/TGY1mhHQOdsc5/ZkM//1QLx87DdkoGx59hFqjhPErzmU55DjJVW1VIMuy/rwTkoQq9
sZH/eVoXP0/2Mtw2Sy1/L669MDUu5fh5ou7mnqgXIXzcD7uvs76WmOaWytrvy0qrPzvG0P7Xxlr2
TC85xfCmKNsdypcahhjZ5L5YBT1jDG7rrAhrpHt+2y5zgZtYTacm0sa6ScN5StWHxlWKLkLfOfuw
ju5sBwWI8tgXEz5zAYJS6WeEt1uHooRdHeSqU7WRAP6Zh8y9bXknGtv6mgIJijGHGB3VR8R7+T27
TGxQ0sI4yoVMeN8jgGz6Vm+hMlzaVnJnlnVb+LBaUnTapejDeBq4z6zCWWkFCzHwyYAHPlXMW5hy
imRZA6XOsx9rG6/mjqICLyFTmMPLlDRa+3VZ3OoLs8VZgYrUIMpTWyk3Lc5KihONsk0jF6eJhnvD
8F7mSbY/TFxszB1XUaX+J6els/ZxH2t4NaRSNXeia+sPulP1/xmo7xHkZ13cj0qvf6OfINbAMoZx
8Y2J+sVvdP6+Q9vIzA67YQH24otybd0bB660ATdsmHq/6MsMWQhk3xA1t5v6aV6TxaL1XZVjEA9q
HJFKOt9sir0ioMUWf3JrhGwDV3ZD/0gKqRNfyqyFtevlXhNKRVl/1M6kWn4zYrIS9kAUqB0dWxo3
i9DdPISrL7XdopSLetAnqz8OmnCsUGnyKb0rdWf92E9NZx7wkGSPA3tavvQleMpgFLozBqnrFSVf
pKPgLnqguUCRLMzyyBfaDxi5rfJooR5KzZ/E62eRpDylB672Y9VksxaY9ox24iKNSknh5Mar/bMW
Q9d/fT/tPW+FgjXZ+mPIfG76rCfF6zRxGsy00KLKqcyoUPJxDoVaAGY0JCWQn6hxcjsgCX2Xj47W
XSnALpQeyEQhkEWWCULttIiHLa6WRDQt8kpvS9KS7BE2cOW3dn5Nm+TCUoAX6fWikM407LTW40Ku
SkVwFyNcPYcJeVTgxPFwlKL9Z8UfHghBfJo6pkZ3+bSCbQw1adK5s6J6MKxdjLb6Ppmr5On9L3eh
B7AJqtG41elSnU12G1GN6tjMVgSGWFl9iDDtl4U76dmI535vIx384/0FL71BgK2UbxDFIVSfVKuT
2TfVXHoAMskrd9ok9Lu5dlDyKotruqIXduUm6A6fA+sCXKxO+qnLBFEQ20GTq6fRut2KpvQubmVc
H0WsDAfU+Fx8jsRcExtbLb3mxHH+arfxxP84O5PlupFsy/5KWMyRhb4pe5kD4LZsLimSIilNYBRF
oXUADkf/9bWgzPcqSMrEihpEmikpEbeBO46fs/fa6x1JZwB2w5t3KgqVVUldIwjtEnvn6Vl8bpZo
a+1g0DfA9OYPerocf39x9iQEmW4gJBREc2+WoaDMXwbfNEEMptpTA+AwJruBVxG6S2uVUdv2ehF1
1TAMkSt8fQkLpdSFjC0dXVZFCuB2TrDdkmJCODSvO/efTEUGUpgz48hDO9EHuWl1nqk8KqyaKCKp
B0+z1S7w2VZE1ab0ioRAW9vsHuxk0KaHsZJmETV25TwOemGzUWlZgbB5aVzAzTFFmw5VPCeBXeCo
WdquoW4agMpwGGgybVuYQRef8Vvi5byx152eyt5oN2nDZKYAgjv6VzG6k/lGSc/PttogGn8/yTK9
bht9tr+2hjVZBFmZcNIpKI0kamj4QYRJecAlm7IJNBHqGNTivZu0I4ej2FA3QaDqlS+9pmWdcmH0
0wGphQngI6smxixSaG6k613cb+zMAqjp57pm7GkjT8Vm0BLH3WXBZFQbiqCqB9TiyvogJ4+SOzHN
vDkNrgHIAzeDzD97cOa00Iexmp3jW5bN1mvsBugQMeFEc1nYPz7bHOGvlgmNfZS7ndVHTZ8vS5RY
EORDV6FvoOcz69eT8IfyEjm3c7s4QV5HaYBrdTukiSG2RpDUxH0DfkdUznDAPjRDvTxN02Lcx5B9
eBSLpkkuNMNTVch8i2ePLWoBVyUTWbtHxyev+2CVbkEkEQF1kjmtfxES49YkCgePJ83uNJxjbfGZ
AiaNtu2GNusiD2QUvYreyVVUNYH6pFm+4MnAc6zbaZ3kM4iKerbuqsYt+yQUgTt2YVf0pTyJOJPt
j3xpqwdXz1yOD449++eZ4ScXYESJjeQsVfQRyp34TLYFMa9BpfkQKPWyVhdiNJVzmDWXgwtWbXEf
VKV0sXGYDusAEcDDMPbuWdNMZrBXs5FjrhbJfNaVTluHTebEw34UubFsOtcvH/sM1x8gwsFOw3Iq
rNveaYIvHHPy2ymQ5nnCIFKL+tQR5UXjo5IN27rSggMO+f6ytGfslmOxePkBXL6KI1UwKNh1ZU7h
IBAj1xsyN/smZKnq8Jak6Z+KFKYRouQKlpiSSdVE7iDqJ9smLY8lWAbPdiLSkXWzNPaWYktnHpkk
2FPgEhhLZGKEcaAm1sNNr1d2caGXIBrwMc7xgy3EIqDw+9kjNaJXRm7pLHcBbfEfwyL1ZSuTcror
lqnp9xp28w4subX+znzKil3RDu5NsnSrY0P3OhpBlVOdmqGUNYNPx/rOEWDRLucx6G/HCrJrOGBx
1reln8kCG8/sefvY7zPaPYJoil2NVuNFK91mxuGCUDAcLGEJQgWc+QbknayilB6jGVrEGIhj0FTt
PlMiCKIOIncd6XOQ6BElvKjOpwyhGtwtPePL6juMx0vQW3WYala8zYomDkJdc2Wx40RncbojTZov
VXN21pj2TDeMeDrvzaHPIwYPk8AR3DDS9upuvBuy1mfEGZjqLm9rz9wgK3DdyHA4fTF5KkluJjTq
MVGJbe4dmUybOB8a8GNMcdKoS5R+LFprGraibbU+KmbUTcfJTEgjMIY4v+bM7X4VZp+2Hzwi3k9V
gPrhradTjZSLp8Trxmlp4DIHzGIdl7WFwihYbcwhCT7qz66/5nVHmssg2OKhR+/9HQrG8CoOJTK3
jyhj+zwcHaWugiqvWtbzWL0wVa+uZlU5+yIFLhoGbt64q4fUBJ1o5V9+X3C8rwIQzwIz1UH+UZq+
fc/+QsC0Rw/kSMRRfRHEnE810+zP6Pt5n2jx5XAUgz70bVHsf3/lXxUASOZ+Kk5+MZnrSqlMTynr
qFrT/zT1k8EZYxY7u/er02jE2gczs1++0zUDGpkWFNG3pZWdQjccG2kd11IvrIOu3vjSynZlXH+N
A+E+ckQS9CrbYff7N/q+pgOdTkG3Cs2x2rwtwLV8wJRouebRLZMFBJbTbyaz8Olq6fMHl3pf4nAp
2lcA0PBtEFf4+g6mtVHkuZNYR+QOy6YUKrns2MyugHPnu8Ji5Dm4nhv9/v39YtmsUZNUq/T1keyv
H/xf5g2DO6u6X3L92NlSHoM+fnZm/aP4gl/cLdhQ+PiIYSR96e0ctxnSOgOwrx8no3Nl5Pej+EbM
bncJ6z2QW+VnzgeO1l98bdwtWHf4Dw3RW01r5vYA0BNrOc4FO6jupBkYpSrb9ZovPlCsvJ+RrcHN
KDUC6mCavW++NqIXzaF2euNINsiyXVrX/LaixfZ42uyzFiJDxPmuBT7Qc8oHn/rBjvSLzxZMlAv9
AuoD+oo3l8/SovRKxjXHAQrcth2Q8BZuHlOWLnnUj/b/x4JAl7KW4T+BG2/1OaJgEiY6fTkOZqtH
zVLUYCCz4eg4Q/mBCOw9HA/xADfnKr3hA2Zbf31zto47Vk7v6kcR16xsXfPU04qvl6Expu1zUJKV
AxjLqpowzwMtjzjyTR1O0dY49Z0ssDp6+kBM8hRUf/twyUvjVAk4cB2xv/0YbNkpt6f2Ak2aOTet
Zc3fjGHKi83oN/ZzY9A4+WCl/mJ7YKdHFwX4jISTt5NBWeLyc70CUwZqi+Ogq2kzLxaBjE7Tn63h
h1GPbfX3u8P7ZURnczWRrec8B1Le6y+gDqrJcJbFOjpx3W2NsWKmNDJmCIAC/v1LcSWUxXRbSDJ+
u8Ojo3SzuOSJYlROzHRt7Ms9tBh33hY9oIAPPsz32x5bHtY3TutsTPjSXr8xuOoEwWm+eVwG9PT0
Dt3LpbOdD7aG918ZKjY0qHjQEFohZnt9lZxQTlnKRAdrpGeXrUONm5nCvXBm7MSDrjfRbJXG0++/
s1+9NQx/aAgJ7YI1++aicCRjz850/UhAoDhXtiyOddB/BI371VtjdaJRpMOyCrtevzUfG41pkxp5
xETkX5nIHBiydeq6KBL7TspAj8M5Ran6QR3wq8uyySHQ4Q7xiPR4fdmOrSdbsl4/Glajf9KyHGBN
6WS7gSGYHRkF9gSqg3yQH1z3F2oaTCl8oCwG4GTcNK8vzI1k2gM+piPta2+1wLRMZsvWXx4g6qOp
kWPrxBtFCbprsgksmNEJsSkq5X0U5/J+TfJKMOcwn1+z6N8+b7QO/4khJBXovBS7mIb20dSVszWk
+khD9ItLASqhS7dWBu8fbZXXdZlYxzO2bE5x5nenwuggllSauf27N+3PR4qLAovwQB4trz9e7Gaq
VgSZHE3mAnKjxQ7zMKcWxgcr8v3iwHS7RsiuohY2mze3rTmlZSYIdjk6U15foPWvNvNg6h/sZb+o
VikGMEJiakPB+vbd0MusNKex9aM78SDATYO9ZjfNeW7u/Fw2Q+R0ff5tpoPGKFlVxUeL86ec8s0p
hWidtTtosg+8u0cwZ9h94s4GVR1tyFCBS8a9UlSc+Zk8lg0n2nnUQyTp5g0AC8bk+ETtZxhxwWPg
NtazXkzjY0wsOtE8zFpPvaRlH03pihMfmV5+LazRHJ5Mo6ef1DK+D/UeGe3RAnBwZXEgeipS3/nS
mFkqNwStayrylNd/bZ18ObdU0Wmw6/B4bJqZjs0Hi/UXJRGi3fWBtYKM38XfOLlfqwKx39Ei2IBe
2wScXEuY+3LUjvCZ9Yff37xvlwmWMH8dEOh86av8a/35X2poJSyz8l3Mef2QtgzOmNTbWtlEmkib
4weXenutn/5apMEICFGps+m8vhZAMeHTlJzYh3ImfoqG3qnUvMk8LQVC+ihop+4c4gJhBVqSpV94
5Gp16AyBfUW14l9MC5qXEC8ZdL2OEbgZ5WPd1o+5Hc/eSSIJjlq0yU9TTDj899Ypgwt97JQ+hb5M
XZfG0egANBwco9gAsnDSK5VODlPztunraFoztqKkdOMEu7mnf1nmYCHNEIpot5tKHVKq2ch22mjK
LVWkre6rkLwxLNb60srk0E/69OBoZopqVri8wU74frJJ87GprsdxVDtn6ob5ZMeCRoYC9Roc7DHI
rGtpJjmP12QoYJ5QpDZHWnxZsq/pj7gHdDoz6X0+bd/Pv/9G3j6R+EJ4LhjMZkirfW+XBLFSaqyL
/pj5jQ8AAtra3orjvjwfmL4PB7qO5mNQp1PykTP43TOJS6/K9NXqTsWEWOz1vUB4imlrmjscLb9N
ishPG1KV0rFOvup14Q1RSoKIduZ2EKaPRqcZ96xWCOeiXFDL/+1PgcKNpaYz2kHaui7JvywBr89R
xdN9PyoVD5sapEKYG7n7HNgoGtxGNJHtqeSDzfznG/zrNscHwHgHpRyaObTeb5W0BAfQ+Gvq/jii
kxs4orvBlSHoywF9G4Gc5fZENzid41q/FFOCkUImsnM3Wt4oNDtGkn+ECXy/PPFv8HxhvkVRxP++
/hzSKssz6JXz0a7q4Crptfzo66O1WaQqPtjl3j7KPFxN8Jq4ATgRmO/0vSUuUg6/48IIqM8PdifK
swb53f73X+yvrgI/Bpk7vC5w4G/6A6IIllgzB/24lL3YpEuB+7gtP/Kb/OJWtuhj/czm4cN7J9p3
gD6NfsGWnRGIvpLGdTiBvtp6sjc2ZrFG1WO3qTN5HmjSPRlVNX6wib9fx7wCemh0D+FlMPF9/c3V
o0K3Y8/6sR/L+IDiLjtIDLm7zIu9Y2G1c1S7yfJBofDuhLt+ifRdWMHQTzlOvql7rAHgXTkCWyTW
En2OGXvE1Gp4nNNdX036cWgKaTOzoN1rmLMCzWfr8hy9XdpB/WM2k3qJ5qGThJvywWt7Z8//+dog
LWBy4Fnz7rFWJgHsjrRbjqVRmud1PrrrMMmX37yF1BpELYOYoMUxuNmodWiBJihYqqM+tHYaIblO
qghVKIiouRmrLMTbJMxD21FtRFpHdGboAv1qI6vjnBLF6eg+WJZyp7BtQNFselOqa5dD9hTpiDi+
kDGsGjjbcmCAQmf/aWT1X00izdswXsuZsO2kqEI90ccfxFpk9EI7L89Cp2NcEJbo7K9tqPZf9L5r
PgqyelvwrR8VvgEIMnxN7+GgttvEWdCp5dg6RnzSncq7EHlCqoa9FMH3ClXeDzKN+3bn1a179/sV
+otdkDY0PRnwALRi39XOOMpMxfpZjoh3s3rrzabzo0hgVYR2IbxpFVvFVzLv8zJSbI7VZi0iHspu
IsvBsDu65b9/QevZ+fWubJkQK+jVrgURZ7XXK4l0JYh1stOPbNijxpBlzgfwWOSzGRYg6bBLC2ZD
BoovsZltK6Oi1DXrg1PwLzZiePQU4Gxe9OnfPhomW6uSeG7HY1O3OZIGfd7qWhHfUgg2H2yRv9g5
IIBSj9Hcp1h+a/O0VRxT7C/TcWFGcyW7glGzkE00Jo1+VrHzb0SRl//+kP/X8/S/k5f6+t+fp/rX
f/Hn57qZ24yV9uaP/7oaXtqub1/+uHxq1B9sCN+fuqyu/mv9Jf/zj17/in9dZs9Iaeof3du/9eof
caX/vJLNU/f06g/bqsu6+VP/0s43L6ovu58X4DWvf/P/9Yd/vPz8LXdz8/LPP5/rvurW35bw4v/8
z4+O3//5J62uv9x56+//zw9PT4J/d/3UPiX90/zun7w8qe6ff2qO/Q90BLitscXSIeW/P/8YX37+
yDX/sdp8iJwArI/DzjT//KOq2y7lnxnBPzg42fRr0Mf+/OGff9AD//kz0/vHz1ELv3T17BPT9+d/
v/1XX9n//Qr/qHpxXTPgUf/88809aq8dGlatBWMFFQxSldcLZS5q3xzdpNhaSXlbGWYfuowEoyZO
/qZl5D9Xcte5GEUBfrXXV7KJFDc0Oy+2hTfPp6bXneuR88K2ntTfrIB+XgqXH1shn6BjuW8Sjhi9
o+7qeFOoqq/TUkFzMJwb2cYfNIffHPL+fR2LFAEeUORZvyXcMSeSyBiCnBQgkxQGNeUOWu/UOG/8
zgmdPCke/nJz/efb++u39WaZ//uC0OLh2tE7gK33+jNEV0AnJM8QLZA4cRXU/lewfe0ls3h7V6SB
FtLe+yhYk837TQGGi3Fl768EbZhKPBvf3CSxUBLPgJVugad419owly8VQh/GvFV6ANHu3w5TM57m
Yva2VqeaA9KBEhg2TMPY650NKu5y4zSFeAig+exydCBniIPda6S2ROuI1rlI5749BrrWHIzE9W7z
AeVKbUw8srEUxhHURFwmom66c6bf/pk71cUXNCegAkzQlgg68ehFSBM6rIYgZMMZasdjvAxdBODW
+zLosdinltbZoRqVduUPtv8cw1j4avPVZaG3gE8UbQGLDKTdDO5EdE8obL+TE5WDevROg/Ly88wM
hkg2RWBsFgv1NAcDL5wyx4iksKZz/NDlwTdKNyy6THtAs+efHE+OW0MM3c5FXZpFk/Km+8pz1D5j
x70qRt8EpeQy2YbBe6AMedJraR5iOaIrkoNK7lFSGk9tXxi3TYd+IdSnAhGzmOdnOMZ1GeqjXxIg
Bz5fs2MflqQYho3mwsULg6zhAy7NvL9ycp0ccldO5bcOjGAUMwW7SEuUfJFCC7EphNY+DqUqbgy7
HO88BEBHH2/pxtQWF3dHZX5zF4QXeaZXNHOSjANFnGkXzNWJ6ciQaLaj3z/T8dHCOI2NO81qelQ3
NQHD0dyJ/MKt2+IwCDAjbebrW3ORySZuA0WSA1VUXrbJNTPd+GhQrw2hwf956AWqnygXJdBNCI67
IsttN4wJ7oqy0hzOmkF1t7NwJC4MUY3IylPhEQrnpF+SlaEeLn5ck8lSQtxMi2lnLbp1RkOzejIT
hZem7nLzeYiNHvuWUP1hjH1k82nXomQ3W/9ggBzMQ8Sp87bvE7iioh72ep1dZcpbFP7a/nvHFkCy
dkBIl+6SCxNaVmvcdHrXvvS6rs7zmJxTV+fDXYhw2WVqkVSmBbbYsJKjihpzJWaXnXyURMeCEVqD
Kc0h3faBRjI06YjMYYeqQphKAJY1DyOQEMO578ahvjYbXNJpQi4bWWjxg98xb8MR5j5qttDJMkqL
e0cfFspiWX6dNd/bytpr9vniv3ScX3ZdlXmPBvjBjeN2810WiOSmGhz3wh3s4DMIO0QzievvVaIn
Z0GXVpc6q2+K5tjQP1sL0ureauKTYWQ+EeJLNd2m1MEbFPnx94xy4oqBJwKA2SvOg2wqPmmOUo++
1XjdJxslWrnVeBnqWUsxS2zNGXcIWRZYp3ZjRWDEZi3yu4EmfhvXN22hcJYlgynlwZ/cSXwadBMX
vOw1qX+vgnIsd9Yw9PGeesev9rHjU9bRH63ry1RXMbYOFeSfiwLNfZjMpf5dDcwkMGaPybxNMoNR
iPTrIrlkG+bzRrqMzj+eO/vrIjW3Y+a+eN6uKkTf0RxGa3dGXoSHOizxr/VOHLxcN5x9adpJF7ZB
Y4+bJZi1/FDhxRFPvjf3d9lQ2/SsgqXwtg6nsUvfXxBMlLMtxrPUGeP6rArm4aFikjDsGXxMT2LA
nx9KWzkykqaanns915Y9jivrHp9Y4J3B3el+iEbNt8YsUusuL34y7YWL9sUT5pIeW00r7A3i4WY6
T3PL6DZUBOUNcBsfJXn8OSNieK83dhG6tq2houguHL3FL0R3OGwxaG36ro13w4Dppw3IIJb1eJb4
6U7G6HeMao7vLUQ7PYfm/Iedzks0NGkZzgCAyojbaeIvNmgmbK0mBsqxztoKy2bRB/q51rvsF3we
R0CpL7njDRfS1prrrsmMCGy+QyqgYx5qbZwROw+3BbdX3ekUtkZx0Lne3oCQQT0f3KleXbWue4gr
4Tdcy9d3Qqo9aW1nJq5f6G04bqvYNq5Me77vV+7/ku55Am192Z573XjuptpRNN55OZX34ygfYbtl
6BXnZ0caTxYDnbyzaT0MF4bbfPZxGXzmObSXs3vQ3aQ8ui3nmFKiwupHEPyxOSboxPpjXdX7BX0k
2onlvphZNmGcJBvQEk9l1l7URXHJU3LfBe0PVRv72rKvsFZtRNnc1rL8VNHLDjnl7EeXmDUv7b/2
7A2hSJEXATo4esOShUx57NNQxT9Se7zL2u7KM7hJGDk3Zn9qPLPd4n16gKfeRIB36nDuYgTPSn3y
G+6jYTl4nOnTUu7jWQ4Q/tLnSQ+ipp/DJHjpm7lfT9b0Xkp8bVjmyjUPBQNSFxaIy2JApYasLhxn
+pK53oFGdTQozCw1+25hbEvU4nbXPbUDr3gxLtJivhJ2ewYxT4Y0YKk3m4W/IXeYTLZe7l11ahQM
CFz8eibPfau/dGic3Npeu6UDugcNfScS0IsuEsJL6ccH0QruI1McUEHs5iawELXNX2JHwwjmlmfj
SBpORo6taXAPx7VmRiO4981Ya/a+xxKO2FxzQwK10JmN7R6Iogw9z5kBErVR7ZeQiTxzX0sSB/O5
vdbSXD5ABvCjxrLbK6xx19ZgIyuMsQpflEtPH0XCIhhI1bOzIdjkkm4Jes+7zKE01Ivq0m21ZF+U
1Y5UiqO++OeOSp/KuuCorssbdHjb2UvnED7HWe4mrCgrTACk3wbCP59lYl3lWg6fjqgn3HPcDzGk
NLCam6a19B1Bue1Om/yHOZ5fbGj6kXTcPurrBPFo2pfRosYhpC3rfTI95LIZTIxNWdZTqOvtqWkI
4CFrrP+ko8o7BrXzqLScj0zN54GXxzsXHY1chL5Pmq67Gdo+3tW1HHdCiw+4vMYnk370pfQWD4vp
eB1n1WHW4z6yW3O5LDTnKH2tPmQ0DtsEDcHkaV+RpugHdMBDiOfocljcT3AqikNrJlNIBzf/Uug+
it3mVMJJfEwRowE9LPWwV+Z+jsebSqgCXFn22AUuJPIpfSTZu+fvJArF4vRJDdl9bYw3wrfPgxGj
RwCjgps73jejaZ4MT7scvUBGqcskte7S22nWT4ZFY1s0nwJrPuszdTEY7TSFlcv0IEircS9r/xKz
6gJ6Q3xlyn7u2u2hnsarGvPpbu7NC9uZ7prZ+FFk48Gz5I1M43uMgDeWY52SAq4eQmpQQsNuWPqt
MWMMKpliRdk8PaPF3cyztrUL/xh0OFvGfL+snTiWa2j7844J02WdJqcyL/Kd72enejC+WZPYLH22
HxgzhNnMFmRo/lfDljfJauR1bO8qL8otDf2dWRhXrSoLImPEBoGnduHq1V236N8qAn7Dqhw2qTZl
aKxrjVuWRBe15ky1vPEE30w4T9jo3BLdYTr2EC35XHguLRdyMi6WnLWuUMSHfY2DNMsc68aT3cng
h4gBeyzPhUZmHXzHsGnoq3YN+gCCED+vOYhV7TdbvcWfJ/RhPgajbUb4kr6j8rmv0R+HgWZPjNq1
56a09Z2ToC/OLaaJIlWfy9q+rdJeizxc6KE5ViJUtBahFllt9slpJVNdEz8rQvEFTTTtud4fnrFY
xVE1NJe9O2pn4N63C0ubWyV4VGX1dWqrjafy5RbpqR82Ft4bUuKpnbtF7poxMHbdUD44zIX4leOX
WRiXmJ6qEHIJn20jnEgzlXGwF1VvOhJzv5uD983syv2stPO5rZ/iysdcY8ZXbFNbqAtIZBMGVo0L
n166xoJnC6Nf6zcOA4ThFl0sD5cGV6mt81bc6pRnzUuJzc7XY/zE7jRHOurEKFMocc2kSM+nwKZ+
A1MUOkJpYWeW6hzflg3AkyA8eusKvJNRk0OWF9W+Xtxc31R6k1OzJthfpdWHVj2/iKVvNkU5pGFl
AfGfgeZvMV7IPWJ9p9qYfd6EBsO6+6WcJ4zfmvOcBElxVwTtSSm4Bd3cilv0xVa44LzfjGlsXoii
4yCid25/r1fAT+m2DzgX1PitQtyZkGGWGlth1f4tOn0qgIQz37oWuetQYkf0WOoXYpqXCw09+T0y
7+CHh1lr342WRpNX5M1mRpTMfKrogq2vAqT9Q5nepL7pPhWkCR9a27pcrDjdjbpfnEqcLS95v6z+
y0C5XzU3QHNua6D7DcpqRMZxwUxbQiL0U5x4Kc29Y9YbhPTmk+nvIUBwaMITYF6k8ZSfdbqRRfaI
CbbKuuU69t1h547OdGqLurvFKeFcWR480bYIvtSLVUVZp9svcWmsQcOwz0Mcmm6UFNyjq/D0omUX
3GMlKS6atnBv27nKt7rVO6eu0lazXjntYtnKTaPhTwUUO1xVme3ez4Na4shOew5Rc6Mu3XHwzlVm
qD7MfRV/aoIEwYhRA1OIM5bTIImDnlPzvEJI/InmQIMZPLVIK15EdqfBgVR46vRRRtjfix13rPds
G1pNllPtP0zchT88r2+3Qz6a36bAKi/0YiGLyJ2b81SQDR0yjKe2CIjxTrmvRzwPDmv/rBjHZG8m
g3eQdtxdktJUbstMf+lxoewSHdKBTdTBXT5N1pXEYno7wqjczGqkPBPGMXUWdHeD/31ojXibsJGc
qSXgi55MrC06NsZzJ1n6m9YRa1cDxJrcq9yU1WZav6mzzMZZjtEmWR3j5nWpc9/OF7rAo0cctZot
v976DrfDtZea89xf6rbMjHEj3YXYcw9tol52IcBDciskFr02KsfYFdsJnWRNx0szLhVaHfvaLXzj
obPFjHF0yi2b2Uqd3Ah7vmDcwuYqRnXU0wQagQk7cN+Z0n+ASmdx2Mow4GMqQb3v1luXV08hmlq7
KiYsxSC0DXOEmW4xZamNTxzqtoZvsHX8ckalQ8ROL1xnZ+ACOQw4JnK5DNvWmmXE79jUTLp3hahQ
ORu5HSGD6jb0Cf2LdXwVYni9liPVkjHhjeHUNu1rHvwYZ3IiqUecsE7REK/lldNZYfsNbtj4Fvcp
AqUEZl+MhTQciNjOuzG5zNX0hZTjF5f873DWHIzKVqdtBy21zlLYc3a73PgFhxwmjWdJI8YoqJPh
gkl2tykXw9lN5I0TU973Z12Bwb3p/HHfQzc8T2e7PMtyaVBhWtZjHLjPCA84f8Dq2dh6Vu3q0u23
WPbnbV3Zd7FJETw7atdnecCJwky6qJnIUvC62D3vkFdEjkOMRyu8ZhdjjTh2tUPwj4ihP1TLpJ16
sXVBBeymrtY2XjMTBOss3wJgm0+FDbRC+Ja7mw3JwppNlLgidT8x1z9vndnd+tZywetx8IoE5gbL
dy5RkdX1pvEZfJIEcsFSnnhgelakFQgGScW2r9oGmyq0jmPq6lif7Ck4k8FozCQ3z/mDqolmCFWT
jMe+Lb81YKw2btkVW9c3BiTP6GanWdpbWyVOlOiW2GSjekLTVe1Sv6qjOvO1XRon2TElgOhK1v1N
niQAPNrkHung6hnHZNjK+evUSTtsQOJshVkHB9a7d0gmhJMmEo4QRx6MINoQQ2VYj7Oo5C5GphJN
9AmIs7ROtDrnE6EpasOpUmw4YvTnToEXC5kOOSWl48w75s9YvXms4Qz3sLyirG1lTOsu0eJzDmpP
uln8aN1qJeevcSkCY9k0+5dZEF/5TslxojWHLxYS3WMwp1MZ1oP1gwTQGEMcXvHPzsAuWOIAbTo9
u/C1ik1tsYLdoOfpwUd688VgYz42hd5uukp6l2zxeUSMljpwjCm3PAhwv/tYfICWmNu59cBeKaff
lqYxPS60V7fK9ecL+uDiKp/GmYNOXn3T4nj8ZNOaR60AdfyLA/5iCwIFrzRvfquaCY+Q2eHVoYUf
H3uRijNTn72d3nb6TdA4jNTmViO5S2j6Z1/2PCw1y92Cs+hvq0qzzjmLN9u69eRDoiHBMjQpL/Ox
AvIcBwauwyWnsZk3PYejPGjSsBF+fNKQjUVKyvu5L1Cwx7hHB2bnkWO1zQayrADeXz6ZmcFzuNa4
34S8X2zrZDBwuoIQpLMvQcg882SVT2FijeS1FzDP781cK5n+mcl+ClrtDBYaEfJaKWhC1J+Lhjb7
sjHquE7XoOEaRIGvaRHBV7iAJssHAbk8cjvkB9Vike/G3ISIUwdGiJWoiFKWR+gM3Ck2hbIyvgq7
rg9WZ9B0BteIZri+hl4DycYX/q4v6NeDkyyiwG/c60GW4mS31qltKmjLizfrmyDT4cvV2eeuND4b
PkARVaUc5GuH+m+WThhXLbsEt4TfBtixIWNYnXsvNUtBQW4oYZYdntEI2C7GhmprT80XL/cPRHtc
E936VUzDN0opIJdjPuzlSHRjak//h73z3LHbyNr1rfgChjpMxfDzI7lD56zQfwi1WmIxh2K++u+h
LI/VbdkaHeAA8+MAAwMDezf3JotVa73rDc92s9r7zFblLrZd2g6lniT+xn3eLCdtqtHkETZ0YnRk
MfHOdRdrnffnHUf8ER2dijBHXY4SYdQOHl2+x1hD06+hqeSnWCBciBSbinb5qGXtQMc2LXfVihuS
PQFwtAyqFzilpbMze/OqGUrKTBtfowAe3hTY6YRoa5j2yND8d6htIEpZDX2U5WkX9UDxvBkyuA0E
+IQQ57Cw5ztn9N66Pm4YRl5g65BHRS444brEgRPffsC5oo3MeDo043zquvJI0RAB6J4v8I0e24Vz
NJd6RD91HF1Ubl2662ePceZ66zQQ3EDg9yIDCkn1+sJbR5Pat4osgf1h1aUpEiQVAYBHHR+qBWsx
G9oTuAAYwYlLN4Vr2Oln2STCBjHZmmSnSWsfvbW8n+Ft72Fqhno6HIea/dJPb5Q23I+EVnQERne1
h+rRwxWk3A3AIX45niYqJbvV2U+x8blnQACfNFocdV1pq3gkKCTqJiMqDA7blbABs9V2ZDjtFLFS
7/CyPq5jxQiHgJRx2TUU6kWhnXXoVevKP0PBsS/jcQpBHfazNm9spmuE+3tflG8bwq0w9fuwJORy
gcZgpcHulZwmlQxL0exzQ0cCvPQfxtLZd7l557QqaDoTBodu+qew+h8wyCJKztwV9sAqwhYzb/dL
3lDQyjhwQf4dQltI+Qgn4PcgKZ9Lq2kv59JXx8msI06N08mcmveTZZ2WojvIcTqxJad6Gs8nCaGS
sib3084pEaoRS43qQGPKWo2t86qfTgAM4HaqcOSb5kn9ocm6iMT4kPMDsm9zzTT0vauxDXoJh7bu
nJeiuq0UAJKvYyDiVmzecQ+5wWAqgOitHMLMdc5nVx1wVwnBPK4tq7HCJJNhIZkb9d5e8/PqnFt5
4Yv4vu87qoxPcErPVZrukV9e25N9Bmkhj1Sh7nH0vF48Cbo880dAn2l2fHPcD0lynvg1g6a0vIv1
FiMp0C9OdKs34VyVI4JgHcuxybohjaRFJvm4lFpY8PIlHB7go9oRsuzOslYzdJz5PO/UhfIa9gvv
Qhuas0JBXxW8yxqupTFt/8A75s8M/oJmGrqAU/6mKZJza8weJzVcLwlMl9TsT81sDSXumbcA6wtl
QBHVxKntHOFcDIM9B5q2AZgd1kP1ON/AY9s4z0SBrX12zYF/UziYmlBSrnoOgGACrfHr83Gm2Pf7
s7GSt23aDEHnjmdNoXZyAIgtJv2Q4rLU2MbZXBJ4riaf1PNEXleiPLetEgVsMt2OYrmTRRy5mXkG
lR4rL0tNu8HqiqD32U1jjWRpWVvDvk/1Yypjek/WFb3tzsnsR8uLPRCJ4UNtD287+H0HDEDWKFfu
mW0ubpQU3TMyek6X4css55Nuyk5wT45wivkwSveGidGDKSoMdZbhERPlszX3iIwxqnsUIOwE3idm
nBe9L5+WcTmVo7+PM+d68bNj4sVslwx7jNSXURf7e9fobuGjItmFAxpiS3jW2kgS8vIQ++LBWzWs
l6iTaw07LBSrd0NaKfKO+9BOiotpLD9ntRXMrXloZu0KQ5qPvho1+FfpSWzT+G2tXM1Pn7T6it4k
svT8TGDEG/vzbe60KI4Z5kmhTqtGXXL+Pdapb4fYRD6QljIfSrOnfnK9XcJUMCzX6srt8vPOJI8W
Dfk7JtjBVM5n+G1dFdhc01fE+rm36ukdBqdGqA3ZfLmuTOUmr06oNEZzuFvT8j7PpjmUMTBJDp1l
CRY6rRNpx8YJdjp+YOj5cj4ZOqQnf71sUKgfPcV7wftRYLTUuodktr3Lgj3k2Leu8YBrbXyiJxKE
3vAICHdNcjiK2SbxdagAfIgKl4eJcva9li0ZjHDXX89SmNcXpiA1Ne9V0e7rVpM7o+u2Eshz9gyS
GSK3RX7M+0LelWucPeWWmV3DFQf1ybECCDDQxQ6OHM3bcUnFteVKnR+T+skRC0D98zj6IDGaMQ1s
RHGahdjANHv8l54KOcfdMU5xjQzqLBk+aFMLAWyLBL022qGB6+6jvN71Zm4e+dtPQxGbYVxW3U3L
9PBY56Z7ZxHW/g5Pdu+qKUfvUvNbAjfAjbqdn0L0UzDtdrIr5mugQ+tDrEn9cQJJPtZYfECqKuJm
72BdH2aM4Uh5Tnxo0W5f7mM3nW5bnsxuobzBlUNRVJmcYZVK0o9+61ogFusQOXM/h0zVLerxhd0n
6+czMczWnnGCSWEX+7ciLgpmzPj67gqKC+x9NNPao3QGXeQ0urBHM73wFuHwjCpzeltU8RwSMOye
jmLyPkqMy/fCBAVN8sEOPA9nUmyf5wcocEiXreRzknMK1MuSEoRDgHUIt7c5KrMaTr2BnmhK1XMm
5SPxC/0V1hYNErC8vR9KG2a2jVP6uT/n9cmyDvkdYr1bq5lSQBlw1WjtDANFuahCfKPudPJ8uBNo
A2YBgCrc9aliNjgF0venk1lTxaFRPfuPvrp712ubs7buKl4gtjb0U5FdG5c1mPt+Bna79fU1P0t7
cYCYcMNoyLqV5Uod3Hb858iwjGgmPmY3Um2/m9UMgdHKwclUXykMCDj/RVIAqKcLEaBAqBH2w300
kht03aaxdxHXrna51LImKmuca8QS6QxyUaNvNJeJkVllJ2d2N0+cHRN2ckUL4yIgp2K4TJVlhYPA
ZiGWdnYDOfyx7cx2D/6j9knuFAdqJz/Et7JMA73mYB+Svr/UR7dOWQGKYRO+eznpgbl/h7mFT1zz
UKtnLLl1HDtIiti37jRceY1e0q45lYwICRkO4+TjtEcW7kyL79qH1VZdT1mQMUzvZMJGA2/Nvoi7
2T5VXtKTO98UKe8nVsAY/2L2ti/xETsODEC7yE+ymNrf7Ox7o0nMJhKztYZMDEEA+mT1r/AzwFik
wduTipGYpTkfmGoZSf/eUEZ5zJGiRr6YJIhOLy5SBnX8Tc25bGJFyriGo0UglnIlPqQ2g3/hgNmj
YTSAEnxzkazlRDdj9uuYVqIuYgNJSubI98QEaEkwSyZbkUsaiHXyr15iAtsyitwlIwQrxhteYjAb
61v90mld1R/+lUO+U44FUNFkhJsEMuVa4cIan8OsWeTbJLboib9yhX6Jnfe3TLsX7Lz/kMP3X8jO
gzL3f/4gv/2Fm/c/8Pvg5v32sXr+LfjYPQ3P8Dd/J/1tzD4++42k5xhvaCtdkvDcr+xZE5LcHyQ9
4w2pOKSvQSKDII3i7d8kPcN9g9e5T7ypjS4U127IWN84eobzBsd8NEvGxlmGq+X8CkXPfOlAjM7O
IZrP5R/oRV0fpv1L1teAqSjAa7fAAyndu3Qe1Gm/eEvN3sasxmp8WHtizLH61I3holo9qj1SrkFk
coqdExPblBsxkx2FY5/9DjRP+TByZoJ6QJnXp9yMi0O8atu0Yq68n6gyvmYI/knF5dtDaIeSjbbO
Fpsa7JVCRNOpKJZaTJEcxPJxwl/2LncQ+DNgXLEL8f3urTFKkyzWGDx4Kc3ISYeNlYGZ6aZ3P+no
MdJAcyE7hRMMNBEMWm49JEwE8lJ3L5HyLddDb03vYd4Q89pCU7oe53SlGYhXWhZSnIKs1Kr3Kxms
oBNMrGRAzsZy42SZPI9xPQISwrsunEp8QIN+yYGDU3SUwXfr7wf0vZdky99vBZMzw+QpblLOVwoV
Y7ChPzn1HEHGRB3fkxSH2EjD91f/mafCS6bg75eCBvzVtW1zX39119O6tFF/5nPkuAvC/woasNp8
RyGweYGrYgqw4Zse/Zd2nP9wL3mx//ztLvXfuONsD+3v95yHbnhNB8Zg+d87jbDebBIhFDPYhG1E
fV7lbzuN8N6gmMaOjoabj+j+nzuNZulvcHSDSo7IHyRQbNzZb1uNZtlv+IzHzvDtj/7SXvNyhWLi
hj2+oVsoCHTEiYhCXm41tdOPtj0hrV3LSv+gig0OX5P2vtdn8Nrv7swP3oZXgoXfr2WggOcXuxCg
t+/ynV5r0fXUwqbIIu3JVVEeO+n1aLre3sJS8zAk2nCXZzWYRCd/lmT4Fz7r9iu5psH+7Wz708sr
e7NFW26m1i5PGNjVWMwCelq/9LJ/u5XIo/ARQFNDlsLLi5Q2W1Jec5FUeHfKgzYQjxf5T9U723f9
c3v962VePTFjrBV0Fy4zdWN6OVRQukj41e4bW8vTgGpnONSzyyxJFhRIosjfpetyI+ch+QkZ2vzh
84ROjujMtgWisJc/eML+CIscnucU6qEVqbC+0EKICKE4GPzTIP1gb4RmwDAsJEvzBiQrLJ8YoZ9C
1jnxfrK6fviMv/s227//bnVVFU5mKGCtHVHUNfChONfm2f7FZ+wifkUAzzFED+8jnnp5Edtepikm
vXfnmI3Ya2ZRXGI6TXNlzfXxn9+W17/HJdgbS0ckA3hgGJwhry6FozC9fLbudOjGQZubPNG+/xlJ
39rkDS/WE9dxKYZQLWNKgbHCK663PhAMQnW87vJuzmJodItcj2Y9LCqwpYyrgz0OUh6a1LKfLCCP
NTCd2GoeoSb7Jsb76GtHiNzkNOAbPOkymD0ZNwf41/A/c2ygE1BAEnquMMTMkzC1GibjHWwa5v14
1wvKYlydzjiNYUmAbRU0lnjW1TeDlUHZsxfcSGm4xxwHZK0wvYty4c6cZHkjwjytl0tvw3d8cZ6Z
oLlB0epY0mL/64bKT2YDZqk72hFU5QVfcox9sW1tbS9CrNMXRxLooGQ0ear8o+zmJrtDVt0AJE8t
zHGvbcGQQKb8tzFSqhjy65D4sOyQ16HwFCMkMS3Vsk9ltdowk6bG+LCWmGHy7jV6vktiYfSBVjba
WyRvTh3BZJqjLqlUduhtO+1CmIv4zK+rkGaol519UJpbV8GcSbqOxiiNvTUrj0m5jK33szQmjJDx
KT6Zy6IcjsmqaRcIa2siievee7bruTGu/CIBdfT7hCiEeYwhjMvCSBkFD7p2kVJztofJUwDOk1N4
z76eMWY5uP7snSXawu/1SZWN99gJtjo6h774aGUWU62uHNdlX5ETgbEgEOUKnNxWOwbWlbbJR4xr
szPTOHCcxbtuK1Vdw8Vwbzojd54E70gdFkVf3PqjNEZCgvxeBGlu4coYL846Rpa2qC/kbnRDJESK
gRhVILPuxpbTPcpqQc6RM60Cwg82HQEtWGcEY2MWnzg/mShNxth+SO2qL0MlTQlZUPMq0AcdgwHm
mZeJzcQ64IVNWlINJLqFxk0Smv8+KT7YGBhutuuzloST5jVfcqdbLpg1xp+SpFHXdPorsFk6J11o
usN4NS1N9Q5GMRts0iTJVYpjO6mGVe7dKNQ/K6kgamzgI2nj3czo+3lSTdowVZvmGhKJ1tlB4Wjy
3doSEhOVuqrHwCPOAD9FhK6XcGGJtJhbrz8f4NlCqXXUeGMOVtEFtbVMl1ZizdBLxnS460ykB1GC
G8eDV2yR24PTYa5XuLgf404nOBd0jGjTpbTzUEtH/WaR5SCCNesaSPVJBXMRmz4LCg4L/crUOvTc
beFqR10rgIrtAbt+rO0M69k17FE/q/1Sv9AY4T+ajdUaB5aZdzW1I1lxfd9PGC27BU7sfoVjiQ5P
sgnqqrFv/XjkvYwbu/4CHcL52K8Ls1y/q7ONeGZkVxVWsg8sKSQYVPoFNurLNPOWZQ00XDbKyywx
uE14Bhi3ij0EL/OVxwBMt2ysU0bdF7Eo7SK0HKt/v4xeCTdg6UWUsmJuywp1CtzUrvxcWRK6cJdZ
OesWU/SBm4Or62HEWdU52m1WngnDXjus8bNCHHOTlxuSSoPBomEiq4Sf5zKKXLpJkaBgDsxRU3QM
MjLWBdNMUzb1ozUJl13AEOP1bDDgiwrPaz/ruobwADkfPPUF88dzQQCkOE9zTGyCQgIO7d3UxWAF
U0rf3k2CaeSudWJhB5D0SbrRGl6EmyYjuDhIMVtnEl02bUw6hRLeKR7KXResou3GIAarsA/22nbr
udFp7luwmsEM1yQd75Ac6wD7ytJJEk9HC545isZiJ+usWy+aJBuvV02aZmAsRmEFZqWuINxlzU4Y
yp3BSWGcbOMsAVZLLEB21JeFoFqw/Nk62ugNeGB6Xw1R4tiNClf2PlYzKPHd2Gaw4/JUA+at9Ep3
Dg5IPdtg52hagPPKPB5MP4EGaPcYJofJUiOpnRJT9vhQDzmSnRaJQKDcRodTwfBfR76D0n8PZcSd
dnmqDy3grzfd27lwSUuQxXTrdE0KZB4L0zpbTe4znIhlRj00ysI7VjYD78haZ3E9m1PXhI07YxAt
9Rzkaa1SKFwGOYz+vhS1qZ0Zgym6oMxqZBqty46aGV3zQIGZ2DtPjuOlbuias0tQX3o7NFbwumuA
Biw6exDQIN/GCCH4m9GGjp45JjE0tQdZOxEFYxNdWsWuqTOzv3cY4U0RB6f1Tsw43R6Zys7+reZs
sVJaVbXzHoenbg4ZT8ZTwPslCHqQxkBOI+f2eALIbWk72JgWjv4DsovA8Pvsgm0184HXoRLai1kf
9SZZ7wjiSFEPjbG4g1xqo2egSaZoXNouwsLad4J+lgIvA4Pg5uzc88bpS6NyF5lOiblMWHKeg96t
FeiXS3C2Oi0MX9qggeU2FOe3tRAHXfMduGBxtZBh8B4bnGY518hJqNnJtMaA0Gxb562loFzbqdvn
eyJJ7MevVdUvtax/236+aFL/w8b2v7Fl3SCXv29Z7z6iDP3t+BnN3sd//fY/6tPnSiGC/Qqb3Xep
6j9Wvz1//C0cKvnxBX62/dlvCJr9BoW+IKgTkwZcQL/W/t/6WsN+A6xGf4dJOAEIqPj/jaBpKFlR
wG5520Lg7/a1R/qjr7X1NwBftLpUu/TJ4lcQtNfWDmLLICbpDr9AcDnMwl8VtetcEu9Sy1NU/GOx
V26tm0VUrXFbHbvKGMsHW4imfkqgaTXxZmHbjU8Wr3a9y0xXyp+1hl+L9e+aNtIutxz37Udv1mzc
mZfFvOmYCwPHCh2FRBxfwdrp4nDMmrKzQsdil/ukjcrr5Z7edBygcOE1rY6zAtmCPAOsVWm72VlN
aJzocX7V0oRbZW56T3zjdAPM89W3S/yy8N2RY36Tx0HCasqhNU/z3pXQlftl1IagkhgsZCEubziw
hb0ovPY6q4rZ3wOlau6NgbRI/9n3etVgbg4gLBb0HWATeDH6r1ogkxlYpTkp6iFR1Mtu1Rlin2tb
EC8TmqmAexV0jrnqdoCgsWox2rfs8SQ3/NT1QmPMyAQLrUlbOE+kX7XI+XAeze5Lo3DfGTQU8xjl
XZZKm6NADPAjYhy/v7n+/T/Yce7rkv+91si/2JT+duv6L9yG6Fn/aRs6DMvH6sUG8/UDf+jonTdY
2eD/ZuJsgZMoiPofwBno/RaJgWkKGQu4mGwGkd909N4bOgEac7GJwVnTm3D5D4j+DR/A/YmFBKDG
f/RrKvqvyus/3+gNL7PwbYHAieGOa1s2v/V7uEFg1Onk1SihoI2lEaRAfXAf8tpuQlLyYj+okmx9
HFfDflgb6lleej9LQ4EaFLLi3I939BMzp6KRW49Keum1bnYxZkGy0u4XiIjP0wrQH6mkOmXi29xO
RZLlDGNJk4Bb0M5nNNKUP4k1JrfkE+OUplVrfjOgczs37NglfmnuxNsZkmwcNGvF4NMrGnhPYEN2
ERS5QVSdWhP9boJfDd84zpL3ihrlMpVUDpGC0kQqPVkLNDJxrt4buhtPEalPZbszZ9392OH3dtM2
8TgGcrDyz4mSW1R0jQUuvzDvhh0GTSLQOqU+djoMTHiLZTIGwlGefaCEcc9aMxZJVJpajzyuKB0K
D5uL7Zhde0bkTEbygVCB4WKkTcvRAfvwpsekBM8ilco+OHJSpAh72hCV5ahdkZuABku5/ebH3/pA
DLk70I6Vgy/GqCK2Kd6eSylOmlU3j1Bb3eZySqS9BomY3Q+G6LeYMxeb/ShWuS9PNMxgiRNzR5iD
Pf8Hing6piIk80VJFHzCJx7PJQGXiv8ur8f4VsPAhvR3ZQ3IRoreuMWRLSmoFT33wub7JYSsuWIg
acBdH5KOHTVwdOmd6E4JcJC5LcpaqcXEO2m2NDOs0shCgaeq+U/IkCwZNo7on4wZT7LAyo1mPJo6
4QSiTxemmFox3k+486KnttWyZz7cxowvMw9ahThNK6ILpimNF/J1/OZiLCdBxkRPQEk4a67xxdMs
hqyMc0khGFpDKe52EdPITdBogxWtaxv2DHiXyB1HqwnrRdOvssFeni1V159RcelfZoZUVzTQK9rC
yrQaBuzxWIbNVMh2l+cbkcEEduGRtbAkJLEE2OiY67IGBbDE44jT7KNLlFMSLoOgXa8We8VLzSlt
epvpYtVnLd3pquqgiXqZh/Xu2nX4IjC4CxwE1ibRRenesPPe3rUkCZ+Kvi/8yF1i2CFrIk17V7Zl
VwUOPl7d06LFxSWW0MWwW6WrKJs333hCH0p6PIgM4uCaY0GshjOYa4Sf3ZmRWSUig6Zp7m0Smb2w
whkJmaDp4Kc/p2OlI1LJy/WAC8x40/lLmZ24qHYIDqsKGm1PW72nploNsCg7NUzqbqN2LmeNXpJg
rHW6MtCV9LgKDcVzb3iqO+PQl+cEOVhzYOsz0UcIUhe4JujbbfyQeRYQcurmi15W8nNuFvH7VBFE
odU8+tDUHOdDVQw6z063mw8Fqjq6Lfo8LdKnRUfrlYkS2fvqw35cYjnfe+aI1mnKzfESNjHj8WQ1
hsdNsfBxyu1FwxxPogUtpyq/qoAPPqJnFVY0U489u0iAiNaqY3WfrrBTTshMKOROqr69q9rSuGGN
wZYFQQXBW5G0ZLtY4Z5KKpSPenO2nPStF8PXx1mZhQvpWzeT/eDKMtlVtQlTvLcb3zgd9GaaL0c7
nV2mn2SVhETFDv0ppojcDhs1TBGWwiBZeDDhG4daseKDhKIztyTqs9bRRYTOkE0uHsptRmcbwxmQ
SZ1fikal7q5D5JNGY49/CfxpmdhXRpnoT1rmIgCICxl7h6JYcTNcU93IIuH083zVCq/Oji1Osfl5
jVgVr0+nEddDARnzpl6Vjk+jqtI4Avay3VvEM9JEF7vU+inx8nN82g2lcOJgTR3q0cAmbw57Kres
Ug20BDeNnVoG/YGIKqfDi5nErLCy3Yn+lruOE5+0quESBdXSvXWF3hef8yKfae1gnE97h+eKJqr1
vOWQJ0PDLrEUTIhl6V0r1iLxiSafj8rZNJ6wntDIZQQbphvkWQW5hUQoQg7V3wNVwTAq7Lby91kL
KrDXbCgXkVqkvBRIB09VFa/v06xEkumsfnaxMjM2yKYYscbOFg/++jTVzacEbscnofIOBWWePTY0
umdSOsa7mBf6k9FM+FpOvb8lzjiL20Vb0sezO03DgyWSmplyOhJ/aFXo0oNhJDMEUULmdVGnYm+T
TNjeO2uc/foM9a2rwh54dt61fad2poeglVOCLWeYVkr+2KnZbXyMndYoW1YktCMxiSvnpZOdpy5Y
m+lU9nIEyxNv62kqpjCbQZXNhvSNkHIS/RDAjT3CMZsqCShEC4SqpoOqW+tfdXwdo7VTI8VogASh
OJd7g6lUCd95dqdwAGPG+2O20XsQGBsHwkCZEhTgJ6SXTFb2kLqT8sIF1SrUKVqvnuMCfUaQ+XF+
vvoEjwArka2NpSpRNoQnmo/mYEOmq9lQQBgLVHz7DKz80UlEiWDOj8EcCqdBOgza/qGq6/ktmaJi
oBTWnafea/p7SDwmJ6g9o6goTIUOb5l79cmtNf9k7InzJsQ1v/bbAT3fBDmsijqh/HJHyGVxs+BN
WM8HTlu/0s8qYjbfDlmMRE0lfUusR6/5X/K6XL6MeuIjzmh0dqfSvkyt1amDEmbslai08tggYb9Q
5dy/p3eC6YWlQX2fgkARcbRgdBIMzP9O0tRo3KOnjRZS/9jrzoveSlKCaiur37l6ZQ5gdEV/jGPX
Qny7mhgfSW/RKuwELP3ZmeZ1ieZG2vVxEW7cRVaGyl+fRyiBVmaa95412PcV7D9/by5ZDZ9Nz2Id
09OGmmvOvPtexRUpuT5xJLDiK62m/yj193rljO99nYTXXeJ0jOkA3yzCSSyxXuKFbAyRGgZ1gtrb
s4O0KbLLAbLoeAlUA31cZGXywImi5yeZnxtvXbc1gdtmUHqpHKJ9Z03v7WhB25jsLHdYUPrOVaHt
KnC1h96qdHXAmcJ+39HQzZFF+Ps96QvNdeZMiMpGXdNVMCd5cc6mLj/2vj0+43SaPFPNLk/FkNWP
pH6s7EL99ujIikFvkbo86pB33u0Co2kUr7kT99c4F8oHhWQ23phj+BRMLnPfMNby/H7KiF+KiLxw
PuAeuZ7hKSPavbAm3z/FIcSANjbFvXGi0hgWug7e+7YtMT1JQHjLY90U87NBoKiKLM6OMyMeIHt1
Nu182OG5C7Ukbt0TTI6hcfRGZpxO64rVCil5zulaJSVsMnB6yG1SuUnIGs45NM1Rt4IhQXjm4SXS
hCuzehpNIZJ9gqqhCshuJ6hXixkZI6YniNlrffVO9o42EpQ9kAXQJB1myqr3S7ITU8ZBR0JRYI5i
zmO6UdWt/u1SrQuyCs8Fl4TO+a62/Gaz6kW7BzpuyneVtkyfPTcrIKzklE6QYsXgM9XR0rPcLuXN
0CrkLMk0ufdlkxk1CH+cXJKbw8wAI5OFaNJqRpcKLZpPe430LzFKZ0qc8Zqh29Xe00q71jHTrNUI
62GqTjVolRI2+iJO8taxHzLwCDbYbuEP1ELFV6Nl8h2mKvaxgIRpZ0LfnCzEM4NECvb/cbnX1nIb
z+vvYbngc1e+ZqzxgT8oazbQGaQ0WGdYfHzFx/7dDwPGYeGFIxmR9cIyNjbbt37YMt+QYqFjB76x
Eoi8BEH51g/zr0x4bC7De6bLwDbmrwBuX/0Vv2uHabhdsiodaOa4LDl4w75sh9uB/Dbel24/Gzlq
3PzQeEMwxWiPOQnNKZrFLZhhRFb1ZeLlR+yxDnwp2Odj6EvjInPzA84cQbu8Hdc8NBTzgdkPZe6H
Za+OsfIiZGGnDY2Ubz3b/aPvsu21w9GTybsm7x6GoUIADQVcZkeDjJBqCt2s3s/NFjKGHRytVZL1
B+r0d4mtUGh00VozCszodjA00XBaYQ56zg5r+cfOwYzEc5Cekk+OeJ4zxKyye0sXqErH25Vx+LRF
6SGKcMTBYh+BeQWpvCAipIu+WwQ/IM1srJF/urGvLGI93RlpDBWJZm19uklMJ+faHrLdSLbrP1/p
JeGA8vzVI3xFoGiwOZNzwyOEk6yZH0bj7Cd//68/xdscxDdUB74TpJFXa8TVIJlnxGB6yQX+I8hj
75h15UYcOjAX9fvErGHGAVO0+WUjz6y63DMoiLLsqkc20/XlziJetyskzDYROeO7wVKRbrydWTiy
hrzbI1Pi81nPIIS/1bfLuS8IaySp3LVuNCiIW5GCZTQdbr1bmnqnsO/mqEUJjf+Tlh+rmpN+S78V
py2i+H++AcZf7zA3APto3hHgIODvlzcAs0g3bqax23cMZ4knOsyfMvLV/OEdcrNjbmwdT2ADEHcF
OAU3pTDjfczX++fv8cPn8N3XeEViKbFScdCNkQrsM673/WCxEHAAGQCb/WRNbcjxy9X78he/IivV
jT36MpnZFiiqoY3impsF1Ho/+UXbTvqD60CY3WKXhKNv//478o8vO6CWnDurzHvZiJOMKJBiyjbu
xYE5e+efM5UPe7KR9OF21S7rTd63vjMR8KxU2rAlgzrexfET/hi/n2zAsj823NxGDX+9BX9+tVdA
oa2wuFEZNrzwbwAL3SgnkSUfmHq3yS5R7WF0NFI2k9v/m4f852Vfbci+Ni9xM/KQWwcrRmy9arAk
1Yykl/3MMPLHy/rPS73aoiqR4jo4cKkF1EgBrCTl71O7v72HP7vCq51DDp2OmwhXmJbHzr1Xw0+2
ph+/EUyzBL+CFJtXL6ajW/CtXTbZwbjql0/AfTsU8sxUP/3zQ/nh64D36oZQO5y5r14Hhpr+XCqu
Qw8D6nNoaPjWu3++BukPP1pxnifgc+FTahmv3m8lEl3XS1Yc/pbscNO+QfckU++EUQmSYkxevJhZ
7YqGe9qnxMaibYY6hbLeejsnCL0b94sp8DyciPHrcAAZtPlh7BmQOGnHCBi7+Y2tEubxeNTgL5Tz
Q5brR9LP99LIw0rKKw1lPy3ErmjEQW+ek37a6/AkBrRhvftJb58Rdoa525xq8JQNeTkiZvGQFYt+
CgGnp3WnWc/KfoABvuK7wOA5w0cPgOoEdC2qMHQukNJqmo9lQbVPVqjwZcYW3pzEMzI13Y0wUcFU
AWG2cYpO8ghX59ijOW7wxVDFpVl91k9To35KO/eLsMe3jljvvHi+7d1Db14Czd8MhfslG7BA0yY0
qt0uzvQ7OXLjMnnWc+OUdM/WuosgycHF8Ml11Xde4wJaX3fEd2rTY5cDftvWQUziUON31hCCnieX
ANM7lsh12eeXuTLP8/Z5oITAjOKmb/+XujNbjtzIsu2v9A9ABjgc02NHBCI4z2Qy+QJjJknMkwOO
6et7gVJVMalS5tW9ds26XmQykzIRiADcj5+z99rf8+UQsTeut0DreR/RvZ6NG10/V+73eHnS8ovK
YT7Uz05aXkVQDdyZyNwp2OXjslso4OsxC/sgCOcJV3JH4wVhl54Eoez34Gj2bV6fuMFBlPgpkYmZ
S3aezeNewJhZHxcjfSGadj+Z2cGTyQ0/z45+Fj6cCACps4tr5ww8zIuvp73EGTlOeARTEyoMeL4z
+h3ntZTuBuzAhT2Mt007HmkMuVN7GyXFJphPS4EDuE1DzQlWmO4p+jckh+QOg9Qrnc24bg+0obJJ
bTBybZkAbTQHcUTzPBvfDOjhMzAemIVp+zLxP0E9gE817/xvfWCEOE3DNLCOEe8de/FpzVvmeMlx
lj3bxC3jYdvznVcALYb+XBLltFYEoEIzQx95McGkAINWbU7Z2CEpvbt+CO7K4bLDy0AdEswArij7
ev0NzorCjRuIi1pjwrgyia6FGbnNuuQGBMcecjp9hHJn2MMjCF92vxVlwVuWw7ogjBcJ4F5kqHR0
wHoszoNk2LWF2Dt1caE8Cbcme0rlclm59UW9jDfd6J+VlLKo2cDZnaA43zClPvT6u5bBBovhwzon
jrz7gYZInTTbuP7Wz6/jysRH9kQixZHyaHj3M1St7lYsFfqWZVsEWMyudIqlOHuxcD7ZPfuhZYUp
H9/rtxROBzm6fA8NDWcq6SClS23A4eL8STebbklmGWEBhqnBdIm7/LQkqDYRzfkUV08Nf5sWIvTr
S5QzfII1ngOjVX9Z5zgA9Rjixdq4kJFSg8ic7KFwODu05RFGLx5I6K/NE9Siq0jbYeKCrRpnxJPN
Fp89HM1bTOghpKOtYXoHhgYbmvVhZ6jNWkyKDtdxca2Y9NArhK5mH+fQEVJV7RHebR0TgCXkNixe
O5+nn+4IE+6wpKUu2+ksmL3LArlgQoPRQV3E+IzHsuyOAzqsxoxtf5WRFgzKucPc72/dbjoM4gnl
cZhVtzBtcn4cAMldXV0R9HycVOWTr4zrFMs5bZszMQO5jcfDZJwZ9I/bLGHi/5SJfGfzKzgs1zCz
QvyUW96xvqn3Fheiy7IHG3oso2KvOnlkR/p4SgmaXAYiUIMQdPAmr4FdmVcUmjsbhSYhD5sU9CET
iKPY2C3xeIasM0TOfSDD6zRR8ZeABcoAJlGKN3MKNp15lQT6dGYgZLhMJ+MzJ42vmYBc2O2TI+Ib
pafjYThv8HDacxAaJFrja9ur1TNaHVcCuV+RH2yWuxEnMc3jB0WTEejGqXKHS8srz5cczq+DNdZJ
Qxrzx2l3q+LhF+rp9wzRH8ouDrVImj26+D6DZf/Tls7Qv0uQyKm9k9YnKzTEReDkoF2tAdChBtkT
lwURLttNjBQNLP84NELpJ6f5YJ5jz98qf4D6+JADtvn5Bv2n7fnTJ/u0PXu5j+iv5pO5pb+zYZSb
jOOw7m+c7qHgtwy6cs/Eavfzq/6p9Ph01U+lh62zXs0IBPcGDLVAPtAnO0jxR0LAXxZqwVrr/elr
t9AEIXPx0QCtN/+hEGeAhqdN5Nwcwk9Xu0eOQbWt+yttInIzvF09BRh6x8u1AAACFs70EoNFnw6t
/xjzUyDgb0QLT4EwJn0q+gYIU/J+Rk9GZwMnBUWqvJctuhnJtNiZUQ57O4DAYDR4a9zj0X3ob/r0
rrdw2QfxNu+sjW2Fw5HNkXDwR6z4WydhpFkzZpaPTRTakuok7kLdgDRiSjInzqFz5wtl91fSW/a+
/Zrm8RVKtav1nXOt4cGJy0cD/qSzxFdFF4RFUJ5HQ7UP4vGB6UXoB+N114insZy3XnJLiEu5mdS0
L+fltjPMXTLoo5Wii7X3sejjm4WjCfP/A0nK24LTWONlb1NLwaT9XVwyt6thUtCCRIS/dqJXaNf2
58/Hp1QYjv/rA/KvX+79iPXhl2MJjBTql/WxvCDZZJ+oW2ns1zaOv/hnA9/x8qBPdFcfWHuj4BeV
8frQ//jcCPpbazOKNBHMJOvj++HqXetPjpJcva5x4ul9c5xcpKVzhoz09/PY39Lj/L8obX7Q4xxe
6zUXovss2vnfKMfxfyrHudWMQbiVj4o/Tg//bEDiZEOHBfieLqMwscFyBvuXk40ELuYU9N29P1Q3
fzQg3d+Qu3IqR1O2LsMfjWzWbz69yjUqg76ZJxzr7/Qfbe9TB2BtOmK+JWUC2xxP8mdnTiyEcjNa
pJwBCCPYNAL0294XWa2A6rigq32raC7d2oQPT2Dv+KV0K9gHcTQK1O1ZFh3JzIofElZnNuO0A42R
yyIHijBZ5R4rwvqv64Q/zJBa7LMhoVxNEKHtK9XiaCmdMXsC1N2iUS48bR98r0sHujmlSVz96JSn
Mx7BZzlpVCkOmgAAJwtsZ2oV0J478lx49W3iOWiIZlEiNlWqm8tg9s16OzdxLUMGaepQaWNkZgCh
E3yYWPqW9iZSjO1ilJB6Cl/Jb4xYp3431kti7bXr5s1x3HkahpU5F6wk1aoSklG6BBssPHMZEnlV
BBu7zgJabzZAQ3bwxPuOniJ5qIxxXFbyWAl9NZmCaxlP0ZuEjX8fOWN3r+ya2wn82P6CUTK5EZMA
99r2kPG0LZjMDkzjEqqEqLrMKp9Aq04N+BN8RvvFVkygD46b2JueVZBlX9azw1OaVnjlhyyZiGwi
F7Il2S1L9Q4x1FDvcnsBPT0b6jxYRnFF8mN0M4rJ+1Ijlsjp50JcZuIKU85kGblj9LWO8YTtQ5uL
UYzYvR88poU5XBe9QNwcxEO5ngqt9KgCubknP6lh2loTaK9IWWZAHIDC3EWkAk/MhSy3PZe+4S/4
mBTFBBYjaWwY2apbn6Y1Rh1jqJ6jzBfdmch6w93FBUIRBjeBfMsydDa7Fsu1DVAdX12YebB3duto
B0FNh7p/oxclp/3sxNW1bUX10cCPWWJpMMmByIaxtTjteB65ezhnXs24Th8LJsDZAZwGeXeLG8PY
ReLeBxT7RaaRKVQgJTrcKPl2sSUzJLOo3GjPe7TSX5Wlo13VmUQjLP3irCVhjW5pii0GgZWljfSE
Kcf0BkQZZGxjeLECHLpU5XVcNI2xH9wiuEYk3qPpQS+3g5iqHid8PvEJqRJmduxGigp20KhBOKWC
47z3JWiIbx1pztnpLJbhliH/AOSS0ca081IX9LUFxXs6wtQY3eoyB8uoDbRb2MUKr96kRVs0yOCR
ljB/NZgHb003XcajhPL0Yoha5ESehAuxkV3h4XNArpOdjWIcz61aeHqHxIPtnwF0CZBLQykLAyTw
/VVEGIm7axzRM1c3YfIwQme8CauiTvDOpB30PrrwGbqmas4sfQJ11kY/b9TI1oBnymmTWg5w2iEH
WImRDTFLZLQcsiucFVlI8bkKXtwO8cvaIL+26qS9zQI0ymGbS6c/Npypu3Pf5TM98JIX4OTS3jHz
NZ6LVWmDHQTRDU5vMkw509nPgEyHp/F3gc7EmZs6HdnOtCp4mncxj9nWCHtMlE8Gc8pV8JMAF+Hf
Rdt8Vba1YOHwO/dr9C4UwjQ5PxeresgUgFpaC7NOMbnokZvMWeRWvIuO6r6G+URbETFSt+qSnALf
yalvR/kLinBEzrgJ0TARQqJ5ktzSvWjfZU71u+TJW9VPzrsQyo49n3DUriiy45jZ+nUbuPQ/Akwi
GEqdFDlV+S6tqnugwFsDTORdMy0F0Elpn+Y9SbG7YfDyZTO9C7W6JS1gBL4LuOZVyxW8y7rauikv
sM806lvxLvya30VgQex7/SbxiH4JWzw9J2OulRcmQFeMkMVtSzogkjJrVZcx+OT/9aXikD+/C9Bm
pGj5uygtIyzjaPpdquZHyNb0qmADcoOwpCZPD6mHgnJerGq3iAQKvUNuhQgOpg+CuMkvEccF70K5
OWvn9kCoDGMejFHtF/EuqnOr5aVahXYENa1rzrv+bn7X4pkTnHbm16tGT9M4QcDzrt1DFxgjGkw7
643uk0YC9a70Iz0iue6D2XlKiwhWp2+fFB6c06DNEYkyDJvpsE4uM/JhHu7ku6RQd668hRyO0NB8
Fx32Zq2/pdoVCdRmVInpu0AxehcrBumyIFykN4la8F3QCOaHxiORKwg3Fzd/GN7Fj/a7ELJZNZFM
1pnqjQxHb+FYCm+1gcT6IO2ofHQj7u+4W1WWuTX3Cb38d/HluxCzfxdlWu6Q3BnzYH6hj75K0oB0
Wtt0cRP/Wma02Y1ybm5iAjacEDtmIjfx4AI9q+uymWGzkZX3f1Fg/qVO+4fq8T/XYmJRfv31KPu/
y1eVfsdGcvtc1s8/VJT8uT8m2tRivxG/CSbkd6n2qrD+h4XEs+AfkD4lBdMcOB8ML/6ZlMZ/4qBg
Bgx5fGTeHn/sj5G2sVpPyKSlEMWlLemy/y00wqehgEfMuS0Aiq3jJI8S4dM5XfVBO0hn8GiXWWIH
TN/F4Dz3IREO5nGU9d3xh++ISoTwlOpj1pf96ezsgX3BXh54BCtie2BE+OMZiKc/aMulHu68YLaj
XTr04JKUlfgnS9DpnT9K3GJtHu/NVtpHdSDjQzdTb+wsIjNPsmggw0GndFBtf5DHdmrPpHbpr6Xv
AImkgJc3Ss7FU2zY+SGOLOMSJSNLnd3RoSIuMXueZM44EiI8B1SXTrwjZXXi1MjUogdP++gszXYR
YTO15def3/un7sT7rTu4Uck0xPUBNObHW7dEVEZzOfR3QNLkNgVkvUPG9Lgoy/lFH+TTQZMr4Rtg
/eGQiRlAyk+/atBzxLV7t7yrvBSpexEDsGsTKjyP4M6NjJv6VGM43P/8/tb34+P59v2ynH6E6diS
aZL3qS9CZlo9VYBD71RrW3uRag/ZNe1Xac+0pRw6f/V7vEmfnFXe9B2E6HT384/wLsH4cMR+/wgu
WUeYarBEYY/48TsG3zwrKcryzm4rcRG3ivmzT6EIE/2CcAGxJ4BrDBtoVnuaw9dm0mkotTyIZp4T
4tfRXiXCYTy4hcq/5pKD1Sy99HioCXYRw5skdHo/s1meF2oWv+iZfX4+AjggPBs+509Ok7yUP372
eNHkFwWpcZuZX1wRb2vjROS/ejQ+v/DrRXCacAGHi/3phR8YxhppnBu3blIe3PS1Z3jMKnCYsof3
n+JvtSD+D3eI5rW6JTnstSdu8z+iycD79Ncbw9Wr0j9sB+sx/R8KJ/83jvDMYNkY1ndz/Y3/2A98
HD/UIqznjr+uyB8UTgakHF5iizaC5wWs2JyEPmwI/m82ywrUF0SFJG7SjvwHPeyPBfn3eNN/P8mn
w/HhHXYJMTI9FxU4gev8pf5qbPzYo0qcCJ62yuKwNfG5NLWzHFwrj84/fCP/ZhtYG7H/ek3/uArh
oIGN1Iu0svVTfOiEqYa5Bos8aUCKY07mH4C9PKMbOJdEE+zSnK60Xb/9/Jo/Loq/X5ONFk4RFe0a
cP7jNaGNIRVNOmM3RrMTmqilbmJfR2dOtzxPmAvOp4ruxM+v+eMr/fs1fZYjHFwogpi6/3jNsc9x
d3PK2jVG+gWzcH9SdPGyYXJe/GLx/XffKI0LJEeC9xqFyI9Xsmon9WK/Jy5i6sYHdjdjZ8dmgfEH
bvBcRdaRbY79Hkx9cfw373FdR3CkQQPCg8p28+OVgyWznVyKljwMfyDFRPbWbVmzA0I/Eon+xTf6
p+dzXb3IWrUQF1C5mJ/u08GTFHeWVKHnITWBSwNg0QKw/fN7+rdX4UqAXSy6gZ+lNv3szZzXXBVq
3FTnzDKSHRaGJvx7V4GZxU4PHYu9Dxbe+3764S2wq8buZBpBMiMf8CoYhLHHVlv94hv7/AyuV6Gd
yaQCWy4Lz7prf7hKw3Ggq4q19d8vUF1La7yt7cg9aVorOvztG2IHhlZnQkpC/7U+pB8uldvEgCH4
ZeAxk0UexHYNh3fwfj97/OX85fOPww35EAgFPzDUoMD5dENqngrtp00XNiMgcsOEODDOy6/kVv/2
KoGJWZiymKT29Wv9cC+FIgRXNG0XAkuhuVRm9qbUJKT8vW+MhYG1niUQu7jNpv9pgZidTHJaz7Br
tHCYs6iZ8I/0Rit/sTysr8XHBXethlYQjGBvQYLtfqot+BHUoANgN57ZTSHt2u5IGGb+NUbggNAl
l9XVz2/svZr94YoBTwGKXXYmnjnQgD9+f0lZV3oYiESlp1TTGLAhEltGvofrl51It3mGVhMcFkCj
IbOo7lTIIj3zAKL84s5Xz+qnm0cjxPPC7kjtvRaGn77kjvnW4A3lEFLzSm9LivegNsaweARfZGXT
MOJqrMDeSYJYxX7MVVA+rExd/5r0p3gGwz3GrzMgp+JEFO3UnbcTHeNHui2yvyLNwS9Pgs4AibKx
S8XyrsfRS/E0CnXDIDJLd7TtxxgkMcCVoyIbm6vOysdhX42NOjNrhu4bPI+Tj9aiye+w4cryKHE7
ovnSuNek686pn+yA3IuefBnN3NukHYY9fEAHgod1nF/oAEO3GvpokY+x1XZTs0ncMj01Y7o+N6Nj
EHLXoQ441ZkzMhuGpzxs4egj5U3mZpkvrJy4BeNU2Hnvn+GepfCModWd1WlNW60I1hYkGqr6Hi1k
StvI7JowqJwI/yvZzadZNatsl8erAwJjOk3LKJ7Pot5GGFX5ZeltwEbzyrp56mUkAUTIlxdt1d0e
7He3duP7EkfD5ELps0ftfek8BVVEiF75obFyXvD3JERlOLJzrhhauIBClSFPJTudz5SB2Iud6fQI
KIyO9lQV2xyvyqClQ2SnwoHuQ06nsyMMfJkgFk/ejVl6tPG6af1bzHyCT4IjaX4zFrhdiFBS8liG
Luq+Z3070govEx2HjjnFT4nVBTf0pu0nIxlRnFjZjDuYc2UBkVOO5ngwc4GdKc2scWJC2oxfO3wW
b4us2JlR4j7qVqrnFBdetCvTkWSDiM5+h9Vich8lxjEykqMAXUsjO+/MVSutG/a3cWkGXvM9Hxo7
OcoQOi/7Hgtqsa1x52JXzrLuJAZKjLDCc3kYo5rHmnjGpNuv9AX4/YIGuxF75oVqXfXQVY6Nsntw
sSuTKtGYZLxEwQEvpGujHmiidhexUzibZhrSHDkRJwYjzzyoaGnzSMvJ/TLaDZapK39wM7++Dsyo
W84hh9Vah70nqkNK4BaNqkQEN/xkQhJhMWJszSmLxk0VTMGDm+tmDEujg16djmgSTn2D0LmD8lwC
e3KVaxeTmU+XlLMQdINId/TyxtjxLmUegSkvsPQZGwhqYjmLkzgjZhEcVx99zf1FXcbxhMBvkrH7
AhWHzmo/MWnvlp6WJfPraWVOt8OTMWoHK1FjeddznSGEiZRHHgEo8Oo2GaGt47uJmsu6Fnhgm97C
GiJIKCYm1kpoZegMnpvys+AuZ1rmHE+2zi8SVcoBNrq0230BGyY/t0dffjWWAbey1U+WeUoY8oSH
RrnCDiOjz9ytxkRGqESVOOecYq1XL20Wn4mDF52MrhAFRgJvnveOpXqcwQG+NnKTFO30c6hDlrH1
00UvGyuyPORutR8RYi1S5iRVNcABSwxQ5KD27FMvZ70iLAmbXRgkBuPAzIB3TjJhRVyWroz+bZQT
lr+ZRYYUtsoJBrJ8veFsGFQ7n8AnQEUuRkPR4xUqfpkDvx1VaClTnjtNk3yr2coQHPV+AtXMmZxX
LYfywQabEx+UFvLr7MvkKXfM9GGxevtrsUwA9KO4IXd8jks32zWIqm8LfMNkbJGvQ5zoGiRLfDe1
hZnWRRU6c2w4m9nz5NditOdv4IHrG9LwsoxEgahvaT9PSL7jZCGuGxMkjXO7FtGdaQepOMPcNw9w
hHJ0f3zD5vdadm0b6rjk5Sl4K0YSbR2c8W7auW8c0Aocd4D1iqNIziT5lU7stcfOoO2jATM6y0WZ
tF8KItXBpHkEEDDTlDVdRG0QxVD4SDTmwPrqLN7yuKayB9uMCqPZ5BDb8q2O05Hxl5x5Gz1oocmx
3wzywLNMs2gI2ul5McfO2hYC2vrGmfXQnWrbnG98iGxvkD8apqdoVkhGT9LF2JEE2HxzWANejCw3
ug1zMfdatL0D/k2u7uA4WO3uA3tQyFirI3+kHpIrpP2Im6OJ7PhNTY5ksBkHO/mm+84AxuanQIsj
pZG1GVmAYLSOrPw24pmPaWkLYzik6EKZLdq1Lk8b/OmXOe5PYoBtt8bVCa6zCKNEtW9WktrDzpFx
vfd6D6RePqWtuKIV6lzbDrIyGpDl934acPAZCraWB8Zsxgip1PNYmQrTnc6Mu9XNCDNQ9/22jQSP
fgmw7SVmD5qPC3Mm1T2LSizAzYyycz/LBmAnUbQILixQ/d1JHi8SFWafZFdDUeXEmWXaujahWaDs
IR6x3YPpoEvIN9HcMD8iYEaYiSO3UTUVbwFi3XlTdLWs8Fga81mn7cHbCw5916LHLQtwIrASRuju
7By5Mmm++Cn5YMhkLIx0rdGnDwXeOMRKXs1oO5nt+U12ynZ2ukLXdSYrgtiODAaQkBIXVAE7V5lM
3N3ay9vTjpPLjV9A/1kxYd6JBXOuQTQ5V5dWn+MAKQmgIOZVE/BY9oXtnreFDbItWnB0Yg60hlOg
EQxTMTRH18CEoHakvTbP1SqiAccZdfesOeh22diDi2w0bXNreoP7ilt9PDAR615de8E5V8xFNh8I
G9W3Azl1oGiKPiEAOkgmQkIIOsd/0Y3Gk5Ll8qhNj7jEWeruJrJTYqHbKXfCZVLsLH5SkHoA5Qtr
iCXIg2ale5rd2VxjHSTeFxH1ku5YLb4vqByONME+1bbJhXioiWpF2alS45IoRJf5Y2onr5IS/pIy
wPwmyYJpNyV/N8lOYhX6NpE0v1mdtK5gEbav1HaoreLY6e+NqC2AQ0Rmdy6AI6qw9/0IFtqAtxqE
gLSvLQiYd0YJvfI4ICDoTCtvKba4NYdvS+mP7Q7xLy9Zh9rhmHGtjwbP6yn8coB7MASJIKAmtvRx
FQ8g+U0R5TccMNGru1kjb3E4umobRUsNygJfAOWTi9pvQzOfgJ6mgbi9YUDQjht3DLLjTiUmeBZw
EcnGnzKeVy/y/SsAh/AYqLLcJlxkkN9lhDQU25yp9bdSWCWt9KizrpKxXYw1Fo74mUSNC0zQLMOU
LeyZJvkydt1935b+OdIlJnet0UZFKMvOau/0EiFCzUpSkI8M6oY05KfqiHcm0slFT9AJHOeDUSQU
sk01hRhliGfoEz+B6ZJ3aYlpg9TSkHx27YRQHQlqc1YqxibolWwpPAyfON2kmx4giTS9IPU0aktm
ciIvIcQEIx4j8uucr73fm5f9Ugfdxh8zCrFZK14Avn3jm2k2UONhypT3WpUBogjLQqnWQovbQfYa
rrwyJlDToe00EOaX13s1I1EIFaa5bE9DO6n3JHzGiFnaHGgK5yZMPmMwEM3F8FxAK7XU95ZQIdYM
0ZZYUJwZVCZxgYQfGSqACek3QfnSegPguqGR8qUmCcXdtq3l+Jvap4wKO3f0vI3rGbAD5MQscg8e
kBBLNJ49B4s4a+Z93rbeDfWcxmzcVunqV0jbsPY7myCgMkKfEE8zYTNLXn1X3aDODOYQ9S5zPCKI
HEb8r9i/q8uhVt2jaavpnm+tfCXvqBWkPxECg5Qnab6hKlU3+OYjdxslCXVwWlTBE6ki0Bm7WXUO
uBI7uOD0Y/ZbQmoJyxjTTAzALVYpgZD4P3aR3RPsg8aguh+GubwzPfpuxFq13kNU+sXLFInSRYQS
t8fQ21mEcxvi1jFqHUinohi5j5S16Vzgi0ETmeQeSvsksTaN0WJwdowUbbKdRtWTpSS2gILA82Yr
FTSlTWcVwbcCoZfeBsWA+LLO9HTP+2Xm1DnV9JYU2OcPebB0z65djBC0OL2xxObIYfZtO2ZntvLW
7PV8YnQxk87z3OjRh+m6ZPrr0vrq0UtUjjF/EfNLPJlNv00q3zqvrNw8ZcI73zlZM8qN6ZBQd9r3
TKHCaoj9Fz9vyxNbLkvHbiT0k3bmymFVi6MztJbFZTw79p3EIXiZuEhLt5aXtVcJLEUAEAzPqKs5
hx4lErRBEBsAHmGqYQt0VD19SeogsjcpKE9gMzZp0Ztm6OzvmieB00jKlBKSsYif1/7/pVEXw4si
qYDQZF1R0A5lxg+G5soJyz4lbaEa1Xg3V9q7G7L1zSwzI3nzOa7eTpZeDYozjnRK8VFydAl8CK1z
X5dEGlqI9Te4vavrDHZMFHp+PWFGj8cRP+RIrmfVRtW33J9JgGVeiN4nc2rkALk5qxmjfQ08N6+i
at4mhld9d3Kdg9h2lU/F5PYm4T4QilOkxGp+jjxkJwzj4+DRNnDusHEuswyZ93iAdXMgPOhqG8Lg
Ro8iIkvT5dT1qyHd2FHkfx8L4l8gwVqK87pVmCdOo3pzR+J8/egUYzKfZo2/Uo+JjRdhPgRE2anB
4kFwmx4YbOP71n2zFO41oIS54D46xZRL2cbXxhu714B8aYrBOteX7ChTs2ehLi+TVs1fF/gR955d
z8ivAPm9RapVTThMVf/dBtj7qocpx0NXLRVY8dhI803gju3bzFdKEvbgeoSoRi5bphLydgSVlGxV
VcdH8B6sZOt78/AEvzD5olEUZZtYxXTZuwof8haYtStYdYh+2rsaTsAuygIbFSqTrq1LuU1C1twi
cYDfEIwnfWM1ExnT6FjWjBdqhKByaVmoHg5Y6LK5zyHpn8BFihqhEe+uhmEiugobIGrs4ZY+JyKt
1oJytx0ni0Oc3TZdvRmizuFF5mHAVuGX8bj3pq5YHnIjjrsdygowdcwL0aTUwvdePU4416aXTq+G
0WTdlvS4MV0RX0vHMx+b0L1IZlyw1pRAcdrBlQSZqiV7ilo4XjLrWoA5rrYwgggfTwQCqYDkPDKq
irC2EzABmhMMH8vrixIqRhvPzVkadPa5C9LjXmbRWNkortvIFfdeTMjIbtRDoIgL1+DA/buld1J1
TQ+CsOEgqwhK9PivX7x2MY+TPIljdg7VflvgMVo79KddfIaahQ3RL4vW2aYFeWImKcXTDgg2wYHD
7NPabFQtpxOZNW4aum5v9MC9EsHb6E3Zd1dkRcEGTAQrcpCsCjZpUvHPYFjhVkE6QTEmIvnBMFuT
Db2Z6wdoL/I26xiYb5kQ86KaU5R+mfJEBfQFa6JcMzW9icAQL31WsdGJueAMJP2pI5qv46iPhiYr
cuoZyL4b+PjZsBUQGHCxu/l41dvJVY+KgZq7TBSpZLabb2Ktg+RQ+mjRJ204eWhOHv6xoqZbvAWp
phzO8XMiyXOGfEjHRhfVcewVbvtoZRroYrDgwAxrMqVZAZHfY/3yLH6pjVBI/dS6vy6sHVKYKZmQ
nTeytGCCyWzOhJGfnWGciwhgIkVm8I8HMxlIT3H8MpIHXydr/i7+p0JgmY6Jwi7Y9bZ1bYOnwrXi
n4zNGKi7KU10fZERr+XvnGIq6GoSEtf1J9HiO/pOJeMEw2yyp6zcLTkdwE0T9FJf4/FfotNm8pL+
LGH+r9KdiXjWuQiKhYdyUzeDG0WboJEg1FXvLd21DQ1tfEKz5hYXmL37AeufiGzvIBM3gE6k+fpC
HRGOEI68tBiqpyqPfYP3ICHzZUP21pJeN13vA9Eqei/Ya8+2OF72cxAwjeoRz7FNGrIx2/LMapYB
0arpBrCldjj3uho9INgb+huio60FSM+d0xo2k82p7WXSKohNPCdUFWJjgqez975cGvzc4MUJ+HRy
QyX7dlmPICbC5NcEhu85XjmHZa1FmxtaejSc74nI5HKYdU3hOJGOm7M72PQlnVR6HL65i4pmTdqm
c29uh5pTwj3LYQbYxFjk3JMcnutksLeqYS21+Opzp3zxxyH16HvOBCEyjqjLV5ju64JCG62Ca1Z5
QXFqijbjW+vimtFR1vFFfE+9zrIBNg/Ayni206k9m/y4He8ccnFdRKaIDO0rXUmcWPYgCrJuIA7F
NkRgAtQ0zAJDVukt+1aXP/Sk24ttnrhLAkzQabP72QhEfYjs1m9PcwX9/WYiyNnaWO6EFcImftw/
nUhMnThPgsnBRTmjq5Q7Ih9qUhFY5GvX3mnKuSratG1veUfEdRmr5YuWxtYpg1I8lghRb5j21LYI
p84OivQQOyrLp+PZ6iZrCXuCzGL/kGqrx42NBDy211AEW+mIdjIHJoKebbPrgQ3h2mCx3UxNU6iz
0UNHSXFsOK0L8p83oVsziEoG0r9Pq/5/yAaGV9Vr9fpfqAa6/9rr6uW5B/H7HyAgWFVgf60fwG6h
yCv8KCFY/8DvCgLp/uZhABCezVgS/de/HAqghbEhkObFAG5V1n6I2pE21GGHPA+8C2jHYKT8Uz0g
UZoxQhOmJ5hCvYfw/A3xAB/lh1ELDgfmmEwZIXb4whV/GrWUbRaskF0VLn7f5ocCbtWwH73GfUid
Tvb7ZD1Tb9t4IDTeJervHuyg/8wnJl+P94icY0SNCdZCRNYbAQxYnyBcywqGF3bwyLgB/kjflwHi
cABUzqGKc6wCDnDAy4mEDehBMcFimzLu/Ke+cFeqf2DS+VmCNjqHTtphpxp7sncS2F6YJLBn090w
x+msx0uF8dkCIB+zteSX4xBlR2QJBGdkGUJ0EfiRpZO1bzWL845a2HxGB2pjdE39/GtNvAI4rBkN
84aYRvMiTfPpa98O3n1QlWN6SOC2UVxkSUBDcY45E0as3d1mLEpO3FjSOYrkrfWCjZLei0Ec6RfR
81NvzDm26UTSeWB3sWge7/xktUlZvcofHZaY0ypFpHtsCKs9EF1+KaRiWKPZs05EIsv8UJJecaEK
hw0goFp+wUBgsMIT9HKi3CYwNyaCVTdMxrmjwZzjuN8iEB8LTlPGQJPODv6HvTNZkhxJk/OrUHhH
C/bl6oDDt/AllowlL5DIyAjsgGEzLM/GG1+MH7K6ycqamRqZAw8U4aFEqlo60yPgAMxMf9VPO07t
UQXNy1Rc3dtmhWFAkqgGUYV2ZYhzLVJkS8Em+TuvHwKwNQaqe6KL8Wq9U+vXrF+6GJOVWVBlpvfu
tc0NMqrM2GDfNSVTGET6UtWJu5vti1FbnN8mmaubxsCux/h11N6loqHexXD8IvgSY3+USUukmiK2
kZJyJnkJ4ZWqpzK5MRsXnOCw3OxO1ziujvMo9i6TKjLcTl6ZIeZaCkyR4ihmU8fC5V2+uN/KagQO
qUTrEuOZOShat9fmlCw+ZMLdwNqGJ91UnObYdGLmg6AAppumqhvQn2gPRDqiQeiUv9LbOplePW04
hLpym2D9wO4MygppI2v1R3fsnYdq6pNDxQc/TNGUuNQbVwaJY7aeX3Gczp3vkGn4BmQWgJDjZJxE
NW8oAX0lVUYRNGyh9yKeVZiQjg1mFjNLiwDj1qWvuxHINBJoTrm1SHqnfrIo7tkh05v7JkchTumA
oMHRFwobgdzplmWfNXNEUD1lddqD6yejMFcGq2hS5quyY2rT96qfvDeh6JANzR7U3sbtzA5eN0I6
/86hPeQI5/1oFxCzm4ZNH90WgiZ3A9SXn2qZumfuWOTbMat5bA17IphEO7CTbFeWx1c+aembMywN
mAbZ9wYm+9aaD2x6mF4xXXLrzaI27ZcWu4XhZ8CUqKuwci0OZK3z2xQGp1oIaJH14jB/praeBAFy
m2c2XEzTXGdeafFVSKTIsus5EIytiD57QRUPQI9uvFhSX7KgELZF3Sgd1DSGtFkDvdBrEZWiVEte
3BzBzx+NxqaHdYISRlY7GQZ6erTV2lOsfLNuMTMKzzU6h/1Zq2pyVuvN41dW1jnHyuwbqJd9wojP
yCV8A2GOPKeWpyw3d6LO3m+spCTeQ4RI3fCMDmjUrlIRY0k6Rz3AFh5p10lbZFzAjKYT1kutE+pU
Yl5NdrbYxn72clL+9byCdY3YbIttu7QVvlOTsLe/CEY3YbJgjgUpNRVeqMrcfAXm2Zi+607QSfva
+1lH6vBKI6WJa0rFa7NjxI6Jkqxr/+RNMwe6rJC5vR/Q5qqtMQ+dFkZoHWNYwVITvHlUI/vgx5kG
wH9lOoWq3ZnfJ88cxg2/+PCQOHmcbEuhyHFPLGcxdnHBPOjBZD/NkF6ZLfvGpt1En+sXQH6VylAh
HMduFIFTdgXTDRsJ0mlgdJZ2iTYa33uZwenHaQZM8kntlPlG5mJfrRQgaw3Tg+zje6XAje/P8piE
WHRC2Va5Q5s375a6goSKaNSU0cHiu3fT6uTW8w035daLacNNmUhp5XBh6xXYPMcMGBCx1Q/6b+4R
fGBjAuYDDb3j8J8GUUQbr132e5mPSIXVyQZW6WVEVgxvuXaicek4FqeutV5N1fw5d9XjlBs8pSKU
mv6uxTfZN+cyR15I5z3NEYeuzw4i5ggkS56Hytfi4jqlM8Tf5LWVLvt7q2n2DurNgPErRfWY9oZd
DH5VPciS/h+v4bxFIW+VGERxG9xwDW+Y4cMtAdICLw1Gj08r1HiXtSMA3Mg9ekb2Ys1GEvbkyngu
iwA7c6gs9oZyNJMDTxGgdR/TReRHszOUo1sOtCOb5cYCRSbqsd6POZVbJY/q3LJrBTqGYrZv4zIs
XPnQoYVL2zt6muDlkwGonn4sEn2xGhnl8OdfIoL8XWZ2m6gyH4s8PUonObk5PDNyHBvVXbA1qPNO
Nox2FZW/VsTmPSzID3pxqXCSCQWho8WhEbGse14Vr6rkSW37rYLrI5EQFaYFvUc9FpV2GjVF80v6
PoRlXgdi2bAQDB8C/yGOOqYsVN28tkodlFn+WdvetlGL/ZDpe3V2nwWsWAIxdAvOpZs/r/hi1RbX
Tk+30AqhoFDbw8vI2NhTmW4ZAdfbZBlzFETt2ak5NPXaupMp+g/opg8t2rs/8DSuw+GAerCwqZsn
qWccjVXfQuM5KJV+L0eUrL6veQmkFgt1A2kvZO/z2Dj1qWmKdxJzL1PUux8t55YnjNrhYDFGYGII
XSPRBkS06dyNTFoy2lsGq57uZcLfKXiAtjXaCI1jim4yMmo/XFPJ/NqR2nnUmPL206spGJh4GaMh
hKnMZfwNh8KBqmF5QWmBgLRKCHgaA1gIljuX/UagC+XnAuSswgCwFEt01EUrHnHrsDfR0ckn5ajk
NzMbE+COD7A8N2Q4UVtq3Z45e0vzbWjlcrfkcZBTzeMWUCDzar7XibqXGVVFlY4M6fIdZpV5KyuM
zu0FCkN8IHF2QST3hdIf0A9g8FXpjyVNzpBzNzBrfWOKL4ptHcja3wCt++wwsOHAialK45ERDMrk
uPJS4m1iOsM2EQsEIUGdGQ0YtLA2vU6zdoShJS/3DNRwb+TnuY1PeW7fGLw8rHCfzsm3Fq9UwPQ3
nYXGYo6Wa1oHIzffIxz6qtfs4jlI0C2N4nuS6yFck2/sMl6RuzZe8lEJ984s7tP5ogyEG6v6kTzB
kSoltFH5zi4QggwDEaNI90a8jLchfi7og3W0NozaPhy8n0rd3812hjUwirC0Wye1z0I40iVSPqd5
/XPkTFxUpraFKN1AFcVXxCIjdt0CL7dqh72GsTCr8H3iReo4UFbfI6++mSJWMbIZS7wxVPKhue2F
csyvFmbUwrPDoot4M+vLR05gjPGdtTa5U1LFGBNkz9L/rDpqQkYhg2wByTRW5t4jsj/iE6umtgry
gtdJl76WY9IG/GqQv0YyTjhE3tlby71Xv0+6Itb6oRml2CaJ+53xmxIf4kV1fhpFf9XGqEk4F/S9
u00UVceD1blqFaLVtjN0xDL/TmrRc5GcCzcL29oDrcLJOKGw3B7p644GJaQCm7WgE0N6MeValUX/
l1ltGjjuHy1I23esXJShU+IQIZU6EUpVJEqcAZFloX+ZVZW2ARNTbW/ZkrpcjyDiQ4J1xoECEXUn
4ZZgUJH5jSMnmOGTa5vLA92ETkqhcISePgkX8Tkuy68C4/myQc8WD63SQrJVcWRQ6w2l5hnBKZFr
V6SWXm2oUTeHirpk2xXSfBR6TJa8Fp5ZEJwsTR109SR+8mipZA7bolVD7IMLNWDVgEiPUcrCmwEm
t/A1lob7cdQ7Cu77foYnI2S/LbXWs2goL6dxz9KjuniSQfRvRjPjB8SAnBVHVdgMKYD5rjtLr9Dt
Y01j1su41MqFncmMSDKjNJTd7PzUeptlRohh1bmUbPnx63T9f0Nx+H8tqLCaVv9joWH/+d7+/G+H
rli7xNd/zh9BXb0X//rfuj9LEHAN/qVBOMY/HA9vOxIDmXL9V3LtjxCDoyM0YGa1ERqM1WmJ0PCv
TJulU+mLl9Z1DGxlBM5waf4r0wZ3QfNMD7M1Au2KXTD/KxEGPuRPXleXwBaROuqDPeynSBHOXyzi
thmPkSxLhajxUIZRL+xt6+Dxyqt2O0ZFvWPm9m2sh29/unj/TqbBXD20/8fxyudalDEZpm5yaTQ8
11ywPzuGvX5xOQRG2VHmXXsTKvFvTp5R/cIaXb4XVaI81Ay3ttKJ+v7QmxPuI4z80OQkt3pS1bLe
YlA5ZYONSQfihHZCzS80uEOcoEHgxUlAabL4NIaBvpJBTNl5HlL5ldij+jQvSfOlZIRKcVINfqQN
8zbT8uFsCy3+qNryW2tqQAfKhWg/5H1dgfhcpTcSR7uqWpV824DXIPWRaLilNtm0NnSoV6dIsz+u
1P9/4v67bvCl/8dP3NP//B+Az+fPPz9Yv/7IP8W9tXEM8DGZANybf0SA/niwdOsfGOodbNT/hCNz
T//zwTL1f2gq1cQYoyydSOhqIf/nc2VYa4MZiRcM0L+0wv/SY/W7hdzhtrZtonWcJpkE8JF/sd07
3sC+l3vfz0X2xo74ThYeKDRQINOImvm/r8q/8ygRW/ntWfrjw3iTEERim7piXH9/lvKhw+bWWBIo
kFIuj2XGEJK6BS2FUN7XTbXRBfUN58Tysq/1XOvuGECOcqt1g7tXu5KCl6S0LawswB/EveI2AwRw
IBLdTW8st9pXaU0TmYVTQjk0XWlPJ73BMbi3ndE5G/AX6mue9GRRu7SPL1WSpTOnonZqTgmuwyZc
4EqtnmxKKAIdqkQXaopagomnXnKbN9DnAtbO9Q9ZEEA2ZmQRSO05N98YDThaKI28Mo7UOjY5G6ym
LPfmCPTMF7q8Mlfnb+qnSma+zWn9zctdOGU1Fh0FG6ODm4VaRy5FNnTGLatjN2MPNTIrsQGxi03D
X+CPeiHj0KOnRgukigy7YRqUKOeRZpWDaXv1ELQ9NTmlz/kkB/dg11p5J0VqVSZmCox4G3SEqD8A
B0FmYPBm4QUU6YD02mleu0uWOu3hDSoM5DvmIPrGVVF/Gcuzzxxx0FSHpZbmS0ZZ0MaUsfKDUqIt
JtV7IS07oL1K4FRRIFnqBHTp69E2erc0m8Jc3YrjrzlShNmJ2YovXWcHqXNrKhUOSK3rA6Z24M56
pmjCeYjtRARa1D97xH43M8iQYGkpJU701wT7gj1nD0rV59tW0a/c4/q5E7pL6UR1PzhxKLGB+fTT
ej63/qGZXevgcWTZpDH0m25Z8VrrfCdLm2NqD0dvVdzkpOMMxE6iGf2upmrHV7CYZo5ylex6pFzG
IB3NfYElK8jz8V43klPKZodOGSV0e2o1GviaTIEdNyAAsinT6Gc0gvMge4CpuDmOqpxXe9aewgv9
rE/Wg4lPEAxd/J50+nF2YvB0hQjyzgaruETlDjtTaDYWZuwioLNDrNjCi9SGcHHbB9SYS760yp6h
4FEi0EYuiEaYlhyZsvasUHo16da5U9hKT9W8c8Z5v6w+woWfQNT2XW3Lm6Unn5qHPp607VM7MNkf
1C2HoctsAKEsh+ib0cuTakZ7xWSsNHg9e+MlOkz0gASz0r+6Bd4Fnb0rrhngZPay/mypX/coXnrP
sS+e1rEvSYiqp5tWcxV7Y0IdYcJXNgEr6IvZxspG8YardGcSAL0CoFJVA4+ZQaV4PzWFNTf2pouT
NtmOWMlnN8F/i3HLBm6UbYF3BjANw2jRJtwh3VloJSWkK5S18U4jFnIGp7caA+eG9dZnC3yZIg5b
uAVpH0W+hqiXVT7VDVMYwe7euLr2rAuP/kK3n2C8dTsXndCy+1d+0DvGGoQ6evXDU3IUgqS+ccj8
aguMj6WLTRs6Lk78E7VFr0hk+95I6SKusI4xLPnBQF5yFjSGcDBT05/riHBfa5wZJJ7WvolAL0pv
EzXdD+BwOA2j5ZDRbnPXi2ahjye7GaI2d3Qw3Lwy6i8t4feNbBbAkzWBicT5pCg9LGu3Ps15/CBw
pENutsct4x2Mhg3R56FtEcar5c6MjdYv9RrDlZF/xWlObkJ6z0s++722VCdnEG9A49eRwKqTiM+a
YArgQSqSPMUKLZNi7imDzoQCuMHGExTUr3EA1q9yAbDS9umpS1SxSxU7NKChUP/CMboYvKvZaUdc
sYgu+UnNmIDAo9+qMrrv8oGqrIYnVHfK+4y+WOR1WJLSKnq0Pes5dlcvigPjEW2R1keyiKHT2N+p
Kz7pVu7eIk5ZW9RRHeiU8zQ1tnPIQLk28Dm7Zpz8Pm72WdJuMXNiSeXTjNaeSSGYkPYTbXnITcfe
4EggN9pEu3yApljnzp6KlINdOj9pD6oDBg87qmmNjXTifAsJy/CNKMFCaKUfS6EFonIRgr2JNvZ8
6Ldxo4cm/3mndhhCTFNmh0oqx8mlyrtPeo5ZcZOrz0kZJfvBGULc8lvT6DBmZ9F94cQXu8SIaHF/
13iC6zSxttjyOUWhCDjUTfnqnD6Vqoc7Z8RryCDMbxHDeO/GF+h0xPZgw2DlmbYsEtWFe73eaurY
auepWDxfGzsyKAbmPtoxONkXWcPcpeF7lTnI0e7ooOJjmyQyknnyRGzi2AgDqr3nfBkjKJuNlues
i7FebFNX690ANf/gVsqxyWjOsZCcN6mJ+jHgtN7rVQqAqX3jEHJGiH/qDRJCZe3sWiQFWosX56VC
JvnsslK5VLrmbZaxODtFjaw5QOg0FhR4aw7drvnhieRJH2vzE0O0Glh2c3XsYb5HfSh2k5GGLH4/
qJh/A0NKO1LZzIdMUfeRTpOMFYl9MlScipFbtu1YHypbgfHuRD841u7HxvqSNaRCSqfcfYbF+4aR
bjxpNnzdnCYJlsiqfIrpF9kNjCD8oSgMLhRfUqVO3yono5QdepjXjRNbcPGgo7KSRNPOS118lRU+
QW8gJDDNxiXNeaBKkzGTlVYNJgjUqrSyWGbb4Tp4XazzpkMdicvqpWKv5gv8Ojz4OfsFb3iO1iYk
mz5jMLAWwRdoFEenFSfMdO1BZePq4849ZdwbWIxUlREpbUmwCQ9CtV7dWXhbtV6+Y5i6V3g9RUDG
GZ94LUEVCw9smpt3qpEvAM/Q6KTZKEFpZvslyY9und5bdXt2HbixLn0t2gyemLVv3Fo01T2sWMaN
8cvutajFo2svb9Y06LS9gXCtqWSqDTXdK7FCS7UsISh1IjuZunIWnfAC11bfYp4IwFTqcGd765zM
sp2tN5bKz9EoPoZpqi/alD5Ya+M80gkoIlfRnjk6EsGz0p0pqEGoF/sN5pcIVfbaYZ/gdcXHqGPS
n42r0fZIXhPeK5w9W6lGh5yaI7dMDng4rwT330nLnLnDzTuboGFgg68dCjDjiuVdhhLWrTG7tZ/3
LA5lrrFlxutLODyIzeWk5V5FQ478WavFlpToqUgthmNezkDYuC6td81AfQppBppanHEQYucTxUfu
NRslilndalsN0kXdL6l142B+z6h4B3L0FYoUvy67CzZyAKVdhqJTob73bopeNljP/LY1RRTTDznq
31SnhzTtjKey1Z5A0j2UmHaO5mBj6y1GJUBhTK8gArkVvVYSomzeRKZMwNwiCNH8MNMha2M2ZaaY
iwHAEx1T96mbIXYRjXCo8LbH6jMddQf+cdJI7DFzUT7EgFSnc8nCQ04M/w5tR4tlnURKg8NO0egE
xrxrODSD25RbvTMLzV/oWKolDhXbYIU0Y884d4NJvDQhNu5nLcPxwHQqGt3V1qCk9O/PJr+rC+vJ
BNljPVIRcTLp+fiLuiBjWjYVnfjiwOedyBDi28k7KtI5ItwUIZRzUzuR9JWRdM3ff/TvBIM/PloF
GM7pkMZn/vv3Q1Fc6XxzeAv8uoRvACpPr4Oa+/2OilYqPed0nlo/s6Lu+vefu6In/qRsrB/sEE1e
s7zk/EnEG79/MJ5YiYHMHnxTo6yJsxdFeKCPewzXhcsIZqM0HrHObCazgV5acstVbFdVvmIPhLLq
5I8gY+ROIX/yulIBwtFce12dkkpUbGJuAaFaAUSdZ4t1SlR2CaWRg6rBQ2xgMWst9WmgcxXmtyKn
/ySp/G+vKodq2wDZi5FBdS10qT/LNk3lJE4hncHvy7Z47iyveJYMc5RSZwOgzIrzajc5Oea/v6ba
72rRry8ToQzpx9I1kLDGX+6jXFl6AA10GtoZpnNcYsL4ZjQUmobtNJURji8546OwUh5iFGMOOBON
gtb6aiPC4TX4tv/+J/o35/tfogNKgmbgFkI3+P06aIniDp6Bkb0ghf0Dr7rgdVEtbYzxPOPSE3Cx
3eDvP/OvN9avAD+ZFRQFcvye85fPBGpJ1Ijyl4DQ0LF09lQcbof69T/5kL9+w5aNKcl1XA/vP4ql
9Zfb1xqNpSsdRo/aIyj6YDlcSzvYdZsf3+URwf/V3Gj3LBpaEzAS9t09L/3w738EPu2vioaFyIEg
6rmewzsYFPHvlzfPOOI5JKT8PmlOXl4/JRHbL5FzMjHoPn+cmHcHhWIdpyS/CpjuoufVW7ppt58L
iNBs89Z1OWG6QLCC4ZvXHfGUftnKcIhWLigRL0qBWCvze73Fd6h1+L6NNnnphYM5ozHFzqQmhUyW
v3R22CEaWHP9WBfWESLlTWQ4B7Q2sJX6gqd83xeCLgylPdQNGAeR9UTeCAX00mW9Xov9MraId66d
61sO8QmgBwZMRvTaqtHWs8pHUvYfi1GeXEl2ncPLpbDHl9aajlbBVbZm+RIN4xtJ7DdVipfI0I+Z
UZ0UXnFBtlqnBUdKzOIHBtYNsr/3FOPVKWO+o0gN89TeYYs+qFpz9aTpnDrX/SB/GC59WxBJQJUi
NsM2pMgetaS8CNMO53TcdY57pMyWLBlnb0/9zgzoMent97SJ7sY83s+j8ZCuk1ZJXwAVzm+lxubQ
aF+4Kk+1hPWIfh1SZrjL5vRYKtYrOzROzfElKedg1vk/KzEWMzG8SJLhTIcY5oomBKC6sxLlI2d9
1TWIq6aQn7VZP/GyZGzVL3RtjcfIw5zA0xkodfStgjeLrbmnsLfDW+I8MKt/tXICF0P5vHj1cSgp
EbFVPFJi6kIHy1cibOKO+aFu9UAK762aLOZdLFJZc6HK8WWM03VvvM8llSiRfC/JMGHZrR+MdHws
8EA0pbFVO+27YtMwCfE7x4bONcSl0BVPSawdS7MpmOl2FAph0OVK1jXFJBVnmax6s1PEnDhDebDZ
pvmOmjyyofw29l0ToMg1PqxU+hYsVbsfFBSFsb/2RvUUD4C4G7AKG1AoxQfmVSdsVe0uyurdomOX
KIdtrWKrKw21DCIlvTMX54ipmmoJgiqoTiTIGnSKJXF3jI4Q3fN+J4rlbrZSXDxGd0/xZ3+pJoWd
b59dDLeDxL5clabjlmdEHyqJeSTicuJoevQWnrNhdrJQYJbbaHJxdgOz/60S6+keL9R8zWuBSz7f
RdHAYMrMYNKpI/UrkhMm1t0N9YPzAe/cNxN17GA2g3KPOPOFVYapdq+89EX/nfCUA9B4Xny1LPvD
wNNGADd9Ixn4BFOyBPqwVs1yLUhL7ngfkNKca2jMvDSqsr5TqODso/zKdQ2oNO2wmGgebRWTxLBf
y01TgxZOW/Z9qk4DSEPVAoCNs9NF+6Je9Od5Whhrz8OTJ1hmcH4xpZf1iytYkRpktrt29HA4s03c
WAJQf9GProHncDh1U/MV6daxGtbeaqUG7KrBU4bXQMWH9zB2w4vSjQ9MZldnP9WykZH5jrFa5Hja
OYibr2arNjQBJ/vFrUa0CMvXS+8ssnkL1u4Jy9y20EG7OKAn/Iif3pbWVbXlxZrity7XNwNOx1af
9lpp7UTETrqzBEFD82Wp5wvm5mvkWaHOndLW6XstoC61ylanQF2iT1ArHwpX86s5vw5z+gOTx5YS
jD1Y1dtkq3QiLCeiTdZGK4oQv/WucbW3YXnXEu1lYM5/9LLebHdmWVC61bWq3PUjPk7H4HhAfiTo
wFdvsbcJwS8c88MR0Rscb6eV9qetjF7BgV+oYaHNBOuydDlEVmVAxhgEDdOVvrIH4tG3W0o2Cie1
HoYxa5GEuege70bsrScNHuJ906fioirptJvheyIL588mZ0Nu/jl/BoE6EtagJgimVfakeXlzQ0T+
STDjsEhaP3LAIaAYvhRmTWiBcqJrzkj78bDkUUTktL85onbhght0nS+IJMdkJZFkUYH+Nrnquc45
KWCFQ2Ug+23FErd9sixnkarfLF1qD6qadfTppM63IVWghGAU9Iti1G8VQSvPhxkwnlwcXz6bz/4H
TqHmmGViRopcbedFnEd+5cwwKd3+Os5FtWuK7oAR8ITZwPSVPiIWRL+Tv0ScrjCrn1Mpmy2s8jt3
dG/9qJPR5ngUODYKRBKxvsdDdqxizLXsBTTUD/aXSd4+953x2kyY8PDT5lTpdLrf2o1ypETk0k3j
/Sz7O3OulIFQf19/6HP/0yj7cadFGABlQxp0UzYR6paWRv2bp8ranxyaaX8UielSVoxlAFdzT8VR
3bypoxBHSe2NxvCb4/lDqS0pUkdZpFe0KvNTY+oQdvh/ElpNTTz3nV1BL+HF3yyn2ewzA3MhkYnA
dY3iWU+ja8vOXTnwak0wnglPK4OucKlnkVU0pX4cmdP3NDE/hli1yr3njNqFFtchJLJU4SYqozCm
cQhDs6QzNkwhA5E6y0VyRj+xcVQuFsNC434WNJPVUcS5qx1FTbV0NxHIkQvaaeHq9ZWc6vAaY3y9
lIMWR0HjKl2QkTlEK6/dH91QOgTooFpPAl9dnGZ3VsRmxlCniwvwVjlIy6Afnc2v9yDZXzz1cOiO
rV4shDjJI97nw8yNnGnBhG4VuII6aG7GNSBFTVOX3GY5OTtXqZ8JMJ0n11DodNCjQFerdJtNM/iT
WezcRMmp01LGl8RqH7DT0uQz8gJM5WjfN01Z+J10vFelTzB2ky41vyrDMJ+WEqrodjagZU/ZtdQj
+PUOw1qASm2GpbZu3GcIzBq+7YgyjLYSftNSSOTpFXl7knLFI1uRAk/i4h4wkxUPXlkl39R5mOcn
rzYxT7v4kiAGTucxbcyXakgaLMhqFOol3YgeSteuApKNGbvF6qRH0w3nCRHWxRv3pjfk/d4yZ2PH
4bTJkAMlL3TNxGRu8DzvpSeabdSjkU5Quyt3Gl+Zi9nBtAyPzBKXU9vTD01tAITlCM/LE+/9a+uM
zdG1VJKfNRs8iqOa0QzZYmc7t0bvM9RTbol3Ls3bRBNvNughs69Du4hdtkw7jEHUaThjFjbULGPQ
1lpnn1L9+imtpLqL4iXMnEqgqlvqdGiHNtrF3Jfr6ikXMzQIBpwmnZdopeSEvJmInZgR0fHWRXxd
GSZFc5TLgYq4+ygn7a+QwvQbxxK32pl3UK26+8pi4L+U2t6R3rZOC3FgJEJy2yxW/uly5gmZfU8j
raA0I5J2m7+z+lPNpI4wqRo3TOv8vY/5cnqvsIJGH29dKTBkaetEwAF4P3zGtvVg60rH0QW7ffUH
hB2o7HDLXe+DOMQSMJTfzGgzgbQo6WQKMzNa0rBbZ0FrIP0qOTcgbWJntSKmnY3eMVME5WpJf6bE
/kZYl2xfl+9Jzzf+JKfdZKZyO8WM9JhlsBqm7T6uUkHDz7J8czWyijHpI8Z2AyD98amIqmZrWDXr
boW1kbEDewj8GOSkOwz7I5swgszsKI0xW/Y1Qxj1kOFx3YrGBIWTelZ6G0Zmrt0CoN4SI9VPlnuj
v9M407lg7hRpqa/IlUThCBDArHA2QveKbd+wf90wn+QcC09hYBgwNT5kEcs5cBXwC5prS3rl7MeJ
toECf+NH2yYJySRmRz/TrCt2CprBta+M+4Jw5yWnVuBRHelSayb3JrqiDK3SrL7bY3emQ0BuZmKG
o6Es903FTjW28m9w1Z4JZs5YfzHNExy7Onik/EoDnpDjWI1b9N94bL+7dt+RgKT/iwXO6a71MMuv
Km9EwJvlLcukc8xIDm86Vb5WecRhYcnTuzLmOYrUZt5bHMpDkr0A8Tu2rGPMnAvLZxaYUe2GpbHC
SWR8myNv8RHELrVaFz87UU73up47geaIrfHryB/Vh8VqdjnvPHbZjKHLPqwy5XmpnHvIZVxuEcYe
XeTgmtF/OyxqoyYe0m7xq77YdirWq00UJf1uUgb3xxqaQsWMqBGs101JTH9QUkiwZBarXuoXGGYe
6QwvHmfTGp8J/uGUjNHhh5u0ayg/JJ0V7FwQ6ReYA+MwoxXaJos5ScSY5GLKYqmP0YUk6JZA7I79
tdgvRnrP+JJ6se5qL811arNtroiHgVSuQFvZqTWTLShPs9923lebu2LY9FX/Yo6KJCbs+Mh46qmd
IiWctVTg9heKP8xxEXZkOX2dFM4mWUHN8Vju4l5JKTpbKD2q3qVG60OuUtOHW1Ub6iPyzgejDHPL
CxGvtWNuXZv1ekSc3NiOkPQY0iOWTO3N0I3T0HEH1DJ7pFUCDED7VLp4HT0MhlCEwVAJ5mhURFww
ebY3Qh4nz2lz8FYELvSKvUPkFAfZjDcIQh2Z+ebSMIpoNkOOK6cU6gtpRt6SsXGYpEqON6q0oNX1
d6rxvllKZD0weWdDZfbjm6PNOhQTEEs98U6+5fIlKikLBND9ViuJu2FAYR6ItMOG98BvxWA1GtNw
t6NFUqKH+hny+BwsjEh+CsckNDIkATtKGmavkxog9mkXclATJVXJq1qzXSTgzqjIgn8w0xgwWOyx
x+HMwqdvuCcxGFSRfdJtaYB3JhQJRuk+hoYWKVz2xvlqdfyrTubdOxPe2LSx2AvRBeiTmTl1VnXx
qlnfFS6j+EIdiZf0t2TxTpApykPK3mZDenXxM8yqx0JgaM9knB15dmn1g1H8aaTKjVDP+7BY1Ftp
1bvR2Sd4G+0tr9EGpPNMVn3DkcI4gKGKDgW2Sa1ivKQZscvD2z43M91tPbObB9PNbjlzprOMsVdj
Gat9YxzuJCCSXZy37eZ/UXYmy3EjWRb9lbbao8zhmBfVi5gZnIJTkNIGJlIU5hkOOPD1faDs6k5K
MqnbLC1NqZQYEQjA/fl795470suUZELOOGvGln53XB8nlw3ShpfHrow9hxjY/BApOR3CIXpgugGH
rKcPTxGyC2uCBXciJQ+vdS6UMRQvgUOlPKSE30z4NtGJhpsW7k5Xo6zuxfDQNy3aiqi7yfPOfyTk
gqE42BGiYVCJ1zmElxR9JN9wd9ad0gflK/cYkGe9qrqpPLTOQPZuGSKyT17tudRfq9EGwFk6wVFn
86sgXuIYVBN8qPRT09i0gbz6U2G1p1nU5baPXOPCK8Z8m40xwaZZ/Yjq5j1MMmIfWWO3SJ/J48yg
7WCKWmtG4x34u62fakZ6ZJmTSXSMO4wtUpMXlmAe9jO+pt4wcPq5N96kh/XSeZD28OBrgAg42jeD
Wxw0OWGdYt4TO+4l2L5p7YR4BxuWY7q/t+kQVlTYdXBLt/SzgL69mm3/aVLmN+aNyNar6gLk/Ck2
B/sgM8Ji6APuOf8a20S1DdMwkKrake5+HPPTFKVMXfLZPwRFzD6VMAi1RPNad7Sue9jfwHKNm862
T7SLSTWps9uuqQvAXFx/x3BeHS/lJcgNvZjdOVo3dX2fDVC3kAzlizP7siyGfZYD34ipAI/xaJZf
wb/JPVwAHA7pi5I8nNHoXVU8qtd5rR+wVwGDgqyxUl19I7XNO5kTvYll/dQ04mkKvFMEL0onFZYo
W5K15Bgt5ib5aBJhq2oeaEPkd4y9Pzs9tVDgpJe1hasdlxLeYZVcmrrX+A2yvOWBIdTC0eatU2df
I5snJ3GITMmsmruHErFoFiMBdC7QIiR4IMnmmOM7ZIKMg019Hm4nLDL8ftBvbH4PJwngq6l+ipv8
YfaQR0BrewS29lzZ8YGr6EBB4RdTfsIg/0LxewGPCUQRBEHOXDoDG4IXibQAvWksVaxpozFo6Mkn
aeqHYWyf8ok2j9E1dykgGpTK7WXaRNfwjHFcDO0hXKz4sVCnMDQvA+lfY/O8L9O8XoGqOdsdCU2t
ERcY5ornUjh0WvPbdI6fPJvxVZ0QLFlNFzrMv8A4eEpTsXeJCiH7iGiONk/P6FwxuQxiF3NhrmjZ
d7T0CjI92bVXUZ9ekXYFtYQ2I9+4nV4Ix35rdE28LVp6qyccU3m87gBQxCXXJOOIAWkF/lG1lg0Y
SzwV9NDoKGlnz9j81o3QPyhwvUEEIcHWX4a2OhCBQOWRkpI5QsTjP2nOVrV4GOr43MTzOw83LMwq
TzeMgvJtFDbA7OHCoDO5y/LhwePODUxmzSPe1p0/9AdTpbeupqI0HGJRHG1wDmRiRf3FPJ+DPdl4
yYmDYcKJiDgqRKOnySalz53zasfEdFv0bvYSpBI6n5VjGWIJsidGjDkcw63lFs12MnxupzLFpdhd
Id4b9hxzd7VEQ4/TMt6Uejg1Lg6rvHNuaCHcj77z0gRo+XI7w0ATbfoyWEAgu1zT36sS/mIa0KKD
o07p7AYHYjgpHu22/ezo9i2PA2fPCWtmVdTG2p4jWjK5JUMJUdHpjyNL8UZammCkVuAqI3YYvCWH
tjC8nZz8ahLDFXOn66ihPYUnvkAhpf17b5ELa+CGVk7QRCYyhlXWXrjhEU0fwUMzGyGWGui9Crdu
4cc38TwEiPPcL74yJ7YOXrYICWH01XhnOg6+EA/1lZM3/Rq9wjELxrOooscK39SKeIwrsrqTTSKy
R3uyQ26I8pAXbrtRaeismb7SFh2vI9Hc1KN/U4fWpagMoJF5kiPKG976jiUgVvlDXIp9bjOMmwef
gqkZLkZ7PjZZRw0VMwMGwEIWZdWVm7kS595mV0eRT8Uuk34NS5FWucw3AzC9leFnIAUXjgsyQ8xp
zHk1HRoRdAdtoDVBBXIn50pvcyZI1wQkPUzNSAKNHfmHyORAYIEl4lJJAmp8zTOVg6ixv/ie079g
l+FMhmvVsq1TFJBegwdO3HdYmGhFyMQ4Tjr8OrSIH2QzF6+6MI1rr69xehJnio/jEiWeRQO0nO7N
cKaNTbhr1QYucqeqXutOBJdxlVv7siatamyT2y4VtMfwYKz5pAYoEfXYwd8kRE8Z6Ahrc2cQo8aQ
tb4NuVvxxLruZuo86D+xj6Kvi436jFK2e3TDqjtNuQhPo2FW27otlb4KXSQUJtprMKqugvbXA2G9
jASbJSvnvqchyrmcROAgYe2hjKuaVxAT9tpimnxlwWTCbkIIJnPPudh4Q9teTW18j5Vi8Upj+k39
6TDMfnig5OOYL15KHb51ZHRdNI7zNDcITlFjNSsTzlZWRLh/WxpOmTt+mjOUH3PsnjItJjw36oys
4TkJiEPCajsQkb48MnWdbBmZfS2i2tyaqrmtXYoRYeNvYyAf7U0Dtk/faVqBk/xMvIjB08rHd/v+
MMYa/0liXQhG6FvXku9BZqawZ01O2HF+CXeZ9dtHdiVQihDZ0jzjLaLo86qtiPzLyZLzEafO00Km
3iE5JDeMKGcmhagjTSp2JXW6b75LXOiLdSEC5NADAsIMvpxzco7dgUPogDYmJyW7iPmmMo/F0UpJ
5Kajg0qPeq518aXARkI36DmvKg5vbBtGMw1Zb4Nmyrnpzb6+hp0wcmFAqnROzDUzj7XfxDcGbTDw
+i0dbmtxPk9ZSXKi57TsDYjx8FlGHWqNurltxvLJrZyRhTfPjXTDe8uzXTs3Hf3WiBxpl8jexT1j
ymLvgC4qty2c5mhltssgyeVYjsfTdtxjR9zLOjIbVF9LBxsIMSdWbK2NrPGy4SZ1Qrfazk2LeC9n
7tG71qmpmVix4BAo7+3qmALcGsJ5t8CcAzhJTrGzamogk47KYHK09TgQbpRBaFYB98kdngfDfS1q
xe3qVc1icX+SEDBNP3gw6J7n0RP9h1s86fkN4L90o6agObDGZ0g07YNe6EEzvN81GAJYOqQuxu1K
YmZnLhbSfDIkGtzmog9quhnFJwf4MK1w2k1Ofl06oA/yxCMEHJNeMaNSA0+D4HvcY8V6BG+W0EqR
n4xxOAdjeT24HCpcjkk0LCYVrieuFzDHKXoO4+FlGGeOcbTedeGLnTkHT57VQc0yVl6tpg2td7q3
wVaXPJ0x5WTUfS7iAUS1XdrbEMjzprc5Ztv+BGa0OiNWAaVSEigUXqtBvGlL3rfavKqtEODf3IXk
qPcRIbfDDdiiPYnam9G2yN4FL+VU2X1egJTMQFuvecffEMveiDTu9nk43GXYqdalmwFeLDRoJzvf
NoF1iGb/MmwRpzkp1VmWDV+sYmY1GoBpoZkNG4uBmybNqB5OVvy5sMBZ0Zs5GiVZ2cSm886emTc/
ht37iFvW4MwUGwWAh7co7dm1AqLOjSQ+VJ79MlYEvAOUrsTib26KS5h06052Rw6UB6Xbz+Y8bysA
MPUMXqPrGbr692rJ9/b6nrw4cA1efKvpDHDXXHBk2Tt18hmuEYQuBB0XufYOPZTfzNIXsWlfFEvM
O1zjh1mje+oWXl44lbsG+RWnxxltRJK+52H0rQZ6ZzTzKcSSSz3+nCX55ZIBRxvbOhN2ga7UCxXQ
MJuqfYbCB/zaHK9wCCHedSj2bDk+pcV0R/0FOYroUA4bl0GRb+yGLqfwqsrdpaPrc2Ho+q4zMQPT
SNS12U+014ph+NRIlwOBUs29E9XhA2sU0+lsTMD12Hi+65bJfI+8OrHqYmOnBm1+DHOb0vAA3+ZG
737rchk9BfDYdtmMYbWVkP1KJcg8D7Fyz05lbeVUPklC5tDLLqAwxr0Qd7dqFF69sYp02EAaRMOZ
xeV+cDGlLqd3CPEhwFDvLYzG5qEqaZCuVOyGawvuBw0nE5vqMDtbfAN83LQmWjqeL/p2QPDtOB6+
byQqeu1FNGRyjJd7yxafaZRCAaZ499lbb2cP7qJXY+ykpnsjdzK49a36BbLoWoowuenjDnKw0XdI
03BMil5to9gW90kknY01uVczMgNUENuJqU9vY/O1agy/SeOmC9WDJw9LoMiQP1s4g2Wd+BtSPBnU
d8jUtFNXN3FNPpnhB3uk0XtAZsPWkzMMhdB5azks3QyR/eiF8V3oUcS18xtNTGdrVo0B/jT2+MQR
jb/l+GN50VeiXNuN0XnRxRRjC0ijszfZF3mABbl2YH5BdHCqZZkUxZcStsicdZdSi3yfsz6t0NID
+LLbeRPkwRu1CQaQLqFZJPyvUW6Erym8Fvr2stnVjYWFtyF3CSndQs6bIOJt6ZLdAVTlLUR9eTlm
8SEXRrZhUHWF+QH7N3pog3xEJvpudoh7HCYVh8G1Sv0XwzCeZre+FZM3rrVkykfaL8NH11lj24aE
5Xhbb/Gf47jsVjWJBhtHcsKYgzuqhA2TFQUoznoo8gDFNNCvyCifo7J7a/ArR2bFaNC7WrA08K9h
nGN6z+3+pCoYiB5Q2V2Xqy2UhnRN412tonQBsAHDXlGHYqDH5WFFkweEpGBLJzhrNkYM7uUOZq7e
Aoqg9pqDedc16mLyrQIP9XhMp6a5aCsa5GkIrGZIj4ZtPRclQtHOCMQu6aLTbKnh2pjST23SP1UL
F6DvfAgYCy4gxtS3qp3+HrzLLsjjap3jVsazmvGkCHvX1pm3deiWMPMDSjATuojutrkUpnqZUxjr
qHs5RoZ8vA0pyi2Q7AKHMyiYy7QnIlyVpGROUfhg+p5afDYviGnUmpr7lGLRGzM3RNVj669CGc9T
p3jHWOipApW7mkILInKbxHuuRpvCDkhftC3e49bqH+yhxMhQdizKGa73JeN2NWlqezA6a1EXl06K
tNkihHI9ZfMpiSPrXuIBII61c9htGF+vWzT7a90Ceu+j+ozy/ArIOFVIR91d+eeugHZXtxxXsyBj
it6wMzZ0MJg5TWpDu/Mir2KJ2Ks5uhAdLqaESkWp7NEb5V22UDUSLLp71QvULGNGowRt0aJ3VyU4
H9HFcGfUUAu0bID/5B41phygO3RDdMl3Pwe7pPZQNPtm23m3oBYxsoxTFIWrsTGn6XKwPTiPK9+y
nMs8XrpdQmVqY6F4n9ZZVrTyVuaANa4nt+KlylnjmjEi6Pp1o0TyqCUNyq3OcJ8cmfYH3tZ0yn6d
wG6yeGgsZuQZdqh4Qzk0ffGkN1XbHiumuzVdTk1bZxwAA6nJVdvZj6rsdsiM4h1Wr0QjUrN8NwCb
vavE8aZu6zkUdxhtMh7ILqDM4BiVpu9uotPyXGqecmgKaIs2vZko9V7kHZu+iSLsMJn23D63tFtz
BoJnmqNc/Uj1y7+jHvUj9J9sov/sUDeVjWlYB10EUKro/X21FbjnrZVSmVcd499wqIriCmrQ0B4Z
DC3MiGgKPkVtyfvS7jDzQ9G6vzZmn05voxwG/00jPjnHYyiSLTTomLdlC/cwRxSp98NoVvZGzkV2
DenNm9ZmilNWY7WYroUKcnvjU66Xe4JMrGaLIthaKFsNkg2f81K2Nts8Ew/gNfq9DD3V7gYV++mB
3VNz3WcxhoQ5uJN3wv0bBJfZLHz1iaovqdYdIstqHeYsnasx8EfjJe1Io1hhG+LsGme9K2g2xDTh
jG6uLKpnZsKbBIX91kY3lqHYqEOqs9aa4SWAIt+H3Wg+2l4YJFsMHua8h+1uEAcwdCq5rl3PiC8C
BT+AXnFSFV/pycR6H9ObQWWUuooSNx5VbdGNzcohPDJaz3Da52PT3jr4poqHznBdiivmxfquKphM
Hzsb1f0G8pS0jxHJ4/IaylJHTLjFwCOsUxojWWsZArQqCbNbbY7DG12scqTk8mtxHQ8eVb0QWUrf
mvwQcW/CjH/po3actlajUCxYHQPgO9kaeYmYLh13fuS2DERjUgEk+exyoxZl8lGoLm7Rw+RTyBFP
1ZUi1HeAjraSnDXkrYmifbh389m1D11E/ghB7xOKU1X7lXcFlxONCJLYds2lBERg6HoaNgYKOJ8Z
V54at0lJ7X6VSc/lZ7XedFmJcpYXjgGW/mZ2czYRlnUUyiSBgPXJQH/VazF0NFfJttWYPADFp2tk
hPGDnc20YUTm1k9lG8UOI7N8rq4bUfuXKfqer8ZUK/ZNJ6oODBbGKxT71ylZIOArDQPVyWAM/V1R
Fx3ITl0Sd9s5U/80G5VNuZAhaKPVZyDojwj9WJn0ro8DyFeMcWGU7iCj5YxBl7ElzCM2xZzO80rH
JGBDWStLCiInSgHua9csXlGMmK9JysaysobvckxqK4hggKvtc+0Mot1xUgvqa0noj8ZsM+QtUn2u
zqlgKVvakPU3q+zmcl8miK3Xo9BI1VLk4tYFtE/5bDg4GVbJ7OHxgCeKUCfqfJVeoCrlAJ/KIkfZ
lwJVOdR+grNBuYa+d9z4MUsAem60HI1phCY9yvoIpHf8FvG62U1J24R2W5xzbmntagg5FjOuwp1p
P3b0OxqUWpnTb2U9EQiOzAg2DW3M+M3TDeFXZcrOokrT/1JkeX3SQ9CdHNugqwPBk6kcPSx6TDqa
nrxU8ygHXdbLW53ydtYMuvILJx19d5Omdv9WSYnwu9Uql9cDUr+DDf9uSQx3PQxwTtEfKRsyJjKd
YPEkbic7KkjbIyWbhYCL4tnoQIEFzF/tRHJ9EZCwdJroqvA5fJeeuwmK+Kkw0Sl0Zcjso12U5VOo
1YamVHODt5klktHKU993uF4s2bnbjjzC5pBMJl9LUOsEra3fG48w81Anp5ZlHUKriK96mr6nSmCB
gn5QeGsTEUKz6yFhPsopUANvViTYVIgr6cJxelBxZZ5oadAwrxu6letWlMXGz5M6uqhMi0dzoAtI
bHRDm23vAq9W+EGj4RZhVvWC2JYlhM4SCUnBbHfgn0hl7GHyR6yPnKPCel0Uk/WO+8SKN1aLT7BP
MhNsSghwlBYFcu4lLRdIjlO2u1q41VWbwGZcBcFUXcDvHF7cwUdLTuge+1CraS5XxNzcysrne9Kg
Tj63bpUWa9cu/IrTiOOMK1x53XU8ueIVnRPVf21U9DDsOLpFX8NfgzjNbUCLqUKMSX0ck2c0iG8F
uuM1+e7YbUPAMuz4aeKTVT3T09yyvOh2l5TYx1YTtsp08f8N7rYGvZcehQ+N3UJTwjIad0TFz+nw
qUs1Ul5/1Ceszr6/odLPz4wM82k7mh1qzyXkEaOCH9k3mXJZw02h7XBTd5X/TXR1fzMEWMYogGs0
UR0bp0UAd4mzofA/wZutH5FAqWuCFY3XtuFGWGMT4F4qZI5ZNYk696ErXQSfCACx8dmT/yUk8/sF
hR1/tpRUECef8xZxUizsTF5CI74P2hq8rtN5+WMYd1d2n3f9lrM41XrX68eyn+KXoGvodgmvsFGa
ZHFefumELO+0IcSrA/rqKh9U8Zq4ZkPbzsG2bWQmx6l+run+5Kq4Z3qC2k4YtUXC8iiqVVbbw0Wn
WvdbQt7Z9TQJqhIcyHJHFy4/I02N8SE5JGeF44w0pxCDsDYLVvxB5U1nHGxGLTd0YYDZjHD4N8KK
x3vOu4997kgWKwB2VJ/OlD5ObVhCL8+/KEihW5dO3Lydh3vK/ugk2Y3ufOaG2WXqtYjDdUKyiRsH
GHFbEi8aJqMoTBanLoHFpyau1JVVVQHAHy/1EFIZ/c2c5DDVx9iM3xJCCtCN2F31BD2bA+aMtgd2
pZthAB5w2Apzbu+QSfhf+djRHXnrCIz6qDKunLoTT63ykrcKxQlBI7YK/N3AWJgxH11pmwCDSl0k
Pm1zqgEj2ZH3pDRyQsGtneY2W5q0Fk8u4Gq3QMUytzcpxwrQp+ig9Z7YFBacv0wTs68GaHDE/9DC
LMyTdGfuS6o97nuTxAYXgSixEZafM3KYuiCSR6MvnW8M6I1b6G4pTX0x0P7+/vcgLTG8xW5EyAg+
60vUXcFnlfTmm5ixpG1oz9X3cazgSbm91dJEQXN0kRmCNSPRBStMDsQaCyMq0b0VWgsI2EPQ36UQ
71YVOzSaI4c/JpbnKY/KCj2mnJwLKZjuj91A8xC9I7qrhsNMFEI23MZdBOYqoVeA6r0iZmRdpmn2
Cp+z3zhm6lyKxmXVHeycwJyYxtixbAyfqhXF1hsgFKvb9crJS/AkVvHO8SK8rnAeb+Aww5SE2QlT
rIFqolJGgd5My3GlReZjjTH0chCnZm7ok5bpvgjkAIgKc265xZeZv44lp/cNcwXMPVPYeTuzwou+
DWh6f0OoLF3wiKZ7HnmQWcrMvBn3pekBWOGgEOuHTnqSEZ5VksdiNHhEglEMCxt9uVh9P8fzmW5K
fuYBdhAjchSJAMD2muZriDOqnE3F3kn9TH4BMVtJzhUBIm8W/NIPr9GKGxsxkrRVBoE+tSKZIFai
i8aFwHsDM5AVFeauIo3K4Mn1o2iPy9x+kOCwN1pp5xy7QKVXBVWXWJHAOr3Ypi4xNto+yiW3j+/i
Ts83KKzk3Ti7UbsRfbko1nGPJncuOtlwRShwY4PgjCiRwLDHdx4hbtbR6ot5p4gleMmZGZ3jwMNW
kLRPbYVKGcZs9tWcG2iCuIpf6fC618wAqNjJBnRLrFut5G+7WHUb/PT5roSpQK9MDNwu5URKFNJd
znarqmIiuAJgqe7NYmqPdWsnN0w530zIH2otIvKUt9EAdeNcSahQMHyIgNnkRcY+krW9tA+CCLN2
+9fuPyYKrTWWTB6tBIH7prYnfZpVHNdrP2z50gb6LMOlHXGXrgINm27rfTefBctWc112BjzzgjuF
WKMyps38/QfQCeeJqHDnIjlIq06f3Cai5LKC5eTmKiCDR/JR+B1bax78LAu4LzHOm8TqkbxCyhK6
LPGaLfcKKnssjo4Q0w62VSqvXQ/c7HU/+TrczabtXDqqD1ysMgMXKAsbfgi2TzaosZ90drDavAm2
EEQcZBmz4mQs+3HIDnWs+fN/rQIMZQh59SEJRByQsobUjNbO8Ht+X8CwGXjEvXEQSPx12I8o5lRs
h7RI8gTfXoxEFkFMVfGSrudk88hDxwhHrX1yqWxxQMOJnh69gtEjQhvprGXH2ck4S0A3ooTKaXRN
9hr3L939tf+9IOxYfMRT0c8ZtEtlW8UJfVqQrnuFInGNP1Zmu8jx7OAQxG7f7onCRQ858qDu57Bk
8ZpmnguUznl2NooEpCu9X8IFOtQ93NXoNN+Dlv0UkJspIYQMvesBTqSQWk0NmVfrEoaeWCcuGXmb
SQAsvKonbaYHlfPaqxZAFDG/RtU+cw+5NDYr7URbnWtFZwqyOik8Lq2ktbSD6KHvWuJxoMdFxzop
E6wRbifwWScZbo5GEprAyAhdNAkxpWPsYzPBi75CGCj7J4cTiL+lLMLJpxoXpZRnLOV76g35+a/v
sKUR34HJizJ1GMglg5rMn67WnFeDN6aUg7WnE8RMWFgdSJvEyRWrit/7axELgYhFaYxBeRw6/i6F
lLUZBf71O84Lobd3dSIwJ4xF8UY4A12qKp4moMHzRMvVGXvxGJXELz1o1DnhkZM9t5/dauYwiKKy
M2B5bvmEzku5KbwsRDWUjvIWnUWYc06MAXPQXMw7JoQZPv5A6TI4gJ+3PlPl+y9ZE25T30BDlWCv
WdS85H3cGzX33giqLkpIecqq/GYYbYwe8PVTWhGrYCqi+yhlio3TrEet1H+TbfAJ+yArouOwWe9I
hnn+btv7f4GqHquCf36kyhNW/FbVU5tEcf+f/7eYe7juN1+K9+7HH7W8m//5WUS1//e723zpv3z4
jy2c3X66U+/tdP/eqbz/N6h9+ZP/1//5H+/ff8rjVL//6x9vlSr75adFSED/zqTyMD3/D69p+fH/
/deW9/+vf+wYgv74p/8CWBmm5/9TWihiGNz/O9mevfKfrkWMNjOGf+Pi/g2FM+U/8VBzerWF9MBb
BZhSEZz38b/+Aa78n3iKGcM6wuGREtL6/0DhzMXG+790NvBYtgA8h5nENiXB8wsD/4PNlzNX78jO
Pk9ooo6RMXYvQ2wbryXqjNvYKufbjCVrE3q+uqFTT7CCpn88NhLNWD+CK/nbJTv99cL/UariVCVl
3/3rHz/4f7+/HwpRl8NmYLmC9/Xx/RgpYaUomb2zLVMLGhwDUgyb1SXmNoYOxCnR36jKHbsDS0WS
RyigaslSnRV/cHd/DLr+/kZ8XzoeX46FBdf8wVUeztIKy0CZ55DldhtHiP8yzByH339e+dGEu7yM
yfdomfBLBPBA5wd82EQaS9jLITwbeIjWNtKZjV8gaKDV5LLF9f5euz1UB9TRspvHd123MexkpOJu
ysnNytp8V5iN2uuCiZ9bztGFP+JtKIcAbV3HVCssBn3p5obeZTUB2qaIO3abGmgMgqtga5dts40s
Ge3/8Mk+mpj/+mRw1qSQ2Itt7/s3/bekcNpNEkC17Z2NsrysUZAQA3RTmclVQ7JX65UHEyQozbxN
XVXrJqbhQD/NVpwgdXOII6hWi83DapAPe8eiqHZp6h10hSDUIXvXCPcGw1nXuP792/75azeFb/qu
5buOa/HLj/cfiWOVNQI/PcfSbQ7oe4hoJCvxDxfnl68ieb6h2pHavkAk//7UFTqkJEpK/zw5ykEZ
jJIaHY3+g73a/MVXIKWgCwOQQRKA8cPL0JJmgJHL+HnIp+ROmWiv922tB6QGUd7dtWiJxM6i3XCe
8OYubYyxvY590TIUJPu82eJ4HnGR5g2TsRrFGfI2pMjpH97nL66GtLFjBbZDhAeV1sergfoSSbJX
hJwYaoN6G9KiXCYIv/9mf/WocR/aXHBBv9H58Yke61awbRnhGY+YeRiqpL5sJDs+Kb79OqXTs667
FGxvWnd7dMLksvaNfED0WH5yJMg6o3ToTbZxspuq8is94+AwQgI4pSj+OKwPFGvKta6CujN2ah7m
DeFU5m5SNMCrrBd3BTE2R8leffX7D/b9jX9cw6EA4+iRuFNMHrcfrl9ZJJKMV66fCPPx2E58Ered
XtmBsj0j6nKtCLXbKV0jk22y9rpEtcL5IrfvjdR0j0pEBugcIht+/76WrePD2/J4+gGaSrAJrKHi
B2u/oyObJm0fPUfSji41IQHr3BDWpR82wLVaq1qzrLXXXdGpze9fme3x51eGneBJaDvgDH945Z7c
c/RDafRc+MVVaQYuQs/0vS1D4wIVZrf+/av9tITzOYl0MRflO3u5+8NTRi80wyfCUxbkKLuDClmL
Gi1aRhX90LqpyZ9MGusPG8fHRBlWV4/XAxrrefaCmrWWS/C31TWqKDaCKvDPoek6UMVrBpsWebvS
LqsXjzMpyRTlM+6aGf3UOPzhif1pYeHVWU8k/3gWzc3lkvzt1VOczXAEatYvTqBrIPqfY1GVTEbo
SP/+4tq/uLpuICXHKV8G8Dp/eKnGDkwnd5LgbBBOhh2l6dx9VJrj69Co+NBY45U3+vDFxuaVacB0
FyrzMLfa2QSR920QAPLA8lYnK5GflQ7nA+lRn6irvB06KwxoMhs22GiNHdrab5kdJDeWjfrXLDMH
ZAsEpwr7PedO63kWk9jWuJxXhKrb6P8wbyRdBajZhxY1mwAe5OxubU+dmhx0VFUY02qskuILBvVg
3QunB0EwRjvdkZYatGT1Mfm0NthZxB+evF9cM89h87ItikgJXvjj19N5jraGWntnrH7BDssgsLMC
j8bUFPMRXAka14L4h99/U7+4I8Hh+AxoLPYc4cuPL5o6SDOs2g3OlgUYkUOShXmrNCA1lvqimhBL
RTOuMdN3PFIfR/WHB+IXt6TPUkMJ5fNsAE/5+PK9IyarzzPuk9gimbKQ/am2ojuzqKo/VIbmR2bJ
92dvAaYQduIL/m0uC9/f7n4Os6kbTHFw5shcnnxFNoCVWGKDwLhCP+WMu8zDjjqih8baAYTA7cfp
+Pur/XOh7LGoWrZPqUxzFZTtxzdBluw4Gk5lkJRd2Ju296qrogYAkLVYIlB+Yrucc+tKgj86oF4l
6y6u4kMn0Gn+/p38YrHlSwdZwwZueoAuP74R4oFt7VS1h/vGzPcQXaEbphWRgJNzj+3H3P7+5X5x
b/vc2PBquMsC8EQfXy6dRqQhpeWfW2Z7q9rCzZX6lbgykFLtiduWN2Pgfv39a/5UoPCxGL9TES6Y
KYjWH19zzMd2ts0RyYiI3e2UlF/wZ/wJ+vP9qfy4X0oo32wiDt8pt9UPT22PHbeAlZY8V/Di6fw1
w7bHinkxjq57H3ptdzCtQB+jomE/azuys0xp0GYJ+puiUfZ2MMb6T7f6RxzTcquzhULId+3lnMoh
8eMnz0VZ9rLqKC1UWW5dcxquUlSjGzMLc+aSk9jH9O+3IWmEmybxxyMSgxGPUjz94Wv/xf0uHZNN
AB0E9YT9Y8lcVSZTgKpKnj20sCzZcU+cAQkzHFvDz2iqh20CX2BfOTTKSAnKjuVAqkJT4vf8/c3w
c1kjXYsr4wAb46bwl3Xwb09/qi1mQ2GTPNPbbCpcOpn52JjRQu5EL0FTjYKPfnERgRjyVWX9YUP8
IUtu+UpsDqT2UvDZXAbO/x9e39YVOXHBACgoa+Y1XWJrO1ZVtEZ3DycgTsbDiBD7uaGPvg7RiO+b
MGgefLP0n9PQ1ldKD93nZR5/m9kyelDYO8jzyttjN7MXDmVXnJLO7xAZMv9RZCqsBgBqB4yY8zoj
eB43Dlh0mm/BJs3bYaPNzP3DVvLzkgKrnhWFWl0sj8QPH9GE5jZVJr6kpgr1pm5RWfmpdDdVg8AR
dK3+wzX9+fnmYE2hCo0Z7oX901EVv3hXezFfaUEEcgtdcm8Bv/nDDvXzccyjKJPkCrrmcrL0fniY
XMze8EKt6nlyJ38VNc4RvoukRpg1Eib4lg2IevT/pXFb0PTbN8l/UXdey21jaR5/lXkBTCGHWxIk
RSVKtkTZvkE5IueMp9/fUc/WiiCLKO9e7YTuqeopH+LEL/xD/aun7vwTJE64t5uUboFdh0fV0LyF
3yZusNO7hwwd30IucbKfsygrR7WlSdUsflPxvnQz0F5uDtniWS7ghvzt+RHa5ZZICBjNmr8Xldai
UZ6r2RtCytkT0jDFj3YE0GmnRQ/ayA6fKVO3sEAmayEtuHCH6BYHSAioy+LZnMWS8KhsHFrq5C00
LfWzL2xXNAtCpNyYUIqHPv8ReYq2JnLMf2H9YrqWDaHQr/FQuz4H5xtcJGs4VlrcJSgxiw354Q4p
YQvpnW5kb5KC8IbSeTCuzdy1Mgc3H2inC1P+HvycLq/IxCj1oVmINYU8ezQNEDJRpkIOCTV4LY0x
RbsaTv9dA3hqheBn91wqMD5pq8gbwCvUVoa0XMlRqd5baNzeyB7UYicgO86CVLoNi4HIJuppSieh
/1DbtLrhAhk7I7VHN0o9mcJ0O9xpZlE9F1gkLXzPeQzALc7U0QpyLLzEZ9Pn5zCLFKBNbwjRJC81
PfOtDKXK7crK2XVqjaOxEdlLEdd52EfVAL06IN4UYFm200VLc9sOYRFGbzyW8ZOXKNZtDn5jFxlQ
Tn6AYKk2qRThjT4BpIoyq1zYNOe3FFwWioSI5b3Xfme7t25UuccgLXnjfRQcU7iOfVB0C3N7fhMw
isGxpBpjy7w1p185pghrmaUVv+ky8K8yGLq7OCqsnaqb1cKbfnEoIlfwpnSLTXkWOVYB4KYe4d83
HNJxHbY82EOR9hoJmdrr5+1CbGWSmwsVR+5fovbZVzlIaEvGGKeIvfm0uqkNbCUAjTdWr/UrSHzm
rkWnR7IKezs2I6DuGMdhpe2DTWXqoRCa6RdS6PPVNFV01UnQMEeh6DVLIkKomNBiU36RVzu7lBoe
yD9pKVE/PykmNS/TxnGYFqGuzqbYUjxlLBQUEjq7CO87qzPBhdMHr/MA1SO9RVRvgF5wfbbP1tVG
WNLCDIfauU6BczZoxaZKUJ0b3yRL+90amF4DcsR62a+bT9dHOk/FGEpDGk9kfoZiztsXMtS4Ro7z
6Q2yFW7ZpgP3IVIpf/tldutPvpAeaqR1AOjkPmuhzrYA2PfXf8TZStrvDxmH0qRScfYbVBGX2p6u
vgF3ijBF7WjUZZG5cC7PVpJOjSq+05Fp1dAeOT2XlIHKTJa04q1Tq3Av1YpxL+OJ6WoKfgF+BOsR
3dlo4dycvlNEmDSamFfZQjiXuux8emNwfFULb/zVN8x7qNHPdR8hcBgoxzBL/1yfxned3v95pP4Z
zJYVcDgWC8rvPv3CUR+bFN5S+wrykQ631aBeJ5lVDPFcs3A8cUahkWG6YC+Rsa4U/eADVN3EkLj3
PDLd3WQKM12IISBLGqDaQVfv6Duj0W+HuFwgXPNJsRBZI3cCBJmN9q40agONuHpYeCv007eCb7HR
Q2apZCoiOn+d3TcwbFI0r6b2OKLqgiJmLG189siDl8DrtstQ3ThoBKw1sNKb3KdKgsRKfYMCWgbq
JEGxw8IVEX+bYpPZUbexTd5QHB/io2yh+dYivfHIlrZvk8GwN03dx5/pFAcbuywtd9I9MJ9WKN3R
w/gzRM6wKzNPe1Mjq1xTG49+2rCJ8X8dIFpi/I4zpd54dzbkKziwhrIJE7nYDmVvoVhJXfH6Mp+e
ln9mxjBoX9LkEyWq2eWAYKICHd5qj30dIeYGFAsmDkNdH2UWa4thiPLYtOTTMo0cbfZYq16QOo3u
ycexs1W+H4yZNWDh0nZ592UacSNN0Z5CmEgybrwQxJQNmY2wJ0HHmfzjvk6rdFu1oJJGDX7Z9V93
Pge4BtF1ZV9wbqmZne502HHVmJo9P85BYwpgEoasfussHN73A3NyoJgDWs4WvkQ8e/SZTofJIE9C
tjDko937QDuIRl29azGwSPTkQKuab1W8wN5oWlOsmZfym6wKEyxphMFjAI+cjNYEpQ/xZwWa5pE2
Q78wE6dFQ7FMlM9EicFQDMrY5uyc6AFslFCozseRYbhkZjZ8yx7UKH4Ua6PNhhsPz99dK/m/QC1L
f5X1/DM6wRSNMRrfovd0OkGFBwApN331mNhokrQWJO8QkVw3DaZmYTHOblLqVcSsiB1TG8W9aXZ9
Y7c2VUBrtCPJRLrVW5i+hLHZWkMM8yElLF+Y2Flj//3bSKEJ4jT+SgFnNqBG13fgpdco0Xv61zHV
tb1cacXBUUDmGlQR3GhMJ9HY1/YS+l9wJRA9nNo4fopjtJWu7/hLn09NwTIV5NJxyprd7QH8xZDJ
0Y5hX4wuBXBjNZAAwfcHUpq1iAJfH+80BPnP15NmOhY9RZIFcQI/JFgqAA8/Li3tyAXv3REXsoeg
AD7qFmK514d6L/eeHjPU38WbzIWjEc3NjpnhtXbatexhnLGtw0Rh2O16CQyhb0Kw7K1HPFzkNxmk
7lZL8LQsnQpWvK2PFGqqF7x/6RT+0Hagr7uNBGwZvxll6UESN8rZb+SMKajUGxqwk9P5MBMI/xPe
FMe+w1lC1zIEFes82cAi8bc2vV6sYXPLRbgyero+PWKmz0Z2TCAwaJnTx5mthETG5OuZo3DXqSqE
QPy4kZKt9n89CgUMmWBQsfnb3GTQsCYYM6GkH+0mABplU0BFVSFeWOoL38L2FWAN+siAsmZnCltz
PID9xDjW1Co3ep69VHq3VAe+sHV14nWbOgzVL6pgp0ulSFWu2P1oHGHhmXtflqB0tDmCz5jBPP/9
rNk6IBtT4WKytNnajDGQIG1iqCYLPCgFtCozLW0XXvwLe4+aLevC7qNZOe9UkHoFZlsN+jEk0NlN
vmXt0jwynvsRvPuYF8N9jtXaTqtgB17/PuX9XpntPtPUbaJyCoogO2b7PsrNJuo0Uz8q7eAEG9mT
RmB2aeN/R3CCYAtutqStJQXnlDDsoleg9DYavRqUzzS0fxISlw9FYjpvCiRpeOjwo75LYGGffc0o
Doit2EhsoiLR6KDC6a5bIfq8CWas6RhExhoRz/j7hOScsjFhsCI3E5vUBejWFvfOpPpbrexQhtJ6
JS5WEZzK74oB9nSFV7WNoq9tbGwLEiP3Heko+g1F4MJmGHD3qhrjp4d0/g+n7KAloUEZADo3mlG7
D4JQXWvobYVuYsAs2ChWbZZ3VUIJfR3alfxd1zrrl6Q3BYy7CWO2MEoB4saCKOL6QVwjediEnzW9
LZDrQIX/ydMgtuTAD9eNNmbyvmp066dDixihqKLuka1DrQ19U5+ScQQtBwM2L4/uHKCvgOKdEIVv
M1Oae0CO6BOWFMur9SBn1lcUii0NRy3V3oIpxjM7HDViZS/pEFKok0GrXXQCk8eSSGxXVD0hTFnr
4LFby6jemtimBlXSAcc6o+x5Tg18yb5PKeggTPzwNc56fPpWnjZqv7qhodhFWMflCz/lsaSFF24T
KMzVuk175I8wDYk0Cll5xQs5wVi6UeXW+9wx/UjKw3k8+uCd/zhtIt2EWpQfRIqy51ZV0n0HNvSX
hq4U+rj4x8Rr9H/Ab9em176qiRCDIy9pXjEh6zE8VJr2CyZoxk2kDigtoV5r/YLQMt1rSMbRZS4s
8PxKLrzJJkQOCdvDMXgEZp+gmCgZJYaIOsZmejcVtKP1bHyq0maHlpyu3oyR0ALXsUhLMdSpxi9d
KakWeuoI1Se+liOYlhu4suFegSp6onrlV5X9SI6sNJhFpYqBGKlUVRB2QcL86fOBeho4XajVsjxp
bzaU6U8eotbOqopC/b7xYfG4SHTCRtDNwT6oTYEEkmIFX5Q0xehpsDtzC5sfnVHK17Wxz6cp/3P9
pJ9mx+/vPS89UAC6Z7JoHJxemhLcIswQBYyOt+V1yEfgbU4pmIIDmx+5JM/ftJkebq8PeyHEhvXC
o0+xQxe9stmLkFh1MYAm9o7wrYyHEiXeNyeTIHJ3RvWnrAzEJ/I22vg08tyib0u3S/AB9FNVf7Zx
q9qoNvqeY0nux5G0b+NcCxdexvnM0EvkFsdcA/gpr+8810BAGD4O0v/HGB2dx9ivk43dRRYyYCDg
oeYrUK/UpYLzpUFRouE+lqkjUt07XQ6ZuMyW27Qj2hUGOKqFOY+vThs52IzOFsGoX9fXYR5eio+k
KkiPUiyCMYcadYXajoNUdkdvQgLfJrMfotEH96RUN0CBFh40dZ7dM5xI3EQvkrInhcXTzyv1zIQi
YHTHfkK5UTenxk1Asx7gB3Q3ES8DbNsauQcHG/MmjbybgBxv7VUaNkBwnt2G1vXaChJnww8vN0hR
OmspT6NNgLjvg+NZozshgb3wGl5YFEALInp5b6rNYQtIsdZOYIT9MVZHc9uluv2kBKrCYc+UG7Vs
vU3Qa0vYvgsro4lIhqorbWQw0KdTReWlT5oy649OWZU3WPVINx0IvxWoU8TVmy5dCPwvjCcwhDaP
D+gXS55FT12cNLUGtefo++anMFJLeqC+gTmvA/8cwarr+078+o/hBRvBdgybApTI4knxZl8Hz6mn
QjUc6wox/yCAKGg61VKGceGb+B6KSUTvFP/ei00fkplOA5YdD+VwzJpSWDmO6W3Tm594Dpo7UvSl
w3txOIu1QmNcAdY2292Ea7Il6AbHKarSNTiTYWMAgt6jrviLwlO+cJouzCFFMvA0RGkU/uboxXzo
+t6bsvHY23qAKoyeb3PLV16vr9SFj+J1sBwualBkfNvpSmFOaGPUY4xHuTG+Qwt5gg/32x+H39bQ
ZQu5/gyQaQtMDtBejeuIrrJzBu/1A9saMAaYjqkF0wrae7rqLGnaoKeh70arCG7g0sL6t7tw33Uh
epSZBocyyPx1LUTKCpRB3YwY4foczDMLCm4OtxWlRIswHGTw6Rw4YSJV2ai0R8nvOsw+Ig3NGxlj
6Jwn//pQZ+UHMRZm3QKnKMt0HmfnkJacEYa46R5bQvAVUG3ppQw8dOAL9Ck0aOXrShtAgDodnu6O
Mt4Oel3svKlI9g2R+O5/83O4F6jU0waiB3r66YmSA1DUg456ANLPk8rTC0Cjf0wDHS3XidpTDe0e
6D1IPVwEdBdBZXik+NPchG3WL0Cmzkrd77OD2ZXY8SJ4mM1OgUqJbzUS5WHw1XdyB8PCGAhl0XSi
6KpOUOSCNNshDmuvijTsHocQFbjSjohlR6xoqgJ23tSkO4cO7tpGIudQT4m9MQpDemxRb7idEhV9
UJV6GsC/wYXnF6+aJO8XAELih55egJq42CkpOBZ6WNYsv2od1L8kQKBH5CkilNQd7THWSbGCoJFX
doBXTkIL4U6P9OP1FdUubWZoGeKe4m2hHni6onKnVbzQeYf++1jgfzROL4BSCY8HS/6sdZHj1pVu
bHujHHe1OsS7MXW+hpGnPuNWU7zlBk4VEiEhItdyuKMWjMZorBibqqfVbWsSAhao7a8kQ6/dtgr0
rVl2OP+YBipJTpC/YmgMvZTDRtcpxOA8qFpU14Q9hhWgAWfq/RqSUfIkqWq9K+txXIjrzq9NHUAW
1vYUdID4z8EkwoXdUfpwxK9zjLaTlvcknqGxsL7ns6xzYVAgFUQFYqwZZGVEI6JPQ3M6+gbqZFIF
2xrwUbYv4UYuXBkXPkilRmqptPFECD+7nWQTfIHRyPKxBceJrSgCEomdeu71fXPpgwyiYQHW5no2
xDvx4S31acqSicfKEcAL3jywnlZT4TzZqdJuro90/uKAjwZ9i+g/cQix6elIsWZV9D9Kqu+dciPH
ChrBSvpcjMatSfFvYfLOzyGtbQVAGDBMCnxnVzuVXaXyau0Y42QLc3DEun00qwdZob6HxYl8M2Ks
8JbI01KN5cJnAscDQw08ksb6fEInqWrJ4QMNuUnfeql9/bsC1fKXFDqti7Nhv3CTX1g/ghKAxnRa
Kdzbs+Ck1tEfKfxRO8qprLhyFVq70K5haUpm+3p9AdkRZ7ebTtgFx05nV1Almy2hYg5+hZildQxs
/64usaXehFXj3zc5xSr4ILr1MkTQOdd6LNmf8wbUCOIQHTotU29mCDJ7YMrzkSC0bXSCXnIgQ6M+
YCeoqQx5FpDXy9FXyrX+a2VB0LipdaVCu1Inf11HTlFQG08RMS0ru0OhPxsQGYa12ONhZmb4SmAg
gDIN5W9tXNlVq99afWx9Av7I26UWzqqm03hssLpwx9HPqfYSqgJJF373Vv7JwigO6z78sKGqlN0n
LExyc+33TPxKpS6FGOsUqF9MFFmGvTWMypdALz/1BtIxK0NtoJ92qZR8jfQ4anc2VAOURXlKExfh
fTD0Rchv84da2quOrCFZlTShaxUW6XArN89GBBSfmsvYqTc6T9gLfjjGL9rR0lMv5BhQQi681xE1
CKwAVRnH8hLA1q1cIruCulPnEQrLiO0YaMeBtwTc76C3gdUBT07S6Fi9OQVdhtDAd1mJKbkiy9cP
z2MJY3xtTGEhajh+fAelVAHOmMdflXaUfnA7UICDBobFTpKYN0o8ce+rhYmILSKl2Ao4apR+Ax9E
LUbUPY11Pk7S1wwI6EtV6jGkNjNUMxS2HRtEUDXVr5Rve5DvQKc+y2j33KE0mOyq0W8+17I9fVMs
qa92dZApBZOkVxTd9H4ydzZQzwhVtLEZNmYNLfM1m7BkPBi9g5wz5RskdyO08xeSmgt3CdwZ8BQ4
LxCozPsZCrXnAgbNdMzCet1YZnGTxbGN97OG5wjnDGdlPNotOVo42ucPgEH1XqBqYTHJZPKnF2YZ
GnkyBJJzLAfwpiPiV8SIi9yI8/tK0F0pvIqOKNC22Zku9MmTuhzFN8Kz5lZ3zHqn9hhd2/h4bFJD
X4qEzy8sxiP+heYpEjh99uD0uRdYod1Jx8IGt+zleBp0tfZYQzLcLt1XZ9cVQ9HugvDkiKdgNpTi
QQ4dKks6hijN3gWOMm0UKpqubDW0dkoNqfLI8T+hFYLFpN5kf/zCT10HI1g3MgtpiZYmYoPT2FD8
HAtRPx4HQT88XU86fS1hgiodq8kcXfxdwyfUAcZbOAEWAnBeueXo46Kh+8ZtZRYUOdndwuJhqSZw
aWMB/OQVJsukbzMLYhSsshBb9f23XkJKtNUnCpVe6y0cmwsLzRtM0gMCCCbEnAZGlbrCNaMxjyrC
Oa6jJcGmHlV1ZxbNcHN9pS98EMJfqBAqgnlxRvjzDBNlDq91EChq9b3qZ7FbBIDOr48yA1eJNBaQ
hsAQgJijuym46x9jpdTpY7uLYfToauCt5Das74Y0rbdcweNGdWhcmFmAz62PjnedT3glBqO00D6c
YXbffwRYGkMXYHAiNlO80R8CtqjEfhBN8UAIVoPlr63MuyfLGdNtGuq5D3hBPJOql0p0RdridYJI
W9xyCuxXFWOtJWi6uIRmmxrUMrQTCPqq4Fad/hzU0GTfC3JIjVY1YdhbOX65VafCyN1A8kINR5q2
kW/r0kfB6fp6nA9Nk463HMVhQUifU+N91R6GjHvzKCmmEHrESwOourOu4/RrXGu/h1yXNteHFFWR
069FaMAR8gAwKHgKZuldJLWyOQl2ejkgp5YABRbMhro8Bjpivi5+Gp1GCwGxl7VphGhO5hkosYXY
9ny3Q18GuwjyFQAjgMnTKTfz1gnDRoUejC69ix9SfatLsA+uf+qFos3pMLMK0WQCPInwMDyWTkGn
CgeslcXVcWeVqvJkSWlyiNGsfk0TcLBq10wuGQta7HEYPBaVCfGvHcvDWEb2Qgo2w66KE8BB5Gmk
6SzsuueL0NaeMrWhLB0l1cy3/N+SB12m+5Ki3XOfoIW/iaEkuWGYIuPsI/RNTDh8k9RygIscRbiR
9f5C8nlpsih7i3sOlKdMT/x0TaoShTG/GwTFRet3MZSUjSfiXCkZo3U9drRchLFJY/e/QRA7h0Lv
TZc4kTt/0DHKsNFZbBA1/euLkfztvQvEm+tweZ3+LBShVJMOE22gTkOqsClTt4CKt3Aq3uv7s2NB
5iiCFRIDQCazSyBIYTcOYQGPAI/QF7TXpT9qiEok1l5KIoORR6M4oJWMjK2GHH3kZcicyRHmJkWg
Rc5K1WvnyaHd+yyBFrHcugjx1Y0GFGjRgrYWqk2Xfi5CA0wM/Baq1cbsHlcCD9Wv2I7ekFazH6eJ
9hw+Bf4jtztKChMAGc2S6k8IFoe3SNXhmTJ26a0u448em+jt5CWi27IJh9loq2iNGWTXrgaACgsH
/dKuEr6WhC9UDE2woKfLN1qUugJ1sI+FsLOScHehHqqWjzqU+h/+4HW/cKPTv+Z+0ri10hC7G/UA
ABS2o9DKgKxr5NRxqBf9HVRdnEEuXIBUtK0od1lnpKspwtExGpxjE0OlNLI+czEvR2Q7d4KFPTwj
a/wzFkHce6XW1Fm501kIJVwKnHbyjgXyjvsYS2C6vTV6YX1obsq2wbIpR6+rCsZpV/tGumtxATiA
G+hhLJv2TrMy5M9xyljJyLHu6iwIblOqEZ/KVh1x/7Dk1660mx0mHjKICBznSt+ONg7GCGsfdeTj
9Yv1/PqmVabZoLsAutOdnd2rRRfkMvIp8VsMeOKmtwL7Vsnz79cHEXNyeiIF0ItY0wJ3TtQymzNd
95RB6uX4LRhUZxX4qbAWQiy7UuxxKcw+fxQB/9AWYRtwCQDCPV0fNQqzUfK9+K1QAnNVtrKKl2lW
3Vdp3mxkzsYNGu3mPYZcqNhrg3xreXi82VqL6wHX18afUvMA1VLZ2KlZuxbWaxvEo7ydQXvssy9P
ixx6EfjPZod6P/A0B+AtoPzZuaJ0i65cNkVvhI2I4ZdemHxJh6FEirjvkBgHblIewFYUb0bLU4zv
RZzsu6oeAMjoYwu5Ry+2xZAH9703ei/I4HsYxBhR+ol7ZKACakzxEYct57lPkdGUBu6h1TRStNhk
ahF8glchQ92PhQq42mrefeQgVrdW8gbNG7+uw+/UN1NUAP2QbdJQdFeYY9N1UvSCMf8ublGcxrmG
bkH6udLtMlkpCKxVa7NBMZequQpvisOrIFg5dM0hU7CkkpGRBmqTNN0Sg+3SdBKCcf8DGhWB+OkG
qA1DSngWozcjU4KtY6SVi4By8aOPcX1n7L9F4QvwHKB41KCovAhY+el4kqfSD9OlCOIPhktaWYSu
jTLSWtcrZ6OOqGpeP0wXAn9amqIBCLOCG2iOXscj0JoKJWpQ7qhVCjej7bwFrTW+dH0XlBuLhj9a
qQbE3xT7HiA/yDMK6mjiSQsxr3J+2ByK24ia0Nanw+DMDjZ/ouE0pdS9UVip9pku6y+53Tvboi9u
TchDt8QfxhO0AbQSbf8n0qjJfeiAX5fbqtpPClJ18shRcwalJ2bO6x1l0WiDZeQ3sp50QT3o7BoC
4MjzABqB3EwxhG7Xx2TFBlg+JFGDBkJK9BhS3oonhNn+ExH/lQDbofidfW6q37+bh+/F/wPxNEHU
vyKe9vvX7+p78/vXvz43/K3+V/7nX+/6cdlvTv9HWTXx5/wjq6aY2r8pB0K1INQTUHpWo/9dN6iK
ada/eXOEFgsdEg4NSeN/tNUU+d8il9UEm9/mf4jG5X+k1RT+CcZbjkNUx74HuvI3ymqzbI0/gPiT
7Qj6Btav+f7Kf8hbBT4sRTozfpDrcI0E4QbDajQ2qQum6sp3Xj7M1tM/d/lH3bTZI/vPaGgbCdU4
bnp5tvEmFLpxAOnih1zqbqpWQzxroZxzNgKNGSQ2Ic1CuyQDnl1CQ1eWQOVS/UHzZHUdpH2KZnXi
LYSAZ7PGm0oDQyCVue9QeTg9QKlt4ZptJ81DYWBUGbeGvimrtN3hO4Dj2URR1i4VfSlAFu/fh/eR
ehM1FAakICh6mXO4UoNSZZFDc3qoiYHuFS/7U1hj4sbo6+yxCh8JI3Rs6CHNuOOE/CFhvI27TIfD
4fVlfCdUnf0Stp9GzYwWmDObZUfVeomebvXQIIW/Rf1VAbxYKV+k2PJvvL7B8z7BGFMPNc+FLkg3
DpuoXW/j+17KnbIfhjjejIkW31mGYO6HxBvZWBZIgHRf8kzP3Tbv4faXrb3DRoBKd4gU9Z1J8wi3
4gCzKj3IGyIE27yXESl7vv598+v8n5kmUhMsWg7GHKeX2BGhE/z6B0LcaqsZ/VsOZGnFCaZC6WMN
HKFS9dzm8OOxrwseIRQDXewoenvgqlwFHa6NpY4vYO7zL1TbxycPzQzXHEzaA3nX7K//3tlLz88l
FyGfZNsLqRFjthxphlJuyg3zgDIFRrlWa20HUE7UpXtnY1Q0D6+Pd37IINqRUHI18QDTcj3d/kYC
H2iK9fBBDsM1tuIrlFvc60PM6Qp80+kYsyOmNWY/FoYWPmDr/jh1K2OLJrrrb6Q1+2KlrDHauq9u
cxcRnYWvO59NIQ/DvUpbhP/M46ZClkx/mIzwIWy2+DDdhxndG3u8G/UlXNZ7j+L0HDEUPTuuc4Im
csnTiVSxJqliHHMfmq25Cz9FL84huzdv2e/Kl+g+Xcm77H44qDv8/7awG387D87zY/GY79UDGvZ6
uzb+YOHrHcKF2Rcb5trvmm2oGOhgiHFj+KD1d6MSg7k3N1LV7JCX3+KxuArAiEfBQlRytqug/EM3
c5CEovEB+e50MvRJKlWvDYcHgHh/9HjcGRCf/nZt38cgtwCmxpnRZimG0taFnGnJ8GCWyNfaOFzj
+trpT0P8e2H/nl3Ws5HU06+JogAkdcVI2mpy81sw1O5PY41NwGEpzj9bLEYi9IQ/yEsOQ31W5PLh
wiemx0gRXSHN68GYwyodv3fTW4jifxKBPbcWqn1iY55skPcxYSyJcicwslm8qyeT5nUQMR4cPJ0x
dEHKyd5YwQPeknWirI1y4VlfGm8eOEiN5nQK4wUYTMhJ/tDhSOYrf8zG2/vvni0LA17ajARmOokF
4RZ/O10+We1wTzFxmFf6YNj3sAMxSsGT4PouOVs6hwYsW1FAGCmhOLOL1E/yNumNuny0uncrICFO
5DpQPeC9r/wWtZw82COEsxC+nM3m+7BEfu+wYHnOfJ8g+OlDVJaPkhM+o6e+bTzucavelGr+DXlA
jLHVv/9S8LxIYYlGDVC72XEoLbzFPPGlJSQT6kJ7mnJbXD63k4w0v5o+t0Z2Wzv76/N7dpWT34Ki
gdQlJKIY/HQV0xCbc6B842OIcQjM7Y1X7bABAt6c/bw+0hxiz/kTzB20EhQeWf49W0o7Tyo90Cbt
QX+QDvpt/xjfUsNQXzweq2Ct7KBIbzBFbeW1Ziws5zwa/WdoMaiiO3ApZ7f1kGujigGK9jCB1+bZ
dA2KtyNpXZ2iac6I1z/14nCiRoP6MX2eeRjq4HWjDb6kPfi2vI76J7SEdkk/3tFVitXy+/XB5ufw
/ds+DDZbQTNERi8s3ge7s6Vvivfpb/98wZIT/+KQg9OZLZtqFY0Wyujzlr2HS2c+YfiH8/nC7p8l
3GwO+twE7PwX9eozRp5Ay4Rqmvt4OTndNivrb7gJJTfRGGrbv/4eRiEAJ3nkXrFmj2hOjz/F1QI/
zzoKHwJwSHjKa0uluvm54tYHMayhCKKKBPS9lP8ha/SVUSARx+wQSBpydoGtvUxdgb1WMID/lJNv
1z9qfl8xHCQNeJmEtjBY5xGZjqFkMCFWeaC0DT4lOPQpFlejgqu3+rkvlFXbLRznCx9Imvq+XOTl
RGinF0dRBlMZlV190LQEqx2l3xv+hHeQb92VnbWwB892B59HnEmfVkPQicrZ6WA1Xil0Dar60HAd
61o/riIdLWnHuLs+jWdniccGkBYqsALxx9N9Oo4XF0Avtbo+tEl+F7Z3qezs/m8jzE4TInNRPHiM
UFqAy+SDncULl8+FuRIsBraxSuGK2Tr9hiLvLLXzm/pgEbxJ8q1a76VwSfhg3ssUBZaPo8xlGVKl
njwnZhT9tThY+GC/xflawsT6OUTlbJX87j03X2ogn92rs0FnsSkKVmNObb4+gNOFVycpG48eFxi2
pffiwnHi7CKaBLKUv8xfxdqRSpxX2W+YZJGT5k+6J2GUjrtqjziU1Ci4NHS/ru+MeaQjZpQGl8N1
TdShvvfUPtwYga8kCAhN1QETbrVcWY9adFOjqeHjc7yu24Vb8CyBF8MBfkBWA9wJsIxZuGFOHoA8
w6hYQNz2nny8Yrba3XSHs/Bu2sV77da5nb5Jv3qA67/zt+vfeumcfRx8dnnoVQqpomNwGRKnlj8h
s+peH+HSCoJ8A2IhxIads/qTl/ddlzIC74mLM/wmRlxV842Qm2N6xH/7W56FC5fwhUOBgAAtMkTx
0Gs4y50o6Nlqp0n9YVAUN5m6J+BU93jJ4dymrzu1p3SIU2/8DWunjYn3ct8bMEYWIrrz829QZ6cq
g4gRelFzohbMkG60MME7KEq2tirPbYa94Sxs1kufyosDKRA4GBKWZ9FqhbUZUz8eFBUnzpWjrHVt
pf60vwyP/ar80R2r12yph3D+5PBlH8ac7ZpaiZG/6X2+DH5NhdJBCjE2o/BhPF3fPKJ2fJK8UWqG
WkJ5hUiVzTPvDJZTSEWzUKYDdkNNtzLLVWq76i/rW5es8Des77XXaUna7PxMnI4p1vXD+feQNvFj
eZww6wAPPbwVzZKw83ue+zEnnX/W7HnTFLryCZCTg0apSLsrH4aVtOnW5It30l5yw/2wCncYbIZY
mO6rXfoH3/oXO1s4mksfOnsC67rwSRKG6eAE4a063ABMXUhN3wPssw8VJRIBNYPvMHsoJtWKWxjY
02G8lWF87/Jj8Kur9lgC29Wq3yWf7c+PykZ6ln967Up6lp6jx+oYv2B+tjFX3l27EFbMsW+8lqwt
FFMwfoBVzzStJ6qwVmmk8iE+UnWgNFdshBTPZ01aWV+XUrqLZ/PjaLNljgs0s5FHYbQ/3S9D2xvl
Dpt0JK113MfjFcCK8SYPt95CIjKXajr7ytnCaoGtt1rPuOmf8JOxDba6G+/NJ+su+BzeB3dTuZLf
hoWjen7Pi5l1YGcQ+sIYn0U74MaD0ZcYU/6jW/dxd5PuE+0zj7W2MNAcfPP+daDAQWuyqwQ74/R8
tqWR82qZ42H40mzD79bL9NO5yz/F/iq8k18xuoe8gNqZCd79y5Im+qUjI+hZtGwogyDrejq2IXmO
E2J3fJhUczVIWFktRY0X4gGSog9DzBbP0pPCAow2HuRbw0UMeDv+Ke6ze3VX32b7aK/v4hs89LTH
LNqHxWpJWmTpA2cB/tgHqZpWwXRIpkRaFYO0LdtkSXnv4iAo44rgmKrH3OzATlAgzfAeOEg6x6GP
13W5ENdcenuFkvR/jzD7DClFoqFIuHfq6jiF8V0yWjdlKt9cf54uvINUilDZIbqhyjjX8g7DFiUS
cY23zqMzbtv+rco2UA6ujyIWfHaHCmgyzyDpEEj02X6f7DLKo9GbHn1ffxz9bRu9osH9PE73jqRv
ro91HvuKaAlMFr1ClKXmeZc9RaMSOZnxqEYOKrrB6+Ds5fDO8TwalAO+qJk74YV9fdAL9yToH2Ba
Qi1Zo5U1W61yjJsqKtsWURLlppim/YibhGdLf1ppP1rNJm3MTZJl26760akYH9oqmc6SsOf5YtJC
A5SLvwM40zP6oxlowAdjeXiEZDveqaO1pfZfrrH/e6ltaaltcR7ZCLcBGinCc0C0w2YvY4EojNQP
qn/wSEVXQ6NvctRVmiTb24m3C6hXjV6EfFywt/1PXdVilLEEfz47JHR0QFwCZBSi52dqdl4X0Q71
decxLG3OoF7QOTFKf6vHfrjQEL44FPgXG9w7MLy5BJOWlUMfEqw/esZkbJIEzUu59mxhcBn/7RYm
036nb2LzRto47zEkQyOHrS+Ph37Cl5dO0BD8DodX9Ivv5bRbV8ohaBZaDGenRgwp8nyB7qFDNruy
9VJTK4AE46Eu0dExspvBUdxQ156ooKxHtdmP9bSb+iVTHnEsTi4GUfUXLEVR2YKGP8scsVuyksHp
q0Onlup6lLruzkm8aTMEgbqKIvkRUQxl35ljvl04sGdhuRiZsgPkAWExNQdH0PEC4IhdMyPHuzy0
bgwcyCSFtNw3gh80djZ+JG87tEMNddd5trIyATBf/xEXvp455flw2DdIOMyuxaSuhjGwyuoQT5KM
7E6qx5ukxgSUfnL9y5QNn+uqUP6LvS9rjhtXuvwrN+adDu7LxMwXMVyqVFqqSptl+4UhyzIJENwX
kPz1cyC7r1Wo6uKo79NMTHR0R3TIVhJAAkhknjxnP2jNUlZCF5tTmnnkBrB9cWzhaSc3aVtDqvYZ
65tdYykk9T1bYevSybyd5ZTFjQZU6JXjpTM0mSB3WQHi6/NuRheipyFp4XiQ+5tSQAcBDJ4bSJpA
XcAM3mhnSUmTYEbr3SZr7NF3qrxen5+2o7sXCke4rFTgcpDbgNceRjDghZjThsXNjnCvj4CkIuGo
2N7CjpABbypUjHCgIExDh5YDK9LqmHU1Q40TGSJKPYRJnVZFttV/yTKqXQ0uJ6E5z7dJwZqAU8OF
TmdTf7BG+/YFgD4D/oIqztFVNpMCjKWx2u7soeo3c8OK1chdtjCdx1sfCVGxCdA0LhKV8jg9QBZc
kHnt2tY2I/Qe5s88LrzAniZ+n7GsBytNTy7cgfFtWZvs7vxqntoE2IcAM+LYEUWBw9VsTF53PTCv
O05Nc20XNRrPSmi2VijGaRWnK3sAQlQxlSk4b1j8YmkH4DgX/SMwjdWW3MhVYrA0ZdzeZh0qOL1n
1Gu95RDOht8HClWNiybzXj5oE10R4DQB6hQXpo39dzjYHFUtLXUSA7vuu6LcEB4HaHsMNfaZJx9j
3MYtJdmSxjfyIlf6KtZ3HsmDzDWvIIZ9VTpLRf6jaXwzIyqNIEACI7n0nijnxNV6qIbsTMu3XxNk
Gydfu+mfzk/c0e0rWZG8BBzeXadSRE1DPV6UpROQ4TJN5oXH9ZEvwoqHExH4EBCiIIV6uDx4G2Wx
OoM4gzcre76YjMuxwc6PtHLfLemLHAVrSFoC/Y4nJ1p5TNx+h7YgBs1U5owY0Re0NFgsAj2RsTk/
a0dbW9gAkTwKskAwAhJ5aEMD017bYeJ2qQkt+bjNHrNu9l1gSmazDWIN2sRoR9wUTRKeN3wcGx5a
luElSA712uzVKt5H6HDpS3KBOClQ5pcmJ3el6oDLoQ11W4k6YG57NUSHyQLdtpi/g+0tvgDgZyB+
BA2rHNHgdnezZKy0neewlaMkUeo9TWiP7/PbLjEWbvLj+F9YE6e0oD1Bu620mg2CU2jF1NqOjVrI
HXtdURa1qR7yjn42xy8x07+k5b2Flm+uZP7cgzqpZAtBzSmXQgAHqgyUnSDbLm3FItfKjIK9a2fN
Sti234yc+E77Q22XaDlO+RVwGoigcGChDVMEV+/yi3PmubRpGm1n3FOISDbfanJV/mDxXW3uAPE5
70unRgWorIb3DG5hlCYPjRFVm9os04wduC/vnFm9Ai3jTdfkX5rMWdgvJ04ZULf9MSWt4kjJSLxR
N1Cr0e9AC7Lqu/FqHJcIrk+5pni0AKSMSAZzeDiiOgcrA+QScTKDJiFA//WXeAAhQWf2n42MX9SQ
kFuYw+OUDN6miPJUTJ9oBpffp1D27UFwUnc7FYyjX9ikdf7QQPjP0NMpSPK82eA4fGVq5kROZpYR
L/poSIdrkAeVfqziqopJHs4lqW8m6DjcVFn7AupQsiZWOzydX/Dj5B9o0wDuUHGpvMESpRUHQaiu
xR3rcEsOoi+w+Fp7XRWVHXQlE3SzByZC0asBrbx+qnZqxJxqiKZ67sFDA/6MHpR1ft6DTKtknr46
/3HHaycY/nBNgIAKUYMtlfwbXA+8yhmipcFFo0VHrymIgMLBGufIsBUImdJq4Tn4BoA9PMqQTRMK
huh+A6Rd3tdeqkMBTuBd0WnjfEvcPv3Bs47dTxwc6D4y8fzbmENpPpjnPP9a9sSw/Y4qGdLCqN/c
j7VLtq5iFq1fAk3a+BNItx4zRpVvVa1qOZ49DnDByuSRbwbR5srncBLPT2Jdv6VppwIamerzJaed
dWtWutIGDaSCXZBesJSCqSuLH1ywneAXj/oMvlXbareFUiGdqWkk+4rs+UT9zFWcbybV+W2mTRmI
p6qef59aG5XdIaf5g4q0NvC6zB4+AzySf+e8bwa/qPNkN3KUMxZ2hHyqoCQLQAUuYCG1jX4BKTpS
q6QFcsSudzi6w2SMJh0sTWkXQKnuvMPIZ4psSNrsXFF5a9Qw1LsqqNXQ9MV2XjwuDEd87nsXka1I
W6ZAnqccClixVGBowVpRtuXCnS7PGBIEyN3hjkPrEchD5VQh6Fi0rtDosGM53SYp6G2JR0E6DFWT
PEN27fy0yQNCqRVIR+wyaA6Ank3mGaAFIGwVG4YdSZHZmdSqDVoXeP/zVo4uMqRXkWDB+wodgqBl
kaZtsO1x0BQCkEY6RE3LU3/onLuu5qAbNPxpmFGOdIsA5FAf9Aq8s2AY5PZgYRWNrdJDwOX22JV1
jselaftlU/hOTfzBXRie7HtvVlCdR3oD04nr8/CiwXsOIDajQJJDGUK937ka8UsgeM5P4vFSYSzv
rEgeTkmMvju7xDOVMlDoefETag9L0khyHzDKw7AinoiwhCeUnEPurZmrqUvxTuzikFFnV5ez33Wv
qOMG2VxBNcS8qDyOs2tOcWNNvmGMI37CLyplaSscuw1iH1SPUX7Dd6FcdDivU84gHGDG6X5UWFB4
Njh6q3DOAJHSuyC2zFXd3aL/cGFLHF09aH6BEC7Ir9ENAKZG/dCqCbGOCaUjsoe0uOWtyHhpgUvJ
3ORPH11PXG1IfghUuEjwSutp5k2r6YVC9kzrlJUKiXc/t/Sl1N9RfgUvLDx/hBIVcrgC4Hg4nMRm
DmFoJtyhz3X0zUzXgPLh02oQzaYc7MC4t0ykd9rndsKLhZTVErBOdlx8wVvhAxGfigyYLOFacFJD
wVTrdgOg12BsyjmYtfNyIahcsiKdMRDzA765VLvd6KEjOwfA30FHzoJvnDJiQWpCzClyxrKm18jR
dDkih7szEhvXZqYW1aMC/enVedeQ7wAxY7gsQS4IumA040su6CDocUvwEWMTOsUKzecNdFGUJkR/
PlnVbV0vHGBHw0KIBfozhDyguhBVnUMfMSqTWoWh1bvEHnA0/6ytx/MDEr4s3ZswALQyHEEQyUg7
GbG5XaoDOp2Zk/geQRyDElH6+T8zInn62BTwAFCo7wia8Gn9xOf72lkiSjg9VX9GIi0NtMkbkFYi
AtDKb+Bs88k8LZzz8qmHGONgrqQ7K69TG8TmRr0DUeu4yVvfxEalqFL7cRd9UE4eiRjJmhjvuzcm
RF5dBpBVvcuNB6GEUPIrJDAWto18pMpGpKNOq6BcQMXyVy8Yz7ypTXDD44W+YGZpbaQjQEjBdGhJ
AhXM8N0A4JAsPRGW3FiM891kGQT9qxDtq3dQo/SVfO9YD5r78z/zYmkvoqk7J5TBRjIBD+w+G/ln
q1/IeC+NQ7jgu3GQ0p6deYCL0RytZhqgWRCCXCxHLyyHDDjlc0vbysNIBpegYT71a3OJDv7ooDz0
Xrn1ibUYRFXr9c7R6EXtcLQl7LgOluPq+/lVOenBuD2FgCv6Q2Wop9qBAstqsO3xtIhc1Gos/s2Z
jMjx7uIPEr/+2pLvbEm7xSVovyxK8ZRpvKB3rrXh0c7T8PyATrrAOyPSXmkUlTCui3MM7JbMuFBd
JdD+yfMPvQF/pk3aMB3PvKZ9s6KnQQWq61bRfZgO+uLjLg0AJcobSESiWG5I47EVvfFaRcXhb1eB
CWUHvJd9SC2dn7UTZzOSSUAT4UErOICle6zuWxpXTVvvDA8VYzyuQREN0TqfG6iqBu7Sc/PEIsEc
InJg4pCUOCrBgakP9XgO966/gofKz4wM6iur82M6Sqq+PWrfWZH9bbQYQzKo3kEQUbxcttU+u6WT
r0IQefDrl/kmvdWXHp4nhwY2IBFJoaIhdyNnHdEVPe2xXh4L45i/2v0QmqxYSE+fNPMu/yBd146L
DDkqEQg86PMIrBdTtln/4/wEnjiEDnIc0oWtm1rWWQps0JhBDPm20R7bDrzWOVuIDE6v1LvRSNsJ
itF86FocdxzEBjrKef7sjjcN17+ULAmN0kUVr1+jIH1nQVWGefRycIz1oCcLF+3SiKU7yikzpFW5
OKFoB01QPTQ6dK+r+tpd1M8+epC+eee7MUt3leZmpYYWlXrXpqD8C4vY7x7aO+cie4xZYOQh6mBl
HpSr+IPUleIYfr+ssuZ0piksA68yTkjKwo7F/jDdnnec47eZZEKOWHvIjyBvUe9AduB96Wdf+57V
ftah5yz0klVuLTjQwrrJ+u+JppWTByjEzhitMJtudJIBXlqsOuUfnVx/Vk2GXhIrw+lJYInodWSS
yzobVlr2+fz8LWxuTwQg78KYPO+Tpn1bIYhVWv0VxEc26pKKyomb/8ANpNMxVlrdLA2skZrztTY0
/mwnkd5zX8m2jZaszw/p5AXzbt7ECr4bklY1RLHEvA0gLR+zGBjgdTWXoWc+QpcK+ggxYENLb5ol
t5COlWH+yyhw7DhWdil/dMenuV1otpDLvr82FGpmglNI1GMPxwbh26LoO4TnXVGuMkv1kYr2bYCc
HQ+at1257een87N52iKk/PCOxr+yv5eo09U5m3F/Vl4YU3pdFVNQFOCPtNw7kFsHdbcENjoCjv8a
5R+b0m3QJcTjdoq3dGEqATe+gBU4dI0BtORkVZYgXtA3mgcZjktjsYn1aB3R7QlkIkhwUXlCakm6
7NLSsVmrK9a2q74aDFpH6MoFLV8IbH30wYmVLEmD9DzqmjxP7G2j7uNa3RgtBkjxVO3IYwcdDZQX
VuctyoTwOIsPBydtdmOyua3FMGmuQ/2y/azPAWpmI1hUWh9AEt+5SKI8QEXms3U52Xcu2oauSLhU
zziq8L19BgA8aKGBJBB4wQ6duFaKmQ0zPoN8bp/5zyZsNu1dc5/cOndVxJ77TX9f7mEcJbRwsfx9
coHfGZfui2nkc2zrMG7fcKTMwR+i+QYNoEMyXLVhvh/X7LEs/PF1iT7k2KvF7AvsrRD41IFgOhx2
ZuSGCwkrezs24TD4XhpOXdgoEemiuPOtUL+xF1zs6NyVLEr3vsomyBGWsFhP3q1ePGgzROaTIWzi
zzMEVc5719FNcmhMLjeqXpHWaSv8GV1gYLB0nTocPXXhcF+yIi0fU+YibjIMqWwhGw+WTZTuSu3l
/FCOzjxpKNIhwIFMNnJbOGiar3WwA/eFd2E0YwSZwtCuGx8qfQsYvpNuCcQ5HAOkL6idHjqHW88N
6mKxtWVu7OdsDKwsVNhlutTkdXr+/tiRjgDCmD7Ms2ttSYK2J2NbqWu9XngwLI1FfMO7C5iXbNba
0sMZWj6wvA9Bz+q7aLAqrIUD7TiwfVuoP6MRX/LO0hyrRtmiXraFpIN6671094Xqk2t9w773LxzS
kb6b+/1SVLs0h9JdDwWJUW1QB98WbZQ23IfEAgQ8Hs/74JIR6bQwai2hIAq3tqbiRS4hK5q/tlSP
zlv5m0PpzwxKR4SiAoYDoQ9r2xbRYO6UKvCe3R94+dhPihr2ZGVXCzv4vHfoqnT6ly0Q3HgKWNu6
XBveFYPqChoOQDR4fmRLZqSDYp4qM2UJFslKqgAMlEABfynGUPeWuHWPws0DHzyqdalow6LGhIUC
ryVJfJxHojF8Dc4SVQnSMvjPhiWdE52qqGXmYvY68yW2zcuq/o7Xf8AbIzxv6PihDBSTi3gPfLTo
GzrqzM7NwinadrS2I/r36BDkdyM4ynzywxtC279n66VOOnH0HBQ4hEHRv49+EBS65XYvcwKMvEFt
eOsZkHoB/S/27vkxndhTsCDqhLiBQbkoObsHrDiUsWBBTesYGTvWrqYSpHxOZi1dvQum5BhHye3B
TNFktM1tGhR1RPUmMMjP/2g8Ms7BhRAPqYFh2ap66WfQubXbKsidJQ9fGot0HeoUuCZjwFgchwcm
Cg8qeS6HpQaZ0w4HoAtKuqLRUE5n2d6cg/Jctbbafb4VnP1gisBr3gwt6CpXflP70PAFVc4/mcM/
VqVztpwntQTLsbUtBTTpobO+2Es0fKfibvjdHxuS34kGqNmBwsQWSLVrC+rGUXHvbNOwuWcrN2zD
4Sd9ttZGkK/072rne1/L7+XFfzRMGeVqxoBXaPVkbSetx/vUC/E0ZeXjeSOnd/C/xynLrZVaHWdF
jHFy5fOUQjn868d+v4Wt6+INCsizIO6XabIhXhF3JKn7fUtnFqJZ8FUZ1aU+w6PVEoeDwB2CCw4w
xCMoigvAoMZabdhnSqGOoTvGyjdjLOyHFoW+nakXNYVSdN88UZYjHZqbfYs34pjwz2nf18EMLHPu
E64BYD4xnX/T7MoaAwAxEuZX6Gl9MioCYaQRKevJz0GzVfi50nYKeu7rbiGSlV8AYizA++oONhXg
HzKlh9cbVZdAT2qfQuHwYSjqwadNnSOf6aRBAeFvQea5sKPk6PnNJuhDcGsI3Rz5gjdYn5e1Z3R7
nOjDq8YpD4CDJX7BQT1pQZvpa6YOj6Nhbc57h3xMwa4gmhb6CRCyAT3nYTAIk5ZWqyrfl56WXZXl
XAVVxyDJE5N0IYY5Ma1iRuGD4GbEe04KLiYGRCWfLb6PXXCOpvHwqmBLQbfpoTPmm7hnwwevfTG2
9walI5haoOGtDYfvUT1JI86UBy+3ua9PaMZq2/iDjxFYw6DAcArlDvDBWFKQobmVTRN15HsvTvUg
mxp6Z8f8c8mc+EfbDEusJXKoJsyB4Qj4bNgDhkI6gnG96DZLCr63HPACGVPfhQlo4IK8zOJQKWt3
YfWOgl400QFIB5wqMG0oDslgs8Sy2ipVXGPPnJ/ESO4sMHhmlXmRqYjcYj0cLfdK5/kNratrEzpB
5/30aH8AQ4eyFzhEgFAB87Pw43ePFq9xLYWiz25vTPTbaLbJZlKTLuBF99mrDEiAVqnj02qJg+mo
0QGjPrArluGdXR7bnE2jgVFT7WmczFVqGVdc0dGRWvlz2fktwLhNG28o1wCCHQ204hQLZ4N8Q0DX
C6QPQLFAFAkMqjJKpmGuqpDZsfdWprphaViFz9tpqTB20gqcBglLE8Hr20y8G6mG1W1Ek9oeKj/1
usgNiMpk6OA4v45H1H6CVhc1P/SCgnXbgkbm4YQ6bmn0Za+Q23GEeqOeuy4NYh6rO+jbFaVf54X9
XNAWrQ2MlFDeY6yDjF/lFNVDAo7MW8g/jms6dZukLbPVnKj15UwV+usK+BDb+hsXeVv+7GSm9Zfx
v7+UoHwmSdr91/9tnOyCFvPvOdnX/XP+nnld/OnfzOum+QmvGtA/4b8qHhqIx34zr+MnUCUT/f+C
Wx078y/edeMTuhGA7oK6H2rjlujR+Yt33fiEMwu9uWC8hnej0fMjvOtvvZrvX0HAv4Jq4+3jQFiO
33zoVImQ4tN5ku+4VXUPbt73F3Fj0O8omzSunxhD8UQgWOpdqI7KNnzmEDQoRwPM2hT6s2h9nZoL
ot+QKS3HqO6y5C73POXOUCcCqIqnP02jQh40q42/JSU3ImAVfSjdZVu0WE3DakyAip8y8zFRxh5K
j4NyBykmIyRjPD6i1YGiKWs0suu0ceqXWB1XbjZ0twS83QjPG3NwIt0cyjTg1uxe5no1Qn8HepGI
h3h9DZ5s3f11ovx/94YMAPzv7/0bEkyk7fLn9l+blj0XP977+ttf/e3sqvUJUSwwspB8MXD4InT4
7ez4CVrAhGQREMtwX1xUv91dgc4ACBXByArAK9CmIBH4t7+Ln4nfBSAsVDbRrIPf+F//AwdJ8lru
f3lyK/3/e+r/N5aLdw6P1lIB00TJBTsRjJtvLTbvDmvPmJMsS03toq5a41JnGTJqtQKGm7CqrLAk
Xj37RQzK1pVGjXplelBPadTsOR8Mfp1jU5S+1qrfqUOrTWon+zExpsAb9DuPQXQkGDrabOtU9x6G
JJ5f0JQJGuJKmxCPmlOxMeP2poSIzC8Khg955f/q2655ZuS5+JffN6/PvVCFEPoQWDby0spHsfjd
/z6LMYO/bYXP3fPB/0QFBC6n2/61me5eW8i7/jXZ4k/+n/7wX69vv+Vhql7/5397KfuiE78N2rvF
gRu5iBH+3gP3pHt5Jk3x2wHbo7/6ywMVTTc/gakIjMbQIhaNZHCmXy6ooDHpk4MnliNAaGgtFfXn
v3xQNz55ID0Q6SBQyAG/jqPw95mr6NYnkDCA4u6NqRjlnI+44GH8CS9+YxhCKI9mSB0JJuket6HQ
Ug19MW+tsVQinLjAJSUJkE8kCxMFPvRukn7vgPceLwViwp4L9hPoESIExAvzTUXhncc3Zj4SDa1S
W6UgDA1LJot0BAhBO9jbmevfVI2VqxJn7VqJ93n+RUlqA+kPfVqf/5C3xtI/W09sX1HpxO4GbwAa
b484LaDk1HHQjG4rA8jCWZ/By0dqX8vH9KoGmD0v4rVBUu6XZupcNI31M2n5fQGur9Ace+S/nRZi
B16xzg3+4JQt8cfc1O50M76AZne5SkooOdeN0URDpxphlwxkM3/V7Qo7mvByoSUaTC64Gw/GIxpb
BU2VhoMEdCRSahnguDS3oAt1k6dBgu66xu/RXPFiQWOYtCtTv+zVC5Ndmtkm6VZNd8HaW2RsG2jZ
bWjvO+aFpQT2a3mZZ34DRePquXWjWY+a1AcKHuOt0QyG4+JmKq8pWaHbhiFoVnzoACTIUkXJxq5R
7ECjA+5cv0l8cMnbxUr/YUGJTlnZEIvdcupXxUX6pH1jUzBB/bu91KYbUw94vSlZMO284rOt5L5R
vhTapW1f9M7GGSOrCOMLSNgjMQ+BamRgUVjTIJ0GubRmBWAjRK5mJ3Q4ni4rBqpigrREkHoBIWF1
1++bZGW7PrutHp2vxlcv9SdkqfdoQVFbNHWu8vYpQ48cDcs4ROivXA+QHfiOkCLxodGhPZW3ypPn
Ag4YqPZqzFexEk3ty9hFAzTr0pvZCLoXYIXrOBjMML+qwvhbrV5YEL5m/mT5Wb6eQFeq+foNvXE2
Vujc125gAIz92joIIBBR+OVV8h2rZt23GBW9mJygzn3nwQCNXbw21+maggj9hjzNSRhPF3O9oaXv
7fjnVXzjXfdX8XaCGMNDedWt2PX4xdN886Yogi4JwYuSfJ+57wbTZbOyNvEdA3Ia75s0GKubNvGh
P2XsB8XXuO+FaCDJdt5Xtlau56/59+LGtdZ5FdIxgA59oK/5Txr78S275oF37W3SSA2B74PC3bdp
467QFw8m/ziwI4xxA4KWOvVZlFHoIgiAVfWT/kT/CP1ZgMlX3QxuAOVgP1mVVzzxsfnmPb2BxAkm
9GuxtgKyqbsQKqn9CtrfP7JN+WWia+/OvZ7X3s0Q8Y33OmzZ1rvFAwOUE2w7P2PbNhFaxpHmsYDd
3mtRcVvconMXavaj6ZMsoKYP1mdbBZL017H2oSvv/813hkBd//0teF8y0O+evATFX/wdhTnqJ+Sk
wFiEkAph7r9vQJBrfLIQaZmC/h4JKtHX99cFiDsOAg6QAUDjOoAS4n351/2n6Z+gkgRIDiiQQGQL
zYqPXIDSjYRkD05LyKEKXmtct3jLHj46dAjONwzylftynOoL9HQVF3PMvA14GpTLUq0r9MpBvkEd
UNe3oFMTcQCq9sVY0C8zjV/fTd+p+1Hct3+O8V9fgzvSFb1WuJVk0LuTQzYGWnl0nwEH8yU2S7RZ
4VxnD0bJ4lc+sZaHA81vLHNUUh90X8mtWoMDxm8qI++hm6qBkyUxtAc6sQJqRyapEzT8UhTjClbw
l/OfqyMMOfpcNC0IYiigOhDlHE6ekdW9nekTmtDUzlNDRJPVQzOUdRsQ5ih7d0or16+nytsUJB/u
xskqkwDNT9+tbNC36qjpj0Pljg/WaMwQNIVgwCtLy3gN9ef4dtK97KceD+TFMtP5EfwC1X2mj3dq
Ck328wORsiZvTgAFSuGdyD6han44Di3tkDTBo2Nv65yCCM2kARrvtNV5K4d39Nviwl119MyLZiZL
5rIBxMwldTeSfd5AzXwwNR5UY11fNRT9IOdNHcZ1v02BuUCEkCL7LX7+Ls4aMgKRWhsDUkj/kw1g
Qe5i/aZFc7DfeB9szxKzh8bVt7ZHFWRMrvCSd8bcPkNiszHJfoC44VVS9lNgmWW5Hw07X+B3O7FQ
CIyh4onwF2z7cm0R+kQkn+eG7mmRkhUHM3w0T/US9cNJKxYETARoCaslDWjKLRWUZirdsySnK/yJ
JhpdZalYcGwFbHxI/SLfDHIjSHIcThvifx6Ps0b3OJQQMPV1Dy5CqofnPUFGCWN1UAYBAx/yKkgK
vj2C369ON5qEFGkGV5htNSz0PL1QaNf6ZFR9J8kxgbWu+87kjtE8lggaGSRezn+DlPZ9+wS0BIsk
ETqpISp7OFJ0B1LHHjK656n+s69oszb0oVunacLBz0X6YBgaEnals7TjTkwxOMHxsMbxLtqRxc/f
eyZj8cB0l+6bok/CPmW9D8XrJeLM482GVzzox9BtD1YSULpLVjp0euo6oXsVhZjAGqxnfSqeFFaE
dTIubIBTU4mrUrxbkCBDVuPQ1kDddGrNiu67hmlRM3RWNBeq4tdouw+N0auvZ9MULHX2Uju1dnw3
occfvAI4TfBwOhI5QSuEW/C4ZXt3/Ja1w42JBiaOR4SLgA48Hg/oKw/0JA7GIg6hwhHl83060ecG
3BXjBAbZzAkXmyeOFxjpGCiSIYxA/uSIFs0ekN6wyjnde0whnz0UF+6oBUWb8/4rV03gwIL/T9AA
m2Kp5apJbHS6W/YpFTdaFhLDywLO7e6CexoJ2hQvRGdU6Fe76csI3DXeBW3idlWZ5RIf1fHy23hi
Cpd+o4mR2Y+5ZjYu+DTpPk217KKqDID9O3WMWK6mQawW5soiM7nTnSYNzs/BsZPDMjL9GD0e73g/
HzpebmhKXo1wvDH1pqiElk5I7HKIPIhy7ApCl9COInQ4jIRAeYjYAnVv8ayV7elay3MrwUjJ0JGH
2eAG8dtRqTo/5wYYraEiWlAU6Op8ozCySos4mReGfGrZhYwYdEgECzNug8MxV9Cimcwup3un0rwr
o2vBFo6YBUnjVseZlRWbPm66ezo66HtKbTtwB4K7z0irpfe9OCEPZwN4JFyxiLLE+SnDC3pk7bph
yrs9IR0ui7SsnM4vqV5CoGfQ9CaiCqrsAffK5EpRmsieBrf264YD4lOa+dTiTakMULVgRRyVUF5s
/aKnKmRuE1uvLtx2ROv21KJFFf0jsXsNAl79awn98TCZErx/87HovjiDOd7ltHf7YLSa4hr5ROXO
GbXmLofaGhLwfTvZvptUzc+qn/olbPyxByIyFjsR/2DLy2SgxEM5Pwed7R5KqTrk5RFwtpogDLZm
aDvVxLg/7/HH4RoCABW0bDqSVgjbpEq34QyuTeux3RsNZDit1LAQyjoMXLLqEprz+BiDKRxf6NJD
bg+rfOhoWl/VU6dq7Z7gQr5UMmiEOhQJh/MDOmkFuWacHSjeofx7aKWeeuKOqYIBqchLQa/zSTHR
WPMPjDio4uC9hzSVnFhL6yG1B6Ps9v2klys2J7o/efMSrfGJoYDXDLAGVFJBmSLLtU1KXekW7QC0
SHQWaUP8PUuNpXv9lBH3LSsKMmyUAqS71p26tGsr0u+Z3rdRNw6vw4TE2vn5Or5VUUlA6s6EJDkO
Ohk73uGO9zpn6vfUa9gmsVDDUjyUt6idJNE8GzlaP+yla+TUyMTj2jVdrJEnc5uhcwZVicmAURUQ
78wa+ih3GV0Y2okNBJkZIcKGIopgvTj0t7wAI643Ns0+IwPqEjVVQgUT4I8WcnrnZ1FG0OFcAHJJ
sCjiySNSu/JLNG/dwZjHZk9LtNISkDZGPR21VdU78U2sd961bqYjGEPRRVyKrjKOzPI9q0sa2dA1
fNR5t8RteGL4goZJFJPwQMKJdTj8iRG7qwBtQKhmjZGhzSBCq9jkZwXyZgvDP2ELbwmkfQGWwQNT
bo7qKjNhamN1+wzEvp+VqQEqvE1MMFmgprROy2JEdDAXPDIHFVpGFudoQo8TCkReMvCEhvbQdoCE
uiix9ihB+LVX5kV0/itPeB1uchAvioQLam7ShORTolZjU/b7HBLHvpe51cYaSb8AwT/lCgdmJFdw
nErPkUXo91qTuitrMpKdCfqTFeiO0jBWQJOdcEfbV5angN49TqCSwZU1bTMloFoyBhC4XZJ6kYF1
wj09KANCDghpHfFIPvSFogOb26QBNVWVSnVN87b2jaZy+pDHA3+xNWIhxzsXLQ2UWnHtlWcWzR6J
oEpFaQTkoMglJ3kbTm5aJUHqpDaEvJOp0X2QK3dO0Nms9KLa7lsgWxSd+1bBtCxAoqTagzoFUpbn
V/KNx0mKR5AugRIo1ALwIpDrOG4xj0lSev0e0Kw2ytKGroYJ7X8FR7LdydFaBfDvK3WQg4L22XAZ
d5c8W3c9B2E4s5toKliymnunDZvK7Xxj0pE9QoPGQ5nrww+Q4rphUxZWkLYYKbGsn2nXm3vXHJAy
JlS/LuKx2ABe561dyCGGPG0hegZutGh06BQOXrPEbHW8wXBeCiIuoNxxqclvvEp1eryigbBTFRB1
pp3XPNl2A+ixatDb85N7vE2AvsScegAJgetGLuXUYz+YYNjgewWc3eu0Za9of9Uu/oERB8xRb/8C
PHjokIpRd01adOMeqTYelkrqBEjxLUmcHodsSHg5CATADwd4m4zShuJAOSNQGPcDbV9J515Sh69U
IJ1BE1QbC055aolMRGt4owmiYxl8GXPTynIw0uz1CdjUeh6mVZ6BZqFSarZwksn4J2xhgR0QiU9h
DUCCw+mDNguNJyubUF6y0DeSuKhYkExf6TXTw6FQ6ktvytpnjdjgGsPy2Vcud8fCt9qy9fCCyb0u
ILQxgJyck1xfd06G+orhQvn1w+sM7kTHEPIP+OvyE4a36BZWcQsDccerQO3Bmm03Sb5g5cRLCakB
PJHR3ygSPHJqs851xQFp1rTHBac+eG02sEDLTFDmcbuBcl/jqM0FTcqh98221Z6TPkuS1Rgn7X3c
J5CtPD/qE36HrBxqoUg44fKV04RWkhiNQap5z2eiPc/KnMC7HbovnKYN2Vgsqb+fSLIBLPLOoPRW
ICpV6hxc9PvOreLdNHts3Zg6CRizk8uJIFfPwfL9pVAn9b5jzFgN48gWBn3C/xFkIdNlCkwL0lGH
Ppkmjt3SfJz3taPX65lNOXDHShcWRmIuxBsnTcGfkLU04T3yVuvnmGQk5/M+tiFMxL23mubAVyZv
2wVTJwo0mFrsMDDjCqysDFFgBPgIG5gqpJ1cwUYhKvCJmVxlWeNeKOlgIgWBqmJKpj6avRgNpkZD
Amop1UPcaEsIhuO0BL4GJK+geUW96H9zdl5LbhtRGn4iVCGHW4BpZjQSaSXLNygFC0AjZ3Q//X6Y
3QsxFFneO1eN7WYDjdMn/IHW7flD1prOr2Q+qqMkOIRA5Z3PdTmKKPOr/jnP/T40EVrcsqOfXTdp
D3KbW8995Vyh64Dn61Wah4S7M4hUV0dTFX8PiettlrL+0lviES75xmSHdsMfK10cJinqtjJnzTiW
rixeY10Exs4w+0ZsAmMYPijbTUVYxMWIMabV436RdCa9iKZ092rwlyC0aMN9SobC9kOJuCuk36kb
NrTvg3qnVWb3088mfTx4RWvo7/hCTTc0dF+8q9raglnfpEn74Pu4DtoAtnjwFCPgreikXARtx0uX
ynA069j5ebuL8VDeB2lfHlM7MbSNPzcyAFwAYjS0FrM+BX2jf5U5ynNhg/dCvrORt9x7WeD9jnMU
kLjIZu1jrk3Gl/vR6zIBgDmAJSioH9SnuVz09RT80bXOMt+VCiX2Y2xoDjmppfZIxGcPPqzrVcDG
YcvDIMV3cRq7CFmzW+bWMHQj7Q3x19TOGOWhdm88gj1fhmK6Z5SYDIdwAeF6CC6WKbuh9Nuum49m
WXrvEgrasFny4LOWVd6T5srx44OHt6bSf6amCBCSNDE/JdVm3uFfLNigh4mSR7EqC1jezwFvjDhs
DS/RYMNOUxKhSsoEoCbNniL+HxCrksJygMmQ/P/qrVy3I2RBOgRbpjT76iHaZGxAwoMYqQ3YMaFy
RqBLJclTGXlD6n4wyqwgy0AQ/J+e/7oOK0sbVvjL2P/o0Ph47ccGS7wZOBVdQkcfQ1dNOjcSxiHp
JjM61HiaunPsUPTZwBjUzHtFeeBMx3JsumWTzrb0Q1C9QRYNTookA/D15jXT8JHCf2dpft5/hP5l
kCNbsFEVhYpGCFiLyvMDOI6GnldVPx6DzEhpbWamOgSzr7+3259aammfnVzJb8oW7pO/oqZ0F/vk
DVMLUUelLYJnHQbKr8pgRgdDeNTKDfYvVhF2ea19lZNn9KGcPf057WTfvDM8Sz1lsZHCQBjs4Uea
+k2797wB4jm0cUG6FKRHvXO7T2nhM2RICt+NRgVVPRTj0Fivo7CcBX3Dcngux8GqQsuVOp1ImQPN
GQJAZNvRmuwv45jUoE56oe3L3Ekwug0KCIouetevuFtbNaRV2X9pFLrvUQ3M14kQa/fwrKrGEcFt
f3ROzAGbYAudI32WzmAD/Y2xQlLzUKkwC6QaInvwOvWizaIwn83JHj6beZUU0TT2o48yeivSF98t
41ctUdOprn3lhUWi/8MJg66tY8nQhVUR6xhzobVdhFR7sx+h3VWPe8ecqVebNqmfKuRKP2Vgj7No
mRfUl8ugyZdtmVSgjRa72ZdVKdPDmDEKCDuUA76YNiUMLg8puKRSWX/HrrGoNTh3j1gml6FlPT+4
DdP9o1y6pnn0sszMsTHHoz66+HJUdBsbZpO7+8f0xip0zBjPeiAlmMysf/8jTDYFerd1VZGD2wCp
LCvX4FI/ljReb4XzeLI25uBSvOF0sU8+Xyauh3KMtVEeC4xMD7o7qG1O+zESlpr30lu+O7WxhL20
9G09Umn3Qd4/KNbWYuzyJ/AZrgNMRi/0PM9/Qmo2sdTmeGR+is9wBY6jm/o0pEMMDi9xykMrvJ0X
yH/vP+CriR/vEfImlwS9O/RgLlMvpPw9S/Nb5gb9CE0nXbT+K6r6Pa1+LQh+V0Mz/Q7IQsBWecp9
37hGucuVCo6uptkRardfjGqu7HC0RqT/DdkNoT8n2YQitFk8GJHcfEbMpYhbq9bz5Yy5ryZdidGe
jss06YASm2xfGnOAtjSlbW4kzWZpArRGenCE9x/TrXMIafft1mY0+Kb58sc51J1q8fGunI7jbEBH
1wWlHS3cB6vciMn0EtHXd2EPmaTD52egMurBa3VtPs6YBB70Sdlp5GdqAh9EUvVtqMrUDyvZpr+H
bMzaKG5j+ajtc9mr5jzwoTF8BJhkE/gu7gUxjUVXSI1yfvbVwViCbJ9IMzs51fQUFF38qRw889P9
p3vVzlsXJd1dKVPw8vzLkafuMluaEkMeMz0AwjqEZHHvKR8/mUzzZatHXIDfpwLrWX84NoT2wjCj
whKbB7/jxmvmdzBzh13yNm8+fwFD2w0E3oSaZ8Fg209NvJoAdT9DhPXC2sJebTHTODQbLMgoDrqo
cgBmtlKD3zbG/basTCNazUa2D37YmtBcRAcqXQ7eGqAoQi/6nUXnZFjK8MP8acTKrU5/+xotl1Zk
9aE3CY2tM/RbOSX590K4/k6htRINFQns/R9y43TwFaz6QrwowvlFlArquK21tehO5tEM9aUaPywY
2G10cMlRYtXLptFk83R/0TfAw8Xu17SShHkVQr+SVnWdQjRWIymJQAbtY3eK0e3I+/2stPgJqFgV
GnbysTWKcWtrth52ouBhMC3Y2Ongn6iyvP2qL84YP2+hPMK417JkeAFkpO3wjvWeptwdfmK7MT9Z
aWyGy+QXG5Si7edJt79IZaVbojKVA28+5FLWXswhnqNJzfM2q6qSXmdnhXxOjFiGfMtAsdgYlbRe
7WyqHvhgXybbfCvMxNZhEk/EuapwetuLxVQY6tjLrt9iBpeFQdOVm7TEC1CY0n5wMV3Wo+t6+GPZ
UBW4KN4QnH9ewe3AiD4fY46eOc7H3PW6TZGnw1akXb2//6JvfH5ko7Sc9ZXRw5Dn/PPTEptLWOX6
MTcM9zCr1N5PgfaoRry1Ck1thst4Z7iwIs5XyQBQitqZ9GPvkNGa1eQdJp3v6P5ernoa63NDY+0N
Esuw9a2d9seVUSmLtL1PjWNccMmCmFmTPouk+jS5Vf4tWZbpqxOk6fAcs9O/6mQxSlxXHK/dabmt
t1FRdzi53P9Vt/ZOP5jZDDMaxjPr3//4UZjQZZaRBvoRw2PAJHkno4xY+2CVG0nFOnkkj6E7h0XP
ZZuqdnxhZV5lHnNHiW09BYncJHqZOWERFPkXqxbpVzq4ctzESdIexWSNlGh55pGAqz77hxGinaHX
WFY/XD/t31tL4fWh585GgEy0lvgPwtr1Y+H3QpgE2Ehcu7I+FFNAU006tDh0ybUaO/7GkNPw4Hq/
/nJp+oPOM/B9whrgCoGqOb5yx9o8etDNo9FKU4ota3in+iI9CLiOjwRhbi5IY3i9ycGTXH5PXHWJ
wi7WPLqxn278LO5DwEzGdqa0jJasCDb3T9el9B2nnR3+seDF8aJFYFTtaJnHypJh4mUCXUP1nGHi
Lho0noy59g+TNsRbEcwxvIzM3tOwyeF31O1f9EOqDTx5+Vz37fcl98W2ZVzxVLlK2y2PfFevwxo/
1afPt2LCLdytzr+EynYEKBd+aq+N2YbrdYC5YpYRHiqPtO1vvoY/lroIawEZj1qYEhwDG4E15gV0
mAobH1ucW3daKR6lkbdOM1/3mw82A4zLNDmxpaA4K82jldnJU5Lp7ErWjzw7rlOBty+bNwDdXYc1
fP4A40bWy5ybHC6ndaMmbr1j5eYisslJdgsdgC1osuDr/RN2XQEwk+HrQXqXLBU8wPmilW5MQenn
1nFQlhvNQ/Fbbxz/EzNu912vNxTmwaS+x5n2SAL71jtcSX4ujqHr2O6ir2i5puQLE9ZxcZrsQNSW
G+bP6r1dIvsbSHPc3d/orfUweWKiswoG+Zf9wbFxnNFMFuuoofERzlgDv3pBh/xRastNTUf4QWl1
43NAupGaw6TQpgq96KjR887kMpbqSJFDEickSs2j9a9okvzBSjdOJ7jGlQHuQsxld+evMM4m7Lud
DjaQ1er7KvVewcE+AtPd2A5gYJ83xSJMqy5eV2UtuGT5JEnjWLQHcrJ0o0wmNHHdJQ/2c+NNMYsB
c03ZwGjyUlI1CEqj0xpN8aZwRR2W2nrNc7fcFaM09rQCi/9+i4CKtyAx4H7ueVdbS+Na0tPVj0Io
e+dRsH1ti/EfzfLy9ypf0gfjiKuxFzGdJIYjCJGVc395a8m6Nxonc/Wj2+jovs1Bd7LSUo/aONZ3
fK3pLvFbI2wKf9o5Q1c993OuPagAbrxOfoNn2taat0AoOj8zOAONsuQKP/p09HfZVI/MHIW1t+iy
Pni8N44nmdvqdobpNCX4xRWWNcnguiBvj1Nmxi9ySQT9vE5/EMeu5hTrU2WIRy0YMGcmHTvfUd3W
eJGsGYf0/OanhT9wtFiaCRMyRrpWL9IXfUjmZ9NTdmShmRu5MxZQVuOa+9qty6fCyv7VGss4zLKp
dlUO7OV+ALp1l9PvWFlYK0DhKk32O+HLXi/1owxgLCbenL5zZjEdsj77tkDk2gMHy56LovxqJlX1
zpONs28W+sBVI5yvGtqs26HDMiKdwIm3s5NvtarrNkOV01p6kHDeOh+8NTRPGP0wP7woj/2qzSV9
fv3oDX6315qx/Gvy7LU8jx/RiG7cQG+iArCqCZdXdChT2bFbOIlxLAbeisPs4RXXgOr94IoeWHBg
rNwtnRvCHH7dfyO3NsmN4K7z0RUzfZFGzJnZp2JSBiSPIWYWqv7pndk5IHczbe+vdDXqX08n1+w6
HzCBoV+6S/nxoHLevnlUfvO+ZhKwN5Jy+MHVUH1EV9AN6RH1ocMc5h9jqc3PTl/Ig+VlD2LPjRSD
OEepq5urm8alauySZlmtusk8JiaqCYS799Xsu5uRTslGYfMexonx8f7W38Lnea+BfAz6A3AZEGZX
btCNN2n5EjvWsTGybuVcpMU7e4FmFTK+LCBIz/lziYOIH/p1Ppl4OHeOt6vnokLR2ZX5sWqd38wX
u3RjMlTZBlIPvrqB5mIzPmbaDtPxGkpw1oCGGr28+i3EvMxR6fdNHsVTv5KzNc8SW9/TfNRI2sD8
2xhL+V46y7xXctDcV9vp02evpUkRcsxbhIzK8mV1UGckq0Q7MKRwmn6T1bGtokabpxfoSRPjKtVL
+Gh6WpQbaSSqCR1Da2W0pIb7wYoZnb0anjQAMlAo1YCgNZ8RljP2S1TIeNEOA0dlj7xL9aJrVfUT
wpjrhj3p1ofedEGqQaWs94qeYY1uul9/tbRZNzFkUL7CDLaZvjYqK0Nkh8Sv2Onq5mkYE2ft9nVB
E5ZJw0hmCGqx92JkvB/EiFuHGsSQwY+icwKp9CLkKgZRgSl66wg854OnGuNdn3nqs6qW8bct9fl5
gMS48Zj5fav0GL+Dcmn694aqi8P9M3bjiqEQAmbG9W3A8rm4zWYcWjUznqFlz1XyxBwRJqLnP/IJ
uLHK+gmb0F6pxZGfOL9hEC8wY6HF6GG1mb+LTTff2o77/T9uxaRTg4SKgUMoELDLUmNxzXrRh8FF
SwOlnhYtoo3Kskd38lXkYxUPJfWVSofOxuW4dzRSe9Fjwzsuwi1CTyTm+7XIwc7JfhT6rsI7wyy+
/JWZTNpNBnn+1OY5t60hy7Vj7QkrHIvmr1yXQ1jklfY8FOaw0YMU0UQbvvv9J3lj4RVxRoFB6IWi
epGxOkIpA8Ei7egykj55HR6LRVuO20yVv3w9dXDhUMMmm8dHp/F/2wBnIQ/8+wp0gTuImSXx9nzP
LehTpVlZfvJ7jyKVrk6662tVvI49amYbhmAaA2Kjm16ZBYqD0zvNtskUuOMSwqmd6DQu3FILPthD
EPwsa+F9yRS+PZOe53YUxEhwfKKxgpd2k8sq3hnJ7PY70p9621aqjCke07bfdpaZRx6avPVzi5JS
G3oNsJsN4dX7gFfIMIbB6OJ4pxW9V0aopE+HTjVJEyamWiBYBkm2mfIiO7laMJ2Kkg8wknjxHo22
DN53SVV8FzhlE7j7AGGEogT1n2tu/lWk0kDloJyxGOoUHivu0Jv/YsW8hI6cEWoY5uAlrW27fyWK
CmPfG638OjhzYkUBYIdk1/eOk4RkAMsvhEOsXyUOgL9rKMBUpaI3m3BFlAbbIc/gPadOaj5JJ8ud
DYzT/t+8LJ40IhPhP4lh9FgDh+Gg5fn8TorA/jhgIs8ms8I9tDPWImnoSk9txyBPtl4JSCHsU0ci
tzpY468phbYTZfOUbJPJtKadngfoeNMzzw7Y1ZgJ1uEjzRS/ZW7vVXTS49qsdnqi/TNaRf61tMFw
8G7qQHvblXimu2cfaRSKr7bf4rCjxamDasOU9n8Pdo/RZEC+dfRHJXZ20CRPbZDn34putACANqP1
PnXgvYQpZWyMzkjVP3IaukoS1tNLF4KpEe+YvsD56Z17WqakBtlJ71PkLgJdw6IKz+XRboZt30hn
07gPbbeuu7tMQND/XLMkVFmCS2KvrrV25Y5+ftIEgzhnbpsvsAdl1GpaczDlLPZ+WxX7vGYQnwpl
Hiwmugpn2hevd7P/WoLCiaZkoRHDGBc2+Bo//+jqCpfXi/d3eeJ3pCiUxRaSHrONNxeM2ETGD7UW
r+bl5NIOc0qGEKwJA+J8wbEoAlvkfX0yRD6GCOCrvcjhnOc1Rspq8uWLnrs6T7809llZyL8wGje/
3Q+YV/ebSb8CEdYVksqVfuncghtd6vuVME9eEtcvPqKlL65ZPrLavLHKqmtBtrCSuJlOnO80Saeu
dfvUZjJpOqQ+jrsBU/WoQ3h9wbm0KvxVnOlNq/4iNSFymR7QNPvo2F3y6tmxERZVom1ihATuP7Xr
awY55pXaC2jq7e2d78dJl0npXW4fsV7cuCljD1mhu1IhwbGdp9qj5TpaBGQ3+I/88FXHg/yC1g/T
Q8jaF/dbJVPApFlvHzs06iNX8/rvydLau2AO5HPuzvOmknG99ZTS9ve3fONbpdO9Itvp+ELSvnQw
703p+GVbOse4lF9kPrifvNEVYEid9NnI0z3+3/KJ4JJuXLsO3i+GeArcYj9o6Y/7v+RCkWoVZOWS
pW/DdB3OKR2G86fvG5JmkdWIUyo9bVNlabJL8tL8WxWpttcrLdk0aGgeGqNLosSPm6fcaj2gapb2
kTvH38a5sA6un/uHzBi9rRwhCBtxM568vsqeB0vKLUSno570eQDYDQshr/f7gws04tksPWMjKidF
QcQaH0SgW8eK/gy1KRHYuxpKuo3rFsHoOMc+nsYPjqIlEDZTZx70QvvGsYJPCzmmJInJ1ef7D3XN
yM6zF3qyEKLgVdKhAip0/ky59kVTZpZzhFChIn/MyneZtyRPpSzmD3Xnv4imgDwtuBwSCq37i193
xzjWNAIgL69ITkCQ56tbaeUFYiEBnrIatZMqaw5TIvsP1ez5/+CCZ4ep3dsi5Ge1J4BHxXapnf/o
rsKxOv8RF/E/iL1xUlXqMueZcOsObI4V5uyhM6CdgWpAtr2/6xvn2NNpjfGqg3WsdAmHWWBEzCMa
L8dOLzWgc6LI/7ZcUX53uOv+chqwt9Gg+0USDc1g/U1KZPQbBisdsBlTpkPEaZg54p5WFbtxRokN
82JH/U1OBOwvK6Q7YAU7Ok0osj4/kIE74EAo6uB8DJn2dy86U4P8lo+HwjDmPsqB6f5cOtK2+zu9
RqaYFAIMvqFtsjSA0/P329YL2WTnu0e5MOGve017CvoueC/KeNzRs9RDnZlWarkxmM7pgxCApz1+
bDOk3Q73dv3RbPWq3bz+IOqTtduso/lxceB6s56nuW7dI5i/7lRVwb9Er/ngpaX/MpvLoxHi9f3H
chxu5hAkGFRh5/vPgDu2mbO4R8PIrHdOjTN7mk3p04PHfB0/iIdAxBEQYTYNDf98GWfFmhOZvaPd
as4PgP30J2R6MjIz+GDiXBkm2qD9jQ9J/2lC5fnVWsTLIALtF8w3CgOzTNCnM2M/3+hmGSPsHSQb
vbDyDBX4ST5AYKyf03nEWX8sfHHovMSdy9zPw5aiGX3pHmcvUeA6E3Pbg7uE7dibu/sP5sZzIbas
hfUbNOryQ8vdZnazxvKO+VyrfYI6/F5T3bwxtaU4eDRyNk49B5tu8vUH3/iNlR2uqzWzhOd91fav
CmtQwkuTkyHVcqDvtOySpMTKJtDGjUxhY3QdLNw4nR/hM27EVPrhpLKMyQnq4H3OD0PvxnnqLW56
mntsZfXS2ZZT2z5TwTabrDXRt1OzCnPy2pM1iW8WahUPNn/9ka2/AFlOEhWaj28qxn8k1LU9OKZe
O+kJoA2VIWIEEQOyMTQU6McRDPSD6/PmetQSIG2IMwx3znec66WXyMJPT2Js+z0+auUhaZE4nDof
iSVe+IP9XddMK3gItpjLVY2bwMV6KWDoQnb0GXRkZaO61BB1EU/NElR4OiRIy6Q49d0/ydeYkDX3
oVaD88Dc6spIaASuzajdyDAKXpaP0oH8gIBgWdividTSMYqrovkEKRS8cm4OOBolU12YIVY2K8kp
SYQf2uY0z6FlZ8tpUK71b5nOib5xZV9+EFZXPTLTvfFWGDUBC2a2B4znMii5QexktZ+LU8khGDpa
T1OW2RTedha6jfnP/Qe0PvPzqEKJAfKQ2xwpEmL8+RnonFQ5g5+Ik1MEMgRsJTam0+sRIt+PlFFv
LwXoFwm6tWK+uNQKmuqlofzsBGzND0dRi3e1npZRkvf9g5N9fX+wK54e2rjg+Ima57ua8lZLuqUX
J0u1yR4yh7YZVqP3+8/u5pv6Y5WLrp1mlJ1yBKukVudFo16AEgzQktRbYwetRm3+H8sxG1izPpch
4cXzwzpiwjZaFydPOvbHdmxUNEk0Pb1UC57HOX3UorvxudJUdz0LGQm6uZeTH9T+fbuYICGbYP52
cEqHTd246X42SaWcRcYbmbXu/2OT63gZUDybpLFw/uY8WSYjvAdxWkkzh6LVkC8FT7dN0+xnbeF6
cv+ZXqfx4NAJEbRx0MDhIJwvlyaOltq4wZ+EoVWhZ1Uvw6J9LFv7tzlZp2AR7+wSs662+q8KIFxy
THmo7PFqQ/3+kueY0iRxjIJYGI8E9yzxrG1TyunB0zSu71MuslXlkrKba9W8OKJDFfdxqtOmQtME
PgeEquFrBY9GD+ecgixUheY86WQzGwbQND9HaJ1JGE/oDGWmZSFRN9v6v+MClU2puY68WPXO1p+F
2g1ToMYQ5Yf8kUfzje8KjgdfLXT4VcDzIibhLuyoWKMz7M3lOuIf2n3m5tk+V8KNJIzNB9/xjcBE
VrUS8BlwWgDCzw8BdMFC+rGgq9ZN3zLa4U+in/6FFvNI9ulGWAJsDi19hRGx5LrxPy74domDspm8
8pQkGZTpWtjRYHrLg5d+47v11znxKsBirrZL56u4pTTserRLZJhLpmy65m5mqGtR7Qb5tkLHadOZ
tr+9/yHdumjXFblk4eVzji4eYrl0ctLGpDrNRudHYCrXlGVB63ha9L0PwGDfpfV8KhcbrH2NYpso
Aud7Y6oK3yckOu3YFBH+vUaUWZChutFv39vqYRPxxrtGXZ9mFA0ZbqFLKOo8+mWSuLI6iWLMX3xd
0WPX5wXmoD88eA833javmiYhwyqalZeYjmFA0smDmn8y0XqKukrLQ73oy939B3/FpyWSQLQEgcCt
8JY4nL9u3ZsNtJfy+gShyQYwbjnPceeUf6t2evuqGaUwc32nRDLtaezUuyY321dUSekZOE67a9QA
xUdr/u2aOtsBnqq2XVwsu0nl2ZM7Fd9MLDBQd2zUzwSaXVRocNDu7+HWkwKjwHQUCTqykYvUW5tX
ZcjJr0lEdYMo3LvoYKSPOCZvaLKLXGcVy6HiW3k8oMHOn1QCBRCQX9CcqsHOOY5iyvZNiR9oqI3Y
2WxGPMR+pHjoiE1rDtYXJZPGC2fbjvFFqI3TtJjL59hMmo+Vct0fcSX7fhd4nTjVjhn/hFJnVvQY
V8R1JwajCfGULB98Z7ce1doFX9vPb3KJ53tQQWu1WZ03J8tG2dxAUg0B9L4Mvt1/Izc6EDCekF8F
8QFLkrz9fJ0kcJtlGYLsZMUx8gr4VM2MU3LkvMeeDn+/tUdjK1qfG8Dpo3GZn/pZf62Vd7j/Q25c
0HSoGYwyZaGNqq/P44+QaaE1wAutxMmtG4hfdbM8CQfXcksE/T5Q829ZebsxHrrPuMkVD5AgN54C
iSqlsA820UWK+CI9MDDHE1DyqlOHVSMcUmP5YqVKhHCK3L3A7CYPG0sXkaOj2D6jRrpt3MnfQ1oV
kZt2zrayrfqBTueNO53wtfIG4UuBdFsteP58JPDlkjS1aOx51pJ87/pcwukFxfUNZzhE7rXWrJGV
l36Cdp2dvYi2sw62BZsuHBNDj7cZ/9aPwjNo+y6ZgF4ytMvveVkJrKKKdQZ9mNY/mmi8JW7nHx/g
c/oJDLgZOiDdcv6rRVwuBexSaqje7v6y2tT9XCRrCy5hQIFuFIKT9Yb6I4gjDx71E2+k2aNKnWFW
nzX+HLVOPOa7thrtH3WsG68Dm9uZ1dLxnS3aBEDHHQVkwFirtagnFkJjdEcT6L40c7Tobdg5XqP1
34ys5G/wBH1chusp3ub2Ij74MpP+prHaudka8KLzzRAI+eqM5IgbupwL3J7EhzrQB2jgT3GjuTur
BZ67nf0+S/BFsIpmo/TWo1cFWulJS8ZUf9ZU2u9pLJhlSJJRnVyjs8ELd6r75cMZbvh1iJdRBUaD
8N6jaqSOzQxIQznK/VmjEtOGsa11n8bBHPPI1NP5u955iM+D/rSwPejz6mccT/W3oVDuvCWjrg6D
jxpLlPexY8LgTTDqsrUpBkq0LJr+nM25O9LFrJsuMojviPbGHrgTnLWc05A7rUmHNJG/cvhHbSSD
ngkqXryoKOQFSpTh2Pf+b2k3DGUffOpXsW391FZ8Gx1Pl+bPxcG2NNvJ4Miok9vmQIiIB4hGtnWj
Y06T+QUMZEzOIjkqzDG0oJj1z1j4FbvJrFABBCmCQSEzwaUJ+7qz/jWXJf7kTEM8MnMReAioGiMC
DTXEMSLjM/9pJhUPESy6+QXevb4aTwjvr2ykqNuOiW1+y/wBjwGpOpjittW5GyGN5cVcBgUrN+1a
li5MK5RIjHzPKlN9qfWCD6ed2sbaxIVeHA0Uthg2DTIvtjB4iziq66xqtvnSlD9s9FaxejD9wdzM
fPHkQIGcoWgUPqWdNzXWtyWr+qchRwcjRJCzlHtHTHIKO9tmDrMUA/63wLGSnddLcFy1NQXOzh+b
yQg1GBMDxHUJzcZLK31b1bLcCFPga4wNdhW2iZP+ipukzgBMJmmBl6bhps9w+zCWioWV/tbVkHxF
4VN8NNJx8V/azkVBsFmZCralST1kuhFs51KBT5uLHKl4zSrVSw5putpyQdrf0LWNCZZjknyP2wQS
/mxO8ORmL4UdrgEvjzStjV/TvMzr98mQm/OziB192vsS3NlOdXX98f4Zu6qHGFqsgBOix4ru0S8y
jTSLRZGNQ3+ahV9ETtN4z7bZnXo96cLJQanUKeYf/WIFD5q3a3Q7i37wFSCXMbdmbLEKRp9HPynI
wYSS3anJCyuqcSPc1ImJDGNst/thesg2u7HPlbpOC4lLnIrmYp+9qIzFt2PWK+KXsWD8NsaWD9i3
fBm7as/Zqre9af3nqpYslD2SaTJqZPp5sazpJoavzKk/pSsjehWK3xYuwvz3X+JVDs9YwFuhqOCV
aINc5nG9Kvk89XI6Ga13Wsb0e6HbwbvZ7swHp+XGQqQ+Lr1DINOcm/XvfyQf8YAsTmKO4wl/9WZD
0QJHk5HALm+7R2n89QGhJwoGiyNCi5/+3/lSswFqgfxxOVUID0fEBLWFWum/eLLw8FQBA3//GV63
u+n3/rngRb0mrBrQ0rgsJ2UvxjaAMxgFEiq+lZuIX3Ab7g0Aq18ch2u5SUUX0jivHySzN56vgwbI
andGLwTdo/NN214i+s4PllNgVb/rwMlfK6kMsgD9/wztzgzSzuyh1pN3/gGCb6PIJ2fmzNBeOF/K
7UTeOp22nBbTqPerk/hLp8ly29mzfAEk4UdtMou/qjruDgk/OgKcNm601nn0S27t+U1km4YTZcjl
D1mkQCK3HWaqcwxSl7l1tu6Q1ps8SB9plV1YN1GO845XSKHOR7lu/+L5IgUDeqfollPvWPu8SP6Z
fT/71rZt6MeYUI3pJreSvVzaJ1AQLwCrPw0cw7DxLO3V66QOm9h9kM/f2D4vALAjg0SaIJd1RTZa
ma/G9ZW7S7FHQHL+IGZQjp1JY+m/x4lVzIq6GBMJmnwX2w/aYpI2PZBT5wyg03LhfxSzh4CkhYDU
/c/pejZN42j1qsQYA2IaOJeL8wUOSksT2zjNoHip/3Sv0nc2uVcVTkEA1y+bRaNFwVKS8parsuFn
XTO0d1m/oJMreGRmqDynPrZcnHMoxxi/C/JpzE8TFLg3Q1xaW1CA7g8FUfRDkXH5Rt0y/15Unf/k
1hnlSzlr6gn+L1ezt4BNe1XxXP3nZhkb5det1eGb7Oj6gv+IifZST1YiXXlyrNqCLoLtWEpb6y+G
C+2D8uvWWWEu+79QK7qYF9+sNo2TJnNNngI5yU21Kv+lZQnjX6Zyc//93QqH3Fgmys80TNcgfL4t
tOBqU7ms5QyZF9UD7jy25qJ7XiFrbmnpKwwZbZPDrD/wPt7NZlCH93/CusJFhPJWUSk0Byg0ASxd
/IJAcxaSb3nqC2D/aH/p5GgJeqea4h9RjP9W6HUVkmeWjy7UG5fPelszCYf1B5ns4vJhyqWcdCzU
yaGuCe2SGWDnzi3Vkc3CeDve3+mN98qgFcYzBHWwv5eSwq1bdJPnSf0UwO7xMrP9bJXW8LTMUNHv
r3SNvl+pWyvXieyL8tO6SEj+h70z2Y4bydL0q9TJdSMK83BOZS0AuHMWB1GkyA2OKEoGGADDPD59
f2BEZ4nOaHnnvhcZGQwO5gAM1+7wD0PZdWtdFM7tCpriSxIw05cB9uJR00DtCkeEfM8qDRxCqNwC
OZdgDWYzFnUOpqfpvIfff5yPBc6GiqcFzPOlL3hId7QbMSIg6o23eaVyyMVtEAWT+W9jNQj6GyOa
XtfWujncysoMsqYxG3qodprvpxHPPGna8szo/WaHsaxxpCHxN1eFy6HrbPkYAoKHaAH68UhwiNa+
1RH1CSdFE6ytgn7/+3v3cY9uXTuwXrhTMq/ZPC1/jTtD3bU0zDv3VrWOOs8hw5wOwkpPqCPm02XU
9X/Prp2zk/SZPjag+O1JHWpsJ11TrIu9uLdMVoyoJK/dDfqE9akogtO+WY6BMT++/pB/gDcxrEH9
kv9/f32lEmhCGKl3awQzjFFY6fBheu1MNDTcjLXtolX53smqpa+/v7Fvz+d94OE4fgMqIjlrEwTf
r+ymPTIiLXcWp6zpp22TVAutwJNs0L5wi7u7mkl5nHU+qHu9gJRTSzdmzGvvEElYPhmpU0SBtF46
MkSE/lJ166NnvE96D3M8z1GnRz7vx/3G6UMRRcR6o9keBMoux+prHizvtik0tXOhC0Xe0MmnpEK2
TZ9QjwySKYspt5bLqlM11bHIdkZfa3HnuXWYwsKP8gmUzu8/2MfPBYoCVMPWuWDCcwinSEZuhyNm
cZeYgOHJpc1IIlh57Jj4gILG6pVBpYUIC2vg+fL+cYHPmhzJMPtOozN5GzSNRiU+D4AojLqfvlVz
Yt96De2DaGWu4u+lQFYIz0rDqJD+a6c8pJCprguOO5hYaea/YEk1mOc+pkmnSorgJMX0eiBFhJwd
znUmJjpfXbPGixP0t0vj4C7mKgrtUHdka+MV55QPyIyvF66rWrwe1zSADQEQPdxmj+vOS2V+KoNg
LJ88HBuQuhiaJg8Lzy12NG2qx2CAyz+2aX7H8Vy+eiKz+1MUqdSXprUDuVN1Zt4lq+ftqWjKb3pT
pS2SHclcxi4X8wO8gb5i413hg2rl2Hd1/YLWhDW17flcD22ym4zGOAP2IV+z2pA6J1uRi8gv7bZB
ws6tL7qhlT8bclIUzk2xPjaV6V7LZijzuFpz61NpIjx44nl44KAJPo8iHJDdY6yT1GlxUkxqjIq0
cNlXDY1WcFMYeZpF7VxqIklBatX2NIBYdHPjyH740CCnq0CCz24ANEUDzXq/HRDWHBqv6LM72SNH
H7iTGVul13/tbA1JF2vsz1tPw5G8Ydy1oid3JEf7GLZY/q1vx4SLweZB6pCtONTYCcZAKre+YnEL
eSXN3cibMpcmrDfcMDhZw2lE3/T3b9v2h99FLYRWSZJAlVPDoMR8cN1uhmfNAIjgjrFOezVX3hi3
qWucS9pieyeR4oqkXzvyin+42Q6ZOac3bx4IBSrW9zdbK3gteZ3Mu7JNxb3rc3czXMd2oi30vVPl
yb7GjCxUeV29wtRtjpxJb+nKwUWDjUBpFnAkegmHnY++NY2JT2DfrakLGG0efEfbSdOZrmd/MT4Z
MqXZm1R6jcWrLQYg2aPzZHU24sF+1Yyo6LdVdzFSE037USn7UxtMKDmpctWnuCY9QmkSIwW6ikGi
9pMUHYBapHpC1PYGsQORacvYruzgLKeeIRldkdyPDUPVyJPREleRbMHcgztu0CsUXs+x9fvH/iEN
4NYT//gHVmFo5hzUBC7G41NLcnMX0KYFrBWUdEe6dV+3k9phBJLFv1/vw/7eGmhvbTSmq2A2ts/z
S7kjEN/GKFJad53b5ld4HNGKdRK/+NLo1X3e6uZTU03OE2aI3RHqwofjZFsZxcFtTM2xfDh7ai2t
60xtse6mFpfZwtKKCODNsUPrY4bMMsAOUenlZtJ4P7ihZVDOk1k31l22iOo8Cwo8M51SnpY5jSfZ
r1h2L6b8ZPBwn50l/+r3dnaGVPUxjbcPRcH2OSgSqaDJgJjPvr/RRW0PMhODdQejYrnXJ1WdBjUz
vrTXxMPvn+nf3dlflzpItUjoStsmXN6VPr3JudbKiLToGNrxY6ygPCcBp5mHgC7QkvcXlHmGjtjS
4N6li2Xscz0rz0COW1h0Lup0qGvjXJgWVlv6sF4tuWEciY8fK1pATbS6gR+Amed+HuQJmT1x1ruJ
fVfbs7+TfnmSpbII7b65AMj6NCr9U7eOZ5XdXo9edmz1D/02VqcTQvcFpAtT9YN7PE6epvcqde7W
dV6vhtywblHVTa/GvF9jZCimi7yo1afc0svntii+qCrbhGxbeSxb3M6B9yFzS243vhiPgZ7/wTnR
BYO3em2p3ekt1UNoeBODbPRZ+uuW7924JS6xYaPm2op8VO5+TmI47QmyMEqnbonWvs6MuFkD+fL7
TfjhxbO3fiQkLw4TE+zZ4fPpcgECG3jYrTks4mTWnUtfLNapZ1dWhXVOuZwj5dvdODnQmUaWGl2I
XH3rhJUdex0OXz0IUtDqKP3pyZFaHoLEDK/NUpdm862qzSaNu0Wr852ZkrkHeZOrCLIJowoHKZT1
Mqi1FDJ/2aDhJuyg/+rzu0k8o8++gGAbDCteLb/Y5l+Tne3aFXGmULc7l7BJuxJlUbWqy8QrJi9s
q1w7bQvb+d6AxL9ksDC1cEKz7snnGB1CeCT1FCJaPr7Yw2o/BnqdXTaVzmjBoloKokrB/IvKduuY
SZHPD7619EB6ZXmBgaCDvpZUZkjKVptxS/2ioWJSrzO93UJJuitMe0NjLrNj9lQfdFa2KopEAbYm
MNePQkC66JUx1U3+Wdh5a57NK5CbsE8FIo/Z6HdmSLzPf4y5WdxjG9TRr1vz/rPZD9YpSXfxkhnS
BpBMi5hmoQxEGiHIS+/CwH3n55F9uMWBX18QPitGIwAJ4LoDVzqsJ4rVqbpS8lkh6KJpmftFH41j
Y5yUlj6c2GZanaVGVZ6Yss0/L5t2JdiLMTamPI/oeh4TVTEOX1i8XBi6gDzZaBmcfwc5Fkq72dI2
mvlZw0wE0fRTWtI7w31OffoYnbvf5Fwq91tpyE/Oyp2rxlN7zv/NrJoPAQ8By1WEciBcvOl1/HLs
o7TiDE5i6p+LanAjqJg8gXVxT0bS7fOy05uwrtPpeUIjGhHPIznHB6ASWS1dzzd+GacyEfT90dEP
vZN4bul9Xs2brLjqjOuKoaxvDTFSlfFmrGajzivlndsHOLl9XSB8WXYdCeeq9M6a1t/ZyggD81Eq
eaKX7e7IljksQd8+H4BJ4vv2+Q4t0WZ/mrXcKLzPwGNPyp1/Nu78cN6l4e3vFzo8Qrd1EKpgfMHu
pIt3cB/sqZ7xD+I+5KEZoYoSjSEklPBYjvchFB+uc5DkZVZSj5PL9eiREXZRGiMIGe9kCDTkz331
n+8GUd1//xdff69qBFcERn7vv/zvq+w7WXb1s/+v7df+9WMHP3Vd/1Cf+/bHj/7qW334k+9+kb//
1/rxt/7buy92qs/65Xb40S53PzoOtbdFxI9q+8n/12/+x4+3v3K/1D/++Y/v1aD67a+JrFL/+Otb
Z6///McbneM/f/37f33z07eS37v5VnwbPvz8j29dz69a9h8kKHT6bd47gAnc/+nHn98x/uAI3IiG
NHDpihG8VNX26T//4f9BSkWTkxCxAV23+g/5p+075h8BYA/+M4ncBu2mRvg/H+vmz8D35xPhNvz1
9a+Tw/cFAHGcbb7RMeiN03f8gGsdzSYpq8pbLtHCRkZRogia2j6NESOrkBpYEHC0lp2dWceQftvm
/p+4vC28WT4Th5DI4DIPa029FkuQG1N76adrHo4u2GdAXgpxbO1Y//99QvzXUmCySNVoGtNcfR9v
xqJJl2FS7WVFCQircXRpTrvH+Jtv3kgHV4RDPRKR6MMwPDrE8mWiE5AkmuHSd7Uu1FsfwQ/dKb54
ANfO+0yf9k6OxPaub0lYe1Czeai0BM9pvfEdZqVLryhPEf1HVa9BcGvFECdyjaquQnP1zOvGGsDi
AVhvnqosv2LDDQO042X5Ahuve8yxInkds1R7oiFShM7aBA5e5XL8NLZaJUL6rsudLE3ziz1MzVMv
DO9CpPOL00n9tkUbH23meRDhkuiNChOrnJ+D1dCOzYH+5mFsvWeL+IoR6QezJdPoSqp8vb/MJ2+A
qF6VcQIAP/p9aN1C2sGzQEp7613zPxuy2ftH7uLQKzqQa5fOmj6MTWwNn1Kgb2jbJd2R4+zNouvD
WvQDGa7R2uaVfL8WCv9z5tRJd4lu/L5ZdGhfZdwk1l4uUTF8F3Jf4wsJjzGqacouTrsf8HDvGGP6
/RD77Y05fMt1eZY11Q+hgXGe/JMyuLa6OZzMT04H1q1YonSyYhqRvlPGA+opExp9k3VptHCkz3W4
v90dXkNhqj/b2aMczzuQzCra/LtSlOJEbu4gc0W+HPYamlUS7bG0Dmf3sUuuMf68zfMeTZlL9HLC
Wd4u7o+kR6FbXkzZHVFpXxjnyVhGtfGp9JZoAhroix28Mf71m2cV135tnqrhrj1qp/R3LxUGshv6
m0YcmdxBoYXxhhoRS+wuqzQzTvhy727FuczVjwwdkIjSMrtEkfdbiYb6ibcGbZz2Y3pv5PknoGi0
rZJUi8s0cS+qlmyuTPTQ6IevgHH3o/1jNNCbL8hG43JU7a3s9AzT1SqPAs3+3HvGGvepZUVGN2eR
PxmvtDz7s9xzxougGj2ke7qGl7gxYuBy6rMFtfQsn7OJJ6WWE1PVxzi9B36Yb7EMdUNy2o3Qu+HJ
32+2XJp6LQe3v3Q6/Ly8BAFgAtJyvtb0i2xl4SsxzcRwrxhDOZbWV9Ep1H6tGWuHKaANnQC5JP82
YqcdkkjzbSs09DFA1U9CFyTYnM5Jx18e8nJnk94feVsO6vY/LwCCLxhbwFscYwfJiDag1MON7S9p
0tl0YEQTdcCxT3qUOnadP6mTAvuZC0z/YC0Yw6OH+vqR6v1vjh7GC8RqTh2osN7BnsJYAxElMx8u
NegLYRJo8kLLVwcaR+IeiUN/uxRnKwkvjR3aFe8fl7LTpunWYbgMGpTcZnsxdqWZ608pUj/H7uzf
rYWa59aVMDYE/cFaOgPQzmGQeFnUev+p9LECtWRp3U4jEFBuhhXm6cowaWrzy9TQ611jtt3e0aoF
onvjXC9D5e7NXnaf2qI0jyAED2rG7blTenM06gD2nK1V8f5OCK9ap843mkscohgY0OBF2Q+uNUVP
7UdwJIbYE+CUAqQNEjzJY2uSyamjpmmvjNU9cYsJ/SaNAUaxjvon4SzmkWf1MRVi7sTJTS8SgAt1
0ftPaCcidU0GK5cMN6q7kl7yLs3n4txdgRR6S5rDm1rdS8Pq1ZGVtyfz7gTZjDffTBDJG5Aw32rY
X8oxsKPGAIpVXSx55++8Ja9jMfjJkaLv4ypkeWSV2+CcBv9hK7Qeg3psZmlflHo77xGO5957Stv/
mycvTQGqWgN5PEylIcO+vxZX6C4OiuN6AU/rxKrb9nRYdSMkm21iMLF/rvb/C45/vHFD/+8Fx6cf
0388/6DqUK/vyo7tQPiz7NAMz/2DyoG5+9Zg3xAM/6o7XOcPYBo+4tQcqRsI4F91B16/f4Da42RB
NwKoF/zff1UemmP+AYqG0p2GGsALCpZ/p/Q4kBDafC9s5IPoDW6ioCRQB3m5qc/VMirZPxXejN+0
EMvjBE4KyXigZJrbm1/djk5T7BbFeJUkmXdHfz39NvWOjyxokA9Pv9+67wPo9nlw49jqNOhsFGyH
JUm2pokxIZ//ZJQjuh9Z1pyvVl9Ec2468e+Xel/6sxQiZzAJkUNA54z1Dt6SLFAL8gSzfK6TE788
W0sE9Fwn9HGFXOYdXt8RELgjUeZv18TjA71pNsUHWcneCRYMl1gThlNYnWTRGjHai48FgIN2w1/X
9ss67Mhfo5njjSPTtEU+9/s5VntxLnbN2Tc91OJjBlIHh8rHpbaQ92vgZAiBZjNLeSHKNSGD2SgJ
9TiLvjfxKaIGobs79uTesoP/CdbkLFzaVrBvTI6NqH4QrKFEuEkrpflCN1/vIql880wAFKhjV4Ej
go7f1iL2ytHZJYyV6qhxK0ipI+djQGng+F3kUuOiIWvBeQhbssQkGp3WRUPKq60yCjo9tyJhTqW5
T7qpaCKZetCWU9QLry0PRzqYBpX/4vcTglAdRDYntBajVKiEMtAL29pxn9CddU9XT6fl2c8BKMYZ
DOZJh++VFdF/QxGxSEwkiLWlG8xdMXvG97rqgHOib9W/dlXm2tgFrhjQzb5MqFSnRN7Xs14l0YDM
BQwR4sv9vLjwAKmtMciBpZL7YWEycgitycmCkyyx1iAq66TGbRH56CAS1YCGlh90XR4bvZLdBWSN
mn437c7LLoCpEfWaPfjxWOqQSlclaiz33GytYAEuJhy0gEumqEWqH41Ls4swj28LTsu+vFsoN4+5
1r4/M98e9hYhES8Gk49gzxYyftlgQYp1pIMOwktqrP1Ja6j1chyWY2Jqh4EHGC9WQJvuASvRJDp4
YxbL6/NaT/SXGl5xhPVTBrIILmrQNkcVQ7bI8n77bk1NG7cr8EqkwQdBtwSt0mZdYbzoEzGQxWpr
CMfRUOAxkUgvdr3blJ8zZKLvab8mP4BDkbkOgZ8/D14CKur3gfBvLt2lrkPoi1Ewh8vBx+laVK90
f+HSlXD3KCdP+wQs02mLGucRLMf7+MeLSlAn79lUCWh56R/EEODAw3ZQ5RPRsdjnGXb0g8T/cVng
t9mIMkSeyyha6FVw2SV6+eXfudJt+W1hrBnoedH8P6xkYccMnWGU1hPSaoDfApS2YQUPOydH7f/3
S73ftW9Lweogg0AZAanvwyLRnxY/lYZpPzUA0m+mHEsDf2yGI+cJicAvO+nPVbYty/FFj5xp3/t3
g1GduXh97T5VTYqPs+e2V3Sskgi4zHIR1Lb2+Purep+fsx4pB1SfN17TVk0dBF4oN7AnJ69/BpOE
dL+5GtFgu9O+l4C3Ut9Jv1rN3H9r3Wo9cj+ZSRxeKzsGahPcH7wvGDgfbNO+9gs40o71bcxk/rLp
vIgTbdNlC7O+xY3MxjEMPBiQarwE1SDy3eoznENvMKsDcCSp1ZyUbgMYpTK8st0zQK5eTHRNrXD0
cabeVY5BgTGY/cqpKRP1MsMoyeOpls3IjGyxXp2iXdyw9xVilsxJ0rOps0kbhEGsPqF3LF9X0SRD
JG3RZGeKJmB7gmOpseBg13PTUC4Up5S4uOzRM4MRuVrT/FAnhUR/Ikjhdbqtlnzi9iX5iWzSHMM7
2yuC+xI59CuzKTDodXKBfeaq3EnmIdYKkEntYDBeUTNWNYlM6Y30GsaqD/Gx6a+nSsLb69rJqU8m
fXGwthgWHN8Aa1gPs137X6pU8MNyMIsK4WPwPJFw6+IU7Q3N2rTGjPnUAS8nIxQsAvuqSjocsjMk
DozTtMLH4YoyaZXowJJf3qT1KnK060rdxaTaGa95CQDVY9da5KeN3abnDENN/MKmVaYnWWchguXk
XVFHvpEWemTVesusV68nTBdElwTMmETJIzMLZdwEKhvG0JdN0p54XT3NkWbN6E6sDEEFUvOqXeLS
niaxS9Ed/9mhUyhCxj6c93ZjtLsgha9CiHENDnS9bJCnH3x9Ck3N7NGgdig1adEQe/LEFg9IEvt3
eV6W6z5VJrNBB6yqRJXZDe5XR0wPZaUvBbPr1rlVImjLnayCsghB6xRz2Cee/TiuXeXEVhfIeJGI
EyHPMMgm9mYDbnTmpmYGr9HEFMOgF29Fyk287qxIAznGq1eoiYlcUA4n0i3Th6EJmsd2XcX3fAmE
dd5YsrmYZjtnhlR0lb8bkVZ5HWe0iMPGWnO1w/wt+LK2ZvpzLmUqd5hKc5sgYlnsZ61OOdFhYT4g
6WcboUPj2Qs9WiM3mmf3Q7ROvNhMBzZJZlR4TsDprg+u3ffV1r0D1mJjwatQ3Tez/dBbWRItNgbj
2ES7qGDnYzePZ3A2g9sp6czz2ddNxMa8asoiDcBdHSHZb9zUSm/XnUXvNgL+5Np7EJaNvIcGHBjP
ZHF+9pqTdPmf+kKk12JQ+Dd3ncFxqS/oSCvTlPJSD6C4XGTOhMqG3y1AUNQS6BdCa1UJT8Wc830Z
eNO4w1+ilpHq5HQv3EKXu6Cf7aty0v0vqHkHT7UmyZwAeuRfqzZgm+bwr7fWf6LdNdKvyJt6vbjO
FsMAtqaUj6jP5PyAhxT8tGRvPHZlIsEnOq0wz1pt5RecuXZxGZn8AiqUFsi7NS8c3KRpmSMy7CO3
Xgk17waF6VRkFU1HnrcEc7NzTAwVwmCy62tHtN2VPQuVcwMbZGxFUTSvXplNDqgbp7jXYGMvodWN
7o5wNt5a9BWfsH0vvahMWvPWgWxHC74c7pcVL8uw8cR4p3W+fE77CXGFPg0gb3tulX4eeVhpmBW+
ziupJ27sODnwymXwxitfq8wk1LQJ2fRlzLlVgxpbTKlHu/s+TnNVhgHyUaB2c8d72TTRN6/yRbPD
sVuLgrFG1/30vHGKmx6Vu7hcteKqcbX+c2aPWMLWxTLhG69s4OhjAYoid5S6SYfUrMJcejwJVRjd
rVUtDMs9RBDnkHvZ2LR/R/G64KZZERHBkkRpiz1ShIyB3kQMhKybxiGwxZOr6V+FnlO75sFsQ9KD
qE5tqdsF2NoZMwpPNMZwygzOSEKjRCyGGyjMU2ci5bwEyIbKd28acorzHDzXOTHLtGLlWVW78y1e
e6xrZV3vRuDSTqjmyn10Z6d3wkkk2nVD/pHtSgtn9EjLi5UZcKaKpzw37S8oMKdr1GltgQJBgTZh
3GQqeOqhdHe7oEvtGWxvMC6hLGwsLBZ9cHkDZ20lNoqyum7WVAP+281iigRSCHqYNaIvwrlQ6RiP
muznWBjJQpiDsQJje609IwIRF6QR5kqAMznMIUdb2O7sptqUXxbJ390pRLBfCwx8eUG1qWQaNpQo
Daxiwq8VlBXa/bbZbx381M1QLajcgfH2GpRVqOPi7USjOwzWLqsL/dKq++ZpVtqKDJyzlGfTsLQL
Y662NfdQY2r/zKrKkagZyLQP9dlgUyu6D31o117q7GeGqDXOin7pAkxtA4YoGmJ2kTsu7p2t5eJ7
qWaqLZKT/sLEmQ/I8Jzd546eglzIEgadAHwc+P3Dlv6tqNnvJVnZHNpt14zRmubo55uaTG6H0emu
rbyoMl4rw/tJn2TVI81OvGcz17pqN/bt+m0Udr/up3KZP0tHjF/8eay10NdaDCABOolrkMvuqyKP
6MATAUphRlEat3naud+7NVl/lhDd9r6WEAMLt2nq2O6xV49N0VNEitSf7/VyEgxdREO9xxwKVHiH
M1K3M822mKBuaMspdGj/eakkZaCt59N9kTWZvuMqHD0iilAgo7az3oB1sL8LZqdJ2KBJuCkiTt2L
HBD17dWbcMGYFeluQq/iZW7mZQN7zFgU26jp49u9NED8u1a8amDBX3tal8h4GEb+k+R5uRAMcHZ9
datsRAmiqkl8td/YGo/dpLUcsKsnnZPe9OYiWjGiMfBgcb0rp8zSdOf4Im2Yh1nV5eD7dQcdbUAj
vOl9rtnKHfcFFNZihJk/eKc5KppNWAV2x97IZvGc2yr7MqUTMHoGYx0oWt1uwjHRqz7mxEyf+xRX
Utl0LjsS/7JvZEvyezmaHoELywAzUv0gb5xFQMhrEKjN99WqqLeQSA8eQfL3N8xh53THqYiaVjZb
81mZdtPlamYPgdNU15US2UOnmLaGU9Wv7d6rODRDI7HsZ0ZS+QjxtwrSvdKn4W6BYpPGM2lngg8L
BAR+zicSCN6TNDSMeQ72c9P20KSlzK7MwQlK2JzGVO6aOW9Qj+wJU5mRJS4NXav4hCJL15wzBDOX
XbmKmSbPXMt+x66d+9NU081TBBYQpLDd5GpFFCMNeTWAgjWKPBJCIFEQJGcIiUCFq+HI57EaBw5p
AyGtuC7HOQn7wp0f0ado88gym4r+zkwENuUiL60i0D/j4GH4sXDlZEa1U2SIHM8Ccq87M1s6l60o
9knbUSw0fVEmCN/m5bdar1zGr/No+WEaFD4mO2vCLUinpJlf8CURtDxKlH9hJMJuVcNJYljluDMH
DEzIGLSa6D8OwWOqmuoGeaH+ijkk9HLbH7uCWa82ms9CdH5cZZ3rXipboaBY6E26B14/TUCr1xrM
T1Vpm9pOW1xrNvlFSPNDnm5xhdY8wHtuUV8xEUPVIb+XY7M1c/Ieh+ABgIDY6xhXdPCVWmdCMtaY
1r2uLd6LWpbiBqwduD/J0X6mgTAkksCjvnXXuZvP9Xb0v0Cz7cXZ0pRdHQ+ryuwLc8KtaNmJWtaJ
jGsP1dTbXld5F4raRv1a0ypaSHlZEaeA/yXfs3zQsoiegHVdrjYTZLMdZHdq9l53XbTojZ7ZJmET
T3mdro1qajCNBnI1627R2jSN09Vl/mb2CzBQvxv1vZfo+UXbLcbXsiqD73pNOIgMUekQ2S0jb8NB
JweJROcFazQVJcBjz1YDiihZPl6J1OFYSDpGxqHprtl1E3h5qCVo+O1n1eAuv7ZtvcSuTyUeOmWl
Xfe9vs77hnmJzknij6++RGiSBIAKjGZVrw2nQPInZoQ4OJ4p5GiaMKDBiQ77Yqtno0WdIRF6feZQ
xLl7pFHknS+GtYAllBEuewqYm2YcVx9g5GKhUBgs3o+gT+waLwIlHyn9kmvSmDwNF7NuT22p7Ngc
WgEknohFHBaW/oKo3XK61G1+1/CqwVMwyHMYKLl3bAr/xc29yzVLY13d2TO7DH0D1/9CGQtsIJna
cbrgMB6+mcocwIUsyXjtt1o3hC6j8Swu6qJ6MAlpydXSJ3mWgb7TShty0yREbOKY9yA6bLsuRxTh
xc4atwub3QK3rHIYzGs/Sb3qYnGcMYvqTI5PqI0FARQ/H0kUxqrpudBcNhkBqHod2pLgX9fwqeAA
T2CMaiYAIy09ESRhmzrjY0oL5cWUs036TBELciIRy3naNd0DWhvsvdzKLDyszUrdo0NtqDhNMRqO
UglGEL/jLrktg6a6d+umTmLGbd5FFwjQpaholbdrphefKUvLZ92edC/Ed057VLgEyLAXeftAdZ4+
aFUNGwCt9JdJL6aHMemtNqwpjy/rAu7LzegP8CSZX2ptQ2PXHK5RDlzv7XEsXxZenCkkKXCexsUD
OxEkqdvy+Ps5CxM/EN2LmDv1fUm8IDmny5Ho+H6Z1hT1rm1PURXI/Csfon0sUX36LOd6vnPEQiAC
Uzte5paG05nyFlDCdeoyL/CSpbotO8SywrlM/TY2W9xwz1IvS0/KSiAW5SLQA0FmsuYwsNflezVm
LzoWYQIUsyUvBtrc5AbKX+NBEk1C5WcUM0sPsybE6dj50taIEkVZJYJ9b+heFjLRSYMowY1BoZ5R
1uzTaoGjhmWioMhPre5rR3eIAcMkKvvKBURtnCCAk/aXti88FIIk6N9omoP5UXoWTEyz80t1tXD3
irhbkHy7SE23dncNH9Tb+UM73nloYZH1l+7UnYFsGM1HsaaGhPWXwUnzgA64OyNX489MjZa9l9DJ
s32qeVC1lrRbZVQjbDCdOYmd0O6jr4uMnV59Ae2GnZHgpp06QtXtWbC9XtFS+8HLtLaDd6FhEGXs
0hYbTqeqB+NUVxU8Q07eMd+njatQiYOXWJMp+TUk63Lg8LNMybSzQl0Qi2ZESPpzjGfx7Z4ay1Kk
NLOuzkVjB/nzqqmmjWRp46qjuaLNzjK/mYczURplcxHIJMk/04FQ9kO2ODTkuSHeespz8aZ9gV9L
Gydrv51v0kxv+t4CaDQHjWZEs16O97VpWF+pj+Y2bJy1eEgt0ybJ03ty/aSmxAkkiU80ljQnEQCw
7ati1u2Ev9k15WYkXRgxTuPMKwqyvi2zQLUIq3r5OLKt8CxyPWSt3dzJeRXqrOpOMzunzk7aicTK
aAYUgDgbly/KMej9A5UabyUzS4V9U908GoU9iCgp2BQXHkoS1JdWXjoXZpHA8kL+y/nq260CaTQ6
1T2uN7qzY5Sgyeh/bTozDph862lw3epHHQAtDzM9s15/33f80E3FWGQjxdEw3WxGDr2QYHjgtbQu
wRNmUdOuQCZtVxXGkUU+NFPfFqFFjBoxDNs32Pgvg4a8AGVQ0sx9mgevi0ffSk6xtJhDz6zIVwc5
H+m7f2imsh4Z8kYvRCsKsdb3zVtojX3vT1nytKLkHFbk52E/ZfoVPVC1R7jrIfWzZa/NqAH+/m5+
vFATSWK6/WSz3MtDW6V2gmDl9rl6DrxenWRL0l5o5BhRW65J7ORDf/v79T48Pc46oD6gOpjYeSz8
/kKdxjCQfqDbgBrDeoIBuhfpedccuZ3vxxhbb/rXVVBBeL+KVznT8r85O7PdtrEoi37RBTgPrxQl
ebaTOE6sF0KxE87z5fj1vehqoCPasJB+KSCFqlAkL+9wzt5rhwCFD1EuymutZL3DeN5sjEicS2F+
f0OoGpFxIIlDWeysLamih6fV2mFxkGXvsknN6vvJLLrHzx/b+xsiGwG9Eqx+rqKuRY3Uf2Qw4iM5
KIJPNeKQyPEw+tVRhz3TRvjofv6+0jJg/hr544hO1VWK4kAuprzUKdr5ulv9+fx23o26Re6ACYj2
D60D8COnF6kH3KYxyZCHbAjTXVM6xT0JE/XzVLf63eDM57KV3xJD/q/N9tasoEmMuplWz5v75PSC
bdpkjZzr9jANpXgORVUs6XrC/JY3ceaTa1tdFGP4GGSSZKE2HHei0Wtqh2VjfZktaeHCHOqfoyGV
M12wD14sFluskCg8mOrfuvd/PW51Cpu+4oM7mMya+1al49W1pricq+7l82f+wYtF5suXBzKAo906
y76ha8FyOdYHOTT5xi611Keqf07V9NH9oCjjCyepiIr08iv+up9MqlU1GLk8AFzWKP7kr0C/801E
U/rMzLXSq7y9U5ouzJWMIQP703rO5MhmD2HbHjJ4k9u8K7ULiuvFPYcN9QLS33ABVCO6bUXaP2VN
g3BFDtXtrBKgY/bhuYj0N9/aaohxrF+0CIsRE43h6Z2PlTF3TjENh8goEnUT2D2HFjdKrH3G5sDw
4Jsh+w202r6Ia9oQvtW2lbtL+M4eSCUzflqBhIZZGkHiYmF3x27rcuQPaFq402WhJWQ9p1ahWhRr
uvCiqvX8VthF+Jrpubh3zKGaMcMV2XehFyBZ3YZS6WbSZ+MLSCj7XqQBybP/OKSWVRL43vIOFsbO
0qb762UHgBRp9lnOc5zH6k2ZjOoPen7p7vOrfDCkHEzRaPEYuaSbrSYLu0SPb0VqdyCIqj6wx6xv
ewuMvVGb58TjH1wKqgEyVJSH+NPW3kRbV3MnhdN5yMxch2rJXjW3ix9J3RRnbupdBxN5wTJQVCx7
XHGdGVEJMyRTopgPNFW2s7CcLbvPcYsF47eVxMlFStbOPz5GhIzYZkgve/OpWPrpy4q7wZhLR5eH
UE4/SjNTv7G3hY+ZRe23f78SH4Kz3BwyirWgt8f6WEDf7Q9OR1kniNNh101gbRzNDvzPL/V+EuCu
ls2gvVjYLEQUp3dlT1TsgsrpDkYQzfdClsGD2ppgY3Jt3pRzH22rWiw7fvk8crj8KbKuuxBxZPpw
SKynM79meYYncwC/BiwLXH8knYTILuveXx/ElOWVIuKqPyQc77wecsvF2Lv9jsYl3dpRdb4GyRR4
rtpYX2GmwElNevOpyXOFqoe7TzBnPn/+k96NaH7RIpTB47Hs8daKZyIIB2r1en/oOiUmXiJVtlFn
1leUlc8NsJUYngnZNZGSMxdrUEL400pFB9iE2C6tGw/CtiaiYiHiERJWuHqKXMie7l3X4djjdBrW
WbfjxK5nprtvzJI+fCbz4U7YDck4rTZRzrf7DAmWQujfHyN6KyNykr+iosYRs+FB/bIoVTypgxBP
wOmUx88f2zJsVi+ScWWrbB111BTrIayNfTBnsT4ehrko9lPSZ37jBMUZEv0amfj2xHg3mKAxobIo
r5awjP4ocYnFdCjUqNmK2rbucA5Uu1qv8q8R/LZNnUvbi/JavbOTuHmYO4MnNoF7mVoHEq/MOxJB
LeOCk9d48fkzWAbr+hkAR+BMoNFMATN4OphVrUllPCfTYcSe6rFPybdRHT7XAd9YRD7bvy4mjB7E
yrhwkXszfFaLiUtDYenmTwe6BnQdgzHZVuFYnZl3P7gp9DGUmZCukL61fuKNLgMlJl3gICxlKXzG
7b6cYlLvlFncaq36/7irRd6N+56Jl/VjNSNonUDn4ZbTYbAUcSW0ko65o6Xbz1/VB8P1jb5GfQr4
pK6v9h55FcY5GUTToZ5mXk7Wi1/YCM8p8tfsLobrYkxErLogGZc3dToiRlMbnJrQjEOQ2M1VV5vj
o2OlAYVVg2YO6BJlL5suv1Rri95/awSHktqlZ7V6dhObBexhQlB3EyWrW92JdewuMVtuV73uUpqO
BYyXM0P4/XNhK4rZgWI6BkAkg6c/2MrNqgiEqh6qNIx3FXQVD6J7dOYzfj/HchUeDoRKZMSAbk+v
0gi80lYQqIekcIN90iu5PzVBDep+0M/c0Pvhi2qOWdZYlhk+yeWn/LXAJIoOJ16rzINjUmefsKRu
eruxbl2jHq/oiuv+5wPr3TaFMculFIsPhqlgncQ4weJGVaS4B+5b3dup2We0jCwr9JoZm5XWxdMe
6HP18/PLrm35PMwFucxdEoTAHLSWRWpmRkG5keKAKkq7YFaQ4q6qrTG4Lhndd6JPw9sSY0b3xUEn
C2/IjMyfgZbXCRwy4R5ag570Rg0WUtfnP+39kFp+2VIugRC40B5P30A0WG5JiGRwkMhGvvFpR99z
Oz5HBPjguRssouytiWRm+Vl90IFWaYGQiTikg5pulUyrfWjXNa05SPB3sRXHe30ozjlzP7gqQ4s3
yfKNTnEtfFVrPQiLmiYK5whYgKpq/E6xuD0nmYz2aleY29TN0jNWpPdDenECA9ejEgDOzlk90HYC
d5K5c35s2PxeEjSLmDmDpdW2ZbRPlKl7+ucX6JLzifRzUfvzIk9fYK0JpScipzgyxtgisq7dxijr
zswJ74fJEnW9VBzsJTFsXUCk6VdrjbSqo2XOr25itL7S5ucWs/XEwynb4qjJx0mZEnTEaktP70ir
UDMRbBTYt0xM1jWse92LzNLc/9tDg9XCvIPaCZMK+1p9ud2/5p1C52xXsU895mA9r8EnGJsxDIMz
xLF1upC7XIbRx0GPaY464Wp6s1WBNKxjLMzxkCOMHFxtuKy0PoHEYgvzZrLC5JYOgQuaISNj2q8c
BCy+a/Zm4wnq8EjxpbabC1UXwPUxbyN6idz96KpJtS9ipZVePKCd90Wp9l/c2XGfGsjIbDTzhiBG
t1GKc66I9fh+uyfGNV+LSsrueirL+7TsOD7z6AZ1K4as3E75UF/J2bhHIRD+4/S0utqbgfevF4Uy
EpYaWMNjJ9XM16U0/dIOzuFD3w285T0tyxAVJYOpYjXw2GtIFax0fqwJrNlkmY5XFUvlLhv6358P
vPdXYue5CMQXkxPV8dVEGGHnnuepjo5hxrsbhMWBruJYPuM2OLPWfXApgwxYXcUlRzVjvdblRY0w
NRvjY6GM2nVWDvSRamleMbtbZ97Su2MrG0FMDFhXWMmZ+tbTw5Bw6u4LIz0WEkt/UxmkHSLqR+Mr
K8U3jVhw9HEqxTOmIvjd68Xo640+3ERTVOIkpqdzZmOxnq/WP2j1gYuwtdLWVtIj+hqacmouLsJM
Y2v3+ev86DLGMldR+oW8YS8r0F/Ds1GdvG8qPT3GDammjZsrD44+lL8+v8raWsDNAJddFuhl88DZ
d3UVUk9kMcjyqPTKuDEzpbuhKjJeo4l3f8hc54ypu9F2nir0rEGUnOlxrJfR5fIORQAmSmAy+CVO
L28bXR4hzyuPdMDsmwSXl8e00u11c4r90ESHlEbsoD6/5w+e7MlFV42VQItqBHhOeZRpl++tcKj3
ndP3Z4bJu40Z90Z1E9ch98WctiYUmtaIwB1f+jFKq+hnKYIAhVqdoGNQu22VIYiKVIPWOuO024eW
sDaJZbqlh6hj3szM+1TVzH+MMmbZAO6vs0L9Z5FcG3aTFtkVOZ7N0UB/fZMJ23xyEOYhIczU206G
51D/76d0i4gDCpIgYmBru6vpL806O044Oh7RI873I2L9h7q2R8KlCuW2MmJ39/m71U5dQqy3LLyo
gJe4aFjbHMBOR5Re1aWtIwg9Bnajmrskz03ARK1EmCQBAb+IdHCe3FkRrzIde6QBc30RtW2GD28I
8rtmZLT6NevmpckW2fJia3AVv8aspXhdmZo5f1lm75qqGEoPgJ/9x5JIMzaf38YHQ9QhHoZ9PSEc
7CZW34UxmoJkyLY9ulmnokVx2utSDYIzD+v9VTifLpRYdis0b81VFaqLB5oN0SyPZt6O21DEykVZ
1//mEV/eCFeBlQMvinwY7FunbyTOBksaqOqO1tySjOekqY/aWP/XjxqbsIb9FRM6wBx37ZFqmfLj
WE/BaXDc2ynxTJ4aoOTt5+/l3XQJZ2hZ8xZUDtdajMl/T8qLqaJRIrc70kgRLeG3BnYSPUvUbRDK
5jbRR+USsdyQbVHsK1gN3ezMbvndB8UvQIuJRWrZIzHAT39BTvR6InSlP8pIGNdTP0wIkXvkTvmI
tGLRmH9+x6czNOsunRp9CdnjgMyQXI9Etei6NrXqmXZg9QO5ZVl5VkfOVpKZ+oVpoguJ4qk859Ba
wTb+uyxzxhL9AAXxXUUNUYrsKlOdDwCjQRrYpdTxmPToY1MLo+tmhvh8ZduhQGmrR71yaeHEZheX
FNk5D9XpZuftp5ikXeDQJhaFkKjVV6LFSLwKgzqYnJ0c1XQxb9SYYlg1ut0/tTjfLsW9cpTH0koQ
+/qDlEhms6Kx8HDgZdmXeE7Q5ETBBULPc4fz1UT5di1OCIxmTpSEmJjL5PDX/kIPRE4CTaYcXEji
9sacp/ShTAI0rWzN+3g7aGHz2BMGXvns91wTwW8f6mBrsvpG0cnH8kt0Zhfo+HCO6GGl6NdCFvV9
YbqBeHDDNLxCQSQehUr73SsYXY+OUbffPx+epx/kf3fBvIIVH8Iz28TV5DLFVjPSOmF4WmprY6SQ
6r2htnJTj8P0dR4H5Qb3Sv0r14v+doIaceYc9sHgWEQaS42U2Yee2+lTjKdWZJY+z4detVq/FQjN
YjZMeDCa8sxs/eGlWNwQvDNZv9vf92MhpZD1wknCst05ZMq4QYbqq8Wj8flTXZaX/6tn//dU3753
FDaLr2v1VPUMmkih2OohR+Dpx+idfrdBqm1axWkgUVLYkDXZ5pESJf9U4vjfK2MmBiFnM8Fqqwm2
rBK7L7F2HAilbF4SVo4t/7WxVEKjyzkjP+3M/PbRU6WyQUgQmzQuunqBaDGJSZgFnxxWRx+zkHPV
DpHjR6banPm6T6fu5d4W7y6LugOvgdbP6lJxD+W1j2v9YORMqRsya5KdTk7AT5znGJjiqIh+fP4e
V0SD/y4JPoPiCrt88DCrS2L3lEEfz8rBSZre3vWOUdVbXE/R18FthwN0XfTNcRqnX3oDfgxzbnFj
m2Gyqfkbzzzp94OKRDgIDibdC45x6xUaVWXPfm+p/SKmiKlHJGzM5gmfo+akMX7IJHuMmxGJJbjb
l88fxOlO5+05LCUz1s4FlfFOejSLcg4tqeuH0An7q2wOMl9xUQZ/fpX3YwnNDE29/9hMZOicTgYQ
OOYIk6F70ETtbJTR1fyo6Y/hJNMzQ+n9lRYM1PJl4nBi/6adXkkb20Ey1yVHOr2qD5Q235kNuWiO
iOW5c8z7Z8eWFyId3lZ41ewGTq8V0ZmvO1emxyp0i+d0pK2GaFLbhiGi36YPy1sV99kWN63xJAbL
YNqXyiYAQ+SjxEY/0yEBjkV9bif0wTMAwwhNbLFymxABTn/XLOrKEZ2dHQcnSXy3jbtNObXhXovp
jH7+Yj96BHQRFg4WykPmm9NLITEeI9MM82PRjvlemYtyW0aGevn5Vd5vteDng8h8Iz0C0199rDJo
IRwUbXXsx0y/aajz0NtVQC/bZowFYLSfkTr8Wxj68mUgul1ANqyfBlyS1UmjIm53xH9TsW/utY00
jOJyKpJ/30MtnNiFY8D3zz9Xt2ZHihhJ2Ks5A5C1GgPt8hUhtF2RBsmZDfJbs/V08SJmyVKQyils
kpn7Tl+WhaSKqNiOqrVCXK5XuNJ6cUIRXetBOt4z0msa7pYpMU+pJhSFDCFO7DkTyc6bwYmIL6Jf
kWK5yARUkKHXablXM85Pdr/4ZAo7U71Bn9tHbYyadKckhFuYsaKTLC1IRMbma7e61402o5JisPKn
wOoAhnfMzO8jJYfKq5l78Gst5yFP2jpmCiTAP8sg755JPec3IonoNo1qu4+IXfvXrkup1+ppUlS+
q9F6uESmKX7NSl4ZXl5Vxk5RenB0lBN63MJOXQG6VbjNGB1Q7qH2HgiDa6R23dpYx+kcBMmr3dca
1hgAew/DAG/QI2GxHH2nVTFHSvIeC4CKjSmuJf4gZZMT4hNh2VHCwE9wFYuNlkrthWzG7Cu51+Of
0sTkTP8lwOc+2ll9NGcHjkAjFedXoXcZlm/QtbdW4Yyql8uULLPRlknh91mC97SYdQL4pnE2rY2G
SQH3G8oQuc2dBfOB9c556scmP1fJXJUXES6xKrKB06jOsuvgmzodLVWKXLgAC/7qCJMc7j957uzw
xs7OY1HCMSmodxeXZfIrjb+qeHo+/+JXYsv3V1+d5sjnAGhld8XrYHq3E17el/KbcSt/Wl/MAGjl
Ju72le3L/eeXXW+a1/e8+uYL3alCQ3DVTKcPMpsveAavhIDk2izZQVtrMjZd25+Z3tbr//qqq01l
auEoCOTAveJ8sW2e7xNi44zHLvHOBsaZOfuDAw7TGbB3lkD+SWP79M1mo9bzwRfN0cLVGHkVOprr
VJ9+x3lYPVTuYhyPxXgRqx1KG60FY4256bExTOCuThP5tSrT3dSZ5aXByn45t5GzbQuqSaEixyuO
9hhgq0y7BG9hnFneP1hvaBYo2sLaAob2BvX462wW4ewcNWjrx2JoKo7aDcJ6q1S3nw+DDxZQijNI
2iGYIV1Zo0GgCw/WNLbZse6wEk/u4PrTTBYNJkTz/3Ep9kbEh8BuQ2ew+spCQx9gAOis1e5sX+RW
aPlqJt1LAFPTmW/qg1UUMhsRGzw8ZVnZTl97oGPJ7M0sP4pIwz9M44p9QdgU172Y68hrZOB+ldU4
ff33h/l2jkYFRa1rvY4CI4E2ZQfFsTMbkp50cpwpKOqbOXaiM9vM9+cIyvUcJBge6AzQ6JzeoaoX
iTtabnEsdXDJ9ox9LYqi9GIwOuGRrZXsPr+1D4ox5LktgDmkOYivjdWXJKqOzIgso0lA/3Zb1/Q6
0oQkt1brKYcqdvBDZGm0bdjuXREuGW8NNAZnPuf1nMWBF8IUwtaFa2/RkT69ab2bxoAKJa81wRkm
6Vfe6qYM7nKhxveQO4Ndzk/0sNKk23rSR//zZ/BuVFGQ4Qlw8GYAIzVYbTYNOwmBtOQqfRK1/ckg
/q0aRrnDK5VcVoj1LtyhLc+85/e3zC4GVBvNZE5O1GlPb5k8Djdhh6Mdw3Yur2rM26QbKDnQsKJs
H9JsgFbQdvmtXTft1pnbc2rid7MQ98yucEHAomFCe3d6/YHgTSwbunYkr1z6k2mMYJbNc+eLNzX9
3/s1Ti+IQGlZMpjxbKy/nIH2B+tzbh6psbeqFxYx+y4syO51WYUZeXfknmS+gQDyp9FiIgTCEsKq
USi8lJuoTOVdJBzrWboCQESZN7jBcn0qgdbGvdl7zTAoXyG7ONddqXe3fREEW4mVp91oGRbfkl74
4tYK/kAvLV+CYqYvYRG84auMNn3T1lMS+dCQ1Ats75XlIdXEchTq/fwstEGL8O8HeOvHOppfdKBA
iKGJ8Ks3Fqy372T1YUQJNDe7AEzmXKpT3yp71erhBRVstUJPaQnR9ZSgVE3PxGJWowbD2b+VRmTe
6HHYDx4a2Oq+LHPNIBKPdCDRmfz6MRn1q9A08pcxjQ0AcwzcTV5EOInnMq+lh5mpP7R4/PYoiKA1
ksonpnNTw7tFXcOLxTRLEvdyOrRXn+UYYuGux9E4zk0QkDzjANtOiae12GKr1iV7TKSp6lDGD0Gb
uv0l1lysvEQj6vZGNlEe+1OoxV90IeynSqO67g2jbXydhri/U3km3VWRueLMh4WhmKF7MuYMPEKU
dE2DUzpdtNW+CywDMSkV1mId3zqW6g73b1OkjevZqZP4SUHhC5fxgo/Q9NptNl2gKo/RnJRHgyA7
upQ9QEHfssPA2GcSdLEMW/krixLxze2E2VyNxL1Onqp3DSx7txmvpRjlvClKJbb3fdcDiskCJ3nB
cW/NXldjufGKxbnZy0H7ZWVYlr0GoEngzYE9BjsCEFPkTUOPtx5qELS9Uisw3LnQnszdPM9JvFGz
tnoBnSQaPy1F/mgN/TjtYQUa6nZwA2va2KIyEwZdkLrfgLAVE8U8B75aEMnsG+i40dzEzVDec5gO
bxMk/p2ntqQ3usFIGrsT58EmqtqQ3CgJDcadBCYcpUnnL3bcpcIP00pcdINVjltAN8ltqHRj4Eeu
WZRwKIC3+GrauT+tslO/xbLN0i0pGc6vLCzn2xzTp7aDSUYEQU/35Fg0hnIPBmZ6pvIMwqFXTGa8
dOrt30baYS5kAg6+FGnu9Cj7ytS9llkZHsoWGhbBujOUJTAnnJ7SaAAiozeJZxmy+WqWeeVulLYh
WgB3ufmSDnMd8PBLs9pi4BWAoOI4eawzIo1ucwmjwk9cbUz2lZu7sz/URan6GQk74mkSiMb9SFHD
2k9qOU63WU1i0GZGZ3McK5JI7lwzFckXSABBcrCqwIT1ntbdgCtZjUX7VVeCzIEbkYRlAnC4H/vI
wxtjZbdDpKB5QXcrrAsbEYDYlE1Yfk8wVrZelYrU8MlWUlo0EdSbvDLPuj1yDHgmnPQCWE+TVf22
LSl/OP3M/6Ka0TQs4Kz2MdBhTVlV2ug7Usvbm1yISMEDnZB5PNIehxydqalHLEQAxXLq2WHkteYm
d1MwGpkHbUQd9qVMa7BgXdJdDHpbyc2QNlW/DYQT5RulIyH8OneU7DcFJOtmMhITyD8JrECEBtW6
pT7avBh6a5A6Sl7kNQy7BCfnGHDoGiuYLoCX4JihPYpH4EkK2drd1DnjftH08m+Q60RbncbAfEk/
tlCuOiOZxJYCnHZjt2Nk+LmogfMaHereS1Vt66/h2IvispB5ld70VuTG982g23g7KFVdql1bXuEO
Lup4k4g5e4miwL5zAsfiYeuDqLAY6WHjqVVu33Kf+rwTU8F8FfRWfQcQVfzpJBGm3hQLHRrWmAew
LbIkuB0MUC9XY6mG4QUicfdCjdgjbRj0WbtRpF5qfqoPnbYbhzEu7ozKyuJNqwZtvlPLHvIE/WVI
Dknp5GQIRRFZVIgO4b0FSoi5eR74hvBvtGAtSn64Vzpj9WJDyUB5qtHT3Wm86J8utm25ccKsh62n
xeHXXpF57dWUvp8RDATmVhVjOm3TKAguJQAX2wPbk730ao35QouiWfHzqWHaGlKt2Gouv8Ov3DC+
NsnxSkDKqWkMvb+OXvQ2NvX9Uhmo0eNX1pcwBRp3Bfy0vKZNBJuhcVIcX0BQOPaKTEwwXY3ZXiZK
jdSRgGqK14IDe5xZZv8QkNpIj1N8iLQe7pALJG6KD0HrgJHDpe1W8ATmMd47nRr+GOcGwYhGmJfF
/CRVbaMHBNpuikwat50CnNRrmjk2/JoiVLXA1yKTUotuKTurm+huShi3sQdRjNNDAOkspAShzY/I
t1w8BkFNvIRRVn+cttAPzOVwwUo9NH6kyVT/qmrJ9swSccKT1e2o3E9NZR95uXO1qaQ9suiVUfoo
yK7LffYXnQZ/L+5fjSy1VT/iJtnFS1Xd6nED6dYg4vMtC9iOPEpAJCOwtKixX/QDxXMVlMVmTrJS
2Uq8mpNndy7x0CzzON/nwdH3ZciZbFM3SvBdK622oCsmku847M3vkyXrkupTG5PrAhbqmXpq6Pja
6Kb3w5jzIEy3Vm9Iu5Q30PG0b0lREJkRkPXhAXFZsmIKGW7UUsS/mDiMfNO68Bw8Xac2tLeD2bgT
+QBlIpgmgFrsJCmbSaeCG4mC3aU2BbmJklVQ2hfWRMOJCC0lYc3TlUhALLOk4w1dbOyII+SUXpRM
st5U5cqzEWfuE83+PAKlWXcmG7DEvpB6ZLI6VKr2J0paK9s0Shq/lPEoc1gOSXZtyGzuYFGVhI0k
Y0kcL5Cw8blp+4gsu7ask11ZLIFdLGK2CkSkg59WpLH+ha0d0LbKtcKfs4jJGUvROZieUdah5k2N
mxleNYu+2jLTUMNhi8OH1Rak4HgKQZOHuhD5Sx0TaXIBfk3ZJ1MMNxMgwHSl9+SlwxMEmuRpeSaf
TCOUhwpCzIM7qFF90RmdEbL82NqjUTjVV4Rv1UORR8ioGb7sCDOO3bsi0ErFA52Q3luOeLHqhfSf
GjkzKolgXYKwK+5528noqNtRdQVUs5I880t6DDPYDFjK1+xMFAqjcR+/gkTMoZxREA/3QacRyeck
laF/Z/Y2EghpswbtgwYRh0+pFw823QgdoMM0G4TDpLSyhqwbmC6sWP9dpDLT7rNQD25jqQy0fIwR
ECFxJdZ3ZnVWmbFNDMCNMlW/Tk7uxqhTE/M7lQ/Fvo4dp0j3KmwYAjI1ZuNvBVPtsAH/MkzPA/v+
ztPHye72XQuPaUeZvu3opNHt3Y+zwZI/TJBMBvigcs+Gg6+phBozXbnJrAQHg9rifJlGalX+KhQL
yqEy13O365zQOjaOSCbPGufoq27UGoSooTWzi44T4A966vCkR/wL4sqCIvsUZa5NHZX8E0+Jpp4c
dmcsD26sZmDkQMINWyAiGv6o0uH/iDgIbegEJvmXUZ2i4S4Lmsr8w/vrlOc0QJ8GxzRWlKuaaSbc
SrfRspuISQMmt9T0r6Q8DvmFMJO8udKzMQp3Q5VK66kCy3sDm956jFWj03fIOtQ/1P+nxrfyUKa+
ZCi2fj7gHtu1nd6l/piVRkV7sKtn/Id6d+1mbSO2wQCcLgGDKhfaTdX5CiWp2MegKUu8DKVBVc0V
9XOvztqImFXpx1tNzWb7YTL6dNyXs9aMvh07A2nefMGKTyNyTJi5tKnb6DIdfnfJZIsN0sDykKuB
qC6nvGEXMcedck+uhLwZbDeCUmjk+YsurYkFY6rTdGdMRITfgD6JbxMCNmJfDTjOgWEAe7Wze8rm
5JgTCr6jVq08oMUe2K47dvvUy2ioLznLwEzitvPXqlLsu2rqhdgJGAiT1zbSHjZ9ocbaxmQ2ejBN
eJ97eIG9vW1DaenelDbtb47LyiOIJHlknhblriQcc+caQx4iHbO0y1QVxrTps17/IQIxtzx3ThS7
hlu7STixMm2QyhH4Tt8QW8bf2H4ZlaTm4JHXotpDFGrurKZWxt2oLmHqeq5NrTcGqRJcV6la3eTI
b8BBDGEmASnMmrZVkyy/zXJMFqRyWdqvMapZwnsbEtQm6Gt1G7YCo0IJhn1nhLNieLLr4+KZbViy
dUZSl3AKApauTDw6YKmgq23csGZh06aJhTdpSGRq+xzWf6SlrR/WedkghHF10v/A13G2sNIw9aIp
n0kcUiir7/EwDs1eaTVlb2dAlW6qkpknjRtVuUlnVXvICZgn/KcJk9zrlgY2Rx5FWH7WdslhNJXx
p6JOaQE9d0SiXRIMS8RkK+wR+p2gQm72tmID75q7m87iD14Z0zDkyzKGl7TVjD+uM7tfJ3NQk8tM
WFAIRZQkHOny4KdSd/N9nggDmKxUzGMP/dOAqiuccsecO6K5TXJV3lVNYDZ3WjXOL2ZQl81VMw3w
3IN+oXCDJuZQzqrzZ9Abq9/2k1spG5kv6ETNmYxvWTEmOneFSn87tNMEzt6cZsvToC67Nw4os9nv
u3oY/GEY8ruswwANbGBg9VNRl42buEjK+MKyi+inYNf+yw7CWRL+nSmgAiCI8enrgh5wouXRbzjE
uf4oR7pDWMna4RZh9NRfBC5Nqz310PFPDVSP3Wkxmr/AzrmVX4IWN/3KCl1Q9wvMLPEy1MyPGbS5
aFNW9B6Zusix4Nly7ORm4+ZYJqkTcWbR4oLuUjq+ulDmAaUlBDVsO9EZ95wa7YlTMgUKFh/DfgQ1
QJ5vq2khLCdKpHJDXxnOUomVBjixCJI70Ku2uIQrkYO3hAKqXjVqPoV+pvdU3XURdd/jYYFjGlZu
4zQP0pzIUyQFS8uNJhoWT6x1oRk3G9OATHQh1L7Qt9pAJx5zeg4dE3Rh/NBWzfIMGlN9Gom84pU4
ancco2G6Qx4w3MdJPgWXBgCIml1XJe5Ay4TTxtDL/hlzV08vbRzLWyWdcjh3SO7RHY26/tJHcRtc
ufOMsHayW+uizu3690woebTVcOYKr5uNKPfdIS8fYVw215FOdcorLXBsXlZnzTfQyB2mZykn6pnC
VdqLzExa8x6qig1Ulcw5DuTIRS56bWT3S7PeuMZbCHA20IlTIHJ3ApdpdEpyO82qcRwb2+49jUzQ
zIMAFhlElXOU9OzRbAevs3r5PM8lwIfStnPOk1HsXI/QWYJrTTcofnRsqxRvjKz2cYkD+T5D4b9x
9WqItm1JdIRvJrZ9H0SGdZfE1fyat0IaG/6u+k+UpdbrULN39lye1wFmJLlwTmxrR5zCqcYlo5Eo
zzLTf1LLC7+lPYAtjuix1ns9u/8Wxp9bPdQgfDHsEbSacuol74GpB2z7VirGqDzmfE4GBGlQn1Q1
uoB5pGJVZlPQFjcWqnV4kcQ+tOTnNfJnMybxn88Lw+ti/GlXi2LSaZEUvqmipAG9NGvU/CzLN5Py
R9gpLMToTA/lXc3qpFNJn/r0SoPohkDr++J1FP091WaupG8sp2f/C+JK7jT38fNbW9d/17e2qu1V
BSD2lhyb1yqlEU7TrogfPr/CugO1vsKqwm0WVSigjxavlGC8xcgmXobxzDXWlfu3ayDJQS+LegWJ
4OqxxZVJP0gtXovLdm/49l5c/lvWxv92cf+6xOpBjXNrSmfUilfE5Nsmf43Ucyq1lZng/SVWTwov
oQrWiLvgiMRcTHp262VPtd9s5yv3S/gwb6L95+9m3X1YP7dldPzVgyRGvmth7hf/w955NceNZHv+
q3TMOxTwJmJnHwCUpy1SlHlBSCIb3nt8+vtDqXuaBeqyVm+7N3Z6WtEUyUogkXmQ55y/eQ5M3KbD
TdlSntqoOTZ3/jYTPkHfst8f8Zfr7dU0LnoscjXWlREzog6fyKvWPjbv74/wy836aoT5+6/uiTIj
bw2KXM+iIK5VQd3piDJ73j6uL4BQ3rTMlrO3KDB70H9Dox2zZygVO2ChzmhUvPcSt62u0c92RKle
R9lLJV3Ub/plmACmhVbSDCPWFuudmu5U0DfMno0H0Bz79Cnc57gs2PFGfSB3j93oGi36h/FqtC8Z
KP1yybwaerEPqN+Peiib2XNnfWuHj2QKfl+5pvIs+jdCEmxU5ev7z/OX8ePVgItdAbo5U8bKyJ5T
dpzVPMHud0TUvt8f5dcP89Uwi60w0fczUtTECCHS+nh3hwq2i8LQhWF+ufxfjbJY/hA1AqWlqvKc
Gjg6cO7BIfP9G7m0NBbLXx5VARw901UgYdusqCFIs1CFM+CrdYlk9cuw++puFhtAUGMMliTGyjFu
XGtfja8oGKcXpkx6M4o505loB4OExGZMXzyZcsp9VZ4G6VnWh/4O5Be6sR0S75MeTe4YzADbsvGv
6VspGC5licPpLf4eIdTvtoMKcD2q08FOLV11q1zoHAmQHPDQwrxwoQu6LvHbkkREO+bmNZ1U+NTn
kUeR22IW7/O+S7RcwxUJyBA7BjZXgUPlMwzdplTMP9M5sbSLNkL7YjbAxshaqY17abAUNGW1KTtY
ozd9j6EH0ILvlb6xgdU0xR5AgIFdimlRYW2FwLfTuVttd/JkQgJWEOn1ZLhu7y+nX7+UZhDCrGo1
8zTOb8ooaXym8+vbjLaIq2u5rX+rv/gfrXtqiLsgv8Ed5tKb8M0TPzsFvdEOS6O0CSWFU1BqRhxm
v07e7cjEFbRk/UuOaRfhWYv4Ahgd1aSUw136LbwJ9/G9udPvAPAZ5N5XWKD5iFi/pBfeHb8Maq8Q
aYs17UldrYEm4Jw3PkzWp6Jw0Dd7/8n9MlC/GmKxGse8jlJajrxpgdfZgnQvsA6F5i6uui8qReWs
/WYFP05j/pbh5W3xkj001ctLc/2t+F/zr/6gBYbKbdCcnOD/+eo6BKJY5382y586+yX84v8a3/3W
fDv7YpU19D3u25dqPL7UbfJzAKzl55/8P/3mHy+nT3kci5d//+tH3mbN/GnAFLNz60oO/e8YXn5r
q/bNz/+0uoQV+gFfd5iKiIagI2HwJPqXuvn3v07fAebCkVUFnQii6R+nS/EDSBQ0IWflCQWhQkCM
/1hd8s05wKAQxYa0QHWxLU+Ty73f/eyBM21M/T9f/5G16d3M9K3//a8FjA72oXW6CMg1QK3xj5nX
0qszE3ylJKDo793NWGxXDtC8ruvvY1mN28KUt0osC3ajxZNTmUBD45dKKHFWmTq3MUaXZptu18Jg
PEkmTeZw2IUY6TmiZ9DO637gFP/991fZf7t2ztbbu2vx/8ZVphB9/vtVdgir8Pu3JjxbaPOv/O2p
qokfqFMgxsK7iKdqci78e6VZH2a9ilmQDHYw0nD/WWnqBxYZ0BwR0BfgWBTq/llnkvSB9TD/NXJp
uK3+3jJb4HAZAnzVDNkGYYUirajK58tMC2OgGn7TUT/u4RbkemzH3fiMO1n/XJaxsZMQGHBzHbc/
jGdqN5Lq1OlbHfX/Eo3rV1P31yZ4Z9HPVwMhdpZOnmVD2GKLGCwNYQLvborveqDfZKbKXgJ49TRo
gUwzOqu2HDgzt6WLty6sqVkVAV25ULK2wpR9VaIeuzNkwd0yNevHQUmqTVep5U7vFfGaFvdwlXXW
5yEEp/H+dS/OQz+v20K9BFD/LMa8hKnhv9ZgOSREd2KBI1YmbrKsiRzsf0T4Lmp8n8PX2JmT2ewb
ubPucN/w17hpJpu+0PpDW/vVjzbt6ieEim60YZ9K0sv7V3g66PyDvDldIbAbQp4iQ9CGUnr+nLs8
UdUBRMRdKiXiUU0LVM+9TMV7SNdWwB61gzgbe0xiGTv05DE0mYx4raM7oplW4kLVLm9V3MrwDsvr
GyOb8k1soUrWCz39bsxz1sC+km1Oufm2bFr/isb3uNJ7E0+mgbrW+7dz4su/vh3IzdCbAcqB0dM4
hC6iY9gi7xULRXUbK3rPgUusKAgDGsa30Ew916eB2zt4FB1RqvWkQ9eI30uh0W/DWqLXgbVCAdje
T6iPI9HiC3Vzo2GUEVMWayunnArhByVqlItT3WK5J8JGGLTsbjKC9iUbaxlIRZsZj4X2oNBB5L1u
XpVl2GymSU2xxWwqbN68SYkdga7XYRgVsQS9oSSfxgjLDFsI/bUUtsqnCdeCR2y09MzJFQFV1boI
sq/I102uJDcvPK9SQnhQxNSgDUzrBoaHjJhMExaf1WboYT93XrtPQqm6sF7mjfZqfiEfohylwz4W
2f4KSOXz5YIlVln7dZg/TBJeNtkk6WuayOrN+49xGX3eDLM46KlK2mhmHuQPYC2KjRBNwSaZKiuw
69z3bNjY14UUfGUFUhKnm/eUeWL2aCntYzoKn9+/lpMU7Nktw7wEPAqHBbo1iNpFAq8aPS0DsDvH
KZ2kVavow02OZL6rm7l51UoSHGTDqjb9AAdD63rpz9HKhauUkHXAnAUrA8jMe7W0dEcz5jmL+s4N
R6O5TaImqx2hVJ4HeBAbWe23qd+zVyq9PkhpLG3BR2Geq5g5LlzVtE1oyuJqQWvPx9jotjKp4OPC
miOhWIt3VtJLR/5NbbmMyidOTeb2/alY0BdhQ5kiysjg80CpG9ChFwkGJr2K1wSDdywU2c7H6Tpi
HuoINyQcicNe36NsibVPtA77/KFMdefC+G9W38wugx4Cilwl0xQXwaqQw0Zv1Fg9Amco95onGMxu
v9cTPYUtMCbbXvTCh1DIulUf6qatwo6zNaWJXP6+chAkS67ieOwvkI5/eVlzfYeMd2ZuLWrOYaPJ
rVIPyjGXxk+4jUs3Whiou/dvnpPn+c6b750XMWw3GM4cGM533tyfpB88KUc/BEmiyz3WKXm1a6vm
wuabH+LZekdGga0N91bmVAIh7XwgWYzMWlXi/DhFgLxwFgpqu8RXxq2zcXhKc/kSlnv+wPMBCdSQ
K+ZkHOGZU9b36kRbBWXXJpLSHH21XlEuuh1qiZ6d/tyFsVuFNGhmN7H3Z/MXS1nXEPidj0qyOJPh
zu8yIv1HuqIrjgNKJLhzPASjCces3eCO992IAOxYxqot8Q6Ngj9l+VKu/vaeIb0iT6jBTiWjWJI4
Qz1VccPrh2NPdcDtMn28j8M2cwzgprd1I8+GIfJexR5me+HGF4sVjYGZikf9A/kEFutScQaXo7po
Y6W6VftsuhELoISClO97RNRwkOrG1E7gza4K3DnWU5x6n9TA79baGJfbsjVnhG6U30VeKW8uXNj8
an61DAgtSC2w9mZJB65yyY2OO6ShiMT6LQIuJJJmp+2BqQHISmvvYeqxBhkSTLy8GGxLYR0AFdIO
HPpnM8ZGqDSycNtyaFkHuZYTj4zeTUXWUanpvB6K4hKDclGE1GYNbIuTKFeLnI4GyeR8AQkyKiNC
PAm3Wd45tZKBy2ivJO3aUkZXzvK1j5obEr82pnUXHuFi7YCeRgcbbDegFmjAtOHPR0boMItwvxhv
x6zBynPUt3JN1E96rHiLBJGdvMTJ1sL2/P0ntIhAp3HhBNDERDsNTdjFHUtJhC4IwMPbWdrFReSw
xk2upmwG83n9/lDzLbxeC1TKOWAQDGC4KBKL4fwW27GnhRzq8d2YiMKN0QtX2SQIKxa25eRgaYNR
Hb68P+RS0ZgU41QThPDA6wX9q8V7PiXlmk1EpiNy3bA709x0ccChakfbTdoayZSu/M5Pd0rZGrsR
70NPxDotNzJpL06VZA+90K29NDI34KiwTHv/8k7x/Z8pgVONMzbOMbOMvIQu45LzrA0B6Jo4GY9p
1nzMpXha+W0FpgNppKu2UzRH9kf8lFox+ByFY3/l+WF9E7Yt2HMkfw5GEuariRqrG/a4IZlg/By9
xjHODnDQ+6J2dbyTgWibUQheJ9SLm1SOpusqxoawGdTPrTlJ61hph70CJuFSND4PSj9vDrYJ3hlQ
21loi2NlWMOvwtp0OiZRojuWErYHpe/jVTENE2zTQBXWSSrV+8j83uJNrAbF4ODxk96ziD7KOLIq
TpBOl3wnzjcaVzXnv4hWsQyp+LxRKVC0sotbb5SOURNjm2222RYdf8PB6i5DZkcYvpiAbtaSh8vT
+0/7zXww8qybY6Imq6gIS56vf9EY1ByQvnQMwfyuq4CG1TBa0oU3/fmGnu+PYj0iQqx1jaP86eT7
6sXrwavupdKsjoS4blMp2idc4QwXSS/hwuo9388/R5onU8dHHhKoPN/vq5Fo9tMNxl72qDWR/1nL
UVzTMusgQ2UGEVmDELQwLXx/DhfV4nlQiH9oiEA7h+lOU+J8UGjXgPdzrT2Co8nXOnibOx27SFvO
8eqNCD6rYBz7pxbK10qsO9DYwUSGAWHdVQA5bENknV0ce+tLkeb8Tff3hc17GHyCgQbG+YVN/ZAB
0PfaI+x8DiChLH0NZbU9eB7o+XwsvIOHZ+v8TkOyWCyyPa+WiNIBII2MYkVAFrZOVM3fIPck71GX
/J775ouaCTF2zmN3IRafhDfPIs98RmIOsZRC/JAVeX65cob2LRj66ljJGJFNJXBkMDKivzHKbm1W
Rblnk6YbFOzUtWW2w7HrzBikpzwFX3W4YA6fWQP5n4IrT6n9G7Ks5rsGNHujWaF3gP6bv8hZmO4R
tFUc3EHDA6itcdWpjezEhWZdBTQxV2obFjfw6L+KcVw+ERgqlVK5ZNwo0Hy21tRXN7huWseuKcx1
EE213UpavS9KtXQBoOqQt9Ngd2GNvQ0RVMcshGTm2MwSW2xUUx+wkeuC8qh4wNytMfe23liqe03o
xr0e5tpVDfRu2/XtnZZP0ycvNa0v3th9js0qXRN5m1WswwyQtWp0RisebzCaDvYox2Tf37/U82P9
adHxBqHzRfJOEVucg8GrLYiBZ9rirlwck1FtttaIWb0SyuBv0UFwm0mbVu+P93bLc5qHrcjkcLKn
KbUYr0k03de84kiaIX5uRwQNsFNwKvBhLgos+m5GnV3Y8m8DGo46xGmYZBjDIHV3PmZqmLOrqV8e
8wG5xkoOEXxpQH6ynUX3/dv7xXQaeLpwQKHoj5reYjrB/HS6WjOUmWJkLUSRfwMKr0dLI872SevF
vz0eTU8FTNcsEKJT5T2/NSPVg4AzSH40a0t47AsISxCrRyy04fhIQlRcv39/bxY253HseRB+Ik0y
yWzPxwNn1FRgz6l69JW+nSR472YYdGsdG1q7QDPexvoy31Vid0lr7lRDOos3c5UByUj9lBKSrZwP
PegtyG+dWw0tof8ylOHwvZCK6anJtBu5hMpC2VZcx6Eo3whlqK1jrdB2SVD1q0ISWlvI5Bwkb9Z+
hhgDf0pH/UMV8KG0wo3Ox7qA3wSJl45n1tU2UxXBKdW2+tQmnf+pBSWZwPN12Mrh3KzOQhw3x36b
9E17yKdLnOI3K3a+VwhXFGJnPaTlvQJmRVIZrZCjHyRowZdeuE4Jnxxwk3H7/hN9syEXQ81P/FUA
8EC/TJ5EAECcd3CEpP5cZEiLJD3CskH5WYacc2HNngofiydJlkJuTxlBRRN+EQPUTopyfTSTI0tV
3A8q+kBILls5jEMk+KGTKA6snGxV9fJdWdGjIkTkN2KaB05VpcGqTU3eg4I5iTs1GVdCWgCbFZpq
DV0AU4Re0Y95HVaHUsH+d9Q8w56E5mVOK1YYSkPBGKqpyOHfTtEBjVkXAlq+b9Ls0o0ukkFuDBWF
OfoT7aihvy1hCGOR52YbH0Gmrxqi4ZU0DiDOJ7FaZykga2tQH4JOAenTJljEqMPT+w/3TTiaL4B2
IN1FhArJms4fLrI41OZjfH0HAVVgOxB09SXt1X7NYb35OOIrvnl/wEUB5ectm3A8aMjQKCIVPh9R
zGgARUGQHJWw1Pdm560VMl0t562cQVbY+kKu3mRd5bvYi6HbWqqTrQXDpbLY21Med45YMV00CMzk
5ItA1VaWQanET44VPJ5Na1nBJlaNHI6M50HkrV9kzwu2wJzNFRhxz+WdTDW94zEBCrvvvMr8FkSX
HsfbbY3YPCkszSoqLKa5mJy2lrMaRHx2lELN/GQgOwoBTA9nOLt0//6DWDaE57VHNZ7EkHyZ+smy
EGGZIrUs8oVjUcsxbMMghqVKl8X2tdpXVh36KvtWUbO1ZLLDyhyZJ8wF2v2IrN4+kyDZaKqgUEnI
Iqg9ko9IR4I5OvdAFa6ppp0xH/acNta0refNhIb3b2A+7Z4HCQTgeNfwvkaTmKrc+UJSJcEr1IB6
o2rSnM4GvHapc5oXYtECHHNar+g0ktcj50lI0hcFP6IBBHzc6o6d4L+EnbHtQ/NTXiqjA83f37aa
0Nh5EHr3ihBiKe210gYw3/gRYi9wXlGuLtz2rzYQJhywfdDEQkZjWfY82VqHVpYfhYyUO40TaxWP
crQPC/2R8990nY23dVQLB6OcHuW0b7fdpURkvudXU08Rh2WKdyqnGNYoZKHzqfcFqZUxHuvvJeoG
q7aZWleNxT9TzYhWqVFXG180zDXkrXYFJdlO0+5C5XyRCXEBCGaAF1Op6YOhWJozKBCm6eaJ1bFo
Ot0pplmot46eskhEZKMAgBxBHI501PsmReqc31p4PwfH+oYcmFVBLe387sWk0fCDKWqIyOGzLIzq
FcXw9PH9QU4WOmdzPJ995znmJg2N3Xg+iq5V3VT0enuktGpuFLX31xNdaZvHkVf2iMMeJyk9P0iy
n6+bMAhgmfb9SoDv/KgXU3yMc3P6pkNTusnMaNjA6/U+Q2vxv/iQ9jaqpARrORjaNdDLdm3Cw15D
lZzWYVqn9lyw2Ta9SYM88289r6du2nb1AeHveGNIwedOT9KNMhjWShwDSE7xWJNj9sJqjEbrgGNx
fh0M2IkavhE9dgMy0WItJ+tArjFmLzvVDoL8a1mu8/HQjYjwdoZaXvnr9+dwhs+cr1OyeJY8CBoW
DDWEeRm9OrqknRTXCqbXx9IKfyij2TuyJYh76FV4b+fpJM85Pe6yUSj3G0zei69+UKPOR724SuLw
e5GnzXVXVMW9GTTeyg+Cei3AJLM7DO4PRdaarpbm/S2MfMuxOi1zNdkzIGTko3ytdJ7s1pWfbOEi
ihdubRH8iEgY44LXA/wF3gPs0Pmd4X9ppIjciUdyh8auo0G4z8LAu/v9CaTFglw9MCZqq0t3SD2E
4jt4lXRsk8HNh3Dlj8ZKoFCuB9XalJqHwNS3iEdsQsJejOFph5+3lG4y/8mvbyHLhbYyXpu9ZLdW
tvKbLZ60j3HY2zg/A6VGFEYhK1D6J403/oVA+YunjwyNBBDTkghX6K+dz1E/9v6kW415bI08dVGW
8ME25RztVXlIdpOCHWCVoDRJ9yLXAlumTWhDYcuv1bJWIbBQ2elG+FFF1E9O2fX7KTB/4HBYbLRW
s/Yl7ez7TqTBYApi8hxjP7rmLdTZoYyON2aXtDllud/mkZVceHefemnnwWE+r5FDIpJuyhTzz28N
odA+CQJJOA4ooa09JW9oDft3CboTd9PUFdeVEFhPtT42LpIEht0bo3bTl7P7D5pwfqiG61IU4evD
AfYVm5AS0T0adDc2MQd+fxEtzjQsVR1hGW12t8HUFLDI+bXC1MeR0WrlYy4IEoXm3NpVBdzCWJCF
C6nKL4eiXki/Ez0b9sb5UP7YT4kPxuMop5FH/lUmGwswxCpmeR3fv6vl+fHnbXFf6NHyP15C52Mh
aCL1WJcoRyWa2m2s+sgVjSg4B4p4IP9FpzEPd4kZ+5tRsp4aa5S3lohFWhP6kytL7A4xyn/vNH+6
Jnip2IAoYMSIC+fXpObQy7SpUo5h0P/JWbrI5E2ne/eJ0hsXnuoicfg5FC9hHiiFIVpa50PFmhgY
GhiE4yClH2G4oUCThTqaCZDPjRxx3gvTPZ/mzlc8EQjnXXAEBr2dZa/cV3NWPEpaR6tV8u8YnlmO
5JsxXCYVgzYT1MPnoZcR0kF+eQtXT3g2tQ619TAbptjWSTnuitFfqUC5PglIne2mMCx2EsVP2m55
NF7YoW/fPNQ+6CpRAZ2b1MvaJ4I9KfXEKXqYkO50wUf2PxSpULZghBSabXK7q7JQu3AqWh4NeSi8
5UCLUW/lVE+f+PyhdEU3WVKXlg91K+u7KKf1lOJRuh5RjLqtGlAgWTso3wjLBcpCVnU7pUGwUkG+
/Xxcf4F0734+mJ/w0/9gfRdf/u//mfBNWhqvVu4MQv4LXHzzLQVc/JjHL8m39jV68/Qbf6M3DekD
EvM8qDnhn8F9f6M3BYxcgG+KYP5mtUu8EghumK03wb//JZgfTjLRZKoK4lzqqSVR5+3pe9YHhUoQ
Zj4YpvDYaYEtUMHvoYQXorskFTinkhES1WbUIaCR8xU073RozYX4IEv3CiYAvuvBb7of5UMuH3p/
p4jHAtI+LmMeLFX9pkhXdbSe9qplV58s1HaDq8Tat9kmL/a+Xq88LGL+zN20drTHat3nbik5XXRn
DDdg7lsk8NRb6MmDdGj0u669tvqNP64G5QqVPFuG1zVJaFY4MRyn1o68j0H1RQR4gHzCJh8cjGAe
Bb2Ac4FmVrQHUBeGlOi+6NntIF5b+GiUt4hWZABRxJg6pH4txU8+wkc5jdpR3Y7+FXzVbrAD/ilv
a6BB0iW9wzeQtNOMUsjikc/+G0tkYS+itICSkviAms5nXNhDd/Dx3lMm46sxtHbcWBgwCOv+E7pi
GpZ2Y+dGPdyEV6vwr/34Ggm7eF3ND5a+0QySoE+Nh8/yxJBRVyhQaZoe4kB+klp8mTVfDA+5gu5P
9LnHRUkv1I+pOCAIbFYb2kdIJyjJ+JBHgoua6Mf3r+c8nHM5ykzBYUJAo3M96vx6eXUyp+hF21kx
+4dKrsR1W2AgVE/q50YZN2mk70F5CDtAFH8Bgv9/XPoXU6rTvgBSQtkdugCJ46sn8iZOfczC5uX5
j4fmW/NS/3EdEmn+uG2bZEQk+Q+Utr5lz/XrIPbLj/8rqBnaB5FSLUkCkG8ixwwx+BuSrn844cEt
cGGo9r+KabL5AbjOCbo1d5ABB/4DSRc/kNBguEVtmyIYR1xen78R1BZrX6W8imckQqszyG62WV0c
C2U0Zfwu1DFy7gpSlCrQjlId3RT1dBDK8qUniNFje/AovW5idCdQQaIYW1Z2GEn9qsqU51dT/YvN
eH44+Ot6OLbTH5k7asvKW181qjCOnf8ljYsSyRIEeE5/xFIQukJsmHDdxU/vj7koNTOFc8WCxgx2
VMw6yeP5jqsVmaOOECqPoy4cNKlaobNSPfljAE6jCpJVVQ6qk5Vp6pRZ8ATEw3n/As5LNiocF7IV
TkTAq9F+VfTFQ0gRuWBKB/M4aSMtlc4OqKGtVcTGdGEHqAeoaqjcjLI47X53YHCJKouMvACQ9wlr
/yrUVLUfUARWlKOsC5KrGDFOmjCDbMXrHjDPWNeq/qBJxbbM1S/vj8yZm0n959TKCuYBE+l4zooF
4W3p8hR1qoZgTJDew4KwUcyyr6+/7nZ4KTj+prO9K+3GWmk3zdZ09Z2+o8+0qw76zrgRVoFrutQU
VoIz//38c8WWrtO2se+qbcN/Wit5J981NpJq/OCPzvlxp7vZVvxSHawV/Hi+HX3vv4x3yWHaDPfD
Ubv2dxiM3kw3gOk/Dvc9NkH2eCfvUCNzGttwOttYVasfd3zojx8N/zk4rcs8OaF7r7mtY66Eted4
Ts9/oY661VeVK27ETb4SN926Wqd/Rrty1bi9Y22treZGm3xLdm1k9vQs3ki78TjcDrfCIT3oK+NK
vha24mbc9w5OJk7Op0m76vT55krbCWvFtrbTnXqj7OZPgkju/Lk90Aax4aG682VYLsjCA8oazkNq
Rw5wgV2wQUtmp98EG+ux3vb2JQu001vyzfNExNfCDxYh3SXrIbTaxivxdLtfu7ePoS0dSiff+Pfd
93BADMkOTNsqVqlqD4dp66/IPlaSDeB+PW3DVb7hR1elE61fNjf7kSNH5TyMdr/13cyhIWsHq2gV
uzgdOAlTns3/Xo+S09v3AY1i1G3s7CNcDxXUiy24/RadznXmzL+7vZBHn7Dpi/uEfYJzj4TV3xzS
z4NFoaY9Ok8KslaJ5TuK1pv7AYOonYVsQB8GtZtT54OpaX5vxKa8+vlHGuyDGSpx+qoe+y+Z39Wb
Mg0buzDydhWCMXGkoVAds8tR+9OlUtx5EuYj8pDvT39IUfMjkGF/G7PZCGUFuvFwSWy2kYqBQX/r
UeLde2y8vUUZ8+cfWa5DNPF8w/3n704/Vw6teSGKaedh7LSjNY04Otd9ybaMxcx4E0JAY1hF9zSi
94IqXKlZAM4ruDLTF8QsHyRPc7FPvVEE6VrWJk59OJyWu863VlNdOvK0j8RnP1CuMrV/NCLEv3Pr
vsQETUL4tE2bTy0HW6/uEzv7Hqr9l7pJt/kQuNpYrcOqvbFyfRNKT6Y0mStJse7gH2wALCH6BddB
x4/Ha4cr7CnWkYr3l+phcHKrxe2qaQrYHeoqR0Ox0btt4lkrkkhXVZsD/l63gGFsqaQrl2UP+Iju
eyTJL0TDuSa5WFQz7JUMhqkj4C7q5iAcWwBzaXA/t52cBocom06+3Yt/io1RH6C7SNodCI/14Fvd
hcEX502e2IyyUWcIGUcRnHbOF7Tp9do4NJK30rRscEqL8mM0of+sVsq00gAtHOklrZQ6Mi4smMV6
mU9lvPswK+JoNkNgF+tF6yuzHnptuo1q+SVOLXCTKKKuJ1++9fxas6MGLs6Ed5ttRbW0uTDl56Mj
lkKnaHYIZRtzzOZ8eH7bhdqC+m018bGUYnk7qv4xSs34ACFLRGZHSNYA+jton/l1XuQ7BEDb61jL
152UHgIaQNe6mn1T1Slz/QZFUh9B0iIq6sfUqKILBZ5fXyklHpwC0QBY0hQyUwxztNDEx1YKv8xc
EicVRfyGFOOQ1eEXuogIV5WZm0zJpRRN5aj5amHSHZg1pEF8EtVB/OFrdT5LUp9Wpty0+X2StW6C
WfaKQspu7YZGkW6CCj58K/vqLo2n+iYNg8JOjezjmCXtAe94ZMewVboyciJ+FTSHTpU+m2PW3ze9
XG3wXaud05d6HpQrTcXnMRuNcNOI48fWT5Mb+lu3ZqlG90ZTeB/V5mZK+/Eq8veWEXQPuRRUSDUj
thWpo+gGgxY5dZ91+wkFcXfK6uaIdvWNqHca6CjlZ5b2W+nSY57y/yV9+/9pCi5H0Ff76E1u9Olb
koT1H6RAf6zbBoOh14nQ6Xf/U83RP8xoI7Jqiq70SYgqPxMfqjnmXOihmHJWyJGUOesBXkr2y+48
VWj/LuRI6gdOxdDHgb7wi/QufivpOV/UlJZ4bxtAWXUa/VSNlkQVvzfaMJTE5mPURih/VgprjR45
miTaMKAl34sV+qm+H6+mUe6+l5DfUawW695pFD3+iEBueZMMSnqURnHa1IZSrV5N6i+yoPMK8ukC
KWXNqQC0MLb9Ytf1A5demXrzsYyau0KS230UO4BtEBm+BPaYg+yrN888FwY4IqYcvipFmMWbp+mM
3qMfA6BFGHOn7St/5eN5eCGELTmxDEM/mK4DZfFZkXPpe4/8uC5UTRo8oXvebiS9xNUp6O8G9Med
pK7LtUhhp7cbECSPUjKaN1MpXMdVcqgCT+M45KNL0wLQn6ZAe0hNZlyQLIR+xjFeG94xNsriEHdR
sY38QnGKOvA2QYsFl9VZ4qU3xyJzOd0Ly0ZGVB6AA5bP5zFx9FSlGtM6eDIMIXjG2ki564MCH1NZ
zwDzFZZNyw9oVmq4rToWmy6ZHH+MUYttZtJhMW2SOq1QoHjU1C5CRt4Pd6f181vB6X9mjflEP/7v
JQKuv1V1QIz6VZ3m9Ks/wxOp7gdepDPnYxGdKIR8sNTZfYWygDhXRv5TaiYI6RQIZhUeEFpwlDhI
/RWg1A9zD4/wBBYYpwVK1L8Tn853P2cRDPjY9rOf9Kz4c2plvMrKoZsmaS+G6bEaRPRHoSVPovnQ
9UizAhwwLyzn8+Pfz9EoMs2YFc3i0L4ofuiR3w+JUKRHI8ReJb2XJ/+2VyIkv5vrXAlCm/ARXkii
fjEmih86zGdx7nou7X3oQAZo9QwxAA7jdgitfDs0w6aow5XY5cYmlONDaF2qsvxiWmeCNcohECNR
c1hs207vLCwVkuQog8zedo25awZwmoJ5SEL9krwCRJuzwMq8Eut0GdonRZ0ZhbU4VmPbDrYkEfWj
dauB6ddcEhAzfhYHWxp8YAnPITqzWfa59R+k6DZqb8zmVsm2WmxXniPido1OsPSNanzkuW3wbPrP
Zv5xKD8F7Z3Y7ZruT0XdmREII7cJ1kn0qNa3enBIEHDXVmHnGOA9041Zf5ka3878AtymIz+21a4O
XPUKt4ZgNSrPY/6odg9BdpMEt5PxRRc2UwH/aeNpR8VwC/leVI8mJMbZxqWUZbsv7htR2MBcbY1t
uBnkreAHrmAajnI0vZ2yMfZK4SOJb+fGrfUEyCZwU61xhmQffkFo97tc0Ny+w48tEdJrKFEOp/sy
v+vr0FHTF1P8MpoPmvmtpEc9di2OFfdy+R1hehctTruQXzrva6PhZGHZfruulV1HLozWla2Un73p
3svcOuBVEtla23HHmiOMnw00sCTlkxAeqmEPWtlG/Mq2pINY7AsMIO6y0EHGXMd7wvcdzI1ZC37h
VvFB9Vyj/9JSZlI3vgDKcWdcqposSo8/V4nFaYQKMDR4YPvn75Iy8iuUsy392Icphjo6HnFqPXru
KKoUQTwPkYU6JCPuOUyPyM7kjXoJs/VmX7AZ5gyMgsaMe1xyEKHNNxC4dfXYmN+asQmcpq8nRwcO
b8Nfkd3fOdqcbpi2OHuC6sm8CZXzG9aEOZuYKv2YtNZHLygC29AxNcq66GogR7gw2ptAMwMrKKUz
Ivv+jZm916MU0ipD8jhwOLGVoXTVxvhoFPg/9NTarPDjWHECfP8WT2XTf85U3COjgp6FxErBH6WC
xfFtJLEU1diIH6tR+9IY2yDtzI9W42FmZcYlOtY1giuBPqzquN/C7mItF8FjmHb3ep+Zdt2ayg77
yHyFzoeLydLx/esz5jk+uz6Y6BwvaXvxIpytWM+fQShr6DPKvvWQFf/F3nksx411W/pdeo4OeDNs
uPTJNCRFaoIQJRHeezx9f6l7I24x+bcYNe8KRUlVpAgkzDl7r73MAV957rahOJ251mTXUjC8tlVx
PadryZ82IgqAwMV2Oqo84TeI9Iz7O8Er4E7XDgdYILv80Oykbb3RtsZqmW3UkfjtWQe95zM6fGPT
2Pw9aXTrwZYcnfwEMP2t7pNgo5ITagu/hH27vTku2PqxfQuv0VbeNd+zbegDWnq1JxtOIdgEWUmJ
G1y0179fjU/aiFsQN3cJ6Qnh1PAl7zbAsMIaCNd10oKe6ECVn6SMJlgx8AoASKgOqVm78gkTchm4
mAuBUisQ3arxawsym908E6wj1E59rQ7jLvldvvE5jAoa3BdP1Z+u5PNd+5/zvJWl/ygLmlAcx2WI
rCtxbHsVdNR0ImDhcleuhTWaivpd4tq+pMfFD87Di/RQ7Odt7xm4fx5TeRVETnCINtY6DBz5omwU
3HWhBZdrq/fKzBVqN4tcXBOXdJ8AQ+JtGbnMskdyvwjaolPXXEQUqUeUhLE2dsFmPElA5zPWWIZd
5XyjOxFvQqhkv8p0W1keVKBezW+Dg1We5uCHWL6CJRW1ozS2+pIdA7v01XW1Ss7VoXyQU6e8Nodk
9aVj521fv79uDP1wE0Y3AUHmbt9PmXDk5CWa1/hZ3EoP0gbAaQ9acbRsbS18U59bOz/3NU+rnaYA
ObbW2UvrDJYvSE5C5s/3fPIyZLyl006bZjw1zSoTnEJyGub05Lo0q970jNhftBU4BgG2kCnj3p2T
lak5+InjQVCrnhQ57T7ZafByvrPvGIwMom1d8dL52ff6Kmz7jfmN/KRv0mE45r5wYuNRCPA9J7AJ
CAph8bj2oq2p11vGmObyPtTlWlFdzPmFZDUu9DoecVMidvmRnXyhXfoDxn2+ilQtqONv1PK7jWpO
qHFyap5rcCDm4rnfMlJ4IsDVzfZ15IiTJ6BGK/2odTDYsXI7P+ib3s92xQ5fXdc6l5vJk31ifAtb
/jZ3dnYovygq0QHc3WmYIDfaNUsa9H/In3frbqWWU72QaHbOzFWcr3BXx+bHbHyd9zHM8FefdmkV
2K3l5eEmDLcVLDTjrA/npNiI1lYfd231qlpPeEe1rWeEB212RMWdgzXJY/VPNJAhiCByl/f5IQpc
0mSVM34BjWjDOFZ/pbVt/QhP1buse335FM4vZvMgTR5fVxonm+0kcmYmRAh1Dedmii75TenG8hUB
VVu787gtk6OSe01Gbssqi/w4XHeMiBQusMRrZykPWbkdxCeD6JI5OS7poapXUXJbZKn+4gStTnG8
BUX0hoVhwpOuHC3L5cUc+t+cfN2tDNFLkLvZ/Vsr2Yp+TftdIvtleh6ElT6/zdSKerEuiHPodTLC
DMVLgT4azSKEhY/IyagwrM2GSjAh/5yAZ66B5vCIFlFqi8my7szQ1lyd4dYYSUwocO25GNGNwNKa
sT+YzzFG+QWGpOQHWeMXiPJ9KYMVoE6Bz6sOhkQLdfeqB7nc6iAE4qVQu1vMXrIhEU7x6kAmRag2
vtg5Ph0NejFKRcgaGDcAk95tHGKeqHoZp80lNM1fbUPppqSIdMWaKKOokr9I9Lsb1aM0Y+CPno3h
OO0hRiN3cHkXi3rL4C28JjrhO71UL25cFD9BKm51/jZKVNGJjU0xDMo+rGs3HUNXXULGoZWxbUrl
XyY7304ICBw1OCfF+OATpiOQxxiL0SReJDP41oyR5lM4ko+l70PCsO0oDFadwqYq5GciAI9xbZw1
vczpRsSzMavZv2xkOR02cvidVF0GzfhdZcnaNIW5KC+XoBlXKkFImMEwAYZJby0SRJ0cBc6NU/HF
vnxbVP65MDLywvSGbRk2001OKn/clqdY6Qyz7MULWmq8dtJWdAYUP85U8eT9vVS5r2Y10E+RSQmg
/K1pvgeehDDDOIZ8hEtXdwJh5qRaGSQ7LhET8fS7oiSQlCXV//tBKZU/fUIwUkQteCqy7oPg3X3C
Rq6UpqrkS5pusTrOk02k/rIydOXlcckclVA/7NJCuJODreDRlpC3pIhHUzxoFoEG5atWP6rdJaie
C/E0Tbtius7V89y+1bfUrOkaZfuxe4t18qv2VMtpsUuXtTmvi5qEhzU5HxLxBwozOAVXA1K4XgDW
unxwko1Rr1MirFRC5iXzYWm8eFkTiDRVhDXy1p+K/qDpawK1RGhwtSoc62WtzodUeC/pORZZc1qI
7YHgG2y96oseXnrrYpTPtUEntDY4EfNBCH1Z+ZmVz9rsldOxDd1RX7PHDcY5E1Fc75rclYp3i/CK
pt3r1oNp8KGJPstWIlSOIduy8i+CZwnfzORJXo5ydKHDNm55FhFDHPrhraz+DvoVeYpSeSyUc1w/
ZrS3erdNpFU0EhQ4bxKulcBG27iGsI+73q1y02vMwFW0w0ycy8+oFByz+CFJXFPtexvFZNugKl5l
kgPJr2zPxUyzs25ip9Q2lUlcx4b+WTceh/4x4lvjVHca5Yoh/WQ+95YvESuirMEo8BNoUPqOTlt5
SrIbtS+w4U+7NmUZsy3cx242aKwqHx+vGk+I0NAC9RLFYUbDrudOVZlM9EulQoEqNE4sVcYXb+2n
alrTjFvwuCqzkHLY+1ohWsKxnwpRuSz6L4QJeQP/f/HEOrTNcpfW761wFFNEpWym4VnptqGyDYqV
FKCAeO6ILRTcdnoVTD8ziPU8yPkxlrHt1M4mrYB2nqXvQeiopKaBJ1A0NltkWKR7NPp2Tk4tljFK
wpWdtzUTRcsdtrKxL+xceaKqW05B4OjW2UIiJkb2qCCY8AeSrgJXRL5lbpehsCtxSyDk1P4OyToi
Hw6R169AX5GYw1es85AejguhPONDlLyUM7m7WUPkZ25L/X5Rz3AObKN5NkjXHZy4ecgU35ggGX1h
HYmP7qelw7j5YBLqd/Oggfb98d6abV2FMGLlS6xs0/jWUQ37bKOdAi9zxveBxJ3DQn7xi2q4EiFO
N96Ency6PQRncSFQsrb9nJZ0Mg4V7Fn17fYfIfkQcf4c6E4+uBkMmorMLjwXcK/xheuMk+A2MQ5R
cXgguFDCiRcbFIyINip7szL/ngb8IZSXHosBo+S3fTltcqnyieixMuLMfszJwQLzsZyAbMP4GsWe
PK2Ft+oktQdDcKVwh5Sh0J+D+WnoB/Ima1uef4TqWakGGqWDuqwE/aFSbHTYtoiXYT6yIDQP8/zD
7PcWEurOuAhxTx+9R559Cwe9iAKYXekIZAGbsl2TXafZw+I2+ipS7Dx8bLXSC/o3KR7dREhtrXkU
rfl2yWb6wT5dE5GqNQeZ5jqhh4c3Fjp1Otm64c7P0r6XD7Wywt5OF49qfGl+jG4o4fuKOhDOkHDI
dCIB6wctOAbJ6MbDSmt+Kaxt0UFG6xZ3gwNHYF80p1Z7lsJgnYa04xXeo94PLY0crX8rJ23fd/Em
UviBmIhV0xt+b7nxWyQbuc4ru10ioj5XRdPaS+0b3U8pdow8YF33FYMc+WgbNKt5QWTesGbeSM3q
Y15tg3kzpW7Vg+v1/SlUZjvX36rsl6Y8ynYzuMK00tJVH1Mzr5OZDGv2Asp8vzTtJ27mqvj+LL8J
lR8tqzzw4XQkF+GpF13pV5j4Js1L7SujZxHImnrNdEijFfvBcO6O00IL7A+85S4bTbaKNnPiB8aK
bGPUcV6dbufMrZ66dAes6hM9tHj4IpK9p4Qb0d0jqscTNSSSk1CyQ9x7keHra8ttPdaH6BU5cfk9
3Fl+eUx/CKc6snPJHi6T12/GdQ86/NCDpcJ2A3e5RN9DLBcEW1zXVzywhjMypZoEsE21S76RTRw4
85mYIvVb8UXP98d78mNpg5kyU3/swm7kkNvA45+IQ0ktn6dWIV+SJjFRPVeo/+sBbTMbF7zC2O0l
y0vEQuYFBdciydy1SmuX6QA7KNiPkSo9EWWGX0v6xZ5xKzk+nBn4IYRVBcIoHFiYqx/PzKqbPEZP
PF2SKOudUMOeIi2G+N9WlHz0m5rQgKkCN9S825lQwQW1mcwoCWE12ZXWP4uReFLFgSZ/+dGJy2lM
rC/WTPyoPn82VAs4vai3K/+JDQpTUpCTBIssXLnixRENXPfWAFHxwkrgw/MA/54UT5fWhXxMhFXE
c7o8Z6yxoPDVxvyNT/Mbyw/mu0AWfbYzpAvSPWcSXg3iSKfhGGusGbs5+t3rp2X8LeUvcIzE7G3o
T3UC9fG5GN4X0zcVUCyHkERjIc6coCycm9xec6g5JVB426h9noEEad/sYLVjTV5JJYXautkUhjuN
row1Rezwxow3raPN5CHKtiawsq856lreAWisKUTOrUcz6YAXukBXK8mf4T0OfuuFR/McfC/fg6f0
vXopPcyxd8xR+D6mRn7t6d7wmn7L36TXeidt5O/zWeB37TQGTiwysGeMYqOr4FcRrm9eawtK9fVc
bBRjP43nYmUq6yp/G9Kfc36Y5J04+MJwEJOHbtwIbUE8HTtNtR60a1LvxfIld4t6zwu+yH5cw0rb
WYA44SaL14XiW+lqmkjGpL2xxcHh38MFctEr6or8dQbmLh0DvFNiZWMJtDN8Zl/jt7/X6jS6nx8e
5tPQJ24IyOduZO5MOsisXy4RfN56PenrJNmrqi9NPqw2ikr+v6q7crxhBGcTdcyDrX63SFlSvaF6
LIy3vjyCxZvLLUIHlFGVVkNM+rAXLT7B1iHtW2KHldNeslfhpSKj/dg6FNcgBJmtX5ECjyT15R4c
ruv8QkhtOvtEfWhn9WV4lt6jS/F8U76ew30FTzfc1ofIT/kB1vdsdKfGLvfBQ+8bHue4KZ6rH9rz
sCr9FC9IzUmvLPfvWmMbPHDkVOv4kbt9Zcec4Dp6MNZZZYs/itYlb3dTNXYjPWJ96Vfb6HtROmTY
Zl676d5BAtk4Jbt91Q5kJWsH5YAvtyN4+Spd6W7rh3vdZjNxRL/x6GCEHwkADS9U4ijfwVrEa7AP
HsURvAPUR/wlb8JVAsYD0Tax6wMEwaOyHtb6r5bV2it9+U3+luxwEtTOBdDnYz3avHG4GFceES5E
3o/zVgNDlbwFkjIzq+FXZZznYTMrVzJOVtq0tyI/IUmbRFWVZA78BW3jIr4W39KD/tojquaWHPKn
GtFqDfjs8YvwbB0eculPkiMhg9adKHXqkmhrbxzXVrsbhJ05HMpRBK17aSEbg2Gyvr8Na2Nl5iRy
g9p7Y7SKFXc4k/cuPY2/tN/DQe6YYtgNPwkuPjPK1ANBEoZ1o5P3TTSNX6WrVlvJ3THNDqLpG7fc
GadMHdi50e8IK5Pa1hOHoFRzdsXeD7RtYBFESTy6r0kIdrE18/GUicZzCsQarvX+XY2pp64KI+Jh
HderViUu01Hah5HWhJg8FL71CimvWa3K0u1Gljp74XEJHIBthogjUwvGd0wiv+giPmMyNxN9SQZt
kvFb+KRlVLUmN40gXy55b/S2MfKGB/GU4evPvCNKjW2XXqRmr8v9qSg9U8tlV+AfCHwaEK+SfrFj
f0KkOB22DTwoyDlAWHK3YTdKQ+pzH0kX6cUqrNkTNaJVqpKxxmR+sU8x6vu01KBooTJA4cso7xMa
IWaBMhDUulwmN1/X2/447cdn2Ut8yxtPvBpYfiySA/O5nx4rXMoIcAUifpJP6uOMlcwJlDwZThCb
EhBzgX6ETtiP8WUvHBkTThhXP5enWbQd7QfKC6igeudkhp2VLlhmy7N9kg0vx/O7dcbBM4hF7Nw+
8abSbWjLOls8Je+3F/1hfsXyV0keQ/U4D57C8nyaT9VOfsVRZ5PvO/LlwlW8si7pSvC63XxS3XQF
tvqN73tgeX8ufoz76oj3LOuSclQVu06OBo9kgFG3p8Evbrb45HTpYelOU3ogZbJPXPU0JQ6IL1Z5
LIeBwvgLb9ezxJZD8LTBvXHGk/B0WxsP4onTD7+XlOFP4on5mviivAuskdkOnNgI7YAMS5c5DA0R
a4x+Ui7oid3SkWzcA/fUtz5kYVd2ZX95bzJbtGzhqXjDcwtaEuebPo28d6Zd/+ZC35aa9bLVX6IL
mWnxY/l4c1vbVudblv3vobjtmtYv6zQKjio5wkhsp92+DSxajJJIUJXt/r30ikP9EL8Am2zNY7+1
1vol+R2yP4/bZp89aj/nrXxI3ywF4Ng2ToDC/C5M2+RJQVNvkd9JC2130k5Tbq/qou+z4dwGO7M9
jpYr+Gm5zYb1DF97OPfdKVYPoQrJ2+91V1DcSvLhjhNmhRUSgQFWu7IUV+jXS7yKI380HFAMtXL0
7wDWesvC/UdliQELYVLfLHROLArEx3pzd6r6gwz9t/fl+SKrh7R1It1B4SMUe6E/ZN2D0AVOigdx
/FyF26C1jS9w3f/wzjKpgCIJ5RFHTfFusGL2eHMEU7dcyGCrHgQlLnZDLk02WdKqRyDI/K/XCOy0
ID0bYB+qycv7sXS+uYcl4yiklwBA2elikxWzqbelmP6aTeEr19U/FgYfK3UOx2AGJy/SOlgsPx7O
SiplIE8hvSRtULnLnL9pctGf0Bo1ztz9JPE+iGe6pKgrPZK/XBJTEXkUBVuqznbV5TLYU8uofhZW
3RBjOYHQxEfN8PPvpdP9beDKgwbd0HURERbk+o/niR5CTLokjy/VYpWMdnoeU13vXJodZxkRpf/9
cPc2FZglwfSH6I8ACxqE8acL+Mc0N62sfKnaLL6Y8TLusnrek2xi+mmLgiSOl5+1TkdFhEVM5NnC
oCUyDR9omPAKNWt2Q0PPyOdpUL+owVq3cIErtcrYV/FXmX3WpyuDKA4bsJsrGfIelM8fr0ybC8QQ
owW4yt97jodmZ7CzR+FBXWnXYEX8oleemZdG13Bb/la+sdQzFI2/ZyRy5OC1dhP7enJSSx/xD3BN
BgGiP+YALrEvxH6aupQkWuDKQD9SzP5/7dWjOqytS57sQmlXoFuqd1R5deYkjV3MDJzwRMUIztNM
pHLZRur8vqGI8Bl9WiP1NaE0h0IGvD0LwWWk3E+8uPbABChE5h1/VAQ7fiu9+VwTckCEOMwDMsph
KyhAJA6inJZajv3oW8fqB8fKcOLEiRK3oQjUnGr8qoy4J2TcdIcYgDPW4R9M5+7WAHIE0cXomXhd
qmZPklWKFm/SnCxio6yESbZ5a3+Q2U5wXkp1lYsPqhS8J1ZabhiKnP7+aN5jdphGKxr7OoFIWANh
yv7xftMKRzqvbHGV5VhiipM9qOo4rIL4J0RkqtaneSjXyUjg9N+Pe48D/zmuChOZxxhbiD+tzT/e
iEKpCCls4+I6WILfSZC6qilBJ6aTb4ztKGAWovm/H/Lzo83oCpo6DRMTjj8E0X8CHIIqda2k1Pk1
KZPBa4zdrOgBTR7VfJKn/r8+2O1Fgr0O4wQj6ruFl4hnjaBejeua1C9YcVBgK+ZvfJuf5gzPpb8f
7L4448ffTDBBZGG4sq3cVYJKrYiA2+F4JeEJyK1oqbVlRjZ/P8qfzeKfq/vtMEhX4cTCH4c9dvfg
JqoytVKtD1fzAOgG9GpPj3gljrotLrz+FH2OSdMbr83spLVuKN4SFDUIrcVTH2/KYpdEF8F6qKZd
pXlJsCotjSx1P9M8OXerzusnd6yPSvNYtW4WulK7mgTXUtdtilmMrwUI3zyDRtHaod8iJZtEFyvw
LI0RtSu9004ytca6h8pRJ2z0MX+Uno3JEXVPiZ3qSO3F17PndLBFvKEjT6qdkOpzcPrOKRkZZsdS
8bp4PeXHxPDHP038Ejqm4AxQb2q/VrzQWCW7Ll+LASZPq+FQrL4yb72f+nGNb3w5HM9YHhB/362/
qijkUZyJ/VXENc/ShwdmfMii5MkZuual18qHCDj/7zf2Ey/x5mKH6aV0u788rH+K/3++jEY0FrgN
i1dmkglt4OTO5KJ7iqbB7Rpa1cVcHkhomMhJ7pBultVX4+XPHxsHoZujDSNdnE7/bEv/OAMxXMJo
1KbimgnqcxbnsdOoUeAkdYGQFvcoNynfca/6Sor3eUlgCYaPiUM57kyfvIvafk6bGF+z66w37bYj
eQAunhahuZJC4Qt88T9cZTwCFaxOEHfBhb4HGIVO7IOxKTnYaF5rUVq3RZYwEnhHGlEKxS23sicJ
yGKElFXlF4Xgfzg6zFMiUyg/KM3wivy40Jfs91ERz81VKESLmcVCaEp4UHqtdrU4Psz7sU4ShoDh
M5O5l78/YJ8vM27SaP7QDBGewtL78diyGlfhYBbNtc3bXd3K9DUi8V9Nr9uTRfTA34/2eUu7eVff
QkX4nEhj71bDm6AHip/WXqFWdGuArLHbTMIS2ngBPStyFDlyUc0MmEmB//uRP3FBoYDzKbnFNwET
3BT54weN+DSGUDEBy/MZklsjPkbwoYv+2nfCrmgU3mKZkfTUGYJtsSE4MERNT403uhVCwawy0e+w
yDNGVce6yPoiruBTec7pYQytsNsz2EcSebfZJ1UmQMYNxctcd6ZDBtY7GszW18uqteWU6T7FAPEF
MaNMK51YmTua6Dr61sUywy5S6vzO7Esv1yn3KnwEtKwnHh7GW5V8caqfnhjoqqSJ3LzLCFhQ7890
KJZRn3BsulrVLTyvZWJiVVjmBHL6M6phlP39xn3aQG+cbNzZeEClmzDqVrL9Y/mx2r6VitAor7Mx
KVDK4a1kQZ998Q5qtw3ywwaK2y8UGnCbWzAFt+LjYUatUUrcH+NrDVktJqZZflWk6dJGyyaq43Kv
q7DVwnlhCKwicdI1zsMSMuUw9fpDIIbWqQys1CcAL2AIo20HPR2PlRYru5RAb1tfXrCAZbTbJPqD
FQnwhpZe8hf5JxknNBXBmxVGwobTAC0FFJaz6WjVGmh3YalO1sywDUQKFVw5tkIalBcrL9xE6bgB
5O+tKkNsz0Q5u0FnDufF8LJAti7QCmatK09G3c3HLv6iPP3cOXHJoCGij2F7YnO6uzNtjIdH32b4
h3V54oTIqZ1BrEvXyKTSERcgvzjpgm3fpycW80dUiOjKROu32ImHVA48ZVKHb6psEU0FDtDIVuNj
rqZ+seT8kU3f31naOug01GEmzf3HO1vLRdhbZhFftVGIV8o4KA9SVwoE3nSyPXc8Tn1w81PEdiUr
AU4Vpotiw7uPbk1wKzxJXaEdYAMGSKLTJd4sVrzPCbPapGq/ihHN7VUh3HWBJK///uh/2nl5ENED
WLfNF2nAvSRQ6YtGiLRxuPG6rJXCo7FnwmaHIgR20xpLOzOn3v33x2SZvFUdGHaxVH68WqOswdM1
h+YiJ93PJWt/51H2LQvSTW4GbIVMv8hv/qIgl+5N4bj1VP0c7Maos27rysejporSyHrWTZcidpUC
SffVsHr0Oc84YYZNb4fSi5YfUCN19RZHLzmCoRnjgm3RqYbOWNdeTNpKiKpnzh0RZUZstq5Cv9bO
sAvwyg4XCBnym9FBAn7TpxJV1a4B9kMBJA8PA+bSmbpOMFrPL/J0HOD4VClpF6cucwk7L8hqU2iH
ntusdobqKZfextprGeL12ka1fCt6h/ybReCD+ioAV8/VJ71cm98K3R2LF0XZjchtJBuuVHvSTK+f
mYdB+2FYqnt671hJYvfTO/71KRh5XrvFtEmNg6o/GM1TAIqnf1Mz1TPTh5ATbi4zyFnpY0HRYOmh
HefKnU1beGXtZewVa5vA8I0b2ZQf5aUFEgs2deiQK+kry67PewGWObxcMqJVOJj3JXEmzuPc6zLr
pKLAn5iAOIP4iMelU47DVzERrMQ8Bh9fZQ7Hm0AOMPYW/PHjYxJreS5itj5eetUf5XOp4yjx0Lbc
PLF2NFLhM+AC7cUwf1jVIeAmlsE16l6iftsqr4r6W1J/T/i8BtUprH5nwiEKMBf11PTb0q9gvvXl
LhCZxDxJ5tM897aafAsH2el6y7YCHefucygkThcw14BaMcAcGdMNUTdjdCjlVWi+9DiGzNUvuW3w
dAbF4A61Pb5vemJ3dcXz/M0KtngR2xqanlHXnLkAXQdPmdpuM0SEgI1YpTgjNDp1JO1BHYHmgJfT
zp0HSBJM1KwSVUNS2t0MMiliAcsUsM9Dgrx+S9qvWKjsQjoR+EtLhaePLUDnL8AMwpe6zFcDpz6D
ajd8Vb65AgQiKOsz3BhbjGdbbNlTUsbcw6v2HQHBCCKPAPt5gLKUYbl2bqpLkv5SGSGnsgUqsDGj
zLbCRys8x81rqV9EeDPRSwmDR9/VFv0usiLobnlyCTgZ1cKcZdVXr5CoIDNPbqbAoeCJ7VeC5pqw
08Gj640p28tzyc5Hird989AkXZb98kl+l664jDAHl1QoXuleRq+gOgYnHHl9dRbOzAaHN2U35Q4o
fbwqC0dtvJEVobNVyBygNnDYZLeEz8dWKeIk+zbKz4LllaHHRCiP3GF0+9QLFaeOXL1fGck6K1YW
HXKAd/nZGL9bLcDkRjY29ewnuAXeNHlzAy1kn/z539P80DVQ0VHJtdM3MZqZyr325evENBcu7hi5
xvP4azFILvN6c4XEkDFtIz9a6TbInELeht1LaG6y5bsx/Fh4Mk0kLFg4/5lY95GXso7xnDAbtVb4
1Sima047WPEshfwqhn0jXFP4USSeye4kb9MM+sA+772kOurQRYr2Lb1NlSc7bTeFdFY5eaH6NUjn
IbsG0zVh5NhqHpIRs9no7Otl+lREhyI4KtJKDldRvlXDVZDsU7Tw2bbub02+sqzhSBbLg1TsdMkt
VD/XLvP4DTmfMjz1mZ9v+vJhNleT6lfxY5MiELxI/aln/B98k3k9lmmjYfZi7qGz59paLtZkykaQ
obY6Y8nyC7jpj5va3UKC1RVJv3DhJIq+u2p7KMqujLt5uCyMAWMYpuTVYgLVzf4sidckycbNUuvj
g9qhj8eZbV9MMrY1VhCtIhEspe5l0OF0sngR4M3VKUWwMSidY+g5bIY8YJCCnfTwaCbFYxfcprhy
6WWGCAfiRgcroGwhwp9W9RSCwwyV6JPfgCLSElMinL9ZnSJhSJTXcGYH1Cemp9dEOGc6rM9bCvUA
Qevv+/7nJpTKCN3hrRvEUwdp4Me1Vai0NpEiIbvKgTie9Ig4BaVwZTUYbKwV2YwHJC1m+Db1LVaV
Yth/1YPf6rAP94QTuKkEbwrIWw9+B2FpvTQYi6ZlV1o4dR9WJzCB2a869T1uIRB2Xd8j8QEibuZp
dIp0+YV0nMlTxYP+92txu/ufzkQlDowhEBl10l1hi0FzZGXJkF+XTHzFk4G9e6bvKil4Cac9ahjU
f1Wk3tNFeBixMVBwgod4SxN414YXuZK1i6wCgLZj5+IAjsVFavxUKss85WqIfKKXN3pT5LBi28AL
1OahmeRHhc1wW5szvD49fwrlhr9mzg0lUDE4XZPalvzbmNi00EBPX1ylP9yuj5cJrQEmsbf4QJhp
94V1vARxOsd1ChmO52OQimg1TKLsjEE/uNIYE1WfDYsthzRNOpzdxMrDUwfRImTo2BfZ4KuhJa1m
UexXck+Ycd2WTtqHkh8Gre6TEWitTOOmhMkTKBlt165aqdLXcwn3Korin3NhtPsZK/cRS74vPp36
6RkgtQLAFiq0ipjDuCs12rmaglJd0quMtMIezfZxFpP135+zz7mXyseD3N11/D5SWU4D6DStyLhj
MXI/lpoKNg3/Uk10f0Yo+7qeAchmRKzorfVS9w/FlFV+YpC/k9F3S6P8gE9JYWPo7N1mT44IocFd
khm2K1zfYELBlGMBBYPfXFdqiDihEgzfcrm7ylel/Oe3+Aapy2BZGAjDIb97i6vY1CMy6IWL3kFv
Ko1o8WpxACIww3ETVTQtOnVBH+616QbyhiEWfvwdaFqj+cUt/APk3z2gzC90KJO3QQa96sclrbPU
YKZNEi49JutapwyruuMqCou6KTUZqYJczf4CN09NiRiVZuXBijuKBNQSHgEzma2RX7VKcEL6+33/
jyeGHw8MQl535Y/l6D8xjaIaiyRrGuFS42TsdOF4UW7+a32WuaxtSICL7nXoA3cKuId5JOxE0ATH
mOFKDcLUOooQXct8evn7af3p7e6vFw0ybzL3jZb+rvdr+iFO5rAKr1lgFseFflZX+lWQmeNuKYKN
HliNW6UmeZ1kzjkq3+XobaXvsAnyEmE3lXuFWakqFsI6xBOOWkF/L6xo9uu5EAn5LP/rYfv/7ir/
iyf1/+2t8n/ew+hHEbfdj+Kfrk/8nf8yVTHU/429LlNDJLYSwPL/eN3iqQLGjDEKmMJN5nFbkP7b
v1sx/zfvCMNw7ebMfzOV/G9LFRnzboB4HHt5o//rS//G55a53oeVFfGSjOIDEFliZwVouBdP9VUo
tpogBJ5EBuleYPQ2RyFZ5Mu4V2M4H5nGloYXPmXfEBIPCktbTUSfzGxHlGfIS02DFZw+wcpt/y97
Z7LjOJJm61dp1J4JTsZh0RvNkks+TxEbIkYzGufRSD79/RRV2Z0RdSurE7iLu2h0oYFCeLnkEkn7
h3O+kwRiZ5UOlcEghywkP5mTbzVEbXw/CLhy225MQ/ocbrH8PtOiG7cE7orG5rc0LtIH8FJZ5X4R
Xe23X4VocUpT4FhvdexW8q3WffE+9uF46f3wczg4A/g1mG8rJ+7YoIPMprkIbJ4WQxAfmwADiQ84
CXuIjB6UP1uBgx/Cxt1vKhmjWTFViz6zj0x/jqM0ArmJjWqo6nzjRfVwqiMxrro2d06j6gfW7QaA
uJXehwsZjyLpWI+lzW1h8acTa3CjkuHj3AbVZsAQfG0v0/bkj8W5EyVL20U64SafKr0pXfwLQUnG
gOMQ7tt5N44idDXPbCbMY0P24IrYhwHbQ1w6xXZMRPXaLR2dG+EwHcM8R2qcBiMMJdaJXnF2grRH
w4gduy3Q0jcyD+6KPopWduF8H6z5oovOPMmmuG0HwksgsBuy16l72te25aD3e33p+JUDc9Egc45J
lPG6s60Uk3kXdKifq+JbN4++WDdNVptd66qYDaLqFW1akBLMqPBAWC3kwrWRclFrzyYBBekGPZRr
ol01iNm88sRUT0Ps9eCrzGtDPDQ5C4OPbai29W6w/RrM8JSikquPAz5OOdb3VTn029lp3E0Oan4j
yV13xu5TVkESEE5n7wWYQQZaWbdD897ux9j0epU7yKkRmNyV4TCILW44dq81l8x4Mr1Q9zKSCsRC
RvTzsVb5/BJ2YEA2M7mvnQgPSa9PlTSYM0JJeYQFKq+TrWoXNF/ZwJRgSLW30joylyTJjy1ZoB1Q
hMqgFiuI9j3VykmLDWeyaXciN2G7EdpDOuFjB7dz3B6+BkrYBGC71m7HkdYhmB4mk3yMiYIh2rMb
1yMnQLBZxLRFmYAy1LeXJxJUCzrEydibIR+enWQJYeSMWKh4aFRfpzpId11Ay947pX/nRdNqSMpy
TZ12YxY5bPo6snelz7ykTeeP6Vh8L710XzvVSdb9eVlQhGXx5yDDK5LVjOeSFk6hkyavRim5jg2T
OS3glaZZz5RClD3NranSGr17UCX9vhonq/jmckdheffm6TRkmgDtZcnoHMtyR2Rp+eQvC6pfUPbD
ZZlqUD6K5w8eyrGZ7kFPMUq09BghaNEl8TOprIYVAHx7My26O1muXTyWbRg+ydFGQVq7JRMkC6RD
O94k0mgA9WXXIAmMCXRUQ8CYP4V16BEl4IfrufMa4LpV1e0jHDwgc0Nb5XsUFe0nu7F6n9ysuGNi
0U2ey75pEqfBHbIHe8jxbnddW19kVSG76Oy5vHeHBtZFPdUKFRZIp8+jdCTktfYaXJyHVSgwTKG5
k36001Yhv1MGQi1uCdkpCm9aLSYLHqwZuCtOgvx7bHz9nsfDkCAuV+NqUIODwrvVBhFvkgETKFX6
aML8Vru9c3aXTF2aDAGzJT3vOcuVOYUWAF2Cs7x9kcp2o50IvWKFmTDbWnPfHpe8inHMxPVHf7G6
Uzw37k1IzMm8CjPJZNKfcr0HKykmQKeNZ3aNyGMefT1eR7dQNZ91a60hXn7qc3j/XtfLHZ8pl1mK
165iNjWT5DXeWHU7tDsrcxgZm0C2JDLmznKqhvCqGfDrd8KuDTpmNIpY6duNkWmLLDt69qJuUCAz
iGlIIgCinSzWCAHbF+m7d3nNgMcao0OgG0K41IRhNPbeeb62py4Nx3MszBojStYdiOa6EGUrbDwF
YL4F1nOSCuZV28sk2hQQBHftFJBn1IF36QMxnNUStjeWRTZXrCC5Q6kig2L23ZT4CGTAwaFO0+Ah
IxqUYPq0/DBmWr0sgx8gIHXZT8XNw2ChMi2pqzFO1i9c4NFqxBCLI0GukCc8BK2DcndRzSWJxTda
gq9uaES2ZpsU4RhJ7NtcExTHEK+ceFAUFc2uW7SYSwzt/0FH/iNHVHRKyzzctNKfLo1dF89l4V4V
9FGBgstuzrUTM3dfcjK9l6TFbadJaftU1e1m7ItN1TnDRhA0s+rbkiOX9LaTqVB/umkzY59xi1Wb
jSMol5YhsuVLbKC1tQSbPFn8bRHrdgVs+Fy53sWe6sekd5Z+Zzq/5AmLKCl5a1ib+yybCh4WZRDv
Eqvc54uI141ryUOeplg/rNQZPi7OyDgmjaxj2rvl3dK4eHW15Q3zKmhTHLnpEMMIpM9+TsIUMAJx
Pjw14zLrqgfLYWimbS/z1olsOn1SHGOf5r5GFF30nmr3fhrOiIpSHlQpbAAWt+7wZQy5Z3d+EwvI
JUFjvy5DlJ7I7C63s9BUGiPCp1Pfp7eEnXCwLF2C0rhj3ooH/DylUjMVVucpCi04KUr1nALiKpoN
u/5DFgrl0O27DkrsOCnug3nw/G2S2/mlz4qgv7GdDjdMN9XnuHHHD6HMWvc8de6t02YYYPNqT3o2
/Ma8/AK2Gs/h6OXMXbMmYxXf9M9LmkFKQzdwDpKqSFZYeL2M1d28XNtyuSdDXp/czoufvWFCKodT
LeB0zEt8Eva+rMcphUtC2lPiRgMh4gVkFtkV8b2y+XJ2aUK5ukpyk3+WTp9hWgwchM0p+jvmXT5S
1XVUJwo6R1zwd2Su32YbBDpevScKbBgYd9g+nghblfJZ9nP4LS/Hh0TbfbF2AQLMR7+mstrwDbLt
W2aybF/9OmSAo6euImwX28AnNzX2pR4m9rQ+RWlyq2htmRQHmhF/nffxtIoGi+GpcdkDHHSbWsvK
HlLL7KY26Jr9SAbzd+2EJR6V1npNiyrazFxKB6uz6d8pUKaV1ZeMvfGPBqybuGkjenQ1aYJqCBo5
dbruYQCNb61S7a523JU18zBVw9qJmwQnKaaNiSttk00B6w6NBcbyA41VV1X125TZuJznwJ4wFfn2
feck57JymZ5VSLOgceCnIm6KeQI5vhNoucGyN1IVMGCmQvVrhfQXc/skZL4iq3g5BlGVnoxWLlb2
pDn0g2t2wuaWRw34LU/9YKUzz71N7Ta8kPhumvUyS0TsSGXcW5tT9DNatXbrsUC82AURl0HQbXRY
6wc1FVeGUTDLk+/5UHgcd8+3TNHuFf5l9gRc/MF6aic7lZsRFOIptappq3X74soAWCdH0JdFzQc7
YwNuT133GppyUte4Q+/z4Cb4NqPK+c4XWx9krgMosgj47Y5ZbVqmaO9Nlbz1dThtM8uLyXd0cJup
qUuxYJvIvPDkjoZTrxL3NAtytysyDF8UR3S+Gu26C9iQSPN5tOz0xUvy4qNZzAhMy+v3yZiTdi9r
z2LN4eWfFBSSNQxleEYug6svS1U6ektm4nfhUcBsS92cMmvwq9Us27TeL5OY8zMydJ6UupHIgGKj
8/dlGouvuReO82lcNLSO0gxLfIws9gBOYjnNBvcwUtmlGrJnJ1gAP8xhwc9F7lX/YYxDWGaYT4G8
RC4D1osS/iC3FVloHpAGWW7H2GOiOpeNX976RMxPawIyBaddwJ4oYfbVYwuSo/cU6JqHRugU5beS
ByPcfxkbjy167jbLyot7d94jsKpRizcxrDCO57WVGL0BCRJ8ZqI63iOlxUCgDAWf2UpuMXTEMkvb
5Qk1m6g/tnlIee03LB8cbYpyFTf18Gkpe8c5DKmcs3O3pMCuC5Bn9mAxtW9F1kCASKevWahwDedN
TBUKHFY8975IqSuHUNTbusk5d4lPucDu9btnjpGCgbIt22RrVfmTk7pAfXqpFoLg3QmJwGqY03na
Jm3ffW2UHQ87Y+q72NT70FPFi93O3XsgnApWQqeiN+GOPNh1m2Mr03bX3tXEOd4kSSo+FyAUUDfH
vf9h9POyh901SsLdi6bsdwBss3XRtvdtFXITeyr+hKhAyzX18MO0YFSkhOv7bYeMIWepK2S88sps
6q6FMdANFVuj2Ba5zhSMjzq1djZnF6p0m69+bxsiJRMOVdZsfabloVoSL4Dx3wfhrjFak0AxsGuR
lsnQENE0Bh+nsYOTleVNXm9sBvCviVUEbDkIosy2s1sW84rcT/FQZBVHmyJidjinSmbrYOxlQKpg
er1Ri6L43iYiyHdVrPEfp2Xbrjt/vFZJKKrA45S3SSGrz9McRs3KsVL7LbBMTps1qjI+Q+6r7rO4
Fvk+1UlJEedVO6TX3rhLtKj0RdCoxfA4tMO5zxzKfo/jXOF5d2qs9KkMDmM1JretbaENCFVavZRS
gVqbZT8+5InTf27BvOC995LvXdmMu8yBeBDGyi65WiaK2bytQT3ZZqxx7zWV5P+HbDQDJfWtPXmN
eRTGz9fSETAe6kXY4yap7D5Cqkq4w2WIGY9TkobUkI26LjGSIaI58kYHiayKkkgiuO/9ZDc08/A2
1XX7GC8J0rtxMenBG3kGvFdxYienksauo6InM35DQK3frrVwoSAs/qOfjadc2uRb1xQ1q6CZ3Psx
rkeSspN56PZKUBSs5jnPpksZJ4j7F6/Hed+V6Zte+qk4xWNqZcfOsW1qXjUzoc8XKc/simh/TAtg
mxEKtux5s7SpeoryuZo3U4Pg7g7zOQqLxjEBTt3RDqcDg5O6v6iF9uy+kzrWGyvWbnsa6LO+yLI1
mEiVnewocznJOlP3H5jTZniQBiu4mXSEc42rlUo919bDrHL8v9PVD0ON+Ri0tFVDZLOL8z06Q536
t26ogyODmO6ePFzki1aJMMYKyvfQY8xMBRIdY9qVp5Y04Y+5vMY6RHkEdYsenaPUS3TBBTf+AI5g
bFlHLo7pzC3c81izeg6KotoGZJ6fID0sd6nP96Cm9LZXttnEFuyDhMfBZiqTWd2Gnvb7g+tYzvyU
17n/XXmTRgLWjHlxiCFGHCT0JcWcamQmjrafiWoZyKC8j/p0IZsurwLBxqMPpzL+bHmmgH1CnZ99
HE1Rn9uG++4urC1REPFNviQGtXI4+Em0tT2TbBhiPem6erIjvtpYfLWGxH4zecg96TTPU1Uzv7Ha
+1Lwq+z8wdjyUEQQZaNEz3cD5d5TTaW9skJxSeriAG8JoGIiX/uMY68Up2bENaStT5ZuHuKufmxd
51vh6LM72OE6w11XddMnV1npxg/7o0yWx1jn8aony6spSpTvoXjDWIUjW1T3bVQ9RE7xQbT+U2pb
dyb3xbmS4BED26OYUdVdMXV3DG5uTMxF1jrLJ1FVHyqV25soTMWuqBFHTjyq4dyKq1HH/Zo7IA/T
Plb0GvLT5GbbqszOVlwzoYkZo+SozsUg01UfdwAQ7ave1erRM9BMr5wuT9aFpw8FS2q7aAnOWSg6
udq/AWKG2TK6j4pA1Bb2SypAbM1BPdCXJ7h+06xrjyxR6+Vga7vCoR1VuREvMYSCK4twHngLYdD6
8iVbvGZrL+2Z8/k2gXsKUA7pTrxMd6KJD2qByVogKXHKoymDbaSZeOSC55ZDSyFmlAtLdqgbuzsa
a/Q2iat3oT3dYJS/9Sjhk0wHqyUYrVW2BOsgV2cTwPgta8wUc1jd2SMS0T7oP0DOX3aIrIdd1qTx
0dUT72TC+laxYrCYBihRmm0xRMHW7vuXeA7vWyeucADLc0UjZfN8Wk1hPDUv2OO+u3ngnXmwRScz
0uVKY5obK2uWWyeYbim1QHmG4SFqHcZovb3WQQIzx79ijZZPCJM/OEGmtibPjlVqpeeukvfjVO3N
5CLHmv1HLw8wehMxA3JniE8lVzMCKqs8+CVnU1AzoArhta5oe7CUdk169PX8jtRyV9e8QU5/PFDB
SVGtrpPFMvC8w/2U57etI6ZjoPRjJTqkJOzjuPia9FxZovO23vU7T2hRl2L8jD3wGvlIHzinfJoV
AONNoUniRq7ZH0O/vHMs5JBFzgBprOe7OBvnz50fHQOZvA7e8jGthlPBWmjvZZALJ449r/IeHYp3
e6nTwzzqdF+UdHy1Iw4aBvpZOX6HKk14a7sDEiPTcbkTk1sfDBnPaXUlfTVo0Wye3uvcLbonXqbe
Rgu3x7WfPoSt86nJKX5xlplVVtchjks4FkHntIyaXfxZZriLmKWthhpQblA8Cp18GCJVb2JOcKoN
5gJ28i1nCpPF9iUoKEyTNO35XFOOoSF+6KK2PFXKL6lGctXGREMN3daEs4QC7Yl3OdvTjgHIXa+i
j17S3FSO+FiFo9ki2IyvdRF8iliiUiu9D50Fkl+my20UItiZne4sg6z/GCv0Bz5y7Cb3T3bfRCs1
Z318V8iQ1HnabQSlSMOUdegGmYsDY37mpKUIJGS+0m3yr23smP2isvic1g6hRxUAoKZW7kOrIu85
WPRyRnbvIiiw32K6rK0SOdgOjf9EzhYGYtPN5mDyvHsj4cRGa0POeJi24W5w+/mxS9QCczspuD0n
azfMzP5tt4XjUDDPwEu2HWvKIqVrTppxap504hS71p+wsRTqJjRoyYhqcQB3oEPs6/Qx0empynAF
F8uDF3rPkjJ/1QxNeDO2xQxmZzjkFKQY4vdUc5fSgyxuc1ttVArvTMRzgN8PXCW9w7OT9SjkYngF
ZeoSCUaRcogKAAW2uuHGDVYZgzl0PM1bay/6mHVpcSh6yfa+A40wIkXZOjDdPLLmQ4/hRJGld4O2
X+YmgHlUs61menaTqbr5Zi1UAXIg7qmnd9pErX9Oy06sZjXhDwKsE06nriiSJ1kP81lK7YARybyj
DGggEy/r3mtRMjFc9C2miYNWRXbxcrRorTtm53Tsgw9pk3/xo0UgeQL2FUb9y+IY9cwmiPiZps52
JmpPk57avVTdcxsW5Vq17qlltlmTuM2YvCjf3BTU1jRUn6UlP9dI30xCQ1+Iqd/EufmecZNUGRu2
lZVX7OV9nrQLTSPdpMd4g46U35q5I7fS0MldLvGAGgN3gKb4qzbWx3Du7/PW2QueI8fUz7/S4HDA
W/bebQrwnOp9irBUOvOLLFCSMix/Cfw6+IDfBnkcnDAUhR0uqBiGGObAz0tkxFfkP3Bmwo9JWr4N
fKB4+HjPTePup7mGrBWAaUouY7J8c+1RrYvGFNHGpF6IlGca5JF9GPoulEkoRTsPJ3eTVbtmmtON
qMoKY1fbotjmMfXq2cO77kUPKCl6DRP9ge7ku7cMd9mULrsGrAR14YxTUzDQGaBVMxvZlIqBzVUS
QmYKDU/CV9e2C/FMPIAG3YT3TZjtCDG8jF4EGNRxfPdTrrHloGX0pmQno35EaNNIir5xTCGxDcRl
+y3tbToFPQ8WIqGv47bwzqiebzOiW3A7Jc7oeKLt1Ft7BjAhLua4es+jKsAuHk5fhZ10nxxLvNtL
ZzpigEMc1humA92dYA1lsW8UCVF2hR3fUnGV3mEZk8Q9IrOZim1t+AjWSZa0r1MjGWFovatmaU6j
LGuCsaJwecHzgkXU5MaBUyytAN4BIo244ODLx+puZKhAqq4QS5GAxqqqXj+OSzOJ7eC0A+jurDLq
sbBcka9Fz7ZmJhj81PLo+J4xvL/Yg9Hf3KCXw6o3Tjq9iCwfbZ4IYXmIGq87Ze1CHNvgmElkF/66
UN2pxk/FKWdAuysYbREGkPXenqHZzFWYlZtaplCR0+jjXBSXzJ+YtIIfC2pC1uLandeVtnOIs2BT
yizamdS+qiubrr61InEpktL6knKt3TvdzCyL8U7rzuMuNmCJ455jbQGM13fJDrfWVx43t+XiIYDr
xaaLJGw9BVttrNS6TBIgVXOO5EIjyP8q3KtEcu79DdC56r2hs1nNg7lrEq1QbUvMw0sc7WuvqKm/
ucL6egeMGLkGwmhhMV76rgJ7sfS5p3V2A5pNrzLUFJ7cZTrJr0zIcemoBsrOw29o5S5pQ2G27Aam
onJX+2PyXi9Z9llbpT+uWDtPmG/J79sOQHQisgh+7O7/V8Twtx+r/X8tY7hNh29/1C/8+PHfU6uC
+DcM2IgUrnHxVAEIFX5PreKfEPZhDOShhxPz6qT6PYPciX7DSSdscssR0hEhgzrpHzIGUoh+w0Pp
uzb2AiQRWAv/SjTML1qZK3ebd4ZakYYLgAPCiJ+1RYvIQ5nHVv1iE9mS0UDardpOnnfKlwipN2vS
BstNUrp4pmeoSWxWNe4f19mTALMAwkkn3azTYpFn08aSmMGxMF/nDP7ZihrhRdmNaddtVHeXurPV
Z6AU/4DU/O+V97crGfdfX3jsYH+VzvDzf7/yYvc3hwnlD7kY23pMkb9feFH021W24rKP8ogp4Jv/
r+uOnOirfJNuEZYEEGbnvy87N/gNxcv1/zBlwxPg9/0F9Qxx0D+JZyzEyliBoD3/os6VSZn4ZK+7
B8GI7FQJcPOpF2cudhyKCRWh/HAbO/zasgvEuii8CGYq1+4M2LZw+pc0j7JXyxZvyufEW6Vx3V+F
KBNJQyHDSwA5IlQPPeTgHAwVpTmbKMt5iLLIrTfKzuMPk1Orj8QFBo+RdTWFrHycS/ba8QhD5ESr
o6fFdAKHl2OF8ly0Wpy6cZKPsg4dxg753Dt0HkPAnIDicyXLFNYo4ov6JEZXvjaRm8wHj4IdLU+g
En+j3abdOX79Y+ozp/eWS+m6ttimo0doQ0JsrWXW5boLZk4VtuWATFDols+IsfWDqLPl3i8rc/Li
vDskXn5VxTYE1CxBeVHOlH8cAwnvi2jMs2vc9BBMg1nnNdtrVXYAKpw0qD4nQ1fu5hrYInsRs88c
VV06VUw3xCKqbc/yoo59/wFuLotxjhpqmt7lrPWolPaCUdzBwNxjw0Y3ZYnX1g/I74kmSDZUFYdZ
CHQxKDuDDzlrDnie0j9P4dTcFE3RPTCTeGoaUx+SRA5rfyDjLg5Q97YRgx/pi0sZeNOXBN/qKnfn
+dbPuvEU5v1M/ADYzjoK2XEiIlrQrwIT9QIr3hTR2Lz1uc0wJ9cIhB3Th8e5siR9dR2WBEj6E1mL
o3MX0QxdtyF4iZYhXAVVtjwsXkwuUpDl3da3mK0Tj6OvhojaRf876mzVdHHVbawJzqdnwXSbrNzn
+rGbG/bfh8Ii2cdqavtY66jfVGPm3yhp+2+E6EI38+03S9rjzexk/sUUo3xLRoij9tLjq8nGxqM3
a+a1ZHuD779V19bfW02ZIoCjCN50lbLINso/kGQDic2vSKFYNVM4kkU8GtOvRWFx/lvCsB2HKJmY
TVXyx+DFrPyvvSrZHhjW+EcLhcl2TomtjVsf9EUd4AxmRmbdeEPms+QeBmq0bG4LXACNsV02TRPT
E6mL4Z5pS/KYLqKsCaJwEt5vkuNqpOLx7oaZsTLVaZ5Uxx55UbQSyHTSTZ3P5qZUhXOhnV1eQ2GF
0W2VF2MNhVQ657wV9nMaB9ayZ4VltkFfc7KAJ/edxzYWTTiuZqqgfmc1mgoUv6Jr8b9s5CnIMsas
hRLQ8Opp2pUyKuTGc3zrwZVhu3GBIe1tsrO47UxjX2ZL9G8SWtAldTsgVdnMjJ8uxSB8oKjfe0nA
ZJACqdw6iEcu1mDUOrRNeUNB6sebyioWopP4iujm/Qbl8QIM1pSzYoPRK+uFyIDyko8DJhnT24++
qFweSg2wVVX6IPS8MjbHQIzi6CW18z2c4+RBOknRbmbm2889AhBDod27zkY5FLrbRFj4+eYkae8a
mCYQXRMHam8A+R+OWDhMXwYrzFlpLnxzXW/l90r3qHdyjXNDs/qVK7aIUONcD4TDwvAWY5kboitc
Ggi/SiJvMUN1rJl8CLoYA02n1ng58GBqRsVUllA4I10hiYtNeZpns5yoHtjx9unEnapN5N9zcc1n
twkJqekRWWicfy0uYLvVZIRzumA+TUd1oD9TN8yEXJyHmmsuaNwcClOFHQRVvXuex8x2GGBnmpli
FBmQW0V4pHEl9KAzWX4rEic822ODHiMvnODYxbO/KSTY4nhSrCfdZigeRuS5DBzt3jo61ogkUZdR
ehOJtDsXkdW+Nf00ztyPrGgYz82POKNfQoSUTwFb+A81MobP0WhwrvDZu4cxmQyVHgfyXypN/geh
rvtv1e0nhIC/Jr9eX+dLVc9tCq6q+6/Xvaao/vRftmWPy+dh+NbOj9+6Ie9/P5uvP/k//cf/+Pbj
tzzP9bf//NuXaij762+TafWTOhfdrQ0K9CqhvZrniQ7AdfKvaxR4rHX9re2r8h8Jin+slP+vv+v3
ytmmzsUb6Qh8mT8VMBZsid9QAwME9qDR4JGjiPhH5ezYv3mQyHC7QDZBAX7N5vlH4cw/Uea6vm1T
4VytN9FfqWB+FPV/MNf801uPruabP/r5ZZcO6eDr40B+s89MnBXCiPCCPbDFeMqZb3EgumYzN+t5
eWkkQTVbtiRabCMI18npqrEDFxOue4LCs0P4JQtWPozs4LFp7oPkdon3RMv4+SFc3sB86/DrFehd
Ip1P+y+N/+D450Q+j8lRyY0M13DJHfHputXKbq3hNqxP6NO64L6Kzr6+H7sbFt6Iy5KbJb3rJiL5
gKIlNw4mRDe9bS3cxSj4l/42vEbTgRnPPtOSJ9Cu4lcSyyuiupjvA9JqF7i7MdgsuJz5pdD3/siG
ezcmN9yaQfk8CShEa7fZWPrgtkdlPrkjmsmKPW7SMWV9LOYn5T0v9tHK3pzl45gdQ3VJOqZ0x2C+
kWbf8nvMLiB5FbMDch0nWS35a0xAEeP+aVVld9O8R63pizsVnx2z1flNVx8mdfLMZR7v0Yl1zA7V
aRk/XN3MjGBQRnjs+y3GcocQsujyDgL/AD3w+p9qt/hvanpAdcDwHQXlDXOEUtyyzmm6pyS/aHWA
FasZpEZbRjnYorNl0+v9HJxa60AUkAvb0dm59b5Rd/+vnh//Hz4a3Ovd9q8fBc9VKT/98fb/8fO/
3+6h91vo8WihNaGc/3FP/94ohyj36ZQhGsI8+XsP/V+Nsvjt+tP0ydhQQMnRDP9+v1uuT2A0gBRQ
UpTxfmDHf+mGp5X64/0Org58kINr+4qY8e1fcSFhlmqhULW+TFEVn/2+6o6xLqxNqQP5KPJpPLiZ
XT77qccEp8qIIGWPMB3nlryJxh7bzdAvHOrKaZftHz7G+78bW/6Dwfp9lTJp+s+//dxLCcoVD9ca
ceoxLiEHV/nPT6Jiqm0pU6t/SWz0oEmPX74JGucejFa2ay0/3/356/3TJ3F9Pb4O8DOex8v/Yo1S
I/Q2ZFLjC9PNYcvonrQL3TmrP3+VX4ycf/+zGLZGPn8RMJnrOfPHBywT2MxJSjW+1CFI49JCi4QV
PLIInovNYzQsVMtU3+eCGcqmD9F9W007/Bs4yM8mD95E5ISovgP6AwLruTx/fhNpptHuxVEFwMHM
h66f5Ye5gdQfFdHwZvk1JuEqSR5cYqcfWh8o61/9EADFXEe+YQA5j27+l9e3fNazTnUFSPQEpqBc
xGbhTtG9Z/fObSXCEX66dm+8pptu9eS/Dxn87T9/D//0dWN0wUUlfMyDIUfq9d//cNChVLeYM8r+
tXXdhKYax3DfMt3581e5/iH/7dm6ftC8CvcvJ3TIHfZrfMo0adM4aupfm8Brj26asSRVg9i3mtPo
z1/qh+/159eidmFRy10MZBl46c9/0VKPxqn8eX5lKyc2cmJwHSKAgocWxafRRZy6qvAhvMe99R4Y
PCc5TLJDaiE0SSQ71HXKEvffBBBcr+Zf35NPXRLaNrJPV/zi8fPxSNN0teY18KyPA9NBOC3olifx
QJjySqWEkP/5p/DPH3jMPUxl5Quej2QS/PwhuLQRI0Py+bWaNFw80po20kUur4o0/DdX8T+9FEZs
x+HyxX0F2PpX9lvfiLljBzm+5gPJHcV1YLLEI2NGv3P/zV/FPPXnj5GXwowasc+KBIzYX+ZLZd3o
WiVmeB2sstix1LdO6JDaddIK8VihLP0/7J3JctxItm3/5c6Rhr4ZvDeIPhjsm5CoCYwUJfSNw9H6
178FqipLDPGSlnf0BndQZZmWmfIA4M3xc85ee214jbfQquIzL633HhKdKZmxGZNI+Pn2faZtF9d2
1ozHguTXzqALCNO6KidMmeL1x5/ujw1/Frbrrkf21pw1bicrcoygrAXKHI+hHZ57Mvtq9DS8jl6C
n7e0nj8e7I+JyWCcn7PIjqOWl/r2ubza9PK+D7tjhuIE5LyHZzHN0nJXT3TyqEQrDl0J8/cfj2o4
BOmo7DjDcUJ7Oyq9uxmq6Jgu86wIn7OB4jd97VsrIR+gddKitKJZPz8ec35tb5YgAQYSaci0Bg+L
59vbMfkVXBQDOtv7CBcjKkDZUvEH7P7xKOQiCEhsIgpuUienZ9kPSB7bUB1dGQfU5mVL2YmS4cej
nCRY2U9J7DuY+rGtAnskcnn7MOFUWX3t9O4xrf2LgiwScsWl3tbXOU2OfbM2rMe5VShId3F+HPVo
nerTbqSDyKU2J8bjxz/nncUxRwqIqYnHbGK4t79GWHE9V5/dow/xVoIUVtW4MlX5P3nqmRzqs697
Bt52b8eZMrJOPaiZIw520MfI/lqH5MK/G+y1BVdsYe7Fdy4w0QuqjfAz3ux7D/n74CcrpTK8PCga
6R7L4MLuzj3vMoo/geT/OYRJ4n6+vjrk5+1TVEFvlaWea2n7xRr1HG1IU1ByJWmGJi77x/OUScrC
J66E+8xfvX2V2lDYdpx1wVHQE4kOkCYD+Nn1J/v1fEU4WXSIDw1fn2cGEbx9cu4ZHioEWBrB0fd7
2hjjvGp/IHIF0hyiyKBHrDJlQ9JWCRzP8mJbt238U5S53gLTGlOksnRBP+pdEaCDD904I3Nnly8F
actkQbc1qOvQjgVabz9LWppIc4/7pMhyfFOtdjrY5MSvoURybSctuIJeaWPw0mmVPrc4zpddlLB4
ceCT/BMxQfHZRvfnpsPzWwSZSJnmssvJa3aMTMCVGLxjiYZlXRfhnByWwycnxh9hLKQp9u45buci
A//07ccsKfk0pi+D4xSyd2ahQStP2FaeeWYGCTwDYU/teTfo6joNs9lRXObFP8ItzhsSfBosNRHl
k5W1Tm8pSvM9OSZadHRQn+xH1MkrU8+yHTnqco0U7x/fUgAmIAT3TZ3jWMdS9e0jw7wQhdG02VFv
omzlKcxM3QI4+Mcb258vllH4413ulzME4WTN018fjqkps2PMSY1owqqdTToJLM2G3rkuo745RCXM
AYsSCvKIqP5kQ3h3/PlaCluPK/Ap7QY/eDuneSI7BkgELuuWlIeAVJ5UBDluQZ1kGEd0bFalfRWx
8Rnu5YR3N39UHh+oLp2sjO7PVcbf7wZjPqDGid30mOPDMujaluO1OXiRLqghT/V9GtOi6k5glpCD
lEtXqHwnJsP+ZG79uYhcKpoY01o+R2vwikn67YpihrXt1BpfAS6+2o4JmmKzQ6j68bd+dxQ4KgYx
DvvVqzfhb6MgAw6E8JhRlWiLtaRScob6+jNb3ndHYb8NOLUDzu2T+CAfCq90/Cw7ui1o/GGgfzEt
PPnJvmu+NwxuKz6kBHOO8E5O5C7sW3q39fQ4aZnfLLJKXmhOg4dRJJ1llxTXCjGmidDNDr5Ug4gv
8iIoHtxi0L/rgcTzMwzHtVViZu+N/U8PCQu+7gPVzIWmyumnkWnm1qYxl8oDeeZ1nmR4iIYY8IS9
QV/Bx1/mnVVAYApieX6a+br+dhqaY0TCOuzSY6EgpHQea32keLKQGm1v3WTaqHcq1CvmTd1Pn5Em
56r4yRHG1gpmiUQ1VXP39OpWFbgu1Ny7jyXlrTXvDoGoVhv7RsdIIKsNMoXW6O0G0emIggfnEjXH
dDuGerKJsjD+H6wFDFBnKotr0idy8i5cMj/BQO/tMch1by/1pIIzbpefrIX5T3kbK/PMxAav45Bi
O4mV+8Abm7ZXyZFuvoyeshFz8SAq9klRqL2qnPGT8d55yeBz6Rrw6XuxWeMnywICTcN0beQxGPrH
2sOzq4pNZzEY7rRXo+V+Ndr+a2/jpttXQ7o3OugWo07e22qq7JPT9I/U1My2IgIjzMRlwQOv9Ha+
xUkBaG0q22OEYlXgmNjKMy5KxToKZLxl1ssvvLhy40Y2NfQ6noHXQv9k0p94Rc2tO1BViQNn9xWH
++7JlxYa3zmzvHZOGfj48on2C+FptB90gHqDjmlGUYIYt5uC0j+Nds9tZ033oWb+KAOSjVN7izAw
+CRh9goj+m1mcBaQyyFdyxw0beKN04CuGvwSxmr/1eO0P4+QC3x15VzrDB0L6Gvj+fR6ywYY8gLo
pnMR+bn46orJbhdGqnD3nHIrvxRlF36LjVZHKeDlzoXrxZZc9AOkeBw7cxdecNQb94U9ojjQJjQW
rYtCH31goH81o6ADEdAO5b0IKrQvmuXk13RM0ghiWrAAE/jT96asAQnQ9okJblNF4luU5PF3vG3t
+7yooFQIJYFSjlzTQEoi+24XphOK237Qym9l0RjHyQ8odzhdha2fbYUx3oY0Kj+Zeqvgd9KhfahG
mjSaqom+9wVwBf4As3q21FTdV0ZsvcDoxr0ozQrz2UJ0Ry3GHe1nI4jEja10Gkvr0qFvsK51glnF
XMKo2Yq/14FXYJs3EJxbTjdz+4KguddkBUuzSOFCgN5TeDtXcZ0+6mUR/roa/KOq5kXyvalk9bM9
rVn+XrL8v1f1j/KubX78aC+e6tN/8//LEgaL6IMSRtc/5d3bGgb/wd81DDr6zPnSTQZzlqpzpv6q
YRDe/6XTxceaoL5BHpX4+98lDOcvl3sc28GcruIAm7Njf/f66X95tP8RB9AkyDlt/ZMKxmsK9beV
SdCCZzI752wtx+XRPrkESOARrVM7LSBLEJ0FwNvDaIHKdIrO3qF08PelHIstzInq2uyt+syuw3qT
T666ltbYH7oso4Yfl9soAnDvVyI7D4JW3BvGWJ57JTGfa4zRzm6kOiSG0vGzdWSIan6XmfQlN5+E
MG/vwvMVn3iX+jOJcdLznAtvN2HdbhwX9Zx958DaW0VF6a9T3/+uD6m2/+0jX/96Rb8XWOZY6D8v
7l8jcUUlAxaQcTtFt3eFDNKh7pw7s8BIJEbvwpGDOSz6swI8bOwiuq9n5ROgjk82+XcekhG5NxFc
0wx6asAX+3U1+oUe3jlJgEusktEhD22wkoghPznV/hiKSebP2EaS4/Mpe/I+U+ZNH/SFuNcGFwjN
5D4VbqwvtdFwPvly1tuIiRdKrQrRD9OQ+j6IzJOTy6t0F7zCJO4zj6buSO7JG2981Z6XEK3EWGxA
fy0ca1+ixe3tL+zQN0ZlLlP8m8InTKDJrS0bTe7ioT2bimtaVld9b+8LgEhFfud08cPo4PBXzAae
8oAJ16Hpo2uYS7SwmcYnJ978Y9/MDoueAmsOPGlT4iJ2Epn445S6sZmjWUdTgYIN+OP42i87tRWN
fNpnSa4/ZiP+HiaZexJAVEuYGW/nfT3gjZySprgHPepuVThiUaONGPvRy76vxyGAtAI+hw7Hz2bI
2zvD/NloquCyycoD8EmS/e3ICHpGTCQ4OjuPlFBUl/gVmmHxyWo7pQoyDLc4XioFt7n10pt/xm/3
LAOoUqphUnXfhQbGUFqc7WxqUNusgEJk+PkKtrtchBHA3qiBg4hiyV00NjrItGi4BHelBbIHFKd4
+of7gO0y8UzToBvEB49zsoHWo8i7Kg2jhySMqmWYt92VZ4CSD2voPQaY9nVvYD/kad7NxwOf3NZ4
8/OF0CXa439Ua6yTOWa0ytVj12keaBZRDfhsalSYBw3ljZDTl8bq79N8mpZehMiN+Om51aPVYKFH
KuwQkkN3HQ+ET1DEnqq2hhtk/ogMC3VDYD9XyODQIG3Hmjs7jRIf//KTUJlfTqTM9YA7mUmZHuL5
24+pAX61I3KyDwKdd6jc7YAYv/KDSxkMh7S0kYnQm6XZX4x/OeL9b5TyX+bcpf/fRyl3T0XFzP7V
zrV/+T+//v2/gxTjL4p9AQfZXEACd//vIEUzPPMvKDO0d5FPYq1zQPw7SDGsv+CtcDRQm/SJVOYi
8N9Bik1sQ4GaDNMc9cNK/SdRymvC9z/b6VwkQANo6Fxv+BGEPPP299vqj0SnFYWvjHvapKGGNjiN
YBoTqvqlTkJco1vHWWjAwoB7DDXCRt9QIbD5xMy8fdmjNgA/U5c44noBht/DUKiFRBh4bRMTe0s8
zBCvRdlkejRmT9VdqrRvTS+xl0VAWj3rZCymBX2KpGDxQNFuyaeqeE4h09tl5v1UrzvdiV8Kt/a5
fZYlqKMUvJ2/KcB6XScWR5Boh14sB7Mfu3WdCKE94n4RXCVjRERfkHbZI3qigB6VNBaLaVSfHEhv
t+n5DaIOoQJKnQVBxx8eag1fNiEPYtwDEwmX0uyaZVHY/eq3OfVOUPT22Ps1ikHzHbn52TTh9Yz/
7TvlDdufqBPuYKUt12UMhGi0ZLfRcD9CbVxon+wk70wMHoVIj7Y/m2uad7KTdGaB9KpxpntXr2kU
K6v+cbR8DTxdGAgYhbQ+5AvTSIOtiPSYyWB4Q7GQVo3VxVhRAKpbBO6pXdrfi1Jvf4Q6PA/kpVlF
D543YKASTZV9Zyfwy5ZmbU8PnTc5uOBY1lStkxpmdTkNjVxTa8DrwnacrFopNbM2sm5Q0IfoO6eH
r7DTK2lILNBtq57wRA/DSy1QnbFCFomkO/TELcKA8RtOiB4EOtlZTw6kkZ92kSGlSW1EqgvUW12x
+IdfbC4E4gxrowzhaD1t5Bhw1mu70R3v26j8GarqEGm8G2UGO5x4kl+f63933/+aw///fvNdPJVR
/vTyQ8ZvdmD+m18bMMIcclUul8F/Naj+vf8izKE1Fesm0pMEGXysv/ffWX3DvUOnXWOOnVGL/b39
mqBwsS4iF+U4zny3+yeb79s1TY8cxwJ/PC23EPRne9a3e28RmeAqtCDZqbSyN5LIFuGx5S1dVebb
yAKs89ureWcPmfNk/9nrqSrOgTMNKDQWUdKko+zteCWeRLLHmnc3hf64tA0Z3tt9XOwn1acXkx/r
52YOleDjQd/ec34NykZCwgzlG/3DJ1EsaoCh6ys72tGXop3LPMOKY9ZfaPzlJ8/3Ni/9OpRNXWI+
LxHr0T1x8nx9M6naRZMzwXk6D5StoSEJsHSn8LWB14DImsa17etfxb4+PHz8pCfDE/5zkaOtimIF
FGy+6NvhncxGTOv4zS5rIQsPeWFt6NnXrs1YwnMUFWxJv43tyzTxxTNkns8KJieRPLlanFBJTdLs
4M2l5D9saKmB0X1jiF3YzR85G80HoMTJtwz19gqEEfrBsIntQ02/cJSLbgtdBTO7aDTdZNm30rhD
AUOzstENX4fJwrDz4xd0Mt9ffx+eP5h+kRDBqPkkrE4qh756PHd2wo9haAE4WElndDEXBUHPLql9
cjKf1MteX4hPTwaXXhYs4fzJhNeaFmF428mdhiWDWNgG19EFT+YCvgHTfxtXIr1FzrTK9DhcF77Z
hhwuHl7OVZa164+f/jVN/dvyI07glv+64Rj0S9Ge9XZ+oEmvGtA62a43pY06qImCagHnUdI7blDv
t5o4BR6EBD3p6heX7tStHFxF6Wui4b0L/fjWUqH+za7MJlmAbYjAZZFaPUZtV+8bQAk1lw/P6Jdj
a/gV6i0WXMX+cl6UQtsXsT9w0ka5uQn7KryAx6Z/+/gRXy9Gp48456H5yvM6PF2BdAsYdNUCgXDQ
qc02sYL6d9vW40PeuNmy8urxWAWzP+/UGcGlngNdEDmJ1qazAayGTruHFolbveFo10Cm8rvc6fRv
I1CKmXKS36WZUT/64An3nuzSF8vIcXpVrfnUKS1AkVO2gw6/s7eOtpQ6qBJyOLMmDIB3FOR3Hz/u
28hvDvyoq89SXnKGs+HyyX6DOCzMKMjmO9UhXgIQnS3l5GjLj0c5XTWMQmcNCQ/asREFuvO281vk
5zuZ143s8zu449FXLWbmUADZ941yfvgzZfPj4U726/mhuA4QYrKRISQ9dXLzRili1TCcVVTRRQbQ
kR82LmH9fRbSnhxHv0ZimyQ7NdunnvagFiMWe5aU+Q6qXXQBZ2l8SF09v1OakGedleR3hQFG+OPH
O92k58dDUUtLuUFHNUnet2+Ty3Og5whWd63dRs8tIit/7WXULcDiVYYF8M21jhM8o8eshQQxwwE+
+6DvvWEKSMQl3OBAoM4f/LcPSr7PS3s9q3eQ+7RV4ugV86bj+rU0nSL8xKHyndnDlySU5zJJ3vu0
Y6G30rhts6jBxcPLibYHdtpk8LYV0QbtP237/eP3e2K29roosHUxuaLgjMkLPlkUlaOniQiKaqcL
odTS7j1gIDgc0yRAF38P71dDYmt4EWYsGtkdWo785HwyGwDMfcxtYDbZCHCOSuQzraTdc2HWwD3i
IeTqkbjaeWi39ePHP/rdL+KibKBPmZV2enKbhZu5Jsnf3ZQgAcw0IpPQy8tDENni/uOh3pv0c3KZ
0NGYK+gnQQKCOSEFj0Q41IQXhimNi06OA7hw4YM2zcpDbPXu7uNB33k+zGEpnJLcfm1kfTvj1GCL
zCyBXo0WJlsefQQX0yDdXemE2vnHQ72zvqh1kJhgMHoQT732qngSuQKXC5p+iMtN4abpeWEpf93b
Qt50rTHtAey20ZI6nnM+oCr9ZMK/96yMTkkUR0jaRk7iTdTO3qB5bbnD/wgnw5YnNKY6uIJO85n7
7jyVT047CGMkoV9zw3+EtgTo7rxZFjubM+tsLAGqSBfW4cLXlXWM4OWneDIpeaaJTz/pO++ZBBIk
EhqCCHVns47fNxHhA1t0BmRbVLrRaNthchuLCRD26OXhRaom9q5kMMd8AUiWtZeDx159/Knfm8rk
jqjAQTWgafFkpStJ2bn3nXpnx7q7i0zX3Q80762rRN4UkWY4yMvzz2K6dz4vO6ZDTy/d5uTOToIo
+rIsXUg2zyi1g8tQ64noPMhI8Qqmd7r5+Annl3jygRFF4vdG+OiSpzvZqWtuSH42+NVOEKtdJkXz
0MtPo9R3BqETkblKvEqlwTyJiouALIuCWL9ro5GMCRRS8iRahD3lxw/zzpujc85ga54RCyTW384Y
jMJ62L9gAUZX2McskVLOpW4MrDOrrD+ZG+8sDZQ0RN42uU+uJCcP1VRD1o9jCyqfJ94WcYB/YqAT
0SrXR8CpCe0a5xCwmYPmflI2eO99zmQV9C2vlYOTE15LCQHasWx2eeZqq6a3n7WUU+/jl/nO3Leo
TjD50b/+eYYH4Ou9UfeKndAcpqEiaFDRKLFhHDC2yAT0Bhp0Pgte3jnMWet0dvJkHFWnFyhlx2M8
5WGxgwpuH8ts0q59NYp736rSXeoWn63w11LryQIAGkKZ8ldy+HQBUPY0ilzhSZtaVuHuxqkPBeJ3
Lf7JYvAe2BgCbdEFwfCgaox+g3LApQtkbt8vIicVP2vbyO8GOjatVVNO3larW6wnpyF+dnCQzzaZ
086+VRWohdYXAdzEWPS7SpjynsCl/vLxR3tnBdg08cyiGHR7ZN3frgDaKmVrl3q1M2tNwywA8uQK
Zb32BRZw/0tKSrtF9KO6/vWOfi9ivzPWvDGSXad+hYvY/M9/C/JwRqr9ycwIbl0tWrXGoDaKGuoW
p8bP0h7vDUXxjv0J1R6R+8mJN+lY8UzmlO9eMx4Smu5SB9u+smmR2X38Bl9lSm8nBMluyoXYQc2N
EvrJK8SrQxv0MWRxjXSdLlrXGsgXuPXWaHL9W9lCCoe75lTqqs0nDp9u8t0XnXbjO6kNJQQxopTr
ye/VeevVxQNMTIM6u14ly7jSquePf605b2knv5Y9iEhbN6kVY+X99iPQZi2RA5EQKYYyOtSDVT/l
Xq6d13KMcVXC/Pm5Q8R53zoCjCT6RyxIGlPBZYnFVarsaBkbenvTVC2obVDQt1WOR2Hs0n+GmZB/
Q+/VuNWToVs1oVscBvhtn2zaJwW9OZzmgskJT0DDZfOPcMaolUbA6pc7xwQrQUE0qMlZyxCbEp2L
PdvPJWYrZDDaeFjqkfE8AajYf/wesfmaa63/eZMkLYjnkGVi8EbLDZ/+ZFP1y2qqk4j6sNc2fr5M
GxHFV0NpNwCX03qdpBrFWXanuQ3s6OEGTKNWk+A+NcbJTzOrjiPWtmJJOq6960YtYTGk7SrKqnGH
8WS6dKi3Huw2v+rLZqWpBGfKyNlqg/M80O0Vxv2B5M2qkf2tiKMnsCAPrjdPL2vcR0WwTQLglwJk
9gLHSEjZ2UEv86XC2gv+OiYQ9a4X8dqOy6vaaCCDpltZTw86jr998M3EJUsD9lNm6c009AfaatUe
J6WViodH0DGrPlBXGHaM6cot3b2fet4i0ztSKfRCNuIIUn9RD+6ydvxzaSbLKGj2baIvrdRct63Y
pFG+72Xxowu1NXjgrS1TCKPxGjnpo9XiaoAXuUPyAjEG+RtU96m21oBVL8Dx7BQ4XLordvogo7Xd
hNAAetg2aWsBRXe+dUZFPkAF97YerrLy2sJwK+O6pPIxo2VTXiatEe1KpZ1PTnxrN0jKyrx8xEcQ
hmXK/hs+W564mSYqw07wlZTGqjb1jeecZ234khQaLzG6F1O/j23zsvbUxhBXUWQeer95HKHqypkA
gxHHohnApqTBeipwrtb8NdLNdaemQ6ONuEoCJRha56wuoc+K26E+SN352rsvNrLIBbbdYIOSTTO9
2JUmF5RU5NKtzTO31n/43U9lWmfdzAvEWKyNoy19v+ATnb0H3cEt5SEJsDefLP9YG3ioBKR41dBc
wOX3uFxmZ4YwbvOu3Xl5ItZ9Fd2bwt0wiwFH2AtLB++sixBqgaWoVPa816m/yjv3IWI651760DUS
Z4IaM1Ls7JXCt8r43kb5xsHgZ2WM4aUHq0FJ96HO5IsZY0CUegJiZ2Rv4TstLDddj4V81HT6u0fs
cppJ/+YU1aU19dx+Q1pGMfNqDkNEklYLlgGuFhpNVaR9lrHlnCtpbRXOLV3pHiKArRZQTABV4xKn
gzPR5OYCFvmmDx488MhQEe/8UaNmm5cXMJWwis/GdqZTL7wkWVtW8wgf/zu1iIu+jg9ljbo4B3vt
msUBUsuFU8GIj4phPRrQ29kmH1Il7vShuMG77rsyxFbRrYGZ+Y+GxVU3xtpoWdvfEyM72E62qvv0
mOpfS5jkGcskScftlPTHQJY7LZDPFscGPGUBYTT+KX25DytjYWnVS9y752bYrIqGlzAmKx3NnEaT
EQ1w/qGbMD3q+l3khvsqww6A2kFz6NN4k1vthe2a4LI9wI/Ofe700CYxpvPmHSQQ/BnmNs3RpWn9
bcmpCBkUTHoN2REjI5OCZQlmWScnq3fxreIF1iI75OwjnZ8EWCsJYJF9Xz9agIiKbV7FFhzUkbQj
UXONi0ET1hd57DyalCJpUl5jWbaYyhr3o0wg7kv9FfL1RRFZa+nWdOUiUV2EPrEHdQpMyjMI4q57
l3vgVcVUXeLG9NzrQ370pVhzo98IPXjysOe2m+4Wn9sbspmu11JuhwqwS9sI+5Xe28LwXWQl/VyT
KuBcsQVpXXRVZtz7F5n9UmjGPRXRSyfmB9fRTjm7Tghsu6iIr+hxWxAvL5I6vtGzF5qBsM7pv8pg
RiKPN1MLsbnwvqZsq3hBLVA6fscLotlVkQpXhqfoorVi54ujPGM/4ftcb/3qUDdNfpWPTrkJRAvj
vZBCLqzCCdd6LuU9Oh0BlcWJzKsU54wCtzNPqGWDX8ewFUNbPTsxGP9VFbrJqvUCEM8TTuydSr2z
MMi8B8Nu+4XX8XgKXNdaE+MuNA25HoURtvhWYMyR5BBEMQGyiFLSvP/hSXULfuqnTmvbSk6eWscQ
Oul5CLpl7UYmWdVOPeljo+3BNNsAwSvvMjc1ta6mvr53VPMS4O50YdWBviO3jDsKqkj7gSUKO97K
Y3dvBrK/EL4Gw43WRH+PmUN+FcUi35naVOPiXobavaim5OtkCrrpKz1xd7Ezaj8duqPXPkYfAHaz
BHGYk+TBfSKs8KrMZU7oApNubfqAHZd1i+ipraWjINmlAO+6OkF15/XtRYUDNQIg1CZPgbAy3MF7
J16O9fANFwnneVIMvmidYnpsRpjYMhVaB/5aZtsutGLMhRrXWZeDTG9JoOQt+fn+kTC6+G6MLdBg
utTO8yKvj4AnsYZwuvbCfbWGyMys5hsN8RMNUHfSY8EXeYFFiK0Ce0OnUoXzj2aMVxK5zSIdc4g2
alJdv8AgJ7BWeZJXm1jXJW6vSYZSFQmJX+nVNeoqeZ5wmfuC6wNGAE2YnPktFDTNKvEHLGz/Ygro
iGBDbP1H19YwjpPz3qMBzMMt5atXgzFDmRWfpZbzkja9swnb0doVrkVuxvHv7LF68tq22JVcCu7a
PmvuHSxDdlKRj+zMarQWVVP0lwWuj9ki0q14LQ13ZuwI85nslbzBr0cspt7OzqjqmPtIuOmDoRna
WpHUPNdposHx6l6FfbrqEjooKd01aLOwLAFmYuKHZSjsgiBBrhO83Gkjz0bBS3KDJN4A+Z02oUG/
ReanPoK3mMrmIoI50q1bnR4yTrucZJo/6W249HEbWnKf2Rqt5j+PIsnIeuHo55axWmZj6CzrEoeM
WvkYQqk8Ou+UAH/vxf1FHFs0qKkk71eRGxj7udHCW0xC9w/oYrUl2MXZy93xcZRIidtxhFqVddfJ
JXPc2MNtrLUFm6929Kf4olWh+tKAlt6OY2L8SERMB0TkRA+aDhxRiZtQ80yufATRWyPoog2KsvRq
VGFNY3NCF2xWtIlHe75XLR1X8PfeAAYZLwvMEIf6ki5u/bluknFXYiNzNhAj30o7jwiHNLoC86Hc
Y8StzkAueIugcbgRDbVB7Nj25g+3K7ARoBC3kvrY4hdufpG6RcFUKwV16WZsFXD5WJ8OmWcPCCSi
mtdVVXVHTCK8h3DQui92RsYvKgHOrZ3JgX1AJqVH0G1O331MOORSjVxss0EX+dqre5czIOXkERFu
0RM9I3hSIqa4KcNAfekS09g55WiuRq/r566mUiO0FaP2bKRTss11M16nSV8c65jTcIQ0vRQNc21l
92pclVbYZEt9oOVw2ZcZotsySdchQfbO5l575uAge685MRoegWCULk7drK+d0oq15RT3eLCj+bc3
kd5mnOYSeePCGUSfbLgaB+cjOrSN3imi6Ki27p06IFTiO2d7Pp4pMEyt+22UFcULmMj0rqcV5lmW
P8cho9oMOu8HZSoL3r13yIZz3DP6VZDazg0d7viyeqG3RDpRLXPEU3fCKIJD23b+wsPaBCXb0LOZ
x5YIn9xeBldtnZY4APbY3tW2Fi5QBnQAQ4rxwihad+n08cFponxXjKm+LA0r21gNB/UUeLNrQyO2
LNtu42lmt1bK5lkds1uNea9tDHzO9wLUKCcI18lvAw0l2VJQqblLoJ5nXxGBEyx7Zrsz7AG0d9fV
xUK00w9Hq7sL2oHt/ZRP9aPDrWRLcTu9MWun2Urfq+9y08EOw9Pil8ku1bHGnGstRLltTTO/QTx3
lA0AM10bhpVCPqovYnOc2L3gEcoltqQ8aUim9dHObfui850IKwh4qCrKhnoxmlO8dyZLH/C3sAzs
3RSutTXoc8wWS4OGPqll53O0cCUmt6nOOhr6zDX/AYCvaOxnc9w8ulF2miwtdNnrQqs42ZzATPlJ
TnIPo0TfhJE13jeV5gMD8vs1xL9i5Zkgve0e/1ps8Sh6lkkLy9Wr3GlFfSvU4JPW/n3sjcVN1Ya1
WNamFifboTVIVEjP+gH6ONrYuSX1VTmJ5Ibe9XiFg4kwkHBVkDanoN6/dn3x9vNzW9d2E5XnZygW
CJqLPiWpbTv91g0HQG9x3+Tn/aTkSxwK9BKqdiK1ym1RUw4fyNRBbUvM9UgctCyivPyZa51xWeM6
/9AHJUqpFqrHeZ/DmiEUgp7oB1XfrWTn1i5mMG4H/bA2d9i+V3tIrWoxYq56mOjFpY/NjS/ryZqn
dqcOTcFjog4iU4bNLRJP18CJ0raeJCmhpU9gvpw0Gc5Wfnq2Gtycu4twiludQHZN2yQ2tHYt1IEN
60dsBeVaEa0cZBmJXZX25RN0XCa8F63qSuv3bRsEC9sX/Tmd4hl3Tiu/IuSK1pQEp6U/+zjXtoWJ
2tB80RvcUlNa474m0td2begdDTwtln4mzAUFBUT+MWKbPfhJotiqyJZlCbHCVVW8jvqhXYWlo+2S
YQpWOEJb57RkX5rDUGGERBaRwNOcsOjh3If3ghsK2/4dHRXFNo2a+EK1OODxj/tyA3fUusqy2Lq1
skFdavVE6mIIAK12XnDbYCZ019Ca0eKTMPaLqtDpptEnf8/cr77EVqOt2qEJj5Cw5Q169hSAb+VV
G+R3Yie9bCJXknYrjya/ndcM0drKvnL6sYuXZmTc20amyABNXFypBZJEMIAKX0TS3eNtFZ3pUj35
sdksLNn6G7Tm+s6g+XEZDgLEvdbozS0Bzk9XK6pvvSq5h8TNlw7j10evCZ5JK/TLyWMPxJhsN2RO
wpXG+BbqTnVtsS+sy6hQt17WHmFvhpvU1JKbuFN5Ahs0mrZ4X6MpM0u1NDp3WEE7xV/FJMfaBG1x
obsyWNtuK9ahKJqDH2AGF1d5sInCYVnItNnbXPIuyEdtJw7YDP7eZGDzoKIvjY9vMy6at7ZV3OcT
KudetvUZ98oJw+awPA8sbO1YA+1KhPZzh28ysd3orgOT/yPYXJe4Gz0mpYsXDsHjymjccJf6qloJ
BahPS6W2GRsIIKNb4OGXjHJNB+kcaDYXU9pBMGzaY6D3XFQsp8MUi67ShW6E/tIwEgjAeIMH5B3C
cIWGw31Ip0Lh0wCXlr57o8bFsjKCpcyiYF1i+HWR5m28NFTVb2l91bYqsWoOgMK7SP2xuBpTp/5/
1J3JjtzK2aZvpdF7GpyHRS+aU2Zl1pyqQbUhVFIVZwbnIHn1/aRsw1IdWYL7xw90bwQDOhaTmWTE
F+/4tW0ae+c0y2kSiRVjdlTjDLfw0yTTeScXmgso2/7UeYsO399aj+fC16s+TWU0lLK8SunJCtV8
nxMxeahUwof1Sqo0k4/zLhNi2msdCbVj7eZhp7TDYeOQ95XKDDUe7WII0s5hOJvc5cE0V4/sZaUN
nNbMDuh9JvS7xkvOYTVcjGqLqlHyhGtJDzos9n1dbORq5+yKWgUEQZN7c+3JsY3K3poiXXbmjUsx
4IWWVV+1IR8fx6Qz96zo84HSQRikQqPzhsK/VwyfhW93TYYkxigfwWqmL71iizsvt/NnfVZ9s7Oa
3VS7xnGUyRAiGuxxTXrzQZm1xtvnDbCyMJc2Wltj4LercJjX2dy8E7Wfh2QOUCdItcgE45ire1Xv
s2vPzjqapNl0VQXES8mm7tCvTNPZnMyxowk15Cer0O8qPSP4qBG+7O4MvlMgIs1FrTczKA3EEWNi
j6yix7Hp6gyfyxoqa9XHtSwLCp299n4pq5S2Y9ZCrLl9RLyWGWDWTAKbMwzltLW4ssuF9hXV5czs
5WUTa2NHtx5as1jpU4PETwZ74puLcr5aqy6/dezZPgLX9/FqGwTyeqROUozRhJ4hxY2Wn6vamQD3
ClPdhVtSJbuORhJTZp/eU2SMq3YEM6DUnhQVqgsz313cfaXgllnUFqxjwJjsJttlJfJXdVXt66oz
57ua1pq5YcCfle2b2Y1F4JDb7+YN7fBS199FRivL1DXr3eZYVayDlj4bOcHSlRAbSRfLRHOYak8P
pHo3lx0sfJhZzfU4zy/Qw61vDupTU5bzjTKJKpwoaPX11h6DQU3lviJ+hLPsWN61s2Dfhg/11VH7
YlatAa6XmNOBCrOcg3mX7FQ9z3jbF+I5zcR7lJpeRFWRfy0tuV12A9QVDSAo/2k4wqU7j+vO2rL6
28xsFY8I3C40vS1uZSFEqOusuY7KsOIDF4zkIFOx+WISVezLulKihIrnB2UYkqM72G5cJjah2KuG
5ntMiF1e0pVKK/vVTds1nLZcy8grdF7LrhUB5yZt72Um3imLI2+DfyDUwM6BW2qsxrldOWwfxfbi
TPxaWjtuBKPn6YPwiDgtJ0BpR1IiNizjdeVuzUPdjA0bikjCuTXKg0QWBaCz0rJX6fYne052q5Ak
VJqZvRPe3H8Zp3SM1H4hjZteVLoFhW9NXnuHEc/6qlbdo27KhuIoh96blQKmzV3yg1cndkzWl0PK
c0517mIP02WfiOFEZ5UMpprzYyCrBeiyXfLyaCR0suAOfd9I2qLbVEkjeuzUYFvn+qAmUGxgYe0S
Y2LWY7VeNqItij0FcXPUulAaOvVqfjoNoGzFVO6JN9jeFybSSyVxtEhuyZWSG+PJoGEtRm2AQpKC
43DQHPHNOFuyjA5ToL3x5nmZa9EWC1d+W6AUQ9zJ6vjk5IvcWWZ7mMqMWotUAhtXy4tX9m9ZXhAQ
30MoSKtfY3XzVBp3ZX1YZmGTS9/a8xvEh9ZQGS/mh8Jbs6fKLfpvVvde9A5nTYvIID2BLQB6qwNH
3+rPKf3xIbkl06GfpXkou2W+3fSVLUTatKfqiUeiP03zwJ0Uju7Umnz15XyWJzJAAOXZyX0qWbyS
lNyUfGyKE7vrgjkB512RngtR23IRPhEF5NyKkTcJnxymGQQJDIyibF+SWi5ga2MCEkUt3TjlGV+r
th4Mx3vtMTEfeuklu7LqoA0Qfd6szeLVNHeolyR50ekhqiJAuya8uKcPSeWE3mcyzjhhaD5jtMI+
auFR9c21L+eIhCj0Fpa50iaqpT0utJKYfIlNcAVvo/yKJV2Q499zBPkEZNzEZFiCm5flbUbcRCRS
RvBsg9AxV8zGRbl1sSq28gL5KBWWnds+bvXZ5s4wS+EYB7xz2HCVrrE99uXiW9qkkb9cZBo5HPk9
mBXkMIaesV0ZBx2npIabTrTQsDctSKFkYi4jrxN3SHYaLdnXC5XjgZ7R117hNtQQ5RJaQxPRlH+Z
m22iLCIf93BPeax5StRtNoWviQo80XnTURpeQpWZeUs5KPkUfc/4mentgzqbggzYheLuhLbtSMhk
eYInz4Pa4iSNG7Z7p0i4+UL4QHFXKPMK5k5xrgAC3Wl2alwR1q0/Nzb1Pn7KpG34da0Xby2R+jsn
MV+8tq0j6RGlP+EhuNDUsrpwFO2YCuupGdzmwqmHloT/6UFo4OKVacx7rx6wEXbmFtWeO36e7cl2
d2tCP1lrmqy/A52GO+kk1gnYtAwrY+p2RltNVwv65ENL03ac6WZGDx5Poi9JZg27gVJcvUqGCO8V
LJub59fK3NFypCtzaDPxHSae0iOTgdiL1vH2g5kSvjDa5oHcEJUZdjQegBSAmF2hH/vMHq6seXFu
PSIR3lvp8RQKlzl8AtKO7YFXluOUHtNaMN5tSW7fLit1qlsGomOl/XSexazjsMwmQ1tpTF9K2DxB
Z+ZiujSG1/pJHY1c8dU1tb/lCHxyn/mFYlF9YcPoIZlG5gYSJNPhis0a8s5NnGM32udsMU1x9pNe
1hdE0+q673TgOx2G9+fNycRF4czqhStS7VEDY4rLraTPmoBezFjbvHFERvT40ieIzYucynSCNJYo
d8aa7vFBUh3WOMUTXqj+pPVmd51OPTN3VZBBFCysZIKWTaWnJSIt4UrSosm/pGLl3+7tmVqE1U0X
Cg57J6S5fPk6ZoXCy5NVu3I9E1KJ2OTNpij9nUhKHUN5Q1KTlpZME83KWRAmIeoyez6WtlSLICXb
8pygRei6v5Wa9k3mVX9ZpLJ+VWtbeEFmL4SLrxmIvEr9o31Zjw1DgNuJ4nJwR4RfZUcRY0giiP5k
5nP3PmDWGjHzzs1RL1w2ZpLcKGlQGj25bWQ+sfVy4r4k1q3prnqnUfRAk5a9787dMCsJO5cb6+I7
hq3UPTKH2XuyJNlXF0XLkmDytJkyLBLLj63dWCBFg4KtPc1MQnHq8avatC1oYZIWLmsYchnJUvUy
DdQe047Jx50KmjvTCekvPUbGI6Ve3buJQfKFH9nxoVS9PpK6YtJ8W9AZiFgldQOPXjdaVA0FRSg6
czceONKB35f6PskM/dRW/XC9ZqpRszPmKy0bOgVy2VAjW5DqODAvmYDkYTadHSJeujw0m4t2vhM1
lg3z++cyktkKBhpQi5gBs/s8rItFH3w582c7suJRIc+d4P+8oeIwucIK3wOPeFmyXxdneRCJXqk7
Wa8eBd/b1vm6PZXdVdo4quEj+8wHencl2rmESOmdU6OYyec5G04zjelabNaFGdNY3uC3F0Z1gqtM
y4vKTbI8GCFgjVCFDcuDrW4Mmiw8E2RD560nmgkz8jDAtrIhZOjn61UzfM9Nagojh+rUucW4a6ea
IrnRmfhChnXgK9VQnlL1YLWaGfOUFlqMdoLJoh5Q8ZRQVxOxlqAbQULZ+glII30GhucETaGVGU+a
VF/E4AwH8PMi9mg4fVSXYi59zzIX+FBB132zjl8HOY3XGpXqB9sqpvzoofy5BpDlny9pK2fVRrzi
jh7PKSf65GoRPJgBVi002d7UfrYbJhOvKNIrmtJR6nZzsXcTG0VPQ3foq6akxaW1FgMBNkRMzFFv
AzwFRcYBKSoBLeegRYYg4BgxpDo1vH6QD+Vah2M+8TSmlI9/UweX/9kbSX45AY0/ggjkedDnbc9i
UVFXLKhP+VTIZvxazInuANEZFBzrKPQtYXSfQDUVDnersMPcJTWIbKBZPvSq0T91HoBFqTXuI2cG
m+7nlM7LqvSuRG8zH3TVYLPJNwqE4sB6hYKGeTzRzwK6qk2nuMgKhMODpQfqojBXjiyk17wHYx0s
gLMlqf8VcnZDW1My/9oE8mAiSTclqEuqz21V5m5QjYjBQbB4svq5MB9dEHoiOjuDH6IrLEgJip75
McuiPc45Tg1j7YfkHrkt+y5gcH2TY3QIu9nNrrzKq269sUmqWEvAVX1l4aXf+L0BQOt1iRCzrdkB
rbD1aHQ1DwFU6OdKH+1vtpEVl1mb6sCQq2R5UEcE8KNiYsmsOJlDq9OYu8IxqLw8lThLFot2M6fQ
qizvU5aRBoDxmCcQayU/QjPBHMWDOSG8nQvL2HAZuyhxZ0+r92BU8kFx82JP4hUvLITBKc3RcVSS
B5dtIbnKHLs6rZZDUobnZsO5rdn5xmFH1qGYR96NfMSNwkCw0RTvKYLJbERZvWOOTil3NBNdBBs4
4nO1bjpzlmj14UKn5/ueraizQ7cvk+KCXvVi37tOihKF96MOJBTHS1bxaJewV9foUMbdaokyFm3F
qluu6TPsFF8n0YtrcyMHd2XoyNItUmGMivi7hmlCi/zeqqnQI2rCWe7t1uAR7orz+02vztRdu2fH
T7NS3nXWNVocsptGj845GnrARfhHvVU+VYYHLCw9vT+NxiqhopJijIvzytywAcQUTi+XqkX5sNeI
9r7JmwXmSBuXiKGeHai0+WsQZwpLi2a9wmJMwDjKdPN2cBJhvZR4mXOOkJkNiAqufkao+JGWuhp3
osk4DPV1bbvBqhd2dZPRKbPrxk5c0JgnLjyhqIdxy/gt2ORaO+AHBuR2+sGIrYU/w2yjhZYVPk9u
Kstmjcw3g3XOSgSLiNopxiNHSnVXFQh7LLo37nue75vu3H8qcSpGY2bNexzvkGULM3VQi40vadXz
ejw6sxjW0GkakNZGcROFOBQqynwheOD0mRSgYF6LeafrcK5hU3YM2yoo6S6DrkGBQ4i+XxglK0lD
1mMBY1rhdMHY/WlpNd7Fpre9m7mdZxpRefWTzqM82aj7LpS9oHXLGqyDgE+AsXdRmOpaa30yebp3
JfXHKXOZsL5QRXaekrWt27epvCKjY5gvoULZskYbv0ljIgRneCj23lIY+6lYiNBMLR6VGYY2aF2Y
D4Rd7BdqtsoHUx1t5saeTYpgSqTuxlqdGLSUwmfs4eEdCw+OMmtdnapjsqutgOlQP3KMn27Wbqau
qc0QRWTDgKOrWLRbMKqbibAaip5UzbdRTATEj+CGaRflME1yOABNcDdWZlBhAjSu7JcK67tfOzNr
/MzyfzdxOKK7isZx9Vh4/HbXW6JhoFEkGFu0LFquXKE8EBVnlhamveg26+/Bf/8Njut/Vzf0U3TX
r2uL/h/M7EIJ/e/t2P+7r98Yfn/0YvPf/92KbeKqNih1QL1FwrlJvOA/ozDMc9yFg77MOEeeE2yB
gvUfURim9jeU8RqrtMv+gJ4biecgpjH7X//TcP+Gw8hENI+2E1qRlI5/9jD9Q59LhdO/1esC7X9Q
i6o2Bl78wyCX+Bn+6t/t7WEENgejp5ecrMihzULTRp7abpkTmFTwBVZnjGwCzvhgUJC8wzf0gu8/
5Mx7lSmljfeCSMzigi64J4O6miFLj45Yw7LX9iOl6qLt9vT60VtrLGYM7O73aVM/lsqQ0RfUUp9N
hmbtJTBxvR1qXl69GLWHDCMdYqfa7uhQS4A7DP2wlNqVuqRftBJOy+KMxas7+UB+BOg5y2uaCDA/
kBM6OnQWi6xm5Jv3eeF60TYNjwo+J0gmKS866ixus14DLdi2+3G0dumcFleA3u69TUPCnSwI10Nh
XEXLPGj7pe8IALR7UoAUcTOJ05CIB9VsfMNU1Du9TEcKe4qJ1jGYmyVBuUMl+MVYFiIuEoM2H1a4
h0Ftb9IEFYtXl9ftZIx4O1Nq7wDDX4dZjTFcFhezM220I6Aw0Bqi4WuFfPFi/dzpusWgWsGw18sl
7o/Mn4AWgby9uEJesaMdG7MstdjHvmRKT9yHwVQi6dQj02XxsCDK2NfGrN2Bw0NvGClkPxCdvip0
sX8W8zojAUBQMxcoabB/huq4Xoyb80Ti7ZuhTzMrv6cHnmWZYddS/+1IhDzjjnbAZ3owU1/LtpcE
TjSoKwijpW3PmM100vNG+k4zcJhcRP/gqBY8uwJi4qLbe1Zs5BfaoD547o3qZtfryAm+HJ6bFkIM
zsXTErnv7fQS7XEbmCzIfpomQONNEYyr2gemzBFDKXJ8nKtz3M+gNqBq7QstnvIVxzDyVqV6mHvn
Xhk95CBWsd3WBdOZcM+Qvp3RGLUUkE+KfqkTRRAibOd7RMeLmMNB9gP0lOiziM42bS0pCLU8n2+X
Mmhr+2CQyopaDhi168vrRMVnzNEoLMrptVAfBWGtvUubLbTc/Jo1cvQTCCYfvggwt5PJjU7ZYVCr
pJiUihz2zpLNj/O6Ggfy9dao45GM+7K8x1SsBJ1bpbdGg+OnwFsI0FOSoGvL5C2veGLyZHkgwM5A
ktwb1waCw8CxPXI3KoX5i3PyPgU8AXQhE9a19A41RL2wc5YNWbkEiPrAKMXR65buKyHs5dWsQcpC
L/nTXATUfznd6l0xop/p8uphMzQ7YP1ioDZ3mZMCiyxT+9ws5CtUplo9OHOZQeVrPJxaUQRr5fKg
EJbWGKg9LWW6n3u3u7JS3JCr09V3lr6+emYpr1xT1Id5oV9eBSmLME50MFzVWI1xT/SmfW63rkK1
cbqr3EJqWCf68IDah0041WGZHKt5KjEg3g5MnhpCj96OJd13fjFY01dFUer92TDeIN+2Ko5Y83bH
ilmEucYpKDCd7SxiSrSbsoGtDes10Ue/3ib9/MDYy32ZFcvN2NjyWEmnuXdMOs19eJLO9Euvg/bI
ZZoHEwnxPWDDtO1mBuJIdo5Eq5mxVjELmi8UfuaHqe36c09nw4s0pZsXWk1f67yZvfElT124S6et
jFhbTREBb2yRthYoBosSaFUpeepNKL+LwV5op2+E6kUaGaKP9cTN0LGu+bOqKpc2eV2o9BK++rzI
LWjCTt4u+rx9HQzUQXm1TBeblY+vRSfys5YykfE6Nd6FhqbOJ225fOVUgfDV6bdrbVEmMOS0zIkM
3ezkqjfqjNbOieRSRbfnxwYU8XJAAD8FqCQBc8zN8Q0aLmOtFRofU25baKBOOfbTUIcz93uhdpSi
Gdti3y+d2h/NzJJvnccAi8RLZtHat7aves1Ko2KrXMhVR7zujIK3yi0mB7FK820dsm6vOtN42Rtq
Etea1ANTcb1YyYrueEbQwpql+Fq3FPc5TbIqUs6CyxxzBLG50krPwuNagPDWyZcOrRIt1GY1vxTS
dm90PR33XakNdyQIcPCx5mqXsMQFOsfYIJ20Ns7srHogIUNB+E2+mG3J5bC1ZRJjVHJ2PShAg8BP
m3N/rUfrrfYKjdN12byMrDWbX2s5bHlldQ9K4w1Byend14dE5R/3/CyjMkBtG/tydJeBBjt8937t
rfBeNmcAuG17Czyx9UDA07CzshFaUrdFUHr01aN2rFUiOMwsnJSUExKuzEtRnr30M8YDVTjTk5vl
OD8stbwjb+7LmGRanKL89LXKJWdhEU2MYt4Mh1bRomUUzjMI//C6KnnxKTVcIP5J14/Yb/nXTYlX
Y11kG0+21V5k2pTy7uclRkLVauOhbatbJZ3cWGyzvLY6+WDZAN1n60XQggH7q23Wd4xEDsV3Uu4W
x6T2tma1q9q5uywnNMWEezthJjdnr4KUhz0NnHs3c0BnS2G8rJvg2UvB8xUDGYOhJE+dm67vZq3V
l2Q7tZHRe3ec1OcHS7Gp8BsG8qRkpInxc0LSsd+uXsaPQVREs1zMiXpB6h3HZQPpEO2sSaHOvu2+
9tAqmwcPksBZac2rWJzDUkPn52YVmuOg+2aihW2Ljg88aAjNlEa/mnJShBQ6wkQ8Hii/n9MZAbOA
Rrviw1NDPT0PK10U5jKF3mTDxiHIeZuHrbwHsSwex2UFNBzy4TmxEaE7SnNTr7ayw8ZlXJWrVOPK
MfMnd5m9+7UYLV8Fpo+ELb3AzDPpW6JQD8wQ9+ZZKiqZt3LL2NkL3bQOyDng6E1tUkHbu8j4UEiW
MtcxU9hxZSv34LyJv3SEhyjm51VVxmcrLT7X5HZeWhDI+5xBq532RqJDbg8xKQPTGbILOY1v9EnK
Kh5rrAzkvV/MXfpODzfliWzIXUPHsDpBNjRZMob1gEbULPYInet4ABj2hdl1sCNWHrl190lV1Xbv
KGexXplEtPcEqCNd8s26N2wS/ii7+6U+AfnsMfd89vImAsa6Vmd4pMVOI2dbOXZbu8n7toj1vu/L
OuqkB8TNoh+STsBGLq+xxF+jQP085S6EhzrfIqmnjWiu4pR0ZfbW3djZkWsYS2RPRLwhNnWOeVXH
pbrC0A7eg4KQNNCd9Z2czjFCB1n53WxSRlOlkFhKgarTdD67urVzZxtZhFIeLFwRWl6/d6nOX8pT
O6OAxuPbdtdEScSttbwvNmlhqkWSoq5tzEYtwsp0ZynWcGkToRDmc9sGzTxMe922IeI73dtZOYpT
9j7lWR21fGemku1mSLFWQNmuVrh5q+GbabntFXWz7l0Ui+1AtfdgJndCP0dBjBgyd6O0Vn+Csk9y
TdxwJm4O1sDXRf8JhuvVPHY9THadsaBTPKo4MtRXVxOR1lWfUDoi50jEelp19OvCnhjesvSyom9A
KugoPDV/H5eSkjR9ti8gIBXiJYUbkDxp2v6iSbYOe6NneQH/NpzpikIEooY2ziGG7R49pXD3o5c6
R6Qw4HmEk4gn2St0tyy1vLDwvBz46NteOpNxAWHW7/qe7D6e3eRBJf0zmCvPuZmybAwKtxQHGLUs
RAGk+BSBK37bGUoA/UhnaTUCLYnsxlGhYW1qlW8h6OYraM75rZ+m7h6pWPaMa2GI9VHdjmS8bCmV
L25NIg3gt9csZKOTRd5G+pzWQet1XkDAyYYW30GxZ1BMTD9dfm3K2T0Ma2kGZs8wOmhrhaCbAI03
iQZ5V0zNAm653XaUzKihoTf09HkjmR5tWxykm2hHYSQJto5mCsiG0Z8mfSvJubKL24YZiyyqcbxu
W6uNRoVYmhbg+M4RhUOtc6U8swS4LwQxW0fEzABejjkdyXAaiRs0UH6s5ZfEYARGYN7sTadT9mkn
zxUM3+q02bt2MgVTqz26bbMrsjxy9N265U/0jR/c7R1BWUA067uOgRCADtnjpLeRM9WXqL72OvB2
orMQl4sMCpHs3K0imcL9NNbzG9P2cEGkOdZ3E4sa5v8YO91NVt6u2rbXbOapWaw7TDbn13QtC/yJ
wFK9nDFxuGdngldh3erZV2eM2jdIohn/tznQx+62GufRIFp/qyK7Rx5itUv6LKp8PBDumEZzIdwI
jvK2z3NoPhO6V1XpfyowcNKPWxUJG4OdflNzaK1pGDfEDLMQTOElGI9dO5GRb9VdPmX2Ta7Mn6xG
VKiuFQIW4amN7vOkm0IS3LC0ZL523etkTEPkNWoNQTt0z4PikXljiKTZYeNEHT1MfTRqtXzTEUDA
o7YJzwHxFpemwmcrWwsZQ1ssMfJD8diWTkWftngosdCddCQCYacppQLTsAyX7IlsFqlwD9MgOf9h
gS1s+AiPg/lqOhDhaUfvd5Wa6pd8mICvEHKNu05r3bB2VRHbnXTfF9dUYncydaxeip3vS+jgXe9I
L7Lastj1CXRec25cXKx22mV4Uy+cMRMoAosV8ZZwTgsJPz5+/XlfzsjNRm9s4yJPkj1NTM6rso4p
gYwIEXWQEl/qpoauosv6A+LLamezbiBlBNsr17a76CRSIVxQGAr52sjjdBDSV7ijlN6N4CLkM4oL
cT/S+UTUomlUHGyGAZ2JNmElHObtC03sQx/i9zKus6JmPjeclZW5nJ8GVgp0VJDdIyxInCTrwBg3
U1ac2+PkQ0kgYmtz91Iwf3Fil20fOFn1NNmka/OGap8VlznWF6md+woc9xD0uoljB0Fj8VCzxR2Q
NkyHzK3Vb04y1RoMweQddLboY71ZZCQkfapczwgHogSl0hr1hZ0c6qW6slenfdO76s1s6ejcesuI
S/4yMCqnucopaz0MfYMzz9CRFW1VP5PEI9a40Xvlk2dWxXteeDDQTrrtmsS1PtOnxmagjNVdU036
UVeHPJpSdXooIAuhWCxcFgg5Zl7zerA44ZYqbu9uBqdFc2x/rkFkWQFlU9zZCWMF7i8dVT9Trl9L
99xNIqsDCViSFoPR2huzIV+A81nehLqWZcAXNb4gb3jDeqrfdhJChxyW7srz1jJaUmaQYkNMyEZk
5jwImbyiUmQNvXX9oqfbZ6LhbtN8YbFUxHGshnCtJ+fvZuX/Bkj0/7eiAnpCfwd7Xr/J/xF8qd6+
iQ/g5/f/39/hT6DLv6mAm9/Lxygm+Bf8qVnu31AlkQ2ng2X+XFegueCfpIMQ3ENiIxmKREL8A/9U
dP1vlO4RseDQJ6ab/2Hj8s8pAgRhEgmimjbdhURb0jx7jtX4IbBAAEOlZtom93X7KnE6q0+Z+EM2
0M+hGf+4BPfJJ7a0c4X0z5dQ+gnlsbkk90auRkX7PHp5ZHpftPTTiGX5hx/gF/kLH7L//n4xHVLY
MJkgIcY+eP+T3JO0FGnKvUQVFKzXmEGXjqwCrKFBbe6bHXzh7y/5q9sDfaRzi/wjA5Dp59tjQ0Go
LEzlfnoXL+LBPGWQ6X+6yM8RIH+/LQJAXBsAWyNF8MNFrJbEMoPcpvsWunR2UrylgH9WEW9p/p/f
D8G/JCdQ8XTul/lwqUSzDPxuiOJGFRme+dBWz3ZL/ToRH3b+p/7pn1Nbvt8XZ2MaF1zTIdvkY7CE
0y+iRfKfn84GE7u/oUco+P3P8/EBJ8+Op9s2DWoX+ONjlokcy6whPiU9MSBcujqouhUq05+q/34O
viEW9sNVzg/JD6+R2enuvDLrnpI5wgRjG0/JjR0j1gD7/cMNffzKzpcii5bDEW8uKTsfXicNrUSC
ByA7De2MooAkRUsv/3CN79/KD8EP3+/HsVW6x8mLpQVX//l+FmkYTdHW2an/5pbhugRrG/fNxfKK
DeY168A2g2zx9SeMcio6Sy/+/Y/28XH/fo8upQQschiTnA+rkt5SwTnqIjvN1cNqdqdMImXTyq+S
g8Pvr6SdH+e/3OkPl/qwYAwjklSN6rUTOCIZ5M49XRk3XaxfLlf1H2oEf/nL/XCpD7/cgA3Vqc/2
GJykFz2H/3TU/8OXly8OCuEcw0bfDa/Uh98NLbg2MeRzNwys7modLXTbhQtfq2n7rPnTsvTXl+v8
+5CdyEJLBJf5IR9kGCwDB5SenpZMj0qPxXVEMR/+/if61UV4by0mI4/81I8luxOJ8p7as0aIrHxX
MGNZxUMu5R8e+b/+OM55u8Vwa1L1pXrnKJQf3uACWlrXMj07daNV4BbKyiBzkj/Wov/yMtCNTAS/
SoFUCc8wCLXPTi5BCzizkV85YvnDvfzqG0NddR4tGAZt58O9DF5VzGi6WFVlH03VdVblt3NW7H7/
u/ziVkw4WhpEVFNjDvmwUWAwsjfLkvkJt6U2UzrYm9iKfn8N/a8rgfPTRT7cytgh1PJQPZzCq5tP
xl43fe9pvjFCM0j3r/e3W4A9PBQhNUpHEjjECXOef/f7z/DL+2TSAi4kj4fZ6+cno+xtgeRoyE+k
rJAiUYrrFPzzv3aND+9tRrmhl6gdv5hZEY2zRL08/NeuYPx8F2uxKiAYbX6So9vTiD2FY98X4f/N
RVCE2B7Ik+p8WOHkQC2gi1/h1JQ9kttgy5o/RFH9+sf41xU+bLTjUoiaPDKuwAKHjyXImj98Ud9H
xJ93BB45Evz/eRMfwq4cZ+J4nC/5qY/13RLT/hPm/qc6cMP8LYHuus8fbr86Oxler/76CkSb3LuB
+R8VTJ4HCj6EgefGZTRC7fBhZeUgN4+9uuWnqZwu0q0MU0X8Ya/45Vf5r0t83xl/WPEoXhYoJNf8
5N24br4j4jD+/dPwPfT1L9+kiZKDZ4Hl+3ty+Q9XMLsWS7A0eHlfsR/t6j0kyE5clVfWdfLJib5+
Puwh2lPfvq+uyljf48bYwXn5337/OX55oz98jA9PZQYFkeallp9c+9RM5zHWCn9/he/xyL+70w+P
ZYXwipwzJz+tQbJLDuvbUEYdbm0w2Ihkf38Nm6iK2l01Edfk1yiib9K4+MNi+cv7xGtOQOb3ye3D
fWK1VbDeWPkptbudnLoaZWqXvP3+Vs//yF/u1HEMhwKDc97i+UP88JuO7ZQxx9v5KRfXiVEg8D2u
kxEIEn5+f6Ff3s0PFzpvcj9cSENvgeufr9RdYd3d1q//eIlfPqDnTFHKtlB/MsH8fI0la6qN0vHi
dPVaHxCyHrUnCIp570RduAVGgHc4wBMeTcc0rAIir/4Pe2eyHLeWXdF/8RwVaC+AgSdIZMuezCRF
TRCiKKIHLvrm672gcthiUiaj7KknFa/04gmJ7uLcc/Ze27sbdtFBvdj9L74xFPQgF10NldT5thUM
NDXBnCcPZtlcG0l+PTI8+Px6khB0fucc8PtLThRFG0q7s3VNlF0MSSdtHmDC2r+aWekftARYp1ca
Bp0/hi7jc19Z85sch+zbNFvtjyY1spM0yYkQBG/dx8y+D7VBwjY0K1gsHs704KczVhWr41zmpIYm
bXXVMSd8G0Nt+tmLHJulkFl0NaAdhR4za/C2UMHSL0Y0ryD41RuiQCudWPosU4o7rATqlS4geIGS
mw3cv/lYwjPKJIrPSp3QDbpuMzaeG2vFdVCPWc6IZjbvZ2iwV06j4L2fEWIYTGvJjvGcrLbJFAUq
kXtxrQMUMbGlIV7vRivwWjMgux6vVvltctSx5B/BCnpJrsDJZuLsvH1+E5Z14N3bo6lgslGaqbw+
kPXOXlGYNbKI46R/IOT0epL3pWm9uUhJh+iab8G/+g0hsZbNgGaBneRb7JwtSjPO5mgA2MjBVOzU
KLjqLxYDc6lL3p2PDhSQSR+0SxLB0eW9f4FUaephTpv36GQG92cinulZOIPxWk7BwriDu3mvYN3v
PWtE+OCJzLIPNVr2tzxOw9vOrSip8KBivMeTntWnLuwbhPmjaT8GDOMrT9Wd8jVw9PxWGUf51nZC
fdWbufs+5fqA2SfojRi40diMq7xziFdT5w5RSpFY6b2okOt7WokonhHSSPvc0vM7J3URC0WOEa3s
pGIyjeS0QBRBnGDh1aksrkIG3JmX5VpqbceYbTAjwyz+Mlr448Wj8yfYOcFT/d3Re3/xbID3CMn7
+Kg4crpSHfzuqoa9qEPRu2Ccs/a7sBvl4ASlCnstNO7DIvwZDtWwjlxRbj9/NH8z8N/fS2r5JZOM
PZZNsMFZyWHL0oUPVqbHFEr9psq10B+DwNkpkyrXZauFF2jaU4z7tvFQM9z3uskoT4aaMMMaTaY1
DWrD69oKxkPQSPyoZaY8uDKMNi4qMNpwg/0QYBdQhqm8YlDebVTAXUSfWtOBFan0cYjMV31muwgc
QGKZCQOpz8/R+rDbZ2Ns0K2DqMkej03y+0s+ENkHU0FTjwCUlkWgNNu33unx1qHQ0S/ikul+Lvt5
b2i1gsIPgdfdYCDu3tVqW9zA8dGPhTPVPzoxT7eAxaJHvivascEon8MM0pgq4AmWt22e81WcKAkM
jCd9qR2nZMAvF6fUcXbepSjka4284SpA6tK5ofNLQ5L0LaqbGtFQUcS/+jIK5UrAlVFXoJOr7EYR
KZlnsYovlDH7HP6SQek+KWni3kbIGhESJD2CLYAI6Te9j6uf06gEg6dJqT5WdDAfGDe3Vzr2ddPr
hav4Acw77MKfX+QPPVgeaDjT1K8kTFrgS84u8mSLuAr6wT12jRu6PmAEcu8bN0DM3UBSPXZTOoFP
iLBYeTMm4QKPe+OY23mo024VTEH3+Pkv+lBKQNxHkmeR/CDsBV3+/q7PKRm7TMDTI+Eh7o4PheW3
hW3ffn6Us6hwanbdJQmIUoIOHf97vvsBwxrDzsmLYxBIzauGTlwG+Ex9Gaq7FJ/bKnfXOSbILbae
lg9mO94scaLYkKYghltm3Ta8g5vPf9Vfzh2ThW1y5tYiqT7bpZdtGFm5QUh3QebFpm5LCwwScX2f
H+VjJcW8AjE0K5mgj8uR3l/iPG20SCBzI9W7bi4ioQbXOFEJ+Vm2y3JKH9qyyi+10DbXA2AfNKuI
ivIQYV5nQhWYOliElTGjFMtQZw6Bmu80VTGwCqb3TrNoUocx3wkRADFsimiHJ0BetBbaGCdJmTHa
Otb1PohXTcAs8/OT+1A4LefGF1ujgUybwz17fBAjWpXdVOVxQG/iN9gpkIeotHZTK/piEV7W2Hdr
MIfi4tFM4ylimnC2Brczj6lZzeXRES161CARDExVFzGlQTs5K2wQkITgogt2V1JO9f7zM/3wsCyH
d1XmQBa8Z8YZ7++iEFkZTKKVR0pCBZM8lFM1irsvBkL6hw8fh2GwsFQmQqNZeVYFSRmrjVxCreXc
oVxtF3xhOqPxTCsRoa+P243JDvk+hIzAF15DaZloq14zlR1RZdMh76YcFkKqHbJ28Xunsf0WY1Nf
4WQfGYWOtKWzHCKto4b6Brnr6H9+nZY7fnabAIJpdNc0sgi035lPf+xNkNESqxH31dEdO6A9FvZA
tvA4BRrrAU5j5OlK+8VF+zBhYBvNPvqfh3Xs81hgXDER3+0Zj5piGZ4ea8EOVayxHrSRa6Qw1WV9
ZaOZZtoXj//fTpaYBxIn8KfSADu7W63u9npYzfXRTZnEO0HrgCOe0YkANMRpqprdQ+no8ouj/uVR
5NrSbmPsxdkay0v5xyVW69xUG82ojwkSstU0ErJpTpH1xbr18dVmI8vGzwXZThUrzpYtFJrEyvBw
HbHkJVino5e2Xb5HQxr8y48Mwk3uIXwH3i/bWs73j/PB3N4v2DHjGBa8Wq6bBGu+9TPIplysBDlJ
6MKN8IuH5jcE/v2DyiO6BJQaVJhscc+WLj10OlUMSHSSeCzXpmLtmx6UJGxAX7TDoXWdCy3qjjVI
vzZwQJf11n0bmBIdQ/RF7fXxhrKvpR2t/36O0ey9vwC10ZixIUblGLWMlLTEfhvjrvziKi/P4tn5
MufjmbE0YgeZk70/SGaoeYMRPzzVduWuBUoZr9RDkEUlUsae3KEv1uvfA5X3ByQOYhnGs6/D5HQe
9wmg1lFUq7WPTSy+l5WxxZ6Rkn8a3Y3EyaMKa+j3FICe4iLVsOromzStvnhVPp40sRe8oJipHBoy
50UtDSG2nIawj0bhWlgjp/kwUZ7Qj0cNhrBI/eIr8dcCj6TsZceH/EB3zlYEfOc2r5IB5y9WJw3v
pa4/F6gYbht9TjDSMEy5N6fZBQiDCXNeKSC3UA/HmfkK1sr4qpH5cYZHwemy+SS1m9tA+fn+rvdg
9eQ4Ju4xFVO7aaqqWVfUW6RNYqW86mrbvKERplzkUTJfwaAsPYnh6unzb8LH55t5Kd9sG7/nEpNw
9qrlVTZiTJHuUYyxi5yMALE5094+P8jv7ML3zxvDbB0xhSDOwqJCeH+qEyC6LA7MnHR02dM36HOe
biw4O1nPMP2srG/3KuEH5rY1O3NYYUYFVYOsuGSWGiNrQzHev6jSxb1iRtEY+o45uNlKxnAawV/L
GxU7KfLxOv0257a9AIwkPe5IwzXrgeJ2btkiFk8yqgfAYLWoXX/QR4RF1pjeJmyNbnTweCp88alj
G67E/V7vEnIXsjRQHtnI68UqiRv3GeAbnClXs3GjlJaA06eklQKsftYBMsFV82rkf4rXRAESqy6Q
XegXaoK4ukliY/Jk6ro3EJWTEdqMUARksfKevEf19fNL/pen3SY7lUcamqHJRT+75BF4hKavWnkK
XavbVK4qVy6h1RkCSMdYmYmbr6wgIyMhSVAxT/0mBONwqgAOf/Gef3zCHJpAPOHMKaFELuKkPz8h
ZQWRW2oyOal2Fl5MIpQeKo76qyXtwx6ZsSH7f6JEEetwP87ebhVhs7Y41k9DaCe7KgYGHNoCzpOW
pHQJoaYHTtys4w4XNZmhtseD1vifX/SPS5rDJw81DdIkjV+xXIo/vpZlkAlzLkV8Ut3avWKYPZ6G
sVav89I9GpCz6i/qgL8cj545TlRsqpRY54WvJK4oLWEFnfJUU3wlCvvdrC/fQ0sdN1YYfTWN+yiw
oBpQHbZjLNiLjOtstaDRoIxNzL0cyxwjZNP2qw5Oz3pJ/Vo1RQVbeh54+dwSBbhws00JasJXAL1h
fCqhe9tx8TCMJEJGoMD8hK3LF3OwjwXn8gv5mrCfY/d4fkkK0446+nPJydG4BVbtIqfi8ChER3PX
pvO4GvuuOsF8/Jc7/1wbbjpKJ7bsKOfOH8DKqhKy45ITjbNoN1DqbuhvfjXw/8unm8MQPOOwD6H6
O59OiUgd4b2A7Y5tmmkCf8CGKem0sWhYbMMuNjaytw0vTUW9mPixKISJjUVfNfwB5cYXT/xyw98v
7Oy6bMQbtP/R3Nhnq0yljVWtFEV6inP3ZkynN+GURxGEz4GdXDdl//L5C/ax8KUaJRMayzMt7Q/D
e4cvJWC7Mj0NsyUvCCuy7hVn/kYjVfvixD5uaZE/soF2SDmjN3AeWdcCVsnzRi9O1ux+T0O1vXUB
BlwngzmtcCBjPgqMYZ9DCoSZEosvqs6/nCf7FjoSjqu5liPOniUHtEuMW7A82bOtHvKaRqSEBIZa
1/pKe4hq+sM9dFUCcOGIwKJa8sXfr1pklwBBdIP6JHlF5U7tY1g9izmSoK4GfjTSdLkqCyS+8wJv
3gbKYo+tuqT8gRw+6S7sIMvy7QCtJvflLPPUAwBiPWhOFd5OmoIOHzqlvjFESWiMHg/1EUBSue6J
sTDWillk1yLmTvh6LdQfGjS8tySjY9JrsjYPIuyiH0ATWunFqs3O2s4pl6DndEXAu0xF4Ie1Ez+7
JckbW+IUzdPA3vzF0TuCiB1cprdjN5kv0IjceDXxgq5zgWd91Wb2cGnIAtsChcZ0H+D0XJDArnrv
FolxzNjsdJ6bBdWpCVW4jLyOfrTo2A5Y+/CpWJxa41VgnTvPsCRU737I7IemtKor2+osZxMlTYSz
vNMD4wqyaQ4JkEbIbpLcBvj13GIMgBU+3a7TDyH91mNZKcEb2/B0YJrQqWT3VEr/DYMiM6fZSrN1
VxIaiX4OVPUqLkr+REUyswC1F2kB7PNI3RI7PMhVWLZRt1KngYJmbqeIMrckS9VVGDZxFxhS4EOf
5ps6TJXnymnVdgVJoyfHxQat4zFomhwfYLHOvMcyKgsPaBOh/67wCvs0wlLibAL5BGoRFyGRAhPL
O/dN3CpVydRGNgnks8JVCU5wXJkWfmNEgtyfSGQIu/u6eGKlhmyETTezPafXlHZd0hGDUztU00VQ
hO5LTFv5JejN/GqawggYqVuXYm2BRK08FYcHBl5MdrHfmVa8j91OQWaam/GJb4SOKx4jFLtGAM7X
IBm1gtCTkh0yD0bxnM0kCpHlNu/VEfwvS4B1CGslPs6uRsq4FWP7mk0LpFoUzBPpK+M1Lx8sANGk
2Fxt5hGFD8k5hdmW1/G9y0jvQVcjgqJwPYWHaC5gIGO1/JHQyBUrfR5zZ5dAVcG/qMCcgmUJ77jR
ivyXgw0MFgJd/mPtQvfyVCeM7lpevOcOs+Kz7JzqVmmn7FfXZdllbYoYmXBoluD1K931FdGEL1Xb
hE+MLBfnuCzU2xlRc+k1TXwyBzPdalkFArI2kPKt2P3lj3aJPagSU7R1KknCuakPkUOHRF3SXRo5
PZYTPQUuUTqLFUHs2BdC6JWHyYXM7I3UNU9JI6v7MtXV71VTw+LFL1TfV3VtN17dUKRjRumtK7eN
AfxAX4420hRKsU5ac11PbXoigaW/llo8LHS3sJU3sTZriWchLeMIYoi/w60RN+FchC9FDITQsxVh
ZAeoUMuNhj5TOOJbwDQc37alaLRClHn8zhSVzgGQUukNABLxE2WZcGmoaWXlB0qKASLER/hakWFy
0Y+JvnOagcswEfOSQm32hz5WL9NBFa9R7Sws4LIznlQDMB63gycvpPVnrUelbyLcIKXxGPPvGiIj
CcbAnS264zxS5h/hhWvYMFp3fh21VLvpHDd7DXWwQAtvXj64YWYf1aCZX2xrNJn76YB82gKv8hQC
RQ9No6BRXMn5rbcEsA28I4m7d9V82qVm0LwKpie+mUMq11EDPIVmKohymgkCISTHMa5gizkT+vGg
OuSp2QLKDRfQbetoWFJHfKztSieM403vq+CWam14CANlesy1ajoQUgTrHe43fJ6RLiHNrKiafgHl
mLl8VQcPZLRY9WWJ425lIwrilgUZvBDApmCDqV+S0Ddnnj3WuBiwB+tkclc4aXypQtTVfO5d4Xix
05pPtWYF0xdNpI+CKDYcNGmpyBGUsgE6q1VNM010t9Pqkw5XDGzfJO6G1vyxRJheW25F9Gtdkr5W
FfE2MeDFA3Ia8aXaGajthPsgbFiSVWtcmkPP8p0Bl5aNjQnNDvVrvBT9Fpestu07ktMGE59aO4by
nu5FeDDpsn5Rj3ysCJaOBdmWrqsu9JmzFnvCKjtOrkWoK7knXjqBVowjBcteDsT48yJr2aW8r+n+
PNSHIsvVSxXNoF2fpi6CRx8Plu/OxIx8fpS/nBCZUCj2dbpeNNWXX/HHXmlUzWgq4IqcAkX+GHq3
uwkdB5Oholhvnx/pL+eDQAUVPZMuhLLngxCJLLsLY1Ge6hZC40iTExuymX2xAf3LUaigloKcYorO
51klHAdQGgRkmFM0ssS2WcC3W4AE/vxcPm5vXEulAHZpaf/22by/am3SKlqVTtUpEE1+CBewXuk4
mc+CFHhJprh+N/TTrgsJUPn8yL87nWePhYtkli089ahmngvv6lEYaThl3SmlZZSQr6Xru8gswnXa
Qez1wRI44EODFsvrOE0UaoSHkJWgGLlcZUXT3EBHSK90M8FQPxClelBTe/5BBdfsJ7ux+00xaAvS
RNPrcpvlVnvjUnzYPhekQywz1PEpC1sgpLrOrqrRbN4DBkpZtI2ckfDcoW8yMNEjExp8y1p414lM
9F9c//O7LFRdWAhg6FCwgnEt3l9/LPQBM/O+ekz5UqzKzoxXskUG8vm1/r2J+/NacwQeVjhR4F7I
WT5/ZGfIo+2kB/1j6X33IV56s4cpdSW9t2gNSPX/erizZ1fArIU2y+Ego3r6ilJtBcVlzVrOsZL1
QfXizednuGxgzk+QsQLSDcF7yWP1/jpSCKDuwdb+KCRZOQaVuSGTlyztfhFG8kXj9+M9ow3wx7H0
98cKEjdrdFMB0pNfmtZPEBifn8tvZcBnJ7NssP5YynTwsyOZHf3jhethlfRav1v3/v4FVLnneNrq
Plpt+bT4+ibyUl/1vjBonLcE2L2pDJzwwS3XU/2gmMIKUoIVMcZTWkGpWwVpCXKDDBKH+KxUbw5a
KpGUySJp1TUweF0iJpvsCHGTmplr9gzWTUaSSPHFJlY7W6x+/y7Wd2phxqU2bbH310Wt4wgDZzWd
gjwev3UaLtvUYitLvNC87yozWBX43e/tMjaYJbntvi31wAuBHIMal2LTuXV9Q/bf3QD0/7Kd6tYn
5CuE3ABe6fN7ePaM/P6phvl7zqXhmNDOioWZ/SVVnRhP7gx2sCPiBzkeW8vPj3L21PMqazQmF7Wk
i9tPuGdPYmOSRZX3nX0iVNq5I7CUsDDZdGATHXsXiEH+88X+f4/rvy1Wwv+Z7Lf6kb+Ur+/Rfst/
8Z/mVtX+x2I1svhS05MWDs/t8Ktp//3fuPX/oE/tsigZMC1/G8j+k+2nmf+glFzqiEXv6lBV/pe3
VVP/YfLeMWlmfsL0zrb/Fbbf2Wpi81bSSoNNy2BuGc+JpXD6czUhmRP0ZN/ucICH+8AWcPIAUq5s
POQXIM0HKNhWCBd/yHatxZ/ZQA7umjZxHkaEO2iThuwWgaK+RmbZ/FSqTNkxTsmJk2jCwYuzJllX
5MzdkYiGQH/sj7NtQkSuzeyLhff3nPa/F8bfp8IED0PwMn/A9Hf2VnVUdYtzrNlVbh+/YtUXm0kj
k8oYABcOIP/XGZmWQO6xfBmc9beSMnetZsK+g4cbb8dJ1a4n0laundzYmWENJlRv5DO7bG0dB8q8
rY043jHRL1amUdbPQ6MOKHuteFsmAgDrCKZK7cr4i73F2YD6nyeGLovbxCNkIDt5f4+6uqzUJLTr
XW0nuc/MJP+B731cQ2EtoWlP5T7Q1XqrsvChiGyiTdILwPgI7Q6Cfe22S8JOfrG4LBfz/cVmmsrz
ggFjMVGdOywzlY3IGGkA6ZYj1MzqfbiFzdXgDvpmFh10VhDK2z/eq9t//vV/Jsf/5aD49tAl4pKG
eHlu+Gh1Wjg2vLcdupXqOW4lA6Z41mCzEi0jbkH9dDuCsZ2vLHx/O65YxokuOkXa/WfboQAQbFjM
HJeuBk+2NZeHQSlPyVjzdKhl8z1Wsi/E7mxZl6rkvy8xjhZ2KhobMHNxhSNqWb4if7yaKMLNAtTI
sLOL8VCaaVOvnDBUD1Mcta9dmxg/7TrQnoegLDctCb7wonR5rGszuoThbwqIZjQSDW0wO5wOjTgp
NPq9Mu6CyZsTyPFbKbnFdNfm2Dn1EfG2FhyEh9hR2cK3zc9GRONFEQl6+VGd+tZMalhFMmG2gaHY
PHW4Qduhr/ZjnU3bOIkQ9ZnOvDaSdvieTXa5TUVo/0A+6dWS5mOamyHMlUYPH1toj9Dp8t661Avp
HNW2olhppWMhN7WdxlNmKdcNKp5DlM/L/zdCoj1QKCCKDInHAGFkjduS9ewCz372g7fOXBvopXw6
Qox3WxFNyi6b+uG7oqeN5UNKrcklzO3qvtDy4ocWAdb1uICjSWdTRCFBB2N84/Zo7OpuZDtATM1R
kYaxhBVFFxgtKoaqaBanME28IB9BVOSBfZiSILtQo7mj9wFBAGBeK/TX0q7IBiyyetfgUkrWUpe7
IAjqp1Stv5kVnQTyzBdddYB0+q4iGfQpqNLuiNLfuShro9zRFKZz6TS8uQaEQgDeenTXd9HQwF1m
C7NSuQoN/PAVRDXgNVNb/CJrRV6ZKPe3wKmN1dxx/23mCgfIxu1NExewU3LHpP3XlgkpN7NV0tVO
NZqRkNNfK5mYx0DJrQuXOBC/GWFd2lFNKkUm0ssEkuGwJt0bnWGkpccyTDr6nQ27Hh2zNbbgwviu
tbF+OZi6j6gXUKEV2uu5Vm57Jke7VkG6zCRsi5DZui2slr662U8HHc4lfZzmAPPwZUrF5ZxVr0yr
0USH2Q0iu3m7eDLWvdIAAhr68p7UjnwTWvDyy9nkrG2Hvu7wYJDiHG6kAxKLT0BN3yItjux3wgcS
bqNbzWgqKK1Of1V0kp6fjCNgpXPr+NzmaGPnZtl6UxR0gVelZgNWM5ju2ECa10HSjbclgfQb7lF7
FJFig1HiZtCxz8sx5l7yDs6mW3I33CnYh51oifeanaW5STJ7nRKiYulkkVnjrDzYs2q8oMVYsrIy
7TZslOGmNg2GuBKum71kS3WhnLZGnZSCHroGkSmQ9kYnE+RGDLUJxK94DXol8vU0gnHGCnEzmVL5
XuhkdvYpvCKn6GPA0ara+GyQf9nNBFGrS7/HbkW0V3HbBu3ebBDNU1E/VWp101TKoz46kw8tsvOR
OEbHPKurQ1JU7YNbTysCGIufFanQOzXng7SrM9sBjggN71efhdVN19nw1C0Sla6I7qnFSrNruTM6
O/aCgtgZYnq9ookPUwGdtZPpJpPFbYIqh0wdhbCUOJ/HB5IxiaKsGt6ephekms3WRteT7FvVu1Cs
Be9m40mR08RvRnLYFq2GGq8gMCo+XBiDrrM+FgBU+TatWfXKVT4hhWV2Md7/Fkno9EU9XiBwO2qH
484sgsskdlBX1qZ7qLuAJGdErvPTqIHEQY/10jNUv+0tJxe7vjFU/tbWOrRDdKHrAKRWWkVqkhKH
dNrnzL3utaS9a+IMOqkTkDTetYQtkMQ7FtaJkMXxFkL+pa7UC4xfmW4GtRoPpl28tP03kludVaeZ
F0i/kf/C4IrfGJccm9wwAKDpYusQQLCGBm2tcj62fljJGzl0pMlWpXU05BgQblfoK1ISrx22aSvN
yaKN3mv5FpvG/HMqy/xGGB1gTPK4YLYGaZGT+55N1YquWQGusRP2JqD42zk1o9z1pFXtderMoe/W
DCy2EvneIWaQDiSZKizHOEKatk/gS+ux+07uR07xpKK5vyTPON2Z8CoJ62vo0Eb2BesapE6Sn0AG
FkR/0g4Gb7pEIy6Y0DW3snyqAlXcgZXK14aVz2sI83brOYpbo3pRATSlVrePel76Llg7ySgPQzk1
l1pvEhs75+b1jDp32xAnVbbzUz51R7ftjZ0xFQfm8XyF5ryTSCXzuPQTDQ9DKJNNYlXxOmlidSUg
8HI7FCjObQk/DPuVL6pJ2bs9385Wg9qPqDUFEanfSlcC20we4XXd5a1it9Cx8+iacWW4zTHP7qIO
lWTiavdJoxKdBSBpM1V8t1bsf5+KBqoM+FTuEkR8ShaLDv86hDH4M0uzbhUbcXPvqEp+T8G6NBNB
csRpsAWgYd3ps0tSgd3gY2hhVRUgW0kA7+W+1KV7mfRVDjxrJAfeWUKwIrFQhdWVbRgxfGz9McyL
/aAgwZuesfGOHiOPjTRIWBkcyxdzAO1UMy3PlO1FOI1vXRDfpTkiscomDc/OEPIGjrOyDKV7yaEt
0X8UxDI4Worbg+Vo6l4GGSh73BP9umsOpktEW5U5L3oJwJB+1rA3FEhvkaisC5bb4UJ2WoccbVdZ
b0EuxG0pqv6Y8zX1E6B9BECGwWXIgJdfWsRepQ/p2mmMO3VQxDcyKEpfIRBhRz4BRFTZJtdZWoGN
TBnbKPxROvaGZ0wgTZnrKdvC0YpdHDE9iRT3VjrKt7IOtyIi3DTrk4sK91zc07FtwGGRDGOzd866
ahOOQK+iRG994ZaasUrsaPjedoO+lgGRBrNhn+K0PrZl6+uy/mHrPRXJPL/KoX4gPye8c8IMTJ5u
XWEgatY9zdSg1KRfOWV1lddgzfu8DleVlvEXINImUkXDiBHaO3emv4k1Q2dSSFpHJFt7T/5N9EPN
gnYTqGNDf5S2bDWIR0NLn7m4K2IXxGOmGgyLqZFqB4tLmmf6CkhzwtI6tFeg8X6EVFeYB6W1Iu7j
PhXWSc9HlXjBrLkRllJuJnV8agUp7oEe3TTakK0G5GzbWMi3PtQ2LjNzUrOigxLIC3VJaGL+qgiK
LLie3Kd9g+GmUa1D4sTfVLW4q81xgBrvJJ5tD3T8pjDfGIP73MJO1xSSu9DqWatZlH4sp5dJlJBz
7XFjq9ScQ/sEQOYKscrB5E3fdkVkE7SLgULPRevH7nRLXH166aZGD3iwdL8njfvQuE31bcygjJb2
c61I5oiFvUNW7N7prtwCDmc+ZmmPmogk8wBrVfexeSpVMsejvp03sxsNvEIInk1k3CSL5bVf6lO/
dzs7IrFKkIFMyNVjUGUXqTTDlQYaY9YCb+6BGMvOtkn8aw2yHtxX0iV7b1Br0uX0F91V1AviUYCC
O4W+de1xzyR2vkpI5vaxco6IAJQxPNQZ2FQxpTdo2/qLfhrNO6vVbpY80220ONOp6Bm52+a95Obv
iXWrtno770U+3MbBi53Gg88bsEmXaXSoRaBx1QBJo8M2AEYnj9gcT3dKLcFuYvv01ZYG+BjaK4QN
a1dVDkVntHsdaDof1qtsbMiS0IxD58TOVpM/zUxHrx1QEA1EKN6mvYmXqylvo7Fc8WFZoXaIf1Rc
GJ8Jo2dUk/vQseFYF30d70orib8j6Of9rWsfeSZo16LWgm01vY1uRO7aY8ueIcRDkikIuVaNg2S5
F/31HHXOSsqaslDSy5e/iuJWG+YrWibxBtxpfUBQSfJgROprP47ishSXY5mK7aBQgJEC5/Jgat11
Wrtrd2R6rJrS8FpFiaItES3ayoq0cFMypvxhJsRAFnVrrHiylesIv66nTNqeEdm6oV5Buly4D1QU
Szyu8BkCxveFWysE19IJfS70hsFlDmlPJxIFVw+E5X2iC9SeofaQ2gzXO4MJfTVqj3QfUK2pG31o
8zUaw5/dYBwIK8u+aXV+AbdL7GKD172hhinUrHut3W5vT2T5njQnIizrxeomH3OMCt26MAGkT9cy
HPOloGeubuAuLSby3FNKOAXZcyZZ0eQtYUwMuIU81POF6JvTyExkEOwHlf40ucGFNutw8wTfSDs6
Yo9zNjLvtlZV+iaiom3AdI0Z/TyQ4BIpOgNbApZJM1SIgiycwSOn1V2HwDBWSUIgg11U+Q3CCfLn
o/66Se6DgWUvHPw+Gn0FT7Pu7iY3+1mqA2MWsgAC42Fwq8cZUXTrHJKsSK5AqJN/c68n0u/GH9Lk
RLA0klUwEv3jaA9NRkhMP5EUXiUUG8AjJUMkak4rVB9ZO2skeoc0EdwOa9e6+Z7NLODGU2XnZE6K
kNLXuQ3iU58CDJ17cy+6+h4ozcHM673i9lstOfKS6X6VP821Xe7jyfgRmtE1AYIlEOe1I7+LUdV2
jvEsE8vy+jrdCsRBpBjrPJ2vTdc0T6BoxXUQBnuT6M1VC8HCGRL5oAzZA8sf/O6C/Me9HYROuobT
DNk6diY2G20HM6Gzc4Ji9JSFwaVnNfcBeNpUvsU5rtNkCq6IPmTjU6sbFG7jKYOmPptky6oE8qjj
AM6zcxDrgD+YPV0n5AAUuXFpuYF9h1MmAg4vIpeQmZL9i1bKywFNzCtm5cxPkFntITGHl2QX+8Es
8kPelwzmGwSpPlIM3bdbR64zndp3zMd2VeYx8T62CkjfHG4KU3Vuwiod/DhqXq1BYYoQciuwtg3b
xDYCv+1OzdwQ85PTojdrJb0w2W08D0gKeJ0nR3rOoPXfssxQdhpQ7od8/FZBynpWy4jgakGlEHQa
PSizbu+YoEnqYnicaiLSldLgW06TUQUenJrGHuWjejEsad9JF9wY0UCRiEfQvq+j3NrnZXOpszW8
49WvgeimxA6rCshyK2r3mEbCq2qW2cawo++Jns8PuTske6Qp813usGPHzWDpP9AbOCWPURWlbL2G
iVyS/6DuPHsjx/L9/FUu/NocMAfANnCZKpeqlKU3hKRWM+fMT++H2tk7072zM7swDNjA7AKdVFIV
yXPO/xceQf6IGUBoQCtOYxdvhLkmahpZaJKqNlo416oCx19QF3ei2Ot7WZgBTOjpzJJR0OpijCGU
giF0jKA90fYS4raRmouxEK6VUgU0iKzwxDDF5BzGqnWQAzndSvq0G4NaQpgyqm1vLNU1Fvgmkavo
4uxEvYvpAJyGt4743SZeWU6SnmgckOsi3dWcv/20rV+lKQX1NkT1IaDn4Khooe7FWtV/zmZrfcjV
gPw0Dxl7vk7NVAcvlHqkYh1kKJjFnubXebwQBMXXq8oxZiVpZisgl5L5HEPgZQVFt7kkytTgNJGq
J7lcxPs5lyYsvE2UnRVZyC+xrOdvVlEsrhjDs8Rrrl7iVMz2MHEVjG+GEZxTUkQKUK48ZjUOgGeU
sXBXFel4MFpL5uBRTtYWhRWuSllrwAhKns3YrGbOTD3cgZ5kt5vl8bvRdIbL9TicE0V+MpTGeMs5
59umkqqfokj9kk2//3BmlLsGlYWh2LHrgJjIDHRk3cs0njeimr/Bf2IMs4y+MSBPwUsuQdXxdrxS
0CtbTqlIMHQWjgl5Nd415fisAQ+ROq1wiN/TaGj2TQ9GLa0phq2mp9gswpNiJoov9DLMt1nxy6jJ
ngKlg8vOJpO3/zFUwsbLCcCBlbBgIQ79IReXZEtZBPvpNNJ2CFBBtsuHrvYpTU42BCSAF8vLVQci
FTHikK5L0j72GB7O7GjnayNZSe/RSH47cP7zB4prz0uiWJvaiowTENxDWhD3GwA579bjuKvNi3rD
RTp7kR4LIK+waV6sKLXOEuuzOBuzAwpLe+dTpGnbSF85gUeSUzfZgKNRMtIzpfjKRmrC5GzU7FCZ
dM6aLYHelN0wUpx6mAENdV27VeK+uDRDJtxCUlefWAfquxHbHvCPmCH13Cr0oQ8jxXm2LiZ5Zpfw
1r7NltginrbqeKwsKwU0A1iHQ476OY3ieKeSzNqHKkZD1RIMAiPQeNW4JvcvNOJRhHd2O46wYKQ0
VXzqJjQOykEOV9jSsPcx7fOzNj3lywLzVCTSZRemwVCS1SarN22bzLtEXaZvWABhMQ+MeiGpjvlr
HLDTH4pQ2gtLlD6mQ9g9fE30SVB0D/UyQruIrOaJ/DKtxWrLYEMq+zNKaw8xrU5Kl5mAdhBUUfDF
eR5egimNDyqxI5/z0qkz8+qlXzrprFcDNhIIZQGOrlx7MsuscdVREC7BJOSeGA5UVhiBeeJAXSUu
ZvfuKAnZ3Hh80KVsV3m3fDRqyjyezgKKJGgXOYypqV1qiqjoEaFknypoZj94JU51HBaHiDo75k2J
+tpac3bCUlbA7FNU4i5hMX7kaRL4Eo7nBz0bof/NoXnFCowXTark4zIVuOGwfwxnJFTmCUuTM5pd
ZDxhUHnK7sHq0nyTaXHb2l0ijhtaRXJ29BTzfAoCRwg2Xxk7z6g6z0SAPma4UPj35mLhHjNuo3BG
NhH06gJiUt3UhfA+xc1qUSsV7cD8VTnXs9T4oVKGeBiWJvEWLTK+S7hVvARDbOHWiVhecuoxTtXM
Vpi9Qvo+NdzJcZub16qV5N3Y6vK7hMa8E0ZJ82ZVXvxJo6ZdK1iEZ2uqXgjRSmcxmVTUna6HfWSq
bphX3QP87OCI+fcmMbrsQQEme8zBMRlOIIplZvdaZl4zrHC7oO6LjWYUvEkM8spdqlu5pwZF7sfV
GMETnysGwRz1H3pwNw3E7iVAVenV8DQqag5xUFDv8pbldtP1dFhTjMOnbMrZAjdA6bdWmy3OkIzG
B5K5hJPX6KqXagaCfokxEGm2YOSGL8KwuQYGtRKM+YvqBQ6Y6U2NYr7hSyfMPnFk2ARRYZk8uwfd
B2umnQtg0w/qWi7ihsRcbUHtpF0fzbC7sHl5kSrNW2z78wPrOtt5IJYz6JlEPH2pTv+Wrv3HDDoQ
ah+AgZo4jLr/dYo/mrItv3f/Y/3Kv/3+Clr77Vf/jHj3w7+Bzvbrd+e+dW8//MIruribr/1nM99+
tn3W/R3ktv7Nf/UP/+Pz66vcz9Xn//xvHyVv4/rVwrgsfo+nQwr+56L3fy6fzftbnLz9/E/+pnpr
4i8mhc304/JJ0bC4xtv/pnqr6i9kLTVt9SyL1DqvZc+/Ee2YO+pIXhaWtr9J5b8R7RQ0auRurB2I
5qb676jeP/ovaHYiX0v2EqMmuR08Iz/5qnCtRwl2QxHWRxlvBWKPL0Kv5n9RLfRl4/hNwPt6GdCf
a1smaTHCcT85dQproPKMGKSHj9fAdqZWmNgZ+ukyLNFZUb+N8lhth0Ym9kAm4KInYbVFjknf9Cnr
TvoC3IsSjpiTjIaItoAfoNQdf+3vPrg/UFV/NM58fZsojXwfJLvW3pdV/fydzhirCPcyznZyVWq7
mRjNtvCsrPBA38RnGGXBCXDL4HYEa//mGOGCDz/LP3jln5Xt9YOg7pqPXKGKmkTDTy8NR3mMZzOV
PZa37BbkZ/fU5aPo8WBp/KU3gJOVXfCWA8i2s0jsnkpSkk9qn7DnhbQnZcP8Fy6CP7g0NHIpXGpr
PSNGpx/fjCSSKD7tCwmqlNxr9iSI6BQcCj/+/D3/o5ehlhh5l+tvveZ/fJm6lbpcbQHDlhEHSgTT
2tG0sfkL39sfvgr3C+6StX7258xvqVdFrZo1PPdsYQwfVcAXxOD9z3+Un8Tx9TNcHW+iSHkKvWw/
1wMgW46mlcYz7gqCJ4ShZ3ceivJWbnWGvUvQORnQgL9we63vzw+3Fk8QfOC0EazeRUwsP75/stIG
RQddevV1vDJliS8LlFU7sYrwVS6LwCbRCxwoV8ihDqX2+Oc/8j+8r+urryUuJu/qGvD+8dWXRYim
tgZSoA/ZhfihccHO2N/++YtQI/3zD0kZgMGXx+4grdbMn54fYSWN3I2rgaYUZndcwQUJ69s+/aIZ
0DCXvAQr4kCVi+bUrNiDRc5VnjFL5mZ9+2mtXITqC5HAJgNcAo6w8TXsJW1L4mk8RCtXgTle4qdf
sAVMtp7xBWBITVgvhbRiGYKV0ABInAOisHIbzC+EA/VsMSPsFeyQkqvQkbjE/qFv5thjUCYf2kbL
rpNSA2hBvH5JCY5ukpUaEaz8CKNWyUysTIkBPded+ZhnJ+Wh7CW4mvfqyqHIvogUgA59baVUKOAq
oHZXn72WnFDGA+Z7pjJ748q3kDUpOFOBR2pEWfkX4phZe6XWIToh/izsqyFl5PzrfbTSM/BnKuQq
hBWqUa18jZB3KrfNqpJeej0ZWWaLp8HoGrAqMMediqa1Y4Ji5KCkUHBohIOPM5fNEHzuABwqlA9z
KTqflrrhCSPJ7MYrDURYMpUudRNESLbSQmj7E5hmrAgRxl9U8MCjWGix7ctbitqG51bJ4MfUMUXy
CQYYN175XnpPkX2JzZmNWr2TW+AlxooxMQjKbZpSE+q9wkfo6Jgeo7KhIV5Z9WHINNuKhzidK6K0
a5CZdkmiS+4ymsOuV/tqwypt3FYzeG0+nAtJSH9ZFMstdaG7JAn8m3DsdK8Ty2HLXFgklDQSpAru
5l64DXvIn7Uowg1hfln3iN9xWxx7TXqjCDFiE8qMVA8qdUutHTpHmPbHDtKcE2k1pPmMmRsGpn2S
CIFHgKt9NfpuS58+FtKeK4gERV70x0iBGt2P8VMmNW6bioc+lt8hnTD8UjVO++0tAzwkwjCuoF+H
1kVvzHxHPZm8Iyp4iMr0LNFx5xmGMmxVUX41k22ZlB+dkh1boX8kBQQrdO72gVg8a4yJdmbIO5ah
fHhSrg2uHBLXG6NgdjRdlnGwSENmh43We3EzLx4Myslbd6/aUtkltbsM0OW7UlOtrdAk4tbqrdBN
1aX3cQzYwdxdaRtfxXei4GmkcMhMzgwDZLdhNsBsFetdlaZiYMtN0p7Bw8mMqK1daxKRRNZdblth
kndRPQSQojlNmHq7ied+ODG9G7wiRWUGAC8gKjaZy4bbi/N8Pg0V/twkHHBbV+2wbUvlMNfjFpnr
peWssDXj4rkYiPOVE6eJpbgKhWI+WGU5XORMtF4IMDOvFrObuuisS5FrsxOPdeFKQrN4cjN802pY
XIrBt61VFz2cNkUafwv6hQYcgal+tCrV6HBkIJfwoZTVY6lN2SFIedMs6XWIER4MecYnVMyuUJjv
i1ltpVbi5M9uhQMBeZ7uruMcbqtADL3BHLm1VDX/CLV5kynGARkckc8qn6VyqZ7od/0mmGbo0aex
uPRlbtXRWM7tJHwINASRDrDgIyqJMt9w9KMjaZwVgi1EwfD/dXbXBYI/6e17MDOMgf66Ga3oVVCi
m7JsnkySjCfdADUq5GRxGYkP2qztZC1MHSudks0cM6atDbjj0hpK0PG1T/NVWrKdBGjbLwU5c5hV
rLdTtk6DTUfGnMLzoHLMyOIB3hqbtgEoVSfvSTLve6NXCFX3hA/z+W2AZWkzJeBC4SMuq/6piUKM
Li0gOss4933OOXu0YsRgDS+AUqjvqBWrYcKSdrEYPRRt8jyPHOD+fK1iJvoPaxVpFyL63JKUEbAy
/7gkwqET0zo2Ks8SBAB6WT9WCEYEG7kpNFKGDjSwDO5RpDX1OSTZpm/HZtb7naUjBHlVSlW6O5Tk
U/2JeqHbOKZi0A4mJmKM4MryfWx76y3I2E/7EgRfbxy68b4fy/Z7qNal6kiAW8VtmyEwYbrp59c5
tqJ3IV7ov27TuWODVYQBtqFeq05W0uVviioJvTcVuvZRzGy/4woUmz3mAKPdhXjJdyMT0rderXTm
ZKXZ8cLJUtUuOmfZYgMzWqw28ZS/c/nJN50gNhdRC1cMyBCFmj9HQnwpy75cnDxEhYAUiV9KypGD
9nE7jBrx4KiCDUyFKr0efZCeQ3Uyb8WqW5INfW7I+dMYTm+RMHa2YtCm+Db2GVIV6GHmy2Tsg94T
azw+bgkO3HQtFYqsPRsjCch1vN6S4qPCz4f1Vn4EWN8q3xoEmfBKs+aQ1aDLb0w1mSgoLnPtQWvx
+6AHdOkFj5jC6qINLW+mYE6mDdnUOgpgPQ2OLxOj2YpSpZwmOZE0Tt2NJilfSxxuiV0buRtnjUpD
nWxUqc0ZjCFmLkZB7qZpk59iORnAcuuNAvJPVqZujzcZBFijjDoFpWKcJH5VFVTnQoRKnyaDEbUb
Y+9NXaHDAeiuSFSmP2EuJ8DEinw+IJ5aud9o0OEMyJlwFYn70OdKb54OlbG25m1GmjW0LTkzCJhp
WoWXCGHlG5ORIXKzIKw1hyxTCcOLfsJPtc141BOfLhDzJ5hgZpbhPEAvV42NXOci7fPiWEHno4tu
ZsQU4g7if8MrxY2yfohzCn+9XmbZOOuLkKdHQ0OEByKtFi2VbOaAkcEpxKkJdlwWZeoOLZMyFyN1
vKOgclgeLXMQRtfidPpESoXQQhCtrM7YiNV9otdq406ZpExfDhPYXRQcKl6XT/1DU4g8nksjmO5w
Z6apG7EywIHURnovGUsa11qOxMwN0zBX7CllbOpUGpNLZ5lbyUOFlUPewFBETlN07H8zvFt8j7lJ
mcpMBvlOL+PuOZIk4apLy/TMlwyJFURJ+tFzcHur52x6k+dau3DJN7UzCLHWb2fZmFCfwmS4AZRa
yJDI8zF3pL6xah5QsC7RDTUsG4lFO9QwGgDDeYjiWwGevSR8GHp3iPsRGSBL2/GjjTUedELQdyyT
yDaRl2tSw9BYoJ8rxi6t25lQspmKB+BTPo9zQ3e1KkyeBMHMAkeLm572fTizRzMckzehpSPJnXSZ
5UyVJsxmYd0Kj1Jg8kbMlTQNXibVA7XkecQYC4S8vEf+7NIbQ+plZwoFtKp1m32k5Bwt2ZJw5jo1
7QCA30wLrw4mVoDIFv5zvxo7leansDVfR3K3XOoy7Yl2Z4AcLOGdUZwYWzTrtl0OiFUNeuJnTapY
zwvyXXaQ9EXu90nUq6z2i454ZxE+R9LoxWnHJsV809RmepiZzeq+JOE3Ys0uFCoDRVN7zOdEHPyh
zKuUarVk4QHWdzQ8dzpp26KdjW/ZrENOE5q5PkxLKZzHWQyeoNnK4Na5OmJP4gND2NXEKNtP1Pss
BFjCngrqGF3NnbkOxy0OL0vDNdzgI6gKdb6ZRplkQTSnwbU2OrDmnTioCTsV7hkbU+gCu7rJECyh
Di7g2vjwvvF8xXhVVRwhkSFrkdC4FatYPYeQFnxDaS/LKC3xDTXPUr1JNT0447BSTWB2KW3EtGKK
JJEL9qK2ghqTehVTjntLiynUHlejzFDWZuwS6ktR44x6vNHruXm3UAsmnvE6Bbji3C1XThzJc8Cc
HcFg0JQbVQ3kxiVBHr7rXCK7fEk4SOBxhFZijSMjFNWCoue068MK1cWUsNjJTUMS3kDIqbUv4jPn
ruZQiyO2ADGLxveorKhewHKrathAZVLeeoEZSxcm67YoF0VxKnLbLEdQOI6gCuuraQnRB9n96m6Y
OcSgWRTtW6AK4i5PTfS7XCxa08F8OHROw0/2gsl2wQbUJXXtEnSqyMXHXeQNUsbovBj5NnZzNZI8
VpIeHUNqu+BDrid0LpDRo40dd7h0Zil8WjDaEVJlDZjNlITjxixDVs6iUrRXMacPwquVPnzKefIT
yhbrofSaxhRwtZjBUh5zqdFfF2yutz36Z4MHpww5M3xx0vUvZnpoWFgKjFliaWJ+rdl80uwisy/g
+qgAgdyoU5g+0DXQjm6EnEpOhUHZDQPU5Np8wd1lrdRBVBci+ckq7SVkbakvMB6xlVl2qTpkb0rY
QrkfaSKwqQJkYaLdkZIOVIUHcpEh2yw9zTqPZwhzdblTpHwXtQLe1LSvzIo6TbPLnKVilGQzZVm8
ekaClmMhNOyyXcrbkecYF9Z6riEJfS8H43jb6b2Ct83M88vYWSP7DRZWSqIMAcV81DlCuXGcZe8R
ple8XNhGwFi3TfuYtvDGlSRRFQfXAWqSWUQDqQ9rjEJnGaLsKkOjbEGjTh0YGK0sVyYnJEh+J5rf
q0FuS362JX3qho5zzWR0rOiCMKhoGwOozA188Tq6x2CrsvNPIhQIVGPkKGE45EafaYeRtpZzyuDi
tpkKOfFk3N80CPI8i5ysVzPo6vi7K6ebsrJ2Qisw71gucFykZtjioaHV1QKCOWK0F4S+tQ16VgJb
kqvkbZpGeMZFn7XmE4ekuHUDc1qWB/pq5WKHmBPujVEKXgYy86mjsCBNa+tzMHtMLrs7jBYTzeB9
0ulPptmrJtVuS7GM+ESpgaNsAiBSMhlN63eSHDxrncpKnSvZeM16LcXRzQaix9rf0RMi193AJc0m
bqMMVi14yML1i2IMsfXVgGSdqhE8AM5UjLM26q20HngN+dT2pKTccIHQy2O/xbim8BsbDGuqAkJz
qu8IWqGw1PEYfWKSZyEccyJ8uFSiRbN19nP0OwtNH3pWq2afUVrzAJHTOoRALWfJPgpzyivULm0J
OBZx81clnD8FKZkHk/pXDJUGPbgqMuVyP27lZd2aDDkMO69VteJeVkMLKgCl3GQJSqwOZa1K95WW
S8dEnStHqjr4SXnV19iOB26XzGrNHf77addUQkUJjYziTpBBlBQvgaf8Dbf15H6dP/4tieZf01/+
v8Nrriivfy7DnN4+3sr/uPtPZot/03R23wgWrv/m1/ShpPyik+tDUVHQzA2dUeWv6UP+hEYv9BTq
8sjz/k6HkeVfZOrM1kwiNaGrevNf6UP+iNY7ThNQ73RG5IRK/y5A/TrvR7v6V+f/3BQqhZziP1TX
hekEhcCqh4OBSTawzmmpPEzK6uoC2nsJNE8eg6d+8MdDVxxTS3n53Xv0B7rDT+0Cv73uT6dUMeIx
wRNwtVEiL+wz6U4cy3MRPkiRuRVr2bnRuoZTZuXqoe62xrQ1yr0ger16W3dbCByOmJmOvmD6IAWT
FZ7FHVDqNys1eFTNrWGVGzN96VMHE/ihV1n5p/c//95lc1Wnfpt9//bN86n8XqcxrH7IkzAaDmm8
m8TPRHvPYowSnjpnTlK8aJNfVx+F9N2YzsOHpG+jkGnfRYScbE1UEl1Gi8xDdhZe4nd+RSzCLhca
/I6SfDx1wr7O74z0ISXU1eS+rOyHwMaXV7ShR/rstf6eqrML+Dnaldt2W5yKVxT4xFZ90a39ZjNv
A09zK7f1OFK7i8t9f1xsTkxe6AGFcgQncVOvuBHsd8PO7dYL2BQck6M8OxT0lMETHYCOIftydi+P
5ynaJvWOcJtenbPsgfxbjlinEDlf8M8y9H+yeLyuT0CzyGwQ9Rjm2+FGrHwz9AfFnbP9a6vb5R7n
shbfVJFd3wqKY2Br4bCGjbD0cVdCZT53s4U71h74G8o1nW9q1vvAMfRt1tzzgkNhd43ERkl3qsBP
mr1aH8f8rHaPdbFP562ibaVqSwOfpG6n4VL3N2a4ZyMqDjtl+KaXdDmxQx+2eYn/1oc6bWvzbTQG
NkXcOB3zrah61Xvk4ndTNtA4ouWknTLNZ9qjehmH0VuGxSFxeg/md/coqCd6Nu0Oj2dzYzU+/xF0
iFyJBHk91Xb8MuocxEd7eFM/cI/iaE2cAhu7bk52S1xX0l2+GheMdDsxjCcPVtWO/lEGN+a7GmUv
xQZwuN3qO2Hajnfx8yR3tHlKT1QbcbY5t8FmbsmjoMtRcJWONByRI0n52IVT3LtSecjTwJnjN122
pdBpcGC4vE+RNxmuoNmJzhzDjbItQzucg8rjwv9ZHsf4nG5UPJSP/RyzTz/r+r6zHtvBBzLpD167
UzyKmB6srbzXfMvXfNGzXD1wRHWTUtb0V8Ltqt/80R22JjJ/p4ROusTRzrT6g3CXXYJ9vYcHeaOc
tZOyL87TudgXJ+nyV8TLn9bb3+7nn1Ro0qMo5CmvxuD8sT43l+mufI3uwo3mJefmnL/Md4XXnMxz
+VcVDj8KS//1ij/TS+TZyBa6APqDdCPug73+uOzqTXQDZ+No3mj77CweMdM/mWfl/s8fWtR3/6jY
/faa6/fyu/d0yMZemiStPyiUKzgYDEHRYMqRnqwzYZSdvs/up9KOBjt/nPfSrt7q3uKnW26BfeP3
e37Px3e5a/fF0fpQ/OHYXLqbyo8PxYWtsZbhrNpGwamj/59DeewyVQ7dWrLV0Qf5Si6dyayA60bE
38qxx6lzL8IIFMAtsWUCd3b/Tm/OeKWCLZNxKtn17PaJk3iSB9/ecJibH8+lfzWQxlO/n3c4urTn
6ihvOK7U07EbrmLjiLVfdRtNZ3C9D8/WeAjaI+cpqjEzWkq/zwXhHZvtOzS875zSlt5OSlv/riMp
RXa+ya/iSQTmRDDrrb6tz9bhvt0AS4kA7zDMKp301DG5p2PO7p/ZzM8XlCQ22gIbM4eETbjjBW6W
0pZsCw0NDF+lbTha46xVeZRk+HFp6fFNeVPn+77+tHj6ltV36zltP6ARdcqjXHwPxV1jbNFIpg/5
NB6El1RwNMxeqptscp08+bYX7eZTfEeA28XfWwJCpO0+wvflZTQY27iTYOfv00W8PsZs/OmLS18p
+AtzrKlY5xmPuRwYm8AOsq1IyXJgV53HBdF+NwgwfMTn2Yu34bZ+VOqrpa7rCMg0+DPb9rAaCu3x
Sb8Vb8VrtovulefeIzHoR9yS2anc9k7DTdS53xpHdnWfpoEb68K7L408Hn36xELGUFwrsou2RNav
2ylu5qebYqudGm+xVWfx5Sv+oRGSmWLXXnrm8CI61XHwJ9+6Eb9HF/hmid04scsHZY+8fOIYO4KJ
nnXTP+oZF58tUTJrQ+84sejtDC/wY9vc8yOiT62kbdLPjOY/E7KnT/ONdA5f23TTWVdsZPb82HIf
hPdFhBJDc6WoO3PxLn5ah/q2emleuAhq/kPtTTbNwmlwa1qOSq2loxGcs0nwfBf9ovDoLaKqFKEf
NYtI3L1Gpii6kerZLjlG2/xTvoC+1vfb0q0435kcUK7iBZs+heS0SCq34k64Nm/JWbvWz9J1vjGP
gscT2lOOslc7KTTRzk7cxb7X4YuWt8Kz4WvH9c0UHJS//Wu3s/jbiV9T7VP4kZ+e1i6hF8mhY+Ve
97sVX7it/ZfJ+Zg805+P6bekZenq3uJLdg7u+meYzeixGk6ZS7pHg16/mmpL+2XPmuVCw2C68pYq
my52E6yxtYvzfy1JfUe/IXfppcSl9MMa8ahm1WPhF2tHXdheMF+45bqbWINJoKjs5ijQsfzCHw7c
beq3BNDbMygRoziYOrVP5eBIxeIw9NH99q460Sg5zJuUW9YVNuWRO3HZ5EeiixWk5/SoecI5xFL9
WL4afnfkYD71Tp6743f8HZW1o9RNlE/CsGlxiZIyU/zJ8mWTpIeTvqpeuFX3ip+wW9J30pP0RAmF
R0hXs81N1u4kvz9TZHOuz/o+fxQOy2W8Dh8yHpWGkDnDHZc7siVNwpVck9ywkw/SEflVJmq+GhcJ
E2xq0w0zhCCnoWx/IDJ1NNMDY7uxJ+191ZQtXJqlu8iKTYKklvFOatRY0k15CeYzcZdlM4GQmfbV
U3GXHsJDd2zTfVk9ytJLZbxb6asuPBnPoDiRFo1t/RU7jByRZsj7cP5OprVA4n/ImKZ1922RvRtF
SaKcUjFM9euTctwmJxQjNqhrJaPpzbOdkZjK7Oib8DzcDxfraciYupd1/VrK7dGwfJ18tZDSBRtb
fPDg7z6puHwxbuWLeJlviBTbPfs9fKkf3Vv40t0O1/C5Hi/UgWxEffA4kJO/dCOcAqXswfbaZp0T
xK9htsGJaY9s8yu7i3ACPKjNLkp3KAIxW6jmthAIPt6Zn903lZP5ADjPSYdjf+5u1Bf9jk1OP5Po
1XdGFxFVlnfEguyZZ8SERPMWxzfDsAlJkcnbLPTV2/JbEhyGYksMorozH8XhPW2/ETISnvPH7lm9
ilxxg2Yz6mL3tidKY73LvaswY+L94RYvkSIiIFqPqM1BgbfTlqhUmNh9VoFrDNOxYisc6uHJar8B
DNRSV63cavTy1qmVXQTBfvA42dvdk+oaJzSdZbbRHAiJssLU8Ua3bnPJL4KD0l0AklXKTS9sOBk1
B3bP+C70o7pNb+q7wA8IPTxqkdPjeqidnKoGzN0zwT67q9jqeTP1sQncHDcMPXU44K8qcm9UvWl4
WHKusNgRX1jd+NGCo+pa1+Aj/Ba1gA75sgTG5/xFR6yOep9wmTDvBtVHkS4MFHVvDDcibfMSJRM2
YbP8k3LgqN1o0u1iEZrD9u/wnOMzTb4zEEov8rG7zlx7FXnAN0UhzXfM1XdLBRPj6mBAzD1nO6l5
iBnkYnG2rXGbYmdCxalcKvWD0tUkqmQOU/YuRQnCGMszJfAFPfvpY05QXZ++xcE9y6bBBgbN+GZ+
5Nl4JdHcctcLBwWzNhm0q+rFt+mbdlM9K+Vr9jxgJ3iC5X2jPARLSADgMcHwvyPJfyu9XngmeSg2
D7Fb1l6FWqERdIsmbrPtOt9mdQrJMdtz62JEMEfSNwoB/NGdpac+KQ6hJNniMDjibmbV2wAUujRk
0ebt/B6WV/lOA8BFfhL3BPrbfX/HYJH8sPkkncT7+oILoloQijCuuVPkcLicruOHwmwI0zAiE4J4
tltihzmczwWZfpSedkx6R30y7k2/vWSak2zKwA04JnR2ete9EhSNGfmTgKwOhnrfVIdYdeh3NXIP
EGy7Tba5W78j1GcPNPGZh/6uuGafQulMJ67wED2GfRiJ8vf4e3KcXhg2M9/VH6Jj+hScywLVhe5Q
Rwq3FmGvb/WTxZ4sRNBZNzaUCqKYZuQHWL4ju/HFWz5mk1IE0fnvOBOx0AfpcKBucSTyN9tir2x1
M7kKz7qjPtBguw5WP/XEtXpHEs/YEgUdZXJPqpRNLvZ2F79H5Y/C4ERDgdUF8XjcVGhqqvAi1W8U
7FInkJ8ylSghIo70PDaNN5Xfv7bf/xfGY+e3IS6+lz9bmP8fdCcrjCX/+VyMjpbiM/79UGz9+3+f
iWm/KIwT1q4ojAx0//02E1N/wQhL4+Q62ZJMgz/51Zus/SJiOee3cUoYBpZVzoa/epP5NyIDNqyc
Jllq1TC1/4OZGHZ3OtNpjsBIgRxAaelP1salEhhTSWPOXURoRwkfhCadvTDAv6db8yNjppzpwTEd
dpWYp7R50/OxLOQYrOT1d2/ZH4zJfjwG//qdWBTt49eWMSL+dBzu2yjNgyDOd1U67hALmFrLavyi
WUQt/vyVfjYCf/3QvIeyguMRCrW62kt+d0qssbWJUd7nuw6hkZ5P1mX5ONHFsVWaiOUmQDpPw5Hp
lRTSgc0w3tObLPGh6sRbqW8t78+/oR9PyF8/Orwr5p+iror/m7zzWI6cSbPsE2EMWmxDC0ZQJsnk
BkaRCelwKAcc/vRzoqZsurtmptt6Pbuyst+SZATg4n73nstk619urVFiyYXyhfqYkuHZZkHyTmf7
zZnmH/NwjjZCkpQmMPfrP/+xtz/z34SH//PH3i7R/+5joLvScxbG58e5k4ytAjY9p2JoAhvs8T//
Sf+X7/bf/4HRv4gPylnyuiJpfswZO1pZsU9LDFfKMPst/su/6h/Nhv/2d/EUQ0mN4ZjePky+3n8F
d6Xwuu0hkNXRqlO64KMq2sx+CrEAR0zbB6/usuwZgvzFDRFIiyv7iTiYux39+N1dhnwv9J7XdpfG
rYMWu0kcmR3HeV+P2I6FaKprLjWXuIbrXcZYM13kZrYt+eSAVXtQTYcTxvK/gjK/7xiSUcnsvKd8
+XyDzMdcVJ58+lUZH8JTOPwqrZix8KT0VlC/vCHhTCapSH+zQEyPIYdRmj2JMuOO3Wg3Bg60YEP2
Uvnajz71nWpqfruDRa6olCcC3S82dJRdUE5vTNnoZyuibe+6z2SqEWZBr19IIV7gde0H6lBXKVll
EAhcznR1AsS/i50ZkjtVIKtW04LWZ7yIQ66IRaFhjFLMWylS5znx2jNT0+p+rrgPekS064VZogK8
jxNgYrza7IZi/ENi8IceDUybQ70ffTx2fW6ILOa/YxPtzKR2cmaSlRPH7j2uZ0X7y57Fu9MMbKqc
rDJ7L4fv0IWiDpU/PZR9JY9Ktu0mswfSCwPXdekeWCfep2W8Lyr3T3UD8/YB/SHxgnsplTdkFe4H
O3QJuyp1oO6ZdPDs/WJ+vOdB+bJS/JKUSfKL1R+x5HqQdfFqHru9GUyyEQqrt7gN0dhnxV2gsnd7
TO39NPC+9CN4rn6AUuXH/nPfY9Voiu46ZGChYjsgOliNGUmz9MHFmrBayBStZPgaOTwXyaIIuxUi
fh1VOGzdpcRMbtNCkIZwahpy9gm0GGyy44YPnSrniVNPIl33pGPy9bwHr5ZrvqjgSt6qcqbNw6Fq
0UJzXkRAbppYbjOpbZwgK7cMFxjob3XoP2blrdkTT1HTHcuo+9ackpN4parlsXZsQFKcdyMOmGOe
02+TjydLZA7KbXEmW5vh6aEiIZ6fUst91Dn3FTVE92KIH2OcaYg01sae6GJJHI7XY/Fk6ImkKxBi
jK4PeDpew8x+KdP2xOq89iaQPB3aS/kWN/15cJ7dpDlm+ifL3buaezZuqD13hVYhunNkGtEoCH0H
U3+M0/6CnYv7yUeL6IZrkwy5dcic54wFXXLEp6sAzA332dLmGvSuAV3gHd5i+qOu0l6De96ibsca
HS5o3zTLK0cx1d4igaTJml3IyTXg9otqwvjctS4xTshQ7T2/ujKN4Y4Tb8Mce+E+i5+yojp6WFRt
IsJYuW39kQ17RbEHDK871d1X7bSTPfCb7iOgOAGcSqt+LCzhaqaNDUBJ+YOnD8/PQ+b8MiTlhN7o
lsfWfcBOwP+kZN26af803fyUTU9twV9tolVWIAX+FAz1c0U1q3Ue3WkXtyctnhqPiXZyK2FdTZzT
ZxFAmkGqGK9NH2w9K9porO7cZlEFe2Yw4dZK3nP1UetNdJOI3P6UVkD/325u00E/ab9ZabLAxXxt
Oa6n8HUdDMx5tcX4s3FyTuLLM4dO6dpnHyZDWiF+df6psJONVbenEtBYlfEIT2InB9qVKE3yuu8b
dwlDL4/R3gJxEGf+Lhb5vculoWz4hPHfjr3a3j5LIbkOz+EOPtHa5aKL24OOEo+NJNkk2JqqcucJ
9ynoAo7Kz21ED0scb6gj2M+2u9Fg17pu2rXLtB5w5zXpu3DMVuHpTsqtH5qdkws6IJCLC5ByIMVa
dznH7mfR4wUnDl4wXEnsuzF3Dp3dv4Z4iuLGxw9d/+5hkDYh9CP7bhH9PrDNzXJ483WssUdDz9iq
ijrt3jrktw4K68GU28APn3yZMGLCOANo3+Uyjady7QefZn6mmfK2plwawAyhf1+6H45TIO84/CsX
V1ZPZZFfk/5zpgO7mVcm+w5kvEtCkrQ47EoZrcCibQK72EwzIyZmT7WiyBX7QNAHaI60P5N45tfu
gjrZc8DlCyuDZOP19cEp7eMcDt1OOvRU9FACuJPgxgu8YdfWQ7Mps/jdzrJwTWQW6GO+7KppuszC
cBFj0TCL4+y0kK8ghv52YmTUmptTQQmDZr5/Tm+EGkIG4kSdE+H0FwxLfz13emD25Sfh3vIzhnhW
f5a2RXVIvG9nkWPqrv+ksKNWZd9e2bPOfln/SLA3h6JUj25X3fU47Z2hq4kR/Fetkvjz/8Nh6Xao
IEHl31Ja9JElwHD/42GpcIZgxANoHUbQCeTIuqeSvtfEaZ4nUZEyyM25ApOJu97BQ8cJJfA3kjjE
OQnnbu/4hTgvuptRh3RzHy/wWkR3nOoBfzH9ecXEYLr8XEbXwfIVAqpITQdUk/xLtSI8gMnFe+ms
8G1My3yb8N467U9bxzu5oISz9tXlCx6cek14WF9TKp/NWroXvzwmqEB/HXeOHkIskJ98OlH327T3
RCW2xSjX0pb8KkPSrPzBcjcqM3cGn0WRvWUeI9wM5TZPrhay5uTYwBajnm4dlACTvJkGbRJ/Xrzy
Qg8P5WtlhrWc1JF6ifRLGmalUz09O44ez760uodY8GPGxQkf8q4vL0D/qrU9xawh/3A65/3ylS8l
YsQid3PTXcZhvLpeVD2OYWxtlkW8z0Hq8kDHONhYTQR9BIyVGULELK0Z/ih7ngzLgfyicGLrlLV6
SKP21+zl/jZY+tvoOrKx5SxFla8TEbHCu8u9m6ASNWIAggV6FPySjteNgkQT9TSiBJjekCGSCme1
7Nh3p9qm+Nl80F0aQNvr0uYwz6CcrHlmK4FJ3kDCfJSj8yZdycCkt089tMQLCQae1zi7RmkLXSNP
fqI+W1ZWIFAqoWGutcsVDNyJJj9eyD0B4/jEwQsMVEqbR9xb2UZkrMgsIaxNCcArYhMMe73+HgMx
bK9G7qERfpdJe2UdvNMm+LUY59TY/tFz4cgtQnx4kf3a5+N7ZrX+ejDIDPESMvIcea0r1+0YNHW3
2WqJAhOWuJLxd68IJfcfKcEnPM3a4RvQLarYuBjrsU5m9T1WcnpuvOSN2LtFLoWNsvXfCTolKzFm
D9Xo3NGo4q2aevo0Ycm8bGgRsiQGqgiSjMnGtS84hhhM2i5GVFsRcoItMa0LhzDm6KK6W2OzwT72
poEF2JM3vcdl3TUftPCFy8ZoeVPulyo5DfzJEbMwdwLbZqG5w9Ib4Ee4mGdXS9Ilw6NVjTj0ueF9
43BjR3MjMf+BLHUJoXw9m9axeBQ6N4U9U6/t4LO0TyU1Q13+XSV9kWyjMntRo2o/G3v8DHR7n+ML
GC009zCoMswENGh1YqJS3lf+MRg+mpn1Yb0olKs5GOW1d5R+i7RzGic3eqicRa3yzjE0jE3Ur6ts
bYH36raywZ3LVOHYTk1xAh2plvigCf2Tkr84VvDuZxb8GFIg8Cn9CJbRxJA89j/csewvtzAjVoVl
a6WZ2tY+WmJ3+QdP+rahmWSvNKeCwVBOxmvEi30ckL1SeRpADeKQxiO262o6YxLvLHj3k+CvU+50
wcPBZ/rlqb01V8066d4m50sO/P96h/t+wgC7d+k2bhiRBt2LT9+XqZy31tsUuOwn2RJagmqB9TMp
HjqUX5l558Gg9mHXd6K7uX3DqxMuhPQ4RfjuZzw/2KbbYWPfJQEOtqH4rEbe/nHYBOpbzQ3zwGrc
m8566XhhGzWA78Pl58KKzNyvwjSM5RTzshxgGjtjs3LDNjzATEHKA62nR7G2cRVDbLE7qFq4TDCh
xS1j/4JEAXM6Ub+r+Y8Y0KOJDcJmYMKHw5qVi6K3cxbjR2/CbRfOJwWEN+hlsr+dqThGbzxO9K11
7ELWylFQV2gJcR6L+uD7r8KJNmnh73xGIHPqU47rc/Suy21oxLgxZl8vLxFLhCrvy9Y/12ze9fRS
58WXF/9R+q5sUETrDnpgS7AJoA+TfH0hLPhs6S7aQkSsqS+yHnK8vQYO3kUPbKiZS0omFX/aiEkp
LsV5FczetW8csEf5+h8X//+WFvj/I83AucVr/9+C4d2nHP69XPiP//yfeuGN4I8ex3k7vLWkBBw0
/umhs+3/Yce0Ske24zshUIH/rRdilAuQBZGQbhFvAlHIeP/UCzHe0RMIxJ9cNvF3hIv/ll7Irfg/
HIT+l7XiBlr4F5Gqyjlm9sqqjx1YzHXo5ZncxNLpPho/Z45iQMpwUNXWsZgtdQGbxLy+bEw3HQ0M
eb0OdGzdTF5L+TcAdMs9V/TdZVqSpufWaEQOZVYEjzhwYY+WOdKXtv2CqG8/vhMqdH6FBUIcF2OP
IZRXdQgamdB1g0gh66t2++jNbvtb9U4Z4vMBkNSR7z3I1DgccAIFfCdpE9UjCYSUMTmJcV5baQ27
OjCCm42vy28AWNnOVktbc5Gc3b/2rV5kI7qZLd4wD8hlMl5qS8RPRiPfrjuAphfXjnS0zeHyPVpY
cxkeqdZ/Tipot2cyPYG1AuMZDSu7aoY7h4Qy/SBZtPeKtMs3cenbh1Do5M72dPy2xLNmeB/Tnszk
KLUe2CzVc+0NxWun0+7Dn+FJ1Uk34CnsojMcH/Wm4+62IsO0leu4Y/fg6pGNxy6XU0saRoZbPowb
9USY/FIQEfvyqtBNt3PYj3t/thNORYL6gqBjfC2rabmfYkc8kc1O9hQUtbvaDLe0O9yT7lChBl0L
3btPTZIiYkTAqBmhihKtxa4y76lqYZZqw0lmjopzW1CnFDo5AEGvA0DZWKhT0zQxdaxuaUvgYdVH
x8H0orLa2ucpne2NRPZIQCm+DONQggxsrLVf1x91Q8DbTpN254H0uSuEchr8v2hUQNPB0OkkxTGZ
cxAKpqp4UksdVet4dICCcqQrOK+Avd8pe9L7YVZxs1P+Sxwl3N+aYrO0IxmUakkeREEnYpbk2Kqb
UK3CGTMxVKVufPGkWdZxPSd3IezkQwjNHe/Jkj0QjdV0IXrDBVarenBnxQgxg108Yqe+I5F9HNs4
PodNZS5dJbLXoS/L726qXVyRrZNuYIWLO1mn1k9kdLclb8qmE0qS2DvP0+FDZlsJNKOGS2hXxF91
fssEqr65mQ1Fsc/GSBPBMoC4y7JN145WPh9/JjjQdHgeSP7xCQq+LjCgDKYE4Omd6YL8OBba+lsy
hvgJMIQcFXK5WU3BQKfOrNX4xkS+S97y4e5GDUBGUqV5LCGN8DS7gAP3MpyxCyUoiLxf8K5MMROF
NEhkqk3vcruyyR0n1nMiuECMgVc8ZHXQbT2A3G+p43UvpoqYk+aFiu1Dk7mEO2TSAMPzx0cTNfGz
tbT2Z8yTjKnmRheHEX5DeZO459zX3Qkhsv0syAYKaTM9Jciuztoi3y0SPZ9MODdrM8T5Lzm3ZCiW
NryOgasVf+PMeZ/140ZrpEGTwZ7D1LIY5+iCCDxfFtv11s3odfdTm4cMbmuEwWJO2k9HRK5Yx9KX
9/MARy0ehwqW8qDFkZ/uc9HmzOJMyHw3MOIeX715SivH2gYdCW188AYstaSSCIx9dnAmjE9xBk2v
S6Npm7SQ1vpIBL/thEgASxXyAeqvOEG9wKLswzSeoOyfQYDHz3GAijyLMdmG8MFeh3bAgKKDBf8X
c6eVNU7V2bjl/GfRZSqeU/DWR0945iVWIv5lxxkIymhLPvVsxF03mexi7D7i6D3DVzQNP2XUqI8q
1RgmcizciJqRfhjHZbkut4ubCa2fPBofUrHkz10ZzHBOgZ39oReEOHRHhIuQEJmkbUWU4on4R/3H
bTyCB7N/bifKBl01YgGwF7huWTncl441PMIwnU5DG0V7ORXFn3zupoeAVsmLyDL3wP1jeS/HlBxK
+I8KCptGV+MLPDalVzXG3na6pzjaNRBcY7QJMmAJZrV27pwPWlNEtR67Jj/WzNmPRc9+uwJc0v5x
jPltdBS9qKYd/X1sN9MRUGa6NUwRyrWwOpsCVd0fp8gZd0NGy2+e2sVB1ZV119v18uCTIxtXIeVK
a6rghzvVzPoFajLuQTpRPok/AY9lx7pWWZGhQw685OR1zF1DxvnJ66aO9Jc+1ZPvbdxCXguvLlCx
MIY0oEzvPVcl+6yIYPpEcjZ/m9ad7mjBZOUdU6/ddi4dB65vdRfqurFTuK21TlTQHIxdOp/1UCTH
pjVy77aT/ztf6uSXi8hzymoeNMACdvySV9XM1TwfMCNk47mrcV2w8toIbpV9bcMq20N8A+FNJBUJ
R6dDdnZkEuwnMksH1QbLwe8ys+oyfXMLx8Wb4wNjnbq+e64XO/gmteNMvG+F+yL8CtGws2hglRk0
Bw/u6cXuhPkz+bcqygJ3+1V08K2BxKMpz+n0W9J+ulez636QiTdc0WY6OUdX+O/8J0Ku6DYmuaiq
YLkHqYxFhJQoQpzEtLlIeoBSYerT6AdraUBh2z0KcGmy6jDrlsKGEYFplEkEfrqPJm6wYR4BYfcw
ks4wdRgaJKJ6smOZnOcg4DculTnOi+kfnNyxT/Hcu0cPte95bkkXhL7EXxU70ToQS9fiECmpKElQ
P1ajlzv7lhYPrFd5FzyhwMRfwwQ1y4MdgPJaKtmvuslyHoG8gnNtizh/pRnBPTme7D/tKTV7Qp+R
WWtfsNwXS99uInj/cg3ZmFbYukvdk0VY6Vp2UXBWJRmYTKQkKXXt8bkMYf8QleDhVxGlHPdBA1S7
BATwJb3CHGvFIWYhlPUHdqpAzy6tt2yYfSqp/fTaqarfGNKwuNrc6m+YqBLKpk4xvLpgiE/KPVaY
j2rzU2tqes4GJw5w326J8J1MSboZAIyvuYtZkOHL6JuLL7tNz5Xrsx9YASNox9shleLYN8q5XyKg
0IC2w0ddWD4ZK1E1RwTC9o6SNWIHNSzplUI5cCBjh/bZUV1yhHU8MzkZ2ysOiWkfZbHHJMaLj4Ad
86+hvTmjHBumQhwL+9wSUf2ds79hARTCe81pwt6XdS0hZy/Zpa4jgt6YJjaWHryLdpLhOOY0Mq78
LCrX5OBnBL+Q/NmKyQ3vbxBYG3IfqLIC8teLolcXWTmJ7yAi66e25qTRshlvUr7yc9Dn7r03LPqR
ra05Luw4jzklWoyu7Bi2C8z0YVUSJjwNgamWfeP3N09HHD07wVy+iqSudtWI5LKeW2s4zW5sFVs0
AnbuJijrDViUkSHlgmSW9+wlXjV8QNmCsGWq7KQV57UVUSq2kUHGR79wLEBuKvrAFRC9wMMan4fO
w0MPS+wbOh7HRL/Wx3YpLV7x2vs0QVfv4iCaiaPOW9NiyKoq1nSr83LcN7oXz/44zAc7dfQpj7Io
XI2Rp3djYs3riHnXUQ/VfKEKJCDTZWCnOHz+W7/Q1ZYOnzGgpdouyQg702NlpelvRCy4Ma4fX2yi
AbRkU3B3R5ozvresEQG5SmGzhj2RmaIsiP7nsu3x97hx+ly5mLEd08Ag5Ijo7bPFzxHAoTygS1iQ
AFZup6I9SsrQEhHui12RMRGDGcLReuxUeszLfL7mk5IP7UQ4m2uFTYi7cy5JVkY4fnzN9NP46cL9
IXSvtz7dHaM25a/jmHIf16lUupEzlu+ksZpD1kTBnWPbKel85DP4QFW2HZaieLeqOd95agkfUmch
KO7W08EsqpjWIWBxrvZsC2uaOpbXG63tbCUsEatA1jPqIyETlLts21DogmEsq7c9PIVf/BNoKu0i
qlfTut0urwJEmnBkPxk5o1rbvHKcR5DCwT3kVyDkUriHcqwiLOd+VqzborWenDhrTqk3AaOv4+Bj
BCqC2bUot3hZykvNd7MbELuP6oZLKNNY3hc8okdJg3uxLrBSHIhr8qZ3at7OBURjVlhL/wRVmG55
ygciuBOzEbq3cIvWg72PrTE7hb0hsCP98CIwRKwtE+ivAHAPnU/u+NKm9gES8/QwjUF0tQiLYIRO
fcNkP2BYpCoW+wIqwsmGgfnlCW7OPA/SOgS8XC/jWM4/Or5lwdIgevTSql7XpZ/8iVQxQKFU4auW
HifgCufmGPfNNxH96in1hbm3FR1zK9uv78I+0dswMDVN7Gz5O6bk2a/aysY/UyazR/aBZO/NZrjo
qRm+/MDyT7wVwd9au3C4Obs/dk7cfdfajl7noEQYsiMGTFBj/eg1AW1DMGfGVBnRycLsq8Zk4JV8
xPUcNNfJpF4GYsr4Z2sYGC9Q0bRTN026tGRGLBw0005xOhswFUJld4s+/J6CghjXDdfLhx9sp8HF
Ay5i67I4gE5LgFWvEYATerIz16GhQ4bYDV3Ucyprk41tejgy9u2owF31oYsl/3jTa/dMGDPaUJxm
7bv21tnSltL8sthAqy2J+Pngyxayd8ADjsAI58tryuQt4omk2duSIxT3Ufyy0mE+IsEnv1JJT+7g
lCOkaVnOGBPQq9eDPWFICMdA/eXaqpFba0/d+2Tuf/hv6XqpW8YPdjSk5zRyFk0+SNp3rgluN8bg
oVyscG3FBK1WdVFwAoy1GF89uOFfmaId4Kx1PtTrYNFwnei4X1UtVvsWLi8OP+DxT7WAZMamZbVb
2sSRFjLNpA110L2SVnEubsXdmvFV9HfxVXjJKkJlERaZM9Ojm93ECAiH3vxQ13702VE2smGqvMva
uD+7Yelv7W7pWDfDaB1pVlm4BoPE+uxP92MhuoNyw+7TDVS0ExzIghU3sFVTNcnWGBl88LM9BOUG
PmtTuCl0payD7+hHFwpgOMdBiqffwkT3bmAxK6SUwAeSgeq89AyFjbSZQDOO32tRhlsdq+E5LC30
3zTXb6MvSXxAPUous9s3J6TzA7/Wyq05+tdWSWKXp6Uucdbg2wp6zXsUDtXHUnlGrDBUZLvenbwX
OneGo52J6jmeBRMOJmurPnCmnbFl9epZFMO3ieb9y6L8usxZC0AFyZXKGPEx0w3FYD1g8bCGVpwJ
UpUbYv6MR5e6vqviprwX8+3ZSkwSnO2J2pEqS6JPbZuYuTMlUuTynKw6u/wqxPpttUuKxHvl6o8F
qsisg7b1y7xY5jmGaXgAhjvsmomJVFMxoQiDWe36vgTef7stHacEh2qWpcyx2b/WmeMWV9WnTM7s
fsm+4rL/HTGTDrc+lEcq/Byiip1lv7v1AAGnGQMKpGKquFB0mnc1pM9S3c5BnbNcwMDd5j2AJZiR
NWQhQ2u2SBhFEAbCkez/KnMs8xWRpRzsSpI+0E6+G0NlPTqqsi5SDu3b5DnDn5KGhp+8uv3S3US5
H1aTdGff8PBLS2LJtuMJ8IUZd0u7gBBpkpN28EIZeYtulv/4u2nQa88CbPFBs6YfliW0LrASwKln
iEFsxKRGFleGHz2NJPfUBmOxz5lfiqkXe2lxJ8i0Ja8jqDzwfEpdBuSxK3l3pTfebOeSI4+kA6Xr
fBIadP2469ju2ofBD/3utjYNrNihQzmEJ8kz1bl4HuntxoQrx5MmQs84IGqe6ilitBbCkl+7eZvf
hS7k+lXfIptHRQXDBl435IWwczkWpFN07wnp7ivBBZOttNvarfOW2QvOWuoHvmJ3pkPBSfkQ5KCz
Hdyc1Fn18JDu2oX14GA3nPvLKjPzWt+WuR0n1Pg4qqie8RV63Y/KBUB3lc0zkyZ/pmIPkaE8GD1k
RKYcHBwyoipmxW0yOQguhO+lbemnohvgDpWFx1edAkM8lh5KG91uWMFDGfdrv+TsuI2UA2cChYSd
ltKs94jPxUHOom3MThnGowB6ImSaUSjEpEZTn2C0cP62RVW/wTOM1rL0nXhb0P01rvoiHf7QgYPR
metqd5k1zRSeGgpnU1mFOidt5bnvSIPLQx7G6a5fSnfmr6jCaNUh3/IL6ty7MiEeCHx0hY0fxUCj
LfoClBjrK+eXLp0eliHkQegn58XjQrsbmin8laX4zp3Iis6Bc/MGcIDcYRzg4Ep6e7q2Xd7sobGQ
NRlNEdCpbmIydJRMzG8ucrMByewwr5NjVOybLg3YtGavfKl1k5pNiOJGPVQ4NHsunu6dmzk4lYo4
S7fCVPNjNeE2UuE8/DSCC9RSxsaldL51/sYxq+DUOOHLHCTkVPpc3U9BwkY/peS4MSw4dyEKFMPF
cVIvoELCvTv1+RVof/1J0UnBR1MlzJsXYR5bB1ufhqrHNy07prquamhQHahX7CY9Po6ZIdwFYwYf
kZ+QKUuKXu/LpAS7Bb/CnILYUHQ7ol0OVsADITLYNAyp2YE3gnnhzkt5NjInMs95O4y7XheE/urG
sv4OzKXu7VHZf8FYZsTT7PFHVOjPqWdRLbco3nR+HZQZu42vjVEewHfCyyoCLLFessB8xDpvH8QY
MlwTyvqZ0Xe3A/x3Mm5eq1n05/opN0v421AM9KeSaf7bg2B0kOBwfuhrSS9YTuvfHdLlwkydCWFh
pWOydph1n7O2RT3s8EAp38kcHm3hnUydq9cyGr0938HEjAt2nV1oYhWJx5WzRMXmHD42CKKjhtJf
JW1woMNSIfpS6sSlDzkGkI54SEO3+q6h1LEYhIv5MB7sMJs6mIqyjNsUTlGJtsyV/hX6CChZ4cz3
WcD8M/NRZSqv+IsnkrbZ8UXdxRb2pYRrVQiwwzllFhccgX9vLIqfJC05/2bw68swzdAFbvH9SnUC
o1Ia9ZuSC+46q6PybaAykpEely5I52qBSwRAK3jt+pA0GmTzBnjopE9JERGR0RY9a8KD7LEC598d
l6zjo3B6Hf7uoSuxBqS1fc9WCZkpxclyxzEt/47BjmJuiAdcOVD+j1Qlkl2kvufIDc6t9iiYdIny
bzVbU/IvrP1QQauidSJZWzbc0BWKdN1uBTD4s5XVnPJSOxt3re/W72UeFB99lJnnKGuyZ7WkKFjA
h+6WLrSO7ijb3aJs2ptKFz85NbEjB32XyE23hLDbcw0a0YSRerFLP9r6phagXFMEIoVXeBVVZjm5
cT++9iYmZ0GF5zZtXTQoes22YSswFqSt9dBRl3tgUpv8lE6N86GYzZbjnDzOGRAU0QMtKNIJJGvV
yKuc6vDViavEWZf+mByCIWzXUNnq1xY6yq88Dex73Rp2xGZsyXspSbBGKcv5jCOmQr6XpLtJN/b7
EnBNGd1y2DLXIfJWNw75WScP3ft8Kp9DdoVNEPnDs2hLdeVKQL1QpjRylR9eA8x4XITKaptjzL00
3E4+a7xamNGQs1YQOX3AAkKcprCTj5yI7cMMV+0uhAhJVSosHipGOvOEC8NBPXdpWjx0t9arJWiB
t3akEK6ZF8w5dbv2NG8AgjWfnBcYzo/wGK1N7UzxS2039BHFYYt+2lvWiuZP6RyyXIY2Y46AWK03
JsPrEkUzHb9AcThu4e/EoDYs/vvQzHOx6Wdf1vuKSzj9YA4L7rFlfeWkR90Ii5MmfbAOU7L1o0ML
2qovPeezwP30qpEGNp6OvDPFhfLbTFKBY0hxNo1KYLOxgOG268CfOF5EXjygqeZlFO/G2KrzFYrX
yC13EHgLXFDFbJ6ZpfCY6uo5GXv6xKjPSPk7ZbOgJQ5Wik8jJPTcjQbnK0A7bIXlQsXwsvSsvZFV
ZleMNLA0YqRQvLGVP4/HqR8ksbSgpYDWp/6Ynqsk+QZlNNmsNoz0z/00yOBQBROwBa9hAVv7mUul
WZJIpG8d3iZn6eLFb1PptWZbD10D64D5yx4DHNTzZerT4D0ZcxZlJvTJs1dSrHAYbiLAqqS5ROLx
BimIX7IwQIuJG/V9s3V4/KxtA9PpT9XnefnEzEPej72o528fnntwILZGMmmuS/3H1hJ+p0rGgZYk
CjBxcBWxLJjL9vzWuXSib21bs9jlGql9MxY0khP/dUkdW5IGJpPPEf0myt6LmFPtdozoYdm3foQh
tI+z3tlLhgxM1gisrFsqf8G9zowubQZpAJ4AZencSonohooyja7Iv+dxGfxNM0+wc8OuP8EKIzpa
9WjooeCMwDFdvjVRXJoz0432qW/r8sf0Su4pkO8fYvM/qTuT3saVNdv+Il6QDAaDnEpUb0m23KU9
ITLtNHsy2De/vpbOrQJevUGNalIXOMBFJvIcpxpGfPvbe+2Qlzha9twRMH7NDdMhgEmK40aXWhk0
CY4zGGvgHfQ89RdBZdcvhxqabt96YiQZ3hnsfeAw4jNvvYLELedKsoBZpRMXD1fNBJm5pCyFYIxk
mYmm1tKc8jAKF88wgDw4CnGZ3pjraxruGvdQUuCrtnDaFNQyR/xGqICjmxNjFTU/QtRE8qQga70v
NFcwPbgI4fVkwJ/Wmf9T9jhDumhKzp2uARYozyYGj8r3HiFP8ETIvPynN4viA/cpRLcx7fnV3JkE
xlIYWjxWavsM4JX5Oa+wbXUVtYSIfTkHJVKFfRrGStxYFavn+/7rcUTuXAsj76B0VPP07hWJc5lc
DzMyy9Un5LeUrlNtU5MB+y+h3GMvPUOzf7Mg/SHHPsxqbo52ptjaqtLcOi6qB4A0bl3Cy5hrIju/
Uq4yB3674NPmckNrXy1p5JvdIWOHWyPIlAMMAc3tXjTEh6ndWDsqMq6+kYl9kpXjG+Ou15EertMD
5VX22qhl9+q5QjP7ZXV3QCOiGBK1AGNeLIh31rY/HjPDnDhY6awD2UloYVoEFtVOuCQcJXGNzOyK
Sw6p9LW/N8Pl/EAsEowphc7IKYrf1cJnSMAiPNjRiMUXS1hQFpngI+Gx7oq7SUAGnXr55Zteey3C
keuiFZHhxCUW8QWj5tbE4TCV+tp7E/0htlVaGevyfDD+nR763/bY/B/qAiGU9j+5Z04zvsil7X7/
tzaQf/7Qvz00nvkvG7suMx5iC5UY91Tbvz00rv8vm7uPI30cvZ6r7o0L/9UHIvgtl+4C/sx//dZ/
emiE/y9L2UooyyZ/80+LyP/HnfqfOFSCn+K/eWjYFXFiKfMOtfI4Trx/zMb/T/JqNspMa9eJ9y0P
8wn65rJwR8EAEfaERIVuEaTd3DEuU7f0+0w040GpBFJLVRv7cS71aWSI/c61bVzBeiaPVpjhGLfw
X2sWgJsura1Dl9sjtly3785pmjU/9bRwqyKGFQayzJ2/APgw/MmhMLY9X4MXIidKr6f23vMGULYh
ByXeao8FPCaFMHlUU4nNsZVJSjY5LPF3On74ZdW+cUwHjy1M0jp3AtJghNeyIPfbooeCQDTxwVfR
3rRab0sE9aJoSET7Yw//rpPU+WslSYQjIy63pl1UB3vyp0MNOC9nO2ZSddQq96mI/xmFbAD2hWrf
42RoIfSZ3i/ACT+Dr7nuJ2T196a0nS7IRGSWQd+b8Qv6RH40KwEVoBvrL1JPbtCoPFyJKb5S0qvY
38CkBKFX7jHO/0kapJYI9ZAGti4mlZQmW0Wk2WldTjiVYtO5W2bJpODChXoQYck2vrBvXCErG3cz
ff9p5L4RpD0IPY8c97ofIW8YmYS+fgbcFDXu37HrmCRT6zaH+lOr9JfuGMQNm1u8C77Yje37QJCg
1JZsmCa8zEuJv7WUEwkS1fzBhrCOexdvBttKBNb8I0laxS3OM3ZenJylFsi6C9YMPEiNW3XAtur5
zen6A1LhpsQ7FXJ8uoXgVRw3jgmx2M2stekl9CRHzrEkuDWOXQAeN1mzs6ACnCa+NN3AU921uWc8
1CkoBcrk7heIpVzn3t+KMEEimie2h9W+8+TvXjPYUQmyclv0SQ4vAj8i5OJfUKw1xr98rMgxRZ/g
CQ0+hqu48PahKQjVcNNK02I8OEiHbOosu98jNRtYlmZ8Po3Ch5Mtqf2lPZO1h0EvxapwTT4CT0bn
UsQ4il2K6ffg3+Hk2H8JfkHvoGasD4rZajYprPlq5WBa2IWy8F6Yb5PNghd35TrZbbHjAlv+wAtW
j+lXHsOPkSMOFLNOjZOPiLc1ZMgpHDaJYBfc3xIX/d3kmrfBozdsU6Njq5YVd06+kOexcZ7dEdcC
RR/TbhqnQ4IPnnOo3YbSrQ8yTLqLZ/MVW9oifOsjUWC8uckY94hqunQX5a7/jOUcNxKbtjkovKR5
1PwO+fuxPiAdC8yjhZfxjgzN6wJCMx36InBMnHpWYeUogro/NqkFry0cIgD74bo3Vb+vvDa6mrGJ
fajDJGR1/1SYZemTRng72iDw1wDwxW9DpTB/9HSabOvBvpsKsra4jYgo61r58yFsa/fs0/S7laHe
56AZEa6bMwspEkJpZ76WWAc5Fev2N0XvCCtynWddjRVABbagZbD3Lw3o270c1J4tX4BV5kJFKFWt
KdQOL2NGmfJrXhY/rYFQKCLYbDWfKjlwPYjM8TWdJwA6NUp5PB/4Safz6JMk6PJgSrz0mqf1B+Ab
PPwN3pIxebZ6XshosINUD1D62U3O3oEOsA0K8qLCJxSGS87c3/ZqI6L4bc4rvFDFGF4w6K+TNP5M
pshfA7gCcZrrNzpKAuFiL3DLvwZbfQTbxM2IWi7Lnsb7HaU4De0wTCC++eHSGXpK+yS9iWTNiHOf
/1VnMM1TwWQa57BIrYfBL+2TQQsYFxGaOjIqy5BkAuoUW24syKrAH6YBk1e36E0FjGq2DWZZNy5I
0FjB6JF7NZcccLJX7gsimRCQ9cpcwN2Z5gvs13uW2Vx4GiRHomu/tEl4q+yyHmxTU67aWf4yk/4d
19oOlBeMinsW3PIJNuZmTCcC5X7GPWNX9O1HVrdgNDDVtzxbglxGlxThdCVm2jlF4rQkJKKbKOZ5
3ztNfV1UdKoypt8Y1kXke96LTtr3Is30nVz+NJm/jOr+QAx7mNSQ+U1vPrIZ24XVsCGdfDbSghuj
wTHju9d0oFE8yxhPHckEzH9kq90+vThD3x2Lmq8QqBj2EyiQWM8aPcwBukH3OdvsbRzP+hH5LD4n
w7rbsuTBrSWplHb45SP6rtNMfhJHI0lAlLjrGfy1e2qIylxRUmc+wLG+SYvWhvLodj8tK4s3vh08
CBMXhg1bxqBJx3KXpe2BDkZoa+1IwoLsFc6PC6VljwsBnrLQ4Wvli1flZ+mh1ZK4oczaIB2Eeg/N
8bTQKXBfTLzHo3Fyp3ITOsRfsIAiiNX9cMyILW5bDTESdrt8LZrJeRSdUzwuDGdA9+UqZKO2cbp5
O86Aypqs+1WbYYZ82uF1ikOKH6kWjx3a4HnzzjRsZ+uKAMrapjLEWUcLjo4KPEZSK/JWQNxhBHn3
wlEfFDLZVMlkA/UCEbSt1I5um/fct8eHMs3xtNCi28zi5Nptt2vn6k+m68/eB+Q/zBjoY7KJU5wt
W+7Nl5KIK9boK+XAeEeyfN52YbxLFZ3YlbR+OpR1QWPqCmkP6dsd8GlpL0hdUF9dSDYOn90ThffF
urTQiTEAv2or3VtRRwlmW6tzpZX97Da2va0mFtIxFqCAGhvzweJpu8ZsuzbADN/IwJQP4QicMGI9
HLShi4tqMvVbLeoFa3+P/MQKKaIqIYzV3i4gOSHkbPTQs8RviSGSP40qL9m4feIE2l38a0ZBFQHq
ban94ehSwUIJKJYlIyN3YBU72zDcDdvc7RJj3GPUXeUjwi3eAlKTgzPv2ijcTU25zSLA2BNRq8Dp
zHcte6BpxHZs7InZLMjduZxMtqcvjpO8UIyCXDjrMy3SvIRA09eUo3lrcyBMZFYwcoa7jZlnNUvi
sNuXi7HuPIA/rtk9JfG90kiXFad4jrECoRUA5jYmS7+p6IT3omzTp9wflB8eAKCHa9HyNM5rHwT5
Aki+NZ8bY3ogFKMQl6wLBiX4MmXtP2jE/lWUme8VjiSSimpaNZaZ70cxl+it5nyGHvTJs/eSJCib
CWiZcAK4PXJZGEnBEGgeXsKSI6uguXTgtn+Akg0aeYhvzKpU7fXOKZL0p9AIeafNx/DmdByyNcGP
GpRMje9RVEP+qpo3vjN7yxJAgyC2Wc2Y/k1N2W2TOFF76aRh4FLfx+Pc/tOrqrotcf3UEhBck2xR
m5YbFlhbgrSosUqxSjaeuZCSQQ/7lqbgZOVk7q6M4h/0ewuHOJkoPABnVvgHjPQryAQJBKD2n2sP
aaPOmLcm1RhbayLvMpbTwYiLv+7SdxvqRPeERD+LzvZOoQxhtzAvbAWmxt+jcp1tP7hQk/IK6Jit
3WHvsuSLVtpcPlsbpxwu6HCXRIJig86cH2hOgZI08rFi22u9+rX7JUK73TFhm6vFghwgF2oj0sac
7r0cUfdsNiHrT+GXkEuH5kPWgPcDneXWpyMJnMokjFZg4PVjYnnTPnWXHRewQ2fVz0rNDwm6Hwym
tH5Ga2C/aXnyG+Z3tW4q3HRG5tPsSU8zgNSo2qAa1Sz122UvZxw7q662/3ZpAVh/9pv2SL7/OA/W
D3LOl7VUfVDr6NTmGaQfAtZJFT4Cj9YbWVFwU/ii2ufyR4ycGrEjHj1vfu8wDK2XunD2UMvfivts
4pYu3qW27Fa82MMWF++fuC32fjSBSS28HZo4ya8MxuBMp26YuafSMLGqSSpO65zOFVuZw3pILpiO
edwU4i9lZFzau3ZPGVVzMD1aow229XH+OPgiPhu60IhpefqU4phiWcnnH2Crl4iXnpf7zLqJf/Sn
Z/72sac4qv+2Qm09wg+v2BTMb/Qk/2m89NZG4mLVoPsNZU0kHolCg+zn8NJNEriKaC+CXLkOZ1T6
1ZjZ0wnM/XgU3GIeF69fSBAPy8ai2PckI1/sWbdEa+LTddDgj7v0o7Wtx/rnXqyTWyXNwrCXKLPF
XwMPHHPnNeqXEUhsDEt8jsQmyuPqPPbh+ItllEEVoDG8MDc6nK+Jv2aQ7X8S1YcvbKGsmxzK8VtQ
h7PGIjdebOpt8BNabv4nakL7IQ4xi2NT6sPNXKPUcs/Sv+K5r3dpaIsvFoHNKUdHXsUp15dBG08Y
7OzDkmTk7XOfBh6gakL/uBrIg8NiOZN3w4Sdv8WmkewymPc8NfSHY93BFGwKZWhx1kGbXxV46YMB
C62BoWE5iMjbzTH+eIvRJCj0jGmLpALdYvne6/HiZqk+9EMKa9eM+stgRpo8twurop6CMOXpWVIT
v1dJ+9U5VIyUVh/YPv++npiBUaevCxundSeErgnDj+Z5GaxLjk47Z2O70wZUTBlFFP6EFKb4LVcT
f9hEuCIC9sDtmWzLmZ7crTfaa1+w18eJ+1EuqJYrabj1FQqnf3TccaNH4bx7Y/oMmr04OD1VLCYF
94exmP8U1Gz7K/y431nYPMt62qpacFinkAb4oz6FMXD0M+eSpE8MBoe03xtAlWGtuEZ+Tkp9mKVr
/x59W5Kjtd7jxmMZh52oord3yZu/DQaxqeVJ2bEHyvp78HaxVhPE3ojt7WZE3HzIVOie6BKwA0bQ
mjIycmolFvu4AvofU2x1wu0Ng9Es2c3gW97KvqCoQV+rrqQLyu2ftYuAUtjuvvecErdvgcxcnEzJ
LWbEO3aE+CHXjQH9R9pkzAeaD9u1qgs8pEJSB9N14nGaPVA4Q+Qd2YIwXJqLf057Jk3w4fWOHcBT
q8T43ZbEjTDZVjAafOvZL+/M5/E+I7gRfOHtaFfNhnJFLEhjET77vi5N2EasFVGvhoeptvVL0fXd
gzk3cbMW0ZjgIFDxzQ5rd5OhvW+ZJqvd6ON79XIHKFy1hEE/YE0HbUH4to2XjW4ce2fq7HeOQIrF
NnL47loK9AOt1c+U7LBdtdzmIE3aUQaRbylxI4NMcfOJteO7kMMjwvNMpcJsnQtraJ5rBY1UxFx6
+Q6v/Abxkm0OyAtDjf5JDvVxwNKw1qak2WKq9M6Y4VdWROCBTXqsT0creQtnJm62U7i2XXP4JrFP
cQ6x9ZWaxGckOFXrnNebSwCTqxXb726ec90kLAkuMPfhdiTl5xRGO590ZOmhzVdZf1QuIDQ5JhYj
OyAPtzXYUVusLWvHiI7FBPcgcnIbnARsFQBH7+w1uJbkbrUfuYkFUvDl9nvjkw6PalNo+6WaO4wK
WbnrG4SZmTZ5dw6rs73wzSSHdzRBNAXlhEE0bIB1MKQa+GTc5LXloeYRFeZYLXMyTN+DKziMIvBr
mLrLg5nWUaAVKomV2a+EYoACIIyTVZfTCglzPpgWTqqWgyAWE/K2toG7Wy7zfJf6OyvEPuPNTvlA
1fqvNqYKki2YydRxp/xZtdgtM3BgjhubVA67oYKiI9e/VK5JW1YCHzc3iy0VFzSKRFykUpUdjRYm
XdL3+DFkQq+E8QXti7bz9i9Jhi0Zrhel0/it8aE24s+31tItRoo5E/vJnKJHQqj+mzfg95AjDhdU
sALQpC2DiiXPd2UZtIl58lWRbqa7SIlNZaptlHogT93tMlvQPKAOBbOTnYrcL9Z+knLXiaJna7Cv
RTWd2TXEm761btxTQddaEoO2673VLTrllDAWi+iBDTtReCcJEu09KuX+quGTpNN84OS/9F27mf7J
s1WBth08U3yR7bm6L1XwqmZ75Y4vIY2fpNfcqd6y77splsj8hVDA3BI87MBBwVc8Zp69F4NFU/Tg
11FM1c2EdNjpKd0meRJ9RHFPVWrLLglpJdq2ouVO1hXcLFywHflys8iJQPhP4/MClTnm/xzr0YRK
HtL1hD76V1ecO2w8j7LjT2BSKte1wPgSZt8sD6j6yyzqyGmHWoYtZaHQlvqcXNGwR5Ap/zpxx49H
ndi6MgB75qWzLTujfMEJNKynFGMjl89kk/g9p4gtusskAbHXibB2hZpeWKHfK5ia4Z2/YnWohPML
jZefrozQGZTMYRpU5S6kPXtrN178t5zH290Xss4mDjA1GNv7KxLUCAbkfhAUumV4GTVClYmTiOe7
GkgPTRhWBqRNTZh/G8/lVfB+o1DNN0KwCINxO+yE5e+ysvlGiYlpWp5VIGRHHIrRhio9Cxl4zIbP
msch3TLVi2ycA16eW6r0E7ZmjTda1WwQeZf92Xkv5unRCNFqhqQ3SDOJcNdM5hj0o1Pc+iKxbwnL
H6aZhABk+FHp6MyiH5uMMG49Gy/YnUv8pJbu2Cnpr4x0PoxLOazHkEjNDCwtjVg7tomB5kUJIqGW
YzN0G8nX+tWIYvVHjxKDLtGaknGW3SRuZtccm+tYcmtfymavDf2H0kpM1v09UwMMK+T8tP3jmC/L
ShfJJ/rxaymmHx7x7I38sAYvOQQeKf9RO80D2w8FEFRPxKVyVtxRWK/Z09acXhp8AZaRZtOk/rSX
YEn27JHXid90TJjz+FgX1WloU3Ka0VgwSbDp9guNYWLEJJEcZSzhBNECfMfdYEYiWIizLsJrGCI2
4baPPZL1SqZrabT0KJIBNuqy3hSSYEBB6shhO3DkbzhcQqZnCU9g3djhfRQaAWvleED7oboR4cH4
OJYGN/R6xPKr8ZdVyzEawuxUeUV04aLYIi9nr/F4Bw1Jewh86mJeWgwyrP+MB5IGzRaCwZ5gyecy
5tGjLeQurOWl9p2BZeFymjP7d8zKDujbj88td0rghZQFvH02NJhkkTFc5OefMrSe2sY6dUiavglM
lHq/bV1EYiXaH6dXfhAavK7M620gWvNGnc+1WkZzO/tdsjVdK8e/zl1sAMZi4mI5OWadX5U08oAA
RfldeGwx7PnWRRBO3ZG1aGpxY587Shm1jLMgMalbGAGLzZFdg87i8eRkAJCqunnAZersZEYNLuFq
nhB4DtZEfPZRZIL2qZZrVvKyc6jiJRzNdac+OtpzHgjMhgAPxnU4TfSKo5273EOfganoxyg2xKYO
GWCKAkdb3iQn09F3oYtJJi3vqpcdkrDun3NbXUKumlOFSM49qmcHA284q6qdDqGdKOgRakK5y3gy
mf2Tcq+x5UYbijOjbanqGmhZSh10JB6NuilOfu8vWzdBAanvrbHci22Dalt7tJejY3ERY6vh0spW
VYCf2q0jMIr6BnxxC5VFzn9Lkf4Vjeutcjt74rzMD4WOdrpqKIJU9d6je2wUb15smz/oalBPai/b
MPwlf73e+Ai5Bq2a2nIOTYzPpQ2te5kHN4Ys2Y258WTISO8EfSAdWA7os0O+G7Q6TCAYlNqLvnrw
3JZqPzT2rjPvzXyKAcJKyp2O0yjorOTckAK48hSHdYVjY2/LIXyQiH97EkaJufPnpkV0+lWmdnTs
EXH4GE7iVTPBr2L4vm7lLqA6lm3q1ewhuq5+YLz4cnPxHCUs1HhZnwfXC7ikWSSCswg0UxR33S22
OlwiCYV5+Doos2oayF5xG4xcbGICsAHxXertu9nF8ztMGzrFa/bSdrcnkcdTbpyat36imY0HiVM/
QxKEoK6sBwxMV5xt6i/j5Y2EnnXuuzEpLrLuWq5yMk5/J7Y84FKi+o1t5lxFD2XkhrdZEz7npkma
LJQLD6mphPWNd2cX3lcFdZEbtyGqH/EXfjn5nMOBKwrE/mHPpoBIe+0867A5IU8uPD77nfQ7HqiV
kr8NxwSjQ9zbevBKM3DILRwm4qYcoSULoCEzfeak6Y+OaU4Op+WXvQDUwx9zQ5zlWdCj4ZKlEU5c
36iyB2tVFI9+Xu1FhlY6CkWq14PwrcXez14TvAkoY9C6DGPd1nd+WAQ73+a7g40pX2fWANvbg8Pm
hR2znsjepOswsA7pdugzEnQ2hF67eGLsW4c4KFjxRmwTjPQxS2UfaGN4xoFQrwQ9XJra2Gmo9oa2
/DUh4OvMDMToa1NPcEeppCFbj2j5wrpaEt78srA74W1oKEHL6UFEp4bO2mbwsqERXGaKZIclOWM7
8vfOyDLBIRJC79wgaYXoB4+wniFoN1kuiTk0u2py+PW4A5Mc+j4gR96HgqdcIetL6LXvZJVgT80S
3FHrvfQV+8cZ6we5lGR+Slo32yWYIVat38hjvOC1thz/zRR1tIk50NY4KHA7P+q+OQ6V/dSx8V1x
5NgE/oixWsvgYUMFy9RYxTmjqkl79hXrJIg6Gh8WBiJCw4HTEqIaBcD92Fz2eM66AFQnftwmbLGD
IVEt8YKSYAhjxepEPIem7QZT59NmBs6S+PQaiZFmBYfcFmJAAxFiT6wKY3bTU/ITzdaDKMVPQXX7
6m4kMfOSnQjW7rCvQoCg3hIDVJJQH1Vft9uBvP+u4pKIb0SN9rbxMmfvN5N1KEMuOqyfQpiMXOqj
wCry7LFLtRFAe7ZfWcCeoszeunhUW5U+cmTiUIL3GTbF9FD1ET4mlSh6KRK/5es/G+aOWYS/LozD
ojT1ByEQINpRAcV7GR+lOcGBKRyv3WRVk4KMjyy5Swj4YvrXXrrxZiskx+p4T0aaXGNb2QwNABvS
ybEfw1HPn43L/N4SqTp5RvGGYqsDrqiULRjgHAReYnZP+AqHJb5lIDNIv4W/YX3QfT4EY/mLd3bt
p9xRZBlv0hGcEaoSZRX9a8rRNkJkN9WMIoP/kZsmbrD7SqA/GjjHaH4jAdCW6KPjdNVhfpvbSd/q
3kTQKBiXumlXZYgQucRwsNyBFB8u55KZD4/5Ml39Ocuydd9NZAXGiDqi371bs1ZOMuz/ggokq/uS
mJy4Tg1Sbet5efI06kCaimPRgP/xrZbGqXo4e5Rr6uSYZGobA3WQqT5NsDqLWXVBgsJ1Syr7m47N
8YxlKAv++ZGz+dtfKEKnbT1v7lUNVcMTqR8fwzCPeZQPa71oUobxlx6r98jdl/Ows6KQ05/JtbDs
j9CHB6L98bDMFXxFZY0+pAO4tW1YMudZKID+wILCNMjsOMbBz3DhlYLHWETuPcB18FEY462pNehv
55JP0ydmYXRsnDSNzo5JR481FZHpGHpHSl79lbOIo9S8HuMcilMjWHJU9VUvrBr/kVoL7aFWkpdy
aggPQ58Wm9Ik3Kps1wx8s+bR6ieQ7xOvf5tLHJXAGnEMF2H5RsMlzQbSiNe2pU6J7M5TX+49N/8a
pXjSXbqsU1h1p5IOXtINFEZVbcN/bJjgtbrJsVsQE1VNcjOPSy6ciuFV2jx10ohmNL/beE3FwF1X
6qyswt6YZutZNGkkiHUG2WPQdE3QEojY4m0fX5YxhvHiYoA/QHoVmMen0SP9X4t3BzucS9x5iHaR
BeVz+GcbkQMcSGm9nHnTei8tPlLovu9TDyD/bpC9NA4mj11i1XyQCuPNyRP1NIeqPKctkuKWetYz
KXB8b3ZlA9yUXfwQ9a7x6A92+5GnSl4bSLzf4ZBqb7VMY0Y4zaUjbPFYWcxkrIFtZBU/Vx0XB5aP
9J2pWJzaJPTAqE0h9v9BVjtrAD1TGSrbqFlj25H5wpIEVzpp++wbpuW4FqFCxaFeo9xVqSC1lvvx
uCNJOl56kU87k4/d1hKJe82pwf4V2fe9rTnqi5LgdwpqKr+mKXmYhDV8IdqSEwjjbc56qDD1vp6s
i6yAnPBq6Qdc+OLTtGbzcRm6HsuvIEKdDFxrYOCTKIQFMdD2nGAX3s0ztAKye/ImvN76LlxguVZJ
oEHP4cxlr915boHaz3D7EObuuy+7NxwDNmvUcOskY72tncH5o53qoMwz3vLz7ITsM5SVfqZy5hah
HuVUPMNDfB8K215NMla7SXPp9x19X7C6tzBHckz5X7bqhtz8KaMxupZpzV9ymMIHvxmyy2x6G5XT
YQnTFbfNNsx7Ltbma6s9qMXtZODTrZN0jWmrXYPeb9dzWkNaETFbh9oCDExPNzy3Yjql1nwybY92
+r71H6EeBBK8gSeMmL7P8f61atn54t36duw6XzP744+xMRpwEARwg/LPxGacHSZ4DRjxu42dpeLJ
Ixi1TpqlWCdduu+TaECdI07E0tA9INd7G6wOEPFcT1kvcUXDCbSAu7k4NNkG2AmuVh15YDbqtrtS
yW11+1FXqNzEhxFu/n2tlkELiPCDsuMBV4hmdyCdr6EgnljIYu9xSwjiZSCoqwwSlu19Hja9/Dh2
LMIUCYGHoovHI9Y04zBks/deN5CJS1mzplazccwyRSmV8JY7B9CYoZjxDWcbALwlb2Zig9yYCcbM
62Rmxln1XVPCx+nt8ivKNM0NBsA4Bcpuq+0EYHApnJMFEm3jtbP5DlDqm2PpUwn/QA8qgeso4piv
heH+npPIOzU59XADAs0Zcc9lv5knD8YUyXM/1LSkIUfz9kLffcod69UYAQgHiLPDw9BrilTmud1b
Css084DbcSo3p2jpedqURlqdoTQUBIXC/jvt4uxZun3/a7JrGdOIArVgjbiJXm+PC4n8SIfqZbLd
cZ/0TbK/e4ADFXW3Mh+bJ8t1rBMMKOcwWXMFgIBkY6nG5oFIFGYjKUM8tW0xnTOzhMnS4tVqsj76
YyaQdRJbw9nG+S44fjugdvMYTrcytutgTJeCrvF2Cq+Q8O1tYeDbL7Ebr8yu5RjDLsKglV+thHe+
02eby/OG4Vq9DVZ0vwWq5DBmCDQFrddPja5xsLj4XRxVW8+zVcQH2RUdKyrmm9XkQh4tEU6gppAy
xEs9EooX0W+CVmgWVolbLhv1QaZO/o7/Dhhu1/j8zPK7Nai8kbrWZ9OympNliPjVyXvo+B5RZS5i
8RVjFgZ5/D8Vu05F3U0ZdeMfBc/lxcJmSRgSNHhUnTGt8X5bprEOF5E/Ln4yfERVU+HA7yzsdjIv
9qK2gZjdYWQrGhKGX0nrUc3kGrBdydshKZf9TyznHtYqxBlE3GmTUj0eyMJNb7aDUVjkBSaRaUif
YIAxSnZZke7T3mLeJ8kdPtkjjyKyU+zh09J64PsFpM8z1T1HyQ3Gd4F29qSq1kmU8461RETPlR99
GJ0iMeIrbGFoJESZmuRgxs2yTTpBWcFUkqOQTn/yxsbgQhjHQTyE/L3zNg1qQ01PmjTMm1EnxRP/
JjKwXeL+ke7YmOyJEidd5U1hveISSFEdC0deY899jFX77qRUT8e4bYPcJfC1VJ6/j4kS3YhZLw31
PHZ2jRd/OBcp6aqu6Fn5Zkvx4Q/kXKJM+Bc3w0ehrKULWuDpT42bmluRNQU86cpFCqNZaDBd9D/V
UdnNXLGqRBFtEnpRcMpl8aPwcokFScf7BaM9IkJfPIWhMe1GUCLb1CrZICyVuljQbk65hIs01mG3
SSk1mDge1n0/xw8tQfu1Mw13OoUH9h7DPEnhzImudUIALZITquBcA0dp2s7/M4RT+FxEdvM6RgN9
nXXtf0WJlD9ZnhPlE3N4bSVk3w2br3zPRsHXKz7t/h7t/34Z8rz8qeFHTgKv1Pl3QdbszWBBt4mN
u5vQb7KLEbdvKWw/CpBy9TvtJ0BuDDSbsKm9KAitanoQVl0geS8opDLXxLWrbN0WDb9mapfKF571
vmXYL4scKB9Mm+Q/ODuz5cqR7Mr+SpueC2UA3B0OyEz9cGdeksE5SMYLLIJkYB4d89f3QmZLHUnJ
Qsp+qCzLJI24A9xx/Jy915btpp88B1qmh9KKM23tXydLJU+VK8ZdJIbuZykdeZjtit2kokfHFshL
0HFUn+DPJjf9QGxSmUBJCd2cBulKYsUVZN9weI2Tk0UXCre02+v7yGH3MgXpnWkXaNprM6VcUtFR
BJxR1riYOvZraYTD8b/q3jt/aAQBRuxoNeEj24Eu+MVief0uiJDnTZHVbpkk4OgklAIEbt0duqmN
LuA49VdyCFOUr70iQgqN094aa/slrAOyGSgSu9HciTaikc8RFudrtIuS6a7xH5xZRDcqS5fH2VPm
ysRjHkMkk6sOryzu5lyi28RieJkyadh3NWo8adGbT/CJHqpoNJfOMMa3JZaQXRCuhgbbJ+ENtssp
y9u62ziTii5xwOLspAMLrpbJT9ljTk1cYHj1iHeU4R6Kp8Qu30Xq+XfzrIu3qUYJTlLuutVKGimm
sN9TNbo07Ap/PlLmtgerLH/OI8kSpKqW3UA5FVRv7uBZOMwasZOeQKOihvzFJA2ZVapvfnD4RymD
nDCq3Qs7easwSFQCTdQ8ZelPp6sK/KTDfD03HiiJyguaO400cL2nMPI7+eB9ScNbk0Qj/VhRPwRR
iOSQ6bD9BNTR8NV0VvDIVA9tbW0X+CYR0Xge9rkNz8vkoxAu5vbcUcsD7iuimeZieq/xkG0dndo/
6P3G94x+aAwvpCZFXWU9Jz2bbR7OxGaAjUZpivGZGaz3BWIe4wB3Jg1ydN2nqMB+HzW5D2q9p6jw
quVSoS442WY1iFQtSh6boQ6BUmwhjMETGippld1ZvMMzugwXX4zV3TqWv9xHlk9QoIDewIsgQi9o
SdtyrQj6ny+g5s4jlVARTvsRxZrH4K3jxh0myWPFajkDpXfTREqCsJv7OaEIRiaU8paR1u2WpBFb
+GK8lzFqYxrfur4NOf5u2i53zK4U2AEldwimrtTtH9yEnugGjoa68y0GZ6ad+yfL7bwnmXTZcVhq
5rMqxuo0T3VO2DNOMpTsBgcRUJJeUnp6c1dwZjT9sXSXjMdCEzy1Re+9WyFVcNjMR6uKHVjASbfD
jGguqe+Q91sGsLNn0RbilBDf25kiFaWgIRMTGc/ReeZOLnz1gnYpwvoaEnUCsJPWZ7oWnHAlQeFO
BEv6mXVXtUmyHzXyvCiv8nu7a775BqntvFDW4e3J9yz+YFuFFYkGc5dcpeCaHyq5jjZb0CLb3NQe
Mi008JylUnUQWJheIuOdnbFqrzmnpFeqtrzXoa7T3ZB1yQcCr0miCIu6i3nS80PaOhZK4s5xmbzT
Ab1NSzRPCAWsqzwPMTBqYdJTAv0cOyhiFiJWlgKxgReRj2Boh1ExG/dVdl78FofYafGoRz8sGHqQ
rDlGxXkSHnwfkZFkqZHS7NLSpNU7Ri94vUbcFX5x7WPRvwDxabPktIhPKo+EOZH0AyaA495mLIr+
MFaMSy0uT98yaeabiJnWLqz6+oDnz7kT9B8JHFmKL25J/h7WpAw512yTpBb7NrK3hCckVpOncZnq
bxa9vnsdxO2lZxAMF2DQULy6jk9sBqXZNDX+o1PTirISh5ECP8VMEAT5TRrm+ODKlkGLT3P7MWfW
MzHEcfRwxmZWuvTYOrEz40Q05iwR9TVRVAIw7eh9ImpgEJOOTv7UR9GrXjhUH8BuTK9IZ2n9VACX
rxfFkHZbuoW/y6rZORUa1yJR5rG6YkEEX4FP9rdTUTt8QJxHQbYVnFX8zqGz7aU+quWw9/ed28rz
MHjmKeStX2Ka6TeyybsXGs4ZCrAeMbJAx7krm4kWLZ6WB5FgSPN9hLxT3040FGADNGPx4LvdSj8J
L/sxETBOwuUS7G7xXC8q3OJ55x+aZqJJgc+MEUdTDrQZUrey/s4300ODmv11zu+mp9ZWZu9MSXqo
ShRcGb2hx1wRVN0rtexCL66xbofqxums5IIsj+FyBrKAm3V2D/2CYjs2OtwuOub8uCB0hZiTWNNj
RLF9ie2MlFsj3CeJSw6ThVXcAosBBF4H1cPcqOK9GnAsbQp7SK6lchgHG1RGe+mXQHAN8CC4IZH9
TSBjuinacEYGwlPFs5W6Sx3Zb+n2299SMw5XUhY8KPFr3/gRmX6sg+JGBF1527TEs4CRAtOAAOcq
KIvkZqT+ODPipzPttjn5iZzqeL4weY98bMw0EXwstErfBCNoUjKLokfItPNzjddvMwsvvBqiej4A
6PWJgFLpq0SX/DGWQEgiVDqE3ouSQ5YsYIzhSyJDr/C+iNnobwRxkQIoswwDzZwAM/XTKj75qY6f
kqhYoMiE9I6tERXvrAxRzK7CkzxEJCoFaU74rT+BT0uTl8XLil0JeelH1IgK4YPsLlNr1CdTroIs
uUQz7WeMvr1Fs9FOeOGWstK3Aknro/Lz/mqonfY8V6I+J+VCpSB4YlqThQ9Hk/aH12NCTl/WxA3M
3ccYT+nlKPv0bRxgc03ki1ASKRVsKWoS9n0TkKSyiJRDeY9u70fRCsVvuA7egYCuYs1z77uTB8l7
m5D+0U/TCYBUtwHFUr0hXDfkT6TZRZhoD8yTxzrlSezbWEODIf7uN9VwjNeNJjB+daCN1519Wk5b
tlym2CGmA4M1Btc70sfMm8TFiJPlG+V+/BGgfHxyUcjGRwyy6gw3lIdY0DCNWH1LAaK/InqELsCM
H5pXcBJ6krtZc0WhJZlVwTgdOchX15OLIWdql5GDbe9hvvE0qZaFuoA/0bo80ZZuz2FFPzhNypwP
O1okRuc7lFX5tXa87jT1WEQjL4kfnaSiRTAZRSszo4HTVDGqtDoa+EB7CaMUOTgLfphJ/OwGclkT
tcCG5+49jtMM8FKHZx4GwNmZc94kCCR/WkA0aKKQZMNEcsSM1DQJ97YzYdndYkuO3xNVyhP8af/g
IpdmZhOUhKVE+NRZQhTkgTeRIOwzhI970vLa9RxG82U+q7YZ3sIAGFMUK5gPMmCqN2m/eW8lSVgq
RsXmTi0fhj2TH5pP9FPctWfcTu3NP4AWuHpu4DF3okhvRj2IkVAlsoZAzgePusfwG9MeP9Fff3dj
RxRbzUZGD4ZkSRGGgAkglQbxfrGG4uSCl+EdIl1BI9iEzZmHlHsn/JifKSeRT17Tkwo6SX/b2H67
+wdz7aCtbGC1fRi0p6IW3c90QaGD9pmNsqjwgTP2R47ijP3etR3EXD00pL6ZSDLtW+tIzLS5MEi5
dzV4WPpfy0eLBOCLF5RIOsdiZOTTlx4Vo+8IRq+yyB97ZqX5PmNigZOwZIpc4MdlOMxoCMAFFdOV
rXooRJklr9pxPWtDLz3nEXiitBPAYNuIAY2vp+R50TXzTe5CplqUTndUG9d+l5DFPo/EBXVZ9jXp
0Czva80gfhKoHVPR9FdFgxbfR2O2G0rWhumi5KGYiOPMKTS7NnfPOrDjc5W05mla4glDRyHvIpxE
57KVFVzbbjqk6Rzf/UN0A0d2qZOTWZxsKxorONQKnoHwaGglNRLg1Hni0cSwvltdEABu0Xi1sMn3
ndV0b/Clkl3uZJgpRF0sM8wlbi6t3fYbG0O552SzHCqQRLt+Ltx6848Etc1U2aN3TCl3jmkco/4w
nIT/0ZnYwyydx6cJDd5tGiI4JjYs2zsyHY8JJ5djj5Xoz9TFv2VTvk7e8CtVP7vPkZ9v07++8eLa
hEH1/76pP8qHrv346K6/159/c73ef/wqttv/e/3d9+77X/5lX3ZJN9/1H+18/2FQuP27Y3f9zf/p
D//Xxx9/5XGuP/7tX96qvoSIcP8RJdUn5/Fv00Evvy/fs/g/25X/IyLU1/8UDrJY/w8+v8YR/O92
Zen9k8ghJiTS813P+dWurNQ/pXRpF9sEhSrpBvw5nr9d/G//Iu1/Kg+Thpa4DT1CouTfQf7zd35N
iXSwSruKAAEfvLOQtrv+/BevchnLouehwM3FIYblAOn1w6kVujisxu5lx/b9hX48HeVfPN3/RR7o
p3TKP6+7vnjtCYfia82U/OW6SUzrBjnMcjAeSBi7ltCm5FKf3DH3zr+/1Kd4yj8uRXvFBRpKvgL9
w79eCi5+iuTfng9DPeozJMGvAdqkg7ssaCpd6/b3V/uU9vnn1RzPDtAduoLL/vVqYxNwbIRVdLA0
D5JMOxC97RwR8SokqseRXl3SAPf0qoffX/i/eJuep8CJQsR2A0etn/ivn+jIPCatLL5JX8NFNZ79
s8fERn9twcaQ49r9+9dDGe0Kn9a9665e+1+vR6GGkzfrl0MRM/7YRKkF5CJqF3ItW58hGbs81pzf
X/Ov6RSaDxeXgCuVyw3LwnE/XdN4HeeFUREykGGcTb0VBVo5/vHvXcWzbUXt7NqShevIz1m1Visn
T7Z6PFAHenu/7uJTk6ben+EpbGDRR/U/WAFcRbu8IapFD87nHzG2v3xfMS7DsvTG6TCEBc1nhnXJ
c1rX6I1GudgXv39Ln5fbejEg/tLhQoH6T3clWJFahF40HeywJoA9np4il8pEJO7r7y/0+RtaLyQx
XfuIO/H4OJ/uwpoKt0x0MR2sQBOLqNpjEyNT/P+4CNUz+5ZikclPgbPc0dr3DU/fUMg3/NETMxmm
3r+/yH/1kUnp82mxK9reCq349f6GZpZ79OBJPfK94Vgvyz0Czuoqj6Ak//5K6137/xJtuc9YsOwY
kvtA80/5aQ/23Hn0LZXnl/a+3Nj/zZL59MeFQpyoHVv5juTZE6hPf3yMGX05RZERV7TQB1gSO2zv
BV7I7q4qaKSfps6tQYku5AMiLq2G+muV01C6//17XC/zy3tcX4bLWUx6/I8VZX/ahC3LMP+bnOzQ
2WO2vNBeafzVdGdQrk6ZX590GWPTXdMY/t6t/8eV2fZdAaoPkZ34tCGrZRZ5u4BHDBM/P85JqQ7w
/2Z6d7Z6/Ptvkq9T0+/wPRft019vGRkPpSiDFVODngapsGnf2NP6iwFc8XFxi/4+a/z+y9+/6Lqk
PfZh4fKE++tF6WDZiR5a0KxM2Mp9r7vueQiyGlMMbXVEwG4PTnWoxMffvC77rxfY2tY+3ydFxKfr
unZVZnZdHKIA86Dl6eaij8vy1eQkIo6mr26RLsvn31/00/ZCdjggGNdWniOEA5Vs/fkvm6YcXanL
wCnQ9zj+3dj5Yw5cNGEg9/vrfFr8f16HKguaDCufUuuv18H1HIzGWMWBCV4IOHSQt7Wr1R0Ss+q/
Wf2fV0agkMFzbPIlnyV36Ppc//Utxbk3ZVHvXMTdtvuW3Pz+jbjC/SuOhm2f+pGdhVQp4DiQqD9t
yaKXTuIJVx6HLlZ6b88kpg1xhkQORWxegJ8fGHDQGg+ana5SiNV56Y/9hg0W2d3oRBgnc2NREjI2
tJ401jhEXGkUvEgmLMgxY7N2ODVI0c3gY2LbFWpNFUVtpF8rprhn6AZztKU3M5HDIYyz6wVjMvQo
nd5ysixOmOg1TamshSa4tEZd5+5i+XeRWzQgbxLhHwvLG5/hy2OjSGo3vi+zwHvJjELyy+zvCwRp
9aZnpd/twS7vQBXDUtAGqXRCnxJ7ECLFAEzwsqY6L3Uw0ZeLFrmtG17Jzuuq+dTFlVG7MJKcSwvt
eA8sYuwmpsWLbZRP4wTAdclYc+EAPpSDDLZGQNtQnVEE7q5wjZ2E1DOdvKROkQ5ngX7MB9O7dCCb
yduSr8jH72g1yVPJAnW3+I7mH2SYuC9xLpD5zyUKwg05FMm8guaaM6RwNCyh06lui7YA4qLF1Jt5
+BiVLxGNxmIfEoJ412gPgAl1JYJD1YzwCgGJh5CNPRTujT+ivGgbA0k2soYc5JAiCQsbukT+MYza
PEJFZ7kmHM93pOUQf563NsZB0OHpdAr5AbNs1LnHXGCqpT4p8gua/cAKG6+zssOY+/U7fNjlRiWL
jWd5bqG1WVmdX9PtDMVt1kbj7ZyDhNsC5Ky6q57YPjgb04hAc5zbEjzPqhNaEq8yewGJ6HXC0fLN
dRK8XX4MRXodccOv7oYyNtuoIxeC4MyIaKAQTTNyUlUk0Ob1MGJO88VQHTyGOfdDRlrFQTI3xx6w
irHy0IeaElM/voaaZu6FrqI6vW1Te7okag/Vl3A1tZ6rJlRhKfvQkZjc1BwK1MHmlGO9oznzh94M
fA2vcBJjS8Jxj0uosJYQQzKB6ctF1Df0TZmDKUK3vBy/HnAn4rcT+GwEcjX9m7BCxya9fB5oX4vB
xQflxvpQOxDtCSjt7TteDrPQ1jZ9vUVjIqztaBoiRzQ2N5oHTY0mLBrruiIA2xtvFhBk5db1xPwN
J2ctCW/Vk9lj1+jMVRbiRTiCXUzVni4mQlN31mZXOMrgFEwRSDOKibrwQsf5GjTjLCa6gzqIIHYO
pHvmk5jTfUaVehlObUCXp+oRdfixyp+cMFAx2Gosm2fyDLjlFqwlartUaWft2aBGthQR6xnvRsJk
KR4XdEpWj+1wE3cGGAzDvCjkDCGFKvbSoO7YzrKm87bYXfSjbYdR7QrMhPKQqMl1t/Dgx/hYTEye
HwOJFw9rcNb5QEYH8svtzndGAkZbAqTjXI8vjApJU1Ei7p+dZmnV06hq/RUtPRYGIsrmdyuAV0Wy
g93JC1JTyeSofUyjq8HfnKdGI4hOTeW9hsUUdheRnaNlqDAqPufsbxnhxWZ8T0JVChCduWdtsiTz
enauGUW5bnq5oGCpw/HgY/95xn1mYd6w23mvSjemLxWUDOco+iN5GO2i6rZgE/NjO89ox9RQwb3l
j8rogM6g/zkOwExIhUmyL2S2FvVBmXz5qJuSX5PAe2ilFrgefEbzjM2MsLqd1l0Mqziu7gdN5sXW
yen0bfIKafYlog1GtHj5khmxsNeOG/yoE110Lx7URRQGFt6QbKVh0QVnj/KcEBzXUuu6OBvQN6cC
BG+4JxxpgLMYuLCEM9crL+BxrbcaIR6HSi7wWqOsh8fjpqF0t85Ulf0OxHdIMDbEiVtPmvxtyKb4
ups1v9bY6WBtmyXLzZZgGMaymOjVR297lr6KlOLOp9kUBGhhFbDZnNYBggGZx/z3uUxi8nQH4W3z
sccgx+APmbfDc8A7ATQjgXam/gXgV41Y7QkUba0N+rBpC3qBW9FYIGSKFMqCnlRIqm2J8LnFcJWn
Bfe5Ai+5Iyu6vLaGjka+FO+cFUY8WaENmJ65apmMmEyWnEzQigpj70XNPW1lbAYVbB1I8I5fv/7R
ZNmWpMKFyOt9og+8zATXhlKB1zRPzWU+J0N9DArTL6T7DeRygA3qKcfYGKp9r4LvpeWiTilWx1Px
TuLIwGkYBgdf+TvequVhdLOfro/M2QY7l/gPObOtQzaDt20juJbZC5GlJ/Rl9yqqqq3dgKYkSSa9
JnuoYbKknhhvg092SVggIOuqiUm0AfVvEaXK0pp5ym2xQIEJHbszThd4Jpk+BnAptvlQMIQcdPtV
dIDWZFbcKj1Fez9NQMmDqt4i4Ou3s6pcZLhEJFtRac5QnhSd4uhAQMB84bQExceFHq7GuV7M3sRs
fAzt2pKIYMWaL/2q+RANWdmeKXokWsgpHlsb83KhgYgYlPLwWjilHI0H4XFUgXozS+UuvHfuNYKs
GvdhScLuXhaCOjYJ5keGpxA7lj8klLyRYz+M9tEheupG4rj/Ko3zLQAFeiWqcLghqyVB+gpN4yWq
o1GjqvTzm8aHVks9NRbJdgTA896QO4RBvOhD+7ENTCxTPhAveBqH+XvI/CpEJgvHb0HU2T0tlsIV
F7sPnU/4SmYmshjrDD8x0vTmwoMZdK+TUfzsB3xKkYjmvW1iyo/E3kF+R5fIiLLfQi3EQN22dvsj
pJRNt/g3Q+INs8nutsvQkmWfiRKDIv9n7UQ4ut+EEfZV5Vop9ujAhTisDasBwcKtj9BopzGqkLe0
iB8EVy7j166YR9DLRdhGe4wTeYpZvJk/FtdM53laPkgB7vfoXrtrgjCD3VAV6nmI7ISB4Kw+DGCv
XVNlFBZ9XH2d0D/eTUw1x3WJcLulNmm7Q9TX5aZphfta2wSPB6O0f/pR8m0KSnFHmlD5MEPTpTzK
947lWD+trOivKsyU2zlzXmK/aZ+lgtpBYxVyp43HMYPSzDaF0uoLvqmLtAn8rZ5Nc9fgeVo2fg9Q
YMSqcAIw+XOgwb5pZnTH4ZS6+6zTyx4fB8O63lqF46M7P2bIjXeklkZ7sLC015suxbYUzx8pBudb
v2Zk6dgNuLjRKe+9ZDwF9nLjWwvDi8x39LlRVevvkN94HxiNSx6jlUVkam3l/fcxRIMGCasaV2iO
jcC9IMDBG9C9jXa+S1xxWENt2PWx2DCfy/dz2CqUaHpVh1DMxagdp/ocLgVLFjPpoelxqQx4yHcr
9Q+cpLHdH5KkrW0QT1/D3sse6sqQVIfCbT439ihhQdrMM8ewfBVZ7zx2AQBwP50pVjOiK1FXiccS
SdC9nboA1jnKExHFlG3A2hJYN8liyGirOm6qwkcGL3mmbXQLro5RUXxshRx30G/6zTQLthTVseRm
xPgni+l9ZmHL8IcBdBMPr8O05FhwGHJQr3TZNjA4fVB+ziiGi74825ExNxSB6EiLwmzDWkFQCwvP
uqS4thjJ9znRMKRcfGXQNGH8zJKmIWwhZ1BZN9Mr8jkISDN24z3ONbMmjLnRDd3cJdgOYiaCNEgH
lG9uNbNrUOOdieSClxQ4sbWlCEQVJmZ96Aaas/jUckGhDGuQnBnyRJe9JrOEcwhxO3cIwJbulCbw
ZQl4GZLLokD3fwFfbm6uQ+bsZDYNzTBeCWylC+6dvqJicUqxp/3bmD3TXuoPqHkDynLLeZSxVR5R
IsIbahD4RfhH4HqBurYXiPYMP/l7hXLnmo2NQSrvoU+9tLvp2fWpXQuvtC9GcjouGoCM3Ap+Gz9C
Wq76u8aW9Y1vrI8aEsRunhtnLwxSNwM15SBg//Myou4J5Xz/0VRBXxxx6aEYpKrDGmDsm1Gmr71g
Xt5O2U1iAahiussEES8n0vHIb/V2TDwOmy34hyP7UNrv0jSOoJT0FFybOQqm1yXrwX7amPXBKzLx
xUAUkVgAXJXzJgKnouH8CmUd8Xy5brQeDY84cvRFGTvX5ZI+R1YkcYeBkMBduvcofs55XOMtsZvo
arDK/sGzYp/sCDQn2yIn0SAKhaDJ3CLKS7w62XYECZnbGgzJVdLLbM/icW9bEM4erDB444fWRg0T
Bh4/lwYE/EQqlaXaEySuarOkkQ1/Jolg2uOk2CBHJk6Jj/hkTXwtGxuQ901aWM9tbSqm6rPz1jjF
/FUJGOSNdDkdId5FDACW5lKwPyGLln594BP4yqzBJl8I4Ycm1Az3EfIcktU2oy+UgHUqkU6yFoAN
9EofRdugAa5UFR29NL5qU//NXaLgonODa1kyWoTDOBCZUGLsgGVjPZdz3T0RGzd88UPfvo0LU+5N
lQnwB9MP+ArFDQyH4qZtqumdOwuYPxnMNGegOGrmrVfDGHjnApSFj876nukIBpbESraIevhskSLZ
F/hmkf6X1Wscjetz056OTu4LZhiOs9yhQOD87orFvkwjNMkCo81WsimSqVa4a5hq8tjlfYk0BOP1
hIixi2rGw2E+Es46RY8+1j5sf/MQfcmjEIjmWtl/48kYc9Gu3pHgkFNJFRQYeqgRNUY3k12GF37r
NS9j3djxmiFfPll5BTp6dDt3yyQxfIhCOVwZ3wuxcepCY150kukqFgp8HKmvT0452xO6sdBPtgNp
2Luxt18k//6QVx5qpTEfvs/GARtC2R9lIZK/EIOMgtayS8qVyDJSRx58nV8liPso0QcAXEhapgbL
Iqoppjs2oMdm/EgIUj1FRf1sVE+AEBo+MCZ2PfAgzTTs0pKa46PG8IIHNc5mc43/sJ6e7LbN32NV
hwf6wOVrpFsJOSsQa9QVI3ayUPwfeppDoua8lj+zdDY2NUrh+RANNtZRXRb2Dc7/nKjFpPrw0ghn
nRNZ1xhF/OKM6cq6a/L17DC4/fzqK7egGqeI+BIW5EvjeWfB7otxVk9JbBmOFVR33xCgyF1K2NOH
a5rsugn9+euoBvtBOLVGPWOV475C/U18WpXk0c53kaLYlpN7LLTSvyG1pgRH0YnLMBZEIZNV2wa8
VleXmL2g0tTpYu1qwqpD1DmxXuFuEyaL0MBu31gTepR9AdyLAOHE9i9T0SHXlWoR7i4bBuQdc+91
X3s/otTHVuqdjdHes4wzjbW6b7yBHdvv273pbTihKpr+8J/o5lpPbUeCC7qGcRcQpnftehl8otrt
SqCNVZ987xFeEaRXt9VtOPsedM3cddAnVA7kNGQBMy5MZ7HfEsOmvgsmIDWAh2ijEHTWF4+ozHOK
0JWxtSPFYiQYh5iraM/usQauNL65H6c0Jx7KdEW51fXgEnWMcwhxjF1ARjPkZm2U0Q0S7CmM4b1l
OfEmJT4HQ31H/bVrGgmqFJBozaMg9ex9rnX9E84uISYhjD1EPfSbriuGsVdIozgGp6lmV/eHebiF
hwXxJOS2v7WGAGyACvp42IwN8NottdzUXQVTNLWnkgn0sqXXy6nQTTmcxOEgH4c844hCUvqC9HZI
2fdm2eP+1umA6WA03VXON17uqhAn00FnMazPdlBI/3mAL8dqsvmCCws2NGDAABlIOi4xo4+etEUi
W3KmiXIOe9CGKxKQpYXFuJVw1S7GoncMGSq0YageHXVVjZhK6UPp/g6/kbFoxEwc8CRb7bQptc5R
NyP3t4jZnXW6121X1+RKVe1jnhvoAt5k0anSU44FwaF1u+llwsGD1h8uBEE0sNqRMVHf2KnNQ5PM
dHYkTwQV+V4J3YpdpnxEiDoYim+J6GE7JdNQQIUZelB42M9fQGRAKDB1kFoQV2AaIQEmTA5Gsz1f
y6Alvw3JfnOjF425LHMwE/EXvZ9V7FJqhoOJXpXb+T8NNhnQqUU5HYRVNHKbegG8yjnI0B21swFr
UDJ1RN6VuHhTiQynZxvZNN+gL2RBcgh6LV7mhPT4be1ZNtkVTYleGlyglyKxlvQdMhs3ieoap1ub
YHQ3wnqJhj2dreEmmufJJ80vmIpdEliWD5KuMvSrVTH5ULBKwbIvrYajmnGCBshvEyk6frm8i6Hj
iAsP2BwA3oF8KRXiKsZEg5iUXAQLDyGYE2w1Fs0tAB9dxUwqwDpDzLMLPgJgjDd/W9HsT7zn4CHx
SfTZNDiavO0Eb6UljXPgbWEpn3lw6jqTl2h8sglcZidf7CbmVN9xjH0ZOqqMPcm4ONVXQ+qDn7rI
dxsgRyiCBqdDHFymQ7OFq9p/TWzUmTsPdab8MfsIKL74FrTWa6pe0YBZTuqPyekdMjthyLmb0ca1
c9XVtMi3eM8q3LaC1hexeya2DVTdxoUIOAguUTnuRZEukxQ/qVLx+BO2lCqD9SmctNPcRmBM8+Qy
MA4GH9RVOhirvT2YEDDnoBgjdiseNvO8LZpf4j1PVaVyCA1DnVc4e7Mqrm7RTpKN69J25zRdZxzZ
XbuEMJoz1AFNEZBzcuH3PqqPUlDb70qb6JRd3drAA2QFwv3ZFmXbbSqYh80xyppBb/sAMhMwXN84
W4++Xo3c3vaHXZY1GFEHNmveeQf6nwgavLpnM3D83Q5/RvcwLU7DyyKjfN2HTR5NuOkbZ7lw4c2m
dB45au7iSdOhRheYxnvauAMBJG1Yt8FOysE7xgJFLOGIBFTSR+Foze2flu5FDHg+fm1J4lnAqzh9
vm9qp66+8xzpxaUL4+R9cCKIK7OfcE6bR4uhCy1hBAzCRBzvp5qq9ph52M9ApQC2f6Z30IZfst4v
KHarGeNZKewGKwjnHgswLHN82gRDRPyWNLUF/tgv1b6eChG8plB761PWYHSnsyJXegjvKD4Dveqf
8cGSHGZJLWvKpx65mWWlXXFpzcQanocilMEaTMI3crPEBesZAoXf0btS8lGoOl8/7Hz66AZl39cS
6vxmSObewr2L+QD3RicvR7R0yTF0pjK4kimNGza1WJ8tiGyQYIZBI9smMc27hS4T3dP3XYX18WQs
62DXIQmhEJaigHuqR/GGDztwN4ODZOYlBMUZXUk1yP5W0lPIjp4OrXkrLAlfrgbK910og/mZW8n2
aJmhENhLMntXvJJDx5neRoD9GtYaJ81+8CToe6TRZ3IcG33XePDzefxnlNij4zENt7sUrXUlSt/a
089OIOCH0UQWJkuyO4RTUZcnaEzTT8ruRPKMwW9/l4yTmL4lJUbPFQkIdR1dB3jzzJrIBAfpyXF+
axda5O9uFOYzhc4sgj29TMuwwcYD2v2BSdiW+Xn84C+UTzvfwVnBQWJcaS+iqeMP9EVICi0yax+I
7JzlRs7aeVhkBqIVfq31gLLZqY5ViY8FB1SkzdFdCt2tGGBwTQ70SpKMVUOKmTeieg9LN2gujYM/
Cb/iIm4LWcuH3CMmeevYRf8eRIiYLrFKglfE/Gzd1gJf57Yla+FBchj+rty4Sq9JW4h+CiJfrI3K
otq6D3Eb3BOFAW9z7kwQvM7EA0y3tFPHhxk2jXeufQ+EUyB1HZ0GCF/9VW/FBKXmnV2Rpyt0X/FY
ydETE3Gc+uqmyZL8YYr0QMKpmO2OsrKNvwZrS4jDNJnYQYoVlx4ZJ/CljRf//3B3XjuSY1mW/ZVC
v7ObWjz0AGNG0+ZaRfgLEeERTq0uNb9+FqMSXZ4sNzeMPTYSBVRmVTJoJK86Z++1Nz35S9YaCpCS
XXswSjjK86W1S5z0qM8DErL0ZcXXfTNWnrhmH4bnMq2IAd6URWaDO5EHs0OPH7HCoxUyvodaOGHY
fY6yK8UrOX3aHGUZk2XkvbF1aQ5pzuK6IL3QH/a2EEFLbo4ePPilw8rsIM0GqFenVMlLCREpJLJR
rIh/iJ/KKgqDTa+OYBHSRsYg12M5oJqjpD1KWVv/Vfj9BIsLpkRpAwlYmOMO86TswJwaq9eciumK
yJRqawa6oq2Nuk/fZR8Vq2vXjkHWXTFmGhGthKa6Fb1fZRcPRKGD2ITstTQVckv8Bf/3tN2SsMut
moWP1hheSsSmP6pbq7+JJdJ5ISuXUbC2wrDMHwhyhxUovBEbyQBropng4mJclmrmf0szG0Ktk9Kk
Bt5mKe0hz1KO2RYVCJJ3scETMkANPlmGlRG9QtQvFJesdOcVCw17Fzmuk2BVC/olbM8CLU0YdF7Y
XfsKfiiIYVAsD/XEDlgY+mj+NkYZVk7O30euJ4umvorrBoCsNmolVt7ASvc1oBU2WbLW/yTmOTpM
ORT00KpYPqSRXjDku778LpuYb9g3ULdmW9gFT4rM4Lx2AvrW9Adi3HtsmGyKn1JgrhQqh5brQEzb
kkpg0sr3oFlNPFNHWjVpikkeXxg7avQxMFvZDAs0z4QYBvuyN7SUKFZUz4sIkEy9gfsfkE85KlT9
O7ngBF2xJnZ4FXL/VSUzC5CJ41Bmp9pDHYUWpyQD8EjGpzxISnnvRLqNdc7jALobbYvdoQ8MHLuU
IWG0qYD7Rvup/43oM6I8iseOal8vk82Nyy5NxlVQw0hbGXpXKYs2C8mnS7rst1ypqBkD5Jwj26Qg
agl3KnqPpTeCvWn47JAFiVxHj/MzRsgBmzsFGnvIt0bYY1iAwphY65zeLRYGSq8WQm8dYXICgIHY
W6PD6VnCO2MCyUZQn7S6fw6OT1R87hg4q5B8TfsvqjApqe2KqYCk1eRijYIVhrRg7b3HXp/ZII3Y
ubnSUGbmhrCeADaVw2TO6l9opDK3BV+kDKpa+V6xc3sEx058gezhbTBHw0bp7weJxIo1wn2toxiD
u2CHQ9/MS6Xf5F9iE4i5pV2SlSoZOlVsuAnLeur2keE96bk6xC7PejqQkj6qQQcKMeOAWtUHyBXq
4G2bvtVJUgh7Jd1RpccIjTY+DKptzPf2YtF9BzpZUURaIerA31DLSW0u0kQJ4ocQWTgtfjNTSegL
SeER67EzjeRHR3JnfWeUcnj0Qk4ix0azqbWNGnoacFRq2B8oIBmvWdwrtTttJr3dlCuIUYA9ZLtW
9dwwH4xIODcNWDMwFKpe3dtxNJCoXiTkMNQ4+WHJJ2Oh0bk2u8dYkYduE8g1Tl4h6ba3hd2lO9um
7LhFtjcTzV/rwFs2HKCHHfbwrriJQWpw0z4n+es2AefoOnEnsc3zZC1ahl4DMLWRerAWzmDY+XL0
gQlFxAdaGxglVflalDHQp2WaUZFYRToFnW9IAqrXPmgtINLwEap1ZOUmpL2mtGBNRfqbX/rR48jb
A0kfD0CNjobJmAVkZ1nXQ+KPwCXNIaeiazcRYhnDS5tNiLVI25GNYGFfBswt6ytt6Dqo5qls/Sxt
HZxCXSQ+uTV9qmZs06L8hy/pqG0zFD/OckjAsm1aVtJyryYSZfGxRBa5H/1Al189JaiUoxQYDWYg
mJUayYbFUFbP1qhSJD4iMMZmRFBZ6j9bAbhCDD7APOtkEdktqQmdlXL+IpE67Q4BwHeHIDbCy4ky
MstqV/S5it865pi3shrgmluTNQ1oUxXr6m/MvEbhdgE2xAXuYoVoCiIP5KVKJO4btkwapAWxdkiV
e1OYh47N2q8YKiwgvpIImEVSCsO6a8iyNR6squsSKDsCCi1tgfh3i0RCox3BOQz8B39ajfHyFw1O
ajCiK7tyi0qlKTYUs0RDMsOIgRDXfbcXPZyH+45g1O+0/gL8pLrm5YuqbUtK+HKgv1dxLEE+U8Lk
qepb+YmMoe4V7IVxW3P2YlvbNsVPxEy4ZjrNEt2yM4z0rtXYD7imXnb0B8ijD1w4uANBSR6ts0Wo
Kv07IcKwiHnHVrWLfIOAxKynL45P1ez5P+b4iSb/kP7KNox6A1j7ND1S6mTjhNymDBcM5vSbOgBf
IA9BTNJrYWv0osKwD2hFiBKccZyoUbhSeOBTxp4U2QDTZEVcIY8MBIdaDaMUsTnURrU+bNU1guiK
mJy0qZj/yngs1+j5oganr6EnK+IY7W9lr6lIlJSU1p7daX60NCVVI2+rsJiGh4A1Yiv7xDHg7zdZ
6MKg7J0jqm0T+GycJcqWTbP3jUJDxa4gxha/MhEU/jKNlOwrppaco7Hw5JUWp1W4NpF1/ahSpSQk
Gro0vjkpk4W69DqjJGjKadTxUIH1rFeWXU9BfnCZaJIObeofB3UKwUp0q1MPY+LpVOyh0Rx8SuyE
9UL8ucchStM21Z3swNuPgCYEPut27HXw98D3T+gA9rSLvsxGkHihU6RIR/NQWmYh5cEl4KNegysD
BBViZwqgzR55T4eIzGEKWWroIcVv+Ld3EG0iYyNlNDOXidoUN2Yt45iz0B/aXJ7cA1cBcQbip4tL
0mrgvgXsjezy2AUOMHoIOATwWhV8zNFo4herGtjli6TyaprUdDXJVojUKz8oYTDz0J7QRhgjcY1x
8q7oqGXWdWlTqOsgC9CfNYbhOggyB+5oW1CH5rbCDc5wiLAoAqpwgaHVvO1bdoBuluXda0M5ggh1
dk73cHggZ+QYznwK65qKY412K1krHHhuWz8zr2t6l898xuhiugin9VLyeyLHSlqzFBAwIz7qusgx
QdH/tZnaa5jWvPjsFo9oT+EqsactTYJocFHC+v7mcfoHM+gUPlgk36lIxQXNhj4s5gNTSb9Yh6Y+
vBHYZtxZWqx9JzqNdk1ETg10LmqsNzGmZlJU/OwHFU1rF3dNP7y0AcFinan7vy1qoPib81o/eo2M
R6tIEvVe7q0kuMmKUqJ02DC43IiC25ukE97oCnvE4d3gJX0z0iGXboWj1coiVlBDbQn6MN/tNDLT
paSl1TpBIYUIimBatmGDGl6ZBEmFYPoQB3KAJBJ+TwxoXL6aFeGVOJQjYn/8IgZpT1I8nfM09ohe
Vsp6oHk8SrKFQ81jGfcr7nFBfocD+zCPTJXMSRqyrhITYTJ5jIEdVXpbxuzjC+PKjg1dRqFisb1D
VcwmQ4x1+K4yhCFBcFisXFQydbFG1wUFU+SqyTuuQsozILJb24WsKW8jjt/YCcn1K66Mnh5Qi2jP
WaqRRcRCFDkdHNtAvcV3Lb87Slw7TKhDxJvyq/zK0PWRmWDsx3cjjeMnCREz2XdU9X+xnDWoKSQs
DIta74hero0RdAlqx0g8NhgOcoilhq9hdCSD6zhOFej3MIxgUpR2GcYr8LOxWNZ63sfLJHXCn7RH
YYo3HUTmXe6zA15YSYv4KnD64Wqq0dQu3IfoqkT8FCEzJVTiScVNyu6gCoxxYxWBr76hLgAxFVKf
G1+44mDiee055ng5GZyk7MltshzBMXfLHNYwepUGdEIWjrYBSS8hKnlZp9Wgb/kd1AJbo7DzXepY
PZX/yqOkn2Ju52WqE0NOhV3IX+RLeJG/kkTAgKC+R/+Nrg0cO0Omdo9MwTNfCtNLje+YS0r7KGUJ
rVi5jNlJ9ogwFqqK3w8W4IB3VPWRMT7atBGv+qDGGdpXOcQS6Ahhuq2gX7CDaoW6hifs5EDELCQJ
MZWe/BqGLjFOnhFq0LTMkaIHORaBtLDVDEWW2g5hSS4DcXPBshsoTxdUfKmkeZis2e+9lgm8523r
+LJ4buUiV2/Y4GDDiljI0rdoJOoFXKLCfUnwRgkbHBJQL+FSifOevAz6fDa4aB9/twvOplAhCge6
jZcyB92HTi/PjpKP+xL6G2FQBGx4Up1fKU2NapCdko2XpjBlSXY7x5Z9e6Gx72tQwgIlZ42MjZZp
b02bLtKXLUELpGIOHHDBVMYmb+wt0Ekm3BfaWFVweCAtgK0mzOONrUhL7m6P17zsI2wGTTHSRuj5
Ph7TdrKb13SgKNhLvfghj5mfEKrpOdYKvLoEtFiCdI8gruso/pt6798NeSe6b7gs5eZqyNS82SL3
mwjJsLwQmvZhLqubIZaNb5Hva+8VH3G6LDXD610/V5OpJ9nWORoPVJHSQmY5JBrek8rkvmAkRksV
US2p76NmGIRO+tELX28/kXM7/XdipqF3UKq6RZo5VBmV34Tz3g4yjkAGYUCXYUShqFlGna6D+9I5
ZP6A6AG8adTwxoDzZAGC/DHK9PyJLmL5CNuB3DZdA3fGodarX9CxoXvTyBmZGBfEj209CA5UZSXe
LksHIbc/jSYFVK2kY2EipQjMbKpzZO0+o+kN6Q5jm1VtR7UwsMX3bZhZd4hSUqoSo669QaArAYJG
ui5T3gE1tKCSAb4Yw3KFCFaGIICCNEHUVbiRjMRrrVut9S0gZdKgyo0WYF3GZJ1RhzaLdm+AWx/W
pp9b+bqmUpLufYW2yNYDLuK5RRoD2bHBm3Wu0g+VQ32O9Kp44feDU63IYpCajVXjFzigKizkZTDW
Ro4NbwD8nqvYkQn8Ep2zgXnZad8lpWcDw/FnEFt1SOXggDY7U91gIDmDxkk4+ivaS/a4QuyYsjUa
KHgu0oBz+k0j16YG4rmQQRfz3qsrXTWQRfKq5QjwTVeTgYFCllkGm2f3wGiIlUdZ7af+ZCIJmb3G
KN15KuigowLxV79pxVhiQ7VZy3Yl8WHKwmRBl8Ch2RihjAOSjZZxE4C/yb55pvDLQ87hlPoN+Mr4
rlC9IeQgp1ECylWyZl6qaqRMj/zdr35IEU3C27jw8upZ5OhDj44aDXgXnQI79VLJ9dD+BYKQFhHs
YOrhCtsxaBPXaqf3tPu6LMvuqi5XmhfCLS01w/2hS8hyUEPXBA9Bc6i+m1QV2ePRsyeuAVNsEpFQ
wR6Hr79TFOtbh+jEZA9Y5F7lqiq0+Ee+f7gXS09OHKhIsdOr6bWOeQFk9wDlci0FzeCjGaL6CDk+
lITYRfAC/f2QWIg5hgIQBIpIWOK/8ikR/cVSElnaNSbHsLsRLzDqFWCQgXIzdkrTIRCpxuZ7Dhlc
vSoA69kusRhWOU5qcUTybGF9WsAJVux6OOQkmMXxQYfzmKk3rZO0I/B7XfIELGlaJJsC1GFyTZFN
5Ec6lkb4YlqoaA5hHlTDTUcqmQx2x8mdaeVTj+kok4VaVZWzC82MNo9JjZS53YFfuwztwtpy/qVv
GLKJQwgi0CpiakAsuJA5FL0ldYFssI05GC8IqWnBsOucgeFewhlpZM5XkrVlZ+hbCJgMlAHepu4D
X+83XsdmFQJUFFJ5IvEHOHy2pQ+ipuIHsI+cERkniBaHA9AynAEgyERz18pyAwQE8Wli1c8tpRaN
DlFKRtLwllZAj7Q1U5sp13tQbEFpr7u+pkrWS2i4fVdTxlBP1nAPAgXVQzhUyapNBxMdaFF4ZHFQ
NzOQA1SV7ZfMnirtQBZjsnUlRLhBOkBYx5FPGzKoW98JV52sVQA/YSFEYkGH09aqHfowo79NNFVm
qWi5N+dBM0Ov2wr6KqPrW0R+uDaZo2LRdZW9qQHHPpdxQxc4lH35rtPG9D3EFNMsDKI5frOstZAH
6RG+WGPmvTpodJtFgar4MWpsZ9PLBDRvU1WKXxVRGi8Z5J9vAcSlFj9MWkX5WsDboCJWG32ywkik
YGIJ83I5ZjS3/2ku/csO/5e79J+x1B/t8h/d8//nf6kdX8bz9V8f7f5/2fivf6TY+Ld55v+DErL/
j4f/i0Xxnw7/3a///g960Pztj6rmvyo67nqTvwyNRF1dxRL4zwBxRdH+Ex+WgjBYBc+gqHil/goQ
V9X/BNdC7crEC4rLSudf+suRz/9E7d+0OIurpjX9e/8/jvy/W88kbIMWfznOzNqGfgyFoGhlHDwV
+cd7JwMSK7kfHsZfn8U/sia9zdEuVf/9H6cuPvOztUOVUqvs5AOHuoXZVM9F6O9aR119ffnpHv/l
8vzXvfNsPnrYWgvVPrO8fHCA9DFi4ZEsvr7y3231/7ryzGVoywXwtKCRD6ivqUcC5iMVLBpRifZX
nIg57//++g869RNmdt+MTbJKAq98EPaVIo4WQKCvL3zi0dszU2hOPQR9ri4foG4sepUkQAlAGvLR
ry9/4r7tmf0Tb1yLkmR6QL1rFk9W8ePr606D4bN3as+MwxDk6R8UhXJQdHZmmr93UDK2xDR1FgX9
uL1pkNBDQVpqvU9MXHlrCfxAHC0dozj2jnFDm2YlJfbBLomoRyyiynsTWiX89+KMH/zvFsr/+Tjs
mXUyLwy7tXJZPrAn/jZ4FCyjwB3jd0dP95TYNl8/iVNPeHqxHwya0BIVmjk8YSV7nWoBfXRm1Jz6
MqY/8MOF/YxGSFIx4i35Gbo9mqB1al99fdMnxo09G/CwYfrapG5ySBttVWhEplKPUt6s4IZa3dbL
z/wE69RXMv3zj7+hzlUCDBBnGtpvE+Qgcj+oweFqSDpvQQl9k0hE7OUWjedkn8vG2leapzTOVkPM
aYwkg26QXV/qXOF5G1i+YDPGm9IMXDBYbmD469Tn/KxDXvc61yYDHdYp5zpQpq3KpqGQ1iow41GX
NoLmroZ4KhDPVJKKpl4HvXHwiqtsoAhJLLLRBvC+sxu6aAubABaOaWRY9dcdpQminYDL7fNcXScl
qByf6mUsNkw8yOzNXYVWo4q7a6l5bZ3WNcWvHAIlAoiVLjgZWb8IzHInkPQID9rW76MRXrQm7r5+
l6e+k9kcmHWREdhjJHMGeSjFqx4dES+dmZ3U6YP4ZOq2Z/NehKY9bRLGkMnWMUUroaN1poNmLRFj
bgldo3mP/eA2nJh3arAukJtog+12YXAoerKhtYEWuPQIlnVr180eaNZ+YC1z4UeiuW/PfGh/xxn8
z1C3ZrNoVvkl3DS+57YtVp36LebwI4ZXBadsLr6NbL5jaHhnnvf0YD95JtZsTmVY9iOQSfmg2d4L
doR1Zd+aleAogrWRsCKkqUpkMbSMm5qyBN056memRYAGlRlKzi0Bq0kjv/gJZ9KAEhll9hVFFdRt
5cLWoEkmAA+8dAn5jEjZkQOojUxy77Dvt3R0d/gWkdYocKiM4l3hIhzvlgqhSMC6FjEhtVmab9Se
bDlKAb780CnPeX41xfea3qMd/86VCqBW989N5UliyYkJ0JqtBJ5kU65DkXCABowzB9+ud+bK6qlL
z2dwSKM95UVeK7TxALNEk6kLuV8FdMdjhfMCsguMd4BlZeXVHrY4W5YDdgKKOUu20wtzfOmR3Q4K
xxrSgqLwLqM+2iA0y9Q6OPM9nLrJaVx+mONMghUwWDsDwcrD1tdZzaS3r7+0EwuYNVsBQOQ2XpGp
LC3B0XC0laTDGfyVllssnGf2BycmD2sa9x9uvuj8KHQ6FplaYsV+brsfmvT767s/9Vxmcz9n7TZG
KcuuzwEwsR2MMwvuqacym+/oNGcRNmimJKYRD3OQUmHWE7upeKiLh69v/tRzmc17ZpIhEkSifehI
kwaHXL6Z0Rn2wonnYs7mKiSwYMr9QT4QUpJp29pwv77lPwCiT+YlczYvlU5pW3Lby5BDg2UaiU0G
/twcEjSUDodUe2eF3wWnXVUQarWrlCkeTn/Eg0izE8+NVLmKTuojFsxOxNu2RZxbGXu4xK6hCqqu
WF7GciNBqSsBq6Kq3IUNlOj+rrWuVSr1VfqjIppIGna1ARyy2IX+Cl1d4b8gtjuzpzv18GaTjYTE
KCVqhU2RwGJUroUjXXjl2VxjFkMFvTidDin30YCDMzkzP5z4Xs3Z/EDwfJLqijkeUnTJXUfMahus
AvOu98hPS+Rzb//zRcmcHtiHgVzW4yipHhqlFlCnuhP6mYFw6u5nEwR5mREjjg0AbvDF6NPDeRmH
98FvFnGqnHlCp17qbKbQ9Zz80wgMb0Jyk3Lwymx5ZkiceCjzqSISRaemrNQiWFG1Lv/CGp5c8k7M
DuZsduj6SeXk0ck2q2Jt0jXFmnlD/PBFd23MJggKwaLSQh4HSi6IFmstd848jxP3bcxmCJr8Xi7H
znjIvYdJMKx77MK7/MxrPPGpzFlSsqz7uhgEm33MN1b82GMI08MlUuiF2v36+tmc+gWzURriA20w
yvBniG2tP1lxhZ3UPPMDTnyH/8bIyxPR4N7h8WRuyRg9d8Y/dd3pn38Ym0gJ0hqf2XhofmCEJori
62dx6rKzoVnUNsAOxxgPnbwNsPGN7mXXnQ3H3hF4bBJut9YB1ysPlXlm5Tv18mbDUaJlgbuJC/v+
TSvfKZzBtDO4q1PPYjYiiS4Pu7bjWZBCTyMdlsVFz2LO7FKdCnDh9OoczjXjFtLHZdedj8R0xLdY
TPcbbKz7vFlddtnZ8qg6nEPKksvG4VWoLdtxc9l1Z8MORR6S3Yrrpj6pJ6+YCi+77vSlfBgZ2MRQ
3DhMSESf9PEV9fkLn+9syMl9V4LBYA61EcihSo0vfBCzMZf4AVnNrT6iCn5QxwdSqr9+ECfmzql8
/PFBBGE3ZFbNg4iKOzOu7xBbUQkjHkjYuz6zLnwqswHo14FHng5/SgCNg+itHI/i1/d/YvzNmYtF
W5XtWNHAGlFjD7u+v2wt1GZrYRpgKApjjQ862ZJ7HDlnnveJ+9Vm46+RyLUtda47cGhAfOtftovU
ZgNQG5VS0nA1Hbp0TyC7d+GhQZsNwK4G2jOWDhLdKWJiO0hnvojpOX5yZtBmA9AOshxeAM9hdH50
gqxrGIhNBTe8ch3xqPsoterbiz6ROZwvVgRJQcIaOSdTSmoelezn1xee7vWz3zAbk2nZFVZdMCYn
OQP2xI06sAwY66+vfupLmY3MOPWcRAaHSmveBI2kL4PXyy48G4yRhh0ps3j0rUBRufWaC294thTW
0KEyr7fZnFqkS6o34YU3PMfrDhqUajYyzH3FrZbumuZw0YNQZ2NRaMhIrID3lwWHBGdtMERnvu4T
X8YcXy10H2fXNHs4JGJZHGwb9Tbzz82mynSDn3x46mxQAvDtYA6wKhI7WQ3BbeCQkdasQbYtEC2g
KnnCpbgoY4h0YJAG2L2+cp8om0HHLFssycokiMY/81uV6f1+djezoRw20D7QxiCvxRLppTHZTNjZ
lH2DkcZhZKCKWTbWfd/al835f6p2HxbvNg/5E9JkOBBye1sW+Y04M+mfem2zAd3DUQmKhF9iNRvU
WouceMKoPnPXpy4+G891Reuqmb62WlMgxcVrW34IJfXMW1Cn0fvZW5iNavRKmqiE2h+IRllKU/ZE
6a8zfO5B/upV6M8JMfdVaT/FkJvYcwkNcwuYCp0OnxCAgaGqa5CC13kmuQl8v9iS9zWh45cNtdnc
MJpKZaYdQziQS0pCu344d/g7MU3Oed/9aJUJmxVmnQFN0C6zzsxmJ17Xn7H34SPTMT5VTcx1Q2WP
q2yhk5wiB8OZ5/FnJvjkdSmz9bqMxABphct3FTnbUQL/bEnq9zIuyPdWx00fae9O9CJDVYran5n1
qKsbA5SXQcROVv5KOv3Q6uuheNHJaqiq2DVTxD34uKPRWDqJtiuqZ0O6//rtTfPKZzc7m2+EHFVO
1aXDoZB9IIKoqopFqiD0VLQzg+PUW5zNIbR7mhLQFwImPV9EyftQXzbHK9Mf+OE1JoZBCKKckYFL
b4+DyYVHa2U2VYxKHvtDQdUOPtdSQiGEy+Syrf4UzPDxlsOk6JUe0MhhyA+QIrL2zFs89YxnMwRQ
eSyc+I4PNa4WaBhLZN0Xvr7Z8C5JDVT0Mh8OJk1PMiBfvv7uTtyxPNuEO60uVWZiDAdYt+qtL1aX
XXa27kv0fGEd6sOhwxl1ffFlZ0OaAPq6jUuvP7SPKP5/Fkn19vX9npiK5qEUBVbsWtQ0WluxjaTv
vY1YVUsuOzjIs5HXREVoBIQTHaQE8flCXLbJnFROHz9icGVWnWdctp9sTIvywrudDTswpz6vj8sS
UXcPqOXrB3zqO5uNuE6WYNvofBBZAA/Sek0kSD1fX9o4sTuaE+aFqf016jyY8kpLMC3yFGzvpMua
404aydQBaSsjEJTQFxukCA8kyAb274r8uDovELU+SFKxznPktHd8uMuBBof6GIsXs+QwjQa1iobF
gC0lHMtdH4FmIO5LSDvyf7c4H43mvu72pr0tJqm2XU+coFVCyJ0j9CUCyYVsrtIaqOwIskzG7BUo
uJuehPzt6ydw6uHO5obasOCRtd1w0K1lZS5Ron593T9T7b+vSrYzmx0sB5c3SltSFtDVmNaDD2UV
4+c6hcwg3U1Ix+S3lD6U3YvRvvpsf77+cz//PbYzmz0CUJXkr3LSBsIwAaKH42XXnU0fcdjJme5I
VBx+tPl2uGw1IZrn7wPRcqC4e8Z02Xc8FE17Znv0+ZaAw8bfL8uKB5tmeqte9II9Fe7avWm+eeTI
XPY0pqf/Yd3W0tEnyYbbzr1nUDqhfqYUPD3Nzz6a2QSC3jszVTH2tLbB9Mke/9EWenRvZN/b9Nxm
/NQnMptPnKTW2IFTBFTajd8uvOLMJ//5QmA7sxW8tOSqFfr0LlPSFElczhyA7OeaS6fuejZQY8Il
UxPg2yFHwJHvSET/+lVq07P95JnPpYZeUqApqxs2d95R8UGkDnu/0+FtPcrBU4AYawS3KbfGOsmj
Wzg22FSvFUdah0GA27zcGoHYGvqwz2hcan4MzaZx5dy6UyRsUxKnlGKRZ7+bYivCRyCnbqbg/qMB
NPoCXXx/5oskpOTE75iNfL1VWvJlONWnMG5Hv1s1hQ7BwsCY+CvyFOgO+Dp8jfZwuiRbb5Ua5YIk
exfyUpvYOAOtXc9uvxLXABGRpGXgEpu1RIB3zMIuzJUKjnHimpIL7WpItwo1O5rZsYcGkudM2HGy
cpSnXv+lqTAZ4m9WIT3oSrsGYHeTxz/l+hnT0qrqYRT6mCwkcw2yaJWRMDzob0V4DAIJRYu5rvPb
IHhJorWtl1dKO7q4xBe2QVAoY2IkOp6bxCWUE3QpjCnK9EkrUliZP5KkwV3zPcnUZQXnJBAyZ0pc
m/BeeqwIti0t/PRpNG4tAMpebIHSw91qe0Q6rEb5CXjcEnvgCn/StWk/29oRXsFiGBzw/s7K6jaS
h0kokm9tUPc9qnqhKgAG32XTWAXRq1bHtxUYD62sLptzrdmAGnXPzyF1U6fBGRMt2/zctzJd4JNP
3pqNJZrKE3+FvXZRPOb2EavHUeADAqI3rgmc9YnMzM8MrxNf5VzWEWIJRFHISdJL9m3jLapgYwLK
+3rs/gn7+eSHzLUdrQJsH7YuNU4Jd4/4gRkoHN4T7Vgkj0m+c5qdp93Vib90rLfKf8gL0hCrB8IX
UqNblNgjW3KVDYIUHf2KQ9PWTsoHuWm2gULpwQKIXhQLz74Xfv4ciHUCisiszHWqKksVRbWE8bGI
N2jQOuR1xDxmJeK0zoX8H0TPoXWX+Zva2kjFOd3hiTnQnC3CtW71HhgWPgiZ+HqJLvjdmQf5+Qcx
j1PxEhGKDg/7IXVAwd+K9vHr6554+3M59BiYSlhOhRW7OkZi30ewW89odad91Cevfi5jRh5eGkPK
UtnGOlLBX6VPAkCtLLIgWrfM2INZ7js7PLO2ndhQ2NMP/LDgexphLJ039IfYuzWqRxFfwb9Z1O2Z
H3Pq8tML/3B5KCZQ6XLWIC/sF0IKV8XwWjlk/nbRmaFyYmcxlzZXTSvHhGEwUrKDjivbsXfEpPPp
mvGZ33Di47Rn2wo1qyUiJ1mgOappzRq40dff0KnrzmZBJQkxyBdcNzbWfbBO6zOz4KnrzibBToPt
q5lUPM1418tL3zhzCDzxLv9NdIuDTsmEPxwoqLqWyJBPAw/RbxvqaGde5olvfy61FVLT6viqKM+V
z0n5qkvXAk+vJlf0efwF+BgEx+c2Fice01zHmptxI2URJSpwvku1IVRo8C6bdazpCX746puhzDMd
Y9/BhrUUQio+8wZOfOvWbLAqcaINwdQVDOvqSumGXZ6HyxL/Jzkbe1nS3a8/zD9haJ9MQXMhKiBd
rIIqs5ulHTNSyXvt6FhY0+TbkTiSIck3hfOzHm4ltPR2uNX0fiFXNzCCYLeOwGiyRT2sPaEs5LF0
OyncYFCEbjg+FuUTyLzNSLCtnf2Oye62YyLqxboUS9yv66/v/0SVF6bT359/b/aZZkMgO2T1t2So
oNe2ywgStZO2qyz4GaUx2xyVuPoajdhd4d0k5p1l/xSFAD5WEsiD6niMXTUuId1RIXBILIhw38es
8ndK/JwOLgkpZ572iaXkj5fiw8fS95ItnJqGox67Xe2Sox1dVIS150pEO1AiqZkWKV/8bHpQ6kS1
fP2ET4ydufrQq/HF4ePkA7HfsvxW6r5/fV3lhATcNmevDqh00IzgTQ+CZokqcgz993H3mio3IqNO
NvivPh2BpHi9MxaiMVxL3yfFs+K/anDNGqz0JcUOa5Q3xCAs/eG9g3otR99IoVviGkCm9l3pcjdJ
VlW5ifxsocPG7kBRqrWxai3CLnxl0fsYS/rhtycdE3EIoqOc3iugNNJDkV3J41ViHOoBhtG20NeK
9J2YhHC8lSpoOEn9WMmoz2VpuAK2dQ+Pky9dKC+xHnO+2wvz+9Dd+HHkGvZrTSYKoR3tS5aUGJsD
ZzUW1Sod3y0iSGr4CMHVaHaLQOeAoqN4NyAKWK6m4xHWqiugbEjhHq0Jq3qrdo9ldz82UKn8Wzl7
GLMjNC9Zuo4zSODHorwZyodIP5jafgxtFzijawWHCBap093EBHuM4glcbaH9qnSAGco+xBIcYqS2
q19J3a1k3bqxy+plwPQUmC9BB7tTuuPW9ebX12/+1Bc1W2QB53Zljmf2gLEkqq9D6cIxMFtkdXDv
ad5z3U7FjHI1npuK/3SrP5kj55rQEjNI4BOOhhrPW9MWnRKs3MC781NpERhP8IK0+Fv08t1bG+NR
sr5LxpsXY5i2d479Yoa/SRS7L0RyZ0hbo423gfWgQEGDn+vmPga7y4RR9lxc6smwe0IFFYZXpAvD
Osj+maE6nb4/+f1zbWk5hloEkw4lCbAhJsOg3LT9k9bvW9ntmd8v+izmGtOwJGZEVDX795L+ucv5
5LLrzlZo28wyQKOTUiA+ElQMz/br656oO9tzTWmcAFX7I7BpcaeKKFs51g+gnypLSibFbqPc9/6b
Zr2Vw74AozxWIJ9grMCyEGJr9fhlK2iY2Oeh/C+U8acYrilpJFCc61LG1eTq2bVUXWsmDqJVrQaw
iJJVqAJwjrZZ+luyi12TZdeFAPGi7ONeWnr2SJhRS4rRUyVuEm9VN1eWf2No14axdgzjwjc1DewP
y5hjSiBjPM70ZXkfK0eLAsbXj/TEzGD8P87OazluJNi2P3QRAW9eYRrt6Y34gqAoEd4W/Nef1XNf
5vSRhhGciDGa0YBodCErK3PnXlc7QjbCidVjVrCiBubHkH6RJPztslcBBzsCTSovNQhZwnbYfI2o
XH3vhq9CzmIXjTRIEc2SD4z2z7PVfSF6/Uum8M+a+9cjroY5liexoPiwgYJxUk7Mx3H+Cnb6Tw/8
D2/0tfY1AbkrJ4bOUVBqMae3DvrEMFUhq1Sl+k2s/cZ5xYuqWXhGp+FNX5CuyKULRPDcA0xYYunN
qtLfeLZ9L3Zfs2zxwMB6C7OSQ2n2v7SXRNN/fesbukYsx1OU64YyrSjXXSvy1a9Sub+sKf0qqsS2
mjZax3UH0tnET35/73av0n5QNuuS5ehjVPOlk/ffFCXb+uVj/Gs9YTNqtlLN7ZamO9ub4cvex+Wk
+aeVdPXKjjIeIgkWn4ceeyHr4g9rPtmlhjf3MbdGDIc+q4WDRe9jIO3pyR2FTC/TmRyd7yv7IwE9
HU0L876432VMoRSvzTI+TIxR9vi+s8vAcQoqJZxtxZX7eisQvY2vq3pe61tM4otiOyghAEJP67FW
edXir/jpf/t+r2JGpl7AsQ0PTH/Tmn07fS8U/TPg9a/vQSxzdvHNpMCQ38TAS8QX789fjovXIt1k
BBHYKxp9fP1mMpbczQFGOPiopbqdkF5+72261uzGk7YMDOMRlrA8Ha1+I6zHby38a9VuLVYD28rL
+zRvB+Fjbvy9616VG6Ua5FsNl+SgyMfhdfpq3uEvz/tatDtr2hCv2CYfiu7RZLa3wstSfxrioBYP
37vxq0igYddkyvFAbbAvT4OgBDt8kc79ZW+5Vuti1qk4hsq9m7gzViuIpWNnO9/bwv/pUP1rgWtG
pdvicvHVCIZlI76i2v/tpq/eR6i2cd+m5KAYvZnOZ0E7pbOS4HvP+mobT3HsnieVRdIyjR15OFZ/
77pX5TkLU2PMiFE99Bt93lZN+K3LXqt1Z2cpZHPgdq3oHdMuPf5er+ZarbtipOW06kDMw0FUDob2
m/d79Q7aQJiBhOYEPcVXhWsUX4hJ/xKjr0W6C0ByoVkZFecwuh2fvvdwLwvwXwsYnECHGywXHY9d
8JXhx9/u9PLv/3XRCYgMXJr/f6eUff77Tu2/XfVq741ExRlAmefDhPF9ltsoTErzJ5ZmXq2LfQEL
sYoOvalsskKDzSu5aUn3swKEZt82mCG5woQXwQkju5MQq1XVqa2ey+a10OMtXGZYt6ufxtMHYrmg
xSQCC1bgKPhe9oBj8NfaCywPjPTJTm8zJk66nTGeNZUSyg320+GAbbgFKHlsd6VGeTr7gULEqyBN
7DDQQ/5q4nkqMxrjYUAPBrbZRXm5G2uxTxLcJealOYn+PKnV3u7DPrqfZwoqhyTeikINVTEIV5lV
pK5G7FO49JsovV2n+pDi4m9OW5UdxRWYtmL0v3Pqaec4YP5iJbSZW64m59HBQN3FUtTEHa343mYj
X30hdYxtXDTVtIrAa9QuGOb//qb/Evzkq+DXyqzy2eI0kPZHob5CLcF54puihGv5lBMPKWAD3s7G
+DWoD0v5+L2bvgp+osnlrAd7fZiXzWgrgT68diyq/774n5c+Blz/+4USZQc7To3ZZphjzPxU/6Ls
/ucnbV1Lj7py6ZoR9MohGUMyccCLm0sW9d83rVwOB/83Wbacq0DYpUXXY6DEPjMDntYUv68cIu0z
eDBQVqPXDbMrIC2UpeoP9qdkvjboXnMRhfo43un6Vz4nf3t6V4eXzI6xvzUJ9LL9KtXP5fdyFuta
spTKKZbLqB0OavMs7Btt+Na3bf/jVPWv8KkMeG1nE+FT28RPy8///jb+/BDsf2T+/7poLTsygIiU
ptAmPi1frJ8/f8O2erXoITNhGzjimWitIKSoaWM36RfShQfxRdS/rJX/u4bsazW+0UcaLvqMZmgR
3sfYIMnG7Bdk+6l4LJbXbz2ba2l+iqxUnzMeeLFrT9/sUVwL8nMlMvX8ogHF6OGp5c/4e6nyP6/b
v75JSYC50KnD4/XeB6V23zBc8d/P4c/hwFaukoF2mLpZZgL50He7YdZpISHLz74aUfjLCrxWzqPv
U8G5cd8VPLbk4QK2+N5tX+1DqrUuCZBKRk6tt1Za7+xicDG9Kr94Kn+7b/V/B98yasVUpayOdr0R
y7n5StNzCd5/WtpXabi01HOOTzz5nB15DSo1mkJezhRNGeWehKlup6ZB99X899/Urf9MW/1r2cRD
DWkLk+WDloSYv/t9/TZTaTPA0E6FCAFGe1hJBk3XUpSlKzPc5tH3Atq17F4zMZwWKbEnv6dl80Vk
+Ofw+YfnJ1/q9//6QF2GyMxpCD6VHR+SIeix5B+gZ1VU1KMi9Vs8jSsdaBy50wImQcagupJ2jY7q
pMI31wago/zgCt5Uhbn9DON1rfc5Dqzz+JzZwy5mKgVU7W2kjD+n8T0XD7nYyusOy/LNjPt05/yS
rK+sJf95Df70ca52y6zUlkozuvWgKdR69mDt3LopgwkLNHmoDqhw9Hy35DdML5TgAYWCB/X9f79A
fwmy1/MAWYIducg4bZbJ6eIQHa07ob4UzmGyv9lXvZ4KAG9j9qwDJCHP633+vfLS9UxA12WiKDR7
PhQ536UVjMtX77zKH398Pa1rn1J9QnNT1BXZrTG6/eCp9U8QabH8aouPCXVhqW3j8SZvHK+y3sck
pum+R0OCJ2jnDbmFFe82iY/gvvEqe5msF9vcT8orKxYGnhTaCkw0iVlG7NYc+VYRRwsyOv/LcFtF
KOoNb9A6YFkQUBD41eYWf9ct0GzcvvYOfxbm/axH+8ZpDkr3AR/VhUHpmZriRjNeK/rv2hA71XoE
53GGROXG+pkSe2AbsOLkJlQxnNfq1B/r5X6dAf42+z66nRRgjLYJKy/yZSnyOmkbWRytzIb5b9sd
tOpUO60fTyKg5ewxKu932T34Gnq7jTfjXjbG033SyBtDeq6a342l0NDmV044OZZX2EWgRg9VvI8K
9RBh5D1rt+uKbfTqVa2PXatrSae63o+64iWw9/rxc5GOapICQ4FsEW86veRpTm5d10Eb/Zan92m2
Xd1C86lknw2PyBwHLx6mQJLPoATkC1Kvrbf5BYqydLPbyHh7LvJuXkW4yFgaSr+ncr5diLpt9QlS
LO/FVrPfIAa6cVpTwt0Y9NIy9aVsDg4Eankn0me1zgAcNhQaE3+RzrM9hiIznkV0n6Ph77ry3igZ
/uUFdmhlx9MGPwR/yk3fGD4nPP7BcTOzqIaycetkg5tq5xZ0K2iXyp2WjRI7YDtk37A6TyMa4bXt
9Q4QwOUjz056o4Qq3uIN0w/KDNY7XX3deqBqRsUIVIAdRkvvDWnhOfTpVPXQdTmG2b+tNj3jn+8a
THNO2nnFAdEWBgQ7JNDOezGH6I/9qTPDFa9qaygDNlLUIAISshPowKceDPVWOI/x/Dhmx7G4HZfN
zC/7yz8b0sVO0mtbnCWfmvzMXyv+Oj464RDA8qFz2jmBlyewAThlTD2181Conatyzh7H84gOJaF/
Z57L7tCqr8BGUNUQiKtPW/0h8g9NvNl2OEY/luiHMnwW/DdLCXOs71Kr9IpCOhVZkBWnaH2L1C28
GyMvvXi8nYubpjirxY502pN4oIoTMbuMGtOPphNo6u5iqn3vpLJrMsnSSucILUWWNIG83FDH2cQS
CCc79gVwW6zcwcrB/XPr7q3MQPB2p6gA65vPG1mt4NwgrmDoJQGwZlfzttRvEAR7vXQ2xtN0Acv0
wVQyUl2+28ZjtdS+JQp/6YbHGesylZoELnkn8qSgV25KYPGS2OOQD4LlZa13Rj9vxvgAK9I349ZN
AZGBL9FZpFLuuDNRB5gLvDkas+1GJRBZzPplFjiPHEk2j3zKcncQDqURBCbr7NnQlFo71KLcxS7c
TYrh5KS3hn5jybeljS7bR5BOT0wZErwT3q3uTlHnY6yr93OBCkXTXSl/zqirriidKnq7nNPt6iHv
063TST72EQEGqZVEfxgVbjHcl82vbs5vTdvYZ0XtRloWahr8TIgUeeeC2fVlGiSz0FCaQ9YtDc6j
g+9Mjw4m8I3QIXv/MLucyVb0503s9/H8VFBMGWqYE8oDvrygESe3c54GgQaKd8+GsO4ks2fZ55wn
4JTvqYHwBsxRBk+JHr8n4fQxMMysGUcTpX/dPekKujyRbudiZzB3bo0+8wYIrXK/054d8yFSn4e0
O6tYT8bMOzrIOlSt2SCtDxrxFo/UXSrx2snzTwVFn+VIp1mwCVRrcfHO9GrzgsgathmkhFjrdx0n
pjFnBkFuftRI4IsL9h6RxFAYfmNfvJvyjS4eYfy5DpD3eRn8bk19qzI22bITBShpUG7xppcoEZth
NT+sI2OpWVANh0K8TvrN0D6bKgP8d1L1QglVavYGCQ+/Ywbdo0lvVXI3sYJa0C0rIn27Ld0MSX2u
3SisGHV4iGt68mq8Mccw6QK7vskmClXPWfqg87IkVU+rfh+pzoHmmFc5mW/mbwDj9wRrh5kzSUuo
0AFcm5Wgke9HRQ0zdr5Re9Ks+1UgtgSaPDF51r7UEbOeTs5P2k3xqQYqq0PitjA9s9T5MdXeqm6v
SJRrk8YvJapxjJeh0sKBVpreRPPLUHeaIOlrdrVx18QfynohMB4x0dlm7bYvfir9PuOW6niPWGpn
jj0Z4eGC5Ymyx2kJYar5SwSC7qDUiu+A8myajWyhvUo/ZobsnOnOEH4MkrZ97exNOd9I435Q013f
31PsYQstlulj1aFJdlmgSlJYrKyiH2b1LjhLJUpHkc7aj4TYrMFQIdupGVPVp6qCD2DVJF/dNq4X
gEqbYjnXQ+a2FdErgXp2C5kmrHCDbcW6iazMVeI4SI1bhgF3RXxeqWAXYjtJv008DBHtgGLBCJnC
Z+dRJuRkZODQFzPgV1ULBCUwPcSbtRZeJPrHgU1e3JX5ZolvdM2f82PCmKWVhrIWshmjHfPytHHT
wpeVd1nezurB0J/W4UbRn5XiVisG2mN3rYSAiwHmQXcjWBG2vVHoQeGDkbEdTslLH/tdtaWVhKnD
fTo+AW9xOxsndfBpm3LtKN7yMxj9cKr4Jo7RUmfSoevf41HixdTdaex26hD5GcKyWg5Gh4Rs3Fr1
cLIL4XZ96ek2ecHa3qhdVLCgz0VJH4KsBdyTj70wHPsd4flsNYeB6FQ3jZfCLkocEUqT4anWRKqF
rWo1Biqj8RdchBRv8vGUTSJ0KgmHvMEF9c4c2W1C8Qq26FbQ9k2TT2DzuQoT9zdWkZJyWyT7fniA
rOga7Y9+BZQsbtOWGDyfmvR5TbHEXTvf1gJgP56e/hDlS6Zu8gm7OaiGzNeAz3Rr4EMwGjcWXi31
JBPAP7tsy6CSl1Ypi8jyBWeYlQgwvzjOY2Ft1/4MGN1vUyMshkPtlGe40uc8RqeFMdAspccWT7Ee
vb2Usr+Y8GKX8jeTyzC4xX3Ttl4TRX66FmEyNh/93G7nIbD40JEDkC5qj+UEF0y+IzkkFNgb1DZm
8a6WwPbS1F96yRe12CjqI+oft4qBQNrH0fipKrsyujxX7VZEwK55h0SfH3oegckJI5VC80Iw0cMK
ymmVf6zsbyXZCzznQLOpQbCINTLsVks2ExBSdfkpscGZuAEP3XmJ32uSaRmHCivZrjzlCoYiDK2b
wZCDSgcfyahrMmxj4Zx6Bp0045fViU1u2UEMkzuNql2/yMDkHTgpICebelsob3PV+GbRkwh4yknp
NVhnatD16UZJzWAU265rfWjtz5p08cLY58MpN4eHzPw09dvIvM/LWxLQXoiwq6dgzQ8OCLkLCKjO
tpjEeOYA9mAdiO9Mo5SnQjF8HQZRaRonvc590ZIb1uoWkKkr1jKsCza2tghFyzgYsEozq8GeURjX
eWqDyljVBeX5a3Lw+ltoPIxW86JZZ21+apZXcobtKE9vwCD48dohVnKPuRSC24R+62NpQjk2goxS
7Gqe59GCtEk6P7AYScubdrxN4TgL9a6ahG8bDS8G4GUSqsGcEWlPHAjmULFekhIaylAdxwr2czJj
79TedbhVJp1yqxtsOROokzY/AG3kLGAFcXZIWz+iFuEUDsh022tLTMJMnYowkNKV7KazPZFaniXv
2o5sMecCJQ8FtpyRb1ZrxlW6uV2GGyjWmyYXJ/hyXmknsImFJ+F+YXNRC31G1mAUba40+eyt1uTH
EcNvjccMmufoVOjHdOMHGLOgw15HISla1c+eQT8zAs1alzsx7YCZeC0TRDOc4w4jGhXGkFbO9/k6
hRUvp12PmLDAWCOTn/Pk1lbm09pjvqEZstdXv0yrvlHTQ1e/Cy0KTBuMszz55iK2lkCln5xFzYyT
fWhyycWEOsBJj7Mtc251iLWxG32OoOyj/nkwna3cVhvsyw+as+dzFMpLYiRhsmycOdC0OYiwHRq1
cCnt3xlgocGpgtya/ST2AUcK8zhM/aZeNr11AwQSlhSF1Qmh+jCc28YKzOleVZewpwZUy7aLE99m
TtW7rgECCnoczVcq2RwcG181E5pjTz1HxNh8BmTvtYjjyRyzOArsuA7S1WJcddqNdvtp4Q3uTj2h
zRrEqWkecG9xTfVuqNOfpZ7cLkQapiCrNkxXMGzyEZilmczHShlJ7rADV4jaqZirXYmxTK/VZ8c+
GMyJYbADwrFiZqtGnWxvo+ZedKcpNomOr6nzE2O+xm0w8syBtlopJ6AUtH1HFMcTWBuU82RT51m7
2FPaeaPItZ932mnCY8BSNJ93K2zWJ8hsjNWvG2N6wEYxaGysyqP6cTLmR6BWwVDkHk0fBhtDoYSF
zg9cJQixy9GRpmCcrA2sCIQC3jBFQZsMrpk9KnHhWyrkXKjDNQfJKVu9iVdwjqpgWJ8tQUpQ6pC7
zK2TKWzojhRWiCBLQiVYvvusm28djd1VAXLcGtHz2uUenMHzqju+Ku/kPL912k+71V3Awa7QZn9l
PHlFaz7PutdzWFhsAWnqcdVuqik6rL0aqA3vI5yt6G7lUJ4kPZwwTsFx66vQvODMhFVigZ8Yj02t
f+q40uPS39a3vbaxKlDlezyhXUf5oabPY3I3OpBE+yNxCzV7l57ajLJGO6CE3phY65vy8gj80Isi
1cvr4pY2F/kDSFC7CcFC3WlZso0WZ9fn8Ukvp40Rq79yMlRzTI6T9byMLd0qMganpASzummnbZwy
9SpGY6uc4GFKoeYkexkpFhhIDuQUGPBtwxxadTUNB54ydhvOEjR5N+DlD5F51jhpCItm8vQ4WCt8
Go791qqFsXYaTQZwL1729ewWZheoTu0aduPlRDtVV25SKTlNtIwnaGiMgklkOoC34Ov6EKldqE9v
s/3pFMmhFbmrpD/7Kn2iK3NDVQTzBmVfAbB1i8E623oHEywKkdtxWri16/qmSe6y+f5yMPVKkuG0
10DinYqKBrOlnsxp8Wy9Jz1bORdBme3OTcQ2sL5ji+hZleaqlRSs9ltGTXHiLaJuhB63SGiRjyt4
rU1VvdUFY+uXSk5y33fvGeUaU9fJzAq/jT+hX1DXij3BuyYwql+09xlhpErX13Q+Iit5sEdW8BIC
K92aA0eVVjsmsEobE6DNZZSmC5LSCEsn6Lgza/qsLdOVhLU1mjMVR0/hq8dKPIztbVJZrlmMniPB
4KX0Bi2XAz7vBFiA3mZGe74Enp0Wiy1uRUb/AgeOIPu5Ejh7Rj6BG59LadwCLqNrz3kCSiKVQk9N
i8+5ER7SdOADd5eyiMI+Nun9Q6Zu7fZM040pGKzNqt9p++6I6JDKfai07DvKctsmZWAVn9IaGqWx
UaNdYWvhnDgA9rpQZtVmGvnnbGwNsgfOxooGXh6KG+tB27UWqF1R+1kZb8tivK2ct0oZzjXVKMPQ
3AFcdhbL55Vb6xlvFaAYUuu1XPey9TIi0Yml3/VyS1ljsR8MPw+m9Fen2keHqlAO1Fs4m5ycqppy
przfVOO9jPYTlfZuO/VVKPSNYBZZyk85mdwoXrNqV1PE0IfAkE9R2rs9stgp+VlhpJwlptvwMnWp
vlnXz5mEZeV0Cdws1MQxV6agpUCcYapkMO5EfQ3Z9nRTTtJLh7HlkFfnjDjdFsATymKXtEy0OKur
ZMjRmrtqnP081Vww5tM6+yUnbbTfx3i0j1aibUtSuNKMXWd+K/vhIEc3TZoyiX9Tx7YvtYPfO++6
0HHNSk8ZrQuZ+41lk6c/7no9v5GMlsz4E7ij10djMMJTrmrh5+Poj3EK1weuZ/YUrdHWsUObHpcJ
1Se1ikPZPTegbp2V3Ko2DoPNSI1MJbe/nCONU5sse0d4zAV4nYU2/cLWLZCWiNJb0Kk7uX5sZoK4
07lmIoK6nik1KQw/TF5JVjC3OhU7hKgAV9qRBdgqzL0wqUzm1NW/xVA9W/HFmj67iRcrkA2ihun4
Rhv5ZTPxWwc/yVovUafjZLNQyvwYL+dZLe6zdr6FCsqkPUEskza6koZjHVEHYLa/mrawTJGNvVlm
7rboX3SWiyqThkgpVyNumC89c1mKpNy1uvNs4OpCdeKJKV0Pr/dTuzpPeTXtdKGcwHCelmgOBVJa
mcq2Ku3KAtt9CpCX357pEtl4FVhz5hajtGM7VJcu4YxJOhaPp375Od/bvXbo+/6HOiFFUTmFDtEE
5TuipFsbzANLDwlUPrdDj6ZQHDEA+cqdTfbbrWzweDJYY7qdlu5DdpqwVFe/lRnZK/V9qUhBXxtS
OJVva6QfDOQGiwG6JA/UNI+ZgGL4X479pf4xC0TR7XJWI8WvxmONScf8Q7NmN48ejfg17pz90OQH
vO1+JCuR25nCbl08I+MFMV/sEdyN8tmOL7A1qQ1bwSoB0emjIMmboFSnG9EVs2uZyT2HEtQB/lhx
UAeP19v7Kane5wnprlmfltbYKXmHo4Qs5W5m9bSk6ENxEJoIRHmGDn5ifS0BpEXPao+SMh21jme8
PMTL0ZZu5oyvbCuSMvHk+CmzgtokzXd6MAU2XhVqbfq60QFzWWWv7e4MPNwGKYtJogxvjc73bbp+
NnrYdA0oFYnqm+Cc4XQ9/MIUUOOT3N1bWX0ntW3g5Oq+AsYNHXwjsPWJNdRQ84NDuipaZ981Kmcz
Vpg9OhgGNa6Zvk3ioaRwETnqXu4tKptt7fadQc601r6kn7N8B8MVcyKdBdDVW1W909dzghbfniaA
82oXaEVbIKe+N2LGWMbq3b5MNubDBo43TbBhc/k1sJiNRq+q5e89TYLLry+zolG9BivJ4KTYbsOY
Wp9Wl3MPbklcuBwUUsQCT0n9osfeydi1aO2xJ2EQa3JnqYMrGQm1VONzjmrchbCiEaXtmT0zLeYt
44x+TlsnP0wlRZiOVHrWugdRW+E8QVik6xzN8iYeqD85N3Gq+TKil0FuvX4ZHkC5vDcO8wdd5Q3l
GzhEc/40ukcr+lihjtqStemNJmx1ysF4fYzNL6t5bK196YzsuSLoJjDK1UYMaaANN6YtbSx+e7P+
5nQcQHfeD2IIhaP7mL0yQ+G4JACHfoAjdWq7LIyXt2rZJcahVIG4VkfHfG5lETST4sar7EtUDTI5
sGVmNRXVS02L0fx3wdpvKPEq9NhUhzy8pmC8MEuhoPpSkhAg6Ws6qs/NZBS8jlNI6eu+tPdSs82t
OJj63WKs7zJpZzf3GE0xABnvwFNGbbsdJIw9K3mTpFSphmETKcZG5kVYeNhD8mvOq/dUlLxhhS+Z
E1vtL3uZvXq2n1MNm0nHyh/sTAHajJheQn+2ZuoJQxiA1Qq59X6cDmwbOxZ42HfyrlOIA/n4aRKl
atFsV+UxBl1icv8tT39JB0qMkeUvtv7e9yNKufTOiU1XG9mjjQo3rZoC0rpW22q0S9+SdcDGd4CC
FM+h3DfPS1Bp6RHXljuYMcdJ5EfbXLdJqu4iSd7Klc2pTj8maXWnIOTqexFGnAnGUt+0+bjVR8gj
tC2U4hRrT/nyUmcfTvaRTe8xW4CCt0l+7LX3Gnaz1d/Exnky70bObBVewTGVSAomklQE+fqRiRdn
ecmHz5lxq2o56+OWGj4yQdneUEHVEiMwc8YUTpf2dadA76ZiZd4rkOsl6TZW72yqMo68k/r9PN3l
3SluznpxUpJTqpzk5WNWL37eDyxDf2xgUEvSHaagFaFplTOviBhMzqflNWGwU1jn0bgpLjvgY5vk
94vJgbQtg6IFRzzov+r6ozM2jYa8UbDjzsEcOcGcekQiGweX5MEk3wV67VcJHp+x32qNtyJNwSBw
b+kcwJiV1fZacb4cLxfnNpduuoHqUXWSIu1+1bqjwZYW67QCt9iS03oL4QjHtAr09daYdlH5iUkp
covjIH8oUrzVNF6o6ZRlgZCe5/Spmz1V2VMqqHCNyqeLT404qEbYaI5f1sue439hX77vw2BpZyk9
i/7G0LEuodtLMy2menmY8n012NqPbFVDposORf2mzs5RG+51MePFXMm40TjvQz3cGJAGfWd8N+Tn
PlE2nLQ2gF8hHoK76oOq/0nMv1tjZ6tL2ulij1MMd3byUg4I24cnKX0u6Rf1Dzao6cbe68neJjXf
6tYvaXowflTZTupEABE+FPJZKW8Y5aet4YnQHpGbxkEcYdgjtMelVLyCeDxFLev2rBXjXZqfLZEE
GKSHhRr9MJO7hIggGxj8kCPSMODgZ6duZYXdjuNMaereYD8MUrGTNM4/Mj+ogcz0iFIykAeqktJD
E/8q4/LDaetgHZ0LH/xgqutRbWg9C6F5rYW2FwPWgjzcSe3AIHyn7cak+QgJJaUK8JBzJNWrbDP1
IHR6ewi6BN1Sovnq+AQXEJ9gQc/5IPcfajdt0E25KqWPgkKGUcp+r0gPc/OL8atWUMto+C9V9jRM
9YM9PCiyFPy3vuLPCiLLuRIo6RCXu2FCKFgIX6ro33/hPfa3614pk7K5rNn/uK4tNq1zaqxvKeOt
a1swOU3l2li4bkYjc9jK3xVMXskFKxBmamOjAFs6zKT5ir4QgP1lwM+6NgSLy1ab+1JiU9LMXZa+
jdIYKKbCHktHVtXDOW+9uFA3pfPbjuaHIhFuQ/01djo/ZuS9+mnm+Rf38pfv5JpTypS/UWSXz9ga
tKb8/HtftX2lDoLMbdp5zVcil+eFVhYN8G+tzWtTHns1nTEtSyaGFH/IgvQrwc+fpaGWfaUlBG5v
55HKfDObTWWUoWafOba7UbF+If75i0G19c+cwMf7fVrFAIGV/we8upfGVJpwMaVc13rD2odxQ45N
c3xUdlYmu7MEg1DTdpwYD6lhBLr6Ei0FaehN5dBbGYnDVEaUqD7L3XjTl19Mavz11q5e+GLMVzmJ
URyXVL3BxTKrvsV7IG6aYz78oge9a4dt1T+h9tHNU4OFuomLhdRa2DjkbsEZgpMQVMBjVD6qxvfG
dy37KlzwddQUExxsakufmjOk1O8toSshY2uXgxAyStee1uyi/h6+58tuXTM7p7qrrW7lwnoo9S4M
n2/d77XdjzXlii45JpaNqidrHEO/JXO0rj1+rE7P2yntuN1F9WPUhwZlkO/d8tXrDxFPrdaBScSq
P8jFJp2/F+mv/XwScAJVPC7LQflYX+pf/32z2p/1hJZ19e4rqSpZxmIRjnXUWcg8RuPiRkv5ZF5T
GtfFTVpqpIDRnSNdetYYg3T0F6fi2Og/aEFI0lHP9inZRJOBxVL1HZ2ITQ4pt11/VSO2stN8vnTn
U9kJR+VVjt7H9t5R5dCUHpN4RBC1V1YT+2FeplK5/++PddGV/l+BpnXtHWSpWaKoVPwPxfSw4FUy
dSMsBjH90Jr2PW34iEk0f3OJXgWQJTdKs2hZSlZ2s3Yby37+78/wl93JugoBWqUPlaKnRPv4WGeX
s8J/X/cv0f7a99DUhwavTZ7NKNUEYiiMUkRhyYYA/pVB7D/2VX96/lfZw5jJmtwavAOZmnhrdVfV
R1l/rMe3vnCoMkY0kHejdhT10SreKnHDtl5XL60kIXTLXaqYlK4Lr24/yvHNkR4i6yVVf4BXNxcK
thA1IKGLS9fyfzg7s+W4lSXL/kpZveMW5qGt6j7kPDA5D6JeYKREYQjMCCAAfH0vULf7npMtim16
OaYjikgkAhHh4b73cg3MTkRqp8w2Zf1mUSelE7ZrVmznD4l4dJIVWuaFT8kmDbYG8CWvjpfSO5nd
1lPXOnlE/TVJbxzjWzA9k31e9vGVMVxP7tyL7TpvgkutOQ7pZVIiOyhrioxfK/I7bt1cR4WFLhIF
T3QLztBvJnrslneDra+q/LEPDzX67OAQdfvfj9oHmnB6u/5dQu1iCpNpB5NoZnNwGET4RKkGtuY4
kOh3ET8GSycy6LhRripOwjbJ9yCK/wg/552jINshKDWF0es41Kco3KnPpNQfvOTnzEWzjOxYQz9w
7H7499Une/pHi9o5cHFMtNLva+T6Rf/k0F4UKSjpsSXULTvC+duSjuuazRAZK2N0F7o+0WGaikTk
rap2H4s9p30lt042kjTkYVPV8BzzFJXTFz1prwK7QG3g3vhFvIIsuDVILg+Ju4+mXR5ZyzhPLkby
ycK6yOnNklifObs/elZnS7W0M1VMwiAmOEAgUH9GofHOMVp9SzW7iblsckk1LvmMmDLf1S+WgHOG
1txsQOQ5b0zoUJb7jnFi5zZ/uBe6Z2tj0qquqWHPHZMJBsM6Tz8JVD+66bPwyNByHNcV142jfBn0
ZDoQk6g/653ondOadNp15HoHtNz4RnX0z04b52ylVjOLNhvwinhfwnv39ferzQev2jlXSbhRq/XI
dGY2SZuu2j88cTlnsZGr2jJU8xOYvkyXn5E+PtjQnPnv/3K4yDvw8HaYE8sF9bYJ0KOjQfJ0ZBK+
XP3Z8zibenbKgqIyaziWX7tV8fZnF50f/l/uO4XGrCc+L1vzpfbWZHH+7LJn8UjeJF6gl8SJqBgp
cwXPv7/sR0/5bMqZTtRoyjQ5wlndzkMAnEfV0mutrZV9BuD96CPOZp8wYWv6KHHhylOUeOvdm5RG
9YH4hFz0Qah7Ti7q9DS2NEOyfo7qYoj6RZCpo086czSvMfP8WZh+DjBKM1u5g4Cca+bIzHeBjDa/
H4AP5uQ5iMis7b4bWwNP/WN0r/3Zi30OIXLtkoKtTonAMcI9SX087b+/2w9W0nMKkRtGoDfn00oi
dgKRE/FVGRfr31/8o0dxNh3NgJbCOW7HOVur+v1o/eHTmD/vLzOyGlOHzDiPuG0346wXX/z+fj94
8+yzKQnCoDbhh420hEMULAHXCzRzN/WYrkN7+uRDPpg99vkEdYUfyZQPIS066zqoL9iovqz2zzYa
+2x2Wg79QqIWpoNbt8nCtY1Vidzw9w/oowE9Oy9Ejm+IzmdAnRAaHOSHT6LmD657TgXy4Ynn48g9
m85KfdPS7e9v9/3M/Yvg5pwJZEvlBCJQw1HHEzbCBEzRpA3RRQqdVRu+T1GP4hFfUYtXY6xX2qBj
4dq7aC51c+FSzspK1FxXrukjAMbmUcfbtLIoeuZbNT3YxThX+o+xby4RS850UKuKH4LcXvujuy0n
srLW1nD7FQmzpQ1CIyxeZ3eEJnSkCl8nDll0c7hwAfYNU3a0dYlU865F2p241M+hyebeCyX6tcEp
KyLV51JyibNiO2XD3pTNWsL384uVNrkXWTTug5Qfd28OxVT5MBnRJsaZ1OfXLTz/0L71TZQJuYkf
9QGAHeqC198/Zuf9TPqr53wWL2AVNgxiUwW5W+K1fQyHBwe9kYaAsvTvypHnE35VqbY1A2s/BnIj
RXMYW5caxsGTI3V5tcu9UxFCLkefakMuHwJK5dWi97/PWQlRHhoPM5FZbmcEyWCtBTKASD8gFdxG
NoYdfjpOV7X4npovWB9wONwXFA4LezdRex66zWCjY5ki8IYrVeerBJ13or6V+L5AGC3ttl1kiIW9
YcAHtLONdCOobkyIkjIK9c53uka76mh1z30WbHNfbZ2YJAkK7fG1NF9TOpUMap+iyzCuZLbRAnQ3
1GxrY9lU+8H8QZp+qdzuQbTFVaXJ4ygoKvVUKjEpt1a5bJCUhWhMhAUDVj2OLUrp/npEMh/lPIn0
0qMmh0ENjRQUtATsvtbdtnGNBszeZbG9HEbttpRoPl8MY1x0HDaruNyISTwO9P/OksdyGtZlc7Tc
TalTq4fn2BnNyuOHKn+caIWsHHWj4SCvbX7ZTHoUspq+shCMd6O5YBpU7iUcrMVQ7dxKLpr2hgYa
yyLp1pb9LasvnNFZpW6xtJTxVLQ1NkU06dxVn1ivLhh3Wk3tkgDquuq7jT7R2RpPSh63t0Ndzeov
y2lvx16ufJwUnamt0G1sh+Qa3bSXF+sMQLmnGUuV9PseFX7kZUvaSk4VbSfiaa9hsLIvabC3ypCj
B46gUYa/NLgFh4+uUbL0EVKsucC4Nu1wZYfN3gjbTa9cSKfBwcDqGYQDnqp8HXty11Frk0m8zhAr
iGbY1u4P2YebJAl2BWxNM7a+FRHSaQxaEQVaP9fXbmKuiuxubKwZEbN0NdC+TXaZmd8T73rEykCS
dEk6BGlqQP+8fOl73V7GznKcfYdTiJjoSxZUN/4Ek4kKirPQ8CNo2ilI5ami8FsP69z+MtJ+d0ou
PPB33Y6D0DX5sit/UhdGcGvEb0OEW9NAklChbHfK5WDf60odArElo0RdNNw66C346MUQbajSeYG7
DNCgIwsKWlo4nJShIxcrEGHWa5VN952PIahGNqrbi4IRs4unZnjSeRORRg0UCcI+XOZhiVQqX7SR
tmxGGCS0fZkCb2GpJ7jHbRIvxYDFJEeZOuUbZR10ZA6ujJGzUbWsUPtmmABeSmFhK9zXqbWIPYs+
iWD+cpyNzUUyDhsoUKAH16m4E7mPcOCtt/wFHWqM9qAVmNPJEw09A967SwtekKXfOriuMe6ADzfB
Z7XO17bMNzHVDD+9z8fbVkdgHgVLBgON1dHEMRwU6O0D3mOSkVI8aXkDmcjCi2HuMuXfRE5w13tH
5Fs5sucqOSiI5tWwcRv31LFAe+0XLcMTKPCKJu1Kr4A1p4RWELcom6CezWKxzuSXwWF+dsh06DjS
W28QG5emjgFrtFeV81KjbpXDoxyKrZ541F5vhA82098hDjKkWHYxvSNn82MvDuV0ZbCFGclT26GK
T18C195VlYvcsNkFnk52rl+UWDkzp19oOpMOw8+Vm9+Ugtd4cBY+un492I3BKfRo19Z6EKPLZS8f
fAP1Jhr7VSniNz3NDlF8l1NfZy7NG6JyEEB5T7YqWCKL9SSjp5Bql0QWnAf5yY2++hFSeF44iX5O
0R9mMSIaqpiiuv+YovQoaKFTiunarfWHHE38mGMvHgrW5TT4mmusiPEgmm02uCtXDsvGIffsNOVz
07v7Xr9AlBpDi4HxgHUYAqlbbKzkKPtXozkl2cnUn301bNKSXXmgKNnOyFx1NG22/e+jrPdtZW1F
eovWcD2GxYkTwNJm3OgG04g7p4LJjA1QBuhrJcWjMN8ZXnBqzFPfvNZU5CO1lMDrXQnHMKrWo793
mmFRew/S/0puaZUm/ap2H538h+Xe9ekzfcNWNlaSiKCjK149fAwTnXfM1rtp0uuqpV1KdJc2j3my
YUZtVcjVnCw5RWK8VvQES7SDUB5aOlZgNLiwVZdUXDDiOfVCpC2eYP/QFvpS5YgH8jZdd+ltWMpj
X+DTQIvjIvOu0W66RCYcptwgeA7HW10U6HARsETxfTTdcRsrHdGR7vevVh9eNPqNZj+oZCvJCWOl
GhK1z7SDF5ITDk6CElKFiH3GpeSj960r2XH6txJvXjJmm7wbLqSH1S1g/tZfwsDYDzFV1hZlp8bL
muk6fplw4VCkm1vaaslAKKwI1G6d7jOC3gdMC++c8RbTPDHEEKOOwXgpW2OVsDa3Dc7w+oet0m1B
aCURuiRNQRMo7Oz4B+j+u45cbalivG/Jj8nMb0XI5hbeNXm+yp2IOM9clUzPtCTv6O9l1yO6wvCe
yGUTa7umK1GFB3g174IMZWhRblyJqAph8O9DLtv5KGSejxd/OQOVMu5EFfdkenv0ihmud+A19U1s
drtWq1cJizFO452ytnU1XfjGc+N/RwO7MDN35ZX9Ip7wXmLEqlB5DKmDI/uKDiOLCVuEmjCQauva
7o7ICpPhJq2ydQVy3hXXXYFpNTWP7awlrAhQKfVJG1e8Vy2z4l4YNxLwwSTVyi+ttR6OK86q33NM
qIGYNkkElYqiwXhDw/RNiZEz2St8Yom8dlAxWSM9iPSHHjSjh5kkDU9Z/A0prVP1B+XepuxTqSrW
EWdJv/NOqUCRRjY/JLLCwEadoRS0SVRYp9sDpCBjkdcJlvJNg+VeUZ1uEAWxHEzN16k+wvwhEsKu
7JVPugb6mlTijKHttAunjm4lC9eIE2BoN0F9CpzLplnJ5MYsp52e7kfGvcXNFUaoirVyZ5nREnEa
ccEhrLZhtjdVu3TdeDWxnDkeek7MFr6NONuo1rZ/VbAo63W3MGXJKo7kEyOR9WJ3tyq/jfGfkYUt
51R1clMhlIOYETTBJhEEoP5Wc/GpWfpFkl1O2le2DBSZamUROVX97ZhSJ402enia2Dyb+s6f/FVk
brVhoW699lQP0yKcay36MZpuzOLeM64d0axpdrywKZIn3anzvrT4MrP9wLLmEi47Bm/yrIuHJyAY
9yn56gObENj+27tQPer6TRy99s0xSZ9CvNUJ70LO+2c5l1X0GjR4qbhwel82ydzxmliDBdfHuk9J
i/4KYeRfx7hwBg/dMo3Q1h1GxCbX74fspqSu7tF5AKHt2s/NfWAaG98Nb2nKvRbBkUYYvmg2VYX8
3jQvZBnvC04/IRLxMnNRTjE8wUi5oH4s2695eNcmD0YeHDAJAQS07sOh+6Lp1TFjSpfet8kdbnp6
f9J5gTZvq4LGZy35p668tyUrhI6RIS4PIepPK+EB4JZOtOgOgdeyxSba62wC402Zh7QqGxZ9eDnS
vbNC6Va/hMZtb5aLBiNG4MEvsB8cALV5gltWFxd29dBn2274kopxVXYHcGVzo1DCVlRYNgujYZ0K
pqJV3dB1eMEkwwOPj5nWDUz2FyO97QgvdEY/eMDfRd8RqV6a8GhRFTavSZcQ7q9NhMRyOjn2RdIP
W98PVhBApH4c2T9y+2uK02EIHm3/zaCln5uU66gvbz07eigwaydgRmCgSDDwqy5EGh+zAwnOnxFs
7y1/aWRAHcZ4mxvfQjmu/YEwAFX4srF3drwdVY2T/WhQxMxczr7tk0hLDNEC3VyHqR0MQ98++Fp7
1EuaxtSx5MzshruJ8Lrs2i8xgGw36PBgxVs7AGRAlcjFg9hLdJ65XEe4Dlq7vne7YA9T/1Lh6vdG
VK3ZKnfBpxkY74xgqWixk85HcUUohPu/c68dzP9xeDm7aICnhP5GDgG1OZbxCLcyYIF8ijcYmmrO
AGoO5mirF2jDJkbuW0TDysc04bWHRL8wy8eBBJqVjRhFpqUIicjxchiuf1tN9AmZxzMYt0W/a/v9
vAmZWf0jsbNdGlpLLOdLv8EQYd+NpBBysk0alqwpi1YYPkBW7JMOGbS7G4ZDm/pXnp1jrE1OlgUk
N0NUWMt1HG1ToCt+m9+Ghr2VOGGiprsMbesAN207xkinFM3emmE32f7e6/Rjm/E+siL5gJiV86y5
c1zBAtXeRgj8m+Zr34QbL0fffE/PnmoML8bCu8uE2hk+ykNAOJ9sZ2xav8ofnCUKcS7xMPBMH0eM
hfii4+bt9xd+h9r96spnqUJl9K6yzXo4+p18YDG7DMH0DC5xqAUYgh5RI/G/nyP69N/ANRCDuEvM
ZcdJM67E4O/1dnqM/R9pEF0G4Y/f39T8rX51T2dpxmYKavTzLtiwzF4IgqBZoqyqcvX7y7+z5X51
/bMMoy38vq8zSnqVbq3kpD+o6FCYtCpSPxLtLuoMCvN7Q6E0lgfFntiN6WXmXdaftt99p/z96g7O
cpAAykuXd5BvSB5lwmFvjjl+kHqNkuwQqgDXBV0my6uBPgoJTueWvSo32WWKC1kdkboOUBVgI/5Z
rt86S1vGGMESQWH8GGtbQz1MySf5RXbXXw/lOUjZcwv8G+xXR8z3i5oeu2Tj8CXukEbccXjGHFIc
CYBo5ZEtC6r+RfKtzgDVGyt9au9KdpQptlc1JjX2grWNVXrAt5AVHH9v+urZiuyN43Ybe7IPcdWv
Y+3ZRiFeWv5VUH5RVb8co2Sd54/15C2VwA1X7dv2IhwfC1mvoBsFOGINedWk6TIHKtKQaK7Da8s/
+KymrGnLyr3A+VfXT0LvSK/BtqGZ0IChjNW9LTEEiWnpVc+gQrIQN9tB9hC59RUqkC73CB6xyWvy
KWahHHAcDWU+ZxKWodYuZspA3VVEFS8iJlgUCHUBaGQSZ2jsn6Q77DUbRf9M6lj72UWgrzGx2hN2
xfoyLvftGC4dUoQmeYjByncpIC7BsaCUmOmNvV2JBUA3PKrl+JDKctV08R4cK6StZ88ibE/2oj5U
pNhotZREL9PwoyijY4XRp47RT+NihNBiWltHXQTgqkv6GlAiu5im5LJJEnZj4nZ2VWWkzJV8FQ04
wBV2xmgbbiLHgDblMdRYX4fn1DZPRfnDKutd5o+rrJvd/Ycqvk+a6Vkogh8X36BrrDlyLquEHQeb
Xlvc9+JkihNCUeBOYboJxlcrN9ajnt568i2Iv9lmvKoU8LjcI/GRctYSi8bUl0Ox06pb6VWryap+
qLbYSW3izPbs2UeE5Nhd5UVuWWt4Jhzk7SVUpUXv5tcTZnKF36jph40qQxJI2QWGt/cO41GcPfsI
C+KspGfuF0GCuJvtlYAUvSkljeQdc+Mynk6S6LEZowdHexrT5hgUb16Mq9bJV4NVr0d8BZ0KLu3Y
OsjIek0sMhAINwL9TestvMe01WodsLUVjdafUnxb0MW6ahPA1yhy+zr19E/qIB8Uc8yzPaUWac8r
Eyqijp6s4d0QxSvNR0IS446bPlM4fLCWv7cm+8sxDFprYQIRUkcpHnLaDDvtRYCt9fcr+QdnPPNs
owimgkMKkdSx1HdpRMO8Yfzs/PjBunW2RXiRkdhkdtVxaE9df8cO8MmFP6huvct3//I83MAqVeGR
Ke/AQ/ThBBkMiBzNjgv9s+1t3kR+sbmcE3Idr8haMTkMLE6OSkh6CLqkyw4pyJIkfYj17Vj4rDPJ
MrD95e9H4oNhPmfmFpOhe+P8tZr4xfLmyBBPHwiA31/9g4d2Dsv1RRznU8c4R45OJ/LjYEoMqEDo
1Pfff8B7suMXz+ycnJuGEiWtY7EDuuO8Uu+TJrkUlf1qRCTpac2bsLJK45vXDxxvs8s8/OI3HEnm
TngY7qAsrboKcFg07kTFiVYvXwM330v8lhTvNk1vrNM0OxZE05/c8UejfIYi1d0x0sNqoNSIw9CN
KSu45YXK7kT8rKov0SChrEXPE0guG+hHIGD6eBpIM7nQFKquCmtnixnJL3VKSi+F9i0FAv/7e/to
Wp5Vu9owNaDL+eQS0R2yiYzkB39/ZWee2b8ap7OsTs052Ohs3gRZpNe5M27rPFoHUu1Nd9yW2NI0
o1q0ZbYCXA/lBxpHUT4GGIQMktpRsfNTtUzdr0aKkrK0DlSbFmGMJjVdlt5rlLJyi7t6BpWQ1jQM
wgx6guo4hBUsqKgFpwUuLQjFrvXl2oqfRfginGqNP25XjeKxHIedQG6cJdcWxfyCNqtd8DUM7WUb
bIsE9MM0vNqDfUvXaLIE1idP5aPpcbaSjyKIoxok/9HISpIg2XIAGEyzNyq5/9Kv/9e34X9Fb+X1
z0fc/vO/+f9vZTU2SRTLs//95yn51pRt+UP+9/xr//ef/f2X/nn50mN8L8//zd9+hSv/65NXL/Ll
b/+DryyR40331oy3+NEz+X557nH+l/+/P/yPt/er3I/V2//857eyK+R8NSCaxX/+60f77/g2DObU
f/31+v/64eVLzu/ti+9l8dYmL//P77y9tJJft41/6EZgWabvQ0Q157VPvc0/CZx/mLpt6r7l2bpp
2XN5vSgbGf/Pfzr/cH3dCgI/sD3DthyHMWvLbv6RZuj/CHTH1mlJbgamZ6I5+T8397cB+veA/UfR
5ddlUkhcKNZZ0dl1TdMxLC5E61bf981zsVpuGXrh1Kl7slNrbKExakHTAUscG8SipRux35fUo5g3
lU1ruy7pLAmYRpnIRXPbbdejWWruwQz7nsK7RJJFItiPaMljjz0NLlsXe7bmg0BdgIbSaZAX2+Fr
PLVtvBJmG72mIf3XF6ptHUya5ZDPWLW8qb29bynU9tNaAtLQvnZBqVevHkWrZk3HO9NcqCSeUQOj
T1w3kKKO77KpC3Hg+6ZF2cr1KcIu5+8/7RKj67L7+XvoC80FqWrC+tcK/y7yw/QxnLs3vVbKK8rp
1Eth5MdoKDOOrnCotbs0EDAdcli0N12QVmG6thHK8m8cK4jon6WbDdSiQvV6Dkkq1d0SDqVRuGDB
KgQKJ1AinXbnWB3ng2QYMPjqtT7/ikjcMT82WVDodGVJU+yZoRbb5rPyUlXecJv8jVtndBMVdk19
2BYNEW9j8utflPQrH3qTF9l3oYyD567VwHQLt+qTBl+05wC987pUxBwdhereLMyhJfFnYUC7sir6
e+0917JoVck+pK91LdWjNWlfMdxYeCXr17iWkF6s0RbVKVSZIbZ9MoXGU9c40VNtZwLmnN7acidB
47Y4Qwen3YS6ozNtzSIne8v/4Doz3fToetGo9okCRvWY52OmrrRpStM3OoPo9mky2gIxcmOVw1a0
PLrnWkuUdqdC261fC8c2oEynWQG1t2Qkj8qbonahuirNN/Q2USEVorB+jKMyzvdZbwGEKUWliU0s
hCk4JJeJU3yxjA6ClqU7lXPp6PXYvWVJxVgXIDvEd0tvWhAxnW2nLzzneLppY1e+D2yrk1TJKt+z
HzuU+2SBvDrP2ufGjjoX5kQx8qIJYn4CTOHq1NXztJrMK4oFQbwrzDBADDAGXrCNEhlzLosp42YL
g1meHzMfWiuNkePWWpVmnMXXUZvx8PqiRHmNDgQQjRy84GokmVocRRSEPSc4z71IdLCKT3o/U9rM
oMiCXZe5FqZjTUgmlJ9qcu/WDuL8eNT4tr2f8nk9oy1vK9/Bcli0hB4rjeZ/TyDeQTsXdh9sjMry
45NeqtLc0iYzrnaxo3rjQgnUEltDTgwzPjr+myRVPj0iJ5P291HHkz00tiNOP2+6aCde3861wL16
8cCfIYlO+qPfmRCbVEZhznZxmt2Ehs4o6JwqNFhTNDRd9hQseXC9PnVvxvsbGZmdKo5T6IX1c9mI
dLgZiywJ16AuhbYrPDW6B5oGKe1rK+Lke5kBwoEjFNnpbRFloRUvOichEbxwC8qox0jruQQfZTr7
se4rsPa6RnUxrizQiJUlhoVlJGIgZ2uOZHbD0cogZItIp36uSoqxyHG8aF+6STo9/vymYiATe9PZ
wqpfKzDJvP+uIfVDOUp9nUdpq3/tYSObF4bmKLWFpcmj4hjBdw9JY+XHFCw2ipjCDq1tENk8MH+0
pf5lkGR3myiAb+fobnssQtsURy/JgCd5ZcFK5FdR3O2TqLM4D1uyJMuZ2TK4L6OmmEmlPdKoOrL6
GyQ34Gra3MXyLB2HF88wJo+n044R6AvO9D4xwoCOZTt1LMgbLZwMZmBS8RZ1mqhCJn4vtiHVyHKR
dtrEYV1136fKLOPbpC7T6dD1Oj7apjfrdhdwzF8AoautrYJZROo5Y0KejGDS6tvRjpL4pZus2NjS
mC8K+UzTeImSKiPHFYumGG6ylG+1L4aSd1kbctZRWwUjkweDqGcdiK7T8oAVJi64tpqBNwWJIpFh
ph4NFmJjrLX4kQrd4G44JxTDZe+FKQCoXvOg9C8mu4ui67Tpu/7C8WkOqECZmRTtMrh1PSLDvC3m
XLFr5NAQheZcUFC23G3SZYxPr7kD4fVgOmhLNG+wkA2MCAcXSlisAokn+W+UaQnr+2iNZr1t2wg2
DK+kG5CvaVty1YmtYcxAAffzn9ejsiFWvs+vsaHR69FQYZbd0XtNusef806yAI47LzQSaHM4Y4Kb
oqo9cgOWI6eHtDbJEVRZJbvLcWiEftNlBchWYYW1dVG2CddjBUEfIRZhKNEIr6ogYZZGPrY+bYVy
vfdvgi6IumdiJi+/mtAaiJOufJKOBpUhn9yVZSfhLrZ738OO5NWMz8/J34uqZ+sr369YTxUv5s8/
t7LqtbuRXZ0tVVjITqekhNeVlK6oLgx0bfHp53KVvW98WeCLCZ7mPE2iPmQLHlzOJOMG8vA8oQdB
Hx0yz61XS1hHYP1gM/8llPtXtPTX6Oj9MPzvg4QXmJZHk2+DCMmxdPyTJgeNv5zHWVUmwxkTjLLv
a7LQ9HmG6SpvTrYJwQe941Qnh3EIyAtVTYfR1A0zw99XkoIIsBLF+E2mlotLXmufKMFonGNVh3Av
XaoWYD+APELg78tOK3/wllNMNAVaoOyT6N/6+5nId53AcgLdMA0oIIFPBPn3r1IhPkJYIuJdbURe
fwsLAqKaXvqRtU6ssuTGIz03UAVOvDgLPdIKcxu3gocPt8Hqb/2SWXBIh86DjlYmjUf8wkpm75zW
AAMdNTFtAmynZvWL0iALoX1zCL3oYscA4Sfn45HZZVBgGoj44caWo4Qv48Ei3VjKoldykQ9hs26K
TNP2nmgjcdkZHauob+noMzrTleZdBNne+WSQrXfn979H2XddQweqYxMIm04Q6Ocq7qn1NNuKBRVr
WcXTo1nhvtsaVac9IXxl+an9jE24VnZs78wqSaNLT5j8jT6CZqKsT7H81KkkD6+9glzudVFbbrtS
RSZPRR9UCYKpsqY+bg/x7D0KO2R+2uBPNPd53yec0FLOrgsHpEytGbWv/dTZ0ICd0L/5ueiVU8Wi
YL8HA4ky+Dx6yzOlB3t0xttwkpCZ+GPUrh0aCjyTGWfa2crn9kQXssyDuubPpRawX8suYLYKnlO7
KWTFgLFY8zc2fcuHV7PVVW8v0PgWESXXRHQUCXuT/ckb6tkLNkhW4RFNTbqc0kiKZyNXbX0y3IFr
VKqFro3ep9fr11r3PT7ifRLIQiXTIyxODv65Hrb+ZWZ4RI0Dez89C8qeLacYFZvZz4+Ric3tyTQG
kkwjJI29I4dN427j0iP00gdI0c8So2t5NUY5SZQAsWoLCDlnwFw3mr9b1cUx8fn7VhrEwUw7K6b5
Mchp6N44aTE5u9Kp22e4APyaqmJ28PR9ac/iOITNTCcHgGpjjIby+POTp6pKkVfGNoJrkM7vQe/P
/ffn69ppAV/LC7O0PeR+WNGFYNRsqt/4FqVpbHvpsX8or+aJVubE14PRyK0ZVh8TRItklJvsPZQI
srrgpO4XKr7xaWRJVsAPSFcjBwMfDQDKlkN/lUWyrm56s0hrWDJuYENPGj3JPLPK+WU2IY3SusGx
DBRMkRgm80duVNkIqD52vVXsEcPu3ZBmHWtvcljeasdnOHWB4bddDV6ZeU+VE4YcBkl3gJjWtJ5z
SlXQyJ3R79wLS7Pc946Vgd9CR+4zs1/AjyNuKEXNOIg6RFnCoWGOaLqyavGgzhO7twv+JozFhHQk
7+fwlSPZc6JZlnyNfc/5Yndt2h0yaRCGc15gQGpz5FpA9LjdNvD5G9dI5t1gKkxejiA3Cl5w1cZo
APzBtKbb2gWt7JJ0ydW6cE22vgD9QrHTUXXJPTFySzxdjrQOWWtDyqxu3ZEJ41V59RwNqtqRsNTj
659vC7IxyP1EONU3PcuT5krWUoXb1BzD/q7IVN4+25o/zPFJllocB0O+y5F+JmHD9EcrI9a9phva
9yIF7y3MRiSPOI70fFFXuoJSqYXU7VXopiDJlYIybFhaVxy8HnAaVOO8oXuQ76EoK7KJCfivFbI3
LUbPdWg+Q04qlvmuMiPPvB9ovs079b6FDkUjmA1tHfOccGSxenhhM0+Qn+8wx0O+fKQUXz4GWUnI
0tVpYj/mhtMSzoU0AWqSdlp4fhqP9/Sn5B9GWWRxNnJ8a3RXUFGzB3ca++jGUKpHOWAJXthXT3eH
cclb4tg/jM7ntgk6HNzRxXgolZuhZWn9QO5zQhbek/fFlhxE5vBcHW9Z+A17/8+HZyexipZJHBkD
a0NNyEinTSNeBlE/R7EDnV9gc05oyMK+Tv43ZWe2XCeSte0rIgIyIRNO96gtWZIllac6Icp2GUjm
ebj6/2HT8bctd1jxHbSjusqWGZLMtd71DvO9Tj02q2auZPgglmnST+NEgQ6O6yL+n0JOyxhOQ1BO
fy+ei3E76CAYzaf8umfpxmOkT55ePpDAMCp2HIXp+vIg+bmSc1FUy8et1MeMns0k6XvHv6d0LL/N
tRLlvW27ncdv9/tDGDoTNoWls67WUTRYZFdugIPcPnUGCMKKz8HDk8+SLrmYTtq6qwNVO4PDZx07
a9RkmJZ4cdPb73TaWD5s3b6ezjQdqj0rlczFXSV1Xt4Ec4fyAq+ieDVCTBCXNbUY1oQoVzaHbc/J
iPRjC/Qkb2NDFUKtQvveS+oGQoOr5/LscRT8DTw2YzqZ9cECETvPHdjJdCiERMN6gKDKHgu1tVny
+qbxqTV3U4cz7jkdHCPOLhFOzaH07dKFok11fpiUnuVNF/gLT8vF6wTr4KrIh3cujrXJWbp8C3Bq
Qk44PcNyOzvCmP4i3BpMdk7qNaYD786KqtuaZvtsIxXAX8nlreT7UDay+DS0nI2MAcvmSy4NKJPj
DVZ3Y0YWz1pXDwMoS2emfT9HHiveDBV8PsqzYuepaP1oDfqB41DbAGZUK+tuoJKCY5J1fD0m+cV3
HafE17rIxVc/mNfPaN3jpyfXZYbzKUksrz8vlsz5jEbde/iTZQNuek9Z27th8TAVHRiIncfkqNPO
1Po52N5FuKxnWer4HHh1CUdmPvm0DrQyItep/0NDR1/WuPWsnl/MdWeNHajG+5iIHKrK2WkX2NE1
K0GepuuxKiKHfWcrU7YSwrtu91tnPWJvx9WzkdsP4TJ3w1OUsnmd8tpL3eeBY9M9137TvCGxF+LX
ySJ+4rAxpfK05wW+RwX2SupfLBFnZIrZadyGiTzH9lilH7KI3MNnF13rclu6vI89Rmbkb4A2cWrG
Manw3g6PS/djYjeNPODamCZHonbx4LCIyIB4D5Uva/Z1qljaxMvletgtukTuU5mArJVmxDVumSnC
DlHjdv3XSvDOPlumyxkR9hySJGJlyS2N2fLilgAEZtDfq9JFaetlD4kM8uMclDWWs+nzlCyfvWF1
+wTE2NNZdjCVvH3BR++U5adsWXWXysKp3zmJND6VCA74DPYTBeSuXQfGft09ZLX11FfAbinkpxZf
h66bvX0eBU/2ZPx72ZMakAf4QFbKHXDLnNNbxwtO49KTNdUnIL83xnba6WhD2g9DjcUPTnYw7fB2
9Yop3BeCYpQEh+GJefaF7exSFOpvVY0fYfRPmNxhFOhHzrODqarl+XqHyIFJkFIM7BVKEXYxl6wQ
1f7rObp38H/3EnUYxRK9z8Ji6L7ZuvTMQwwzod1vaKAT+X73klf1Q1MQnzIr76aYsvtJa4pk9yaS
1j38g8fIRpCTSKs+V9X8tW/SOzUhwEkCnOKn4J+2UM1TjfL77DVucpB8xDuvx/Mxkhzw8Yz9NH9d
xR7dfbDrkSBOYR8Gmb6Ph+bFWhJiL8rvcoZLEdW63XWZ/KuJUS04YNtqjGEaRrfIFt9bIeoNlfW3
wiFfaBrMt1gin6nJucoMxPiggUnR1g9gPpjNkwM7p/o93+bfylIvWMi0d5UeyHKOFn8Pzis/pn37
r49uc1Eue1G05ndk3kc/aH/YbQbbPO6/R1HzQcie+b20KhzQxx8iXJ7YH3khGPjJJSfCITjCKAhf
qgSs1Zo/6w4KZFXBl4ZZcjt6iziYuh66oxXgJn1uB0Ch/Vg71o5D4cEJ/bNt0Ft49nepxPAOeI9U
C2M4I7vxHjuoU+6a+5iIkZ1pw+WgOzzZc49Itlbrf4zr/Esz+FSn8sVLw8/zyFPCyDwk6iRx9HEU
BYdK7u1tCifK2LSnphjdOvkKV0kkLPKmJACxlUt7rmHDAJq5CryUKMQufFfW1kRaALZu+jFrQiw8
iQlL3sHzb0mYoVObDknoONgfgoIc6aDNd/gyUOabyOuSEfR0zQiAh9b9rU1u7vNoId6DilCFb7TO
rwL3tO/b7F6BcjyGJI52Xpu5scBpBjvSrtJk0O6NcQKi8zAHwvyUZJ+ZltqOJGYq7NJ0sIFtifrr
siAOJsQlEeJmpFkKT2g1PEZ9aor1s+UW/WcoOh0En8GSmEa4BvdqKyII+n5YJlyhHdoQOCtBpcYH
PDkQSLyBbfzqGrTelbYl0w9aGAYi7MS/AgI2CpdO+2TBbU3RYjx40HkTGvvgsDPXX6hFqN6TOZni
58FkRtPBVE74j8no+2DopplF6SWUE6ibHJCEkF01cXx3euT4jq+IiUY7/+9MB4JUVw/YlbybkwbA
iRoSZIFgviJ4HlB21TfOsiykl1m9E32qcOtoHymzB4SCrsV5++d7d34lnHHvjiNsQukCzmnpOq/l
693il44zQERd3IKeNk3tQGOcOSMQdb0OkjYW8LBgQ1zkXIQrKcDx2A4C3dRcaiyk/nw5v70J5fuu
tFlYro1aLnhFsCN+IqhRAwjw3t4uP0opEe9YmQtMYntMN05xRiN8SXNjDfCxFC7A/5cL8JWvpfQl
f79gPQhUpL8uBbCjXMgsLm5dfAmM2XlBv963aYLkmAhJOJBENzs/dk2tBvzuPN7vn6/g1Te2XgJT
UG0jgfb51gJ3JTL8hLQ1xrEbi3TLS28a7X+wrbnoGCkt8/RhXkZgIzyPg+G5cNOBC6yr2mqOCaeZ
exMvlYNIMInkx5YuWd1mTs1oH9/20a1gbToA9nfeiI/Krg6SxT6nY9u09202a4nZvuZnbzBMXcl4
dt94tL9O3df78jGikAxr3cANvN+qHOBuJacVf3dR1VFfd4O+VTm5hrdtQ6rch3AIOvEGaUv8uqJ8
unyhZGALx9Wuy/9ePU05xvi45qF7K80AttC6Y5d/nfXsx7dJ1U7NOTAmjO+MMk3yRJ11RYdXPEhe
p5DbxLO6gk72VOOAWrmoYzEW7qJnOpQ2uiu7OZZ/Rbg1ljAeS/Jh+lDN/Wkoi7b64mLTrz+UuVmG
z4NOZXmgvLOid6DtOjuOeowwqRqmqXyDU/Irweh634zRfG3bPHQ+pVfcEvYWNnEQvttgNqwW3YkV
KhN5MH4Ar2Vb/vOqXakAPxFN2EdU4LhMzW3FfuJRxf66auEQtinjGrT8s47U55luhNWJaY/VoBGJ
ybqZwrr6sogSkhUG43l3vx0SiYlt63bBhqEc39hNfr8oDS2A3R0RMh6UweuN3eRMpbXTJOcNtIam
zQZqch8oIDYl267vFbxqp8q76FsI6Ab6sHRL/QMSQ4vZLZNoupY3ntSv8DNPSsOC0A5lBvk8Slw9
1H76vjtrTozjpMm5gY/SfcOFt2i+13TzzJUwkIrOgAukH0ovFPb7UA7a3GAaIYt3eZHZmAOTZjhe
ArfnwpuUHv2NL+b3E0ELT/mKwBgOeCGcV1ugMzhER0xRerbzgHTDThdLyyi5LMip0JGHGs0PlGj/
8mbp4R4VpZ1PvpxCA3anvUn36f/tga1LmQ2BJXE9oEhjeNUegTjDUmB0TBGI4xs+TVM7BO8zGVVP
2H6B741wGjUOnuU/sfBT9GOZEQNFP7bnX8ehoiLcpwFkgDMUAVgMf36fV/Lkz5h5wJPCuj+AgwJ0
bl8pWD+9z7FzsjFFBnMr80Qec7+zizt/FChOtNW2zWkuQ7a7jij0FoU+7soNY269yxRCyuPchF5A
cGcUiHf4J1fTJSWzIL60hXZgRSV9KNXRbcIRXWlR0ffusiv2C/BFOu8i5EgOahdm+q85Dfvw+Od7
+23z9NivhdJ8JDYv4TUjRqrcToyG7Zdd5xuxqtEET9WI6EotPVkHivxJbAOWYvKOJTPn/g2i/f9Y
jJJvmFmEdJnCuK8/liR1LRGmzFmhqivxoG0dj5du7LPysR5nkR9dW9aQsq9juZrfos6idAFDcctb
EYc/P4/r2v/vu16/XaoDeSUqSZzTXr/rpoSzAnBlzolPVBntTBMTLzoW8p7WvkFACT+grWh8slDr
PcAXG63asOTQ4ar6SPKZbzO8xXehxLxxgb9CCRyyvmMHkskWu3Hg8NH8ug1H5DK5ngmnS0+4q/fP
aHlh9cUSA2U6uHcM2KtK8kH6UrH24gXrzrZL2iNzi9G7DHFedruWE+McM5fMz3Yv0B4XJSuglIhM
MG4vyKb68zWvn+9/n+l6yezOgjesbOo5/3fpQy6yokwjhtczY9GAWC8YACqoe+REsQ1SZRf5oc46
ysJ8Ib4tgdnTvlGcwDf77TJYaOuc0xeO4/325FLt1pQnjn3xzAxZx1HRGnw8kwRwKWdGhs8NA0r1
uS2In3HWILpA3UJmp2aqGEfjMCizVjyahXEMo+jruLBKBo7bsPPXniex+dVKwsVTO7Bz5tkQtsj2
OpVFUSf3XuHHAXvW+nuNM1PTTUHP6insXtUnqHE6gJgENHm7Id1NU1GYNoHhbyjSSNkXvok1BDmY
5Tpk66r3MrCUeOH5a+tsYpGW34DRxvc8hF68D2e7IRvlep1RNfG3Rv4a2uswBA9Prcyn6AXOAoC3
lJX9aXIVoZo9R3hJQkXi9h/mybPa43YLUQtR4INjh4X5Yadut578ys3JcHNd0lJ6aafk6qVR671v
3MnKMFZxErLo+riN760W3mh77TIiD6zquVIxmvhpUC6ZrdCwzlXStO68L7AXLE92OizpfQsSYu29
zC0YJYegXuW5U946P7t2ngKLQ/FY9VQfRwN7nDIv9WKHuQoJIO9ZVqKBwmV68diohLsm0XSBNzE2
JZyMrWtzJivwPkfx2odaQT3Y8c5l3bwLBmUmKLTWgErHSeTMzSZewp/beoW5HVkNVhFZ3nHER0R9
psStnZ1cx7aPRkckBnauz88Oipq+Zkk6LtIPU3J3rWsF7Pd4aR0720vmU9tG5O2ETjSFJAHOfMaN
RfP/uP1Z4Zfe8CyHktoOsIX1R23G68NDn4WyvUqpHFqDKRxYapOeWC5AzmHzOSg5z06509UKs6Iw
6spLmoVOdVNen1puKS7O8ZPK/BinPrLOqb/E4ui0Kjc/uqiyDWuTuz/07hp+XJMlRmLtAmEoI7MS
8OPZjrMsOWos9pP7OMqKNXhQ4Mu6YGykz0R7Duldm/hFf0t12bcvTq5JnfMnVUxQs5fUQwieAYHl
NRqSwkbe+BJm7USEEcTJC84wwdNkIg+Ho+1FYx7EPVqI8PSNRKm4BlUSUdi+axrNHE8a3ciPMm3W
cFFeWB/fky4r+0uKcDqAo1TNtfmh6iT0PhfOJMZLugyquI9tBR8V929Nb7AUhu+eTJJBP0ZxEjKB
K4C2D46uSPgRhZeJG1bA1JChovv6DOfMgi2dFCg2LT8umOpME4Ya2HJHw0tTNjxepQdWgLLaUZO0
FqcQ/bwMuAwPi/VbzFhqIZQdJBwKXrXHG1+4JuxMvKCuiPHzRcqfj+MRYVYLba37xKCIT0G6vune
0mNcAYFft2v6U084HKXUr/K1HCYKvMpPRldelswEX/3eRfDtG90RydLpPVgxqJNUA7+2tVfbl4Lu
5rORRZMByhY49jBQG50zdMxkZb2BE5cRy+tDIXx3Okz1BAV2JbHlt7Pku3kurC5Mn62WnMn9QseW
nWuLIeWjzPusPkCNWshcGZzgm1sXnT5LisX4C7K5igktPLpC7cqxW6P06hxRqyqUOx/sPnBCUtcy
EGF6ukmhAPZyYjfiOFHkaIS1nz5nhZiIJmA5F5cKPsD8LpvEpG5Rr07VfoUPkMVG+NYAMA7EzPil
esgaU6m3OrnXVZgfOIw8hAcvYy0zX0thfLEg54YCfdkeLl9gLdAIht9goCAy7yB4fq3TDDlVagEY
VHkcPYcSZuzOMLFz9lFoCBapZEXmImvTwfe55Fwv13+BNVHpvie8QPeIsIMAN68cYwfeMEZUDYir
eSenWEb7cs5lctu6OsPzvk+63tnn4zCW91E8xOOzsdzhWZUaMaxmJtzQ5aruJRoGH8De6yHsafoF
oAa3fxrCOvinS1s7uYhh9k5TYxeMIAs6VOw8eMOHNC6ZEht7DLsjX23+lyKBcdjT0WJl1sx9jq1X
7NX3Y8j2cUvJH+6Btqis3EUlDdZAU0gUe+S5JRBIOnz1s6C/6KZq/v5z6fJbtQUhSvB68JyhoPgN
XMijlcCiBu9STtb0JbGXdGQA6zAiqEJpcArmEAixwJq6Ftb8/6fW/w8+lvq1i1y7bUqmgOZWKmV7
wevSvK8bmedTLm9HTuPxMAcj4wP0DZxWQTOtedrwS/ybXuqe9JSAgLd7Gsrqn6pSbA0bdYXYKObJ
shOVs5K63fqjS+Hhn2y7IL3PWzvM6dq85KM3421dRfCl+6Sxakj2oEwgttU6PA9me7oL4t6ZPxmg
S6yQ4Vwz261So4YX4VvJXyEzckms5UolgfrMTzZ6YDccnLrCFCbDNONdancpJXsSChipIFPrGBkP
ZEOQZrPyECZoqE9tCoL3rGAcfI9baIp7qyns7NEqneVF9HPwpVY9oavtEI63M1qDBycokFQ6UHrw
C+Fb/8bwcYmOeb3wHOIrDVvB+pkvFRUCJkFJSC5Ruvog+DPMlJty9IL5bx9Q/fOfXyEt1KuSkxqd
IZ23YjQedefrYr2TddUuTcX4QlhwQZgpA0+AhHFhGxKdNi3/DBNuKb5RthHF7vSU44+mbOEfRjPY
11m7TPYuHoO9H1Y6RGuGXBAuR857YikTEyLi3tkV3rBTJbL2U2byyYNGqqQ5uYiZA/SyqtBHU2FZ
tbNyryVsrXeZnG1dSmkZbzyakfvYAYa74WNQTTJ6afvAxiCD/i/aBzpVxDX0qi1vhqnEqSS+tkeb
EACJAHgL23hTfV1qmc+3kYd1ti1DvvowK9c42GzpBngxi3Ef7My11QUTnJX5h3KJBbbRt5KhdhJG
doCgf20cqr6IJVAIXM1HXWIOePahe6dM2SnvdhvzaYy0TzBrmOTfWV49CcNXmjGQxgSny7OWeB/G
LoGzlmAjRNHa9OrIUJ5lmhpn+YfVxLjdJbgezYGvmvwwCAOfRy8TPPIEZlF6DELJW4rakX/e6NQb
26clT/WHkWPmPahhUhcdWinD7wpbDd1g9n/eWnlIJRSuXFhEMB6cbWS+3lKvbxYOcQjD325HPMmn
sdjbsF6ck2nwMReZDZ4Y1SH+44FoT4CP6mItjTBnP/ZiNNBONMcouGuIXG8t3Ffr1qUT9z30NgIg
lzHQK2wRMEL1Q77Mpw0QYFKC/LlowyZ57pmyEE+VQP6+J2sRJ/WMy23vBpUll0qzXSf/x/aRi5HC
1b6SjqI7f20NrkKvx/4+mE7JWFAGwdsaRHuQrS9OopXOg5VnjBnptOR8kzCiKch/dHs4J39+KFeB
7s91kQdxEvhBawdVvwI546H9BAP1FQBwHtXeacwL64cd6gnnI6/KH8UYlXjuzVY/n1XvxcWjxE8U
Uy5WXNFClA6mbLnrrqSw0G5ZeRsMra8bgZ4q9mhjEnbDsF3kQ6+qub8PITq0D83s9cVLroWs5QGt
njc/BHNVV19hyxfVW8CgXG/h51tcMa7AUZx0a78JyvDqFocwsqIui2+xJAM8tWFEtGsQGKSwme8a
1vUUQbyoCmj2GHDpbtXfu3CwQFOJW5ndWj5WGV//vowd0i9NMmE3opjCMst38tC7EUHlOQc+qLG8
IWP50V1L/VtDnWXI9m2QuhT1ZJefEDoFhNeVcPFG2vH2waOnZ3oxBjZcvMZpPnlDoSwikClkUlK/
s+zD3FI034oi6Kt3UgwfoqmOvniM5eodB062fGJYSXF0lTO/61SMv/iQU8YGS0x5R//XdgTyZXq4
KYJlGneIgcxLRxResFdwhfyD8OzVPcVGIgA7iQs0XaPyA+JhrAr8NOACkROIgnEx8gLsMe0akW5C
aRpZMWmb5BuyEcF5V97HqB/JAgXchLHoGBbPJXaKgXGwb5Pb2ve5LU7RaksTpsnSHccIScddU08E
NY61XZcHkVMMXsoEu6V5KUtzyKyMiO+4i6kLe6vuzEssbEom+GkxKoDZgkFA8h9yTDIc42++yM1D
MRPJ9L4JskUAtK1pwQvUgItKwuzJId+bty8blzZ4yX1gYXis31PVsGMXcxuMmEr6wXKwbShGT1ut
sW3KkMX8hOmwQRPEOF03l1xOWXS/cVyLWi31OyW95j8030iBDz3OKvPqr+wGPQojsXCohUH1Q4o0
so5ZT5uHiNhYNwAGqntsdd5SNvRqPJVt6EakYxTlfFFDNr63TGOGfTIoEjzwfySYNOyKntDLmVLv
vpwS6yBpQnOG+fX8oSssJjSG0mJ+A3IKXgNfAWpG4ETPpZ3ymA2vdf9PO0aNALJD8lHjT97k3+GE
muklEYjcDkyA689b8+v7tarP6kr6KcYOg14B2WS4n666itG2XHCkMKvNxYYRDhUF8RHmZVeQ2NmQ
0BgJ18fCL0GTeFxWejdVle1iJgf4fOmSoBEX+L919sHiz56b2RbzAxrGfZQb+zO+qCPfUWWhJyQa
dHU0SjCqmvZUlLzopoa0+UL54lbtTjgMA5L9pglsq74IsFuf6BSEnCN5cni0KbHlEbZs5SA9hqxN
jiFRGNX+2UvnTPUgY2M8HjZWVmuw67iL5pWKGofhWgl10Oq/JpDNgn1omMnf+8ss/yX6PQmOUvbY
4xG0TmQhtHuG2VvdYIcpFPBNWDReOdYcldBty2slLKsIuLFB3VV8MQHRhlirrBIfqPYrlszZigDI
W4qFsODGH/u7WqAZQq48xMvNyi7/pAe3wYhmiUC05GyncNGNGeavdCJNhYQIrxQ8Tors84C9Q3li
OLFObnwrtvaRruz6TkVdgAWYPxo7Pbrd0sfP23WGbUVJsUiVmfNkWcwLq2FuMb+dTA0PuEXQ7BUH
p58Ip1TNLNo34P//MT9zPc0Rj04CRcBv8zPocoDIdpGd074r6j1fHXAlJtf2Y2GSlrdIi9HeEpbN
StjUOqBjAr15MITPrD6ojW+csr92XCsAj2CDgR7wA0QB9RqA12EfQ7iP6/PcaE3pha1ItoPau5qr
2z0ZdlRq7erZEL3DQcVlHLm9Tdh+2dkl1B2fz9DLsxMhpXO8gzNjQVq+ltl5Okr4tyaxjpPfOZoa
tIPvORvbPhcVk/R95E/SvqncSRG1m3bYBKR2XjbnlonNqYmy5i2/+1cvAKkKfBvGXpB8mOXS3q5d
4E9bRF+BDQ6TCU8NrJrkuaoR6yFLxmzhQzXYXn0ajAjHDxsOuGF8adYm3V+mrZr6senUPL3R8/7G
T/AcLsr3fGUr23eRBvx6TYPlD/3cKXPOuZjwVFkuGHiet9Z4RFXTPMGTL9DTwDH+V0FVFAKZvWun
pxKpm/jMkpfRj6BNu/zeXvxr4bxKa2ZNZ3fqE6Y6+1KmNAV9nbXBbiMCOS688ePosjgUgrXAoE77
88p6ZXLFo+Zha2XzA4RHU3/NFvrpUXdN00rLtsvzNoBQ2qq+tNeirPYrqtluqKr2ttRpIj5v3G3D
PJAO+dqogkX5j8YPqvl2jqF6nufJiBo4Hlr9W5Sd1+cGVwo7RcPIZhDlUf7++gKamFUIOb485+WS
58cuthD2lj4isC8WxQ1Z5Ua1Ha58S6nPAKxDBmlssNunEDES3gqD69y1ucRVuffhAZ7bTAngzUyU
MMkR2z4ivkXubPoJwoRIvTfJAleM8L+F5PUrhrgKj4yFpKiYX518RoCQjshsz0U65HhBXfutXHDZ
J/7mqbyYwsLLbxOysAqzCZfhVUAxgIhCo677EtE7jVRyyAPO5iOjB8J6SzEuN+1UKxKx9EzZHORl
gIF3rjAbtYACOSpTvqRzVHeaoQMFEOdPlbKCv5cQzoY3sjA4zHkV/71RZluBL9cti+0KQSpz1F9f
VQv7dJiKJLyUV53G4jimeFfjomze9VOKRiLI/ByJ57bKN4Vw40H2+ThBseU/yLFZhZOyKMv7aRZ2
/7EuPI6YIRIJ34AyPphIoYEn1tRk1AUP2GmtqlArky1nxMZxX67qSU+3lbpkY+S4Dxu7pb3yB7aB
kpUr5Iib2tYN0BuDxMCqSFwytrNo+LeKoaU/o8CX/ZdycPvhNh/y2hzthRNhN1wxHdtnJHtXtiMU
8SiMRtaluoIaHhJLBJNysWZu1huC9j84R1bl69X2yzK77x0YlfW3xo3t/t4u2h6hTSgzEL/rB6iQ
cNBjIELs2r9Thlrlo6vKBO0QHcvwHDaN6/+dQqOkblwY9Z23439bRJsyqipGtXoSFD2IRL86F91t
x3G9ybqubJBY+8gbogAS9tHHpQBxgF9a1V9eoDrrkLMIIMZ3xrEuSNtjLBezED0XHyEzBIUlvTlu
rJI5zCJzSBEumFXMwOrFuIpFuanANj2du02ptw9gGw5vVw2gznsvU5pwvOCu/H86R1c8iEpb3XET
QmwvS3rM9pJ9dS1qwDxbrNt6jfcy+hMx3TCj7DXxeVelc6oMQBMa4iyfdyhqqYVxTJ643zSBH3s2
4xjQ2mwE1skoTF0TZv/+ydm26k2QvMGMcBuQ0OlhCLCih2FsJf/KKsTyoFhmB5qGL8UYHjKNC920
s71xSaZ90RiUrPx3J2VB9WMLI3cVQ210llxrnmSqQ558IE1EeEpvD2xFnavj4FHGY0C3e3UJUE1Q
W7c2HhTlsWJnV2eMH1L0VInXr7jRqkBC2luoio8AecP6/2YGv8hnrtLBuTEUJ1tTgrcbXM11DsBv
2rbzArK8u2+ysfUvUZQzNGR+0DAs2xMC0ZHzU1JdpDuGMgE6sNZK2xjhxEoMFVdZNxXjWqFZCMs4
2jpV5l/8sjPiiWgYbi7enqPFEcHvysqaF9D3leBdd9XEExJgN/btNEjHu/eb2M3v3Ez7QKp2P+v0
HhUVW0QZw90od3MWKn+gSxTusm9AAsytW/cERsRWFUb7XAmrPuVI9TD36QXd+BR1hJN3lq6z+235
bxxUFeR6tXdIKiv6LvLeXZ75YLrszGky651LKRUc28Sa26cRECLbEeMrZwLFu4yy2WJoW34to7wx
RCc2Q4YrvOhXJZVMFq52TqvV6oGBjdu8BHY+PqcySvL7mNZst32em4gxbXvnY2pbif4axjVb/5hD
a3xmvKUZw0XkHPakwBeTtZtRqsi7OuX73M/SWiQDGT0PBEKuHuw83GS56a8Cm66bS/8AMNEnlw3Y
xhZdlHfE3s/9U485wg5uBy7W6L3VcszXqe5JwywUp+1baKm0z3VWpJxQUnHW9JqSeYcWxsUyujOg
1EswVV/UtRbeJFpwtrh6ZnN9vQ8aqryH/0i3mE2DjgEv8tmmIDugqX4/9DdYjLtJtTOVJ/J9wfh+
eY/HC9p08IYJJT9j/uqz8nzj/BVcWcPbzyOIl0MAmX3of2nkPMR3lYW4/ikrfWc5byDsBikVg8v7
yLOBmn9dKt10iWFnw5bxYU9djEH6geFsJjBPXYQ9f4FkgvFE0PVL+IE+Mep2zhBF9zUsp4NKEoN9
ihPgNbwZeFRKopdts95kZxm7ymJcusrl1xtdPiLFDsqbAi6Ic2snYTICmzSiIztxHQeUWQM4iueE
WXMy5uETW4QfXP7zzV71gts/b2KoGHMUcfI7MeUfeDd1eIIhNiXHqBoD63bbaLMuXX5MTPMrDCPh
IRBxklj9HZTXvj+kqDYxs0qdTNyVuS/83XCVYmb2nALCQLWH77CxYX0bRLpEWeWvgjUz2gjpskHg
3+KjH2enK0dkVVjIjPzEpRSrwUhUCoVZ+hAOd17VYjm2m6+eAYMueaDaaP60cRcORQBT/rAHvw1l
m70YyjKnoGW/NVeJvfJHoP6Zh5/fSZvZy4tfYNJyX1+3e7w9+BHbR9yVo+VjiaM7dTNXC+dmkLEz
3g4VCeyMwgVtL2EqGQLGT1bkcERvyiCB1w830ds5ws8QCj5klNLz+/fd1RYDSbWb3StIxLI7etda
LPcTxZMgL5MngfF+apNmZJG+stu2N98bAz712m87dd56+e3hoNblQ8GakYvbhOPjnNKtDCF6pZ2x
MprtN8r61zOWNQtwHbGsXG7P9V53K11poTI1ZcY0meIDb4qQDcLN0zzG9tNp2N+ZQxBkgfXJ1P+g
DFm5DBN+oOMO8Jb2JGXISvrJ7OOHunVYkZw89+bP16lfXydUXJtWD1TVVoHnvmZB2U0JO1rJ5nbz
HJmQkCK3R1Ta4x6fVvgNOF7zVEaSmhdhU8/8HdZ2c8aQybnxe4O6cCsKkNWhBE9x9mgO8H/y6KTT
YDGH1eclPpIYxVkHBSEez51lZ/MpWkQnbkraHzgqdieLMy1fCP1Z2ekZr5YZJUsZ2f5tiUIh4Ite
1cWDcWj5S2UT77iL2r6sT3ZbpHB0esXZkU2mOeJGVLUfTF6FLOk6c8nMyfxiOLeV3xfPJqJyvs2h
/YVkkLZkCpHMHrCqZpzoYEngx4BfnKWhffYKdPbjxrhbwVHk/5tt0FbWzvBukOFfd5GqC9dNdRsb
TXlPXbDZZhSOb7m45wbJeMSfZ2kPeJfU9VnYWEB+HJaCU3nz7qg3op5mmz/3Scl6ra/1hU/lB4Hv
qtSmMeXfJy6jsD3i534+/Hk1XPPEfu4bmCvDLlQKoMOjdwjW1fJTMxpnDm4alevf2jhFUOBfm5/l
Wr9s0F54rSPGLi/QbXrhVbs6Be7fZVeU+de+8L5u6uGNvzSHzK4IU181W3E4vzMw5TGPZ6ogD9M8
pO+SpE1fTJ8vRCDEqUOGkyrX+0cm/hiDjmOsm3OS7p2gQhbe5oRQbYrLVrfriXI1OKodz77gXVzN
D1Wovb8dLwuAYYbIiW+Bl50EFLZegjee1dor/vqo9P/j7MyW40bObf0qO3yfPokZOLHti5oHssji
JIk3CE2NeZ7x9OdDQcctltzi3o5od7tbUhEFZCYy/3+tb1kaMwatu4Iy074iHSZ8KRdWmjjQ8xfG
R+FmsB+o4pIeXbhdeCrNmvrEkIcNQq3uoqn7/cO6sm9Orfhp8qIBcEwb0fS1ylwt88GUeRUfC0qJ
/X6wnOJj5dl+RjkQqcpd6MVUlhRb09FbsDOGvIWRpt3NjoRmHmmXsm1sBYDpq8TqSfSZvaqxrrjH
rMhVZVUrJbXveYn14lFpbtUB0dWiLpvI29Ey1FXe7Ub3IhxVibfxxUQ+m7Lf+ca/LFamQ/UH3cGk
28QEN1UofhqeYarpg54Z8dHze4Zn7KtUcGYgj+mlTjQh5ZQAB35OyWWbujkMNfAfSvO90z3+QDY6
xGHpppF+7YrEVLY/dt2X7UlUK2wXWWFQfS9nLZ5UI3QNOmIne80IlO5xnpkJiV0cxrSKH//7r/jL
qJo0TipaWkcyptDrv/2Gvmw5eEFwgJ+p+GKVqXp89luKnttA1shAPV7Rys5KGg0lmq4j1vr9z79S
GjOokASgCKDL6hgosK9vMesDppVBJ4G20FG1Wb6LPtBA/o7e9FJxq8KkAYHQ+AKO5VDQT6x8w7nL
R+FHZ9tC4X/AosZGs8kV/v87l3ddg+Ly8CbRLmW8S0SFVzUo1y2Bm2iKOLSXJbJ1I/Ync3FFArvJ
HmuRe3uEa2G3AiNByy8xZHiaHbGAcHCeu6OeHBKaWv2NZuB1XQ9DMPIuk2k4nkp4B/IwRBklqPlZ
//4LXIHWp/s7GVUUW8HKAbfietL2Q293Ag3gUfOMOF5VqvCoqF9gfUkslW5T5rGlnfLL1s5Q9KFG
pqB3xFXYWVx9mwkNXhy1nG+M2D0kUVYa9z8m56VhJVCNise5uIJeigQ0N6mx3gbCrsstIlleIfCN
qCaITDOOFcckouKSMQjvgD6KqRg6vX1GeHTmoa5668vvb8HbUjp3AGGH7VDmQz2kWNb1zkhNAsR7
dmkcQzVhfso0J31LUaemLvD4SS7atCLRz17eK9U727Jfhg/yJV1DPmiB7fy1jN/grC7G0hKQ3jK9
+6MOyri+420hWaM1Bna1rKKeSRV4AeHrfszfK8zuY2C8ZzB4excoRdq61CfXJysaQ+r6TasHrKD1
WIY7Ylz68KETuH/p/irGRKdF5nlEMOW4hGdUWv3qVuwfgCsMeXwawGDET32pDuHnomwS8uSQdKLg
nEXhfllkL8KjLLltJqXiexPwrd+KcrWF/OIiwKA5o/AU3y5QScKpX1Cm287lgdSMmSlBwbZsDy+m
CF5/yG7MgcMxTC/deqj1TIwb6etE51gAa96TpF2/FeiV4581EHjok+/sWqdYFsiM/Ioq0tCFbJxn
PYbMasu7d0VuRs9ZnIQklbUd/YB1i8fQgCYGfcQNiJVrOGZoOzrYLfr5zBZws2Y1fHtZv4y2sNuH
WWqPS2os00XhNajOZ19on/YeW/ZZCuv1QiOu82KWJOIRTNBFEkcH74Ldsi6yewfwSgkqanLfzj9o
3ivVTcDAK3nUoDMvIK4Zw2R6RMsd6oSl9dBhjKXNpw41mX+RL93V3IGhVzPQoOiwkffPxuUPzLLh
tmrIvDLcytVuAPA14UOmhjayiZDG5jLNqyK/HWNKaIu5JyJchYsA2Y7Ue56Lvkh8DKCNN2GbDH90
vSPhYKF7k2Ngdzemhid9Ezs+ZLLfLxOXx/bzBgsvhM5fk38SoRrvjbcjDWhUqTNBxZaST5s+ZXk/
ao96JNmTm3LgvSwuGqN5RZwrEmahBQ55pAUyqXVddPymMQY5eq5QOlOeQG8dE3M1KfySks7Opo88
naSetkcuKsIoKp/8yOKgUrpIC97pIQLUeDvpKctjKIMCJ01VwyQjLxi0n/YvVd0PddMIb+9xqI+H
ZZEoWavA25JxRHjfRMp4IGeNe0mbpGNOzwL8LrS4yc7FCu2F6GxXs+mjUzWezdyKK1O0RXfCQ2Tw
Rz6WDJkE4cqXCPVifqI/ZD/qmlIUe9Qn2qcIjz8ptem0u4lGrY32KpAjqLoX13HkchB77MO2rE8U
KhgK2WWn4bR6/hqYFDPX2I+iZjVfi2866J8Av6If53+Mn9EQmPRpo7EvRiGlnyo5ehaTaLqswHbM
9iGiIJgTa4W0eG37UDlXo+Hwkus6qdXneTNdWZOLnRbeVGW/zBo5+lyNZRkAoS3X1MQf6D4HY63z
9+ARsBVg2Plyosgc3Gez9qbRGSX0j13HnO7obHuYZ+dADiWTUGj4NCLdIlbI0wunA4MgjewFs08f
PViih0Ip0xp/6dow4SH/MftYZ9+6ReRIty5HvvCmkrVQPsrGJqg38idt3vzIxlKfFAsG6B60aSVN
L0SptXNwQvIPD20r3O4pKXr3efZUz4fIFDEAZ6BCYTmoBlR/U/YK7B7K1NIeb+NWBvGrrBMgb6U+
hhQiveB77qVWeq+wUSR2RYqPyH0cZz+vVIWeM1ik4/Ow6Iw59dFIVELdtMsudl7AZp+34ef0V6tA
l+LWbSAl+ov64lmZ9xSdwMZB5m7NJsYfPeUb6tk22TpaRz6GSURqDvu/Emq60KwCpI8GdmcPrqUq
vtQqw+OBA7oz7BLNp6LsYeDlq812niT1h2Q3RrVsX2YfSMvEIPKDpMIK2OnFwxKy4hobK2js4NEr
axs1oIRfeVvoBe0FIMF+aH5Uw441bTb3aPiQB3jQQzDsY7eeaLtdy7WZ6gcqleZeSUNi4kZVfYxt
vVhqzagveitX0a/rFvGb/ipG/4H2xz1FHYyZMnG0754q/GXFq2Td5WIS7uQWLgHCrNJI+MckGPIb
6vrjslY9Hk2kw2/OYRPXsVGDzKmj/h65sc3J1Ki8Pe0zbx07pXsyAuv7iIB8k9hljUi5f4jaTv+S
hQIXQFHZj6PXNyjUnP5QGKZ79L1e3orARguLR5e2XAkQc0zGE7tkf1NUVnPOq6FbSjkMEDpFRuwf
MCPrln0GiQguwX9d3qxp+mHaTwn8rJ1GQk0dG1Lpvdh/rcJkPFgoSlYaFct1OujlreKPvskpKtc/
qm0gv8CYIgpOWs5SEnyL4lb4t3lXYE0rao0E8V7fhgpTedECWHtp9GHYG0XxhAaY8Fi2EekKRl94
BH9EUAhArE3L++pU8logCMNNEJoQSN4LT92U+G5Ucuya147X5bKSg312CxF+1NHK7VElK1OyZdEs
3QHIYaM1clUonISrUkQRBkNAcZXoD5ES9mt/jP01VKluVZT4bCelg9zJkhLU6AyxtmL7TpQoJ86v
LMKU3EvgKAehhs2GbVh1FrXq7x2NbZaMe/KEWvVDkWTene3n6sbRkJuy3N5kIrgnGYOAPo4bazcc
gBtZgT5SNhrTjRwQtqz8jBxhihtesy5x0gZ4u54lCvklzMNgw1nH+zJ2hAaITomfm6z/Lt24B8TD
LjW0088Y2iQB3xZ7iUcCA3x1ObjGh8hqvZ2hkISLF4nVhvtcEc3bJ+OirLr7ES3xwgPCh603VYnF
IFxiTX9/3DZDVptrYIBhuRr6BANZOtrxssQL/ET2OvAfNRqdTeblGl7P0eY8RbC8b9A2b2ry4LuA
9W2sTBRhGq/ZdvTLHZwP6xXXHhBEJXF2Tia+l5r0CIIzzKVrFcNtKsiTVIUuXrNID58x0sKAbov6
huZV+CEUjZXTb1LTo+4SVEkn5nNSo+L2tMzepiAnVtCM7AJqUwP13mLlxTtK3lyuUninNO7KlWWX
1jnD892tfNSKD6gMvCW6Te58rDpr5NqKx4aINCCl6bxvXaCfw0hxvyWh1d8bOanm+NP6j03rpWKp
mZ2zzhSjyz80MlI/uKNDgYAij7lgfIVPltI6N7hX1aNeiwcXX+zapbS+IuylWTS+dScsqt87FRAZ
wc2BkLgJchKucDgYG0/Xw+1ASObejkV0wi1TbNH8jB+JKzCw+5AzVbbW+Iy7JT6aseMyu4lnGqxe
Rycq4pvcdCHOi9zZWeZIKzQ0poNNHhpWuEjjmF+06rr4I/Es76526CMpSlEeEs980YNCu9fYkcSE
4HDsTKs16qJuaTekaMUWYaiFNjxCZnE/sW8jkTNoUXBGCklgVVzdu/R8IJ0P3r0/yHu9iMplEzfl
Puxy2IJVrQB3xxdVCQ+ISjo67TJWo2rb2lmwyof2cYhi/6zV5ne7HXrWo9bZG64x7DTovju3iQJ/
wVvMoncV96+RlW4q1AI3XRDoSzXrlc9moYzqom66dok1lcAys/WeNA3NpmZM2Z11l6gvhTEqJ6+Q
7XPqhOWzw5v6IdG8GFcJ6t+T35oU6NW0+lrGabolcIHyB9MAuJIVbXPFgThkIlm1jUxbGkE7fOgj
g8TWvjGJXh4M+0n1TW/jurRAR5YTdlle+Op49fhhzJGDTBrseO1Qs2RE4Xv6mOokoFBZYSmsfXKE
R5HtdaRuGzvNu8fGtG9tzJ57Dd/hPbDC+g6QSrglFc9dMbi1OwO/7qJv/XzbqpCCCIe12pswMJyX
KAAWhbRQfYHo4m9kaGhfG0rhe1rb2bemauyjVZQZJFy1LzellabLXDbBCb2FTvr7YBNqKeplLNqC
Xqrf1ouxi+ulpyefk1ImJG9BhUUE6ogbMZQkAbacnYDEhFvV7zBxOz1wqj5vTw1OEShpvnOber73
Qa/JggXIMn5o6OR+irxLsqQ/bpkNwyuxV1GLSDSy1lEhO/LSNAQZAPGsr12sniATpJ/SQWrAKjtS
fcwyc+iOe7TNk6aBVawbDh1iGDUbJUyUz4bnsa9zhbmOO1WMC9UTJdp3u6kkNrVYo91iiYmn5jd3
kUayeTEU2TmOMRet8agGHsePqN5EvWc/wn+111ne7FI307cuu5kPEhO74WntOh6Ik+vsnkO8kjvL
VDHQLaYs7Lwm8zNvx2oHD35Y4Z/MbiL2ootG88A1K1Gy4aUTbzIt3jgJ+Xa6Tzu/N0b20bWCGdOs
wi336STA6z4piL/rhYuS6STyAJr1SLI2rSYSqEMcF9ukqT8Z9Bm3Df6cPVIuZ506vgbvBtpe5Oef
epYYbLLDuAoMkyh2szaqg5L0ryA0zFv2FKehY11AuSA2hanuc5+ot6Sw2Dqz/VyiXa92NaDvz5xk
kF6TvOiyOVvil8rWFq3bjVOhues4UK3YAlgrzfSqT0XmxicIfHJJbSG+zdpKnBiXJTufmizt2qTw
1uNf4x2nBjTksq76Ax9hurWtYSSSxHPBIxr4OQdN+Wp4ofxgJuLFVKPXJmu0XQM1FjM0kqXnJg67
yZfZ+msyAtLPUdSkO/zW9lmPMvMJ4WoAt4zI3ZQe18Kzek4EftbdUYkCw9rbwVf8WsbWcRV4oQH9
xEU42PHGVlK0VLWZnugR9zscAWAMtYT3k9+coOpJCv2JecQEUp1iQ/ePNhqcB6dulY1pNbG6iPrS
eUR+VA67sG2DW6l7+j2fFcEHqjQ60uYnQb7CMgUHz2bCNA6i7sp0Wci0GTHc9mwve1IDS71VtgOg
63XY6MGDEpjFKUd6sx6K4lMANHRVFDgWa9DBy7xw5L1qDvJcZWZJYGyZ3JWgTg+QtgumCMuIhs38
mcVmvA3Bti2q1vukYJ1EjWIE+I6yVxN+MpGKnE5B+MWM6AFqIsfIqnCTjdqSfecZ9N45eBG6a5MZ
sqnzEBQxjRlCYsOcvWdoj4+U25KvilmKT2ki+QJp4hzpdwVPGnDLBCsRZtpQ4YSQ4p/bNQROfHTz
gRBD7BSvDnrA284o2psxgPtMhTDdWBjzJ11EUizAVOn9EuSpXIOGNeOFtL1yi/CG5Sxwb6EIs/fj
pPxcgB6+TXqKQTwOMXU0EgwckYE9xg0N3sPdoaWT+00UGePUCu46Y8hf+5SEGQgMycdU9Q022+wb
oqIDcBh0UPU05opFLG/voMspnVY9moNPgPhIoFtcx7cGZ6kXkkCqgxRaumKXbn0pcGTTEHeNU+uH
hLeIoPpMjyf+JHRfdZkOZH+lvnSAFJIkPRpccNFraNhzen4toRrWw4BO+YR/q6fLQX672dn2Tdng
6cg0FdN2Uo5H1a7KRR6QkCtp2B5pjgK2j3VIfqFiHgcndVZDlX6VAJIfzFSXoLtVwtBBmA8rh9Yr
aSGj7T8riR0fQimUlVuOxsYerRa3WY7dDRnqqhujj2Vg+Wgmq/zosYilxKqn9apWa56h1jrPidri
Mg/AzyFVM+qDgsFtTV0YvOrYy/weoEv4FKkWIkDiBJYUrwloixtf3/RhM9zhtmlvpF9OmeJR3nwa
I30kk73gJWqF8Tqp2e0htqoPup8V/kPUJMYGo0Kx8pLqZQikvTUDS111tf8tL7z6Oe6T8DM+MmdV
IfRaQmVSl/gIg73VJWJN96AJFqT4Ui60kGvoVg4rdIzNYT3ikDz4OvqrtRcRFW9EuUNl7MJ9QPLI
u08NTBr0ScuofXAqSym+NC3cFsonse4c6fSbhGzXEQg7r21I08Yuy8UbQRS429KJnPQ0w9AkTqLk
vovGQm5yrMwJ4nebkDj05x4Zqi6mw3U3hpqzi2DnIdbMY4Vwaz3QqmXDGSl+mtkIc01v7HpXHAO8
UOz9ozC0N+QoTQO+8gdFPiHJyJ4VtQrJaxKlSJ+L3hhaIlT1wlynvbTzl6QbxE3V6hypCwdf50Pp
ZFRUSoqB/TPFE8oBWmBkxVY2o7MfidzxtoFW++adKHyH9OYIOfneImDvm8o9WpcVtdUVfYtAHmdR
w4yV8Bgp6lZFKJee5oJnYEcg0KO8IAZkkr5TOcIWQIkJHaRbHzItNbNt5wde+lj3SI7vRNVwNXON
dY4zsLze5IDhh724a6o6plqLjzTFHo4XhPW8AKSw8RQMyIR+j/UnZ7RJHg+GZHqUlyJMbFctrGcb
yzA3GW3Vx5mf0F/KR+OFD9jHNuWauUDSGz4bOVFScL1peavqOzMZGAaN7AftgG20Ne9mdoYDmkS9
iwsVGNcysS6c0To0xdHsSit5zEdplah58n7du3AsjY2Ezpg+G3iXxz0WBC1cVVZAMZp8XMrD9eUR
zU+9RkPp1oscJWCyIUOGStMMU0K4THEuCOXwecK/hacpZ6A/BuxrAEX1+GuJEmtNakUiGKrie+JT
N8rZQffoUNgLip0Gi8GfkKM4MdGD8WkzZCYjm8r4qAxNRzdlpkf8viR8San8uSQM9drgGE7rTzMU
PKBX3b9SyTPRUDTczwIp6fESu/UmadHWaXO45BUioxxgP76wm1an3nDLK736GlhFMe6QvCXWuuJH
5AcXNTOeb7bMEsWQQ9mRfklMAf2OyD1X7qCd2P62I/6q2vz+S+jXbkZICrw9HOLjoK3QG7/yMYD/
7+BvqsFh7knnioE1Kkk6v9kUOMTtsxHo6hnWNP5d2MpNvy5oivcfZcIBjpAHyyHuZQLL1SsUk/Sz
1YJG2hZHF76+MWqy8Tx/MgPWTG69riBRqLkkTniGEfOtgQrAe1+WPb60l7FVJvnYpeM56IFKhPiQ
DyuvNdRPs4pbQ9PabCJHYbsYp0Zp7XXZareyiT3lVnXQVlTQBzSajkUgesIlkGnwFvAEqtc5IUCL
M6nAWOiNd/p5V5wumon0qTUYRBQspc0590oRQGPNVjJZ8na9FDZFESg0Quaq9bw0h42nyFVUQw9b
guyaGjizNkEGiFPeaVrob7GmXA8SB3BSNO9V4I+/9KLCXEmzuoSzKKialKfUt1LvhqpYFm2ga0t6
S4lht6+GTj3o3Ib+JP2VCBrFtyItEKROE4ywWbOMjLMAy9qfZ331rLuM4xy8yFL1w2BYqj17jl0q
8Y6gpabja2aZ8cmtWealaghOHshqMAC3umqtg1hHBZK0ua8eYHNwZMwsYUUsIrYTbio9Gz5iupHY
FSDC87Ysm/tWoQC/rw0h05XowX7eooNA8WQMIR63eZX5/dRQfpkaE1gCUQs4coMndz2/c5uMBbMe
naNZOFTm9SBukhsY8GW0V3ozIIercR4qxbSVlYoO6KmoSXxcpj18pps20VOKIPhxzf+tRYeHSqsa
pDDMi8uIetuJigbDaHLNco+asKj/VzR+siXOCGIYB2RYSAjjsKm/qNQvvHNKy5HYrzDXnrSm5/2u
e1ZDa9FyI6u+5ckk+gaTLQIJuzBqjlW/v4e/Ajq4VKkAVZuCdBTmxduLbYO+nc4VxU3n9k34Qomk
tVCktym6IK9jp3MzoziMix59zqC5SIhRc6IJMC9xdfOLDMcBYsAfitWLn21GPyg/JEK4rLZCU8Jh
Sz/LKqG8+FF8IgOxLJctuw5317BJ7laa4xXjdER0C0A9TllvPcNRxTKrlENzESD5BYaVvcHV5TeV
RmzKBqG2z/ary9rheyeLqFtMDLXvKf6eZjWq9vjCbCrdG43jcbFCjII6ECkrSbNZ5lG1QIoW1Psh
GsmdHXtnCqoHeeEvPal33SJMO6JjVGH5EV3gpIo3poABttScFCYroptg2YZMwoXu+ULeqmXYqslC
lUXV3BgdNYQlCQc0dbCXsHgGVFbeE5D+olRAfyt1VmK6hbqOivTtY+xgKdBkGzKSHUi4OkVqP4b7
jnsHBr5QvjkevSOcsngHd4xN9ipeDsPt4feDSbtqrbOuMozQuaFPgIHImvb2KqrATxEjCPU4j5Yw
a8zw4Cl53tzpduuZK0uwfV1ir2boeBwaswMxoPHrSM8NDxdhMDbxvJzByaua3K2EHhLObAaVkZ+R
d5SPs22bRDSmuxVJOkOL0KkABePUyr9oDVbWw4yrSFpehrdaFXjkZQJ+7GETG/Lz7IuZky/NzkvH
uzHpkYWWKL3Vxzo2XfOYaLId3qESXL76T3sRbg2ESKQsMGfRRBja1V6EXTIezsi3joUmRLIlfEnb
jkNlY0rBkKApOyVoI+Vujn1KOlexTpXlt94qxOmsbGYLFFX83Frx+HPSyzTEBxVlAGhrN5ZwEGH2
GgflJWuJrwNT1KnDDW1fcO9Te1RWZazwX9IWpuIqcRUsCRjZW+9moCl5kIqsKT97SSe4mUZDYNzv
x8aFuvDTDUBzyFo98TmnAYoZ7gr52BDrlwTm0FIXyQg1k01pP/Rmn1dHttRqT3BmE2ULRNrJXiHV
6bvodTyzZQ17YWlDlyOhjoVq0jkbI6/FvA7pCTZdsxlHdsKrQWgiE++sjr++YaSNalOiYphA18ol
X/ynDvzkdYFs5BaHubM+Qd+Tmzon1g6yldnbm0wUbr2hiFkHi6ynmbTA8lH7G8hUab3NbKqNq7mh
+87tnMbLn7eTxQstEH4hQ8ImnARBV8IaryxYQxO1OcxddRhblXl2PI+3+9wFnrmB81bbUZIo3xcM
zYch1bVPbCeDaZNDM3f5P4GD/yJbg2/CaxW9Gf8wHOUaZ106mPswZZg/SKKjBAz/QTdLdYMROW/w
xnpGeovIN/OOIYQ2++AXVt/dttJprKUN3G4i9sajsW4y4yknUCP1Fk4BfXBjUf/FUlfUYnyJ2cZT
hzAmOrIUOf0uiwrYazQgXlX9keHeoZrKjiRuYPhi+1X62oJ0Ekv7mseDln/3bCnoBF7ebe89IPXN
E5r2mqQ3osx0kKVMwdBXi6FpqL1DMaQ7NIiNbzoHstJ9PhYWsQOiG+gQqW1s09z3hxRPTYv2jsNQ
6eHlccg2VR95urm6m3N1iXom9GWRhM4nxyDw/UVXMa48U8fQ+w0QO3nHaSQNKPp1Y7VDTRIpxwJ5
VX+m4w6Edk5fY+teNjccMR3C7roU6jTdpWLiz85xbnpXuNqyKN3YOTZEuXysIaXINc15uuoYhEK5
BHNQtF+xTpvFwbRFm2KuT0kEwJJVrFrGLLfXtL2NnRle+uxmedDw4UOSLgJfpsO3Ope9ihrAHYSN
cyECbEROktD2sAA5U5EZhpDGKgwcy7Omtuo1zlSzjaRKXOhRsETDz3ZgDRzBLruB6GJ1MY28GNc6
9oMA4GmQFUsJHjFZmawPw9YnwZPvGTdZSsczZQjthG4E6TryChw6LdclEbuElPzZakQHu88HsWH/
iOkFjlDrHAPLGmlfzQZFwU7c2mYicQEzzWdDOM81tdKKOsgLMWadd5okhYTIKaYIljZxuoRGShrS
R5flY6paU11bo/whTt724EctRWZC9WsrpdBvAgMbH2GowVASFiviXRvqVUkOU472PbHSWiUuGyMf
k9qEUENkcbyJLOone1ZhgbH4klOIGiQdVyPJs2cnCZN6G4ymxjvXq4tJ1xwMZxS5abhDr5aCEBsq
H1ZWiLLpEFW1o21no6yKqRJREPVXGMqQlp+HThnj1Q+vjNGMJAKXXU/Py60AQGdqn8avwWg0wSMe
sURbpAlxlXe9Rfjd7yfZr9h8HPCEEsmJSjath1dzDLxfzJ7IgaLtpfg04qwqzgbn/CchDWY8vI8u
2NEFi8Wn2k7hzbhKN/Q8Ew5Ga7MbELyHOXmvK/KflIbiOyXMW3IuGZxgXKt8hQswSu6pxGT38C/t
dj/r3XOVLcLSzl1j5YapedY7YWxgOWXJNuPHPaODQedY2oSEPr7zld8uK9PCz3lFJ8WL1DvW/+uN
hDFqObuvVj3YFyNXHjieBQTMZzdqBnW+LigcGjvqlEwboEFIc2fvXKEOQXRQbCN4MIaiGnZ60ZOh
kQhRG3uwLxaMBAYX6l+/h1toaHW568isi844FPPoMY6p76eeG3j/60OwBozKAdXEyVIBjXVV4SjV
TmusyFUOnSDBdj/WUZ5tC7Y0I36cLPrQ28xwYyEpjTMZh6SkQQtd5rbMu4bqazYCPKE/MYV6MkWb
mwQ/qlz4Who1m2oQ3oFsR3tc54ZtA2CkpfM6o9Ao30weoYufDpkV/IAKcgN5tQZZXvZ2ZCb+QCik
l82kM3j8iFGSdHlnonh4wiilZSRJDXlGolGNl2lN8aui54ls71XE/uB+YyJZI0k8XV3dVVGSiff2
VdO+6c+NACJBtpWoWRVr4o2gprvaCEAUsnLRpenBMQeNjrMWxQeJN/+pQh4eP1s6cdicizp/PTpp
EOzI1vaUE716CPhqHgbpw6zczKnrqA9IeLu7Wdf3+3H7CyPE0axpB8iiN/G5uDNvzwbkg+A1FmRp
RKVNzRUMGGruBNFDdOubGVVEQ+sRAPbosfgvLcj2Zw8mrfLFilm7/pirs7+/Ju1anYwzQDURcQCn
cPSpxvb2mjRP8soSbnWYA8EdBh3uxkgvgKKHfjX107rcXZGyWw0HkQ/Ek+ChyOnctRgaiDOBIowW
HvYi/UYdy5vWJ4p2nHmTszQ0awJlgoe1dbCZkZEKohAQoEFdbJuiGeDylWzq02RUss2Y4RveGjQg
Y2RNk1lhzh0dJtOud/HAzuDFy434P1/7/+t9z+7n4VL987/596/4mqhJ+vXVv/7zKUv467+nP/Ov
3/P2T/zzNvhaZlX2R/3b37X9np0+J9+r69/05pP56T+ubvW5/vzmX9ZpHdTDufleDg/fqyauL1fB
95h+5//0F//r++VTnob8+z/+9jVriL3m07wgS//245f23/7xN2UaEf/imU6f/+MXpy/wj7+dMthW
/3XMyu+ff/lT3z9X9fQB8u+YjFiVsZdM+Qqojrvvl19R9b8rpHrYDptzHQ82v0IQZe3/42+69nfC
84AAspazjF92x1UGnPkff9Osv5s4Ptgtsswzn6Ha/P9v/+Yp/vlUf07DfnscF5cwGd6PFwbgT6eW
rg0Cqtu99+BYSbiDeK1sfXuUp5/uxY+f9j/59KuJPKVOgv8jAS8NjU8JGGOkVuN7Ve83i9qfVz69
/H668gpijVQpIz2AaL9zktxeVYZl/IcffvWe0eq8Luguuuc0Dl9zFvw9gcntOzCqv7rnV8EyWltB
HHa58qpjU09t5Eg9W3vnPPp2rf/Xbbk0On66LQ7qjrwWsfegC8VdN5DOPsepdKi6J+r+P3qq16yb
jp/A5psfQUMGN1cXbaxYuu/Y1f7i5ly/o+zcQRBDA+pMZ9Rbubr+0teSOfevqflvhuNf3Rvm2Zsh
g6kUNXfgnPE/k3BOoinbuwDFlS/fGTdvzXZ/3v3pJ/909+us70d43PYZKBRS6i7Pd6VRKYhugvqu
j1ydkPjmi5AIvn7/lf7qdk3//acfGJPt0deQv0i2bk6jh0wyxmT3zlj6qw+/mr74DdI0NUzrLD2T
PUobL+msfvj9hV913v68VVfzN7I53FtV056rQlkDtqDvDBfG3av1iz0+ZyU7OhK+orsIIo9A26d5
u7j56rp7q0YDt8+cry5Nj99fzKVI8+cO6c+LuZrvRaZUsIaq9kweBGaXjj7/USQPXXhretHK0L6w
sVz0nPhadd/aH60uWqRM2big3CNvKBOsfvyjaI3p97ANWPittUkw6IvsD8113rlSZRqr/+5KrxYP
SQs56f22PWvC32val8EuUFptsHody3TDkQVwGdBx4J1jsaGluVR1AOawSvG6HyKI8+/csekx/Zvr
uN4PTRstgVMsOUu4OzXFVUrwC5tzo2Jyh8YlN6GzkdqcXRDPGbGX8iYDma60i5AavqvTaazrHb85
ijbAdheNfOcOWX8xy+U0N3+aEglwgaBBwnYu2HgvVJqKXS8/2gVCew0HQR3L5ZSKsfDz/BFRa4Ow
sE3PrhG+tHZ5U8niD6gwN0GefHS04EEdxG2DmLKvvGckAN/xxa0GpZ+yXJelPxxtRdxaDXLz3ofX
6WrPNNi/ROQnEPTtI9brX4s2IeizWDm+f2zEsAzoXpR2ePDH8WTW/SP7goOU7rZprCPImSVtgcN0
xwLFXQ3+cKpa0oZ15RyK6jVIi1vIfZJTTbFz2nLrc14PTJpuKH82Rhyshjh+6URHzDyHSgM5ad0V
GxQ6ByPID5aakSNaoCFrT5qSPtD123htlC5hRNwPhfmfrYIXs9JPT0DpJmpwHRX3pPRwn/u+X5g4
YmiDqyDyqlS/86fwXLd5N8rhLwbj9cLej7z6h5DvAJ9SDcoNisX17wf6X6yB8mpFDycYPQmK+b3e
MSBGpGxqnn/6zz77avHWsySywTkV90UBn8ZHIWnbwcPvP/uvZsHV2t0KCs05tsl7RcL5WJBt459D
whzuwsJ0knfm2l/dnGlx+OlBa6k2WLo3VPdD55wbfVJzRf+Ps/PajRtb1+0TEWAOtwwVFClbyb4h
ZFtmnoyT6enPKG+cDXVtywJ0t1rdi8Viceb/GyP+9/2/d+mzHtkB3uGRtkPf2ynS36rmiyw8M/z3
xd97OGedqGItrlIY6RBPHjIfzucUXxtgvpAP0j/13ph/ULlvHs0CYqDtbK2PR2WNN0UBjm1Dtvj3
/f/94bBl/N/nTiGNJSYKDuLZYbzxrJT9l77MPjWnYMX736svOAgG16Tqvlqqb86GQMNOXz9342cN
tfYy6uYy2ceaN21kabbYVI32gzHpvady+rXfPHKHQy7qh+l2kP6YIPy3PCD3+Km2iu/zvxcvDHDL
pjd2cbl4Pwm2ej7nJR/Mhd678bO2Wun9WsAiG+N6IHTSQ3diY7f+oDN+7+L/p41SalW6XFz32LbD
F3Hae/0I7/Lexc9aaWItkDoMl16m67PDZBtWWCR99cEPetpb+b9zDBCN/33m0BgJQOTDGHvSlBzN
NrupKr92ZXGpVdvv2cwvxFhNsVWI9IPd4ne+z3mJA+GidVPhN8V6W/7mfQoMkXyk3Hvv2meN1kPV
WM4kFGK9x12RcTjuk349/LthnbFs//8Mlrj6f5/VqBPVo2irjSf0li+itpRv28nPWE2JG20g5ncl
rxlVVp1+4wLFAy2/4houLe0LU4buVkwW+TRnlQ8LG/83leqSz2pLB+KSxtlPtc5X/SqBoQ+EASfN
Dv993+89lLMOYSwhwyyKOsat676mC7Vccho/uPbpwf7l9Tk/Rk5knfTeWPNjOqVyqCkvIxnhPILW
ZD+/6q9kncmoatXhU+tijvL++xNshIAoE+/G+FS1r/VqyUYvJ3Gfe1BnfQTQiUTAoGGoXdGsK72D
Gculb/731f8+IEKP+O+tawaldhUM5Nhy2ZpMKQy/NEExhYPUtE8N6KZ71lVIGOFUxZU9rvuGFQMs
jMixxfZBV/Hee3TWVSSd0Y754g6xM5IjSK3hF8yWjxY7ZxvT/9u4nFMH9WZkcRdlrfO872LASeZR
HRvtcpzzn6cqDt/o2i0qlkk5um4GGnPQvWAojC6qMnKr//553vl2zlnX0TgUPBh238dbPXxp2v5S
Cu/35y591m8gwzH7vh7HGPf5TyD6v9Rh+vXvS/8RlvylATpnjZsyMUMmbt7HRbPIo0YZhI82DbnE
qOj5STU2hZTXmGFZOE92lpnkegiPlnRWZFTIbdiIyffelpSRQwKSU26hXMN4SXbA+BpWN6sSKFD0
A2THDMcUh+03QkCRaFVvX2XWfQfKEPPA3IV4G/RoUrYOj09m+fTqaTBpkENPoM8QQKxBGUZFJZna
dXfuarXHrAIHOtqE1hTPJGpuJ0NYc7z5XHJmysoPPrqxlvrXZl3G56Sc1wuts9pwpqI9Wl31p1yH
IlBnpwjXcmjJt2m171J+vJ9t79mZ6gVnhkvurZ9a4k/TD0wCXdDV+SdHG+esQQyzUq0r5UrxWC9l
uFKu5itj/UFP987AfF4ba2eta5Kla+MF3mmw5p5DdBpwgu2w5+AK8k9gbDOfsxAYNw01+/9+od7p
pf6s+N80wwlsLPJIu43pyhEKJwLwsVd3x0WfPviE9xra6e9vPgE0XVXaLtGRUwGgQo2Z3+i99kEn
e3rt/9YczrrwUp+bZFLNNnZMVwaZR/x18kDuL5myHokJlB/8Ou99ibPOfNnKulUdbYiHtruVffJd
Fc39536Bs04cX1mNQ2zu4jmrjW8uQbUvAlx2NNilGv77I965e/usr+PorxQOlINYzdSruV1/FaX7
9O9Lv/P+2Gd9Xd+u0BtIGMV9leuXIyVb/gob4NpicfzBb/zeR5x1eRIdCfmj0Y4p//eu2kEBiuf0
Lfldd/nUDjlIuf++o5LI+ooaw47tVrNhM60PGHM/gEi99/BPf3/z/m8OstCJSrZYqXry5EV/3Q6f
29k3/5QXv7l2ieUitTn9igtC/9YeJMu/f9X37vnsdXdKV1ktHDlxNZEF9+aX1PA+N2c5LzegDt7u
+kG1Yyf3FOqs0xJY7vCRDv69Gz/rontoyNAkPCvuMnIEXrOYwQpY8lNPxTqbshjzMnVWVduxpaBK
AkZ2Qx1V88EjPzWYv/Rk1lkb7Sm01CXo/Ziwe3uD94BqL6/PQVNrPZXO5ux3zqyE//4m7zSpc+MA
BT29M0yGFbuoVAOvaHKfun3lBgOd2P37I975JayzVqt4XknRtGbFc5sHs909Krr3+rlLn7XWNMfp
3mI1Y4+PmGWqDtpusbTug2fz3o2f/v6mTbnwPUi1S258TSZfc8XXKdM+N4ycAxHLzFOBXtl9LABY
U0wCDx4uy7+fin56x//2Bp01WmBwblZYrh0vxdVJcqu6JICWnS7ukywJh/Z6ya2QPO9Sv+rGj8p4
Us3t0sA4OBAA45+6i3wrd1vyQb/35+zyb/dzNrCZ2dKsZVE7sQv+116QQWEi07rSXz1cUskVBxWm
vHWQUpXTjRB90CT0j525Xzo2m0+HGJ0tPmhd7/2oZ/0CGbdms+2qiZkcQBG3DB+2v/zcxc9LTQXg
s5alZBMnrnXtNN3J1PlRT/zOMRqQtf++jhlcx1nN3Tp25Tj/tLJCwlJIX9icz3ftZrAH2lnrEW7Y
jyyZ7k2tfWyFSm33uhlBayE7AhUy+GWZ5hGudDzKE+lTo9Xn2wkZ7l2DLTAYRtc5NE37LR/Uya8X
/TuHDddG11WffEJns4SFw3+LqKeIcR381vWs8z0X2/K/X/x35oDmWU+z1Y3dka2p426BVrBCcYDa
DNd8rV/0dP5cyz23sM6cIOXTPFcxCdUXKdMf9vz479t/59U0z/qbzRka0nhTHSeLF5H3jIuk/ei5
n7l0/neVbZ7Nj/Mx27psW6pYcmZ5zJZN+9oaTXENXIO4aZWnR486yxZQTdeHFF4uN8IYqy+bNPpg
mNsKscGYh0jH7B9ZTrTbNYS6S3O2DkdWgtRCaPcUWuvI8ebXpTfGDgz4bIeEH7FJ5J87kSdg8982
AMY4GaWYePgjaCc927OiCD/39M86qXzbBPKYtIxpRXvbEY/WWH3QIb/3w571OQAAWbmiF4hLV7x6
rfes2R90re9c2TibiKhU+xKsaoo47a00MgcbsbvyEX31vYufdTiW0xPs3WZQWHKuI40C7XCV3UeN
9U8G4S+jwrlByxCK1W5I/uLa2U3rFDCrYXPsTiCMHHfgf30G30htXk4EBSB5noN12vRY2R9Pxyal
tgF6tUIQwewfPLpmtgOr4KeQoZI5CxrtK+002LL7ElaT2z5R2MAc2S8N/WsyddHA7iSfNLrPM3+1
xt3/fKyWfpS3ee/hnfVFM8mBQsMjGi+b+qMEOjSoykeN+b1rn017OI3WCqNsyrifGs7Kl12T6/tP
tYI/ybI3c56caLutlKKMky69avThtpWf6zfP66WNdC6ycqtP/SZbPi5kn3SpHj5312fdAmHOMoOk
WseWfUzMuPvkeP6nbvXN02iAkWizvZQxTitwa5SVHVvZO7vP3fVZt1AmpahZcHL1prvGDf/MvtzT
py59HgAUTYeyojepmN9KC7d72e6VqhTh565+1jFkFvzFZdLL+MRlD4emvIHv9hGo/52X+w8+/80z
P9WCK3Yni3it0ifNzmA7L5RIf+7Oz1plss2uMW+LiNdWlLsUOrfhNJ/7Of+MvG9uvDRV6t+Y1cYa
UchomoHF1F6iHz5356fH9ebqG7tOqa3lNXw286kuxA/RstT/97WJhv19xaCfzQ6SFNiORBkZq7pC
yf98RbO37Ef6Wqtzjyf/Sl4fh+V46qOhbUTZ+ERqI9JXQjzpFq4mS+xauUunLTKkse/r2p+HX0Z5
zxUwrAITta50rmKDRTdseWDv1zdr8GjaFcHQsDR4SZunhtWnTd9ulCpMQERuW0wH3grr0MjjpO5O
XTXhdr9VCzwdx43XQpnVI+NHZ2RHYX9fmsYJ+vGaf6mXJhMEw4c0+sNNfqnug0aWzTRvWexeMRgY
m/urX7DwQHIZ2VcFg9TYp2rz07DQwCPUMuAM2X3njF+ttPMXvkjefinqI3wX7FWvpA34fX8O0vrz
OVxSYy9YAXk1Fdf8Z2iAIu7D0hYqt9jCrf/nMQ6AA3pjP5rMX5ZjOwxBPd3w3YrkVU7tjgfCaDap
oC4qBCSkA2sn8UXfXYzqzktS/nF3GuNIzPv1VN02mrxkx+Ap8ai0bJ9061jO6ZVkWaPV6I10+4l7
SNlfSav6oGvP4Lt8W1gwp/CDizGqOxHYKpmEFP7yeI2FyOEA6WR4ttlBlUNF8lqLgF9Q9SYPp0eo
LeScuqNUd7K3Q+58HL8VgljIvF4KdQghijdeC/zlePqOunyGBXPNJgCoarCen9xU+HNS+6Y5ZDPH
vaDqi3goUtBgifU9HewPmsM7GzDnpI80G6ZabVlGOON874z6zAmUHCOj4afM+wyj8TpZH3zWe73d
2RjgIlnqJ2pC4pLIF8ykBzO1PwBYv3Pp82LlriQtJORQxjZQpqPbJDjZFmf+3I2f1ym3cvFsxM6s
o5XmuZ6X65Oh9YPu6NTr/GVmeF6m3HFobVmzkceCdz9bskDr5wsaWIbBgvf/NOMZyjtYi+OUHTK4
kNr4+O+Pfuen/1MY+ua1qpYRTlCRFLFrVL8581LixBva+9p2y9+wkrwbV64f1Xf9Sdz87WueTeN6
NDt2u9l5TG4Vq7dnWXcC4rsvEsKaUirLtXALNMIFZFwzkcSw7F7zjq0BBEbQ8I+5k2ofDC/vffGz
4cWxDXA8VS1itWjaa/IQ1Q2smeo5h/pBrwnoGGzp8Ml35/S7v3nKLgZVewNHElvL/NJV7nO9pi//
/gHfGcj+BMnfXLoawSj3FLHEuMUt+meHuHI5gd0fjfyolr13ULxqDTEoN59bgv051n7zic6irYmL
bi/WRTHBDi05baw+edD4h6Pz5uKoGfTa4rA0LufmmxDtS63q3//9pN7pHs5rjI2sHxTXlFXcleuj
Zk/f2e/84GV679KnH+fNXa9SKcfC1It4dNTHZCieut76aBvsvWufXuA3126KoR/VRqtib1KfktLb
Vd34wQTuz2znLw3yFCJ6e20tISdaeWYe945eXyyr2voq3Jf7YQUinxV6nuKCdTldhjagAyZd7xzS
bAU1gnURZgTM9k2T6VBllBoaUzdF89LkUZ4SyWZTQTv0dWr6JvyNXcmXCGcdg22YJdgIP/hJT3sV
f/sC5z3KsE4zGNMslosgCVfuBD1JwVm5gF63iDvmM6j+4BPeq+jYy4nzBKZas/2ESjwqLJh+JRDo
jHw0jN5YL+/b+gIAG9+o3PM3FtWjXUelU+MNeILtF52mDhNpztNsKze+1+UXOUyhYXImP0B7m36p
Eo/9B+PCez/96e9vfnq7dtTWKvh2THzzda991Mj0/9Ek/e3BnfVIgPH6md3RIq60Nvu65q3csXm6
PZgQGg9TXtkR4sA+KrVajUhzpntoSwrV5Pic9xgjkLzIImGGA/oTVmKiB5RZ1I8ldpwIRYyZ+mLQ
6jAf5v5m7nM2vYmY+5NTTHtDZhv91DzdLI1VXhkoiMhmWONBTKSYfdiD2g4IVnk5j/Ba+7SGEdK3
zESGQky7jJpDfiFTeYBw8UWtQHUv2m02Qk02Fux4lUVBxritVeBULRLFrN0KgvJO4wsxkarOc+NK
gfXHTH5tdqqsjQdzNrfdqosyMiol/w3elJS/N9uvUzO1r1lbDLcbXCw/Lz20uxs3QQk3GA7YQ08J
iceIFoLAb4GvYLRAGvNiUa8Sivh3drtUR6NQ3LAxjDv89T+KzFijRFOUwLKr/lCM2XJBnZ3TBUIv
sMx56b7supfcJWqMWsm8ds361TT09BGW/TevaSvo7aZ1aepDsp9NktaW2taBWhcUfghjnm6FWo37
GVrtYbVB6VYUqASbljsX5jAYIbUVzFTnTQnqJn+s8r69KZQW+WGVdI+siRzB9nRrv5idZt4WY3/H
cB2MSmYe1s5MI64tfIAtQBlWqfEfcCo9o7Mmy46TsHIA8iblkN/m7QT0XI4KNOXiO4ScOlpLupG1
9rbDVK962CvaFEC2G74qhUM7bc3fFA7BztRTcctlqfToFSi5FFSX6UKVINFVHtWEG2Hd8gRnMfjB
H8Xo6aEhZBumQz4eINkrfroZcgdAT4ebmU0HoIHasUAsKcKlb1JfH9f0CJvR2dtGvXxTZ8sIYbt6
R3wN6n6EVeUD6Kj9qcm9SO1tC2eVFD/AOBhaMFAQtGtkW1wkdpH61HczK3PW9b4S1YZ8WMnY3ze8
1cQjaruD39O3Uj7W4hZEWBDgCWbVIjUH/rqHh6IKrKrYrjzG0DuASenriLU+mpLK+AF2t69ZFybN
jxJl9s5TLKLLUlX3DT6GcIVmd9O4ixGwyDCeamswymBQkvGlqAznKOY2xcaBuaXIVEjCupyG31Cc
eEMbFcYEebuXvHenwFxZXcoJMeWqKSWx4BUkhZ2CijKUKmIH18aR0QKqnuQyHrYKd3YvGvmSWL11
AUwXOEpTtQstYjQvZqc5Tv3EgleypDJA8o/6s9UZgYeCoO/nLKwXez50ubMRlfG8O9gT4kJ4m/Ft
UHMDDa50oWeuXn4haZhMPav0uCrreJcNmJVTRpO9OrtYWIvRqR9BhSELUsx+3+STyYlZtTq+51TG
q1W6YIULQ5X4KdYBERDbNWyc5tpNhgU7OUyIr1dW1Ut5uRnWBrbbKLQjZExx63Zq6UGE0qkdtaz6
cRZWsa9J1DyMkEUH0ltd4/mI9pboBLfJ/AaUn0pdEgGqLdNZm4Evxpvg0XCWbt5+DRZyYt+tkCCG
o7VAnm4K6JCcOgOqgaWhMPzoZjPcGTbkKerAl/FngdfzdCFLPkrvhIEo+/l3i1JuBaesAfYlPS7v
XPQF0aTr9YaUoxpCaXYz3upOGPjJ6gJT5UZ0MJHtDeDFab+NjRFZrSRdZWKlDLdUFxdFrm+cWfBt
RKZBPRoMgAKzS9pnzYyrehvGy27QFCCkPZuYjauO0YYmK7QBtIAxnuWdygZhuBQ2uJaRqrZymj3Q
PkbCHnZPVUbpNK/FOG4vgPchOq5b4tdzHoCpCJLGgHYmrtpZbxofQu/mI7gnqzSXinMoBqmD7Urn
cLW9BvqZNZt+Mtm6CHXO0n64U0eSCT5DDFbA3ny6CjMkW0CWrh31nWENZeCkUxUtutFH0pJmhO7V
iiq0IAGWZuavw6wHbTZWvpvj9AnNAh/vjTY0emDxP7+P8yifZrnNV5iqxKFz5NICXXDLr1PnJXfZ
mE/smvSqCk+mckOpg3b0ayybKy5kdQGaw5kNVgSLurIKMzRKohdjtcYfa+2weSG07mZ0u4Spelpf
mMsijmiS2EHQBBSAhnY0AFD1vcGwb+01Hxa/tBumNyvn8gK9xEXWT2Jf6pMZqUi8HuBmi0MGW+YG
U039GzAHMb1luXWHhHlLPoDgPyG8QVzNr0myrncT3M9gbL3pR12Y7m5bJ+XJHDXlOENq+yZrreLt
kmm4ANX3yZXbPkTz71pe/FRr5zYrajMoBs3Ao21uvrlOHflXOe/yKvk66wwANXgj30WgEE6eVYS2
67a8eYsMpbReNuSNvl5zQ66+VLtKcIbhZsoWEuCsAdlp4+1QzwOAbqaV02Q4tFGEN7lW11Fl6Ap9
4+L5sImsqDeY22E5P9k9KdHMRmiS0nHA2iiAyGr+nhovrQCkLWsMrU4dzAwZd8xnfqrCBq9vNTb/
nadck5zvjzXVsWEFtINJ60KtC1ikrjquWZ/v6/70jdIx3fWZpu3ddGq/gdiE/26Ozk2vJNPOK1v1
C+Y7LeLgroxKMzGo6lVLY5/PUvD5PZRvIdT2HomHYexgC1bMs6SSHxxAblnYyUk9JpsKuGhZe4Co
9hzohWfvVgN9+SRhDijpfl31JIJRwjDG3D0yMHeHleFKXv6lvihVjxZBG00iXV9GDMcyIyHXmGPU
6Ja3m0T6im90DVIIPSbuBTHlQV4rFfoDHNr3SPFACLMSCDPt5O1ATgchtVn3dEbs4ZmDuu/FwM9/
ymbmmrJdGNrkuEELCn7X9ql3nKrOuKJ27QtsTNc3cwvkq6kkvkGAmUqH7vU0s70hqCt9J9GxJ2TO
mFq+a7KSaPCoh0PWF76iljLIrdbao902j63I5sBpaNO1LAS0f6Y1dQOgOhGwiCvFe862wj6K3FSu
sC48pFA2ApVq3+PUacY32yug2pnl736dnEM5No8OtCLfZCLH1mlJfQjgcOXBVAoFHUOHQam1xE4w
nXuq17zYWb0XFhkeJ8uV3wZuMBhMTdzkioWVs+nQeMm5v9oYPsNTvtMT61c6kzkclWV66DY1++nm
ZXlcrWU76l3a7QyXXpsWC2Hbgfvkm+gT9wby5L3IhzogZA8dVVkM/QphSbPrhJNGizGRFIavGHiG
9nWDmulDMnSf28Gxr5raSS/bE8dE8YRxUTA3Ef7YC9dn+rC8Ih3XkT+grD49MqABvmIuCWE1kuQt
2EuHGY3HGkqBEy9nq7rpBn24sruF2W+qTTLe3MW9b/peSqQ8ufEz0yEE2lOf4s9pb5kz6vdYAx6n
ocCTTNl/uG6pCnVMr78UZcNMg3qRqJgN7xYWN1w0s5wvUi//bXutGhltrj9sdqNMPtH25jCnunbI
7K2lsr9wrqtGo6Q5Udl5b2S2XiUdS4pAVFl3GrM7tDfYs+grEx6MIkJ17lQloisV30oxblNgl2UZ
qmZe0hciWcwKz93JfLhZu9S53NYGI6TdFHtCzra/oY8MnTxbD4tb/2YPn/WNHLLLkn73UpIw2S2j
reIZF6+V5YwBZRgooa0qw3qp0/I1ZnwtkHCqTrV11xfWhiTbgOQuyx6Vhl0d0K7SLZqZyantLCt2
v7afSLvXFbVjsQSrknt5VFoj3Wjm6f2JzGaOQWYu+caB9+hDu36u1cS9KoTG7JBJDNHc8mfTTdsO
GmcX6WUKG4gjGiq5JnMjWQ6Jzm96T7+cM9CUBWitCHnGvGucdYmUvHw11dm+M4x+jSQbtLtFON3o
y0Gp773WrIlA1Oysc9+/ZFsjTUhSxS/0wtktfYvGfjPBXaMjYb4rxQ7kDWXu49x+6/AEf29zyw0M
Z1MDhk8bR1W+HMjWDSHsYLlHgX7S42gpzolNXMtFaw79OJWBlqywr6mJDwpbejdyMsyHvhnbK2vs
UfNQCuCDUmXbn0CF72Z0byrmSRYDGVoNBOl+gfCFXqpJb0ppnMb5xA04dXCOttGKRxzhp3mDrV6p
3EJUDblN+TkzYhs/VQBMrL/RsnRkBcvZWWcOY2QuaNZEbyL4cWT5tVi5A3bOnSMRmiw/aTm9p2FU
WMcuk/iGSsg0IrdJ3cdudMbCx45HxttSx+s+mbdbHHBoa1rH/L2xr4DzJevFwjo2Ge6nVdUDV13s
X2lSaodGd/qgtFWIbYuTUZqQLTu8KM+NnN1gUuFPYEr8Da9M3QGEMXb6kpj0qZ4jw47U9D2oLuwV
VQr81JRIFcBch23jFZdzZYgDX2/bzWl9OiQa7QvwdZS1tEL/0SzFUy+IfPWsGFjeFNotmD9P8S1T
jAcrH35TYvCCmmJq/HXGU4a+/NecZHlUa1nrV7omD8PAiD22LQ9KDuoNK2HkDxBkgrJHIrWW9FBI
bvAnSHq3tV2aYC7S9QtLKe/LqkOwy6BPR1KZ81Co/ECkHuxQVCOSAH1DtZY4JDBQgFxD/LYuLF16
Ub8I9aiorh0ZSt5fNK4DXE9bLcR5LOnphVjkrSAEA5e370s7NFmUEHCg4mdyaAm28VUY3aT6LDnV
wOgbEmt6rUCHtMVu1DQTQhKvle4Z3WOxLNRt0JH7U5b/TtN1DKaxLf1shv1MSqnaaZ4u9oWQ0x5d
ihbNBclgsKOFn05LezPpfT7QJbe/sybJn6syTy8ZKJ2HphvLo2Lpp+V6Z/oaWIH9liJDNZWe1eMm
m2Omu+tN41XwwqvN3COBX28Srrpf1Gk7MDfoQs2lDDLZxjVoEab5RI3mO85oefhNphyGSd9+rZ1h
oxrkiK1uvS3OV45/JlH/rPF93dnVpERt39gPoOqTQ8v0+7Jj99d3NxYTCzRFHxkBsw7DzXdmQUaK
sKx1j+s0xWhqJndTL/pwssg/1ExPmOVXWX4tG834ouljsjOpbzoCXe6JA1rTA5lmVhWsNI5A8ZFx
dPPzbNrE6gYctWrvuBxUIigaGaCQdOTyMuFIwc9Xx7mxZ05YZSfc60GV4mpckF2NtrdKJpnpdFg1
Sg5EbQ68F+iytJ4tKzud8mf49V0oHMuJ2f0wYRvI7+AGyfa1dv2tteF7ir7+0k/mrT6t3n5Zsyp0
0UzeDMTxfKeZ9djOurhxa9X2LdixFyqunSHsUtXhENVRst3YuY9242gBPMRnVzaBrhZjiFfqlRXY
c5Ul30oo+b/dOs0Rwzth7iDqk4vUV9/umiyo7OW7mjTW0SUGjmxqzQNDr91gZJy75zQ6DdHPtogw
Md822TIRCpryq9VSiCEpNOXUHruIxv6y6lkJc50CCUa/18RxkJBt1Yw/inWsBFl8wUbXXUkVHnsl
m4jyEux3o4/24lfMiiKZgbKoZGXd93qvXzSC3soU82GF9ftF2xZlV+U/WpX1qEtJJarSNWZ55BxY
eE+Bc8ITyap5KrL01sR0Gpj9MLM6s5encVAdgHXsgdHmWvdLycnzpV4o+pfMzMlXGrJ+7PvUjJOx
V33H6BZ/avsiytKeKvdSsy/YONFucosFcqM6CbVH3vMgtxsjMy9RIyxHNwHVWy56ukOvtF4mWZmH
M5iWh5rtBixHSvKrkAX7SArgqmlcPX/MhuuyKR54ZnlYme2vatQ6tpM8Gc3or4CLjo8rLkMmZDEs
AZbNmv6Se9X9WIviSDGvE9Tg8SY/sfBnbglDzTKzC7EaN6xVRp/GguSHAXEuRLTNW3XsB9qn76jY
E2SuDFcKmR72G8QSj5W7fncW4zTJ6LVgPGH1k6UPu8ba5YN35ckCrZlQnItiSiT/Hwsdj1ztHdMn
NUqznM1uT2aPmgcQv3Cvxko3onG0n6FGP4D5XR4h0jmHXGv6K7vO7Hu2+vOdIrJxb4+57vd14vJz
wpyUct8Mbv1LplLL/d6ZG15DtbnI7MreQR5WD2Zj2AGLAbyNgIpTsMSUn/hWTUn23Bp30JJ9Vbhu
hHqy3ysAUi4UA8DozHo+bOo83bGB1YZq5qE16Vu4JD2iHNMVbeB0dRYhJhpDW1EA143mGmjdUj8h
b7EvpM55r8yskH3i4mbTh9V3nIJFAwJHtR3Cph8yxlHM9YI03pUsSuVu07viwSh46vzS3qWriy6S
3sgsQEHf62qsFC2L5uXW8MAEK0hmAz+tsWFnuzGRSYj1ln7LDjsGz+tuMy8xlV45Wq5dtWlHcYWY
ep+1uHKLEv1lWsssqFsmKWCVp6BBqbBXTBxyVbv9tE+7UFT7fXV66QUwph0fE6QBKrlA87P0P7W+
e1bQ1UWamt9MC6V+HHds7JJqd5iiLnUjgU+QGo9b7YBtaT2/052rbiYspMOC7/u+CHpeE/yd+tXQ
mKilvGmIykn7aTC0dUt7cnEVTBgnhbWB/D6xm2IwB9WW5M60PBbtW70e1LrPn2yH/euiE9lty4IC
MGajXwKVs4LRce0A9QRJtDa7cDb9wh4409W1fWdYe41dT0frHrJOd2P3JMrFzORedN6IKVNnnYfr
yueUYWJYxspW2rbcIdI45lmDBTXD7uuUvM2qNQ93FJgWPzU5+marPvBGMAQqeR4k1uj4mq4e5hFK
Fswa5noH5CFXm5q+DEZyAdbzpqvtwq8VVDLbHRqH0FGXfZ7lHccTM9UelpKGrmX3O4pxD52+1QFA
UH/rxGne90x58FcjR0k1rfT0a/1l2pIL11XKg5N5LbsQkv2Qcos6w7scGeDG0d2t1AYDfJ+i7aRb
zer+FunCFQoj/cKp5QOHpzFsnUstWe4GtDaBgD8eanAdgxoL0GGa5jilFMpvilyGK+zguCy9Zjcv
2/TVTW12xPPtORV6u8uVl74tXjaDfX0T2kFgAyXmpmZyoyuSVtfp7R8WptxmnaZDliXY6ApelYxp
GmBer2ofpSzuK868+tF5qEwRdkPKvFUR35yye8XmQiU1g0UiKu2UyrzKGegVJ9euFZF+4Ygl2Ort
Tse6eNT1vsauxWHa1q1II+vscVHk7wL5sgGNPUBKxQKo/8J2Qbkv7NkN3U1kfrpMV6zprqpZHUOx
aYeFOtig/H/Unddy3Eq2pp8IHUDCZOK2DFEkixSdRFE3CFl4m/BPP1/t7pnQRktbEZhzc24UIZFC
oYBcaf71mwy/Y6l9DDon07iXMbdvjbgup+ZtA5OZqafI9i4hU89LZ8bwiHhmFv2HKcS3Y+mcfN80
7hFro2e3n8t9n4TYRvnFwSfCzB7j+pRkeGN2ovDAIMuc/NG+e22Uno8OCfS7RsfnrDFP0sRS1YrN
42ixTWKP15+IuPH3JEqCPs3TXV1D3rUmsq67ExtJYyc4yOMz/tUjc+1m6ciK8FR7UlMZlHXyljbJ
mfP5rUsq9j7s4volxMazkd9cV7ySF3ND/Oyhnd6xNThkCWCI52fJbZp2sIKB5jnXjOa47L1SJ6+l
V37VI9MFJtxXrZ18HMNO3jqTGm5UB+Ynosa+K0T1BJbr7qCsv2Qg7Lt2XG5015K8ayCDNqzR2As5
viXE5+4au7vLatqhbvfgkPGgq+gN7LPaJf5nv6wAwGoSMOG+71qrOJsNR+o2If2PMLFuP9p3WdhG
hyFB3DKQOiUM6PZEhrWXuSm9bnq0Gv7yWvim3jljHcwQWwiBpENCL20vnbphnAmHjLroKoqeMTW5
tYwHa+RcO6lPTPd3of191Hm9g1bNbq9furtJ5qCv+fQ9wks2iDG/3M2O8SOzjRMm+801GpVrjjzl
NUyvlFZLn38Zwyo3bgZrVm6APCYFyCamsz3AC8vpaOduxkbe7ncc09/Xhj+zriibTN5JTj5cNtl+
0mL8pkmhunQ57cdYDO/DS6l6fl7RRJAc36zaYbNiDDB7ah+AdgiT7xkCdqPp7+eWI3rRsIPguJ+9
gO9/N3KjPhmoShsvFoc8qx/NieOvcPNdliDTjE3TPdqD9wY07h1Ebf3Quf/kQR8kMY0TeEz8KaBm
c7RDjKGb8EsyTJx4+oqAnFYDP2avs5Uook6Ku9I/wx839+YwHDNNzRqDjnZydp8MWlxDXn/v2f+Z
Ao8zGVoNO9kSjtxs0vkxnSsDyrpBNvpucL3bvDf3VcThahnjHIkOsco8omEm6NJMbrPevJUjv4q6
dzilufl8Wc5EM932RGi+I5LhCanMMba7QDr9q/QTSUZy53/D6TMwMTTPQg5C9MS/RoUl8ZGfv6eZ
3hE3BSCtqmzfagRrM1ZoRv6g2ujJbDhy13YpaUpOt6kXXpHgmx7nkACH2gix8ynjOzcRaeCL7sOo
W7mfvfKOHmfONESbxB4wNgnZUIPOfKlyyHA9a+tC16KPWgUWnb4BdYGNecSzCJB3YJzmoA1751VD
ecRUfWbuKZ6NKXsxXZvno+9tF4JEWH/qGJ973XQvinTpY0x6JmrT5VNj+V/yJPskfP2FHuNyNJSo
91Y5lQcWGG9vpNVzv4hzan6znFYCk7rpyYFVfe7J3t4tUefujdJ33hP6Vh9tHd9YuOMdSkVTIzXs
5mluXPdQd9WpSIhoYd0jg1iAi+Mmbu8Mq8m/JVPr7uvcfK1J1T0YKaBDMxfF3l0gpzU2CxSh0PUT
8dAsa11IzHE1t6+cAp9CXKSCrCbbAR8W0lZIYT+p0Gj3iRzqvUmG7Mnrhw9uZeh7M0zC46IsqKhu
2V0lUzY950Qxf4iHFGDYifWzkkBxcRyNd3T+vKMxKe9Z9oN8rKv+rYmdmf0HoXN8iWp5mKouvONo
4zwXRmK+sBLYTzKq2KTJ6TGkWYDjT6uuhOjZonix/GiS0hDIQpc8a+by0Bztp6Yux+NfW1W/ySL7
gNKnP9csgWcrKWET6rl6sefKObpu+lSpHusUDGl3nErKw2L1/uPoLepWNCUzCU5Uu8RJPiNlLYOC
TfKekGusDCzaWDAQREBngQBLYoxOS1O8zE3SMXPbw2PeEslbTWW283v8+uIK8DvK8Vsw9N3A1uDW
q2WyN9AtnCoyjA6Z1YeokGrig0eMnC1G7xynxtFr7egjMzZR873+NC54b+6qjpaKj3T34LqVOJpe
1NwS1etcG5MQx6Qv5j1GDLd5IfS+TIV/n0e+AAkMe0QnSOdeYsspz3igJ/iT4Eops/lR9BIWQGYi
uCNjCZdGN2WhDPHMI6jpHcSE6TFujAv7xvxhd7yvrHTtF8cu84NrdDQe2345TIXxSlSN3o1d3nKa
oEk/+uGz9Bxgu4GJs95THnZDCabzAXzBeI9rBsDShMaZAZSyO9RufupF35ysAcwAdNFzD4lSy+0U
8xCH2W2vo3BkJEOTicTBYYk/aO0kL2WGy3blGvUhH93xYZQXyMEZ5V6HeclGykg+jD3OmMTm+I9i
HF9AF8xdSxvdYT4P+9MyJP79tKjoLLquuAqnHD7BOLbBkDTLoxKjaNi44ZNV2yS9Tt2UXntTYn9u
EjJCl9AX5yQVkPM7h05W7VwWBbIZA+yqPULEtRXQ9bV5Z3Xh3CZOmADDhmrXjF7xLdQO1kBDYbFB
hEciYIgTuf2FQI3s2vNdcd01erkeRe+csZNeXIwB0+LrSFm945drZx835vLBGzrcm/Kuups9bT7J
qss/OZmwbyYM3qFPhfWro0b7C00yDw4Mmbopnbw99C7WChBT55Asc3wH8hntpygS96Rq+DvXNgsQ
ZA8wNUEBexakIQV0weJjnUjkc5nW122fA+fNgwroQtuvLbG7DwMv5Vp0ZXfbsrt5ydjJP/lN2n4j
jnCWKOcT+2AWZndptsHHt6C4JB3UGWtsjMNi9PHDBGj2wyH4J7AW4Nb9FFaErWNsDvCdh355qNIs
xy6mMUDyO9Jkk4ppBnp1epX20BJ2Vl/JGzII0vuplss3eyk7aqTFzXOo+8+tSdD6VJUEm84mM2OW
VEEUhc53Rn1/Hkgev4K/qJ6WodN7ZTPg6TIV8Qwe7bpvkYjju7ZV5VU2LBzxrQq73R0dWgeZVtVN
cTDLmHsYYzJFZ52059Ge4oeujKyz1JFxKBJZHVOnu0rNlJYdYKgKGr4n3Bxbwn9rJvW5d7ziZGmA
66QnTGQvsXknyUwJ8ckj/IjtXlnN38McbijdQpqlURl9Hgw5XpumLV9kk6caixlnPAihJ/o1TLw0
pMH4QAM8c2AA+MCAlWp+pIxcKy31fSp5mdDiHPXZpdf6SFO0/EyQ6vij8ge1S9MQgE0o96FrJRN9
M0U/JsITnpKukAfZ27T9wnC88WNKL28rOjmWnV4VDtvciOX+nDsaBc483uae3V4Trwp1Ysq85nWp
WHz8/EscyUhfkJv8ZIhm3I9Niz2r74SnTGbHEZb7MSRRA1TJQDdQjQqlu4rv6Yt9yGpWTj9zGCVm
+Jz7af1+aecImQaoRnUsiF/56kRkM2qDq0fEst2Qw5PgKdy1V4LYm3PpduZejLSDZA6NJwTt/mwS
LHFfy4E2U5a0e9q+8l1vO1icNO2b0bVNu0s5oTAnxov73SnyAXkbOEuaDjFMrEQ+jhZ7tGiMOlKV
6Zo8VNDyrnot4metaygCiQFZwOe3Oawx1V+I21d6KpYre+B2jD6qrmv0qodYueJoZA1HdVnZt6UK
488pGTRXZpy/RuQykuRMx2yPKRiR2o1VNp9k5FWvI8/kKF2ycxL0xRirQQGaB2g1u8Qos6CJ9ecx
a0k0ddpPiZJTgHZaPxA8rfdswcVJ4Fx5nzue/UFmnT45BNbShbOBpiZS7nrtzpxvWuvKrMLuKIcc
poebj/tiqWGrRTH9cIvNbFPNn4RL8M5sjiFxBkpxdFbyKNPZPpSplcHGp1+8+ON05SuDfvHod3d6
ISpPTfSGohALZmu0u11D4+ZbHcKvG/PG3/cQf3bEN7r8X4JU7XAC6DKj7C6S7lDsCKqKAmE7DEri
qg6e9j+4iaISWJ/zt9hu23fVpL56ndmexRgxKejSZGUR+XvmfDKQPTDP7sXEBOrZmWuggrayr8Oe
pEMnltntDEZ2LgVd864cjD1Az4+i8AqMqLriPI5pw/aWBGSfFI/nEX4mfXV3/OBOYUqD06S/gUU4
guQMoMYuK31HXON8sELBSTCk9L0cGz6BM9U712nfGP7yeqnn6cCJrThNhTbfMhUON3M80k6WcJd0
F5nv09aAyZnVT2zH6v08kigYhbFBzLieDkIqeYChZnHwy4nO4wJ4EBNChqEl5+pI8/VTKJ2ts3zq
o3GBEOTZlEVbHmVMHnSnWs5rde3fQ/pPrzrJbppcKV67l3+LVa2CwQe0imOzONnmACvC6zU5wyX2
TCZModuhGtNzPTniKRGzcz1VUxgQpfGRQHoRTHFmnKe4F5/DhohmnEXmcyYH9zpGph04ZhJfZ4Qi
B3U1RE/ZBC6wG0bXuE+aYdw7gz187Yp0rvhuzrM/EViL7/YCvyZO6kCGC238dviq7B4SMaf9hyhP
55rOsrLObiTT/ezSkWpsy7lxIPvUh0L37eesCideYc85Ivf9r1lvlbe5drwHfDoh5mfGx54UpnPX
0JYUjiiOTQjgZMihuzER7wWgfvP9kho9SeFlue+WbvloR7E8xIW097Yz6+ei9duXZizaq7G1nWss
OYlGZW14IwzuCsbbbmirAegk3jsJLAvD7J8A0oHBte3seqNt3oWTlR0T4YloR0Oba1dVS8BIzHRo
iXc0gL5F9OuOzpAMVzXx3tCIrmmEH0Y1xztn0eVNvWCAFI/m8DLkc3M0hjl5SRZIYzIS/VcFRgXo
trQ3zVy7RzmH/DUi8Jw/nWrnTs4H/qu+cVlzTzg7f41hUfI8u4HQ+yT/vOCL9350su6KiSE8twSW
35bQPzGcsP2jtyB7mMnd/mzBq/hkOFp5VI4mQWUwP/R8q4Cn6zyFUdU+ExPWxLuaFPpjUy3NIZz0
IZqM5jiXRXhrDViNiU7MzwglZzzkHPsg57x8JNQZKlRWw4kXjUrfRYTDnrBDY+/dWv0NxIXpaXFJ
ekqnuTsMovHvNE2pV47KnDBjxy6+GlOM5C6sOQfVqQTa7kV3Ti0yHzlBv5d2MQeYqbrYB0d9c46s
8X29cK4VzdLsB1t9HhJX3Lb4YcOCAVim8ZjRioQVidrwCQ+dT25afVVhlAIFJOCrmDUAW3j1+MMU
C62frOhnJlVS7zmrlkz4nDFw6zO/CBnaQVG56bVT+zXSNlqGxMRHkd3sEy2mFht4/jnPK+M0u1F2
UrYn7424/ESgHBzQBY+6k+cn1blIZnhRCqWjrHVKZ7ku6b+6jzbJ9Q9WWNHhkkn7OOtlekmIDdvX
dOuQ3NExjwkJDbLU+JRPKt3DxHJPbk3rJLt4Rwa4Jka3uXLjA01R+2BHTA6Yjg7NPfzl97PhVkHr
1Pl1iW/mfigXhNyL++ZCXblNisH+6CroKMROxlf+FH7w8ulLgnnfISsK5wghAjFgxZBqQzt8qjJ1
Mt37cYFw4SX1J8MrkvtGteWT23oslKo9QF6xlsRANxgveNTDeo/oXey83Hi35HUCkm9/qZmQ96zu
P1LlXXVuEDWPpq27e9FV+t5Dnbj0XnQMJexEFcX+nZnPX7RllQerHgB7dapYu/qS1RbcLi8kR5yS
FNGvfoMT266TsKnixfGOs23qqylp8OUDpzh2LiRQ7cPGQ2n1cdBVvmf3j+mOGUrjAOnXe/aYAt8J
ncUPDQyItzSplh9irsoXYULEkF1vPUHsyJiI+hK83SAkPhrSV9fQNoz6tFjYHhvzAdI9LE1DnMLe
qG8MnxPgsXRF/tjlE1wiMNuGtl8omy++QB8LXac+1pCwThYtWHjaCWbZlRNBD86tPTxYlo+xcgIC
+vCZh5b+EAPNXU++SE5zFTKcY0uf8QVnS0kgAZFvxW2ej2Ki1RXSdo+i8bmHeBdA9mLFGvPw6MNK
fGnMKj+wq59PdZhGewus/RwnZrSHNgHiM3DA8ein7P4yqQ0NYInIz3wgWvuL6kKANmkZwIjZYvjv
xomN+BilfkCqYv+tocfKcXyB6CSG7KiHpPzQeE4F/7AFC9n3pp8eXK8RASoCU93GKqN9RxagvMtm
TQAEgssEto3nPiayY63E46HjNPFDA+Pf906apIfIG9QPWSooaj28nZCOaBAWi3dvosRhP5WUz2Mh
BP73Pqhkl85ffJipN5WBnLDOgA8HFzlOmA7p+wHiFIDUMN52bQ0RIvQr70q0GGxZhAPxRWAAG7Pf
3mmYq0DxKXSDKJdP0iyglBiD2KUTbD52KmZQi+Yj4GMcgJ5y0QgK+RIP3/AUKb745tTdcwYP3xfg
WoHfLNVNtWQT61nCoaRmgLaJN584EYm9ZRftjd+XyaHnYPRhSRbiG/TQsQ5ZmGnGXnTjVZm+GdoR
MYBM4XJMwh0ClRXRfRmW/udhANVrPR0eZTG1pzhjN1MN1UR4BR2Om2UcxAnJxsDm1WM/43NEi0ln
C6YsWlLgYdW8ta6zHCfmwp2XJtNZJggV2RF58cll+0BgAt1N20pgGsVu970TxpTsHV1VH4Gri6dJ
Q/uoEiO8bbA/OkqbXu9iRclzV/bjeeohU2Iqimam4Exid4NPDyz3nqQVP8dmEwZmmdKPK6w3iDR9
us9YDJXdhicYs1VQEsl73dUSBpcTEd5ZRZ7zbEeqOc8w5hj7bbZvqCOwHden1OloxaEHkm9M3m7E
QviVIk/vQwfyKYfk4kPn4ziwE6M3g98oHR/93h7fiSaMPkX8fJ+qgVNxyuJZ1aRy6jnpb6xCpUeN
RfCx9qP6gPdktM9dUI0IZzYcrZhzweufXajtB/wz6SNGCal2RGZwHkjHUwRxe28Zc387WAvq9WTM
rktf6auESO8f0g0v8ZesoAHLT72vWMppro6kaRh6QJOi0yU6IsdhXtZJDlQTza9aIX0HH/66mH1/
HGyYlaYdzaRZ5p1xcrzmUywa2pYQjI4Qd4hEgJQyohEhfwOcFImHbKZvo7vUBL7S/uzlEB/SMYmD
hgq8N9MFtVFvdh9pGefHKkMRunBYvTaJPb7Ja5XCJAiJfM3yt4H04ROxPwn0ZkQdYTW/GUa1II1x
XLjh2tjX8HmfMhQMSOhzSnl2pZvBHiGsxot6ysFp1L+1pv/T0Wr/m0LTLkLi/5fM9F+hadfltwTR
7PcSWGz+K2Tt8vv/jkvz5b8w3MNAWdnCtXxS5/9vXJqn/sXfLV+ZLj8lxpyf/CcuzXb/5ZqWTxwa
SZ++89d/+k9cmvcvaGb8o5JCwtf0/f/vuDQJKWOlhWdhGzydT5I1+4L3LNA/X2P4MBvy0rj82pwt
lQYumbA4jzE4Q/sENm1GL9G0VD9+eswP/1YL/pzHdlGJrjWEl+uvVK9+sdBAzEIAQeHq5REDAVo/
sZ261g6WbiF2jt3QAv/nD/uVFvLyYSsZrIb1h9tq6R0nbSt7p6h1uEmzp/6gDv6VHvxy/cuX/Elr
SYqwWaf+7B17enV3Fih98cwRyvTOs+rKKTDkgrNaMTf107YvtJKu1vgCD/LygUNOi+IG0liI6l33
kCf/+QMulli/ej0r9ahKEMd0ve0exwwPkRtCOuG81RnQ0dnNEPfeWX3Ws3bopkQ4ZeaOBRhUxkP7
B1H0b4bHOgyw8DlZp30kgyLXTfgki6LpP9gwRM0bFIW+fJwjqEJ/MFv6SyD+q2+7ErTWstAZCDu5
3VHE3lcJFUjb+lFndkO8VhMB/u36WRrnCpgGYgiSI1Wyr1Wi2KCLv4ygtScTJOQLOsPzVsK90EZZ
1wgB/ueX+bvhfxFA/zQ8UVnDkJg79zjPmt5VBZkzZK+wIajicuuriSjHdcHTSDOOmZ0k302iOM8l
jPD+30vS38I+f54ofnPza9O2yhjduoldtFedHD6A0jsXXobcNs3Zq2mozce0ZjfqHruKIMGjORlD
e/DqizPOpme/9m0TU2SpOU+ZeiqH7dkMfu6AI1K3h20fsJp7RDoTB6NrIwCSl96DTnTcfcBF3/ix
7fqrqUYrs8c4zyVZuLJQ4kZQiHeYb+v2Dw/ocp1f1N7aQ82vMnppYg7JJYcmDAbFCfbiFoDdZpPE
zp9yC373MasSBzYPYewbMqBjI9CLw0Qwj0tp5RP9pG6ctpWavapjlHeE0U+F4oiT0XxCCPmuJLn+
5Z/fxe++xKqQx2xS1sheJLicISA2t9I+R3BrmtfMVdn0hzfyu4pbFXQMMSejfa5oMjvztVEs5js/
stotfnzMF2u3NZjqgFrZ4gU9HUfIIQjy37ylqo///Ix+c/d/ha//NNnRaaqkMj0vIKBneemQLRyd
3oA5su3yq61En9gl0uhUBY4eMt4BZuogJuYFodz2Aat6JtPBbfyJp+9b2E1d15YLraDl5Do+bPuA
y+D66QFJMduIcicv8HWcfOAQpx+mJGq2JHVeXu+q0DCEJ3DYdGVQ2wi2Th1eu/4uzorR3FZiYlVi
U0I6YCdaGWQ6gnygCcelPdg7AEr//IAuc/8vZqS1o9UcpZFZjLziBtey9pBGtpQPwM+DdwNlpciO
UyRmuPeFsj/1JS2+jduQvxyqf3oz+RSFslpGpsIcyTdUJB1idb1kPts61Y00bXeQFZCjJbFX0yWe
oJodPGe0q+fB7DCK++fv/5sKWlthzaFnSFyHwqCQ9A3sZJSBQhn/h/H9ywQbBsjaC8sdOvBGEO7A
xgGkOi5WOMBqDhEJnRC1yvldpIvqR204Y3FyFlW695Nti/KO5pFK8UcjVv4Pt/K7L7qqZUUUdF2N
iRPUkmYGFBv/ez1N45+yen53+VUl563tWfOUyqA16jGIOgxOEROr6Nu217Sq495qPZWmkRNE9aTe
XFa3e1xTt4RNXt7S5Uv9NBYbOypTiPJ+QEPVTPGdUCC3fdLO+g+j7DdVdjlu//wBOmlmLJBbFXTz
GIprRfaP+WWqLSoOuraJ50rS18UOSKqOvtaYCYhty9va9Moey5xB1HqBp8Ki39UNLFvCNxxQpG0v
ZrVKL86SNfBW5LFvXCCaeYgOF2XqYdvVV6uzF/ogfs20BLqPumApZbrzAHz/MAf9Zsyufa48y4zR
DDdLgH9TsRedlR5CKPrb1uZ1Hi4HkUpZNAwCwblxh771tcSqZNt7/a+oV68unSmHRBjJubuDqG2y
PJNnkW68/qqccZDvavStS2CEhX8tBvwrQ1s5wabXaq6q2a4Ht+4yro4fkgP9WeJeUFjJxntfVbMq
xQLxgNdqdCImfBjht4dibduAN+2/l3JqGlCtQr0EjZXkV9ov8RgBE7/65ydzeQK/WI5N8ferl6FL
PLFljMFouN85CWZ4KHVZXQYdXLuN32BVsvYghzLNwhGDKa998jt6ApZTZdtOyOaqZLuSrdC4eGMA
pOtdE7PSH9K53DbdCP8C4fw0U0PQyEO1pH2AwMK5TWj23WEdtenWxTrelYU6zDILVnVTpaFFWA7c
TnlRcWyazcQ64NUNI50ZC8hLXSbTTdZF3bkPw3xTUQl/VbLgo8Zg9Wl3Rfdr1M/2aKr8ndsqFHj/
PDZ/PV0Kf1W1mZUMTTSIiS1hv+yz2n2b/XmLayvWhf6qaN3UyBwFxebY5LG1s7G02TW+v8Wt+3L1
VdHaNZ6DIe0anrzx1gr2dyXN7Y2vdVWzWY0Bl6G9/9y6c+HCuPT0Nj71dbW6KuxVbA1HfwQ0Fper
6+0PZlWt6AvqMNdcfcI9b9+rDHqlh7h004hZx7pi2KEqU5hc3RHfofDmxEJE28AmoS57rZ+mggxV
oEoiLo7EuwjwU2g5eXnTpr2BUKvt8tTZMsznbDji2TfuJouWLgTmbtMSJdSqVvGkEGVlmwQNYOMA
fTX53qfLn/LuflOn6/xVvbRdXcVjf8R0C98sx31DqCI2vtJVnZr4mdkzvhpH2ZjlQU/JZ9TDf7Jb
/N2dr8q00f6UshPuj6mHyp4GM3YfrZAbb138fcBIOzWixPC5db+37jTtkYdQRvmG4C+mmHXO6tQ7
osTyE6ctq60w5SvhKhyQIqgt1riXD1iVKvIf+vF1NASzU5BobtiY/UDz675uqtV11qqVhKJFacvK
GmoYu3DpDzpL502bYU6vf3/2pCFiIDS7fdD59icrFY/asR+33fi6UvWcFvNsdEhTDXySxNssII1u
u/aqTv0Ee0SccbogHWN8y2L3pcJ3bdskIFfrKVoKo/UVOnEj6ZJ9nsqzFI258c5XdUr7dqz1pIwj
rtXfoJrh/15scA9nIMpVlaqELEfW6zngspooVaFjXMG0HW2beuWqTgdsceLMabvAx2Pyo9MxD8De
Xqw/bLF/M8nI1YLaN7kwoZ1jplO1y6GaJKlFdbjxsa+KNFRJI4ek7QN3JvUbLiC3nv2p8/qbO1/H
v/ql52CBWnRB1Xb+ndKRdZcbCE42jfV1AChMzq6FqMZwJGR3ZxfjR6mSba90nQCKEaKf4iTRB62L
KZelpre8UQ/b7ntVo5jSTmNic20j1S9OP9+5jt5gK8xIX0d+VmMYRh1ii6MZIuQ3UlTci7kNHxDe
qkItq0Yvg4ofp2T/XTFLYl0x4932TFYlasTs09uKZ4Jv6GMVVVchhhDbLr2qTqceZ3u6GF1Wy3Bq
oZk77rYV1FsVZg2H2atqznZeEZ0VFKeyDTd1PrFY+Pvyk+Rohfqem66L98vQ71P5YdPTWMd9on5p
6yXjJTpx9qWdfKxGvW3z1Drss2+GbJpHrwtItLZelhnSftrb+rDtxlerJkncU5kmfhdg9V7uRJmd
/ND/uO3aq4rEk0ZDScRUzk3Y3RomLsk+3o7bLr5aNRnYRA6aLMlxgtqacHvj4Pty2FY47qooFSS6
znGxcmq8ZwKMFCj2ttteVST058Zp4rkLegW/YrQ1NjiN97Lt4quaHCGPzHMZ6iNeYqcxp93e2Bgn
bbv4qizbvjczXK/1UeXug93XXxNn3mLZzwT7X7wux53NRpGJ1Bb2g8u1px4jmE33vSZ1WWMibXuy
gI2FbZ57FaU3jTN5257KmtIVawfxhtszUNwFG0QzfZ978bYN1prBNfm9M2Y+lT/Zc0eavQNL9SDY
ASXbppY1haseCyekV9MFkVN/RlP0SvPh/banvirPwbaxArd5LkgqXCxaM+zmlZDb9hHrHMw2HiR4
9MSNT9NDX5k3pC1vrFBnVaGE0JqOjG0NXxoVAYTDo5JSbHziqwrFBQFuZD90gVnnj46R79M23rZJ
cdb16RrlDElXB0K4Yj8WREFbTvpj2+tcLZwzHQVMrDoNwcB7izTG8tJ93nTpNddparswU7DAg9nK
x11ekQZaFuk2ZoRYc50qdyz9AfpOQAtpwR6nupc2Rlfbbn21eBJgjyTEQrVeQX/Jd2jXjFtjwMN3
2+VX6+eIe7nZOD1vdJi/aXZwk1Zftl16VZ4dC09ce5UOMi96mur62iz+lM10WSL/u3WB1PPve6zh
4lea5pjMYxdB9AemtIQllF+33feqOJHHhbqdMh34+Btgl3dfqD9tOy9f/Vf3vSrN0QAPxui0DeJi
cHuc2rz0riGQYjemop/32+5/VaRuhi9JVrltkJOFksfOq1FnL9suvSrRCRJi7smwpf4HfRp0izXX
4Gxr1Yk1gQmhiZu0tuDGHeu1GIxy5xj1h013vmYvxRMxZK0Z68AViTNi+tXjdF6qPM62LdLrwEiH
sDrVq5whORmPSSFekmbjWfyvKO6f0Occn24OzFw6nP3HzkwwrvO2taHEqkZxMET+MswtGutCBNja
dI9WNCabyLdiTTYWcjBd5JHcOKGUJJw3ARTybYQxseZDofHEpwS/74AIGWxsBwQsIz4D24bLqlC7
1ul7x+eRMz3eDrO4zd1pWw2tWVD+GOV92kQt0uUIHe4y3/ptsrFvtmY6+YwScxJZG1jV8EDyyrk1
u233vWYvtQndCW80mkB76jWxWhz1mm2HuDVzKZycIovqtA08nszOhxeOiBQv1U3v0lqtoJ2NoUha
+Q19m7jZt6TD9Ib/ftu1V8unaXLOKl2zCaLExqhxBKg49qbhbXwwq/JMUx9WWjpTN6TH71XveU95
Yi4b36izWkVT1wvh2jUBAbpI/rRzz0q6sXu+piH1RJRVCH0ZLpV/McMp1ZzhDKL8IduG4ay7/w04
lsLQpA7sNlWfJEjfqc+K4bTtza5mAMi/ph9NJW82ujiflEBzQRg6zcYuxV8svp8m9Tnre4WDax2g
sc1Qko918aP35bjxSLrO7LMKYTqjb9RBG8/6gFUXYkZ8ya42PZ01nUnKaVIm+bBBn3ukOXiw1onp
2Dj7rulMXQ6/T9tlHWhHRmS0YKDxOZsnNO3b7n41I0xJ67XjxLOpYiTYGN28n3Jr24q6Tu/LRTUW
hux57qWqT7NGBj7mVbxtVK7ZTHhh2HOdY8uYhu7yij1LdHKkwtp824NZzQg2s7ArCBwM/DJs9JXs
FVYUbohp4cYPWO2tafVlVYnKmdOMHomfUhfR7Ubkf01oklkhYDC3mII43XMS6ccx6563PZjVnjoK
55Fo0ghvutL/VFZY0saO8yfm7uXp/vepwFoTjTrTmPAvxCuBWvKxnBpIdp4Nedxy62gq/z7Lt7NB
jz7n6i6ejzvXqm+wUv3DYJeXjf+vbn1VSU0yQa9TAiM3L4vC/8PZuTXLiSNd+xcRoQMIuAWqatc+
29vnG6LttjlI4iAEAv36b9Vc9fC2x19w2zFTG4OUykytXA9g2vCny0kM48C80ik8KfSwwQBAw6KW
TzwQFwsYW/QBI27x+Bqm0QTnj1iLO7i5wf2wlV0IO2IQ8Mrnah1BNASfph3NR4cR7jkn29jJv/q6
hkOFQGLJChqh136KB/iyF4qiS5YL3FKvMPoOkvbC4hXI4bJvHSypCboJXwIoe7cz/KumuOAxnG9z
pxrrz9WYAsVDFPOAkwHOA+DRonn3bY3DsHy1oQja7xONxvGSeJYuF7Pi3wvDRh+dWrKAotHFcJvK
xRZX811FYbf5KJIOo1pk9OwNbksuW5gw16GZjL+QPk3ANYCvVFgsJqyiE0yOQ7SwVb2EmO0fNHwh
ljTd8sQ0YCyBCmjog+vKNoVNKrUgguNtuzzicrl6H+hnqVBbX6AAhUN1W5rSvyna9vGhLITupTXw
eVyWZVj6i0yq+ZNJRo8eapfYQzGB7sU1Y9dYqPPTHu4NGLqOgFysfXVs5obutTXgJtEoTIb+smFu
HhQj4loYEBHYrB7aXXt1De0a6gPeDhdR6Wg9sQneClkcRHIsjv2BXQpo4U5QBrWFrW+ofrkhvI+C
6ZiQnia7cA/qnFnGLe4vNUgTYWaneFU5T1v269iz76L9Eo2ew2N4uMDUyye3yXqOq0243R27Aqf7
S1MXN8AdaFh5NmYNAExz/IcJXHswcu6Se72CygLr8P4iohoAFA3f6Iqnx1b9XuHIw3JDAaWGSy30
zzKUbyU4FIde+17fuOAGcgVLABF/Li9Tqu7LiB5qitO9uDFaoMii6JxeIJddM1hiwQ9V0f7gO2G7
o4pUXEhcVl8qBu+NVY6/RGs+HHspuxO8xVj30sWkv8wb2IsYTGzuem71obyMprvGGByJ4JjExHSp
jAwfQ9RtmHiZ7ddDz57s3osbYOxO1gqVDqGwBouxwpumOVbpgOz73299iF0JJw8kCLgBMjn0asBk
BY5cjj377s04gtlo+FrBMqVX6l7wJYKdy2jEsekButeSgStRQSbVY7F3c3wP33PyDRXzdujCg+61
ZPGqR68n5KtolK1XmDbPl5jAie3Qu4l32RPjCrYntxjQNhpmjW6s4EsIU6Zjv74LX9TQFQBumNUE
W8d/1tCy//R61sd0pXQvKYPfV9fWrRwukYiX4CrTjubwnHHRH24mf2MeQOPd6YRh1hL2g0l38Ypy
82GQzc2QMIZpTOGmPviAcbbnABDPFt6Go0zzKkUxeq5h5tof+/p72czUhjf/RKovSIGe48U/qLH6
g7PF7R/xL4mz2B2N1YpbFzh+dZdpZbADV3Aur5reHdt0e9kcxpcFmVuk5W4b6yQHPge+HLruBnWo
/qd73Zwg3KPYumUOpaXlAwgxGMfbxg3upscW7y4owT7IYBAYkC4OhycJSE/rwqyFE+zB8/c/Fc0/
+i9i8sgbGP7ANjOouf38GUMNPw49/F48p6zebDr77jIAyAnrZf7Lwwbq2Lbea+fA5aLTJGN9WeD0
r5i8hxXwH8q53y3KXTzSQUAqB2OViw2XKZcBfCIxX/P+2EvZhSNbKwPzRMBxy9kkoFbB1FJHzcFU
VuyPSDgZJovk+sIlABwAKSbjfR3D1frYetwLxmCr3HPREX2JIxCHwNS4kyHdDn7S3RlpBpgEl/Cy
vaRh7R4nA4YvwITLu//94m+Vwr+Emr1uLHVyWxzFCQwe3YjUh0xVCmIThe+rQHbb/frff+Y3i2ev
IUs2USaCV/2FzNwOGSzZ2tsaImlfHPsD/2d1NtO4pA2iccTeZkveV7Q8lulHu7UJcwmbEINnR/8L
9vQGrXwPR9hjnzfalXAdFmMgoQo80diU75ctGN66GhDbY6/l9j3+EchU09GZsEndgk3ybtCAOtkm
Sg6+9N05NaC7QErdKVyGoyvRj8m7AC5yB1/MbtPOm+22eWsUFAKwcMoxfDh+9Srtl4O/vztE4BFT
loM16uJN/B29oycgvj8fe+u7LRsuBLfVmBDE0GoPYNM4zctPx8djl5t0Lyhr0EfoavCcLumQlLjb
mJKrFtF8bLnvBWU9a+fVGzx8WdVoO1HY8MHl5GAo3kvKALkGp2ZC/406S7eia6BHyFuA2pZjRehe
UpYsDhzUtlYXCiRFkVSEgPSYlO8Pfdlwt1s30aDSvzELKlqt/X1LKHlmbIjmPzw9v/3Qv8TjvbAM
8Ay2CjFj6Yg50gA0024G6WoZzRml0szOURqCMTBGau0fgw15++MQt6P+yigPz7Ng/hqHwQb3al/O
cFfYAilfdAc3+FyPNw6lrwAt/t6X8Ig8dwOyzHyO2hVIuTB8WIbW3m9NvZz5DR+SenhggCOvwbwA
RgTzLe/kzafiQ9ckwPOhpAJFHnw5l9cEys/ndrjR4PG/nponzsp++UPG9Jt3wncBmJQwOmfDCLfW
FabEoMWPZmyyxaCVeW0c5oX+UFT85pDaC++gnxzZbfD5VJW0fV5gKfvIGlYdPMj3bmN9IKMesD55
YSv5Kdj4LqXV67FluYtlqDo3HQgnL9xDz6tYeGX99CfDjttr/rcluYtm8xzoyk8ryAEDPEHAvASA
tEg3qCsKh5S7ArREqPpYN2MvxqNjGolwieQlGMAtAW1cwT5cVR8Pvae9GK/eSlBZDJeXpQ9hS136
z7Zlf3pPv1umuxSEkqqZpZnlRagZRrJhFL4kdbX+tbY0+EMn6Tef4j9R4x/HOeQJ1bwIVZ2qxsJJ
fI5WCnVYoE6N9gno08vBG27Ejv9OHGBWD1SwUfjHdCyA0E18RiA6eIDxXd4QwHAEpTpYFBQXZpa7
s+X0DwH6dx9hlzXEHFpOjxncAqCM2F5TNUXnPklxMw92sCKH1AX05kD6z7Qqwm+LBmbosOmAtx9m
3asv6Qhn/GOrdLfhpi0dm2Yz7SWOI3uG5jqBhzQ9WKzshXRLg2Yhn2l9acIkPA8L6B5J2hzrXOyV
dORmSK0AUyno0tyTkmdhL469872GDp7pCqgd/DQYTqcyHc+6YZdDL3yvodtghNaAVFkC2Mge4igA
xO9gn22voYOskMRYKyXIRW68b6fJXoKIvx177t0mLSNQNTceYLHTajoNg4FNcarCY7XDXkNHUmnK
iATNJW6m4QGq189jtR0zh6V7P7FKxGArsrm5qI2pMwi+3R0Z1TEpKt3L6IJtxcUewLeXpm3HYqiT
xyA20+nYW99tz7Ul4zzxPi2sDpsVeCRAHwxMpY+99r2Uru5TO4IMlBYdSAlS9ZfW9McO172UbqvX
tdIVEhxlZ+Bf5o4AdBr9IfL+JnvaK+kWqPM9JvywiaalB5vH5OCxHwyJ9HYg/uPg8zDpgcH80GBq
CcC7rhp6MPxMlx4TpFF6O07+8fup3jBzIaMUg1a9Z1miSvPQr7I5NgdJ98Zes4DtfTzytNAOZvjy
HVQAfzgs/vMT/5Ke7bV0ofC4ceqq+kK3gC8PpAFd8x4qyY1+gFNSf2kiUPjgnL5o0HTRT3b5aOFa
D4fMQWzncU7JePIDrdhfGpNRy6VMeBMf65HvRTc+qt1oZ1Cru06oHPa08JgIAf0+tBHJ7hRWqeWe
J9F0auLVnKPSwkQ4kAevj/cKQg5MjVcAYJ240/XNtv4DBjbXQ49O9qqe2Y0w4Ym36bTF1GeSSJPH
8lj0I3tRTyRnAW4o3rrXMIBwdvtFTH1sOgmcuf/eKYEf9AiY1HyqoMcvUmAJc8IwHHbkk5K9d5CH
sLpsFoTqeGCAEfA3XbNjA5t0b0EHXhCFCYy91e7GVteGkwTs2klOXXHk4eletdk1gD8mFJin1dQC
p+XWApRTR4LyPxTCvwuxu5PHWDn7pRzm09wDFasToP6GNDzW39+rNlE/RHzgej7Rmwmdi0bYBoTx
IbE/3Ys2wdMLJwDSQH0A9DYDS2vMesWOSULp3oQurGdYM8zdfGItHXIugTlFe+z7oa+612wCLZSA
rwjU3cJqDeR2gGnCNSTHTvu9ZrOC8JmEAbenHjKvrAeX71nF3H469uy7BBGI7oFTMdpTkOKuKZRg
cjRbdPDF7Kq4xjja497enmCYyl47vcrvgvj4UE5O9hKYWqOl3A/hfGqIIdk6sPJUlpDR/e8X8+9l
ItmrYBQFVlH2PDmLUkXLaz3rRp83wZQ5h2bAKfi//8y/b1iyV8SUCy9D2uIfARudAISxqMq7dT6m
iCEgWvxX0jLUZWytwK9XFVg8CeQwedpvfx979N3hKlsc3tAzmtOwDlve6LEtJl0eijVkr4hJh5BY
HUXmtMh5Oes6YRkMjP2hYEP2ksRNcyFAaTUnW3t1ppP86GkbHfuke0Gir3Xoe3QjT0NSx7lWa5tD
knpMmE/2isQu3oDyS8rhFGhAuFs/dBkftmPOTWSvRyzDUBnagunV2BEEqEirPIFzfXFoxeztvma6
oeVsquTctp3/4MmwfmpJ9ycr+d9spb0cseTO0Rli5VNkKOZRbjF+YPRPvbvf/fouloUUoLtlS9Nz
GKB1vgQ/etV9OPZadrtUojotgbSIz/D5KgGv9JDJ2nqdDun5yF6gRVXPe09Meo4G3UGI2K6ifhRU
dcmxvbq3+xqmZEbiNKTndKJZm7J7RY4dfqCf/XcAgxEXaJ8MP61DJKu3i//umDKW7LVZ4DM0ZR2P
6dnfrI+ko2Ee1onLDn3TvTarJaq2HlT5Ai5cd50ZXok45iZI4l2lSyKoZzgQh4WA4Kftgsewa94d
e+pdkRvBRqg2vAsLJmZNL2AvYu66dnr+eOz3b5vrH0V0N9CxvZHyzmFPV1ioh1MIdqhO/uQneCsx
/m+lS/bCpSYA/DxxpTjrIZjubLks+nmKSQUkox7j8lpp70A09+X/R3H9HweQf/uju+0bb6zslnZU
qBRAVl9zqhrFhpOU2HXqXJerVNnYaxBkso6PONvXdjNdfO3VIGp9RmHdAmGuvFw2IG23oPyLcwdh
XEegrZYZbzfvXIYkZxgfpaDJ8LRMpaPiugZhPIL26VUVNBnhacMB8gZ2FIlQL/DpMlAC++qvwdR6
plko40ZfuQc/sC82FPRxVWzj4kwuN96ub7CQc0uTRRLUHdh8bw24xxlN50CEWbrBGl4C8ycFrO81
epYW8MfGqBkPOMV993FgGrljG7fJLz1o/Gczj+FSCOjOwf7DG5L5sjjWXPw2r6AuSXAzu796NG3j
OQMsmlCXRYmo6q9dE8r0h65msHcwyOl7A2azadrty02Ndgcy47Zm4CuDxOlcM1FZxBicLEG0r0C0
DhjYr3mZYKWl+SLcBkQoWwBSf6DAZKbnJpq9xuQW6NN3oAR0eSyGRTy1ZG6SgjTc8byOxYgsLNFJ
kWgY4GbrWImxg8Ky7euqsClKrDhHh2StejzZ2Jk4S5iIMTeygOMYxkgbEUuEBmMPswN1k4HQiUuk
lAZKF7Pu2LfRalG4za/xj7nxGz8Ppo/kszcw4AREncXxM7cl54++rJO5KpTHjEp4Tt1M4YjgBaDs
T5jQSPC9hqYZ8HAV8Wk1nwlcjZGNaQI2490m+Oq+j4lugPbrFzSDrzGGHdMPdI3BN8xVF4IkViXB
zQZSzaoDxJEoD5kiHHTieZlPG75l319ZhEYauwrZJXUmhUzPQtZd3osVfGIUsBuQfrfMcpkeyDyB
ym4Qo55FX83th3VlVZdgOfRsPrccvOm8r+qQwSW23lSBLkSdfE0sUNcP6erRpqkjMoNO6waLZj6A
6VHMkEFZYLt5Dgocb99RmRhxhsGKXB865ii62sTCW83jmtku4L7WZJuEhWRRwGSNqPk7UwFmZswS
A2gYR5om4ClOUfsdnYpEYdOAR78UUxuB4ipnUokPkGeN+txuMcaE0p700b2PAiYfae2k/7vpVD+H
RWjAaHwesWkBSR0AvrwOmrbj5zrQCWEIb7ISURbrELh0Yq2k30PgN4FZL6sUhF/nliW6J6YJ+y8t
0I1RDs97gmn0ynGawto5EuoHGNeVrDI5yuR7xMU4fMZ0ua9z3C7h7ILevd+eMMgwJfg/90H4o2/N
4q+aDdv2QXpCaT7U2Ek/2hDL/K6SzD/blFRn8h/gcWLmWJyA8Bzq96OsV//qIHRnAW6I4RsAICuc
iMV1crbrfknc3NQPrRj5dun7VpWXkaXUPMxjGrO8DUHP+poIFqZ/UyfLZ4yQB/e4RvI/IPHXWeui
qqhgEBQUa+MTdw+GxOLvYB7Ev6i0CdNiUJhFfBdvteqeaVU29Or6Zt5OwVi36126GSIusVgl+UxE
Kcv39QhsZT5sNoAnYkvSCcMEWkzL/eKnCLxT4i258kEM6iPAHWX/MkdpXJ9JLfu4sGu7IHa6KDH1
GQpnap7GdBE/FDwBOnDLAfR5qVdiEErqfnUnEfXWVKDc92J5kC0Mjs9lNQ8YMwDUu/pQJ1MaXjUY
6CKzZWDE97pO2yGvuknaNks6Wt7wqiFfr5PSky2sYyQo7NQxmnXKu+ErtymeoIhIRWFnuOIpmqCa
DPCsoOieupslTwZDOy+fR4fBtFM0GPeNkc0JEM/Af25yoCDEE9Kl6meJLRznraqZzoV2Uf95G3kU
weBIa1ieZVx631ydxRzrhw18OgPs8GjjFfHeD67vs9bimHZAX8pl+iGptdX7pfbpAzgcBqeChGVN
+l7hp25fc7CzOUWpwHXnqQNZPsowotlFIKPTVJ6WpeJqyypqE//g1qlCo3EFXiq9I+WGRBHjbHV9
nUA/CzJvmiZ4E5E0rKhDMQfFRBaaFvHmffvJEM/bu8V6l15m3QdlMTpWbo8c+LlXQqe2eUOzl20y
a5Sy6RnW8ZW9TyXKmOcNrYjkHMoGh54ty2iEqjms10ddkVbmvTfU5uFg4gDjBWYqG4cROj/R95ZI
jZmJLrT2tVlJzO563Bu3zz3s7poxW7YQFB2Yi2ejMym9Up5O9iWaxqAD0XhN1KNQfMJC62qt6r+5
SjyWg4Zv23TqqwTgdfzL1vYUaRlOH4Vc6vJ+qpqWXzHrKtTTbBjAWyfEJCUK8JJ4+dPDLxnG5lPd
RndT31QVlLwYR8FCSWCmdF+3dhuAItccCllgThdymgagD7PFbh1764I0uV+0Sj8lTKLHBpv0qPwQ
0loFvyCGf7uJXu9gpcK2s91M/Ab55/qrn0biChrgAMyXtpO/Bkx5fQIIdovuBMIzzZZ0lNsddd1n
acK2gB1y8x5VDTySPAkAJFTG6zhPV4alrwmADc/LsC75MCFZe5UM14bnygYA3LdNweDq+U7E3eKe
lGdbWDRNO0VvOh2T4Fz3wZDXa88y0CQIloEGnJXMkZ++mZahLEtaGKnkFrXgU2sx9/lah3BTLCBz
Kh8c/sOTr1RVNMid0Ftgkq9FG5rtizSmsrnGiM/2CEtA/ldtzJqFrXgCwpxcl2kK+AVztgO/gh7P
7tI4Cd881TCDqYG3FR8IxV7MUhCVsR5UlDOGcx+o6KYrEHWm8dkHc3JakhREbFI+Dm2gP8Kzd3mJ
Abp2RaQ0L5qxB/m2HrNNl803sFXax9BtcDt3E7rQd1KYLUTGYVdA7ImJuP080grjo0i0fAT7QgvH
QXj1SayDrHdB+IGBFcOKxg20+5EsvH1JAswwPQBcDW12C9Fw9ZByuy6/oHuxTZbiltUXJGBL9JCA
Xb3+HXfanavFQrqc1TDof0lGK+p8XIN6eFcrBMNvvNdlZqZg4HWu5TbDUaWsQtVn0sRDde8ZtaaA
FsjOFzcJ/eQ0ksFfnY1fufWaFl1LK2DWSY2hd5UGY/nKhqFczxBGdt176E5s+wZ7A/EIFm+5XPS4
bdtzDH+FoTArLuavIaxylkzPzLGMr+NYf5k7U5FvTc2Xl5az8XUwxteZgwX7tKDv61fxo6fNSN8s
GInBF46rsOBzKBBJYdtkbYQpWsChoy0H1n5heTWAQHtfN97k4zgDfp6JeS7z2EfLObFz215QnPjh
yUET85risI1NtjgNCVQVPbNUd/kWA2JoSsjyEL8BQG7nEvLjes6Z8fFpFWlz3XSTl677qkEUy+K1
cVcHHV3bd5+hxtvyjfdhzupQCpibOOASTJ8qHF8YuUraksCkbd6KSoUDMvtpAApwSelj01kg3WtT
k7vIQX+7lbgUDTthTxRzv7lSZswaHsHawYjuI7Leb0JGLzMFmIFabNFwuymxNVuRf4ovVZM+LTzN
+5FiZ1BKLrVUS5f7tkXDPiDhG9VuvIIxJk1GW8UvMhzSfMao3+tEVHIftHFnclL1z6gz7HJhKo7E
gm9G9Pg81GON8XUKK9jzkLaqf+IaUHGcFfBAeEhFxYu2H+16jmgTLi+0IwaGzri4Tz+ESefq86KA
XnodWc2/JBOwQcUUlugtJU1gxfPWDWV8JqZ17AUXmrx7P1nhX6JQgS0/qL4P1my6tS+6EBEXowXQ
QCaXhQ6oTXxXpQ8lQuaw5kkYVq8blFVBvgrs3veTdyMG7jFXzVwOm8xS5nFKm+FFTuhh4uVVajzx
DXPb6oxZXHpKSt51hSElG3La1Io+hfNwIwWL6ZZcJ5Du1lWeJkvECj2PhM74EcyMd9rGpzZRsObK
vMaI4IcBo7z8UzWJ/tF0M9L6vK7aIKctrAexdJN1yWInECQYeNnrXSXcgKQyXglqwcriJhc+AcaB
scTDwF4bPAx5N/fYmDkD3r6QWz13F7niPPkaEeOWM4ulomDgGJjr0bDhSbHFqv6RLlGVTZz685zM
65euK2uGkicq2+l5hooOEc8gpW/ueTM43P2X20uy3cC73nj+MCWJJKcE5KQV6RtS3cL4kEefnFqC
6ipFF9kPsyrp8r4zM81xHTKyb5sq3ZJHaxMUg6w/pus8Z8sQ/NwkxpV63MtmZm3ruxqI9bwLMdeP
ZI/n3tt0yGIU5CNkv/LNGsLumGTusvZzenI65g+Sp+lnhYQqX7f2ewUj6xeKltZrTZmogCmwb5Fb
7vseJ8N94qrtbzq09NPYRUl9x5oa4wW+nXz6NAbMvBIH/2HY30dPcA6ds0Rs8DmZib8gbRk/VWg5
mdclGCAwt2uczwEkF2UQfUqSbsq2PnnCzQ88BoDB5SabSPWAELdcN5Owj4ju1UmyVshM69VCewPY
CYtckFcOBIhCYuvg/cwOMaNs7po5rk5YGACGiWq79yL5O0kq+y5kYXgviMSC48rkDRHvVGT0R+rV
+pKIoX1XkWGCkGpWUo7ZSprUTVmF+m07b+AhbndiYdUnQdfh3rZbkhZtN4pc+9mv58600f0GoWz4
0QVJ/FYpxwEaYLaLg7tSx4tTWYm9ksD4YavJ340tN/sxioTYsqXRawJxMl3cVjQ3h4ur2lYPI6DE
0G0AK3ocJ6yyteF9W1RiocH9QkPMWWNi35F7U9MyfZ6CdbLnBc4V5JMXiok83cLFPszhEFXfUIvp
EdAMFrC7oRma8LFdFwWicNUtCK10MMknPquBvIx85sMJ1iBbB5ONSdTXPlhS9TXAzgSELdqaqCnI
1NY2m6MGxVVq57jJjULW7bKSB5wr4OG3ufmxJhEfH5e1X/x3YNYcEvzaJhFOb4WNHA1Zi1mv9gRf
qJJdTKKa9t1K0c069V3I9dnGCHwFavQqvo43yfNpjDXjL5iHaqMHKMI5LWi6RumVYuJt/dXgFNUv
82STgeRbWi31/TROnIgMJjYJ8j/fMrW9Q7MnZujrQBzsH6ZJTYhEdRcjhxo0tv6bRPvFfZWRTK9h
D4kGn7SLv9KJy+Cbxi0tGj9rHwHriWuVOsfqQOaflfMiQYAx81osujLJZwGXCvspcTVJvkzTmLK2
iOIxQLJSdlGwvAnn27XKAsZijiynNDpPS67Y8+STdfsVwsBC/W0aDCKekhZszPebqtcUFhpRb15B
LY/keuoW+BVf0iZg/avA/kQMJtzcEgTgkWK0v+sOjhF3LSe1u+OylkQXoTer6TMlhKgANuhRUaN8
acd8Q5KKxBp5j3XvWosU0V1SWUnzSU1Bv5z7NrDpdZrSOcIX86kzxcjUunyTaQRDAVHLdPpmnRyX
81ARHeSpnOlDM1alyEfcptvHrW3DCp8kbjCAOuHeKDfDMqLCGgUsjD7NPkwTeE+M5WNfsfHiyjV5
P3K22SmzkffDy6aUygwAtBnm+aqZg5iXtP15cwnSlwrM3vnq+YSWQ53OcTZZh/w5s7N107uYurj+
tQDWk5y8JKQuhIOdV59VE6gpd17o6PsG9GPTZrwP0vIegPFQhPmkfBuguNpIcFk9VvAlZhGN7y1O
lvav1Dd1sXUwPnnp2WROTTD6GZqeoAyuKNa4zQk644iKiR3LHIZh/CNfLBSVi6ur4ZrWt+MJb8tS
+BX3fZPjDBz0pwiXUuTc1nVniyGIGndaVozmoI0RYDTSxzVtnpPWEbSAmk0+Y7JhvqqyER12ZDnf
9wStu6eUVZZdkW+rb0lb9+65k266t2PcqbpItm3NowiBA83FqvwGIxcUI5VGNG1aI5+sJSmGI+Cs
464qTup88BtIO5hnIndNbLh6Gi2f1JMp5+lhHoa+/YuZNZGnPpHmA9oo/KQDjiwMzyOS6+bj0ORq
Dd2nCPY6Pw2s4ElWw1CmwSJGopMpF+szB9p8zkfUqn2eQFizAPaYrLivQNyckI6aNVczeiA5jJ3S
NccM11ZltMbiHTfJVD5A+oWxCDjmsKc+7Swahjbwqb6P3RLVX1a3jP7RhzjsPsK4pmePWjRzM+WW
L0Pz0CcQhsEUcF0LItp+Bp88fGGAchZLH68tLDlK8KA7JBXxO1pztGPKCXV+JgBzvPdtGawQzI7K
FxKX6MgSSouxuB9lB9jMlUm0ELMStifJz96irYajDIULYJMrgeLJW4S3pyBJe/uG6zZmHh2sBpD3
OkBQn8MZDlB5kpjBvWjchn4PPSrbb10V2fpz3VeYlpN2GBSEgDr8oFmK6gZIYBQBEpAU9IAAg0Ts
W4bPdYOuB3rM01lO80YzxIi1bDKPXnRUyFjUtXrYXIzGSYYBM/rNTEPH8x6tleVlGyrv3pFhDOIv
rhy7+WVemrS5T+oUJc1Jz6VsrktVr7RGvGXRL+mQ036TW+X0cvLpAJts2Y/+I24ONARHC1pMes1W
HPHmbm0nh53Nxk+M1/yMSx76AP8DHCRJBI/zrHNijj9iPzh1Smtbo2hJaLc+umTu5Fen0Y3JUMPO
4RMNmOh+Dm2aykL2pWEfAub18ryRpF2eyx6It3cJWqrsP42k+XmYOO9+Rd2UxncrrRTJwxBO2Y84
yCoc1tUaMVeUIl6TIQckC7rf3FNo1d4W2BqRewGLJvKAhRXL+1nwcACzj6zdUzqgwZqJgTsYnQ+1
+Uki3tTPzJcd5H8lkd0dHOcD9oqBx1j0OfBN3uHiptuGM8CLzpyhChp0juuQaP7eOT0FIBt6m1wD
hRbIF6L0iAJCIHMsqEmHFrUL8ln9PKPxJ3MMRthpzuDmQ9kDESxC1h7ZoLtrIJBYvju2pRP+VaK0
F1c1yf9j7sua67a1dP9K13lHmsRAkF19zgP3oIGyKNuyHeeF5UEhCc4DOP36+zHJvUdGJO9uPN1K
KlWOLGxuEAvAWusb5mMv2rY4lYz53ZHCSmYswq6v1uyMi1SJjIBD2QyoyXL39YLNWXNUWR4st8mI
XuMBFKQ0EEeIHDgDBNGTCo1o9DCb9NabFrZhax5bfo19skGbvcMRFqKA6hYhmJ6bOnZVrcszX7Tb
PclcFCXBFcnlI4NRLWRwfm+LqgQRq0BraxwOU4XjkB9I2QdXHm3putwUrs/8j7qHBcvdvuaWFl88
54oflLuwJhYyL5dPBN8mIGGGZK/R512GGvf7yd8mfq/31CRKSFMsOGMAdN1CtSZpGq+VO+BO1mvm
ORN6SqgzyQOaJGIeQ2eogvpbvmLLBg5qlZXz1I8T6c4a+g+4FyLMkfvDZqbpb4eg0X4sMjWlOBF9
tX0vMrQRflNqboozT3lNkAd3Lathouz1+VuOWw2OBngVcnFusbV3T1nLxeyHoxtAZnmWXPuPLmpq
OXxbULgfvwbQYS0+tkQ35KFJ0al5OwWqG8CpX/2SHuTUQZAYfLe2L2+yCg0rLBLesnMvcb/zTjBA
1F0E6l4q5sOG5k9TQV6tl7k8OsIb/Whu0QK6wyXC9+4Kzfnwvi5V0d/KlM3NDdEwOf+NOQ7Sc69e
PLBxmorosJR0JneNA3mdt0QPOv+VbDAUPAS4ANSnVVd+f58PIxgqlXDk9LiVgH8dfGdAdyZnZQ31
lj4l4zffG9rkkaE2dKA1jAnUtN2SDb7b/ZFBMrC8mduUrSGuGWo7uHIZ9fXa1AG77lEen6/Kwtuc
j242CnGbF2jhHVqnQuf+BCKw0yO3q1GhR91+WAQ5dz2l+sC8SpEQMffGa4e9FFULCDicHUhDNd05
Jy4aNV6N3swalvBG88O1W1px7DMp+PW46GC7bvlCnBpabHTWQViwFCZnSL5cdSfcfhg+igFy6E8y
5bq6c1DUludSZDp4P8/oqRzLFOU90AqB+3zI67r0oiQt6+L97GNiopX6xXDraHjhoFABaDmsyNdN
PCgtq/R2UX1QfMB9FlUkVAy9Ne9QUfArlJo5xNVy56ARzC05QJ3CW9sjGnjSD84FULe79rD8DHFA
Z3APQQBtyepUoYcz6BtZzT0mdpSq7R+WHpOGZidWAtzIqQzW9wzTDlZUILJi+4C2BwpbEyL5HGyb
vEOu4JGIkgQVxNBzIDtH9/6bT68c5XntVaFkJ+62sgFl2qVrM36ecx2gdFdoiFucx7Rd1ix0Z9Rg
0ZykQEs53eBPULfrq+G3auI+fWigEDLQ867R6iJ1WwRc2f1+CyZ1CKp5Lo5r1e9WcOPg3Ys+4fUN
BwV3vu7qVrNjOq1tfUcHSMCES1I47g3fWsHuyOC65Iy24pgfSz8NcK9uu6FFZYxVOfuySBi/R8mW
quUdCsp8RKU8S/rtO6sFS7+2ReOUNw4Da/DGyee1ewOifz8+llCRzj40teDLncvJsP6+dkK1d/mk
K3natPBR+wjQng7Ro9Noh+TDAHxeN/I32qmG+TCu8Pq86fEI6qg3SosD4Owe2tyc7yDEyT8HwH/e
lxPMfD84c5EOb/pxc+tbCac63AhQ8U5ATwjGFWbug+TqK4omBJUn4ZN2QHUQV7DDUGOdVyf0kQoU
GrCF7nnMvN9EAtJP7LAS4vYIE7/rwXBoxT53QYs0PQ1RtA3iQU4lgUJALvPvej8Zv0uNOhvo3yK9
6ZoAlxAHO135nvU9HfWBp6jc96EuOTQYZgZrJ4lSqHNkVBAAYljaJfc0k+N8xv4J9cKprPPpaVRL
u9w1m6zEJ9wCPL6EqlP6dkUtcvnky6qdYhzXKbsecE8JK+iwdCHse9LlWDPU5nHYouX4gFtxIG+H
DNyAe3Q1KlDUYViwIXXvCmTlAlaTXIxftCadH4IKRGeUM9sCBYu+y94B2OCmx2mCjfI7BSwiDkS4
YkBtMZj8JPgoWycAHLd20IFChSvpu2YMczD0eNj46PyzA7rVvX5CopyiHIaE1Bm/IBvbchJ6I7AP
KhTYXsctTMsG/IwQsvLtnJ4XEC1h51Mv3Ms+gxONonSoZ9jOdFcVco1cHeYOit/zLRLhRbjHnmUA
XxztMC4GLNJbeV019VCenOBXxR+9yQoH7JiKM6Jk0zIgNz+x/J2PnCcXdtQTx9SbaaD2FiS5lGec
Ug5S1WBy3gzYLC9Zyr8ixeSYmjNIuOkIJBfu3QRB0GVNPkbVTBpoqA1AtaAcNinI6cugow/LgALR
ATa4xDmgKouc4+ev5Q+izgswHbFjhp5hj6RamTetKT9XfpAhFQ7qdUaVB/88re7ofeQ4G/F/au7W
3lXeqke15Y+uLpm4ToZcZ7hNpNkJxmffl4llLQ1HiU3zwtPt2K0XHs50nUsXVABz0stzA4/S8piD
HfAGkMDugMsc+onoBfoX9ANegUh5Bnqs74Z14Ix5Z9D8O/l+XJtEH9sUl2BwtZEnoj6fkRJX1mWt
L3CSX4FOmjKLCqgvHDVUnD0fThsjxGROHeptF77Qa6MbmLIWPn2DzAIBPEj1tejdj7PfJhdA4K+N
bYA+cYfvqjZNxBlNOGQT/XqTY0FYDm7gxkbXHetGe+KMOtwJcEwUf11UX36+3F97cmMXShZ0WESQ
e+fUIQMO/ClBVQBXA7vRDZoJLVoGzA/mBXkkFHfHAN6RW/P+54O/skJNwSGvRxupXRSWSyYD+n2o
82o+ON5K4Rbk06oNWw2M9TXYIqK1Mt1zTPGhzE9nCSUWcYbJqfjEu364Vy5qR398of/8tvxX+tQ8
/BnHw7/+G3/+1rRrn6fZaPzxX49NhX//e/+d//d3fvyNf109NfdfqqfB/Es//A7G/etzj1/GLz/8
4YRr8bi+1U/9+u5p0OX4x/h4wv1v/k9/+B9Pf4zyuLZP//zHN9R0x300aMjV//jrRzff//kPd+dw
/ufz8f/64f4F/vmPm6H/8lT+7ReevgzjP//BxC+oMEPok3s+/uPublDz0x8/4b8ALYfKpuN6TEi+
U39rGIVm+CX2Cw0cTlEaoJR6wsOPhkbvP6LBL/DmQ6LE8FSeFAD0/t8H++HV/PtV/Uetq4cGTdAB
3+QP+si/t2JJPdSoAVrZh8KjCNOIkWfVgDMR/dVmWZQ6bqLcfu2Tqn/rL3T7Fa6sCYMIyjQ8rZK1
H6GBsMIzfKazfCuzrO8OrPHc7LQW1cKOiJL83GWQ6j/AM0Hcu4iYo1ME1eOkcqdFxVVs7WkpVf0R
RL8rtO3S+jhODAgswRMHmHA2DhSoTtI154r4nQdozqrnIxL3xblLFZu3Y9ppQC9ASSXuOff9MuLA
CqJUqYB5QO+svhaVowh2+UplhylZu+QE/Fr3xAc2jKGolraORs4J+gC058EVGceGHjtgHJr3lCU0
BR4ra8vTOgTjG0dnSXOT4BR1r13cUvszY3pEyTmHcl2Y1q4/HvZGTxp62IES8JY8V18z0ujiZkGz
0gfPVXVfFwjZLCFKcCILRVO6y6FNfXQ4JlF6t4U3jfkNdERgcJBzpNGhDwVsiDhWvq5ObiUKBu5D
Ob2F2kuCtgOa5lfKw03wuNVJoA/oCg75QQGLjSbAXLtvumSoP6J+B/W7Fpid35waV8rDwBZ9mGCX
uoXUr8QdABFzfQ7QvGveJEx/UfvdGmAllSXhUglILRLuS1TLYUrZHgYQGBTa7wyXUZQJy/ztWNPy
e0Dk9q5iKJWHuEsk12naAQGqWO7fNW5bqhNvGuSheoEBesig0hNN/VgDPFZBvDZEeSNALyFDKzEk
Oba+sGlQNgYveKq2I52x7g5U9vhertOvaG/2+KphW6PQcQCGKnjaGr9pD2uf0u0A9cbm+zQ1wj8h
PyKQg6Kg6pSyWa8kgk6hIOFD2ypgU3ZgtUu+BWOGwn02aKe/DgLI/lwNKIf+2k68vZ3VpHaEy5yy
EGDfun7QsF65H5QzY2Vq9PAOjKAJGDqJS35fUSS40+PirlccLa0lHPXYTw5azsHUw3ogLSckmtJh
AEXX7vjN3ZpgjkC1DgBzQD6w1r8W4NIDhzuxLrntgOUaQg9gVIDpNpl4Vyjgo72kvCwtAHbaWn1A
TrncTsis1TvFcH1UwC7XBEEzZuutdlDpv6a0AbE2TFteq2uXFEwd+tlH4rMUMhAHJfLgXdUhyb+e
awr88QGpJLJgSAOmw3fAClHxhkTadQ4toC9iBsL6CHUdnx69FqWRQ6Hc7rHBIrhHXTW/67BZo5mG
8uVVoUFk2NC+OQRTUF0gX/zIU9u3Kyq456L6FTiAGnHjSK6agLlkYgDXBsNwWmagj4ZghfoSSdw/
1Y/+V+fYm/wbQMHN76N5Sv1wsMXtU402+tPT+OZLa/7N/w/Ps12t6/XjDK2j+svz02z/638eZoAh
/SKhYkRhdo/uJN91g/48zCT7RTguY8LlHAdXsGdXfx1mAj+CGJfrgLtIXWip4PL212Hm+r+4IoAc
sedDGfd/cY69eP+TzNRwGTcUhXHupg9OPc9nVhfyugHP2+Z2idHxbZ/nUqjmJv0ykvQhCVYwiiDp
d+4VunHPZvevM/n5GfzasxuZWjEJKAtNrh8X/QY4jVbLXlNrbbIRPLuRAKWSFp7YSdFtgib1SPI3
ne6tuDkYfI/SZ0kmeBYogjmLAAQ0+IDj+wP6H1ZiBhh7n65nY/uq9/IOiI24yjL4rTYRellHuxk3
8pytB+FEKMZj4jiPIoEiIa4tl/ybX07/8eC4sz1/8LnxAgWNZ45+WVN8QlNc38JXrP4tcBYkvD4T
JwCw2LmqB4pNdVVH2cDY0O6bGXlQDwS+2+GOCbwc7gIJMLPbRL/ZjW1uuSjbDsmCFyKWOU4DuHQ0
DtgxVoObIi8wMiatJ2YWj05dHPMtjeuysJIUlcyUeZGEohnqljQWq/etRQMSKOUnu+c2gnd0eyll
UtN4S/EmNzG/aWdq5U2L5zZit9EYFKw9Go+q5efGJc41RSffJqvF6EbwOriLpkCb0jiYKbDM6Vsg
Xi3fphG77dr0Zd361UMF1u5xAUD2TNEPubKbcyN8BSs9Z2SkfFjnEqhQChrLg17FdElB5pUN2dTF
AGJpmuTUZw9qHdFsylcJBFD74ecP/4cMzb8TLoITUHKJaTdClIAcJnCXTR+AuXmkRRcAsFwJCPAp
ugJfUU/nGe2GJ5gSA8SuBCjs/uidVlUt70c0sI+CtLha//xhXvumRkhLnPPlQsYuBmwN1mfcv6Z1
W9lUqiQz9TM0YGg5kCpdDI2y90BSNAdvSywPTVM/I6Xp1qixRUu1C5xQdO3XJfvr4vdD/eJ/cCA7
RkyjNjB2Teu3cU6l8wEkigMcmpIL7/+VKTfVM/SWu4Ig+Yzr3IMFN98SoAg9Vgd2r9TUz+jYDKOo
qmpjWQCDqioN7tSUsUerBePs3+rZoQwdPg/2USAX1QGaQWjOzW8EvNB//fno+87zQmg4RmCzeZk2
+OLJeJ4AnW1SloezrsUt+ntWnHwsSvrjF2BJh87cuvixN4tTwrMsDJjtqzUim83o+bUwKoi1F2RX
LCiQLtOa2G3XpvwSqKO0Y+4CQLekb6DScdelhY1IoUSN6sdJqT0UHjdAxmKqOs8JCVpIn/oEnYqf
v9aXlzw15Zf8uSxRsnBlzNzkxiePC6DdPx/55QUDLMSPD57wvO6ccpVxzkERS8Cu+0inMjsEuXYv
xOsfF+W/L0pkND9+hkdQXwcG3I8r6W8hSF4DxMTG9+0ogULz89w7LiStP8KO4jBt3e+bStlVt4jt
w8oG9LfX1r1C5xq4EzXV3i1g5wMOxA78kgyyZ+kwfAXDHTSNtnmnm/zGz5fggCbjeNN3wHHdLjn9
+PO5euUtmLIFvECbMh8dN54lUiSh4P6RN72V+xOW0P6Gnm0MAG6kfUeSOh4p6BtVQcdj7dSJjYAJ
Rje2HRAjp7ajG41zrb5N83xXTPSt1bSYijQTnAqzlHRBLMn8iXnLw7bV3+2GNvaaEmZbNeopQQzF
+SqkThsnwEhY7fNgnv444RWgF+CJYvBUyMiLZre6IPq8J7UvrXfjTpBon/ojBo2lLJ170ZbDKd0R
ini/9ARAbffFz1oBYTn3ktDWK1FsytOACarBhGhlDEjYegcxteI2ACz8kI6LOFq9ClOkxucu7NUc
FcQNwipsg/INUAlWORc1JWrcehAF7DqCGOUq8L+brvtVJ71VH1xSU6Kmogmu6NAciP2iuwXn+beW
Zhfe9GvzbsQsW8EDB2bLj3toONwLRvqQZIRGia8vdc5ebkPj8Y3ILbJW+zVECeOpKOXnYhVAO3sg
XGd5PjyOtWjeSnTrriuAMvxT5rbbVZEn5DQ3KLRvaKU+wBymO1YNaNtLq+pvdsvBuGhAUgQS3q0j
4oVlTsg5hJe99pPd2EbUF7nngauocMMIimsfQpSHVgFVbze4EfU1GkIskQOuGOAMQ1bEUedsCi5c
v/Z38kLkm+ozmwuFghkEZKSbA4ryvRN8mvw0sdtoTQEaBnYZxCpyGkPwTpwACp5C0qAJYTUxpgBN
nQF/NrmJF6dFOd5UWf+hDDptd/yYEjQq1bwAwcuL0Yh4B6BdCnizsFsupjGYI7iaS4XaBPBLkQpa
EES7C6W/l5VQJTU9wSC3wIMm7bxY8bmMehC4vnIts/deAiy+0gq8E9cLxne8TNLQb3L5HgCqb0Fa
V3A04OPB9Rb/U9at6L/ZvSUj7vxCLwurRBlTh7YZ2nzUf5tP3LN8T0boOSkEq6qmhEuE8K5w6H7d
PEBo7R7diDzQjH3gbr0yTmupzqCBZCF30MyzG908dIMkIyCNlXFOpPcGQP+wSflgd0CZgCdXuQP4
pLyE7QWHgbB3laWV3blqQp2I1wqZjBgaF+E7AC49V9iom6PfY1ztQdb30g2yXXHglF+3fDtD+cZu
mZiYoGqrIEkBjYUYDl5f655uUBFaU8sZMQ5V8AoUepS0jBcOIOSs6HA1+x23Wyd/89gr/WJH6Cdx
srTJkYAifChX2MZYrULPCE+p4STv5vkWu60Mrpey4GGq4Mv+89H3N/fC8bJjGX5IETIPIiyJ48cJ
d542EHxPsHqv33WSN9dMQ4hoyLfNqvZETQOyuXUnvkjpxytEj6KGptVpYeVgOboRrYHfkLKEhkVc
U9znSTI+OuoSevCVQ9iEA+kUhPJ6QIFCq1beIBXKznqRk91W8Dfkz6SLYpuTIiZJOVxVdDpDf8Wx
mRaPm/KbYLKBRZhnaB2v8vvE3atOrzaIJQxt7L4ZBZ7RbZLibugArmgd0Mo0t0qlMLjxOqFfuXRg
Pa9RCZ5ymKIaWvRWrQePm7kNWOOQPC3IGk1NdV26mvyeAVby/ecR9eJaweB7Cvcs6Q62Yp60q7aI
5NP3agiOMwXj225sY/+F7HTng1q4RZnD0ip0IS8AVErPH62GN7caMGz8xc8TLwKX/z7LINiiGmVT
6cC0GBUbp1lgF71WO7U36Q5LOZdXO7jd5h6L0Y0N3oPBuB8k4xpJvSBXArwoBCZe2xx7GH1/1c9e
qVONPkD3QkSLrjfo66gcaqqb1QaP0Y0NXgUJTMDSQkZETI+yRH01CxKrAiUGN/Z36Wy8zUTqRdDz
EeHsrR40V4SVwiRGN3aAsYIiYAd9swjN2w73r6w4w9jsQib8WiAZO0AviCoHdEOiWcjP0A4+86Ed
7QLJzKqgtNdmNbBbUdPDsiz4UCfN2SqGzIzK3VLfA/+IRlBhgmgUpCxBiM0vAG1emRIzoQKvvHS3
YKUR1FuiRMNfzJGulfK8x/+WUNVeUgMwSKO8TdYjiJf8qJi2e5lmRgU2ZQC9w4FGW+f2h6WBql7C
Rqs8AI9uBCikzbLNnZIlgtRH+WtF/Xm4zqBiZOUA7nHzlkQ8KMHhrs4imd35uZ+HlQMpCqsFY96K
MvD82t3OI0IXB5o1YB6GWcmv7AY3Yoj7U+lBd2aJnHlawiYbJKRNivlgNbopdbpMdF6Q1dMIzj6g
g6flbemLd3ZjGxtXOveN2sq98NXkICa1wzXoMh/sxja2rQCKacyDnlLUsYyfa+KgqRvkruWsGHPu
z6xoIGWFwgF08A4out8kZLCynsBKNLtC+eZtGvihyEOOwcDYQwXYciEaF5dKMynQ+KRRuvBrZxJv
WFEVlmMbFxdItwLf2XleBLv4x3lMzssEUSGrt2lmjlPVyiKtZxmB/f/Qe9t7sUq7g99kjYD4W/aq
DpaoJ1BsAxOM5hN4lCu3oj3hdRob157aAazCEUEA+o6t+KR0+clqWsycxSnrFI5eOIhkEmTQZWs8
CGR5+cludGOxKM+HqPzaLJGggJVD1GyGNOGiL2Slr5xzJk9KtRTs/wY3uYb0Qyhb/7wo+c7uyY2L
aFqyzSeDppFepsgFqhrqh3a7remS3G3CA6R7otGAmTkTroO482fw0O2e3FgswbgMC3Ex5+26iEOT
MPXoS3bJtfG1OTeuod0WsAFSV0tUjpJBU873TwDglXaRJOiPV2h3yKvBhW5eNGYuaHZ5Cmy1A1Fq
u5kxNvRR1YpC43iJKm9WUebR/hp9vvSL3ejGhj5yOZZz1rAI+jT3GtJb6yQtn9x0SQ56p6GrR+ZI
TE5wG2TrdA0lK/7Z6slNl+RqylsPyJA5Ulslbkd0xD5A8cWqf+dx0yUZldcWPG3FcGD4Ry9xTlxR
m2oghjaCdICaMM+Hao1U60EirmrWAwhSo93mtUOon+dzyFo8UBDx4AHapzeBv1anpE0au81rR1Q/
Hx0U6kClHJPuCEivuLnuody3kQszsz/j3wp2mBkjTKFYlrESGRw2gXQ8u9Cf/14GXvWegWB84Qvs
k/zSRxix6kDTiMhGuFEv4c8Ahdj+WHo9en2VD1Fmwmq7bGYnXz2fKDBtIfM9SzeSTfaZy+4hSdgH
u4VvhGxJJjJ0oNFGwHM4MfNZDblBz7MrfJn2vxPlSOvyfXQwrZyAQK+td75aPblp/tvnwIX347xE
u2TvBwj2zsCGsORSprSfzy+8W2ZcxEDYciSE00BwIe36vnWHVIep07WnsqDkCE+H/gHKHosH3fKs
+vjzr7SP/cJn/tEJe1Y+gVJuwmSf6gjkKnG1EqSuOSFnB5LAnzoQWh9Gtxtyu6OAGTvHCjbaCv1f
bKhiekcU+SIhhvTz7/HKCWn6GndeNguozEDvffYPuhm+pu1meQ6YTsYqmHnHNzgjsgBQqamdHnLo
b9rtd6aTsQBmZFlgsxCBdqBvKDxNT8g1O7t8hxnbBTgnrQZAZYrGHs2mBP2DcPAtA9n0MGalRJnA
qeYI+mRQXHTxn3S5sC5fe5/GJiFo0u52e3hwd4aGeAnTvV7CS8BqtZjsFwUjGbAIseqrtAF4EprM
GhrZb+0G38P7WUj1y7x0JcTQIiSwCtJvYDfqtfMvNCReOQBME+NlKFuINZZzNCV5+zhS5cuwVD3E
YsfMj5YRhkl20WoSYaDBtiYC6vBRvtHPoxgh7oa6tt0cGaf8sEJcBY6eUzTlgwjHgUAhuOh+tRvc
OOTbRpSSwKsER0BahwsP3ix6sTsXqXHET4ilqpg7HQVyKU9QA4aWYiC/2z24Ea2VRivegb9h1KOX
fTW0UG3sR1fY7TSmpTGa77MnWTdHXZp6BwcMsNDxoQlk9+xGwIKsqsYRTq3RlncaSjieDqug8c4/
H31fFy8dU0ZpBSpYAdwe1RKhgMvPDnbku5Q3PhxMksLuBDE5L3qDcP6UpkM0E3ZfM/o7LHSsutAe
31nxz7eEGhY+Xge6ckRbNZ6EhhI8dGxTu93MZL2MVTAm8CwYI8LX5h5U1Om6GIW8cON8ZSc2WS8B
FDdxSG1ztPagIi80eK9y8f7nr/W1sY1o2g9s6OmpKZq5c6Oq36Z0tYtTk5Li8wLqAA6do2YGA3Ed
Ycm8MTvfRLxP43bsNC6rXKgcRbCUn07OCpUrLphnV6r4gyf37ABxgdUFvhYbr0NXFdU6GyKoFlu2
V0yWyQwJYDlMBUZfO0h0bQNU6/3BLh03WSZBERTQb8unqPPdD3OV3svNsVuHJskESxy6lQpz3tCq
Pqk6eagdsl7YX15ZiCbJBOKZkBtw2BjlOcj+qdPXh66+MPYre5dJMKmELgi0E3XUjVBgrSAmeLWM
Azh7s7KsyZksE8F5lkNqbYwU853zgKrrVV7CzsUqSk2WCUywnKXb/DGCqfl2R8j2yZ3q5gIG4rXZ
Mc68DcoVfQlKbISKaFFcNyIt34LTr26GlHqXPuTFLAdqw8b+uw3YyxVuwrEUQtFDvpb6jdAz9BGa
ca8Bsjb3d0QrxA4spgwfuN/enoWwIzbEWbICNuIBfR9qmFwcs7Wlo82Wj/H32Xw2Pmr2Scs5VfGo
SX5seXdeU+Ke7B5+D5JngxPXL2bOdBGvaduFUMxdD1BFWy7E8St0XyqMTR/auoNiDQG7pcthzitr
qCZvbnFVDU4CJ9dhvO2mYAW2GYWBpg/409jAu8fyxRjLrU8SWuyOunEFxV9ogl+zoLepPOCdGIdC
0XVO5yxjgapMedQZf1qS4ZPdGzEuVxXJOrgBDFvMy45A4ZketIbtkNXgZpkz28jC3WpQse96SSh2
z7uZXojuF/dVSc0iJ8Wr29VIIEDo8O+kBEy+6YQlttusccKjDvrrvF5iaFVDw2pO7z2UwewizKxy
AlkHsbtGKYgMQPo1BDVVfB5XCL3aTboRwBA6G6AQ5eWAmGZXLcRoNtnYXB8w50b4ou5RdKnP89iR
K1zmKsYcwJZzYjm8Eb5ym8pyhQpNnC+4D8Iy471eLtplvrZejPB0e1Vk6eYscVuIj6NXFofaXaxg
a5gYI0DbjGygSqRLvA3+cKLrHEBDBo44dm/UiNGsxeLYXNeNoajEvy+7yU1XTv5Hq9HNsmZA0Njs
oC0TlxDGhkBPDL+7C/vWiyewpGZVk/LanZx2GuNsHfKHpJ912Iq8/NDLeXi0e3rj/A1KT/soIo+x
9Ar1lsAu85DBodZudzTLij1k6atVyCHOAMm/7qvWfwP4/iVBxP3I/lvqiekxIjVLpwGmWN0Qy6zm
XzzUAI9qVu3VmiYagM30Ithkn4yXPsiIW2/ORTL2TR93owOnKZjNfZFV035cINn/buRdm4YwlUwv
HMOvRJpZdwwC1qbdOvj3tBPnPCAHklsius2iI4M28Zbhyhg7eoWloO8vh05M1O64MquOqpih8Vy5
/j2U8aGV9R5GrjYVALxpI4K9hkPUoeP+/aa0PgzzcrXx2aqaJqlZcsxrP5i2rMZjM54e1kLC0ndN
ertN2RTc4TX8E1rGyD0R2aGBgjnoYHb7mllwrFmwkBk2GvdKNtd0Iw+7iYbVtmBWGHOdpEsDatm9
B1eDxnXDIFWWE2JELfGpnHW/YWhdv3caSF1MlT7ZPbYRqNDenrImc8h9RgTcgDMYKYxVYwX1wUIx
zteSstzrC0Hu8yaAvHpB3DDXy4UO5StRb0rtCB0AoTdocu+2FJ7RTQc7YuVZvk7jfJ2A00qblZP7
hswfUAU4wK3LBqKISTFCk6YqmVbcVO87vzk5XKBYVNv04eFFaZQWPT1AydPHUw91cXbHj7Cis5sP
s6IIFFUANfWV3DtOdTdt/bkd7NR/qFlQnFC3XTf4bdzTkb+deu8IO0Y7NRdqlhNdRxd6GvDYS9rt
lfMTfMh/t4ocs5aYUgY94WAkYEn76QGVkc9icO12b7OTKQIYxU8wNLxvuPDDbV4eOLXypccaMWNy
WUk5D1h+0C56pysP5O5JWhXkMLhx5/WgeF94zoIF2Em4EcEtaLWSEMbQRkR6SQ+DGPi63C/TSsN1
Ra6h4QV6tnubRlDC2gN2l/mMhdIs8HmFiSoM+KyGNouUQ4EePoGk5/0o61MPSRDIp1y47r6yBZol
SpxgdBABnjqb6nvcH8jS2iW7ZoVyLmDF1CcTuV8VTBj3UxiYfyuUpqRmhbKCw6wmgwzuebd+gKP5
BiUc3VpOt3Fadimfg6ZSXbxRTUJXsw8u8S4pyOyDvHCvNYuTwZjCsdLd+rjYmo+5EuUZFgPvAi6I
3Xls1ieHfoSX5lLhA9ocYrG7cw+8OaxalZh4IzxF6+Jmwj2IG2VZGqoaHqAo8thdZh0jQOFT5m5T
LttY+ZrBjKqHfRN6u3ZBZManvysNMZjA5UKXsCHu/Rvuw8/u56O/nBe5pgZO6VCICldQq3LVon8T
AQxzGgiswjCzEGHZSMe5sDhfXj+uqYbTwkkMtc4OAk0M8rahQiX3NBIWPMKPDzH282/z2ofsSdmz
mmcyldvqwMwkHga/eOCblJGfq691vokLN1L/xTBwTVmcqi0I+LkCmiawfwlXCpT7cUu5ulft5r7r
gOs6doEAmraGgqzV8vpTw/rZt8p9oCFJT/YzkT0mMHE41KT/9vMZe3kfBaDwxxnLpYLPMEzNYlxh
6bXu4F80FpxZneauqTIjlSBs2xJkHekSRLzfbjq12vGZXZN3CdsugVQbZlVQ+83etFDQfreBFXgB
ofHaxBgxDR/YBI49G5y7PfXIp/nzrEV1YZm+NrYR0ilE/GCopQZoKxUPnUofJq+10yB0TeblXO/Y
kaofYuF0NGyL9uyo7TerxWISL8eeAkOlqiEG6OZb4tAHtywthzYiF+5JaTfRcogH3aR3nHYw7yXQ
Ev/5g7+yL5jUyGaYYM1E/Cmu/amGjXGF/CN3pjH0J0Cf7MLUZEg2rVuu/V7IbmEjFHo1j9xBv/v5
F3hlxZj8SNgw0ZGu3Ro7sOAkifysPf3dbmj24w5AcKKIeaz8+2UgXjho986DdezRbnD64+ACPu1w
980zyBmsCqbkxTtoqVoumf/D2ZUtyYlrwS8iQmxaXqGqN3fTXtoez7wQY881CJBYhYCvv9nzZGu6
XBF6tkOlFtJZ82Q6L3QBT9i62tKC5sO8b4/yL7ZEXmPALHRZwzYIwEPVKhDFhHYvVLnmDylG4PwO
xR2NXORhpBmUKGqJi7IvejpJ0cV+19Adj0Sw0MzLpJdn6D8/Er4/ls304vU13eFIXa3RpsHu/wx1
wghahSDmR6XTzyi6w5HjWgZ0HMX0XKfizyqJK0h8V6NXkgPm6l/vYQwFwRBzXRpUNuN7iVppU197
mhciKHcyssfXbMMGHpRY+r8BIKHclPRPqFDSu5551ktDdxAwhdozLfcAv8LQ+WgWesNMYv3cNHNe
qQ6pBfln2TxTvS53EOuG2KTSVyKmBEf838QhZM4zbbp1BkHNgBYco/GtDKDupurUjzcidPWy1BzX
jV3r5hnaaKCZRq87/7dO6HXh3VlA1fe81v0i0aAXL0EF8WxO/Lg6QpdDZkhTDqEbIp+3Q94eafn9
CEavqXEWuiwy4EHtpmPl8jnS9QeZNj/SvfdrNIfuMGDUhmiKsVU+z6VhT0Iu+s+k9puRws6dhyqU
VAFkD+QzbYKPQCX/s+h19bOM7iggm2UbxLKXz/04BPB0ZMnmTnoNAmPnjh+d4wF0rRAcf+44+YOn
yRfTQcXE7x46D9TQhYHmf6ye2x08fhCuvUvG0gt4iI07DxRqlwlb51fq8UCWOd+qOqO9+OK3cyfU
BUlS1OgUOydyg7Z1qtasgUiq37m4E5jdAQ2Tla9lISDJnE+Ci/PW7n71lNBljWEq6PcA/CLF1oi/
Im4eoJLz3utYXChTUM3Q+2x61IEkvR3jCawUoWcc6qKWIM8MRftZ8iJoUnJutqU69ZP2Go9moYtZ
ShKp2nDvGcpj4g/U4E7DSj/7HcqrB/kpzx3MXI8QIGJFq2yfddUOJdzW98Sd5wnMgEj6LSiLXgcz
BG/CW0g5+bVhQ3f2EhIzAG9htrNIIJf919bs9MdGUWX2M1wuJgnEP+Fg6yYp9mHkN5NJwrNpxQ+/
U3dfaD03gV22uEBP9jPbh3fHsPpF6C4mKTrArkwtjYoKQt1Zn0cN9QzQXUiSmSFyBRCYLYIOcspr
uGXU1MovWnQhScfRlqSHWlyRWA449qsjir2qeag4/nrHR9HoZK1CW6SQP3qejpiMN121MD/UX+gO
XmJChfeAxi2FPNoWvRlp826Z/Yy5i0kCXS10i8d4KeJg1lkcH/8TO/G7hu7U5diWC0jeoqUI+ui8
1RXJWAthaq87njj+c2zWeCVxuBRWLXeHCT5inOqj39KO90wBgxk21JKLgcdQaT7iKgNEyS/hcuWe
6pgn2yS6pai0vqFKfBU1hNu8Nu5ikeS8LhuImeeCNonKI9rdgC/fM9Ry0UgijM3RVmwuljj53Jr2
PVuVn1Fx5ytbO02D6su5SJtEVFnITXi/Q978SqnoQrriwpAaaSgQg/x1+fofRVBspRbSb35n7kS3
B9CfdpXpXIAWZctT3rF8POZPfos77jPka9ugoNgXmO6Icm7qNI8mv1kvcEI5/jNJ5wPvv+mLUqzZ
brpTmHhx/2Bp53U2vF6mNJQ9sBLRaTB/R8hu/Y7EeZxGKJUuC1ae6VbdqGobThWoF/wWdxwn1L6S
EfrbuthEqR4xTxY1uWm7Wp291nexRkaY2qxHpIuI7iVU7KNk3m/Bq3/4AXdCF34wdtUqCDmWQh/d
Q3pACL4W1vN0XPzBToLFdhFk2MlRpvnRtB+CSvzz+5N5fS5vlBRcAEJgm31C6oy105g/lEscf38N
wSCxaHtPR+pisQ4+kz2GPGCxzPW71cyF5sRnqgk6jE6tG72ceU2hb1h0cYOp7BDwVZZBHuWatO4F
E+YCsqKtirsgHVWxDmjW5vG06R+vNAZ+Hs9VPwsPaKLy0vZF2q39l2AoabYGKvILkFz9s1iNs6jD
ShVCzS9tOv5jkvGP31+bS+fimLBj7NiwD40pxv0vPZPv4Nvw80kuIOuY0zLoWqwM2es8PY5M716c
cbgsjglDH9Ekk5WmWEEECN1ykjfV5JlYuICshjJo2epyKUqT6u8oGB2fkSW9eB23C8kCmUiVQuJX
FxJ6zlkV75/okXqBNEIXlEUXXkleJroY9lGc1dxtd2haeDG6MuACfg3SB/AXtTKxUxFOdIBg92r7
41n2c3pN8efCTXSRSKUCBfg8HVPBqyCF1DWO6bwHSfyP38k7DnWH3PJsKzsUB62eu3XQp001fng4
QOF/PZze1DtnzQHtbDk+RVvwLMvGC9cYuiOTkOVVBjw6iL3W5gXasbdpOvmZFReKlHbg/+vmFma8
CViOxPFF0eCb13G7WKS6WdZRR3Is1gRKyM0R32/z6NnOceFIoKI76iCuxqId4+0DLyH1uzdDdaU4
/+py3vCkLh4JdHQLZE+CoVg0Ef1J9Cv/q5f1BnXohZk8nUyXN4p2niGHO0V5zNtYylGNRbCFSV52
aFadOYCx0+n3n+KCbFHowpSmZuUkKeepGFpm2N9HCE7DJ76U+it619x8VnRceQuC8orpWwgNQlkH
Ei9k+GIJi6aHhPWxymUYzMMDqtyNzlCcM3u2DBB+jm0YH/kiQJp6y9s1eClHMDIWYKZ52eZJ2Htb
7ky9k8ESm9tV13tWyWqLsjGIWZ/9/g+8YDlclJSJIOg8bNFQ1Gy4Bab767Rdy+4vjPSFLkaKlyBt
roNhLPRoDvqwiZ7wP9NAIv3h/TK9Crbt8+ce7C/2fjB67G6mcjY2s/0ce8W8xKW7nat2i2fgsou2
nG5QtPwGvm4vH03clm7V13ydIRNaHO184qK/CWt7JWe8EI+6+K+Ga1tO/BgLJicjzgs3Gzkth2xG
pDMByEz9vr2TcJAemuJzG48FP5KTCDU7tRQ6ij6LExcINgaRMryNxmIng/kYdmw816aa/b6ri/4C
Uz1kH9tlLExTjy9aqfhGBqb1CuyIq4dGmT066M7NBSTW+4xg1xQaAV45OzTJf/V3lmMIbzG4N2Ad
27K45A/gJfG7k6582LEG+xEtOw69KzFeI9YuA12/n1gkcbFdhKamHvU2osKTzllUpfcs6K8c+dtX
nrjILlMuai3XcizKo0tzgrLUPZMM8n9qK6/cyH+Duf86J+ICvKKuSwgE+uAslFB/t3r+sapS38HE
Y+j3qLY/oW1bvguCsj9tG8g45laZOyPIfBOOpv6gIHV/WroBnU9wW873dRnxhxrSBeAAxj9dOYi3
DTJx6b+1GOJwHvBuqrr9MXXdmsty2279HqUTa1G2qJbErC3WWH444rE+pSvg5X6LO+ZEMRE0luFN
ggPnf3W13w+jn6QScUFocbyqo967qUhScTa0fQfFi3+8du1i0FgA4ep07sci6vn4iIsn7syslit3
7tLXZL8+dnqEPWqLsORzY58Ie1+mgVfST1wIWrvRvuyNGAsxhi/M1PQ5gLiDV+kPfD+/bhvDnhtw
vBUqaPGGfGXnGvz/7Yvfib+e1U9tudLUmKBuUUQTum9zXvMuMxyP6Perv57sG4/c5eav020B9W81
FcSgkBuodH1qdqIf5jTtHlQS918QWZkrUwMXrJaLvKoqCFr16YTEqAvKvDdgX96DHjheQIX93IUL
vwILc8imbRiKJAwekJfeTtPhlR4RF34V10oPgiA4kmxNv7SoOXzY6LD42RoXf5WkfV23HT4zRJGD
vJeofEO8w8//u/irbmrlZgO8WrkG/U1noS3NKv7t91fowqN1EVgokyayLlWPdJ39k1S2ybZBedEw
M1TJfr39tq/KnbTIv+gUbCeQgchsXFO/fAgpxq+rY6onGKPW9AUJ5LsDk+0Y+0S67ncujvc4iOqM
ndEQ6I/664Bgeu5WP2vmwq5KxETgCFq7go7B8jD3Ikd7ffK75y7qqhrKzWJ+ry94nJygp/5Hq7sv
Xkfigq6OukfXiGNpCrjYSXbV9/4Ad7ff4o7zGO0ylqYdkLwQ6MButPprPiLP+NyFXcU9gVKrhOnq
wTp0FyXBe1721quVgcDw12s4T7YUKia6WA3rzzvwVycpuefndPxH1YTDkLavdcBg+cbq6p0evVjN
GHExVypt1g68m0Mh6jq+taaKs4gPXtz0WN15nDKwUAnc0IAJW/gIWQX3ehyueKILNssFXe1ja+Om
sroIhlOXJCkG7OPS8x46gR0Y9fjMKfwEWfX3rp7vJajN/NZ2EVdzPYF2R6C02MR7Bh6efKo841EX
blXL9aBBCjNuZvYlBdPbXH71epgu2qoFAnIN9YprQiORjTmD6oPneTjZYTmAnHKQsis4x5rDUna5
Ta5khxeiFRdqxZeojSpNcUcqgUiFNWb7MZlmzOxy2Be/o3Eep9gYeAEn1gGItnTngDfPW2pHP6/v
ckShji6sEElXaFTMgqS8N6X9w2/fztuc6kPvEYFvg+rFQ7wnNyUb//n90peO3XGb01Jh2HHY+2JA
tnm/JHrMG5R17hN2eG7eeaBNT8w22hIBi52jM4CHyVMzDH40LcRFXfX7RBTqxH0xcXOTqKkGcqST
V0pdF+yWi7sK9yBEHa0aCl2lty096dpv7pa4oCszBW0VtLIuAAMiWafnT0sr/ayti7oymqYrJmaG
Ihh3k/GRPc/hNbr4Syfi+E65rE0STrCIqOF8BTHRk5wmv2jFxVvNbcRYundDwTvzxez8YzrJb7+/
5Jd27YS18crjpZ/61xbRAsEVMaDSnV5x+PztlM5FW8VDa1s1qKEYQzLkNK7jj9DQam45XcSJp6U9
bSUJ8rEar7Ux/sVEvJFFuqRQ6XooOTPeF9247F/32WK2t1ZlczaCyXdKhvj1NZyyIVhAKD4p0X4U
B0H42rPhj2bi20eqF5OjmmCe27BUt23X7C9EJcupkuxj3Exd3rfDkc9CtI8L5tmzth3MaZoHfiuH
qbmdrOU3zV7+1c8quCX7Rio/F+MSl6+kTMN92VWRUvqhE+J7WIZeQ47A1f8a9/HUVElA9FDEZFEZ
ZpBMNunJM1ZwEWZikNUkKe7YMiOZJAc7smby48ohLsJsFYBPk6odClpV0GydZb6nbXvyeh0uxqxr
dBWVrNXFvodntkdNVgrmh7cnLsKs71cmIrl1RajAVBmk/L2I5f/8Nu4YI9aEFvOTqSqqcPxKU3G3
R4OfijVxEWB8nFTLOR4Na6rvVaC+RZaf/bbtePMd856iNDiSJkyXm5adN5Qe/HIbl2lKsiUs15lV
YJqK+vuI9N1juIr5yuO8YOv+wzbFgtV2Xa+KJgq7293u3d0BsMBwsDpvWRKcgkRDFXJN/Yj7iIsK
C3rd1iv6HcW0Rmt9NgaDcqkKYYu8PoWLezI1UwMZtIZJiG5jhhmZYOj9YKHERT7tO6NLqZAKrlJ+
DhI7n8b6EH4FLBf2tJeDjiBB3RQJmeJsbUidydRvuoe4oKfjQKuBRHVbjCg5Z2UbddBBZx/8zvzV
Sf9UYaVJPC2dQlWiD8avckuiTCzasyrhMlFBXTqIgafui7pZS6T1j9Ar3a5cltfKxhtu18U9zQBr
RFFdaYDjyj05kdnIHNMEYz5ONLpPlJnf9ZX2DIdcKJRkrYEuXKgAy5efanWfUOIXkLs4qBbtbsA3
F1XsVrdZrKnNyK4+/v7rvqaCbxySi4MKh0DvikVAtO3iphbilDb8lojuz/C4hgr4F/n41m+8mqef
bpCWqYyXI8EfsHCynS2V/+hUy/dBh8HLYK3Dl8NCorYK+ZJk7UraxxgsDyD3N/H4PikZdjKEVu55
WNbb93UOu2vQ+4tbe707P20N1AkhZDlQRZHhMY/ZOsCbdlU5PEoNzpFcxaonN1MSybsBecptzab4
MWFB9FXvMn5gY7vfBbarn3rG6AnALy9RFUZCJ3MXUSXVOgaqONienjrSYdho9iy9ugjVhRw0aRL4
YRMLcZPaqMt3ASzm72/Uq11462s79gIsnxRqg3MPHrW1xhyT1acStG2eqzupwThFNDZ6QNkhxJT3
ckC/aJs98w6XJitBmWsBsh6pL7EM2pojBb9qfMUcXToXJ3PXZW12yogq4sPmfUd+lFFwXHH0l9Z2
QuVQNCgKKFQFoJiMq6KTJgNr25WM6TU8e+ODuug0sg5TQHuN3kvV1PlRR1uu9xhCMJ3yhL+4ILVO
g3ov6WlbvEptn6ZFPay7vHZlLu3feePg4pIU7QCFyT1u76HuceTtGMZ4zCPzS1VcpJqUMULwvlHF
SNP5c2fl+zhYtF+i7cLSWlA2KQKi4gLdyBDQN/GlWoAk8XqtLiTNohO+aW2x89fJCdY/djx477e0
81TrLVknXqrgCVVwyI6TpswYn7/9fvE3nTsVblM5OrSN5lC3RbdsOsmroSU3FNLsX/oRJCGG0f1x
M3HnkwJQ4XbCSjWzOlqjtih3o/KRTC9zx3yOCWs7dmHv64Y3mOorzF73ORyfyKGE5GUZsLprGXql
6d5YvKyExJ+sQEUBdOndlXv/5lcA3Vb0q/vsFGpAesLT2o/+XHbTOz7ruz7mZ4lZuYjWfiGoC2Hb
h0mkpMQLaKvyq6jEo9CLH2KYEOeAFBSP7RHz17XX/yWkvqtE+vL7O/pmbEWFi1pbV7SsUyARUdgb
Udqv40HfE0CAbnVrxB9VwttPv/+hVx7R/1ho/JAbYDEyQt5CdIWoUj5lHe1HtDx3fbscxN7rfdyA
zd/6KeMlaYEBmtdrgyj/usY3ftpth4pU6xruXqGKPqxPm93JR7YkIDBaK32zLIHJAP8QudQSPLBp
FeSRbuQL1Uw+QhTTq0WIA3BNPIF1sRQfUYfRV9m1f7WDF00klnYisU0bcGW2aBMkTN20CrO8ekr+
/v13e9NtY+1Xj/VT9Cn2aOz7A2sfwf6hiZc4G2zvJUOBxV9/9KfFx/DYZC0l7Arr35VV2py4pMuN
384d246Sdb+ib4cQ0iiSt2b5G+1fr1oOdu5YFQ6WvElNvClkHQExSdcli+VwJZq5dOaOuTVhU7d9
VbVo+O7fbTgt+WFb3507xgTo7SgIF9jDZolu1iX4tsjVi90bHs8hEU7rerR0w/cUhCdg8Oq/zlXq
04LA2o4BWdfeDt24t0W1kfimLGmag81V3npdFu6+TgG2W9bARuzzFHyCYsFDH67HFdt34Xu60LVh
C/ddJXBwyX7Ud73g3T1K/Ne61W/GjjgY5xF1oq9HpABNUZNEnlMKhmXQwlTnve29asX4CecpxYxV
x8pMW8QjOC637iPmS/zsiwv/HFJtZr6tEr2O4WWb2m+78VM5Fi4WvmuUjUY7tcW8sfq8zr3JMcVT
+cVbLhzeatlD1Qg3xm6GZjIRDx3BLITXdXRxdrtOBNRFkP5GSQ+NRQK91T31IiBCvOW8JIJqbjRA
76lIJVACgjQZMfD9fjt3HhKp9n4dNxRSAEJIH3nUiYz0wTUY3IVwxcXYjWE7IiNKWzA5h1mwpn8s
5Xwik/rciMZ6/gWOx9vrpEPRP2mLA1OxkwRlfiv/9Dsc56lioCZaxkHgHTX6M3iLdb525NrozgUr
4wLt0hRYeFEtCKPHZsiAS94yqCF6lbWpcIFfYZcE22yApFZhcprS+PMe+UnAC5dsa036KJo5zCM9
1q/zeKMs8zMuLubLhig4KxARFs023ne2eWk7e22u9EJA60K+po3PyxpNDbjn1aTejQNjn6tY16de
axCTkqYGFxSN5zRjuo6+bcaUVzKaCx/apeHicbBFc7MpMKUngBLPIHo+qPnhdUVdRNiYxKAlEzGu
KI3YLeodye3Sr8bvbbmIMDWKDho1W1sEQXS3TqXOVuEb2biQMLoAE5IYgrCpXeOXNuqTUzSv65UI
4YKbpU7cRKsphVhpjSRs3MQdrffqPWTV0x9zB6OUex2+Cw7jybwR06/4C6ZuzrTpUOHTm9/Zu/Aw
PafJlEyIh4e0/p8qeWFBvOi5ccfqrxaNajnNLfq9aG9uw23TUi9ycCr+Q8fV84NO0qhiqoLhHNHo
JmSJpxd3IWJ2PYZIKsQIEw+mLIiq96M+7vy+5n+s/dpZW+Ep2XQCqw3IEJq/RwOog9/yTlDWJ7uc
kgape4RJzRxKw6LPmohVvvcl+jU5S+kezioZVCFp8olI2yFpF14MzvioTorD4GXlKFEbq4awzZMo
0Flajdeayhfeauq81abjZjSvkV8E3oz7+liOu6BVUZ62UeCXXbogsXiJ0mbvlq4gST1CujvvyVVt
2gvbdzFiVQSQLzqBLWr8U6ezOW2n89hu+oOsh/Xh97fn9WW+URRx0WI1KTvA8CeU+skxnPnR2tzo
0CBYwwWyjH011eilSUKFix5Ld0i8NjHA7qIi7HmvubrnMvFMTlzGrgmstF2nkIqv3XDbN3/TaTv/
/owuOFoXPrYebVBTmzYgYUrNeU3C9DYYy89+izvPN55sCjUVpG3lwvqcRhU/beHmM62PE3feLkYJ
7Kg22IYyilRO2KJPQWy++u3cebta7Z3g5dEUW0K/q2G3YO0SXrpm2LnzdMm4LK2iCworGCS/65Jy
eUg67VdYcQFVE+DRiW5sVwxzabN1Ed/qePb7ni6eCkAnbiNGmsLwRdxv0Dg47aTe/MyNC6hquomx
CQLkRZRuH8fINmcoV3m1Q6lwAVVsIsfECdISkC9VDzWd1Pu5FrPn1l+t3E9Fvh2KVcNM0Dizc/8P
j7Z3Pb8mj0DfNmIuss/YnpImbnDNx+hY0GoV6IQfIZTZGNo4d7oP6ZWY+98o6Q176YK35LEdJKBA
WO1d12VUVmXWMsLv1nkx9+kEkvOl2v4XD2JWedIFSaYImzNMa893CvJAjxOL6A2kpKLbcmp4Hqak
fh9Tk5x2Q8wHAZIk0FKU4R1o/OlNv5DmpjTIi/J0BhX5KdoPe67KMr6xYujOWqwlyeS4JHfMWIw/
L2DRPifH/rkOtLqZmq1PbsKtH7Yc7fNyzMxmwQpYdUP00soI6rDbEqj1BIRn8BSVBzj9IKhwJuR1
dkqC7O9WLQ1Ej219MJ7xOu3uJR1CDe2kkZZfExOqT9DdQYMjRP3zC4/m/T2mYaN7xhHoEMKG96B8
1Vdc1QUz7NKb1Qftd9XC1YK8oYii46QnfSVEe72Db31Vx5RZ8LzQIJzQ/ljlfEMxtAepuY6d02Ct
7r2spQtwi+J52lqJOxrxAxMfI/mjH5Zr+KELR/MfMBtLGoYvhbibMZEfW9yfW6sGnyE1KlwomxpB
aDEi1SwU2HCzzySJvEZVsLKbL/ADnCk7Copzu8d3qt8hJYbb6ZeNuEA2KIzzHhqoqOCss845CCDP
ls/92euDuki2alqbIR4GwOSiXuexSZ9nTJj7JWkue1caMNagyIrQL6juqNB1jnqLZ0TvItnCqENt
TvWYht/nm7hZHwHg8QJZ44s6EQdZgVlPASAu9mqHsGdAqs9irZKX35/5v8RObzxUF7oGdHWK1iS6
2zKp2LsYcfH/0IaOTxuweNmxl+RLq+Y9XwbS38YwhjfakrjOx3Cn9422m8T/xP/yumDc7VulXdAQ
ypUE/L1vHpMy+jZP7XrFYFxwai6WjoZlvCaYHi5UEECEPOJ7BG5UdJxO4/LaOo1GCKD5XTcXWsdj
ZSnSi6bgdfnYp/V7vpHQc22nzCzizkavogiFrY4WwZZCetrr1O8VutyLGnUeggSswRzNvGUY2EuA
Kdr8ek0utK0eNpNWjEkQ+cQEdPEVPJ9K/OIhF9oma2uXjsE69aIP81IzeNHNXsu1Lr0Ul3uNQS9K
dNOIEnmyz59ks6W3O6BEZyCRZ55NKOY97tBmelKbggSB6rr3mk9zhlnkcsqHtDPP22TjK3f5gn91
edpsonh1mNfcTPC/5hr0pNWgA5RIt/mKj7rwWlw83IomTyDqVIJwQu05wQwuQAyVxkgOT9c2r/vB
CxxHhcvbVm1huR2pQMGXHo8r/rRMdvGVv+KCH3eI235vIy+s4WLg2NDTCdKWeMvUopRlG0RurfEr
Nrnot9SgSSwMsOEQDKJnMab7mbXB59/v/G3iLCpcjrbmoHYDJLMpwjm0OeJP8GTU6woaIujkADHe
zXeTGLsmO1iyZ9BpnJ6CFsylv//5Swf3erV+SlAiSB8oM0iYkjT6u6naWxiuK2nDpaVf38VPS+t4
5wulSPK7xHxgO8QNId7nJZGMU3v90Z8W78YRseqIb6LnDeRqy/J5668W0/91AW94XJcorbbrvpcB
wpx+Jx1EGceSfpo3TINlDT/0kVmd9t871s5lXlqUk08ybsohbw+y3IXDkdymSxl8qdYW72TqylNU
xtHDDhgTcP8LzyCUN36byoh4VTy4y6dE0tAyEHrIAmx4N3zpO/BjVO99Lgh3wR7sgHDQsB8VWIRi
lolk51lweBVTuHAykBg4hqOOaY1jNnm3958TE3gu7ZRSBoBfl06GdQESpOO0LGPziIqTF3UA5S7W
g892DFiH/LEWOn6/bOnyrWtZ62lvnHDSRkM0BWZvCrqaF95osPBuXeIVvgkXq6eqOK0R+QJzIHO5
YaoxTaNrpedLL945dLaLxDbIngtjo/28RdEKEsjqiqF8e3HuovV4OA3tmGCqN1Xqnx09vxLjjF7h
GncBeog6N8NBVlgkwRBmlFfPCyEf/B6Qk+4ZmwDo1SOk3Rt1X8JJoVHh+zgd651GYjqarZNFyYYq
F0uYs9Far5vCXfQbg+zBVhkhi7Wa/56jZs3iKl7PXqfiIpoAD05nfE6Aj1P6qeLqfS/Gj35LOwfe
tjrSNNmwdKeHXMQ9P80x97MrLpyJY5Yf5WoaPIlGDfmmbodtXvwO3MVMx0MaNWAMDZ5WTJrnYVDK
LBmG3e+Ou1CpmpF2Q4yEnXdL+JjiFb00Zl28nD13UVLgeo3LdN1qFDrbcz2cxOzFoQRb61jD9ojh
LeupLhI+3o69vdsT+83vpjj+J1FjXK2RrcFhv7NTQpcdE+Z884prMdz6a4jSq/FQJMTG2wM5RhIi
15lk4kUVRrmLkkqOCQXNDp/T1JY82qQhOY9o6RUWchcm1UyYvm/WJnialCxvIQS7nwygw17H7lKR
VYyzBao15VNbDe8Dbd6tI/W85S5Iqj4wrQg+H7yhVsO3dZhSCYbJ75K7RGSbOSKK4eK6CGh0l4Z9
dTdsor7zOxUnouVDBU8vB1mw/ejODZE8T/V+jQ/zgvd0AVIiVlCVs1h9ts+7+Hspf/jt2nmdUNmV
9RQinIir7Y5S8zTKa/O+FzIj7k5eDCtTEJwLEB62c/IhBUt21kaiOo19y9/Zlf6oWq2fxrJei8CY
NTfr6NdX5e5YxgJPVwPlUhdbTw9wIh7rudp0c/I6NBeUv1MdbvtMqyLFoc313matqfysjotVC0J8
5THhYEIhcsjj4HjYYlJ5btxxrVRXna2CpCr4JE9DYvLET6ecYsrrV2spjGUoBIVYuqRN1ujjz7ge
vVqf3IWrkRHcmUGLtduJPgo5/ug1KB/8vqXzbI2ldQtu8KqIxkpmmmzNnUVU5pUKADL366k0VgVb
m0xYfbFrBkX5sy7N7rl15+22Le2qyOiqUM1MsroJaG4WyJT6HYzjXCE6DU3LDQdzTOoLRMU+i6X2
Yj7EZXFca9ULBfhfhxAPSPW7pNSf64R1fob4P0C0UE9WkRW3JYrRYgweLHBjXmfiwtB6BEjRQDjc
6obmQ0mOKLPc+LV+uMtUllZ6pNDNqAoW7Gk+2BhBZD2lV97+a9nmvzUR7kLRoMjRgr9DBE9NEJYZ
WoZTNvJuOx2gL/I8eadiBBIDYdswCp4WyHQBelyBI9565nip81B50Au6dF1V9Guq8yOWn+Zw/Ob3
XZ1nGpkQ/esuEk81Apm9We94KPweqasO2cbV0PRovz8xUP5hfkqYu4XZxK9y5ELRlOSrbetdPAXb
0OVqCtlpLHe/jN1ForFFJiManeiy8/lcyu3dxPSVU3n1Cm9cRheBpqIWRGWDDZ6AKtA3ydzb+6aM
l/uVLulXVKqaG68P67bfQQSvymqdBAgEqlOw7TvYWDzBndyFuu3SMn4gzXuCtph5aCBLd4fxMr8E
28W48UpwFQwIsstdkf9zdiZNcuJaFP5FRCAhCdiSWaPBs7vbvSH82jYIBAjEIPj172SvXOpKZ4Q2
XnihUgpdDVffPeduHiGit/ZBdGP8/30Gf+0DONv1csSVVAtCFQne5oyyzeG53Rtx2tr1m90mLD8h
tQW0O2W2lcv7mE3vVB+W5z29eLOn1cd6E+LB7t16wrMseI7h+DREXJ3GkYcPi6r/VIuqPnE5PpJ5
emcayMiEHJQnj9c6J6RrQHYlf3h9ZZei2+xe4R3lKIsaP4jaEdbOYvzs17az7AhKaZKQICl2Scdz
XdbvAdLc0r++NPLaV3DWnaNRvbTLjpsU6/LEQiOrx/S88Y2vNe4cD4Z+hFtJGKVFqeN8ZsmFDvZb
GVzFtbkP6qATTVqoKdpMpmwY6JNmpvOrIUpcki5Nt2aqKUkLSLzOp21J/8Zzv99i74J0EVkmssRr
UrAqrMR5XuUmT6QP4hsn+Mtu98pHdWE6MjE8Fm5Yk9u2mk4lxFkeN740d2SuDr/FwSXqaG2pnGaR
FpMICzX24GyTzvOS4BJ1O5fHvipUfEAwRnQZCughz2JTXTG/5ER0Gbhf3n6aVEPvorRpccxihPCc
6u/7oE9uPNtemfYuVxfTclEMWn5FtdiPUxD+tTPu2XEnXLdjxRp5aEQU3c9dfxfq2nOfcg7bxwHJ
zkgPCCjG7jkeLFDoQG490F55Vk9cjAswQ9+uTYMvui7N2coluTf0MKeutPqZDnV7xh6pvuGpKKSZ
mkT5tMU6uBvjVD00CvvlCi/hG1P3dWMPkbjYVylIvAgdlUWsQ/Osk7Z/Tjck2zJ5hNVdlyg24i5T
TX9M21R2J2Dk0ZrxDTTUmRIhn/FeJ89tFI9LhmLj/bmrjvn+8gQrs7CW7QNpoQH/+7X/SiS7NAsu
yWSppzEp+jnq70o6R/nRW/EZRknx59//iSuz1YVYOgbVfbFFSSEr9k9F9bdxFF5+FiJxffLKpoPK
5dRh66oHdgqHiWerFX5nfZdhMfYAT2DapKgG+oWjKPO0hPqr36A4hxOUrM+Q1kziAnCHuKvV8YDy
H3P2atwFAy1UsaJqSdIiZMGb1CwPhKuPfk076RUc2YKYxThtjgf90k8zXGnWya8+Hbngl6tm3SES
DmXSIlrYx1ZvTx2C1a/fzoK8iohObJixZJbJ+7Kj39aU+q3GLhMoGmoiQ9C0oftzUyY/gyb2bNpZ
je1cc+hIIXQi3rcnHs9QK4Qslt+QUGe05WiGVSVJkYqtPZcLOGk7tjfWwCtB7wKBLCo7OyCNXtgE
dFbYdgcEdmK/SegiWim8H6MQFGlBjnJ5KCFuh5JX9un3w3KZbK+cbVxAi63UWjxBJ7hvivVh65ow
Y3F5nNV2YIVpSHrjXnuJmNf+jvNtoUKJslq2JDjNL0glbLDaq6GST/RZiLB9DNMV9GoN54nf/6wr
H8QFsWyQjsfe6rgYdfh32jfvBCF+GUCXvEqg30PrYIqLHg+OGRfLu4O37/267aTRIHYAthSWM8XE
7Sdtqm+wzfU76rhAlojrWVQNxb5khvLrImr5BUa3Xr6WInGJLEFZetgWHU/2cj1DdO7Pkcd+7Gbi
AllHs1Jdlmi8HY8ky1MGmOz34528PitdGbItYjWt4ZtbjE3E3kQNa55l06wPESw/MxWN8r4lS3Df
h5W+EW+vx0HsCu+05VzbZBvjQvYcecxRZrKrfsY2KmK83JypWj///qddiQBXBE3JNME9dImLXbf8
rQ4MOakg9qPUYML5cjWNLlrTtVjj4ohjcM/jRUXVBn77gAt7He24AOFqBDJsSp2rRZk7s97S77w2
Ls4+0Az1NIlYiwIgRa5s+9BP5Xe/IXfO/FzWawvBXVFEiUzPR5O+Hy7u0X6NO0tDu5jxYIvgyCxg
tcYNsf4E/qa68SBz5WkvdmEeDtENOrcDpguq4Iasr7n5s0559Da15utAxv1uaI/5DsGyZKNd5zc4
bHkpionYhX2WJDQWkmK8QKlSdZ77qL1nVDGvvTl29aiWdaDVfsS8IHsZYdMP2bsjHKJbV4rXN9DY
hXIUrSdY1MaiSKcaEiO7aM7QqMaNpZxC++HAU5HfeTF2OX8UyR6UJyEvBGHmIxfGnixX+sYG/Xpc
xC6yKCsSdk3DRMHrNLmboJtoQ7/LMPTQX64WgAvIvh4zL9Z+eq509L1abtViXOu2E3MqlKgMRvlz
EZp9ueN0j54M3/TZJ+ji1A06TPkFYP9lyO1yGljHzhzOwF6Nu8ziGkRibDuGUdm2NkNmL3iKuvjw
bP2y5f2Sk6mmXk8rwWyJyQBr39aSBySg//HrunMvkqtEkXyTYjEK4Js80AKvfn61O7ELdC3poaq2
xkJnRBtm+ljup672W0Vjl+iaxhlF68PBi8oE4blUJWoA4CDtN11coouPdtilsBjzTf6MV7GddIVK
Gb8xd07QQ4kSEyU6zEXVN+YUzqBERcm4X/VN7GJdCslZLI4K477uH0Pk77KZMb/zIVwTX87GvV+n
gbQ9L2QYlE/zpL8f0D32W+Fdrqs6OF6egMsX6bybp3JNhnvIf9yqyryywrhcV0xbOVNUruMuTf4O
GcntaL7+/pNeruP/vRTF/4G6zIw61uSgBWtb+qG3Yf+kp3J6rGzb+C3rLtqFI8I2wh6a4V1OB1Ac
izPYzwuvWxYUu19+VYaqJ8K7gBURgexPxYd73kS3pMavjftl0H5ZwKLpSLpwG9G43OYM0o/Poj+8
7llxfPmbv7QdUORdAl5f5noI14IN+XZ4/fqlSHAAftk6+KuSQBWbF3UC0aJOnUCkenbc2UkXzjFl
xMALWO78mJrma0v5p99Pxmvj7YRoWVckmhR6HbXJu8M2Dyu55UV/rWlnG52Psu51LWkRqYGf7Tbq
bBwCP44gduEtVdZb3DBNC/i1fSUyOJuQ/fQaE5fdorbnfJQw6FlSuHNARrXPhoodZ7/WnV10XekB
AnhgxUz6P1OuMMsBuXndF2IX39ILCmBXXG8LPAfYrG2qKpMJ84x8F+DiyayhGLKyAgrYOoP97v8O
2/3lNyxOcB5jXE0m3VgxdPFPOoU/k5F/8WvaicxJDkkqV0EKPcGRNINGpfqjZ8nqlWOM/8MPhNOw
VuFIC1MNPGND+KZNZ7/wdMXKJpqICeciih00PIu+DU+qrv2YudgVKxvmTYZl1UcFL9V3hicXpTwj
yAn9CkKXhMFUvQgP9h7isW9SknqeFF0ujK5bU1bjRoqZQZAiXhXyulVSer2HxC4a1o+pTHc2kaJV
6sR2qDo2flIGscuFDQAO2oiMaJrxH2lVf+ygkOE1w10orKd46AOcTwsBQwAIYgQ/9OKX+YxdebJk
mlYZbTstSDOHd92Q3K9p7du4E/VBl1bN2FZRUff9l+jooHTZzH/6DYoT9jqC1s46o45yMFZldhLv
NdLQJ7/GnS15Hyw0HRJFi3gQ/f+iNqw/VaT+4de4sykfo4r3ZlhoMQW7fYy29sMwW79Xi9jFwcoS
FnLVSkixj8F+H5kxOCebX/1J7AJhLNqjsYGMezHr/vMaj7D5mb081wRe4F4esGotO+RYZlKsVTud
KjhNZgcBmuE15q5AWHWUXTNrXGpVO/y01YYIGvzUbmMXbILIUyeOhoaFbDr+EAfdfIoSVLj59dyJ
ocpUsqqJDovu6M+zonnAmv/5Ne2EUA1tGk17FWI1PIqaJ3+s3eZVxBG78mDbRMfR8vIoWgtP3BMq
ZdmXebHl59/3/Moly0WbupnB33wLw2LZ5ro7x800IIVZRsHfVT32N7ItV2T9Y5dvAii7qv6owiLq
JC9PLNLqowo7GEsegzolkNfNLOuhToaNhlD4CsCL0gZYRo+g2v/huq7vfv9zL9/6lTulK6sSdq1O
R9YdRQKz0YckEF/HJfGTHY1d0grS+3W0pOVe6Ga048lM0ODNSE8SWHCUSe+nLxa7wJW2kYhNmB5F
v/cWghGbOHXex26Xtep1OWtjMN+6ffuZgkA5sba+sdNcbr6vjL6LWvVrmu6xJUcRp8D4WUPV13qp
6N0edvx5mYaG+4W6i1yFGI9K0vhAlozvX2PJpxOBbPyt54DL/vLa73BWEn2so0waeRRplK53KGBp
fsgxEf8EoPieRLzV+OzhON0N60HOgsOChcUkgB/Y0UR+J5nIWXEqOtUGIophcbDvMZbibAqlZ27B
pYgrYucBjydhAVkyfurgAx/JdrrR8X9potcGz9m0t4DEGsW6R7GbsIKYGQQwLNTN87neh3PZJPKB
axQGbrbrTyU7SKbSpj+1ZIBJl0zbTJhywBM/NXWWTEF0BxlbvKXWK3yYWL3vD40Oo+5c9lN39lsz
nCPMtnYDNaq1hY3McmdSvGsf4e55THfhCC21uFSho/W+qjO8zK/3uDptnn13LhhhMHVlaJW9UDSo
59xVVieV53btwlyKAkM2R7IVW4uXqV5BXBKGEn49dyE+ELdpa3asQwGBCXHZPA74x295cJm8dD/m
WqbDUaxs/3tUUoEn5X45KJe36plItor0RwFXrW/r+6Nt/vGbhs6xbkaxyZQcBgtz343wAhBIR2cL
/C79BtwFrlR4KFR010fBIDr4Jtm0PrFpueVazV5fMl0ltqVce61LfRSCzTTbRdzf7XS4RSpca/3y
/79kLNt5pMM4onWYmZaZqMcwW3nrdwJzucIAdQB7rcRejHPFPzeG7O+FMYHfXHTBwoEnrKNBshd9
Pag7taMeNWWzX81c7KpjBY1iQ0/GtZgY+R8lU3MeJPHTIo1d9KpqG2B0o0XdRLc2J7Op8gHcYnVj
o3idPold9gonmoj29WwLItr43pYqUudUhnGuWt584zGdnm1cgSRI59n3Fzm7aplEm4ag21LYGovN
OKHWO9z9MiYudIVkhhyZqZYCrMLyVEaE3HMUCvsdbF3uKmKbEiVURgs6EdhMyjh+IHij9mzd2UY2
TXbgG8IUbc8e1fwJeLwXeBW74JWJUjofAzOFacvvofwpYYvnF1kudcU6G68lbmZFz497eKdN2byF
P70WYxe6CtYD1SZ0NqBq38St1RngK3mj35cF/ZUDkotd7f3UcJTomSLV03TP9T7fAfiIHiOYez/3
a0m/xdV6q2r9ysr5HxBqJbgU1/gh0ZGQjHfp+sEa0/ztN0zOuqzSWdtjjibU5CzHE/j2NYOdlR+s
FLsk1C6GCnVY3VTAJfzHVoYFR720X8fpyw0l6ltihpiNBapl/uCB/Vumgedm5Uoaze2arqTHlO+N
GYqGCn2+LDt+oRo6oTrwICqDYJ2KdECtGg/DLLXST64CYPrLYembepksCp8KrGXNm/gASqIC7WVq
LoBzvmw9Mm1gq3mDYFxzNFDkXlAIYecPPl8UVkovGwcsNxwpfNML3c73QdipDOaVfrVnsNxxGsdV
X5hVjIVt4uDRNGn3sCvjF6NwYHjZehSQqhRUjkXf008oQjh11n77/ahcycxAxP1l2xZlTviU41hE
1IjH0saP47Zi6xhOZTS8Dwi/m9L4q6i2+lnNVfOG9YCfdtvdekd4fZeHoPnLv7/XFimfzY5FQtSu
UdKi2IMZE/pPX9c2hytrRbJNRds3OdaN51Rwghvm1DB3S1Jd9MSYfBgmfdf3bPr8+yF9fUWF+OTL
X7Rg3NoER90iBMV9XoP5T6387gDQEXzZdrgtDTFq1oXp/7BIcGSD6bcb286VfrvAVTxwOqY9GwqY
f54nMqMy4lbe51rTTmDv1u7Qs2gxJFvy6Z7gH6+hdp0AJx0ne6M2tIuCHzjMtxkLmF+xKlQbXo61
jkwAgxurCyxz430MtdK7iLDy5Nd1J6ZbPpT/Hs6LJS5Jpqsum1Bj6tn45Tv8eh2CxtqiAjIU26nt
wzgze++3eQlXOAuswozzSTQUUx32uRinNaeDX50tiuVe9rujo6kTybvCSPJ0rPOXzt5Sar42BZ2o
hJx215Tx0ReNSP5GGVqVjZv86PctnahsRVeCBtmHgiX08xrYvOE4g3u17fJVA6jWUOJdrgiYaFTW
6abKISQg/ZZCl7FK7cJCRYUqEruMJ6ma/WTD3XNbdPGqOhn2sqdpX7C0/BbI8siW2fjFvktX0YbW
sk4ihbliyN0RBebcEvneb9Sd6BzKmaHo8TLqU/iIK8ofUx09/L7pSxP/Pd3jee7lHJcRkw3huypQ
6SD+GpKAn/mBdwIDm9QbFdlX5rpLWEHfZ4/KcsBKzoLPMLOA4GwaeN3XROyEaBBHtLHiUAWza3IO
4qkCItr7SQoKV0Ir7MRCKlL1RdKv+ynuxucDpuw3QunayDthyuda2D4YdAEpB/NhZnQ7x2UyvlEl
qH2vj+vCVhfnddQUyqGgB8LpMHNzEuNQ30kbHl7IonChK12tx5bMDWJKDAVMkx+XQ9zIuFyZN665
Yz2EB27IbVdY2skC5qDlXWMje2NsrrXu7KdNO1tdWqOLDmLErS7TLODbH37j7sRrIiNoCAVDV9Rh
dzxVG09yrW15hu/zrUeR12/lwnVy3CACEq687AoS6PBTsG1KZlG7mTeyScAbB42422sqbqwSVwbL
fQk3jTbTCEG5Yu/3d0L+zxx++KVwjbKgyiCqyuqumA7+RxoMH6L2loL8lU676l/hVFGwaclQmNio
u3nKj5H6KboLF/AKFEx2kZfGuWMY4qxr1mdCSs8Llgt4zTJcx3SLumIeaihABGubVWPglUpAvebL
BR9ifQnpIQVTcPJzT0AbrlL4JY+Fy3i106oN3aQu2r1Eeiul7ZNZVn6j55fIfGWrchmvmcaRkcGo
ihkITPLMKK+bE6jJDRYLMa9+KK79NDKEy3xNANXWXfcKIrjhQzyvn/TqZ94mXOZrMwlto2Hri7Zr
vyGb9pcOIAHkte64zNewAZDWAw4hdVqr8aREs39uTYXyyAaqmH6neVcJrFtUWxKCM5o123pK1AGP
u/KWMtKVmOXRy9mJkwjKYHaqChKx9ETE0t3pZBI3xufKoumqgTEZ8LSbDfbzdBzfbFvZw2J3gKcV
XuOb9URorB/2TpEbnMmVHd6VB+NmCLdjXHu8vZEBpgcbBSaHIkai5I/ff/Brw+UEM6s4UahRxRYZ
tFlC4V1BeeWnSyBcKGwwpYHzMBrfBsbyjiwPo2hu6cRcGRuXvu03k9o51AgDqLncpfX4vWOzfG4p
VTc+9pWxcbmzLo1hUWNIVyi6nUwJ9wFmu89e4+5SZ3O67TLojCpWUf2oA/3FBOONA9WVOcqcCFhg
0XNU+9YVI9/mjwKY5Z8jqj2rrG35lA1y7OEbmvixxMLFudZuLSc8nOMzcEkehB3lOS1Z7bdUuDTX
mvSHQMIdS0VjfkhqHglUov3Oby7DtQrb6GPXChnruj/bOnon2rm/8/q+Ljple4WqOfjGFSqmyTkV
Or5robZyYyO7MjNdYmqRMCSh6aIKbpu3Ee4sWTrN3/x6fplWv+RalpqRGhCLKgYrngYj6qyCs7vf
93SBKdkfYTyUui02lryx4fbczYvfzd9FpJZ9aXA0IU3RjzUkzcbBZsTMfjcJV5QqoClb2nhrClj6
dCfQPsGpIoffFdRFn5COs/NyEFlMfflHi3vioeYbTV9ZC1zyKZhLqQ3KEwsYlIfIRktdPjE9zc9b
OJD3VRAQuHGr9kaB27Vp6eSkUlRj9+W+yGJIlvQRvpHVCfnM8ka8XlnwXYCmNpUSvD1ksczl8Pe2
z9N9Rcn+PMN38sbSeeUHuBwNL5u9knaWRS9LlOeY5jipkbCzV2S5JM1cqgTKthVa5/vTOtj6zo7C
PPg17oTtbjarTScq1HSs7zRfHktz+Jn9CJekIcLOJVNRVTQgHk+qElEWwEPZb01wSZoWlbP9Gu9V
saXLX20NC9G4/uQ3KJfv/MtaFi9qiSnIP7Dd/Etpprdd1P/l13T0sumSVXpOpELTW/K4qOFPqoJ/
/JqmL5uGqXS5mmqsCrkY6POwA1c44Yfnif/geZEddTkEQR4rc94687QS/adfv52zJA22EDk0NF0S
+oUeQmdNAEs0r8ZdNm/EXr2KRlZFgJTdnQWQDMkF6YcVif8gUcG6DJKmQc7D/r1ktiiXxO8k4PJQ
VY/qsMrSIE+kjt/N+xC/q5bSb9NzcSi6bFU367oqliFa3yU12+7GNGF+eVeXh9qDeCP7wCvwUORS
fS6hExuSG+eMK1uTi0PVEvHTRei6XGRQZ2nAxnccOs495P7p/LDgRftM0uDWzfbKu6zrBgj0ck3I
sgV5OwaSn2wwyPNQiflnomZxj2Rbf7/rMTgdjNd+S7ILSJEAtnUylkG+H8vwM0iC+YwLRelVfQhB
q5erBLErqaxZ8IOI/mbq6n0MkTO/WHMCuS4H3kE6GHuJ+Al5/eEsKac3NsEr38Hlo1hkcBTpg6ro
EwgxdULr+4PM7bNSeA1SUbpkHcr6n/FW65lgdrEpUS5pP88myHuLWZw0sOxstV9Rr3C5qZqlK2Yv
cmvE6jtIdL7XU3Xj7HblMOJiU2U6Rw04xDRf1v1LtzVvj2b3O+e4kFS9bjLoUbJQsHKPM73tf84l
95s8rlZUuO2Qluux57Jwf45i8bNLJz+cUbiAFKXWSAH1qXzpzZPayy6jhIR+O0zobLsLgxYyr7Yy
b9vuSRn2dUf9qldAuYSUqeNoXqsoyMFMfid60w+UzH5KIcIFpGAn143TYdN8DrufNQEvPCGf5nU4
4y4gxRTmNi0nbAEasgyJWv+Ow8XvLZj/h49K9SinrU/zvdm/wmjmw6o3r+MZd+koNs+ytCEvc3lA
JvSI1m/7xKsbS++/6b7/JpK5i0epkTNRYSPJIbbTFzuJ5/t1Tpa3VbOEy7PEJeJhRMl8BoPd8iGu
ePAeS1z/tMOaEt6Q07L9RdK5ek8JTIwyCBqx02znNMn02s7fGcpgPsdD1P7TiINVGa1b8WFp+rjK
+k4gj1Ol0fJTgg/8KwoZ2KZgbBVIx43eqSpRpzkJl291oo97PDCgKHjrund1TYIls828wZgVB+FM
B+m8ZDWmTDEIdsA0m9KTqJIeekoq3DJW13ic36b4DcCL5qtNghrynMnK7+l2tHnVBeohgJjuk9g2
jS5tqR80x104TLMavhBRBEvo1sjsaAye8v2cHbkLh+3cgNOf0jLnMHEZNjFkC8Ui8vsgf/11gbvk
l477ul0uHdeoef854bL3BFvSHzLuqrcVHebH3/+Z17cF7qprGasnPjJR5mQMH8pEfdpwpL/xE661
7ZwppFCQv1mnJC9DvOsEar/jbPQzjeEu66W6RBxAJspcLFEuS/4F+oReB1Xuol7livyMSk2SK5KU
WRR8Cgi5VXr3etoB2t0vz1nJEA8hgifNyxYl8HO0Vw+dWcipN4efwTF3sS/RrWbpRrigz8L0mWB7
0cD/1u+butjXdgDObQOR5EjKPJGjIadhJY3f9uAKbNEVHHTcHkk+83U/X6yvTmM7jF5XJxSOvBz6
apBzUEOvPR9N+V0O5B84vX78fRS9fvvgLvbFjxkCVeFc5vXKurOs6HqH+tfmbZPAuiftg+PpgHj+
jT92JaxcDEwhLWOhll7mVjcUSbj+Pe9ir1QwqolfjhGKy9lUS6w6+5ya05jau2qL/ZBBqA2+bHzl
zCQ9N+h4Gap7Heq3lSn91Pa4S4KhNIXCiBlfd+0TBimCpLnjokvOv//AV8bcBcF4ZwVUA3AqMkaU
p4CMTZYeVPsFlQuCGR3D9jHmac40nv3gAbJmB2u++HX9ssH8krWqGiIv9tdpLvoFNizhd8lKv4XS
dVBcaju1e4dRgZrxYzI+DvHodVvhLgamK7jHBQdJcxg9FSixhaAHnz74DYiTa4uDqV/Ydum1QIF1
WLanOAn8SgBQZvVytJOWHP3YHGk+wHem1oHNGDwNPOeJE52YdlVU9izN7ZC+7btlOtdhIz2nuBOd
co8MNAWqOLeyf+ibaD01Se0Z+i75ZZKmVq2sRC6tfBN15VNiPY/9LvFlaykGwWuRR1s1ZT3ZHuiU
/u01VVzkS5OawNmgEXlr/phZ/64dVr9F3FXY6qCjHcaNFLmSiPaUiqeQ9e/9en05e/wS8R1WJpLs
GuaIc5AH699Re3zya/myPP7Ssi1J14fkMtaBCHMSNMGjnZBu82vdCUzVwbts2juRI5fHIQyw2VOb
kBsH3X9Tu6/cslxEaumUhdUD0DeIFSPc934JT7YR1RNsXHB85+n3NIjrbE8sfxPyTnxDLHePu8Ha
U5djJLOqDbc7Ec0cz4wBigsqbGjvrKY1wRu1Kk97MxK/hdUFQ6I4icSWKp5bkl0mtfF6eOQuASKq
ZeCNQruhEBt0TIYw65sb19grW6RLiZXU4IJHoxhx2L5BrWWU0Tj2cy/nLiW26T7lNdlFjnTHPyLs
vi6IRq9Z50JiPazKBaEpz/c+3M4ynLb7iB+3EpRXRsWFxNq6GQypKp6PK/vEW91kgH688kDcpcJs
SmDWIyjPZZeecL78J7WHX8LDpcKCBRbaPGA8T3F5hgzNimxNm3huki4XlqYVTmYGohaQ0/uxJtB0
Y5Gf1y93cbBDtdAbXwH5SaYDCOaMA1QjblIeVwrCuAuEKRpNg1oxWy4QUrZejChiAduijGB/O/VV
Er2vSjp9DksYpp7KOZ1kBl+r9KHf5+1E5nH3nLbOdl2acQ2DtKQXo7i3waFzVFZ5VfRzF7SSEumF
aV9Ybuoo7/SQk7LybNq9/sp9Eb1OojxcwboFMHyO5uYWTncl1tjldvbL7oQ1TYZLH9Fcy+UcCfVA
jtXvZvofwEpzbQBH0hwPqXeS129qy280fSUj8B+WmUk8KKQYaTHoHjap+8/I8PF8tFT5XXxdpnmk
slczC2iOg/TTQcyzd7S5dNjQbE0IkSyazx3GRIQftEo9p4pzkiY4CKR23UkeJeWSxYF8Q47Kb3lz
QbCQS601ITuWt7E5p/USZ1Cw6b1e6riLggWRpihHqsNcW/p9n0a8i8gbHb8yWVwQjC4x2+PlOHJZ
p/sb3V0m+bw22Zoyz1OYS4NxZY960fTIBzF2WVqWX3WT3rpHX8lquvJZ0zT1skrGA69nev3cs6r5
oLax/sqtrB7Z2EyetwIXDTuQfGQp3y0eA9JPqK8EKzr7HXRcNKykHXjIjW95sqr9MaiG4RQvsV8d
CHfZsDDFIwYZ0Hoaxec5MeO9kiHzm5kuGzbH+9FCVRWjsnRbFszpuxHpvBvH92tz0wnYQy3tdOAS
mUssNqeO9OrRyKR6WOuW3lgrr6zwkXsBjvD6mvSofK4GsCwQ9jpNA711u77Wf2dHDcJAUb2HWx7v
MVy3ie5yqKrId2vJtN/52yXCyrodkRYzWx7V4/hoAshYN8hkn71Osi4RBnGZARLZGJ0IOEKmKP0a
xYvfWZM6e+uohgZWX8qiaKWBqEEaZxNsm27MnCuf1SXCGrqME2x7bB7yYb2P4IDzEHaoW/Yblsv3
/uVY0IUpSXSbrLlI+vMkp3dbb24sx9c6fvn/X5pexygtdbeseR/s7xNVJydaLcZvsrtijEjXmZnp
cMrVHJyX/h/4wng9qnPqRCplXKzqsCZnKYHbZz/cbWvr94DMXSRsHdls6R5MOQuG6sSq5EPQ1H5W
t9z14Bxj1iVNOJi8Tr+0Ybfg2tN6jrfLhAXpGqKAAW0vbPgqK/MR1a1+kekCYarV7ajqxoDrCGQG
Oc8xmpVf8LhEWN1FSH/xyuCGCTqipuEpEGPit2G4RNhu+66a1kvH6/U46aF8FnNE77wC0wXCbDtA
FwSuPjlMxoo2jL/tafPJr2knMI8RcqkW5XZ5CXmXrInm9zL13P9d9msZF2yjSTflSxf+KFfxOVSb
F/LMXcYLmeOp3WY0XRr1ttwfwtn4XRddvmvhZa1T2ETnNVmqs9KSnODZcOux+so6+K8x2C/roIKp
8qhhpZobvIIVUU/E/SWF77cQupAXknSD4lWg8z21n2lPivr/nF1Zc5y4Gv1FVAkJJPEKvbnpxPYk
zvZCebKAAElsYvv193ie7jBxXMVr4qZprd9ylqb6uGudbNFcASlhsWHz5sYXvp5qTX54q9hHZgm3
aK51bdqqBAvwNuTz3xTAFDe8GWy9MuJbOJfIosisi7K3WUzveNckyzTvK3pv4VxlWFTQ3Z/NzcHi
MI14NN4RX+8TgAy3gK4GeA8XALN0Q2irErAPD8EMo75908n+fR+zWimfolB/M1BGPjaBdUchW39f
XX0L6cqmGg4NM21vyxLdheGNjfyNEOUlivpNbXqL6DJjQEv0MMwtyipvOLajBbKnJ85+FzC2ffTH
Ql7EVK/Nzh21CXVFFcHS0x8wTgEnx0y4KKn67nnPJARbkBcNNXR8uahvovO+t0boWLaZ3nVnBFuQ
VwbeqL96kb7lnX3yYVCsIn9XMBdsQV48J2urBqtvnnDs4vrwUGdrtCvyD7YYr3BREc2GQd/6EJjk
wQNJWBJUDPcN+SbExfkoG+tKfQs1aQ527MC+hDz/zqe/nEH/d7qPc1NoaGqb25qLZ22XW+agFvjn
N/8nmv3v0g+2OCfgj2QEEqq5YXTchWdNYeLWdMvBBVq/h7KXOoWtvz50k3DvhrJfjtq3/l1ovBJn
nxjgB6ZqfXg5DKN4CuqsTyDF2KZZ6Ub/GHZAfdFWLxhtqFEndYBwwJb5+A6Os/vg/nSbssNiVCEH
6JqrIvVHOBfkcWPcW2K84T+MpP+OEN0m7ZISwpYytDA/bPVHWOedbeA+FQOrYihck8T3PXtzeSDu
GrFeZ9slS2/WG3BNegWQkOefvGGq7sqw7BKR9VGiFSC01IcBDEAeP+DbNsfU9K5KRtEl0Dl8zLqp
SIq2fsoAZI9pt+QH7ohJwoWG13bJDs004mQK75ccbBKk/PIBuMvqviZ1fijDdYZ4ea+uAtl/XBTe
Xe2CD6qL7stgfHTT+HmGrtlxXitQ2UMerwZfC7ybN32UxlSngZP8OKxRdKq6CE66XfNYLcBD17nz
361eMd75Tp9C0IYarZZ0hszpabWh65/qDDYXdTeh5F9b78dElYjxP+N16tlV4pCNrT+xc1PghvDX
0CZqKu9h6qruozbL7nPdHEnej1/LhZ6bYOCHRWTsGPZD6svuC0Cx9i5w9b1nxv40Acr6UXR2fp6j
4Gg5SbWpzi3JGnHxPeXyk1+GdzX0mspzLvwxSyzUmubAA2DcZ4bVMc1CcxmXINbAaqnc3SJnU7+p
7xzxzYdZZtk5hPPuiYft+J4gKomaZb3R0Tx2AX0YQ/YwynA6rXml9XkV87EYhmhOTIYbhJWTS3gZ
1Z9LFagDkE8wtifzQzW2j5R775tImYO25dOK8kOCVo9ZTmvjXeqCfWy8ZUpmE9zCWoWHqJbVclil
9wA3UgqN7JAmspuXyxCW9CyrQt4CrJdjiWqqx9jZTnmYQJEvSyRmv/VYKA5txeczPMKmC2f+WcxG
nEjd9p9M5CugVIsopqtx/h3sbyP+Edh9VSU0ALYMHBFy4pNHOVwQlJhiTrtUsh7Vtj4L2quEmUc8
oF5+17TLgGB/eA9HlQc6r+FRoiSqzrJjkHfU/QSl9nG5uIHfptw8TcNy9ivpDETodQKuOa//6vPB
3ZaQvCvzbDpCGh8niYhKoH2CAdr0QZaGJhuSoSVPPl3liZQOLYwaaoZJKHV1FauUZwg/JFy2JxXk
5zZcz2vbxwqiNxjQxv2K0EM76Je2qOiEu3MrIwegL9Hk5VIXGAVOEkd+rsH6OAyy7h6iXPTeqey7
/L305xudYcsQUYMtzN9LGo1r7C8zVFC8LM7J0q5p+aJohjbCMLJrPtfhl8C5HJ7vknzI157fwsm6
Ooa9uf48+e2AQQimpHZ+tHxg0PMMhczpU2bdVxHYu4qhy6+qJv/Stz05ORo9tF7ZXNapvIFWdygj
/46z0iYo1J/6cqL34Wj9YwtiuAuqElMAwXkJk9W7lhgVzxPWdEKW4OQBwvZYZYV30pO6DhVL83L6
G7qt8r1f0hcZVJCx0mVt1i+rquvuoJQKz6VfU+BsSRaPbXHVhPFfTPeLjqsc3WADX2KeQDtDracW
XkO3kIoyP1A3k9NYF9DkjMCdHh3LY7KO4qi8OvMOZmmuoAl9KwphDjVzdRIi3fjpZ7hf0IxpPykF
h3m/N90R7Q11G9fsU61AY4nFOur7wBPAMGt7DXWIvRGNSQTBoSSywYxL3p8R+jAcM1lwqTrxDG6u
D1GZsLlGgyphlFzx9uAtAruAKxBWTDWS+7Dq1HGeFi8mtsncy6HseUcJHdGnom7sUfadOEhom+AV
8g5zUcz5cVGQm+uX+j6zUQb3junewxHeGNomjHl1PNIc0pVq0rcGx4G/9vSrz5uLqboLFph3nyPz
PGWi+FiIrEkkkBKJhTrQEIetyHCBetjOWbv+aKCAeKp6Vn2AJS+cSMAY+9JmPWUxn5WXAFnlQW0w
Yn0yuSGKvtWRdd894P6AEWem/Zh17qfUzktJ1wxpv2Auc9hHX8EdXo8LpvTQDmL9qzLtekJLCcQa
z6BSXclu/D4GHbydYcB2kJ5O4Y8yHLMlqL/5ywCDaQr77IQ09BitXXsoos5cmrl7gHFTcV8Nmscs
GOAgQLoZUxNYjo55FX2bepdfyNCqzzVhg72OXgDG9OCi4VZOYyQSFg1fu94zN1YF63XUUy6uVY9O
eNvx4RmwPZOYaFgfNMxUP0ZsHkCXiGycha1GHBZqYDfm/L12hcM9LZekb5ruEo2NPK+VzW9jPd2N
od9dW7EWR79og4dKEI3uJQwlvYjc9QVtjizsnUgWnT/wCd4gAAe6aTrQkhUnLuZfo0U4n3qkVu03
ka1hAmPAHDYRImnBlvk4FrX/mWBOoZyufwVNoGFGjIbm0yKC1R1k21l2kCUVX9DYhhxiS4h83+r1
0nj+ckGt0J5nrqYzYG0rO3hB9fxisasPrgC8mNXsV0EH+ZftkIQOtfrBYKbsJ7rw7RcHSEXajFH+
ZewGfWwLxg8AsjP/sthClDGCmjoplBuS1qiAHMvaH+89l4vYZXBLBuJSsru5gmpgWPl3eRSNv5ZZ
FE+ibZZ7r9TBeTAhbHIQ1fnHiIaYLj0U9QmufPflMK4PAVmLJGLhFSdavsYWgO7g1PS1KK+mhY5z
IuDl1Saa1HBAyS3zbzks5jroCJo+zYt5zM6rLt3jJCb+0ZZjf5NiNE8iWt1xCFn+qapcgwjBgc5y
ima0g6jSs73CjqOKic+KMEHVL0xKVxgcQiVsAydgAq/eGhiAHgrvoLPoqLLWOzG+sANABe+mXIXx
6qE2U031U9Bn08m32WO7QOg2KequPlNcpQjslvkDc/iGKixeYMDtU4ZILLF1ax6WvMTMaeHtqv4H
2/xUOGvgw+EPKS2Hi/GDz4sodqExgy3fyC06qF+U1VLrdwznvtfFFVneeLj8bV7NtqmogmoGgWnD
mE4qBLCxG6PjNDvI5aOM/AHO3yahTU6SNgPO6s/5zO/rMmybn6IVTiEDMo5p13Q0cZzUCCnXfRhN
tk1R6RQuuB9Jl5aqv82hfGCleaP0+JIq/jfLYNsEVQV1Q8kwjyk3NLjzJvi5OUebQwsGxxug3te+
YpOlEokjuxbNnMqCzj8ticojbgmFI9NE3fHP4//7SgrbcnIkeEiWDmpOo7Z0311ZkKPrmT2UasEJ
wnt2CRdS76oYsC3kzXOY4xrxNyIV+8OUbXnkBL2aP/+S11bSppYVEZDfZdeMqWbyc95MKu5ygIn2
PZz+O6UvUD70yBz2acvCnwDsXdGt/bXv0ZserUWSNxWDGtO2hdRjzMxY/932jb9PjY5tiT8VV3Cp
i8SU0prW93lWQG59tLsOOral/piyUaHL+j6VczytRv3o6ox83zUwW+qPgAjaqF3UpdqznzVVj52V
+6zp2Zbzw6DRpKlcbOrU0sd9Ht61FX0D7/DKIbql/BTDC8qnDW0KD3M4DhYpfQnmx6by4yqc7hVC
jlNYv6UR+sqy33KAMsNJWIG1l+pgVQnzizDmslaXfXPw8q3/V8qKSKQh3rG4FGmA/SY09GtHH1Ik
+56+2bIM8b/1DWahh/3KfbZU2dkf5+KNA+H32Bm25f3MJHCjF/kuHYKF2dhOkiUC0n157E8vKaGg
+3QT2ZYFFIS9BM2T9Cl8TyVqJl6DYsVi3ignvnINbGlAnGsoSNq1Swlfsg8KwVpaN8Y/DRLY6ze+
I/r9bbZlA3nWM26V+ZQiKPMT+EznyUKN926irjxUEeInOwkWy8mn4NXmeb/vXN3yhFCKIkPFe/8a
zllzXGFWcvTmffQ4tqUJdfD8bud19K9eXrAYgT4KyTtbeGDS/3tnTHVQAEqMh9dFjQwDhNlQ7rsR
tjQh3jEOE2c8OuIAnMvBoGbT7rzJtkwhs6zjaAUd02idEEowKGSkbSXmNwhxryzWrVj0ohTPRYB6
cj0WLovb3ha33AiW6lmyN6LUV468LWeo8mhDZs3GFGnWr0BAaHwArPjPR9I/Dd7fxHVicx0XuoOZ
St53aeFPKLQNbQDuA4gbzwVk3o+AZzSXDEa4d9NS6mTIG30io86OzGr988+v8NrP+0+zqdZuwiyl
oQY9XcpnnrXPux69pRVVdJ4Hs/RjilILRDT/KsU+uQy2ZRWV7Qq16mBAFKOrByCs2bgPSYVG2Gaj
hYBAGvgYpmHoPS6ReA7yfSrA7D+kIlNkaGZ32AuwiuICILBeVn/vG+qXDfJ/NyeMlWCmsazti63N
cz8/Um/YuYW32tF1PRk3yMK/6kgjoJuPTEe7kE5sq7mc+WyuzZLj6NECWgnNlAST+bxvRDYxdAVz
xyLI8OzcqfnFagT1Yl6/kSu9smm2hBd02krmW1WlzpivTIepYuQtoOYrz94yXpgjXpOJiFwLt3yI
Au9JuOqNWPGVGGVLd1GWT8YMHrnmrHUXb0XkEDSNRAGMhAdQSdaPu8Z+S31hAzF2FRm5gq4cZ1X2
HrIiT/sevbkI+6rnJWTA/WsWmZ9oYx0cNP3fOI1fG/nNJiq9eQn5JMkVzcefRIgvS5e9BV997dkv
//5/G9TLGp6bHEOSmwblOxoeYEbAj/sGZRPZYntiHVK8eKubByVb6JdH/T7eBtuy3TqYMZRtFpIr
LDzvc+Yubtkn/8G2hDfw8iItKzxaziqRLHzOOXmrdf3agG/uNdsFI7y+Arw26+Msst89pEn7FsqW
glOxRuZKMnLlsvpo6uaTtOaNiOaV194qHasJHcSww2uz1b8bVXTu+nBf/rMl4HQQMhVwccSIFM+2
W67S8H3H4ZZ/Ay90OtY+xoPa6iiHZNbqtGtlb+k3LCu9FpHvy0lSfSLVGi/N8sZh+NpIb3YkXUDV
7lDXvnZlfm/qKlas3pfHbnk3+YLCL5RXddqTsYmlntfDWvRvqdu99uKbm20NBJ9cVVLIX+cfi5d2
sL+iH7VvwLcBaUEnRjpFr5HLvpZj9FVW874beUu8cbKdZja+7Jo2e28mlXBD9i3tLfFG2yLqxwnL
JHPI54ZcoceaicOuIdlSbuoor5YcaK+0U426QDaJHVzJ3sqFX5nNLeemzueAeNrHho/c17HujnPj
9rFV2JZmI9GVL221VmnUMRkzHfzdTPO+2G3LsykV5ZmXa/+6jB58Md15nfTOR292pinnTMnRK1MK
IcqgjOf+676Z3NyTglodZTMePDU9DlibaCf3xSVb8eVQwkdLtg5NyHBkccm7OS2AVtl3K2yZNbNH
qyz0ozIdXfnOL+vvLW/bN4oxry3AzUU5BGslVFaaFBsIHTASlOgXg5c17JvNLasGAmPjVJG+TtEC
Xi88h789H/eWdLasmjmv+ijsK5uWZfOtY833Tkz71JTYllVTe5mu9WzWKzTgeLzQkcRU7fM8Rqz3
74Bwbe1IS6HXq2bNIdDZE2PFW2WFV6Z0q7LcSk26hUMp22PV12wF3rDX4c40lm52J+mltNY6enXD
PAOQ0ZUCDc5y3GfqwbbEmmxUOKz8rk4zL/zmAehcknJnhL+l1sy1Rzo/FyYtWQaybdPPJ6ai5fDn
4+UlT/hNMWfLrZl60oNBFtl0aRr7PFUB+auzTn3Ix+gtA7bXZnazWSXI2YFcmUnXaflWl/odVWQX
B4FtCTYdBTrOn51JIwsDraAR5K4KW/dGivLPEP9mcLYkG2AJy3meapNCUkUfxKzbE7PBcspr4BFo
GIxJ3loATnw1DE8rl+t5whp+nrxp+IK2QP6F4n7PDjCUyc7VWPDnuUOJg/tdYc4gBw8JpAv97EhJ
2B1y1fPT2ofmjYl9ZdS3JB5WOJAxMe5XNJ8OUEqu4g64h30R139IPEDAhcEE0rp0a1zq5lwN/htH
+z+3z+8G/WWl/l/WWcIrdoAOhU2VhyMYSCewVkGJdeJS+qIHIgSyfGFCyha0O8itXgCo9JrE87I5
AS4kOPZVgKpgOJTegdbSL2M3Z/1HVvskzfJRnYt8JIcKePKzgO7MF9dK8d5nJeRYVBR1h8xfMDH+
S1RjWOB/mlxWnEIadu86ivayhjfkHWiiNs3a9q3+xWtztbnjs15VZdtjOLn+0U1RStw+5T7Ypf57
MAXE6ZxpeouwJCCP7TgAmDtEYl9vc0suUsM4DlGO94Zq33s+fakk2xeabMlFEQTjkB9MZZrx/DD6
7itsG/fR29iWWmQrqHhnoVel7dx9iIoMgqbZGyfGKxO55RVVwqN1JmmRNuVUxYPsyjNkE+2+xHJL
LdJ0FqapmzpdvZa9m4WdgVzfKXfHttwiJkkYZUWkUl6K91DxBdSk3hfDbqlFGZmZrsGCSnU0/J15
3dPqB/uW4JZa1IzQ3feA5Uwx9A/CQ0VT6HmfFwHEav+9e3SpbAABSZXmL9jKRaM91uTlvgLEViu6
ABpZeHryrkHpfasAOQZ6q9t5QG+JRfmgPSDpB+/KFvWZ5jYNarevULBFbqm6gJmvRSo/dH35bjbq
rtWMP/w5HHltA21ihd5bal7IsUgnr39PDHC7Zd/sa6XSLXYLTl9hIIImTw0t5oNrDLSq8nVXukO3
MC1m8iCHcCy6nb7KjmKol0Rrs6tWQLcoLcMgBeyhGpvq2puBTM0kkN31hz1jTrc4rXVo5DpjF11R
tRruQrmuB93RfS1mqF79ew8tVk61K3x5HVagwTUaMxeio33wNajo/vvpulgg8VGt8trBHjexZchi
V4zergOXbplExnZ+NYGZe+39qEp6fz3MbbEP10e3OskLcPi+4Iu8etbKuAzEt7AZ9vlY0WhTEus7
WKPCfkFelceK95nHvnl8aHeuxs0mlYNft5Is4sqL8kNm2XSsw3V84wp9WRf/Df/oFi8lgUeF5kfG
r56wwUnAFvoKBFV7gLHVuG9at7CptvG9ai4Ivw6z8w9+S5eP0dxFn/68nf5JKn/3CzbtWLauLSNF
La6d6Kn4FvhCfJjqiMTFqny4QYHdwBnYemObVQ+B6aCL2fvLh6UAl2mAwv+PAUpc9SkIQavO6pqd
wrKf/hI0I/cBglUQQTLwRXRUnUe+RomDNMddBHN44DdgCvDnH/H7c5hu8TphMfrB2FbhNWS6ed8Q
y971lst9/Vm6BYBBGAXQmYyH12DKvrSe/eAjRN335pvzxvewZF5imatXw3trle2c5Dx6K1J/bXVu
zhsjIzAE2xmcNYCOeKxbviaUd/5fvhrNrsCAbqWfBxpC0nR2IYoV+fJVOrkcRV28VZZ7WYW/W52b
SrwlEJU2EPS8KvTE/6rafL4rcXjmSeuinoHv0EFHAjaKbxGD+Svftzks0Px0o13b8DpFMjoAL7+c
C+ZVB9jDqJNBmPL9jXl/eeBvftgWoEX8tRrKCf0hCvLR+MEGEuzEpjMgd9QdCAqQf4kXFtoPuQaH
/ACpbgq6o28dZrDvIBMVveBuaRcGd7wqg88qnPOPVbVEj4B+9TYO2pFhP2oC5MY6of0H65+XoPZR
kroAOcDLz2XdTx/rcBF3znQw+SO54SnKBk9rGeRHW9jqrMd86epYstE/R/CaPrfMM081s97N1nyY
4lCwErQC1X/OKfhqbwzOK2PzAsT8v5zawNwBVI5svRpnQGH1zXwU6i0X6ldmeAsiY93YoXZR8WuJ
XX0OVF+eQh3Yo6665q9eLeUbgec/chi/m+GXF/i/X1EsfdmaqMHVAGEIctfoqYXSGvAS8QTtxyMw
TuYzb/v2O5nb8FjR4qdPqyD29VLHCo2Qc18sclcnjv4HzRO0fpUDN3zt7fqj9zsRZxpDu2u6toAe
r7ULSAwdvQaOf5t1XPfDG+f6K3O1xfMwL69KXiN4J56BMbZRXULIBI/gNZBJR6J9XgqUb05hONRw
5WctxVRVLPGy4WzAWN1VfaL/Qf/Bew6aD8K/Yi+JX42Q2amDTMjffx78lz3xu1W2OeKdW/xcOT+4
hnUUfRJkmK+s5PoWlMIe+zy3p6mRy1UEcjr/+RtfuWy3iMCOjAsHMTC4lii/XgMs1QPErLOHfU/f
HPhggC3FOujg2kZBd1XG+HGn/Ghf8rAFAy6WM7KEjF3NOhsTdxYRST5J+vTnlwfN5ZUrV2wuEBS8
m1qhZHy1hBd5APoTiPldYgnzQL+OCpmTv9Zp5P0PhTo2uGzlWs4ryNDl5BEdK0lDWLWvFe6DJoam
sCn5Q47m4lgnXe+7sYAhDZdo260WNLMqgX1fHXwa/tmC8TCjjford22UzzHaCG59X/IqzL/nzVqh
NDXnUOzy4wacLvOeqqk+grJJzznka7xjTywui3l06qInLuSxYJCWGLK2O6ONf6PVUkID2sBJY2xM
SJJAF+FhCkWNHBIkvSQa9FRe4AQf3uqSuUdfkSw4kFUVE+hsVXGCUsWvXHnrj2wEFq12QwmqXTR8
zsScvbewI/2qo9ndt4Uhp0JAjmZaM13+Wvqls3E98zq772DM+0VLSbxzYcO6vheux/KIe0R/Gotc
lV5cMb+9j1TVHXpNylhDLSPJl2qUh86FGrkua2/KVwUsMNomrnj9oanW4BbhN0CpoxjmpO797MC9
qkyq0ulH0YFzBxWAVpwaTOcDUYSP7yOQ7W0CCnt4D3Ge7N6Do/Wldtr3YgcRlqRaIcVwWauZNh8A
x4Y5TqGjL17ZtbEUOacwr6NPQa7I9yygv/hS2WtTqu4TfJ1yG4OORFQC/Fh1AII7POim7w9dMLhT
KfMeEBDlZSgmC9DsurFvPoHTRyG+VheQl++KiLrLVKyU3EfeDBA+HMra6VJ22cyeWtu04uhZg8+7
JZxf6tCBedE+4BoMWe7fYQIs3tKUANffNVMuPXiaofozxApE+fJTlsuJpqKvogWUzay15ZB4ppbQ
FJD4aMyUHZO1y8mD0jkJYHtv6CnLrYaJgZsC5x2GfrL53VDVqrg3s+tOCuv9Vi+Qnnas6aEtLBpx
ML1icYikxBxMraGCICpZk1PYt4KcTEQZP5XhHHWQY9AragIxiui2AQ/ac/Jd2GZt8cm0LSf3Vvrr
wOMMkSNJTGGqtsKbtLV3RvEQzPtEGbSSrjwwrj5ReL92J+rBauAZLHK1PniZgSCfAmy/+ULHpZog
yWoZndqYomMxwv5uHM2NUlKz24zGlPqu1txXN1/1+FONMQkfIR9IvHjBZISnQoWGn1jfRfIymayT
iSEZAGZxQyBfmIz9Esl38LqKcpDQcwZe8hoycy8tPnBYtfVyE09zMGSPEN8S7ASwN59ORQtm88+K
mx69PCRnY37fMCzEs3TjyK/WNiXkdaEYgXpDkzt0uQco+48PEAHIj2XnZWjqtnk7iriPpol/rhlj
zdd2gWb3owx0iIgFHFp3Hzi/YZfVBCDewurbGx8hC69aKOnMXn4HPjqWrF+UZXE38KIZfrKoK9k7
Scpq+Ao9i1leGAuV95TroEEAaaFlIIHIKFmQgLbdZJ/wKeMeGogHgIs7MU+a90qQ3p3LYeHuGOie
mI+1CGb3TvhY16lw2hPHlvKl+czRXwuRadYF1jH0yaJzU7mofbeyfCguUVnq9gtZJdXvlqDpcz8Z
u5Y46DRA1o3fiXIYzI8uA5PfJJDKoC+U+9Be6lkvedoAculfeBEhcgeOe67XuznS45SDgRrC/3Ig
c/ByujpYVX6G07odTo1rG3ajOI2W8GiVzcprpUCp+jwGnFdPmpuI09iYCQa4Mah0gO1AuIPruxm/
qXzswD2yxyzKIPBQmiysv8IQuhfXAvreJ9UVYX2uJ/w91F9Wmx35YmT7mFFog9Zx6VfUXhDGwLv+
EJqR1BcQDtVsTmskoWWz1JiY9x4P0A2EtL/T/IyLCLwBP1JquINMwmR+Csir8wu1oEbGatRVHvcd
77pD01e1/2PtRs+dNczX5jLuOjEuMS9C75D3vvJ0QrRt3bOlYiYPpjaVgWdMAPlbD3kMaXOUqTjK
SH0dlWSNV9/igopCrbK/c7Ctvb9E6/sONGVezOdA10Le/Mof5ffSwqXwaagoPEZL2BFkX5jfTfSd
FkE7/BWUWKS/RuqN4q5A+7YlMGejfvB3QOjQXRj860jam3E2cQjEf/tTjOO4FDEboWz+WVAFwRGr
AJt+Vw2Ez7epZUiO4nrMZfXsBpdFEKKo++LrjI0wFnEgpj57kovKIFORTZSfqFjm/KZAIPCSli1+
WBw0DVgKFcvJO1eda8N0QhdbPaN2ROsW7CU4SPWHDI65qLMQXCbkOySICXQK6l5X1eFlc/RLAoa9
v0yQqqEdEUfK/bC6KQq/FZWsec7HH6tu++q5NGE5PA+r8gTSM3gBPkkLmZKPzAIl8tPVii0Wehge
d+GJK4Z60nEYGl/eqgKn7COFy3BfXDQhhZwScEmH9uKKdmb5pYkytfzUgKvjelCQ7s2OIH5GWsHJ
kDfhHPNVq5AfRAHWcRAPtPHGG5WtymITZYHAbZtlfdPFvBu60D8CF8BlfyiYCW1wFm4c3NdekWkO
zxOkqNQYLwGQct+gM9IOS8LdiGa5XjIQwWK5mHzkMTc+bPRAA1IQWKml7atzBl5A7h8Uj6RnrijP
O/ZIRw1nvYTNEW+fS21c08SsggLQ1UJHyC5JoPxar3EtJ1GBuzQ2Kz/IcTAC9Hn0JMm5NB5ELGNP
M6jaQA1mqS7CM/74KyQNF2dI7XjNuUDpSR7ClXdT0gtdImCaVV+ECgx2keU1mjJw5z7yclyXc83/
R9GZLceJBFH0i4hgX15ZepHc2kdeXgjZlou9KCgo4Ovn6G1iJsaWuqEq8+bNc03r/rTKapiLbYn9
f80RDc5n1K9eC7oBUp52fTfrNAFXrrUFdhq2TuOfia8Q8X0iXHuDoBvEoGiCw4HvAzlq5742fXsq
J2u1/xu8VhxFmFjlF4PH3Vqyc2drdf7EvWtffN/xm3NMQEBTiKGeA9gdK3jkW13ZjnuT277NXYZK
5+ImUqZ8Er0Y2Brv11WxAOHtV2uZBvKxljDrxsVO7tZaaOgsYz/9YoyLcY1f2Zvj69QmRiVpNWxJ
VMRejPMpPeBRDVdDZcmpUTf1kiYbWxUxHqxBpVRVxh/Oe6td98U5wk0ACIhstd31oaybZ8uZA+fe
h+xKucarS64yq4BDUv0WlqemS1xHd6AO5BU0g91zwibypxkTa7lX89HWeRPtbnwNnHmK+W/zYM2k
MUJF/93uJfsXx1pZ1R2Vdej90BM3F5CktndfyvGw2yvZlDyAIf4EBhu6CXR/JgRG8ZPEMDKWC9/f
1j4f8HPu/Lmv/zJ04jJsyuMi4Fr/i6K5WubUrMM6PnlhOSzforHam0ePtSSQUhvi7uvuYcO94FPs
6yqF3hJ491Hn7ftJlsAJPxOYV8GpE9qOf/pLtJjXYMHo/VqKfir/NPys1DttBFPjV6kjsmowDB9V
+Hj0SSNZnew6bfOb2eGQVmAzWK6Y/Z33d5rXzclQbGEGSduPxDVG3z41m8TxlJbrWJ/ddo1mzoqt
bR7LcBEWFWVngxfH1lAnPZaRYo1jEiCC0Aaundl1P1mvi1T1aAoGE2UwXr7Sic9JFHNV66iMkyqb
CInzKM6OIPpbDmx2qiwkvtR+CFcT1NcvoJFMXbNu8Cj85jVqekG6RRvRx51kI/06To29EL/px9Mw
VmnbxL16cMu2k066hKQucD9bkzvzxVmiOW797FSLzJpx31P+vYW5qguq5XnmguD4w0hbTlsqZjBR
3j5t498AFtgzCaJ0770dzfcDZbo+ONHc6fgCiljijafW8dOoGUNzJelNTimrZLv94GgVM4wtkyAR
30IozD4lw0qAYMEf3F1aQAYb4JkxMdtNJc6onowkSTjvlq6znykUaptVynbX4mT1dhi9gGeh+B2m
cImfp2SszBk+SvnNjzVrw0kgzpRcomX1xG6T/owF23MeD8rAvhhdnitZTOwYzwryigxGRUX9pe9V
zmqRHt6o9d9sGh39NqAW3k3oxp80pxxmp2TvZQhKp9yWfPSn4O8OGzOrGSWe9Gy7e5lNcQmKKOPw
8da9aAwLPOrsLygZ6gpdjChDGnwgULm/kN39VpG1bnTORFYrAVnliL365C+TuzwFyWzcJ1IErJ+1
gpuELk5nEGfePtRt/E5nHOv7BTTTIEF/EgoQZY01hcSy9kirfpDDONNDSg6svlWbZ3/MHlHHI4lH
VuOWubsCd4nSvmET4IdyfMvklrcNS0vWiynXm9pMAylPl1SyC+Muu3MLQDbl+Ivc+dgULW9E8BLz
Syx3iYpM0GWMfHTeQGZZUng/krxXK/xiBg+6clza3bFbPyQbGs55j79QiFm0WZP1ziHbhxO9q9Xu
xVE5TWLSZHI3P0gV6dfLOWyroLrt2+R5FwP+fflc40EMVapFz7hlPphMBK9gFdvpWz/4RPlcgXBz
k5a2RzoukV0Qwjram+4LF+/bo1PEZgnywROem0+tvf2sTWydI9f1H4dlt6zcIqD2jPbufSq2qseT
blRz41kJ7wlzSxhC6d3K9Dp6197b17dmC+XrEgUtYKEJTSMfEDJ16jAt2lPbcyKZvIW+vzGGGMZP
r5k9g7SO5URN25FuIgmf45UWi5JkhBJEW3iuOWmxoh0+K3ymfZq9iRN+Kw/vrpb9dM/bNZO8CcMQ
oTs5ri1ojSzUh6b6NuslsDUFyjaBJ9vjPsNFPZ2bcRW5ExzzZfaCrxjh0tw1NQdU7KwyG3sZ3BwH
wcapxoaCDWNcDNftnjw7u4jmyUlV17RZ7HomAzYtz+vqjz/ndebQkp2bN2XkFGHJsWv1Q5R6sfk+
6aSlLfMpnDQt99HNdlE1nBmLGx1Zq0mgiiUM+d1D8CAF5t2rVs0jh/Gdg6IsLPQTl8/AKk+6tSc6
Jqmvu7X9gYoeUjUKGrY+4uepZbtlzjaXfP7Cdeasb7W6J1bIpQvwl39Khc5/Y8fx4dfW+rOTs8mU
P4VP4TQ2/zVeU16hXJd3Taxg6yUQ2zxLhVnfOF9gLQ96ixP2osA1TtlUJcq6sGm85LtqKOnCcNC/
lr0hbrnEPt3gE3lja4xpU+iJU0xaxKUdKQIx3m2HnwVWX97TVVPb4T064/EK790okWMacDSchVxD
gg08T1fFVvpxfz8swfbbVxMFMM2t/0Qgak37H23jJ+ZJ+zL71v7is/h5liJaW1YeyK7qYQjlolF2
0Xlq/DOsJr5fwnB+FeSV8eS7NcOUECW54mE4qUBseKBG/xI0oi+OxONBn/rh0tXTTphzos2pJxYa
epYqq0/R9fVjk3jihzRtmLqr1feFB+/pvRvKbT+1fTOHsDBle6p7HS6543fDayDE+Dz6XfBROmP9
D5CuBdMzpDBL4vi/Q1qWd2MNt3pcp6G8Qu1KrHSDPJGzmE4NsLeLPNcMgT4056C6hAcyV95Uojw3
QQlq2h87u8qIBN4vZeKIqpC2ZZk0stvGyUcpQXHF87pPSEfNMuQt11dBfPDu/Jz7jXs5rbvdvnf8
6NDvbqBNdJ8Eq1UXHX3MXNCtE/c0H0n14B2RuHlO2C5Q86MOEanf/9j23v8M8RvcQivqDr47WkTa
yhU9gXvSKnQUT6/6cKWXTos3d//KumnHzKaGIufb3UIspZoMF+Jv5yfhUGLqo1nu9sUFtTo4sRIP
TMPG9uGg/BVFq33x6LvJkOSHIDyBn576Iou56j/CcIuu+PzkCdLj9K/U9nSgeZryDm9vFaUE3yVB
xtPRiKyzwcZmLqbzRy8yvEZm/SLIRk4ABKCbLAPdbguiKZ2g68XZMkdjzx5n46lrF3H7FX3vqXv2
p8aaCrIPnitXzeHNmnT8F2TlUGVhO1HQOqRH/LRHP+IpZgJgFxhiKFMivlVZdPGuf1Hjzd/h7Zaf
Uk1ekDqxBW4yND6lcbUMK27wjS4z29dkXXhZZvtHLc3ywKHgfEyqMp8TY7knE7M8mNo2TMzCMoe+
GZOEd6YS1Z+w08FvSrbo+2D3UO24RFbrfjeV/EfAX2il7ujvTS6okx7WY66OzN+85N4Rs8thrmf3
pdVUb6nN81+lx9qJe5cKpMpUM7jzqdzmYziJ2V/lNXRkf6ecLwkk4i9LUv6IQVN39oganaq6zGMT
IvoOINXvchEsGI1dlgyCbDHAnx90YLeiZ1+ZhbSneYs42WKf8+/pOJbS+rFR1d0F06aLFghbmB/2
huIK+6hNCgwe+tUdG/KpbH+Lg7T0SpE8H8xaLyge9GYcinaJMBR38pvStq2yaNgtnLmK86KSKnS/
V2JMHg93k2/SqenAj0iXU+ZHFdqHhvd3LFwH26xeO9Le/2jdLJfNjme/sPZ+ePHIf/llyT46yynW
9f2iPMo/Ysbb+bKbun4nudtbc5t+9tkoIT6bo+3aCxa7Y8mmDWnvFPasbbIQ0fU/O+zQjyxfDQ9j
xNZOUQaymgo0i3DNBnoQcSdQ5ZcL/0dy52IxGs5e5IRN7oeT5HuCjCayLQY4WIQhHuOssqOKngPP
h8715HvPidn5QvmzK5VG1XA82j3e5VRyWZSnDaYf5DhfxsO9gVL5UQfzPKVq75hnhMqPz7Y/aQSU
facI92eDC3mtWxMhzooqr4jCOIra24S8q4+ON7XFquFe+dxEWASkn13rhAmfGbRjX10+ug9rMUjv
HYXJLfHYTDiV9jjv16htpX8dEj/6MS1ybZ+isCb7ZmmPgReCmy1UV8SDqi1Ac67r5bC2Ncz8pY/v
y2rb2SxREdfQEK6r80jttWu6hFVXWbxudk0L16wmJ+jy6/51wUgmF6FF+92v7Wp8TrRTWc/R7rh7
RoEut7NFMKY+tcArn5Z1aD5afdBIB/WOnAnSpWW24vjOn66KqEC8OJhF4egRE7Y9Td5y820/0PS0
q73ltaqjx7Gx1t+TXmoIXa1MCjo8hBVWe8Yu5QvrPoK18fLoWBqXR31fq3wIqQwmGjN5ihNTnSfW
LaO0rQPrD3zP6IYiEYdneMz79YsY3vzxxsl+WSfR0wtNJShMm5z0p6jy7CsS5FPVGe/RgQJ+BxmO
T1bukt3KyS1BfNZDX3lnWI5YVgfgvj/HpNubL8Tfeu1D3fiZW2/ifLimomU++qCw1TxR4EsDcbPx
6dLNNqg82AJhn63IGb+rcXaTnKp3knjX5TKeyS1suZJhRcp0bN24kAiVSdpLp4leVr8ab+S6Njqd
qSx7IhN7/VINAB84XUx/lk53/K28halwVyXGfxhdqIsF0MQBY5Di6EfljakugnqYv5hBFsWa7SqA
I6kOar/Kt/CQa0GsT9Jc2tCOoan6+E5O4Jh6kw92WCeZESzyh7MJmXns4S4Bl6LYpI5tOFE9f0ge
gtjaMsuP6z+b17YrPUZtr6fGnmQEjnuj5rF3cQrdIWlIZvQ8lOYRCF8qKtnr6zGMu8oHuVdx2nWr
7PNeYWErviJUrnDZw0d06yBvOg8ibunznAB5fg+1i14V0+amoC/K/l1Yeg7Sdks6Sj0wtVO2Sb9p
84Bx49evggkkNckiVGocT5+9YThsKMFeV2xB0P8sl0qfXLPQ9Fdzz5xlTaaXZZL7L2ClAZv1PQOE
zIAAPYqlrjkJ3Jhgp6dKbPCLj6OFwVWO7YvVwnd+UHG37TTrBtCHZDSxF0FpbaijWJTHsyTfwst4
8cD2zmNZWymjtP1FCrUvOZo+94C7oP+lmsR0fbVFF32IpGqHf4c3mialvUQtsEfAu91AQMF9OXmN
mw2DP+DHhbF7PKlQlO15ktaqqJB18g2vvn4qF+BpRTjUcZzXmNZ0vkVJe2RTqcTLxmbHmu0wFt6Y
rE2foxPtcUEt1VyCzmnO3PPcTEL1dz26GEtOdI1fk4W1eqwNzxSwur0L7itlqvlur8nIZKCGznBZ
RNJvRdfs3YdC7C6EJBzP+OH60+ud/e9OY3OHAM9T5+3bG/QmdgU7lnXiU1sq/3GhtbnyatUm3z1f
ddkwsbBEd9NFHugiz5rfHAm6+xz2shuvXxb5PWM4YB4GH1/APQOsIfm1b4fDNG6i+ubAmPrPcZz2
P9NRueJk7NV5awTTMVEr54pzIbxfjFP+peEJ5vN2AKVG5ND7pw4nngIRbw72GW+MGAyHir63BJEf
hAh/K7sib7Exj6C+wZkGfrteKBBk2rh7RU2h9N9EbvN6A3M/uMUQiuO+9UP3CjV4+qZNH5wrOyb1
AVmuCtB8IxoishS2q+SLRiCVDi1oNHPBUc3Vc9pv/oTsgFyadTWLEmfs9e5fSO7SSleL4QzY4fXf
yv5PzVEPQViKunzfO7VFPF5zJHNhTSsHj1H6Flhb/a/3E4rgoLGjAMK0z5QlErW5jXpQ8iJ13L5u
VsWQk6Wx/zauNi7j+agRMDefQbCKh7uyT5yX3fIgJFaWXayjKwvHZlbWcMZw0HlUhl5cRYXn2uLu
GJfhZDz+esfW1WmuJZpf0nLJ9Ax50iGKqxOyMKHMJlprlS8oay9tm9CJgdlk9D7Z5W2sJSXv2m76
Y21alZdTEHCrWF2fjrF7nMoawh8zKwGUfU3ci4mG9T3aFujPmkgimNpldDN9NF68nbx1Zjt1+EgH
xryboVk2dMGECFAK7+fc1SugYiGecQ7EuQ4jk29jYL4v1rxD6J3KFxVZ3WMfkPWAzCkvVVRa77zt
2EXtGE87aphzXsrJLsyMgMBdKM5wqFveoLqkLYlF5GZ9X/Ne9sdACbez7xGa6sNxFOuXQSxp3erl
Yerxe8YldW/mMNq6uDMagD2J+rZ4g5siiW60nBpY4jb5EG67rc79xPfyvVcvK66Q3PVYpQq2KLj0
EpC+Twohp8i+f6PZ2E8bbwTQeau+YEkCbN/J+KSt/jhDHem+6S5ICuKL/gyssmX8ryxljVNJ1pVs
HZPust5zmWzJU9sE9ruppZszmLQfEXW7ByDuzh8edi8//EoCrF7LMt+kzZRDuCKVXmWn5XCURdmu
zYcn0Ay93hakCzpVHoE15xS3rA/sZiWCZv1BTnR/Dk0Zn9YYPxbPhf83YvVwqYrDQx7MG9JJnquo
1icUacai5bblHkB28gj2yErrcv0Nag9pplmOq5L+XwruTyVM+MKaLskUYAUetoaZlUGnf7OFHZ0Z
+7p5bW3JNU4m62E26iMc5Vi0qmK6Isrk5M+M9mhBGm7LJvLfUBbmM6JVe2cTznTCdKi4yPfm0/W1
vKBDhs/dpN/mqKvfOzv0u2yhBmBDaS7Bs7XtPeTU+MXp6ig/JvQIoOoJzOBqSog5kFDRdx3ZeTk4
f9grm/k81yA/kqnHv1LtYVQMbO1OGU6WIU1MsBrYwtVWcdmzugCxH1uT2rR4IrDsp9tAEfuAde1t
kEIjewj9QkTSypbqIH/sbPTCRdiGFvOYJ7U3tvjWL7PrWac9ZLUKVUprAZea5jFYv69Hsg0XyjYA
xkipjWRYtU8+ePN59f8ELWzoR7vaIlVIiNnTv3r3Dt1Cj2+DMa/mSrm3Izli/RHXypZ3fNysqwcu
TgLG3NNYPbrkDXjfjqlvc1+svft995xD3bnkuTNu9DTRDS8JK2Vg5ZvV4ZYkjMAx/yXLVKnP2DKh
2tOBhKwJOy//gWoD4KVJCVdYqmzxG4GmuzvJr0V31NA+yPwHxp+tU0zrV0AA24hN4UZav1VmqfvU
QD+3inJVDfhv40aUlr7GOs6NqHv+3GCUbvWxq9Zn5lWSHNs9kBig3mkoR2qkjuOmz+ru2N/tje3i
56SOTXUCbOXYWdKp8Yao4mJnaMt2/Lfi3hvexibYhxfHbbYpS2ou/i1na30ifJyXtfkmZ5JEssSB
sEnfyRjLT7mWBxj6Wh980uJArU3bHcE664wzMWrwSPMb7pLE8wnNhUctfmhL7vEj1ZZdv+8mOMb0
WAh2eq8HxcPkuoyenMLbjfuTwWvsPLWILOJfBf7v3xLhxAYxh1G9ztfAjulmJQrDlUA4x8tQmg7r
idJHi2KOK+stMTwl8G/9tlI2xoQ6auHGqyBQqbCWejjFWtfoxjpYITtncRUv26uuGM7k9YzriRxw
EsR2vLRSbz1jX7u0l3+OGXHwFczzJEHnW1eJJZ3DEusD976eiqR0rOVHSzaG+UyQlGIXcN60TSSi
LLBct0xxraMpcz3VDP/mbRTfvcZiIg4fxIutaz9Wc9znzYjd7K5zsRy1DOMTXd6SPeiBoE9m2q/z
ZM29zKO5j7uHeZu25BxVTTyqq4kcQVkk4vD45a9LLzJje2zLimFh0pT3PRTc/yqkLe95W+x9VPk2
R0tYAssg9wZuqnMED1ZNncvQ2sWhYft8QmsalBgGxtSyxPZtdrzI6+/pSel208EFlvY32IMgmE/e
GtYH9p9KIlncs9gr5HTa6hUNbLFF2N0U87DuDwOs4fg+c2AF/xpH2wwmw7oztX2xWQP1e2qFCK8c
s62W3z3Xbl/HTnE44TDQO1WacBqB/cFCbTj3fJmiu3Ke0MBdhkG6xw9brNGYe7OO6/aFYcFu5ENs
u1Fv59BH1PE7dES4fXTRUrVMuPew+72hCCxkcHieqE5jXG9qzGY3ONRNHAyw4U2HbBVvyAMEp3zt
zr+Mh0dpit9Jq4x5qKAzAidpsxTasJ+QQk50/6H3t1HB29fFax7rfbrhSu+GmxPQmskTd2kUd2m5
BPQnu8c5wSfdd+NvXubGv9narVWqjGd8kmF0xdvfKq/KVmeO4Y/o5J+o7Ppjpf7ZNHOuKojnrPWw
FwiyaMTRvZThzHV92P30xGESNleGW33w2sb1Uj4au1v1zRpxp94BqtAnp5ynPsezHhQNjxu1yari
v1XStEm6eY3iFRWUFZSMSlvvPWe2LPj9u6WosUZ37M/HXuGE9rE8lD6CzkcgjnD8hePL/au87YiR
FhigImubmKgYhtT0HIw2vHMZThiuHJl0L+SzJFafbiHZ7Pna2e4ETsDvflSYbJbHhPZizxiMRupW
yTquT7vH+1uMCUPg1Fu2Y3QzVWEpfjdSG69IHHubU/qH43GX0hwyXVnwOLKmQX99snC9BCdGzGuf
Nt4e7BQkm7pXrlq2rCy7srrAjKuYSla71aa8PGxzSnd7UcIy/nfbhPb2YQ+x6+T7QkOOOLru75vr
rBPFMdjGn6uTyLM2ONY8EUbXxNPIfgHe0sxtu0CnRDXxKiFkNLzodYSCnWC2Jg3EiY9cSlwAaXBU
EQh9HgD3rWwDVKKxszoI9E33NPuxCh9nql2KlkovG9PCpr9r2zo6riS2Tlfs6+GfINnsqsCwYf9w
w2h9FXyzoAeN2mG29oTJzJE9vUx4BKK/Idr877LkbbmQsWWGHA4CymBkUwpeI6bv/h2mhPXZr/0d
kb8f4jJdAnt9MK3VtKTJVJJqw+uXD38k3eLB3pLxF7O87W9fRn1LJFFZ+alcfJ+pHjkzNAODnZmk
XOOsWZuKdCg/iC7IjPzjQiXMqIkvS6T1YXW3sYvDYhD9eg7iaGtgzRtkCPvrRZZuwjRkH6dfldEH
O1eM07kr1pFwiNh323d3XuVnx6DwLwRkebweRFD+2i3WDp6brlXl/TS1Fozh3VqTU8mEfCowTh5j
ngxzT2FivGp4IJbN8NjWiCgndr4a6yXE38Gy19FOvxnJffmMv+T6Od02uaDob9XIyK4V9lQyiRGN
l5maDBSSsTxSP2InJpSLp9AuHxFw2fVK8bu28z9HE7ZJPhN+bgSKZEnafAj23jlb42S5P2xZSvXO
W0XCEfsPCFxG2W33mCBjTylfXB99zsnY/q4dqRyeoWOpTnA4x/AeDxlXdT2z9xUmrYoykiPcCwal
Zma3EmFBz3J8XkNXIW5OWBXqJ+FKX7wgVIUvSLCt+BvO9BT20qw/JOzGZ1ZMtyFzQs4HVqaWmbPf
WjrrRXB2PfvlJqIsitYgLsKtarGdRsry63vTjV73vfXHgeNSVFZwIVN4iy5JjGR0ikLkkRMOr3rJ
hW2wqPR7zO5OIBQen6hr7P1V8V+3KTW79DmXIn+I97kgfQDchieEct/6DXF3O3duTw5Jy+Lek9Ck
CBQ+riSeq6M3fVbtyY48a9wE40oKGD6Sj9XeVuWvLuia4BuC0FrGWTiWsZ8iIh2q8FQYBbdYUBo/
9q2Zrr2sPZ8h9KQ4l5Ymme90vJu3cT5UlVqBO1dponqmDpIR57nfF0FyFSc9YV7LbFJk07BmwME5
dD/u8+HeYx+121fJrYSpffB3fj0xIlT+CI5F+oVJRp8fYzXrlJuDkJ4srCGghks5vCabid5sQji/
u4onOdOOsS1SUMaKfyaP6tPV3vQrttdInsgfsde0KkcCgTqipYiuoiwL/7icfVaVLgmUkZfYhMFR
rH01q3efzX7r1ME2Kf8OlBnR92MM1mdyvrp7i1LnZR5jhQelnfi+ujLYmTEsS5TaFvluCMfRPvPU
L92gqidfDZ39uDr4UL91pba+jT2OFm7OYX8YLcoq3NlN2z4oXTFTwfnJwlVfdV0RRNZXmlKnj4Bp
uSO8twHf3FU6JNc9Df1UZYYuIR1pptfUBGFymQb8netgqR+e3c1J2gkyfkYH9M5TwKlY5Uej5U86
E4EBQPlUXRIRZ7i1PekpxSANG0a6aRvygmJ/4xAb3AQsjLe5nFFxdfwMd0dm2JZn4kOJO37q5tkW
z/3aTPI1jmTVXKeqU1+1P68KYVoe8tK+esHLFuoa77WLwe9cUf33Oo2IrMT7glb5SkeSyEJN7vrg
u0NwE2Oprgn1AkaLxHK9Fxwtm5/TbM3z+9G52CvJnem7t3os7aGoxYZjx2EGgyJoylk82KQjPLaO
PQRMGNq5PQlT9vFlGNeg/oaJr0EgXpUu/zFSaPRPlZAf9VZ6B1MhCinNN3D0861EkPVPeOB1jPS4
Emo2z1qq84RRvuIiYsZ0SaRezbXD2fvSLG7rnkZ3LLuc0fAunpyjZNRdWZgxH3qGYQBmeofePPWk
a5uXw1p47MdWaM2WBDdfcGPAzS8x1C5GxYa3ik35YA7ToTy0unkg8/uL3x7VwYBF4+VEIz/Os7T6
U4fH56oMR0XasG+xZhSq+mG25uVuikHyDFKK5ySa5Z1e3VClCUlj58nacU9NzFqCIqgm7yaYf2Vy
sXxzr6bS835QUexhFlm+9K7+ERz/mpG36M0cXX3rNlf9mlk5EWkjzSoy2nWz37ROQvwVXB06YxCL
82/cbae5X5gOmaJX1nw1UA75MZWMnoLyC4VrLd7ysBO+/HtKwpEgPG2zn6S9zb5g4Q+mU2KOCLog
0Vp9NnypPHdomSU6TlkdZ9+ZxfoZJwE5R/5qnCFbaj1csSFML0pafkW9uft7kgeSqyvDBmaqp3U5
cCHwJmpatcj+h3Wiz3ot3bbgL1c+4wYVeveeIl/sOvdq6nLWwUSYlS09+B+e6uWXOHaittyJdQQ/
LOVUjE5Pb+93vbueXDGPFITW9hioNT41oiFXc10WkGDa4bDKpbL1WR2z/EuF1RZEOZlvge/0JzYm
l3yjvPsKr3Rzyc7BL5PIhgdybAEhHaPM/Vn3T05Tjv25q/f2kdFIf6mcrX9UVu0VnGUuM8dtX08T
tVDaJEdyCcZmf+JT1ktBSdiNuElCW2d0uLhLvVGcFsG84Hnkspn4Ap3Ef7U3MoL8ZFxyLBXAXDdB
SN7uTwmObtkST6mnw3BfzLPPTERONz84xM9g9Df3v2ZytOOfDVtE7o9pampCBxrTfXNnO3h1qzD+
XuJ8Exk7RuWaxhZDYvKjwNNNfeN+Eu/rHKmdrOZWBdJcOq/FBNMfDGiH6Us2aDuyzqAIEhcFSP+P
J9tQnhiusjvAeLvrs3UATX8VB/6J3nHFeLHLIPEoCVyIVbbwv/GN/c/ZmTW3jWT5/qtM1Dt6kAAS
CdyY7gfuoihSuyy/IGRZxr4m9k9/f6zuO9Nm1ZRvKKIeyiGbhABk5jnnv1EGjE0AsSoVNb7GpnMM
vJgRqVs5RruRqHNOYzS1N3zIF2hbGJtgRDA/oD1E1Jp6TUoUY9SZu1nCNlqHWWqUywa+3IwrE2eF
N+vwKhyMcVHRfu2gj+uHMm3sgJmS20/3yisYNMw485ULcvCM6QhhFl44RZ/x5PY2cPjQ9Oezfi63
wpIeuYReMo3rgiPR/DDN7pzSANMpXTKYgGM42HY2r1r63OnEXBiyGhtLLau1MYt8wG1acFbMCHuI
LjMLx1jVoKPRPeASuUmd4dNYLAD3agrLxPQNfx8kUdBA9snojnwYR/JatR0I6cQBvWMbhJjVFlVA
gzmU/S39vPPmV9pFcuT00bjIDCd8diG37U1l1LcSNy9n7cxNKY6Um12wEiUU+RczTg3GgqbhrdUw
Ui3z0nq7mneCuo0CO1pK2kdgMTHW8wpRV0d0pXLL5nYuhihgmDcK0mUHHQYwOuDWPlCp9B3/Ng6R
ZGRl8YhNqTL2Q0XHt9a+qJ8cpxxXbCjhI/kRlLYY68WU3/FMWGJdAElFC3jabASME9nFTUCAI+54
FF2g8v2aZyzeTBqTddQ5Um44KuEqhNCGwLxSKulFM6QwT4YJhu1NT8HqLjlNR33AjL5ONgISyHQr
uloLQBPibzbnfZjcG2BJ01vIDBYDeYNI6NbhnLju7TCiDV9UbjW6Jz+Xaj5B5IuGK3gR5+QCk1V1
k7BU832vpHZ2U1jF9H7mODhbvwxE9GEhOcAv0IgZdUQArsPCTAPv1S89x731RKkdFrURWSiNSvJq
3cgcu2U3Bqm7bNkUiiXRhMhMFjXct/puajl72frDDBLWErdGcnA1BwhgRBe0sDmXkw3ZlvDWupGQ
aBlmG0/83d4h7JVivTNt75A3ZRnciMbOgvVQjOGz3RXRG/Iwxt1OJAe1aghWZXzrO47XPYPGOsV1
PihAH8aU0Dahs9bwsu1abyqTDnrRI5mymKvCAVilsOMZFmn9ZCHaqTa5VrG5LYiq+wijyt9E7qyr
XWvTLyxClBQbBeszBJ3pumNdtoTpzv3kNffF3KUGpJc4JCgiiKomWvd+kb4bgPj6WEShp9eO409b
VxnDtBjKLDIWyVllQL2ch5spiGPEI4iVl+7oet/hmTn3dVDFh6hUIKDEftHZekMM2WSe22nTUEqQ
WFd3ZvUIbsutN0JlMoXH7jlZhFlvB7uurPLgaBuzeVZ7toUNodyELXbjYFBYvJaDjk9FUahp0U2u
fJTVYNj06KaXHCyJavJm0IATH2Gq0HnNRaQemjONC4AODHnvMNHONxaZxcBRxjjf8CIJKul0mHda
y+A2m6FWPuQ07LcOhy4cAnR1q0DqkShecmrVxgPm/kqxhaeeVbCLxgt4zvOL2UqCBO24gXntTXbP
qL+LnUVqzZIXp6xftV8Xqwbk54Pk8YlSBT+7ndEP0Us06OKR1QxwKQNr14HyvtexnB/GUboHoprn
bxNxoRs8kZKDMpVLogacBtAHCIZxk7xjdFEVy8ySE6JrOR4MiHl62TX1COoXNl9yBA20plWnjjnK
UE4Izk5B0ibKxJQRubLa6tWPXQM4LZufITGOpxn08SozFNpBMgvjdYKV/bUxlvFRZD2d8RwYTL9U
jTUOrZilYJiH3aYWVr+FOtJ+hVdmnIYoBmGHiXmNsLT21wjaiu9Qo8wlihmm9XowHr1oaO7LqRrf
cOUeDwKxyu2oxn3Ki7SlVqofzL7m7DJV020hn4ckOzfNVWlYsKuNlBoT+y9zLWT/zlwCNY6OkgOs
MFRg1kjAY+HLV4jDFS4+o38+GHNIOUHQllczUaQ7ayimG8UuDOEkL1/KEFKtwRN5j/q4/FFk5JGL
sTUeR1hD9/gZDIe0H7srBxLIwbaT5ntKUOMVw77hio+is6Gsjm48N/UPYX9m9OlAZDAJBTLPhro4
66tmxU7mMXgURQgYZk5rMFNQSAjZkvHYCOfGT8AmUdGjggk7t7rHk2nsoYB5Rr2g9czvLAuCoxyM
Ym218fAl73NGrgy3In819U2009HY0hbjWb9sEpq+3iYHtlK5xZFqQjpdjNQrbJdMuJdh5kOPaKum
gwOo6vBGGzVUhCYgrdNMxZtOlXFFQEWwD7xRvY6GYzOU8+QNGEj7bUqMDtKGmTwPQoG6dIN1AGAZ
rox+7q4RwhSrwG+8dYhB477qjHhlJOH4DCyKEatHFnlL5XtWH4qtTfOKF+m4QSD1puDX7ogF73c0
s/abV58DZGdZ3jE0ZPpqa2ptnOuWRqX6DLjFdNjyYmMLNzZFmmD6mxERJoaewfw+C5RmCWLwF7ct
mm8hCpo7oHEEzwNAZWVk/ZaQtpYTktcI9nHTrRhgWXo5FWp+5v2FtFKXHvnoLqQSqzfDH1NaGGuA
AHpWMOujYM0B3naB2VKVmsWNnlIpltJ2xENoyHoEmjfz/RSmFY10Mlo3dGHmvgLw5LDBjhkSM6gN
oQtCwyuI5XM0Ne0yrbswXhAxhkTaG6ggrFmvUquDBMRUZXpoja7yNk46ZS+e6zCFZQS3ph+CK6d6
ndzCCWOqw6DAuJoqP9+VNhggMX0Ih9ijiwWVf7pCc9e9u4Ubf0GfoQE91IDRmJPeVGGU3/t6csu7
3EFFEEVV/kUXA8pmkp4hbUat49HgoItGUZfBKLLa9FilhJ2bEMu2mUySfZcHjL0Dux3BAMdpH1eO
eY1Cu9kaYC/5mto3fRwpCuH/oXJDjGFkIIwEkUmrsl/yMv1aeG6N7rjtOAg7NyEVAJMUgEnXtpZi
gFy9S6YGkm7UWSDQqLZXVBX9ymWmAH2oy7dOMsk3C1LeUaMlWVlewUnLY3U5RQZaoAhsYklVnC55
y8ZnE5JZtwAaQ3/nkgp0RZQ6ZPJa06FHRhFvBtgQ6NrBG9QePaR9Vw5ucxfO87SrRZ72oMtRB6up
Fj/SZM73SNRN+Py5Ae/Qd2jAIGXV/kfNZDVcTGfp31LYMXGrTpfe4IDTqmvA3UQizac13EFRn2A3
wS1KFhQ7RbAYEKXtKAW9mzpqgjXDYOgkDSnOOSEB39C1ASTDBGvXpq7bpwANpnjBysC/G8UEUSOs
4y5LFq49oAFEjNJtVN6Kq7yBqoPks9tMfYjmK6rzcyC12ap9nRGPC6RfFuNe4E1AadaKYtvqUeCO
a1bzrXQp2lO/6vuVcrP5JXCjgFhgfFm3KXY8X8PS1R8UFXI30VJtZpmZa+Qz5aM1e+JxtnvxUZWo
V2TnBZxLM5DfYGfh16jprQh6j+Ucorxo17jBQjNmniPThY1yjwHcgB2sHxtiD+NiYA7ZGl9bHzEe
A2aVPtVD7lzlbWy8MWJwit2EAvoacRkmsWkeXw1m3dzI0CggefplfUiNnneDDKFjNPG7+ZLalhXF
SAqX2ggNkx78BdOv8YfjxnqN4kByTaZ8HHDeJ94+xw5thL37gAdYcGNCXjmGdlVsGbdV6JHqadMy
PnAWRthX0Rr7vfKhL2uatSRjFBMldnmc4qL8VsRGcWv4rrGTqp4fa9hf6D8ZRs3L1u+qBK1LwqTS
df2N1aXZ3TwP9kYMs2T4UPofLvokDAxm80zGTtNdi4sR0aitf2s3XnxIg2l4PlNijiSFl09KOf2X
LKL6QE81f2+Ehize9vQOCxrYbM8IbVraTaf3Bvz/u7PIENmLwUuxrH2zvxl1jpimteb3yLTtewXV
+iqwvfw2sebum93Yg414w01LdnugBpi+TFmxWUsBAWjqNBIIwUboqC7YOGPQH2HyYXKIrVqRLB2d
MMyGHOHCjAq98snr0cyuOWmmU9h2SbHW5Ak+uCbHRIq+9dvYOVCLRh8g+miixUre4kCAM4kJlrjP
7OSHCdNw7TRdNn+QCy82unU67+T1Al5Ra2TdoQnRXexJTjKftWZMtY6kWUMBbCuVXEUhHJOSoXDY
pqtAJ3Bw4gRrvC3Kay9/wGrFF2s9ReUNTGHjyaoYQm/8wqmjTalAsJcpfMdwg5hIfq+igMDtqUYp
s4g8zm/MkKzcfE6F64ptQzabtZwyHgKGGn0/Ny6svwJV9tgZwV5P/ejXy4pjAN+6SYpgWtLwDfUB
lt1EXKDfIKdinJT0Es1P1E30oIikN05n2AnzAGg246ZpW3llqKm2vuYA8qR6B6K/5xBU7eMweGF0
NZfW4NxhrTaPi7Q2WLk0c/a1mn6nl+tgOkH98rJDHhgZbm4U0ok+Sl0n53x0yBgbnDqghI9N7Hgr
o6p7o9zY0q1XkNAtQnQaZVYVfzUsp85cTZEyh1fI+We4kE7XQHJUlR62JpjEHDL89+znAjzJfwSb
TUt2xiydXqqICWx8U7nahtNQ1INYmzlWgtNWzxP9LrBsKm9wS7GGJdOdGm6kDym/vx/blDYodSG/
5IHpVOMykY5uboDRPA+1SS6bEB6Zgn23kGHRzNdV59vF/dzAvDuZrgn5e4nccG5ubY++HZazlP6j
WZhNuxh7pxsPTNumN1n6kEEW6GS6TRmBc/qLJoDORkGtpNsvOmhC5c5xBVHv2gCwz2ctHnxU8zfu
6KHPYEA42kgkSvXEMNJ7mfLZ3QIW1nub5uGuGe27yBqTnSqYnHWNcpa1ks63GvD7a4iCZd/VjrOe
HMVYoIJVBdQ+iVfqPIOzA9eaGOnlrcgFhaSEbSi9BjrK0Lr5WuYp9bOVBB00Ij+7maLKe+SI8LdO
1XJKxSkHseXpbYxU4AvuM+wetaTsWeSSiZLCjGPvWOP4A2qDWCbNmSajg8IC/naz26L3otu5MhSB
DmWxcTP47VonmWSYGmTOClqSdTvNxnTDJDCFonvWGy7iIdGvTaCgCkWVjN5sXSEHL+JxM4/ttApz
t3oeaxP+v9OPLzBkmifXMsByMlmIr35tDzvfHuDjUPh0jzgeajTycTMugVNG3o1yGI7niN0vpY2y
cElD6W/s1Juu47rLnp2sGr6m2BU1y4hVYYOx81UzXgaHWTVQEEWeP7esuJUkJI5Y7bRTd6hUxbsR
E96D2tJ5nAmPv0lNlYQE0I/dSz7B+0asU24lXfbBo2/d6Rqy9GJC4/OlIpfsvh6mBvY/ffPGYTug
q0MgTi5vFD2aRhl+LaJBULXrzlmlgijazLfFQ2Xq3liPHr6VTWggwCns+pTGKZvNhLvBqzMmaG9i
dw4fak/Xe4jh86ovRve7ZZhMDhideUvOD+jatbb3A8DajRaW9cV2svG2UDCUTWRDh8aSloC/3gaQ
VtBn3IUNAlX0kMm6c5sE2xUrvPW5xKNWs/6B9hLFpY0PRjMhaEV26sFjaMPw2q2wjFvYkTF+YdTQ
HFtGXYyBi26F30Xy3CKYeAp74a5wL5w2bhjmCMxh2pqLxpNNs84My81XSEH1Mcb/xj2iRyBfhkEb
Y/l7a2itr8lgyhK2AbShFdL5xtxMRjkvRTqKxzwFDxx4T8aNqeyqfwVBdcXOgpBUbTCXaL8w3vuC
8A7Op43ssF4Qg4dUS6rIW6VF6fZrk9YwOZptJcOb6NyiLIOkrld6Sop52QcVI6AiyqtNYcMw33Zz
M2wxhGYK3eGPeCZJ+P5X1wuNaGP4A6KN0pr6M+7rlPNOmL2G7of7ybHCrnDnFJG3KU2oivvAaJE+
Q7O6x4YHCc9kVxQAvor7ed+Whb3xNU1eHxsN8BgzLhqMtmOL7qirOg/no7zN010znHmUZ/uNTZNn
LpMv30m7Jftat+rBH3aVHvpv8YTeZJQtPCkQOVvwUvuM2mqsNYhl6Mn+NMoavqmdDN9gtGBbZTEP
oqCAbXS21E3qpaA2g2Su0gkhaxA1WJ40iWAKW8B+zKmJjL7BhhWjoHlXVz1sYlqlPdcFD7SfziIL
EwkzU9JqHaggu3KhE++xThqu7Qhd7BjBttTmyHlg0SDwhlUlAfHwgOA4B/4o3yEEDhoNals/9Yw3
v2ccR98iEjzWuWXnp2b265eG9nc9TsO0ZMxcbAtToeZMk8ooVlMWGg+J9KuPKbfyNVR7EMjeaMql
pRjCq9k7x0gwGHJQwgY1cKNRfM/xRXmaAwUaLlu3piyZIT4HEip5GolmHXk9ZK/AMuA7uV80QZyA
sZ444mmYQkdP5FYDkGw4j4JbrabpyS+dArwmSZ4Yx3qPXY6yDOpInOebXnP/IIgArcUwA+4rvNVY
6ai2Pgaal42hHRh8KHXfZ5nOMNS8sloqCJN0hoI5MqRykKmiCZNln/TG3gR4XjWDSQkMF0MQEW4R
tUxQfbPyLDi3W9OGxHUFLIn4xRptI2aOXoJugTY05qpXUNmuetHkO5xgszs7ZnqEt1eypBNAl+JX
UA9HI6S67TCxeutmC/aUD3UkJoN3l7QW3jQzaMiJw3l6IeeiuTdqLBzQG9K8FaJCVubbybjFt9MX
G9qiObxKk0JGvNmNuGEie2aHgNocJOfeM94VbbOpOh21YJ5u/sUcvPlca844Ls5hY5V3EF68g/Tj
NnkOq9bGJ8dOlk1W2rvGdir16pR6ztl3ENIt47isdrOLap02FEeDQRJckc5lN94nkJnVKspNa17Z
s9nonSygRcLKEx5j2shsHVCLTD9mU5fkm/Zs4rNt6xmvPFzsVLh1zaKf6UHcLH8iYaBPljoOmzPR
zU/C92wIYt7kom7AJxVOWMFDP2GdYi6nqYppDOwip4ee/DF3cGZi5Prex0md/2hzBVUGhCzNrqbz
p+9rbzKNHeMLI18hkxiZjHpegzSqxRSmObi+K6yvWAAoxdJThazu/cKMnGjpMIfo95kzDGpLzrCf
E77KHVlGHLPuMmqFOofjDKrZ4eFR3ANP+vdNJfrHdqhGa92oCQYbRe6Y3xht3g3XDCKTu4KUyJe5
d6dsSTD8EG9sNx+CTYb7066snOo6LlJADWZpoJj4uoj9yNJcRmntPcdtg4zLoQt8j0k0D/Z2Scn+
muCy5SI3wssX8us0vU2AITXBQ4N+Q0GBL2Hf0bddy8YP1BYURwbrGv73TZiK+G1E4fdgG5Pz0tJQ
wDqBQ4YyQUaxs+9wKpkWDfYw+IrRPnoPQHJD/ZAE5RKGFTPcnM2o8vzrAMOOtZd0SEY9tE7jGuNC
JDJwttr7EkxkY7WzeZxw+rgBnZfQq6AOtVsUiX64yJhfPsEKSjgG0jCgLomGHxWg85aZh4yXeSe7
qyQQslsMA0Z5ODbE3zuXeScomTe8Ae0kD9g0DCefsX+6qiXTN35Zp1pNVil3gbDTYgFWXj13uPtt
exW513mAH0tGqOaPrgLF2YZiGNimDTDtnM87+q2nrG02t/ooYMuP69GFepb4lk7WUUCLBm6eIAz3
0VEUfm5vPLjkcg/Fi7/LblSaK9xCVQXPBPLHwpuNBNYbA+qt3RZy1dUIIzB5onhladtY6lQ5W5Rf
j4hdWgC3b9GMAG2BPcG4bWplgjrP09WYAumBFYRML2ndF/h292+1qgasKtLWH646f1KbhvZtI5uk
OMEnxMgKmli2LxOyokDIh2OWp/XeDYLoWJRJACGttZ9Uboh0n2Q53ggdGN/Ra2t/ayc+hmCGfBRm
OV05gSOBt4PU36dUJlgxTcNOJaN2b4s68PUNYD+FDD4hibLKVT2NeLP5RqTIL5oRLNVVcIvSbr6Z
NAuz7bxyo7XIsdqD+IOVUb5H9+3Q3xUoNCJcmm5i0FQQ8NYVXzHepzYO4ij/CKKz/i0am6+h02ZL
/+wItSzqTL3SB4g1MNC8wolDn5gmTTDQRGCGS2G0nViHdsJIkyix9DBAxd2WFnaMZi31lxGHCPMq
4TClluyqVVcJuXOGrqmQZ2SttypVauBmlLlr5E8vmUTN7Yr6JbcqcRQ4p+H9Mw/bwp/lYxeb+p2I
9ea2cfFJYm2UD8482w9RhLUex6bJqI5cJxUvaoalW2WlCdeZQWsBqPQaCQE9f8cTZLq29TispaDV
WbCYBLvqZFvM18wAy70Jl5sjbNheLSFhe/u8r0dQDLxFKf28sXn0rTHfUA4xaqjSQX8r8fY6TO7Z
yKkdpgcp8IFe6ooTrVdtv9XpXF3p0fEfZqNwT7jGyAcaeuMApuhcC2Q/DNJ50MXebBnv1gyC0i2W
I8rE4TPNrgtUKGI5FkrFByfLqre6acTOgThGyxmOoEj4eW0RrnLyTw3KbyKVu8Uct8MuCtvg2iuC
YeWx6b1LAgUePbcYGYkU2H/Y4IUrQmXbZZT3nMjDhHw5SfydRfoZ8sEgQzGF2/2rljUSlxq13UJC
vN8CMrD6AlNV09phthPuvDKtH1VjpU8mTgYLVJ/GxjIqNK8as4ZVA6msWvS6j69Kjax+Lkx9j6eo
PHjid0bRYNXo3A12SogNFn1taxbHxLNbGJqSkVkwo7mIkh5TKoJoIGE7QXs9JtBPisr29xneRU8N
U/ZmYQFfn8LKFYexU8MXXZvfp9mOvwhXRPeqjdKT60b1KrTo/cy0y3bQeNwbyAZ6Q8aci6+4F1S7
CkBkC4RG3Yph4XnfAteEKRx+DSJc89YtfTX2rgkqJGioZ9yURQlP49UUk3wZdGdsjNFJbhgv4Cog
umytbHjKYen1uBpiJ/adg1e9uwaqm4k39cRQQ6CHkt1wjIxmeuuMMbzu5jZZ46oiEIqVDDXqHd7G
KVVmHmMv7FxlFn5t08YnTyTBkSQmSOBbkpRWdUg4rCKke4OsNcFO6FGyBQ57+WAtGkPJ4GhGacn8
ICNLqruHkRw7yRLvoByQgLaH7ZDl7Hs5xGis9Vhd0OfyW7qoWWJ6FEQtKlO651kfwYjSjJ3Aois4
cb5iBbAo3QxC8g1cFKJ0NzN+PCHVL+7sG2+GGnpvwMcsP/7aYPh/8V52/Z89xdtwgLGmyOa2Auvo
wz+uMX/43EdfGEljepKrYaqsPTfntdbjvmjMq899tP3zVdOkCZVlhdijJ0Y/udVZ+7kIK8u9sIs2
BFSuNG3knhHHnXZmd6HNoVp/7rovYklCI2BQ2KTWPtTdiV73hXPuF+7w/9uDvLCJngJYhHBYrT29
D84G4YORoo741GVfxtu7gwmxykJTVObBN6edvipe9U9+9oU1P5AcpDBbdYxEcLiyS3EVG58MavlD
pr2NhtkCItpHCFBWdmzZ+DV5zecepryw40dr4iXSxDeEUhFFYLqBKfi5CAx59gL/N6f/vK5wMYll
RWuNt94XO5l+cbfPH/An5u7yYk02ojQjM1HV3oWoZDBxIvCaMrDdxLgtfzKUSF6sTkcxl4TSx5eI
9Idd5SeE86vPvYkXq3NMOy/Roqj2me99TZvyFkLkj8999OXarO02zZmT7DlTTyYtXNl/LhpLXizN
se4a0Nd42pukNnjjrZzSz6UwXIbadzilYisQTvuQANCVI85RRH44fO4Fv8y1V5Uwa+bkI8ves09Q
i+or6Mnd5x6lcxETFGmI+Nrrhr079NdahFuzTO4+9Sidi5XJk5zrBgbovqDWIOvsVav2k3f8YmV6
Nm6ZrdD9PtBpvYaVJteqnqxP3vGL5Rn3AmsImG57MSXBsRlpXcl4iD93ajoX6zLF6aSWNsRufTZV
qDr3IwjkJ6/8YmEmTD2aocFeWUbQZHyjpDfInfQX29b59/+Tbcu5WJuNkVcUk3OLBatqUS8wrg0i
8clHerE8PV9HKRa/OWFJCmVLeGic8u1TL+Jlxr0Rai/tw6bewzlCj5KlalEL3O8+9+kXR6cTjhK/
dmz+2cBxVDHCp2RMhs8dQfbF8iR2drZk2lX7QIizdlNRzKb4jn3u0i9WqCfgXc2qLPdhMXu4yvRH
AKty+bkPv1ijBYZhiaBf3qOcShfY6GwEivB/fvh/vo//J/wob//51ul//Bd/fi8Z8kPRbC/++I/t
R3l8yz/0f53/1X//rZ//zT8ey5z/Lv/KT/+Cz/3X967e2ref/rAuGIxNd91HM91/6C5rf/90rvD8
N/9/f/gfH79/yuNUffz9Nzh6RXv+tDAui9/+9aOr73//Tdgst//898//1w/Pv+Pff3souzb6j+uy
+eDl/+cH/ve/+njT7fkDzL/5FuxIIcCmfc/h84aP339iOX9zcej2HNP0lOefE1Bxq22jv/9me39j
mmm7vkQWLSF08yN9/ip+ZP/NwhLU9NWZxKWQZP32/67up+fzP8/rP4ouvy3jotVczc+BNsrD7UT5
XJ2jbDzwpXmxziV4P5x+I7xNcBK5hcecLXuJGpCm0TgG3VzuSDMBIvdauP7hwITcqNpsR0RXe3A1
3KvAQSyzCNJmuKHQrldO2mbQen0VQUsw2/IXa+P3IN7/2e1+v2AP9oqjTIkHL0Sbn6tAjBdchegu
vI2t2bizQyQXowW0DS4QLt0u/1ITD/CIQxQ0dyOE41CHrvGLGLmfY9LO1yB8ZXHH+I/HZ13cNKQ2
MNDotW6NxHVOwaystxxJ2pUTpwjVaF71CpP86OXf3qx/PbufntV5if78q/OAiG3kNz//z/lN+vcC
OIpHLHgsXd5SueMUg3lk8YoS1zoyPI23WEqqwwxs+xjDL4J90ZcY4vrV7HkL3GDSeJOPhXdntUNw
7ttDKJyq+dVx8cfXyfJNccZcXMeXzmV+JZw7PcEXzm5bcswOgwPbAakASknXAsHbmbUSyO5HSVxa
xATsFzfo/OwvbpDvKWW5DmtNgbj8fIO02SS2Yup1G8XNMTGr6NFJ0wQbASFujKSO966bFXIx1yOS
EUcgdK5tf+VnMXkRUyR+cQL9nqP90+XYpnJMF0RCuZaN09zPlzMnyq9kW8a3aGdZUgj7h/eZPIOj
iQl7jpItlG943Oun0q9JsinhBSwsWU0HwPIivEkLK4+Amqf2CRLyr57UHxeSLRzXxtoP8YenXO/i
bSJihkjBrvVONXb6V+5YzkdvsPSrEOShF5AwoJViWmTPTnuNQMfYl6JMf3GLzifaz3eIr7c8W0jf
c237cvcBvGTXkYE+hUNYvU4+GvVFdb6cuOuqV6fQ8hcrV5yLootvPP++bHcW+ye77s/PpFUiR2Qs
hxObGYsELkKzz4oqXTLyt5aE+rkriWoForiCGoMgZQV1cWMk+HD84mU939+LK7Hxenbw2leWyYby
85UE9QjOXnnjKTKj8NB62gcQxHekD8II91ZpoglMNEKONE8P0NdiXJtiH38DDO4yxP+Lc67MFy8O
T399YX9Ywjbniit9tjU4c6Z1UUDlA1IXdjjzpNwh3oqxb+DQ2NHaSkv3VZQVLER/Eowd53j3198s
/rDB8dWuxKWRb/Ug7ly8kuBG0OxwgTh5ulJPUDqzRQmOS4IYdt3vvVWLo6N7dWsXdrsM4egAyqLz
WxgaKlQa4Sg7FcMA/j6VOwytyLX/6ws8vxwXj4wXx7WF7bom8ScXjwzNnn+mvDon0x7ap661FWhG
133FtbI5kD/Rnph4oI8seOFXEwjEt7/+/t8Pt4sLON8bWwmHy6Bu+PmdMd0sRTSMiy5US+NF46m1
jD0iqxDkYdBPKMBW1SK+gf8SgVgkU/jc4wrCQFv4GA+VQOF/fUF/8g7/dD0XLUjn1XmfDpFzynP3
S0jOh/CTH3/9FX/2UkgqJxarKdjbL18KT6CH9nDFOalmis2lN+NBRXpEeVVg/IWmMwsPCVSJTWGW
1euYVnIXzn19BWCXXkURpMqlcET7vQSjJRih83/x0v7JOyt5VU02U7Z58zLzUSc2WgE3sbFJttsn
2r16OzkZ3iB5Myp7/Yub8SdvoKSKtKgOXY7ZyyPFkO1oFV7vnCbZs1fGle6fYQVG116ux/dc+u0S
R0Bst8+hjjjNTP3aUbo/sMc/eTGGRVAJZb1BYlWsIlcjqBFhAwJvhno7o/DYmVME0vmLq/6TbZ7y
l0mLL9w/OWpm6ctBWlqc6o6gs0XSof5o3BC66DhySaQzkWxUodi7VnjMPSrH+e5XFC9dJ+wf7eAO
e6uEoMkkHjaiNrJH3Gzap19c5Lk4uFhbFMCeQw3s4rN02U7P3iyokrhI4B1YDoOdiGOh0mLjiKzb
hhnC5cn38ansM3GcRTc8FkScYP+ol7KPP6TpgCT94pr+7MY50uFglMrjFp5//m8jT75zdgzETScU
KPIaDLZ9GuEKE2JUqoeEHfh6CsoRzAZ29tn15CvWOpxqRu9tPTOxH4BS7UNStu2THLzh3YmiT922
37sY27FIUTYvjgs5mraFJ4OgHB0gC1VzdiuT4MWHW3EWqY/421fZDtup8tr0zfsKltR7P7velajm
9mSE0S/yx/9Qm9s2aWxckenYnK+XFWjoDrgT+oM4+dUgrwnCql7hvVF+ZRGmuuBizYMdcjN/8aTO
O+/l26M8R0gKPhf55MXR5XfgcY1RWCeEX+E3mPEuLRRpkhwjem1Y83CXzIW8JkZE3dnWTGTO70X6
J64CJoSLdT6LBGeAn98XPx3G0BgTcUo92N//l7lz224bybLtr+QPoAYuASDwSoCkKEqkJIuy5RcM
WbZxv9/x9T1B5+lO0W7p5Fv36IeqSqcJgkDEjr3XmmvVGMCdOsUK1zH0KsIxim9qNfsvBthMN17+
97xrm+2/vgjOpRoH5+Vs62iXIwC7Q8Ft4Bg66rYV7otiLm61WYrXJBLawfaH4qYc08M8pBFCJZMS
GCDRB9dwLlLe/hxcg9A5CbBZC3E5wbMHrWztXKhHlA0ApiBDlc/Z8uIuMHboWVnE/p0mCSiHaQ4P
Iqw09PNV8QPrQTh7ljDLZz9IUOcQU9ieEqNrMJYJHTF6ae7NpTANIgjstWY1pywfSHBMJ4HMYwrS
aGNLTcX53UYIsqRNOXs+bkHSYU374GZrxu8bkOBr8otrPHoGZsW3v3maE8oZdEjCz2sEimyKJBsP
Y4gu9B59q7avc8X0AP2+xJ2dPuTLKRCEtbnvlI6SNzDFNiJW5qbO9U9BBHNxVLD7QQSDn2uaMzlz
Aup9MxiHojW/1EYPbxcFxa5rMvsuUoCIsDH2EPgLgBHnk844Gsaxmgc5eb0zxCzaUdVvccFAbtfH
6QFlROWBpkJ2Gs/oPEnP0A4jcqd0pZDdsnemKDn0er+G36fse3JRrjuci3AFWiKc1SH/UmWBfVci
Nl3DUCl2hVMn9yCnAh58jWcrsbLvrQYQln2v2Cn8VDvLjrRrp5yqxwkAw8+5xbpUzgU45l5HK8u+
s8X7MW+aUSmeEFMq30oEAxivlnOBwX+nFtVr1pGyMLEaRbmxjUO7uiUObdxSjfGoUG/J+37Ii52k
PXBf0UPdZyViVkxF1yKwMeYr91Mdim0ABo2Us7KLXgsrljczwqQ17intEGulvDYIC7uu7SbamhwM
xyyGl2njhppo26/rWa+2ut+P+xm10C6nLrmPOwy9GEOmH0SpJQfkpdE2IyXDg0UDfAQ/926MhPIZ
n8APAHnOAVkGplAF3u+u9qWOVi57yZLOuabaUjZdC1Bbxlp4BMSjYK+YyfhBQjldicK809IYk1s5
34AZcBBAd1qxQwjenjLkgQ9Z3LID0VR6sjV4fqlstNGtoaCGq/MfIuMnvynD2vxUo2MilitDgRdb
wCqHKNiDJUx/7VU483VXaVrWzHbWDkrOGxwCX9hlSM/viNlWt4aZ8MpVpj3eh3RlsbUvZWEU6sUu
Q2q2r7qK23D+0YyKG+nTaPuGKUnccs6yF8w6Pjys5zg6p6AiM0Bz56HZt2VQfDVIJ0rx5ez5TcHV
gkBy2eAs8KoYYKGoNV6q+sHWFFP7WM7Eu4ZwIm8is5HXdZKOWPxJ001IqcjxwmfJ/rwbBRXEpRU8
CAjDSm48pkKUtxqZIzt0n8p1mRZoOgYhDkQb46sRY/9twAB6lzM6IGpD6T3M6+DJcqwtIMUI0OgB
wuh2gYq9ddDakwvq3BKH/tD3cr7JEakhqhaJh2db3fg8yZDY0X25pQi1Z6eXNej7qWq8LitBlrUL
bVwINTzZhs2pYYqUkEyaznf1shafG/r1P20G6Uop/B2ZV5JEjhLjVGURwDxkT5DgdJZS/yUD3fHQ
wsx7GbrwCwghspBykW2hgtp3aYWUqaxzHHNLEwpvZ3tiG9rQDeHCIsT2wwhvhJfxZWZxPlQqa2nT
9F8xN+oYiIGPvwLhScg2IDg3xhMGXiXsawP0oPEymENzouxtT2jreTFQ1aUrJGM8hKoQ8y4D+/oC
HART+UKQ4XvSc+ltudUqcHCzX+WbCc32jQ8FfGv1/nyq0ixfO1MAmzjrfbfp1OYuHsJpM4k2OCpZ
G+zQF5eH3syzvaLRsQS2rExg2uBeBQDG5gmjXhZvglpWKGFU/+CXVshxzGZ5icjWhf40Pfi6U10P
qlU+l2HFQtiOAUtKyXO9ngeLPpphsss0dVw9h5XBdz6fgc53L8WncTd39TUmvezVrxbJUmaG8RZZ
EzkiMkxuFWixr0Lo5hfDbIbvoNSLW5C78gi/XPkE+H26bgbd3NRjY+xUuxl2UFtzqFJts54jDANF
ZyMXXoCGmR+Xbt/WRMfFaXuyYZat8nSmZJ5DTmDnpWzCkXsqSyePSIxI9aswa+g8xrnNCWA0UQ8K
/cnKWNUdAyNmhKxnZJedsQ5gEVJaEzlTCtOiSG4MvBPX2VQV26SakhtGRzzNwcSnTZNWPgmlo0OT
zygsVQntuelapMKj8yVrRfkDwAYtNRvZHOGvvfpcWNFDPujTVhmyDSyWfi8DAjetJBUbCATytjWk
sROgYa4YUYGuxLCuElbpFlHZfpr0IfawlGMB1DJ5m4WIl6wh3vdda97Lpdp0iIfjULb0rjAyaqVL
RWhvdZbbIes/6aqxKoieWVOU4v9z0FeilS5+NRPipTiKI0VslTC2XVj/5hYwBUd3A2ykG9pYyp0g
xYoJB/2Gw23qdYnTbHsgFa5Oxg57mxJ+kbK8sRT0VEMQDHt1CAhqGwr1MaPdukUpOr3m1H2eGNPA
hrxSB84KuWZzUgDfbkXnVLj1fe27UMfmsyhKJaD1oiJu9Al+cZSKQ3cTT9e6Izo3rO1sS9IRuFq/
Sm7rSMFT3Y+rGtMGStzOAKadVLtuDIZt1auKN2TDj8Iax1vNMeQ17GQTJp6pHQgZjj7piUp68tSx
sOnEoUhd9x9SZcSbjOHgmOYw+jThV9Dpl7ee4Cn1ZAEoOY6QGegxT1r/VbOQsZ+bIOdyr8KhdF8Z
SfYDbhhdeewEbt4s2boKlNDCFAhqCRo4aAOXg8kMJqCYKvto00aGnpdiSHSG6QkPuwIunvTQ3NTr
Q8HSvOVYU+xsiD+uoVYSvxs3crfo9aSnG02xc3jBP/uksa8k85vb/rxDVvG8SDarXUkYRU1vUXfK
FTxb3vK5c9jNihmhMVkLx7hf3mX4jl5QFcZD59g2cnSVPpxZrIvYImEtSblTOGdofsUcASFmRdIh
znIgRAAzA9ZnwntVxdrlCcxkHjvIrD36e4Y4fSzvc0SDVMXL+jsElvVVTUeFr5+E8n7UEUysHCCq
zyVlBYcIsPRkesAkAxnGOQ6waU/a/GogFPr1XEfmcw/Ho14OWWTHxbwBluwe4ob/dfZVKmUAfl+C
JuAJdDB6rBxrFtdMD8LrKNasV7Sv7aF2Eiw1spHzjgTfZh81hd5hAm6qb0JUfBxc1WiVgst9xFDS
PQalVMjqjqxNZcxj72LbyHfEObL66oqNLLg3dK5HQ8Av7ghEsJT1hIS3O5Ae3GKYSMaHIY+OzLgr
jFE9H0fULpRTWsfNd7VT+i8tMv2bAgKy9MjfMfcwI2Z7d+7ypBgqv+cNEUkqVW+xUAeae6Mrqx9F
DY1j1YRhuotFyXlctwcM7X3TRq4V6NEOszIpL+Z8U3M5z6w8mDV7y6RVZcjitpplvZJ1qX6Nhjww
XOJghv0466dGluKBLKu7KTZPdmo5J3AUcsc62q+cbuDiNVWh6sp5ywrJ7x0SxEOhAfokVjye9YZE
HD9A3WRlWu2WUNDw+uD7MuzywfSJW6UjO62rhjC/VLHM5xCpOrYoKTYhxEi8pb61n4vwWsQYalU9
ir5Im3AAFekvKEi62JNdGK6uV9ILRmZySTuBLw9JnQWo1tvrWBj16yjLfAnPs+bJazF1fCubuEIp
jFDxAOLeyL12NMR3nj3f2Y1cX3xbhHDBXAuI+5WdkQWXW6V5CCBC/MwdAkA3CplKn6vMEfFnsJTL
DiBH8s200ai/kBLSKDcwdvpgPcZ6Vt3YsBC+hhGOmFJrMDSM2HQRc0uyC0FbBHZwRNRzPQ1Zd63L
YTwMlhaD7Umr29hXf1Sk984eGKv0Ps0lmzf7QPLCimgQuxIRUg5Qk8VsbXWmfkMiouashtKxX5qe
Wt5NrYaMkoTAlCcSZSGSR043HvumcTpAywGIpxU9hCrZClNXn7Qpzfn75NiemB1TAZkEBG4Hu8jX
Kbkn9/2U+G7V+4I5QMoJYMYBZYKg67XDr/ohtSqIzwGk8SNGnO6Y1fwjGjjFrlL8bN31Hf/J4hyr
TyNVNBZq3m8963l19IzwR2x0/LFY1ZZIhQpsjYojmucl1JgnnmuPcuk3xxmnlPMfhZ9l3+Mi4n3v
B0t6jsj6jagx7IfEh98lM49GrWbaEivBXMGiKQUYunqO4np4ZT0nvmE5yrEN84n+cmomypSiQBbO
ZxVvp+oNpBN0bm6k5XMHeqQmyziyfnbRgM3qXEvCQuGr5EEX7w2rMPeW1SVeWhF7j+4mKp5wOupu
APDKWAO+Hl7J4mKtWyD7cuVEdogmeZR89W7p/bWJYNkZS6stealKp11ToyS2Z8sRPG3aHEGwtydC
LsXGcgJeQzAGvy6jKBv+Quxk51VScNeGEFrADC0Ng6qTyOs5m7WNmpTRoZor0Mf0KuiLagrynfOJ
lbxWkImyqjaNM49XUxb+7HppoAkfpx3bwd1Q4RbB0JaDNnf8K1YH+xQM5GGHUccmxVdcUe4GV0ri
p9cAXeObNKS2gp0UfGqKTL/lnQUgD6sD27lotQf4XO2Jn537R7VJuNcYBus2wVm8CvQMDgskMteA
9npdhspmICr8FrJneqhyhf8QpC/nTog2mBzGG1wiOjA0z5k5RUgN9q+jSNwkstLAFwRqCGVC5eY0
fkS2M3aAfG3L5RHLm/6OXrCxHxUj3aRTFDH+YpNKB7M5aaNG69BOrCvYLcvpJO09elDmA7rbq/NP
O8N85gSTqD78VcHZHihX9s2m8P7Uk321hnn7GcoYx9Ue7647xNAZhBZbjxm8oR3nP5Tss0rzIwFt
W6BuOMQhEOmZCuGTErVstqyDPB8BIfLAuzg1ZKCmOG7zBMf47XZBQjvbhprFKreMA37tqHBbYyTk
VE/V0rEIwUzt6JRP1+NQnPCEfrOhVx/jaibfTTZiwtPIkXzo9e4GygvILKYj991U16+O8OUD0RQJ
fvzlhonKUX40Nh1WAhRm3MMB7eF7TnzlIZj8dq1YczitZjwNr2ZEGLkcGzBTMNAYs2bV+E2zu4S+
lkqZOHV+uqlkHLl+0M9XIkyRZRIyucaUmxznOoZGAOzu67lBQ0gLL4s/lfhI58qentic+T1tC+qn
36fGiTbWZ5EuBOKkMpOvSkMYcdMa4eRpIUCvNJD593T0oVsvDZoqcPz7gtoioNzl7Qas4Lh0Q4z7
dkwfk6V/rVqEQXi6Vlk64RU0BKyAbkk1KKxGRkQTrrKUiAfccJTbX8uRBugArh9sd97H1l4NbYRv
HZ/YCX4PdBg11onr8gtCYTUiMkOKsvtITBTwpoJob9WmKWMKYF34EY22tYjnIcaFf6Oi2MGfEG2A
bCxPuq9nX0e/wevDIAYnCKubYE56pZvmp6iO5KFvKPk25y7h+YhEp6OKgKSk2p1vlOapXsrJ8/GO
/YhmYTvwFupMxO+xwBgwbTHe3hRqIu8J6WZFPC/EQPGbU+6He1wUagQNYAS1x5zvWihjvyeCoTyM
uiBsiywVocyo7Yqq/2bWlr82CDS5U9UaLEiqJM+E6dW7aBTrmoTjA80x5SHvGg4vS6evNObhFeRO
jEgPxv7tYJb1c0qq7RK8Q7BnvXhMl86245vtHoskhxqsTEMFdbuFvnzMl30H0wlcm6Uhidyh+Ix9
Z7y2mqDgIEbEcV36wVoplhYRtPXmIWni/JAyMb8nhBMJ7NihhGMOvJX2srCWtvli6Ha6V5eNj8jN
7kDeQLWa1XiAsBKrtEV6jVCiUWxMQ6Vs7H0Wo3Sggh6hYd2pQO+usnYKmUEYDir1iZ4NEpE+t7tv
U6Z2O3MqDpoxa57dtZnL3MKnKtIkvmXFvrdjk4fOrKjKezlBrhLCDA9mNKNYGBsekTYodLcRBEGt
2jYl1opFaoJiBfgSUlHafdcId8G0OcV8mw514mtnzuY+Ofcqzvu8HfTsUfa8NALsiuj4DVFC/A7L
AKhwMLQVjkm0ThsF9yVL+JbuESwQX50ezs8SIiCNOCuSfoyiz6+Nzqm34CY4jOWlvJKVWe6I94p3
TjWsyxx2BNb+8LFPypcp6sIbChqKMlxtN2o7XyWi1781pWhPpLiWz7LEQQ7YWN8Q8hMCm6SHpBE8
95jozvjok4V+cGB3bq3ckAAlWoHZrdc3BcQum0P1jQNB7zvPU/Tco47Zn5/4D3rif+iIo7yR0pQs
M6jaLjriFeBPQhUhElR2mz7SPP9Ogkdx3QBLWPWamV/XhSq3A9iphygkKKgnoUzTFWm4kQPq/JcQ
p0KBsSW82L97/+qWedjFZALNB/wGU1iEnlyOaLqx7qjjE9I/eV5dOKZfkkjBri1EuLj7igS2M9TO
3FNLrJofiO3/ICCQaAcFBY0l0VkY+tthgQ9cAucWAXd9ADpoRURS+XxekelSATMkR/4WL8TTQHwP
p4i2NO4M2AU/EjUtblM7izbv34zf55uIDyV9J9uxNcQ4F4KtqHaGnqRZeSxhkFKElswtCM0x9ypg
sBOUf/0j1c3yBd/eftuRmoVKzXAcVbcvJByU231cZoFynED1Eltdg04cI9X5TuSoeiSKSDwoBQZI
dijnNoy0kcMOF7caqra+tiLLeXr/Dpwfxt8uiKnhMt5F8qlfDA510ERh3s7KcQYvc2+TJEhAIP1d
oh+GTds0P9O+d7aBIYlmnceZUigAFivLn44YikUvpnbuZBHKkytqvB4BL+zVPKTijSJ5ErzwVx3x
UB/M17TfdQiSp0i1NQNzte2Ii1dMJc4Oq61uHNu8S9ZwX9srpQrpGyW56lWD/xXVaXuHn9SfAEpn
/drPc+UGliPO7YKZL+5bg4CLooP8HmnaXa229dUQ2AnWVPYLCXni/v0brf2uVeGSUVuROi3JFr1U
fhUiyUNk+ObRTuwUnmljbPpQJNsIZeKGhrK5bweqaxlM5vM4Yt1MguFZkxqn4uWgQ0+JbMhpCj96
JZcn7u0DwHWxY2iouy2u7uKVRGtaWpyFBdTSJn4qCpuocdKoT42dpF4E4uQ+I7MkrsmqKXzLubYZ
84CKiFvlVutm61ouhZCBFsxDr9+8dkgwvd5P8/UH9+935ZxUOXlaXKMB+/1Si7DI5nBHRfoxOU94
zj0wWOnlc0SZv+LKehqRHOCMOn3JI3iVgz7TaV3mee9fye+LhuRGLe8Kj6BhX4qgqLnYdFQGnueB
rhr283fHBDRLKzc7+MvE6P3P+9OzbknYWciPUPzKC5ETNmKUxn2qH43Cx5zb5K+MY/ItcClxVw/S
3A8EIULhL3uGMBQF73/6H/RPUmWMztOhq44jrItXLSKud05zXrXR19oDXCw62pMlD52T0sRu+2sm
DMmNzETkjiNY2sSsqnszhPJc5JnyOhYl2aBZcI8a6aM784dfQkOawo+w6PYs9WLtAmhTmOrQWMco
RQ93VlBivUKoIgY64IbfnN6/F3/4JVhzbEQdy36BvOPt7jVR+IqMOfHRYe+8Mg1OeL0WFZ+ytGCM
Q1gAc6VOEPRORLdJINDq/Y/XfpcI0TbVUKMtq4hhyIufQqk1IlJKaR4TBdCFVYzBVQ4h7bVaON5a
bHratIgDGfE+9TB4bvVJPsJf7tw4GayrADL6B+6cPz0cXBDDekuzHJ0Unrd3xMB0UAJotI707KxT
HRcBkm8jDjYlgiIaGZb9UwjmCSGZPJzXCB+rEqj3YUiy84hdfa21YfRtABbyCq6IVvT7d+wPPxh3
iVuNXJJF43JzKwmPVgLyyo5kDi49b0xEu6bLOC0vQ9oE6tXruVg+r1fjODOaeP8C/qByJt8Hna+p
IbOlHbpc4T8UVO1YCCcKO/Mo+3h6aEhPoNVP7tM0JfvCbNs9ucIzmJrRv4rGMd0mFm3bD56bP+zx
qNI1VhChC0f+ppFiHlRYBG9Gd47ZXSMWzZnHQTLpoTHdwVicv8gR7mxV0/ZhGCnGjR7dJ1bS7Y0i
DGIvrXHVNXrz0gVa7o1dHn2P0RsdLYV2SgXGYAUgnBbh+7fuD/sSFdmiLeF1QUNz8Wil5sBJsmzj
u2ZZ4+hY2fcd+Oe9KK3lVLKM/Trzw236/NdebIcMRSzazYuOH5Xj2x8MHuUg5kYP70bOl1vL7MqT
BtFrN0CvuG9yjUMiKkcYbyA3K0CvZhK4AHLJSnba4m4KQ9jvEG/shvis9GkS4hOgSxIjzLCBLtXR
yD+LCvKiof830C1hJFO6goV3MyXjYzV2NPCNAoohTozuCnzaflDRqnmdlqkRuLc8e8rPc4Zpke6r
Kg2Fap5m0qtAeDOz7R7C2Smef3VEfs2fSQrRvDmJ9Ku6iKajE+TD6/s/1h9eNIeSyrJNdPSquFyJ
MxxvtRj5sUQ0WDdgqJOrEPnAl1DompulSX8Ii1DbzBMWddE0+Qci2D99PDUBgi4kV7zoy0bxj7cs
cMiBEsMQ3TVKCK0LZNivPg++hfqqJMsC9i9RRht0+a9wmvUPzlRnS+/bh8ZZVJs4pgykuIa8ECFO
ve/05LOld6y9PBXnjmLlUEMAyad/oUlRPp87TSPhOYfaDvOfQJKgkwGj4QwOZs++LxGkbgtfmoPX
pghU8II22qG3Zhp+kz5xmBd+SJNFNEW1g6ZIh7hSo23QQXJdaQUNdddAfzKvWAfqTySvT59n2iik
C3dg1DxpOnS/InPkohSiDw8QbPhoZP289Pnc1ol7btF3ta+Obo5d7XTu5itIt1+Tpa0eVkH2JYRK
f2qd2b+26J3sf6kIrUXqACEHjVu06Gb//bMlde6RtUjefzuk9WZj5ENtJncKpq9uhdMF6ZVmBDsG
ZNqV5s/TN7CsRDwaALmVKRAfPFy/n5g5Iy6eImlhl+DQfPFwDQUWM5EWd8Ho6zdiScNahVFG8NOE
SSJlKOjIaYXaD67OmBgfVH+/1zi0YlXKPx1xtwNJ8u2nW21azSnmIUo9i55nGlpMZFKpHuyGYYLd
Gnjg3r/f+m9lBg0jVKyS/crRWQsvnuYw0fU0k118b0ZpTfhxIIxVExeQqwrGP+cyC3tZ6fqd1nIq
b8kLqcz2rs47ZW2X2d8aDB267SZpnHbFtJ87ZqPDPNenLJzjfvBREQfR/HQ2gXEQUx/f/xbysguD
bhl8M0+Nif+YZeFiIYehbJdmN3XHoInKG/h/1d4UVY2CSnyaaK4CGtKSmyLrWxKwwZO9dkl1qjW6
aIixgnKFxNvcMeOPvebcICEsPPSYLN0Nk5PdFnH+JU5q3qBeS+av9AjJ4FnkeZyUK8IdjOFH4mjT
3fn1YWbOUJ6Y2YeRRfy7k/rVJlMtciqS0Ry/ZrOufwaU2u8SBuV7QoRGQmVrrlBWxpU+VcoVDER/
Uw295WXDkG+y3naOvjYULmFKltdOxOAwYi41Hkwn25JrT1gwKsYXhkUC6fGUtoK84CTanuvjPFaH
O2kT3znP5ZOCj+SG41y97s2u+wTynmwg86iLOd4gQHIATebKS2ayATdoydYWGV572bZat03g6BA9
wQyi1NvkZ+go+ek84wvaUgfpPvbFSc9LdR/7GR4j1JavSzrKc0Ss5g4pfLVwd1A7VKb+kf/68r3h
SCtsjSm+YSEG/q1DANMpn2KtVo9VjsZDAZx0P0LAPcTCBIYNUPPXDvivrMdYivn/S1fxGxvybfRa
F03xs333T/1vHub/gwZlGjz/eDEXA/Qbg/KKTPaoCf96iuogyv/aNRy+vzf/9Cqf/4JfXmXFEv/B
urk0owwVk5HqUPT9Misv/4ixE/ZKTQcHg1aJ9/lvt7Im/2Pj9lw23sXDh7r5v93K/CO2A42qF50z
bRdWgX/hVn77TIFnpbqx2AJgyjocK7SLJWWa67oEYud4jYBAKYaxQdFjEaO67dLp5z9u092v4uGf
btu3y9evz8JDSgSVA3GWL/F23YcxNhM4E5MJkIMznIMgXluVWq6dsHl6/5P0ZQv5n+rl74/iTIkJ
ksqN2vftR41I5hyf1qI3D+RXG86+l095Ng4cJ0WyyZYO+9ijYE58xfOH8stkg0j1VVyuCFUz42cf
PCiMFNZMqlSPhhtgdGdlGMCxew5gIGA/2KDengx+Xa9j4XXAhMTh4BKBEss6MzF7OF430bhGoqMu
eWUktBIruCqBwXsK1qUP+k/it7u0eGgNmsWqiZ6c0//bu5SC/kmJ13G8MpamK6viPqj6n6nupPfW
WN8OfkiuiDIUdG2V0R0NbS2mRXwlilVOA86rytijJ3ofijZxeZZdg2ETkRS3Zf80KsmwoQ85uRyj
TUDAAP9MWLKuDJyvEzC2NCmLT0Nt3Y99M65boTB/DolB6iwZrk072iYmgaB+ZhPwWULDr2un8bKg
XDdFmX5uasU1xj76qHX4h1vCGJkfwhEclvi/t7ekxu0xRNAkvSWJ3kOPZ7rGlHzPU+aukSZsr2sC
lJAEzGiNf8PQ5hq5UYjDNrC27z/DF60RnglqM+JPDAzFXJJ9abiYiC9E71E6nuoQUdAPWeNNJfrq
OJOZO1ekDKTUaeslRizUxLK5twica3cwq89sq/W/qtp+uxz7olODPhEKZF9g7lbKhJqgChCE1Y5r
dE/1MMfu+9+eVfHtC7wUpoIlkWkGBdvl6YsSPhNG70ivWgZ2ztD266CExv3+p5wrpjfrBB9D44mV
maYKRemyZP3jlJWJckq1qHc8BQYemeTtV4OWhWtH3W3G0HcVxLM3kaeORMNQVmBYrydoih55C0xX
rkB5qi7pO83WGrMHqO65G6f9FZlm3w3mvaveue1Szb+d6Qa5ioHJMseBUaILVYRiIbFsyBnv6TST
GlOFzqk2tWPnN2IPS7/y5iYpV1UQxghpymJNlhj0+Kw9ACCUYEcY8WeZ54dF7WUK0nsYrGuGpTWZ
zP4Lg4vvpIY/B4Fa3ciU87sTzJ4c0WEScWajrToRijWvJJBvokia2eVzwnWS424i36/44D7/8Vmm
bgHvoFG6crvf3mfABBURoqnjgXiY1vC+izgAgUw61FVrKo9hHxZ7jcJrY00QHG2y/aQ+eimwXI7h
H0EN3p5+fj3JLHh0+KTJ6XbZdv/5o4MQ6KBH+tKzObCujGawVplK41N9dQaUAUOzKsNW/eCB/uOH
0ut08BrDmrj8UFSWjOICPjQP7vq2dTaBBQRE1NXtHNUkoydxx9P2/P7zfTGc/PVVFwsmLxDHeZqG
b79qPqi26KuY7Z3uakOCwFpOY7Ltuad0EBzcIN1Xu5iVFRb4r5OaRPusR6lNz+GDr3/RVv37SjAz
8k7jTaXb/PZK/Naci5IkVy/APuEiCYCjr0J7Dm1Ss9WKpERAjrZbBWMN3jeGsNq0cq3byqGkKrmW
lqcU8C4ZI8VX79+kM57vchHgubQpFiC2qAue5p/PQ8JEKDB11honezbsKj2m02FK2pWJOWWZIyzy
nnJbCGNnGO5s+dOt6BJWCzPq1nFmth7g5hVtY6Dcel2v8PM/N5mxRD6FmRsbD5FeNy6TKGc7OjN/
G8di184t10DZ5PfxbSUHuS4z5XlEpgfWvVxZyYvFQBA3EU/HmCK4jK+cwfcXDzLhwUUUk21TQee1
whdIN8S/zdOmKbT5Br1lZeejq2RAUfOg2SsqCXDIIGLkTJkbBAy+LDTZXgTnE2p/eh8l4gPcwfJQ
/XY/keIsqyplnnOxqJphVeadb8slRoAArU4h7gU+WhudIl3/m4r4rw4p/38nkGP/o267+sdfty9l
89eGfMKXFjTR5anl/+CBZFE0/O/AJK/Iojx6fcn/evhRdt/S6PWfZ5Hl3/1/RxFODhQUSBVUi/0O
kOZ/H0Vs/T8Qk+in4wKAgsQf+J+jiPMfiCZMphE3aAbCOP7R3+Akzf4PVRINeKpsGw8Hp4d/cRSB
9nPx4GDBpzHuYMZfelO/9TdI79NjyPVAn1tT2iRN1uq0IcxvnDdJksaPeoK3aI2cfAi2M2lN/Qbg
HhmQXVOloP0WrbKhJAG6FDOd+IMwj7cdY4HCRYMTvcydHhjeDPD/O8mkJbEiopsxj5WiO+Uk2NJ7
GnxCK/Q2UOJVUUVoQQXyMctL2SlOUQ4y2lWnvCYmuzXaaRXlZOutEAtWRCvYk0KD3MJOc0u1SOZ4
3Q9Oh5Tc9mNCpcQUEIQe24pLcKdxSPTWfNKsmJ4TcR0Ul1o2sujWc0O2mF8QAOt0TNtKU8nHx1qN
7OwqkdIYvVJYoj9UYdYFno8MrnIVJ1S/hZx3vhOnlhIpE7a68Hp9aD81QZpat7nWlI6bqEV3Ozi9
013H7awT+1Y2ksDqeiRdoiMCxd40w4CCJQugYLhaQEQDOj4ZZQcIX+3g5VlvIGpUu6peEwDA8kSR
U9/18M0Hb2jn+EUbc3ACtsW/6dYiH5s1rt9Ccw3LJxZxUKN88Iqx7cKvIcmhR8W31HIVIUdu3EzI
rMdD2Ylh20RD/bnJTM4FKydvtX6NrapyyA0pk0ckUYlwe3pCNwZSoxEs+pjd+navvsBPjpEimPa3
JA8EYeAAMFV3JEVrhMkQC+JIEIgdU+G0TyWR1NI1SskAIh8N3fJCXzG+zTYpAqsG2OUpcDiRLVS3
UV1pFkFHmwpWs7aKlZksjKloQJHXpV7OG2phZHigicDXN/3cm1uCLSrjGv1RqHtDMvi9S06rlWGs
1JqHZZRCl0g3/dvS7GF7i7K2f8gUn/+BCav+0PbMu25i0evWVdkZeuLNYl5SRkk6zjyiF9Ngk/q2
ne0LqVvDDqkD1rFex03lKbwXLbrQsURJ2MJ0XMVahVNC6ytHbNSK8gpropkm3hLu6G+VSopb5CQx
9Bei+vjdFDRO2xG3dbZJookgnbBouodGC22ynHyb1n82UBnDxJaIY9Uw7G/y1qmeYx1/ghcSxzyC
3A5LDq86zi5XSfp51zEh0TnaUY94tUVCoIcA0o/cDoe44xFTXnzyh9nHFJMrgeNmQaGVJBrBLnnu
SF+Xa7S9mJ7NMVE+t00d4qExR+Wpjvph8KLMNp/kMKifCWPP/FWR6DkSX9IXORVlpINrEW5OQ47V
q1NUREILRM0wMuII1QcTgm92nvQEbI5jtJr6aYmgaLLsZ50VPRnRCWHBq8BytE9Dm/0AO094LbFK
1LBzlPgaRb6MtxpnQ48FtM7cNB3NBHRO0Ly2vYrTdUB/f0NcCx2EIq54bWgujo9hl5gHYRDet/ov
5s5rSW4kzdJPhDFocQsVIjVlkjewzCQJwKGFO8TT74fa2Zlidttw6m67rdva2qoqGBEejl+c850N
V6kRg7NtUq9pyCSBtOqxnuz6/NLUvNvYmGdo63JeZRN3faUNcSO0votNci2sVDNm1LYNl3QealCO
bZIpa7TFgdynLenW2rsbUXj0EUjxCR76GuAtbxXLWZLdm8W6MXMHiVGj62+NmcmXdrTdPXGWIqjx
hrEooO/YpXFaS098toVop8hkAvnR4RD2YMuLsk303JFfdXe3oKfPjOCjEROEHtXICfuYBmslA9Iu
BEZOe8nHkBm0bsROnuevObEsd/pcIVbTpUmXNaoK30eOOohgzg4XSWqrwOxSX1qV+EOT/b7NZOgB
zCAwafipyy3vXaniWvm87868JNlOekKGSSYk0mb/w3Tn3cqc5R0vY7PNcxjc8lx7v7Q3mSnLaR2X
ZGUvM4ecIc2N9Jkfg5S7wCqvY8ghlO37UhXODb4rn3ysee/Tv9UF/4sBnMu7ZKHH3sXmOU9T8Huh
W0zWsBBZOiRu1xhX1iHqm9MLhN5la1NU/FcJ8m9e6vf15fGOURQx82S8ecjDjonq32vqI9jQmOqy
T2rwD4gw7dWZksrASxwGc+8btyNrQqYsjTlgEdH5d8Q+ptSTv/4Y/6g6/F/Wff+7mfb/h9WhcUw/
/+u7+Zdx9fWlf/mdv3n89f9J0nSs/+Ba+Ovc/z+Cpkm5Zx86MB3OiMkP4j9H0rbzHw7jQtaV/zKS
NvX/AAziUTYyzrbQs9n/pA7k4fpbHQgMEqinxyVhMS7nGL2HguFMVXJTVfsIGNG88TXsPKLKSCQr
dZhcqwGZZwWfIOflsx8seHzR4ZzGb3bZMTJwLyU8FKm/MEMJdU/+7NEfYCXikeFeIcSk6V7v96vV
fsdBSPXwFJjZedm8JcZgQ1T3eoQlTc1KFq6TEYiIUjVrEDB4BIvbglQMj+c/Hs+Rtb+tG7g+mBFO
e11GflBYUY3Zo6yfd2aZcSvMH4QSYeDwRzf084cpn2/IOH+bd1LqmmMBvltezmQLJ/MAV4aAw2jm
So+DxfyK4vrNNhv7HFRecY/JpuaRoBh9ira5syaUFGKcT9WjeHT94DwH+e3e3Ob2GPuVfgl2IhgZ
YvPsOXkLrWI7GnWsV6uWMHh/HnRjD+d+9cOGZyI2k4XkyZNnXjY7iHikENNKPx76m80Ose1TRCGE
00zLmqzW1kZO22JYS/L8srSaFmvo91m7052zuesGHJHmmwgiAcGEtqINSVVEPLuSGTvQpJ5bo6aQ
ZM/7q6dyech36ccUX/azNrKUs2zChr3KTuxJR2iR7+JEwsMPQXhrOJFSlswj3uPN3vMTKfNGZGcK
F7LqtTTbuzeF3Sze8y5IhlJMxKoOdby6A8GkNiqE3neheLZwAJtlWhLW4G0cGOSoUUkPn+Z6FA/S
n7zTvtosMjVV3JZq9Hn8Vs/5sEwxQKhXVesNoXF1l84qKyKTaPh0x6HzDFHGwEBgNPcdkYqYhofv
tSK6t91aEVOEbbfWsnpJk3Wv9GhGJDfvW1vnEx+jz9ZzCMxEgBFiAS4LYladj3x5JduYPL/OkIYj
b3BxbGLh2Bysp3VfE2WFIysidZfqqSJYbK2Cz9gzSAggXIKYQhOmoGztmNpouu5LSQTRnPnpVGz2
Tctz+Ju14HmYSY6Nh9Yw5mhkOBjrjSxfiJgi8kQdh1xW9o03tIdvv8YZ1KKJlvnWXcXUepepQX9s
KsoKKkl26lBkItJ87duMMXWYreMaFuZR5ZMKGE4LE81OI4SF1EuVkFoGOpTaVf3KglLdNS7xYoR1
e2ZCzdwlBokYwH7YIqQpdZ4KWUtnsWmuxQOpX0VSVpRGPqRdxpl+EeEWE7EZaPQxGoHorNCmsPZc
QmyzpkjtTlnnOtv9aLY3zAkIwIhJNiDgGHsQSR1oEwaY8cbgOU1UuO/gud6kGTPdB1bQjVXK56AT
MbrXCc7/mWhZZAp+WctLYZpThJFrDVeJ7Qb5nXVZg7GNNNUbBDc2WbTlOMkqJfIYH8rndu37qFTW
F692fm5tbZ0a3XqxcYqF4+p+rWaTYqszYBZ45S/Pzqd4VotksM870uSGAajXIpJDywTDiH1fePyY
7ZYuDEJBjXU+EAmDSAO9uuuftk7DqD52wx0sFOtCEuwWO1hkWGesTQIZgJlggDG8yOryChnyyPBd
iMEjRCbZmqUK5cBPGO4A4618y0O3KV8WzQnCqvLgavOOw4oonNTXx/ZsZrWCFLN/Y8XFMNwO8hhr
exFr61jxpY55DGurS8Z+8s7KrLGaC7MI//Z4+zelx++T1v/79EBg4jI/OMqQ9ykiGujRYbHG9tEL
rJsmILeVH4PeM97Tms8ZJreoM7LL//yaR5343yMvXpMdFgU67ZkfoDl/Tx4lY24ed3eSj6BlO6aq
uX/f6STFsRH2/iBQ/X1VyEuxpcBqgvHP4inN//q9sto0L+D796zHsRLfh5YQ8l1d8zI7qmwCdq0/
VMj/8ix+93Lv5rbGLtkMsAF51ErxbIvtWSuy2KlWoOfbH8rTf/NS6BShGuIh4V2+372RSsuUZx0C
PsT7ybojeFrYT92fSNP/8lW5zGz/9irvVhEZfWc3eLyKkF/XFlzSk178YQD6b74i+OQcQbb9xyjr
eKN/2yp1nS2LI2zycR19VnI4/NHj2E+6/Wudv/3Dg3e8BofgQGXCKnu/lXNdzdKxewSPsj2ZzLmM
uNj/EZn/OHCGbmPxsTlvf21Ff383ZjaMDVABDeEPqjrIB3/4vf7eg/31zw8cZvvYNY5m4f2eU3DS
OWRKPI2leKK8+Np604d/+ikhm/nvl3j/KTkrisLZRf5lCOOrFMElKLdvO/m5//PLvP/euQGYryIZ
9w5Bh3cUz3//3nOLCmQZt/qx6O/q+kHJ1FtBuUST9gci4/szzAtx17BMQx56aPjM319oc7TJ2IiE
e/TAOpn1i1Z+rOw/XGnvmlbIiyxEcPodBwsgO5r4319E2WOecSryx1YoWvNj9Pcogqeyvm11dW08
GfmOiET25X/+EN8fB9tzD8kL1w7nGXX3u5ct2qVfkYyLR6Lmsp+t9qfHw7ud2PG+wFixDMNhweSa
ve/v70tY8DwNLDWPbRekbGS+FHmeBsaTCEQsfQB6ZOxRPQePBQAsvBh/uOX+UlX8/VlxvD5tDdJi
k4RV868/399uh9IXG4BEIR4ZNa7hrFRHmG1l8OgnMdPUSWZvttY+fLt6sgBJYAWqW99NaUuWPt2z
qS9AjxRkLxhFzlPDWBbYrPtzzZ3ysYQxGCHbZh+M/iYxlEMIp8YTfyrYPAkejHnol5S0uzuSXlqB
rJkCJ0PKbwBNsac9dZvMOXems/zhsfWvR/Z41wgZ2Bfgvf9r9v+3d13hlPD7wSsfO/0MlivADVw9
/uOTw0twXSCtxdHivNvr1iALofXk9ENPQU/J8Ycpzr8eTB7WyIkOxSyOrfdagakRaxEsg3xcjsX5
J49p7z/98//+Au8eG8xstNo4XoCJ80iO9vyHN8Cdd1wMv589xk94zvgXcy8kQ+/OvksGaK4NHmNy
U0Z12xqRCQfrPANrOndrD4OP6vjZFFMRzTwNTsskDLg3EDE4VosH9jqv7mhQczUoCDAqC3cVlClc
jjdEze5jkLFfKGqRZam7mN+ARxxDXrZK8VCW9mXsVHbr0fXRpC/mvQ7WIcK9grrHX0h7nBz/Jh+E
N4dSQiu6ODrLIEi4y73q5uZTgRDitMGyy2EL5L/WYW1Oe9uTReNZfZGMjqJZFv6ajotk8L9YFQGu
42dIaAofPDuZIzCdqVUUdPtyrXa7Tq2p6SmCixnFAZy4NXBOCrhZ1CMaiVZzDe5LvWBTlI9l1K1u
sYU6l29YLXP21SqaOhQBVB7Ls4u7CYpMyGy7e/BXbfjgsXBJ2nbyv2M7mbbI67Pi1iWT+rM9rMNd
YTfu1XPzMZFTG5A1v9RpaRb2K0B68+o7QPvcRVUn/CDejymbl2idPD3O+0VPVoYP0eYbeYLkGaaE
T12PKWjBc7m9NSW76alV37yis2PS3ucE8J8b1VsxnMZSAubKiw9YcKGL4962ppVMn74Fz+yL9Qam
lBbPg6qc2ERflXZDzSdFnPCdPmltMrtqiFZfTYcj3w1nUCl3XW2DFCxVm87OQNx3AxM9h8V0RnLc
n2TpzXR6NsvqfJTnTlVFAiMArEo7w8jAh3JMBHXvbrCr+jLUwG0CxOBPBrgaNxSrKc57O38xZkak
A4DBdIK1AJBKHxCa+fPFaERwA07avjVIM78d3cUJq9rZSYP0g5ODZyR1VY26YNURE4F9FCAHet/+
KaRzR5MGy6PRyTPVq+6Di5aQIyPtnx6tH0nv/ih/Ts3+jCUtu6z+uFw3x7Jv2bGUUa2C/UNnBcON
hEPxK5f+qzpAUHo1uukUcA9bRb+mfNDawzxv+xPYMFRyuVucjTaoEr9brQffXQ2+U896YFDhXoSH
hbbo3CkU3kCrlQ9W3Dr8bUGTfwmIjUmJD2aZNK9FinSq+YWiwWRJCAylkd5COPPq4v83/MtujPW1
IswbOM/WX9qu4AsWO8mxs+2kE8ulS8vx/bDKtQF1YU/WE146htLSJz9XcwAlZaAZaecZ4TIhTwPP
19DsTUcatgMAPjdfRttoE3IDSIa3++kscYrw/2smjZZo4Li0+U9PwRSyOlYqjt8cV1ruQbPrgkvr
6E84uNrYIcf7UuSyQ9AMY74CcJUchuEzMMzgQiMHRXc3aBTxR1wMt835i109Nrp5j/fRLUN3kyij
MNvXcWt5UC7ZMNwEg4fFxJAiBcauhx3Kc+SUTAH6DkkGwC6mLFt5HSbbjWW2XZGBtuKlcT8zd7jX
gEBEGUDwW5ci6xZeCAMfu+1gvOeM8cQUiRYDqINexE0QVBwt8lImJND/oGT6OFvurHFbdvZ3MgTG
2JvU58WFXslQ3LjYRVenxcSmEuIbDrlmlKybtunqQNxPgB+Cj2X6eW66rD/V2zDfya3fEW9YXbxg
w9TRj+SMAeZaPY29fNsaA+hzNvuPzFEY9dijHffWjMBjcq27DXT1xQJnEtqWFGcMx0Gy1Dl8tcwr
Ih9neFwTXAGUqVz7xF+8PI/GmYvLmDX9BQfkdLNDuEkQiBLFfdjDKHK9SBQbP0sVFJfOHZqkrsFZ
miztUp3RVOj3FYGJC/OsprTqc+u27p1iTZwWw/BjF31wGwgIgFap05eXQRUSgxJcZZc9SwdtaK1/
W9q9g/zV+3AwyjJ1FNRPJPtvpmJPsCPjj5bZ526EavO6bs10XtumezJwE/zcicwtECXaZqS7Un1S
/SBuuAWHi0WE9w0nDZ7fNukR5BkbuJQoT1tQfjAke3c2sGtEofLRWQxkfHnuAel0ygujFj2ajsGn
LFDxFLtcE63tylRam7jf4TSSk83nKQct+FYiEAApmDew7bf+bLtr/g0NgsfSBdpRZkrxuLian5R9
NqAtXY1wd3J5vy2qidbeLrdwMAskMz38lVbrvU8LNqqo7rLpPJnHoy/jjoscf2E4DSr1GditY4al
D9KyPp4J4Tavb5bLx1bro3vW2Zp9DDpBYYsoomSYlulX4nr0+7l+7JjiCGahbHUhT+ufqp1xCTxU
OK3D8GHQuz21zE2lRmGDlC4gHXfQvZa2Da6jIEdtpXVEDKUkd9gQRL7rMb8Wxc8+EBxtl8g1J2v1
s1a0JiLFRkU8PMtHbNOvXTnlP0y1aLE1EVaDc6N7FeC2RVhAHYphWvf3AHNNrmynPjWWmi4bNotI
M8CDrr7ORyepHWQn3uRqN1YyTqwa48adqqfCR+FEZLjIT5XaShPb4jjE+gyzoTFF/rgFCsZbO+l7
2lFX3HeUB4kHJilCcjYA5Rk9EHadSPWmeGMMBm9hHcwrTumvy9gZd12Xv+q8ibiRE7PgjVlwG4ps
bFB7HOJ5EKlknmNtiwZc3GSC990QOZk7P0HDKcJxdvR7o5xr+Id5kWCU2vxw2psg1G2J3wVOh30l
OT6Pp9XTHiEUNFhY9elpreUByhr6+6nlWQ6qcooLW8/TA6AbWRZwOa9T5fNCxX9pjkFoNxb8ox3z
u77N+Q3AJz9iwa4lZdYZqUEfEipVLPGgJE6ZSfwSdja+FI7xczn+szhjzMGZibWdA3koA4I7J19e
hMtC5S89QO2b9XlllfeT1ZBBLQHFB0XYmy2Kl26xtBdFx5yS+SMTrdLNT5ub+ZF02k1CW9jme1bZ
bEkytcR1ADVW2Y1gLwAdtkTTEi1kcRDGAs5oGswugYFWIxVoKTEmtT3KWn/Ju8OlXuTjK2ihn7bT
apdeGvAfbbyCkZ575c1atyX+HnYEQNherdrjPev4YSNQU/TOs+Qxqanl3q1zGLnjASWlXxIx63X/
RAzJw5Jv9xZbmJms1tH+MubPKNixjPkq1Lgvw4Xd5oO9YRrKZP9La/afo6bNDEaRAOnE3kQmy6Qb
pTQ8ToHr00m78F27RcZThQiyd70JGe6oMMzOLP3rpT/5pFCGinlzvKBAP3dTW911XD/3bKTacD1G
jLZT6+k4EDd4BM8fU3mdksoxxpMcocMq3A8xjUCOUCDbUlKncsSLjhE5lf69Nar6vAlZRbJ0h6sF
iv+k9U1wHWakhJuR89GBSwMCtvkpaob9ZO+AV9e6UOT3um+WmDFm6pCIfcFt2mWLczKcofisBa0K
e4vCvZohcFdjyVycVVLo7kFwW2geTNJ6j7p2177kwP0TySLkS2nUbOpaNoJQ4mxGz6IVxVWyXGbg
v7n80db1mjfGEA2D7X/Y0H/hmNRWRixrHhFu9NYqtPiL3O27srZfXIOyCzPjGvrNToGAjac7lz7K
KEqkLt57++Bye1WytpJkm8adX7e1zWB7+cNtsfVAipve+DDaFLOYUB0euMVFrN0Tp86O9SnwH4Sv
qsd6on4l5OvzCnqdsw+2dxHaeGlH62sPrj7JCnj/Y9b+2CiSEjcoOaoBl5CPDXoMx6mQSPvs7aEe
XLY79lSHel8idoIjhC5rmEmQz9DHpOCqsBiwIRmZJHXZTWFWBYomAhTSylJjvKgxe3Rrtdyp3MnR
UlA+qKHWzpkjMAcOEGepBrvU6Eu0+qQpSG79bL6bliOeVeC9rbYBtJs+NrUXFk4+fZgmy3lr2kok
DWDzeKs89ckWvfWQgzw72X1ef656r0zMAf4Ah7FHGwRO5UozpCJSMLbrHOjOCaLJFg2GTaCq7v9o
zdxNhpZ1KUyF4jQNRRHrYs3T1VycpF0dFPY2yCjbLgOynsxzto81YNnORhDY9Xf8zusYmUvNsmwo
03XYXismKaEQ/XbOu/wnu43lDoPR8qnZbQ3jIBCxDTUOhF7gDN5I3WjZSkuLpmUgW5FuaPaTGbMU
KnII9Ob+cS3L4SHLFHuhphzbUwlL9Mwut+MnZs39adgLtp99Js41fORXIgv2O1fvcqK8dHkegCo/
+iD5voi2NK/DrrYYUBwC/nwb7rRMcy7jZg83/aaCZ2ii4rMGRbzkysOZVGhadTJpsE4sqb2kDKwP
TrF1OevLdQn3zKk+WEZ/HinDe6ZFh7kW8ZLenajXiisRR80XoQ+UclObPSu2Rin3ZXty0LfHgHUx
5xDcEpmLtuGFlEM4F1uW9vr+kZbLZT28OeHcFRuwQuq685ax19tLYwHG2rqJtPLpYW+7ObSIDL6U
Bj2xbuRv+RB8ZBeqhStpSWG2QJKsLeHcKW8QH1zOzsXNhvxkA1jks3QFAjd7hdDp2CmAiG+NyXa9
hyaRFhKGeOCOfbLv9PwKnkbULOxFaZ6bcHZq97qUcopLl2pU3zzrbpyNXy7gqcvCT/bkajt649Jo
0pHrMaYhfyqNfLkU/sE4rpfxxtXXKlWTgUagUCbgpBHJ25QX913rjk+tWVtXo20d8L6yhbrjGjEY
2/Y89nx/g1hn6KGlwt7uyj3cGWThNO0CyPLlT63TJ1TfjnNuND9jGxZ8nxt+B7Vhf3VZ8p+HrTVI
tQ2mGxPNIg1m8IWWim24onJScxEk5qRQbe3IwDLcF3DnLDsxd6pzxJ7ORZga3jxTQrxFAhoaJZ9L
azPrh6mAoio3dFB4UJ+7/RM0Ieowh0dCPu7LHQJsBoCTE1xVA80ElIE6ObnlnCAMmZE9dMs5k24P
TWU61Okm1KFdoxGQmvN5nRszhqueRzjTfrCgr6Iems5tI+rXLXPGi6o2BcA0Wx9mZPsnvVp+Sk8G
91uPQE04wXEfEqWUN60VFiMXe6GJ9qazvOBMhMSSwNMsoglDzcnPBH0TG5Orkp79vGyWF6+l6Xwz
A+lf4PI2H/jgcj7ytXqDOX0ci+a7rayV+8m653fi3na1WaW6ph9KcwfksmWhmOtcKx47etACDFkk
iX+MZTfNqfRp2GyNRxAa1jlCvTFGuTcNoZqBAOcKjLMmC8XPhZZ5nTXWrd4+QaqUKB/V/DPrRoZC
RFvHk87J2FsK3KKitc8WmZ8Do51jmbvi2uVLlfqliO0BkmZnTBd9aM0zP5GoXOwLu3Xnwaqq5hMw
VyIc5v5LFYwZOPs+D/tsd9GtlCIdMByH0qgZw2OOTjxtsi+9MJ7tAj0zisclGbxJD/e+YkAASSMB
fi6fK1RmiQ5NmNWstZwY8Zspw2MG6l5nridmXkFody20tp22+LLoFf6xTGtPlkFWiZyRWiiT686o
j9K0QOkssBDEXrZzBBfduS+nmRu7M3ll1VLqm7l28Tr5y5qcKdxGQMEj0JBkMnY9rPzGjStlVx/Q
QBPhMEztqVg2sA/LNiGMXtpzA8bs7A7KT5UdjEkTqPmOt9AmxM/Wd3axGLdoS+cXIYxvLNbnyIfO
kTh2i2liafRU2JISofDskxhIEBNZvp0ZVdGml3ioOMfNLfEx/acuFyQEGMavzqBbMoZKRq5CHjQv
yD+gXrdn/pxoUIkaCUkr41NYuvHe7FkXOUShPpbjVN0stnzFYuRxvzEmqc2yeqBx2RCi+Pl9ue0V
1Q/H6zJUVZe22hKcq37qbnKgFOEyIzwqMj7uehrE1TMb7xmEr/ky79YGJnjFHDuh3CVK1TujzwuI
xek9bmxv0G6zPMujfsVAO3Azh3avPvuGMElNFCqextk858i3Lx6f0gObAn4Ivhghsw7GUz/7CEv2
SaeYzMrT4oouIV3DTfNMBqkiLzNkacK7Gez+JHYpz25eq3Qo/W+Dbc6nluHX47CVaxKUg8VTmyN7
qLkfiD1VcD5W45Qbx7OKZi71ytFIkB6QhuC4dkiN86zGsTubyFXgWvAyTbsVTzlc14uFnOMOQcoE
b20ZLvuKHNsvVZ36RHaczAKJQNaX1SUj2DwSwq/iSaxtOFvqdQXXgaulhAVls03pGgmAaWGw0M6N
kYKH3tPW78cfSzYUHzVvbGOXExuyBOaRWh4jYxrFJdJGK90LJhzLqdB6QgKCMpomHiSysUAeS/vc
WbV5W6l6QOlv0P7j5aKGy9v2pgEzlubSeK4KbLu5gL/M2EaG5QIct6u0LCwKycTaDEhtQiRxa+rm
evXIBzoBuBmT3uv6W5PICCICbCBo01CFkC67u73WAad4bhUNbmU8FsiEAPrxhN+19if2nYbEmEWm
Xct4bm/kdhV2xQR3zqgo8rk+8Y1mZ5UfXaIzYfLdHe3ZqpUfN55GKWq56xVhUHctJ838NBTc0jsR
hyn0RD3FbfrKqBzpe407LPcWGgMSbSA3m8IBOsNDSmqVcZJ2RYbBgrl3NOueMfD4hTQiEW/bYOHz
E1mosYm75OQYfli2MZwMQLyb1i9hRS1FTFW/RQ1ch4gGcmaqR+Ne0w9/BSCx3vaW9gmjpUomL9Oj
Pl90nhRocnLdg7VFSicTm+HNrpkaKG3ykkUfDGTd+/h4TPSjYPJ5YJve9nOZFBs0ZcqPazDh25BV
fq7A78WDPWhfM9qEW3NkGFlWNbUDXX1orToBJgznPojqUW9vKmFrr0jviZiypyAZkX6fldG790wu
CwZYfLe2hV2rAGuREhYoTkDoPYj7nvzkFBmKvlKXN2Ax7dOE6DilsFdRNQ4jbxwT6Yp4HoV62ceB
ZaLlnwgCyVxZ3iydp8UKTH8obHd8LiukW2NtjB/l0PoNnbC/Rn1dybvOIX/ArMBYa1pnfmHnouAh
UxGGbYdV111ah/loUyZZg2onIEkJYMjjqk1fR3WM/Jd9QLTewb43l/HWC5iYtP4y/qig4cLlEMOD
2ZGc4DXmcoL9+kXs2XyDAA6/W02CAPfZ2jGSLwU4d6a2SWtS89gy7z7bdmv+sjOEzxyUIyEg09Ay
+czbZqfT79s1eNmM3T0NYjGYSNXUh/o4xc66+TfGsu+xycV3EiZ2H3CWZcScFWSgtlUpnR0sXJ9+
bu2CnMrXITZgUwVwzHKv8zWEIt8/jLLNodt32r10qLfmdbcIbhiJ8Gid7NGiUUzrvDE/OpkhA8RP
TMoYH+RxXhDr5CNcvplLd7lHazSlgDD2rxNH92HW+4ZYSAxNyPr6r4Nq0TYZY//JZnVnG/It6w2X
7QRPHQvozAspRebFyIrlwaX0Cq2sUues2EmSmErjux80OqwR+c2psgX2cqZ/D9ZdfIGyIg9zZjl9
VbWfXwYGcBCe9U+2UebhYNEo9J6fGsFk3XPovhCV4gM5WGTzSSe1BC9QX58muWNz6vq9OdUD+Ny4
2+reB57fb1Q5nJNGEJ0mR895oLX8wV0oHzKrNKJ2nT+wLCzONU8DxrqUDspkNa06ZmIkEODYd4Qb
kx2vcZyqkavWFk+ydF71pQQm3dJYiCFTDxiY6EHBBYQFqZUR2pgs7IflFU2VmxROU5ykZSiw3LWh
3W4sGGIfcSo2FqcjGIqRgZocRd9Mv2/YB5NcjNZto2/qBX1Sy9Qgd149F1gzwzO1PpQj2SS9VZhX
OIsMMwBNR43GoHpiEDpCOOO2N7ZA/7U3BJQVgFc/mPjLPpZDMXzGsjTfkXGznygqVGyA+/k2syc3
aXfr71Dm9rMmZnUpdDKjwmVdJxKnCH1DPidfZ6O2L8yUl8da9zmM/mIFV+6hOqq8sfgalFV/tXY5
3yw8HiPya7pYFL52R0zP4wqK+my6e4nFRwQJzRj6g00TInS6dgO5blo3veqnU+/j1uktvab+r7xT
044ikjl+C3LXl+2zNHxhshxjIDt6RX9BaI3W15+NU4dhLeykNcd7N/o/NTK9UiDwxyOanss8/qst
O+0Eb4D3a7Eb66v+e2bNMKlM8YMEZOPJ03TG0bLwLckOUMP0ahTm+MmXwceuI6bkxMmsT5qGdndZ
Z8JK9Um3vwzQNH6IwdzKeM5N/zarCouKgfkUeTMNz/kqv50w5j1t9d6wtxo8HL/htsi7ktjNk97v
2h1/jj0ciDKoT2YzVJHm+cXJqhAUT3u20AdxRtA4iNyaw71at9PM13JyYe+TcmeJ223oh/tqYv3S
Gqgcy8atY4vd331n5HufVIQAtYnPdjGugq5hF0cedOdCAWeobEcOQ6rIzLsxBW2sp8po2Q8W+h7b
2VwkPvD+mwxl3lVHTXIuMqYkkixnuhgPNOJiaCHTFE4hi48ney/UuR82mhdy7D7QhCELHWyFGMVd
zo5B4WyTXUbAi+2lzZzlKUgnQiMVP3lJ/lgMbYadG96sM5a8DHmvSaGf23Wkcr+KvIqMK1ll5Jov
1p6uR2Kp9yNrnoT2TQ39xjO7YLZmDYIWOxh/lVqw9yH4dJMptqmziz9KNKvNaxxY+wuAKf0Hg2x9
5p+3jR/V2PqJlPkaVV09p0U1Qy2cGz1c9WK8m7Oa5dK2mABLoDp5E7Fw3uqtkY0rkJKPSfg6lT/o
r3HG7QJR6FGOTUEzkkHGuMJiDxPpPeslfd5efKOgtW72lfqCu7z0wwphZ8SA63UxzAntsO4y3Mk/
8oizv2SH1J4Za/WVT914C4bmsDcOKBEqq7whMaJiUcmQiUv8Dc599WixTkqw07kRYKv6wyYD57ma
m/WLNjnzEKsVpBYJYSTgYLQEpa2mcJgZExOY8exMnQUhjY45cPMiHqgubvaWMLe6xGuNOoxFIz2Q
YrjjUZiLnqBtnaXNCzl2Q5GKTvPMeAbuHK/V+h12mC9IlejmSzC5inC1pbJgeK3VvbQUCltqhN40
mBAa7pj+H9LOq0duJcvWv4gAGQy6VybTl8tykuqFkMrQe89fPx9P34tWZQlKnJkeoDE9c7qYySQj
duy91rcI0gEOTYQkH6Drd1kwBAfE53Jl5pb4DtHCUN04lNQljjXcduSrejpghaMZ6OqLQlQA8YuN
X2yMnEBInjndwwHZ7S2OLI8WJ6ZVGGT2EUAeSgJbK745xOxxoJ8mbzIlKnFf9T3ODY3bhUN8yNRS
MFREnD4zil21im5tWglqAHJMu+XTjNtJ6eyNCYb8W51XtMBVXx7iSZYPYPzkY5AtyRdx1zLwZv4Y
De0vf2zoKJrk9SQlGfSoePtjWDb5JtbaDP15FB6UWfJ7xBACPIuJNHlNXY0XHzxH+qhMafzGCND+
FfoyZrcf+w9A6MWGI/uwzUYteSDjy9lpahX9GhMSzFSshHiKjYFzY9auZx+rqZVNkCdx8kFfUZDa
u06hiQQZt3rbCTr0g9qjV4feMZ3Y/RjDqk0n3M6PIs7uAweAvsYe0lkZBeEEud8osX12urq26Xd0
a03RpyPtwNnryfLcRJ2cCFdIb/Q4729HpST1oNbfMgv8t6PTnx70vD3qMyEDM91bRk3FIqpRjFe1
y2hnlpZKK9D4NSWKurbCYQa3mKnvIRW+SyREsNJFYWEwLEh1IGCKLL4+AsPTZyLkgDrSiGsVGj4F
6fYPIQ/OfZIO8RvduK7bGOUc3TE4RMjO60JohJgJvkHcnfKIhytHw05c6HV4kzK4o80+q/s0pQ2O
YdrZcbebU171RAbanbiLVJ0hZGne9hQ4J4MjWoWyJu23fserCjcuX+pddQ0vq9oXpHmttXpHchvp
wLhwkmHiRQkzICymrpKkmLYZDVGLrEkXTH9+FeWCFRt/NBkNfvEmLVrl46ToR7MQ5g8Mw8QcBimI
j3Sp0yhMNjT6GcpZgbpmCOwAk22l1032T6kbIxVUN5EZWbOclITLkQoITwpdYhTwqstCF7fMHsSP
jAOW4dUzdXoz0jNhjoEsIDUieDymPUzPZdk2O6GRAcMZMPK3GRlgqVtryk0SdQisrLBeK21jMKXC
iVIUBvfC16d2a9Rt+tET1Efop5hPRGWZzw4RRNRAAVWXUjJZSK17stVls6LIvBiYvsghzyRjixEL
eosmGUycC/cqVQZqawTVXWSJa4vJbzeSv9FlR6OabqWeP7UBbHoUBkV5Cc/zVXG3iI417AeOg1Ty
PNihdyp1jljc7sLVXG+d4QL44+ufd3BBYGdD28ok7jyenmqGeb3R+7cay09H4/dfCqcRTSOzU22Y
Bng+TeNMqZ+OuTp0qfBv1TG9TkBhtEp/QUz65StAlFE1UIAOIl28o2eXqClTq64Y5jvaWW3SsG1c
0CSKRTT5+8+/qHBxG0Dlt/g3HoDPisGkmyYjMOvqRmiBRq9KMZfOZDsc4V5hfTGzBuONnNcgKTlD
5Ep/7asq7vKco7cSN+k7KVszx194woc+6AwssCInkHASBFoF3V2BzuWFioPRAklsDDb+rqlc7Alf
Pr4DdI4HSMfge6b2T4UK387KqhvmkG6f3zbDNrIKyuFnlZWgELyvYeP9/ZrnP8pyyyA9Lk5bIkGw
cn2+ZX6qoheYqurGp9k3lg8yvyD//s9d//y1FnE2TROT2A0o88tH+E1NqyoQa+hKtzeB2dR4mCy6
vIlGRYgQZB5+8cjAVZWyXOUxihERh8tPgCzOpWyiVzhz7phLwmXokhm7iIHCUgEMzz5+lVVXYmfq
xNLzTjP2Apo9m8pP8p2l07NypZ0SKzZaxkaLxHw1RXO/MloqUCa4nTdnGlMxp9mnHOm9XMAYYj7+
TOuF+BVTIwnP0RQ0IrW1K5SJVmtGy4acYueQ1/mTz5+lylQ1l0QLIVdSQx1FKcsSjv9va3ZwZKCO
i13ahe3RitpiAxkjuWl5xR+mrqtvrIH3zKqmxwJF5Q0Rjs0x15GC2XsgcummxdaGKZG477IcFW8c
ylfqIQfNd9U8E8SMKi4YW69GYOLFxEPthU1uaEhoD9OfYjgoMn3nZQB51+PjlmY/X1t2Vu0tkMLf
SWhoaJz3pkXgsVbyuHOGnYAbp24fYyDDO/QxpUa6wjhCdqsgj63J6XpVRtM84H0eN2PbxzcpepQT
rKjE2IxZMu+nmpNxjndrrY9mdnAITi5dvdaiR0yQxlp2C5uPsbwwK3M/L3qsCbfuIfM1syXb2cLJ
6Y86AWygQEISHSliBQ444hUN7m2a7oEQx/fQBuAEWcA29KJEQ5k1/rttpuF6qG+1Sq7hgLh6EB6n
SDAuijJsleoAHZxu6Lswc5roIwPB0k1MOtf+jBS2aUxrj6BougqEqDZpni5JxA4dL8WRK0oO+kU2
x4yjY3ZvES3hkxNb5b6xZg4nmhLfaHOR7mdyqbysBQFLm4F6akoabIa+qqwG0aSnuCmmtdpUDO3t
akLB0y/pgZNNv9jVjKw7tvRYPa0lRcmtzNFE3g8BawuD+rVX+L/lPH+JGw4JUxxLlHLTzQU1fVhG
JQONsPuOopz935qTbZtMxdHI25emc6KnoOhpSiVIsXCDBDdVq47kWNbRdWUZjCxIgIM92eqHgQTn
wjViXXVt0p5OpfJjar6RlyrEvEXoitOvDsMnWy/vlLq4ijjA9ZmfXUdzh3AxTD10hsVzjnf/pY6D
5CGommo70+3al4A4Dp3WhTfOUNpXVD90ImH88PMY4SIhLyzzGE1tuZZM7b8VKCafcp0Kbm52tTbU
zCzjXFtHuBAYbJH4rloMIYPc/1FP46vf6OUvpbb9VQyqnbTHeLZvFKQvCFwNnVlloMHm493HaJDu
6WsPB9UKJ8ZtHc2KJu/mLRJ6e1tXHZAM0XixWKe1Z8a9+Gb3qF7V1kY+Pc4aU+naiZjIOwq5urPj
6xtmUeQp9lNwCEzlrYTfsMVt+h4gg/KaFPkNH8H/QO5TbkYl6FHf1d1KTHiwAWd8TD2HZzO0aMYD
WVsVqWrtUqKzvd4Qw0GwhfFTRyYSPk082oJWwmCOP03qzzetDsQhSKwIW3Aur5XQqY+KOZE0qcvq
yiexd102g3NFkiHtCadqXIgGCdwvJWFigWMToiC9bWA4wQUy5bKT/7biI+VfqA0qMETgcZikzswB
cz34dWC22p0IQ2tcowAj78rPo4dAltav1jabp9pGS5mjpI8ubKKfvRvs/Oz7UCMsyYxQOl82UVXx
E3se0cJXKCKGtco6mqz/vmcuH/+/X2+5BEwbeOS8LDAyxD+mmd82tLxjuZra3rnBdT6+1bPnN+vu
UrV06SJnu+ZMqIn0oUreyIkhl8cAXY9WxiWW66WrnBmYFmh+nGSDc8NBZB5ufLESSBC7CzjOz0UG
Nwz+r+B2USH/k9tzVmTEOopn2YcRG0fUbYJxqG7iiWi/f/ezEOwlsBbqEtMkpcZ5+dQkWlOqajXf
MeUNvG6ekm2CLmajIlA4KCJNLjxpn+8dmSKwQhDBLcEe/8AZz8q1pJ1DbZpyweA3XKO/alVPjTxe
rws4ws937+t1zurmAUslB/NCXMu5t29BUE2kJSb+y7+5e1+vcuadxUxWoBzm25TwEkLaXK8K8u1u
+nc3jdORpWuYnfkfXUDtEJ+LQcwhvh6qqf/AUJieJm29yaL5eeENPTM3cgbUSdvEbWii4OT+nD3W
osLXxZCnuvfZKglVBz16qMddzP82QCr7+507+32Wiy20UGy6WMaIpDr7SnrVpdIuu+JevDCdrZ/+
9V/nacbXSFmmWvLcKKYM+hL3oGb3mbqnblV3//bPY5tUoapgwcDCaJ8tM4YxSmAAhnLfD44bnZD9
X7g7y63+72KJbR17G++IKfEqmejozt6SKhrSXgKjvSdf5VkNdbQb+QUL85dLsN0sS7LDq8jW45yZ
JEPa8jqQlfpk9RCc+3WPHYra8O836uxtZ5SJGxC/7HI21mGxnr2FY5X5kSqG8qQaw7qN1lWvIvV+
zhA8//1C2vK8fLpjoJRJp2WepOIPBO78+RXJy1w0yZzoJzNtyKQU2qE2cJkZLeLAostuF80X/d1j
02C2mkd2oeEZK8q/awjwfUEEmCBg6QcQK7PwF38/tSUloP6mGvv7YOcr21z5t8/d8udtgTOYpgBJ
EQte8bc9VCMuEA2L0d8Ldf5plMZ3IC5/v49fXkuiYEyC6oRGu4FbefZUxJ2K7Bkx3P2UeQ4VZrD5
v/39sxvUdzHxEOAG7iuOPcyBUO/+/QLLE/XpOfjnlWSboW8il7rm8y0ahxFxKivLQ0q8o9ImR8Ym
Ho6RFVCSfZMUa+L4ggvXPL9pkkYhyyU0epRtvFbLq/b7z0J+bZfHCaU/ij9rTUX99+906e8vb9lv
f1+KsmgYLBanND05DFfLCzXA+T1bKk+aP/AmWAqoNs5+lMjxGz+miXZnzP6xDYOtIbtD2luLQCZ3
69RHwT9euGef2zY2YarsNHh49X+uSu/m83fShgBSaRFmpyL8hu9rHr47DRPBO9F896Mc48VFV/jn
NueXK54/2oh443AQeQYOqsaxL+Or2jFdeIlvydCgASwZJiEhOyhFc8zK7vT33/Cfm/jfB/P/Xx5b
uM1SSGDE2UMC9b9FkxgwpKvqA7vs925GY4/gpY+iyOt736SxgIeMfPADIINHhbnPhY/wp3vOdkip
z85FGMHZPY+SWtdaZkwnoeg3o9Je92mMWkPMH3Yxf6deWplO+BMA83UxGp4BrQEIpIUuJf4ZK+au
jhfdqLYaM3ulifqIRvfCdvHHD0haIdsGda96jgXr+gC7JkL+U5qxkM8ER1WO47YSaVOOj8gsJq82
29fYSi7U2mcohP/8OszPNLZEEgHZqj4/jk3ZaImM0+yU4KBqJhr3OccU+uCZ8cQ6q/cvdnOljBe2
i7Nd6+tlz97sidFLWJc8FL4kv0rZVejdhpcpOJFF6UXjdx9mfdrcopnB/nmJ2O18fu+/Xv2sylCL
qMBllmUnJWHUiSv1CLfUYPaCmcnMfvUmXtk2yDkCh1gXkAu8Mnt9T3sTMKS1orjYVLN1VeKjYi/a
S5UZ7qiVWBaq1yEkvqEL1TuD1tNG63Lo9lyjnrM7NgCQvD5DJidcsTTZm6nvPooMr5KRB6tF3D3Q
Z9Ry3DmKuY5zjN+o6G5C0tYluX94To52gvbHHkrslERGFOFmanNP13lgApb6QYy7zicHGcfXU+oH
j2au3vkLQbPhv9YjLGzIFtfK/GBXS+JF9TCYzsYpEHqMuT27Q2Ym67KHWI5feyNx7658I6MzpcVe
VYhtbYr3vpI/sVvhOh3adZ3pq5reUYRSFC0KOuggeKyihhDLRnzTmuBo2e8JM3g6kc+mpIeodf22
nHndB6SQq2DQUD71V1MhH0dluMrjal0Qi7nqsVaXTXB/YSH4XJb9vx+ecQuHCgp+9vrPTzvrAI03
WmUn1bTvmPDC5CLUGlWRchgDsQ2nam1k2IvMeavH81Eb/acwGlYaqgFmYT/JzDphMrm0Qi5b8+cV
EvEpw6B/ql7gGWfLk14wL45kUZ6S6s1gJ+B3kshLFO2pislcgg8//Wz7R72jHVNf2AK1r+8CSiRm
XyQw6ZB6z28JiJ24N0nmPan4uI4zqqyNrsAyj1o5oxgd1Y8addKv2WnxY1h1edum8y+0D+FhJu51
raS6eegGp72tyZ51qTHag6SxvlGHpHv7+8+nf93J+KxyiQkTtGyQpX3++WwsEkgljeJUO/uof4uK
b/YMs8EBae3cSYQkcXcdqC+ISGFc3+iW+qsG32fM+VU93voAQvC/wLL9mSdo7fKPkSFoqtS8uziY
U0Z/EB0C/WpUCcdVkzsn/legkOXpY24GCNxYfmu6QWdrbRQHJQOpqTzNsj36U3KXRNUSEqkkF+qm
P6zqVMtw/7km801OVJ9vFMBCrRaI9055imyaSUT4hrAm3bWK9TbmY3YbOXK8jk3G9IjE0ftHo7xQ
8P7huVpIrBx0lyBk6urPH8G0omzwu6Y8RdXzNBj3eTYjkqlchN9O+irV9MIm/3UL5Suzf9LJMZga
nSd2K2pQqEbCzQ1yx3yVw5wiiYFoF1htuDOKUTxlSU1Y56hhPYDR7f392fzj1wXvDiBNZdB0DkhS
1A4hX5WXJ5Q3mKmZDLpBkd9HbYbfcVL3Msi9zrmUpPO5QP7nibIFaVrUsLwR+nlgbaOGPkOA5SaH
0DmbFF7l+O8rBG7sf6/xz0v5WxEeWX6pzH1bnqTYOigd2kmuSuMZQTGettHrnTU5q/upyy88QMvb
cLYq0jbV6c1JndbZed1Y6hrGZ9/mjmrOY7+EYg7904xE7u8/nPb1OpyZ4CZxhtFoQJ83AqsInTNU
7frUaMZt4+dPStGjWk53QcjsCokUvKNHMBf7VtYbBtJU0PUa6VnvOll5PyTahSdp2YM+f+/Pn2d5
0n6737hks2m27ZqK7NZoWJ14chA+u0pTb4bk8e/f/uuGuFzMYj5HwwXr2NmSNAIDmqPGwCUWRXu1
QGjetfvZznYI3y8cfP5wKQ2ujsFslxaoet4HjybWvwmhGSra+ME0CueUaCVhMbH4CPzJunAX//Cr
cjXL4V+6vtBqP99FoLedFvftcjWKrbLZqFa+zsSFRefrW09DguYkLWt1gV+fXQVoUtS14dicSqNe
N1n308LDb+g2q0CyjtvmCtPIhdfi6yu/XNKmKcpLT/P6rFhQptpKR41LJvMg9lgFlaNaKcO3vz8X
f7wKiD8OTerSDzl7LnQHVjCO3eakl/kp7+WDrocX7t0fDoZkwkmhoyMBm4Vz7/NPhMRbYsyam5MN
kR7CXzVMaHvfRpsjYMkQf/RkfpoxccVOeOHp+NPX+/3SZ++YjmcmsO3ld2vKXaW1iAF7/Dx/v4d/
eASXfhi7H+QcQV/m8/fLS5xNCM6NO6vvK7hHunmNWTw7zhGU5r9f6uu7ReUGVo6kHxqzX34uJe4x
f5hxdCJZY+bBQ2kd6sCKJma0Xlkl84VF82yNQqBG6JKto11Shfi6bCQBTfuu6KdTrwFDVfKs3M6d
Ctw2nQg9RPzCoaLRL8wJv1wU8S9zNMcgtlkspLnP99NPRYr5iGhQ228IHNMcDjwhyey9MVibkft7
SAYlufSUntUVgEhVejVLTxoqD5Pm8zehonWSjqpyEkix92qtJZu2hcbQFRru8ibQbhUrGr5xoARX
RKl8sIMG4xao/+T7bCX4I0VIhpzTDQQSQQk6knsg7uYgolIZi/BQMCf/+8Nw9nALBG20ASmTNR4p
Pv3ZfRrjyKkDI+PvQ/cxw20vHv5+gbOn7ewCVPmffwiJH9juTWqdwCxdkaEWjGjOyRpA1iWC5tk7
9J9LIc6i9Ut/k9/g86XYapGjVFpxIq2jil/j1M2IsvhffJ3/XsM6e0/7JoGQghj4hHtGym+QEBCF
+Lp+6TIIpfi0v23t59/mvEa11NGc/EwvTqqWkTEMb+EmjbPOGyvGKeTS4/jmcbtJ8Kof4x5NKHgp
fBoWchajqmOvhHVFV4r/Btg6e19XGhLgrFkUu6mSRjupt0SAlAACMJASmTEFuf0Rabm5KwbrR8iq
50Xl/J4oCqEuaN+8GC2X4XWhxWwg0o0W5IdwdnmWggKsg4SeceZvCj0bXdaQRTQfaq42apYbGEPr
1ji1MP89pUgUJnB6HibYcouQ+NVu6xArp1asgip6QXbyNqD9X8dj1UJOasBPNRIT1zyY7wi8+J4i
gQbAjGObJQDlDM400HPi8DSP0yGfs93QEFtnAw1QsAjg5zcbYa+KMKcUHYT9MCC067DozVdBRVYx
nRVyekrDUvRruAERUKkaRQw+ElgJkWzdSOCPFonpuI5W5Z5lgE5gFXfgtICPScTo70wjLu9Ekb7q
WSDX6PatHxbG0a0OAmqbVyFR1YqKfFegQmJihZVNJUmosTOxbiLWIjVJwJZEZrxWzNa4b/S+Oaol
/kpc2c0VCJtyn8B2d0VUyZ2m+cUPqw2arTF01doSmBqdAq072dTWIce9RbhTqqxrDKOehRjQ8+v+
pZGBuSJwVvsA2D2tyF2Zt5M6SIhrpsC1PI0djCsATxMJuN48L2rwuvSxvNh6so76LvLmKtAA+E4D
UVPKaGyDCuyQQzTRE+FU0kuy3AdvB0LrKh1CcSWC7KPS1ABpeGHv+45MVHTS5qae4Xp0Oc5zXCcC
xCMLwxDZ4wvkZsA+uJbXqu2b6ymP9F0pMewhGa+vI4KfDtlQtzvDmZgjM+rlRzY1WFbVL54Ya5OK
Sf8RzCYmFgF/qO8Ca18hFiWKZUrXcT29iYF48gAB5PRYWT6Mp5B+Wkl2z43vl/7WiMmosonI3o3d
9Ib4W8HlavOj2HnlmVAVUi9MYZ+VyPi2ROnFa7vJ231jIi4aSgS00VWfHKLKhXiO/aPLLCLsNLFF
AB3s8maQO7/ooG2BoEAbn+q4pQaZrPSk+6gH5aWaDE6DteVvfasWN43MaAg2ZciSOVnfobxMptuk
Gd7diEF6MtbztklrC8F3A+8YepbXR6Fylw+FfWQa0m5aIx7dXOA86LqIZHbQMxuT6HSgP1Vw3Vjy
nUg/hOp2a5CBh5uqT3FKy8R6GbWY9jVl8CpHt71JFV91/VYb91qUjeykenRdJ2G/b3zNv/eDOdo3
ZQHUfqyKW2fC7urM8CqxFoJIzCGlKwIvvJTwURI8hessjTQ8sLp9E7UhVHz8MFs7NF5NWJaY6RB/
JZX9C5ohwDvsPyub4HoPxj5Hj6Ksj3jD2Q/V4HoASLHPfUKhkDTVdEfCO1vtRy8s7Pw5yEzijviP
G112hjeCktv0Mamfs1HMdC4howJJwQGlDGJTFhN2lTIvvapTYd472KYjsfgKR4w9GemoEAboWaEu
Da5M/uMqaiAWhYQQAkKry9dAwS4LlgvgobQU+hZdNa1aw3oPTTN3g2YB69tE+oJ7TFd6a+PbjpMR
4b4J+NG2yQLog8IjcNPENdM2R9OPpIv2rV8NQdU9BPTONu1ij+3KuTiENkrwPgfNYBZzhUV+pumf
VL7LP+HfaTOMHTUsf8RdpK+SKQD30ESSj1xzNNRBXUGWaEG8ofgOQ6AvsUOMBWx8Z11EaNdm+F+b
TEkqOrC5/JWR/bWqcD6tosp6qTFqrmSUvA15815izWHsEL/1hvJNLzuIiKP+mvvsBLBScGIxX3b5
fV4Ng3aOJfwl560DoqrHsTd3zHSytgwfOHAmLuFlhJC1ymOdjHzMykzR3IXI6zJ1RqYJWCtoSYgr
sxrDpZ3rWxPSgztU1BRhEPoAmMLxOu8n1F8wB5on/kHexDQaMeBGNUcGVoynyGpw/RhV+kzG1JOJ
SvFb1ynZccBsd5jmIjgGqAEqrKtAn4jsST1rgSJgKFNeZWA7XpZjOMQYiODRCdA1OgpGJDoBnhY6
5iEPrHdpo9uacdpeNZYDF2wg3pb6WKU9TpKbonL6C+qe8btZxlsxSLnu4wymBe/JBqyBeR932rBF
jNRcgyaDDlbK+FBnrL1LrXtFEZ14yRgO+E+NDxah0uuR87LckdjSm23lIlOLN2XvTFtALOMmZIbE
oz109JXweGH5wnwp9WnFLjwfRN8N3kws2UMZh2aPRLfrYFwDk9xGCJLdQXXiZ+k37PeiMPLXIh77
hW2Q4wFXh+AUjwsjV/TY7BxGX05h/3TivHUBVYLocGZ5gxUugT1EBoUrMEDC6ZTJFfD771Zj/DC6
7nkywLfUehrdA5tMMCBQGRo9mEHTJCwMGE59TDsluDMikAAOJtxV2+gc1McEw8rgjykJn0taVU/6
mL7z05j7PwVGfchLyUSGeHRcW0FwK/jBmEA44cZKciJcKHw3bYpfKF8wO3nKe8/py3dTZk0ry+oA
lIR56qYkgxxGS44bUevxvsFQd9MnkgFkQPi38OV7VjEDa3ASHtS2bdeDltrffa0ngyLKil1qMCNB
e69vbIAIHhNm8b2BcoZRG8kZRpnZeJwnG29yJ2NML4HW32eAhHjc1fxak5gBBiX9KGfWxjBG1dio
Zg38VIlu5wKVMQmByY55yXxbouHg/603wZU0BwSw+DaP09JMRYgfeGx2/kPTpnIbGI3ctipcrhQD
ORairnzOK9pYXVbZ2IZ0baOgh9u2ObbHVaG0NaTk3rnFKs4jPFXOq11jH7BrRfOApzl3QG3ttVQH
NMJjy4uaUjxBUA5xp5bPIlfanyaWQQxVyZQBQ5wzA5/kzDovkg7CgBzUk0bE9aPfBTBBumrcJrnm
kwKbT2szYNTm5DMLsm+TUWIoWbed2yl4VOGN3MuQ3Q95LxwBe+y9Muj9NefL8lEulkrQ3va6VVh3
gCcxJhz1eIP41t5Gthp7cdXjz3VoeMed/WDmDWQon5oyHOyhIOGoetdx/UDGTAc0BTjiU818VyUz
sSqnxG3g5LHO8my5aZ8UvyCmGhtGW2QoK8ivo3gmQ2ma61u17VHbxg7fFS1zkR3jSGsfK2f6aTZq
Q+HTvU0jzLJp1Ovrvhaql6ja22gsP9pIw80sBXa3wSa1BfgEqI0p3I0jox8mVPgGbFb0sgq1m5AJ
jauQaefabTRvytpgZICvdSMnbXzwx4nwu5CXMUzTpwHFt0eb+8MWsYXHfYwOIGNvu0zzBPrWbPNa
quGjirgW/DAHd5wY03aoiLgZwEW46jh0WzTI0W6Mp4T5jqltqjoY11KfU+Txfrq2JM+p2QQAZGxq
4ONkaJwp4rQ9RFFa3RtVFu+q0dRXgKOGa3jS7U9u/LQVfYIVbQAPv46tf47QVcMtGNMj4UAxDuXE
f8QKjjMde+E253wL49AGGEv1oaGlD+ujiLXuW0suJPycKPGcMrevUXEHG2OmatJLs72DaMUBQQUF
/0KEqkw2ST0NpxLGRE2d2lc/iMG5GkfjBW1WicfUDnOsUQYpkrrnl4x/lhIO0DHu2OV5THoAAo1O
hk1u9OvKbHvXUHsnc6PW17S14C2deOMhF12bA7tyb0rLzfDh740Wt6eAOQJgiglyNJt4inNprh27
LHbJHJmuoSk/0qbFSldXxd4uzepbUmkcbewsBFtcy5lhBRLVjGMOxbWfArcn91JP9nQRpnWfxeGd
VpK7A9moth7CiERWrZYP/YB9IwiZibHU23dmhO/EtwB4VnWFowmUt9X+QGmJVpMpiL3Ev0d7vVcI
AQX+sI9TBvIKFbWXcnWSV4Y3gCHGagobZOxNAn1LQgal3QWcJqPkUc2E7POy1PdxaX1zUIdtVLsO
QJzVGGNZ0dw89H+kfpuvZCIFJFcRe8mwrIUYQd3SjENOTbbhctQLr6tm4g9Dz8ofMzBSsedAh6Oo
txU+qZZSwgAVYck04ukaSgtRRlpszNe2Vt4lVfqjg+G7Izo6AyqlY49UUqcGdgAgxxrV2guBBqzR
Z2YbImzYHsDg4mTk0cT/Gj5TBdBSghr6ZobB+Gqpfn83McXf8QdGgDZteAM0EdFgMBsaNGar91kZ
tOJ7m2ExFbmt7614tHZiDnVX8UFzUXH0exF11m1C8Pd+zhcSYk8+AfStKvPqZoKRY/vOLR0tQGdG
8yOwrHclpRUpOIAcRjLIvjnCVrb1pBQ/ncmHyMB8y0OYVa7CFkyFkoUt3kVfYSCq4/hkZVgZSqXs
MJ7RFWMM6KrQ4b3KD+orc8ARoOq2TvwZ25ScFKqDQTc4SZWTspXDQOKUCX/tTm1G2wWrI9aaD/rH
CMh5yRLQhGSI0QDTrXlFs0fgJNLfnQDWR1nA8tYIp3VzKQMvkgaMktDXKK6IRmocXFrqJGEIqvq4
yThXlHW3UarqqMzZ+NAKWhxV1Pa72mC6Io0yuKobA9N8ZtjA+qLuNsmMjrg00b0AMLeP5hgrN7iS
YKkORrPJwO9/D1lqjuAFEi8eE0CuPFXijtIWYkYRwqpziu4BOtt7P0DpD1vyShmZzVcifOjSDUF2
8YoDEL+ISLQflLA9awzlT6kYJJ12DUPktrTWIcp0TwTCcLW25OCH0TXxojBM+H62810WJtZyAzbC
r9m3fuIpGp4CkRf71iDg3FWzqYj2zDwgChmVBkXeDlvzI0yMcZ/UI8vQGKfrVGUEXZY+ggoNhyqp
GU1x07TizdR15QAab3TTuRfI1PCz8XpFsAZ6Xv+ZYAX4EOZLblrtTk8LGigW4cB4tDCIFzojyDym
ZYKz+NlRp28WVhxKrAlAX1NS6CmpsrU6UuqSbARxl1OzItQCXpQUxaomQWBj4u92rbptQBzMJ7oY
PTpDtCTMos1bvcdvFllMAuMKln+UqeEukn6ws6u8vg+FbT3wpXTXtHg6IxtZUTO8QBHDrSaxWavU
Ui5NXuAebd+thyST37qojNZTm+ovbSjEjRMnInIrQqg+5jYlPIyl9NhLRDlp20D5Uf1vWKeQT4QK
OXICYEwrwaTlaS12jdMHHnbZX3Od9GsgNbixbZ3lE0XsJnYsHz9Y+WsE5fVE6wnyDJFgAEprAGuS
n3iaJnmfW+HTHA8kKCoqOCXdLnCVoxilKcnrZHbvA0lrq1JLyl3Y1ZL1h1+PhFSxLyajuTf6XDnW
RmEdYR2HN5ZM502W2Ml6hlBMQ7fka2jLuV/54RR6cZtYIwVrm9c0/STNi8Dn7TRe2VzeiTaBU4VK
YiUnTO+tMmK3GgzHMxctURBFFhvoQnw37e42woF4ZeXseDn8Dz6fGZJrIap1oDo/mSxXG6XLeS0V
o/k597QnERVTZjXDRsgiu6E47AmUgnGl10uQMWYv+INGvfWzLlnwIpwN5tJMfsyYyDd5TgaymIxs
zYGGMAF1wpJetmm8awtg6IElPkB1IL8r53lVVgbsOWl/lKVawUZOkwNLrnGNuCj3ZDugmAoCvb6v
sm7kBJ+2+NfIO3R1rCgbG9ctiWR+synx9Ll6nP1C2Rvy2tZv4QghBkSBph/MnKe/m7XXxZbvhmpJ
mw7YM1U1uQzviU/eTNEY2i1JddUazDU9OdnrXtf+D0fn1dwoEkbRX0QVoWngVYCybMvZfqE8DuTU
ZH79Hu3r1sysLUT3F+695xYAmrlnZyW010JKe/RcDgXmWgN0IhjbaB+Ez3p83Fhaor0WZK9fR8tI
rqqzqgsUbucdkyDzKfrSDR9uAxCSoAIiX+y9cLolwDFqhT0QvxAsMYHCZtYHWjyYRFjVXfnR9zI6
ESCo9gk4v31kdMkDsYpdUAH22808Fn/IJvNkjTyaWMbmhlAsO6wnMrDKKFt3deaZJ5P4glDNBs5K
i5h2zzPq3f+MDxV327Vav7RkcBjINrM89JCMt4hTyYmiatsaHQkLXaNNe9Z0RGC5CY+jmCCKpEIe
plns3SZ9bjELI6LrhrAQPX2ZnmQH9ubtnUdk+dFkdHtaCSvlZlGG+BsLp/mQbv8eNUVyMgju2uUd
KUZzmv3E3Tzx4zMQFusNzRf1A07RtIvIgJFzwFaUQVVLWyCcXL8nHJ732yatYIk9PSxrq9/zclpb
ICQCC5zZHDU1V09mlDnv8+oCw575vuicN3go+23tEN00a5V7EHZbc5a01XOnuV0AuYk4kgo+kZFr
6cdoOv0Z5CbhvKk2hskwQ6ZfIUtmTYEbr9SalzXtwSEwlyDgXfZR9MTDMGj+Cuj0VUe6gmM0BCZL
tIFGJ+2PZbXHo82BQczgbJLXrPTphatO3Ia75gE1hn6fNIwmTCca98vo3JIXcwJhSiydmSDBpWzo
A2xm8T9YlRKPeLK2/E5i0lOqoSj/mLsiGHMVB/IyzPLiAj96TODPXPVSEHAo0NJnpJAEdtWV1CDY
97HCkdsg+GLfq1krgtiZa4YXvfLdaJkpSfvRvgySUdxqkj0ICfQdUyiqgbn9xWk47cHvEJIyTz3y
CR3F9Za9Bek9U1NtLcNKLqaqJ/I1nRXFFmnoCtvNm1zEO8s1nXKt+bTzpCNRoKX7J4KmP4gWIagG
mdWMouHHKj0jZpS70IZkfdMfXY8sqQovCV6qXr2bpUmwjSq7YMSIbFbvt+y9qXsya8HN0Ff2n8uZ
f3bK6QNFZ3MEsbOpunzDAFD7SEtEyXMMdYfhQe/PaqSxhOASEmPM8Uv1+5E5hFuZJdbeoXeyp9Go
FUsCcqaJXnS2UVYl+6kxTMp1tCJwU8pjJ1nA8sbZCeLIQdYb0xy8U+MZzYe9NioiHL0zt4tIXwYv
oUOxpg/g8vh9BZ+fzwUgnlzmBcQeD0UaYNpYx11ZlqLfWqUVbfQsemySabokwDmzkGF0272kKK2H
bdar/sUyxeDrXeoRiNQBKGgTSz+SOuoeZjJb3yKldwFvLRtK2UWHeGFibHrJa8Qu26/cGE4JKLhd
hF1+T3sTHXCSADbPYtDENdCedYA3qcVdscuGifGdN9a3pFo7aN3mX6lX//K6NHxCQ3Gj2w7jtdNI
L6nCIhoeCpfYyMElphq8SkbPlJhhS2oTs93832BwKo5NWdwwxKxT9MGJ3lp9qSmlZ6/dQ6AIveyT
4VkdnatqcKwLsdM3iOrYp+lOsSK+W7G2IogS6Q7JHfxiUnMAfSqSVEqDhH6pyZ81J7e3wjCF9b3+
jor4NpJ8VW9ldpLt1ni6/QIoooO63kp5EiSeEc9PSJaYy8PKJbLJVvupbQmIqCMILYbVGjtpEGLb
s04iQcqbqH2biEORU2Jphv7oIHVf41HbLFn+gouDXR2+721WuPYjNKl/i2mcljx/XnnfdzpiR2gk
DOQL0t+Bn13EtBgQgyh5Oz39JVsZY49zcsaHErOiTRIlk06zlBTuZRG9rxRjF7NkyeM7i5b8NWIa
njPpdp8GGXKBt5AsgPXZWLne3UyEWdmPV0e31qNrpp+u1b3GjU6Me0HeQm+MzMEcjYD2uVY84Cr1
PdFwwtREL2wEEXP3Q6NPJ1ETtMZceNrUqQZMU2MaXaVMJ4aqjhn99gr+Mq0pSUrsSCxCN62RuHoS
EaZNUYH5KQzG+kyMCtYbHMILn5YvJiKixsYcIRcM6ZZ8LTTMXQk3ZakSAlcZ2AAH4VITzvDczSxT
2jRxTmAYPjjOzZ3DvsO3wAPc26WbBRHiGb9Coyx58XFGb3TkGegCmQFthMX7rJH3yRyIu2dTlGP3
Wzr0Slbu1mHdUasRPgAjaop/Z2dOQkhZaxWy5HhvOYB81iskUkXzF26ibGMxKWIVo1OSEOa8NTVB
Z5g2s/5jaF13anriIDLoOJuYWc5GjYBtGURN1KVNfbWWun/M0gQ5+EjGy6NjlhWl8dq0/lJNnxbn
VFCQEu6TbfQFSZx9rCnbhXHtIAjLzsSXGbvGha1NfbE5S/hB7H81HfEpi+VCJqxNurPNNINhW4LR
xWBjW0Y5DXrxocdxu8cO5R0ZPP/rk2Hin82YDmZVe7PNd9ESFP3YP7WezsQ2yhU5ZeROpgWQZNuJ
E+A08XBfleqrdFczFK2HNjHjqqaOKzY5+bMjUbuOWljBDG+ixA5FbmZ50QZVNqfSzMuLzh7JQXre
zyTzjtk2H3lAGl79sIr18s6aC/O+YZJPGF9FragP/ctkdFTlmTaTMd/cKA/ma02oByZ23O2DbWfH
1fHyo9Rv5bbiWbBTpYU243bbxnkSKK/vt2p01J51DZSrtkq21BzkSNSeydFX6RuP4XoQZfa7URWv
6L9c3uouCdc0MvfQt+y9N5vUb1E/u1sWlcvjaCEB653JOhAfMYdT15XnelYEdXbuitUMfy4J7Xwm
VuwBMZN8FYWcL9rquScn5m+AAf6sO7IS59xgG6CbUNU7BcIFNrlP38uhyZDpmhgqUYEeSUXSp57H
F0UsOpsZx9ywZh+3RRc9cJoI6FWRcZRGke/HXqT7W1ovzQ0MRSPzaBCghYT5TOg0YvnGnxYGWYRB
ofO0ESAg5VdsHyF3EKSnse5AyD8zzN32MaNxHbPYp0kpxFYjzv3ZaLvTjOnlpNup+ZXDptoQrM5A
RpFDRmpqvXfFWFwNKrJdnA3XHFTqLpMtPApRGJc+u+m4hTUGiSzWE4pqcZTSbg5Cw/xQuxFoMZWq
zyRNmzAGpuMLak/g7qXJjcLRD5wiB1mjj0/WyCKGAJXuBItAEbXbd6FdrRwfiYHS27ABsjEQVBtv
Aevk5eu697xYhuMokt1UTKyW17e1HdUeckgdOqMYHjmfF9ZEWEczPL17y4jSc2Oq5kRACgmQ1the
GSm6bLOWgbJuZQvbxtl9p6YnQam512aLaVivCUB/t6200L9sT3WXReC2qJxeHrrFXJ6acWDMRE3h
O9QxFTlm2AjLe5VIN9S86SclqOM9nirw78stzkHmnATNFP+U4yK3uZtG9MtTzjJb5y+Mt/jCahJX
Woj4q7etagdqDhbSLWJJxG3m55kz3iEnJoJfb3WusKhF1hV7R2hT3pFb2DzEedagrijJpWlykAXc
xGuXLzuGqiqgqm8BODfTpTLKfO+47nCrDDUffg/F8aAte0NrKvQMkop4qYm9npiiysx+KZrB27Hf
UcdGdjfGW6vT7474MmRPumfkkaBSR76WTvNdM8c16dy3eHDLqwEIeX8gJr8VXQh76W8bucVBulrx
Nlkiv47LMvm6iocQE6C4B/sqwnxkpWvacXXMvNw+EhGX7rIyf8mEU9B6Gvqps82ZD6Ane6XKCVFh
XcOuCZmbnFDZsbpaDqYdxW95vPxUffuByybxDS59v6y7dMvqVN86OuWT0MCo3MACaFwc/T6OUDF7
Tt5ta3s1NwBqzCDl7LlURZds8mVhMS7nl7Euup3mJQUhzCwCJhmVJGUb2iuZuQfEmXdLbaRbdgF3
cC7d7Tran6PZJ4G9cLm6Bl9xQuqSs8dT3dGZGXce2YNX5Ky5L2bmcY5HNno0FO4PNZpBEqlTsyzK
iQzSXHVYOtJlrMX+VNRzeySnyEi8iAToYbY2Fd3wNoFTyqtgfboZ2z0UsC2Bs7durNXfVzGlZ6+K
hiNtDCYHluApF602IUpjHpAiw/cNUfF1aTLrCrwtvxgN0Z9rgmdoTZI2JDwFemOtjHvztjDwKvpB
gWBuY0uYh7jEy6uMpUtew/Q2MSPd8iVLAiZdhBcZnb1fI4+1u9TEX4Rx+vYi8PfpMvzIy4gDd7Qf
W+oOSZjNhzcT6ZJMw3DJOaz3mcavE1vMfJpOvCIgSG4+pXW/wrP15Vpe3Wnt3yQ/WsA8iieum9FJ
g8cY5H3ygX6HpGZhP5tj6gRGnEzPbu04/BZkDNs54yTSl/pD0zvrtiOrx+3H1zpik5hNUJsMNaSb
EeFlwLYj8l01lqGXGP3BHIr+YdCjftflafVM6JgVAL0xfSO2ASCS9Ff5UTvJT9vUu/3oLtZ7TOzI
i9a4MemcNXRDliUuFrGCKR7yIL+jnQrdhPHg0lIFkSxMcHwjh6uyqvVxHEc8R4yfwCMMmwTZ48WS
bfcFtKw6M4kS7Pad6JmQJN7ddiLpMq4YxaYk4sAq6Wk4lf6ddy5dDm6qf2sfte+F4a77OcmcrZVY
DBTZO9aa8Gv81ib5K9Tov309vSVa/AwZDJTGTZgzF0wACetxkaXJ6dWN+T+QqViHbcf6kJZoCG6B
Zfd2Nql/et+Or4ZOt5PR4ZLcvQwhzUnOrJaLtXM1/Y4GMSbMf3D8IZ/IsyXPJPCcwQhjD9XBHFUx
CV3SfDYG61e3vQzJP8zh2bQy3zDa6OrhhNp0dm1cM+qxTS9ZXUB7gLVjUuigRyWFmUXF3rAatvja
mN1b0TT6wAFJyShVNmxG8tjf0T+Z23R0XtxOmo+WaMw93RayHJm3nPANV4trR+coa9ftMpUZaJfo
KSVo9MS2sHzpbfQU1eIWZ0MekUMpglS17A14h+M3tQNptKbjES5SMlYT+qOVf6KeZYJzjfp7KgBf
8bbqzJtT4ohyVv7Ta1ZuDXRErBAvbfU9GtldtC7kFz+AxSYtQTdPTGbAM1OqxD9ExXNXMu0tyJ67
bfTdy7C8IG7c2lLthXyGvKulz5lit2c/NcbJthlA3sfJ0Z3vodrxft23aYSt9rcVSANayrszuIsI
7ohXVjQ+AkzRu4DSZGl8yPu12Mvyx3OuNFybVKdn6M5MII2VJkg/9cw8qyFMFXcL0UY8s6/Kudb6
i0U3Vd0n6a5zGOvZh6WG5VP8ltO+YPrUab7ZsaCqzwvjpPRgzA+3pfPAerEYez9D8ZVzw6n+j+ws
SoXfTgvI9lbDeS5/BtyRZnS3xt9GqWBWQb/x8ocqUdu4fo7Fu9aejSY72Gyspbg6rbfl8jvX0U1c
U4cNnz/RzgGk0JM+bOfuZ2FyYefoG+mo9Ol1YSTVxeE0IjGgJbKouxhpF9PeyI5iObkJi1ZRwKzf
68W1ap4rXiBFi31xeyb8JHuOfRE0FkRz13d7N6jHn9uzk8kf7SVIUDzPK7SM0Hbva/Wmc2zGTX7M
zd1knED4HMqCjFPaZ86HQf/OEkCQyFMNApcXgu+mpyjG1DSQ7Dv/cA5tShIUB4ZwojmqieuHiPyc
vAG9eq3lQTKDgG25SaNp01rHBKER3xuuk4CfOk+2rfGgAbgVH3H9UBiHPvm5ZcBjO/Inmw/woplQ
oC5eedt+fTBdmZyrR4ROZ8Nq/xbG8zK/Yo7asN/oxCVydw1rLITvGlqcfpchnyntsDd+CvaoJZcr
qeTpqoEdu9TRXSoAXiHVyi8u17kEOCU6vd3WNLpE5CP9KmtNsbcdxUsy2tWBse6XmZv5HeGYobPS
VuWXCYCzCzmPGqxXM0oo8eDaml9a4JQLmLocPUSfy3NktqeE9Eij2BdOtZkgphHHBm0B9A65Q6h2
2SqVeeDMFws2lODg817GlvPXY69WMEGNNmJ8IWI8YDPstxSFWb5L2SZP+M1Qsu6XOMXg+DSzaCsv
EgzOTGtvd+8Zgd+E2rDfda1LTpiSlxNl1t/b84vuPbbRLkN/uTZ/DCZ3mnrV10fTe4nVbi3+JigR
bK7q1rgZ0vf6mCFG293wI6ZNxPzykbYvKQjGUd9H8XyQk+7n5EO1NV5ajzB9pvXUDKwODgvKG4H6
zQMvoKqnznjtLKpMbU+Je6jNG/MCvkf6K4AVFGxVan4mJgybZqw2pfw3Sx5fdl55WkN6aGKGOUvk
21XBJEl7QFgUkPM42+R3eD9Q9LiEHxz5g/bPj1HH3kzaBpP21dwNhGRlHLoLm/jDTQQpoNUlF28x
KEw4FvkO0C0FWlGFaae9jqjPyN/duNE1tx/Asuxz69NE7r5U5Acja4ibz3qMkWc9kyh4uxDnW+8v
rKDQUAI0Gw9oTFZQmJYGGpVn6LE6LSKkiWq5CKCPFqaJOXqzPWQZSXSMSEV2ok2f/jgazBMr1LJT
C+vLtTHfjQ8GwXyjYhPOpojKldO/DeC2nxTYqwVmYWIHsfVa1RDK+URm+h4EAbUkNmnLtpMH9izj
jnnHHenCAlNv7H725k2FOt/lSx+UWvSvG5uAoTJUqYtcDlr5Nkzftr5fyp1B7ZSTaOl91fYDFmE/
JQw4t4gdlUdFg1jZuwqY0wRaKzfwBV+5XVMCBm2/mDR/dr5Xztyp/Vb5s2Of6TI2dvMRDx/IyUIb
1QAKBhSXd2uGuH0/aRd33uM5713eh4cBkFb5rtUfzKuCRtDcOl9a9xTfKGrptix3Zvbajd9O1ewW
FLaIDZC3EVFKA4S8sNKGI6nfHNkke5RfIn5wOkJE6wOLGXz+T13ztrinEg7D/z5mSDx0gfzDiBjH
f439cMMbetrelo/F/MfWo+5+kNfuCRuncS43uvlTLrAcvd3SnrOWK5RTvCfL2kGlaGW7tXweXGSx
6720H7jdtpTVPqkH0V/LrOSPJGKowL892TnxazZe9eW9RBti9CeNUit2vB7+lsiRZ6ScSJII5QwF
Uwidqj8WUJZ2PP2eUNEaMLslk1NrFQ8TvikefLKlivHldB0nhIMD08HyzvCYPWa41F7TCVqn/e3M
vx2yk4xAcHsmw3kFyMEj4cvgL9mvxsLBBcLUI62eEhEgIF1sbcdYEZTIG7KyUEbrHXig3TrL+whs
Ngvt0MhxryN3KuTwsRjWtosPpfvOpoCOutiW9lsS/cq7nmAXvdx3X+6h7e9lw3840TJvxnLXs4pb
x/gwJQcJ/6AhiTlZzzcxz7i8WJyqecmZcTsgxE/JPQUinOiuB6fENQYbrn50YWw0OQ/5g0PMAw9I
Ll6VF4EEsMzZ4hr4ctaP2H7qhnPm/cJHKMZjPJ/hDG5kf7m9aayieYkOHnW3eZc2j5HJJt52Qihp
/Gu/dREu1HoMSabun8cojPUJV4/y1S3COv3K8kuD6IBAhFWGg/um2Xemeb8YB9XR0ep7MTvbkWvD
co+Gxiai24rsTrIdmdYr2lRk6XeLelymL8fgG/NRpJ9aAgXeRU8P1KfRLkMbsPYPCdD09fFjck5r
/UCwZM1GsEnOUwoV84uhj1bNeyJHy/ZZt1BefunOSYrHaHqBMlTHh9XequRUEhu27nCx+6K88xjJ
1tN9kT0IhLZp/1mkPV+Ck+2+jPZu5hZLYywsL7b5HGcPw3jWYxDyyKT690weCYsYVpd6JUyxrvIN
JT310TMhkZIVtJWjzfv4vhr33hDSzwV2/819xJKb2ELJLfc7y3xrVWcXfLFdQEjQi1CRk0q7L/pr
kpPtaRL7m4mNoW9li3kGXVTE5azf4GGXEl5WXB8G5zHTp/NofsZDtCtMjyE1hDF1R1/jS0fR/VSb
kd3FrO+wG4JVbEKKdcpmptb0AZrUASXTnCR3gEg2DhewWz3ihUaA+gIfm9MuO86k3Bfdd4pouqxI
YK8OpfGbjM6mNd8yDgBTz3CGZj7T6JIyfmaNGE+/w5IEWrpg7l3us64kH4TxrcE1x69vdK9E3HXN
dBi8B/wUlATxdoWptlBxzE7oEADbyCdTFtt06h6HmLT/VXDKxIGKPmYbzf70EjWXIrJ9rQXUxcRq
tf/GrgzWBKvMV5SQXYKsM+M8qJldKi1I9fvOsx9WLz/3TbydBDdWXG4iDZ00H/oEJdgzEShKTrzB
fGkLvs11QRB9/C0sdlXZbztWbCFQ7KOj4UYEDj8cR+xu7LQ5c8noZ9Jc8U9WiFoiAL0OM6RMPY3j
O0g22d+TaI/qghM72qrqx2KzTnQqu86/2g3lIHZGFBGinNGPt4fEGbaj8dO2ahN5AARvCT5DqQ4N
s08db84GaWXnae9aNh/qajigMblN+OM/FcGW3huo2zQ33SwzF1nyvJjE6NYqZP537jEm75zVRk3/
17hwN9VrL61XM2+/Vl1uCmjUwvppy7/Edk42iIuYUI6yeJ9USp+O3o39H0vmdQT399BoXLzJa+q9
JKYRDgpd7/pvRhASPVfLn9dCCsNsY3wMJMQO/MTJXqyHG2Z7oVcs5GcMgVUF2arvR2c8D/J5arcy
pVYhmCbTNga7YDoeXf3AnhzaL9u6tvXNM8aW5tTW28K4HxzygA+2Y8CkCDBhhMgm/J4aUVbpbgCg
OaHqM/Vrr06DOCn24TL5KS3bn5kd99rBZEfaMM/NjBfHuYyasUP1udHppcieICuZJ49ZBUmAn946
MuY3w+tsQbsYwKkW19n9AQv2bwWMIUpBguxdbT2jWN2k9cz455czXkR3SjsZzqHMdkMO4JOfjX25
vT569t8AjZnxf6G2ZfI2ORGho5xGuJCOGt8iVgXwSs5sni37t4obZKLP7ElSdG7oy4hwyYo/fb7o
7bONULU6GxlfThyEsX4nG/Ree3WjnrinpqP3sc9j+WdJGcTQSRRjq/RZDuyZAEM07UMkX/LJ9sfl
rm8j9vyUZW8Gkq+FxBCHCTtNH1+ALro4hCvX1VM5vmrtk6sep2U3qisMSZ8hMMPzo13wB5oH1X2Y
dDDCO3WpfqiZaeQLFRAOxLJ4haZ7P6d3jXbCKwg//bFwTqV8z4h1X5fedySsVmhbCbnEIO9Wg408
vjyLGWuJeDKhrtOzvxHxaTPs4+aSAblMa9pcbu+q+vHgY0A336XGDgSiZcJyJ5A6XoI2A8QYN/sh
fR1r+Fm6Ym39nU5fXs9viNxAs94r81+rxl1iLYGlH0A9IObie7y6w3XQwAQT2CprlBqka/eqChN0
BSsMINlivxDQrfLpn0DRt+g52UvDGVPXkaFDtMHj9worxF85qRFV58fIY8SvuXc4Cf01r85FvbAp
x/7I1AeKS7qE5tgdO0K9+DwcRdOT32hZ6sEiBmYwtL9ItGEZ4flvhZ/H+p+r0CKZc0g09ocX4x1i
JFvBfh/Laoei4uj0y74HLKPfBE2AwNDH9wSz56aOQnr9NiLzXpFyRBw4LZi3s7oeUvoNATIGbSX2
7cLL7izTwa3j92Gu34XQ9t46hq7Uz3UNKrVZfYZiG7kUD4w1Q2ucj4z6P2wKROmNx8nKrkAOg2la
tmkDWdx0aiKfJKl6+qF3tXOZx6fE0rYVe/8NS41fpcntUM6P8aKzwmdTNZn+aneHjrcm9VwucesD
yQu1BIgabmO1SXPNJ8fnKbGswFD6pbLazzl3ZWjWZAl4hXc0uHARe/v6YG1azQpXEs19cqBx9/0t
5bXvnqQYKZERJ5verZsr3tkLPUxpvjVm7ALOclzXeI8M7qHwWBBZ3q5SBitKmDdGd6lK9noV6/lB
7ecoejDTkTQWstiGtbsb1vIEZSHIWedFOhAlZswwjk8uB/QmXqMHpISXmYifKrbfzKbfjFyafW5i
9EOQY8Yn3EngTbIXg8Cs2VxfurULPf6MjixyWGLfmzPIuOWmBbm4LivKHAA7sYeyYt1ptnHu6nJv
dbynaCmnRPrKdUJ2lh+t5u7zerooY/Zre3rpQNixzoS3vNzCNHVjL9X8yFDybRqHo8ijABAaBEio
viSn0Pbc+tqpprbrmM7D83GXGgmvuNeHnyGySVXR9in3SaLboc2uGWgdsyJ9i5z9qtlcwZK3t1/W
U1JQvedY4HppPFj6GMr/AUyE+YkuQFbmJ4nat10PcKrfDfoMcAihLas9eLQHx6wDifvPym/vDz87
FzN65l8PYt1kOMfOWAMynO5kTcU2mtPTyBCpd5ptrDGT05n8zPYcFMziGU396ov3mJJl5NsjrHNq
uF9V87xdxEQ2VxTa2tZEbWZRQoJdBsAtgPcSH4usBtXH1GeHfCoCTxUHXa8wd2a7dq4+WCcXQMuT
mN9G2yrFRuYmNjQrkvaB7QTONJMRGG3ZF4twwI+fZDFJ9zW4s4jbQNKXmjI95e4ESSjeReMMptzT
kBO1YTE3pzrmLHfXF4HkdewpiFtS+4HSsQUbb0hij2mgrqsTyqJDvhCgi5Mv8hIaElj09XpAMzTQ
1sHMldYT2DvkU/M9jKdik+FBKFX81vLlBZFAJs5wrSyHAD9RNlvNyJ6s/jUf6fI6zPKGxBjIx8mR
0TZPdp9/ZItEBAhS3q72cxmDiqCyGhrKOvygKB8r1GZlMLNbiozirFiKNT1HMtUPX4+M+6MdmvsF
uWSX8FIYle+if0C5ipsbCfjKKR+lUMp4E5qWAoMGx1bJsYr6TRY1QVWz1MbeAFIOLSSp9TUXEaFn
6K0Z0Tdhoty9yYCVIMcwG+cw752NmVs7CBGBaVd3lJlHTL50WhTFvebHJGq5JqZ2JfELYbR08ECm
FfMwAQiUNQEqg6z27QJTVt8evWzc1LeeLQFbXBrdXlD1qqH8Ax8BXs5a342Jrdu4XEY6w5WxbOMg
d3bJ70Vi7Pbkd1ecmBL/UDXkTPZMTH6kyV9Mz0Vg2zJdqU8dDWFXF76hTVtOhoOFnm7pVGAiyvOm
4rUZsuMwZ7qPUPZ+TSJgbKJ8rG30icgn6Axxr2Wieu9wpNGvsW6xEMNmhn5pR0bmLj8oTBb+SM+W
lpLsxsFOdlizwiljAbzyFBmM4lEKomj2CSXbWpGzGaSLjACIYiGxkcHnndCEOwzm88ZiZoIdlee5
IG5Kp2zaIPHi4dy462sUNgR3FetU+lKzmWtkZQD+Y9conWsX91DiBmi1/Hi+9eutb1XVWXcxGRuc
LHVXIVMyYXDLHwtrib/kwk8Em3/dRTLNVaqD9CskLv6u+60pxBt+Xm2deKDNaZYqjFY9tBjvNYZ1
MVgAtHg2NvFInmiszFMl1mcrs/bIuncwV55I+ryyHL40fDjjLHeDFs5ezUw0m/YJLOm4lzscUwFe
spD93FXvKVVZR7q4A4nnuDql9tFMiENdFoCGvtJwYMOQCQtkL4CW6wtquGTQHj2L9m2qDj0VO/BK
wJH2TKQruPlO4XQ2nZ03/7tZa8aGXw33Q4c4F9L3WAa9xOzAfzXIXUh7SmERr4jexfdCfBdK+y++
exywWIcFsuPe6d8LNI5Wkd1PDOj6OWE3XGHyik+pand4+Vn09L6c83sh6oMxYImrx50ps0es38xD
WdKyvz/o0jwYwvtrZQqbN8d8k1RPNamjt027pXvMZHgpZq8/DGzNy0g81EYf4J7np+xK6KLoDC0O
JNt5XzQG8X3n3FF7fEyICP1Ia6/FMM8sh/gHK5P1kveWN9F5HbCoTT16yiR+9qr50hcD7kFU/3ZD
9O2w3NxHY71jxMxaI8UqCGM2zVgxcDkIzIkorm8LFY0YAVyO81SDfF0+zAyMtTui5iF7gWpbx6SQ
FgMldK8fIX2wCoga0hhshNyKPWuY9DMwMCRrEU2q6a37m2hzcboLTOkdsUYnZ1iGPYu2H3e2tnaa
nWemjDhPwiaWb3o8bodIibtpqhkfuqRb1B49jRs4rJYjCfJnJCvTad0gvrWO5UIvjy9Vp52Qqrtr
i4gO3DhbTfpXW+6v564XRfZnA85OiI66sDpOKg9BgpIIlhztuNjfZDDUvMHiIkW7DYGYKUkGMYap
mJnM68ayYwijDOBrjRvbZZDLgDK+XYaaaeKLR2WmFlRHULHbPKGUg6eXSSI0yjYO0TZsZxNEdwMx
ku39dixYv3Z4yatZ1QeRCN8kTKGdbYpuwXiFtITVYibejzunqFBXDmjNs0qU4UA2zKO2YM3PsNLd
1Y0kZ5SwZtok/erxgjZFqQDWurc10WheDbdu3C2Q0n5XpgmWTrC831nn/tOV7t3pdssOwiCc7HW1
WGOZ9rnrMke91Mg/3kjRKXYT1q1gsgc00RKZkEXe6T5ywNBs2jqHbW8V97VE/4WAiBzaXZTE1VkM
hARiYdDoduz3YRTtCWjM95p3ww5/YYpfvJIwklQOlDCJ7gm/xuMZrwnfaSsxUeIxyDMJqtDd16ZR
5ruxxO6DKZYy94dZmTvBTNvXXHCpRsXEIR+j7Dia9rHxCMMQCi/1ak7G/2jLPQaX8tL+R9J5LTmO
Y0H0ixhBb15lKKmk8rb7hVGuaUEHECD59Xs0+7KxsbEx3VNFghd5M0/CAjnIlRWlS/7yyD5W7Yc6
wrokcevNIbFiRR4SD1FLDD6o5a1wf6Hx46+tqIfx4sj9pC8Uu5bGDJ/3il1flWc3suRSL+ppJo+a
uKyeCFI/YUkrTjT+Yltys3JAjR2ql04g04VkwotdmSAd010A1sUlovNYAeCIoZfk5sH0ZfQdigBI
yTKheMZUzNaaomMn8DNKiKSFAdssz+z+0zynJzNaIuAOkpYiRUkJgpQ24jt21jWFTS52dgO4g0TS
5zRbJscdJdF1NJgB4pO7qgkwvTNNSU7OpXiMVtX9q1fF9bbsWi6gvhsmuK8jECPEhd3lpcYtsTeT
/Sxm89PbY3XTBs6tCJrs4MeaHTnMkXcQN3xqVUzGOICt8pCUfXQIHJWk62icD/bPyQu25PkN8gtI
e2oseB8WfR7lqNOcTqOznYTTq5IuW+BErCeukGR5MGY98pj4Dy38gX1nu8OPjUnyMKyzPrZsTWEl
hiWvSZWx2Rlzj+nceNZPFLbNyakJ4k4lVwqiBP898S0kCk60uhrILA82f15vvmsbCkoygy72Fu+5
jAf3EBgsJIwtfW3dYFex0aUlWnWQC84nBz0YKbB5Izt7NXyubZAmpSgvGGPcHc09001PGJVRrFXz
SbsC30c4Ta961qQxkhj5z066V9oImUy1xfFcE2exN03ljwe/IvOOe1H6eEICdeiuG57eJNFXUo7N
/hr6ggKgB8KINUDUUDKRNX0wo2HkDNNlEW8dylLRajl5WlBWz/wRnEwuy+/OFtOdO9k5Z+d8XUOH
Ock6NIWD1OUvROoST7NBEWrrhIDCwOqrGAT/be0pgGw6/jaOJ2OgsLSdNmLhaythPCwFTtsYJbSq
puXeot6sRDu/mUpzXzqUy/klEO4qYqiIkv7Yd/W3l60vop7JrtzqMnyIC8hwpDEBcSTzgtcPb80x
HztOcbd/rhihKCsqOEVpUTf3QRa0j/XsxXyLqEzgMupnJ6pOrzQJJ3i15glBkwLSNMj4SddZQh5E
hsuDigS9XZ2OMeqiLuxml6bhhNvrxOj7US9OR8bS1SfzCjyg0Cl/9fFUynXgzUd6ZRicup2g/Ita
2Sb/8ZL8L6PJeuvMbffRoAn5y2ve9Gjd2aYAp5GBMyBdnm9Jm3K2iSz7N9pD82RPcfarltDJ2Ydn
5SnK4vuMz9+zMf549i2MhcKiQwzqW8JRcj0vmtXZz0G5ldlh8Zhm/ZjwaTNKfQp8h6V+TrX4joGn
CrZ2YRIHCPMUTns5NmAMyLn2R48Q0RZALurqki8sR6rBHgnforJWs4vbEc2Kxr28SPm15ieLknGq
ovgme5XDA7haTnA20BzwPXFJuDTjhxg/UkIjO5O1ZH19/MMuo9kaZ+xmNTRmK6Tdq1YW83I4rB/W
yqbbN5bHMxH8XWaeFuWWew1BCTcs9xUIznhICgsn+4i61Xvyr7kCSUTYye0w+tlBWqOP7lMN6bRI
sCFDnDFtGEcwdWO8UqVDZEU0THUEJ5jPyfSBHLfhWBVZSAwXyw9vvl2n+GJ5hyZBgog192Z0S75D
NOLihqbwGfI8Bs0raym3os+VuMOusSc6wGtqOBjgEgSqjBzIpJp225cLdKKrMTBLwKvgthu2shhz
fAvhY05cJN8WPXaJaVTZBl2r6iimyrJxp9f+tjfq14bXq59CBjIcCFn1MBqvOcnRZ0dEQslHRKc5
rZQzGHkryV5zyzX/BJ9yMGCe+0Wb4Q8yVrLvjeB6xbRfb5OMzV+S6xsdfeHixV8gBreHeeBamGwB
FPNFF+/tELiPpBumDyBAJG+vlnkTu3+V6ipvXzbGYfBT0MhySGcnlgbqFK84bnzQrQ/D1f9YuYhU
EXebfaRqkTY5X2FSWYSUfZk8DI2Ll1E656ae5T0ZgR6XZTkg2oQWCZu++YjX5ju34v6Tm+uEOymv
e95/JhM9UiK7ZTlAhj+uivoWUMHIVraPydLL+r5fw3/ZVF5n22D+xub70y/YoOYhuk9Ca77Niow0
L32kwzayB632UO78HDZDKHlAyFghUyHsz3N43Zgnln30usr5zOaMNsQwByu9JOKBAGVwERPwho1J
TMEOlGDzm8AOuyfvj3ZAg7F16xZYIGNDbbYKIlbEZCW2lQ2v4NKFYZU8lnnCvtqn/HDJQ0R+iz1J
CJcln5M/g8K5CagiTIOgvM9RtofJ2ebuR6a4SiC0ZF3BeoAq0l9KMZ/GwDwN/oRA2OsHz1iXdqyH
tywLKmwPA6LApL0XD/M1WxCpf4QrbfbG/qtRFFe3kXije6C49Yt8eg24g3CPnxFrPQLqlEw/Ln33
RLDqpYlJT/kEJvmOc5xu1mF4V9Uc3omK6c8PLUhGJVCd2u/Mn8HDoPpNGOdlJR8o7u2+eRvya0hs
iVhptcZyqBJhMLpSksR2mFaWAzGfjBh1YiO0+te04tf2qxZBCotQGLCGHmBQ8cJU+aS3vWfBYbB5
TLODU1J/Swmsj5ufjqeNUWSnNTPpdhis9hCW019XC8jmso5vF5VfixYSDAx+BbhtLBAPF25IW0Bd
UNOk5x4nr8O7X+qkc3ZzJTyHPavvANSv5D/qwcW+qZlumhXvdbNG3yVqXNp25Z++b4mTLFx++sZa
NxWMlu20RAMCwsq+IwZ5sW+XQnz3whafINKufu4aZXLvj2zNojzCgx/6PQe3u7CB9Kaof3LcyuFm
bxfDCl+tekHS4NbJZwxLgqTNtuwKPRwtkwRLOo21T/NnPDsnyhENb3/m4DcclwygTo5X/I37R3ga
+x64hHJwD4amjtMAwjjihG1DeKQM98HJzfTd8GrXeyu23s0SfomabS/cuDaFtQ0tKtLBr/aaqdu2
rrk3Wuo3/ikYoEOJR6osriQB+KtcEeULK9wXm4DkrsmsiDiSq9KhYZXP2F2QcLDfvIKikiPmEZ/u
z/hXx3wluOxEey24PacDPKaTF6zEf5t4EfdyQX8bokTyfwq4PXnsxil3qW6LWj6uI+E+hjmXyawe
/EcBP5CV62KzK2V42tTtRPqfNAYrKH4ntDSKXSlVhIYyvC6hiR8tyklSXWhxzsLJ3TPZDGidgOXj
AIT+JvKLhELZZPytr1w2rCdMjDqyHiaQUj+wseaL8n199lw5nvI5znZIP8iUiYqOob/6O0vYiruI
PV14xbpt4/OsgcUyxxBj0q1OwuFUxmV8akZKV2O/IrpqVIds5vgsOub2fjQcLUIjsCFVelfRmMDR
CJIEOc/C5nk9ODKd6w+INuG2jqbgrmvd4U9tS3kzjEn9KOcqu3U9Xb3bEd21rrGmranLJdVLzd4J
pNVNxD6D6XDyC/In43LjB/Y3Zc0Yd7x4Y3ew1UWVWCdN2Pzo5+60D1DHtlXk9UckEgwLrs1xHvNX
ywrPvTFtGX5O9uBsl6A0OxfQwc62qtf6/9YuLIKEGIju0Ycx7efSQmNLnCx1tPO7TuojXIjc25W9
/I2Rbs7eTHabTXx3A/++fl5tPHV2M88XDN2h2pJMYe8sxcsalABgQjRK38JGZoXVV++PjElMXhuZ
KP9fpALeSWbpLY3myxMRLnc7s6jakDNzNizz0VjFTZksV4aQ1W/nurw61nXD4b+aYi/x/8P6YT5T
GckhmfdOGs8J/aA2q9VJLj10BDSsAF+LCNSetx/aR9ZH5zFy3H/GJd4s54nLkSqtNS0Zwn9qgEwP
S2LjWCsG7gCwey7T7DxQzPwLrExuxkKxoWLQTZgc6hDUmm6zdI5ynzXEYD33UR3s6nAmLZN5LXVk
2Ble6mTMPsKpL96YOJIP2fkrsq1eeefINKfB4kQFPxgdvY3Crw4dARuCfySLEYaG7r0YlGRzV9db
Cbo0nbQT/gvthwCb40q29GloAEimImdb2Cc5zE1oVDddj5RrRaMhg8kEDmGt+fDNADaiI0uB3riU
7xT6LFxKyEbS9jzRUb8i6wSgXM+h1SKuFNidmMG5eyOg3LRW+wfgXr2jPvelkda7k1C/gsdaX4BX
ja9YouUdm2mPNGKOlOXU2Tkh3EeGcMi/0XKoqLeJrMR9NtLj0ue3Qtjxy9BIbG6NQWtZx+DCk9bD
t/B+m2EMCBNM4lgIf3XPgZt36meOrLDcd1UsL1OUOyjubnkeMXHdgAQxB6FDg6+pAm+jiJRGDQ21
Y7WgOdmLqxl+STRl24Q7t3dsoeyS9hY1jg6UFt2ko+C83Qf+HN/lsjKI0453HnwCkIvIluOKN/7Z
Z2uKBV82KTMplS4EEC5OvbLYrMJu5yaWQxtCAv20KYt9s/bWbo0iE6Ex2djfx6X3NlEcgmmq7QDL
7RK/qxI1vna9vN613vrmrR5LJCBSHpJpluP9XLAk9VlfH5XjfNYFH6qlX9g+yGFZWX5W/fix1uWE
sd7tsA+IuaA4tJ9gOEWO9xA7o0Z4d/27girhx8wGxjRrbDLzxD4Oute6F4UcD5XJr39C8hqpRn25
DpqblAQEXHxnO5YGYqsmP9mLtW5+qNodL3VfZXDkssaEW+mxCxyj0Llf/T4m2j0Gaa+qeN9wj7sR
faHY/rGUkmHLpFA4wR19OsnjYAcTs72CiW+h2RkMe0sJB3Vem/UVJG93XDvjPDieFW6TuFIPJLXb
tHdXGEbSoUKSW+m2D/3sq9FMH2iVzA6rZx9IwmLgkJz2ZVWC32rxzGXADA9N3DmQ0FHXSZDj2aJq
j0qfgAFOmk9Tyf6+akXwDUUAiFuAnC/gPK78ldn2rfNgHQrJuxoyPuxI8etdODvidu0XzAtezeME
0pAmaw1fpgZqn7aLUxJlz7OdisL81avYyPH9sLw3e7QEMXZlXWhrZcznK3FAtusOs7RFWs6t88Bb
cN1AoWyKAlUUChptBVok0IOmv9OQxRuLENoBSbfZO3ZZvM/RYt8IexpfxMQTgutCYLEMadi2LPak
jW9bODiLHgYqLOQYxgmgWZZidTv+dYpy+DELsCD0+Ilmdyruhlz0d62ev+0wzO+YKgTPFa7mZKSi
3oRre0zC3jysfRueyQUDzmMNuQtVAGfGy1uChGTldMwJ34/sPDo9UP+cs59LSsSvUlEE3XSSnM4A
CBhb32rwJANSBlJMEXJLzgeuQ5pLXjYH2f66U2fErPPrA8wZtiyIGoq4zfpR55P/KgsGN1MQ0Wi1
CgE+xknaBL442ihYm6pc3mG6oYlzQwbMEdoIGDSo7CLf7V/nueYjxdjCQggMDHH6+eADT/xXYCXb
NJ3JjrYgRhoIfHgayAeLAO43TglU3w9rgwCelCnbMe8wcbZd2Ujd/fXc2kTELzctX959S5kCKeQO
XNU0/l1s3LllkN1lIaH2bGmr3QhsCvdK8a9kdN2EzvyxaAzG45h5x8I0r0xNahvb1nPjMcBthPGH
9ylssP04xrlM9fjr08MBMYGw/W3kkpaNF0vcuR55UEWv6H0Ex/5j6BuUat/DKNc7rLuK8lesMUti
iuTeejKRO5eSjBM4KeuUZ74ktlywCbJ9KHpRJG6A92EkKdbcvX7i+FYFc2x/cZVFVvIs3Cqz8ty9
xfOxLUIGuMF3wkPccSE2nqPf8qrN7mI5jZeubPWeCxLOPiPKZ5Yb5MhHHMIl3OJis5KP2qxj+ZWI
sjvrbmzOWDP4q8NRMmBrsEp3k3IuTd2jt8QKjJSXwzJkOvCbZyhk3nFaW+eRbRAeb9niSNOEFXDt
XH8PuVMxiKwqkOiug/c3MHZ7xzMHeKEofiFpYF4rve4+yjzsEWVHmV1ZKm8nPTRUlA9oe0rwtewt
dxP7LZM6TOksFt5+Jo190AMNU/kwsmuNOgR2tx22/HYpE5ukB5/Rdc+rjcvGK/Af4+HEDqY6YhdY
lDYzJK2Du6qnBk0FiUQ8z5P/0Ex5v7e73ByAfdqf0dVU3l0jhrw9jJB+MGLSDezbUFtfTmPGtJT+
PGy034/7qnL0TVJHBk5+9UnaOtvy7cXN68YEevPBTpNkWM7F6iMzaMBF8OZ0Okyuze0LOm40FZ8g
bkSaY7EAeFbPl67tuGioBFOTxVVgV/g9c72NmyIJXXEoVxnt86UZVYo1jQX1msxbL7S4RLp4uOJx
Zp05q3NCWHa5xEsL1Svzk+J69NcPBbr/Vx6sryhXBMGkccNz33UuNXqNgnHOChWDP5s3eXSVGn8d
qYrHMozjh6zATTxSt3RPZ9qVT5WNnJNNXSGXV0vXYV3Ht0sCiWRNcTWXK/weP2yOg7usnYt7JyYb
2CIsgzSBx+X2za9dsGVFxSbcx26bNXlO3lKs/ttA9duxgF9yICNLxD/Mbegj1N2aHiRqmF/nO4b0
g+WSCJIOGi7+2XDne/mn4c5+9HVvHgtYSbtqJBthTUO5NZzK23pOwrNu6YyK5vY9p3g2zRMSv/XS
GdJCRbxXzuK9jB2V58owVzmWalJ3MVc7Jr9W4Xd/qjzGGBxbPM+aV8pz5A+3Wxarq0uuplpJmsIr
eXa1Sni37WswAS8+7wfQIiM1OQ7GnsBHRW4yoKdCeQqwRyCTU4C4jnNURICdchYkLx4Beb2Xa7l8
kO2Q20SSeC7bRG+y8AoudxauM2OMr8LrGXJMUzM2KlPdJN68bP12em4HBKipsa1NZCy2wUCjjm6k
44vxyQVs/G5gHzd0koemyt2ZJfdoh8tZlC7oWD1XL1kvfjiAAZq34XU11FVP05LNz4GYOk6liiBn
HOESDwv3Y4G+dvHnpWbGx++TMLhr9PLytR0qYP0rfo4smou0sFH1/TCz8XmsXnfAj8CQHye/eSQ+
FbdNfihOeVipTzj380CloYmY8/px4fkAgcenr8QggPBov+ZQKbCvYfO1YWeTtlnznTezhNpULBt2
+bCWiMuWp1BVB+FsbY8fmVoj95mIp/PkiQrzh8c/pyr/oh0k3KqF3jUmYyKYSQChFGXHlVgBvl9c
dHOPgmdlLD4qzVrXzjiwm9I6imks/jZWyPoAtezoWvN4kzRRt8NzgZe6Bex40whH8Vm11MyvhpGW
yoL6QqknLhUtg5QfUpEuQfJLHS5m8CFPzo03cufmnQEi3q9cwUsLJTdpqAgYM/DgeUZkFUlbL+dG
DyD1yy4/ONzB0mXRyJdzfgWCwJtgpVwN4Llzufc92R2quAqejRc2z0uZQ1aI+uoKrPA2gSRymRtW
PhMTSuRGMi1G94+mN+9+gS0LSdshe5z5fLc8PzX+KXN/IYXqna2nEPRemDvP+VzINyeucWUS6kFE
lwoJSfJvJS1sELaaxpvRt6oXP2ZGdpUXophM035ssZh1ZaP+zGAlnzqVg+/k+/0Zl0RXa80tEWA4
QFKDQ6D2pQtbdwFvHWP1a3XoHVgKMBiPkCRB/MwsAav5EXq0c2OFgfrMhiC48sXm8UE7gEGsuJZb
p+l/UBm8Xz05HOes4fahW3F9jmE4rFaNhYP8AGkYP9xkA/dkZyrEZ9jU3n4ys/poJy4V0EiYsU38
7Xh8MaYi81JGCFwucTCi1ct5eiyGqDx3E6qpg11t9vQ11uKZglPHqf/ELPW5u+NXUMtgPQxFLO6b
OBweXQQtFFUUYc/xSfmEK07MeQkxyNclJQzA84mCmKhNY6/UIOzURKuFiXaF7a53ScAoQWIQvYe9
Cram/Qx0Zj9UfbmbKJpoqvkXh3l7jC0VpcSKlwMUwvGoB+oEbBxan41rzIr52pfHjhNj56+S89Sf
68tCOhk7rEMxbwWaPhvo4GoatEwPh8etuzCOl4YUDnwqTr/O+WX0YUgLmutneBxvpMVAsVI1t4cZ
SZumpKzxKYvx38JZKx4cAudg+WG2nSavig9TZARB9nA4ZMOqIHFEy+dIMURKXJ7zAiggxz9xVrYF
6o1SCUBavgjZBlzzJYwHR4d908ussI/bxl5v50FRFko76gHwK0xgm8+vcVzrzo19nXL1co9mVMVX
2zvWycuqert285cOKOFTnSj/tUD38DzOMnUq06eGMto0QOyCZpV7qbNi2GVTzJ2RLoDUp5MDZyq+
tKJzpH9oFuTGqnQPM2TuzeKR09Z5wPanytR+9WSEx5TSjE7p8GPsDVLd9bBdyPWdtGdlRJHRwDfl
PP6tLT/+6y8jK8Uu7LsTAOBxF7oBvw8gAnn+R0y4D3HOtXvWENkxqsjdZHSn7FvalQFFRNaxLvJq
X+aTxeGat3tvwZo8uPE/hXCyra8gMIQe2D1FDdDEAaaj1gHNEPAG/xVpgZWntJ5yu/PP1y7gpxl6
FcgFoCSET/AqTIFzymoWeSZ040dPafp24vAPk4V7oQrAOodwBRlSIExtPcjKO8LCv6zprhaqMIq2
pR1BXpIdxR11PQGArJPq1AQ4uBsIamECiRkFANR68xG1FhzGLuup/iJ9UySrc7bqvn8PJpgzIaGz
/cTjdO8xAt1U0AC2Y4grpamq/DZiLXUxPPp8pJTB+0AioK3XndAd3MAi+GI/5D0QP//G8Ic0R9nx
QZtQ7YbcCw8J178bCiicc+wuMuX72x+alcOvGtuEzKcwwKL8Mi1rmfxhJTdvuEfam0Fg/U1COiva
pZLbckQy4QHcwi5DLxH4KXvQIRtWMNUX4itAJIIAt4yIPI+eTfKM7uvt3HX4Li2NsB+3/nWSi15A
BJCOABoEeA78IcGW4hpMX4pDERqaHau221ah9c1HvvSBi3EwmWr10yqL8gtOV7yAKzKpRZvsbnQ6
P3Vt8Y7Wle8HNMXtol2LgdMqz4h4xX6xIgYm0dv/1iJ5HYm9vIaNxSuVtUHyGE2zfUu+eEyTpmSm
Iu5GoN6joxdwMUQLPH1UkcW7ccVYU4g5OOYu9pIcpMII5CNiEXvHFjJ+d3LY0dxK9Nm1eTrWbu13
RbXC9CpIDLZ2/gSS5LjSoUdqa2BfR2MoM9jSIH6RYXSttjnUgnQ1owEanrTsvWwgAheRbbad3don
tF7wFE3Zn+2Ic2ibXPt2PLNE95aNK0ihCIEBI8RTd9FB9P16L9cwe3IaaV9gb6/b0kEeSMKyOyZs
Mo5YbSEcOIwzqXCBBcxl+yZb9uUcuMXJg6EYYfJfGJp7qJabOVbRztBOs/faoXz324UOEHRCPJtI
+TexFXjvWJyCVF6nCq11f1Au+jNKmH9eiZIfK2BcqZjx0ZalBrxhMA+DLeje6jJqn6yAzC1X5gXP
Fvp33fQvyTK7KacEIDgWMEdV29FjU1hdip0jesPUCdGjiVlI4VBg49k5RFfZ08zNBFm+m6bUrkF6
bGbWpbv4uhwK18RbAbnW2JdbZ8DqIRNk51jxbcBMei01tK1XvxZQK5pifLXEDB6LVeEdrGh+xKoX
j2DcoXP4ICTl2stdFpgeFriNAl+PzSVr+vWlYwC7UEr9YKBW7Kp2+uVQ4Yqc5BPzIHj4jE4TyCJM
uQF2n03IoEhXBkIzADY0CTozVKNPPZjASyZQbcYBTZIfJqbj2XNwEiv7AF37o4j5LGzaqQB2jAcs
a3Rv76Kg/gf0s+NxBVFAUHTAoYSBFz6H8zjn5pNgyV8J5+Jk1mJ5U8jlO9ayOl1y6HVlqxImgiK8
ZbHWHWSmuZqQlAaqQFNOTv/Rf6YsEtJA2RI0iy10mWRT1+wWRR92W0+GA5xhPkEj3e7fdGuLyxCX
rBA186xtr8Utd7qB2wm+t6c+rsUh1om/yxbkoasnh7CvpmarEc09dj+zNZxtTMxYf3QXz/A50TJl
W2IJ77LoMrs9gdn6sg6P0gZ+Asrf/hP0U/BVuleQVkQ2KIS+sq1gnt46mYm24VQvabtmYRrbyfhe
GYmeEHE9prLZRp0p5guOc+ebE4DQadVE1M/U1HBwN7gF4cjH1M0lUR1W0U2biAv+UcFk1TF9DL31
PV6dw90ARqfF5HegvTs6s+yr9+7sye+smIofq4NFWdVZmTpDqSlovCIva40jGvMbWGsPOUv301uJ
x+vdZmjDh0vYNNIoVpsko4uo6qfilb1wxlje1E+GZpHHBCQ9TvtFga4yVIwFAysDH+sN/1G9mcjz
jwEOidMwoVdua8QanPBNgx22hJd/Gep2QDIZxInTan11vd66cVnhH5ph4ohhWHEmJifMMdwOq4jc
XWZ/Aqx5l3b+OIFyB+mPvtQkr7157SJ0PQcR536Yo/ic4zfHp4GhjgVswePSdd+VMzf7Oq87OpOj
a4CcBsCnZO3skysmehTQag+eW5cv7jURZkdOcUEvq3+Fxz7axkh2Z3d4TUdnmveJmpszd43uYZ2F
n1q0oKVQWugmCOu30vKGbiuPVUetC7y4BJk2Rl2nGGUX5BCUjyLee/gd/VMhbomvwiWZMhYivXKJ
eFToEDHYnyshRb2V+krZiGGcjkbgLsHqyRYAO9/slevWjcZuz2lS7hVNEfwRFF0Y7q27hfpNngdv
xGrfZet31jU+T8DV29GWw00u8wqnqwWh3eZ/g5DsPwbr6rGfnbtd4qvkEHv8usIRIIGdAfgC9vOG
vGx/0mkUHMOqe7IHOaTIvf/30JHVpnd848wJFUf1/Cc2cX9LzKn45us23+IKwbgDFZTwaECiaqIo
ANDTJB7QhJd33XEesIjtjqaJXodhHjdjxD9EO9m3tzruQN8N1zu40/gI/OV94Rq+8cRaHmD2xVd4
Gxk6z73ueBSPDC/buZr4WcCGp3mFMMrEpcSHaHitWkGK6s85nvpNGTJnJarYT+CJW/Kzxr22wyiI
v0lSmK2KHnRdDK+dD5jn2maUn5O59m9w9fW7cFnYgNrecjtUIuYDruI7p0Uro9yvOeRTwlOjowRr
EHt41oIUbyzJeBlQnh9YapTAYdsvvD35HnB0/hAWg3OcNSi5ikUi/iJX3MR5TgZXuN1Be4DmsmnM
7+ch/AZP3944nSbg65kYyn62bhaubnc0THE+4ynnzODG7sxd9hSGeCXzqEdZaSE71mw00UJGtkfc
ex7miIxB6aA/eAYckar6+G7Uku9o4l/nNLIf1WzXKIf86habEFNdU6fAE2/t6Y8sj2WMxYrrm3vl
PbfHiXcS2C0HllEJDaYlaRT4GfIpWGLKp/hq3lo59UuYGi3iOCAzubiWfFLj/iu/TtDtMOjf2NXT
twinPG1o/IIzB5GlsDJ9QMBsn2295FTD+IoFF+TZqsKqE3n2gmQNhTDDbHJWEblr6kXplnABDPgL
/5LuqM4yIi8QJP7yJqPBRWDM/BtsOeTDQ+dPDFOiqpCcYB+qAJIbreMgNZNDgHXiDphXSTALTwf1
dmZHj9eEC6NHTmvwE1skqp2MkFnc9JQrtNkMAQqSj0oam85Ex7/pceWnoaeT0yDW/mA5mGmm1RqP
vH1M1RKxXVVRuctdEZ8bnLE7xjuOJDV99NgLjxIDzdMQr5JniyJFSApVih5tTgA/eWcjydy+2PFr
5thPUROYXdUt/mWNgg9XB+DkGz6vqmVJgfMyfpoI1V1qxUevUzwfQ4BDu7Gm4sh2pQLcQFvGklCW
PQ7YsViu8pKgmjJ8WR4AW/ZOt/+Zm03tkcABuM3dhlS2XOTCoS+7s5OQFvAmMqO8oRMb6rY9Qtey
cX9PFWvRYPhkcGXcwZUKE6ZuJs5B31YnaFs8uDCCLKxL3GHFl++PNuTAYjgGlVXe8lx5JzraVmBS
a0SYsJDU83XtD7MQKdlI9X8oRSI9rK0p2jjcULEuusRNRqwg6Hrc0iPP4cDEcjTXI5mkmvCMhQf9
yePl4hx0/F24klzR/kjUqszk+ziO8tGWdDvmQ1wf8mWmyrzwgx1O3U9MAKwFgW5eOj4++1DlUNd7
Fs4+Ke0t/p7o2FTABLwp4cRf3L/THA0XyRafoBErIOlgYW6wdm80zUU745jPWdf2gcR9nMbCn35p
LQpvnKRie5TY3+D6RDrCXX1KTPJZRDHmthEFgQXaD0ZfZ8/2hotq2VCYbUF7i3uDLcSfqNLSIdqf
3R0Cn1HNIQsOrCbI0mghFejT4LXzc4vsfEIrVze7HW9874njZHn5gxso8eRzb8Q9rmaEeyTqGx6q
70Gxp+hFxwUiLvgaZdreG9fGWiodexNFVrubCfLSVNKCKmSO284rwUycgd1+yvn8qYyNEwV9BRG5
cj7MVuESBEKQQc1ZFJVZ8BCTIFI3FZ0XO34VXMULe9nHTfvPpUFxB+ep+VILQncQTdbnQNEXYoOn
SCH6TwMT5h0LNjhUdjb/Zez7g9ssRHQlFkMN6rwbJ4Qjo7EpVFX3w78cr3Q3E/W4Fo50FduouC/k
zdz4/kaOw/hYcOwcix5eJr4/NhTsVd2WGDtuHJpVWGS4ROLqoLoLqIneOYIQrV9yg4rmZCKqny3Z
yaXdhCErWrAX82GzV/AzE7UfmKZwNsloXG+SREM7LuL6XWUo17HL0kHWfBoC2/AzRAnbqs6y0N7G
8X+kndtu3EiytV/lx77+CfB8uNg3VaUqSZZlldiW7b4h2m2b5/OZT78/9mC3q1LcJCw3BgMMNM2o
zIyMzIxYsRZM+VUNRKf/gtwkqeU4sSAYkeHxp5NkGPJbyjTSPo5pgewUbbwBU82pKdNMIfdoDk0Z
3ZMOkk+Hpmu0kxrXdKhXI+oI1Brf0X/yIYpj+yOIoGhfZqV1AuYCvRPMHnvS/QH9Ay3nP4B7mmZk
gMeWVD8YjVlSdABrQ5lA56HRjoV/Y3fWD99pO58K6TDMz30JKis6puiiMQ55P+okfz0gy3DidtRT
zbG9NwGs+9wCIz8Gwl/GFTqzKGJwrWtq5RPIo0/lA8qRLUV/hHxqyMGBLThGR6nVgI1RmjN+oVPH
X/oWjJZqSrCdQ2UIds037uvCJ6MCYOOb2Q/tD9+Ev1CH6FdKiu82idkTMByEsUd7nH9d+qNWUv3Q
aRTzA5XdDVEEnIIzhalMAN6HNhTeaQDvj/xHCYfmLq+oUNqJ3h9KU45PFbDcO52bFQKJXN12Ncct
fW9WfFsh9wS7KSRnoU3fSuuosAPHZvVAEWt6MRFGcPn/olzQBNJN2obSjd4GI618YJFAJMrfpBYk
Jgm58ltsaiEvhVjljVoyNdrMf6B3dPKbms05n2nGO8sEwlfTw3LHq7SjzyCq78BwwGNF48q9SskO
zhDNgiAkMu5VJQ5RBB2OWkkrckF1FML6rpPUF0rYtEbqKklJ0zLvdY8bJScEfU2K5t8U6Vi9hz7c
uKmmtIQgAn0AqwppayPMpYMGM5DBR7yKi2SRz/wfJKhBoIXhXq9aqGtMAyinb0gnW+nCE+gZigi0
ulPs0bovta63f6jQdMGtSmbpXGrgy9A5NvZT4UG5rOF+VQiXCyqTLzaF8KPlfXBoaOBaN0uSyBMo
11ICQWPw/nwgOQgDMd1hAD/nSmnW6n/6XA8+lxkFsalL5Ic+yIynICUZK4G7f5aLgia1wXHosAfV
Ch6yIh9vUNOl7k3rFcBvy1CUd2ZPxyQs5V+mdkZMqrDSyiHd5Lwf25umCb/onIS7pCNRQVpdP+Hv
JOP0XoeIBrhaCA/4CT47ABIylGwzO6skce2IZIdSq0LbEdc3572BBAlwmKF64QWsnDpaw2mGtj3v
vlQUtkrUcRFWouFW5cwCDCsNjxaZbfl2KIEhozQWW8U5H+ji9UBQEYLIj6lqZe/sJGG/FTbLliLc
EzoGDPhGln4CUv5iNSZRpktRNA4REjYd8AFQ9gJ24tFbwyVrxocpHWEUQ4Z455Q0xo4BAVwaoClr
+KH7qJSM5wlMFJC8sPqENIx6soukd+PAMDlIcLtapYZK8WyijAyTjB2q+jtVBdDOca0AVNFaqqlk
sXTdKmF7y/LT1Gg2kpgNAps2pQHfAyy1Lji+KNCu2bZOv6lu8c9//b/i77+eQ262//1fyv8H6YZo
cghrMeRo0BSan37184amao5qaBR+DFUW9Mxb3dd5aI/5mS7oP/yp2OfK+Oe6iVcK8Px02XZ03VZJ
HQObuh5BIScqpaFcgmjrr3g8IO1NNSge3/2eFfXail4aUzy3WJ17x3bZMblrBuRbgbRJD9yqteO6
uaVlYUGgE1ZtR9N17dpcLPP21kKrPHMGcJqO3oYA/Nb3579fLDuN/KlSyk55Lv+kaILQzu/9/Fl8
/uLzBalD2qT5+fp4YyWn3Dusf1+Zxy+q11/Oz+wUFwZo9rXoAvNKKHCf7BdHOfsdBGPA+ego3cMx
BmtFDZr20yQ9r1vemjhhvzQAHonwenmWDChaD0W7MbKt79vXAyuKtA9M2WBhgD3S9x385sI7198f
4RqR5ImVySZas59JevzW/Bjy9fcth7tJ3vB9n8KvotNKe1o3MLvO65W3EM+C10Ih03htoKYKXLQm
veS27ZYgAGHjqv9eNzGv4YoJRRgD2W+EoXIfriR9uAEOsWtbbjf2JwnsYcZjYt3axoAUIX7ZoISA
xrMV6VsBpN7Xd5W+4VRbJtTrOcu1xNHGebeDbcjo2gb/Nm2YWPbbf5flnw17sSHhs/IVMHvlGQBj
3u0oFKzP0tb3579ffN+DWjwDZVSee+6YNJS765/fmqH57xefVyReL/HEksM3FLYUCEGs/eYIhJCF
hGBiholdnitue0SnjQWY//VXTmvrhuVw8bINXfh8wSFM5bGuzkMKUz+X5CjadzwjvPG8PlWLK3Fh
SIiAdi2lwOmq6uxQQUN7HoqldQOLa2GjGg56XufeL5x9qUXdVKkjaL5n+mHu8mb5IbXe/54RwZ+Q
jhxME13vsxnCljsZdBlb1OWy+3Uzi6HE0W0b9LiqmYawudt06tBE1IhWJ9CDgL+ftBGGy6d1K4tr
79hYUKDokBVhSYyulmyEhThuIdfz3mkIUh7Mz+s2lpZdU1XN0h0ev4Yj2EDQrGk8ravOEuR79rGg
C/H3DAgnn0n5s5pMDDj1vi3/DMtqw8DSLOmyosuqpioMQRwBnL7M4FSc079qpP2GE0nbIn9YH8WS
8+qKbdiqQueLLU6TlzQeNLFNcTbbByn5PFSPjbJxFZ0nQtzpumrotEZrtmJqQqyyncT2uzQGEDGg
7OCUD5JsPxpwTce+f08nxYQI1pBtTN7S8l8aFcILSeKuJKdWkJr6e6c6X9dnbXFpLoYkLM1InatP
u6Q4k982/TsvJFF2aNoPb7Cic22gmEPVzhICS+bbETdTvzyTOAo/2MHfevx5UjdOksWJMqnROAiD
a6Yt7HhVJtFdgBU/m/E9vfTmxuIv+tfF59Xrg2qy626kF5HFpygeqWcOKziU1udp0cFM05y9mDe7
LlyxprTII1UfirNPuW+Y0ChSIEKca8gxObVbQ3vTlP1rT7wzggI1kzHGXsK1JJ3cEfjD+oj+ubK9
2jMOq26Z+hwjhT1jNSmc1K2XnysLxMcpAJlrHyFYo4pMn2X6FRqjdYuL63RhUNgvYZCnZlphEL5K
dDcCeZ/mt+smFjeNQ63SMThfNPHhaxgVwtkZJpCsVAZYWstvpWHtrLt1M4vecGFG8Di2vTFZKWbg
SUCf7QQTPwQjoxYdOopWPobX7c17XVwqQ1Zk3TBYJ0sVvK+EL4Fmy6A419lT7H1LvZvYeighsO82
5m9pp14Y0oRrPhU02mNsDNk/wvxB0x/Xx7HkAYZMWkIxSITKzjyvF1dKGaiXghQgn9cQbgNOjM7I
xgheewDZFcOhMqmppoGNaxPAi6w2Krv8rEwPo/0CO5AZw84G6dP6UF4vCfkbhZslqRZN1jQhPIdB
NRlj6mTnIvoAUkMv/APnDdokX0rIldZtzb/5evmvbQnTVsHrEtLQl53H4Uvm/3AQzHHA+iuADZOU
Lrt39MOtW1yaRVuzFEV1NP5Lm/3kYqH0lsR9SRPZmcblBgRC/kgtkNaSdSvz7xbGpcukp7iiOQ49
28Lh0ypg3Y1Qys66dm9QzICi9/Po3Cbqbdl/Wze1kB3BGS5sCSPyGyMh14etvIdrEtqDdjrDIUbn
5nd6o/etBMYOZGf/zXHcIQZbVm8M9vXW4gfYlqM5sqrwHhGiH2LfqUPHJFnFe4sqWvbrfn/1ecEf
HfDzlTbGszj4Q1iCIzlJ/n1hbtyqX2/g60EInmg7tmLbPVbK9N4PDpN+1+p/ra/UgusZqoLz6dzl
ABoLGzgZwBTRrpGdvyb5n50PasChRnRYN6Kor10PUhuVK8/8pEIo5trBI9Bneg3tzjn+y9p9p4Ib
Wk92ck/0bqV7vX2ksSRwXtaNLoSMS5vimU4zi5ZCNZ2dLYTuaNyNC+fGB9iS5K7n/PKdyLiyJVy5
Is9RJw0J2rMNHKyH0UqHLVYZP79hRGBFdTredAf9yOtZzCYLTJjBplKdl5m+vj9IHbIkBt0y09d1
U/9cR4RgYRCNHNPANxxi+7UterKtXm4YEYU+1GPPCBAczR8GIqv7P0r9D0Pzbrr2Y2DcDTR+hnDr
wDIcJh+c/D01jtADdvEhgcx/uCvD4/pPe7WzLVW2ZNyIt6Yx/+f6lw1J2UhS4KjPPDo/V+pH+vZ/
/J4FIXg1/1rQ8nPmPP3m14WZBVPmQIjH768U2qHig0TZa/33m8zA1doJMzT//eI4qTwTZJ2MBQt4
ZI4YOp1g7+KtPb1ohQY71ZzDKwXPayudAkEKMvDaM0AQGrNg6lU9OJg7WvXb/m9JpdXRr8/qkPyp
gG0ejNIFCPbkR8nJtMEhdCn1berTp/Wxv/YOE4YpyDhsDjpHFV+/ce4NiiwXgds6n0zzY7SRTdn6
vDBoHeGJuAe46laovKTH9ldPLYvJnI8rTVa5VqlCHCnjsKAXyQBqNt22wykaNjxj4efzfXICumPJ
bGrh2Aoz0C2epHjPgP6ynWm/4eerpmlxoKAySDns2iXomlUKS66t56p+X6G9tBFll369rug6DEUq
KRRZ2DmxrsH+Og4eIh/347Eafn1tue0T80hd6kQ+4ZBSitwoIinxXROdAZWN88sbn9eErdo0VWkE
L034vhbodM1JlvQcIkaAKl4pbWQUl+bnwoAuPCdg7VPGrLJpmwEM45+yfOOaOs/vdVwxAe/B3qko
lmm+SvLR+EeOscl912l5fcGysRuNNzgovVGmzF2BCG/PQ7wIXYVcRGhD0vlT+9+c9yrMfevh4XXQ
4iGkmfgm121VFqvBhtQ00gi41yUCjf6RbkINcWP11x31yoqwDxRprJpK00I3hFgaFvNfToWRQ7gc
hXAEotAHEUPH95vqrgnvwKitz9KCI119X1gFfjlX21AP3fHFQkmh3IjRC4vAceHYpCd1h2u0EERD
A8Vp2iESN88OKjIy73hhSeFGwuXV9Q8X1RzAvKZOthVD155Ul1VCXwJG5LbZeYA5swe6wipS7dHG
bC1sC3aEzs6wZIWGcSEspSHal7TA1W5qP/JOpGFDdzbyhvOPFXbelYl5Ri+2RZkHEVG9rN2Ydtvj
kAFLtuGgRBV+kp+cuHXr2kCiBSpqQHEp6Lp1f1gyz/tABj+hmLotXgZBqwcwgqgVsGDIJKoJCSxT
8o3HQrWaD1FhtCd5CiOak2TjrubWvZHRXnBHwBU/zQujzwJ5knVJqdxjOXyOpc/rg5u9TZxbnX94
fjsy6XdhMxmwR4+0C1fuoLxUk1uiLKXQVNzdOXZ7I/l369aWnEVH5hvCW5WsiVhasuncouPDrtwW
/SwVxHhpfNeKrYrugvNT8jE44+drkCk6f9JkUOXkRuVC/ON14WFIv/d9uUNfDIDc+oCWFscwaLug
+EMWSITv0ANRlnY/VC48Ks+V6d/3hrZxri3NmWGSLedUYJuJc1Zl4TDZUVW59FZ2zyhQqE+x0qBj
EaFgvD6aJWewVJXh0JZCBlC4gPkAOeVIyxuXltgcKPxn2vJvexOi54a2ycRSPqCJfLNuU1maQrAE
Kve+fwKiEKrg3mlpi8VoStcDCELzGABSTn6gU3H0sd+13ac+ap96eBo6B1r+8DZ19GPZWM/rv2Rp
oi9+iAg7aMq+CsDsNW4Ddb7ZnUfq6Hn5ad3IUjC5NCJMMcocNVxUVeO2zWGSPsTjvWGB4Yf+Tnaj
gBbujf29OLvavN8c3iqKPg/6InaGMaSzxcigZPp/quYced7GUbNlQYhPVuZ1ig45lFuVAGQnA5Lb
wdvYZq/rB5Y58wHQLESq3eGwuR6GYzlyrxtj7dbSE005Oe1EofLklF8ULbvVvVsY1XcKzdNvWKwL
q/N+uZg8z6rTLBun2k0GWq27u0x/8RDamtCrASTcJruS/pR1k//ATcSAbBmaxcVAMyguCgHZo+ka
5ZmgcbMEHR/lLu2/BN5T4Z1QBEiDuy6kiU76Tuv2xlgXl/HC7vz3i7H6IUo1hR9iN9A/gNz+5GVb
qeXFDQZ4ypYtG5e0hZ0e5E3dS4VXuxrvF/N9iiKKetyYvnl6Xk3fPHm2RfkXOvzrYXg27eohEQV5
2A5UNZIZztmsn9T2QXGsvVL/yK2viv9B6j4GxWP6y7g73BTgBO2rACcAbwu7zYeHdCo19gJiIzL8
NeUbFuny+8Jes6Oxh1yE79NzShON3m48ApcOgMvvC9uMdpc4iSGbctuRzDUUDfmh1H1EGyyl2adz
F2eQjIErTQCN1xduyf0uLQtbTQ9QO0hsRpajtDsZ3S7NN+4e89yInsHC8O4hK25Ttbv2DGWEVCdN
CzzDhAruxa654iDz+e1Xx2HJMi84Sze4fVtiXgiwNFCvSK9d5ShpsN7A27lu4PUmmg04hiL/55AW
XGyCvZO+9Q4DAw0dJxUWdu69b7AxJ7Vo7uO6pguxQO+TIVYDv3Z7xLDim2QWgt84NV6vBsPgkcKl
k6yPI55Ljj94HVT1tZuDOGgOss9peBPHG3en1151bUXYLymty1WrS5Wb6p8j7YOT3qxP1OvTnO87
6HjI/5kpYTHaQeP6XBgcEOVnqnTcXk60O9HJ/5DWt2P5aCtb16Wl5Z9vZhbIE2KNGEMph1BJV+3a
HenflzRkPcDYdxuLs2HEEVIpSqcN9ZhYtRsUHxCBd1BMUp7XZ+51pOG5iAMopLRkm8zT9W70oqik
5YL9Dsuv1CDYs+9A7kcI/SHcsxHVlofz05YQW+TBDiBJTrmhNCdLpZB0jOyNXTn/3Ovgcj0cIbhE
kTxM0J5weiIxE6Hz3loUkgx1pzYw9FRbT9KFW8KVPVNYoQHiOx/Ws8YN/GePaBlK93Lh72rl0Ni3
Fp4oJe/K4X5QNjbU0ra9WDYR8xB55cA/XCc15aGLP6j+QXdOzRYIe8uKeu0cndFW9JtihdveEH3x
o4egeuYsWnfBDbcwhatCgXxE68DT6wZotMyiDHv7lzGnc1Lkp5ebQiAdzBJ2kBG3sGF7QbJN3RjC
/O+vuJ2YmqjaoZm8umQIw6fBg6ViowS7+P0ZeKCC2dFeQVzyXM9lCN4bF9nTfZA/TvW39TVYNKDq
FokwChOyWLCQInj9+lIjexR9Co5R8fKGz2tESg5Mi9eDsMTVIEdt1yu1C9O/Vu7VjSC2+OsvPj//
/eLOrFP2tKeBz8sq4md3Upse13//4kagq5hKN6flqwc5Lc/aCHdB5VpwmGfTS0XuiWzDTQt72bql
xQA2Z+gdEgDqq3dia8ulBFkQ14qebi7TPyomNLeViuhz09Iqn0y36wYXnnTsDYdh0bymciMTQmbc
QJ4dmTqy34lxN+r9Pho79OVOmnUfW+/7dJaTg2NR2rC7OKWUN8i9zk+RV0g0ukuRaiGb18foMUFq
qHePWfrFNu7Wx7cUXebSIElYg1qW6Nk+cjQjBNIkLWNe+rp3E8bqXTzoG2aWXFC1gG7y5KEyLtbM
JNtoaXDXGteEtRTlrP6UhJPzBue4NCLE4wLWskZKZokekoItVIhwDNTll7w7FtXG1eM1doaQeWlL
3LJWCT1FZGErewq8PyBCpAX9OMoIRsuubD2Q/mn434mMuIV3CNONA255Ph2AVnNG71WNEPZTOv2o
TbsGDZFT3b6HMenLumcsmYDSkaY5A3QaxfzrqAFZpBJrddq6pPV2TygBbazWkodffn/++0VUCvoQ
ImSd71tasE/MCXqfR6u9ybTT+jiWPBwsGo8ELsD2q2RuUlo2Hep56wL5vUViF15CXqVtf1w3szgc
g0fIXPR0eMBdD0ceawRgJIhXeUfsfPOIKKSq7mpydOt2Fm6kxCHqMujPAh4XEy9dP2i+D3W6m+vF
3oSublLu+vLOCh/V6lBu3UkXnICOBN6HJKpVrvFC9JOioY+KtBld0//W7Kvsr/XBLEyaAlRGNUwO
DtJI4i6i4b0zAmsgcCMffJzSu2aCom1jyv5Juwn3D8yQ9FBhQwPVLQQG6NutBG0I5gyFT83/CL4b
LrRnKT7r1qPqH408mIU8dkVk7XOErmGW2ut0AaO9oB80moLfMGpdn7Pl3FgssQSc63Julk04um16
opM/RrDZu4/+XDeyuHIXRkR/jPVO6eVoJEClu4/59IbHt0LH6b+DEOYUKugoNvxsdGml72GjT3da
srFzF73jwoTgHRAoNAbkHwwh+hsqBvtBQqAY8rLfm6h5Ii/iUDRI44SS7egG9e1AvrY+r39/axRC
HNWbQfEbkOtu1N7TOu117yfnwbFufs/K/CsuRgG3mmZFYTy6ofHODKS90cEm49zrW7WXZbdit3Jl
MGi3F0aTq503ykE+QqJ8UKy9+uvAMeAJ+s/vC+MA06CEdo9bKdNx0G6jZOOpsHAaXH1/vmBezBPC
0Smgg2p0/enGU6B1geHhuL4UiyYM8CP0RlANsIQp0mw/TYIWpmzUa7Xihn5jU7lZN7G4ChcmhFmC
+4H2vdQf3bR6NKEjL59/7/vCLAWVFhtBzxCcdm91B/bd+veXpggcq0aPjaJxJAvflwdqhV2jTq5h
Pkfy32PRQWu1ge+YvyEGfQNnAsTAKQmQ6nqlR0h+siEsZBdQKzrGrk9fQhTdWtZ92A0bS760HsZM
jKBzZWdEQqRS6iJI876ReZa8q2VpT/fNRpRaeofwQLSAPVGEtDSx36GCdTb3eaO4vg7jPrs8ixV5
ZzQwHVpoGkUTnPj1V1jg7qdoC1C3dOdgXLQQQLhrvAJPNIbR+CXoBtepZ5S2Hd2rtJDpRwcGnF+m
HLAsNrnMzZDGjrlf4XrZUtQ/JjKuqtvq8qEFq4hMy7rzzQsvOsalBcEx6qnpUKzCQo/EyGN0HH74
6Rv8m5o+BTI8Dz8X/KEfsxR6QF1x5fRgefssvo222l+XXM7mQUoJjiLV61Ylz9MHWIYnN4ejNEUK
BtG39XlatIAvU+6mi/BVh40USUUwpfnkNsh8BE20+7b+/aUgQPXJIHHANYhRXK80ZNNaAwXa6BpN
dIPkjxdJN9Ivd+/gTpdG5kFexPsQejhdaYrRnZB/03aq+oZIfPl9wV2bZJyi0mEQmn+Cpm4wDuuT
tOSsl98XnDUZVYQvUYp1HZ5HSkFznXpujPSm0DbC5dJqUyIgV8+jwibPdT1Rmup5ZR93oxtHUEqo
NTv714dCcg7coKJQ1nqVSeGONVgwJ/akoeKjksvvNSRsk8G4AZqy8Txeep7ToQMhCn00c3+isCxp
GmjwhJe9i55AdpAd2DjzHFItPbORqVLTcI9+fL23JMRUSr1wzm09lH+oJuLYA/lwWK7lodsI4QtL
efWbhKUcDRksTMNvKrNw36TfOum5VB9teeNNtXRSXNkRDtdwkNJSVqre1eAgGuKzHKGVEe6G4qm0
z5100zcfdVT01v30dfeIZdH1DeoBPChXQ/FiaCjkXqEq69wYCXLLoaRYIQV0gKKoGE6Wn+ymCMav
7A8EOSut2LC+cNarlAHJQNo8qOhyvHZeyUl6R7Kt1lWcvyLkZ0HdwfiW5e88Y6NIs7iIdHZQmuVe
wfXi2lINfzTdDlnnTuqPBB7IGRNTwGUYFb+Mp7MARMozhpTDiif/taEoqSfo81vksqujlO6CaSNw
zTtAOAUB2HI82SAGX6dFLK2U7HwYeretEEDV9NOkVPtK2ypnL5kx8AZuD6RfXl0dZG1M81IvBzdM
D2kIMd+zstUXvGVC2FdVFcZ0D2FicCAR3kvKvbWVQdgyIWwpLYLZf5gwoUnHMXxHI5yy5cIL8Zc0
CFFxTvhq1Biu1xv1oxzu8npwYSWS4VP/9cP88vP/BI2LczBQrayQNT7fv9j6YxP/+rPq6vPC6aGb
TTp4xFDO8ptIepdBINP/ekb8yoR6PUHIdHU0fLIGPpKf/5BIt7tsq2FmYxXE7T1NTeagaz64LWz8
EYJW0ff1OLllYP77xTqESlB31rwf9OFP6SuUnm/4/AyaJ2UHvkf8/UFT6HYNm6eLhk3S0soJU9/v
WRAGoOqlL9cZFsJir95p8c1bPj+/M3jizEnH6/lJR1XPUBHr3WIq93KY7rdqVUtHBUjY/zVgCfus
tJPO1j1OR9t6hAkYPZ6DP6UHadjl9gYg/J/ZFmPsTDZHmxBEVOCyrwcDveAE7/DYuknlKsaN391p
0UenOHXqA6SMN4168sOSHumbnubbyHpZn8qFV9t8ASL4wvUCSE8YaeFrWV4hpuKqiBM6HaTiSbuf
w2QAgS0qWtPW2i1MLRlNIhiCamSNRfSjCQcjf3AKV0nh+vRu9eC9VKEZgIAqJJ0bfjj/emFur4zN
o7/YSKWtedCB2IWr867Ps/uuPUr12U++xcFHK0YiZtA2QujSfF4OT5jPhCtOC8F34XpZ8rluYLEP
1GNTj/eabsKsOe7UqXfXl3AhWpA/mtH8kPzxkBQcKKyd0hlkpXAzdTd+yze+vnCXufq6sNc0KE2z
1uLr3YdkeBmtOyU+OdnH9SEsYUCurGjXC1X3Dty9GlbG8bZH7kQPP9U+KlTOjwoMNbKR0nDy6vsa
Tfd1y1uTJ0QqoxrsFC3Zwp2pVkn1veFIvRrYfGm48ECpRsxhopnOBXTQwLC6VemZ/33Rw236YgAB
cnOCFer6+16Qdg1V9dw17C9h+aDa91X89deniC5Abs7y3BkjclskqNKHWpAUbvKAZJ4xbOyYpRW4
/LzgvrIV0aQ0poUL337Xfe7QA3vD7zdoaaCoQ/eJKVz92h4eJ0nScnfUH536yavMDQNLIQ1mTZhJ
edPAzyWMIBtrrTN4yrhhnr8bQijoo3o3q1v7tX2jFv3GI3xpR85YA3hUdAAbYgQlN501TUCfRmc/
SzkSankCb49rbbwtFjzLAAoIRRfYBjpcBM9CtrDwizor3fAHZAL137R2ra/LQqik65uDwNRBTXAY
XLsuGbZJaqakdBOYtHeVpN/nfQxHYnvsIXCuIECPpV8mkwChcWlT2O6xbTgOYrGlW6bfPUk6zJrD
66NacOcrC8K0pQo6KmrPqAqIVu30GNtbPYML7nZlQfDntEfTNyoZQ4wqYBAeW2juqxMNA5b5aX0s
Sy5AdnXuCOK4hobqeoVqW7KG3vNL1xhcu3lfQulvnNZNLCUiIJ7514ZI7oCWd9lHOgdmVd81NfJP
0scE+nXHfNK9D2mHGPeToW6d0ouLxMOZdACsWq+yTHLemTEin9wLbLSDT9Dir49q4/si6DREtCYt
Kr6f2O91pJKG7+vfXwgBMNv8+/sdIeIEXVgppq8XbtDMBSrVPsTxA5P1e1bU6+X3gy7v/VDDSrqv
4WhHJ7TZe+ZGsmRrroQwEKtSmbQ2Y+m65nOp5Q9eEd2uD2TLxPz3i0OY6m35n+kqgpua8nCzcYRt
LYew50PJrPVcY6KmmrrRjYSYkLSbtnbj1iiEfe95XiOXMlYs/5QiYFkcfm+W5rhzMUttjux05s9X
IZ6edBj67cPASfaybmUxel24rnAlr+oCYsaUUcTlvpMfVJro5WMUPUVbkB5lMXpdWBKiVw6eRNNS
NqFDdSj0o1M/ISRvQ8+maqF+E9tegaiYevLk+M6WWpgI609JKN8imojQI9KoXWB9WR/8uqOAEr2e
YnRO4cnImOI8vQmyfVM/xF9of1w3spRlvYgOipiln8o0lJOYHeW1inLg8pPsvMJvD3Ed9rugSCY0
JI3nmMW+geGx2tkhfHytg86pTy/yRoBf9lrKnjqMX/RGCF6lBKZT9iXvPa86xvlR2sJXL72fGe1P
A4JDORAkTtzhCzfSqmcL3rJQRxwBWoyyVm50FV0m3Tl2g3HfM0o1cI7kME9VKZ/XZ315aX/+DMHb
JjmeqCZzjuXtg9Wh7FqgethAzw+H0Lql5R30ryURL58FWm8aFZaQQp+Cd7n8lAW3uf9us0NreQP9
NCScMo7lVW3bMbOdeoBfAYpDNsX6WJaP/5+rZwpnTOzFfeZlvNDLHBFG5aOZP5bpYyi/1wt02E69
/3UMxpt1o1vjEo4DX7WbggQPp7/zoNWPqc3j/E1H58+pm3/CRSy1mtJUq9mEhKySUrVnAyrSMa+P
VW8d10fzf2z3n7Zmz7ywNfkjUInS4JgOHhv1W6p/tKyXWaFcbuC7K/7u1I/O+GdinKCS2XDFDac3
hc2NvEuXdBoeUiunujnKzscMisV2Y4SL62WAl4QAjqycCNKQEq2YsmZivSw0cM+8EPYbR9+8OYVX
NFX4nxaEcdieoUapz1FhVHdOe6vne6P4I5aOZXDjK+/GeqPyuBgTL8wJIQvmYwdtmJ4zEKEwRLl+
vQFxBhX8HI4Qi+BT9ovQZMLK+PSp2YroG5Ml5gMAX8TyqDBZgXIgqVU9hf53L9xZ+YO/fwvS43Io
mhCDEiRUFG0eiqEG9KL5u2Ajbm84lyYEoDJR9NpEh8mVkmPrA5X+MHR36zt0Y7lFDEOcdEMA9T9H
A9KTz100bOzC5SHoZBChDjFf9QkXahoNCNMVrlbdeh0stPbJR/rlLYP4aUQImsaQO1rSzHfc6naM
nnrjLXd04+f3hYjZKWndZjnfH42jEd6hgrP++xdD1cX3hShZ023IGc0kKfU5lu6t4Ivqn6x02pim
rbUQIonlUCuw43ma/JsIiR+TO9WGicXz37AIhICGwNaq1/Ee3bsGChBS9vZwI/U/4uxkRPQDWX8i
tbdhannSfpoS3mYdldmwN0gA+NHtqH9qus8tzfq1tfEEXJ60n2YE38rQle2hBeYY8T8jXyyZ7+J4
4wzZmjTBvdQW2drM5BraN0gh3wDtRw/l3qvtvem8KaL8HI3gaWOZQbn1T9YEPTh0mNP9Jq3T4rqY
Ojy9Cv+8ashJ+0IaeN4Q4Mv44GsPdvY+L9+b7QaHylLgouEBYmMQBsqrhpzBStGniQaCL3Kww0ne
WvfF29+lAcGVLWdyksjjIGyrhzj92uanxGoh0n5urLNR/211ySHvNga1NHeXNgWfLnVNHUIUsFzT
OCLc6MVH1bpJq0/r4WbJ3y6tCC5NlSeIlZaRqdKnckS/Fkz3MUS2dYslYms4gmOnjRlVdVLzanc8
N22QtSyrY6IE+i7Oxo1b7XwvEa9Jl4MSPNuyWiPNGwaFHGyAenp8Pw1Iah96+clWP65P4Na45gm+
uNUqgw+YomNcinoYQwDMt9PwPh7ekOS+HJFwE8taudbGBA+nNcsqDtpIEvUNB49OMw4InVkvQuwN
VEp5cGKbE6E1zQejKJ4Vuz+F3CzhlnoDesy4sCXmHfPW8wdlvi1Vd/6tDKI52m2Jly3HhH+HI6Ye
JThk0AYnhWGnJ6V5tPU33AMuhyCEhNYPkwnNFi5LkPzI5V81wn/rnrU1AiEATEODQGWABcvVpp3y
5fe+Lmz8FpQUyAfuk2l+Muub7C1H8uX8CPu9Tf3YN/3ZneRbqX0x46eq+BoGG6iE+Suvd/rPVRZ2
uhGYLZrrcuH6+VMav8jhs9Td/N5ECRs8HC0LyCpbbxiPvrbfqoovpv8uJ0rY2obsxZ3jscxtHB/K
CBHp+CUA4pgV76T0SR/SI7DjnW191Yf7Tn0fON817ZgievB7wxTeYnkN/YWFWqHbgqho/KNcuesG
lgPl/y4VoLDrQOkXRav58wNGVc6DfhumxyH4oEQv61bWNw149WsrHtezKU+xovHS0261ceMKuPV9
YdsrZtgnVcEbSS1pjLhLtpCSiw6tgSwGx2jZpgiSoFPJRIW84pmXdoBdtZ09VF+9YktwYnEYF2aE
YeShoo6mxqlVV09V+MmDnf8N63BhQAhe4ahGJQwg3GPRnLWa72b++fcMCPFrspu+6QZGkA4HZYLV
fSP6Lror1GcojVC6lkXQdadEgKEgfAH/s48qtJ1PinST9Bt38C0r898vbg8q6uthX88HIW0Jg3LT
G19yrvyJtVVJ3DIkRDGny8Iu8Jgu3x92tf+Hnv3Rwdo59i9vWBauDyiZEJY0scd27JvYmiLC/iSB
I9bxX+BT6yYWt8i/JgBLXM9ZHstJ6E3EfNkhtbObvE/VVrJ+cXtcmBCiSGp1HsyL7HLj7wkyhu/r
A9j6urD5PEuyh2Hkid/4z0Dl4o1Au/V5YetVUqWXasYSSNYp0+BI35j/RVe6mBxh53mNplahhc9m
5sk+5l/O2lZlaGuF579f7Aq/6NLSnMvSRrIfo0equfnWabQ8STBuWhAzz9Jo1ybksQFCZDAIKtNx
v483CwaLY2ADoNILLJ1Yfm2g5AKaJnFJniiNdkit7Mz+XWg+9oFyVEJnp4XdQcmfrebrZNzH3kNB
X1/kPIB93Fitrd8hnOta35RJ3RX8Du9pbI4mCixbDrE0lzZEojMDvqq+6rbJIq/JjK5PAfoot06S
HfT6+/qOWRrEpQVhx+TelA4oz6fupP3w80e9vNMgp/hFGzZJPVg9VAsFI/h3hG1jJJ7ad2Odf4wL
KbwNct98R7bHuivG/yHt23rbxqGtf5EA3ajLqyTbuTSJGztNmxdi2k4lSpSoOyX9+m8pc74zNmVY
8JyHAQYIqm2Sm5v7upbjr7wtxnz4Z27rpyziIy+G7t1FK+SQAeKMi0m85Y0ZpimGeoYQuCVRl991
zZeOW4EARXYzgju6zV5Ba8F4eWew4oudlQF1zbBhGbrT9ZUtWCQD8LMceB3oLrJmgAllC2pwkY1a
2VdvceMGltNutPQo0NhrpH+33kpEu7AiiizFivC+9io3H6o3z3tP/CzglgiT1AxmdvXbD/Z0VbNy
nViTUXeyqkJt982J6WZM0gCqupGrQ0MXN8/DBCDiYXQgqjMPMOk56URVvaX2b62swtx4YXEcgHs4
KsQav83iymH3MI4NNXXwf4tm7MqlKQNOUfkGeO5vpGWPfZasKOmaCOXOAbLYsTUUf95oK35mmnfX
UbqSp7kgAqAvoArDf5iR/QyNTk7GHvuKaHlRvrWZHpbvXtGsrOGCkp0JmP9+IgAFB9PQUlG+mSkN
MvkAq7EdpL8ha2/usrgJsJTTpSj+VYyiAyZ3MhzI9EKMBMinbQC8kYDXTTSJe9BIbNO2jSye7Do/
DbL61lIdQE08cNSAFm9GKFQnrCoi3F4kUrxZU3GfYLGdvhL5XNDvueHdA3gg+kcXTJJuXhpkrJPy
bRjork/NIaByCnow4wR5Q2ggmmxF4gX1mIfdDRs5KXR6qEDfnubFSUohsdBMvNA/hzXv+5IAED9Y
QK2dh4/VMT+3t4idEiLeuvZjTKpN768hUl1QQB+QV4BF8ZBSc1SL2mZ9KzDcLN4Iwl39axAZ7Nt1
6za/38pTAgk+xsxBfraEK+MEEPyD0MUbAzudXcnAYb8K0jy2fAgNkO8a3mZYo4W6vKp/ZSqmIRta
i2PwC0/lgOFP+7XVj8woQjLsrq/topwZeQIa58KVmv9+cn3zvuyArNBBqdH6JMHKuYlTtMbJ0u3D
HGCWtz8UPqZr525lzH1izuVcXNJ0nAM5MHubZIVyC99IdCRV+s0AhQANg8+JuwqUQh2F0HMxWpcV
mk/9dOayGiOxNqR4SalPP68cjhknUweQ/vSt5HXxUhO7fHCd1fTewiMDXj2arkEtMzfzLxCi6jE3
NXT7J2+tTLZaUmzAgLKpjTVU1KWjhHFRB3O4NnD+gVynHEltDQLkP0P7hvmvKLXuxuzDTR4IedT9
bcF/Xle35c7BGBA0287QF4ClUGx44+Td5MTwAMcxDjv0XN/MEOKBKgog/8iLeOgmV1vVe1d0nZy0
En0u9pbIb4J/SW1gDU0frrw1vauIUq7OIFnZ1qVbvuVO4OdBtTbPcWGvDPQlgloPPdeA7lJcxdji
wFNDN+xbmlMZeJrDg6Yubn6+oTWAVIFp9uAgqPBgUKt0bPW2ewN3jl5unRrz7KG3Bn93YSkYU5i9
Xkz2wqtRIqQGrYUGk1PyRqk0n+uhyDfEY+VKpnopxUUqCc3QcHYAGKB2wxEEYVNNK3qM65ZE4FSo
Gzu6VX/PRSiGxdMTTRoA6zmS5DUfDs3d/+3zimGhWjZWLXAcj+Wn1vLs5hknxI8YF/HnCu5cMVYu
u12QvB/ayjvSvtqMz3Fjb25ewZkA5VI4FpBJ67j2jpMHdfVAIXhrzVZZgWJBavBd2og2vOMgmgjd
OsEvP4efNN0Mowtfz5xjDTDIGA5G0s+fEJZJfSxKL38rxsexSLLAGpHvNm/X2XMxikKNgxQj8I7y
N3NXJUNk62uAIMtLgS45jO0gwYqAE5mS83VYo6lPtfSzNwz/Bt5dr8ubn/RZwJyJxA2Ho6eeOKE0
szoteyP8BUNbqfHBusN1pZo/ce6A4b0ApDaQK+chDfU5LxpD5JnXZziLFuOvobDDNtmUfrZiDC/s
1Zkc5fqlBuUj2GiyN0r8oPyLpWuIo2sClMPwMrcpmxECygFx8mCHBluZCFtIAJSkjZzHzFxlwR1W
TiOLK2s0ekcegSSGUDnypjUssYVbAglEn2fF5wdjQUOUe74YPC6Ho91FbRzF7kbWK07ppUWciFDv
HiKttHBSiDBQmHvx18AHFup0vgKi3Lm0pW7sSXyeGg/dH5piEqB8EDfPUMxSYGHhiQLjeEGsx0mW
OyC2GI7sQdNBIIvp+htvBQTMYSgqm7BUi6m8QZ+ahllTfxy/9s59T9/o+N6t0TMux3HxUsBEYa50
HvlczEcVEE8dT5oAIMCLIclj3lchKGv3UwdecOAbaxrd2qP9R2BUS9fWHtxl7fZTPkG+DLgjM67U
uf0qqilOvSo3gdbBg5IYkWXd8XEMUcILpf1QJk/9+IW1MZh5dxSYnAO7c9rXbs1OL3Vm3gbsNvlk
RlADF14lCADT3jy4Ig5bQDo3CY9czNsVw60+wLxgAwEnmHqx3WqLaIWZBD2pRvNA3vX+Tie3ZjGU
z8937yTgm6QBHowSn7fksEFbfdKuMQFeVhnoC9ChdKR7VYxoUmmN51UEK5AI8KQIBMa4KdvYPmYT
NmgVLp1tId2gXJ2HWNom7N2J5DnWOVkcnWRm8ck2D43+UE9PMn702Nfrt25pmyACcTKWZ87QfYo+
Ytiy6kRimgfWBL0bZlN0/fsXFM3UcaXx2gGEEHHs+RIAWkLjEi47ihqbtrrjj00F5oOVh+7CPgGn
GblNLGEGzVMWYVPNSphV2AetlvdM678wa3iqqml7fS2LxMmMsI85aw+xBbiRVLc/qxO9NfTaRpPY
j86+J9afFuMw1H9pzC2v0JCkrw0SXzgd9FcZmFPGNcWUkbKwqp2Kwi8schAsCWvz61Ct5FMvHA9y
WSZMAeJMVDAUDZtqtx4qmjiHJvkq+ykQHzVaOktyvL5zF9YBezsjHdtAUTRsZR3EmlxXcI0cen9r
aqG1soq1zyuryEy/QtIWn2/0rwTZl2xaKT1cEgCK8blfHzjQC0rWuvJZrVNKDk4tgt9uttb7cEGB
54yfDsb0uZiinnPm074uOu4csuGtZhR4DUbkuzf7UiAOMKDC4D3GRP+CzCefUKcSg3PQ0Unvi5DH
v28+ZRfeARRKB/cxsDrP7/poFswYZOUebGPbJZG9Boh84RSQA8Hu6/5MDaDWSwpTl1aCVN4hxywO
yoqbdHPrAoD0jVkhGBEIwWmcL8Dp/IoPQAA9WDRqirDiNz9WZ99fOIIUDxVHOuGgG4/t31ys2Kfl
ZQZnFppP5nsMPllL2f/Cl43bOgY9yJwFlT89+0Pz7PYf7hqxzVJdzwXNfz95l+zaS3qgs9NDGm/E
gzZs1uhqL61kBnc3AfZqLRFXB9NN+rjiaDrxi9BIfzj2W9wHRqOvPBxLjUIqCjIQYgDcYgHZ02J4
2kjtMj5OdljQx8Q+3KxQ+D4qbiZYWYArqWwULwezaro2PiIxmPV36Roo2KXfD68KSRzkQXCxFYX1
JDZJWCw+arJ4Je3wkAFYcsUvX5GhKm0BjJy4AaHdccQ8rdS3vrumt0sJ6ExHPO+5BLcabvG5Ovl5
6muFb3iHNkLvdbumrbP1Pwu3kSU4/fysbCfaapmsSJAU8Q5jtpHmEFq5Hlrdc2u5IbWMML493IM8
eCPgUIe/uwDfbGNWVr3JfEAue1un9bcrdnx5+86/r6zH8SfeFCXFeibQ5US0e9Jvf+/ORajv9chz
y8ggwnS2WhuU5v31ezH/e/VIZljqGYjMchbvKZ2GJp7cTDuY0wDKAfid4s6L7yR99ml8s4eLPNGJ
LCULMrCM18MIWV7ziqywX6x1C1xQX3SwmCjjI3hE2VGJv6nbu36pEXrwvqWA59eTm7ERZ2bpOVpD
K+cFeE89tsF34rb00DwI299MltxcP44LN+RMwLzCkxtSo6miqWlDD0aa7eLOfQBnDMmj2owcs72j
lre9Lu+CBp/JUy68ow2cOxkWxIn+O8m6O5bkdyPnf18Xc+lgbPQcGDMxN/DnlIvSDVVRsxzLSvlX
oG84K6nbi58HDwniGmjyAiA6zW2GXoGSgjnhR4Hh++Lmsh/OHc1FQF4CWSm8KkWxJDOayvEKeqh7
NEptK/NmrxaM4iDaRB0DsDuL1Bezu7FzGp8crDrqjZDz6Pr+XzpmREpzwhlY94s8Zy/QdxCXjn3g
cfGc2fyLaXW7uPJvLfrPIdmJGPWCJ7WQHcJD4OxE+i99bShx1hLFVp19XklyEoCMA+HQtw8FIBkr
loWTm4YxwUO1BiB4cb+AGABr5aFAqhb7WqBFpSJNCWYSp5965j81GAxq03R3/Vgu6S1qfQi6Ecmi
K0Mx7n3Zdi6wrp2D0bdhI7aSu//l4H1kuObCzNxIdW5PgFvBSsArQbGmCaQ8FbBEN+OaEbm4jBMh
yjJsPee27CEEeMwozXzN2a31t1mvTgQoUWWZFl4WxxDQjTmmKdLgPzgKZwIU701vBIY35m0Ckljk
P7n+7fHMjD8GXOq5Oo2srWJndcFTO6GudbDEdC+ZtpnKlcj7gsqeSVBO2rT7js4ESgeqvY/NpuZ3
t6sSjKsFKwWYPgNtRIoqCV6aesucQ0yHew1kAmKoArPf3nwlwLZgY4gCfYxAGFB0yWzYjOlNnUOZ
fLFfwDV3++eRAQWlAxC5UG1Qim+509ChNwvnINNv3otmvf+Hz6OFEHmcuXlYfScSYYhCdtAjpIut
Dzb+vP75CwbQNdDa6c/tQv6ixzO2/JxPpaYdnA+H9KHBnbAkYyj8tbL6cmgWTWKmged6huBH/5ay
T8Jw+TSRTjvobNroclMUj3r1zIYdM7LQtSIdCXFPrDwfF1T4EzUdSWofBCKuInQya12rssk/yPi9
csjGLss7Ht8cCKJhDL7b/xeiPOWxpYN6bRZSkBex5Te3xgIrGBuHjsgZk32hv6Ola8kEtN2Dm4EL
r6ufskTfNH3+BEDXlZB5vgrKc4jeB7TyoMXGxZi2clUyWWcT66h/mDAv7/o/HeeV8nvrW2qsNcRf
OJhZnYGsZBBU59RSie6wtsbjAse9H3c14iijxhhbY+6uq/fyHQE6sTODgALhEhNripEEKHhS23Rs
j4nTBK9SX+PsvPR92wB7Njpf0JmoZq0GjZBJ9Hl7LKzf+Y6Uv27/+TP3KMw7aLqBen1uIDuw4gxD
4TVHf9h7SWiI/+P3FQNMy0lYdYPvx17ovt1M/eo7IIqZ9x2/H7GT8n5Ifxqmgfrx26jf12Tb3PyE
A3MfW4/wf25EVffezyk6mlxWH/s718k3fr0GuLQ83E/3HF66bSCrqpbyNXOkSHfn1REd9n6y0enN
GcPz7yu+bavHDrUJrwDZkz3lASuqFQHLS4adB6AC0nXIbptqec7LjHjyirY8Cr/8q+3G0O/nWQH7
47qWLt8QGPTZQKHGixKK2tWaYIpAL3reHBv5I7OtcEQPMEXDQF6tFZyWJ/L5dDgu0OF8dIDNfz+J
Zf26TiQpW1znflf5QbWGiLj2fcVcsKbXmNXi+1YcDW7Afl/fqLXPKxdiIB7IGmXTHjXUgMkHWLyC
mwWgYdFGtEeQql9wdTmyKSvq6e0xB3B4fW+Amf52AXi8MdjzeSPUeVpR9DabxoYf0/x7uylu5mWF
B4LbhlIsZhhm2t7z850cb3TyskyPnRc1YFtYeQ0u3Iezzyv7z2IN8gU+H3HyUd0X3Y+bd+fs+8rz
yfPGoprE900AwfxVesn2+vcv/X7iw9FwZlIsJJ/Pt2ccDXOatCw98mRjjzuDbgZzJf+4zBahZ81A
7+PcXYs4UnkROj/34klPU7SsHT0mwrZOwjYFzrHnogmoCOTaYO2FO4G+UbRZw0qBEUaNi+1e8Hry
kvSoSz0okvu6P17ftKUAH2AzqBwjVEFxUu0alQ3FdKpGMOCafaWB3d4cJJ1/fhZ/YpJGlqVI9ODz
UzpsyTAGwmhB1eKsHP3aKpSbgRvfCCQWimMViDQC+dD1TZo1/9zxO1+FcjMm4BkikMHnuT0GxP6m
bcbuO3p9bzYfyKKiwo5YCd44aqHnm4XeP0BYMD4ca1EGLmdBvfIUXdimucaHEU5kBJd9RoKDZbAz
h+7ohHb3lZs3e/ozgw1KoGC2RUShxtyNBrb5Ptfl0WBfRO6HSVzcfs5zMIGODX0mRFT9YlQz6nFs
/PHI2EO8S/ybs4JzMPHv5xWHMkmHOIl7fN503rv86Gyuq9HSQMEPA8AGZjRAqgeP+Px863KsNOII
/Qjweu1B6EYeINXloQuprVdxPtWzRhEXnMeIKB0CY7hgFbI54q68sqZjZdzvuXF3fSnqjfj8Otw7
EIQjawfv5nwpjjHKKS2r6ejlo/cC4Pry1dB4s3MqHSTOPKNVeF3gcjlYigeclbm+jrYdZe86z50w
p8Hka/JdeJu4WomEl+s5/7zydiTonE/TGp+3RlBJtd9NGwPH22St+LO2CmXbMj2pjZhATG+HpRdM
/oqGrX1//vuJuUXAEfsNw/cLH2Xw8bHhK1GFqsLwLNG6i7uHLmRMz6lVV4Miuu4H2b8a1dHwI0/H
Jf9680mfilAzIbGVaFmN9OarYQZ1FSYrXs6FLZpZIzBu48/XUJ3FSH2rqzIr7187fecVX/y1kuul
76OPAUWLuVEAXZ3nR9BptSFalvSvyHACKS4Nbt8edGh8zvhZuA2G4oKYgFLyLJAEvM5DhQyzwPmv
6/s/u2Gnjx2OGGUdBOt4+G00YCk62rK+YQTtE6+kvNcopkAD6t3jrcu043VBF3YKU4QzDh282Zmv
6Hyn0BjMcaNp+8qcgMaRseJ6rH1+/vvJXchcD6xqJT4v+bsmP+xbQRE+9+nk589X5fT7I+sLKfF9
Xf9h1K/p6/XduWCR0N6AnCwy4PP0suItaw5pvDErulcAt3xUZbN1pRZonbsFB8GK33HhUp+JUp69
3MotFBPy7pVVW6P/zflGdPGKjLXlKGorSC8cZ8ByjCSiaaTxjV8FGlu53Kp//nkm/26aajvA0sFq
DMp3r0MtAya0AKg9wUSaMGV/jOq+ZWvLunRZ4OjNB4WphsVk3+iUIGuM6/S1jF36YXgDCCGTMrPv
E07HxyGtxgduSL4Gv7DopcZCZ7gMNOX9g0CnbKdWpui/KN30ta4z+wWs5g7Fa1K4AM6Q4HVx/T+y
Tbot5U71pcTWJ0GhtWMTDJ4jt1rdgUePplMBIpMm39bEjVfeieVxQ2fR/OzOI48YWZn/fno5eoux
tsK++NVdM2za/skhaVSLNZae5YFDDrK+GFmZrYgavtTt5JGsSdNXp/2SDsl9oZWRBHQmAw5D/ore
3xU1VowKLiPcD5CXwz2fZwJ8ZV0TkGCp7eVs3xt/BtkEY//9+rWfD+7E+i4EKNfeSzSS+rVge81y
gkTT6qD1jKhn7b5wksdG8547BGmyc1aeFXUm/38EI3zGu471qTs51CLVcq4le8yp7jIjCSYj3zV9
H8pChFO5zcwHDvKuNt+m1qMnVzxv5R79Ix2NN2h5wwwrGtvP9WUyjIYMOWd7X38eaOTQDL0xB0c7
jrGxcoSXReHth7bAm1ShGwtMRfeYlWZ76TyWZtiKSCCUcCKypiuKbv7Pmv5XkIrbaLtMH1JWsj21
Hl3jWyn6YNJFkMdfTPuPK16vK45aQVqIU7awInmakQKaM/oHXowbHVhSdvHmlA+69btxn/L0Tt7o
Ni9kmufHFgvH9ITe4NhMd1d5X8yKBE37RPzbqogLOYqrMFqJnlhFxfbgUpTet2r4fX3z1o5K8RWA
a+B6FUqh+3qoNx0A5KzK3bi9H42+dl+bIkrqcq21SXl1F2tS/Id49L2icFu2J85dIrc6D3Mrur6s
VZ1QzFVR2R2YNLFvZJpeCg9wiQX52ljswS2bKM/TfanrO4IfYAzjiuyLhmwesYGLhDYINVQvKiH0
LMM10wBU4hZfYnfrFfssOdC033r0pxhXTMjF/UQsigy7iVqq6k4iQ2MmLGds7wE+BOmHv2SeIoij
f1/f01kVFgYaaFdADfA9GCtF5Ye0tXuvgKXiKcaW/L/KG3vV/9GLEwGKrpeG6DFYn7F9q+Xvg3SC
3Il/Xl/DRXU/EaGou6elsskLiCBkBLjWqzcBXB6EBaL9CoxJjIcF1+Up3sBiSYqqp0C5A1IA9qwy
vxb0mMCTlf62a24EavxHDkosDlq60Pix6AagfYvum57t0y7UBOKW3fV1XFSxk+8rZ6/pbTr6Or7f
eWEsX/ekXPMnL2kX/KXZwZinutUUYJPkULvRxQqYsxE0KvVm5V5eWsOpBGUN3ah1STZ6eJWqLvSx
ENsqd0X/en2nLj2yCO50lKIQAhO1uDl18E3bQsMjC+gxs+4wb/hDi5tgQgEsa+6vC7u8af8Km3/M
ibMJ0AvQdDcQ5uTetmYvmtdt/oMEjI8DnQ6zT6Z6LG1V+jX3HLh9GCTOu0Bz1mKwi2s4kaAcS8l4
m1cDYfujP72tEgJfuoAWUFSQsgFkADqvzncIfbplErcT2zfASrsbZeiScJUR45JVmZtB0b2H0ASd
T+dCJrt30G1cJHuW/13mMI6MhaWIgww3vogDK10J8C/qmIds6kwzCdgbxeHxq1gyV0LeCMWi1Udp
2GHqfReGvRudH/9BATwkRVBhBeTd56DkqYp10iJDMST7yvjePnbj7+ufv3g+yIGgxAO4i0U6taKW
xnmGzzuSbLR2iCbbDTvKwkquSLp0SDNaBOpJLjpyVDcf06i12enwCMyehI1Mw1R7KsRjWcsw1u3n
BPAI15d2SbFtTL/NQ0Wmi9TbuVZ0o9dXFeLyvSiiPuBrYyzmxQVhMg39Pw6yemoPky84pblIs306
dno0Vtzc8HgyApjYfmMNcopK0MQFUk/fDWsSH32h50FCaLXhmDGFN95PoSStsZNNKjea8PygMJA1
0MpRvjCnlMEUg6GG+sZvW4wiAgtPGWnZ0ASN5g9bwL7oEdc670df0mlFwxVb/TnvhT4jXUcJ0AWy
i+K+VdJqqZZ38rmrWFjoz7X9YaMT9/oBzQdw4tD8M1T2CeqFISD0gc0HeKLaXkrKjqdifE5rrcTL
BnTFsdZrQOe7pnxIWqG9Z7Ydv1pOXj3aWrnqCF/UEMA7ouF0RuhQy0Zl2nYg0mLZXkuSO7AVCiQx
0O12fZXKVn66BhjA/F8hylaKgWvVhC7jPexfhSFmb0wCad1fF7K2EuUhGt2aZRRh2F4LMP8yrCF8
Xfw84sm5Aj23CSoGzyr8biiTOtt3qEY+6BUpg2HS0pUa9yVbNHd9zzPFqHarb5091nY8FHG2r/T0
QedakPfFxqRjMJVrufKLh+K5AI8FZrSzmOFyvSaWJCHpXrfL8W5wuACHAnUD3S3Z3fWj+cy7n6j5
pwK4FgZYMcwKK6RWrCwMH2Zcs/k+aQcrIhPueT641guxiwGkkJ70As8C8lcuabdpJtoExtB437HV
P4B/W4R6b4uoyav+3tV6G7qDkWGdlFaQ6H79jDe3jtCK2ER+W8vvnInskdX1+AD4tDqIbdf9RUe9
R4Vd1vZLxdsfej8mj/7Q5xESO/bG48wLdLvznjxTJuGUeO4egIxN6IziOwaJhtdaL6YdsbrvSED9
Nepj9mrEWbJJwfD7OHpOtmmpHQHqHsHdmP3UxyretVPa3xl2XwYzwUPgmMOhT+r0rrc688vgAoew
1RkJJm4/yyp27qRwSdBKgbvPMUfZ9vyHDpY5tDAlIYuLaZtk3/Lh6E1fxR64Kq2763s2brO6C8VU
TEFCUxlJO3D0IGv6IOnRKhuTkAobA/aGtyv9PI+qpql2lrDsiNvowxEWF2Fjtt6D18LKVaUpt2kp
qv9iAICugWwkIDTRUanczU7wqct6hLxTOnukeTjZ76JfMdiXXJJTIfNjdWJLRcfNhgOHcR+begi8
+m8mx9BSPkaFBElAP64YNTUN/KnUc5UJ9Rr0DANg7Fweb7HWlrcgWjVbAFgwKvd+ool74fj0UUCp
QyMZh42rmf6j0enJoamAzBGW+iCfKGfO1qpS/jAgRbBrY26tFFUvXe95AAaRGDJ7i+vtWPHgj36V
7gd/CrkuIqa7uzh7W7nZ5+/XP3uAvCEGWecW7cWgaQFqYYzlsj2zHSTa81Ie4Rr+4t4kgrq1nZc4
7/odqILZF8cpyMrrqaxxfj2Big3vc27cQHFUcW9w+RqPyrh97pzirnPHQ+27ofToja1l/5gvWC6s
EylaBIHnJ11yL7Pb1uF7Y3zXwoyubOIlL8r99/MqwvdMLUSmBJ8f2UM1PFCydcm2LzcW8DHZf1AL
NMlhtgu5IRsv8vlSGgBwdrzP+Z47dB+78ZMzgomKk5XLcekdwyzRXIX9vPXqhU9FbHR+y/cWiQOn
+Fm0dpQIArLalaflE6JAfVpOJSm30NEB60dkB0lO/JJ26NTqNPOeyjokIwvBVguSXh74jbyz3Gkj
/fY5Ma13J8E87ljetTyPNGlGUq695IpufuqMh85uPHfwIOGDn290YuoNlVTyfe3+su0Pv/ublH9f
v3yXDN6pCMWtKixjrMp05Pt8/KttDrH/YpZbmr3G3F85zrXFKJvMY5slZoXFEPRg+fl9O7w1frdy
my/rDDZs9nz8RXNAMzEx8aLhex1pcwyuhC4yPMy9F+7awMes5Eud+VeS4nVrjg6wCwFJsrP10G+m
GjXKyXowgVW9pRbeJyZAjhmXeB31sVuDCr1wbmj7gz8MMFwkTNUuiJzSEtCu+Rw1gauU5N6Xiab3
tCB3Veq8F7a2ua4nn20J5+tFhz6ywUB0xOjjoveJWj6b/D4enllsBkU2PDrJu+YC57l5Bh6HRvNN
k3yv/Dpwqz8SWFRMfyjrX551QMQQYBsBMcReUF9d0aql3YMniEkKhMJzNKzWnTAhqCUYdBufC+O9
z8qNU30fmQXU+L+nBpBU/uv1bVhuO7Z7judcvIgEj8P5jRwqJ9M0Wx+fS/Yq859V/oP7eLKMLNKN
v66LWirYmSiin4sCxjKqreM0Pmc5DXy2xYRdVs7DfG9dvK/GaKi21wUuo5MZgegzwwTEIyCenws0
uGYmKSZGn3Nrm/ZRsvJqXPw8HF2AD6Fut8gulXy0QMXNp+c6Bn+g8ceih+u/XwW7grnEAgALjnoH
HvVFxxwXpEJOVhufu+HFBsuya95r43vtPWfttrH3uf03GG1GcuOosyr2s4Zz4jOWky1ImaXTsxiA
o/yaYDzg+sKWRg3UCTOSEkE1fjkh1TPCkzLN05esrQF6/ciAsmNbO63+dl0OuvAWRu1ckmKjHWfs
EnT8pi8UJGABYBQqAPfqPy2giL7laBgFOpFwvtcYKL3PeWnfZ7ZTRp2lJR8FneqfrltVQU3w8/TB
bbYgQUz3LY59m+vNN0SK5NnUDZCvs8zZZClz32Ia/8469LSGbCL01+TrY5iQodl6vOq+W8w9pp0w
w7Jxil0M7O9jbgzpAFxsn73UwjT/MBn3zZ2DcOCxmLTqTevRcVZ2jr/1JPW+sLwcXqs8r5EN0tqv
iad9S9zM/zqYGiZquNB3fJzpi+MiS55l7NQ7VHwJ2sEb29oAA770wh6slPd9k7mh6yQaQsyuTAJu
guugB7T2zuoz5z7rNBug97a1LRvaPeboprxPDYK4seqnB9uR8b0t8A6kU5vsNChMACBzZ9NgbH7b
88qM4takewNePcoqeX5v2iO83rZpQhMAKX7QAaHxuyxy7SVJ67EKiCT9T+lJ/qBPW68GcKJf/2Un
LMCc7B34iCKXifw1SZ36sdH7r4nW2rtiqLr71BHDJhG5HbQJ0xHJVWPYl3YbujUlL7Qv6+cOxcAf
xGTab+HKYcuGtAcju6Y9Tn41haPVuh+VM5dnWJu/kHqsd5kzpjhhYxoB/EeSj7ozvK8C7+NzRtjv
iRC6bSbkDYGPxND8VDUb00/c7cSICMFmLx9Q9ZGo3uf0TiZ+iSCWuYBIkhJAT4A8MYwsvTd56uAr
sg/rwQQjqVc8WnScool4gMVoZBtqRdS54ZvOjDDThuxVb4HkOonae81MkT4lIzLYAhWnx8KNjRcw
Hnk7RuscfSBdvSmNuHyv8q7bjR53Q+5MYudySp4MC+g3DJ04gaEjtzCaTRl2+pSFHJXfwCDcfeCk
sP7SR0v7Y7Two/w0nyKA6tj3dZ51m17oxY51OjZb5lqQehgnR4pO23ijaLeuZvSRSZru3qHCeNCs
rt65MRcBo4jGtdHA1H5D+9BMU3Pn2BWcitwjK3Z/zbwobxoQ6EoXXUjpC8but6b/vWI7Px4i6v+6
bl7cS9YFqWv0/gIwDC+o4s4iuRYPWTGwl8FKnL8q4qaYChtI80Atp8MdQJqqs6m3cfV2usND4gST
NH1AFFb1g2tkfjDkmRY1/QdyjCFpfe1pqNM8NLsfpY3hisptNx1jUyCndton6GP/6TXQGNNh26aV
GA0DCn5Y6dJ+KRAp7bwWkXUqHRmmHdhoqpqLpxZ8T+g6YtVOMye67aldRQNoY/es07SobPj76Df1
HSPIjGh26kZ918vIAXE8yGTL7mfX8mKbO/4vABY3uP7ItboT8zFwTK2nsUJSqva9rUm65lUfJ7nB
UHRVhVbm9IfKyvgdhp+cTZ21fzBr4z/aNbEQYujdrnfyGl6AhnGVnEMhMGtF0OegIxKhVh+4DWv/
tMywAz3t5Y42enmXZDzdgA2JveRGV4ZFk1RfZTGu5e8V7fknfkb/1jx7Mk+5KIeqYf2uP3btc+UD
PAZE1I/wBbeFWY2BXrsrE3+KBn0KmzkLkG38HBGyzl0UP838fEIF/9nNSTQQ7amWxR7kqnlIPS8L
kBDd6oX32xQ3jvHMbzzurI6MOQYkUHRRfSM2IwD2Bigcp1EAJmfcgvFqrXZ8wbkEvw3CPXhHqO2o
GU4TaJOZGKfkxZSR1e8zspnS/0fal/W4jTNd/yIB2pdbSd56jdXpdJIbobNJIqmFovZf/x31fHhi
04IF572ZGaAxKpMsFms5dSpEgZ/cOPDtv9WcCJJilzgjygTrCUHdc2xi+Ga+4rsuuWLI0QFe8YEg
xH+cHxRIq8YyFUr6jAaGp3RMMdGg7/Yp6f9MWX+MUwsZW/2RJ+qDSPvfFR9er9sac/aOpXAFSRbs
JLoFAeuU1dIZOmK2JIufnKkcMz+1c28nwO/4aum54fMyTUK7EWzfEWsMBUhFHuqcCQzb6MWnbuDk
W5ym2iOQi/GG6SMJJrtKXtHkn4deBw1AF8CwjWPV29exO23xQPwBhpI/co+JQ9IkVQ2kjsa21OJd
VLDJPqZVEweaYONDn+o1yKlsNbQzZwiR0kaqdvLo8G3EqRzjsXOOYDtP/sS1W35OVHhS1zdHRhX9
d40Qv5joI0LoKOeiqBZbzah74skEnZ+yh8fmZ3URgvM+HIswVd7qPoHJWcmtSqHaf1LRvYRMoo5m
2otCIuUMZM+qeMq1KoTT0SE4rllQKEjvMMvblU6e7oY4XQkLlm7VnFpFgxwqFBdMPiJ3QSbAs+yZ
Gc5jGaeFr8T6l9Hhd17BdkkaH1d2d67iSKpnmzO1EmQiPpe7hOjA86JQHdiKygFzU9YMDxwZrk2P
1q3NVFjkDrugdrCVuvdsNLZ3306pcoeycrzGRThfs2s/RT+/hrS1pgYU5OnzkGG4Wi7ugDmOJmO4
ueKE0i16lVBYh4W8YOXRWos4HbXSZ7QzBXipfGG/8hGF134l/F6IIc8ESfEJp1wZc81Mn1vvjUzc
Z4CaXj+9JQmYiAdMAuYXwebPh3sSzI3cq+zSbZGq0AZfsVQfI9uvS5CuwYfxncFBYA4AJ8wFL643
eaUgKvRxAjud5k5+bhZ+rQDq7sIi2CzQhxVg3ZLEmaMAMxRQewRfxPma8hFZ6UxUOB70a9wj8Hce
JkudNlrBvae0svFyqkykL1Ojr408WHoIQIMB5llwCupzpupcNgPDvurGk/Gka3zckd7QX3OA4iNH
n/KDh27unY16y30K+7pNCJ7UlGfg2Z205M/1bV84WJRcgSRCQtlD9Uh+wd3R6DGQ2XiqGLvL8vJu
LYu8JAAEPDqaJw0V3fvz3080R+cFpcmYOE/Fg2Y9F+xmBC18kJPPy4fYK0MmDMV+aro7xvaoeV7f
nwVTcfb92c87+fllZzINKD/nCfnfovuleH8E31wXoS88ysAnQOtxwWDxPGkNgN6Z2phjLmjloMMQ
s7sUR2BaaFvwILN7h2+cxCiPc/5x3PEMwG7UY6s7BQNSMG4niVwt8UHTYGwpZgsdiaKpmw6FsHfK
i/Ebz+BY+XA7kbDXrDUApHS4/71duD3o5nFU8HJIv5x6ZOoVjrerA5NoCv4xQDF+XN8duQqhoyUE
jq0KXAB8TEwRkEyPx3jOSJrTiDcVR/jJUEK1G82+q4re2Ix6PqGVwKxB1z20e+5iABrTtGSrOfE3
5NvU3x2b6M5DouOxAEmCT5hHwYud89/Xf+e81JM35eJnSm+KBtck5hgCEokxRS9D8Vsx9VDvnMN1
MdKOz2Kc+bI6qLLCdLiSGEIa1B519GXpR0fb8Bsd+o/Pzw4qhpIhk4u39Vzdp6yx7KHW66jZKvFn
r4pu//XgqQPeEJMaLt3PVNdybgpeR6wLLBZa/cptXdqduSaEfn/803Yla5b3naPyjorIzO7Jvs3/
YfNPPy+9szERVmkIfH60Plv5G1/xFxZ+/TzfFvBSEOsD7TuHeSe2BiZAaTJFFVFthC7ZJGth4sr3
ZUgZF0qRpTG+39PQjP3+eP1wF27A6c93JN0pgFEuewzPjUwhDqy1NonXBOPk7K+LkSLrWUXRn6sC
cod5jbot55UJr8emVK06QlEHyTJ/qqPMqgOPrBieD14N6UZjPAQcKzTUIpCXg9vCiG2eaE0R4dcY
gdu4RqAVNg0AzdO3qYL0RYUB2BsGy3WfekUd2gwYbR8zA8kvzBWoX5x0+IZ0XP5nGjPyjHpp/7nk
abbTusR95sQZtoKgh09Nhlz3h9pw1trpFk4E1al5xiCuA9rmJS+jV3JTTQDqj7q2P5hs1PecZVNY
x8bX62eyJAgYtw8wJBwJGX1p5mXueJlgkaiK7hMmHKj3DlXH46RVaxMbFo4fpw5maRNu6OWoS8Md
GNLXShHRYd/SQ1I9dNlxrG6rysxKBikYBA1EFfAXslsE/qQq6XOniKrsQXO3dG2M2tKGnX5fsiS8
U6DeJb5POB72R06eXLpyHRdu+9kSJGti8HbAPDCIULXd+GzX4fUjl+JH7BDmc6DRDHmfD9Se5Bh5
eaunjW0MUWb6uvkNXG6qvknSH9Ov63IulzHPAYHnCLADGhQv2ranLHcsDNGNSrLPNrResSYLn0fs
i5l/oBM2QJslHYTQeeYKU0zR0P5J9/Wt8xOwS7PLgocUrPTQJelBGjoLjn7idRHgU77xVtzMVP2f
AExORgkRjBgX/kDXwW2yWB/14pfu/GI3P6iYOTC77pjXBaST/Pl6nMCEpoygp0jigO4M80ac0axG
+J/mki5cYFgoSUt7hyYg2+ZDZFHLT+rIVV/ifA1jsXDIiMNnVlOQ6uNdlWrGDBNriMMzKwIar4b9
a75f19FLm4SSNxAHICRB6AoKrvOHe2pZijxobkfWg1C/uBXbUK/cWNrbdTFygmreLCSK4CGAQBGA
P0N6YafYjBsEgk5Up5H20813irmt/3TjL8xF3iflSq/z0q6BIBQAPHAYXLIcogMBtDEjpLXp6DtR
WfzDsWAxaDxAMhKPrEz5MCUemiyHoomYZvuPHnf86/u1sAB8HzxTcw/1jKE7P5bO0tM6TZsmAst7
oG9QVFu5HbNxOPcQZtoyKJULnD46syRnHIAvJ0PuronstAeP9HOTPYvy3n1VvlR02vzDYk5kSTqG
KmfqtTFkoQGsBqBU4e7Kdi1oMbiH0NgE6AnynzJmxBwU0x7F1ESW+tQKY+/Szh8cDTFmu719LUi4
APGAVrB5wNP5wQw1yxHC1OASeW/sXeLs/uHz9syp81GfkFsZE1AEKAmhMyeD3zobW9zsp4Mm9eT7
0lGUWgpG25i0UTHdKyRgzkpOY0mt4N5ihgkigUsql6oyFEPraBcR83c5fhPpr6r+wdTv+fDH0tZC
+A8srazEgFB84OmQiJRjeKtT+skzzDbyBrSImBuV7MVxRHtbo74h7eaxQ8Huqh+ox1Vj0MchyV8w
uAzxG+ZXXT83OSs22zeY6b8/RdKLsvS8Vke1NxqdyufKU6d8H7PvRHmibFsUvtVEc3Em+3xd7KUv
hpYhQOPm1kq4lY7kAiRGBVgaTWGGvorv4H8ES+N1AUvn6YKaHSEdKGjA6CCpe6UaKIrOdgilWJ7t
a68+dADG6eY+B4KpdL9dl7e4IGsm6QcAAow60nOnujxjQvNEFFvWc63E4VCNr93Ns0jn00J4gWzE
jLi7GKLXD6TgeoXwC2MVlWqnrFGdz+ZZVkz0WMIzg4eJZIfkGpgTZjUqSVxHao1ymB32I7p4Huzq
ueHNikFa2jHkYz2kt+H4g2/5/ISKyozbRNcR2Kfc2AC5pPvp2PPNRB1vRRnmw5ZWBSwW4ntgepAz
k0MlK7ZKOxv6NuoxPfsrEINio6VvZdwboc6T8ut1VVjYw48UN6jF0BkHp+F8YXZfESfHSPNI4SCQ
zgDgvXP1fQq07u0RE/YO6vAxNgPPoXSLUuKkZjfNFDXJhjVN0LlrwOeF5xylAcRFIH5D5CHDfoUW
Z3k6Ok0UlzEeJnAXZCsv4KxR8tmgNgU9gEKbl6lGwshQKkUfNUm+HRmgcmR4Ujs0lozeM3XKR9sA
kktN1BX1W1oZ6h6AC8A9hWbM6nmS+GGa4Emnu21EnWH/TbHXBnYuqDdCZR0wHqRNkFuSHCFdTcZp
aKYuGmLDd9qvPdA7ybhGQLKwijnGQWoSkAekG6RV1EMTd0aF3GH2RfsxvV9X5MuPA+E3s6igZg2Y
jNwjhuZVz63A/hZ1HTqQnOQeibKVZ/dyl85FSN5cW6LjQcAgR43aB1Pp7l3FeURdaqXsJKf78crN
YEXkStBRjKhWJphu+WCOBgAoEYtFuR/NAfwpcWwGztQ+OV55MLWvCReh0JONW9vJA4/p+J5kpPjh
VnW19ajd+wOGpO5q20ww2FHr/LIszLAt3GTrMXONf/by+UJzBo5z5ohHkUh2EBKd9eY4JVmUkXyX
mHXgartiGg+dOxxsuNWrwE65/edjh0xY4RlSMif6JE1qO868oTFIRJmqoW5B/VJ/8MOm8kKiVv3G
YUnv64pnhMS1wb2aGD9rbg7wEWi36ZtsDT6/4JhgC+ax3kBn4QLJmdlJcBQpMCQmIuR1ZKDCUjec
3pfxnds/po3hM9RcmvqHZ6+1z1/ab1AWwRihioxU5EWrUTrp/cQdSiPABdGoOLxR8F35ae/WPm2M
Y2Gs0SgsuINzag3JNRtFgEt3UNerKieFRiKXGv4o7qeKBqm371IrNIe31t2aymMihtAAb5Kdo6f4
q+fxwLZCkINlY6DnKy/YwsWfu9owbxYt/iDdkmwXzTFkc4o7Gjl0K5I9YJ/XDcvCrT/7vvRu8WKm
vqAtjRp+pKLwRct9ytfw+GurkHyZiloexcg9NJBk1qbi71qzNtNvZR0fyJ+TN2TIRzuxRkGj0Q3q
8jDoO2eNLnhxEZhzP7uUqJvLNjgxEA3mNRo0u1/E3XraSli1uIKTz0v2V8CZ9ebe9QgxZwfOaQy4
X2val9nAZssyU9qBvw0qBasmnUNvoaxuKyaNsvGu9yq/sbZ594B/Oua+yGlIi8Bpj+b0dQBT13VF
W7jKgPKi2I53DGko2agVlj5YtVvRSPceLLrNpjxw4Iqpz5iVsOJPLIqan+A53ECuXLKfpt6h2GBy
HFQVJnHYUj+O96gsV90K8HBJI9C28D9Bs7N7onStbvHCrCDI1I5u9XgjAcrHaaG4DMo/8CwgNJQC
maGvO6437OPut3Tbryjc4jbZ4A8Bp/ocYEimpe4btBdYNY0UI2DWTnky3hXiF/bKwS/pNWJLJFE1
pFCRLz/fJDszecVMPB7jEDoeasI+ZvH9g279FXFREyu1XO9sm0QJsMLza3l0s6ADRm/VRZ5P9NxF
NoAW+d9iPl7KkxMn8Rj3qe2RCO1LDdmybjs3ObYrrtiiXp1IkUxBXQnuFp1Logbg/d4v1wpji6tA
GIaABZS5aIg7PxJgb3pFtVMaxVNgIMM1AOt5sNao6xYPHiSnSOMAMQWM8rkUtIuVqF9aOBUy+Hby
xRkOGGZ+/eSXdgqT2FGtR+YGo3Xkq67R1hitqogcVCezbbfGvLy0U6ffl9ZQ1IBLTpooosl7tcYm
zJAUTMB3Tz1l5SH+CLIl1UKPObI/yHuBIUrerirP48xxkzIiLBW+05vfWOq+YkhWoFZgwG/LvQ3m
U2qku6Jq/IabvjDIRji3DmjBG4HBPvrMhIlAAzN4zo8tYyZ1bYLCmR5varC7kdvtwYy0gkMDzxZh
mfR9SoeWg9Uwj3RWPVVx/JN6zSEfstvvEB4bWB2wx8CPlkN/PRdg5SYCYtKf79ZadXxB786+Pv/9
xA5kU11jyk+Ndhr9E3WiNUr5tc9Lam0MgELUSMtF3vTmbWz2ev3WLNzMMxpX6deDX2lKxkaQyGrh
anxWrM+3TkGaleiUKFZawIQxILrgswRzk5ub/u36AhZiMhSCLKChQZaLSUjS0yU6y6wGIyPo4kp9
czTvHPqmD58UexNXBxBtrNzNpePAjZhbO1EeQHXg/LTJSHNrmFIS1WQb+yj0Xl/N0nGg+mdiWhEK
7heGMtHULh86hhcyr8LCvRfFcdJfrstYMGSoMKJqBigiHmEZRiZEZdYppidGldMEVZ0EcfcZZNQB
Re/MdUmXq0HFFNM/gFFBfg9IqvPN6szag7sPs6/TeqcXr62uhemNuE24RudCJAUY7bophhEvPtin
A2Z8Nsu1dM7aMqTAKB5iRZgDJLCu98EZ5XmBXVY328LzZUgPsS1EYRcJfCOj3qfVYSrv1epfjgOl
cQB8LQBu5YPXxmTCVE4ch6NsJxBozRxMnn5zlIp1nAiRHJYh8SpkeyGkJ29Z+quOV5JGi4eBNiLk
BnFNEEac69RETIujeZREik6DOueYmTizgKz5RQuJjnkd/5Mjd1fDn291dYJ713wlrW/SsOC7odm6
294JxFuW+fpad89CUftcpFTUtvRuytBcT6KsED4BfRXjhy5/UIgXoDJYalvWl0h23GwOzqVKBzYT
qDX9AKndPG49BE2Tw3zz9kInADLgtfJmUB/Gusi3tG6cBERj2M4+8Yf4SUt/Xrc1l4bZxFAajHwA
bh4y5MKFYtYlWpMVhhAm9bX4U5yu3J5FAeBXBMQa6BWESZLixT2oAwnPIwXEEZ4SukW7u76EeQ/O
3T4sAbNY8a4gSY1hoecSBmfUJwuNh1HbgDmJBS55qJq7iWSBl92+mDl3DGYuhKzIGEvxZJ6Dsd6u
+iRKtHJjpPfOZK8sZmG7ziRIi/GSaWSNAgnlU21sKmd7fa8WPo8qDrgCAMcAckJOsSuEk7Hq1DQq
xKEMKnpzMIEihD3nN0EHiXd4tkInTl1hTpmmpqyKeP/Otkrz4/qvXzBiZ5+XHkb0kFapqPB5mgUx
rjex0SMqVl6Uy3ce0wOQMsBw35kKUp4vgQR2F6O1qXxRzbAsKnRupaFF9o1+s3t9Lkd6Hs0BrBPo
8ixfnPqlr/BA/rq+WZdHjUQRyoMeigUze6ZkOjw7Z4DY0eyl+Wnb90BlXP/8wjZBUYG7wWVA67qc
y2uJ04Pw1/IAq3O/2eq4JaAprHcocH27Lujy0JFeRVzqAuc1g7yMc51KOHXHLG/jSCifinabTFt7
LaBa2CobMwvm2VPwTy8IU/XS8MAfqCQvybCpfpRrZPBrn5eeCrMwOVrS8HmFv7k/qmYFZnVp/1C8
AsAKNW7AEFEVPt+gohYFuEsFe/HIq2G8pPlXj73YWRjfbjzAT4OIc4Y74m6Y0josoNcdMILmL5WS
+5at+I6zuX7WCzuFNmT0tuLBQL3Eki54ZxqZ3Zpu8fKMvmB/GNeAFGvfl+5E5XWmwqq4eDGnjdnv
i37lKNa+L91poPt7lEbw+/VhT4etu7I9C1cBSAY8OwbGyIGjSHLiuAbmSZ6X7IW47xwTMCwCMHlm
hjcfwqkUOWkqiqGo0UrKXhTPL3/ab/+3r0vaSk3hlrldsBfM6pyGjTBvfoLQ248h1DP8Gskx2WPq
eI/z9TL2MmHQFwnBZXH99y+ewcn3pSM2tLihzErZi2Nu6g4BQZCvJfrXREjHDOpSlCA9wl7AG+Gl
YebutOz2R+50l2SED+nYUDoAnb5Q1+l+jcQ0IpOPY2CJKt7AxZr213dt3pVzHw2n4hoz2w7K1hck
owNGaSoTGqderGEAsT4Jk2FXWr8FOGEK42s9rc2QuLyIKDajdAH8G56OC74yqoNtNoar8FIr75no
1+d3rgmY/37i6bRtygy94lCz+mjzA++31zds7fuzjpx837KGpBwHXPV42k/FYRXieKlj5xskWdoy
IXxqPWxQkoeVEXbeE7uRDQEHDSbDD2yuZcA3l3mvClD/gWPDtSIkyAG+K/MVHV7YIjAlIgOPsAUB
kkyX6KRJmSd5Ykd6/VTt7bWJfpfP6kzE+L/Py77+VFW1WVDFisq6enJN5bfnkDtM1wiR0ti5HQmv
H/ilP4UYDNQKIFdAnA/7fn7gjLN20Np4jFiY/qjSbVcEo7ciY2HH0Ik09/OgBotwT3rA84wyT1id
GtHq0zBsjDVo2tr3JVeN15mjMwXfT42oaj7pxsqJz3twbkXA0Y+4xQG2Y576O8s/vRRkDsmYDeaH
8mioSX0YsvpJeNZvdAv+4UN9hxFQ6Z23xnRwcTTgPEPTug6NBgnaBcFCqnUKSD30FtxHBFxHvlWn
vup8SbpfN6rALAc4SGRnVBUpFGl5tdEOiqtiFFyGEXCiC3MeVmblH69Lubj5kAIWBVDOu0CiXLAF
xQNIOXJSAitW7FDeTZ3QqG41XhCB7PLH3OQZ9iK9kejSbFNt4CKiijsFWRuOqTeu6MKFrs0yUGaZ
iRNBK2BLoTjpXGa7vQnQbbzLm/2X65u08HV0lxpoGAJYbC61nGuaKzBNHJQIY4Qxdd02WevYXvm8
zCqrdF0nGOiPo9590HYtudUNRffZya+X2zxIAeKnusPnG2WbbCzz9uPF5+d2BdB/IBiQtp6xCn0E
tj5G3YNW7rvkcH3vFxT07POSh8h0O+5iB58f6cZ1H03ymN3cpTxDj8E7hESFh54wmUbHVjI0VJZc
jTIR+/nd6K0h0RfWAAGgJMZtxkWQ6x1NOehVP6YqekxjP1EMUGzxoOvXchULegTyCTwWgGaCdEbO
3lkeEgi4z2qU22E1hO5aA8zSMk6/P8s/MbhDp3pVOuD7Qn3GbL+iBLvcimco88/jV6MpH+YV54Ay
I6gkzmWUhLhoKjamiCbtdFDUqtrqQmdhLLokha0Vx1S4O9Ntv+Jt6X9xfeYpL3uVU59SXYsyJSsC
06SauSkTJ0WXP3g3PCHIgaQJC4AnLZ5SkWa/ELV6g09NtVe2eu9N4LXr7Tt3crotSJOKHXJ7M/Fw
yb6jgZ09Z0VfDUBxT2DFGjyw3itOElC3tyJq6KK5y60q9BweNsbIrcBWezcPnWIUW7CEjRtQbihH
xMrGtgWH9M6ySoaZRX2a+gZgQts0yZIf+pCCs2mwviuiG3wLoESfqF07bSox0yHrSaBqA9tPXj0R
39CJ9oCeUsVv6qmpgloxnbe0TNkGBIXpPXjmmqBOmThWoLr6Bc7EDjzn6NOm+dQGbqalgasIdVvH
dRUAn8pfcpckAbjZhO/mWrcluSn8Bm01P9XewTDV0jajwaim3sdg5jgYx9J+tr1J+0lddyABaEf5
EbZfTQBJsToL5D+x96knA9lyJ/nRgG9uDVx9qYx49KEtyMpB4RFMnCtKDTb+puoyMzJMTO2Mt2a2
ie2f123P5YU6lyErfN/yugbgJtKyEBwuN1LBQtfx+TnJhCSHa4I05XwJrlEZZTk4RmQPyp0ISmBA
/+H3A582N5yDCEQ2bIpZ1kWT4OgSOA6uHrVkxfbPt/HMBZtXcCJAuq0dmrwSbbDMaLJ+Y96yX5PE
5xS9PmupoEVByF2iVXtmIpbRbp0JTDuLuRlR96Ufdkb8Oo5fXf1GJqePE9FQYUFjAMzoBcjB7hgI
MRH/ojtR+Gl9RwDGJfXr9VO5CCWwaegfxKmDnhHGbtbsEzPKaUrbuh6MaMKEjcnJ/XJ44uZBa18J
/X1d1JICA14J4C2wrqi4S2+zKNW+Udteiwz+eVA+dbvrn/8opsjnb+C7yPvCYl8UpJg+ZJoWd1rU
ssH3xj+U9zvUkIKU3nkgCBR3hD/0ahIowtlU1f3QvKJNxed2DYauSCue+uap4D+NacfTFadnyTz8
/WW23KMwidY1Eg8rz8gnPvkj0JHdiuu8tLlzMysadPHcYmDG+TkyewBbcF/r6Ijfq+P99On65spc
4B/KCHcBF8wGyTrS3uffV9VW1fGkQecNNXBK1y90FgwYKE/2jIG0dmQhVx4dd5vqSdj1W1a5Wy37
HYNJIim/l8Ver/fKmjt2uWhMjURc4gI9vtAB5NiTawsEY0eV1IFP3TXC98uLfv59yeRWWpcRQfD9
EQTnhrMx9WYzsoPbrFG7ry1EPj0MEzOrHoIMPE2dHlBQml4/wMWlYJ8A1QN84wJUk871/QQNikfT
LD9hxPVLU1WHnjff62EN97Akam41hHUEWeIFn1qL4CvO2tIGE1H/ZDfJTtQo4AoPNGd68np9WZc3
a56i8leWlDYoYwpKWQZZafPVwG3uk/tqLcZeOhxkbAFpNGbUk1w5pF7fm3EWW0fudL7XNP7N8Haw
7GJCJarouECovElPb5GSnKFN1Tqm5uCrsPJV3G9wea5v1eIygAo1wTEDp1aG5inKME7UtKyjB0ZZ
FeMQb+42mJcxPyO2hsuI7NS5ibCJKUAyOWEZLduITg0pEZ9bZY217BLHIcmRgjBHxyzXGobqmLlx
kM9Q81zbGPylRfcp23RdG4wY2Szyr4b75eYtnHuX59G4IOu+CJ08jaToSLLVIwd/uOJ72vb69xe0
+ez7kr3BuMfB5gO+r7SB4YUmDbK36xIW7uaZhPkXnDz3Tka9LGkgoa+3mvstA+D1J1lrdljQNJBq
IP0BYjxAemRUUhfbpeq2vXp0nGeWPq91FC7tkgFqAhRc0dcMb/V8DUpi87Q1OvXoGeDK7jYkdkGy
vbm+URdVASSFT4VIWZa4B3m8GmMN2TSzh/5gYxk49ieNb0m2F3zlWC6X9MH+hkkGqCSjC016XdGY
lHCVxhMw4ZusPySgq81X2hkWRaDQgScA8DpXrrmnVpGaGp8mQJF2CN86us/am98YlDTQ+QcGVAc5
SdmXTECKUBnUmoALtQOt3lLlycLw4OHG6QvwRc7lzEp+osQ19Gui1J4iDbxUvyaxsoxL9QVBGdJr
Dh5LlGjkNoCsJEaWKTVYQXgwsRCNYNdVa+370pvFB7dB6kI4Ec03lgV2LGYG1yV8kEycu8Kzn4Z6
NcaefkADz3doaFIdjIUkjgZtSt4FjeNj7jrvDAQEb3mX0oAapQ7iE6A4MRpXmbZze7PvEf0eZLmH
DoPQOq78ri3lRR/dz9d/3KUint0s+Zmoa6fT1HKACcr4s1PY7y5G3Lt1unKB5ytzvgXnYqRXYqyB
k+1HXOCpw9yAXQb29ewRUwiALlxLdS2KAhIOjehAYIHz9Hy3J13REqOh6tGmf8b8bdLzsB+6XZZE
RcVWclJLBhwh50djB/q45VccrYoCJIyFegQnQ1io7/HsgsO7WhtFsywHnjUwFejQ9CQj6+RgCVPt
Rj2yZKc5WVCSTWq+GOTXPyjD7MD/fzGSmR3NUW/1RqjHNgHNvZIJv7AwaFxL3m+XM0PxbDhYCD7l
+gVeKWInPNOOjrtP9LCafO8f1PpUwqz2J0bJQpezhlyedmwcYHCLvcAg8HFlFZeWA10bJ6uQDF9R
eFORT5BBTd8Zw3yN/GXpasLezQUSZDsvIvRkREZVi5l2nMx3kz3AY/e6Ff1dXAJILGfTijyTXH/J
k770urTQjhXr/G7vIrN3/aTXBEgapRcqtfJGaMfeemu3jVihw7rscJ87Z/4u4OPvJ+dsMrvmestx
zqK456gfNy2eU8Ppvzq829su+oWnYhcPzVveOiFRMKvEdDYqCGUqzPvEQMDMp4UXpGQIUwMpWpGF
jFYrkOrFTUA6YCZKwR7L9eexn7Laqjzt2KUbNwnRR/EPm/z3+7INx1hRPsbU1o6ZtiPZga9Z1MXf
D4wM2j+Qer+ocaEqwZIu1vH77Ve3+fx6/dcv2TbTxfs4DzW7zJXYk8fGukj02YE8TIMXjPau7dNN
33fhdUlLXiTazedJEmBEAUXFuVHQW2EZiVBhrUdycLwc/NvWYTTdoNeU1h8HNEu7a2Tji6s7kSm9
RpgLJ7KRQiYKZL7iHabiXje479S/r69t0VicyJHcGBLb+cj4pB7H4gv4Kizre5L8Q9YCJGR/90+K
jDtNNFA0yED26bHtx8dWQ1GsQs0lXsNPX7bozRf7RNaskycXG5N7HMxhGNWjOmRhYT2X9AH01Jnt
he5Ybaay8jEsKizqr+XwpVIRA7xc38+lc7PQXIPyNzCG4KY7l99gVLABhh7spwWf7NkDQ7vrd2R3
XcqSRloaQnQdRXz8S5JilsJCVQqr7NNHzP+pm0el+yzSzyCH2aji7bqwS35r7OmpNMkYE27Ew9BD
Gjo876zJ22QgmxlMHsCH2WhqdeBWty+zKnTrOlDd6fswsLDhyV41tLDNp2+YQhY0nK+Yx8u+jPPf
JRvxsUqa1JjP2qGl73m/jfhAHWT5WrDiY4qO56sa2cRrPdmLJ/x372U/MXV1jHHjuJm6OYZVan6x
ewwYygSGm7krEcCaKOlyNgDE2ozi4jTjtug/VX1Y8r2x1ta6+BienK9MYIrZQhM3XITimCPySDTM
R7GZX+Xlg4bRRWOC7mOMkqbZGFkF22JO0icx2HcjB9sFybckqfc1WiFISkMjYT4hQx3wPNmvKOFs
8ORIAFMiwfD5MYRdruL2WeUJ4s0qz+7Kcu/YylYzD239MNboiM/jh5TD9yy4P6AEel320jt2KnqO
HE5siktbkNyPOPFabOgdWZvQuXiZQVT2kZUHakYy9TbqtQrCAZgs9seDk57nrZ8RVPSb78bwnqZr
2JAFecD44kmam1qATZi17mQ5lHaeUDyCpEi8oeVW/VMNu9HYWtrnZA1kOFsG6dAQTM18jQZI5cBd
di4qZVT1bAz0Otb2+KfGyAxMtvMLN4vcWEWnFkawA6q5HZRxe/3EFl41yMXyYCFQx5UJjNBBk9Zx
nqrHLtnZGMWUYlLX5rqIBaU4EyHdTSROO6s1sTSlLwKNvwFZd7vanUmQns1M7WqH5jgnBwxCYIAB
h1L3fxQhvZasUPoeQ5Jw8+mLEHfZzShZTUfrwAzNRFcgKE0k1cawxYTlhCGmJnrYTRtgYsLrx7B0
0mB1AwB0biS/qEc3nZW21DOmY8HN77RnIdCBv4tVhN6iGA08DKhSaCD5ks6C1ClpcupMR8W78+wd
VzD4CU1/19eyYO7B6PZXiHQaSgErjKLodHSdylfKxo8zf9AeaLaiumuLmf9+YgBY0RfEoyYWY25S
EXg5ehhXRCwkU1BoUVHzBkJ6rnufixhQgCkb05uOiXYYhzu4XN2X3ro5GQrmasA1UaeYARsXydC6
sVOnU6fjqO3qelcXO0B7rh/Jkj8Jamz0fDuAMl6O4CGqIdAXM45Houv7WMVMatpiiJGAT+dgRiTw
5pq+y0X7pzHEvUPMoMMA6cZYO7IFa4OfAZwC8lJgopahKarXKa7JjfFoB4TRwJzK212NMwGS7qWa
2QFy7IxHExhktqnMH4Kpfl7fyloP9QZ2EK0laNgE9EJSvVgkVYdKHHj3wb/oe3TFGixVlcDUjZgT
FB1g15W7g1FIbkAAqGAYm9KB9pbsuZEHpXNPDWWLVld/1J7smPm19Ul1fl5XlYXbCzME9jVAh+Z3
VVL5NtYpkhaqcRT2tnF/Opg2y/OtsVLCX7hYqM6hvgiSAJRMZUagDsjFiVPNOBL2kDd1WGNGnhj+
FKUXoGr6DyuaKc1sYGCR5ZH8fh0cyMbYGubR7Z+n+N1un5kGdBhZg8gs7RxQnsD9AFWykCeodTNl
bIAcIjamdSdK32h9NHOs6PjSJTqRI4Nixagzp0MD1bF3n5yM++3NAw2g3acCpOcOxSbgowwIUOkd
OmzZGoT/khxsFgCCiBk1bAJLJHmiWZ+CbK9UzWOpMxVjEdvar7Q281Hxzh+MBHmieBJ8x+3yXRe9
9v9I+9Iet3Gl618kgKJELV9l2e4t3Va6O53ki5BkEu3Uvv7657Bz78Sm9ZqvczHAYDANqMytWKw6
dY6Hp2O1aYEl8Nx4UBWKVq4RHGPoWoO9BVkRUwruChYaZayNLCi7hxrCHZDP6hRPvHUTuHNF0R6t
3ZJX6rsuAuqgYoHVVt9yM3pw3BLkxExxW61uDGBp/2tG8kpjFsVLR2AmMcF164z+9Bf5TMzVHwvi
CBxduUXidIlllSzI05dpO9Hnyyd1JaQHHaLgbUNhG73F0ucTfYkTXulmYHU+C+/NBEHKLs3uHYg3
q+A0q2tyZEvag3M74arAJRXwnkJPe+NASNxWpYxWV+TIiLS3+r6Z0/bdSLf5Sa5HZ+MYodMDemag
hj4LHKwUxe0hieFwsNZGqT1Qe769vCKrPu3IhDQAe4TUsQZps6CMS+cevbXtxtJAQ91yrfIqk0+7
6+3ZSPlDbx7XKhQeTjcY8Fqt1RMOe53pO23hGWa/yXjvt9dj/zFhuqGDuR6GQPt5asmeq0lzq8oM
tPqmSm9uLo9jbeFxteEmwNsH7ODSUcwMKy8KPYILzT3tW6GiD1nbvMeflw4KL3trTsSyDOaWZZuu
eXBMBUxw5c2LYPHPCKTz4URFCPE2jCDie+DlS+iyGjccuuHfq9KbLMWbQTUgaZ9B06OAGCusGZC8
n63HEUKedrm/vCjiI9IzHiAwYtigJ3pndDpdclCEmR03UjNIsudBy7wCrcER+06NT5VzyOAGLptb
OzsCeoIuMkQeqFuemkO/f+OCUM0E8oQCgv/JGjQ/GVNvUsFDxIfOx/XHkDR5Ibjd85rC0IxevLs2
nZ76GKxxWZx/KpDN8J3aUMU6q/sbFABgEdXFP9I5LSF5X2VTZgbTdHDibdIrYrb175t4oyL5gSYv
6XSW2SRIrBYzYPG+yj133F5em7X9BlpCeACoAaPNS/z96CJD8bx28qqigTHuer5DSSLLFc+6teU/
NiGd0TwexxwtQDSIIeGw+BO9K2P0RSg22dpEgfFBB6eBg3WW8YD9EoG6mlIaZF3deIluLBu3q68E
BeIFIiDZCNRBQYqyhEydYEOZkrSmWx0AdkMPbLfhXbdHunR3eVWkjfzbDAJ0kWkBCbHctz+kVeiY
WVIfQqvy8EB14sB075rZ3pj2y2VT0uq8m2KwItokgAGVTdlWaGQhjs1hBhrao0Z2y2PNSwf3Ns6j
4LItye/8tgVOUiQRBGGAHO7i/8dVUnMMi3mQnh6LbYSLrd4Ny5OTKNy2tB/+YwuBC9qRsO5y5wSI
yurBjLL64HSvpIaUh/EXa/Tep/wfA+IHHJ0ccNNRiLen9WFqQVI03OvpF5PsWP2zMhTuem03HFuS
zmgdhiUJCaaNPWejXw3Abu/CHjVSxVZYtcMgr4EdDiCf7GvqcJiLCHoUh8hocq8byU2Sh74V8cNi
0nt3iRX2VrceOnB10d1yjtDRrDgn5YBxxcYPTn4Af4Sy/Xc9+nHlrkPbKqQVkIiHxjOSWPL0dXjj
MxDiHhbdebC57pEFOJD8eQz7PVS07lNDVef5/VY6uomQIseWc4Ssu1BpQh7hdHPkTj8vFcZ3oOmk
7/TG0jdla5g3pWUX+3qIrK2W82gT9yG/DWc735RzU75B0HW4H9Mx9bV+ce9iA1otZhEt/mAm1oaD
CgMA1DyFKvOM3i2w6exMd9hYE7d9s83fMugQbd3Y0jZp5AxemmiGT4yUPg+VHW3bpe08J2zG7WAK
bFetoWUg1KgH1T7o9VmD5S1dzB/mRdO2qIn1j11a2F9ykmvbtGRPc9fRTYyNXqFQpOeb1um8Jn8u
pwcdDNpNad++xdsltm4du96AHuxWy8fA0uhtMiABZcToUKuWofDgiSpwrRbFBmTOxSYhuNYWXPN+
FuP3TlOUIjhIwo2Tl703tb3tpdVMPEpzfRMX6D6zNcfYp+i13QzL+GpoWudrtWH5hdtWu3ZYeowo
opuka9imRr11T9PoJeOLtUu0xdmUXev4aEgd0SwX/bS7fPLrmedbJGg5qmSGtin6OPS6JGx22iAI
6Cb8gfVa6rfxXHqz0QALXuGSmcCYdFMS92eZWBzJodncGVMVeq1jxrdjCiHtJgpN30D7n1eHPapA
uT7vqzFvdsQE7VxME7qZWJxsyDDEezwvmOfwJb+p+iX0DIYRplaJvgMrz32On/wZSkbxXV9A87Pp
3X6XGIb2BIhDHHmhs7wRkgB0piXWtG/drtmSyRru3TaucLQsdCmli3mTzih6AZ7oRh6oKZNDWxs/
5omRL07Huts6TcdNPPIKeWrDuLl8Dt+JsKRDgfsZNyfoaEB2K6PXlhBMOoM+8EPcNg9sqj0au0E1
fGmZ9cAY89JSCyrLQNoVutR7tDvvu7D7ONd7Qhafjvm2SAyvsFLsgPBD0UCaoYUIGkNvXwyJ+wop
/DnzR/SXZRbxnOlLX/wz6sQbzWmzwL3wu2qItr2Dh4j+Icoeo5HBwYGDL3yJAFgO6ycaM89s9wlF
udRkH/VJJcJ55mFFhCKk30HEawhc8alb4HOeoDVzQsW1+seAZE0xcGR4vkfxo6ZknJYiO+GCTmxJ
95PdAbys2yM/RP0D7Yk340jMV4a/Z0Yk3xprZohGDxhp2ZudP7f2F8WewYScbZmjCRNXyNElSzod
ZbME3y9i5PeSb67qzhOzcMmAWLEjAyhmtiEdsSIxnNLiVSpOk7M7TloF6UnCzMyE3CQGMDUIEj6W
zLeal5YpjpZqraXMLvqQraafcbKAltlUXeVxQvxW+355MRRWZNxUxZfRKlAePWSAitTgsfwUqh7b
iumSUd5Gx0bLXmCi/qU7XlY+aL1Pnd3lcaiMSKfQAbyE5TPWPA+9xEBD3FPeoB/7f5wtKQRYCt7G
7tjzA9pGWLoxS09TiY/LsjXy8ZMz+jU0cVmcEn5IG2ICxqjxDSKbCjemY2xRPBk8VHInr7BJsckm
jfkEaVGkMPJ8y9v2W50VP/TY+eyC59W7PMdS1uT3L0OK1HhvX0YUfnquuD5DF8hqsZCF/Ro1B0Ax
t5P5BfEFGrIhnY0K/qioRa1uz9/6i1AKPgtf536paBtl/GCF257ukmGf/7w8qPfXvOQtQOcLXl0K
9lAQCEneYqhrp6OTlR3suUbD4T2NdmP0kJTJhic3pOS7tvnMmtcxfSj6e2u6UqTgfVKhrYECLCqk
KC1L5ktn5NPQ0uIQ2ofeQE9ibCiWbc0dHluQlq3Ppjhc0HVwyA2/WQDy+h+/LzkqxHmhCXhScSDp
4C+L5umq3Nba4T4agQwim5yyyzuDFIeI3sUuAi/AhxJi+KWhEqdZ22/HlqTUTDsbAwjRsRqxtmyh
u4BSV7lBd7hiytYHhJQDKtZIMMmasinEFdlgGcWhb3f1EETsJg29XCUZsmrFRL0TnLvoapdBS6Qv
ukyL7PyQWoh4y2/N9LEk//Tzx8snaHV/ob6PjiSwNdoWPXULs83HLitcvMU+Q8cUJBZ/8XnAevHa
Q80WdbDTz5th1LaLXWGuoueUP+JuVhhYW/PjEFY6gcQc9cYNO4QL7n50tjNi6WZ/eQyrJqAYLRrG
gbWREzIg4qUhj3V+GMHAUW60ySuJ/xcmwH6PABQF2rM8TGFWTmW7CBei8HEpgsr40tDr8pa//f+R
CcmRTB2ZtWwQsX7iZ4kH0OHfDEHQPQB8AG4e6XYtyiXuTTfiB+D3vTGsPNPt4ExUXOFr+xXKHMLZ
GoAByKS1kPzoM1tL+SFBcreabg2Lby4P5L03SLpTUC76Y0I6Em0f4fbsEw72s8zyWyDrbqEPb3oN
7Xo/HvEwNGb+OnKcl26pxg+ZNRU3bB5bnwLG5Dlz6niLHn+10cDgLQzpobqNCfhWwGUDduVqM9dT
skU+wtraY+9uJiecfXs0e88FoYsX6rZK80o1adLaTGZsJrDOD2WDtWmf+laRUV49IiCMosDuoyFQ
1jeyhyyfMtspDin71s2ZZ5W3BMQHlxdmfRT/GpGj3aEmSxsuMLLome5Zmr4hkXklxcDvYwIydQup
fWgdyqUR3vSIJ8qYIyM6eE+kU10ewh+db64/35eOYRqGXVq1iInwOkb9anJ2oT/2d/rfPNOOhiFd
68QIxxK9Ynh/FN/D9IG5vy6vhQyUkOdJph/lWTnWc6sVhyws75MihPbfsl2g11jUus+mfGuH9C4L
ib2h4IiNLeTBzHJ7+Ues77p/51JOj9pG3/VhFSI2qp+sOPXm8HVkV7ah/h4oNENQWxBN+3IZI4y0
pZktzg8sRHYPiQiDqRQeV8dxZEKEAkdPXjPPKFxzww8Eya1p6r3QvoOP+xsHfWRFuintNB5AvoSB
uGO9aXixGRJ3H6nK5KuH9MiKtL9pNLOQxhWma/ERuIwqou+1sAhox3+XQ9rY7tJ0LRqb+YFDCNMF
j4F555YvWaw4PwozMsyNOwU8u41hALnyOEELeolSz6TfJ+M6Dnl5ezEpZkWVQatHE+Np0H0bTclD
vWg//uKY/JkyJt1nSWiZrK0wlkavtkOGcLVJ/CJ1roMS/Wckfx6Y0iVTwExBRzww9fLDskRArrzo
iaJetb4sf2yI3Xd0Uqxs7AzA8/hhoJaXoilHszdRPoMJ/MqWhLPRiDN7ZCnprKiaY4wmXL6kRHvr
FuR0L6/L+lH5Mxjp2Ee228xaDxOgexs9rak+dqV9c9nGumt5b6x7f4JLax+RJWlnHYe+LbbTP3Gz
61Q8I2tLAhpGAGJcQTIhy9KEHDTHGcUGzvR9WOYeTR5dvo1ylfT3uh3oXgDzA/iH/NSu3DFyLe5g
JKia9D0wwBZUFOeHKlEAQNeWhQI/8F9DkgerTa3rWWXBg5GHxm43/FoO+/e9dWxB8mHQbJr6sYQF
l91BRy+3/uIkHn1ffnGHDRkpp/h+Z/8g9M2o7xtVf7KYBDmMOTYhuS2a6EWFYhSOR7kbCmS1aveh
hb/vtS94ZW7q/p/L+3h1UQTlJ+QRIIcs4+8W1C4GG7W5wzC8sd7yTK5oWF6LyxC+AgIOsttzahF3
6LSkcIvywPXGK9l+iL/FQ+b37ndeqkKK1clDTRcdjADX65bkKcdRd7KU4UFJ7fu09SFGpX2L9sY3
Sv9mKx8ZErN65MTQ+lONKYUhaEUjPpqW7eVVWR0IusXEAxzEiHIhF9WZenFLqzjoRumHRrTJqwPn
32d73GjjjRZ/umxudROAgQvs18B6APJxOhzUrDO95C7yO6j3Ra92rthkq3vg6PuSQ84Ky0hCLuJJ
VK60DUKkyd1l9VOlam1a88qA5v87ECkUM3sw6kF4pTiUiZAu/0g08KFeyab328scGZH8GE0cVwPg
rDg0c/M6DO1jPrONrqseTMJZnXkCUAkCNE/eqfpPFyWkJdHRA4Dc/ZzuMpRZy3/IUoBCtPRit9i0
jG/nLFQ8BVcvgyOj0krFVto0dBCZZfcQz4U/R6DA5z5TaqGvrhTYPg3A5k1gMqWj2ggpoUHs8E5/
ZC2KgvukVxzS1bG4SJigwYYhoSFthsnsyq4ienHgKAyE7kNTd15SPDkqQpnV03NkR9oPrpUiUirn
4lBpm7dMJbG3/nWodQAci6Mp05aSaA57J+rx9Vp/mMz5RXNmRai8uhaA///XhLToQrFTr+MO7//P
NH5m3UNqKZZCZUFaCjKAB3ipYCGLgoIdhv7BCRVpuHUTGAVAVwaK79KG6u00MUttKA6D+52kn0bw
33Rvf+EmEfL914RYqiOvn49FGWr6WBxG/S4rvikVv9dOPNgmgLEE2TP4EKWYUotB4O9EiFvnjtxa
kOaYF9d39U8z+1WOr3H9yPq/efUdm5RmDSlkrUtBA31IovpBrxu/AEgEPXB3zZS+Xp69tQVCNAuo
EM4jeBml4Cwq9W6w7QXBWQJoSf3NaA0PNc/LRtZOiwFlXmCSgLs706B3jHa22hJT6IRlQCrrNnK4
KspYtSE09aAWAYFAmSzNivo+A/1ufsg8uuyVaLu1z4MhE5y4BMWJM6G4rhgoHklxcWDuC+ufrtRW
e7+9RMZFtLOZNgKy0008FA4YCjnOSZt7BTi/VXWDtZ9//H3JmWhTlad5BG/I8p3DPcCFrlth9OWi
hQjkQKJjQGB5T38/oki9ja2x+xBruWc730u0Dl22IN8bsgXpTBjpNDp6NXUfsvGGVI+W+9o8ZGx/
2ch7A9Dx9S76i1GTwEqgfx4wdCnQRyfC7Bpj0n2oR/0J/Hu7OYxedIPv8+xbET07cXrI0XWBqPpO
0z4x4wvgXrHXKxWVzhKO4oeYiP/xY1BGorLuYZ60pT7ZTv8hrN2gIO63joe9lyWhiTazdA+N7dvJ
NG+KNNrbNfluxBmo5xerV2QgZOf3/jNQygb6G7/nrE/Uad0aEB78DD0adkDz74fWjP1uHl+hPwfo
Uoayv8PAJGQsYBS6vBjvyaDTxUCfoBDQQ3cvetPkrvvICHN0ffbNh8U08doe+uLObvmHZnHmjZ2E
e83SPlVR6Xyo5vYuTNnXxhh+mlHzjz71r0MERFPihs/ESQovpAV5DPWu2TWoz27DefyYVzr1cx3d
9km3+E2i3cZs8eJp2pX2cme4yyOus40Nxq68T1CnmPi+B28t/qPzzNm9rxcI0iaV/dMxAB8b9NTv
oYG1caJkt1RsnwBoOWQoPbV1tCMpuXUprgrSPxfUjjeanX+P9F7Vryofc7gP9HCKqMcEXB9kWqfH
0O3DxXCWvPnQfiqiOyNSIBxEQHC0INiL9F3CHaql6BqEgdPPk6QyjKlNaIANs00W69bNXd+YNWQn
kGsxgLu8vAOk4fy2B+pqVNjg0880gEdko61Sj2gAnGb8hvfp5c9LLuU/n7dASQruN2DppfiHNo27
zHpGA3uOwk92MRnbpmyKxGOzqW1cBnzeZYOr40HqCHMnAMdy1DguWqmbRkvBpPZgV4/sypz37wEJ
ql1IiuOuZcL+USjUQPyCdwWhQa4Xfh1DG/ennqo6hFZnDSzOaOEloD2WW/Ebu6caHy3MWsUAZbZ8
IyQ7M3syWkVeZ80QCDdA0II7l8APno6mHSx3dhKsfj8A7pux7JWOtPWoDmZXI9M7xWZb29zH5qQr
uGPMSotemGNfYuc1L3ZhvuPDq+F+vrwLpJDrfZXQBI2ACPEWehKlO0ZHC2pmuBpozPrP9vg1XHZN
ong7rE/dHxPSdVxTsIcuA0zYzW3iAvd8a7a3eqK4LaXL4WwgkjvQeeukRYkZA537Mu2ie2AYR3uf
ADv8KwwVh3XVmAggcQmhC0Y+rFWl0c7QcFiLuptviZWz55S0NtpTC/2WTS6Yeup6BAo7s1PiheFk
K37A6pxCohF9a6Djgtzn6XasHScLY6eggR71H+om+z61IdiBEBR6Q6jajKt75MiY+DFHJzmqkQ6a
tRyer9k2//D0RgnPFadH9uVCugt9Z2i+wdPm1ELB8qV0hW8d2MckeUQJ+y92+dH3pRGgyFeUBUlp
AFIFr6X/NPxm/gt2TTSN/hmD5MCLOV1ad4ANFMonINmXN+x86iXl8Pa/DUZKJgx91Kc6SvBgLLP3
IAnxTG3wE02xw1RLIt3edTylU2XCCvw7EPatfRNyVdlqdRcj14/0Dv51xildDLNRDVDjwMbyow9o
wWg+TKrn3urmPbIhzZYNxR5Nc5ngafwaT7tOv+mHX3+xINDKxItD/COHhrnLIyRHMVU0v+Phl9JM
PDKGikfN6jiOjEhetOrQ8oECHMbBnkjjeum0FX0wl0eyuuhHRiQnmvZ1UhgMRqh2EHqN1/emo98B
CiCA1qFNiMhND9B2GvB0YqARQbWq+TYSVdBxPgBIyxPQfoJSFOwNrvj7kataCAWpnAYGkekeLUce
71TZkDUDYBVDZyOyBwC9Ssci1Oep0TKGFtSUbJ0p28SLolfv/FCATQyNjtD2hEK4LqM76mlCnX0C
DYZRzdFDNOqvkGID82defnQblX7YeZwBwg2Qs0G9G/E09DNP5ysKx8zK+sIM6s5fsi/NAkcCaM9X
CHVeu7MMgpMMG+DuPc9Rtg1EDJOmM4PwA/j10Oj1N58HJbBLQIl2ltqbOtoODC09ICe5R1tV0j7/
xfcF6RPoAbD68gu44UPI0EtkBu28yYd9RxVP2/PTjXkBoRSyX++9p1IYFtv55KRuzILaBgfSTWKB
gVfhQFZ2rg7JPlRvQKWBTi9p57ISlO41nmyBXkz6S5W441dtik3Fq0JGhSMOQzkKPYyCGgtVISaZ
cbnuOF0364E2uehgbDw0QH2bJhtxyaeamWhFKvZNctdOTzM0ppfqn7xXHKC1gSLvg5caXh1IJkq/
AHqjVcRMjQS70CT7MqGKSHPlgKJu+O/3ZXzKUi5RTygormd93gFju5147NFG24aqhPXaSESmA6yv
SHkgaX16Olm1NGiFwt1ltvP2sa+n7dW7GohRfF0Hjh4ZOelO0U2elsmYGYHmfBmCvr7+0Ai+eWxs
Amq3M4pkKCsWIpdiBA6YpcdP5vURFwjD/nz/jPIIqErbahwDRLG/5vIB/LCeOykWe2UJwAVgUkHD
JzgbpCVoGE9ipo9GkOFMJl9bU/WCPT/5SJKguR3JDPgVHP/TNSbdhN63Kh0CLd8VoEFMvESVuzof
A0yADcZCrZiiZUNcAkeXYhSH+VCZUEvM09cwTjdtpwiAzk8EDGCGoIuM7l4ie0cbfTfmZGtDYOTl
DpfUpi7RcLXLHUUBR2VH/P1oIBVY03V07gjcP/EazTegvRuym0Ip4LO6KKDgR1+nSF3JaYVOpyhy
lHSAhAH3m478GNB5a1jxj8vnT2VGLNzReCi4MmaW6kPAO3TLNtltXpXfHSP/dtnM2rRBsgXUbciK
A1orbTGd4+2/VH0fpGlgo1OmBKoiZTPg1deTieMpiOAI4Tzc1VlLEKSVOquzjS5g1p6jiOfeWBH6
rLOXMfo2p1enLoQxFL8ZarfGGd1ey7oM/ftaF9TLTWwHeXZjtIqrZG2BcOYNkSFBH7BMewedJZr3
ddYHcWp6FfkoKOKcant5edaNQAoFpRbU8eWaXtsnJTLXZhcgsWROvql7zPGvNwFUFeAo2AWianS6
0UisDehOxX7Oq5cOJQNOnkwVddLaLkO9Ai4ZsDqhwn1qI216PQeme4Q3zu7synx0S7arhsavmHN7
eTjnUSsiSBv93eiZsQVt/ampJLPRsWHmU+Cgv90ubsdkC+ySb4wvaaOiUllbnWNb0vsxbNxuRKlt
Cszx1XE+NeiqqJOXy+NZnzqxyZD4PRdUbuKMTiFqG0E0fdWT3ZTeVcvGUdG1qKyIvx95G6ZHXE87
WDG1aY8SCqibat+mj6RVlPLX7htwZqBKIsjq8Yw5NTRGvRs3RjsF4JzxFuSl8nl/ecJWF+XIgrQo
bKrcLHWbKWiMH1OJcgtY2lWsdiuRLOpuiIwYzg2OpSXNFw+7xslnDiPTWzx/KujdkqGvzc1BG56i
zPa5Kz6jrrPR6F1DH5q+Vgxyhe8TP0Dw6uFFjrhdxtg7ESp8g01HkG5WnwfbuEu5/pxV9dOChlZj
sdDMYtxDXJB4FnjNF6v5cnmW/x8/AOwd0IqHFIqcHK6goDeMFDvGaT5y+ksfBr8BvEi7Jf2bk277
6qbTH0zj6lS7GPYfq1JUyudubgsLVmdWeWjy02p/Tr5HTOFE1o7DsRkpsqvTvGfpbI1B7Xy2+Jeq
3FUgtrR3l+dw7SwcWxF/Pzp0dC5ZTIQVF13FIPzx4uvAk3hvYbYgZyhYfEEvKvvCpljKKJ1HbJIm
rTZkav1oyfea62wTEn2B6vbb5QGJo3WaqhX2sPKiuod4QhzNowEZ8FMz2mIhvQ0JcVrf6kUJipFb
faQ+hSpBrmo0WZ1AQS5loZKP0ou0G9zCSMHFFE1B9TkNX02VZLW4lc6Gc/R5aRfkSUidocTnCeCT
fezbkR+DmA0lJSiFe4U7+ERTNGydbzyhnYEHl5ABPn91GU2cIH0blYFZvroj9cx0m0TGpko+XV6p
85kT6RAGYnroj6LQJ209iNvzHkLQPCg9CzhqV4mlFn78dO7wcdTCQCSGyOJMRXWB7PuULjMP4p2r
b61f7ox62DZXuMFzXy+svKs9gcUD6YvTDQednXhJBljJ0ODnGXXsqTjZVibq2IL8oC+zAaV9YUF3
dkJFnm2uXgi87FzgJhyUKR15IeLWaPsKuliIIj8WG0NFJLa6DLhnAV8UQGAZJrIUbBljY8Tn7dkr
Et3Lhi+a5uuuX+KNdHkoa4thOKjnotsAJH/y6Z/GHHq6ccYhDPBs4zXBt2CBvGzi3MEAiYkyClpZ
UZY+gw00A7OzeBiBzUoyX+/v2uUzsyHHnvXbhO80Uio89Nr0HdmTswip1U/VlLdlUNPB03MXCPTk
2Sxc3SNVcRPxQhVYrM0h1NyQjBNe4Kxbt7NSl3GT8CAlyRudUoRJ6WbOXcW41na1yIAJ/mJoapqS
4zRTNFL1iY3jD3nQWwjyKdZpdRh4TyAKRyX0rO9UAz+aU4waDxzqgIrR/qnzlHtTOKqkIlYCMWQT
IQqto/8b/yH3hRoThQuI0xJXHJjYqlutvuXL7BFr2hrajWXdtsXL0uv4ESX4qZ5yvr28I9d2yLF9
Odo0k77nC+xbWfWtMfWHIkwBuzHsXQRYpMldBbJlbWZRWQYIElV59DuLC+ToiqVpmDrtHLVBnG+4
3SDImm/q9C+2x7ERMegjI0uf9W0ywQgnYAzzwo+X52xl92FPgBwEORR4PNnntbPRoxBdNAHzElSq
VH5o9fP4OBVJLXIGeY7dvFlCPldg0o28dngrFaHv6veF6AZKCWDzd6XD02hhOqUNvh9Wn4o9uRLo
iqAN9RZIuOJJLjbWmVIA+syB106rwO3jnUWabWY9DSrHtjYGXAiAQiJ3gdhJDm3Gqq2RLKuCNPrW
DYnXTYpARmVA/P1oC5GhZQOipyqg1ltt/nL158t7SOxzKb4QN9q/AxDn5Oj7aTvEI+vGKpiL0BvY
fgp9l92T6vNlMyvHG2S1QClBZUU0IUnzVI7FUEITvASysUEPcGOCi43HAcqLb+HgfNaiTnE2Vs43
rk4ACck7pYUMjIMaQZl3jl4GbCghfjOh1FNH9r3mgiHg8tDWVggVVySuQBAA7KbkueayqlM+0TpI
en9+4aqG+rXPoz0DXLlQa4fSq7RAbpjlhWPhlESVXqGdrgBPSh+rOnZUViR3yON5CJ0E26wk2l02
mh+qXoUPWTEBJiOUQhDFAjNMJGdoWqEeDxHtAvJ1au9AhnX1Mpx8XlqGpYaDiRN8vrf8+LCQ/V98
HpUQMNwJHKRc9LZMA2mdGp+Pvpr9F0NT9eOu7Ffc4QjFwMECpJ3sDMGfpdXxnPcBATU2Qc0+L31b
hd9aWwLgttHHCpeICjg5Pex2QrShHosezR/VJtuGiUqwc8WboH6LXD4yCyI3LS1CWSZF3LOwC2br
fqrukul+Bke66V9ei7W5Au4G2VwwYwFsK71W3A4I21TDXIHXCSQTP1v6EwQD1x9rLPa/RhzJYw0A
tJTWgLlq2ed603PF5bcyBrDf48kN8mhxrsVSHfndCcoXTU/0NtDCfUo3zRJcPUcn35fchl4RpygZ
vl91d5r7MhqbpVK42BWfjkc9+pWAkLPALiktA40Rv09O1gUtVrjRZ9+kn1v+ceIfo/7t8mhWNq7r
oqgN9KkgIpOznaRt9H7iVRN81t0gnxVzdf51gA3QTgSsDDipz1JwfeuyjibEDABpbm/CThFqrnwe
4RlyOZCnMQTe5HSp9YWyKuaTAQ8eeQ3EBq3ttbODfLYQAbehELIiHEQ0e0KtCQCT6OfdEP9z/deF
JAQgLKgyo8h8+vPzoe50PR1YMH/I28ewUgQgK7MjcEog6MJ9jTeUtFFNI7fHGhDjwM3pzuDLJwjo
KipM514JbYd47RqIBJHkldN3KWdtYnIdqEG0CbMNeFzD5ob1ikjt/EQLzShUfoFPBMxE5hqfk7gj
RT/qgdNF29zapjbZcUvF9Lw2FooLVGgWwz3JdC21WYNOSaspQCyjBwpkbd5Wc0BMRcZz1QzenGBo
t21EtpL3KyPLnt1ooUGp8xvC8BJcovwROVZIejnXa5Mhs2oKUXa8xPAckG4Nx4nAih22WmB7vHmL
w0+XN/DKwkBuwHVFLsAQuPLTDQzNI6fW68oJkqF77bMQRgzP1bXXy2ZWNvKJGSqZyZk5F3btBAUt
PX3xhkmxJisGLFRJkANEqeK8OQK9KC74nHEQzeYHfaGZ4veLWT59CeCEANT3nkXDW0ZM49GNFIK3
2+IlZUGR/4i6XfWZlA8T3ZFll0y/rp4qrLcQQiSoHp9VlaFl0yZZbQCJtSXRXTreXP95cPDD50Kg
R+iOnI5kYUa8DESzAk5BTHrTqbKlawtx/H1pQzkJSWeiJ3agPzdh5qEtWBF7rJw+hDVIXgFDBlSM
IS0F5FVdbpeRHoCGyhuh45iB3aCuio2WXz9VAG8hpiUW2i4A6zydqjTTinauahK0d+lwCGdFmWll
pk4+L83UQGtwwmctCTLPDr1UpSSl+rx05CojaUgx4fMJ80HwmrQKLIyYZ+lIQC4ToAHwCgJ8I4cd
ddqzJY3SJSj6j711MLOvU3q9c8LVLXRcKBVJfmmpZ60aaq1sADkGq16Lhip7vjMnxTKsjgNvCkSb
OmBQcqQWmyRbrDzVg46Cq3wKJvT82sPL5VO3agQKl7j/ABY562itDAeM9U1Igqp4WtjPcOAb9M3+
jQ0XiENA2gRk73S79mmLFCEDLNCid1HWoQHyaaTd9adP5CkQUqEUgoMhLclU1GEaZtC0JfxXSR/C
+DbUgLh6vTyUlb17YkX4gCN3S2bbbMo6JoHBfpYENHO7y99fceegVQXPIwO9qkjyn34/zlOAw3NO
AKL+aKaftPbWLW6NefE6Vntc1X+0Nhp0lCMBIkCOZ2X0McpcO+uh0xsODKyP7tvcqzbxSqUczAui
FwgauqiUy0WqcEB5ty4aElAyf29Guu0LUPEvYXWTo4gds/rGmcytVVpbiu60BreZYmOs7HA0MQhK
ALwRQPoqebN6hNCxJjRpG+2VzR+M+DYfbi+v2to8opqAdD8axcTana4aNCAqjUd0gd6x/WAM3WPo
Doq31MrlAsADMlaiXnEOs9ZD3YqaXJiov9MCTDMu98YZOgTXg5VAoID8MXBKIvKWvU6HVWBVPcL5
kxJE99w2PTJPYM0zkk1VTdc7UkGbJZ4pyAuc9Q47Cccro7Zwk4Ecmw1IoCTPYRL7l9fn/M2LgOLI
inTjOGWisYYyEhQa+1BAL6TjIFsfvmlJt7eIwkWc77f30BuoTwoEni33Q3ZNEzXJFC9B2leolOsb
3Sy2VPt8eUirVsByAdiqiXvu7FjFYB0rcgj36qEWQeZzOYAO34J8dKS4hd4JTE+vU4znj6WzGjBJ
5grderCkU68onkP7zS1+seSlhdwg6dHPF/9/pCnO9zvaPEBiDJeBf5+1FfSZRsx8pHMw5uik39Zo
5s9AW7u5fhZF74JwtXhj/B9nX9YbqQ51+4uQzGTMK1BDksrQVUmnkxeUpNNgjMGAwcCv/xbnXt2b
VEop5TtS6zy02i48bO9h7bWOg/zUoSN630bcKt4CizUh0L8Li7fvJ/lqHfApHyY5sg5+33SqlRN0
t3tyObdm5/+UEGjJqP2fxxUJHYDVj08DVPL6mXb+9Aut/3K+tabbftj8+CtQC0CnCnAT8G2PS2+z
QJdVV3T1/pa1XoRA5IyZPrFKkE9EnhnXZokujlYp7CzgjcO83vtpBfEfEf28PwlFZbCWI9GJ/CMo
2z4baaf1C4kouNr3ZTJV6/zMtT/1+z8Mf5ylFWkDaxpg+Nx5yOY1PaeCdXJ8NDeDQmd5BY6hynxs
uV0wW+5nsP86qOnWZ9zmUxMAoPxf/xbSacHx+mSybKdMyr2IuvRPXf84DgbAA8RyIXKPSNgdA21n
UqmAjaTZQ3gxRn84gUjp9yf0q++EGQLk45EyQqx9/ApX3mhru7abvd/HOYnq8KqwIyJ3VQEY7BmX
9utiYS7g/pbSjh18ebdciM2omugWuOedmkAycY5999QEgHQtcpiQ28P/j05rDqhfPvvNPodYkaQy
ys8huL8+iuhLgFuGHhegx5D8+jxDr61qJnJu9kkX3oRh0vcxjewfUu3DMmGWhY4CDARIHRwjFCQJ
eJeZUO09SZJ0DmM8Gt9v+8mV+jDDciw+uOQjK1HlGTFD2Vex4SQx5+CmX98ifAPA7otIOXxIZ/kF
H2YIZeCLOiRq34hLWQOStu36S31OYvPEd6CsgBQh8s1IqZHlV3yYJZuAZZ1xzfedVmuo2lT+ueDi
1AzoCoKNBTQFG39kYoO8yMcwY83e5Q9Vfdf92AuGUAJk+iBACmf4iwW30nq2S87lfkrvxiKufm6g
MP7CW4QDhZTjMfmSQjdQEJZpudd5k6S+G2lr+/1ROrHRjg8tBQL05rITR5fO9kGWMmla7ntvraxr
2l6GIinP0aWcmGXBrvi4dwtOLFxcuw8bnVK7LJkZqj0kZ9v3dxG+nTMeJ2eAAinSE6AMgDX8PAPt
Vd0QNWIn3EvFXnJ+jx5/tByeWa4TBnfJfywIQchoIMv5eRqBLPToazx5li92hfETy3hJo8P1SNCE
HTXdn++358T5/TTf0cKVOaQnIaJa7Yd8WlFPr8i5RoCvXjUQfLjoyKwhC4mu089fNJBiHsUYVPu0
WbM0jzwWNd6PHSkUjIGegYgqKINxCD7PASq3vKpSu97307PjvM/nGr1PfQOQOSHMFeQo4BZ+Ht8u
g6AvmVPtg4Oro7C94uWv7/fh5Awwhch0wqWBRt3nGcrCzGPnNXB10PvDOI9Dv47m4lwt99QpXizu
/53GPVqoRqCbqvUxTS1XHvSxigMagOwzEcCpM4XaParrqOMj8Xw0CRjfFIOmTbVvwnd56M91Yp0c
HuUxxGi483ilPi9VWw4BMA4EByqERwJtQvC7nXn/TgRoOFDot8fRXcL248wXcRqLdYVd7RmBUFK/
9VmaZOq9KIqVtKYoR/XHKBKpUZ1Zu1PnYOmRhQ04xZPEyrxqu9mXezW/u+GD3fx2pn/fH7UTTgrs
PZw5wAaAcjwmpvRy3mfSwOulMozt2n0OMrGZ/eova5wozH7O58JAiwciIxLYwHMcG05PI8DpulTu
B3SzuhButxp75Yb/i3Vb2sGWdBFSyMesGDU0D8qpwSzNsGPBZhgT51x/9Km7s9A4g83XRQfgsXM3
ZqVVBA3emF5eAdmx4o2MOnPTmXPglBMbhDwRYnRQVOPR946eGuN4FdCOU77XcvwzVHYCVzAimRVR
PaxGEzz++DwgjQjgJ1wMRO3Haitho90JOiXlPpS/CM5b8aAg3jThD0nvv5/qxNUFBtlHZhRh42Ic
Pl9dMUo4yIMPZyB4pNHg/PwxQ6sIOMDQQwQv4PgQpNOcthrbsi/veR/352j8T+RdkSnE4QJuDzRv
/rG3lNUzdqaFW1zQ1yyI5VhsmIa837DWZJOF67QrVnV1k4Le9/t1O3H0Pk28/P0H96alAYhR3VTt
R8tca2qSYHR3tUwvQNFy5iId0y8u0QXmCkA6hwQvXFv381ykzktQMMEzd8EzlhVQ8rr2hutCPck+
XFH2QsN7l6skpTruz12xE94PUrEEZwN2ncA6fZ4bHZ2Z3VKm9sr7q9ur0N2hDWMVTJu02WZmPvep
J44j/IXFYiA0979ovbdNOKpsNGqf1XfT2MWKjUjMqjgTMi79d5ptvWbVoc8BOieRau5Cd1WHT99v
7X+Yi8+5QKRmwGGBMwuqjK95JtUEwnNMu/eJvmibvotQoUrSnK+dzL13pbPuO/cPSmPoP5WRdMlq
sLo1WJjv5KQl0q5VYnMw97Vu/fL9T/tihxAiLx3Py26gK/lYmC4DM2s+p6Q5mPGWumE02eu2XXn5
hmQ/zlRhgkXacaHpWVBUR4YB2s2mb9teHVyIU29UJs5s9alPQYyzlLGQ1/3CGUAna3JypjG+HdXO
lIxVm3RvXfOS16/fL9qXM7UsFUG8BkL2AKj8I+NdikK7Y+W1BxpDDknm6++H/3JDEK6BFxTbgmu6
1P4+3xC/ciZ7bulw8N1/ojrwcQMVPGPtUx/8Q96Zl+HEt4Ag0kc7JugiEEIvq/rB7Di9ZVqX1u2h
arcWubTvvv+WU8MjcPYYwmbAOI6rSJ0U6eCVeXto3X/Zyq3+/Xx4lI6AqUKdKgQt6Odfv+TumaBO
e0Cz9ps+53Cc+vEfRz9aG9VL2gfcbQ+NfImpeyaz98UNRD7h4+hHPq5X6GzwGH77czHtrWfT//75
2iB/BIPjgfHlS2XX6kw5oFDVHMrqSVdd3Nvejw/q0saMKACJVSSJj2teNehkLJtjc/PwehzhNtOd
8f66wdU0b63ux3ENvCQ8ysCDIcpEmuToWlgeHkZWF+3B5Ei4Sch7V2s/eEjPdVN+3XXMA+jcIuiB
tMmx7wysS1gPWd8ebL6q+cr8NF+8fMaH4ZfpP1y4kZCyq0oM33c7rh7KHxNwLePT/9jOkfn/whSu
PKj/ZinGJ5olY53dNo2MbVvGhFWxcM8JEXw9xQDtwINAehqTImvy+XPKsNNBNo/mAFxjZJv3LPhN
zRm+zxM7spBiwvUPEWAAg/t5DjNnAm5lMR5MYBK/bhPnx0YQJWI442AawfjIu36eIEu7Mqe8NzjI
UZeD5fvn46MsDDLKJWwBWcbRB2DpmokR4R/0ugsV8HI/xlA5aPkBoga3nRLwXR7twixFOYF42T+E
4tkvDlyuXbI+19NwYqtx93DREZOjQ+rYcwPUfYJ/w71DtwdRcqKhQpX/mC8QH/JxjqO8wqADjdOG
OTh3Em5+Q4zkjJ/99XXFDAAUoiq35HSPQzyvhtwUtzGDyhPp3uBhWZfVO5kuLEh8k3MQhxNrhmgL
DUfoLFt46pa//3DbST/UgKW4zoHNZCtIAoYyS2eb7y398sp9ci8RrYK4ZKGTWaClx5Yxy5WsHMHI
wbbfR0fEZkzjceBIY/Txj2fCk7LEDkts9AVcbDhAJ8ilTAc9OaEVNaYdrpw0cJ6F4WEC9yv9sf+A
XjlgQ+C7L1qhxy1nbE4nPHDaO+TdqhtW+lzr7H/ZsKO1g6/owLdFeXC5O583qHWDdKzryj3YofZX
meWXseQlQ1TQdteznDPou0sFwmmWqyyxRttceMYLIg35kqsZ2k8XqpJ8by9CL5lp+QbxaXCTgnJi
58qJWJuJ0v7WJlrcuOMzSMWAy6VbYft6XZLMrKoWiUBOVFBFqV90t2QOstXoE+u1K4W9Lwp6joDs
xGlZ6OYBfkU2YFGs+PzFIdgWCJ1b98DAtxCW95PjQExqM+kzVvtrlLkUrzAVYBbwZ3FuPk80CqRb
e+65hwGiWK6564G48Njr1DHwO2RRNu76fuPIC9okEhCW708qApgTz8aCx1xajEDi+IVFtWn7OTUp
dQ9Ag/x2VKiuq4yU25F7EOaFouk+rXVz21NHxjjD7qZ1JvAEGzQ4RuEsRxmHI5mcuAhpsxl9We4a
rV87FrwSAXyn8stQr2yZBS/QB+YPM63RzBTkKAfHnpumOCbuG/XQ+gWMnXvRiCrgURiORVK0llqZ
vrI2YUvHfT72496aQvoChQ7aRH0ZWGttKxudUdk/1eTrRWcm4hxr1DSWwOh2Gw8ZNJnmcLQveFq8
FpbI10rTNgo9Ua5dO2/exWj3uxE0mVcV00jItw5/zis04kT5NDmw3Ro+Qpl567lFw3/c5FAYkBqS
q3nA/+A4Q/kZnBIHm5nfpenqZA5m8SjDoIYSgD2s8fnuGoZnjAc7nbe8FCRivS1WKrXg/mnxAEKd
bNdNFlm5vfU6Tx6EywY9O3kUZEz+s6YR2hIUdsoTit6oyX5IDREPLciwt7ZqnZj5fVBCEnKmdpKj
0c1d9VFhN4+90OEfg+put2KyIBtb9S+iGR7tsBqhUj05VyzEokdVSLK41Wp8KlQdYHNqf0ZjspQP
k6qRB3CsML2YXLeLpVN4dwGHdmfEoKZaJlXlsl9eD7l5beUyThsJxI6w2+wucOvpjZPhXbUZJONV
91zNyBFHuWtlduSRHBW2cmC/jSp/jx17dOZ5yiO0MpJfOhAqAjIVdO8WRK7IXDEVySEDryUNx7qN
e8uq/lIGfFqZpVk8dGm158hXbr2wvUfPxbNvj7+yqsidxHTjinfkXdumjdKajrdhNxuddKz36+vO
qvuNaat/JWxVukZTC6guusG/p3xo+jhVYERIbO2CVDgbWMdiNk78ANzQn4pqSG/VFh2RHjR70fJn
uwl+TYVWXQSp7j/GVm9j3sD4i9yLKwEGGuNnJk49HkAwImfrTtH2IrR6ChUFrqpVqYpcJgQ9l1cQ
3uRNpNwGvCuZqyLC02FFacE3dQGV0cHXKrHRFP9PiVFdCCEfygmmgtTCW1V19th3lvubVk59MU3d
34bqboioyqpLVU5W3Gv/uc/cOUiswO3YVvLZ/gvjk0Z1244xPDy9csBv3f6COQanYAPiMml6A9JQ
UcPX5zwpMyRmUMv8LW00hGzBC5zloDoQvXebEqBr5q6do8bXdTKmrsArG9IkKPk/WjRVEnQFZqiZ
X4LRq6nKNVA1M46S70SOIbtickkFcQ2vaS66SXoRaA7tmBZQ8K2yBux5ZQ3hBBu0cwTNUzHSqzoh
k/jl5DDU2htfQaXcbGgps9iknh+HTuM6a5Oj5ht3E/vrzlYnd0a01wI6D9eVqQoHR6N9cKTcTYX1
qwxqZW3mAS9W3HlkAIMqv0/H8slmBQyP4b43Q8DQ/FFgKDOXLeMQmx5amLW+EoMdWRDsi2RR5Gkk
gqy5Vi5Bq50IhXmoiMzMhfatbGt8lR0mUIdY6JPrFWIQv4qElbkbvObZRaNlxVeFBQHIDY7qrWjJ
RqfQSu4d8ScgIHuAf9gmFL8g7gJVx7mw+j7KModfO2zM79oxFYkZhqFZTb65MqTB7au4IiqpxpG9
OfAg12Oekre0XfflekDbwoqkEJVd6Alux8JzUgDWaAYyZ8JuWu5Inojabx9Z6073qJK/gg6dXEk9
3FUldsOyPfIHiD1mIpt3eRyKoMki5aEJPoeobDSbcoxLgOJ2mc/KdemT8aXXbbpxByYfiDU+zFXx
hK4ydcGcxt85JXV3rKnLNa6zFQ/+kEZ4Q3VUWIQnKBukYDiopvUM9ODOEqlVXbl0GMaolPMrKLQK
a+OiuuP8bbqAgVFSe04izGiSHtY+KnOPJqige0lPmwbYPO3PJC5pHUbGeGHksvJtaFwTl9YA41qh
9ekCaje2vBYL2cyul8CpTQBvdElbWl4Nbn4/D1e1BN+HdggeIodC4FaPYEnkClIE3dbtp6d6KllC
JVgBlDPLq2xud53JdaSHEuhUu3wN4UCBryq/1cHsJN3QuivfhxIFMbCsvhm8qPOU9YSH49/kcU5i
Xdd9wpypxQoPiH6iqidK4dNTbm8CvH8imUso1W+mqZI4p3lWR96s3TzWPS+jvArRmOvXD2RqlIJq
E7LMrk6hNEaabRFY8Vyi+RtquqBHxU8krsSpKo27qS3XWfHcYTHvWXHtjkJGZV9ulJ9GqY190QN+
GJ7q/gCEPrlz2qyK0bWOS+oNDYhlChCWR02pq99g2i3XaiLOyucC0vBD2h3oOIIBNFXNLwNMyNYF
Lf4O4OFsU45zHjFt/k1YyhgvrooZqsN3FMwXmyWlnkiIN61czww9NiE1T00Jbj9iF3dAb6Wryir0
E+ygeSrFNCUw0fVlzfJuz5SsYRwCr4nTwIgbp5zmPzwva/fa6m3zDLZuSGK3rRsDVoz7pu30qW3l
m91Rf01hFCIiuBMPo5PGyurFBe2wHGHQ//VcvSfGhnPlNYBDWezAVOGuWZ/TNuYjICAu6nVIWtJ0
a7ttl6Qqr2NwrfLYS0NnN0H7Mcpo1V3ADFdRVbB6JXgb3OMta26MK/pLX4BsRji4Hb1TB0UskYrY
GOH1m9QR5ioM0yxi+cgcBG96jqAp3Fyj+d57cofiUTss/210UUf+yJqrEjYkcooCrYodHCcVNLg5
I7y5OzY3oVpZw+hGWeFWfztNggS/FQ9615USYvTkb1ai3p0Mitx7euzGrUUHoW8Hz87fOgeuzOC2
l23o/NKe5DvQo4Yo8DfhLDY2xEraeK7bHeHBXlAjcJTtMqJ++5QxfaeKpt5aoeSxI/IN/DXmj+CI
HdcwtJu264cLQS0vsa2RXoA+UMcA5jdRSwZnWPMazH2tPS9YPTzZ7iS72KnAndD78iab3WyVenm7
Gi17wL/okjB7abtAxn1jtSscEVAgUTfhSkFQNmTzBs/tP3eyX40ya1CKVOijQBFMhBuvYEmT+n8z
tyLRLFK0o6CZNQpajm6nQiJXzfMoLAw+giodI98xX6uBH5TJ39EGXK5HJTqUA7tHVzQ8Lh36NE8+
vxTavzWuA540pv7JumI3RUb6v+jTIjvO0v5+Zmm6scsK5BaWKR6qTNcrmZJpmylqwtXklaS4hoBF
E1kyzK4Ilhw8wWjJZ4GpEZO2va8jt7bgegm0waxCMwF/zfCc+VVfw3mzIPTT4a38oya8dRFp3Pzg
gUV5ii3euC+9CdonR3TPoCN+MRlNYznnHdy2Ajo65j6d6nHftBpeXw7zsiOdHlRSClqSuCjM2MYM
D9Lfkc1sA0b24QUuQ5sglelH0uOoIha6bVZ5ZjUrP4X4eSic4grkDu2tIw256zTl64YqH5tAhYiL
rJNhpPiUPgitAGdNna4MdroPaifKvGGekyywnLXlkH9profb0qkeWkrlCmYXAQPhzdauaAoeoBpg
ucGS2QvvKg0PtaUtVqcL800NcxQbIGKePautrxA0gMButvLR7CpPNs59CUXtagsqW67WFJ4tGOxT
6MWWjUgEz+9Rbf5bC/h4tV/Ert9PsHc9oolw/gcJVg0TDukxHuDXC2z/SgomHoFGZLtZOcVqLNAE
MOE2HzSd4b/XjX7mjq8xrL4r7SaEXx9oBEBTH1ddI71VXUpwLVa5fQ/ABtMbeyp4AaevGjLrSoQg
ky7xcltOD9cUpTTdNw0cxrlaZ4agN6y36NOADXpKy9DPrn2NOksA9OWW8LH2LtRg36CMP4CUc3Dr
WHo92ZaF7/arnLVIemYTqofoXvBuGsoZWvPKN6fw4cyCd/LGDrmBM2jyyyEDuiyykZ39bfV1dsHd
NDOJckDYYlUUJGHohKkvw0bC3KhS5I8jzVgEJTWsA1Bp4JFTNVpwIM68Ch3yQv1ZEDRjwAH2Rnan
dKeirs0bYIRnHousuCf2xOOirQ6S6IcaJa1LL1Tw77JZ431nXZzmUt7WRFbxiKTFYwWN8VnlcMRI
H8S0J7jPeZ1f2HgvNtxWbAM+EweX2WUJkPnVJbg8SbtHY5cTMS9tquvM5I28AWHLXlPyDPGsrt+l
mfbYr5QQMG3NpC8jiFi+Sb+/J2754DStj/PqDY858dUDKztbRZYzzY/K68eboWl3TGYUeqShwKkP
2fPA50fkEKq8whuoLLLNqG89F1VBIiSS0OvAg8bJ1zwwcp+CEumRQid349V18AotQyQePPcXGMv9
1TSp33XR87gqcC8k6967gWW4ZfWjZ8YqtmfEgvnY1FHQWP6moWUVdy76vfoxJPfwex9y5vFH0PYH
LyCwyy9n327wgHZBGZVjWt+ktTP2cV0igi3RhbQqAV7Z9SAeI2t7ztJ9zaqwSqDMUant7PX7rqLC
7LhYKFlLiqAuD9G/2Jv03R6md6H7q6EpwIJO5csUzIcaaQuBgEkN8rrP2ZubVl4kG2CJV03e4zky
xO7B08iAL2NBBZJDBtozYBd0jQ2H5IBzEeo6QOeY11z4NXklo//qhRB7rSsYSF+SV6dDQ64DUxTN
kLmNUHqVAEGMOdasSfXvGfiseGJ2ihtUDv8ab7ai0g+yeGqDGRFQm2c7XQ39pXKt3o2EUbt0ziw0
rvqAWBXO4NuJyOjjqNBDYvPpbixpkCC0R6hneAHDEt63JH20FLeiwC+9zcxLFU+zW25nw/J1XUAz
cua8+UVNNSCGh+RhBCa19hkMDDrhMzxsxKcw2PlU34zMxTcYNJ6KuRzuLTOXLwKKcn/Q+FoNWxCw
tbcFoPaRg6dniE3gHWbQpj00oOnYBsjsFbGTE7EDr57/oEQG0cSBthpwTah1RfAX3ScFrOfF7Iym
T9LaCpo11ObpZuibta8q8oiA2CQSAMCbAVSxq07WHdpOXPulrHU/bYcM3fqInQBvzWAp8AqGUahJ
E3csnDdqZH+w9GkEfwS9QwyO6jST+7r0zFZwRP/BsEUkuA65Di9JC9H2okx5f6O1aL1dWPfzqve5
c8k71sbAWbSJZ/RvlAzcLbWcpzBvxmisw4d8wIe5wo9o7u/SghxMquGAi+wt6NQTXLJgNedueGFa
71aFgKmMgTAHleVar9qWlHFLTFvGFiFV0rgpT1qGeEZP6WsA/rbYt0oQVnrlVpbO1mnotrYm2cZw
kZsooPOqgWMV0nLrtn+Yu9W0i+zJf3fGrF13jbKv3DwHJBeliHcfmY+XPNCIvyuS9QktFx7lsrpF
qPnb6TKxEsMg4XF2xdqEQReJvit3yN0e+NSQp8ni6krKIJCJSdWLbc1mA7vKt20+05vU88wv02Yp
QkpQLJGguJd6fiuy2t8M4Gyfos7Ni10BNsOHYu7rl7Lzx3tWhg+VRcoccEKKjFvJh0TgWsRC2+FF
U1oyKcDQVUNks/beUjwiD4AhDfZ2Loo3BQ/hKhtdcs0zZERHMw4RgY25mplybrUtPeRqpEWiwUvB
z8ysP6Fj7rx5tjdt5ZlVXWi+Mw6IpFO0IEa8r/6x3Hpv/dqLQlYcAgFiOwVPOUFL/2uaVqDWTYGh
S2ceXGS+pPRyBHHdb29GvqtDMueiR9QVZbX3MPYtFcmQtYzFfmbrW68tZnBk+Ar+QGjlSJ/KIOrt
QYEwv1APvMowZx48DqEzJEPJ7L0xrnrnfQMpnRQWFIQR8/xH4VnYaBeh7XpEKPirpQ7iR0qVeutc
Ac7crtm3tnbARA3W6lgXudGx7VT3laDjJV5bVLVpAxJfZDDXBH+QbmqQk1GvYyZgnOhg+l995zR/
QKE0g/CzlaustcIbGfTZupird9EiXCzQaRtEbSpH5A3DZyQFijjTsnucAXW8paOTZTFj6YxPhPty
SZ2GE6jppMHaQGk1Jn0BrQWH/Z66lr+HSIHegV/sEcl3up2dyY2REp5hUPLJW80pfbSRwytnGFoK
aQNwTObirW8dHU9hAXlk5Q0FT4yypr1wO/EeLEAcnhoYxTBznzWCzytrZs3ftF+OAfHu8Lu7ZGxR
cogbZMwSJ+wHSMDOzX0aIrC1h3DvDHkaD14dRI5b43JW0kSlx714hBFaa6/OXgqAgPZg9NB7u+vm
tTPr64Ea9w7QzqKPjMOXYMMSHo6XO44wu4iKm6G1NxWfkQMBjB2wG4UM1eXsomThETndoX+UXXsG
SnKT9KvNYjz2ujXhnBSkYlEZWkOE1DNuU+aCJ9sGSIrGje2KMziFU0U4UO4sWvMELU7H6EelPBu+
1uQeguFxDlaDu63Nzyu8oPMBVgfELuik8o7qliJg8DakcFGiTuxim51r0z9VywByaqke2/jvGJbo
I4flItfkHqS16vzYzs4U9k6Mv2AqgGpCgwvkVY8q4FKQNBRdyA7af4VZxUH8vhxzYgs+jn+MEKZd
YJB4w/ilGpAz2nrVRYYM3PeTnPkI96iWh+z8xJD2YUBu7PC0WGfKrKeGB8QImgrAn6Ijcvn7D7Vc
B9keaOvQAHj6y/fsnATF19HB/4j2BiC/INcLsrTPozMoc1su790DQJHWBZPb79fmRNXv0/BHa4OQ
znO6HMMTtQuDi2G+MNMmEOdAOue+4ugeIEOJuoel3UM1v83jPX/9/ivODX+Ec3BUpzKgJ9yD0ltk
uN0zO3xykVCvB90GsAHUP9oDMOBVlCsfv56smYgmFXnv9Tky3lPfgI6JhcAbYeMXUqtU2blQBcAg
csQrOdURtF1/vkoLhcvCBwvw/3HPMS86lKTBCX3wkJPk3krWP23jRPfmxwmCz2eVFvVcKBDJHXp3
iAxLUnKuo+DUIqG1BFosLprYMdfnGaxmcJF5crzDb+TRIpqeKw+fGh9EN4vm2tL8cYwCMSET3FU9
PRi8h/DiA2Od2YRlDY6ABQtgCT8f4OOvir698FBH9XRwGMzNnCXgIzGbdh9WP78Rn6Y5QhFashBZ
yDCNQukgycoz78KJG+EAsOujqwtdJF90fpoaKZA8rwM4zf61GBNfbjyUjFskZr4/s18fCGBYgB1B
wwCw0ujM+bzhmtruIFWIeMOb+W7yqwNqFP6t6gfvzExfG38AWAN8heISovsCB/nzVO4SeFeMpAf7
tgt8UPNC9d5/U95DyOvYUrHdI9Vwhg7i63kDiAUwBHSvYGLnuLss7WnNglGlhzzLNqllrX99v3wn
xkdPNRoXFj0ucMsdYS2CiZiSporfN7W5qWx56dpnGP/OzbCclA+vXy112IHbkd/3KCnplUV/jIsE
NRSAZQvADLyU7GhXhA9NpN4V/L4oYBHjs/19J38/yN4pXliA5Y471sJe9aQEId7BdoAEkBuw2/4v
tuDDBEcnuEtHT00NJlBk3d0T58yx/fr74ZwBnw2w7X968UfDk0Gnbo3swAFtfUKBVfjHNh3jYwfA
l7u4ycedAMLOLF2b1DrI4KqyN4adsYdfLzjQqP9du4UIFqQ1n8+PY2kIQNi+uGfzRRXeF3RdTZc/
3YHPUxzZwmpsfAIMgLj3rQStTfIcp8uJLfiv/xQ9bni/v1yyDKzFwq8gPueRC3lZZz++AaFNgRMF
yBUdVF+gaIPJSyNnq7iv3nKgm4efHyD0mAP1CAMB2xccrY5opCObKRT3LpKDTlQ//nzxPw5/FEE4
Q0t1MGB4WV2x/roNzvz85Xx8fk+XFvn/9/OPVYw9VFHE4GF8u49VgJKsEyE9iWphzNk5osATZxVR
IsDfAI8tHFhHd20sKM3LUFb3AX2o+yEaIW92rjPp68u6UMz+/zmWw/bBnjayA6kK8FP31koZHg0r
e0ndrH68KZ8mOXoWGK3Q+J9iktqFcFpxNVc/ftfwFeCgQqMu+uUAQj36isZPx66oqnsY9NXsTZdp
2W/+F9/wYYqjzTBdSqs0Lav73910PRY/ftagOgX6H7Db+Hh8js2SKId2zFDgOkjxquvYdc6gIE/Y
DLSfAZsdYqHQv360zWUN/MNYp/QwkoRfAAnw48X5NPzRBgsLnayA+9PDwMc1SMBqMZ25dyc/AFSp
oCGB3wLk7+cdLh1O52E2WKAW+K4AYjbmzAzLbzy62UBL4F2DqhRSJ8e+eJF2NpJPLDiYdg1QDxXr
9H9IO6/d2LEki34RAXrzSjKtHGWveSGupfeeXz+L6pkuiUpkQjUooIACuvOI5DFxIvZe0W/Pv6YT
i42mHtwnSHG8rur3D1EgYpALCjyPQG0dNb4thKsyqJ300/0LwEGSnaGLJ9TGxVn5fpwS6XAEGtJ8
DOLyyj9mF6OkE7vguwFWm3goh2E9Uax8TP6iomqjrRY5RopX9MKiWwfJ+C0ohsOt4i68yKLX7vhe
Uv2mHA3hqTWIx2RqrPJR6F4MrAtdd5ityUXbQjI23J//Uq8ugjezYTGSoC5HNgwLCz37OtOVt5Ei
Bf6oPE0jpXVsmYlqB9R/n615UnYRDaZJ1RYvUasNf/xM7v4MhW5d5eXg/80sPTvmvvhS0hBjm8m+
ZQvKLFPN6lHfKAJKwrZq4FNMaWg+hG1FD7NODu8g9A60eAe172THXnFwmQxVQBl2fBbMnPJs2Wzo
NW/tKAKXO6lTEMQhujo01Opp7ZGMyHMzK0mvkdeFD4OlPWHrFN3zL2b5sm/fy9ILGbkhem06lC7K
6vdTKw27gpYjcXhv6T8tbR9HT1l0VGvLrqzGHoxLPTJWixLUDcNhlFjSpsDR1t+/KRBQBkMV0nz1
INW0QX0Zlc/FO/8ZYjk6+OYmzqHVYkmkoSJkM4N7dHqm9JjHn/MOLL9vsG3xuujou6zK928sl8J5
sii1ehV6b0l9krvP7e2vAxCPL600SZuSFXw/QJrnnSA3quVlw0bcGv3n9vbXnyegNcnHSuy92mqt
S2ZpTFKgWV7a31732r/44zGYknKE1S9/IAWOopJLYmFYHt09Cu3LkF24Dq223OWvB+VIypptHVLW
+kIf60KsTOEQ3Dea7ce/FN2RLbsOPhfyfxhldbwG1hjlQ9AH92ma71D5/DDq5HMRwv8Oge+QoJlk
0bpfZC/6fQbtPrjXp2lHMfOqRqt7fm2fflf/DLFa21kAu2oeGSKQj4rgmpoT5rv2Ug7ixJJeMFwk
BsEnYMRepYAtpS+rHiewl9aaPSnAeg7V4/kHWQULy7vijgqCF7M7K2Ld4VYy/XaucRt7beuo9Z4S
2fnfP/GiaFtBepygh1vMOkmeiZGZTK3Iiiv+iMKAJuFY9rIzfBJoxHMwd8HCSLiWeVHmaumNqakF
6Dotb/7VJnfpS9d/evUxAC1pJcy5fJM19ByhcF5rgWl6eXAdHSr903N2ObiXDDAVS47R1YSShIZM
TSqbHlaS6UaLD+c/w4eZhAWXJMSrh4h2Cetq0agJpp9Glex1xZX6Rx6uJPOzex8j4MTEMA7pa3Hw
vN9aa2H0a2FqVK+sQ1dtEA7Mn8t3KMwjPjGeSfCl1HTWTR9Qb5phHUuql6V2nx0y88JUff2Bdwc2
X5hlplDWISsH++D9I2h90De5X85emHYuqnk7DnftiAwuOubVhBjxNpoeB/FboG1qf+9XF6bAmmSy
PCDb+oKXkQAByWtnW4/XpUaKOnuS9qDWshv6GriCqxkpEJHMXV271t85uDAzPmwAzDsutVyaCYEV
0jzvH3qQBGJj4CieniNIvkraCxvMegN4jQ4VSmSQHkDarb9aIFtsxkavPEXa1dddkV8nX89P7fUD
vA6gglvnMU4kYdKmaS1R7JQnsQ9cLFZ1L7v/vxFWV+YmayVZDXkEWmsJO/9fPIAMxZ8CDYfu0mnm
/RcIcwonRSPx86qwi+JwfyFqU058AsgF4ClUcBHiB/qFMkRUTsxKeaKTKfhzP0luA0Mqn6W2CDxR
A/YoaDPN+wo/dn3giY6WlNoNsiSEDP1gNFtD6bRjKSf6Q9YU7Q5LpfxXH4Ybf0qzvSgPJhIOIXar
WCgP1txIu1gTcIQZHUkxqUFJbTbltm+R1vYYzpBXh6MzRcABHCRfjV0mnfi7oheD3flsf/NE4Io+
9RKh/cQeyPymNML2eqLi36WxoGZdOXkiJJfuRm2OQvjZAJbFRHhGlgigMwmW1Q7i54Ol+Ko4eqn8
W1IiFOB/zk/FtUVz2SMYQeN2v5xBZH7fTxY5QEgTVMPINlvbUTvgfXXm1h7aO2H2sC9+02J9o40I
4Jtgf37sk+9vARDREkzHh7o6okjRF2IRlaOndNYLvZK/JpP+qNSXrk3r9bw8oUz4D92Wph8EJe+f
MJuotoKinbymEns+VFQf0iS9pDBZfmW11ytsslQWXjG669tSZGVC08fC5L2KDFtORfEPfVMcTcyQ
wj+cf3MnH+nNYMsCfZM51ANEf3kZcLA0CK4yF/HGpbNrKXR/eB4qAUsQRN5n/TxSTfdHS9CY3Naj
mSL41NNdV30rpcGu5dDJpsDOmq14qQXJyddIGAzekUn5wZvf4zpIwPtMXtg1dA7r9aeRclaiF46v
dbsmFS+ckes3yWZPooONTOIGx3a/mv5JDBEn1Ef1SZH/Wj8C5eX8h1pPcX6eTViUVNgPNONaJ7bK
1jetzPSVJyrBtoqAdByP+PnOD/LaMOrtt3odhQcAkGFqnL6rh8hmg6jCCtQnYzLcIt35zVdr1+NQ
V79jq8C8pxRu8mfxKepuNv3WpXvd+N4jbxD6C8ngDyHH65+iSUszIoNda336y1bjQ4Mvlqt2cVNX
6WZQQ08qZ8T6tFkN51vFR7MOt00ppI1cFBdO1hMn08KV/u/wq5MVjXjXxRHD9w12mMTGey2UV4E6
2xde+RLFvH3lCAYWMIxMgLpQT9fc+LnpLM3nBL6Fh3AnwDzUS9JSQ5lslbSKN0Oc3FVm9HUUNlKT
eKIaXXhQ+cP6ZC97xQaCRYDGsD7kk0Gh2gg/4E7uEOoVnSU5soDXNCjKp6wS0xvatxaHME7UBVkg
H5g7LZ4bTtEEHYIm7jszDZygJwJsY9oJZUGJ9WME/lb3wx6D4qUs8sdomL9YRSK3fJ0THVrEuk9G
mmGEd00raJtolKqHqB4nt48tsr4wEm6nUsrdps4NAmUdTYkybEusS2LZ/47yLrnwCtdzZclvocDk
3RH6Sx8a+CixmNZplkb3QyDnB/ad9saQIs1JOwxlc6RfUv2cHG+5ulIDXTLdq8DYEhuMlUER34eh
i7W/1u8V/IbKZ8Pv5anejLJaAbFcTnPRMYok/bY4yK1LfJb1lvb62t4MsDq16z4dmzxigNrHpWo8
S/1DfSnv9WEbWQahVLLgAdk0yXq+P+CIXsMaK39wHw3TVRIVt6qg7AwBc1bZdXcjpmdJ810/8j0C
J7vJzefz6/vUQyIBM2T0IctOtnrItjUjFOOkY0i6ukGk7BrjrpwuXDROTYi3gyxn05tT3ADZoEi4
zO/lKceZHENlQKwl3AufbFW15GS4fC4kDkgpADFWEVCnDRZeJyu8x6z0M4yK37qOcd3qL5xDS0rk
3Z64DENYgEZcJGj9kHLIx6GIciW8j2GZ213YQ3vHDRFJj2U6IB1S/lbSpX0QSN2HUXk8slqgp5fa
+ZoP05cIrLGIzp4wUwxp/GTCPZwZAeJiqUbzn9SObxIiYUa9nZO8coU4Td1Cs1onQckLh7HrnbFs
RrvV/XlT9hb+czTv9pxjSEXSnoV2WjbVvkfVY6dK3j0GnYKAu0vrfZTJ5iYYGvVWnQbpXhk7xW1h
P9wUo9nvUyl4Ucpm+JKpyvi7yWLKDYIBy5hSefygh0m2acZKdQ3SBI6kDYRUZv6z7CTE2Yo4l5nb
FV0e0cIs8/ezVWZbGocXhyoa9X2g1r3ddvrstvqQXVnRNG0qEbOz0QA2UKtY3XRhLdyFUxM5WFUk
F+0IZouwLG+6ubB2M2fbtkk74+j3WC4w9pcYeDXVAR8mQlcTh41RLYCYvsVNKPuChA9fNx/MmibB
A23N7ywaQNqqGvwtTBHvhlandylYcwdMr+74ohDZQVJQN8IfdpMp8BvohmO5o6INboUzY9PV7Y9Y
wSCoapmES2SSXK5ChV2EmX9tBLp4m8m5+NBk6nXAPlniX5nyEQ+bn20iK9ExeNfBQQ/aCbNIcsNx
LW0D3WCPiM3fmpbNbhTTfR0IVOCmcSRuYlHjlQ6xsLG6JvmaYwxzgy5JnVHLRZY5tTtb1UdDum6j
6GHh6OKaH/37OLZ+KkUy7KekL3vef2PhzGBF7QW1C7HXh9+sqeaKBGX0qzRH5oB1XQ06p67nb1Md
a42TS2Z2J5jC4AKkln/SOadR3cGUre+RGYjf5LZtNnAYhdgRJsN4lic5/+kbmfSETa+4ptEq/dxl
608t5u2XWcEmzvt5ZHZMGz9r/2TCKDzO2M08Jkn0TCtk1Ty0wEsWr1+tu6oWmTYTUS727Nx/w37W
H4YGK0UUWBiSzCnY57neOz1+gX3cpnRiFGMTCA7OqBdLaJqfURn1jiiE7FS1PPzwGzDCXOUF16dC
FGCgCMEYjKlxo1TDY5Ri7SkKqAl3pdoFO2x6My+niQDL9MFhzLL6NipbdSO13JDCZaZMGlSZcZi8
Ui163nP0K1Gm+HsemN1dqMzgHXgZzzHBmH7wcXtucZPoj5PPu7d1OQzuDSznt4KUB09pVX6XjTL7
0pTyt8THwTIN4F57dcaNMUBVxYf2dRZGbctHGu94t9YXZWplB12P5OJza124TcUWuYzpFon4DX+C
poEEaZDMRF3pkFnlXzUFQwzh1ouKwxO7T5a7YqA0G2MUm+8By7N0LCMLbtSq7XhQM7VbE6/U9NOI
f/bcoAK69fTKnyDVZjxfSeJKdCrnI5f8DzVcknpjxDspixvHHKzenXW/cLXWircthmcnx1fjkAyX
tkpfVwelsFSsdKHx3KixeOwj2DFpMAXYYxXVmZhz9jD7eEuCUXTmqqnsLDIwq3eDgEtMxyGIVRMZ
bATmWk2U6kvTq8JP7Cm9Pau4UTKj7B05SoUrPYyG3ZyamZNhOgIB04tORIMgR246RHtVpDaPRgpQ
R/YjcwcKqXDqzhj/4o0Xr2pS4T+7IkoP+L01vG1FElA9heQ4odzfs/uIDv0OBzcVe+kFG35TOFPR
NtfAYJKfmsC90Y5IyjtKXM8LO6k/KnGl7cpBMDYDzWK/yF1Ckmg0S8kVeozGwTSYezlvVScdQ/kL
Nw/TjpM6eZKzNtrVEZejXu/Dq5769/3odyV7uIABDSeGE0udeNslsbZNBaF5wB813cdp07lda4L6
ymfd7cyk8Hqh1Y+CZFr7thPmDa705Cvm4WwfT5OEwQb4SZuKMDGjojjqDaYdP2mxvISSmV61mape
g86IXUFs78GB5E7sW/eBIPkufoPfaHcAbgx5Y6tp+oWoKLOLQABJBprZ7TGQb2mHza5h5fNtMrTA
5UyYBUlVcTrgA75pKny+ZNd7W05HtBstkKZa9fMNrBkw7SFWzGNdyfxN/FHXfdx226hNuptZxpoo
Fma9UdBabYBZTI46CYUbapO6DwJR2vp5YG1Gko1OFUjdd47edDOFcbSZRzLqhlDiLoqEeFMmzOm+
UPVDrWqk9nSV6rqQJphrJeum6rvU0evccvQg922lDWuvNoP6oYzLbNcojGt0tUZXCdA5VpCML3mb
Gm41wHpYcCW3mNxhmnSxeEgsv92VQlNuQqMbj1YbDZs06/VtjSdt27D9H+pEHB2hTvSDStH+saOD
tSM0EnZvMahco2TyNIkhb4yw1905I7koTOShHexYMUdXE7hBC6wJ+oF6nU6msIe6J+w138AIG2JZ
tQra9GQDu8YkJPURqJO0AQyUPDSgsHYKDsaHukjLQ1bP3XNVj4orTaZ6X2N73nCcpWCf+/ZH0i3A
KHOqbEuC+RVr7bDLOzmo3Zi3ZctWkG80IKJ2QjfDQyr7iguUqroqF5evMll4GJnFrOmofVRHNfoV
613s9jUOUTmyBpABQmbjWvxd0FHNRt8R27LEPBuTQrpizfoOdWd5uzCidgZ2SHtqzXlPCpVV5puB
G+et4sDXmm1lTtVDmwv9LRk4XT1ybZoGO4yBASiN/pjEQXkc8b/iOhaZtPocuqlfFBukuPqxDJR+
W2WaYZu9nN1gGwscvSmBNxVahqCD2Co0yBcAjib/E+TfklycbV+dVSzpC9QK98N2MNUOTlpq2lOu
NxC9uxLbhmZtyhFPfV7pv8y5/1Ubo/Gt7wGp+1rEntfJ4q7ui5hrGKKmKSr9fVuX6lU8hQHsrDDa
gR4pXpJZ8B1Z69pdkuaKkzWQG6ogil2RGsRWE4t6l5O0viYsYA5OfWGPHfbuuuitDbmQ+y4ILc2W
DBneRVVru8gv0KEUOrCUaTlt4rbnmy4YNDI46sOogldS6eBXO5KFa1Tto9Sp5H4AxJ6MG58+0vsc
D483Y+3dF03X3GYzyR2hbvVbFtIEOiEI7oomEW/rvAhd5CrCNpaEYVcMXLUnMuqGncHLcKmKlds4
af3W7Tqje5zk4E+qFU6qaHfVQtiQunD4optRPznFLNTfFWNqPKnqkt9q2SZfrVkPNlqMk28Qw1+J
lACiEAa4Zv6s4A63FKfpCWhlejnsC623tuCQxA36rBDTYGO42myOGzA9o+Nn8MZ7YErbWNBbe64G
dW9JYLRSQWLSkW/FwVh8mwpLYsewsjtTnWNXyUPkOeqMc1AvTXukDLcJ1ELYhEAPNroWhCIAi1LW
dmo+zf22HgDO5/3o22oYfAlmNbSDtq3xM5ehtlG5mXuhGvfXGnWD9Bhb8UIM0iigkBfo3FitlaNW
W82tFRi/hzoZ7LJg0qvgbLbQ+whNh8Dc+9bAuZNxDkYpfVmnuG8PJB07PCZSuDWCIv+myMA6UMS0
T0YrpMemKWZPF4JIt5NmboqrOpg1kRutXzkxNkyCbvJJd83IhhDK8+h0VNc4U8gxpVMCaizVEq9B
T0W7sxy6h1+m25C6/HU+9uYzjBm/dOKh7I4jhtjYbn1xgIon+dGftM87TxWM7DEFpHSV4SN21UKR
JLsN9dKpiO524BGXVsATO4MWYcycAT/MsjTsU1r57gtraFw1Mb63TIMbvyzbm3jws5ex0uPrPsTl
nGRLxXHqo+cw7qYt1jnQgbOp2EpViU+mXEaeHAjAKrQo5D5Udbusn/iEWVY99WlF9nwGVWCVhOi5
BZIiQLxwDNs53xRB+UVo6maTx/rSqK4rr5Aptjeh0gd7/FvVnZbW46OhV8FBrGNmCX7iQ6XFf/l/
xW44KB2aNpalFk79zsIPcuC+VXlVWRHV15JJMk8d/E2YBL2XToVgC4MRbxS5TaG2cMfIwmB4VnzY
sXqtiXcWa/qpFfViE4Z+5ubxELqRmPV2MVb9Ff2o8+2k99NDpGbtg5oAgVVmFaDV0DXbOvEdMzYP
IIleEl8V3C4mmxfIA7CXLO9v5ZHLUsNO6Ihq3mxlOVW3C6vUURpx2IVaL7k49P/4SQ11QO+rY0HH
w9tCxsScAvwZdRE6yTz05F3N9hoyZPsjzfF3QoJRbsCC4MM16D+SDBXdOooxOYbQ9vA/h6WbzOIu
lATbtHKwHLM8HwckY5vWj6ujYGGhVjS/toM5aB8Ql8gOyFF4Sm2dXSmmb23h/mGcBtVwLeF3c8vY
ssj0RZzoddE8qVL+O45a805U2OF0C19oO4AVjAQlPUxBZP6Qaykj/eN3rtzW7Z2e5eqVlFvt0ejE
P7pRsDd3tXSMR2W0G9ylNinpdDtrqEdDtDqOReBna3UxbfQO0IcfmvpGGEdpB4AKekhqxn9VuUM9
ogTCXaUn8TEqumybQIVxUJSFm2bANc7ujeW25kyItAYTswhmXrFQQ8KtrSFvacAuQVvamPpMV4wS
3P5WmB7ADmpX48I884cytLUoKL+1VTxtxAE26Cz3mTOL6Xy05Cn5QWpc35q1NF7PNfyvOEmfVUXg
XWrJy2A1wrbo/F8djWMfayUuvTb1EUaOsuwVstHbhKLBpqcD9I4gPHAwEMsuiZEBFE2h2HAMg0MX
QYyS9Uo4dkEE35SUiXgLUN+HmQg0MpXy21AapIMPwngTWJNwp7ZkJfRYLa7QMBQ3vRoP91kEyw7u
wuPcZqhCSzGzHn1LvVN6UXgWrAgDeJIWkV3FVuipckXwD3D1qlCswolV/6+VJ92VoWnjUe6r/KBy
XDkRVCE7FJK5c0R5zl/8IH0ow8k4JnGMwzyPSyePRNMemjpw/Egrr5RKEnd9LppOVZr9Ngv9xKkU
7YV8ubkHEZL/TXoImvMEt6JXwnSTaEHP1auu7vDbQ1KUrVmzi1KaH3Sy+Ae9k2KHCFfcAYP4W6eJ
te9lSEZjoBOGRY1yVcmzsc0E6Tosh8wxg1L0KtpV89qM6dBaguVGSvIjy5Jol3LZ2sZ12pFEgA8J
+G5hiUJjIllaa0eyfuNzMerj1p9FbpBjnH1NBKH+4o+RfoSD2e4ixQq4EqYCnbuC0oYbF7hmVZHL
6jMJ47o/3/aCMdphoRUPVUSGn5uqf5XgP9tk5Sjs8RxCCBlw+xJMGOFWDGoAN2naAszJrE1OodIO
uuqPCY7BTlnWsMdK+FCAEWxjrIXNXJblPfHxbAvk7O1KZBYFlkb71HqUbsxuTK/DrI5eziddl3zn
+/whmTxQzwjQlqZIa8dnPQ4gjUCQeZ100OXrudh+/vfpUoAPAZMZ6cmVLiJvgkYnqTx7bXc7xodQ
vqBMOfX3v/n9Dx2d0BqYUsTvW3cp+O1PiuTJ4vIPaiXa8iCS/+BTGA2Tc230Zw/DKunBI3z3KS4v
FLZOPcPbQZYc75ucdKNl2qD3DJKEIGrtT5puPzzD6hNYlFWaseXnDfKMxX0VfPv8J7YWMQb+Sgnf
7apuMBnVBDsW5ULWfPca5cenf53ONbR9oY3JYqteJez9emiFutdFT6jl7zLpIDJen9WkGdZrzQNB
BApERnn//nEoDEnZlJrni9kdcg1q4JPy9/xjfCxuLGOgZEULwdVjXbuk2m8p1NM0T7LupMarczIT
T+eH+FjaYAhFxs+rLQWUtf+8UwuVynqheR3nYiMbj1rak5BPvxu5fAks8bHswFionBgQRz3DvX9l
E4nFai5zjUNx3CdZf5z97h7n/RMIoF/i1JF+vKT8ObFKGFJXgcYv5nR9NaRYCoD81ErzChxb6TEM
fp9/fSdqGlDLqXwhPsUXs25xlsoJMQx4GU/Of8/tLosmm9wpdCaCNomsT3hh1X/werCzYE5SKUoy
LPbY1bTTSstKc6DwXt4b4MNkX6MaUh81X98NRQiREyrPlD+NirAZcnha5x/31Otc9jWTl0r5fi31
JIvbLj3MdQ9hrzMNx1j/pElq2XeQuP8zwmpf6DnTwyGWdS9A654xJY1/MeEX4ybHi740O1ptbAUB
sknyiBmBIo7CyqBStgGpGXTCZ18WqlWWlqxSHNUwii5L780OPUnE+oPRKV5DyiwEHUje9vzn+Fip
X4bA+IHnYLF/rKdfPMu12EKL92bqYwGXstzL68E2yuNcQjKDiyS02VfRV3eNle9C8nfq+Of83/Bh
SiyiLbQCEkZhS9HWsUAiVhq3VmvyDBKiSZhdz0rzSenPqy7stcM2hnNUM6sXWXL/InWgTN7QlH/F
2j8ambk7/xQftsHlKd4MsSq8ok+Pg7SWJy9pf0i5ZGf53ZgDJta258c5+bbejLM6tblzmGbhM04O
GdwqgT6qF3aIUyMQPrPZ4USRmebvZ11IvTcGPscIS+YvUDN7JCt7YZCP2xC6AgWtFPpa1ENsge9H
gdMMGT2TB69uIM/iUEBAVI1ASfPYaho7D8MK8GaRXk2jHD0XwDa3ynCJp7E8yrswdPkjUCXSfQ2r
h7G2/mYCeH14hsgSyXsY4IlNegDIYK8UqXH65JKU6ORwjCLRC3TpcLLamuKGVObCBfTo+rZRiq8j
vQFTcvZN90UtLnhlPpwry6NhOTDxfjMx1wvboM+bIRXj4I2j+CJrwbbWaRihUZgizJhiINy5G+np
L2k2L+wpJ0e2iDVQC0MTWcsJB1Upa1+SBq9DlTV0Bp0XAN/nB1+5lvp74LuOD//2/Kr4EBjwtLDS
Fxk63T8+CG7Cnk5JvWQOXEQLIPxTdqtnpRMWlVuYrW5PbGabTJYvdcg5NSwQJ9ysLJVlGr2fxGrT
dIJVW6OncQZAfwyBeMaC7HQc3fxnUV74qCeWprqIaIkXsKt8iLVS+kaQw1aYrxgWM5KAl5wYywxc
Lwh0MAscDFMMZfT3D6Sk4PvpYsTa51JtWiHUfPLE7aejAD4XknKufyw7FRDM+2FYAmgr5Gb0ZtVw
x1m7k5L6cH5GnHxV9KFZrIZcEdZy6nASKGnU/eglZdHdT3Swpsw6Bo/nRzk1AeBYUMuUsWuibH7/
IJnl15omFKPHlKTkudeADlbpsezoVqvtx/7b+eFOHDILNuO/w602/7ab+inyq9GTQnQb4x9TfqKV
zHaOf50fZ3n/62lg0IKNwRazzDrO7sTSCgMtHz3SWQ+aX7IJT7RVUV+MRrLlpZl5b9xmOPEubB0n
TwXWE44DLEeL7eD9+yzg5uLWjScvKuBq+gKZIFDZGu2ght+V9VwQmwbKT/WSku7UtMc/SqiFifSj
e0YQLK1tIgkjy/wMAZk84t9S+H3+nZ4KtV5t6RL+HKb8WsapixHlSrrCe4F4p7EDy6h1hPSu83Xw
2KBP53s930MEDeW/wnD4vFqQrZhdmX/TmpZnXBbMm2BSHYo6VSJR9qp8sjMSvUF00c79cdq8G2J1
vpltteSqZ9kzs8Yes50gX5CdnThA3w2wiuNqVUnhe/MMUkylSNmG3WGgeUocf+vkn+c/14n9YzGK
6ZyeizVIWs1EccY0FFMI9Az9l+7/uOQhuPDzr5rfN18DDfdsTnnKz9NCI7Zn2J3n//4TU9oQiTHU
Zf8jxl9d86JepWoVSWSoagxn1dRJzxWqoGMySNqFU0lafmu1XQAPWGJ4GXEtDaffT62paPJZKsQZ
I6gFe/2bqlzPQrQNixc1/E23BUpk1d5EzaZeSKGc2H7fDSy/HzjWEiUYtW726jh4xIy2CZUv/uC1
ckPvvX2XXrhGnNqeGA/TKxMDH+Faq1oKuUKc2sxeKQc/9UT8WcrlhuoV5YYwsKM439H04dfsV9dK
j77l/Bc9MWUMqnuoZPGfK+b63tlZpWZmHX4JGY81/Q0unC0Xft5aVOhvZmSfJ9EUyvw8WQO7qDat
+fdf/P2E/Nw30Y1y2Xw/QNBETWwO3eRlgfDSjTSXoTPYpb7Ty4+spyIi4v8bZI0ebXsxFq2hwlTi
MwCmo4c8gSYhWL/HkBKHKH6jMQGMC/MSQ+PUeqPrHHk8nW+EOO3909U1xQPJjzFgNl9pmaPT+MB0
z7/AE6e/8XaI5Qu++UJqo+tj32SzFxmu+qOWNlm9b7QLc/zkNABsxsZBap4o8/0gjZTJSkMrRE+h
e8Dk5Jfe0+mH+Of3V0vWp0NcqQUYZQdsfdYukLZDu5cvZe1Of41/Rll9jaY1JzjvjKJUG7o+RF+V
S89xcoTXAJZrLB7O1Wwu9KlN2vD1vo/VLDXD76nc3Eq1tjn/0S+Ms6aUmjSdUmc6O3ka97hRbm8D
ate2FjYX7Ienx+HOhq4abM46XvZprhGpHdY5GsrB1x8bDz3K+Uc5ObVocf5/Q6yiVyuo6SOWMkSA
sGlpN6DFu/MjnJxchI2mypV3oVS9n7wCOoeiiXWSMISPOdyzheful8dBrv/Fs7ARL6lGbWlDv/wl
b9ZigmtgmgSV4gnpU6R2F37+1Nd4+/Ore0XKpdXKkLHijTNc+U+PAFf9F7sJ8S6bFcAOjrPlT3jz
BBPN9aIpLkQvrGgJ5AQHFCf6pXv5qU++lAbIMqrEUut43uiFOS4a6mTmjCRJbOmXZWrPn//oZN7g
dZCOJd2weldm6vto3gPRowfQxorrfexDxLekjRlvz4906mk4+YniyVtZXI/evzLUsiQghImSVm32
OymVM/qZGOIFY92pUVSITCoJKabyOnITDUHThYhoami2wga90fmHOLVG+BaSBoeH2uvaQahnCCL8
WZu9CZyvHFROahibrtjr7YWw8NQcfjVDLqhHk0rT+7clN7mmhoM/epT07T75kaPqyS+Rri8Mst4e
0Rs3SlcugxSBU1Zf4N7b5qV0xclBuDYtzmmwrusZRqxOcyFTG/kitZMJfxnLrtrH89/l5GcnwCPx
Sur1g0VaJl8Xw3cYPRNR8LGZS3nnB93f84OcuEAZfI3/DrKawX5l0Cxe56Kb0Z8rrb7liA5K5Rtf
xir+zVDUT1UZgD2B1WovHtQ+s2YDmX8M2suWxfrKEqT7vqBTWKw/12iezz/ayfcHkI28FRpnsO3v
p1uZ1mqdVCouZq20TYmLoXJhUz65cv4ZwVhFyAlZwAaE0+RZxi4W6Ed4s+gALwVg0snZRm5PYhMg
1lZWx6Tf52XZqry4HEMPkcXNoNPoMW2+BHXaXvldpThw1zsyx5n5lcarE+aABYBKO8xdR5PTIuzd
2MgukRlP3bUAtC16BHIzcLzev19am0v05qQsUGb1z0yKbrSyC/E4tZHTUg6zrUzsd1Weff4ebrwd
djVjp6AcUNmEk1eDIkSKuLnosF+3jl64CP/B8jBvKOm93vrenISGFXVWiK+GJ/MHMp6I0/KJ9kcE
2/qVOEnNldBH1i1Kd6wVEfqYMReyTZwlIJWsqqRTVlE5QqfG387P6FMTYWGrUFVf7vHrQow2+0WY
q7zxeLgKv3aVK4abfzHCK7IcxArO2NU3pS1kb0b4Lj0JzWlCx2ZfeC6aS2qWU+sGqiCIfbrWixBy
3s+cykQ43lvs0ekoufncHkn2Ni3+CuNCzuPSQKu5Eph53vYxA/kTwg2xoFlvdTdmI5ZLS/1y/tWd
Wg54wQmVyXggnlttBkMUzOzXlBRzQbj5H9LOq8dxK9jWv4gAc3gV1VLnlmZ64gsxwWbOmb/+fpxz
77G0RYjQXBj2ADbM0k61a1etWkvtx7vckfZ6CNBFoW6U9NEXWQ6/X7e5NL55nZBSpxHhIm3ulyi7
2BX9j4n3lutHO5E3Pf0gq1nY+Q0mPqJP7IiXquyMkVqNRG0x6qU5jUc1iDRnQC4x/mwlT1pOhoUD
Hz12ifxQNGucOUtTe2peuDnSsfQ8QHTTAaRqPbrV9CWvHxVjm6ob2bq/PqVLtwb3IZPJ3Q4PhbA3
w3goQ7NVeShWMNYVKI/ycgzd60YWB0QlToHECGSemLmxo9DKHZ914+3V7TVJmp610vdcT2tIH8WJ
dRfpffyxRrps+xeWCVwI9SAPsMUgX0voqkMUgQRZfV/BClBRN5jU91DRd455UKyV0HUhvCDSt6hv
Ug6bnxXnJx0N6d5pPTBfhnTkcZ+Ou6J6Yl7Nmynb4LWGx4PaG9UQ0mHC6dMbEzEjtF0PNDm4U/Wb
rocm+Hx97ha2BpQobAtof8AM6PNpPLkWalkZ4xH08SGf3r1pZ/QPf/F9uGrmUJ+XpEjHU+R+qnRD
qRxqxx1GVN5WvOHi7z/5vvD7ZWQbslZLlIPqRG6sDJvyZgThvAomhEJkRFG7E+NimfxHmqBzfpCD
eKNuJ7Cst08RDAqQSEBCNRdNzpegsKFqTSEGO9gvY6RtJBqdrhuYPyB4Orbq/GnuftCW8xV8ssaN
3CW1p3fqQU9ia9ui2+EhFyn17ZM2GPeV0cTuLGFF7+Mac9eCL4ctE1TZXGGjZC0MDY11OZNmeCSC
lH3vmp8l567LPlwf3rIRcGVoPVFxEpM6WuwpkTUE8iGR23ADW8sDOmKeGzjTJ1NL939hDHkSnUqa
Pp/N87nUewdWEpBlh7Y2P8DN8nHuHNygWfI22musSAselSL4f7bm/36yblJNJ6s6xLz5u+9J8l2p
jma4BScCu1QKQ+71gS3EYQiVkLCGy3ImohPuCM3KbKuyQJp2M4ewqkK2w4M2CFZuiaXzSmkONCuU
ChrUHudjUukHsbyJ4kKmNa7j0Eh+e2qXpAJyVsBBZn8mbHZEa+l9L0zyx/QHGE/R0K5M1PII/jMg
eBzNnIAVNNp00Mud2T82/9y+Djzs8DRMkQXh3fkEDVVvIS1JSSv6NsqPtnbw6r9ZAngzFPYwJWgx
+e1YfTBFDvUkO/1dZBsDEcXrQ7i8ICFe09hHZNj5U/T5iooOJESU1psR0irgP/rO15DWbXTht8PN
jMiAjDCGjo8OveGFd0bZtTBQWjXfcuUxfAq9m3fT+eeFIxj2UGpMGZ/Pnu3cRf/8+kwtlMvBSOH1
Z6AlxTbRnTjFaNLljWA4LT1BBWnE9Nb6aOSWD4rxUKjy1mx+K3OvtPSk0EeqDO/Xf8DlqT+3L4zP
gdqKbjlUiSTnU0kvcxU+tqmysh8WjQDpmet64JdEoEXn9Fk5xQxSCT+ULd2Y6Sa2jtcH8gfqdX7J
zahK+rHAYxFpiFCwfAJsERECv5GbL3dVl5o9uD7N+Bi0YfSFWabbNU8/OGPdfG4LVSMQLcJgIyWK
505I+D1qqAE9DapVvQKspfqIVG74pZVae9/oQ/ukh4F/aLI2fZgiP90bfhXvCw2ImzyCOKAxXG3u
CUVqWOSzcXgciB3vfRINmxo8xMPYNcmPrgz9I5WngVq+rXyJp0H64o8GPNtjUBw6tFJe2gqdYc9M
aFbwp3iTRUrsWiksaH3cKtmei6ejpW0qXqM86oAy69qnIXI+Nnnzb9hL6kYK5IQuuSlsph15sOCh
Gkf/W450/VM12u2DbZYoQiVdaf47gCX7J1FHaXt9JZZWe76J/zBww5Al3PlWRoeVnBqsdvmW0CRK
7/YandKlC2at/zMhPt202quyoMCEs2tj2qV210ew5L/IR9iQRzo0X4gBRZ4zk0Prm2+y3KMQej+V
/xRps9G9R5/Ow+u2lofyny3hAA5loyd+ha2xQ40cikXzRpUl/C+QfrqD8JJcu7RBn18oSu5nWsnN
/6Z0u+LOWCO9vIy+ZibAOXnzh/pJ5BK3/IJ0oa/Yb8rwseUJVBozyudeX8viLEwUfJdz1hPhlJn5
6XwYdRT6paR09lsof++eMvvr9XVYGgbjoNmYSBmMpRDXwTIlFYHvmG8KKgHHwZ6g6zBK6X1KtP7V
6Oj5u25PVfm95/5Khzdt5jIGPwqcUzgmXtv63ZRUGSipsjz2xfig2DRE31VhPEFZZCMJrWTfbLmI
7/oprl+tBuIkZGmCjddAKSqHpAtqu3Y+5rgo+842k3I3VnrG5NuWq0FG+8MA0HecmQ7cXMrb9+sD
uDzms0eH0hIUwlxlEX6/nyhNJ6VT+gZHgGx0G0oUm+rm4opukhsG3DsTcF2UawNibZ0mzujNkpFP
AyhXmwPkEdvrI7ncWbMVcjHEQwvhSlYFuRq1VvQmdU+KE7j9dLtLxAIR46wEgt6MeAEikDcOupzF
bxpK34ZFn7+MAPHw7+3jgJOTh5DCQ5v35PkJGfLRoHiXJ29j6ObHcZWZ7HLDckD++/w8jSevkUhp
+qA3+LxnfJvCO6l5hjvjWDb7qNkrN+p9ci50c+5hoHWWjNXFylNNQf9vYHepWfJi0dANaeqts4Xy
gUW+mbKtRgVScIvQy1mR3eT1W6Fua2mf5/fXvz/7o/Pz/UeGk+NtggK+ADKFuhyEjhbVb4paRy+d
bAfvstQFj6gCVs+61/UPmiRbmyHo1/rHLvfzbHku15tIrl3wAwd6odYJqjBvze8u2USfro9r7euC
H5bHGDKOqKrfoKN2zeah+4t8CKUQ+kwoECJryD/PNxqqM1BW4PLeBjgKxk2ECvftQ8BlsSpkC5kp
4aBovqJnis7Sj9Wr5D3L2uoKzK9YYfFVk1QoDU2z9q6YcVGQ4Il920fkHlt3ftYbrlfBvuTKSWo5
9/7Uhu+883KX/l3dLSReGa7TdCWvbm8MkYlHj+BH7jmV28he5XKyP7FjlE0CA79M24jZ7iTqqMe4
U+1tkAf2rnQSCQKIMdlScYCWV1M/+n1jvNqeId1HQQZyDzbD6dPgmKO5UXLVv6/pCymgj4O/XM6j
6alXy/5T2nCH92bYAy2pJUty60oet1lVWDe/rGani2olHXoQUophicpZMLM0UN8CdVtqsCvevMjn
35/v3xN3FVZFX9fmvATjx1T/ohs/rm+iyyDx/PvCJmo6JcpSXVLe+iSUD33V1C8KiAkYFuUOZbo+
UENUS+XyZrfFhjI4GKS6EdIR3ZZcBmo7NmN5aKcHK3q3y5Ur9/J4n39fmLbSrlqvaPl+R7uugvsY
VvziArwUCxxrYpg52yRmB+rAH/oB3RbgzR8S0BnGAFEe1A2w9ybSSxkkKFV9G7N0e329RIJhEgRI
U2PYJuRCPkk8k0Xsp74CMcjRUwL4B9Iw2BcjJIB5aI7SZvDG/lWJc/uubOVvURenru6ZRzmI+D1a
BxAbzoOHEh7XbZrZH3mDxlut9WE5S6fmqfPbT1YCT9n13yyS2V/85jlqPdnEiprWhpIa2bHQCwiz
pC9OEzx5pfLFAXlcaZ2bVePG0Yd7OzWeQQS57aQ+XP8Nwoa4+AlCYDw6XgyVK9MmT98k6VGDiO//
z4BwoRhdMMjBPMb2M8RZZbzyeSFO/Z/fTxDJg3TeAGJdlksgbQqYWY55mUHS9FKkH1rs/MUYTozM
k3iyTlVkJ00oYwTewNGki3Vl864NQrgSQ5jt6mQexMziN21H2AmjlXkS/NnFPAlbDeZN2456OTum
/feofdCV8q4tn/Ug36nSGq5QTHtdGBM2FRzyiDlVGuMZv9fSk2cUkDN8zsjVps2n3HmD93VX6/92
srUL86+Rv7u+XPNYTq7nC/PClhvUHKZxD/O9sbE0OjAfk3g79SuudNHKnJSkWQAGYdFV90nulUlv
Z8cpcSPVVYp93BL9310fy+LWAG3KDUrO+KIFzPQkn2QFx6dO71Rl55S7fE3DYNEFnJgQpmuacijp
EF49QscZd98ca+UtvDRR9gz65kabo33hKQnNUF0GSp0fjfBNH/Ygf4Z9Fa1cnEv7GyoWjeoGj3k4
y8+PKARGPhUkBlHYb9305Kl01OSfE/99gLfo+pLM8yFuL2oolIfsOeki5o+gqdUyPXbyowWzop/7
XG/vfv9Yj7/y5j41VvASf375hTmTfgmqHfDNiapM5UTGwNfZzYnXdBuzL2BSjTKjuue3FZtkgGIw
MNrYnUgeQFlm11uAjP0+7WHCQbc9uXegeYHikCvF7tPg0dTaZBcbduKCd0tcKSjglmvlsnivC6P/
qJiTfweDsPVaG2X2Qa7LdyMq4zu9bn4aY9K+Q0FvvWemGW0z1R4eBiW0YFSts3JT5jZ8aVD0/qrC
qHEzufT2o+nRRtWQRaiKKXunWbpeq0dc7l97Rj6wxaDjpAitnS+9BtWnP1bUuLPhs5d+Axu64v4v
z+C5AcH9Ax6xiynEgD3uYZvZQsgoN2v0/stGuMjA5ZJCEHWJYT9LJxMlp8OoZ9tyatxJ+qDXKxfN
5VEEzwAOaxYRoP9WrAJCgm42qtSWR1bF1cyXMftUO588PV85IpdLoiKcbsA5BiwAEOA82JMLU1ab
oJPYBMfcdlPTHdeUwS8n6/z78zhPvj8VVhMMGd+fE/n2zhnunBt1orlEMMEDBsdFhpXKw7mJwYiy
WHK88Bg01ramJyzIV/zi0iDQ45jLJpztC2hcahZyoJdZeCztpzDaZ9k2TldeYWsmBNfe+VIMtVQa
HrvWVXN4C3msrhyOpaU+HYXg3UcrkxstYBRmvWtSCL1WtuzK90UV9RwFDi03kb3Qk3/9NIVSdyUC
Xpkj8R4frNGsIKgNSal9MYt/u6qC123lPKzZUM83k10Whmol2GhLVx7hXHvU12JIZeFsc7dy5P6H
bEU8cyNUsIVUSsHRymF7Vwp3iO+RaYwy8BKfUk11G+0B/vY2+Kc1f0vOP1l4H7S7uKp316/H5bH+
9zuEs+loXe3B2BkcJ3Xbqjs72Jpr4thLJmho5Z0Hf8Al5FMiWTIWTRQeYSjXzH3nfazWunDWTAjH
36q6zorjIORd4crQETb30hryaGnBTkcx/4QTJ+YFel1J0DQeQ+urkt5J2b1Vuqaxv74cS+fn1Iqw
HNwGii+lPnPl0YB+X64pby1OFEgPqhzolV3cvqExjZEfo6KRyw+wvBZwOip3fzGEExPCWmgkcrs6
UdnZDfyKrp3d/8X3QU/rxI1giHUhgKglJS6b0AyOvrmRZAi1V07/4kKffF/4/Y5WtDnpsODYOq8U
x6Ps1YaeKtxdH8XiQpxYEbYT6h9GWHlGcDSSnRo9xXh8+3jdxNpAhL3Uj5BsVanFQnxF8de2XeCz
Wb9iZL4wzuNdQuqTcQiPx95OgFdnzFYfZLuykeGlgtDV+NGiEGIdYbNL8g/Xh7V4RE4sCrekMQRK
AN4lOA7jDsrwaM01r31fuCI7jcZEc5i/r7kgfswb9Z7/hConMybWy6Uwc+zQ4vvQZtb/JGuMPys/
3xCeVloTWVUVsSCTuim/mj//vybfEK5GNW40G18bHJvm0Sh3q3Qci3vWJuw1ASxR+BW2U9PXtjWi
632k7mqUcNO9hlApa1/+YhQnVoQtNPSB1asVXjC2XSOFWHt7/fuLh/vk+8IWquFyy31LDo719NAd
ovRh6Fec7Mo8iXFWm6ueXveMoAeWRkkZIZ3+n8L7evM4KAvQD0Kqdg6vhb1UNjHQ8sH3j02+KQe3
KPZDs8KnsLBdVcC25APJBfAsFJYCKE6oF0Er0T3vbRzrdykPu+uDWJgqhAs5dnwexLD44JR1T455
PHiHode2Y/zkRB+t/j6FnPa6nfmXCp7wzM480pMAQdEku6MI4R0S6TtlTkQzjqqTb030W4byu5qv
TNx8Eq6ZEy4Q1fYHlBowJ2tf0+jgBfsx/Rbrz5G2pq13uZtnDCclNPqw4DgWIfYepGnTGHvywTDv
0VCwslc466/P3eUumE2QNiMnsJB0Mn1eDRA0KYdMdS1fv2uCtQhxxYII35/sJKrTPxbCb7Pixlpa
bmmSQKoAWkHZigyjsBxKg9pLlg3KYfRNcFDGhyId76W821+fqMtVp9FcnzG7ZBjBIwsnsojorAC9
pxxymHsQZ9pLVfFb8cq7HlhkWbcrZ2dxVBBMOIZtQd4mlmmmYhjTsWZUqdQ9GqG3sTMZOYxf1wd1
eXLI2MjAiWiuQK5XfAvBpw+AOCBWqILhKSr7D7VVJWTIpl+9Zzxl0/TRDm5Pc2KTovy8VjxMxC6c
IOicKuoTGglS6NOnOP0x4n3Ql7qvtDhccQ1Lmw8s5P9mi4SQNda0yojyQDk49UMzvREhXZ/Ale9b
wq6IMlNqJ48TWps0EiI0cyMwDtfJbAHpB/8Of+tF84thduB6yawdYv1jGP5KqHxcH8HSRoNAFbFM
hTazCy4TuFtKoF4G1AAhYhW2F5h71bDh0us0c2VPL07WnHyGbARciRhilH1fKJ3EYuhmvaXC7xra
3yzHiQXhTrNhV/Wn0mY/y8XHIMo/UrtdS6OKLaT/syRoVsGYQt3+osVRk/s+lhqLGTMjf6NHXDGB
/AyR+ycp0DaWMumuX9X/5BM9OEEQIjCY33sog9aRtDHL4u76+l1esjR1KSBEVLrNaBUUdqAatp3c
DnS1GJpbfpboMFIO5fQXK2fM9KCzBCn8WMIxksfR6lp0cQ+RFqT39oDeXllYa70XS/vDAPM/kyGQ
ohGbImKnB9ZBK9YhRLjMf+dO/4vtcWpAmCu78LoOf6gcrOg5HJ7+5qyefl49j0Mq3fDjapyUw+QB
fNjmN8fOrPTJ9AiLUE6d0UG8pRwk674rHnJ55fuLOwkYI8KJsIhrYrTRFkMWp62uoNXnNuW+dt4c
5Rmhnev7dXGRT6wIk+SVKT22mYZHLqOt0obbf69/fwEsAAcFXZBEllCsXpbRJCMiqAGMEqZfDOVj
ZsZoqRwC9VUN8+cK6Vyj8bao3SJ/9Nb1K4nkpdFBLQgfKghBQG9CMJI3U1EFNEEfbBvKVT/b3l8f
3VIUYuF06OO06CIQk7AIb+ZFotBdGg+5F24M2a5cQ4rbzwMR0K5T5ezBQK9qJeJd2hm4axq6HZU2
NhHkmkVKW7fgtg59BsytzZPpxagpr+WN0T5STWxXipRL9uZ2QwqU8Lte0EmEYxxolV9zqyrmPm3s
+xo1NHMXeSuzubRap3aEvTiOAPTzsZzH5X2d4uoeSZnPty/Y3JvDYiErdRFhlQhVTo4CjYw35nsj
iF4gZEFdtRteEhXldDm5PYnGlJ0YnOf25DGUBEoU2DIGs/qr0T3mZrktxvdO7//Cl9IPD3gaMh76
NkVvpEpe2VuyDENd4baOK09rou9LqwNamPAN6ADo1Pm/n4xEm8aCiuJIIitE16ZAsOj28hiBjUF9
j6sTxLvIUof4aegb07yv+4IG7UNhKqhI/ry+AxYCrFMj4q02Jk1lRQFG8p6+XIJw9HItEBCquvsb
Q3NL4Yzmvej/jpC0jdO5vus097X022ueqv79uomFJeFmppgAYA0+LFmIr+I4DUMLeetDqn/1nX/A
ql3//sLB5xUHCyevOXqYxCsoV5qpkiQ69KP8paq/duU+Dgw3XesoXVgSwiW4K2c6Z647Ye92Zank
I535hxDxHfSnviLMcX0gixZoNVZpMFTnwOl87yJpZIwko6AaGIq7MO1fmsG7K6u1xuIlMzOaHqJU
QKRcCudmCqXS7dHmrpukF3lCEHSK3KpYqb8uLDqdyyDHqIEAQxcf2PmQTVozcad5+as8vib/3D5V
GhxbFEUQ1rpQMTclB4Fbm/b+BM09dFgOaeF8mjx5xdcvThXXF8QIKrtL7McaETW2h7Zna3XqfpS6
XVw0X8MgXmFFWAo/YHYwbEWlHR/JHSHGBPsaV2bm438dx5sVOUdXS8IHYCG7GNXTTRMF95mPElIx
PWdV/gsqinrTQml6fVYXAgV+BjuQGeXlKF7Zgxkgn+5E0Id0w65P0FA20s9tZH7RvID6wJrmvUgL
Oz+KABNxdnmtIhQvdnB2NHZ4SdfABkHb4G4qlOh3WzkdSuqOvA3KobsbHQBggyklX6vWMre5p/fV
JkdK+S98CGmambONfpmLDki/sis6DPglfjBs6PvbjJ7j+ikNhGtNtyKG938GrWkaZFAYumC/H400
KGuEng+qmbcvgR9/iaXBR64xboN9Yub5ayJp5qNc6bXbeKa9bSXrL568HHye1ODG6BUQfZnpJej4
tjRKD3Vwp9nFsdGsmxF8rO2JCeEiznr6rWqNVm9SAhtzeNEdaVv5qBj6a4jIJVczPz8gEaMNCZzy
uT8LJgetZiWZDuiM+sMmuZFW98+CERyxWhwM4+Jwxv1EJmyCYLN3O//Vklfi5Pn6O88Mo0w8k8ZB
HUcvo/hMdiLeyJ0KiZOSFMDOvoeJfFcqH1Pfpwf3A4II18/40m2JN5vnicZDYHvns4V2XeBkXjUe
nlTryw5uoC+3f592YQMHQtGXLrfz77elToExbsYDLb3N1gxeJ/U1XOsyXVhydpfKDYMHmbOC50Z4
xA1WiazfAUYe7z2qPl0fw/LnZ1YMrnriMHGOdL81JZqukVD5nhkPITWB6wYW1pzf/58BISTKtFqq
kgwDuIJ9pVaMots69rtqdHcDjIud6m+vW1wcEu3ydOnZc71OeLUEsd2PcpgYJG3vQn+frlz3Cxcl
GTQDdar51PPOPF+Qpu+qrK4aCxEsBMrd7phFfzGAUwvClMVd0Zm1UVuHbPodUw0KNWtlUdbGIJQB
29CHkbKurEPr3SnKnVxt65WzsWwBeCuc8fxlzYt0+jjxNCMnbW8dgvqR1GweP6trTJQLx5uF+M/E
/BNOTEhZKY81mTfwms4mlWZvqMffs0+376ZTK/OvOLFiJLY6VRMDCeV7K9mra3CLebsIPhFlRiQI
FJjUgb8I33fMPAPWmlgHI/hh5o9wcRfhD/1bNd0OgKNcQrmCRMVczxA7HJQMRh87y63DlHyrpX+c
4vakxNn3hRUvylYx8bfWwbM7t5fvatCanv67GFdu2+UJ+28cwrI3NRpIXcc4emXf6fdegBbzzvvp
tHfXF35xe3F3KBpdn/oFLh8xFWkk4WMeJONnQoOb/Rbr7o1tkvOFy6T9Z0TwVaXXqplue+ZBbuwv
Qarew0n64/o45vm43GD/mRAec9GoyqHWSybUV9a3sot3ftaNNDKtdWwtuV1uQ8imZ0kP1MvOD8qQ
+8g3QU9wkPLNWG79NU7ThXFAKErOC+ZkIkrxgVJOyOwOYwdTm7M30of2t7XGUbAwAuptM9c7lTd6
mIWrVtXrrunhGzy0CJT/CsOVDbU0AEiZFZu/VSALwsVhlrKDBK3BTViAvI9KN6iQRni/vtqXY3Cw
wM2HL5m5MoUxmBBPycgLq4d6cEdt43QP179/OYiZ4nHWfpxZLC+AFxMK8+iPkZ6uaR8Fu3CXq/He
D8ybDzlm0BuZ+XmJdMUiqE0jQF4pknoYBwAe0s60jqny3MR7Vf50fUCXx/zc0jyhJ/49aEw5ziss
ScNHp3xMQYIroDUREr5u5zIOOrczT+yJncKMpDRPHORaYJzRtbe2TDZFcxi0bFtVz83tMBwaWCjI
E2Zr7GbxtNhOpfvQuKkHy/LZBehw+y9oXG7U6cP1cS1tuBNDYoolH4vElmdDHjLMQ/u9Aml33cKl
wwd/A20TTUsz5Efc0j0NwLDwlgaUtOV20mPUgqL+Z9HEu7CLf6pT//W6vYURASwidTu/Ui7V4iTY
KLtWGYaD1Vu/ExNXY0U3l0FmH4M0BiVSEvgi+5ii5TqsbfpwiIwPwU4PVtZk4ZAqBEbm/PAhSNWE
vdagpKsGPp+3vsTtcxW8JPHKmizO0YkFIWoxrDYdUg+Cbi+ON23zcVwL7pYMIPY8+3n+wJ+dHxc5
sK1QUzP4fsPRLRpz0/k3Cl1x95IUODEhBMGpb5sD3Z6IvBA5NtO2Jz+Y9CvZloXED1ZQ3jbJD0LU
Ji61n4+a2rXspq5+QHU+0zZZuTf9vS+5HEdjvEOVwVwrcizMHvU1tEzBlfFoVIWrxu+qNK6ahlS3
2rt23dKbfPs9gAUS6ZS9Qa+JADxPH2ul1VBMyPyfdpABJNt28f76QVzIH6EMRvIW5bo5/2mr55sg
STQvaTtqNUXxMhrjLqYHTM7MjZw8+O2Lnz8mXfpQ5DcHslil3kH6fqauEfO5JHrtYFBJstcxSrNT
96sv9Ts507/DdHNzGhxTNJ0RkVMhIht+PkA1NFJFbnOSrs591v3TK6/Sjcyt8y4/MyGc1CguaN5p
S/KtjbSN+/GlruOVvbC026AZ4PdzY/PgFmKOUkqVMpZCcptR58M71ryq8hpB7ML1SWAJ9Q51G+Ib
sRQVZL02zYLXB6l3dqmTvKWl7ZopjJelt/UUZLbDulxxo4vjonhAWoR+mIujG0sRz/yM1dEaf2OQ
ofx9fX8vuGk2E4mjmdmCp4Tg43LT7kKz8MZDHr7IZYzOdbTpwtuvGohF+DhhLRhJ0ZGiOWHHtU9K
L4GvKKomN117KC1M05kFwY+O9SRFnYIFVsT+1q61yc7/+/n7ZSZXc2gMIaWDrpqwgQv6d9TKkJpD
YJSPeRrqm0jJYaYfX8tIfbX90tzEio7IyVqiZ2lctDeSC6UVCqZTwYmWQ1DlQZu1hFC9Wwee29+O
TWJoPChA5xIH4ATOj7/mmaPejkF7kJp+Y9TPo7Qf+o3m3F3fZ0t3EHbQAkLpnFS8mAPPZQlQhIQd
DY7BNt/JtfkiS/dV82ja073SBNs4y/a+PdEBudJ2vBBea3PKgYuWebzIKFOvmiRfi1uETz5JU+wm
7ePYgmxLbgdHMZcnhoS7YtSaOWGetIfJ1KB4zjdRAkPt9Ylc2hEaZGZ0pMq8TMQOdMpDoRUVSX9I
ky9SDJRt5awuTRYhJ6RShDygaAVHmqjt4BcxJb4ytXcNvlRpzQfNt5HXWHFt884SD9V8dSPyQCnu
gnYKNmIDNumsO/T1h8nv7+Lihy9RvPD8XVh8uz5rS26ORwgAWl6/M47gfJfremrqWcPuUwPr3hyg
M0qj/LckyyvhwsIVQeniPzvCDpjqTukRnmgP4b+mX79Uv7TvTZ+/lL/+YheQqLO4thVwF6bgtps8
ShOtGJpD3G2he1yTiVqarpnwiEoJKqya2EDRx2HaZXXdHtoxOQw03Hll9cGy17DzS3sZVAfbTMb3
kLc5XxUToILapybnJQ62//jKWh/6ktsmqQk5F5uZAqu46nmYKH3otQc5O+TRv3r3hQBeaZ8LGr6i
71a2u77Jlo4OW5k6OenNWaf3fDi2pFVZkuBnvBpFw+BbVfxKJwrHa+mCBU6SP5Sf/2tonteTd7zT
U9tW69lQ+qrV0VbPhudp8u41s/hUau1G9ps3Pc53KWQ4rp78jnxzyyKv7MGFMjo/wySvzkN17sMX
ro5aLuypkbmcMrV8MZrmpQ8zqriyWxkmrALNtklTVDfi57rLnA2w0fvQ1t7/Ys7xVRRDCGEuHuZF
rzhV3nLg1FbfpMm93R0t62vurWk9/vEQoreynRmXAHSLfKywlzozMQbJw4MYPRLZfvaUj8N70Xe0
WFb9Rh7NbRrp2zD7Yjf+z6FFg85IkVqfMreS7V+qjGxcPry2NiVNZabjTd6sVLmr5TW6gqWjC+6H
fgQd/XNeEOd7o818Su4hE5KY93n5HNNmbse3A8tmbtM5cQCrJik4YeXJ4joGoM3xoMsvmbJXflxf
1AW/QNqIsg2gMri5xXgxR7a9hRpwQHW63hRfjPF2kDEPRtwblygQTdOaJ/HkAE1QnnlGxu/P49At
yYetMgMuuB4doWICnj8pFrFrI5Vjv5DLfjhIieZadko6+tiMvzTjPZB/euOTXX78izk7MTg7p5Mh
+UXuxLbHG7+UnqVa3djp178xQFIXD8e6i96NGif8jb48HAz9rnK2w19sXF6hoJqJdEEwWcIASr0y
Rij/uoNvOZtXW/0UKCtV04WAAwvsXEsFJM9jR5gitbFzq5Q7tGWir9Lk7JqpCTcOwMg4r4NNZ6zp
by9cCKcG/+QWTtZE18O4CSulO1goAyXDDlZttwg/ys3tT/gzO4JvGvLYqivI2Q+x7bzIo/1YBe17
4FS76ztgbThCcFMpvZpl/cQK9STc1Fezes+6b8MaTdTS6TdQq+FemfU8xcyhasKw1NZEoIjLT8az
V69cGQsekh4aCEeps1DLcQTnlU99VJRBOxz0sdvUKhAWoB/1t+tztTSIWd8HbiXiKFnkmjb18f8e
x2wK0Vb9kOcr1YklA6T0yEcT39AcJIzCCYpKTvqqP7QB4WUd7G///aefFwLMytbaKJ/q/lAO28ly
47UIc+ksnn5fOItyCM5u6vm+rSM4vPGyvaI8FsVdv1ZyXjHkCHClvspNJaIb+KDV2ypBpO/ojG5i
kAFdeWUuG6L3xuFxe1kiyOzGkOwg7w8mFNOOHro+MoGx9UGGJn9oV7bX0h5G1IWXE0xal5S9fS7x
78OB1Z++FfFHW34u9BWnMq+AEPDwvvhfE+LE0bVQD47d9YepDvdwqQ0NnYdulT8lxbNphpt+bUss
uZdTg4IXqzJdqeMJg2b3I02e+vA5L78la5fA8szN4jvUEC8ph6XR0sHKyv1BcriUaV/SA8i6aTn5
i/PDZfP/zAjnhxq3l4AFZtvl26nW9460lo1cXB/6PMhH0XxOl/j5bYYkhDJUPg6grOT+Ke668sVp
+sT11Cp7sgZLIcsmd/dWPTr3QTwa99cHuDSPBP+kJkFnX3KUGmNMfn+gqzL3PiryozZsu7XGzTUT
84Y5uT7rnBZfALryQcm/jbG/VZyPDq0S18ex5Ef/oBkBNKqXOHNzKDMzrVWKCNa3etvKK6HsUv0A
ZC+9tPMsXVIr2l4/esXU0rwNQs8oN2h6ZO3zmPwajWiTmz90eHitcA1cNW8v8fBS63UsMit4I7F+
UOrogNjaoBxa5VtnV3eF0u8K9cnJtpA7uzOF3fVZXFoq0u+z5gH/vMhT5lqAOow6yYcGyjyX2y95
HUy9e5sKaY2hXpQjmKsJdNlix4AXAY6b+becbgsJiLM8UPaxu3FX16gsHCkv7Ehlu0a1bZTJTXD0
Wl9vKpLZEpol8qOJNEZ/l6XeRld+Fv1zk/2SW7qV4oeyXJP8UJZOJk03czmC6P8i1WkXzphVGq1R
k773GsvNPeVNa02XZzosuM96uKe3lkgYSsMfhv4Ql0echasPhCHaseseCIC2RbKWIldnh3CxJ0xc
HklKeD7FR1ttZV6MRKU8Zw309NkJ7U0j38tSf0zzn1IWHc32rjTyTWo9D+VLmP+cghQocbcppmrv
ac5j2xYbqfLR8X7r2+ho14rr1/1KkL68vEzfDLugVVZM1dVxhuKuwvKW0WfHDjbj9Co3H6ay3CFv
5BZoG6XenTP8mxo7PXtOtcciOwRDwOM/26pKdVclpmtYCNfk3oaqwNGMjjfv9bnFYq4DzGqwf3qP
T/afV9n94KX0WnR1PX4Y4Sd/nnVL7sxsXENQLBxj8iu0Gc2hMNj9OeY4MRX5nWRUNUtWSHXxHNcI
OA5RNz4aY1e79lTU73bcFh8qyZEerg9y0fIfTlCSpUQz8x4/sWyosaFE1HQOvQ31mSlvlfG1Hl+z
yt/1sHdM1a1umLw82UbAVfQF4LWEQ50pcaQXUdocQvtJHZ/+vT6ai9CCr6OaMe97KlAcrfPRjJOk
93L8f0j7rl65caXbXyRAObxKHXdqbdvb6UVwGpGSqBwo/fq7uM+5Z7rZQhPt72E8A3ig6iKLxWKF
tQzUbyoniMohJyH6gYcIlL70AADUVDFhcuUOJXnyzTU1WjcFUx9PwNfkBTHDUkcHBLKBimW7CjqF
IFGZQvYLXQpyECAaQ/N+4kNsNKMbAUTef8S0hRX6Gn0zRzLvsd6qvqjVxRTAfBihQcVIrklVQTEw
y7X72OBPnQ1Gwexxqd66ux84QrUzMcJCzywQEUw/mhxirNLZ6HYeEv7ttlWs7BKKhjhdIg0E45Bs
vHOtojaMpY29hXwelqb4UNaLEVlBYny9LWllyTACBlpiTGKKXhvpHPvMRW8lLSEpcX8AQOukseCY
TMV2LAYViOWKVjYGDdDdh/AITe+SViVdDC9tnAbzf6/V8FoUR937dFsdhQg5r4H5VS9jFUQY2kMH
DrjGeJlU88WrMkxAErk4uCLfdLn9DPVUQpukjjvqTcjNsBFBTFG8sGTxFIdoZXfgEjxfsA5jkFm2
AzNt5qCv6hbF4+3iH53l0I0HXvy8vWgrRxXNCZiWFq3oCJwlG2BJjYSgm7VxMDKHhVVv8MOggUfD
QOrmsepJcXCHhSoaSa6T9O93lMDIReUaeVnpmZDMbKBWCuWK8QFjInXyWHsnz8B5Pdmo7/Rfc3pK
miPzFYfLxv5cRBtCLtDEUX5Bd8lVlmUZimnWzKqN3T7Pj6AFXiLf81VPhOvwGrgaOMKoX4vJxysA
68ZjnE/uUsXp0H8qDPPLaBrRaKWbBDjpaK/JN2SoN0bjzFEAKtTbW3ptoyaawwByjCSVg+ekdNSM
BLiaXJ9YnGbjJtdTYIro4f3wT5h+PpMinzbbYlWT6guLg1J/m5B3SxZ/e1sR8UMvN+tShHTYiOMC
nHAyWOyyf+bqw4DKOPBl9vbwPKTfaxJ7d3cESTpJqURSW6aGBwOLiRUFhhdq99Iy4W6CSjhuMAuM
+ILl/tJ/LEHddH4PCdU/7WOhOFXXxn35cennZ71f+vmMj+fm42xsxuTD7f249kiX35cOLRD/Oags
sB+a/9B8mt0Dyw52fbgtZNV6XSSswEWOPw3pgk3dQEudzmJx5j2k7dNMHl1H0Uywsk4ij4tZD0FZ
5vhCz7M7vCuDMnczwmIdUJThmCnMdv3zqB+jtQi9RXKHdptVtmtpOYs56EhNL1yIKo1z7bThVwQe
5X8liF9wpgAzxxEdhozFhenueAHXwsihzry94SZP88wU+76mEJqMUfxCuzkCYumOIHRwqw7lrriv
/HCyctCER7c3/bp2DCeJtLF4lwKL7Spi1JPKnzLOoVGePPKAfk0X9pQ4AwC79Uet16LeLfa2MTwQ
Q9saC494Uz1Tt1c8ooRxSR7n4mdICwsO5y6ocp3FizPmEaX8hC7VbVf1ew/QgGjx/0PbRXElXcNK
v+uO0VLEFIAuuYIuAEqxr3Uji53Ri3lQHEhHn8B8sGsBMjsvbAuGl2dO5tAI6o3VLVHOM9SssxMB
lK7e5tsG89Hh7Q1ZOYUGGC9BSumgUf7qDhmGoHMXUy9iY27RyBGDWWBT1KqC54qDh5QAtTvHEEDw
kmH1XgV+Ms8r0AL1NPuglDiR7AMp3ahu87CfPrT559tqrQrEiwRIUWLuWW69wLiPtrAxYzFoI72x
C8m8a1DXo+S5tb2wq3VkEvL7HRqQ+sHeDvqclekcTauWMevhDqzmMBTb2UgxV65IT6xu178y5FGD
tMLjp3ehF0H6zieQQL/TRcUItiJFYEqi0xQzByJhc+l2/AVZX5d5ZZyWX3jzJWdvufl2e4NWXM2F
COkA0sX2cmNyynjQD3/MYH/76yoFxN+f+c0ehynRWyhAzCcXjcXgNNOyQeHLVm7JCxWk26Uazcyw
GgjpjS+9zvYWy4HpNUepCpRYJUg6PU3bthx3XBk7Q0isTYq2xfzILJX5il2VfOKFPtKFbFPXWvIS
YtxliPL8t1eAftMBiyrZId2+9YqfXoPcIWj4/KnZl24RumxfTiCFrk7BoEUFol/9SWdL6GpPzQJ+
veobHjfRNHphEOSHOZ+2vtmEHMDK5dFkO5P2nxZj3i3BFvwoYWD+AVBJWOZfCnBDl2aJlNam8YxN
OuubDCRkvvNbHz/nZRrm2YdZ/8mR2OgrEx0UbwF51g3V7btiozhqyGyIkv01/xodOfjZWVmLngbX
rLadkynWfF2CgAs1xXC+nGysnLmsXSevY9Pg0eRjJlHV+LpyEqDDvxKkUDHFfPlcebSOK+PTmOwp
/+Jo29uHTaWE5C2GfvQCvy3q2PB/muZTW25uf3/F/C9UEPLPDvPYt3qt5/j+pD8XE3p0j/OyS3vF
aRbWLVn/hRTJZeiuM3DbxFZ4lvuIxFaYJnvEQqFb7zRt2gbDz9tarcoDGiOICZEpAWfJpVZGrhea
bpoVJgZYVKdF6FWx7u7qKdmY2mN6NyKAgxZu3E4YJQKEDrrVLsU5yJjY/ZRUMV+sR7v7VrC7S/ZC
AnoNABIK+my0IF5KmE0Lz9C0rvGof8q8sFe1wK2a2dn3JQ36We8xdVvhNDpf7eJnlSuC31UzExCZ
AhMG72nJnVvFsPCmNWEAYAyqhg/U/Fw0KDaomvlVcqSND0Y7o3li1HECpgrqDftmeEx8UEQpHj+r
BuYCNAPbjdBO7njXsi4H4I5bx7kbovrTLYfSCOvsi1ZFi2pseNXLnMmSjqjBqBWkFdYumf1dzZbN
MObHsfPvD1YFuuX/VJLOaLnUzKcmVNKSvV87IS83fabC6Jf2BzUzB63N6C9E9wwmiOVGszKbm3Ts
A/vkWOO86a3GejFtOu/BS1w+ET40d8Lz/EcgwGygGK6ZK7RjDHVrS4OC1MksNq5uYpb/Tg/9LkFw
kAuoIzy05fpDbvhGCtBb+1QT69WYUc7SSoX7lAcs/iMD4T0kIARG5+Tl8R/BuJU0vWOdSO0sAKKw
+a+Klc4eyEBDZIy98+jkE3hySGMCCR0N104CV5f6TqP4JXKhEb/EBzUe0MpRG0M5R8a1QpVxtoqg
7WKKloDKLFFELMMmybaEf2mTxyXdG8nX0f2e1BlalQ+Tjynu7KM/vi09CQ2PRQUaTSb7H17wIwMA
Vd0826MidScO+dltI1bLFJ1TAWgUQFolzyaT3PaKOnWM01yBuZiEbTBsqnTbBRtbv+96/q8o0Qfm
wTND8OXGdK2Np6RlowbsAiHz1VA1474naiRd0ICNIWsczQCtYJIAVM0qUpetcWr1nD3omd3snGEc
XxO3N7ZoXLbmcOgYbUPw1+rIbU/uQzb7xq6rUjO0tdl5cpag37WIpl84m9tt5ZD0U+p6dFc3COXv
cyKyeciNRZ1fjb079F1cd9ta21Teoc8VSy40vlyRCwuUAYtIYbEalesOKApfKor3YBZ2qi58lQzp
vHlza5PWghogtDSr78zqw1E1USBdIf9dKqC+IwpG8cARf38WeWnznI1Dk3XAYSfTy8x07ZQhnR8O
ARp9sqWyNnzU3mZWtIfbwdG1csgRiKFwDDq+D0BfCk66ubPaxLJOtrNb6gfEe0qOHymcEAdBvG9R
4keRQEDPXIpYKAq1BWpwp2zcV2Qzq97QcuVDCMBsgmj2FXVsRF2XAkBoOre14Y0nkGd0oCBOmjfw
K5IiDKo6/2DlxPy01O6veU6q3ci4sQcmRv+SuQw4PlWQqFAr1hw0RrYwygnkGygt963ovadNXaNN
p8zOh0096MW29NGcgzYV7h/bGeTlYJolG58Ew0cMMWnh1HcOwmCvv7NGKJbm4qdIoZYDgmmz0XN+
WtqjFuxS68lSlRRWthe+FbEckEbQzSvPqWVzR+aphYi5fLFmGmrjz9smuhImnAuQw918yVJDLyHA
+QgQx94+oMIUTIpzoNBC5g4wnUGbeA4hWhBmLYBn7/aF4gb63yp5khNxZ2yxmZf85OvfGY1dsi9V
jFBSJu59r4UEYNCJkyDnkkjSA9x40vtTW8yTDQYqxqYQrYHl78YN0l9uR1PwmQZLxL3KXEJEWipu
8GtngkeJaIYGpR+KAHKZzMK4BaG9NZz4ZA5RkKYno/VQxUru7EKDqheC5ErZvCyLkyfmcNKMjVFv
5mLHXUVwcx03IAJEPQCpAih0VW90bMbtyQcg7TSHSFyXDBO5u95+HVS5jxV3cSlJ8v31tPTVYtH+
FJifjWXrkMeOv5nlzkEeJu82jbun/UOB8Z7bx+ra4i/FSl4TeFMDmNwhNrOc5ciI6zyghDwc75YC
ymEg8qELX5S6hMmcXWy6Qag9Gs1wAl9ruGRfmOq5fe0dgGtyJkDycCxt+dIW3XCac62J8lobIwqy
gjeN5RMwHCwVjeP1KUN4b+DtjYMGXGeZs9n3QbyX5z0UekveDBaBXjdHw19klfv2TgB7Yebo7gjQ
+4t5ZqCrSItHOdh0Fi83TxUe+s2eqAi6VtYONS/Un/CYwBUql9XqKWeVZ9fmaeqesmwXeJHR7WaF
+15xCpgCR2EW6GOYVpPvB60y0qXEPXma9UOTPTJzo8R+VYiQb4gu1VFMc9F8mRd4Z0QUrRa24rSo
REg5kbljfRkw0d/JH/PvY3ZsVTOsKxIwCWeiD9/GH1fYsWAQ1CqrKZdTrnf2pizyY2mivdV1VCic
q4LAvgJYLYGcJpeIcrPQgiyfl5Pf1sfFNB/HlNEwm11V8LHiQgWMNHJU6L/AqbEuz/7gdCkQUTto
RPnWX946PYlMWj7bpFanX4WXvHwJ4NEl+M1AN4GA9uqdl5Buqqygit0sC1PrHyd55f1XdzjSKom8
5s4ECY7mhTi5PDQOdKlYA3HD8t0tjhXoawEof9t3Xm/UpQzJ5pa55IVjalVcas9FebCnj+ROCsAr
NczLLeIgeCwJQbJSc44iK95xxem/vmUudZBsIHONpjcNUsfzmO0Bu52AFOP2Kl07MXgwkXwQzR/o
fZKfF+boZjbD48/jkx7OmO1LU2sK09rbJTYKK7elrehzIU26rO0+4d3YNjSm7rT1/OyFOMqR0hVT
xlwRklTiRYZeWelmHocRVAjUI/HMNpWP7uNXJ4sGPWy61zl9u63Pio0B8AS5JABPYjZZ7vEcxPB/
QzyKxg099NyHtk5DT+Xa1hZNuACAUgESBJHApZXZIxk6ux1pDDbnj46KOGRVhbOvSzasY5ioywx8
HXBBr7M/vxiV9pLoyZ2geuKsoHUUPS6YRLDR8yal3Us6dxWfDBobZM+zx7Q4ZmUW5tpjO29aT9FY
vGYD58KkJSPNaA1ep+OlYH+bnJO+aKFZ0ChPgTvr/Ek6ogh31xfxX+WkRcRQMUbNXCiXj+4mSdIw
Q3qOqtql1w0BUTWK3Wh0l62NAccxRchDMbPe5m911rQPnjYYCptek4K2AAyPoPMDz1Kh61nMSevB
JLaT0NjhHwceBd7X22dG9X0p5FyspGclpVnMTP3VZN/6wvx8W8LabpxrIPk0vbK45RnQIGVHPTvU
+p5WiqLF9eUMvA9BNYqgA75GLlp4I204G7Hhbf+pLx8FtB6zzdAFvYvd3YmX8350zoWJFT3bEd/R
8IKnsGbdnTZz5Ufzr9sLtnZczgVIWw5IP29KqUnjRPvInU2acRTCy5DVoLUiNKSaojtkzQQAiYCe
ZQRSAIuS5JnJbJR4f5I4eZi/KeE7VV+XDMzU+4rmxUhiS7PDl7pRBbNre3/+6yXz6hc2T0aAX08H
xErDFlnNXP8xpqf7sx4o8Jwtk9i2s31f7JJhSAqCTpP2y99pxY/b265aKOmmzLTSo5mN7wPpsBkj
d3v782vHECk8MDmAk+g6gPWq0pktvyCYjPU2mHzblB16Dy0VKevaduARizwDpiwQykjGNM1p6qcj
IXHm74PgwdA/WMa010wr4tnv2xqtnBPUDTDSBMsFTKQcWlQZSJ8Ta07jEkU9kky7uTcfdN69GXV5
AGzgEVCOmSJkWllFULABchAJUVGxktQzklJvmiBIYy3daD/9bu+oiqIrZiBYTlBBRNESQYZ0WebM
74EI2KK1zknfGJB/9EVRRVqRgI56MeiHDjc0iUon0rK0SaN2lcYJfUgfAq5wxtdLhLjoHVAItgaw
ZulAmpz6mmtrQ1wbbqilvIl8f/yUmiqUOfEzLx9JkOOKVhsxrhzILzKbMXcyPSAuVLlvvTBejhvk
sZsw4ZW3b81RNeP3noi7FiiQgwyBzySDajqLPuotT8eYen6YWFVIjK3f/6LeU1+f2pRvtX6JemN3
28qvdwsPQB2mhmoZKn5yC0Yx4AK1nWnEqO8CGrnyRAjb3haxkrUTMkCMhZcHmmvlWRLfnD06Uz7G
RTmGqQZEyCoy6kNVVWLiLBrKKqSpH3JM/NpMU0Rr7zUTeV3x2BX4Yx4o4uWuS1A39Q3GZvrY791n
ToGp1/obwy2BUpw9uGSoQqAlhY1lbedS52HaIm3pMm1rg9TXq+s/NbXxv+sbDMUqPMyaKWNaDINW
olSJt/ily9e6mVWL0/RxqltaxJzMeSTE98MuaQPFKqxZsyg9I0OGdz/CyUtRmW8VHWB/OhChbioC
pJJlV6BHX0WntGZN8FyAnhIV9ytAKOIPBdUys4uZy49VYXwwtEIR7a8tmmu+l9MxEItepUtNiDe2
ukswFKk5W4xchWOXh0WlMNk1Pc6FSF4S5NEtclhFHwfF02g+q5o0rxOjooyIffCQqQRUr7zxem+g
OG0Cq8zxw4H8wTRkuNAfle3tG/3VKOLWTxU3y6pGZyKl8IItXjDXuiGgJg3gjxmfmKWi/laJkCIM
NBknAJeDVvrybDgP5Z0kS4iML1bNlXa+TgY7cTN8Py3/MOtXreIhXP39yLriNGJmH3Nhl5bV45B2
tp4DY8efogyjUqVqCn5VAvYb6V3Ew4AEuJRQFLrTuLM3xFn7GkRJdR+N0/sCgV0AI46ipx090pef
N7rWs0ljDcjr0QOzMXbVYgiWjE+sSN6Ilf3IDWuj8O1i0WXvKoa9BNgG5ulkx0JT2yUdCyAz3wf8
KwjbMMIR5qkdTjTd0v5b3rQHu93fFru2kAJTFDCPmNlALuZS08n1iKFnOoDnihP5wefX/9vnhfiz
WJzMmPMeggXnE/3C/Y+8U4xKrfkwxEY2EEWR770a5+8F/Ke14DCa7WeKYdfB4aGSj2U1oDiXIuUp
0FM4GLOBRUr8ufhRaLZ9ZEnqfGqaVnupFqOMXFBvhujU/0aDjpxMa2b3ATK9W6SAMcUVhyj6is3P
LsEW2C8As8ztMSx2jqbq81lfyf8JkPtm/NGrvLTA0GblbjJzY/r7v7K1Mx3kvhnNS6nOOU6V3dOt
2Wmb+s/91nYuQNonJPtA59hAh9776fxMrL/5PAb+cFsiv3OF09xmtNcWB+Pw6cEwcfP7qjzvWmwh
ohfL8ICaDaSCy9PiOTk1tGDGYSTf0jndMj/fu+bRahVgUmuH3ge9CdqF3/E6pPvFncAk2Azwnnry
Qh/0+i+859nnZb5bC7R0//Geus8ehqnYd2ZwcnNzq9fzS+pgOgigeH+x8xba0zBsL/BRpRstKEp0
qJVwnsGBdgxBmerWF0sveWcgz4DPEzgPGPuT35PgNk4A/RGg3dbTMfLwmrXHoWmO+gAYkPJvetj0
91IZ3ktQR7KDrl4mbUy6Jg4qG5hl4143+VNZqzIya34NWfh/G8AkOzDrQHPcnnaxx7KosQ92/RKU
/ZYUZpjZsQe+0jpeyNe7twoDggjagFj0jnJyaeSkaNrScCDULtEY+WjUv29/f+UQAW3BE5xsPl4E
jnTlTCOuHHNAs3JWdBFtvneWG3JtN9L/oxzhUM+utj41/Ck1rDq27Z3uhsx9osHeoIqc34pbxmgd
mGFEvxmiAyl+ri0nYU0z1XE7RH19LJZtokJGu07P+MgwoOkEYKgY2JVbezXTttougWkXgJRzjA9+
dQLuM28/k+pIVT2HK67nQpgUbySZXuiLD2H2HNZGlJsKR7B2Ts+VkXbfnmme0gHfN+rXgH2bm0Pa
/e5MggKG4vm0ZmfoXgA0Jh6CIky83H/QD9VmEuhdbJEfHu2iEvWyzNlY7a/b9ry2YrjzRciO7u4r
ezZrzgEJ1HVx0mthOOR3Qr6LyAKFERgYQKVR/JMBhzCYay9VkM3x+NU0Hml1vPvnIwuHhm3xFrhm
OMlheFPpVmBneCLud8/+8heff0+Jo836mt2T9ohr6yzgcUq/NDQDntPfCMA1iYkR9ElcIVxwZGJ8
YwFa8GgXkaZtead0w8LNSncLOBgAUA7oW4zWWJIb9o3C5awDNm01BMaO2u3HJum+WKR54aMXeRQ4
okP7lMxaiILjo176v2cktnyOl0G1HDJwuJiF+0BZ+7u2XUCRq1hmVyzw/PfZ0uVKUt3QRmKNsY1c
ml7XoaolaE0Aqs7iYoWPQ87u8ijZvedyXs9j7GlemKNntc8Vu7jiFlDdfo+f0dZ0lU7JmopNQ6uN
GH4EBs/sNB/9gR2apg89kqOXr+Ob23a54h0gEGDDRiAGouUYqDPNsghGOsVJC/qjblh+Tn7jRRSj
nbyb/rktbG393nOrAAACacM7ZNzZVZSaNclBcgseD9BdPwWVwtOt3EHQQ7BBABsPCM1C/NnnrcSp
gXHqA0i/3pbZbtI2tirjsbZcYkYSyUUBXiNfc5ZV9z4Dx008z8bJI+x1yKaIgxSCV6ok6qoo4J6h
NVw3rwensk7zMRPPxjizs6/NQjFjVHzyuX/oB9XM7eq+4N5GDxpo3a6w3FKkJZNZB6RxVxfhtsYf
t/d9LYATyDtIB4umb2QNLncmsOEAkmGa4rwCVJY+TM9cb54NKz00xFyOmMjYjUb+4mTWfi7Y/W97
kG/BthHL6chGS4mwvComVHsF0rH56jofMsVNvmZ1qAOgkocI2ALY/KVuhZfpLZvmKQa9cliRH7p9
Su5kqXu/+wSnE/wOrkG0alzKGNuunPGGB+Z0725+akhn396gNVs7/770IK0X5K4CcNEjPZEdl54B
pjP/MeXjpwC14tui1mwN4/zGOyS8GDq6VKWqhyJdlmyKHe3HmB9M1fzn6nYgES0qRhjckC8pmhhc
97sAJ3R4MttHi56G7i8MSuS6/ytCvmc00rbBnENEGWQAzgW1gMKk1rZD0IEA9xsvENiUtEazZmi8
d+fYSXY+e5lNAIsd9MPtjVhbKExkokaCbhALfVuXQtLcBRdeP8zxYL6azSvgjVtV89HaXsPLGwLA
Aaf/3S2cOWSjnZsK/KFzDBw+LRr4x9sarJWZ8HyCP/7PqJ2c/uRAFx2XogHEqNewrxNaUDeF7YHR
jzZWqPdLuUXee37ol9zdTGNZb1jZNq8tDwzF+VlRFCisaOAKBEUeWFYu17KsrRlDyeYC+BLk2II+
ZO32tq4rsdeFBMmJ8aGbQJIICU2769oo1T4mxlOOEGcIWf406QqFVqbp0Gl7ppFkgkRDP1ySOYD3
TLuon7/ozNp5zoufJ6FDdgkhUTV/SPt5B6qNqLG2lHSA+k5C3dmnI9+XRVzpqo6DlWOBVwziZx/F
UoxMSavsgTPbpnqNG9GsnphXHXr3a5OU6MssPt9e7bX9RJQuoDgx/A6c/Mv9hF3pDrNBmdO3Y+Sw
rU0HhRtcOX3vrEXA9gf701WHEQmAuph6iFVSzQdyxHOhvehtpdjFFTWAPydQHfCiATCUpMZkdQiW
OtQ3ePajCKvx692rdPF5ySYzXnqZV9ARfUVp1O2rQnW1rv1+BFsOChwIua96P1o+codWQR93c5Tt
jDuJl8StCni0fz8v7O3MPXnZbNGmxudTgB3pJxBCKzZZ9ful9S9qsJTVRQI418UP529LpiqQrVgR
Ct0CydhHz6Ahb7BuI0U1cQKweBJxP8zKx54rEvqrIoD+hWw+IJPwcr1cpJlb1TTnePS1Nd2X8KtA
kK7+ImONaj3iQ7ALu+i7l15uMyiwqENT0LY4EQlL1VT42j6cf14Kn9LeLuYF2POxkW6qMvqbY4ba
sQnCFhT1MZByuUTF6A36ZOYIMHuALOIfRbyxtgVItPvgMhKuQs7geKRa0Cjm8LgcI/Bfdixa7h/+
R8UGWTXPxECCKLpeqjASnuTetCA94RjhNkCQfrercPFwBlObcEXos5G+76f2MLo9j00eDVqYEYWV
ClcjpSYw9IZ6E4DegSzgCQs4O8p4EroZL7DDSfq8WH1YW21k0We/eswwVJVzRTlv5Sa6ECctF/LF
oEBNkgkHO/qp/+iADu7+zYoBCA2XMDLsV6NUxdiOOoCZp7gvdgvbk7fbG7IST2DCDadNAKXgXSTZ
bD+WGHwtG2w4N7RHJA69Q0787o+51HYE8AaNhNrM0sd0qdztkjdE0dR1fSSRZsN7RsC0CJB4acPy
QLMSLnI1E/2jGyEHJ8BtBVUCpC1iQ987iWYiGfQ6m4+EH//i86BAE9l7XE5yjbA0DESfOZ4x3oTK
iv3FdBQWLX7fpUVjgc4EmJcWPQAed0p8JGbsdsfHbZuduLn/Gx1cROiiP1CXm1ImShq/b30QJjUv
qXZyNrc/v6YB0vR4JwG7HX11klPXbKef2FiNgGCmT3zEaDvCdYq8Gb8774OcgjBlcI2B3lR+Hbct
GlQBED/ETK+2HqN7Hf/wWZWQWbEooBM62HGAmAi6v8sdCeaOljYBfHp/cgGQZeqq5JJKgBQu9JkJ
buvCggCQ601+ApQ1hVG9P+okq0KcgAQ3Ah/QEMsBw5j2pB0CiMgqsp2d19r5VHT/ONNXNh90ewjT
vgnnPo/qrgiHud3MSbst7m+7QcSCbhUD2VrRDSFdBkhAldrs1/5Ja6bQ95vIdRSV3RXTw4vWEciL
wr/JQYvpDR0fht47mbUVWkO7LSvzgwNqhNsWvrJhSGuh9xlxC+YSZUX0aQjsumi8E3OcyGBNVPD+
fjeGp7MFBnQMPSHNJIUuduKD7zjI/BNz67BiVlToisrdmhJIzMGNYcAJkFOSBIsGk64ZNBCz3GIs
ZLzf0yN0//f7kiPztCpxgjELTvYc9cWm+3L/Hpx/XjImqnvjNPf4/FRHnJUR9VVV7tUF8oBtLdjB
BUja5blv0n6qC2DDnFrGIsbQv6eaBVVJkO6qtp2rqTEhgZSvy2c8s28v0XVwhDsW/JHAQ0L5DM8E
SQGz7ko/Ifh8mz3PNviSGxqMgEd0f1F/OLSgzTDsv9HpXKi0augxxtxxmwcn3mQRMOaiUjUZsHbI
zyVIq9bnZjsHDiQsxS7NItod6f1hK2owYswQ4Nnoo5XPBidZ3nUo4Z9mSw8dHY3DdycasC9wxoCM
Mxzc9/KdYlWIjobEO01RxT/16cfbO38dp15+XrpRamdaHHPE50tgj2T8QBxgGR1z1bzviv1iOA4j
/wJdA9B+0hGnqWUVk82SE3hcTfrilD9uq6H6vmTA1VKijxXZvdMCnPRmZ93/PsSLBh3GSPUgsXPV
nQcqNNxES5ucPP4hC1l29/vt8vPS8mQpshjliM8DoWUYQn/ZWPdHoxcKSAtUjE5hLwMkYDZi2Bb3
jwxAAYQNyDXAWDEvdulARmTKstLrE9xzeni0c11xya2YqYAGREyCfwGqSLqCfKrpSclbDf6vbMMy
dTasKuOut0JUhxTB4qos9BCI2xS1SPmxbri0ABLZhHA3+NkN3xzr42h+01TtMGsWi0v7/0uRExom
mB6mjkHK4rONOwYoR//FluM+wqGDb8dDQfKvHHMT1Bqm5LRx2RD5vQqIdF2Df78vede5Jo5O/DEB
AgoJ00dr+YsLwhZQpxhMQkMcOhYujQrjRFo+YkriVGo/fPKDbm77jJXb4fzzMnm73dldMuVw3QZ/
LJyfqfPT1BTR9NoSCapGdEICqx69F5cadEVfd9ZYJ6eCVKDl0p9ToNve1kI4aCleR+USmA3oIMdS
ueInnOU1zMJrzJIEwanJMRW0eGnEXGPrVMHeM9Md0AXvhAVFTlRg56H0hPsZVVM5L8CdwUlHAzoZ
mh11YLj1gb9vlXFDFGHnqmb/CpJrQwvjxTByCNLoB3N6JVW3sXowq03BSUtUDn7t0AvmwXdED0yQ
SbZmulo12waM2eq37nY8FMvj7P2+vVVr1iA4KNEFJ9yK/NxtknQAYByCuKXIkLEBX1y6vy1hZckw
WI9wRKRJr8cVhsTKdK2o3JPlv2XNoQFCGyFfM42GTqUQtaIMRIFMS0DSecCvv7S7asj9tC1H9zQ8
++ZHR0XcurIfqJ5iqdCW5l7znHWNr6VZm3kANzU2lP1iZfXgT+AEqhU3y7sZSQfIFe5FIJq+z6Jd
KmJ6vVX49eSe+FjNYblkjzkpHwbX3ZCc/+TTpB+xrm+mM20mt9ze3rA1NTHUiRweAFGu4f/TspgB
Lk6808jLB2IfyEtQ7VIW3O+HwNmE9LMIv67zw+iRttuhgpjB2KfbYVDYwuoann9fMgZn4siwJNit
FmDoOd873XHSY31+qJo6TFkdjsMhUSGXrPjvC6XEYTjzfEvnVlnSQint5Aaf0UY2fb69OSun6UKA
FNQgH8a10YIAPsyRnqNtFckpUtMQ7Y3470+3pa0cKNDwoG1OcJFhEFcKcTK3TYjh4kBp9ORq3xuq
yneuqQPsCBuFAgvoEXLKoyy5X2GeUgNQmhvWyZuTTqHj8J1RlLs8b3a31VnbnXNpkknkWeL3eFRq
p9Q0BlCHY7w8zR8BH6tYtjU5iAjRUgq0L0FLdmkFrCSJXiSOdqrb5TjU3RPFoHleqKrra4uH7lKM
5+GOxYyOlKpsAmta0hbqmLQIE8yNnpAGmfoQAyAKh7RiB+j2RooLAQPe43InlOZOedHZGuBr7AbZ
tigPvt29M0BEA2QNBrLRK22LFT07N0NQeLSyWXBKi40ThOW8Neb9bRFrOpyLkDbfKxvToXWJjM4r
cYGsrLCtlc8DsEZM4KNOdI2Doi+NZg+V75+A/Hdsq3rLGFHkB8V9L90KKNeh0IXQSvCWSe+lBaEn
HwkeNIGtRYH9VruvlbuzAox/fU+6l045lrGm07lA8fdnu0KrhQe2BYH91y4tItwBCrtaOSggVoZr
Qk0bAPvy8U/x0K/1vgRMAiBKtEOQh5qlSCas6YAiIWicUWdDn5sURI1TNpWTZWHM/2Hx0PdxuG1V
K2cQCHiIcxFxYDpdnvDDq48taW+kMW9LKxp6P2wIP9Tjb82qxcDc8um2vDV1RBZfDBcBuEB2LY3B
O46WIQJu10fw5JrHv/g8wBDEpA88pYyZiqIw5fbQgjXO+8P7LAwUP39tw/Hd/33fvLSoOWEsHROw
0uX1OEfuXG9oMm713u6i24qoBElnpSqBH9EwKILCYF9ErIi6USFiBaQY40OClBlttYKVSjItc3F9
6nUA+ah4uuu8+onlIC/i1ob55lNRekWIctgGo0hNWKJ4QYwAmdgZQ/y3VX3PhMp+4ex3yI+SLE0H
axmTNLY9rTt1Vu5UW5D0vYJ//f+RdmW9cePM9hcR0L68SurFbTvdduIknhchmyVSC6l9+fX3KMA3
080WmrAvBpgXB6omWSSLVafOAVdxbmcbFB3EvTUiCPda+3ueOO39DPbaQNST8VuDdObtX7R2UJ3/
IOn+q7JkzlyOicHltdWqNGjzL+BOTpKTsZBdAeo/zIqHmSzcvTwBgWRFyVxftG2vOOM4osnSdbAx
fKw82C/+AbwocPXq84hm/8ASfbNzBy5C3auSbZf5IjA4dcO56/qgqosx0hpRRTTpaIQHrRUxRvN7
FJbqrW+pmrSuVwwMziDRA4fKgk5BF9rlNqhjPzFJPcXHuBU1cBG6/hSn7h+Lk3LXTLW/pXVeB7Ge
8Ehz67eelK9oWEv2szvZRwi2jy+3F2y5+648CM/1BWcMuRs5194yhq57MP2eIDD3ZOfDcz7TY2Jn
ke8LRSZrdWOemVoOuLM7Re8TJyMtS0+VayL8+pECoRdniq25dkouRQNgBADPAYjx0og7zVoyNHN8
bEojtPM9L1U3l8qCFE2QeLRjaDXEx7479dOGeV9vr4jq+8u9czZNbZ2xNHfwfe1PwSK7V1xbqs9L
z4hJc0B+WuPzZYz8fWgJxeNuzaHOF0BycKdhmlZ4enwcnPsmn3atFYcZe8otFc3G2v2Lln5kdwFi
RdFjGejZPJUxE4XhxfHRjh+JfzfoLPI6PagysBOr6DBWbcGj0OiCvC+Qppe2qDlqSIhbBINKH/0U
jUPiSbQTOOn1jeEqCpCrM7iQEi64UVAtSzMoqlzzcXaTIwieNlBX3wgr/pZy8ntIqt1tX1s1hecd
qI9BT3yVEaR91ZXU0pAob2hoJg9GM22M5CGnKryWytDy97PFGmyQYJozDBn5gUJbJG/vuN2CvFxx
GaydMT4gsADTA4F59WwVEGuy/B5Z5pmkd6Jgj8lk75spUSzRCpIbQNgzO5JDDB3eTLHfLRUY/0ua
0R8DRXtVZ/gbs5gfCTVC7jZb3pjbVtN2rVl8v71waw6JdYNCGG481KqlezaxSV6i9IEHQdYHpRgC
IqCiR15y5ArLz7dt/U09y3fEuTFpsNwZIRc3OfExKZ1um1tWgtjC/S2Y1x3MuKe7SrROaFZUC4mp
o4+tBBnU3q+X4wseFRh9y4MBmJuNOxn8N03db0Qv7r3YQYgwNw+xYxSBP+XGg62j4g4FC7Ztc2IH
vQbeSo6Oo5AgcAnsufWjAgEN6PDL5NnJsvhONLV/X0zQxPQLcDdBksMPy6yJ97UWd4jCrPhTWjJQ
mUy6f+8nxQ+RjfX9DLRVBN4HthtGy4NgaDbcVaXFP01O32zisjVCqL/Hj3WWv40d3Xa064rAHoo6
1JjTfyJtI8I6m6CJaaBINpVNe2d0qJoAa25NY1Dk92z2+zD1JzPkMcqYicOSDbeSYp/19PtE2jSC
gjp+sDP/ROxWBwWdyDEGr+J2ni0/6Jsh3VlzgV5ecxzebOoN0e1lvboIgNHQcICiqoRw/4oBVRip
nfhFkUFiPDDtp9I6vf/76DuDcgBe9biOpZsYxFFpOWd+drIg1XWcMwVI4OpEwc9fcteOi0ZAhGXy
KdmklT8mBpiI7B8WD4etb2yd+MvtMVzv88XK0gyCZjO0msmk6nk2xEY1wcqS/qg/jyxy2H2eIGSM
CNGDoZ2DCeK7oCi+bXhtcUAEhmcYXrAL6PHyvATwVYfu0wy72B5fhvru/Z8H8gxAuuUdcwWfjfMS
4k71kJ8Ynq9sS+nPd38fpyM6S7Dw+K1yfmpK7Hb2TAoGz+7Zeq0qRTpkZXYuPi/NTpZN5cB8fB7c
48yiEeTFotsDuLpHUAs9G4B8vkKCq9WHHGkvJ7YOTa19Hgcwkds1V4Srq3agBQAgNlJ5nozRM9BV
0ZQWNES0po4a70/bP1BV5VVlY7lLzu7egvVuOecchM0jtIp7CHtREWa94uZdXRNA9DAQMN5rMjmg
qB066Dqjp6qacRN90bgicL3a8PBVH+cIaK+QZbsiv6qgfcIY8RB394E1P23D3vjn3Yu+wD/B2YiX
wzXuyIxxjXQtjmGPnIb+HzDrFZ3iLl2ZpQsTy9/P1oJ4AAE1+kyOeR7yORAqMWXV96VD15pQXKc2
vg/m3Hv+/hMdYfZS/wb07vrIbRlUx0w/JkeNpl0w5+4j8WrFBMlq31haVAzRCemgoou8ndyaNseN
gTo1ziVrhOJN5ablFlXZ+OB1FsqUyYDKuzfkAQAEIuQFm7alZtS7TGMstHVBf2mi1SOTFhDHnXFQ
BKTyVc1mV8GX9BOlJ5TZQ2S3bvLk1PvVL+h8tZuqm55coj/OVR3SslM8nFcX9WxKpKvO0cZ41jOa
nFyabiwvDenw67bnr45o4dxA3REtUvI1ZwhGHJESlK6cb5OvhW1xb6P3ZBbPYEy7bWp1MC4iAqQ2
FhkZaTDJYNFiBsPLKWbTS15Yn6Gttb1tYuXA0wDW/58JubLNABawOweZWTt98MuvxAlz+pEJOzMh
3UA0rmo2cA0u4IFqu/ndpV3kgj6UfqcQSv/AcHA9oEyP5+5V8t+F7F6stU0CLWJILpYHY3pr47fb
NlYd4MyGdC4JtCXaJu8S3BEkKiboXww/eS2Cpr8fTVWb2er6LG31yJziIJGDGwM9eIgZsMUhYhgl
xj9DYWwrLf7AtEEMB9w7C38lgpHLoxbqZR54vvBm93SyS8Y7G5xfpru7PW9rQzk3Yl4amROaWsu5
CKxtEoJj9mdDxx/amCriNZUZaXkI7WehVUtZ0XuZshOfPxUfiBKW3QhFh0Xj44pMukd2zhAj6rG9
6Fk4kW6vjz2Dkrlq9dcOAKi1aigrLr1zMgrJMgEvdC2A55zdaH8tdcUlfhUmLDoBDnLz6OHWQZS5
ePrZDSsGAuatDkdZP/mfTF/fJ9Q80CmNtMEKP7D4AKHjRnd9QFykxcdhCrXK2MF9qL866e/Y3afv
5pJeRoPeYTzUUGW46ohNgQNqU6PGbZjtYhpZxiYRmw+MAsU8HW23aB2WSWKqSrdGSGKSYyNYejdB
gmvn9GO8K5tKlZxdLsaLRAJiarCX4r5GkIUsvDRhuQcpuZaDiUTvps+ZX9hBx5Pvc0k/48T+U89I
rI2ermL/W7WKyhl6OJbGBDmfVqIfHwJzrX4UXbpJtB0rx8CuvrJ4U833M6iGb8/nylEKHa5Fnhyk
MfAOyQFtL05Iz33tGPO3pARzDI2DAW3vpntfgczytrHltryaUTDvLB0dy5aSbtNYm6D8xkqIZZVD
fO+aSONNtM+3tQ7xVIswMEa79sYqHBpYzFXJta0cS4DwLAlRzOs1LAqkwPWQJUw/9nobasb3un6O
U6IY4jWcZ3mJga/5b43imqotYSL1aaPrR894Smcj6IaDwbUg6bfMjZJ4gyDaz37ente/Xi9NLLCe
SF0stWNkAJahnx0jbYykWp5X9tHiWbWByCKo3E2SbmjVavtCa8yoK/SXbC7qPnDrudn1bVuG89w2
f7zaGyOHcv2TL9I68IXbBZnmtDujTuvX3mzaz2Vdz4FZTdnjUKFDFreU8WxUc7nVE0TW2lTAUauR
PtWT8zpOVbEf3dEINa3rt0iHFaELUqc84jnlG6fW0i2Zs3HTVOgPD8COlIQjjpJjPBPnc1e7oCDU
hQrouXLMXszP8vez+UlaU0sbq7WPkB+OGn2b8tAB2SGyb7cXYsXF8JhcSAeRS8LLUtpNeWf5fKx1
72h7e67fc7wG0u1tEytDuTAhhfMCIXGRc5hAQscEMGg8pNMd+f0BI9gkAKUD74Dpv5wvNosMOt69
d/Syz5a+Z1XIM7hGqtgsK+cBMLD/mZEChbZK507LYSa3iwjZUt38kw7RWB2FmIKiegUH4e1xXZfC
UdA8tyhtlNwghDe89Y5x7odz64UuA+A3ppvW50Fc3BvT1kSO2tB/jsWmc94fGIHyAv95eCwCRCa5
x1i5iTBI7h0rat+PlXMf0+bL4KnA2WtnkAWlSLBIA35x3daW1pOVuQQtgFnFQ38EWWQTkBT3COGB
k/4wskNp2YFSD3PN+8/NGpdeU0Aut86G2ju6/Etf71ga+qrGZpUJyTHpTAnt5goNewn/ZU7Zz36k
m7FQPWLWNtn5SCTHhDopd/UEE2iO33i+r5ZkubYbzM1td1wbDZqT8LAESgrMK9J96FL0jonJcI9g
4QmE8dzTL7mnIhZcG4sJ3I8GDgLIYMt7WcMx7qYjkJhWb27KyQ/N2QhF8aOhitFYq5bAeAQyWQST
ILy7XH+bm13JtATtVpCs3I7Mc0Mxz/2LWfhoh3Vo/d21KNnGujYF7UiHrQ21rz0rK38Hkcs0CTAA
sN8QYh4GWlZ3ZSJE2Jku2wg7zQ6szsuDQwHTGIhlhDP4tV9th4+hUwktABJ4iLqxcbas8mzoGGhD
mQTcZvVz28/OH5bz6n60c2+LJ2K2bYSFDIULqs6mi72HlJIpsj1abxl3x0/6zOjd5DPcTU1HP7UT
2gHQJcUD0TjkkdXduynClgwu0FLLIqF1WO7RSdzUSvLYRIOoPSNKeMvaamtB3g2Fm9sut7JG8AIA
wZbYFhUJaY2Y3Va8A/HuqUiOqflGurd2dENrmhRHu8qOdE0ZtQtngLTwydR/lvmB0191H7mtCj61
8jz7G03qy2sAWq/SeaB1dVJYM6TEBmOKYj9FE68KtrQ6EqhaL92dIAmRq+mznteak01QrEIZL3A0
sfdY+WK6ZE+Eqhl2Jfj/yxn2vx0kzZo112QmBHu1Gl5AvG41D7VjBl1zEPPTUGzf7QoLmHnRGQB1
Kuqvl9uVZ+PgILxzjj2DYEyxL/gP+Hkw6M+37aysERrPAA3AAqHILSdQgN+rGWss5zjbPEz1f1DG
UzjbmoWloWYBN4JEQF6iwu4Ym7rEO6Zh3aWBr3wlrR3UFhiLIYUMFUbQFFxOVRF3AIbwFBc3IFpZ
xLK95n1gNc5NLG54FqKaPvSjrcVEoz9lEMLUwpg9JN/fvxTQjEMXJojdrrMZds4ma2Yaeg3sZxKf
mOoGwG+UniHo4kXCfQHJLmShl2MYDIqbrm/gvqCIdTLQXqiOleULsoVzQJpkoa9blwFeEx8hUhWK
vv+N0/SON15gpnhN1KJVrIrKnrQh277QoB8KhAbJu09mbe3KpNsnBirxsX/gbasoS635mYuoDXcn
QgJ49OUEMo01NmgDgRJCxz3503dg9lCAQVQmpNAmJU3vFtqClfYfTf05b5+5pwBVrW3HBemxJM1x
YMpJLYtRAJwrGh/pWP3DCEqRnkv3tz15rfJiQZQFZLFAU4JWScppg1GrmUvHR4HNm3XoXEHea486
oZOCp4vtSc0PTQ7XoGwX62DcmPw7h7Sbzo2/5bm1u/1jVgeMgsTf5O21tN1Qmlpv8hyIiFQHwRbL
vzWNqslubd0WTlwIf+EEwn136RqkravEKg14or0woYpqW3XWGMxEV0QIq4bQeIlEMZA6eMheGkrb
UXgUjFXH1i0eO93c6ln+yZlV71jDWE40eS9DrelfQ/IKWpqe/AU/+r1J7yvBnK3h0XyXD/E3JHfn
rQY4CSO1+TiapNrOkxnftV0vNnNsO9sybeqNZ1dNNOt9FXQiw3vYsn+ZQMzs8qlKDuXsdlEbA61D
jLjYoGXO2qS00EG74vdI5tUEtoTjv9oDd6Gl5hdR2nDAbRBN73JXoxsxdXVQt3kdVQa43fNKh65n
DghP6ff9fU5Heue3/siD2gPgwo0hmgJIZx32dLK3peDloU1Mf2vRedqO1ZiDLMUuAzKihbwBucou
4zggE9YMey1lboBy8vziTS7C1n7IdmNN7T3T9Th0NGB3hqbVni0X6e4ZdUQQDwau0KZPWpxAG8Se
Xwr8q09N75eb2Z3nXVNYr66T/5wzy90aI3GgGsweLK3Y5XjhbpjNE3RiVOIwDGMemtVQBqMwoXE0
J6jqT4yAnCqfwhzcYoHXJdMzlBTTQORJHdaCxZHjzvgDctobqHh3EXRv+YtdpnXU6VyLOofnO7TN
WSGU5ccQbVXtJ3RUOzsoDTqbztOSPWiJx4jW6KJxevHFz7xBD2Y4/gYZlMIIh7ZzQlSuAJ9qBNL7
CU0e3UzQqKLjHIxo1Qpyc/5TTe6MS1/XNgM3KrRn1W1QZng8AIjZfepLrm2sccqjyUzzjVFY/X0z
UB19vl2PHxn/09WO8RKzXj/4tTv44ZSR/kdbJrodlcREkw+knvw2KwMdkfsWwkxvRd+PAXiYi7ek
Iz+MoS4f5xyPl9Yv6XM3EQae9mEIgfV08f4VLkDtwn/2/G2qH4b481h6/iklhbOb7TbGb53ce1Ha
XZQkFVpXoJLURryb7YespMVjkWpz2HfCD6ZGtJFRFuIlNdzqNHs5nBGuVN6BnJ4G2jBqSGBQPFF0
NKm4pDaA1updfatRDeD+Onu18vbNrevik9d1ZoiKhPFmVYm3tYok2YFCY3jwmelFHSQNtqPFRZS3
5RSA8rU55hV6LIiRiG1ZNf2BlnkGib+5KTdO05HIxU1839iDc0C1DAMdCxrlWv5nqONu1w8pfSKM
0hCC38mL4Qx6G/isR+E2SXrtzuXZtCtEXQVmoqcHnRF/b2itHbpzmkJhSfd2vNHHiOtDv6lEbQGg
28ThXA7pHTUbsevnt74zwhR+26C+FplgDXp/gAnaPrR9octoyctLZ6I7u3FtzA071dYGeBFrc/v+
WDlyLz4vnYRaB2J9La4ZXjExYPzsE/O0O8PUFPfyyoF7YUa6QuK0b9ohadmpmQMv/kfQbSq2cayI
MVVWpBiGTlgtP67YaSYHW9wR6wtvNo72/lvqYixSGKNbqStaHytCwZkrKqAMrIfGV0R/a+lCWFlQ
YVCtRepOWnfeAEyqWTo7TULPsQMgumBQpM9AWDQ9dhz5V2yYDFQBhVWErCu0yBp9FhVJpoJerYQY
F79EchFIapKEp/glbhyZ04ZoiqGqvi/5RpumQCu5GjsZ08aJwE1228NX4mi0AwKFo+EZiAy5tFzD
kBGDDViusXkqskeje46zk0nvoJ+jcIzVgZxZWvba2TsKbDM6rrWenSzyB8iA+d1sOQsQ9ez7i/uf
fb8uiINmVmwivwabSmxZWZjhwLw9XSuJcRhBrWoR5MWjU1rtqSdgO+ix2kWO62sMU/Jz7uLN0jHQ
JH3QFb8bVV/oygot8Ed70XTVrmlWtaF3B4fz+MgdvqiXd1XQlOkW//iNx+2DU6vUWpeJksO/pRNi
4ajE1pKzhWPSmXUCyaFjNfp7s0IXGh+bPa9jBD6GKomz4hULXd3SEIGY5Eq/hU+mx8GtFB/TJMLF
I1TdQqvfR/kUAGJjoZyWMrldzYySUfSRFBY0zWv9qZlKVZZj5ZZYWNLwLERlCRV2ybPdEpoofkOd
Y5bvNLAFsw0Z3l+guDAhOTcaLDJiTzDR8a1XGoEBdeHy3T09yHS6eLnhRQDSELwALndQjjhZN1OK
HQRe10PNFG/olaXAAi/NKEvrMVz58vO9gbfelNnYO17oRM67G6rw6wGNQacuGucBR5YOSqLpsyi8
GRdP0QSDi4rp9OX25l8bAB5eaAgDMgRjkOan0EnqpBNymk0S1ikopxSHi+r7kh+NumgbHDz05H5j
1nYkCh9aOUgADkYOG44KRms5JSuSGnwdFABeYfsH6n8FEQibx7B1UXpuf31gqs5sSVOFeN4u/bmh
p3E7WZ817fn251eHgsoJLn+k/q7AP6NHPM+ZODv1ufuE/g/836J8i+xWVKqOfJUtyW1paTpiwBPt
ZKIhPxwT9n3uNaD1WicPjay0A6jvfLs9vJUDxUU9FIHNkk+4QgQRbUrMdmLslJZgdY0fJsoPNH69
bWTN25YGUgjt4NiCU1xux9g1J61HUHSy/E92EeSqHqplXqRrBOzs6AzB1QU4tJwHMnxqMuShGCSW
3GDEG7LVfunxsIn990O1LgxJG9/rqeflAhvf1H973veSWEFcf7FVMksrfnBhRgqfoaGhl7REIEbn
fzg6eETjBgXYfe3kqTF+3F6bFQe4sCVtH+JBMSrTDXbqxMmMd7040WH3AROAgf5tRVw63S6X30rT
1jIElj+j31trwxBdago3XvUAQLT8pXwGhKYULNlT4ZR4DWCXZvkEUruCpV+gzpw+Vw2FzLwptPen
UFF0+q8iJC2RMVU0q7Em6EUy/MCvkhj5RRJHhh3Pm9vTt/YCAYXvQk+LOMm5qjyQnCWtnfZgNMFL
w0dABrKLP15DDkbJIztN34xG24yougSx62/6WPuTWfFHxnv2G6SjqYTeLRiFMd5e752wLr0NuJqf
kCz4wDP7YrDL3jiLredmZl7MtfRUUiI2zfzDbDyimNGV8wit92hUQikHGVu5hbxs8qKdWys9QUoT
2isqcSHV56Ut5TrTmCSxg2qhF+m4vH/e9ofVzyNmQg0EHg/hycsZAkKYxk0Cuoie+AMa+OiDPgL6
ftvIyoZa+Lz+NSKNoYOMjz4MXXrSqpNp/kgdc2cYRagbn2/bWTl+cClAnHWhKUT6TLLD06mwm8WO
795N7Q5JHOSFVFCOtRkDeBMrDdgfks2SEZd6ELOtMvQTmW9ACCSaorNvbRBIxSy0LYjNLRm4PUBl
tMmZhwUvNzyPfL6BOuvteVodwpkJadHTspjzNocJv9okSeRGtz+/PgLEzEvrHqAH0q5Dzs8QyYR4
XDigZ4VCxdRuCq7ICi0PIOma9oFx+deIdA9wLYeWn4NYAwkAuzlp9EDIAxH7LP/RVT/bXgH0Uo1p
+TlnJ0mbVU3CEpjj2pc4pSDY2Nkquvf1Zfl3SHJkU/KxyDSUtqGYe5e5O6JYFsWMyZCQgsylx3ss
y2ijZEHG/UTHfaV1Gy/vHhureK4Ha4vEfHjbG5aFuLFQcp1JVIBUN2MGs+SfxOwCFp9848TKYTc2
VQCg8G1zioUyJN/2h6lztAKTmExkx8mcggLFiNEn2SmehSpDy2qeecTQxSOuTxhy+O84fXIgAFCO
+9uDWTs4z5xcbhZwE0Ovaz1FmjjZULqvxKNfBZUKKbDqd4DrL1V2SJ3LgjUsodRxR7xKCIQY4oxF
7Qda5xZllH8tSBe+TkzUGYDlOrlcBMMrukWC2xOlGoJ05DhTnXkegZO12bHc9ypi7tW1XrgvoYGA
e0WWP6ndElluhwAVZFkBHZ+q6VsZK9rclp94tU/ObCy/4cyfkrwo2tEDpb/u87Ds/8z2l6bbajP6
rd9uT5bKkrQaptskA6p1eBEMm3auAwGuAUPvQ4aCUJPO29vW1pfmv7mTlsZnrWMmDeaOuHsH0jFU
cb4sv/bWvEkXAUDEdq4TD092/YHFPz32lYMxvc9+3R7GqhlIVCB7ujDGOtK5UnUdhHbnEfnswj8N
Kb/n1AgqMocssxSvqFVTYJlfutxBDShnhJIqqWy39+lpLhyAUiajfaDO3O2srhxOHmiqFTO4ukJ/
xaRQor/ONWa8tZiGGv3JS2doIU5kCKxS9axeNYIHO+CIaF+Gcu2le485Ou6RRaMnq/rJoAJY9opI
dnWPnhmQ/ACNzdxhtUFPNHH3Cx9h5juf7TTZ3PaD9XGgUQx0kMsLUfIDmuc1CFVw0rBhq6GKqiJS
VX1/+fvZMVDT2eJTjGsl+wp1NVfFRLP6eegjgLZtUaGTCwFN6rYUNNQoQGXfrHaHyOwD03P2fSmp
MaKymbUEb+dsDpP+CeP4/31fmn5jbITjpRU7eUPkFxvVa2t164ENemFVAqZeRrPOdu9ycAIhlTz/
NuwpHEuAwJxv5awp5mnVWxHj4x1hQYhOW37I2TL7jZkIxM64EXUnKID4ANwktIchuj1da+MBDAXd
ZqBdQ5pfCltFNw5xVgxI/ULaHYmsAiw0sx11jaG4gPW1AZlgiNKQX0aThyyCazIhjGTEoVWn/S6N
yy+kQTdWT1gBOjcALDh0RbK0j8p0N+Rz1PlTUBXuYxaPO1DY7VwV1dyao1uQLQb4GYlvnAuXE5wk
SH6WHsp207B/bQdFYKb6uuTmZlnVfR/jNmi/m1Nkqpq+1ibz/MdLXm5NRNRJNiE1mG7LJppKMKG/
vt8zFsJAVH6QRwWhxOX8zN5UDEOFcMPPrEB8ce+7IhxrFbxyOXTly3lhP4dWPVDiV6wVGdfGtnWx
n+IkCzr7U4sm0Ww/8Gfh+6BQUFW0VpflzJx0B9ROPU7gj2Mnnb7g7am3z7cnbe0JhfQ2ABvQN4UC
zLJu57s2dZyMxl5ymjXzaHbDFKUxkO6NORxEa0U+0p5J3L12vcrf1kI2cJThYMImRnpDMjwQjTBf
B3kgbtdtMYyRyY3taLh7w2g/14O/uT1OlTnpdJqNYvRECXMp8NtiGLeZQyKUliCuOx0B5vvAKQVm
E8ChQbOMGs+yrGfTmvUCZKgzBberwV4rMwNINUNRhAR2p9IAW9tZqIVBNMEHnPRKMIGSerDbvgEP
qxP11Q4UWIAb3Z48hQmZlVQTvuW07sLAWr7q/GuT/Br937dNLBMib6uFkWnh+wdeVT5s28wubD9B
SWyq7rPme6rSOVobAqrOyN4sPDDo7LhckJGmReLZNDuVFZ4G1nhv6c/CUyFQ10aBSg54YGELpDnS
IQovQ4LIyzLopv8sk+/ju4mvl1Dz7PvSKVoKwuCvoPiCJiMQSlmtSGOvXa7n31/Gd+a2OfiwY9PG
9xv/MwCMWvqmab+cTPEuVM3SslZnVtD/6UEGsMxOQ3OcHuxWMYi1E/p8ENJWT7qMFagQYhDtwwBt
ior9ySG9kHT3aEoRRPVQV82Z5FlkEr1rtDA3diHkSnj8bE87ZUZDZUW6ByCsNulxu3iW1QSseU0t
L5j5zs2+vn8fnk+edIk6bpfWtMFoPPFWQ3JnUNHDXytAXvqwfJiU2gJQ5Hl2ylx/3/b3mX9P4jsS
v3D6m2lj2JfPbf3L9O86fWvq5NCrNpFiKv9SxJ25n+7Suc0ZfkAswmmMknSfzOjTvvvARHqLgDuq
rkBVS0XdNHcNMhgcEC57ZwHzovj82n0Ghs9/Py8Fg0Xj15UBXOgJLUnM3mZ/6mwT6zuavr53GID0
gXkXoKeF50ruv0wnPy/6GbVjvKkDC8nNXhFmX68Gmn1RfYYEHTg+8Qq9PAxw3oxu6rX5CZ2ewUC/
g3yp1g5jrtKxvL4AdA3szDYMAZp2FR3yiaFC54KAT4jXfnquzYNhKw6eNROWheaUhYARaUfp9LQA
txy0uqenkrRoP4BcpiITfH1w4ol+ZkA6OAdrKk1ewgAv2gCgh1bZXbdiAQkT8CMAWGODSFBaDaZ7
fTunRXG6n8RLPXy57UwrEwScCIolwL3glSgzkyAtO/gVIVjrvAlaUoIUMw/8UlUjvb4A4FDgvXGQ
lgFJiFytcZLKmTM7zVHtfiriDRDfTzl9GhGoF83Bat/9fr+0Jp3MpHRqu/ZgLdvbn6iq/39lQUxI
USwAFKDN0b55uT1Gwy/GKqHiRJgXjM9eOyj2n8qA9PPRRgFQYwsDHotAWTh2m9trvrK/LwYgXSgl
GV1tFvh+Kb6P9mEownY8MPvz+61A4QjNmoAooj9U2hmUjW3lc1adELeIfW/e1ck+E/vbRtamCs9u
HIb4HwI8aS1Erce6T11xsn9V/lfLeLn9+ZXdgZ//3+ellegGqvFRd8RJ5H3Im7DoIi+eww8YcRBl
Q6YD2Dn59nVdMlNhMXFyu0Od+kGHZlA6KQK81ZGAF8gAQBcPvL9d8Gc3LHcpJSk3+Mmtp3Gf0bx/
tSjrXqyh8qPb41lbE1BDGdDehkrqVYduISrbZjQTJ57dnwzy7ooYgCVnX1+c+2wghTPnjp3h6619
qKkITE0E9fDungMYAWUolH0B0gL3+aWRTId6XyGwJDwZAfe8m6YTR5uMSndyZaZQ28cc4fQFpkDW
I7TJFLsuWBtOlvYkylP2/oW4+LwUkBBcvKTJ8fkY+0OcVMfUiksBPIDcIromjUUv/nKSQIrjutVo
cqA60PJTARNvo5AY+bPeKiKrVUs2qHqRMV1MSVegrbHCNtnMT/C5IANxut7TcAAtyG3HXVb18sG7
QGz+M7Ms15lrxYhC+9iEmUx8reoRcEY/MOxjrN0TcjJJGw7Tr9sWVwfmL9UKPLAt9DZfWqyasmyT
2cLSj0UAaZOJH0mhOIdXnezMhjR5UDDTeLHYoPVv8MNHrffn9iBWrpMlGwZsDyQOAY2W/MAjTpnl
0Mo6GeJhnp9J2e1ox/fa0CjWZ20k54akre8WzCMAhIKoLaQZGuZGVeC7shxQz1nIthy0myOGuFyO
3s0FWlkXclrjVXO3rXlnqaBQK5NlY8sjdEeF95q+ANznI56mPVTF/M8WA2+787N1q2AeNrcXZWWu
LuxIc4WmT7/oGtixnCHg+WulorS7fu0gol7k0dAqvZBmSldjmdAJKCiIzvhGhZ3ihSIxgqbRQ0D8
ArN+PwPIpTnpREb1MM5KAV7cLPtW249+vGnSXWlFt2dthYNoeSegZrUACcDJIHlAyxtLq4wUHJ06
uP5r9LAWWx1SF614Gd3vLljJs/JLLMb3ezbMIphcOLiAWZT2aAbQD9K7Ijmhe7R4Hdn/8/OLs5wd
bLPRFX7lZ2BSzZqQGktDrOKEXlZbOjovBiCdAY2tZb5fg0MRTXN55PAdod+0FP3Nmzi8vUSre9RG
qwSaGlFTkJHTiGIyllOwgeaF9qwTP70D42Fzp5cfKJLCF84sSYez6XI0qi6CJF4Neq0wF4pIZnWL
4qCxQWkBfg75TWSChrGzB1C01r+0cUeFwpfXJgpPRiSgoV94TWs5DTVPrQxk4WPSv7Yt32Smfw/P
VwSWa6M4NyOdA20xWO3cL5zkxHjtqfV56j6yOwBQ0nBLIngFWeCl+8au3dRd2dJTwu+nej/ubnvU
2kkGoXcP1HegM8JcXX6+6UzGuWkDv+sufI5GVDM/YvzAU3qnm4rbeHVV/jMms/ZbGhd+yV2gVOds
kyb2N0h9BP1g/bk9prVVQUod2sY6gmVXPp3BUKDz3IWZvj38YZpit69/HfMFwC3gSnKFykuEid5m
oJEnJ2r6R/J+ZYCFvPa/70uXlzG2Jd5dQFRb7bP/f6Rd15LcuJL9IkbQguQrWbZNqbpbapkXhjSS
6D0Amq/fA929oyo0thDSzsTMS0cwK4FEIpHmHH/YA5kjBmyBxiuqtuJSivR2BLlg0LsmtPDa9zsj
+0h8jQCVYQH9FgSvqDuhzV8yrNzMOR9bHA3fxrz3ALzvpH6m5nwsQmObGYUuyaLaFgDYeMjkIK2G
SOnakKcm7Bw/wTlBuBadGJ6St41KpQ/YvvBlwBaBAVrSx6zNys0xnnCe6R3hjwEw4DFNEm7y77fl
qDYGTlEE4uJSkbt4PLZWLrN7yAnqIiIsO9hG9xh4Oqhc5XqBTRpkzCJHIbNbGUDfGeYe69U9lDyI
ckY0C6YWAA464BDAdckwtW3Ia4xgz8BHG7JtAJLxQgePrAonkaAQKF/iESE3Cq15UPhLMMN3Dcam
mJKIuU9syjYAIdDoopaEWA9cMAiO5Z6edLSCMaAL4j2w5fh1xKMSiA0z0VzvOjH2tQ2vblWmgQ8x
6YS6A3qferR2t+O4D+bX21YmrFUOWUAqihqtwGJ704XTgUDQnlcqAtiIOgdv2rnWAybZCMOLP04G
zW2voLlBMHEhT7rF2gQw00CkSM8LAuUGjSrOsMNUbBPluwpgaZscbX7tX2QYroTKR5b0WZGhFfPs
VHFXbQwdl7rqqPoAzBeoOwQZXsnlWED/cqwWTANh+JjzZdP091mgo7HWCRE2cxG+cnMhRQUMiPPa
v+f+ALKno7/oHv+qs4o0IrqTMcMeIBK4FuKE9jyVPh6XLflM+fPiHm6bm1KJ0MdkKXIM4PaQDJuF
jt2GoKQ6Myd/x+blKPosOfhPbotRjF4hhQGOZIH8jucZkRbLWOw+AO0l5HTGCDbp5C7tk51jlOfV
m+NlEdU8N245i0DlEbNk2pDqzxHVrn+DdLMSO/eK1uuzsxHuAvN+4boCr+omulRSOkuZ6+Xh4IiB
oum+aD8bbrPzV7IBQ0nkmhrHpzKMwDLx2IB9I0SUnoRs7vxuSnyE6fSwlkf/eHvDVHYBgEbQaAK7
5m1Lm7htA+S20nNj1U/TTB4Ne3oaMSxxW4xSC7wEAMJlIsslYwH2K8JyC02HIJ9Yxl1ZGP5Pe/By
3UtT5VQBkyZorYlouJB2HoQmM8ATEEsPLkK21to33TGssigFwlnmTRuvfWGeLs5S3RmXQiVrMKhd
U5ta2TkQ0FlNhva/z32WxJmpswXVZiHTJRSEm0CD8bWTGOukAZ4JGnumoH3MDJTMwjaP85D98+e7
dSEnlCrVGOZfmcMxYwYql006W5tMB/2gvI4EGzxS6Rbw0t7ulDEn9rhm59kk993avSR18K5hRmTy
9AyEgPegxEWvKDmXJdsYRb+9raFyJZH5RvCCQ4WmveuVNAO+JGaZiD3LTqg9nsGwvE8C528uKGB1
+qILEQUW2R1i+nlGD+wEsuRuQZnr50x/+J0uMalQBlYN0AP0fKFkLt8dbZFy1x4qTFXYoC/1jOM6
TnvQyWtchcLOIYaADRvhHkBDpcOVAgGrdmysWT77KGbPQA8icWo8pez7H28O0FQAEQRuPLChyx0G
vMumvKVgTLOH4phyZ08tL7ZHoqmyKHwSgm70AACABGwOnmQDteUC0wGYGmcjOKTZXleaV+7K78/L
kIB2NhfUXvD86gygzi0UeI7/cNvSXA86KdL10KC/Nc1L8OSN3ojIJIwMJMCWRhcDqTKTQOcHTCkY
L9AqIc+LGwPw1GZkXc8F+xga1a7nSVy53abw1ogDW9EqXyy7j9z86bYtKK7aK7lS3JK24eR5FJvk
YZAuazPgz31I2mOzAs4u010fKotwoByQF2Dpb16YC59Xo+eT8Q7lni9V3cRjPn34c33Q4IoJK/wf
g9TSIWKUTDZxwd5m0U8DG7YmGt7Cb+gr3xiVZshWcV59jKOJFzPycL58Xnt/aNEb3qdggESUH4Du
K9muDBN261+UkIUTJWj6BJIA5uuuvambusjFt0hl1Mu4LVfrwNBME/be9vba/cpDS2+mKznSTdsQ
yro2ddB1uhiPieHF4Hbfzea4z/tnAMzsHauK3YTFHANeKDsdxqCL51Y3BiD8wq1fIfkNWoBJC2CA
uB2pE7m0jesSFfP5vlw/hskUlSbwptbn26oLzW7IlHvHitGq0XKFwMYnIzIFpzQo4pnRRzbYe6+d
zoRqEoWKo+AjygDgEJzjWyLAqSl62nQYn4aFbcpu3Iy6B7BGgqwS6wuHOzREMJM/ook5IvTHX6wZ
2hrQpgYMWLx8rq1yKZ1uQpYnPVsNsBg3CwhXrE1Yvu+n/fQXjV4oBvyWJZS9eCN2Uwh2Qgdkccmy
TZ17v3pxZ02mW+EJIQLpVFArIZiQa0OzjdJDFnp4hk73VrGrykegqrvvfF0RSrkvF3KkZTOYlbqJ
KHM64dPagfTg2+1t0ekhLRWIx1tgquH7Q7717cNAYsD+8h/hn0MqiZkP/Cday1DUkm7G3hgMUE/V
eNkQPz0ES/Laze6HnLs0mhbqHgtgA2ouY5VqeOKAxxFXJDZLEjmZTdD5MwLY0GvSU7CE6SaDzxKg
t31c8DXchVPZ/ry9nooIwMd9EoLqF9hRb6KlYXTtEZwwEAqKum74htLityTV3CVKIUggIZWPmB3/
u7bv0QL/CyBh07M5fqOhERXzB6AtaZZPZXmAJBJzaUh+4dq6FuI1MyXjgudNUozR7HWR7v2k3B88
aAU0FcJkOYhpAn800GCYndvIn+/z8N7tUWn5+OdxJbIsaDYEqDWaReS3hd9iLKMtGrwtzM/FcJf1
fz5whGTAbwEysCqcjTutZo30A/me+9u0jp0SMDeRXcWzt7ltXco9gfNEoR0aAa/jek9YWY0hoyle
1MadsQ0CzZtCZVeYB4d/R/3rbfGLgnmCNX1gvOsJgHGWDvMwQCV6YFOiG5tSRUMXkuTKF6jKHZq2
qOCLkb11fOI1jUF2G1Xen3d/+hhsBtgdKl/gbJPDg8VMCF9wFQQp+J+A5h/cZ6vVaOJiVUBwIUW+
PWuvClkt8jZ+UH22HX5qmXewXe8lLYMDYs84LL/ftgTVVhEUk0QSKsCTSTqdvU37YSGCAIbu64xG
qR07rmbtVJuEKTpkDh1URd6QlpO1LdHohf4Hm62RZZ5qC/GUP0aBtb2tjEoQqgioi/ziRJRjA25U
UzG3EJR43V3SpkmUucYeuLWbtF3/ojCGa1ukOmAUIA+RnGcaEg7kA4yNtpYdgwrO/3P4VlFm/S1A
aHsRfYQYX/C4ieH2yQM+NFCf+V+4AUgAopaLbnOwFEgZobVLE6NNXUy+FgDQNptIY1yK/UCbALr5
BBMSRnklDVJvpTTgoo89W6qI4oi2th/7Kf8xjF9vb73qKYumSvEygjmjgiwd0HotSpYQ1BETnjwE
Q/vD61mcAecew46HNF3PfCjuws7d0pbrnuvi21Icfylb9kKkmnM3bSF7RbnFmR9q9PlN5j01pm3j
fe6HPHYmjadQeHCIRApZjLqJDOy1cVTIgYRphdRrnwMjf9nPZhHfXlGFZwDeI2wDaXesqXyYxmYK
5zAZMKnnezGCnsidvE0V6uqlSjEY1hCkm4h25BwyaoJzbpYr0lwOubOYFQdBcsjcUBNnq9YL1Qtk
3AXnJohyr9cLDRqkNQTSp+MfxhSw8pooR+G5cdehB/pX4unNs6TueTfCKlEQKevY6/cJPwAnjJMg
agEcU3u+ZncUQU+ApCDe53jPYRBaOrpO3Y/m2DglnqttvBQlKtrAXrEPfpYeBn972xSUhwuzImIi
HWW5N/CYLU2Gvgj78my2aWSAiiyrwijjFtzSFNlA2g8ZSFR+1J7uefRr2F0+WigNi2RHiJqqfKyR
lPSz0cYMIXrN/Hs0PVVRNgzuPa3mOUK6p94QpwtQjmrbOEF+ETQWrIy4Ny13AakBPEeahyQfiiGi
mV88A5JkxLAzCbd9G/zI/KW7Y5M7bzvEr5qAUWXYotVboK3By8oRQ2MHzAvGrsStV75v3QW9TC6u
iVbXyKTKn2BA7F9BctBAyrZbgPJVnnsSzlFr5sexzx98vCRbUAPzAzKiD8PUbGZwclhpuzO86jiC
xe22jagOGLqokBQX0HKYV7s+YKTpUw44nhqoBXQ/ZcYh+4sCIJCAf0uwryX4c8dW5kNC1Uajec90
1DWqDUMEhHAywD94FV1/3xl6p8Jxq8+sXu+G6n0AOIjU/ucvlgnPBxdd5cDOkHGxOssuaydI6rPH
BQjPptL1uagcEUC9/xUg3bl57zpZV0IAulB2rGLbaQEFB07LT9Rt7qbBrKOlNrLNbbVUFWJkFzAE
KRibUKST/NGMHuQ+KMIK2LNt7BRhnBLgTZU/vLyJqH8HzuaQvyOk2vn99xytPrfFq7buUrpkfKzi
jeclPgbOuodkCLe1k+6CUddsIWJh2RcB6hpVDCR5weAmfsVFQIa+xwDUB2mNHMoYAdLoAA7TY5L1
wAmp7OOEvEApKt9ucLfa/GOz2PfBXDy2LP1xW1tVWBUEokdaDIbCNV7/Dgo6Y1aXDQy1x5CwGw7d
1khptwUWGouy1Gk1R1uxukD6F3iyaJ3C/SbW5UJvo6kdOoZtgzJvE6N3L879Z4u//2Ol4N6R8RDk
zXDc0ukOzaaelxkX6Fig4Qh9ehEl4KMFR3YEnsnbshS+6kqWpBA4l706SYLybNU7N4xKO779fcUZ
hBpA2RA5VrD9SbGowzBo580YFSyc59zytkn3QKufffXI6i8g2tRIsxTh56U4ORZI2IAm6QTiAvvJ
AlNmf7QA5ppVj54JAuv5MV/ApPK1C1i0LC80fV7medOA1nf6ypOfDdkZ4c/b+ivX97f+cpLOYc7K
MepbnWe+W58sfrz9ec3y/vJFF/boOmD8GYyyAqSIEYfrEw3AyPTE2+c0ea3ML7eFKeCBEDFeKCMZ
i99YIydhDmk55sjXT0N63y1fTONHF9yPCY2M5L5qxyihdtwW7yp6RHkmalxNvK86g5e/Qiz5hc69
hfAFV3t1NsYX1kVVGq066AyFW4GiIiVERMnZF8t+IWLxCShqR+xa6bGttxo7z6wOZWi/Q/fe4fai
qrX5LUo6IAwUV55ZQ5RZ3dfFGC+gP9HBBCkiZCQb0CaJ+hUKznJyEy1kXd548NZdADYz8iWcgs3y
UMVj+vm2MiprRxyOD7oYuMMo2fW6lbOPCy3A1VcVuw7kWNvbn1dty+XnJceYuZQOtgM9+uKQVxsz
AOIpmg72t6WodgTtQri+TTF1JVcwYRQhdahdnrtsY1bHaQDTs+b+1ImQ7KsKx7VrW4hoc3dTpY+t
iOX/ggAVOSYMKKCDHBNRpjz9ZvZkcSfLx4Mhyv2HtPqLq0P0VOHmxWMIqZ/rzTaCgmEMdUGw3bFo
PgHORvOQVK4S3gzofcQr8s0ApMvGwuvNCc+GtAafkhlX/MElGm+iCtcQI2IsEc9uVAJlwlvTsvnS
pFilrgsemJUfWxO9194ad6AOQB4ttnsDnLupFRV98zKQJrbBL3nb5FSGDXgAUCkB4ZDg/FwvZe9O
bTdNdQXOBWbuQJDmbcFgUB/KGixolPDm5S/kIepGIyaeJ4DquJbH3bBxh66qzzlWdEFmZs+zTyhU
3ZZiqW4nNBr8K0aofeFGxZiGE86AVigm/2GqSRSk9akqs23j+vcZ4FzMrNw0SA9l/nrndPaRN0Cr
d/lXjxafqV2dWN5tO4c8kj54r/ltwhVJESwmdzCtjUE0QHTK2V6RIrPNJanOyPr+Q3pKEbli8pWB
o+QuLYH5wUu3jHpzAaeOVTyQsd8DD5trrE+58Re/QrrLLDNZbfAmwmEuYPd9Xc0W3J1jNLof/kpd
mLcYhMWuS4c1w/XcOb1XnZ2leDSMZm9W1t7JcGkXTQdyzexEZvd58Jd3Zd18IIsuUFEr+q98ueOu
yhZgt6SQH84vzvycOpE5gMFEY3Eqj4HCGm45X5wl2XXnbd331C0baNnHDj01mGc2893ttdQJkZz3
6IKS0azy5sy9bw09GPyf1da4VtWFLTBcUSdGW8ubOms/LqGfpqQ+2yi3m/3DYoSxSeaDUd31A9Ho
o2pVRCvpb2nStQoktdntG78++9kXlHYwLpXFSJJH3MG0eZHF6QB44frOdR8xXKvZMZWLuJTtXLuI
rnc7s7Yhu2BeVLsvPMxiAMxGBIdvLD6gNqe5VFQJvCttpSPnIwdgZkNQn8EAvJtHgHaaL9bcbBl7
CsSIeL+1XLA5Mh21rcpsPGKHAlrIxHiylFPhQ5v61UqRs8FQR+DcLdVXi+ladVWGg4Q/bAaZG4HY
cb2cU+eP3ZLC4/br8LJ64X3dWHfUJKhmzf4xT3S9FErbuRQotL5w8SNQm9sJwOBnNuzyPgJg7Ops
xmCflwBDjbj9VJED1fWDCi1k3y2ualHuxDy8XIB2yMom4Aig2dqIy31rb28fcOXn0WsgrifLfjOK
E1ZuOtoEY0Ut0MDq7rEfD7cFqExBdGb+Sk0h2S/tUkVoSNccPY3ce+bt0Rifk0ITUah0+OUFAeho
IUEi/PHFvtCWzkXggODCbu5r/tHPNRGs6twiUBF3yS8mTCnST+bcbjMOFRqAibWBt+mY8YQEDaYd
1rMz8G291s+3V+3XCIe87ZcyJT9VVECd63O0zQLIfVc1ZQwUnn0qeIXHclsCgjdFlpvV1QYTTru2
z3YJyTdICSMRjLdO0Jz7ao1z/C2g7UNNswdAkBwbr9tAmzij2ffCLbe5ze4pYNKMut8EjIJGPrx3
Ev/Yu2Rr1uvmtk5KS3DgDQhe1piLkbYJXdor8HbFSCE/snbrt/v6z7GogRyB7CqeLfAI6Bi6tgRE
sIUX5B2me9kGGR6DaE6L0gVcCJBLpzYmr1KOFt0z8YLIc44LAGg9Wu2I8VT523F8osY/A8DNzEC3
ekoj/K2anP1zwLmEIQJ0IDMDGPh9NPjv0/ncjeekpXGlQx1VHqkLaZL51clE7NRGF3pN+QvNlg0v
S92TR5liuVxM6T4kMxoTwxrFzISUh2YkER+8qCRDlOfukQBTr2/WT2h/+ODa/a6og6fKw6SR58TZ
DOzAibzetk+dzuLvF26El6gXBaK26udAraSoK62a+1h5Ai5WVfz9QkI7JxzTGDjU1jhFS3JY6bOj
a+7W2Yl0ygg1cttn2Lmi5XHivl8AVJdWx6Xku7L9xwo1MY1u0aSbfiyp1/kJDoTB7h2wZBS9JhGn
KgXiTOPVDTyYX1Xv60VLC8D6rmAWP6fgsefDp6R4j2SCmZxm66nhp8B7NtYx6ssPvPtYV31UtVsX
7NiuQ6OK79vqk9V+ozNouzWlZUus5BsXffHDJGeTL36d9gt+WElOvC02AVrm0+FsLkd7XDadg6b2
9szsb2v33Wy+8n6XJT+L8djwz7ft9v84R/9dIQA6Xq8QJv8bK6/g9arVinuDnGa090W51ew8xCUr
NaMRWD2pO2yMme5XOsYufi5wpw9WYt4B1+n77R+kXBgQWnlozkN1X36Z8AUsZt2CQeJxYZFDjxg1
OExghxs9zcWvPE8XgsRZuDhP68Tc1ZoxkOPay12DuvTYDPdMSxGgOlLolcQEOUDI0JwjHdu5MJIs
q3D/L54XY7JuJFPceWkEMidAWqb7KtENSCtt61KkdIrXJUuHdYC3r0Ye52wXBl9m5KFp+FTmZjyb
mNMos808fprzHaaFYtuYt2Q6jS3C7VBHwaB8RoDcywO0Mvqs3nRRWKHhVJ2YSWrWj0u3B5dlVE8H
1r3zeB7x7qtLP83l+bYRqRzLpUxpBYidVRYXjsUL80MXZWt2uC1AuasXSkmeq2nHxFpLKOVN3Rbj
XnHTfQ6JEa0j3VjuC0v3t+WpnisIIQEu76CY+AahlI6smP0FVjR0+Z7382ZKPBRopkcixkZKW6Oe
ev3+FSdHKo7NC+basCBgjXXoLecadVRnzwewO843uoWAD3J99poSiP++Cadjo7/X43sPU8B5s7u9
ZupzcCFFChFgyy5j6Gs4dxzVj+XZJfdNXe6BQDMPLw1/dot3if0A+tPI7953wLBNxueZ7ur6ePuH
KI3l4neI1b7wNMDCsI2E4nfw9aF+DYuYj5HpbIfggfg6nXUrK7mbkZn2VBSQlWVfjeqJe9/hP/P8
U7l0YAd87b0zXfak+BL0e+53kRi8dXXIiMpAF8xa2GEku9F0Ly38SpvVaAGOdHaaJ5N+MJcxLuih
KLwIUMJxmIBQzncjQp4K3blUNbbgUS8GndBQ4qD+fL3WwdqtOYDsMIBUTf2WulbwTPnypfC6OsJo
/Q9C+mprZlay8wgt0Chd/MwXe3hhefNtKkZdEkW59bByVBUEA7Lc4eJPM2AVxdDa4A7bPjXPGYgt
DbzC8qHcVUO5YVz3+lOAaFtYgt8ypcMFLzyEnY8BPbRvntDotOWlva2aYRuYy86gfOPWxbuxHr/O
RXIw23wDV7npaP7AHXvzF5Z/8VOk3SABt5tJvATcxY8Arh3ngutviEhebafgYHYfb8tTWv+FPOmk
WQZvDG7DTZoj/D7my8Ge83Pxq6+3xeh2VTpkAc8ms2Aibh0OjRNuKvbaUXiwpI9TE4U22NptgSIa
lKPFyy2V7jOv6SmQ/eGP87R5Sfrmez3Pxyxpo2YB6K/buTFr+BaFE809oJSLJLjpYNoX4YuUvAgM
Z6pAaIL8UcYerWp8aMzuMwgOtnVV3ptGc8zLdePzv5hXDPHEtx3klkADIndVtT76Lq0G88V2WB7y
tT326Nmj6JXpPE+zskqLuRAltvrCN7eZ1SZuhsPiVMuWW8aztbINL2pNs5HYoDcbiGkW3zMx6fmm
jlTPNHd7E2LKhkZjfm+jlaLeDrouH+W9fSFGspNmYXZnhBBjJ/Rrabg/i9bXaKI2id+aiEjlcsGc
NKmnFR4NUIuPmZM92B2rImPxOBrsMCBYDR/Xctm2C2hDbx8ClXLQDcNNNlCs0HV3LTkFuiefRtAE
eUMZg7QjSnpNWKKSELoi9YPmWLDeSu5q6lhhcRcNv35zpKeu+H9+XvJO4WAUSE7g80b9Zcm/Jrqm
HuXPF2Cb6MPAY0MujtLJwM9f0VKOQfBTng5POEKa+EJ1XFDr/1eEpALm2iqHWWjwdoNN7sU1jzPd
KqkM7FLEm21uac48hqiNJvchUL38joOde3lXLyy23PIHrtF3RjrEt61LdUJBdSmKsIBaBMTftXW1
6ZoOTbYin5QjK7fSreOwV7dKT2hu1iziW1HIlaMnDtMTaCnDv9eiGnB1ADgarHQwQfQ95l96RCJj
4j+1bUA2t9VSxGIiMY8w23GAI2vLVXsjr9ewEFxKwNuO1/U72h+idSkio92P00fT6nCMkOsh+bYw
dC9RpaLASyQIBEPB3nOtqM/oartJB2IlMmF+FH3MsTl1zh4R2mBFBHg2Oolv7RPaolgPPjs0BNpy
7Wie0C/d2XjU95PxAaDQYMItkejRpA6UegmM9MBH6yomea71SqY16UEZAbCzBeylzBu2leXeVSx8
sBcdsNrb4wCNLmRJJ44QYw29AXdh6RfAxjfuy9re8CXcdUOyyet6a9L+aai5ZsxTqSLuXmEx4CyS
zWYtSUeA9IABSeZuhmbGvGo6RWFO78oe/H23jVS1a+BLIx7agJF9l3M+azJ3XtsAN8fuvocLujhx
0n1DE8u89Y6ATEL64RcIovlmNsUeEqvPRiSWvGWdkdTqUXjrdXhQKiG2aKsXVBawQel29G22TC5F
wNQGL5i0iLxahzmgWqtLCVLAMk1emfgCq2QFLE7TonqP6C9PnO2fbwkoytC8S4A//IaCLbUTjEMw
VA7X5K43jg2J5knjcZWu6VKGsMGLUALgXKk5UES1S1tEcwiKidd6WDak2Cdsiib7KaGnZR4jy31/
WzmxRtfRGCKIC+WkXQKso1WtDp4lhTNsu9qNMvNzhoHTbi1RxuQAINDZhXrXfi+ntGsGtdKBe5DY
5d57Vg/7nlebAhBpmpOkyHlcqyZdY5k/os97gaC63vfpe7No4rA9WPbPLPs2VOWmr+4n9xUDhJHr
3NWA5HYZjx129LOX22usciAXayz3sbSghAMNGsoVvjlkkTl5z3bD7sqh2rHePt6WpdnPULpn8j4N
QtTWkeUPT9bygPR+aJZRgpwnWT/7uvFXnd2G9rXd5iNP3dbD828N35X5D9MeMFAEg+3+YWAQSxpg
gDSit/8fa3q6rahWtHTz5KA3se1JrGq/MduP6JXOux9TeOYBbvTks7M+gnkjIlP1/3MHcruEhVGh
MjOgcki3NX/qrOPMNLqJQ3fjUMrTdn3+30OJqOi1dO1jOmSHIgOHNqs2zDc0J+Wtp8ZsGPrZ0F4g
8qmh5HzQvgOaL1xzJ99/Lo/DoLk/pc+7CPDQu2ICKxqAX5hwEQ7hwrcFjZvOicusEysxhVuMD0ZO
P942BsmnCBEeXilAa0e0CpBdyRYWp7WWcKn9U5DZLAqpkb2aWTLFNuFMI0qhDd5F8CxitFiAP11r
g1e6MTXVytG7moZ1VGUu+waYUFezJwqN0MmF4N9DUzkmgCW/zO0OXAH1yE8Ml3MNQDvGP2aWGd9e
N8kziXUTKOTIEP5qXJZHcvJ+CSqvWaZTMjvbCgVilm2J+UCZLqxRCsJsGKIBEYLLrSXWQJPJXOl0
sgB4eOwAVbTNBlSrxyD7bGHkZnNbL9XqiVG0/4qTVq9vfYTbBOL6voh819nMa7p1ve+3pUjx6H9W
jwS2g8cLgOzkCMdmjc9sM5hOfBIgX2QfLCfXnaKi+DrWMEN3eGzacndbqEo1Ec7DNACLiv7fa/sD
Yc0CQvUZQuchmu0zGfood/6saPRLM5CMIiWMM4UHk+TWccyoM5JuOrm5H62viZY1WqXFpQDpFJGl
Zy5sfDqZr4CEi1zg/OoABsQeXzjRNzqIg3zhdjDOtlTVChHpARCktfE9XhPMen+7vR0qwxZUdgJp
BrlmGS+vMWmQtAxSVh4Z4X7G2NWO/GGg+x9VYMsYIQtdBXK877Nxykp+ysZw54B3eMmayCU/bqsi
lyd/iYFXQ+sXfAL6v6RTQ2gw9KWF91Mz4mDuclzk/DABtdqv7ksP5crXRVfMU3nTS5GSNedGV3dO
2vLT8ui026k53FZJ93kpBJxcVvR2gIUb0ye6vgMk2Z9/P/wFBkbgo1HXuLaxLmhtC0EmO3UBjbJu
wxxd26LqoIhxVBeJWeyMXDMfUDdIZw/gZlnxwU7JpuJf6urTX2iBpkjMZQBx/Q2V01r6CyA0S3Ya
oyrwY7czNNeMUgmBLgQkBIwUydcMnZIR/bomP9X2XcKPZbijzf4vdLgQIc7pxWlnAzgRCmbxEx3v
+HKgf6wB2kEQWYh/8QaUy3gdN8ugGAg7hbS9A0LmIxmfm/WPdQBpD3pTIQgVjjd3/twY6DWh83zq
6F2R74JVc3W89Yj4/q8eXwR5IHmWnK41LSVjbjOfXFS5OPnJ8u9rtt4lLt9WbqVJjiuF+aBTCtG7
gpyX+PvFhgSAjsnNtJ5PodUc6+UxRD/lYuaRSb0I4IR/uvtg/ERYgfsQ9U4E/tfCOgBCh3D1yyn9
2jmHINAsnMIzAikkBC4KxuFwTALp+/bqNFU5GPOJeebZsRkKF0BRRPLtGe8fNGsN4Qe3LF8Mnt5R
R4eO+fb0gHRBoL5iDAOJQ7kZc+ZD6jKHsROz7NeqM993fvHDGRONkm995ZUYudHBJcNqsGxip6n2
f5oLahemjstLHMLrKxkiMFQIKHeBgyHbRGn1nGI8C0iN6xfqBLsFPIfoctogVbm5bRBKSXjJmLBz
QLnIeeV0DEbDCjp2Kp3l3u95GnOvj7MBoWA1j7oONoWt413jE6C9mOHbcbAkTLre8efx1LVTu4Ok
KTbrfniarNS/Dyd73jJixm75DjgnRTQETXpXEK872u5QviyAu9lmdh5GXUfWbcsICDw41/H16X6j
WLGL8+iurVU14D45DZW5LTN01VVTc7ciI+1azcel1nGRqXaAwI1h2B+59jewsSgbBNwblvGU9nYb
2alxsHu+nSfySCttZl94LtmwUEMAcoYAp0F71bVyA/PAl91248myf6zTj9z45Dsf+HK20MbW7Dm5
M0vj6A1tNPTfZ0fzvlWt7KVwcbAuVnawDTBesX48jc3oxI49fe396cNcmmG8NuTg8EQXqAl381Zd
OCK0UgDFRoZUnEsxwe2M46kymxG8Fb516J0c8EL2MkT1zIr7rnKKd8xGDiYfvDQOB/BbeIPFYtw9
OgRalX9C9gDhvOnCBcvPINpXdQVwWXoaJiSsxw58cLz6MWd/WJZCeCqwr3/LkWJF4ByJEWITE1r9
o8UKYAMbcVFlMW3+sGv7fyUh4EaJGo9jefY5SKsuSJKBgq/HSL8hJTtGZVlk32/7KOW6AccEwxAE
T3158JnwcZ3JYtETDfvz0iwHv5u3+ZhpKjRyW+svbYCPKmi9BZyCPDkyDtTJKtsZT+7K1204NSso
0D20eFHDiQAfHGzS0E/i1Omq97yp6u3i+uvG4IMVr1nnRb0N3r2uQVBSM5NpAiuFm0B5ANyOyAlg
+Fu+EqzMnemSl+OpQbKuRQOok94Z9h33Pt5ebMXthqlmvGwEiSxIcKW86OgtfZKDau/EzY9z/cMa
mui2AFWMcCVBihGWYhqLqarHUzjvum6KfIBk8byOwvFlsMDwMb3i7R4RW4czrXA/V3Il31fXnNQ1
gdyxe+3dNA7GDUkOY/lcJK+3VVRJAkCXaCVDXPfWpSdNE47C0XnlV0zQZPOJNz9GvOF1wM6qzboQ
JAPCMRtQu9XCcFfZQJ960A1j6j4v2UJojlnhJtBjLmrgv/BtEOryXUpruFRBsoZ87OraMcSl0J0W
3O1+m8SoV+1q+rraDWihqrgEYPHiP9/eI4VTAdIYjhNAfhXdNbaXGMDNykZ0u9XLFvjjdNvbY/6Q
OphP+nNRmBIBRCnCOfgwaRnzbq7C1jJh8GH54GfuIUseBk9zuar0uRQirWNTTzagsabxlNAVs1of
R/9rbg3RbU1Uhn0pRDpCxB9DkweIjbLgmC5tZJKDa3/wnPeujodbJ0mY5kWs0KM3iHYV1FmzTe7H
eGmPXpyOjwXVeH2VjV+qJNb1QhB3VsPOzHU81clyb6bes186326vmsp1X4oQf78QMVdAAXIAHXwi
eAulzbfcAdHssC91NOlKVUBtB8xqcFohNXUtBxCrftZXOEplsXh3KfHMzWys7fa2NqqdQfoOg9Mo
TSKSkay5LoEqRsCfexKopM98WPJ4KE2QpsIfbmje9HeUr8PH20JVS3gpVLLubCqyOWlwhKzqoZh+
Zs771Hwwmg+3pShU8110iSF1gfsfb+TrBRyyMkiBosBO+dKuT/bazwezaoNj4IFUk/8PaVfaW6mO
bX8REmDGr8CZknNCJamkhi9WjQxmsBmM4de/RfVr3YSDDqrbrW7ptq50dmzs7T2svZY3do+539sb
3mHJkTGHHeBvQmiDigbIa5c9GanjJo0GjsekPTrtt8Z17pts2GHWMjQ7eRCOjOz0QtP8QqmKmmmj
EbriOAB6RrsBmE08VstTU/d+Rae8ax5aUgVDYmGY+dUkG0ZWdhZG8F+8ihaGcheOA5MPuihF2Tyk
hn+XJWlY8uYM9q1AFndcboYY8xlcxP1As83TWyjkIDBdmLOyoStZkjcPTZk/2gXVAzNvQMPBvtlt
UkQ1Y1kA2ZuXUjZB46ShKkW+v32WVi7jXIMA7zV6X1DiXJwlWaS0GaFc/MCL/KsvvmRDvwVunOP4
q1X+Y2JJyIgEJamd1hUPzDiirnrJRwfjcM/mlEMEsHuyrI2PuHZSMJcyf0Ig9a8oVElBapJYlnjI
Kv7N6dWL7NtnTW1ynK5cdtw9/P5MPQcc2OLr9co2m6lzxIORW8jSLmX/se8enezL338hVFcQ5kKD
EhXjhVuWfpNBGa0RD/Sxsy/eFoPP2iqQ483hH5jcr478WPUDvoTAbmm7QdxL+a11A3tLKn3lm2Bu
ATAoZJWY2V/2jAlkU/WxLPB8FfZdq7Xh1GPijqnd7b1aOWpIijD5hh4eHNWS06aoXFaJItHRTFO/
eGp9oZ3/s+u9c1lqNBhR1wkM/KsN13htdW5To2kECiHQIS5zkczt/FHxUX+wgT6Mpn7yImFqgZNY
mMJgSTiCBnEwxq3q2/XVnc2iAI+aDEhVl1F1oaZBaFWhP3Ajsl6kcbi9l3826/29ff/7ixcUiSXe
b47fB+imAOsgdDJGkMVEvSoeMHG/Y6V16IfuBwhvPyOj+dY0055rKNIYUxVCt41Gk2Hv1eg9TJA8
81PzsQWXek7JMffUI5c+7orZXopJyEgn/Qvwkx9VkoRmwg8Q9dlBaukZevQ6mHX10E/UjqIO15kK
mB7ntQH6G7l2hl5691o1zpENduhoJDQ6455JecDLuVEBN+d50eWGoF7hA2E380kvsZF+5Xi5wwZs
OE9ZPDGvvxvq1rxUypAQ1zKNJ5BrZDJolFnH4AT9oWld8zwmzHfAR3ygzmX6OqT9rBGaeeziU6eK
HO79aHiDmmnXjxu34fqA/PkzZzy5i07NsqykWX3tWkXpXEbvc+N9TqLbBwTI6KsNAUMlIIEI0fCM
ocmBf/8mYnQFG9Oxbu1LBXLhUGTezs7Hz20P1m9j2GFQKgsMkUSCoodakb1jlXd2Q7KoE9VJZt23
EcC0VnV5BBToo+Z6J2Xlx6pqTvi5qMZIj87q0MOEadiM4BPs/Oml8iCVNyok4I2XxHrXsTsww2P6
qrB+mVAhSECpHkxmA2nO5FwW/qOowVCo6ubSpzWqxpnYOXW7wwDgISdj/zshgocVtDiiBrRPAXcB
B6zocFDc+1TlXY6xHvWQqgoU/Ua704zi3pyDj4wIEgzQfg96f2pPIsNEL1TazUB6xbBTIO6KMsYi
09V+exwqRpax97IqzKcaJBOaCFwJ4lnQz2UBG7NuT1EvFgE4K78ozznLqvuU2X40VN7J4iK2jfZi
53lESPrUdelJUf1kdf49BUw9y9s7wAE/gZD/lFrOsUfpXRR9NLVTxIZiD2WAS6naY16Ljy5tTpOd
nKe02EPabjd1X+raiIbW3klXu2B+C3558HcY/AS9xnisR/ej4dCnIpXoG/uNHrHJOSeNjiqkGL5Z
lf6pJkOEeumDU5o7Mfhh1hUPFRvSU6nJiEhP7cwUJ8Ezd2lmf8dg6Z2edH1Y+XkSVhNY1NVYpPva
SLLA17KHieSoOA75U6baiHTWd62y3b2FCb8IQnNpMAzVV5K4zZ3I8oPTY3Qa9SyH16FPxoj1hXUA
w+HJckstasGjFaaeVkXUo9/yLG3uisY3IlfoQJC4Q+RZKMwzC2FVn/Cvqiu9vUPtDYqUlSsIWVPI
84B/D8W6JfS+rGpjaJm0L5bmfzXq+lMqNy75n3bRe6/kvDXxp3Lx5hIikym6VvX2Rfdb/YFaoLKu
kWV/GrW6GkOX+fBNNokMfU9RwB6jWDbmSc9yfdeUv8EQf6iAQYN6H1W/hIg6HCpw9LboihLhPJR6
oyLqRBUZ5Q7MWlMEPPb0ynKjPTPMbW28OdfBCAqbGJoFqB9l1CswTEZTHdAIQ10ch4etemgxw9nw
Zy9JN3bt2nO9N7QIe2sTpFsdmRC0Tcda+4XOWPr3lY63JgCTeu8ce3uQGlLomW82nPKPXOxF99fF
lPcmFi80rwrEHfN2sXI3gdNB+6pvhYfe9aOH44WSOch7TYwPLROErC44BXmdfXEaF4qLxdQcQOX+
XLXgyEqhwJL5IfF7Fk36NOx9IzP3Jp+6qNG1H6B7AHNfH1GWlrsE3F6TlEUAZZT5cTxJjT1pTvW5
V02U0Wo4Taoo4GGT9Jx34JAaVSd2vAXlDpvEiwLD1MnR8rCh2hdd8MdB02PDG57KiTxqYwXFb+uc
DQO7KFOWmHoenxy/2knQopt4AHpufaas+OqX6aciKe0gL7kRGk2DoMFX36pcfrWN7mzq/DJaRpRJ
fnELfkqGKYQeGQk8kAaPXfYVzRuEMrZ9ztDc248J1LUK0zx3wHKy1vqojzbeMhFakoR60+ytVKLQ
BewYxAHucTWPWT49GwWxgyH3zyjMPt9+kq/zV3wsAAEwl0zQgVhW39PCA7N9Jp2L3UEPmruCB7wf
n3oze6p1LaCOs1Fpuw59kZJDYAR1eBCRIE15f8jB/FmXEmKIF3+qiipIU4/ejZC4eh6YD9aPLKO4
WenYXap23OLhduYff+/54KNBZgtkMGgzr/AVnon2hQt17UsKNaqzII14ccuuPPWdIKFEdekge5m+
oKepzUMzzvcCwKs7AHzMxyrRyR1GC5qZ5sN7LWrdPjdZx0ALxQsrsN3UP7RKZDxw/D57HqtC7Vhi
f68bM3nux5qz0OSQfFe5Lp+Q4ds7u0hMjHdoRH81OdF/tLTkOAcdnmHcgw+GPQGRidG2L1S3u71f
u/6LR004oFEDm2gjhrM7tfRstVzeCy/NQNCYiQgl5u44GsLFSabdzhFGdt+3igMpyNwPraTjR0qd
4UVWHB4bcfAvw2zbfYeTGWbggKeBSB2tBFDeScKcymZXAxp6YHa1VXOdPebiY8BBzGMABPVjKOcu
TkJuDciSPXkhLUQ/zXQnbBl6gkAomoSlLfbTQJ+ykmwEoSsH0EH2g8QVYikoh82O/s3r57Wu5mVm
NlxqgHj67HedvaTdqUjRRvT0qLa/3b5gKw8UUmScN1QUkdAuO4nIVzzp9eOIdwNkgbEsTzm5t7b8
+nXUgFYwPC5Ae7PnXYLEhCsFT7xqvOTicaziv4cfziKOGAWFcC9Em5fgpwFEXZ2A0Myl9IcSDEGW
Fhh98kl3MFT299uFJwrSfWhqA169eKBIbpauSoi6GOrZM/c4dMq9H7bgaGsf5a2VhRPCqTCgHo+7
5JIsAAPBoSBfurnsb7/cXs5K1ADc3j/LWVR8NJGysdZhSK9/I4Go6ntd//S/mZiPxpvzrExP2cyE
CQbNCDVzW2vD3xGLopCLzz+nsDPofYaGvjfRMYsaXTlvVwv3Bp6G9JvowhZIg+xwezErH8ZGHRV2
UKoGG+UiyuKG6qeuNuSF2a78mZX6dGAYx4yznJg7A93dLTKBdYOo+CPdnV/CxdKKum6snjvykhRJ
1Ep2tLCsCsgFqrYIvuafWvg7gMeA2zZRksYU2fynvPlQuj1ZY4mX7iJbxzxBcng6VJyLn2U6s9t2
0J9y1TBu1VJXPAMmCedqHcAT1/LkhCrWC62QF9tqxK4ZdX0v3VHb+G4r53wWjwTLCKCqUPhbXFub
NL3n+1xejKGBUI8aGeo5ibEbe7IFzfijWLTcR6BtED2gYAc02eKMQEg48TywsF3SSeYPsrTqwHCY
FveOaD+kfCI/2NhNFxCjJA/NNGnf8pRloO1xBsDNyupLN3nZHYiNix2n6RRWHTBoWtHnT770kY7X
0IMGvycLyKym7ZS22YdJVxa7AjQNgSrS8mSqzsfkVi32ShZeNDRTcsaD34fcB0UYHs7hmKr2R8ct
CbSjhjvT12I3qhoqYwrZpoQAFEa0mojgnQ5GR+0a6EGBBIRliEJUEgDvF/LcTvaWstG7KFz/lJEO
nndKzQjM4vaprzBI5uRW8cksyS9DdfYvX00QjeVdNzO99HemMdBdlnbikFeCxXrVQzyyR6/kF1Dw
2qXwQJUdECPnXug07fDY5XSoNuqca8cCRwLsZTMD51U9iZeJOemYLrlYnU4vQ123XxmtmrPR1eNG
rW0lmkBZHSU2ANdd1HEXF3lqKCepZMOl1fpqP4FVMmZQsouFBgIG4mpkR7u6OLtmQX8hDU3/xUoh
r4WKF157sP0sHD1rmQbkbTNcPGP80fQlwcfBBGdSbAHOV7zIu4R3sc7eKFJiCzzFKQ1oDm70yJOP
Yx7LLcaoFc8Iqlx0QzAahg7XMjxzaiWgaE/kZZge0baDCNF9ZX0ytJ+3Pf5aOIbgCFRengUE+LLe
MeZa4SmXyotTuyFNrDIox/Kzq9gPnVnQJPbL16m36N+HGVD+gU0HAgGApC52MS0GTHFBevjSpUBl
JPFkf00MFk4l+1tDAO0iyXFxMGYR4qWzAljcd8Qg8hiCfFb1QrvPFSAg7pfbm3j1rWAFlL1AoKJb
MnMpvH9aDIrJN+bYWSwl+OMGsKQbAfVcALeyjXO+aslCnojVAIy8/Fw54xa6JDSLc5vc4SweLFkH
fVHfFY53vL2oq5cLiwJNM9AlKIRh7mHxjXppT4MjnDwey3t3z6eNoObKN+Hnof+EkRronV4X2kaT
m7QEbjNutGovXPZxREXSaacNGMafpt6752q2A3Y1tPxc81o1Qfk6ShKqyWKflBHhe6tCCfk5Yxfa
P2FiLO+eeaUCtGWgHv1Um1sB9ZW/+GMemP8ZCH0NjAVpMSs7vctiMbhz7fqZK+1rr7dRTvndhEG1
2x9tdVeRtf3X3CIanVTOi9Rus5iZNsh0WWjYn9O/HpNYrGlx3HVLDaU9yiyuhjZwyZ3fbtynlVXg
1BFoNYIXD15wEWIkKXAL1oBViMwK/dIIS+u1rE+3t2rlfMOIa0ArD7NDVw5WY27aE+SisVF8oc7r
FlZg5cMDlwUtIjxGEHBYXh+cO10gbMljrqMYoKEXeV8lUMnwueNEeQEtR98baHR7TasbZ8IvYOJj
HshdfJmh9JJpMOAeRl8PTU9A9/QExs+/d0KuDrjoDLTHvi1xZ44tNK6SCd+fpEFvPVbqNW9HBDMb
X+jqbcLjByszMBX/u9arK1PQtdkui7s/SD1P6fuOg4RHH6wXkDOJYMAEZWjl3D7c3sblaDvQqbAM
fXHPRKV+/hPeO3RNCGA6MZQdE5HuDM06oIe912pwl5rtSdb8V2PbF+ZMESQYzmb/+7b566+IUgI0
QwEiBP8PkH3vresjKbxez+pYf2xVCBLu5K9BJLO22z8Wlp3oytRLizuwgKau/dQJUX1TzJRbB2V1
IX8KfnDxKBEvFtLkCSUpJDtjBdrin6r/5XiPt7fq+hJjWGt+nZDSgWlnCemQvV9ANKHisZX7IHYc
QA2sc9Cg3raych5gZubYmXVKURdZ5FdEmTlrjIbHelE8UN2MFOpltf9K8pcqt87eZESp4URjhR5g
V25c6qs1AkYCNAn+g+RuBfAxON4kcmOCRrz0T22utXt0ttu/DeAXVua/4k16rOV1YpTeNMUVPWQj
8A9THpWjtxPlqS4O1tQFeDxvb+tVMAOTqDIBx4KKNMbUFsdDTEkLTppKj12p6LlCwheXiuaRCXxm
5JMm3zgsq/ZMlLYQz4AJYVlG8/0KfM4NnWLVlFk4cHvnVuXZ5/mPvtySJr86+vPa3thabCfUJgmh
fgp2MD7FHmkPslFPzrSlGL9uBk+kDpSfeYWq13iC9jwcUVyI0QymBgz6yqsC0QwbgcXK3oFsAZTv
UA4DXmc5K2EpYUwjHbWYmOeJf2LNA+m+tfnf6rACsQ39TLwrUF1HVQhA6vfHkAgoAQOjosV6bT65
RAUTw8jEdF/ZdWCVTZhLo4qaRtnnVKPtUaJ1vvOktlUcv3p65j8DLw/A1ZDEvqJF09RYA4hRavHU
G4Ge7JJ6JzMKWpNnEP+Bq2l/+yasfEaYQ6hgzI/OlTYKsx0NHABYdVbc5d6dSV/6biMT2jCxnC70
RabZFu01xCMPGvtsOod2C8e34qjermKp7FBgDhtVrkGLi2I/VHv2l0JR/zkb/+zSH6mRNy7Ky2rc
2Qa7JFkdADELnpEiMIfX299i7dMjqAG4EvUMVJoWvt7S61IrNY/GHfmRekVo+B+G7gRdUn+ckO9v
kX6ubRrqdjNDF4gsr/jGoAkAcUTfpPEwfcl8A1dXboRrSx6mP/v21sS84jf7NmqS92YOExxl0bNT
kleGycMht9NYK3h5bEcFEdmubhoogUwgOk0YiG7Gb0TZkcZRFqDkqc6cNpi8nke3d3vtWKIW65km
tL8Q4y3ue0NybiWU0riY7mv3PCm0gv2tos38I+9yQNxm+Pv5jQEuE3HP+w0A0ZM1tqPuxSNKDaeP
9J5sUeygh3nbxpJjSqZQhWyBzohN5RnxWKAEW0l9DDl0lTGsjGJfqfgPnrv+Xnpk+Fw7ot61irgn
CexEhJTuC+bne+CDkp8twsLIaME2owOJG9rCzyNZ2vKuhok7E63wIzRU+lNSSQ0VS4laZGe68qDp
bX0wStzwRDK9Dzy9dwLwRqYnO8O7ioZrFowzNpmBXvfYFVyEppXpAbWzr66EXLHqZYWqqO1ELVA3
BZikorb3tMjKLEyQhsLAhJj+NKAr7Y2yhsaYSkFU5oelXjSYDki0YExqN+iaChdUDuYDySwH+sRG
G3CD8KAEduA85EZ5Ngd3OOoYKTzkvlOfs84vQ0DGtYtWZZ+hawZMa+2p8nMrFWq6KitqSG4aI+a+
x0Y7iIl3O0lye9exlH/IE4McMX/pfiqTlBzQ9oYkWA9+QIgyZndV7RSYV9S6O83T8kAvs/G+dcFV
n6YuIAWSA/DZ2/kh09zXNCvIHR1cuhtNt7qzpjaHhKzdHPpS5zs/xRBEiupO1JLMAWqnLWLMFlFw
3tlFiCga+1k6XVRpeIgpk+BVd0i1HzAcu+9cTUWTBzEipZLhXHepdZcRoGaS3mBHZVK+Q6sAjYkU
8nfg//FPZaHMaPStNBw5FI8VhmyDFMz7Zz42PT5QP5yhAV0Gyhqcgz7p/UdPm4vduUvjxs3pfkBd
Km5dNwO1+pAFBbodYMkBWsLSNW9v2fSB0K7YtZQBrQ6cXmikuv5y+35fpcGAGsydDzRBgLxG/PD+
6hWOL9rMa5xYAfuWUg8S4+NBc+lZUrQyC7Y5SrTiUGAQd9yESUxcLlI3w+gS1U2dE+eZFxTa9NHS
9Ivy7d+317VqZi5goUKLzssyI9D5mCMvoU5sWkILNMP83Jukg6yZzY+3La06L8QFBCRRM+Z78R4V
VprJjjpeTAwndFPAkwejBE86ku7e/HTb1trbZ6HJDJg82oBXncbMszkivYTGvqq8AK703irYRTMV
wH9ejckiFhmFvzG9v+o50d5GrRHA/KvQkhdZj3nljsbmV48H1e72krZ+fdFrbog/1VqNX3dqzL0A
lGn3G5XMlSOO/QIlOQYysILlEQeWsPAnW9HYKIu7hKSHQuRR5dsfaIqgVcucjQOxtiLkoii/oNOB
wZ7FCffcIZ8k2kmxP5W/ep7umjz7F0tCFxjD/HNj4AogP6Jc1Usy0LjKaNhZ+tmtWeAaP4Xd7VLN
/1tUHJ5ncIUZ8zgDcsElKhkDWDQva8OPDRNjz5hjZ3a+L6YtdPXKlX1nZhEG5fkgi1GCJ3Fy4wxs
l9pwQly2EWavHYa3a1mEGl1JBsBNYMQo43o4lTwg6syBuW03gKprV/WNoT8wwDdBHejBJyU9GCL9
YXAfh/rJgWpVnZJg4r//VqDoTwj51trCCU1Q42oyCJzGRPovRMuhbzze079V1vuPGXsmyQGNBxze
4mhjhgpxTKH8eJwgRv8B4CNNO932B2vudGamA4Ogi37h0nGDX4Vb3mRiJQkNpU4D4LC8Og8xDHDb
0Pyll0EnujRg4ACwz7nSb6e2AMbLTfxYA9xw+J0hziLZXUMhEo1YENMYAPz9bxbnpb85EiaIoHua
wqLfij2vwY/DH5X9tffRx6uPqckx1LLV31g9hm9WOd+HNzadAbFsM8KmsMqQVSXCq1fHB8qel/u2
EOGgtkioVz8gimEAc83ciUsSpRFddz1JUxojApsMFiU2YOb0S579uL2bq3aAKp77EDgsS56/UXYJ
Q4PKj83WAX0haBj418Rv97TbuMlr/nx+PXAa0TsH9ub9FkIohAGESP2YN5gn9HZZL8LbS7muX8LD
Ys4KcD+8RugPzK7xzVdCw76AvKdyYvDvxJWwDqXnfBSDwmeyn9p83AHaUwRVm4pAZOnBz8nP23/B
iu9FwwNxoOegG2cvy0caGxLbyEonNka3DUqZ1OE45cD0C23aePBXPDBMYZoQGiGAQC8bL4y1Orii
mRM72qdJHZMBmQRzjpn5vd+kflhdFhwV4JMYxzSXtFeDLlhbj6YTt3kXuJTs/dHdD2KrGrVmBhR0
M1DTmJVPFm4RsKmW114KGHbfxq1uyoBgYHIvIRZyuP2dDLLitnBQiDsLg4D4dHlUZmi4ntmDHTfg
VXwcNbcPTUWNABoOmOB5sKUMuXrS0CtIBWSEwNWvOX4N1Y2G/yp1WX/CGI0Sgdk1xhFsFSQQdtkA
BW5Yj4Ilwz2CSrXXBKR+nLwcwqQY+BQgNuxCG0TGEf6qXyMzgCMxGvmcyFpFmFmqToPo+SlLCydo
/cY5OFbin1MB1RnLlm0IuBKYSzKtEg+J5hNIjqSYWUnKMXQyl6FsN9kHanZpDI1RthuHLtmZPG0Q
C9Zyl5SThFaObT+VDXWg1dk4QaNbMuJ1Cm08sMGHk9VPlyQfvlcl/gIvc5O7AZjusMWTCLC2To+D
pdgdxpRBKWBAbnNIGv/AhU4unWy9cybkx2TQ1UHVeNMSO/fuPSCIDmlC6xBDGuo+KViH4DfBHEie
HCdrnwNGUBvi3kZ1JoNb6KtdhmF/JKeee8fREDsCsSEPOfA99waf9Hh0rfGxbAb/Izou5n2b2PpO
0/QqyE2mB5YiOji2lfurolgQa8h0lwKYFBW8hT75gK3C5In/kTUdij9j0R6KivK9B8RW6EpwLOOf
poCwPgl7nvVRQboKCHqSBEjmkoB4LWakEoJB4U6MobQ6MypcpAsunaCUYepVaNQ59OgwO/i7V652
qGjmhDrJvLsSHDcXKWzrTjTFAEl7oIMS0HmdRQNBQGrl2pHJwXhlKeQFkJQoSEJKz3ipioZuuOKV
1wwdR4x+ANgGlPkSyDHYHrfK1rFjINN2VfGi9b+kgtQwA//O8J23W03ia5YSpMdvDS6ebJLalqZ5
to0Zn7gpvyjyvaIPWXq0ySPKnVCxmUK5BdVa8yZvbS6ebERtiddrsIlRmkRGkKq1t9TpV540EPLi
1s2dHUAEFyayvAczgU1dxD5dJJEgU77hqNYWgSlJsFJYqEddIYhYYmIYCMc5luSnAcUBqNECybcl
mbbUL5sDUh8yz+j5zfOSV8SZyoT0IF5PN2aVre2p5PWx4SDZ0vr6u+p7C6IwhHwqLCcPR1B7h/ag
N1HR5IDAMZdHWEH7mJedt4FqWV09prLRiXFneurFg2APzCwUxf5CvLnWZSjgpbtkI2pYMwJWKADB
QXVAvGVFU+sLLU9aaceJ+C2TKOkiX/y6/dysnZO3JhZpBedFR5QPE/a59YogU1v4r/mgLYJw4G6w
AoIy1PW0wZBTKAg7hY3Gbf3FGegU0lqNoOPXX+2mRUSebw3Zru0ahuaRPQMQBuz5IgHkzC4qxeYT
I9zfwMAlZygT5DvCQCG+sXlr3gqksUCxYEYfTc2FqQS1ZJZOkxcnXi6idMA8Vy/FJ70vzFDP3J+Y
4CkjCkT/zhMDwWxHDsHJKp9ZscAIOPlW8uD0dhmgy5GHU1Zn+8aYtHOGQBE9L5AmyhFMsWXJ9JPm
5SRwRYMife7UKGH6Kqyz0jjVHDPzqFY694nTOgc/U8kOMzbVawbqsp2jaf3eAv9z2dlgD0KVN+qr
Gv8fGRfKokwB9gpELoqpCkVJZe3wqgAgDW3pyMIoKJ4Bibe4BdG214BF5Pb+bWzfkubCUSYZC2p4
sTvY4IOinwYpogxy4QEAQ4dmlKFRQbbhttHV4wGqOQKtJTCZLmGdNamdDvPIMCrH88jrV0DsPia5
727YWbtZM2Hqf+3Mi38T8fuJLlQ1AYU7oCoAsdbAmvyN/VtJkED2+o+JxfEz/QIT0iiCxuA9M4v7
1sYpt55ThGP/05b9mfJ/sxQXs1GV1WApiXjtHWgwjC+13OBb/xNCLx3Fm8UsExRhGWOB2NOLORSl
7az6WDhaYFrtQ99mP1nlPGO1Aiwo1pGR7JLnemDXXTTafCMCWT8feBeAHyAAp83//s1itbYakW+2
Xiy1ItQw8lhi0h0kI7vbe7oaeMxDUfDuEBlDqfe9HVulFSu0wYt1RiMKcqWitgNpWEdrJF8a2/rZ
5Zgnn4aTO2Wn27bXloioANHBDMu8otPt9IpIXhTz9ww1sLLibD79GwvA+4JHCqiIZfhhNvVU1j73
Yqd60IcSe/hUtV9v21i7YIg9wNWAIAQjWYsQR6edLhHcunFDMSy675KNXbpmjUTo8dbA4gbbms8b
rxtRqxQPufal9HpQLxxt96yzB4/uelT6Bv849DLo7UvPL4p1QT/8vL3K1XPy9q9YXHJRYqpRTVim
Xj7oEArIUy/UrB2rQdQDpen0l0HBf/T7ttWNvbUWk9hMmQBb4RWI3bKOh8J5bQtvw6msLwyAbYRv
yHevkGOiTKF/kOZunCsWCzHeexyABauGFnhDP9tZ8Q1p93PX0B+56W3s6h9k09LbzJ0jcErPFfzl
LU9dnba2USM+7onQw84tWOhOtD15vdUfHcGz0PGS6qXIRhq3KXJWzGVVUAYBv4VJkyrQuPYD0j/4
AkzKKEtoejSk6YKyXA1RMbrljvvmt3FsHPSRfX/X+04epELXX6VjA84C2P+ejZ6CQhBpSuhbAXx9
+xuS1WuOxgiAhgDygPzsvYepvBaYpdR1Y5PBUfa/nVarznJwzKNrcmNf5yUL+xpsDmKqEbt3jbfn
pVkj1x59nGetfHRRGDuUaS8fBzCSoIE5uRglZ5m9gzgyKIlGWvoBGhX0mCA8giNx9DulaHMwUG0I
AazUQuAZxB2SdOvslxmSUzClfaC0r3dcE+QsbDRSC2cUr36z4R7+PBjLTwwOecASHUzfXEF6kq4D
oX/RohhboR4h/O/NaHyebACZu/rJ7Rj6k/RR97oYpY9HQ2sASiOgap8S6EBPKIOQz6XOTh3JZSAs
cU6936nMAFQnWzdh9bKhnIo4fKY0MxffCTQd7dQgAIkhbrsjdr9zyPH2UVg/Cf9YmP+CN29a1lnV
aBvIVvQ+i0rWRloJVoHq79uIvgPSTWw6WKivQB52moJw3DPd2OPio1nWd5NrbphYdxr/2FimRHww
zKbqbTeuew0aiw5qps70y4MeQaCYjC0j3yml3VWy2kGW9svtbVyLt94s0F8kS1Zn+WWOSx4rMN4n
5LPrPNaorIHL/H+zs6hHTwI4P6PAIoUXSmiPdA+1iMwtSv+1zOzPAIiBLibgP/OheXMooA0H+mhR
eXH/Wk/Av6C3LQJig5l1IxhYPd/zpMn/G1qUWIAOhwYVkPHxZIUE38nbcHRbv78IBNLGaUGNhN//
DJqBGf+yEWav/f7M8IosHxkl1BXebxT1Jkw3sdqLjYaCs8gHXbXG/kXUibEl4GKAwEIPdnG0DEul
JIGWY1y1kV4+JZ+76l98BWTFM9Pb3FB2Fp9b42mSOpK4qJRDE64G48csjv5vtgr9DfCQw7tfTa8D
EtPisTdgRFbHiYC1YYvofvVjgMZ6prBGL2NJUmqyNDNL5iNNSOo9ab/RxNtYw9q9mOPJGTYzp/aL
gEsXOgiC6tSPE/3om98RR+9ydmc105ElG+5szS+/MfXH2725ginYvBi6XOi2JhfDrYK2DzryfNuZ
rG4YunRAec/FtGXrQvh67UGDy49dffyAluuHsXMf/4UJF1wSaGwRVBsXh9dvnTExbOnFqY7CXBNM
2VZjdXURbyyY768gyye3aBIkS7wM2yz4F+hf6MqjN4fJWYAgl/DEdOoHVlLUcVBoUfJXk0Gp4XB7
j1ZPFeSFMPaB2aArjArlxmA4JYUJgUF3Vvh4N4ZCj4yy1sOm6c2Da4Lt87bR1fPlufC9c/sb2Nb3
2ybtLqlIMU8Cg0pR2ve1vFfev0gVYAHUGOBx1L1lquc4XZ/bNhADGsjnrA/j1oDJagUYyPdZNhG9
/Cu0jc4N3pmQ/YqrEk2scCgC8J+ixcGsZ2iZiC96veck6LJQN8HPtlHnXTt4/0faeew4ziRB+IkI
0JsrZduq2eP7Qoyl955Pvx/nsCtRhIiexW8ug2GqXFZWZmTEufHpz89OKM+/ocyV2jqF2Vj8sIo6
3heh+U7J0r9J7nMrM9+cqGYGlJIhar5qN6MBuciLNR7TGKJUHR7IFZewGEWZmoKflqY30Pz10/Gw
KuhQ4HnuygXxPnjfyZlvfSi+tiWNNrYZV9VDClHfQZIL845IuPx4e28uHYjz3zCLCkgKV2bQNuZJ
q1tgYaNPlG0R7sjQq8hOrBXb2/aWzoKp6RxvRC2oWMzPQiYalpCT9FCLapeGSAa67rb0hpXbY3lu
Kd6SPLBAL81v8lokM9262Om99NnTBpdm5OyhtpTYbhX/BYLJ71nWv9WutlGrZGVSp+04f/OYZ8Zn
flKs4RXJrACo4mg+hWV4Z4XJSnB6zWo9jYxOWhYPV3allRYVqpBGcFmfEIKy0myLJnTXw6l9ijLK
rslObrqdK1sbSfcOKB1vbi/jUgzOg12eOonxovPptcy6IrGKdVDUe2VM/hhWuR81d5vExVpK8orI
bRrpma3ZbEY6TZxZC/laibw2dWjxUHvqRzkdP9Y1rIten6Hj2eyNXjyMqEWu7KSltbRoJKXvZBrr
vA0CgI1by6Ggn/z+ofqk1Cuxx9rnZ4MT3bgcQ5/Pq8ir7jX+d3uhrs8bXLi4F56ELNNVbYRKBRn9
vuOllv9K6w4m7qMm/L5t43oM2ODJbNB+OOFzJx9z5p3LQSM9B27+FNmhhpbUyvV5vdcuPz9LAOqD
nHmQQeonxRe+pXKNkFP2KAAkLPR8Jdm4OBIe6Kw3kvQkZS9HEiqjLBfeoJ9GsGJI+thrOtXX7pax
WIjrgSyBfW4O8RSqDgYztQGUkxwAb8Gk8tZzbbb5g2KuudrFwZzZms1bkY1B2HogwOV0Ytastpq1
u73w0xcu/dzlaGYxuo+iT+/rjCasHN/YpjVsTOSsqAvrze/VXP3SeEjS08FCEEJH0mxxxtiofaMP
9VMbSo+Fax3G7uPt8SCluDAiqhscGQixqQfMridPIBdYq4P3ome0q+8jU0mPiZw325rbutr0WqPd
eYo57hK5Kz92RutvQ4Did3lFi15reeNLLxTanYgU1Uua5v7eMyP1SxiE/YcsrYcDHqz7QieJ9kpE
GB1byY2PuaK39jjSPlGIVbgtA1o5YDyUtR0cQ8UuovDzAUUv1tD11YPbo25S1AWsmUbcHuNUjrem
DrGCUvnmLq2McK/AP2OPYuTfR4gF+hujb6L70Gi/laX+x8D6QyXF4kutl3CAyJG1A8v+bSzE+lDG
Ybv1yyh/FBp13PdupD7AGaS1tlu0RHdtNpziXvdOWlJBUwKCc1NYqrLX/PBHP1RgozNf2ng53Jlq
4QrP1pB2j5EVRDtS+C34nCjfW52obsegy7Y6WnAfFMiD7CKG8zbrG9eWA9/fWW6ooEgj569u4ycb
+HSMz66gZ3s3rJOjhxL1viiq7iEvQh1q4l6+Kwz1a04xB/CUqdqoS3gOueV2I3gAqqQKpKlZSsmD
UIg/vE7yt2klUKFrxt9WvuJwl044XDUTYBxaQdzupQsxaj1QVfT2XtxW21tx9ECLJ50/dOoP1SGV
2pX7Y8m/A4DghgKdQM5vtmFro5K0TtK8F8P39wkUIm7lPcTGGrx10Qxk2XSAAs+86gP1alFHxEX3
XtReauws9R9Z/FPXvB8wAwWjAeCOxjJSPPPhhC5Ii0Hj/Bm0+Lg2fSAry7N0mZCMJi1KyYrrcHZX
NS2NW34JAWbo1kBGgNyZ3iY3Mhtd4RVnMvmjuXek9GZMUi5UN+aRgwVh5dArtfcih9LRCgG9+e5D
buZb3nC2EIrbKumcUle/R3Xy5MbiyptpacnOzc8ii8ZrmqAHhvCiD+a3UZM/a3596No1TsYlrwwm
hhLmRJNIGfxyv7ehnyhoSrmnzMx+qhrsYLXkrgS7SzYm2hjAxzwbrth+ylpOxMaqhJM8UIxWoFaO
VxJ/C+8FoM3/M/H3z89iGKlJVOIY2oJbPddtL7daO0uio1dbn+SicfTS2DbVcKf3uDdhjWx7aVMC
r5riARJqVzU48iqmFhi5e+qNeB/G33MKXfHwPRxX5nHRDulTpEEnMqj57RbUvdKIyQgbWToAWvyE
FK7dGK9q+vX21l9cLxqUeXfJOAx5tvXyATClXkXuyY0B/DxFa82yC9/n6p5apHBItMlPW/9ssTjX
QcuTyD01yatpp8nr7Z+/ABMHXwyLKU3vaCaQhLz8fiCMlgkuUzjhzGV2BKTIqYAeIAwb3lOjRMg+
VIkJP3BdHelylbZp15tHwFfB9vYvWRyoDLiNfB7sOfN4tBvHqkllSAXbams8af3KK05eCOCgdycd
OQkjA0ufDTSjS13pIWg4DTUoJTnQaTfRrHajpWjchLEUfx06RC1RPjMPJLfyTdm64SEPRI071vV/
1QQZ+z7yaLGoihDIbxMflHz8ZpYeHY7gEfdaFA1IXQjeLs6bP4GlPQSt9ruJGvVprORm24ZBQoly
6Fb8/IL3Y2QToEOCLBQKisslVAswS6FI97pgxMDclJ0XG46YZsd/WCAuEzwgLEBUeS/NEKXKo1Gz
UxTTtTPgY8WKgWvtDt7Y4v8szNFZnYdKWyz4wslFjCWNCtpcKQ5nivGSjNrGrFNolQW7RMoPNuuD
ajQvrWY+DEAiPD2907VmI/jlwey7J8mskD4JjhKkH7dnYXGy4bchZUvwfJW4lbSioPXYZJvmT7q5
RRXBLtbE1xbiKolmKORqJkUCWPYvZzoutW7IRUk4Dc2rKwJ6jreyWIDe0/bJsOIAlo4FzVfATiB2
4mU7CxL0SKVVOYi9lyBnVYufgqlv/ejQBIdBkDf6miLy0imXaDblhJPyu1IyCpu0qKBsFU798ByG
x+LX7dVZ3EI8ztmeZDBMaR6IkODLqlaGj6LrNelBcJGA9jUFmqA8BBU/ghhOakt2Rqqoj65h1rDc
GDE4V/crr1gPXSDF3SWKEn/Q3dj92cd0i+eJ2tqdIdR7pWiNBzhdvQ+3f/XSnoIQYYoqkFW4In8q
iC3lLmZSavOTBwe4AnMAFPq721YWbkTpzMqcAEobhCjKAw2aFbgKmk341nQPYbiSwVo0AqkF7Nt/
+1VnXrY2tULv0xQnQVluyxMzQccPzjO3TCQgqbD83x7U0lHhYY5TJ+czBe2XR2WMvY5XUCacBMAu
OSndzvoTR891AUuZuHJUlm2RgZzEWIlfZkcFZZfEqjLGJkwPtcazpaTZZjDA5pJgIxZj3x7a0smk
YfG/5qY/P7v5YzWTcy1maGOo2Z50sGBCMKzPtewEpUzz/opjWzSHfqkmgaa47m5XOskKq3wKPNND
4eNB7ciyD8B5bDFbueoXJhJPT1valK2b0nWXI9Mg/C/hFiKm8buj4AVvrascOiHYlVVwyONx5d24
4HPOzc03ftkFSeabNGtD5kKncZN8vb1Qa9+f7cHYqBJj0Pn+mBEn2Um4shGkaT5mryta+OBSm3jI
KBBP/uNsJxi1qFTS1P09VOov2diCNxgPWktwssNN+5GNICAU5PpOTKwPcli8iUlra1JMsGF87rvu
scjzoysGK2d9YcdMnYUwNhJ3QGI0zcvZz9KHXoaxjohqdPetUNtxcS+0jR35/rH3kg0MECsTsbhv
zgzO5kEawjai38o9mQLk2pF1n6aM2yKyGobtKEgrJ2IBIMz4pkQ4zUEiH57tUzqY3DRCEuE0tNoA
eql5UsZ0L1Zvevwhs4uNMnQHxW2P+ageIpl193J9xWkvzjG8WHRHU+y+SqIOQu2bqjA9Y6CiUoXn
pj+0+V6vT5b1JU5X7qHFfUabNHUpYMhXb7Myh6qBFhbOpZhu1VjbmdKj1//KgOu6+IHE3Lj6yjNN
XVzTSfMdXgMaT+bgeKk1xaHJSvfk668ZvSC5jrJLTUe7KgFDcoz+qwl5iOrb/F30NSy7pSMrRyi2
krKNkFab6G8LPG+88SkyxK3ldTZQwOfQ1A9Zf6zLcoP6zKbSZLt3j0Inb0L1wSgeAnHgrgA8UJ+y
mBZm92BqzyFvbq97DoLvmnvUojtd/i5YXwbtbizufFCWt/2GtLS4bC9cLvUWJmC2nyu/47EBx9jJ
69+qdpcMpxQSdMMfbWn8qQ+p3UhHWW9fBO057UJaWn3yKMNOtnpa00RbF0Mootc4gOWlFZl+kgy5
yKQcN3NnrhoPupRAzaB76PTU2775YhHxQ9sC3Y2yG0YYfyTIgR+y/E2RuZOQVVOLbwJ9a5o27tTw
h1ehrkMbxdg7LUr3agpJ+iTN88cNH61M3brFWmZmAXnK79WIYdm1EznL7KjWLu1QYahZ4A4aOw3z
nc+WKbw/aTduZele6D6nas2D70udP2V0x0TKriV/I/sHRdwnakj6UrGr5E3TU9t1HyQhPkBvNBof
8/bQqqcqcyrrc6cex/6treM7Pf2VFHD7BOYx9+9WtoV87e6n5KM1NWHJ8FzOxmKaY1r7latSp5bs
1n8WqvskehhKB/gwgeznuvitBncUOqJVLZCFq0zFpSPrNeFSroSkqnLoSiDGKmX6F/DluXN7aNOG
nl1k9BkTmkP+RWpmvuFVVNaQViy0U6irT1bvHzSdPB08k7fNLI5CmQYwJSSvVJANUMhWXpTayZRD
xNIea6n4Py3Mrr7ea8a2qhp6zFTH0yo7VL68fwhoOwAiZhzAUOauQdXTHoUB7SQDm7ONKv6HAUwq
yiwEb4Kr9JiCbKhVkZ0+JZVdH5Of//Drz74+m56yrCylqfk6sNxUfjartZr8gucks03CjXwOWJY5
ktRqBqX10kKHzFZ9UvsGRL/5Kezzj1DebQfDO/ZalayEA0ubl9QHSgM6ja5XCSSjkzupDdm8bVhx
KVZG+SFraX1LW3WNUebKFAefJuEpXcXNT675MrIKdZIgQdHEDgJYZfpZb/fjGoPRmonJCZ0Fb7Ke
CW2bF7Hjp0N7B5EVdavGj0+ZbK7BCq4uFEZD+nLKL0CKcgVvHL0sDT3U5B2xQ2e0qw9iGBo2FHBQ
2ME60Xjp4fb2u3qETgan3k9SNNRw5vGy1BUaRKx55ETBF19HTOx7yQEK1vJVS+Oi439SUqAtl56g
yyn0kNpImsaKHFAb5b72k31uVvSUdD95th212vhze1hLSwYlBP2lBGfXGKpiVDrPtfTIqQa9tkU/
+lh56imX1fdWU5g+wKikT7iAwA7Ndl9M96hkjWPkxJC6lNDY5j+L+svtsVwd4JmN2fYLvcBXQ1eM
HF6Iv1TV+zIq+j3IB2rriBV72TNEWGu0m8s2IfiEBIjyyjxGGKl7DFmvRtyjgV35H/Qu39bKG4UQ
tX0wq7Xq6OJyKf81N28cECCeguVAiZyOTuqEt6HYFhvvXzbFJHLBkkz03vP4GYFGj56TMnZiGfbJ
3nC0wXLGbi3tuXSkgNRIACIn6cL5U6gzB1eCtzN3osrwX1Vv1L6EhY9238fAxeXe3hyLxkC4g7aa
hBzmtZtBS72Y9ABUJGW5zVRKU1lwN8mgIcO3cg8umaKdnoIACnVUH5TLMxyruRI0SZU7TYU36j4P
GQwM40+eCreHtLT3QCbRUo9Pn5C/l3YSLWsiRREyB+VzaS9EorcRRm1vhtIvXQ4/ELU+irVar0zk
dM9exFucskkICDL9iXH7b7/hmZP3hbASjRCrtfwoCY/WSgJg7fPT5J59Po+CJg0KL3eg5Q+3ADlv
z9nSATr/9bM508OsEmSI/BzzLSt4t7X9Rl9xdWsjmJbtbAShVtLRM41ghNOm2iv/5wTNIvkuVMuk
TPh8Ix6FZ0k+3J6g6a/Pl9cyJq24SU7lCowmgu5oIcvInVoYD1ly33e0030Ns9eUplH5AD34isGF
08KFBysRSmBE79Y0nWfT1ZS9kjZhmTqpWADWrT3h0YjKwbYyWdh6Qyiv7IBFe2hpQMyMtSuv05dj
5hZNjz1rH36g/Pk7XWvl+fvmmE0idx2xiT7pjlwVQLRBCnSh9VMn0ZMQ7EwfCpuOM7UBpGQa+Uvp
C7sw6xBXsz7VibAr0fyJo0GDorWKuuJF1qga5oEU2rjp5mM2wuzTmHB22nLr5R84odJoD2as3GGn
t/UcEuu8TcTHXNGCbV7o4i5Pg9LW+St3bqp2tl41wYPnh+6mL7vopSp0z649xTXuGrcNv0AixDJn
G91TtzEJU32Et4bUSWvHcR/z/vasoy+K4yMvOeEOyJ27ZX3CkxcnqbRXOvh7JLAnMMCAPbLlInmD
vlA6iYX0ZmbutzwQhmoPgQngwyASd51gQI9gmFWL+KChpvBnmH8kpXU/K4Io21bvQSLMi/+jnlfR
aww3hCNKvhVvQx0KAnf0y7tQUgYbUQjpHj1A97uFdiIdzDAgbIQokDexmmr3SYzct17BDSvRB/qc
9IOy7bKoey6TxGBeunJlby0cfXCJ1FymHCbVtvnRR4AgVnhYcWE2j7+TSlrJOi/sXZWyGpkt3rts
rlkUpdVmmkSamjgeannB+CZFT0F33zKBt53AgpckQ8nhp2pOBDB/CoXd2JRuHaQOOtO2FT3SQQ58
Y6XMsjBZXP48RbgjeW3Nadh9SXE7MS8TJ/Hv3A/GGj3R0uc1VmEq203SPLNbOBu0sZKQTHQM71MX
ubaSK7vbs7RogcfAJHO5kNiw8lwMBD9NnaDYaM1nfa2MuvL9eek6h2A6cVu+r1o7a0fu8f/6+dps
M3lW5GriwOeNB1Dfdbi9/fnpJp35QDrb4BWiLZ3Mz7wIXA2xV/pRHjuj3myqvLlTFEgiHFzdnSis
ITGWpurc2OzgmV2s0U6Xxc4gwYhmK/KH24NZOngTnI78AHxeJDkuLyk1Snoa6RkMjG9ZVNlNmNmJ
tF1Ttl44dxD+0CVE8C0ivjVbktavFco+CUdi9LaKlJ7gKzm6vfx2ezTLZgDn0KUNKdh8aQgQ0Z5U
g8TxlcahyGB3nXzMtWF/28xCKEE6ZXqhswmusZUefTeJInol7H+dLVt0hHfhTpUQ/Dzp8By6bWe7
a7L1CxthWiJifPK1kybM5UKFasqek7LS8V+EJN2VWfb+Q4+0LYRZE1gPZazZTkiMsDSNLCscBRUf
BMPX6iULxwaCMNrcIMzi0CizLRBklhJFtZw7mrxNXl/7z2W/DVeyTgu7eWqlFAFpke26oiQtVOQn
w9jNHSsePrT5bghCsKiCiUjKv8wWhV+TXc3/508hI5XUIuwZTY8oesN/zu0ttrTcE68adyKsA1cN
B0PFEqViyBZDnWzY9sPaVC0amOQeQFHQ9D9fblHAw4OLLh0KQQVUhO9uMvibikWxgowpvHB/oXRn
0W8sZZbRJSUTZMjHpvb3q+pnS4tNxPBfC7OsSG0UUml6Lc8RL7Y9Q0ZhytsJ7Y9sreN4aaqgZLUm
UUmyPHPssR+MQzn0auF43wv/aK2pPC1+nridWsyEoxang3M2U4bQeuKg64VTZZ8HBBLg43z/XoIt
+r8GZic77KIcMhwMqMlBEg/uCjv5wu+n3kqeiBafqUN3Fo+oTZGoOop3ThWUf5SKqF5O1wqf11cu
kT/ySlMZBP8x8x1mnI/AlLrcUdAwNkC6rczQwla6+P5sKyEk0vg1RKtO51d3kdB9Inmz193gSHpv
5e5YmK0LU7PZUvqK5JCPqaG0xc6WPt1e64Ub8OLzk/mzzZQ1o5yV6Nk4RnnE77mUpbr3uz4yxqqC
EBMYuKtWGCEoE5+m+MxR9YwyO5AewRrWaOAWV2QSdKB1GeHdefoxMRoh092MFVGL3VhVb5Wq7ps6
2bl5ssLlv7giE36cnUUZcZ5tknrDB81r5k4YPY7HJlp52iyuyNnnZ6dPFwtfblCwccIqujPEXSXt
ujK6u73sa2OYRQe0rrc9SfDcSZO9ibjU8f/6/JxLn9dAV8ShkTs6zLhINqwBN5ZWm1yJQvubQeZi
npeVUTuP/IwtVaRt8NxX8m8hcIOXOvLEO1VB4Pn2cKYpn0XwxB9QhrCPQSfPPVZWDW0PP3TmdHEq
PY214W/kqLVQdm6MjcRlBaFtYL7FSiCv4dQWdgPMFXBHc69Ti5uXq6skSsOkL1JngA4+ro9lfPQA
yN0e35IRHLIFiRwAKPBpl04gTqy4bIIsdaLyd5K/ud2zm3+5bWJhCgE7/M/EbMOZkYTou46JPPiu
K8FdbB1M19r0Fg1w3r7x313DnKDuMtEpoPtJmmDmof1kNFNZ4OEO7Z9dw1RDc7YtJLDztqfc/ymE
7z9QbEeu5EkLCfjtbHyDOgh03/m4aQ1dIED2wz/E21T1kcWGtBwW4PmTSHDNTlf8InM0d+8Jvzvj
/XfmxfdnM4ZsWFSnfYabjhRb7n9H4/b2FljwOWxjyUI6HHYJIKyXu6ypQzlrRCF0DGUDR3K8FrYs
7eIpk0m7CPlaoovL75NOk4AsjaETWRu3vROEXfFu4i121bmJWVxRem4qWl4fOl1X7Mymc6SmgE7Q
ONyeqaWREKhqU8KG+uf8hglQkhUNahrTI9vCO9eHZE30Yc3E7Mj7jSX3lt9RhmzH/GBmVQXILnR3
MJCLK+u+Zmp2NAo3DrW+GCKHdXsxOh9C8ruxfb09ZQs3ArAq0Px/a00w5F0uftGa1gjDIeXbdBcq
xxHC3XLj/rhtZGkHnxuZRd55z3MYacHIGXTr1ygg0exK3craL9kwgIZN0l50fs47aeR+lFJNCmNH
1hBH3CTtyvcXVoO7jGS88je/Mq8/lyDJLMsNckeovgp9vTWy1xq++XdP1IWRmS/pS9+kjyPkXV3v
isyWhZULa2GSLr4/C4p9YYTtRGMQugK5bPsaraJhF6cJvnqo0Kn7koW43E9BkrRJ4pkZCSh7+JZX
drSyl5YNGNOFa5HlmD8SDSWPUQ4cM6dp9UdtyO9RtqcZfS2LsnDvchH+z8w0k2fxfdRScUI/IgPs
ItptexipvfR9A63asyp9C/xv/7DwU4JgSsrzz2zhU67GTJQYVRfUG5oUbbn6cNvC4oDOLMyW3s00
qmOVmDlSah4tpBIlxELoG+uNF9UM7WANf764TvSkUiEDS8rlezmBqD6EnqjnmTPKIUSb45+hK+DY
cddklKYNdRVjntmZXS1BX2S5VjSZY8jZYMdyq++kiud92jfQOhi18JqMXbJSeVge3AS5Ioamij3b
5VobFa2nszs66v/FoXHvvWYlrFgzMbtogiKj5FRjwgoEW7/3Poa0xd7eEosmJkkoGJDJJ8yBj1pP
X2VdUsoOYUNof1vFc7AmWL64OmcmZtdLnoyJgDJc7mTZuIk0J0BDU9d/+dEv6R/KBbRuQW2EvpB6
LXOVurqkIsSROo1vbeQsfnKTbGtJKH7Go/pFSrS1ZMbS9BHUkDNE45EX1WznKakgIudqpI6cSbvA
DyjI+nYVrdGirpmZuYYely35BuMS5F+UfG2l+Kmt5fOXlul8KDPnAA5oKErVxAa6XBX6XFrsBG1h
1yhO6+Pr7W23EHKACfrfvM1cq+DBie3FDMhibdTysza021bOyDisHKGl204laYy/pDfyClolygmC
DAjXOnKqPdA+/Kj4/oqJpcWhpQwwAP8spKc9fQA1xh6gdmQrw2kUPjfW/vZ8LQ3j3MZsvkqpE1yl
1cAC9Nu8pOnqH9zA+fenMZ5dddqgU/OQ+D7PPmBGKN63rb2qyb206hPrH9EZTz04UC+ttACdCl3v
E0fqZVonTmWdb5XkZ7ZG97w4WyBhiQD1qQQ2G03lBoFEajdxXOE10O7ccWW2FscB6Aw6J+uv37wc
h5J0lRVUeuKI4wHhYrvxM9gQDr9ur/nSba2Dn5vyNLyN5y8Z1e+93sh5VApjuvHzYzO+KcV967db
Q/G2arUWeP7N/MyvUbaxLkPKOHWjz5aHduYYcpo4c/pQGx8MQRs3oVAqW7GXhENoIjegt+0nV0Qr
Ope1YedNWiJt14g2FbLGlgp92AyKUsIfI2SbQLayexcO1u3taVk6buhy0nU2vfGuuC6guOq6obZw
uennSM7tUf8qN/9wt5/bmPlbvclFQRKF1BFlRyhO5SSdulaKWFzes3HMZnuElsdLLDxTZeX3hty9
Gsr4KZOV+yLMtxBjIY9MkvT/m7uZG0kkuY07k7krvyYGAJZtW/yLBaREeCNRrwete3k0UFiAIbgg
uwiP+qZo7/z2BzDulfO3uAXOjMyG0SfQEA8DMExELTeqAAmqVtpV+PEfJovojiInzHdE5JdDMQSp
JdWrs0DZA3o2h1EmYcmT5raVpWuX4Itq8JTiI8d/aSXMC6XpBoMYr4U/MPjoZofEKu2h+OjHv26b
mqZlfr7PTU1u7czJh8DnJJ1cv9P3n7v2WVn5/NKq4Noh2UE/EnzD7NAYqRYbkauA6fTiR8+U91Ln
3Qm++X7oIpe5MZVDkJHE/16OwnALcjztyNlUc1rPROFFMM0ft2dqaVEATmh/4X3XSaRcgiZGGKPM
wXslMDf7e5F+rHzTSbvbhhbmjJwb6w4ASJq87uVgysxLXUExaAiof8bhrpD2kbGyLNM2na36VNeB
LpbmIv6dxnq26lYWCshdCzQD5H8691jr1sYS0O1O74Lc39JNt8oSsXA9XlicPVuiiMdgxCZgn/V2
pDwVHi2alK50OhvfP32mMgnbQk557W0QI0/EIKLRoRaQng/3ZVDQDLoS3y0OBw3yqblhanufbTgl
SfzRKH2ySt5XLckP6HeGFeqB2Vqxb2kz8HaR0eCAHUhVp/N7tlJNSUUma9gMqvDF0Om1NL/Wxds/
zBitLhDrgBS46qT1ZD33Rp+1SWV7FLaKfxK737dNLM3X9OCH2mvS7ZxnZ/SsCEyzVKceIbhRIhpC
pH4rRoRJw8ox1Rc8Gk0upJiACNEC8Fc/9GzGhLBux7Khx8BSg+ql0Ju3InHTbKMpIU3PbiK8IOd9
CuJgLzghIqVCrO0zAqCN6+fCsR6l5CtEJ9HOqsfKLnKI7CJtTL8m7hAcu1GO/sRUDfYWCs1PkV4q
923rDQdzFMqdlmsUKlAUPMJk3ztulad22XX9IRLUcMtGah14/LqnFvaAbSl28q8sroUHHUYGeuQr
xfop5o3ab+TUbLZK08jbcSy6P7UalhslH7rf5SgGn7xEC396WWYdMzeQ7rUsEbZmE7cHyHY+hW0K
P5Y3esdA0MeDmPnqvkaVZdMK/sjrt82A09KjEEdB+rtR0kkcFa5fT9ejPc08wuEflp1ziIACmFUw
y5e7twrVKA5Qh3Hq4iAK9nMv2Hm4YmNxvWkNJIelUkL+2yF8tt4Z9JNKEWMjyavds5iWu/eOAdZJ
xk6RiK6pKxIYgCFCqlacQHfIfo+atKvL+EvnS4+JbKy4ruuhwKkiAVmfOujp4Z85SS3r26BF5cdx
D25DweXu9kiuqYmhBaCqNpG3kJ68OoVZhrppLFEHSahO0lQ0UcXTqLUpM3r2uvrey/qHvhTfBtd8
jKPxAFnyVzFcq5Vf+4LpVxj05SB/DP/e7H4To7QUE9jcHeAATh+ER7Hlwa9l1dGEFOn2kK8D6ktb
8uUG1PrMBbhOW1MzlvtMqrf6eBeN9T4vX80SCug1d724gmR+wIDIKimn2cXaNaWh8lBghlt3n3vS
Yyu/H13LkMiSsCvprruCckpRadUmmUYnEnEV3u8K8NvtSVscBPyIvPeoMdMNeTlprS+kQd0poTPu
Lf2+XMNPL60/jdUTSzZSG1QvLz/vCaWcaS1FP5STTnEMy2kIijowwo8AIFcCw0VbwBrAmkNdwBG+
tNXROBxZhRs6IXTLd0mJtHNpVP22Nfp061vFu3vGOWHcclCrkv0j/zNzeFE7uJbVhext+RCZoOFI
k+3fvzrQXkypEh4gV/BnvSnoNTIyTPSesQd3l+8a2e1WXrvTRp1HiJQbANfC0nbNnwbuKq1ofaA0
N3wMW7Rb7TRao4q5tsFkEWciawiuj4f75eJksaROTVnUTFMZNpjPWvHDHPcStSePltHbs7ZoywBd
RL0R7zfHpFd1qdda7UfktJP2o05ec6Px2qaWprjuAblE48fo+tqKx5221+UsMsIzqzP3YxF4SG7C
dqj9/jhFEBtdaaQNRBZrIjyLlkw4pYhFF1TRvXhAVz70aBfNvqU9Pf7dq6yvALUWbLCl6XBUWS+2
+WxzQ6WoDKVvBU7AO25st1Yqb9W1ysCC87kwMv352XXuTaiMMMRI8l2FeTsk8XF7JyyOglIwyzLh
GeehuzhkIoyHRejkXbGta/ELrJhPstesJD2WxkE/sgS5OzltEBqX46C7A2HOWGYcn+XqkxB8uD2K
xc9P/PuT4gdw9FmoYMptTVDN510h2uhHyKJXDsxSsMDrc6qYqwYlknmbSz8k1SiLfeDQaDM8xrLw
wZK0ZF8Sf0KtQvhu9NmPEpnuJ73tWpq66vTezGL9MYcGfA2LsjhcRBVAb6gUDedpyFQYCrPr1cDp
6d1r+/bJ79xPt2d0IVQAe0hJckojXteJ4BKRikFg48XKZ133t7GoHvzqsQitreTL23xNeGhpH/IA
B4sG3QB18dlp8nM9blMj4Wpyy9dEK5+tIjgivfv19rAWbkCo2SFm5KnKs3h+mStwHTc1fcNO6Zao
qYtvfubeWZDdBI367bapxREhX6URinMHzqN9swpSLQvMwAHMDrmRkT13a1K7i/vgzMT052feoZhi
fTFnkdpOyrYTRmyjh/Ha3l+zMg30zErZl57oFQaOLjrKyrP2fjgnF9HZKKY1O/t+UrdlVpl8fzSS
rSL2L1rmrQQ+S0Ng1cGH0fVDJ8bM/VQaPY+8e3E/6S4pt6Fze6kXrlN050myTD1YRAizz3tKhX9V
TfJsNaRPD7L5wQq+iP2Dobw/2sHJkZuAo1G+TriSJA3rvo58px2FfYtQKHSX726rptd9yrhNAOTr
XA7SHrU1PVMd/2Nm2cGP2zO1tBDnX5+tdWwNge4FfN2C0Sl9BH18+/t/04GzGOPi509LdbaZypyG
OK2afr5UbLPE2kSVtBHCYZfF/Un3BVh+m/730NZPntp/yvO1vOjSRQH0CQ62CY1IU9ZsL+Dz43po
Cs/xIvmktS95/SMVGhS3uwjZqXgTKtohraWdIoV73ZM+RNI/nNfzXzDnCO810S3UlF9Q6eqLmLmf
2sC6uz3NC74NKBz1pQmkPjE9XM6yp6tF15Wy54jWYy88JTQGWStnatmEAQcHuT7c9cy3+aZeGLGi
e06g7avkflTuBXdts0wB52yzgN3lhUIaAGLkeeenHqD5ShuM5wiJlX6TDQTl+0FqaVWohUeEFz04
NMkRZYZLX7lFWspHdco2BnqzI6VcS60sjlih1j7hwKds9+Wkdnkml2Kv+U4tvcTJV6347WUridpr
/niFFrFJTwAmFdpj5sCzLBFbIuM0cPC3vyha/vQ9dRPVv+ui2QPbf2jS8pMSyY3t166/EkMtnH2S
w8QsU8cg1+LsaNamH0ZKZPoOvHmb/ssY+Jt/2JVnBmZRoFAOiBG7hu/k46MUPQY5Zcl3dxcxfzSo
/Ye061qSG0e2X8QIevNKlmtfpVZrJL0wZAEa0BM0X38PFLuzVShEIVp3Y3ZeOoZZcIlE5slzAM0A
qu4qXB7NKbXMvkGgubbbCRxvrP14exDKWYIIMYiWgTcCtu5yF4TFWA29wbMTgSJSUjizCcJupkPl
6KyIv5+5ySF3naqZYAUKtbELDMvY6nj9FBEkpkqQU6Mf8ZoUHnru6LnrWIYkd9vPcbYg6s9X3j2s
Ky0OS2MtL5FJ7I0TzLrMoXA/V+dakKagCIa8gIwLaN01jyYXwbrRjvf+PNyX4frRnvgbWVzNhlAe
2jNT0p5LZ+Bdqx6mAKJLYz7S5tmu1ykJzVy3vZVrhnqe4PEB06/sdFevdoy8QtQfjPvqtRgOtzee
atIstPELpJugopfcT5qBHz8a1+y0OPuynp9D59Eqx6TtdeIpOkPCK5/tPcdc3a4OYagr39LRfTD6
D2gNQM+GDq6hmjDQRQkSHcF6L7v3FFrZeVUb9JSW+84+LJqkkPLzSJ4gx4BGrWuqI1IWbG3w+T56
nt7S9i8uQKCDgeFA6hsVA2lnoWzUWPnS0NPoWWQTrKR5m4k3Pfod+k1uL70yaAE/VCS6ngDRknMZ
zdL0eTPb9LT0xpCkFbCBc1F0z0E6zA1YQ6yYZnQ/+9kGKSq+8fIGajSF6f9ypjHSpApEgCQfXg+Q
JFG0RIJK5gCAUlczobUOCMUS0ESUOYaEOmuzs8Iq3AQBZ5DQbiEIUkVvaAKdNZeU6jzDKkIavEkE
fOZyc6IfikP7PCQnfw4frBIq9jzd0HJ/e8KVRyDAmop7EAk4KUikrKnoyit6MuvhR5jX+2WNfhUt
Cm5Dr5lO5YAgaw+wFxrR0RlzOSAhZOlNYU5PFijatlO7NC+j11b3E6jrNXOn8vgIvkViAm4fi3dp
ajFG3i4ZdhHE1uaXvgRIx2uPXu8vGzJb9lNHWnfjdO2iebIoty9ax8HEi7KwqE1dGo6MzIdO7kwB
y6qODY02kGGIh3KJlwY0cShDlgEHo3YfoXUHrLgTqh/p4rwfKAx+FYjOih4RhRRATuuwWZuS4cHf
oKgPyccvre7Fr9o4ZzbkLqQm7YLUDmFjHvf1BKZwv4n95c6Z3t+Qj8Eg1hEAQbBxyIohNtqPrAKi
bSezOARuErDX958A9LADUAOWVDQpSMB3pJjRxe7n7FRSvu/bzyiLxtbwCbKJt+2otr9oaQtQg4KH
k4kFCFRpFp4u7OSAmjlF6RfgbQPoodtWVMuCRwo8qIWH+ZXKqeeQCjwvnJ26ZbfaSRbeDQDtsv+n
FSloy+e6qxxnYqcJvF2d123K+VsO1vrK+PkXw0GuBKBgNKQG8tuLm25VMWKWp9zZBF0yRHFaf1uG
v/G1yJiIdyQyZFdpkxQIiM5vQeM0WuMYRx17rp3h6+gVmlePag/ABvgSkMDFs03yS3k2O9EcgJK1
Wnu85hzSxk5U71fWv92eN6UjOrck3dmAS/AusubyZDntrgIlOrR9HicjiovSu8syf+MTc7eu4evq
e3FTZm9ubWkOlioqEelNHC2UREO5xkf6vAcD9go+pnD4Cg6DI8Tpd5phijeIfEWj4AHmOkCygMuT
LkkLEobVklXsFLXeR7ddoemTbaYWwyvqBJcNgPFuHwfT/OgABlTM0T2r8zs0Um9u/xDlwuJtgbIv
WhSucy35arMIBACn2m6HTW+0EIEJQbQOsPFfGEIo8ge4hwhJ8lYFK7JsHOGtprnIP1ZeRnZoByUs
TkfQq9+2pVxAoF6BEhShgXyLFmtHBn/A5Fr9PnoedBJyus9LW5SlQeqNM24QbvnxRMJ4/Of27xen
6WpzgDdEdACiNi9Dy7t89HllE5CnNevPoLmPwMjAqntn9bZTP2xvG1PugBBFReQ1oD4loyesiAwz
CG9BrhW+oLElNvuXMtCRz/7h2rwaEsh1BHci2ILk6tUQ1QG8YV+dehcsTlG9vnhpuA+zfOcSvnOh
G9rESzw2G9fe2KvxBHXRl7QGOUtOuSZUV82uIPgHxSrAl1cJCAZ5LVJZ6NgP0a4fLdaXtoZ6zoLH
wnZug9+ggdZpD6mmGAUZKEsATQpAkXAGZ8+13Jx4kaKYAXqpRwEqirLPrv3t9jKq7k+wcVmAPUJB
G3H/pY3GX8nAZ8T8Tri3i61Fd3a0d/hfZC1FRjZCHGzDjPgVZyMJSGTQsgWtHwqI+3Zg+8m0ntdS
p4anCoOhZYDoBmKnEMWzL81kqYVQO4rALmZ9iXyapOSX2fOYBp9Hn8WjtfyFwzi3Jy2Q60DcEtoz
cBhlUnq/bVt3T6tchigImLijUVyVd0DNcf5arxD39F1GHrz3F2dAIAZeKRFxgjldegwxFnI8J8IC
cTMINI0ubtpVc2qUI/ifCTkljlz7WpAQCN+KDuxumdvy2aZk0lhRZlcRLaG1DgUAOCMp0BinYenM
DjARL2PBlyWdswOIrRjUfvl0mIu02HNGrbt2KFPAfDJ3V43QoNT8CtV5RdocpVukkuGrpB9BOMjn
B58j2jFWaCpXn4t1PlTl+6kABU+XD0ZJ+AUUpKRdF6w0s1YmOuDSNFmQD5h0WQnVop1bEH8/O64L
6SuK5n6QAUZxCJoNTxPGqL8PzgvEMMDbmNL3vbQPaVCDuXINn8rNOGteHqo8Bgraok8ZNXpPRlaU
Tg2xgQbRLXcfQ/Dwgfkl4UC64G6g4HPO7cSzNCNSudFzk5KDIwi1QWwHsO+A0CSs54R1dzaqeA4/
3PbXfxAG8o14bknaZKs7AM7HBjwPs+BQdcWhcv3tyPLdmHn3E5hY4jIg9yE4DCJj+Keq/E0VGh/H
NNc8/ZVriBAUgSyuRNzNl3skIAEn9YTQ3p37t6ic7oFE14xVZQKtFCgPIfATSp2XJrwWit4NA0wU
rV/0Y5iy9CEEAe2n2zOqujTABCDCJvTso7Pq0gqvgZlZQhD3z/68oeTNzZF9faq9xwGq5oHx4bY1
8TV5+RAwIRsESRcQVEpjIuZK+pkBNef4FYsbHh1YGd3RonwihfMQlVz3QFbVZZFO+J9F6bBFRo/6
eQ5025L3T7xhNKnM7n7hUHWc2fgAcfqdwf14AfFxHAZuCwEpnWaTciHPfoJwnGf+xGbLumYrA4lH
F8/OhjLNM1P9fUSi4HpEZU2ORT0OcdXIanGPkQ92+WM13q9KgC4VwYr6HwNSYOENxWDkHVYtY0sK
iHB1N5rlD8fVsTqo3Ai6DoHKgIqNYEC+nKhyRnUI/PPFiaDHL/bW8YPFlsQpym9u5m1u70TVbSWA
OB5EtNBWKd9WYUUDsPZgXyB58xQs7sfMZZvAqX7eNqPc8GdmxPE7W/tiDhfm95g6z09jSuyEmGi+
I8a2KKqY6R7IukFJEY1lVsbsuRiUUESjA40b2saZ/+5GFbEZ/jt1nikt0wgPy0qof58MSGDgQdq9
1MH7MY4XJqS4HK04/zEB/j572vc/8fy5vTBKv3c2CGlPg5e6GwLhiUpnfJyp9YUB5tgxD31l6UtA
ptfe1rXxq7c3YLyAFuCJKmdIfFo2YR7N4EiOsDD7ot5RP+7/ApguqAKBeEQUhueG5GJRZ5mMsAX2
PTI+F8ew/uf2vCkHgQ4PZOmgSHHF15X23hjVtClOvLGROQUjFTG9wzyi+aarNO8mnS1pjeZqCJkP
xvwTqLXs+QCa+8nbtjqpT+URPRuRNGEtDQE9ZRhRkEZ53NJ5M3TuI1/DuwJXLl9W3btJOSyktgXl
GWhtZTwCC4dmMTs0elF+X4qGmSXpAgNJ1b+5F7w/gtNIeKNaeOl7iFMPPqj6y1M431kg8Uxu7wSl
s0H3imhcBI2gLOUZFD7aWCieT130zTQ+OM0Pnn+6bUI5UyDcR1UYEnNXLXFp0/RjmWEEA0tW7w5S
C5wd0HJ/24ry/oSQA3oVoQyGGtzlPNXEKTkR6zEw8ovV5rY2vB+3TSgHAr0d9N+GuHFsaScbaRZl
RQD6q2KBoGBC1thHaVP3Xlb4NOReQX0AwnqUaeUMGPD7qWkg1hX8bXcYrR0vw9DF7eR96OfwKaiM
T0u+6qrdivfGhVUx9rMrrgbwzA8IMO/ALD2jGe4eziNxvfG1r9bf9mx8M5pxV1Nda4Ri+0G+E4BE
EF2HyN9Iq1Y13sTLEF1aYfjQNUXckwcfULfb66Y0Ip5RAO+iaCoTPxFgnT0W4mHdOvt1fTYi6Hzu
b5tQ7D682gUGHrsP7zXJ/TTDWFZNB4Wuskz6hC/v39wXnxfmz1YnrKqmsFN8fs3AjnXfvp9fEbVq
oUcqgM2AbQrvevb9gdOlrFzgpwc0sC1JpQkEVLNz/nkpfhohLt3PEFk5EbYt8zewbmhWWHEyXWDZ
//ArAiEmS2GgGT61oxzgFrzT8XQl4NehhyXD66DV8QkoTQHLL1JZvpDfuJyqjM1NawfAnwRCZ7Qi
m97+bc4knm2d1KTKEQBI84duD6sv8yOkRd6ZFR0zQDjQKF/6B3MAv9MSoTbYGFs7z/b51H+6vY9V
RwUnG0ND9ee6/rOWDkcWGwg1Oy+Pc2Q/TH33Ni26y1O1ISAiBFcNQ1BIkSbRsusmdLMcoG0Qka/P
zvuPC5qj0a6MDCqENGUwEl8zu6lGez7Z3S78kunKBqrn6MX3pYuAhVMbtAZw/4Z3V3jernGfZzvp
uxDC8Pc8+ki6zyvLEsfd3F4dRZCDNhhk0QHxRBpazlewKmrQD+dM6IgsY2/6UToPzLibqkNDNEGb
Yu+hhoSMj8hECqKfy10eMA6hUEIm0IycjPFhyaHPvH61u2O7/GPWrWa9FLsO1gAzEcyoWDDpxeOw
Mlu44fATi+iTkfvHvvLesoFvb0+fYtdhTwN2jLepIISQlm1uvdUz+MDhpHm80E/RX/QpXRiQtnUU
DfbS8hGt6XU81jtXx1KrmKeL74sBnrnpHq3ZSAbj+yH7TozNbG4D8vP2HCkW/sKE+AlnJvI0ZCRY
JzGEj+YEmapygKt59s1yG1YPTaUjYFVs6Qt7UtwxpAOdPH/meOgE8WIj84dIHb9gVwxH6BndHpxq
Awj5Bsh2WOh7klMTWTROJSj/+CnvXr29xT/e/rxq7s4/Lx2acTTdlAX4/FLGrNjnwyYan3sv6em+
fT/1IyDEqJAiQhSNy/IzlEQe68O25idnerYGtmnXT8TWFT4Udx3I3oHHCoCzuYaz2Qy0WW5nj6fU
3/AaVECuF4uS9RK+n1kWGEXwciL0EEVC2QMYYZHbZkPGE6VVnLk/Vs29plr5s+/LK99UBkeLbzme
hmNvbYpas7FUB/P889LKT07DCjLg5zsAauQP63zft5p3oGIt0LoDdJpt+agSydQMfT+bQ0DK4QSe
CtwtpXOo12emQ4gpOMpCmEHZIQSwBle95MKWomSWxezhFLocja9znLafq/R7an+ayreiiz/RAxKt
wZH+MsKE+jv0x3jkcPscXQ8V7zjIDKK5AhlLcCZd+qCmjyiq8nQ4ufgNpXuX0+06fKvrd0elEDwy
EeugeAhSDRmWgd9QlwaJehzXIG5r5Nh0jdLXu+7SgrQtIKlTR62wQJsYNZym0Gw75feFOpQLggQ8
SqV706iCtjZzuz9ln2rj11x/u70O17saPx9z82cvXAcBdlt2vDHzAcHgwc2SutQzPl+NAI9OYG8A
VBG1kauuDp4PCwAlrXH09xHPYsap5mWgNBDhgQlOHtEbL91nTUpMMIgW6bF8rAnYYDSfv5oi8fvP
Pi9t1bat2MI9fJ6UGzQpx7nxk+ga33VDkB5n0IQE21Oap8d0dGKvK+LJ1sRfKgvoC8ChR9IRUHTJ
QuT0BNSdY3Ssl29puGVUJzqvmqZzA+LmPIsqfPRyMDsaomPa1eau60kdR2gdfmxQl9NEripTArJv
o1dcgIikM1c5xpy3KFseoWFmmXXSAtcwvRu8j2UPBMoKWA+QpIXSsi+kpC5pG+OYBSPdjhavH8rK
0KmZq4aC9CwYNtFij20m+WLOimKcUNs6heN8Qj/ZQzA5e6svN+885hgMdK3w7geJmdDPu1ycLEIa
fcrs9Ihk4DHi0zNAO3FUeZpNduXVhZngT/OJKFNenUS7CQzmGOnRmTvEklPiDdkzuIKSNa80F8hV
UAlToBT8owGPPJrc0A9RbDflRUROVVWZr2VU/q45czbt7C5xSH20IKSRjkJYdYbObUq+2FmthU2c
0hOYQ384/Y/ba6T8+h9fjO5zoLekr7tTu/iQCCOnfJnDbQTx380KarvtbSuqJYqAZfAFOzpQYtJO
iKxsKYbAI6fI/t0v35bma2N+navv77aCFCo4fXBAIZEqP/7LxRvzISzRyRcIBq1kGNBE5tWbIdfl
aq4CcpFbPLMkZvXM7YzZWswmWqlOPU0f0U124vaSxx5HU62X7XI7eGWN/fMvRocqPBp4wfYD3PCl
zSnLfRvENeS02CTJkOwuvL25PGWBTpj9Gi4sRndmSXKqTbhavd0F5DTMBRrhIl+0B/vNtncN7zUz
7CnulyZPMqsCz6zpNQ91s1JIBbfOFvn4TufjFZsHw0Wrumhkx0mQN09eVIyaPTnVEUgtqg9g1Y0d
94sT/b49wQqviEYz4OXReQuKFvmysobFtmZvICfLT0niZMzaQ7aSJFWTDbvbpsSpugA6iBk+MyXN
8FCCho03CzmtCz8ay1IlYEiDcjJ69cpuTVYWxes6bQB40KB/lBs3RJiP1xfkfeUjwvJmsSfXMI6F
x0i8Zs1v5NBFcvMFvDqfzGX8GgL//v5YRrT4mCjd26gHy00bc5tXbHIb9Ew77Z5NDWiE2k0asPc7
GZhBeg7vixBpZ+mANLXD3Nan5FSCFiVZl956Lhar3Y7tsiQFy8L9+xdRlDlRYQBTGyArlweyForV
/gqnBprQ/h5apz4655f6mY9PxrzN221lgee0bWcdzEm1US38TzQ0gcFKjs4rcKjatLTIyanSPV2y
Im79deu6RDOhajvIAfwxA2mWywGmYTEhiIbHsb0dijfd+H3QDUV1tgVE/r8mxN/PHCmiNNTdCkJP
bQctBvKjD54i77GIPt5eKsUth/n6nxlpawzIQRhzY2CpqNHHc1l844UOZqmcLYHjESsCUJYUH5ah
OTk8RIveEA7bNXjqgCxn47u7bXGMcMP9a8W+nLC2LcdxAb785NTdcgQqv7yrQiDMb8+XbizS1u5T
a23AkoaxoH8oXhxzy2s8mQfUCm4bUi4MsByC5R+lbjk944KXE8lTsf5zdJpM5M5or3F5qrGgwR9Y
PNAXQIlLGkuLwurao2n9GDYgHbf6im3ptLwEs20m7x8MoMKAcIixIN98uTZ+0IQUcgJ4EhL6CrnP
40Jsjc9RDgZcBYJVEE2o8mDoCH9jDHV6ZN0SbXp3+Tk5C3kA2aAONqY6mXgcQO8acqLAiUhHphBk
HXZD02Pfl23i2J23ry2SIBZtEr8MQ82NqBoYIgkA0wG3xkUvrVI3l9wZOzjvbt4NrIXOyIGjNnB7
gXRGxG488zarawzO0oobAq1P/nPRPRX8L8aBziPwu7miQiRfQs5cF/5iZfCZ6db/lhY779f7x3Bu
QAodFry00IlJyGlEH2TC0r7durM/x95Yhdv/nynpbRAsRuGlNcZiwlkGJVhHfpn13V/YwLkEfN8W
xLBiyc6WhE2VZ9ctAhKK27p8sPtT/xdpDhHv/GtCumMa7nhoiPdBKRyZST4i30Q0zcyqs3JuQTor
Puksm8wYxFrs5slKsrXZVmmVOLPGXarixnND0uKv4bradovFB4NQXdw3/Dkq73sndsM4K/HPXzg0
aHD+wesjYxdJM1c5IYrPBsbF4rqtNvmsyxCo3D8oMvGSFj7tqgvcTo1ubdHcf2T1T6v5oasGq847
vD6kAET+6SoinEaPu7iGkRlojE262s/l8FZnuj4sMelyMA82NbThIbGMZ4q0hUes+JBlFWLqqmEc
ovamvyeB0yfLYvTYD3TZlxmf0EAyhey9QHOEA8CfwGciDkUnseQ2vcIsB8svjaNb4Nlg1bGXa7ac
cg7xco8ACEIvjBxsFjluOkjxGscmgG7KXJvpfZnXzoH1aanxnapjJJSFhIwaompZ9tUfsqbizWoc
vdnbTOZnFwmVrPiC86u5B5TbDtwYuGjwVADJ8qXT6Yd6Ddsc286h24BvqA49rPu+dG56vtKOkcE4
RuQxQMdp+3bbaeq+L/kbp/EQAwTi2EzQ+8nBnP/ltgFLuafPZkhyNF3aR0MvLGQhpDNiK4vzT8YP
52T8sP78nxsbw42hZI4OwyxOnUP6evsXKLddZAOpJl6pV/oKRhYuTpZyOO1xS8tkhuRdpdluChNI
foZAIyB9CKpUKWC3V2sGBRdkLhaQuBvrkqSr81JPP28PRKyF5B0urEgB+wQWHnNxjQANz84nFrFd
PZNjFqHmQdj0y80mzd5W2hP9z0gwiEe3dGm3JshROr8Ojykkc6OxPoCFOq4E7c/cOXf2gErr7QEq
NiMewNCggrI9aCZkViMvMJyK0i48Bvn0bYnYxlzaf26bUK0UACPA8SGwBqJP8nKkd8GDudbBcVjR
IPcKqS5v0KDWVdOGm0gE1QCmXKGv+nRal7zKo6Nv1HlcldazQUEPNbrsHy9IORJOOvHkP9VGeWec
mxQTexb69LbTQhIli47TOO2Nst8Tr95SFj5PAGFaFJ0nebin+fBp5P2Luc7bqSk/+At9zO3yzqPd
HVh4NBf+daugkNt2UJWHiBQosuTd0890dSBthBtzIq+NkZ0mVmxzzu6HdN3MvPllQbYA6LQJAhQ6
GRqFz0HXHuJmNHUieJZvmhmmUiAsoqODTsG966dDMthls6cdAXs2a+vHhubfQSSqUyW6hl2JUePL
aPSEdV++ePKyCEM/NaKjVY3u44ok5mHumfmUtYb3yFsv39dzQR/Hbm4+MHDvbwcg3e7QaPbr9j6/
LpKLHwJeE+xDAIlwB15uidkPsiHrUPXzM0hwdEXvxmRtpsciX6xDFhT8K2shIe1P6fjS9bR7rDow
31aQ//uY9na9IXVeJWkzt3sLyzjHtDPaJ3AuFp9v/1DlUp39TulAjlYDwo8sjY5Ad1BInDVLXCPE
fhsWkMM1g0/3U296m4jWurVSuYLzGZIOjdVOyBiMWXocFmcT0vsSLD6GrvytCEQulkH8iLOTOYO3
2C9nGGFlHNhbGu5qnqyB5tWgcpyAB/gCKIAwTs59FIE3GhMl0bFz3F3Eu92c6VKi6tn614SMTpkA
fKkQ+4bHaS0+MQC8LUB9p0kbAqvs+ADaocaD3hXw2VxOWDWFhu8PNDpy8gFUHzEKYjsy/rq96VTz
Bf8PcmmgY0WXzKWR3B7dcrXgL6scBQDonc/Rh9sWVOt+bkHaXP7am3ZawEK9Hprw0Prf2Q/H0dyX
qrMDsT4ccGS9gisMaRBVldeVUQgO1ACiHgBwRF+t8Sc4Q7Y4L0mQbW8PSrk2SBV5Qh9FUFxK0xa5
aZpPZnQsIc2yBZ91g2CnQ1slGg5014dYAvlKAx7+X1uS/2LITjWQvIyOsxv+8mj0CJq+JzdanmrW
AG3jnaY+++andjzV5qH3os3C7eMc2JrITrmOYNUBHhOqCMgnXQ6Z095Y+mXBToF6The7peP9KLoF
Tc5NwX6s0OjWZDF0BkV0ceYw8rxz18hbsXHeVqeMa/dbZsbt4fZC/glzrmYXNOEoN/iCnUrqrKtI
NhQ5VLOO/RhMd+ji+LQ2tpWgob984kVZb82+WDZd63tvflo6dyUEfMHQh1Z+jk6FY0Z5BaG6kB/o
ysa927TdrndGnnhVNCUREKC7qaDppuat/YjLpY5Rf6CaQajiLAH6g6SrIEaTo8V8MJahW4P0WDj5
3vEPnnfwzHbboTej5JvbE6ZalXNb4iSerYo1ZS06BCJgaOqg+RBaZXoYF0J/hrQekoa376bIwe0d
IMmMrm+UoQB4ubRn1BzsCTZLj/O0s742xXuJHcXnBXMC2gPAfCLHR57RlFXdA64TFg/+0So0fBeq
sq8NyBoUKhG9oFIvOYqwny10QLvp0cjI8urXQ/G4BFAXnxA6JU5Hv/E19Z+MxQuOYVCF3xfDNEnM
TIufwJCvI0tVeXuQiYIfDfU8YNCkzT6QtFpbkbZ36Mb0ksLQbA6VG0awjw41cOYCiirdJmtY54PX
UiQejfprm06fqqbaDjUUlKF6FHes+Z2lOpi90iZqyz76+kQQI22QgNvV0AzYkJPxSLvN6P7TtCwx
ON6F31rz3fLGYr+INg9E86BMk9+3DaocJACv0tFZj6v9I0eiAL1KmmlULtOZEcnjm7VvZL0XpkcT
THk1ZbEuZ68yEAKoBD1gJPKA7Lg8VFU+Dc6YIRZbtpZzF+qop3WfF38/8xGjNUIzssChorPzO8yC
F1TUNrfdkOoCPh+B+PuZCVCS5ykjMLFYL5F3T6a9O2rOrm4U0oUXRAVdGwuT1D+b/LWjms/rRiBd
b2R0sjwICBybad6TPv26VuZzYIaaZKbOjOSvaVr13kJgJqv2qbNJx2TWqRkpTcCjoEID+a+rjHDU
V05FeBAdl3ATGgceooamiQWUa3FmQhpFhZ7Koe9hguIV5AAlo4kfVbcaSku4YCIH7EdyPMcKP59n
zuFEzH1KkP3fdevXttRgmJVWQEaF7kmhRCcTVEKGMaoCs8VlMCb0BUTf/SsbdOGiuFHkgAZYyn+N
SP5whC+ECECTHruqeqZuE7cQHeXz/IrYeYjbEDH+uLJf4zpvyNgnZWN9uH00VdHI2Q+QL5lZJFKH
Dj+AVUj6kPZhrrzHqXJeSzJv0Kv7F3V1FLt9BAjg7MO4JVeQF/1cgKI2Og4ZRDX3YEJyDM32UG4/
0M1Cxxf8M0BuXHqbIkL7Rk3wNO9osCvB0rL4vcaE6hoLXbxh/qhmIdN4aWKFSvjc4IV27DK/REYi
d95Q17V3ZjBY92QEBTiyhfmGt2i/vb1eYkNcbRiwCgBWCv5P5FUvLTtlkDMaws9VPP+MqtvJBRVo
M6N7rKi30cLsxAjWuOp1fD7K0+ALQT+QLEJ0TwpG+sFZnWBcUdkvFn4oDQdhAuJqUE8bZoJkebe7
PU6lPTTiCS5LaO/JTKfWgFgsz5CGy5yPJPtNo+eSfOyat9tWVLs/ckS5HREC+sKl4xcgXC3LyQ6P
QL1tLYQ+U/0y1W95i4S/pQleNbbkTARH+j03cgdp6fF7Sd4mO26QKQJL7NR+uT0q1QE4G5W8O21i
TtC6giVub6ww6TROS/d5+3ILFlPnGwOe9cc8/Da1n9/dYYqgDSRpeNzhhkKEKN0eRlEiS5n6yNgU
MSli/m7tS+n70przwXBW28D3repzCpKlLNcVv1RX7P9GgHTQ5QQRKyTT1ITh0a+fHX/vpVszvbu9
xMqE7bkNyQ90c+DgHSlyKCa5qwtrY2fDPZ5Nb31tfAij6cFy2Qer4P6mHuzPZqWjUhCzJPuhc/vS
Juh6B2VX3JxHPjRxGb6xdR91Qcz5c9PSmE6nafl5e8h/rvUrk8jIoycP6WFkwC6nNYU3yIaqDI+G
2WZ833RonSP1mn0Yu9T9GeHZ+WLlHMnhJkvp0xAs677v0vzJpsUYk4Z+5stUQLzVaV985LG3vMnX
F0ZT0HqV9J8agnF7o/Y7ZGqm+f2xBGqsHhjYIfiMt5a0p1k4uv6Sung2Tkh4sedtjX8FOvyd4mCi
cCw6NEQD81VezVxyx+LUCo5TYpLPYakpECm2NbLyqEWC3BQgVhnYs3b+AmIWVAsb0rx6WfZt8cw+
7k12uL3QimHYIIv/d53F389eC11foyNvzcOjN95PkN5ONVeL0hGjdV00XwLwL+O6eBt1LQmI+H67
Q21yP6VOvNZ7F6oGILnShArK0ZxZk5YeT2hAPHgRHgt2D41isFr9xWyBHQP85ugRvWIzpLXTWrys
wmMbOXdp17+B7ezHbROquxgPz39NiL+fLUhvL10Hmbnw6KZNDGIzJLYSN30Y5o+37Sg2GMiVsYEB
JAF3gVx6I2NeUyggwI4R5Enpe8a+y6t520RGqfGfyj2ARgIoSWADoJ3lcki5g2sAhaPwaDf9UzOy
HZIh97ykH9alvOPzuzmnxJ0DzmXEbNCohOzgpTliGE5JQZeNTO9dlx+0zwjx31+5RqQHQJOCaj58
zOX3PaMzvWzoEI+OS/FrQbk2qQMWlfFsTsbeGiL7fkUZZAXAGBuwRbfroSqAM4nbHKy3tG+MGCQ/
pibiUa4ncLpoM/Xw0zzpIJdG3fvcR0V5td0dBEt2frPpdIyJyvMVBaIFDi4WHP+XQzcCkoNZvYyO
QTjGz0Mzvv984QYXIBmkrdA0K4ULzB14a3YIpsyvOTA/Ot4B1UUOmiswZcOvgj9ahn02dWX31hrh
arDmFy+nPx3w7Pllvgkz4yMtAWwOWL+1A/6hrZzHetURK6gK3oBuQe0EZSU7QD/65QTavJjbpvYB
z/DDOHCenDJP+uEV1OqAPfNd60HmpQoSMzjdPu0Kr3JhV4ogVnsmjVFCSrsOlu9RvXxurPAwu6B+
Gpxc16uqNIa6AVSHhOaE/MxF78NcLwEwKIM7+Hc0X7p4pWu6cYPpUzTnvsa92MKrSwcSaD4TXI1C
SeNKzo209hiMAYMrQ7f1R8+j5KW0R+tDwBzrd7ZG4C8Af+A/Q+tYm7W27S6GHmD2hKI4pp33VnfX
jFn4FGbOtMmzgNy11ByTxuinuOncMSGtOcdDVwQJ7bvpkXqrdZrdjoD/a+iTIEqjz22Fpy9y0yWu
6Ewn56g42g7mEqnjAAnqK46EyFkJ8wfcahnfjH2LX78tgvdfB7CBDnJA1xU6zjVihLSFttAxHIOE
RPOOtS9eH2rOt+ImgBXUlETrPxiapO3fmek4tS2iDWft4om6h5S4z2jo3NEiM2IrMDTRjfLAiw49
4P2R/rjqCF7DzO2h4yyqn8ZXnjmvftY8zAU7LavdxyWjuI/S2OyMbZa7H8ro3YxRiJzP7UsBSVGl
hZlBeeg4D+M9L8jD4Ok4r1SnDe2HCHWBJQqulAYmMqydhV1+TPvKvjciu3ud6xHU7n4R3jl0djVz
qrgDRHCCmrjoTr2CnGc2565FkVSyzGcPMNCc6ErWOgvSpJUNd40Wd/zRmXe2v9XdlMrPA3WDfIcL
dUH5pqTzPEcVrYEeAHzWWMb4921f+wcZIPsjlHhQdgGtIsQCpABhMYyunsIZSKtq75P78XdQ4YW4
zcK4W7bT93TZNnVSBhvjy23D4naU7UL/QXAdwEtcIYPtcLWHusUzsTSfWfrJhioJdDvbuo6X+vO0
fh91W08sxJVB6AsKng2VXLUR1ebMEHNUOduh5PBoG+y+ZuEcO92C/p0i9bYGcFW3h6laPwAA/7Uq
/n4WIUddRVkPwovjzKyPbBk/jw2Kx7dtKKfSAy0mapMKhewqdfOMoVPl6K5jUqRTnLE8NtYvbDiN
7oexzzfLrAn8VV4eXPIgqoEO/HVv0hRkPGipBw9cPbjF3u/uynJ7e1QaE3JW7P9Iu7IdSXEl+kVI
YMz2SpJbbU2tvbyg7poZVoPZMV9/Dy3N7UynlahqpFa/lESk7XA4lhMn6q4d0Sisu2GcZb+83nhu
dG/2k8hZKeCozDy8G9SOccEw1235+8kJWSylPAe6OxxT/m5a/FgOebJxTPtvIwOcLuJU319fmVIT
QcUPtwqmCWnTc4kcSQyo/4B8nxNN6CvvROBFbro1k4xt9K7TtzEcr0DQqF7ZU9VaUV1F6hTD+qAu
0pMWFXUkyEQxXnE+NmQzJRi1tm/yo/PhkTV4StBqjtQp1nfZITUPnR4NvEkeibsZzVtqfRwfBgdj
oUrDlHbvgpStdK22KQRmRtPqVisCb20wnOKdAk0eJiWAgGlJKUkbBTIGE1MZYicchmmPofP+ZFjb
ckLX90cZhhZmgWUuLZhgwVf/e47NifYtwaZRD6MdRjz2KyM76tN8BNCyWKu0KgwRmhTgLqFdDfhV
mWYgtWqqV3pnhX1m+7zzPbHW+K+4sCgbYmo6cB5wmeQpkA0guuOcESuk1hjWZv4yas1LV3yYQQg7
BouKEg7GZV2mNSaa990MyoswG28X1Db7uMVeHBOQZWA+oYH/z29nWhtsmQ5rhYMZ5GJfdc8fvv1n
3zfPv5/FOSfWjO/r47b6wdp82zbZ1nUbkJr3vtuuhNqqcweZNTAxQKFD0SRxHbHzGdzZNKSoiCK2
X7Fll4OWcByopaHPBpg9/aI5UZsBX+PxSEOMFtEfpmj2vrtl0fodrYebuIKJcUa7uXNLhAQmK3UU
fQ1vXyE7u3d7Fy9+Y5b72rOnO29cJbpTqSQyOWjOQRvQQhRyvtcA9dX67HQ0jEf3GW7awYqrKnC0
aI1nRWFYUW5eemhhkpaRCeeCWKFnPLJLGpo5JjyCacdCY2iDEMhI9w7JgusqpLJO6GzCVUbBDTA+
yTrNhSc4E4yGRAtJUwYmyFdd+jqTT6iqhXoL4FooKKKufr4q1y1bGie1FRLvOXGYT/T7WX/N6V2l
3fZrDqHqrJAMgq5i+PRljzhP8squvcIKrXgcNtrCg2ClPQbU1c4nmpGRD/sjSrribgTKN7Dww4RM
z5Q/efaaR6ZUB5Dq/a4CX/oUSPYN7tjg0o2Fix5UV6RBwXVxzBwj2w6D5dwtXSErV1Ep1FsiVUxl
wKMl6aDNit7F2ETYX50EURFvc7jx1L3ryqcke7+ugQoXBvlKOO5grMCjIg+2tpAcLfPWtcKSlP/Q
hG9KpzwOjfFG3e6nGMuXqAYTy3WZKgVBXAz6RUxXhnRJGzUCBL3HoI1gxN7ULDTIwXTKlaulMpdo
7sAUP7IwV8vhUBmxMh5ri4IN9YGDHM3mKw++chUUvKtAdsABk+1xjzYhc4odGnIS6NWuJn66NstC
EQ+gnvdHhGT1MiNtnBn1+rDHPBPBNF9LnWBo/xmch6EEUjHee9O362dDlsqlFF0h3wNXbOnzROpn
+U0nfgxP+7ZnmOAeApnTfZmnIblJk9zeUwMDhC2OArpto+lizmZ9Mw92e9u4ffvQVIJskjz7mzt8
CnPwOtvJrgLwG4F65Oz52IK/g2F6rg/2CPCxX//RqguDq4j8JkY+oXolKRTF+JfGGZffPG01RIDm
wUPWDKXKNWyjUqmQGfpdVzIuKjF0yEqgh2Gv4zrzM4ZKErXtNTCgcjXL+AqUexDsyQ4e0SuiOXVP
w1n/KgisjuP5Q/2LNEDRG8P++tapV7Q4rN5yS2T/mBTIYerjTEN9/uI6x2mtiKz6PoACiFLQbwba
Mulo2iJhsUbgJGk8fW3y8aHQ17plVI/oqYjFxJ1obJKA21NrIxrmDZl9b9AwUwTGEi7sNh5YcH2/
VLl0dDSAax8U5iZ6WqQn2zS1IoqRDQ7jNrY3lSgCU+tuk6zcjr35QyvM+5TVW1Kmb/1crmAHlSuF
2URYCffkosbMZ6YZY6NDdtU1QdNM7RYwDdhRaow7qxD1yuOgMnFIl2KGCtpdYKylw+MW7bqCzw7K
8Ybfx+Z+FASdHNMndBCXCmNkkblfiF/ODzCtStNo7dYJ7TqMtPvi8fqRqVQQ473IkqjHqGO5UWKq
TSfBYFInpGJfB+Ua2beqYwEI5D/fl3bJmFsnpxm+X2Akn+XTJmNhPQv7i5sZNFugCua+1YUADiXJ
6n0b6RniXBb5o5Nom1pnxb4gLNk5OeACOfp1A4q5n9/spskeUTRBqaYpp2MlKu8Q10gemh53v1dF
sgY4WX6nbPlRAzOW7BOoauQyWIxRQDGEumHvsU0+mz6G2XGQWU5ufEPRgXf9VFS6DBaZJZoB+usS
e0kyHUyWAlCD6kC9N3GbFo/EPFwXolBgVIQQjyO7hQdNTgmBm9EwOEF9gRXPRTn6ZMD5rOHm1oRI
9keP834oMkRFJGF7Ou/FgDqGt7IShRIDXg3thVuICqUMY2N26ZKWo4bo6cMrphhgzHOyNsVkRYac
qItiNIs3M8p1Uxk9x524c/P59fqBKE4dywACYAG7gwlJ2is7teKeNtirInkl5VvnPHflW7oS7SjX
AUJpD0lUuGZyWk6zmz4D0wfWMfgEY5NWuJZUn0cginAZSBkANKUXIEZhbnaHxg7F5JciqOwVx1Lh
9YGL6M/3paCmNqqRI3VhhwOvdqXDbod2fJpKFgwmOlPc+ScaHL6jJ3VF7LL18vWHaiH4RTQNuhLJ
8SNxS7w0qd2wHbesDPQj+6bV/thuMGP0w0oAV+P/kmQ9A0TSTYyidUOv1h6TyH6OLH6IwUuQkTVE
mULfzkRJZ+WYkZbkjKNvn1Ugb7SC2eV+OiOzLn5dX5RCK84kSadmlBjzU2WwnsIKUu5ra+Up5UoQ
TsMhRGB9UY4V5VCjlR6mrM+smxrcn7qz7Tvrfoq1zyjCiaTll5z4UxPasvVpMZpt97MsDX/w3l06
BaAw8832r2ytPKDcuBNx0vPpRkmVlhSYv8ImmFy6RAwrtlNhoDGk/M/WSUbH0iMmPAGjU+UHYe/I
+LVYcwLWFiFdnjgTWYMYBw/N+OR0vyhdcZFWliBjs/EiDE6SYJO49zpZP/SU+k6xhmNTNcedbpSM
E2F14zatAK2G2U6I3vgrpfO3zG3uhsp41t3umbr13zzS9qaVbiloDCuyNmVEvdClqAFSxEuKtAIT
1juXTA4QiN5DVjv72Iu/81FfiRjXxCzneaLjcZ6YFP2zAItgjEnukXdqeKj6kpWrpBRDkXhbkAfm
BfGw4U2cuFrvhGn8tUp/8PifIl1JCyvtAoAkC9bAwNhz6fpkiVPayQCoY6LdW6Dhty10wGUvpHi5
bt9UoAaknf8Ikm5RzvtuxOgkJ4xEE9TttHHdaNMOX2ot9Yn4GrPHrnf8FpNRxYfHdeCthb+gIz2F
ohfqbeenZSdG3vMU6MQyup/ZMaWbbI2+VXmBT0RICkFyw06rDiLaxreGfVJ/3GnAEpBPXkCPUGzp
ITIL8HTHMXySNHK+82z4Ssw1/mn1CcEnWaQsk1SkbbLahBtmQeww1r/HMUbrabzuNm0J1jQ7bcHn
gfGrjvjCKu04zN1uAl3CdR1R6iIcbqxvcSPkmRAFSRFeWJkT9rVfW4H9rQDioFrxHhTuEYKTP0Kk
nYy4XjoahZARM0/QNjvwX51Gy69V54xPmqf3P8s5HreZaDsA/6N5JQZX1klgnxamAQxEuECiFEBk
kYxxJzQm+yap8j1aTIIOfXwGaV7Q17wXiXjncfaXObVHcJ08ZsVw47IB9NnDDevdf67vuSpqQ/ca
2uQAjFkabs/vxjjGcz9UkR3OWh/7WdINd3GVslDPWvHUJh7dx4SvZXWUQgHGWYZ/wDLKYBYNdLz6
pOdANBY3qXmLsbGotFN6mIuVp1t12LBpC2kiKlIXDcxgxS4L/Ag7JHCvMMaXo9uL9n5WDk/zMOtb
QapdbPSHZPpE1xwyEugtQ0oC/dlyhT323FRv5hgvRPmjo+/AENvAktveQaw53irTcypJ8hyzOart
Wmg24ON7MwIFS3BdQ1QcTFgKkK14INC3L3v2elTMc9EbdugUnHGfgXcsMEQDQoK05T/npH7Dm5/7
pNbb7ZjoxQ1GhBd3o9Xyx34chmOXJeJQpybfCE3Y27qwH6//QtUzefID5YDATjLNJj1OWZjZTVdV
IGtofW5/wgSfSpEMR5IbuQauElToGYrBgbmWt1WuAo88LDz6HjGD5/wmFi3Vo8TEY48xYD9aGt1E
dvUtwnSp65ulunuw8AC2e5j6AgpwSQygkrZmw0PywPrPWg5mIvHQ2NG7UY7fzIavNUIq1fNEnqSe
TudZnTah5SSe9SBi1UNUfwJH42AxyA5jxMUlQyai7I6gIGEDhLTJoqCtd6O9zSufNLfmWhylPKUT
WcsbduL5DWDcE1YJe8lz17ern7ZRb8iau656CDEEAlcNKXXnoq5LcxfN8Ckymho/VlHiT2VzqDPN
N4e1LgflcgArxN4hm3ZBO8/mbhTMGgGxNqd3LlBCnp1neKP760q3IkZ+2THkKJvqBmIMKsKapgck
+7emveZkKnUNjGC/sYRg+lz+fnI4aZlPTQqC8dCIpr/jorojBV3p01JenxMRy0pPRNRdiT7RehGB
5JC1cfOtpt0104av1dwVOoDDR8kdaAq8X57UIoihsNOI2pgd2hnGzuLs2x1qxjV9vX4yivVAzALr
t/E8XsDQUwMk1i3H1Ec26kdkD6gPkrd7Q/Q7M+kO5sxXUHaq12RRaozSBAkS5pzIG5jkeq+51WJG
yRMlX3nyHt/ZxRzUjp08RXqc3HRFgnYrrwcTMTNCxvJdZGeg/aOF/rPPdXZEm9Na8lKhoSjyQmeQ
TMaGyy3hpOlrjvnZ8BTsWy36PmmYboES4Cc2G+09C353YeuQTHySmRh70oH03EBz3NJPs5/14nUu
nTecwo2FwuN1eQr3BxOX/5V3QYbEa7eaMw7DGOdwIQO3X8agbTJnI0BZkw6bZj5eF6i4gIivQO2O
nh5Ar2ToF0MSPe2cCb6IE5itXz79t89L+zd1uVPqOj5v9d+mG935zOdRuMBcE6BPUP0/v9tuWQ2N
ruHzzLn1qofPNPohb/nn+8tdPLEdI9wl0Ub4fnEkxq5Od9d3R3XaaL8H4mOp/oKj7fzzora0DE6t
FbYF6/zWdoN0br+jy3FbjsO2xJA6w80tUOmseUYqU3UqWDK73ogZZhMRAIFg4s2Y95vBwrhK8j66
UXB9iSr9AnIFUFLg8sjFc5WXI7WBbrHw0r9l+qO38kytfF5+psaalSOp8flMz4Hasn3943BVxFpL
oheGD6ZdOiK7Jd0g+tEMqdO4mxbQ0r2FqU8rUlTnAfu6tMcuLHNyvqNLYkQeXDNDwvbFvBvrA2kP
KARePwulFOD2Af9eJknLazHcfjSKoSIhR2JgMp2jywgmcWttgGLWmnleskNSdQGJa4CJ8RKay/t+
rtsZENETutlJ2AozRmfAiFkyzte6r75jcL3pF7YX+w0C5+tLVN0olGZBfQym4GVo7blUltMYMNPJ
BPSc39bAabocLQNm9hMDk8dNn1bfTA+Z+r7w1jh4VJoItN3SjQaCL6j7uWR0nuXgJInNUO/7l4R5
t/nMVl5i1YuHhBzmgC/TxgGfPhdRplNdJG5ihmV7wHglP9KCPvl+fQNVx7ZgTVE79wDUkkNHENcA
F+BVADnFyCr4xsjemQdOOVLa5T8Eo7MOBdg9g6jC9JTrkpWrw1MOfcG7d1G6BQmcZXIdd8Bop+EH
d5vpzeV2EXAyrg3qVYr6DbRCPRrUy9KrVMy2II5W0zDKq/vUZYfcSG6iKlvJ1CpV4o8YOYePAv7U
8KSBGLavy03OV5wT9TKgB2jG8YBHk66YkTltNdn4/tzc1+Kmj366xusnDgWjXRGnoesAaOFzlXO1
Mm0r1FbDoWreLDoevDT6q+7d/ybmNwbn5J2dUeeKxsY28Y6bdVCRxNsJvPhIWiT2Sjig3LQ/K/qd
Uz0Rldh6Pyela4YcPbBWghRT6jv2iqVddl42foDL/bttv+suJ0JapK9TXcSAVqd2TXxEoNqBORXd
irbPNzoDjmc0V6FXqqUhR4ewEL3ZmNUi2YcZswsWfDoNdbbV6CGJ77N8JaWiFAHIDiTgQQco6lwf
eC9SOjEd+OW5+DZG9YNZsK2FqWAfVzsg3/8vZnnJTvbPNmKWWJVJQ6Gx+iVPaRpYjGnfx9no10QR
xVmhoRcZHJhUNChI6ZXJ0JlpJrEVYrIo9YeUDrs2S9tN7VhF76dxVt2xWYhdVdZV4LaRveFcmzYt
RmbiYgsAnvMuP3SY1rmdYsPq/REjdPdtP1UbUuntjYtpbX5md6M/O316Y1f1Y4be7C961uQYCmRF
hxjtRjsd1KGBqHqMQkc/ibANmPfGfo9asyp9a+6izThWtg+HpPC9cew3Y0LivzVGAEOt9B+Wpmvf
EDGSrZaI9q4VE5xhFBHRpE/RKYwEuoHRirr5bEWx4Wdpkga0HLpjY1XpTh+itaSVwvYBvY9tRXEC
6CI5sNdyEuexAxggN7YiANX5dQVRuDL4PHoXQMhFYf8ku9SANB4IvMkK6/ZOTx6r6rZtDilbayRW
rgLeC0b9IqdzEWvnvAY3V2xaYWFuMI2I6yvh3nJdJDuxDFUDnhgBAOC3kp4PdZvl9dhaIeMPTvc6
o08+/biHvGTagFZb6jNg6Dy/SnWH2hOGXUEEfSZ3Q/ZxnwQ0IgDFeEiCXnY+i5gzMkXMCrvkVz1a
GxBmB8a8sgbFacOaopUBSEhslexbVXU6tbQDKN/TvcA0QeSlNWipBcFF7n3iTT0VJZ1IEie09sbE
CmMPbCX3DZIYazzOqscB+VzAE0HOgNZmSXeLzJuzwsGzXQ3d3ZKe5lUUYxSd9aUcXLorrTUGSoUW
L/PbUCTUQSB0QYzS0y5ue42aIXBzPx1H7IAk+3hC/0yEtG1eGkfDUJhwTQ0jEIb15E3GYUExXr/2
Ku904WN3wSSEQZEXL1yVT1rZOya4iNlbZ/CbuZn3NqNA+yc86MDS5xf5Gu5fuX0wnUi4Um/hMTy/
QbMWk3xIEVPY7AljYax+Ze8U3/dQyfvNNI+wRS7oYcCvlfc2N0Nho+XSTf0mSle0WnGBEJksNWIM
jPLwsp4voZqiXqsmOD22673HpNOfe5PxLeMa3dLRsFfCWeWKUC0FEAIB4MU8v7Frh6kf0LzlmNk2
IlZQDytmR7mgEwnLLzhxEEatmL2xgIQ+iZ5Kyzv0WnLb9PPG6cs1N1u5GozuACEN4mb0oJ/L8rSq
nxf3O3QGv3a0bWQZu+tqrXoGENL9K0EOFDBbD3kYgtBHZNHP2AameBr5V3eClfuEIPR+A90Nj/6i
+RajvsamiCIzHDv+txYZie/OZuIz0qxJWjZFftlgqv8vSTogjobWmQhonPaty7b0bRmf4Gz6LAAf
9Sw+jroBUdIyPAElcVRvF4t7og0YjI3mnBnuNm27N5rlW5eVgK67K6+1o3AVIUN3gOjALPsLXhFK
5qZL7ZGE3aQXvtAZQMyUWWgBbfsw7SwrKKte9712Np/MtO1fLH0Svgmnv/PtJpv8yHZq059Y3PzF
gO8DSiMadsTqpm+FO9kgBm7dO5M37dF2teoFRJr5xogj/oxzy2/ZDNtKwUu9EWadHLohAg9MJBjb
kYiWt1GOGqHvcPD6OAm1D6zpmi9gkSpuvThKApEf5q4/NmjwdOPALQLQDexjzL6bMNlP20xxFJS2
e5vFNb2HP4gkN+NNoINb5ynBiMtNpenNreEO1qPVuvE/8IPdreVl7a7JxnmX1aMAoXlvvfERjm9v
1+kGXpXzj6ic1PeqjPiE91pAaTttzcgtdgBNp09Tapo3XkSaoBv0eeW4VDbCchbEAlKPuk2Xx+RE
K2g9ZzU6l9AtAUj7Ux0HZbYNrt8npQi0MbgGkrggxVr+fiKijZqEYqCXFdrR1sF8zxTvA8veB/7z
uhzVbQKTyP/lSAru8CZO0JZhhUn2mvBt0m4xizHPxk06Yfgr71AoWMvfqWzSqUhp9wC/MKsKDAih
N+4APrTnXbw2VVS9e66OhliwGyKjdb57tYWM1uQN8B11hDxpjbR3Yh7mMfuu0TXmZ5URX7jE4Avj
FQdA71yWxisxDG0GE0tuSPN3XPKVkH9NgPTEFiMzu5xDgD4G0Y0tdtc1QPl5lAiQT0X/xAUJwGBT
zmJSmcDo1v/05vClr9Z4BhR+KQIqTDIHwmfRNClSmGtmTB43CALh6AAmca47h6p8Fc2jpq/BMVVd
VRCGcQwgHF06X6XtqgaB6S0FQxqGdFs4xC+gENqBV24PQMfB6IcvGQZ/U5vFG6CuXq7v5W83UX6c
gOeybUxnRe5Mni85dW0O8B+8VbPOG3Tb0NsucfcEz2GGOe5zm1u+kXN0YLradzJZtp948R6ZgMln
MRglVn7NonoXvwYNRehYAdkjnIBz1SRJ3ycz3oXQzm8aILciq/Z5/MszuyDCfDJi5EHC71P913W5
qgtOl5bDxbNdsnvnYrWKWUZtCBIy95bMx7i7aYeVd1mltKciJPPIB4PP1jgR0GK9dvdFuuIErn1e
2rgZrl5teniOk/6b6Xz7ePYWNdE/+yMZQKvmxoCGXxKSN2vqAjs2g+sHsPbzJfNn0r4QooMANh1s
vfYRZ6zYJJWBpYjM4RxhlKsr910bVe5RDSh7IBJ62x9TRvedMDAaR9dAE+l2nyCCX6CoIKxFoGSA
duBcpWrmzE05E4IChRUks8B10TdDvr2+b6pVASmyDABBegn8PudSWIwnl6NiF6ZG6TfGk+ves/JH
nr/8NzHS8USinidTQMxgACFMnkznYUJ8acTJigFQ2d0lOYPGJfTjXzyD4HIunSTlJMwwz1fUwKr1
BgZ1gRCwmmEJImt/fWEqvUMbE8JAdMmhsVRaWB5XzPA49G4imzHNfApz958k/G45P3GLWKM5vRA6
Ca3heepeAVD/zPdROAcbnQd+FEnPXIumcB5M3JyyCyYrfWizbKVMoEL94nEi6FujoF26YFcDtWnb
9XVrhCK1rZdo8uKtU1X6azE1Y1BxO38zLMcOdE75y6CJ+FhyIjYZ6aOAMWRcmyRtXsta9+5BHJm+
Xt8AlcogW4h+N8Sj8J2kDWjmwYzHbDbCxMz3qcfcQCf9PYmayc84u+2a1XKuSmnwWOKBQj8Svajj
I8+cC6BWoTRoRtp1/eH6gpSfXwbhLFQEyzyC8zvtMpAuaE2CN7BES4HzK8nXbKFqy0DKit9vLy3H
Mickc7yOpk5EQm0Ks+qHEbsbDsD4TG/68ROk3ehG/COLnK9GMKflth5jNckG418OBctX9kvtP52I
kGo9zVhOArB4EjbuzJALrap7rSYR9s4iICYT+s7qyvJQZYIDWIIGdWOpI3z80KAO//rvMvgC8OhM
oNpghbluYPpauh3LFRu8HLvsGuEGYq4a4m1gsJZDPTEkxMA9r8wZQQjms9LqacFMY2rz9WX8dvcu
pABJj+o9qKmQXjyX0k5OXTAXlAjGWNpfutIZ/QkcA5ZPtLnnvjX27/HAy8Mc6bPPhB1v0jG7ya37
0aSgGR8LGm3smlkPsaeB7pMMEd0gQdXUfiWMDEaQmV9aVLe3IMxE9SgV7TYHgUXnRwZyFjAW9rvQ
neQ4JwPeTCHydCcm2/7GddD2xswTG4uKajuYNXniQzb4MeHN6DtV9ODBdvOeb+J4r3X7wtH7vxPB
s0cyp38Rq4nfktIot9YwlZuKm5XvFqK4hbnL/XGuxh2Z5sH3cC0OepQVv67vq+pOo4F5IZEDchCO
/vm2mkXvdBXP7TDrblzvBjmQ699XKQf6MshS+0YVRf5+NhjjVFLE9xGClabVAE+1jxkm1F8Xo1zG
iZjl7yc6WBiV2aUWdFCvNz0NBr4S2a0tQzJ9M2nyuCT4voXyzPBgkcd+jUt1UeBzBTeAqEDLCJ4x
dNnJCHJDm7qxKMBiUpixc/R6IGAS4EXFDE6ConOn23Qa+6Dho7W9vneXa4NgcIyAu2LpMpY50gtr
cg3wNFtgNkFYg7H0draF0b0u5PKAzoVIBzQXDNjkAkKyZs/YJnZXDmjt+9IBuSlnZrR8X/9naJ7z
9vn6z1d0cS2/H8llZOiRxZTTIJZd1NjAzAJYYNhXOt2MteZHjQMXve3u2GjuyUR1H1TvGBc/lL+0
ea0idelRQzLa55GudZbClGRmwQei9dlo01Bv+NFEyOCLlO2akj1HdbeiEpe7iXY4+O1IwSDljTLO
+XUiOjBhM3doaNMdr5+jtWb6y7Wcf5+cf9+pximnDshhEnGHfxqY88jOS4Prh7a2Csm2JXSmZres
gtmb8qlfgx1f3ptlERgtgmwAsLm/E9EnNmcCZBawUCxi7nykP7ryNalXbo1ShLUQZsHJBVhO0mqW
9d5YQ7FCMceWX5CpQPMccrhmsr++VcoDAekqYGvAgSI+PD8QjSOMsYDKCz0Qsj6ZhZXuhjHKfs5x
HL/UzfwJHjD4xcCcYto7dEz2SjCfYOqYaGBPoxfr3hy/X1+O8uRPPi/pr2l1+uBO+Lxh+MYtWas/
Kz8PPwTIiSXN50q+CJ2FV1m0skKA+2lzyNZ6ltTfR2cYhu26IC2VFJfYJUddCI+muKk0IDDjvz+x
PSCj/vf7i/wTzW2JKHWtw/ct9Kvfe9VKZVGptSefl5Sp0zsyNsubP3x1hW/p+2KNm0glAbyJME5I
S8N9kWwhnLM2mmdcPe4eubE3eb7vOV+5E6pTOBUinXIWCSu2TAixy9t6k08rqSvlGhbu6mWmOGh8
pc+jBBQlrs2t0HS/kOquJRtBtx8/5wUWA95lFK4h6/yc9ZaDanV0LcQfR/i01WdWsIwhwAh5ZO1l
fE8EjiXAabkd6mUg0te0epinT/h1C/kBrOzSYi7XxDGVwRIGhXuKAVPDjnZusx3Hpjpc3yeV9YPj
s0ChwTB6gVhADM/w8HqgQ4sxi0CjyT0I9vZ63N8ByRt8QhZQeUiOIbuNfN/5mZiTwOBA4PZCbXCb
DWiL2U1qRM1+Lgagz4iZmI/XBV6qMUDWmDyANCnBBEEq3ZUxzTFYZO7MsGuPqXtYe2Qv1XjBcC/6
hSVd8lOB/T+hLKloOJnjBkMjgiw2dt68VrlZ8l2yd3wiRu7bSpkOPsyZw2PQis7Z11bEQnM0yrcp
KUkYpyQHHq/o0uNccQGS/Sl5/cQ2oiCvY8oPwM/ybL+WaQkoxFD+j5DHKadN2YoVzVAe1IkEySka
tCFBxsgxw+RFpIeCHP/bAqRHJer+XUA2Z/7EN0W5xlC9aNLFGZ0sYFngybNScYCd9dkG8Ickm6Le
GS2C6QP9ieHTHzYLUDo4Re5Cgbd4qeeSuKjypBwQK1neL/eYGD+ub5Uir4jvIwmDrDyYbC8LeQxF
6d9kuRF56bs3kKKiYx/Mnr4dsw0TAp1es5+ikp+htDsYu95O/Ifs4xla/IrfyHGQCy0cH+erZMIS
dZOg9Dq/lxTO5dP1Var0DYBD1N3BUYIGX2kTY69OWdSXVjjpoZZ9NT4OyUF1YWmFAJwNj5z8+uRj
62QtHo9wRN4VFCQr+ry8j5K2gY4GSGrLXXwkmQaxqi3MZHUwGDVFZqcwf80H7Qf6dvyCYtrWsJb/
V5g5cFyj2xmRF/Ik8kOkNaVVkLz2wDEaBTzaly7fjZH2cb3GVqG+sLyncG2kx0EXnIJKDHMfTHCL
oqwwfjwbCLYWABphrkHagkDyXKXqxDB5X2nskdVv76J+ua5Rik1a8J8LyocQ8HFKLk0HgKGZl6J8
NNGLMgSl+cMbVkQolPZMxPJOnNoYxrLYGiHC2ml4AZoVHhGFCQMsfwEQQnMRnUgH4HYl6Nbdnj26
6XDEMIwNNUJQICK9v9Hn3fXdWpMl2ftiSjFZUx/Yo5ZsU4LlbLSfDuZnms/X5ahyF2eLkiy/AQ5e
zeg69thX77hSfosuWbO+T0V8Y6OvJi6ALhsEX5BNfjt4a2zdiiNDHzwuzZJkRM+VbMYmgQaBuGWP
jvWF+06/cmTq5Z18X9K6iWas4l3DHvV6Z0WvxL2zapAuHZYxfF1y5HRrpfc0XglylKtC98jvGiq8
AkkREZwADIZ+h8dkvOFbp175vFI5FvAsAZINQeZy1U703DNSsydZyR4z7X6wZ1QoXrIeDf6Y5DfF
H0YAoIcDQTiQhQCfgx7+XFZTGTWPC1BFsWmj97pvJf2KXVMYBryiyCfB/UQfgIymbhoAXtPJxUUC
/5HR3TdImWj0+3U9VwlBWLyUB5ZJS1RaRqE3w4ixXsVjMmwyY5Onwbz2pK2JWJTi5FR4ajUiA5/s
I7hFg2x8xTiJBiWI6+u4jEYwSuJkHdLR57VespphHVERWK4POKbV7uBcX5eiUrBTKcuvOFlK7bIp
jwQtHkfRb6r8r3byULJ4T7O97a4cjPKGnsqSLIAuvJprKWS5c41GGn2rASSJ8S++GPjfSS92ndv/
JHEdxJ4ItQK9L/9trZKFcMCc49HMLh5Fm25ypGua7o43+7g+0GzFqCsPj1LXcZfREahTnW9rkaL7
k4w4vIkCw2k+NM5mNHaWvSJGZX1Ac/2vGNl3Yyh4GKgQQBET4ntZ7XdkpbauVHULTjCIYX/XSc8X
khItYUlNsGfTjw6sPML9Rdb6tpWbdSJj+fuJDprM6/IOANnHMglSZ5OhpAbCrrUHQrESR8dAG4Rt
ADBedOSabV2BcbwoHgfgCR0MuC3nFy/5cC4ELvSJEMkygAtG19F4W6DL6SFP/5rITbUGp1eUk89l
SIahREYTQAa4I7zb286d7vnws1pjlwDG6926zvd2jURZdXOxLEDwMFEc/A0y31ZTmGWT1xx6hkoo
6CGq6KaLb0sUKXv7l+187/SDpgd6sr1+YZdbIvn2Z2Il1ygrtMyJYohtAX+aoeEohU4bIvyx33YE
3XJr7r1CExFKwHNdwle8INLbkVtebiDPnj+SIoCNAOo6mzf22vBORchyJkVSks7laRsJO39E/p6I
o0OP7fiz8XiQgoWonX9d30Sl3qOsq4OpDcQbchFncOymrjItfyzJP4b+alQPY7XiOayJkM6pHCuj
sCqIqJpdn75nbKuvjcJTqsLJKqSTAVanZYWDi4WQ42CUP2j25mHuBh/+ssqvRXZTRiue19qapEOa
hDug9TMrHvXK2XL+s22PpT6uvEhKIZjkBRTNUtqRuSQ0YxhE5E6wrtZtGe0HlA5L5zMLOZEhLYQV
bZt3/QzrWmzQb9NVAcZDfVzFEKoiugBrCBYivXalkacuQBj545Q8FSVYcJ7Hj+PPkZBFcgL9UEgE
XwBvQaRFMDKszx89DdQQR1IfquFLNK0h6ZfNkC0OEEdIhiBNurQ0nz9F/yPt25bjxrEtf6Wj3nGG
98vE6Y4YknlR6pqSZdl+Yci2igBBAiQBAgS+flZW93RXqR3lOef4yQopySQJbuy99tprEd4ZcFwM
P6emns1xDB7/G3fqd8d/t9XxcroMkF2Ov70Y+pnIt0L/hGn7ozX1+0t4l2WxaLSp7R1Htdr0693I
mv+Gcj8exu+u4l0ilSk4T8jR8rNXu64Mq5hfafazWPyD6wDUfzEhAuj+773BOHPhCDbJfBYFxLlc
0EzF9Rz9jJDwo7Og7VJcpEBALn+/s43ZmnVtquZzqE9zeEzmK0d/8gL+YFNBgvYbsyLOgFG9C12G
tBOMDtSCpWuaODlyPUDc8Tt1hz9fWz88T4lOKmj6FxrWuwdPiZ03KTACkJRLpV1ZFWyFo4arFPn0
52f60U2DER2IEFA2K2Dg+Me3BH3VsW/XYDnPgjdT/8pAu9ci+klw/FGiAy3Zf53m3Y2bNxEVVFtc
UDg1tO8xsCwhgWPqLt5xtx5HWlR2jis3v/zPru9dyHQLsd4Rv5wHz2ub3Y1JVImfAfE/vImQoIPu
GXblf/Nyyue0y6TH41rMdjLMHvz23C7/9XwUdTZ6cxd3UKjEvIvMidZTkWR6OcuPQQDU5dxi8unP
b9YPQiY8I4DrXmADpBfvlh14I3G55VjelrurMh0aTLz9JL/42SnexRtkS/HKSpwiHCEG3m3fI3Dv
/vwqfvA00PUr0QrHFgbS6bu15lm0jsVE57Prh+OixrvIzfuk+Blc9Bsc/W6D+cN53i2tYYjANkRF
dR4G7k4gmn9fTA45NznGNzxn4RXIKlENFlu+c6ltK97mxa1O8rfYBOl57oL0OFFrnn0HCc6eCFgS
zkm/s1n+RqZ+hf8MLA6WYDLXiR+HqyXp3voVoJ5PyIdsnpNaxb2o1VZ8ZMYgpubJkw/6+EDmvDxO
JWk/eBlEt0VHh49JKFidqTKqbOow4OIiVscr1HHyuW2rcAkYAJa1rEXp5ZFmYtnPVFgIbxXJ0Y2z
3wuTbjUSg+4YZVPcoMkgYVjA6AfZc3XlxyioqQ2Tj2Uy6B3UQ/IP4CEqFDXB+mJmsdZtlq27ji4l
flsG9xSa2ddFOEHavAi7lzLoMkwpOsurBGNWIFdf/tv1ybCTbEflCW5m/IR5mhTqVeV6v8hEnPgw
Q7cDzknVlvcAubaIHBjPgjp3C2uciCAdOMyQs1mTYvfna+wHARpvYFmgZYXWAUQa/xg2w1lvcpqp
POfys+H3ym/VjKrpZ6nyz07zLjpvE5SY+djJy+48jhXltxRkd7n/84v5DUd7v5JRxiBXAlPxYk/9
x6txtOsIVok8j4nPj23CYReItnUtZtFXabyRg08ZaaJZgJxrZlYV0TZWG8vCk84Wfe71yI6xXtnN
CM+WeqWBv94yzXceZhqPeoz7epvipGYuAN8xXpcm6vRQy0Jtz5tOy4Ng1lfRPONJztPrpNmbWUV/
sFu57kgARcZuLrp6KdMZ064wxJscusHoEhXVMEaiDlEyVWFkz0mrXSXEUlRqNPQnsPTlLry/S7+P
K5e48ztsI+tE72EtP5/n/k10ux6KMAFEbSd7RcufZUw/qCsBrP7mholo/G/kxC5XYTD37XSOwCLJ
3HkmLzGavJB6uOrLm/C/LpkFcXEQClL4vv5ANW4qE8/Q8JPnfkGmGbK7Xv9MW+gHgR+nACUDMmPI
OP+N+OYH+BnmfDrb2RuMtvZkr0VfND9Zyj94RiheLnIbOd7N9ztYvzDJQASX5+Wq725wq/5nh3+3
ezlFu2ljBIdPX29K8fXPj/6jtx1tFbQiwaq+FC1/XGCUhWQNVqiBd0rD3CaXYwUZ3aWSLbkBBvmT
W/Wj5QyvQAzVQxEFmcO75Zxgi2HEUpxN9kBkjnzpKh0gq+hron/WMfrxySCgh75uDprguz05YSJW
wzJMZzHD+P45RfLflRigmJdKFT/1V7n0ud+/qeDU/vNs73ZmUmxdQTKczWIenra+6kiji8/FfO6y
p3n83AWqMuPrnz+9H72ymL671B+Xh/cenAmphd6ALeU5EfAOMlfLOlZtQmq9Hdl2GLOl/vPz/SjN
+d0W9D4fdG2U+9C14qx8tyPuZmvB0vjZcPJPTvKelqG7Ra9kw0moCq6Trr+yJLydW/+PYZD/9W37
392bfPj7w1F/+0/8/A10nYV1VL/78W9f3sTCxH9ePvPPv/njJ/52y74tUslf9fu/+sOHcOB/nLh5
1a9/+GEnNNPuvL4t7vFNrYP+7QT4ipe//P/95V/efjvKBze9/fWXb3IV+nK0Dv6Jv/zjV1ff//oL
Bp1/90Avx//HL+9eR3zu/wj9unzT7BuW2d+P988Pvb0q/ddfkIT/8hf7dvkv+e3/Qi6a4ocs+I8L
6wskQHQqMZd9OY+S62+/K9L/gAIdrB3Ti9wo/CSzX/7fFf7hIfzrofxFrOMDnJ+0wimDv6Mx/3qX
LoTxi5QY/MrhkZwher/jlEwu4NHUF6Wo0NYZ1BKNJ87DkhXheOripY3CrVAJiA3jOBr965QrpoOH
FoGAnDMy9zyfKzku42LrduYov3aSd7EitxB/mzZXD0W59vMpd71P2ruAbckGXBrSGSlCg5M6PiyD
8cn2pCCU2JOdJ/O6mZOIMzHSu66A3p+tErG4olqSdab1YolO7qXewu12amENCYXsgIbHni5u+R4o
bcYdrMBL900nBqSfrtNu3EEQeJl2KyRCosO0Ia+XJ7FoyJnWulWk5VU7ocCFKUWCcf3KJW3J+3rK
ejujy05jHTTGjSHfr2Xqbwbo1fK7Sa+KnRQbpkJUJGOz/Ka2eNQvHsJAj3h4ZSMtsmSKHddG9LZV
srQvXKVuFxZd1yTUot9tOvTadjQn03SGaMP0jDOI1xL9t7uN0GKplj6mY51FcEE4pm3uTir0kH4V
GMijh3bR5vtQxrO+diPNHpRvU2wrTsm2v0k8YQcOoMN80uUwX0FWNsQYfpa8cr10GFJ1GXpREPLP
ajIGsjzAAy2oVwhmfDTGLG7HMLLo8hp2s5074mZpcGo17CtEALXSmpsFAxXWJOqk6SJf7Ehdo1dH
eNN6KEcjudugsuxzr/ZWjSDhcCn2rYRx5y7s0tYd+1Rpf9gIzFGip4Vi/XxU3pP+V7WiqtlqQtAw
q7aO5fdkoFvXzAEcfesFzP7oKmP92uNJx10J7+Ro5l+DNRkPhQ7hI83G8eiGtLs2UTLX3ZaVT2YN
hhLGLq6QFRUwgJ4zTu5Xm7JGRcVYK5fnVeFICVkCyx+8sxgGC+BS/KUAOWm/yahPIBtDAww3ym6q
A5IGcCTgUa6aGH6P1dCSds9zF19tw7q8ROhiiRqaqJeJtDmgz2Oh7ANIPpCxTyfPPvhlM2tNpkVv
v4pwmvQujaU1Z5HmvPaRtOp+djEe546gwpXtLha2pRDzUO6oXBcVjY63sR7CWIc34TKSHfXjwm7R
OcuwYHowCK4FxyGuYX+9ZLuMko5AB4GqcigqToZCQ6uKrfiWCzPyYyYhnvM6hkO8D5DhH1vrUnqC
AlToaxHZNnrDGzzuOrG1pxGPjtzQVibqmDhvEqwJhXR9i/rl45iPGX3YKIfZ3dLGO5VDs18NGuIq
85SYN4vhw5fSs/EIjR7yyawrb+uo9bKtjJHDLSZZhqdySsChQHAOm7ZcYYLtA4XFuUZL1+SlV/ec
QnnyeqEisTXGgxNRdeukYdY052nfgEGTlrtytevc5K3ofO0hOWkqCK/Gu3X1BQRRIEoBtRz4Trdr
zIvbZAq74BwEq2WVToe8+wat5+VliPthui7kXGzHjhjF947khO9WymKKcXzqjzYSMqy3lkTtzZaw
4Rbm3OwRc3TyZTYdRBocvPIcd2XDR5MGDYIEVPWXiGPKpZM07Gsnk2KENHm67EIetCdvtuTgM949
mAEc60O3KsxH9kUH0R0yWQDrPSlu5LT1t2DzZbo2fbncggoEAr+V+FfZCZ3aJqeGN2Asx+iN9S6/
yxMoykEJLYMv3WryW0UVTIeSEZLvBxPFqLdXl7e1WS9jlsUKbW7RDt1dEfAR0kYyifZ6IiL6siTe
lDuwHcm0CyViR20Ume4N/LCAW4jcAwXYfFbxznKEe+ylTclMn9/a2aQf2wLhG9rH3kAj27koRFkY
qVtBwtJU29Zu6edokf2Dh3nd2kCBKcSsptzCtIoH6DPdkHYbn2QGQc5+abcnmZd8PygCx99gSMNH
OtPkXpCu/Qj3+pn86kdd8GYTMtMAIMcuE4i3zkOC0A1tk7a8jWpokaboXMqRbSskjYz07Uc1xmyu
E1cG88MMKUiYcfWLkntrI23BjQr77BhBUv4Aelb6xcucTjXOYYM66EZe7jOQUo+CblMTig6PLxYh
bYrUwGWr5gmJywq1zAIpK7zx7DHTG7n28ST45xbx6UTacZF12cocphoBSp4sndxYYxpRNyZwwVlC
z6+ohzVNzmVOEMmLyXWf81TY57lFFcgqMQ/+Takw/UQRl+ZKRVuAxzwMh+DyMkHmsRj3Cq8n38FK
NCqqVGORVL1GW3pKhynYtVtPb7s1WQ12OGPLnYlyPTU29SI+lvMgg6OSOWjwBVsov3xSy69zpi6n
0Bj+rSIOG8qIL1N4VCbYWCXBkoLUKn43hRURKYDhOQp7bO8qTdQAEdVuY2P5oZzXpAppZzBNs+TJ
ABcbYBEgcRcABPDVFqg/2ziQHqhRau8LJgvRtAMR0x4sL4VvtCLGYy5H07XC9MxoEfliSpuQ6niP
xrLfr4AmdhglCPf5mMzjWudBL8N9wkMYjSko+eNekay76taASvA19Bh8Rf804HC/hnr3VLcwj3Z7
7PHhA9R7L/N9qsvtPXImh/DXDwfrgeo23cCQ8/SQzH4145QUByqB81UeTRMClFz04RFNeyZqU3Lc
G46NUNRMbGR4Loex3HYzQdlYa4x31UkfTeU+xSO7I3YcCgWsZM5wUWJcaigccnEV0r4LKqSPyh6w
5dorMgOzrEOSJDvsSXhM5dB1bdXqtJA1j6haTnPWlvpqSn0YwXFuS76J0C/dscvLZZJ177R5XPlo
h1sojPMHUSLsVXEkpu0oglimlSyG6BzRaUrrdAXaUIci6V8ivOdhrRLstM8td8GHYPL4amuflM8w
BcPqzYdBPFLKii/WDORzH7NyuoXmZbrcU4Sqeki0tdU09n1Rae8528FJxTzM1o/YjLmN87qA3zd7
4R3tvo6sTbK61atYasfbLrlZSbSK68KDTVmZZUmxT81BtlZlR+LvOFJZ+XRj4rGQ6bwdtrxDVhIB
Kfkk7RIEpuKBniGuF1gx7FAT+q0pdOyuNAlSsWPKOw61a3AoK1bayVcEkktxFWOX+zKteR/VsObe
yN7CTGN8NLHu4CA4Fpt9wniy/e4Zc59cKBAhhdn0uufhDMZ6PhR5UC1TmZ0NmW16UDSctmfX63ba
qdSXWL6T78t9G0PUcN/bpbzBI9aQSCY8Oy54qc6eTNHrlk1Tu2MmCoOar6g+6qTgaMJgLJWDqGZF
QaplTS6ackGOEM6SxGS7gsJVGXlun0+nJdtGseNjUUrQ5uaYzIfYe58tFcYcW3kYpsiqJu8z+8Gt
CShpuVKkzreBNEopQzCyQAtfQ6V3QgpudfFkIk3CkwBxgzU8CITcG9HDiyWMoiC+c75FajIoCgyy
VMVyK4cO8pCiNK261WEiX9eFZ8hBcPm0dmHUfTXANfRDKigF0SWdggNmStrHBasnPch0zKfXGeil
7xpYBoodgajP/Lhlqwes7zOPIOk3TsLaRMVcZlXL4/R59lZ1Neb86bVKu7yoTTY4eMqV24Z562Vk
M/wfC/u1FSQNT1sZxaKeZgGRulWa8lnTsiR7AyfjmxQpFxx8+k4ISL3B13gXWkNVQ3pMK9RW2w7e
WdiS+L7r0oTv3BawozNDuZ0GttpDG6eA/au8Hbmo5834R+inbH0liC+uZhEGW4WkfkBCmQUs2M8J
Ij4eh0lv2qEPUyyLyPL9bNj0Kxvg2lZZl6Uf5GVHrcpy6u76dY3Z54z4MK6iBN7LuyKdaPTAIYuX
7LvCzvSUo7f3FTA8TFG3tG1PMMyFbei86KnbYVfOWJ2Qnn6JhbDkGttuPGHbX3L1AOe/+G1BiSgq
JM/r7byhTrjKZ52v1wH0X1+BsdNrb5bsPPaEsL2QCTVVUVh2i7IT0CuOrispVYTXArL/HbsaPKwU
biJbiPAaxM5Lq0JJ8n2C3Fd8glxfwL8mwyLM96BrRxgcTku8yEoyi4zTZuNX6KM5uJKa4dosMWTD
B0qRqHXd15yn4O9rNaYv8VboZNcHhH4kuc8MjiLHc2ZY/hHXHCxVBpo/5nqncnaITQqKk8nI87Ca
W6mfDYYp29sh1WW+Q1RiEBwiyxjfhiVJ3T5n2zB/tHGm2AeOTghtQEkM+eMWuHE5jQEE1JpJdqj5
QHor+HC1dTYIbu2G9bCbNtWhI9LOyO8ybGaf4l6q7gDGivuQCB8Euykk9iKKWfTmLtqy9ssa4Sbv
jKGR7qtx9a47oIGWbg2Reb+92UBP6fOW8UgdRr+FTa/h2src3D2uPg8+AruOnkeTrVdjwPz0MZmJ
b5Ys0p9j7E8F8GTh18oUqcWaBlu5WXvukVCHxdzXhZZsOUgLUZgrTElh/B4zGEkN1fjxfss6fswX
URxYSswO/LD8sGje3oZby+qg5eFHEowjVqVqU3RDxawQdFajqt4ghWvSfCzXKkP59pD5DGIcC/Ox
rqBhFPvDzBj3Owh3Qk505irodlmfl7fIddfPSENpBy7cII/B7NyN1siC0FMY07LD3hXle2TPLKzn
YsnyugUsM9fYBPFGCxgFDi8Ua0HcTmmIkmJTKHmP5eiRXGAOpf8wtqOCDvSURCiEbWZqiPL0B2jV
bFcjKfg3iZwf6nPd+LQFog3u+i1Tu5yV2f1mw/k2CbVAAbGNOQpyF8QV2mtjC/uJAZVLJDp1LzMb
1nQtmDilMtnubCi39bOMMRiQ9sV8igaX02sIp5rrdVD+u79M3OygTjbeDV1iDtBbgjXR0JteYfQP
uE/jc+4fBQz4jKko2nJ1Vm76iW/9VFZRD/3cyggvo1pTqr77lC7PbZyb7KQWSZN64sFsUT7m5XPW
Rt3TSuOxjjmql8r7JOguavtrd1gT4V5T4sInYpPwI3wbuhrePMTvBkn1QRaRYRDnpRap7RwhKYt6
f6c2gSfqC+1qFXHVIrvMEuRr4L3jiWR2RUdp682BCGrvHXTmD6VZWNnkTJM9TqiKK023GDKIwA5u
1mhN25otiVixSiL4rKKIgEZrv5i4XkM21MGkVFAp2hL+Ke1hjXsIimkpGs6Q+5/DGVnsA4rqon0T
pu8+dTZFzblhlZ7Qc5ePfdSuFiX5PGG2VnVa3Muwc7CS3YYy2kEcOjh5DK0uB+QC0zc0N5L8k4YH
VQbqD1TGIakwTJdSNbrlqFq3R+xo6Zc57oOrwpmYVYlm4ydRysKdlnBhdcTS8gwuyyLqlS/8qfDR
DLdHt8n02Cli89ozu16nrqW42TA5SK7aXMhPPskvSogLa+FEuWIijg0KFU+JjQQZMnb8oy9N8byV
eLl2yiZQtuE01+ZKuJygexQR85puaXwbZ6Q9hHKO7xJmzTefJNNwkMCUdp2GsGPOTPfSTW0wVmsE
Tlgdh91205kwPepFSl8Pm0ufRguVWpZ3m6rKlU3qDilxvsd+X4YHmXUQBuJ5N+5ZO7YdMtNkW87B
xOzc+HUh7GmAgy3sdDQBkQq1HbXYm+csXa+oEvqeQs3zds14TJ8YtNmgeWlp/AroerlmhhVRlfbQ
cDyFwhVPcYDcB29Lf4jSjl8lXd6eU1IUD0Gcd7aBxtCYgTnLeaMhynMq0x4MvXaFb+6G2cZn4ul4
HMd1ohUUGLDprjaPMUoPZeIvI4R5w486y210PSnAwAgWCVyAutjqqxWhaqzZcIEj6qkvC5xqKdsD
9sryifYeYtVBP0hb8XXw51bT/gtpU8TbC9xwu7QDiv8ykYPeE132+OOMmCPhQ4/bZSG0iZRKjFdZ
VorvEzazZhArVGFNtKBaJ2Q50QSOwBd5pBJASV+CLjwL2HnUgBPDW9q3Jt1BLGqyQ5WEg1iec/Tj
13vuyeZ/lVAFeSiwK7m73jugYZAZQ1ozxuLOt4Sal74PJleDBZE0Lg8InHLTgfG+8WNmlx1dEKPu
8j7WQzMDR72ddDqK55iyBBrO8bYKdKLFlDmkxMpBWIzBr/V2irLlbRJj8IWWS0H30wLjlz1NVKgM
ZOp5VKKbHrZ9RVq0YB/kBGZNM7pW7zuOIrdKPE0/Qn0uv4OIXxpXS2pAt8kYEaIunBI32TgVtA7t
2tYxUMrvPVAW3kBizdi9XUHBqGDdU94gyZ+OWdQJt2dAqe/xKrvnsW3to247IAELszRBTZ6bhgXU
DftwksnBiYImgOI4Q/eIGLSZRZx82vKM33C2XqJgptatDh0WyM6WlBfHabKQId6AQ21XEcOr1jBq
h09zF428MgSsxDhy+pkOFmZtpS8SflXEbirrOWnZh5GaRVWbW03ZLGgobc2yjJm5YVTABNEEwZdB
wQlmB1mzfj065Yx9dvA0+2KmYvxkZaDrkcYKOmFDgGR1id2JBFsKPGm26zN1GjFzDebA7eK5wLB6
lnDRyFaV7oBwKuS55aRUVedozs/JUAJ+I12J4L2Vc/HaU8AtlewwiIgoMEz3EZ8smmmT+OJn0d2Q
bHRNT8m6K/UU1zzDWEitTGYxbhm49MhouHW1AxaOEZEp59/XeYz2ANPoYehncihiTW7Eih6dEWt6
lS1hem9kGXzhizU3uK7pnsYRORrq0+teiig/CIo27SFzJH0ThQRHFmP+7ri6bDq4uO3emCqSZz57
QW/FJjdTKeval34cxLkTpD+2WgsU1+WiTqGKW153EbGyCkoP6xipbL4gfWcAFGAxr1W1bLT4Blv7
5OvMibqKAc9ezVmOZBuq1/0+5q7/yObEi6gurdH9Psy8/BIBjMdrlMvwvEABip0AacoEHuIFVCE5
vBy2XSlYWDSj7tVRFyacm7JwPKgjWvp4r6MpGg5DYqQCDhCpuBkITbD5S+mQ24cJLa9bF2cvAi6o
Sb0l3gL6i3pys/bxnL8BaBwVdtCiZDWJAsitj/BmusX+y31FpS3B7UDOG5NtuutmeI1XgGM7u59d
poEnkNijdZBkM1otZMYrB2rn2fSrhnFeJozdeT9lDGWEjgC3F9HwIN26fgKtqfvAZpoxhC2KRkS6
2CJrUsjtrg8JxdxVYZD0bTVkB0agawNlDDqjNj+nFPvFHcSeRxCMlKPBr4h77Sefrpk8ZXlf3Jp+
jh6AsOMRxCM5Lp1MZogEx5gTl20SnVI29dPnnA7F65rmw207gGyecj5/KqeJq9qXBTJUD42IYxiP
tm8WJJ7j3tgLbBkoa8URgYbcOK5GUYXDhcmiNOX3mceU3bBRJ04EM14JrLOm4jXG6x3uBqiZYJeZ
gq1hU8v3F+3OBo2mi4CpIkleGyZCVXk9w0aHc15gbxGJLGrprOKVwp9vTzrv+GHE9OzJzYN69d7h
5U14vGJ6LCNFU1ISH9OSlKYpMsKuh62VY4MehvpCddHI2e6Mc93eqGgJG57o/qoovYsqxHC3n4qY
vK2xA5xiBAKpZwtAGZTZ61yJUY+yQr7vvhZIcm5YoAiwXjJt96EZElhmrPLoZ7I+Iq5sjU2Gsd23
YOHepBHphx3Y+DM9qH5OMFMiABTs0mntaz5Ai+/RW9HnUO+zKtrPSwCYwA8biEgFnGSXtVXw9I7L
X4NeB4+dTOXL0Hm673tTTi9MhwaY1UhGvgu2MT2rgkQSASQMfl2SzN0COo/lKTYR8u5MQE0Y0XBI
5HEuOz7WKHSgllE6IG9nQCMbdGx72j3kE+XqenCl2q6pMpReIZfR93BGjIoPAqzP+SGFqHyLfb8k
2cOFSnMA3BEXB8fyGaW9TO21hpAYlAiLNu8ORWfg450wpADbmgqQBdF2WVFWLW130AVeFgThFu2u
jKfpPjBrEX+m5QbB9yEaoefY+8hMjQxJnFR8CPuwAeKpV/C+sP1dLywYfQ2ETw20ApCpkWK6KU1u
oQQkvrW+mNndgAFNeZVM4H03qIcL2eQCCxEhj9OXMpkVGjDErE8x3JDCSgwEyq0a+ooVS4jE+nZo
DGWG90+Ugz3YzISHyHn7wjRZvJgdakKNuf8UmJxvilGmwKRJ3KdRhdY+DLaaLXN9WaWktDDpdQPQ
3Tqjsz1YvP0gQxaBrijObzCWKJalzjV0yTAYFEHlm4U9qIRz/gmfXR8pj6erDYoyB/SW1lcf6egl
KJX7UPSXNlXSXujqPO70WkdT7BNkSNsmTn02++HjYEtLbor8wg1Lkw5dz4itUYZGXSY/ED5l52yR
BnzFPhlF473Kb5yZExT+eStBiSkLkh+nNlLk0I6TaSEZPeXr51a1kfySdMqPb15tsO/I8hzlfxKy
XuxnPmGEBjrcha09xXQxdn2u7fdFlJOpfXvhPNpt7WFvgQ4eupkpWh21a8v2G3AqwGVIWCyodnEJ
uXnczipMcnvbplzTO2czUltsNUClVrpih4+VCHdF6NLhc6bm7DXSIFXv4DbEj5K0y1fp0EOpkn6d
1GUuhfv+agFM3l2hDo9PK2Z+WI2REzQ5RLT0zcZ1fjtk0HSB9saawvWtMPIe/YbgN+mnjn7ARpMv
QHmyfKjxJRlSFKAa6zOYB60/BUaOhxReFtldp6cSbcoexMaxir2ezG0Usay8CoEwqn3B1QVbB+7x
zHj0fzk6j+W4dSwMPxGrSDBvm+yobMm25A3LV7YJRpAAGJ9+Ps1mquYmS90kcM4feUr3cp7+rYPY
xc3MvZI3vtTgDrKBnvKRCOUpx2OzB3nahp33tkazWm+LGhEq9cS9fhQw8+Ck/wfcCaliyR8iMdnT
Sjfc8tqrThzRbGzvQ9ewGG2Vb+St5bSYr+tYLd6VLjx5jUZni2DrwCn8BPPFf4DrznFKB7HmqRpE
cI4m1TzsoV+tLEfDkjeTjb++BXZ5DWh757Sp922LWodidclbncThfBHtGBwnQuyuFVOnOpiVFaEY
xti8hTFpncep7SvnQTve0l69iDa9cJ2949J67h2M7PBzozeat3edt3TLvWb0HryFpO+GjKU5V6wP
zMHbFka5I1eTuzpYaFVc+/a7XV2HkFYY2jBvYYcaLpuwfF9VM94xikOcrYGut5ZxN2q/i2Tbf7uk
7/P+oFj4wb1XyEMKQ9FV96sK3N27MNy4i3uIArDo97LtZHXqWn+Mnna2KzZ7Oji3U630VL2yqcbi
MMSMfpeiBNPpDsQ/zfsvQyFMuOXQRUN1X05rNx2ZI+o0OppCssXdd5NIFmpy9DA75rR7vY7Sc62i
tPiI43np89BpjA3+W7Uiu5OBBQwGc0Qyv7iSe2LPS6xs5XVtVCVj0Eo77LdAe4Hh9C+DcLqTMzmf
6qhKikx6ZKLDvLw3YVWKZ6XmuHqniGZrEQEYVtAu482ICIzdhes8CsFmnZtonO15UyHWj66qG/e8
owsF8IanST+EmVJlM4QOrLzZJtxhOTpTalCwVCZOoXEBpk9LMA1IcOpVm9cRAqaB36V4tX7z/KZE
/N01Bsz+puTgNGumwjCwG3Gri/oKkd/bypG50Mx74zkFlJbgrKG3XMLNYcJ77Gs/Vv/1PDVM+du6
q2PFiGAZimMBlsTjEoTLfVswLUAwQZaxIoBhj4Tvh3J9nhv6isdsHNuizOWCLCfOV2KwZ9Tvpi3r
r1gjYLaLw+6qDjiH2qk5l1XrMSSvgPNelnQbqdgSyHrNpmBuqrtGqFE+cXJY5mmoXejAzja1N2RN
ZxRdeXyMJkQS6I1KHMSytGY4pb1dVHMr2nVQTlZVdo7/qiDW8XcvqfzynkV27AhajijhbWrab7IK
CHu/G4up5Xp0i8SzvH/gyz+UU3f2mBi/7Y+Q/RxufYh05DqMpdc8AqT56ym1elkIHk5scVZtkaZ/
NaKdzuQomEKlLtg/lJ8HxAWlIar78EsOpErJWn+EvFriW7Q29EigrqFg0kITlymDhFwTNvV1a+va
v8i4kuYOAZkVX4A0ecHlAf1I9UfXcGNfw3pvjGJ4LjoRkufnynD5ZijB9PbX1NV+eEZKAxfPpGQD
9yxBY3ymcSQmGunm6If9ge4n6WYq7us5s0lgp7vVGWV9lAXyrfgKe2HVJU7LdTvbSLn+UTft3GSj
LhvgKGXbLTm7uop0ceZsWFxz0S4vUW4cSiAumCqc5S8UTKvLk59MTnni9wv1Ve5oSV6WpVrdf3VS
OGDbvBXDf2PpQKz8CytEsxCDfR9AYjEsk99a+qJSdXeIByLggI9DblDKl8A3nL96HQ0No4vfN+cW
fYk+Ea5NhTWtKNUMKQeuRy/I1k6Urob8xFJoicsn2SLnsTZbo7J195r0OfXTnmtUDo0TDpkZllq9
jnGt0n+OiartIvXgqvu26phQw8LiGLCikuJ3HZGEVuURaJZ3VzbGEVCpoY7/mS7ecOlXhEccBeCy
afKGlofpMLZrMz3MWCDeXMGynJH3kbb/1atr1WmzWxI25gDu3oIlEandlJ667itKhLfJt11hj410
wvqxAawXp3mEKDhOcVe5Z0epIT2iDZvKd9UyBF0D6azOry+OILoaLuz4g+ORCt9kaYfmR+HgtHg0
4xA73aEzXjlnSTuU+11K1S5JR6IXasBGzFnHbTHV6/y1TCTilOxlNSg66hK5n1JTukGOOnhzuCp3
uf5OaPQWHxYwNLwHiGJ4PqQuV8BrG0ROe+5ZHpz17OHE26m+3E29t5xYMUQyrGCawqK66H2okW0m
d4gA87uuJQWwd0kDOqGaxRVynBh70xtYjrLXnfl4fx8C9trb6FDa56Kl0jhHBkJ01is6HTE+zFMQ
Jv/4341Fyw0WZR+TGBaquwKNsJytyquXYyc2nkhWnyJBLFt3vXOqwMKKE+LEpv3mKrfMuqlnS+BM
dDDBsVKtM1uF3y4JS0zBR/PYQ1+lP6NejVtKqde8mdsSl+QKGqQLxZnGnMF5XiP+zyV2XT+oD7Vr
NrJ+glElzFipREHwbEcuzGwPdKkBdTahi2u00EJxaumj716Hfuj9b5wfiCrO8Ox7961uOonpa64s
x7lpu267L50Eb1HSzVW3ZV4X99MPHD6YXedOuuXfaBin5hsnsoKJGgJT5JqzRtxrx47BCaCysT9Y
wZLyspcgTL9jXTCqnBoBNvXEQ76M3/d1SNtTuS2BXr9NUtrgvvUWa4+MmPBnW7RXXnPAI7l171ul
YFE34vXL/bZPpLecAisa718Qr8PcH1yb0JNWcN7BsTzF5SwMEpM65Id8qreuCEzGzIob8drF80Tz
kbWu7o/AgeP8ex48i8SMGWYip2WevKGBON02Wd8Bg8h5RMFFKsTTtid8T4cdpUklP5uk2uf5aZ7U
2n6KImYpBIaqlI2ydmbu9++9pAlXphdQq6wax0lnonHr5eBNceQQSV9OcFHUDXnOsa07it8C2e6D
OC9f9PyraFQyXOTETYoWZ8V1Jg99qvv6I5r3YhiOSbWg1jyg05j39dS48DwEK3QQ+Q9l6E3BI1tU
145oZRBuPCt0fR6yD6RbzQX5ydDSnAaC/V4IgeXqOBDiW0LpzyZiWJ3nOFlPJpj4Q1MEdS/1PMno
EFfChWOJUNat49h9J9Fv8w56N/4fuUj9MVcmeCFeMVoOvnTs/TQOUZCHQWT6rNdunT462IsQ7HYB
BzuqCLt354LWkf2ok85n1e5AAO0xcrWriH9vZvmtEL4mhrKwTffXzsB+T2i5xPIhpkWk3D9jGcTl
wcTseYd0L6LujGRy4qHdG8+rWGndYLv3Vh08rh3dy7oYtwXGyEHUWTUI5lyvmNkrncoBGfYCTZlO
kV6KZIRD15biv73f9eOKLqw79J61GfChyu3SlOWhpYvvW1CXwZM00FZQMWP9oZs6OlezH91CP6oC
8EztX73QcT6iKOBfLxwQnmgvyh/DlMZ5FUn3N+NmcKYHy7vz+DYydx7CLVu5iU6TgvSL+jC4aRdj
prPXO7yOqah+nbv5SUrHEYd2n4gQcRrKsn2Gh8dy1X0u/N1/SLfShTgGg76qZO5e3ZUWmmjt429C
SOcw76lqM6BaMbJ0bwj8OCF+9GzGx7jep/cYGXGmqqo/x91Q5sOYVNlSLObm0BNjkbPp4ZWlCXsY
y4WElE0Jcei80UmzQQxxBuDYvtc0R+cOQZ7/3LiMtieonZIJTbd0pjeF/GMM1aJZyDP+dVpK8Unu
n94yTHjleYw2q0/884g7SxnzVlA/k0x+/asrJ5QtnjbhdwSz6DKCLWI6mCf/qqM+ybpCFvdEcQMx
OiXCFEEfE9+wDryM83VAbKkmJDQFVgdEk9pQ+kXoxRS24lL/X5sLrJ4C/K8thfI8vI/+ytp5WHBz
PktRQaOpZtFvrg3R7fIDywe/WRcCTioexFK33UPTgMtcPdQkWeIXvQ8pGpNjJZQjyFfVes9TZ9se
IzujlIjD7ixK4le83iLF4VIRPBrjSnVA0dcZQh8cmf0yRudmo1CyFl8uodSAJ8IKA3XXLbx8Rj9N
xaa+IocP5RyguwU0OetIBh9AWc3JN/V69pM9OcGSARZOgQdOsNTVdUWT8bTFfX/bUsm0XhNVBj6J
itXei53XlOWue20dSHsQg2QPc9zP7Z3dKrbdsU8OUrIyZgvkLkCl7NB4Rc1EHtXeQM5Kva8ICRKn
30+FADfKwlKYI0xh2D+CSPp3iwhgKZptTHJHDAmmQ1G1OWpC/1r5jbnMbqMlzIUorgVnz3WyerjE
e2OvcgSVbPtuuqv4i++IZ/vXamI5pWLEz2cLKszOkEj6yv3laVya6r5IZPrg7sWC7CtNm0dvXsCg
3SiKv8kuRVLmh05AOoVybkW8Bv+5IDwNx0sUD8F1E6p2Tz4Ch+8YtNo3t7Hqu+i39CZWLY6t8SBG
PWLeL0ytsBrFLEN5b6fkR9wuDJnY+YLSevv9AHRyPy01eZqi8rz7pfrqnUPO8p6MI83yumv8Y99R
SpR9GRySS2BT3RxkGzY37AO8hd7UdU+6tQiKEi4ZGfC4H7rVk/e0hG7Vybaeydc5maZbgOIlY/Cr
+kOiV/vYwOi99z5i/jUmYY/FuD/pbVcQqKkYRTbb/oPnubmrClPiPWXaOGonbR6GtqAqAfogerRc
Tmg74Tm5JeCkLrQt8LpFvS3egKL3+4kN/d26QXuD1dZHhZi0PPgKdLAUqIll0c7P6ZDseVv7YWaA
aU+hX8ePASPqfdruNg/2dq+zymNwfjaLHTUWgrF+VXGyPMd8Dxm3tihPHmfO3w0t63AUO7vViFTu
N/NXulFH0Lu5qkvnG/5QeyGrguX20EWmzvZxrX7W3LMfVbtVkvvG+XJZu7BtaZwuLNVttFb5vNgZ
Kj8KPwddFK9y0AFYCYMLSIsZU3HxYT3abBvMvB6BQoI+j+G2nlmccFIPYffdoBW+8wc/fZsSYcOr
Acs6T/G+qKcdmYt3WNJg/V4WvftYYnOBoBjSF3IDzdWl/uqqIBJoR1xwTJ+2wg2IO0vLvwgww/B5
XY19BYE0zqmsxinNJ2bXhXe0BL7cN2od88K0c67Hrv8bejtZmFHo3Lj/a/1GDLKf5nPljupaG4S6
xyEekrcYHaY4qHb1WCMqKflT51CILzovemxFYHx0W575byami7Yxh3Nmgz29qkJ2x6ps+u7sjqnc
zqWgwue9s0OMvX1d+fcvfPCtn4OfBdOfcpUCWq0lF+AAs4/ax10FzhCyh6ur3dBKH50gbc0C36EC
hkGZmrp/skU9LwCUad28FC7cw9eG79H1S6zVxhpZuGXq33HdLQGncdwhNCi26St1ykGvYhB3t1Xu
BoNAhtztVTmJTNHZOzMxrhbMzN/C6j7hh0OKAE+4QBjzT/9ESN4xrTTTON0xgaUFTUCR/xxS9q1e
nLQN3JMTJzq5KiCugAWSs/DGLbhmazihAClibARk5SUp05OzkHuDAgZk2ylD3f6QjldIhHXI50+W
Q2c/kPgzVQdKHgxaxDQ1H0EVsygmyicwta4G+2dmKczatB/tjbPL+e0yaoz5Fk789o5i+DEIP3m5
Rg6RQzPOzYSIs9ziU1AHsbwU67LfAPurl7L7MozstWuDj8GO4/gzkRWKhn1x0i6T2hGAo04CIcs9
xQhMM1tc3U3oM+tDUQdfysNVFON4V5VEBb/JgI/hHIo9Hf9189w4SAf4/JlVCcwQl9SaMf4FVruc
ADMQvXZxTIqb3Ya2+WG2FsEtZeP1SMF8H55KNL7jJ56awXJbb5H3bdCAhPeQL1MPyrCa2Mu7VcXq
ulmJqenoThbXaBZSShFeQSH1G0upkJg+mv5GwVsj0aa7nnmWa2+JvhmKRSGpGrn/f9i6i/18oOtr
/ww9DVzZxB1fCCEi6QaCVgZ2OGhRpRdmEGdggjKcULm7qAqkOKYZejg4MXhkj7+iwO9GbzBx6sUT
7KhDR5huPrVfkuJkXLf7Xe4zO+uXBRu+ogkLjY+q/xbPhJJvtm6jbGl6k16kV6nTNLnNek8rNIcP
b2pbHTGbmeWTBt61zYq66O4GAlSJB0F+8xcB8lJfI9uNK4wdF/SXPQ7zhSrLz84Ehl9ub4DxVje6
BGFU/60ds9wg16LoYlN3u0f9+9c1ccJBVceV33/sq8ZDB/wVdgvNsSP3TUlqAD9zDOvFwTc60n1E
YqVkJvkAy89xD0JznpzY+FO+1DCzqAi3zlz8TRZRm40qpBU1Y6VL3csUsMpmEd4G99R1QeEggxHz
yh6MhQppVpOkFJr2C3zzuUt32707dthg4Uad7s1pXuNq+1W5tO0eGsb2Ies6MePWIlyA5y5W9u8e
pyNtYR0dVrj+FgQ5YOc7gh25ORw/xJPk0Roaw7andf85uJ5c79BFx/g70tKGzne8HqnoGGaWOf0z
QD7uD0NjkfvopULDsiEBI6ihl1Wfu3NJOuW53K1RZzcAhTmStVxEzKKmTeGhUd7jD9ZdmtpsM2H/
37hbwLzbsqLJLPIlEp25hURmFHtmagLMXIQBe0P9+WtbbtQ93kUxDX77ibFr2kU+FiDfiFOWtl8f
pcGtpegZ18FINOdmgwADDzg4eRy00GIzqSq3zaNq335Gxgzm1Z/Ktj5+Gex5jJleomqA95h1e20a
G3zufFItf5TrlusxHBNHf/Qa2cEh3KHoNZJ/H1GTjpMN4ZKM/UGfzDL09ihnp1t4Jbpg6588FVBC
nE8irL0HOw2rQzKbrKPgO2BVHR3dRMv0XAWA62xIgdWoo7dQ6TFLqCUw9yUqZVvkhByX3T/bSE98
eqmExzz2I4Jfdw7hVdCzv9AvV/o3Fl8vzEQMsPMizIAeVQnfXe7Wio/nVQOGr8cA5et0KIomuIYN
EqiDq77wqXFZ3ZOnAUhRxxN5wak0qKuD5+qOM6nMkhlu6oZOHxXhUM6fDaxi3qBF8nPBwISnica6
WBaLe9JpH5z8MfbuFbL2+bceLGfQkQyXQp/I51289LQGgeESxZUWfgEfm1yuwyBDJxP8fA2+CCf6
s9cKO84e6vpX7Fh7nsk3qs7C7+IQqAggg4d0g1tvtYy+nKoEs2YlCXjUDC3TaWitXkF7+AKOYTCR
29tie+RQUP0LEtjiJoZQvW5IY6koY596pN1sfLcGaiBXQgWHeSpx8kLUDsuTT8u9umw6oio5QQE7
XdFb7HeN72MqQYvbSoxiXJNAxCAEM5b7VNXn0dX6K592t1fdyvqpSQ1LmF1F9Qy6H6m7QBUzT767
VC/USkqaAGN3exAjmhSWaGhTH0p0pkZyN+5TP0GkflGfKNYbtuBv1AcnmF1b7Wc7mjxBBExS97zY
pnGvvlQiOXYYY8ZTH8HPZ1S2DPkQi+qn79VttqRT4rHDNDBpLWJz5zHaW3NuJ1Rsx6AqlJunKwp4
JDBpm1UJWAsBBqYcTn3gyelhNwFbHFY3syNXaKCiMBKt/LrMbunHSurNWyw7skwm3Dmcg2Nh9mvn
h7N35jJZfm8KrwEeHFQ6QzvL7yLdXJW51iGIBcFJp+9mFFwYQfc0H5u5mvOhXYMrYK8vT4XZ+sx3
JHRbDQ3+I1oqN8FcPG1/ZYhj945goPlbJ5fQXONwn988soYAWWghO4dDIdWJzL5YnbrYBhdT1WJl
ffa64MmApDz3TTXexmAZw8cxtvpWtzgFQ8lUbTu9Xt29Ta+LNdGVZrXwM07jBXxCAo8HQTM8sx3z
dWVVMXX6GOHs+Iynsr50uDEvvCryyLayMIAZQLdbtbHbXWntEBg1G72nD4NGJHgZHRQxJ9ffmN86
6cCTOihbkcsUC8R6l8rwHI9SH92KOZVLcx7/2nJltWWHj0D+9mXPvbEa7mpwed7mwTofqYS2efU6
tE55MRsAjwBLG/4NCW3MPS1YGnp7HmxcLfkyG6heWw5MTXMj6qMIkRCAFqTTVU1e2OQp48CrTmtQ
HX8swL+6eGK8HDqybWDo0ie1mILxGqPlgWjr6IWqSmx8K7Wix7Yv3e2gJmd6Lpy6Pu2N0922udDH
JZjRHU0kG3SYHzNHl6gM+1nbx61t8LXw2o1snG285N5c6zwcGTzgi+PxtIWiexp55jIfgDOnEaGi
77wVRe6h63XQ+TtoNyNAcwlhbP3vEweTAUmNg7MkRUMeqmqOvuj3cgIB9ltURQA9yr3qxNZOHjlj
iqxgKobzDv11c5DmMHtPGIBPqGEQOO9xzetbNUplHZZErEu1QBQoXQufLKYo3C4VAnH81suUMGWI
gMgmGISLdQlabvwGnEx6hfMHo7g8p20kf4UaTe6BYlD/SpoogpjexCo+CNBEMBa/+BXgK/oRNN3k
ZBrV1A2HmTrJcBqPbtCnNSm3nv8airDaUQjAUvwYHW+9mjHw/FMPW8RmWInUHng6iAUIK9n+caYp
eib6wmkvHRZgN+t9BzHw0Cyf3YhvMMD0+NJvQ5N3qJn7TJoVXcPgdEM2wtBeR8jc57rZ9LO1flt8
q2BFn4YJ/gU5Q8Qu1SA4Asjvye4XsynDY8/6pw6Vh3zWuIoFcOk7/zNa+q343fequIdN4C3re1J9
WELKCDM2ENfFUjvO422RnT5NnbI1pnekEM62QhlyGtRvkkTy+jIVbnT04IQYfiaRQyavwGWIo2s3
Ll6D0GMBtlizEIJ1a/Vv0ca6B4ecqJYgopJDFfOKkycTJkM5+nTfCnQDr1uxIa4FUHPP2tCIzLGp
OpYcjBafibNjB3PnJBu90Ty5tVdFx1JxbGQjCWigIIwcDziMB0284lY8ErajfywjgY+HyIaSD6hY
LHJpEC5BMo6vbRsS69fM31h6ZfIQW1teO6X9+0Totb6leCnS06jg7g/RPOBOcoNOjD+hSWoGVFg6
fV19vfYnjEMdMl7o1aTOka0iVsAR4D4UPB/jBeXB9BsdQXtn4o0I976fJ7zdVOfmopjVfIpGYt6c
tg4e0Xq05UEGI2hauSpzWWzd/1Z+11AG5Xbblb/tP1ILjGaWb9ERtxgA2nsYsKs9Lqknb45vuotj
4+Gd3bW399uYrtt1GeYQhHvgFsVNEgcLbq14LEHJyXe42a9ltVMjXi9l3Lm+UhNmQZ7d5l9leraL
YQ31vx2FanBAKTNiek1TnFoHp53FjeKvWr0tsSUw9RCkpYqO3VBU+AIamK1uHtFCIJ2sL22im2cn
UEF57rovt+XiLdioPJx143cjt71yD5vtItRl3eaFwx9MU+MdCR9my7BhIpk0xo3IQkCy2h7RcDON
uGK24xkH2xAfiBxoGAa7yVzg71I8NYSF5NzayxPDq9bveEZwniNQ89U1YXZKLnswlzcyHtdfkQEu
3ga3QyWUFu/thuPn5QtEXt7HONpwo8HyqmwqRPNRb+AXB9bX/buHooYnGo4X9WLBPvYoZOe5eYOd
AZFc5FcX3cUiOQXKznf8iqQvsCHof0mSUE6xewY8eUTxV7eVCCB6PDIJEGE2exY0gmqrGE6kaIkW
GEp8GkhnSmyI6Ivm4kuuJpf9g8OxgsNhK/dLqAncsxDuMJ6XcsUxfU7DYpG538+I75LdJW3CtIFv
gnycMEKcd1Hp/0Q0DS8WTcJOa1YA6MijAPPfIjJ9aRIv+ta3psgwCk657Tfv6AzzcOR8qfNNJGh1
LUqy9S2ckWOEe02psdOn47ekd0t5J2Mph7PPBVCDujbbfl1CIjyO5YbnN4deEveGyMWLgzfmqnzp
YniL1Qbou8DepMC/vuEXI11ieiqQ2t1KgPFPhwiZdy0JIuDSmguMygkqmw6v0cmd3a9jU5LlwMIR
KBifyjlFJjTRZa2D+YhbilNncYTu8m3bsZMQAYM/xrjVhO534rNT2CU2/ru89+T05gp6IZ/KKena
AznNMfl1XDSJg3eeiemMXmP7HRdmuehxJlSAcZZ8m+DLB6UQPfzlRewl7v3SPrJWCv8wJUH7LUUX
+Wfx1pDnCaD1oPt2Pu9qtg8oWiB3zVLsRxwBw9MOBnMNNzGfx3VvEeZOCoCvFJCXRz4X59XaEM+0
3FGr1gmMP9COpXzaRnyuLZvA0cWd8O6WvJv/Nncw7i9nQzIp7I7Q29sqpnJ8yV0+x/P4hOkouRIh
B4jUzDZliyJtEqKrTA3q2H0FsyHd0aLlftXsNBczypltRpK5V4EII+YPN0Shg9aOc2ljj7liJCk2
odImTG2+j2Di2KsjvtnQJCHjU7PzlPGXcbcYSo2HNu0e9dybh4Iv/B7dEAaztvBCnjv9Fcq1dZjT
xhKrSZzY7sa6GRyxhCR/zBTiSNUm8DNUOLo4LsaFJSVwI8UFaBYEnDgN3sIu9Icf9SADKKUkXg4N
yEp7CeMBI24jTcu5kGCUhyzuI10fYr8qT4MXECDAWkO2ZAwB0L552oYJhCrfHlQ8LMNl9mOTHL24
99pssr5MLx1QsjpSVW6QvsSw6nhh5ygdPeTci8QfJEhSgWwO2/I8OKPrPeMzneaHCT/JUycb9t5k
AeR/dmODgh+RZICqAV7t7DllBdjHN+8cEuyrI/kfds3qut6fynUx/CcijDwYqn+ukGVvzJmIGYNA
Rt0dsuZquXenrUGgt9Asc+4GmyQnlYSOua+8IfXu9U48PmylQHRfWDVeQsCbn4hV619r2swD2sIE
cSx30fBdO+xRLnd3hY4PXZ45L70jST7wwjMeWcDHEIYU7+uwIkwU9V0zFc1HtbTxHz8Jope2pHzp
Yfe6pbpjH0DIyO2+drkESwB4BXt+7Mma+Uz8tnoyfJ0vSNgtJu+4rRM4MbFucxZNgVdciX4R/kuM
Ftk/+sJq8hnAxC0pM5gYsmhB8wJ50UILuWxk42Fm9BbxAbphRmFYMpquunAY1tOVYgGv+Nt25NfA
mjtpeYzLijb4VHtYGWtp0+S0VUx8uF6QmPyIV+Tq56RA8HKMqQi6blOdnP1ADk9qGquJj4ZwkZyf
xmIpQpx3Nf2y6WzZ9unn0uzDvyghujlvtwgrcx8xoR3iZtqeSoWoIFvdnbgEhQLqPo6AnR7Xcl/4
dHyF4jRWGkY5kTFAdlEgYX/Yk7J9ceKhjR+c3UfJEvLQxmdS+8xN7M52pOg+urV+Uny6K2IHTuHI
xHehQrL2QOZVt+eb645k0pq+VTfZWveprXqdQ1kW9Fqs5q1BUmwOYYHk604xXyQkJu0BFF2D1C/a
NX6pLO2cqT/sTQduVoJpL7+miQ+o/TJyFkjcw9HtLrDwy1NZF8WEE6hTx61shktIiueDWoV7IXVp
E++Q9Qm66obJQdbokhnq7Gi/OWz0QcbWnyTXrQ73C6zWhgtunIPXLZiK9AlxBBvdoLD5PqT4L3ag
fsfPuxk/Aj03cOHCQ1l3Wxw3ONWOQFSVOUUioo/WW/36TfemX+FFewKIsGOlgvlY8fvClnuBj5GL
HrU33DwcDEgchLjzpjR5bIp5pTzCkOSnwVb4cQMVvSLxT6cX1PkxS7onOQYSUDyYCvLPxheamPfx
Dr9oMwfsOJgD+FZ0889ltAu++93gEOkNibSkBzu7yd2ylOT7KKlQVGDJt4aTNilYESsCGP54wWxO
cdK64YMzWlQqeKFMiEdg6nZorAMYkZuEB5KkBHKr1HerwxhP2wMvyngMQ0NGUbumeStS5O+VO03n
3QFRPHRjQIpQ76dNcUKtEd7qjXmcxtnovsPYgali88sXfLsD+gKPISFi73xoCxH9XpJ67APmBXwq
z8LBVHIhMArHANEHGIH/R9J5NUmqM1v0FxEhrOC1fFV7b16I7pkzgLDCSMCv/1bd+3pizkx1NUiZ
O/deyR4RbP0VYcq6rcxdKZPG20tyUP3OoLODfHAXW9xOdBD5sfZHJG9lkL82bemziN1vHfLAatTy
tuxbYb+JyYT+myZ/9aNDPmje1406dBOHICHoAcKatu71wpHRHrf7JA/ouGI9B+hFm8Udq/HiRoK0
o4VJdzv5GfZKQDsBc45mXsLvabaRe8pGScON14kJRz5E3BtCNdPyd4nL7qVnwLWAj7IDZsJtU5UI
90tTlvJfNTat+mAAARcZZ4Oq/2/wjVdER3OAUT9U/SHufLrdMuyCYDdUUx0zXpf6HFBRMJH2uqFe
Dz2GLl79gGRLLGyd3NAEr4afNV5/IlrZ23Yq+o+UqVTxKG0o7xGH1nLXmz7u4fEw/eq25DGc/2rb
9y7+HNlfGGJykjEbBB4q13mPxbMiMCpxOLtqPPVDGe2ACbWwPzCwK1ykbeC9OVON98sEtfwBUHBt
3KxSmfoaEndmKLngbZvmmYI64tXI0pY5DnwZjhCPVebJO55anF9gujiaD3CfcIlq5Fu5T4Rdp9Mc
enCkKoTlD9YKIqsgLJYIROCxsTjV622J8gPWS+Oi2vHDt+Rw0wRdZmL9F+U/Lx+Ri+cyUcVxMFnd
AWCzyBKda532bAZ+zk2oM5PAwSGS+jA1izc+Oa5MMUlGUYFrdOCPRIV7Nb6MwxOv8vwEi8m9KFNX
j6G1ct20Ig3/oPDHd3jFx101x+tCCoXKEnQb9u4rymuIPj09XRWR4joHzVciaxd04eLL7xIZbojU
+/ddyLwc6WSuy/CXAT8mqZTZ2ka1Qfng160ktOIF8zcUkuQuK/FP7lfiJoKUpliOc0DVcJxrJw2A
tHQ63FeLEu8DfnoExSCA2JfhAx5PvGgSOFyXFzCiG0wT9WUN7XCrVWVe+xj7MImSzFZHGDi23IWq
rvsN5KbmeaVf3oY2r+57Bt/zJnHjcJtiDAEXgTdNYho8jph19g6t/n+8/qSinMGj+nJJgwKsmuL0
3M3THJ8mVmkuJ4Jf61u3GjsfozpwgueyV8zuMsyr1TZKYLhscHNFyPExGIUv4uUrL+yQRcnToFCx
YEJH3UfMB5+BXQhOuJqS4hJFeUo2NncQQIN5cM3WxMP6hal+/KFJKDdCjwt0uHSGICVDJMQMu9ph
pQF8cfNyRS9gsCAOIwEzta8Zo17JRtjJ04PvCsxxysVUymAlxzPOxRkeRg6o7qnLZIHzTETq0MSN
vptdrr8nIkzGu0vcKrgEdVALunFmZWes7r1/47gRvKWE1aPfCkpF7JLXbjoiCU5Yd4dc6ji/r/BJ
q8/Eb6PzdeephWA1DRICQ+HaZzO69VvcUvNVSTbtmeuU3U3ZtKvayQiOzQJcKhAfNm/n37RundM8
tGznXe2yPFdOKEeGzSBUw6vtdmurvvceCRb41YGi1METWEkIT0Fe5Ms+S53utqKWuYOcwMwg8YNB
oxNikTzH9ZTuZYpgVR3oQSm5xtjW3bEfaSYx5K8Baq2TiKfKXa/p3MWvOnxUdg5OLlHPS43Lfge/
rCtoPub1bNIo8g8pjkRsUjXPOh7dZGrPWTMnJ79NiscwxHsElsttXlss2X8SP423Ht6n26Ib+v/m
sPRdvLYGxkYmxB0XqWF8qZMPQdRy3uQaOxJPV2DvDMb1S4tiuQU5MhDgbFGcH5nVkBB0LTO5S5Kj
T74uQVPgbvLgntTfy+qIQzqTiKRETwX/tACptM+9jvEG/RCGTor2trudMwG3tLDkezQah7ePo2T9
qMqp/lsu1rmIRjDg0DoIcZj1lKSJky2stnBs8lIwnLjt2q58K8yEgZgvH8pZyAtholT0uxoWk3xV
g8MQtLPRFZweYmW85i8wDoyjPDdMo0GQ45bHJyv76i9sBOISeTAjhvpCXg/KhekYtLrud0162PHF
sv7mRgZvTuI48hZWY+PcIZsUvCxMA31kj8a3+1DgsXmzRRBzOaGtXLFoZr5hcC87Aj1ciue6kOac
oQBGh0Xp1dlVJDKOXKx5xgmvpgeuYs0kG7bzIa5qd9mUrJA+yqma1EFpJW5DU3I/ONRBIB15ohwQ
i0nzi0QMcTQheIERYrhqYPk4nNY1QUoUBnoEecvqzIs54hvz9bnH7RlsqgQK8j5tMCSBruq5CuGb
EZXJqrGNdgOkjZy5jK/+CGHzPZZ7eePjA6CODhK8vb2X4Yfrx2jX1ppwHA8DW2GzNCHUHQNKvXRN
IsHZADtqCNwSqqFwY5bGmMglKXUgLcLW8CBGvbRzYV5Uw0aAh6wjnfNU5SOlebos6iAmUu7RJCbv
AQzD6h3dvh7y8+oSzoCjFeWvHWo0aBy31/kdtUZ2Z3JCLeBIKSI47lexCbokaR4ZGa/9A3xFnFcQ
8Yb4du4l872GFQ3+pWWqzrMLehELl5PpZR+MptU367LUBX4cpyHb5icE5lNmXcs2i3yS1KMGfEue
CmchbH01+luQGTgk2cjgNf/0Gjf3EdfXt6+G+Hl2AnMKHMu5VOYYmV3hzQ3D35YxPXuOvXvVVro7
YJaJH8bQbd7XUJV23xltX9ATZf7M7mfO1G3dFMJ8ZaubtMDFYvj5+I01ysY4EVk3AbrDv7jI6uA7
oNX4Z6uFWGqvZvklW1ZXZBhIYiLpvWS8VE3+k9+EfchPbef1lTrZv95YKDbVLosGVhpUNFjdWwQY
vv9bmTgrfukwCuINsLPLS7z2hM4ZDHHzSuZ9K0bZKg4OVZw14EJkHf/rbJi8h1kOQINJN9c+bgue
C6asg3lFDOTN3I+kIO5Dx7jpA5ZDjIibWiwMjZciDj+iuAqeZsct25PR1XL2gwYDhLe0L0HBunHc
yeDQ/cFCj9JJ2o0bUfTLRXVh/N1pAFR/GpIYv03PMcowkwUdf2xYJ919is/CP8MyDBucZezVBlDD
zUTYFo95901bp5e/RKjackcs2ftPswuqfpRXygcrEyYfP2STjs2xxy1ERDymodz4Mo0vipP3LrTL
EMEBkd6P8Ux08hMfk4nsmnjvpxFP+TB1zVZIaV2cG36/BzBAA9bOCaEZIBjrmeVCGBn1FET6C96G
p6hzlsx8D562llu5iD7wGtjhmSfF7d+BCGrYEXMyjvF2RgUkwN2Wj5wRAGB6m2P9GJDsddRn+4Et
OTesLQKPJ1MXIBZxtyk41eVc5+dcedk/LO2y2XFSe48UrtMlaVd51b2T8bfUdffZqZnQhcoyVpAx
X34eAAUcu7jvfgzQp3uNb2J4iUVW4F5xvOQuGr1Zb/gUgmEzfkhgVVQ96hct3rrpAeo74asNu9Mb
/ppiCfdMR8MUbCuWP35rfh3av7DTfaDFLTbBaZco8NpfnNz8kysFU4r2kwb3OqdzWqicvEsfMFTB
/LQKpi5WuIXYhfCm30sYHyXimwJdQdhEyi1fo/tFsSchseSVVrDEiBTzRM/OlO8kSGF7UBk+lU9C
DAoToGMC8yTqnqd/45Gs6W4nQoDdrhkWmDThmA/HREmDYNbiGWKjYVkU0LoGglhBbBr3MSxMRUE+
ogi2fUjbsBZVzPJILIQh4Nah89qz8NcmxPvazX/HhnL8VuUxArDpWc8wk4P4KRJm7dk+Y3SHR014
zFB9cKYz8IkUcNpQrfkTfTpOqKFnT04xzPNT6gPPtltyTeKEgMoEpSEK8NPGfba+FE1Qw33F13H0
NaMnZngcPJDcUrGznl70KefSxbjME12P303ZRHeKKAqLCJu2CP8zWtWCCzUtadswlfLMXKGQOn0i
hNVWb3UBxXHfU6Wpw+KV2b7y4BMfsrRb1L7pVdKAoCjT+o8gvOd++NHqYmEIIBS+TeQWyo8YDwJj
UTyzaX6BWem9MPRTqC0F/MZSyKTbtBxd+yBImUu4Xd4eG5/DtqOnr2+lnYlYFzhdn2p3kMNWWid8
RP1Oi33pwrD9M3r5xAMCSTQaj5Q25E0gLtL0Gu+cUth4O8ZOOPZYPpo7Oz+ZiCngNiJ4GRZyI0h5
Hpuq6c5Ulc56Wr3YcV6bEYz3MZ7yrLjO7N3sdvUdEHt+PQf6ZrDo+3cjT48+lsOQUAcGyLO7LCvG
W57f9R3Q1lBxB3WYkfWI46SNhMtIxC30bz73U7nRfqNKYhy54rWIA3YAiRB41X6ZXAsDTS2EK3w6
dchFzXJuZ6FmOGVetU8wfiOeEeo4swcGYrqMJ2YptUeEclO5abvv/Ta7ZSiiXuqwwxGi/KB+Tyog
JnQ4bf7DNCv7heopoJBYgzUbDye/W1gkW1yRPpApJ8zqGg/bGlbDd9ktkTmpmW6/jNA+9xLcziFj
ZkEGtpLQDZIQvN/7FXOmqJ15m/c9tQ7LXX1moTxTrdfvsYWaHZkvKGTkLOAuITBdh/EQI4F8tc26
cU0UNw8I8QT8i4qVj/AbcAEtUci2psr1SGc1aAUhwU/YmmzuWzUZh8GgqKTRIob96qFb8lz1i5vu
YrXa+KvjQALb2qFlvEAUdIrnqEC8eGGQSEWQuODZT1QdS/62cg5mey/LCUbRNJ1r5onQZ1JzDPOW
WXoZLBes+IDfoIyeFjK/3Yb1VQw1KtewRCi+vslCQKs/chkWLOjJ8B9ohPceJgvGkdn+xnyHyy0i
7AqyzXVJtOG2bwamrCNPw8vKY8s6QvwIpOBG0rL4ZaP4La4K+wMfxe8+HAIVhBkaPkaGqHNpIilv
FQrNPzrLFJdiP1TM48fGf1epl/on1G11m9Mq05+Wfp89Yk7xcEosluF0ZrM79CLmZSpjsBuSA9sg
XwcIfCYInsbGARUZujNpowBdfM+JFX7imHGe29LDGRoMAaRdsCN38wT5JAfnyozcdu1PC6LrZmj6
4UDbRVopELV3MvgbXvMcNP5dTL55BzrCEdDJgiLY4nGpHnLdeysZbPLD29K1jP6Zffl7prxLu+cH
NC8Lze0rRvhIHCMij3xNtuyQxecS9H8oy8sQaukc2i6VD5EZJUPNJcODiL3AG9/zpG7/WBcFmoxx
32LPE1F6U0h2iG8YP3hvPoP05jzXq+2vFJ+hOEE8SO+ygcuPNNxVP9uMCSmi69s2uJ+thGz4QxUa
JA8jltH+Zc6mUt7E8CrX1zjpi+GrBxl6aLoEKG3itmWw81bqqocVxXcXu/3y6XlkO6/Dr38wDjEm
CQ2YtomwWKVT330H9UKd0TXTEG6LTpW3UJKj6cmffRSTluIG5FUo8FSKsD8RrM28c99TakxxyNxc
t/zBTeUs/XfnrPOn4xA8B2mlSSON5ghUJIx4GnRzNo7XIOeFfESmcEus72Vs8NusulJ3bgyF5hkS
hpfiBIu8E3fGWmcYXvGw7BEcoi8B0uKJvGYJ7KRNkJLWwaNfxGK9q6kX4OY4xXQEV0BfD+65/C9P
nJmRsimzezs29fyjVYzJbo6iRUK6mYZj4E6VOZgKJPB2wpTvb6l36y8deTBWu5bEuK3C2N+g1QUP
3BDypaJ7xXji52Q+mrj8BVCr7wB6zwPp7cF/hGKsdnXBOb2nklhfApmUu6WXTnP0SfPvmyAlVJq6
S0nGBBILB5M4Cortt9wSV99kkQm+xoX8N40wv6aZvn7nOvR79I5O8S7YTPBCsqF7JA3zgyfV/kKz
z08ztBnE+7K6VFhlTj4wQSR4VhIhHtvwLKUE9FNcI8ybWIyi38JbtzfuUCT+fnRKidRTZ+IpCOLo
Z9Ac1jh/8v5U1Y0EfjF5Hx5iAiLRpD2OhzGNTpEXMtgOrhgfbAp8SqTi/N9aBOUrKdXlF8ykA90i
TH1mfIRXPIGdGs9kkTzMVjQvAx/7C3Zt/0iFSikWgAsilSaKp8rY8EcpryMgIE1ylwgTLTeZn0fy
SNCW2MrszNHRFvR+OJTgZElSOfds5KP5olLYBzle+q3Q4HdhruIcNct652G5p9KE+MwoHYuZSfKa
sZXI1l0gfBPt8BQVH22u8/eKrp9Dfkju864aXrquAJtFPVN+THL8LPoq5OsqMTQMg9/cuWkafLWA
XN5yfyYBKUdVnKKZmf4aLH+7PGZRdraGT1XXq/IU8+LtfW69cdOHnnzQTY/tJiJ0dzsJGvG9HaOJ
5FbEslXt863Kbvyk/lj2PcmYg9dmyfwb9rWIDg7MlUMLM0BtMl0wHsX2jUvWwSQ38NtikUli0pMz
N4m3c0bxEieBvRfXJgvfCM9vbsFQYjBObjxWlj4LlIQNl1S1C5h6Mdtgg8ll6PzijEq/X4LSHupc
UmcRMe8Vo74uvhijJ5AmwZOZcwBwwdJenKnI3hfDWqjrQenB57sTuJ5PTePGj5Iw+XGt2sWcXdYS
7TiLOvoFrNLNzmWR2qXg9wPBiOmBuwl8GzCJmVzKjKBq3heO4Qu4O363TJpyZjx9EX+0zDHXU4BN
4yngsjqpPBUf2B9YXYHpmaGqBPsR9etU7qwfxAHd4/iDNXN4TVSLFaiK1AdGTO/chDCIq8kzPi58
0JBYvPM/TIryfcG+ok0BJnMTDXyuZoZlpSYX3zRN1a71fShYpbQRAF6LHOyFonwg2DDtTB4nzznD
Jlp6U2TYwpyIiT1LGNk6WEHvwlBRixOeLPvXzN384yu3ppwdv/EbznuvsjNe1TpN3p04xa2WOU/r
9SfFBNkurMLgHbkSYIhd1DJisACCG1AvHeyEH2Dszalkxc4WXJ13g52CRjSW83SdebLcsZrb4iIJ
2vBRV2i5dYGNQ3iUOmBPt4NB0Q4AU29cNmg8MqACFo3uo2YKpt4rfY7DrGcjwtCdQR8M7HmZxuEx
ydYT33Wy7/SKHVA6jP+I1P54WAN2vWucy1zYC5Fq1MouGtW/2M2HjTN6XH4D3+oKXbl8WZckjndT
ZNl7AvFgIMqkt7SfFRcaQK7PjH73WrBNfX8dCVEe4pJ6ZI9G/OUM4V0eanMDLiDzLknmcqi6IKzv
xYSNf4T6tCUdD8EUV80dxVJ1F87X8HmE1eKXZcR832FFAikp4+jAppDehb7BE+24zn9KgwfzigXQ
IjmDA7qLYeSIFazSvmy2AES5iGNZv5StLOFclpV3jlGbv2Kp25tZTkTQKYd/qdybP3XdPlTXhCWv
bir5n1l2tBGu437brnpoB519xnDMNyMT0Yc0juoDZHQ339gMrOtWhYkRBGxaLvUi+G0ct3riwpov
IZVWt7FgeTZTz26fk/apnyluIcn57Ig3rN25XqEVN9a7nwkAumi5fIPJeEKlEAiQfMxVo13opVgu
OHtwW+eK9AKmEL3LWTT/aKhtN5T0yYeeM6IEUytP2IAAcKiKiK2q9OtQDTSbLAQaMB+FV2Tqaot9
G4UFh8z/vxG1qf4ynEqafbBk7r02a+YRaEAzGrMR2rz2YXPZovmFuDL6Gx6/q+FVj/lbmabePXtc
1HPA2HxXDXMMeZz6f95q3CFy7w9rrnZVPeW0rFnHeBZmw4YJf3+tLPI/c+qNL/T6X13qp8dBgT0m
UU+FwIiUFQS1/mYQbwsKv07fmEHFwTZnig0bAIHue4Gyk2+jsGvMjRho+fXU/0UdTndD7FtgVvPU
PReRiKFOJcXVeF7jAJLqihadQL6TDvdeQ9+yZCfsu+pbKzc/rrjvt6oPELZhm7XHBZLZY9ab7pku
hbMkMp35y0YPs+mmFSuBaWqkli4M8y3ngmTdDoCf/bBG+Xi42hW2dJV2axxgQe2i051TO/g75owo
olfS++BlbZhmROLipWi7PWGtHWbiYd+aQhNoqImqCmX6bTRPbIRQbazHfbF2lLIt7io2cnW7CWAl
x8nyDmwO/6NvnXE72IRoq/3o8ixkjn8FdeB2gn2TfRpLrhSKXkLIF6dyPs8Gnjlz9ojjjEyF67x6
C2Mb3zflrZC+94lGk38ZKbpzMiaRObpVeYQQebUflfx+iId7+WPaIIYdpAd/sdckd7ZsG8Mak/bs
4bEEsFWhz2DdnHPB4LE9OiPyYGBk9FKRyn6RfpjvEvJv7OVKYKDJwfuo9CA+HXBtzrEqhPqdTIDl
hlur/lOGg70rcGMlwN1Z07X10PuveXGKfTZw1JwcU3HfjFF1E9i432oTI/XDfSDQAXwnHSPa5Za4
UIE3Prj62CGVFlN3KlRMUKBg1FXLLMDpN/+XzRijSEtelCBY3lId46hSnwgv/GNT8lSPTE6Tsr4Q
Ekg2XWyHDwWNnozKvCCtr2U2vJlyec3Sa41w3bV6tHi5MQIH4W6BKbSPxrg6EzzLHjUjhy+V+tet
G7VE1r7OGrw55/gk40TJBXT9yJABVSMWNft1RHffx5A/1VLqVwufYluWxu+3GBPcq08xf716/d6J
PCz1JUX0oJrK8paFQCBeb1cw6nsWoQy/BLATwzArazjgkgInWCj9hd7Nc/x9N87zn1YrZpcTP8Wf
0BY8WUWdbp3OBfTvktX57kxpb2rUGf9ICRSD52YSThaNBxzDbVE7KLr4SuBy/4E+MX+gn4hjXF13
36bJ4D9Ncdvn59JlnH0Y1iAgyEMQzmxcYlr/PDfgKpoxk+7Ywjv+5fF1m2PNxP7NU4VtvoUxzcPa
r92jhPnwaLGd0NvpxCXZH9vyiukHYXPGzRawVSoRwHoVLE67G6CxE+WJvD6qn2kcgx61o+MGx+Sq
vJP0mytFL63tjZnZ2/s90edJjFID6Q1cS87Liu12+asLXoFVSkizqE3YRKY1B2y4GtXcFEvMzcsv
UKn6SdrJAOFYu/JSeDKHmdcWv4uXu9yqeKvDA0CasHokA+DZvQUn9sE2OmotQwDuwAbr5kR3iEda
TY18cC3ovXgMFI1ttcYveVaGAOUMZr8XgfTLbmxEY2iR6eSbaY/todmno+sktzhgvGg7VnW4L1Qo
9lbTd+MXhF9YFqz8O9C4Mloa/fLZ4+XDZLZWZzGwMhu6o0vvuMQBK5MkmW1z04l5yJ/cFqLuyWHt
wAFOyfCnwKD5gG7D9p46CQIcwqmPGxOGAyPHmCiR2ZneoPkI6AQIOQT7t1OAjH4IY7l+4bIJzUYG
a/RmhmppdploIv1gR+KirKXr8d+Om2oMAQSGfaGuLDiP3i7fEW7V7CfkA453Pii85pXRlbPgx7nm
fb8FbWv7mQf4CTAVdIxPSFLQ6fPHO4+gaTg7NUUWO5uGrTegQ2m8u9mwnOkO+JjEodQL/BIUqC3T
DZdPxwSUXFcelBHkKOCqWxI+TfrkZ2WeqR12qnzWFLNIzsWJw8DJXDRRP/OfE1wUhIRxROZvkBNV
+p7Wk0m+LLH48WIsBn4SK61jsGYb+HOt5f5hM6F3xA8w2lPO26lqpjq5ccBxtKko7rw09QU4akhO
8Ntitj6U5zIr5MwOq3UVI1uVdD/XLMkai4qijf+k8JlHLgF2CowsJfhF42GKf8wfRfSfrSCfWNAK
hQo6HBxVZPVzXqU6xVFBR1yGAPCgvfQHxGTA31w16zNGkOSaWGH35XOihDOcdAosiLUpXCAb2i6X
kF0nkl0dafYgZTgbNkRjUcLyOUMyxhY9fJXZfJ1EVZ65o6dNgajDuqDmIlMSbMY+1OVpqu06HkwS
1F+szxD12SnZTeCSAJp2nhKlOtE/sy0xWuyq7iHbKXlctPTj8wxZLcXE2VBlgpDxLsaf6Erg8jBq
CulXX4DxwHrcOEE3jjf1mKLZ4MZvG6hacTE/k2TCK9yYiKbZ4y6f7stxluGp7pvEHmKnWDWRutZ8
ed4EkXdDiTQHt/Qr9jSQh8SAX/Wyf+mvfI7WvS5nxOXq0ipfvb+sWkwLYvH4GIYtyY5sPLjQu77b
YsIOEgC05napQ+9R5uFypWSNGJqGiF0pZ+xg8XLuOz/KD65nq/qWfzLSLBHVWHA5ACKWmDrje+8s
8gnLk7GvbCUaHiJpAn4oFs+AJvF9fWyG2gdjl6DBuJ6mxQ8xlFHCVsJymuftG+VBM/2ZoPz8YSUd
+SePcXhMgIzI/h2mhP6jq/IOmC3y+lPjTOO/JCARciLliom1wkR6j3Loq4dAe5Q6fjzveezyH/IU
cjg76KmbqMvUg+I4qI7GVnl5aFh29xtFbMbZFaQOWWyBWJmdSkhuOcHPgs8Jcbi+AREWsZzK8Ypg
t5adt/xDgZ+e+0y30zFZ+vgXRpwgRc3ORIRFf6RqjsBpiF2eRe25DVT7dwAngpIkHLbRDasVN4K5
2jcJ0vl5mTvnndeWfU/4g9hpFk9qkuchTN17S58SHBrXlDf5CO2XeqzjcOc3r4JDoEtmwj0SASEN
gv6MLLRK7irYa84uI4hBc8gJ5N7Yam3fyeREyPy0RvioXa8gwzJLl07Ni3zaInay9ffsPlCSpU0d
VpEq8vRPytqN2zCM0ssUEh7nirYlpBu3JUAYDUwqd7Jxotc1I8jB30Hug+WgWQtQaXLlLRsUSEdF
DqzAayYnN4h2VVTv8LOF5XsNCd2e6mmqf51qxo42ocbyzBazS2AIJNFvoEilkpx3U/kKtbx84Tfa
MAXoq+HCog/56YZ0bSdkPw/X0WCwGxdNPB36pgudQ0zX2x5XH1l9RxaFftMXQTAfekxvhmSrINI3
kPL+KlabdjdVCA/4gu01z/72fV6rvTPaMds7VuvqnIJjLGDDsnaNcMXsvoA2h7YdMd27bvCkNJuI
/T3JftJIIG7qltuqogjcWL5M4KAdYPFLSSfxpHBs3QgYm8XRDelPWJpIl8zENnqmDgFhaqrrJx4n
gULROA0LcEJVkYO3U8K8IhbUCn6lZtzEtcu5bdbOk0eSLbCaOSnJEw+cvE9kB+pPtw3ZcsvTS4Qg
M1CRduwGg73GlchCCM1BdDZZUWSv/YLYvJ8AZk1bBAP/sQAV1u40P8NrZuBx7WY/yLbAYt07ZywE
aZRsLW/bsaHYGpBZ668+dPr+DQG1uXXG1WYktmxXXGj0gr0mmzEe0dJ49hiANTPQT8iQAQb8WzQ4
cXEzTg03T82PW8cV0ZlqRe10Sc0x/1kgXl6fuaw5ayaE+GVYaOZimiTPq3aN9fo3EGHR8tdLa1aA
bGoX0e5H+QZjAsWmH50oAU20GXrh4pKGvpw/j2XDt1EurmXfURDNCfydBO1onttk2C+WDP/GhXNq
t5VTm+UorJOqoyni2D+ODgKYp3l2Np3V42/sMtE+RFVnb11sON1Ph4JcYmHI+vGMHu5ktx0rRKOj
b1QUUTNVYGMscsJzNfsxfqaeIpswqYLDF5ETYpUJczboJqiwLl91ZDIrTgwCxuKbme6k74KIhPnJ
84I2fFbIy2Ij+qlbT1U7sFXMb20TnhbRq/jMbWGRwIsrxnTM6IChz3hMSH0BRH0ruk6+NgQh2TAF
Bir7Gc3UdJeM2/8fq1mYzPDL7l+cHr/mboALst4HWSP+4UWeH6bMgpHuClguRB1c8bho+AW72cKJ
ufStJ//hXGAuFwWikFuJ0TG+sF9kld8aXuhuijE9jXALqR7qqriXfWDE3nATO3RCxN9cjLzbpcrl
ZY0Tth9TWqG5qT4H4wflfVezUJLDgKXI7kEJJpwvPoi1cwUEh/LBNn9miQ16Y/oR14gJITjv3axB
DBiDCSRiU+nxoYcUQkVZG4rgQhfhKz9T+jKHAhAcd3YiAMulrG9ScdxOTwXmwLNametfsWninsB7
fttq91Nohru7EWLjw2pnSCtsv9ObEGzLXrdiJYDv+JcYrGDGQR3hbW/i1P0ggTqqp2USIUgqlO+t
x7nL4MPxHiQ8IUHWuY6Qvlrn0cV1fqtQUMttjbR36BzFCsLrpoe+waa1rxDGzxgkctgic50cMYox
yfcTVX+utSHRWvssiTpaMzvlbb/4WJOMCyNs1AnfhUnT1d3DR9Mdk610rUq8sCsBpFZ5/5WaFFRe
z9xIbdtcq6n460qHuecz6HugbExPfWarHeamqvQ2hW2hlzX18h35dQ9qdyWbIoijXALPf80Qt/dp
HV85Vca94JWC09DWySfEmL/QjQLAq8Y+4jDk/VfTykuAUhs+zLRNz4CCZw48NNQDNsfsfXTG4FjG
PIalXXI2W9SFCzU/pw0IO7+6g1uAu2lJxv+6cCwvTSciBq0l5sx9UpT1beKl5WmoVPTexhV3IKNr
kkY9bOCN1WTE8QfGudpwJ8h9EWJEBjWUJhs9Jh6YNCJDx3xiBzXeb5Jy49qz+Lu0rbwrXFLNQDSw
qxniMcxO4JL4wboP04CbFHzBfVHm0UOO1e02dlkuhB4Nr0gikuKu7PTvRLUx7ajbllez+oCPqMST
4KdFUPUpefnBtrPvIUa1XBZIY92x4hEQB7zqacu3p7k7lkHD3Gm6cu73ozcV85kBrkh3pqpHULNU
FiRfeDdeeK1ZsIiYXHYHI/NJ7GSgu/KnXAyTg9CZOXIVqC0QAjVLCV8LvFA4bDoDjQw3dJSD62DF
G9CB/3F0XsuxKlkQ/SIiKEwBr21op5Zpeb0Qku4RHgpXmK+fxbxNTMSd0ZW6Ye/cmSvxi53A8rrI
0pMJiiEUgq/fjuWjnD86UyXVViyd3z5MRtyPd6grRDkkGT2Hz36Al2ETR4RQD7Gxki15EsCpUkgn
9rawRjwAyDwBxknTCQ6O0sVKraXXh9dL7N7Do1gPZ33yL4jJkEELUPNa+cMThN5DbPKAPqyI/pGQ
gznVtjgkStBkAc1nbNkDj2S7MjX9eMhk9Nd1Ja4YPUuPf3nB9rkqxxiUtmlSNjNvo1IMCFYwzvCU
Y5HeVVbsPcPP4nbG/3323lQ1j7PZD9SXHXHY20I6CniDkNpVt45kLX/eiTLO/YRbl4QXAWSCqCRk
gYX4XjeEGCydZ/hjAcc4vBoxzr5MpYckZ+TZ88zmKJn1SeDDyI3w0nu8j/ia08AMxzPRI/TFBFjQ
zqksZz6SBhr1tq2m3j6QSrWCgw3U6FQHIF2wciRaI5Y0TXZHHqJpDn3OVWUvOkX/RCA7BRjFN7oH
Z1gbMXz65t9KQ+Hd6wmK3BonhyYLRBAjcKb9dOZJokzzQHEM2iGfJFpmUzqI7UtLm6JFeKtqk1/g
HICXK3+OvkzAZRhM+iZtdllQFNyb7Kh9Makh/F3mDmQ2TU6877Ho1iz4niPWn0373tsS96R9mDoL
MnQt3NtzM3cpvYFU7tlhPS80BLGKOGxMFpMbX1ca6ELQkv2ywwPLioghmTGQPl+97CB1WxD57Gyc
jgqUxZ/FH/arQuj1r9WcGdOFhyaBaHrgHCJ2LFhPfL1JsHpT63OlCih4YSIIUoNqGrkSAfAqPAW4
m+HNRVxy+DyZ+WlsAGBtdTcHn0ZkGdbWy9aUEN7VyoVmOrcWx4VOfWIoBc3GhGCGAysF1TcW/gPK
rNugDx1cTVg8bX+u8VwMnY/CxD6z72sHQpNVAIfaDH4BNUM3VpJfOsQRF6m7dtMjNzbDPLmWxLOn
I1WCMdTa9/eT6vkIQSCRw5ajVm1zqSm7m5thil/zoqMJHo+HH88UGxtxlVWst4IZ399xwOKJUwhB
bU5MslFCnKYBd8/voc5h0UTKOWFXseNnx8dM98BxvaNSw63d6dMVdt2E4D2t4ZAXvhVssYtIl0ss
BizqtvzuO+FFQhdNPnqryEq13jbBafw8pQVVkKT2evcQS2N09wzhrf2aAuQ3XwQrlwET2ksD4gp8
PndYT4r8bsD4BwCJQficS6P9nex+hZeXU3VgEIyfB4+IyF7VgiQ5LJrJvzOlSP0SCrUuIDO4upr3
cqohzHo4ADnH96svlYlU/kEZ5nzH5OD657m0or/JHTJaqAo7/Z0Toe5K6qqRUuC68HdfnCKiMRQD
JSagAPdPyx2VswpksU+Md3WHcGtBOSLcikEtiQ0DNoaXfqMZaI02q3AmRY08lzFmLCIUan7mv/Oe
Aqy2ar/YeOfCBOnZ2hKj7344vU7GjlGlcXeDkXTDA0JtnnA77yuwq2J02SY7fEhXK/ZL98OIiO2c
5jxD4HFaTaU7/Mch305RNtzpkUz/bsZoUu2RmFSzjcn23XBBsP1mLUw+I3Gdt2J250uLK78DHKu8
R9jMlNHQttH0p5nZlAdty3kFeBZGQjiTQ3Kkn6D7M4c6+zG6lFl47DBOniwixeLo8rZ+mYFV/gEm
iprHyiIau1FWudwPDDEPbZe591WsOEBEPEzB14y18RTPqjbuyq4pvhO64P85fUzlV6OwwyIMKIoY
aPx0dhD7JSY83VEhGbQGHDVt2j+rXZCvq5Fm95IT4n+QjMQvrvTq0Y9n7GgZ8b4D/iY4tWZs0xnG
iQr2W0u7CGm/dEVpBZ4cOJzZOfOaIwTDLLlP+52qlj7bMjo7T0UD0nyfVxKPmjIcjpmtAur1DC3T
UrsWe+GPMtnLqZ4w1ZugZszbUoeRdmHrd5xvshYVaHWZBTeS1/RzuSKLCYeTUIU7kuKmIx6sTW/n
zUnCIZX8Qa/K4Dtq0hYNBZLSYs+MdA0/YcNxJkyVlPfS6JxXqJi3vJ5fQC8+Fmk2PRrTTF1DO4k7
3GTQfdokfiAhO9+3fKRSYNZTfiqw3p6kpTFZ4E9OTp3uZMhbJj9iv26e6fSZb9zvlz0bHsWUk2d8
YVk0L9Ty8nyGd7NXHS1dGaipUPjd/B7L/mWsnBGnQpZt7cT2LhNhoausOpzOuW+cK38yd2bnfi58
UPaR2z83IGp2Fag93Ah02eHdqTjHojxygW2IzQReoj+IJrxzovd/C8JNT0YPm4D5Pj0meCdpei6C
LyWBI8VCcypTiLebqC4KnqpDF86BI79cMErvRlKtvKrBKh8r4ZlXe0yiLQaur8injgZApKcwqSqY
D0ghzR0Bp5eFN/6mJw8AT8tod8QzMnoMp/S3NuHJzfNgnPMgBhGewWQwi3Z+xC5IH0Zr0CHk++0F
53V5yfMh+1EqBveRldmxpQXwwdDD8i75Uu5YYz0yQe7yxco+n3h/EmZIAI2+TylZRZR895+nzP4C
RWnFW7bRb8Ykv4v9pb0Ejd/cWeSPiMh31RHb1vA2YArjlNs1D0HjsV238CEN0+tfWsrhAGeQMQGm
M/PvVf1kiRds+7a0Xk1sklvfldYJ6rZ9dHRvv0VZLP8NpNoOrUUfEKYD8WiJLn913az5sF2f/d6q
yRtbnK1VaxTPNIM1h6UxiTCQi94bQFCkarKDKNU/6laqPeAIRLwCSeKiNSTwqMYL7WrbQe3FtHWI
ICUQeHE6CnkoNDrMBXZYRhXcYDbGs53Oc3EtGp2+QQEqsEczOOIiGcJByP7oymq8AnGF4jtIBADa
hxASA9RF8nz41ZBNTvAOZqwu2ehz1Jn8DeNy8MibRZaQrGfvfnT854EsyTVPSL/yVO7Gk2UaxTcO
3BuJEfVpDyRvgmTAGFtPJxqZorc6D0IDEe3TZR26zF1pHWosEERKUWtJzHVHPkCP5IM/0o6XsyiM
4Y/gHylVdsbCmbpHnnGfXrWk77nrjDtwtEhRFtSnilJFuMwd6joa19uUwqpPKvI+TP/uwXIangsw
Bcmn2p1nbyP6km4F4CgNOqPcizoojsCCm0faxsh+lqN3WkgDhYXoT8TrTHwiKsh29HyztPWd+zrj
AvnkTzHSsWA8K8J4n0bOyoBdorqjCo5eGgcXDdi+gfhQRbnzUVmJc3SBr1HoDZuQs3KFbBOPy28p
khmzf6/DRTQEp8bhXRgmPnH6YyX31xgWQjQO6JQsArzexnR+lpSBU3prxO+ybaLtTEnfS64TKkAX
t/F+4J6MD7nN3XFTtQuhBFJwKPI4Q62fuOvcnYTgJDau6jP4/rGtvhZVPiXKBSTQybsGvCjmmpJO
DP43clJijbmlkrV/z5JKP/M3kRve195BkHNHYHb1f6ZjBh/eiPUxmeDbN41bOvslxr4fww2D9ItN
ZlctsXix54bYhmsR67Qqik6pvr6JrMZ3nUGNW7BuetkrO4g6+FY57YqlgIaHtVydZAyivFD4E5wa
BVbiW2jAYT4UrskBtKuXT3Oi+WOKsOBzHrQuHGT7vTPSQygsLBYefPVTEwUfowvGv2d7uqWxn/4h
euKYUCn7v5nXWeil0tuRKSDdwUwYobmq/sfyEK2ZeGm0QZmns6fxgPvVNuaijkGVOIAgGkqjELYH
tUDsbZqzn+C0yWXA7ofyvW2joDnGY/n/hZQUBjvRezqY+oNgH7M7B6v6zNM4+SpiaV3aVv8zNX4E
iGhfqSPsS2NRhj1SBRBGYOa2orc0TI8qvueERfjT5kq+w59Fkr8w59Ds++qedArAibzlkNIlJETr
TFYN4WhOcwD1mu8+y5xr5uvoQbhThinQSLbm4L4Bf43fEGA4OuNxezCMIv0ckRaeJtGSHSyhwjfQ
J68UDTzQU2A/FtoTh3ae0kfbEPrdKrDf9rnoVxDpCnc1lH9p/Kw9BAGYXgZBm4QXEIl7oiRkfeWg
t2g89UvtmPhf87HZ10FkbSE56RC9TT6mfCeYlhOKDzFpk5dbvO4vj8B+YewZ7RvXmYjouBbHBmFw
ZxV9dFsKHzhDTB8ezsToqj0KhVmn6UPC2mV/k/oiSDNNHWOiM/C0Io95gasC5wZfxvQGPK2OdzJg
49y4Jqe2Pradu3lO1ZW8Itd7EVu7BdH93oiVuIMr2V2myW/OpCead69lgZTCa/YowfNXGydPYCHx
zsb+I0DcL9NxFc5TxLpNaRHKkUll3SJAF2Hvzt3FthRvH16DoZSDfRJzcVvjwHuqq2DS55bB7aQf
D3PAL2T0iqHZqjFmM/PdLthoPF8PKQHKs8bR8Oy5vXjt+1bCiTeBGu4j8p39ppIswBeZufLod5V5
YnQXx2luG5oxWO9P7EwmY0dtfcrFjk452f5zs7D6BJwZdm0k9X7AwiEwJrft01yX/bFKp+mdjH51
9PsKjBu/WA+mIAfR56lRyzVoOaKbk5Fc2qC2XzLL56f1uyxAVuIPvCI0hgejzY1tbiQvUwrdkKIA
UKASQpKzHU0qIbSGKjsR0cLo6sec8R2kSGCsTvLddFG9E2MUfWizvwcY5j5Z6UouK70outidTB6K
eihfyalhfC3AlwYDjbOcbIf6q8oQabg2mr+5RZ1K1dfDrvWaAgZ0TbOFMUQ3Sjy4KMI5/qFo2/mG
4XIYWVzJ7UDYuBOinA8VZBIWRUzRFdrjYO+6meK2c9Zxp1oh+7s0Su1kx/2IskbMmVgWjXrGeB1Z
TsoVulz2ZtHHh2hCCOWTk22rTNgzTkveKlHDXGAvsv5NEt0f3Kn33vpJp78YgnFUAPHauUTH/+ZK
YAPgmdFuegqCD6lnv/cjcdZNMLvjuCNfXtyQSXII4a5pPFtkTz6HSms8Ea4RhbJ2o/t0lAnObtaE
PXXGb0nf9JRkSOcRRxOsMZ7gORPfVNEL4JC+yCjVIIjDheYjojrhhZUU95vdxzv8iH7Ylq5xiEsh
/oJsBOyxItZh/yfM5pH74lDoTuzHap4xLLfwBKMZhAUd3Gk59fT/0srD2bAYmFzH9kY8ZnkCn2aw
3c8eyl5R6FMKa4iJbvZob1D+ji7BCM9mPHy7dmmGta2qW53KIOUNYia7WAgOv7FPwUEd1YwHbZrA
YQ7kiWLr4L7J+va751V0Nxae90roatjNcc9RgMXbpdPJ5oPQtEsebBCT622Eev2dK/riOUVNdwIx
+ZiSKLllCa2IO9s2q8+Ms+ovOcokzGOMpUNu9o+dArxg5Un6qywb35MxrHVZkXPBoJfdL8FETeVs
OG8Vbtdd3ZdDGAfCWw1/yn/H0NG+cpqMTrZdRm9zM9zX9dKf+wxsf0XNzU/M4rwn28FjY+6sTQIm
Y0WjCOA6Pr3PIjf6M2bI7p/X6SHkn4teDN9kHW5ciuYGaPpnqMpuaLHrk+fy5jsZielUxby3x5Kz
DRKk1d+nzEWKutiVv6XL/8a5Gu4rmH1X1yUvhr0Tjro5ESosyuyXiz9P9zQxVnKubr6HidpYBL3z
BB5rA+Q5/oeSlT+wBqjPedJ00TRaVK+Ltt6Iz6FedLQNblXPsB0ob3gI4Bvnaxa8Qhxy3Hdt4Kwj
hu+NlCu48twuaJs64j1bDWV8s5Ru7rOm1yDpp6bc0Lg2PgFN1CFfUZOqBcM/o6wH/cFDacLM8P8E
W2Mt3W3yY33ugYx0Z3oRhyONMuW1hfy5kSNr1gYUbg93rKgMnrtp/Jm7AxXIRM/kpoinIkzHmA0T
SfjN7dqKyGzGnRYu6y0H1nmgZMyHBWXSOEoMZMJuCulIE7AgJbKxgM39v22C7Iatab7FzEqCjMmB
pRz/UJlE0RFfYTDdaDgZ5B0WonxHj0T0DFdDMOnDSKoB769NZO22ACMdttJuKYLw1woWP6MBWljd
f2A30weasdz0S88+H7eJPYHv/2tnpfxIrd1/cA7JdwW/rGLrLL7cZy6vxRiZ+d0HZUol6BTXm9GQ
jLo9Rm5kpdFRaArCPk6yUocpEN1Pwkv9/7cT/wtXoENlOrhIHiHDfiHWUp4Wo2lT1NqAoxX3GQof
mW9Uvm+5Nz5FZIt+oxb6ad5EEgpe6fzF7tAiyCCJ3/HUCYyNyzeHjErXnDxS9TJsJ+8LUCls+Xq2
qRcCInO0KdTjE5UwtnFrIA6nZtNYgKnClpTgj/+BS1HiminiEluQP+1loR3neewBQZAwSy5BOjX/
krbtblFQ5YRwm/Yz5al0Jj+rdzHVrM8UfmSngBjvHSfU/mBI5qG0dLFezo5R7X2rT4+F2bblPnBU
exOGXN6MMpaXOTdcHyseXkHMDSV+PKQUyZ+kM0PI8Mmun9z0bFulvTemqb/hAzVPAUr0R95k1p74
XI6yXXXufZEZPVZOJjP5qGyj+Ug5VPLQQkJRkTMTIFlUepwwW352cTz/SKtYHhu/zx9mtbg8E2iy
8BtTPIhO0gyty+rdoUB110fOfxCtOpoogJh2ZWd8GyN1N5Ot06MHPWy16Vef3WSh36+tFFGZSKQr
N/nJMX5wCaisi6TCcTNqOyV9T8YMQkfsATEDWPEYJTimNoAi5SnW0gbgU2VPK3JroxOKpOTIJzsT
CqAGwaqOWdMq/EcS0/0LAeX2WrHj0eCZh2rEuDvYR0Aw9mHB64Bo5MxXOif199JlBrSIBbU/CzQh
CxymVdUxSiEyxkTLJ786mbzMSPgHUWJfB4UlykT8x7hZyDfN1hRsAKi9E4MgP22QL/mMIqXvSSiP
T0sS96eKV1tF/pWaEEeSI7ehZ+DpBeTA0WX09zQyLOFQyuKQBtH4Cjalv1BzXd7E2jgCfMPB5Mpx
l0si6Cg0tU4EN8PF3QGpGV5XRi7g5pbkkymVYfMmYK2zPqTk1P1ikBqnsBp62gFxIIuLxOEtQsvg
3A7RgFG65ZB3GBRcZN7ZzgdSbUbkOdUjEFB/pmbCsfy7eZw80BlT6qK+d+nwCzJDWFjDZMLvHS/e
vq1TXDzBJKm8WFMjoYNL6r1a+fZPCM5C7gHCWWf8ZtyAkKFLl6I/1zWDfcqI9MKtEeWpLz2uf2lG
PdsPMcXxCQU8FmFSj43ajrhPpouddLh4KamLs0ecNxadSew3v7YUpr0tCw4pV1z+XQ1qOMk+USLx
PFE/miwbAj5YmEU+ueW2VPwyENxk8ajTlpDFnJU2MbV8hICIMI7pnu8xTmRKhXAmByyH/TIZV12s
QBl8sRjMWt5sNC95+XMeOGsjtkhLbjO5zhJaeBJ8DGXQxk8jbqQb1CQMEkluEH6GyLKHFcjQ79l2
dVRYO5hQisrv8OeJlvNeABjpVBpiJWZ6wfKPqAJJIX/px3OrF7GcoVeqF9DLIOBajtXgEup1Ess8
EfmPYF25/JKb4m3pJNCFwJLlBn9tdyQxGbBdoX1VpBcvFtFWvgxpX1Ja5Md9cdRgwADeT2DAyHwq
QG8w2c3DKDsiKVmVf4yYVBkLicnJDS5kWuB0rYLLkrb8VVLTWsDyQfrdwt6zkM643uOZZQX2yoCb
p3YS2B6NAc1iP82++S/vDMpPSEeZlxQIALtmrcBR8i9JtqZLZwERr3Td8zgOnndPNkfxvVeC6mTT
8IzLLHQZ7S0pqnLXAkNRl1IE3pESNrM5jXkB986bUvG98kyZfnVb/9nu6IWlpPxik3FfeOH02i2U
z8BJCBtK08ZLKkznz9QDq0uR+OoK9sF5oJXFe495mLPCooO+dBFL0l5gNqbIFzzZwS1r8DUBb1dY
ncYneFPzBJFWI7RaZe2HmC6Fv/dKDqo7ZC8cGTQbHcamGJ8t9NZfo89fKQYG2BIHaKmk18kwOLBS
9PwNTPiM6RYXdpRbM7baZnqGreJfWGkYPGJW83fs8lQ2UIiKqgZYPsr1PgC/uSks+53NEYFBl8aB
STt4S9vpb7azNKQthWVPDmjrThkcG4z1jBIEG1C/++QJ3wVlqzgQkn/2gK+DLwOoavkz87h+B+N0
dgmObibKtWt7fKTDYVu5ZMLBwT0Si7z5a0AxYIgkafsuOxfv4jS2tJhDwt2X+Kx2YpAE9aAcUrAY
WyEOKmKtUmVHq+sKLCH+cLCoQQREKZt7Uizeo+qR4LcRPVzACuYxJFnygcFxvKJbm5csVt7JdH3x
4fR9dIaMR6eVbwT156Ka4Jrr1SsVOS/FgJV9MIP0v5nF/mCSqiZJC1ykxmBTBBykHb2xcv/On6zp
KmAMbovalLBCyazhaUheGg5m7sbp8YdCPbwhL4s3BEH/il5X/8aR0I9+vQ4p0RXQEMhKHBz+xSuE
emAC8Nt1lFqO/erNz5lKJ0v4Twm8V8BQkBJK4WFdaVVJkH5x4FMU4K3AQr+XfvsXcFcPQdlEXzPg
pH8R7dtsxtp5dMEYhnmkpo3tG0euYcjepc8L2ySOczdIQchMdrx40qp+jQ33aWDEPAloKmFLM+Q9
GIeccyqPKO5cxzgnR9IFkRFWVqI2GYJ1u5vAyF8r7ZYXllk0OP/GjTDFW9HIC1zgiPhrYibMheOz
WIrZ2fgtxOJipLq04omzR1Hm5oBT74DBhHWR2xV6x4AjcXY/W3IQm36w33xuS3vOOuWGwPqDp4Lo
3pisa0ZMbjOQsg5BI/Gr6op+Ny+eDucpUDuU4Gq/GJBDB7dTP0D7+hA7ax92jvOezAQgqWHfMseD
kgRYzATLYSEwPf8Ob6k8uxr7cSsozWoj/Ha6Jeds6eCliKHEURwMA0b+LAQewTjqyr54GKlPVZLI
d07iF3fBKC7aNKUT2UVTHcTnPOv/rCa/dlAPukZbNhKq2VzsqMwOtidPuFWdnfTdGk0nSo5Yk4t9
3CaoiLU7h3XfWo9I/v7FTecLGD205mh8AaHjMAste5048wWf5VciBo+gTQsOG7dyiOfpG+wjB7aY
BklsnAAiqPVa7YUxUdDFisfHwURLKSh55ylhnunfwNUzKW/XTo4gVWfPTrPxkqr5FHiOw7Gp4QE3
I67hC8Wcntxqj3cD3wwwrEJsJh8LLwce9wAFyXpqVm8D4yvj7Fw4+06DmhhXMh6PJ1zUbS3vG7yf
+NFFsjNpwEVWo5mcaXUnyD3jhrf6I/EwrGmj0JtEF/9Km49P7y/GrWUKPPtm2x3Bt4zb1k/ru8ju
XwNuj89xayM1ZVgcNU2jXWQflGdPP8J0WScc/85DAWMHAxIE1KINoayB0SKed4RzlN93cGIOqjd+
NLjiDUVaPSZhsha+lB3dGDyKjl7aej8UCuISyYuxpnyeoKupuT8VgdD3GMiuRJRpFndNrjj+XNV7
25mjU+EZbLtMzuk5qQbkDZAAh9EzBScMQgwl2H9YkVlDYy3dBA7JWsqyM0HBoSE/yXH3Pca0woWg
4YmBZRw75gaaV09kVKT3DYyhEJRUs2sClb4mwvgBzz6MZz81gGWSh/7DbmwCkIFUfcDzX+ObTqn1
NqrJDZeWulqE03E6MVfzHqzt4QK/xjhm3qAeaV/JPlno8UcB8ed3id6Wqrl+pPzBu7NsHQbzr1On
DhpRSyJ2RYqBnlhIG9YEE6W05EkH6BaZOeSPfmG7m8C3jBuvG4wr43eD8SY7TAiEn47dy//04OOd
EfE8b3UWd9aJ8y9rffo5dE70IHkrXdAVQ8wE/pWUw51re7SrZpUTDztuBu+VxojPGxYgVc+akNLy
U04FNux6IDTKZ58j2X9p5+EoD5p8x38IzmayqPkilip+Tw2aqv3I8rYIdD5NQPJ7tud/zaj1U5NQ
XO6AH0EyKH5MP8L3kSx3Pp0FD43C62XG5V1TNi1XUSvHvJyb+5KCnu2C86PYuK6vwnkc/FfOwqQ5
ioGVcqCz5JBZLW+lxgvu/PXIPqSoj/QpgeGIY1Nc1NTyAlRu+cJ9hZZZvtaTY9aQOpL8lfWKBxIX
N8JrPP6dGjkgc7kxARqVpffADf8hXsdGgHDFNV+G5mxXvRViyq+fKeOOqLamiGlnmdS1y5hIZcm4
9oWfin7yoX9tDUxxZeVL2vxqCEnKY5YyuTI3wcoX4fp8m4Q+m8P07jdxGPRYrCrCNctkT5DWK8UV
2ir/i+1ZKdo8DBgrHiMhKva1TzPvLV+oapnm7MF0Ja+spnXP1RiFRZv/dEYB1AaufwA8UM78McmV
EWyK/+uMZbiQ6IG0NPK8huSi750gsJHp0/YwJ/36M3Txg7SS9eUnbffO8OPuEIu0e+FVOu/NsQb9
4ZR98eFJKX/NSWS/+MtgqCRpvaeVrv6LvOgxTQnD7Ieh/+js5UHLDHFh4oq17akCSBbZ3aSlDkMP
qcRrf2K8yFtOVRmBqck8jm6l7ziOrZXRK8Il51wzJnrvYmXc8gr5YYI7AyGdTvXCg8YhiH2y2pnM
yNTH6aZrqV0btCr3SLDVwR1Mf290w3rvUK9cgZ5lm0ckQuLukptV/tot3GEGT1PZiUqquRzW+Wtt
81z1jJhwK6zf4+AHBwDs/9C6F+DV3b6AMnZJc/yVKTjvE18T51obyWGaSX+NdhVluw4RfNdWFgzr
dBgNzsDcNVz12uLF2XA3B6QiGHonswTL6dLUkztre3qxuPdk6kaTtRkOdNR9BkofAW+UXFfKGrhM
8JhnxLG8CAcGYR6auLw5PdGVl10Yv+LDhGniTlcfWHmwYQ8vBuVkEp6IInWERQEVfYFmcoi92mfw
rjpNNxtMUQPG3mEYsRtWY340u0aEjeeUT5qE4L5OV60wK+l86gqG4VI+xE52FJq0DzmS7hv/fnOw
HWMO6fdj+LY86HzDoK56SW4+PBpGEhjOJQRntcrglnDrH1LJ6W+Xd898gQQ9ncX0UjkY3rmyur+s
6XQy2ASpb7kq2qtF+pBeUaRjyx++Wtcl7LLRIr0lo4WLWgbxqm4yROUgNuFpI9TIVN0FvX7AQ/ik
BKbnmZ7CDZSSn0BX9QXwTL3v54RpUa894zmH40trqObUyzTYTTGFxF7F3JbGP3PZ8nJ0JifEqPGS
iOpBqZZXKdLoBHYj9o4j49Bt4JpJTmjChcwdqhhT/9Bpz3hOiOYg3nKntjDort998WavQLosYMzB
olkcDTd5Wjjv4MTJ612Md/rJiPrHIoery1Bh7tFqzL3ym+w/Ex8Bjxm+uL0b5IcJAWvPE6SF0YRF
aU+xpUvnvDE8pcOgKfYhtbHB9JvFOInWmr5Uph/KJbNCadda491c4plTJsH/UPNzKuV4IYESNr0Y
8C4LMLjtXZs61bHNEphNEVQZ6f9FXXLn4KWGdcp9Jve/WQfkaYE3crBG2716PNoPRkbmd+JzUUW8
HGGWiD2eXVZaxNJ+DFXkjy++G9e71PWzF9oOzg3XnKvtNfY/cjWc6oYs+rAJ565wPahvavD33NTe
Yt8cyNWyFPlkb+YJt069oKgH4zxy/sINvDPXoWNnREytRPEpz46D+Ax0+D4wnBGVHfpLblOOcF5I
Ql8LiPlnbwGWyCdXeV9B6XW31rDvFfwCTlxI8ycc//gTk6BPL4kPg99i4Njgac8elpy7yTDQI5Dx
7XiN2jLdTkp0HwsnOuQPKrfh0KTndIhjeSpdXKo1egizPJoYwGjQfNB6WDetIrEPJKuKHd+1+gDa
oCXRAsnPoVwOILOHWZm5k44ksKP8UqbJeIBax2/GLYwPplDw90THttgk71dOJJdYqzwrPJGkS2Ze
jRfLm8pnZ4r7V924zX2dx2bYJcv4IuD/o98hF507iU7hlvOl0FTo1FbJbEgj8B/Y6oBxclwzVR5V
TjtsgSCvyjgdipBmJXXfqM4Oh05850F1dv1+/NXscBcCgIJnL+GXiWuX3f0l/KKLQ146El9h00AC
SLMl6g/0OYxcV6PoEfv2cIl1LLNbgVjjhKOLGnSSouOxr1iZCXiiQmwS1XWC00ztvTWkJ/YOBdGP
XoogbSw9Tm8Mj5XDOyDvnjzP/xVDmqBVtfahgKC1n+SMJzm3AhcSs5z2DqtXuDBIHGqf7005eDCT
JkJEMW0/+Neb9V5nTuBvSN1iWHfy5T/dp833XHr/zVUnD4Vu8z337yTHR1jyXUZtOy7AYp4ytzS+
fFVHlEatiXXsw0RMfYsGXvjGDYtpMWzAyf4HrZd8pcXbZuWpbXM6Nw8sTv226amP4YeHf5Gsez27
fH3u6liRpidK7sS0smGh7q3tEmQnt0oxyzWtxhI7N3c8MqEP4BbHim0O83s3WDVIIVJUPCwptixe
BptT5dkbxwzbRlvxMYVnhVmxT7gJIjDQCJPyGwkx7EjvACugOxUVFqGtxEB2wLnWctZMy/aNHhii
vVBkHPdcwjqox3sPexY3X2PQyTqPYZzQRF7rFCOeOdwt2JdBrUjP3S9l9Mm0vdwcctTmhli6dUSi
0qcBoMILoWUPnAimwLfG05D5sSKWN1OP4yFPAiyXPf+4aXbxH8TJYR9QfnkmBP9FcqM6LhjYVzMd
HbDl2sRuzPBDQ5gpTbW3vdq5Mb33l3yCNYb5CgEv0CJ+iGQr92nA5xKrOwYNNaLVWtkHzTDdOdEc
8FlwW0ClHucwYvXD2YQwyjEdHZLDP+cFLuUJNkQK+OjH4IT9Q4aMrKyd+NYGuBQFWbQ1+qRYENdQ
TDZoDvmBw4Od7QuBcQMzfyJerVy/ZXOFDDnPUG0I+tuY9tzmr0tKwJ5gSVHdrf3ozQ85zbqbIcFm
xPdnN1WDf4/XRl5bnLpgi8EyNg6H39mlRYn3wX+pPYgwKueEC9j4Fls28FbIcrBj2OFOzbIMWEBU
HqHK6f9RdibLkSPZFf2Vtl4LJrgDDgdkai1iHjlPyQ0sk8nEDDjm4et1Ytclk7VMm6q2rqokGYxw
+Hv33nP1eKKNflkly5Df+D5CnHs71teWi/CBaIhDGw8sUgD1lOfUIL8wr42nSSTktBCDtjlV7ItT
LWwRDnaNClAGcXzo/Jq0dQLT283bYNOwh8Fmysn7ye0KM3vYua9hLN95VW8bcLy5q8hKL0uol/fS
hVhYtSOWtkZSoLkk5YPI7GHrDzN+6rR+onkU0T4E5HzruBB/IvYf0P9ucg77PUEwHvYEX+QmMLA0
50kFxhMKi+b05d0zNxu/wcJj7IqbUkpDGR1vAX18dXmmd6SnhjL0EZbabJvebqIhfELKMCafTQs2
+w3J2FXlpNwig5GeKNjg9ybVf+bF/+4I8hOogUXSWbRc4VDKcVt2LibQhUL2bae0ZHZSeD8hEkLf
TNJqJ/3y5pxZSv7ARb2SQaO43dNe8oMHySMhTxoVBCF28ORc+KnxWtAx6JsOn2YoICQW5m664/lb
P04kM+cjkXOHKBV/m/EYzJwa7AA7SmLch1SKU4fz9cBStTikaUcpiKSWDwUv2KAPVMicAquujNLz
hD3jyQ+mTQxJeK9tB/k7t38tkbUf6obeyhyuYj3m7LdiGTzOI00KeqJmJJ/N0Te0T2ECsz6itHKA
PDZ2yKfJW2AF1uKzbPvY7OgTBRQywgYtPdXtuYQ2p2LB6kUZprn3m1kemmS8URyohwvkQIzACdB4
0vSMOhU8pIH1NDqy2rhwb/HHWuxw81FOVP7U2NybsQUY09Gh6d8Aq/OnoWkNyD6V9eeugK9yi0T4
n5UzqHk7pfNSnG0o58+aVW11wizAvmJo2uNQVCP40sYP74aOj+09gm6Vb6cqg/QQz0U/7pS3EIvd
oPuVLbGbQp6n5nZ410P9PGXTUypttZH18ItQ0WTW84Dbkv0QNz+z0PwI5pxQbBNB2cEjFWFkU6AH
NhOT4aFIAn6Bk61+T11gTiF7OmyNrP4aP3+1LJKH0cwe3cYOFgNLXzUE3iMiuROK9jRF7CZzzD2Z
nWG3sHNoRCFxYLY1jcjP/kKjq5rz8ZK5OZw3oaN6nRu/4GmbjrZcY1agfnse5RvHevXNLWB5NwyX
07ZZ9PTMrnV4dhd44ykx7INgI3nKLfvtxsTeUijRbiNbBi/YnzuiPvGIOdzpWiRK25w8u/aPXCZA
XmST3mI3Z2EnqWV5gKgw52SS65Q8dBReFE+l7N5yBjGe0YDnEywVD+uWb7oDNosxQOrAwJQypx70
MIZXIRY40p3OPuYi934a6oOe3CV33uhyRRWoi8FfSWDQfIoGyoLWiFURGZGQ5uuClUAA4AC8pHGb
15Q/+L3OK7PrB3fLtoJ+xIWg7o5vUXItGxQhaE7xcDl5OkyeEvBr19EHW8ZODHYWUMh02iXzRGCl
GFW2nvXQ/vYrVPlW16yfOKl2vseQXfHetYpkjrfgJkC91+TRDkDrat6DjHg01eJopkg2TTbgorBC
J/68sYmJHJIi0HfVkv2AJx5tF+LERON0fYq95q5ol5cKOJUckIzAMFFIYy3NdxexPQx0hRfbG+F7
e65GXyxya+V5RQ0SIlb97Wu9hGWSfxVYQbZB3df4sJJgIcRqZbu+Cd2DDdEZz2ZevS9euneT4sGL
kz+ZxyFAAJ80dpcSTkCG4PllxvpWhKE0peCJla6jGEpS2gPajSCAbsuWBRoBv7Z4GzovQysDuM0e
lgO2wcu0sxj7j/bgZNdlIG3fsn1mc4NQZMLg0GIhO2RMCZqE2/zc0+/+QFFyxZtmZgvc18MuCTp1
Zn3D6KyLfl+RZr5EIIW+E5gC4IPBPLFODhg/clnd63kODqjSEgcWIfRlqvWu1f63puL7TO0PVw6Y
6nuOHJisKuVF4GO80xN3BBytCykwr/owKAk+xaMLhTPdoNaq6cWh8uWrCKa8ItOS1z8m7Dnkd2FH
xbs80fIRZ/kjtQ3Oqb3hEkLp3/nGUnd4BFEzEZZpphUZmPo4fIxRKTdUWUq9wUnf0f3RO8EW+uP8
Wved+BV5mIClTz6qTytxb3rB/aaG42wfyqDxNqqpivsiSKeNQ7LpCYShCnYz/7hctY4zQMbG5HRG
5DRvjtJ1sxuGeHzOhlzeLWnI29VJ0gPJyPzEXRCFxJMExMFV3nR1LrdIRzQ6jxaeBK/Ou+Fp1Mr8
7JrI/cE9pjtl0WztzSDScxB3nce+w3L3YLXEF0v8+NueBYZ3luT53JZXPeXX0R3uK4QkovQBkfEx
T/KnpeyzHQ0et3YVQk/rYPQc6LsWddXUUx0LJl7+4paApumORlWgiqOqv5MEHJBsONZZxPLAIy6P
SliyzlktZQkWdhRPTT3xh/CZpa89/xBpW+9GppV0bdu02ytXh7txKikOo7MDNkdAlyHK5zGuoX+y
vaqWGZYRgvShnEQUEunoHOtocZqTAavq8amVtTWxgxHhpa5L2R/Sjt/F8wK4CBBn5jEZuyCmqeih
JnOAtbGhbRSHSqhR3F1oMnsFLnIv2hDb7qI4F+oRYpmihoyt+EAylJ5gT3zFqJb3ABKo9za8FH9i
veTHPh+1hbbDcVfaNIJsR5Jw9z4usjN8qmDHOzB/mAv1eyD1tw0F9ONYAS4kVdCsRj5t6Uh4evYG
OtTBT+TfgSJMRmYEGb5jh/QnNREL8U7k475V1kGqIie+Vz46zBY44Yk0sNChoiEyMZ4X4GBIAgIR
RHiW3Dum5kUhOfUMXJ3MLi1BbEfNBHwKYXOHZQ+QxlTi8PYGb7ou5HXZBdUqZIHLyg9TIhtTxw9g
Y5VedYgq5AN8006wvKiujb1t0+j2czB2kdPOUMzJJpwwwa5JxPGhwxzRD2/AlDDbuFVvXzS92acg
zazgmf41b6tFDYC1BJ+ypSFa/hGEgR89NwqH1YR1aTNgLPiIWyh7qyx2nWsdzh1da5i+d2mQLOEe
h3vZsAMqhlvLICp9NnXsTybZdskzA+DkbAFhss4ua7/YtNaUfqhYZjuHKcL7ZB4f+6M1mDHduXZL
+Sg8LRxqHqf2Wc5J/Vg14KlAcIX6E+K9Lh5iFpjuc6tcdCUgD1X8OPAwqLZBGJjyHry2YuyjObo3
p4Hw57QbVGqp2xItvrQJ5Y1mTFLnGV2TaItjR367goRC6+CaOSTaJSGBZdY0VEezGJNUQpslv5AT
daivLi2fO/6k5mFkmUGlL0oVC4xj4eqMjQeuSOy91QBFK6GF2TfuQCQ7ZwZbabNMzXn2pMifJ9At
1r5L9GiHKzHUFfsQXFo0Yy0/m4I+urMLvOgnEVW5y0sVLff4LtNm24RtNL9yVSPAz549Kb98t1WP
XPoKvc9dPyTa2LNAagvV3lm5nQm63bPR+yDXXJl7xwi17JEDcLesFsFucD3HsFbMimVTD+swA/YZ
WiFhsES6PPEqer/M2prcfOLj17GqZtyyuXth2A3oM6+cI1FF9dN1U4rMsbGpDY8Iml7DVPR3CUJi
fokA1OKkwRh2XNKmcO9EBYD3SjtC+cTwl6kDA9DIsZtN5IZDAVh0Fcd876vMh1sFOaaH9jjyuJhZ
J/C0DIIi59PqSooFel0ZseHUST64HjqUKNqmeJ2brK/fQdrplN8g9niwBMO+CVOE95q62fBEa5gt
jkXcRdMFoX1WNPwybq3B6cfvVdFUejOGPRGWgRf+UiTKHU94zsoWdpzjH7CAtfKNeC8tpi5loXuP
u/FXSifHG2JIrb6SyU0uo+q4oSo01C3wluwEw6a7z0dRHuxbmKSy6Z9aWYYVOwsN72btB5LzxkYt
o3qy1FH4WXFjHR893MecYfRJO4XlUt5SteVt3C16MkxeGybjn4nAc7UpVazrHQacqfuVW0MQ/Urp
NR9Pthxldsk73R8Hj40p3UFNfsuijw2eZCsKTwbHkf2ENXt6IpAI/q9pBxqxvWIBY0/1Tcz0c4d5
SWJ/SzguJifB/rUot08uJRm49M4uJI2N0SzTk4Nl3ECniV1UMmblIWeBSGvDobRTjL6ijjJcMk70
FA0BXQQqb8jb90VOL2SXzhcLE3eH4KySd2sp2bS7JX3I97UTWhhgHSBaHv3e+ppOi//e93iHV9ZE
TXzICv6tNkZtyim0n/zKlEeVeN3PSAaehm8ilcBcSS7sHCxwZZMEoi3Uu3koezpc2XiwL06rZM9S
jEK+cYjseC8dAg4c7MQNOHHocumaEM82fubq0/Gi3uGmkA6E/ia0+qOJ7PGLSqj+Y8nYaMZE3vJ+
2sIKZx/aRHBvbrYLEZpj2NYSS1feLjjC7dquTilYDpCqWdSzbKPapZiQXaBIgwwiKu8scvkletWN
b/RNRO0unar0ZvOIE1o76inx030z2u61YRRfnhyBDS6DcKTLFbkbRe6fJh7KjAZTP8Qz7Qv4yKjp
W4neouunLFkCbQe0Wnaw7Pa7c2t1vctCM9L+nQ2HPwQskcgfFcMMbEV4dmIf06V1qtlpT3hMpfUK
VA0WAfUcvQ/h9UZQjteNQK5mjGsl2NiTn2HSr1khpVRo52mErcAOq1udtSjh4DlQgrEp8OieuqZ+
yWr4Cupm8H0zfeMEfwbCwf09edMKgrwaCLtYiJtYYe7E3NqsMytb5+rk0966q0Jck+umh151ScZe
DrQoOGV8ND43hEOPzr/Fsdi9Ok0CGM1EFcPrzWhz1C7EBhy7AH6ortJfXP/bLW1vmIoicJoPgUS6
PBuBde+p824Ow26uJCTSBmkTbx/dP3e9yH0y1wkJcPqxKJeiNWAqpFORvhsC3Mt5WR8HcTMG2jcn
zS41QfyHTgzh37Gu9Io77JYuLtBA+DVhYMHmnVVkqjRhrnTk0aNjuxM7B81T3ztBFKOsIFdsnAW6
6oZLajZfpo4H7INdNWy9MBrVZ12M1Rv5jomrUmm177kt622WFEZ8cG8rjgm3E5RnFXlAXzBrt6+G
aHmM8OJ4G7tBkdzLKITC5cX+MS2a8LcGzs8OvTdnwNjhiZrm8aITUUDK4Ttw6TBunQZ7Z0fsI0Xf
gw2qsBO0DGKIXfwNKJ4T5/AC9IA9ntEx3mGmb6eNGyvAgHioXOxjjosAS1ox3kaCoPC5LIL41nHR
9Yt/9lwJg2vsya50vBcIv1Wqz/ct9AFEolLbr355QzUDwWK1KJek2GaolMU6qGcA+SQumeNyTpV1
OtQ6p5+ucdYxd+e3pNfBPT8muh7O3f5mM53je424JVeyd7p4z8W7xURMzYa6b/DpHi0fYZag+YTn
EMgpXreoVjaShTO/OcL13mQ8iMesz5DNx1sHwdVvnKa72rSblNeOFUz4VaDwcXJIzXkKj44qqwMj
JhtHdk30MkU6ya1kExCjjHIeE7x/D9aYODxyMKW8RFOhL1p3o5WuqKux8utsM/NAp4pBwU+c+2bV
Fpb+4GYqrEfbRib9sCGK7rE65W89gbrxC1Mu5DOe5078oTuuJ3t87GZ8KtM5pvBl0nh5vNnMm8ZQ
/0HPrXbJ6Ojq0QFNO5OsZnbdeHTm8GuriFeclyId8H/dKK3vvdWkW4Zi88R7IhwuJPXkC20jdI7b
DA3HBHVVo2mr6IPYVDdvcMgFfLT4lYfnEI4kSU5Tb8GA9FQhjZZeO+1UuqhMUsXenRoYkE5gGAu1
rMCpzPih6ii5ASQcsv+vLDYi7NoO+/g5DAjA2nHx2xM+f6zEBLlFzxodPF9coQ/hLIMjsPsOiZ+P
ydae+zo6OxPz9DrDZ1/cp7UH+4FVFnfffKw9cIedRMaTdgbno9Jea+HwUkqTqfMlGVzd4smFfhl4
W5obvOkzAE96Zwl+e3LD5nh868vOcsoNXVftB3RsWsJrw0XEIVPRnqOu1icWBHG6xglxWxZ4Lm84
N3UbEokC5qS/Er4rk6NyPREcyzTR2VpaPDFW7GCxI8baG7fEu5YLK+DlI2qF3ez7ufZYvTQz9T/9
QnkV2bRxjXnPvZQA8+D8qbhMNxlNoQsB3rC13nB7hkdfN5rDEGyV81TJsp4eE/KeVbrOoRORE8vq
yFc70QnTPBbxPCJdQEIlRKCwoPImqAcwJM5wZB87XDBkSUqSZ9gillIXDf8l2GBVVhAq0qoVnzUw
eW/TN9ya1ylskhm7ikiCHASVLseTCG4aVRVLZepNBV0kYIzWo5r7TTrynkT9omk6p3ebjwPz145Q
YLSJpl79SkndX33epQequHVHld9STU+uZbMPrscQ9HlHAgWEcJ66xOsbFvKeE0zNRs1w5fKmxlOL
q3r8hUgUx1++oWH4Sko6J3gq6QPcSRaZIS7MtM26x9jtEdOdzi/zPewfoZ7YkcOrH7VT7uM6tNgJ
1GFBNI7SOjMQlj94NunSbVql1RkDQb4dalsfognb6aao2D/1k4I5pctY35iTES/z0lypHuYuHamx
bbcY65wdq/QRzxVKYA0XJ+2Ll27ys+yS2f5YYXBf7N9BXIvfLGog+laWEwj+c+CDnzUfGLVZGkA2
0dQBCF8lXoG03OXuK0lOd0NkogcnVlpnm8Azlzp2g5W1MbkvSphweQ4JJAS5gI9HluHPZWrH7QCl
o3fBkUUL5M6utOSpjlz7llNE3+6Jo716uWW8n3YbN1cM4QvQJVPtsSfQd4KMlDr4fuZ+B2VsQuyv
evY20ALdmNcjlf0WxGDDVGPabqdqLOpsLf3xiRtcWr3CbsN1wFN20GQHO241Rs08BerB9/x16eLd
nKsJXzmM/2hd0ZeJh9lYc/ZIVfTi74eeq9qx7dxQHfwqEuYlvyWLWL2DkPk5DfMEE7CENJXenNPG
nBYQZcTBtS17ZoIlSh5xhTfuIwCtkTyYO/gM40FswaqhwtqM4wmuYtzQx1dy7XmBHccctZHeDYRZ
BZbaKi/p0VoXno4tY41J4we/o3Zw1Q94CTMs1llFbs5GgqIchBLKdmv02H27+U0HT1nPnBrtw7lh
JKXoSnb1a5VEwT5Rwql3kRSxj5FLuS/F1AbPXZ91L6IJ4u8JqIL9qYAz3ODuvviN7XDEZZ6p4YFL
ewySJJ4wJGSqHnmQx+B9Gv6UNqhYnFpdFL9Y/Wz9YEk0PwVR6oZUS/jwbcH2Qf66hPDkHkOG9e/a
DlgWcRZ4L+Cw6T/Ks7Gf73NQ6FcTdPzwQBMcOlbdoYi2rqldSftpDbW79+Kq2RaCYOjaFfl8tlLk
RXpHxfAyxU38M8CBJXZ43OPiwTc2gZIwIJW1ZXfMqWZP3CMi3Mcv4CktdZpdv5+49+SAueFaqaoE
9Z1RiYLygVZn90FwJetiDFWuNTVBhceq7Fxgwc0pU6VYk9RJ7IptT1PHWRoEaAButGqj5fHc22IH
DKcHQkHBB0mQ/BVJehy2Der1URceVH+AQE+LRHo5MZJ6xSlC+fwV283w5tuDfyXRYM2sMPyZ9msJ
JDSIxNh90mNZj+a81OyEKkxUPKvukgHlj35gyww/qLXBoIKJZ0EyAzMYErkMbMxjYG4XFmQc6xDO
fQwxbmXV54m+3GqNMI8UFPftiC5INRUFvsr3GmjD+POmu0EEw/1Qd/pOJlXx7MEyDO+tKaORVobD
RE+y0V0gNqUwLfe+0ATVVkK9jIHr18kh6Y16i13a6Y6I9Lp9abm9EDrPZSw2Aa0xmlHaQM9dkYMc
QcxYwPkFZYKHsHGTXyoW9atyGwA36WB/5WkenLDB1H+6xO4uaeK7Z5NHUb6XwUAlUkA4gnXdWCS/
i7m9YVudJRqo2LG8Ox0ibt21cRgHzIZcic+zsht5wfPc1gdn4CfGsQXZKIhLQlrV5Cc1NGTpOZ/u
0FlHQvbt+EYmLbBZuzOQAnFvSB1/Vz4P//vCLdj1okosVfBbua2bXvOxT9kwSfBeVAfwSMFoFzoT
zxfBs39TUhgsVgHgscMwLMlwZezATU0+nhFhSlMQhlSXmoWq4IWb5tHzUjyx42wCms3nIXpqCJr1
234WGSjxJXace8wuVo8llSv/aaIkg68xp4RlQscf7wYeD49SL/M9hcGeeaBhKP9RlhEr1TGIPIgP
iUkIoN1+dwBqcSqVJJk3LfEX68mVAC/Kg4ioCgHtPjeBebTcAAyylSrAeauBM0dWtyLgFPy8igOQ
HjpUFa5UPTIlrBBORwt6h1ETbC++31MI6ZTCBmX6Yni3UARjZ606QzyMdVQyRQd2zeCipbPclF+X
WtOLXXP6YGFkIccaaY7fIqByhnR5tTQbdHUy4KxSJv3qUoIGERzrSHpxg1Z3CbxAoDNmxSMraC4K
yendC8H/f3YwInI2JVXEkF/MFKOmMB3ARkxuRcYZADyTpVIZ/SAdcUzxXhRNB7ZlHuLIvjJGdlj3
ctKaiOhO5WZkJAiOYJXz3cViG08yFt2K3dCR++7Ei9dW3qEQJUmNqJksKvB8dXQ8nbXgQ7iVQIMF
fOI932LH5htUbrGPRmX2Ts3I/a3V7U3SU8lx1IFEmRxMUnxNqSNThnuxbAbKzfWG5m7ejWNfs2iN
ewrXfi0jCdZDXjF+3CWWNtW9lFZf7xqsYdFaDKWbH612sj3i126prlmUYZikf4/gCS09h4n3P1hM
Z/TsbxdLfr4nycaxmTLan70xgqKbZHl9D7aaR3mYmelaoRjYwarpotp7yQlcus+kF4o8WmF+srZY
27ARGkhWGP6C8R0lEBZDEtjY5NkYRXg5jCWvOVfvV8EdpHhc0jJ59tjYMruxN/6imoOrne9GzaNo
m7Ta0K3gn0s+1z+IOy4wk8nvbhnIWBahZYopWylGjwmSelV456SK+AdQ7mEL0rrgA+psrcbcIa8l
sE/jxam9N0/o+QCawCUtW1JLyDLPWfU6hfBbZvWxdUxm3bfMQFg4hKOm+4rzFEUUSaFYNlOrIw/X
S+C8JKAAcUQlQZmfErTzdYAxuTebsUhlc8VNmxQ/yhj37KfreUNPbSGm97UXtt24zhLbCh9ii4AQ
yrrLDYE8bCW9jwqkh7ZWEfwx+U4ICJEMU1eQHTEfmaucXKA2aA3qZ0AnXEgkia5jan04jby9tbC8
KJhyWN5fLRFm4XdQsbeCVcahDFb30/Ab9Q58rJqO5oLCFvXVaek+fhsUC/Bd2ksjCGHaWm+Ro0jO
Rd24bEkh0Das0aHAvXTuoi/+DPkAPMWiryWtKhoZaGb1EWxz9jnoN4AtX9h3xfjX0EG5hPhE8klC
OQxRFSEInfWn1McydORAW7wnCrzrCDiKFbbcmQ06Yk5Rn3OfL065NqHA0siFMS7915YtFZO6KfT0
m/U5NlYmzxnXAutGk7GGpARrGr6dgJ9wLdyEHUUw9e1Llseluy7YBn3MnMXIoZYXF9zA5uml5XL9
kC+DxScrrt/h6LiH2oh+udRqYCxNwL3uPLAL0asr7IllxiIy7zczhkt4DXlLPudx7b8vVERE0U7K
BYjHxOkP9kOLDC6WG6YvZVVF4X1PRn9HZQbA9DZbnnsBfe/WyjxE/as75SLeBsMMO5WSsrrsHnns
pBiei6Ks3mUd8fEkBRP/4IjxP9p51Cxc8oXyWZrH3QdhqcAmjFAPAxu1fMEwUbju48x8YB87qjE+
K7/3k3cMRhDMJtVkdEb7ofM0VKEkJ1RnjETx6H5IqulP5JDJ1HJfVdFLB6/Lf6SOlGmLT07wcx6m
YR84gpDyZIpzI26We5ak+TsX2PnA+pcUpe943ZZ6ZlCJgP07SGDYBuZroebmnaBEMj1nfj7Ozaoa
JP/mbUPK0pGr7VeHln1z7nv0XMGogZzUG4J1ZdHo7cLETOAlYhZcL13gJN8hwMnLNNPNeBJpUKHV
ZZ1n9rJfuIBC5TP7OOlTRJmmhu8iubQSo0X1orl38tx1Obb+HYXQXLlJgKDsZlXh/0ByNo+9KwcI
G6oY2mHLy2/ZlzLQY/NDwPexXkdC4tZ6IfG1NhzS7lFo0cD/qrQ10MfgDPFvzf00PzYDvAhJH4a+
sMwemoNDQHnYAJkr8EYFbWbu/cAfScMxaVnqD/snRbDbgrRgnnI809VWaE0eESwmhGzixSPyqrLy
6MGxoLvZyUTXw9Za2tp/itKGSCl3mHCNxAn4A3QX2KqEzJy15fvT5mpGu8J/7HMy06cAnbAKGes3
4aL8rwVJiXJmPgWvEdgNfBYZ3GXyFBZVmdwKZb5ul2IMNsxE0vkVlAR417CTUYnh/tgzl2G8+WhN
EAyAC5EEZF2ARPbsdBY1FTUqKNxHD5lylMVWgenq0ZQ0cwAwLjwnMr4xarXdEUVhsxvtRoeQ9gDA
1Fk7qHEveOTtbJdyO7kp5Pbs/ywBzoK1imVd7hClQwKslL+eprEqX4uuaRA80n6OcFbesJ1Mtzj6
djEXVBK+PVAVkHpR/tlzgk33fhbI7CzSPunanT0bbb0bsFv6h+kDuIxdxHPnBHULd14t+N8s8Vif
vkA4yLkYc3m+l1NvZ8vKdbBxfdu2l/K6cbAEAInhsi00X9adD4iFX/GHAYC9vJMW8CJIOmkR988V
PYHPaLdTRIWCH/0BsN1nj3Xtu+C9cSrsc4vXkFuxxu9EfacKPml4EnQQOMn8c+5oNI7zCJWVWKiz
8ucID7a2I0YIBIobNymK0qvpo+o7D/2ABYBQ/JW4gbfz/IFd003+nk/Yu1Xz3iRT+I2E51c/Rx4U
1ETi6+Z6ZIVN81KCZoAczw7wKVQ1q4EMQBDPD+kvPzMrNoTiuNgR7KOFnM4aw6GjemypV2+yx0O+
2ObcxGPYvWD2mZynGySg2XeyA1mwMX090ybSh5wjbkxi/pm6oiJ+RmKSfE07I3PqWLTV7Cmr8L5p
JmIQTf0uRlpK+10d+Pq+dofsKHVWb2uR2r80sT6y9DjzsaPRa1NfvEXSTMVaDIPWwkdyR07BtjFR
JcteVCVDUM9nw58ci/WOG7JSYeEEUMNWy2NjYbPauIUaP8qomIJ9RlXlDLspDOhMcFK2EWuQ7CXl
gxwe4Bmg+IdyWj5KRDCMoqJc0pkYBM/2NZqUd4NfcsNYDVL55gWBzl+OEQHQjKFn9kGucS7Wh1gN
DdLRbK7IkWVDJEeVzlcfe+bVt3rhAu6ZR7VgvLH4D7tyHh68sukvmHj0gcYci+xOJjFclCMogjnQ
wW3lX4J4DcpheXc6kwCxsqfx3SYPrdgwEQ+1h4K3cMLr6h64LEXUEJbBMwITr3Fh+anFQRYo4p0l
5edkcotUVM9RYAoq9jjisEr2FffrEDbKCQcq28UIQna+5bq14MMIXOOsM1y45b7qUUEjPMgufHT8
hYfCm1TG535o1A/clVXasW1Ia/YCy4Jx0jm4xA34Culsx/4jDtjkurRFXgE28AfrYVj8kQqzOvDs
+6kWnX3iLCNEyBTWfDZ03zxktmXCN216S92QE7I5xqGUu5ogxolS3fnOdWc0WSvxrjOjVfsxeGiw
azZx8jdblip5pY1hea0tza2NWVCvK5+X9ZE+xOS1RcVZ44M16jfaw2JOtGUG56KnV2cN8zRAh0op
IiJKTLPBGeR+9sBzgWgSI4FjbRNdB6jXaUGucdcWeiHCMiZ8RKdTDTIPCLDL5peuO1pQ6Y4WHuUO
oFCDMV2LnNuDxOgykKA8ZJ3t6XQT8fnkqluoXj+nI5Plpu2Xkenema0H488WOePittC+LNjJo/2Y
ktShRilQw6cAu5i9zO2URSDo7Ja1hBoDYjIErdgmR7Cmpp010K5prx3qDApr1bsGHab26QIBZm9k
OA9PhAGipf6j7aYfiC0OZiZGSSyqm9hbVvjWynkz1HHZ2c/wclMav0MLab99SRxQeW+dXw3TFaOO
ZaLfAZftNNyhn/EBw/M9YZff+z1+YxrWCiK9d8x6CzUcrraDKAdkAQjiQJ8I0Qc1M33esdP3l01f
yeozaUQ17FPXqhGQRO24/T7lQdYT15sICJVrXWDhdA7IRXH8Ix5cTqzDTFvobHaixB+nuj9//9u/
/9d/fk3/EX1XD1U+U2X0N/BXD5hAuvYffxfi73/jWL/938ff//g7YwiUSqUhunBrCxQbLv7518+n
hI43/u1/c7Ko6EhfmZ+h19X1hsln3Od2Lt49yTxB2o+cNsF5arhbO5iZXhof5X7K0LUS7En/+rvR
f/1mpGbJTVdEQKbTC24K6l+/GdS72Rt57v/IBHaPjXBN8CHItHRbORRzsadIhThwncVcKf6fX5lQ
vlLS1o7nQO133L9+ZemiAVmxNb5zV8z2TTFTy+JhjtPaiy6EI79ECODqX39NEfz1x3UAzjm+cNmZ
w4DT1Ln/9Ytim2KVpPF7UwAytlff6T3AkZ2rihV6LNLTauRjw9FsWiUelCR3CghfBTlPZ0ezFjKo
qRt6Xiv74LGmTVliNT2XAio1b/5Ei4LrbErN8DyKPvRPUcFgc/nXP8T/+JU5duCAFPZV4EoXp1Xg
//VnkLxAi4oG+2nWYsCeZKZP6HnDtpU2qC6HS83HLGV0/Ndf9fan/tO71hHSFhSssMXkjaKEe3tX
/9O7tlraLFahVz2DeqTEwpR+cRkykoXEiJduzTpYoy/TMXuMfdo5/o+3qfpfvrrjapd3q+Rvtvzr
V+/xyjZta1fPYTV2T1nhqOeovdl04SP+H1/q9o7/nz+o4yvpYMzzAte9vYX+6QdtpWMhCLjVc9sx
WZYYP9aEiZrdf3N2Jk1SI9kW/kUy0+zSNuZQkgkkmVCwkVFAaZ5n/fr3Ob3JUISFLF83Vr2gyzzk
wx3PPadL3PFQC9V5vb+xy+PUdJMLCd7QsbiXuro4TgvCnmpk/OEZ1UnmFkJXtlmoY0AsF+UnCv70
jWzC4/urXm8oq1oU8E1NJwi31MuvpMbBh9J8ey4SQvTNrNj/hg0VbLpmyvzr3WtxTamMOZYG7+nS
xnA3K5USm/9M69x4JVCEt4RxtEhWo5imu7/Yje00DVMTjq6ZNFrF4qaYDIHblK6lMJAc54e97uck
p3GgAtKZXyNZR1YyjbRpf39d7fremCzs2JwidtQ15A97c28sBfCo7qb+M+grr1SMOj3UBly8AbUW
RLUbKOqjYa5/Zrb2zZQaPdukadEZ8GGsqLG2NoMPA/mcC//LJyhLXly3N1ce8Y3faJNwUoW2KTqq
6uI3VmEZDA3kFc+TiTLJJsxsynLMS5sPeYPuY5QW1bf727I0uNxuoWOnuGdsCSbkcldCsuXZCRXz
WedtAwxkfqClKAA+2obB2YBF6mTaCt17xk/aQ4Qk7vb+D7hx0bGXGr+D6pZmG4uLnvQaYyJdIJ7t
btTPqdlQSSpTHzBu360stfTs2EhTQoKwswDaoMswLj82iEe/c7LSfobQzt2VzNUegN+TE9LOP+Zx
+VAS+W2YfzV2mubDslEUgAPqOTvd/+ZrW225mmvxY1S+XLUWXq5FzAUc/2g9K4Orw3c7Otq5TNN/
mKYn0i+gYu1TddoxIxutrHx93Lglh0UdB5fONlzugDsPtWuVpvkM5IMOqGKNYjdSfzo4c2J9oCn1
MQVrdPA7W4JDnPLh/odfH7aFe8I1ahohBWiLy+XxUA4zA432rMdEslo8FCOkT+G8M6Km//f+Wtdv
yRZCRajO1Hn2tNou10JiGt2NxvGfVeCMB7VxZUIXWkcg0u02V8f4eH89TT7OC8ckwFYaAiPDRLIK
ldTlghmIi95RM7p8gaKVD4gbxsapp+NJaTjyrfpgt4N6zpC5gURqCpC5E7NtnCdE7eZPDZST/xaA
7Y0NwFbxvTV0peTpxz6M6mUYP7mh5X68/4sXO2Tb4Nl5C8JW+aehuYtr2DdTB2Gslj/ocz6f4Aur
T4WSaTuacelzEKpr7+96PUPVbY4E2l6Xiu1iPRXIEQLoSUV30kWhNh8YXIdE1Ifnn4YF7OLO4f4H
/rVeb46ELwSvpDoCNi+H1+8u7GkPXqIAwFQ90EduX11TyY6mqedbO1THc2TMxj/KYCbowI3AQcqs
TY4zneudSv6yt3R9XHHqSwP0v98jiBi4kPAauovnp6XwqXQ6dErgZfIsRNOzNn4PcemH//klLbhz
HY6S40dN42MOYAaSYZhRv5gIFDmegdrp68oGLXKdvz8ICJJjGJhDuiqLB0mrTgMu2XIkQZb2Wwih
ASmY6DRxOa1Y/Yh8JCBiCrOQGaHUOBkHq1PU/9JSj8Jdn5l0Gu//oht3RBOu61qOqjvyulw+IldV
BoL+sQUMYKcHN9amL3BLTUfqDsYfVaNgdH+9hSmWG4A/0FzbBumsq/riTiYd8jcdZY6HCsZoaINh
cRoe9cSmuV0ZYPJPTlXb41NNZfsFdc2+XrmiurQKiytKHIvXZ/81YrBF3N50KYoxTdg8hGM6nVsk
6iAGVcevblQ/Eeyb0GiFH6Vu7e9M9mpIfw38UkW53EY49YRUEuTi9HXGjQADBSmw5vwX9BAsBfYQ
b/zQjr5MhhCnyEhBgmRUGIHM/ry/ictDc0iZOTDIIE3cC6XVy0NrTLgMydrTc8lPR+3GtiCvEdFH
3J/YasgVPN9fb+FGbMexTddiNFrVaYa7fy3xm1Au1OtQwAWunB3H7VWGPCk+j/QZq4BZt02aTTjv
lXu5MO4sSTaKyzb4Tk3V7MXLtZlNoNbvtJ7ZquVJUPFG8mOCr6g1m61tVeMersVi5XIsvDWLOsIi
D9Bs3ZJMjovLiVrelAH3RI/AEQ6dw4zpNOujndIuOVVqWU8HCL8U5Tw2WtnSsAfXsI07Oj8rH29c
/xBXhXJEx5daDlHD4oBzFWhPzcyXh7KPOnygzxa2zxlw8gzPbXfNP2an2Yz1dhT8dkYASU8Gz1o7
Ti+ij6zmQ0vDVf1KZdeiQAKLsBp9HwyplgOYF8bNpxiQX/Jcwcjh71T6au6vxoR4c68B2cfwhF2t
PpeQtoZksBVQOQgtILEHFt2GRGjlFCEUHQ2lpp4bqIEQ9snMkZ7pFBeKzEEjNfKGLut69Bsj0PVb
5qSU4MUYIGZ+jcHWp58IraEjHIdx7PQN+hHQct+/s1dvhNzctQwDqhrSOd2WW/zmzurA9ZBDAKJk
NznN0cQf7A3dRdhw9Ln8TU3FWTk0eTneGhbuPg01Vdf443By0vC8WTBpGN1Giizz1GFsP8OVW35B
EzVYWeXKpf1vGdJqnUeBp118Vwl7SwzePPPAaiDjTNHwXJsGQi1mb6D2XOpnJYNjEf3vkLEn5ErS
Mmu2IpySldhyacn5IaSUFvAYjeqLay58/ZgY8F2iDuAFrjm8mlUaHXJkqb0cIb4egnlJARkVpUe2
W61swo3noVOVsqkUCPKK5VZrEPMVZaQhGcJk4dbO8+hjBo3RfpC3cGSm4wzcR6ATif5wSjXm0/2r
deOkyWcM7hURvWn8dTFvTjrMGn2eMoCUQa6BeAUOmv1Woix6/w3WwbSpuEkgvKq9iBX6oegEQuSc
9MxkIsymo/1oOP5kHYJ4CL6B5If8//6X3Xg0nKiAJpGYCd6YxeWKm3AswywMvcZEEcfsmweGB0HU
dwDLLB05jPvL3brM0C9rKgBw/nCdL99MrSZTSzcs9AY7xY2OSY198zEe45gcYHlAJSUtodiY4vJD
4NMdmJxW+6jW1a/7P+QqKuAyUx2n5CRsWQFehiW9OQIeqIPMg0FVR1p9FKPjMaczJv+YaJXOmwrJ
KuPH2ADa25I86dHOLigWb2bHUoLfiRjV8qPf6bCtwtRSz7ayobNhGbtacwPd2BTEkrEXR/NQPs0g
kvqPlSaY9HdVOI6abeZ3rnEqcrMGgAOiFm7O+x945cFxpgZVdkJPQmHDXGT9kESiH61TiHEAq/+R
ZLHHtu9hdwU3hPbf/cWWpR/8KLvJHwsIMUWVZeIBqCF3IpwEpHmpkR9CaIV+MeIJS3biTPYJoybI
RtHfnA86sIFKCnP1LyVqPOkH/tX8iw4Wxt8Kp4keEczWygMavvqvmBhWW7mCN248ORkld8ELs6kA
Lm7gVKjM9DaRBxXmbIDTRqrWDETzas26Uzy2NDX+u787N+ymza6wLaSAhr6886Md65TalcQbJrff
IStkgYgVkRdjxg6loTcfGiNA5rAM4tf7K19dAvTADWhUMds4KJoul9/apBqiTFXEPbRRmWWKRw8y
gJ9d9JCB8n68v9gNI0mAb5F8MeFnUFm9XMywGAbQygoVPcMZzy3zlVttSv4fTgg7RedImLpNYrWI
5gcEHvqIgWevmROqmQCcwY6qmoKGJ5xKECl0CA5N4OD8NNvf/8Bb50hoptoq9lIWqy8/cAaX47Zm
EXuICaWU7/Ti2EI5vAsdls8ahlYZjzK3gT4Px/srX8fGtByknebC4h+0xWMGw24MnZskXuuYhfgY
KpR/9oiihF/0QKepO6LUiLRFMfrvv7oylpL+niyfuZ3LT65L05hqxY+9EnmXfTKUymYCzf5hHGP7
z4gEHUoYQcFMC7XWcsXnX11eWSinOK/SKKSgZsjjeON0gY4HkdPNumczRLct+H99nnUfKsBYzVbS
q6v9JcOhG6nRBuQjeaKXS1lgOnLqQ7qHnLPOBB6aTgLI+Sawm3E/Qb1Hy1fN3muI2FS5Kl4IfD9x
6+WidQpcf1IN4aVwdzyQZsFihSbQJp/b6NjS+1jZz2vfi0sg0bEd6meqjWu4XFAXGdo5SWbh8hgd
YDIS8fA4/q+ykSFAvWTa5FHG15c55O0hkx5MOuqHYoSz5p23WbomTVB7oEnAtVpcKtOOE9MPfNNr
2so9Ni3ITmgp8p1ZC2MDUld9yZlPW/n6q8crF8VPyffDku5ityMfSsxR9Q0vbWI7BLzbzYBlBuL1
jUvo7kFwCBu1sDJxqoGuvjeyY3ValUQaOuEPtvhy601Vq7HusQXjEo34b7VAPAD2j6J4ApOVwJER
NMwavH+b6f/Y2EiaeNTnLtecFSQcs6AnmEM1jIGUKt77SuF+dBA7OQaS6g1AbBav3Oobr9aVkSSd
LlPXON3FqhoNjiFoTW9SM0OFjappIHYKfIqxWgiO9v43yqtykYLJfYUOkieEM8f9XK6WpaKLFSU3
PbPEMrShyLc07bVDFE4/DcgMvfvL3fo48gDCRQIPHPri5nZMskWQPxkQRkzZttUjdPJU8Cw57AQr
Kcet+yprq4ZOuEykvAjMK60aZpMGi5d2qESoRueeFNi6D7nIjXML5P21jTRtR/myUFcujnbzMx2s
EzkXCeeyh1FDfQB/bOh6BsTrmQO6eS6LLcw4Y72pGCvx924EDG2P1IaKti7avSYqEYE7udS/WsOG
o99nYn/DvxvDkQnN3qQe5hzOiVfQFb6+Age4dQkEPApYN2qsmPHLS+C3vh/UEcPAswMIsQf8CVOG
yE55TEozhYmysj9XgQ6XTiInuHCkTa5Y5DAzIPyymgLIxbO2/Y2eY31kIDV7ev9dc2xVc2xgityE
xdU2W2esVLU2vbao2i8ILGUPbQu7U9TM5optvD5vqheaQZGSEJ4AZ/FBKBNYCqwUggC1V7d+2Or7
rjLheo56Y8UQymt7+WBloURl6tjR7GvMSxJYTc00oAC67wC3CqBBFnrUfgUg3h98IvA9SHp/Nxkl
8zEqpCz3N/Xa0bO8oDcO7AhU8t+b/yamMCBbgnMid70pdOYPaWk+JiVEt5TYfJTogR3qIQwC99e8
fsmsCbJIcEeJjJ1F2AgZI3qAk+SroFT3rM4jNGZiMNBnFPmTVSCz3Aw9A9iF8uv+wtf3VMZO3BzZ
jJQ4o8t30ThDWVWggTw7zmzzsTQbCNKhS66Sr/cXunV/ZDYvkyrKCEsoRa9YfTUZ2IsQfggP6e7y
Q2SHr7XK1t5f6db1YRtNWbXlAJd5ZhK2ajTpgeOVYa2AYLNb1CijOn7QhgHKuCSv+s9JKrLvQ6fG
fyx84+f7P+DWnsogggKNrZMELDwAuWupKNlkezBHzR996AERMiLff7+NIV8jPHR4KXRrlmCjPham
IuBM8KwwjnuYTdvKOSaUF99tZVgH/wkcj6IzTZLLO0L5dnbmUiBsCcz0hzDn/IFRopocTv19f+du
PAOCXcfWAf7J/8hL9ObpCTM0wU+7ljeWk7L3VS07UOMet31fIa4N9owYG9Vli1bpypndWpnQD5Nj
C4PDk3//ZmX6PBIejs1hZDz7DmVSvHPzlikP/CmUtbHIjtD6dTswZWvNpxsvg9ok7S8akoAvli+j
iHrmScNOeKGbM4al0N2a2jTZdYMTHe/v77UXJNxyGfLE2KgUVBb+IoyV/u/cpcfsMG0sf4qGU2ZS
VKFODNeKglLg/QVv2FI+y6FBhN/lv8ttVcpBlGWMedECuJR769xZLtwmkYGC4lDUOwHtx/0lb32j
wMhoXFVukWVcniR5w1DBy2Z4bg/HdgCA9sHUmV1QRWHCMZO4K+bm1vEBcaBMaZODAp+5XA9G7Fmd
jMrwDFMHXcAvgoRsRpBkcN5vq+nKkuwaVKSuyxpRO41VqfaGNxeW+03rw37nWGOx8tpvvQSoPiyK
QpgUseyx6Y0GCSDsK15ZwZ5cuZnyFS2AfBf0BeB2q9GbLUyMPyLhvxOyiWGhDmEIxwHnZ4L0W8Ro
0NcnCPQRqGvgfvMNY7D216Zwv+kaGGtzZC6ilmnZu6+LTjgIXaZMEgxbGvO3D79oRVj2CTVQClbH
NkiCnekW/ksHKcmuYjYzWokMb9xPHTZEKvcuBwnu6HJB2AkY4B5IMvu2MdG3jvqznuv+GWEiWu1W
83r/+67QF3JXIXoloYQIGLTf4j2ocT1ZkdsZHqQ+7dYKYihugBruomFgLGEkNtj0kQHhRm8KUoW+
fizkkM9A7xdqh7AZVjb8hnvWKTDQJMJ58TwXpzwitDgV9mB4SNo2dM0dtN03YFIYUbXRhTzVg1se
GuYYThVIrGfHjtPD/S258WLJOSUSBd4cAHXyhN4cuenPjh91tY4UzuAfI7rp3ljVzT6simDlY2/Y
P0MDuErL0QH4oi9cJ/SBBgSlne7FmaM+MGQCI2rX2V+LeI7+TCKeHlujV1es/I0dBjQOAICMQFrd
hdFtXUv0YrRML1ch8oVR3O1mdCHgcNmkFYqymx5KwaeghfZmCze7eBDmEHYrXy7fzSKIx5+C47Ho
h/GWF8cM9WQMaR8J0ITa4veoGfzPcx/q8/tfE7gZi3KrbNNDMnN5lkU6wMBXaIan+YK+SwefaVE2
OpP5TOQZOZ3e998dF+sLUoXTxFRdrodC8YB4LN2vWtGy36Ni2h768cpTwejBiu+8cU1lo1+X2T2h
5BIUCntfoNRmanoqldstZK8jwpUt/MmBHsJdfv+7blglgg8gODIFATwvj/PNm3CTeO6NEq+ZAVR/
cXuyug3zf6gsGWg4IPPqOv7Kkje+j8tJjsUjxKctrykTMTHuzNE9ZrfUD3VhlRT7Gtj7bOhN73/d
jRdBKdOiOv2/1sPiljQRom5+7CPzpEmMjgXzxrAJUAXfMTnHiLfRj98VY7APA5wGpJiT9Xz/B9yw
A8zIOTTbeA2gLxdGeIpSkUd+yWhlOMwK4/GGhL5BegPthj5q8BOB3Em2DGY51coLuVHSxdoy4gTo
mqSIjPbyaJlhrpqqCFPCIEtMjAn6EM2pNupLM9rZiHcpDvx8UZg8DboWb3sHKW9nDp0/Zivs/f19
uGEVaKWS4oJy5mL/nTx5c82SUVHJqtXkYVYS7Q83I9uWaWy9P5h/u8qyktrDRNTBjp88WGrs73R3
NJH9gBW6dbLiq7Dc5zkqa6+L8jUc961jxrEIXhIdLsZALrfazAFyugytPwyMhJkPUw2Nw4sbWNoX
mpbpj3ZUoQEUWirGlaDtxluSzR/KJSTycG0t/EzcKroNMWX8AAVEfXLyRj/GsYZmRRCt+e+/jaSF
ZXecv5GuIxgPWgYw7cDfGShdPIg6NRFTAdWKak+UZehbdGXXlmfU+zr/ECATia7vmAPzPlUVA8cz
0tFMFK2482vTBW6S7o+s2euYyYU7J+hJZn/KsoeYuL9CIrSeoq1KzPd5Kq3hY9fma1M+17stUdsY
SwY1JJR9YU6YigosVYmRpA3H7JinarSvrKzZCd1ci1Wub5RhuZRn5BwWEGp3cbBItLaoDDHWFttV
8zPUohwmT54ojD55y8x5qGc7dXJhTbz/UG98ogQS4sHB8zA5szAavV12MTqyvjdCSFfjSevssYvC
vNiWSULL/v5q1zkHlRrawdxdjcHa5WoGM6vIjoCuhdjWeUqhQtv7ZYdWDCLfsOdOXddu9VLi1Cl3
+7/uL359f2jnyWEEvldQXVjY5oLJDjGgP+lZUUaFL+2mTW2VPTP2trtJg6haCSGubaDMbuj0U2LE
G1xNNhoZ9HWI8nitX1FEtVL9OIBi2d//qusDxLXaFIZlHMjw0uJVDEKHwhcNc28iqP5UNM78pDBD
7qVt7q6lNLfWwq2plG0odRPZX5o9EYm0BO80eXAMSWBHBg017N/MKSdrxdkbS5E4Scg8jwms1yL+
ilGybwf4xL2pE9FPtLbST3mspDtlnuOVS3l7Kdj06ASCO13aORQ5ShWyq54RjGL8BKNIftILM99D
K76Gf75xBRmRkJATgljZ9LzcQKfp0epzs8HrYfs6OjXs2Vk0gPkoIAich7Zb+bS/UxCXNtyibS4B
OYKmPayPlwsySayGg+33HnqCGWKbjhWdp3D0vxRmZX1HfkI91oUDV1+dUTqxA/zYrsz04aSniM1g
ykukaBHdvX9nr42dhcEhcwGMRA1uWQnLarTh9BjFK7gOYNXQp2AvOj/xQrhkIOIYj3CDvnPYi6ID
s4OglykUS3O+DOi7zBzyFGJOz4DA9x8FRPPXsQphzoQN4qA1iNXd/8Ybt0qGBgAIGPOyMTuLnXdH
qHWyqPMaeKK9HD7kMzX++SREox3/H0sxCwNwgVybLt3lUpHWjX2Yaq0HT1dKuh34Z0MJzENIYrbS
Xrv1VZgZU5ZRZG1xcZ9Q4O4gvopbb+yj5pOjaO6RgFd7odDhrGzgjUsiKERTOCEnEtay6RlBslGq
lWg9tRphnFdq9zQIFFVFGA+PdTXBVTUX70+pKbhxWsTQoFzIOC+3MnCb2hGZWnvFMAM32UF34gNF
S5FtzJCnDiFbRgBtDI+07uHCKlwj9X9DzFI2Ky3fG5aC2Au/rAFKpDKxiAe6LkXmuC7AgEPwO31u
kTsIz3ldQUZHkqPAgdqZfrp990VyDAyTBDWx7tI9i2ai0DCbjSeMbDxOyG4dIkhgTqYCcdL9pW59
n9xi0lCX6NJduC1UucYE3Siic0m446vu73yO/D24uwkKA6U/3F/uOvCw6HrhHWlK0UFfomn1ridt
DK3ac3n5sPEz4T6hl3Eq8+Iz+kLRqZFSXdD7NCtv8+Z3EgaQAFNEuAJeQFaYTwrivN7YWNELzB7p
P4NtBTvYFyStYlnv73/ojSyQCrV8NUS+QAKWLiYmzCirtuw9iyksAGhxglB5iprYdhpaaGaaGoWS
YIocqCWzeSRhyoJ/k1pJfoxa0pzv/5prc8FbYrRI1ltBqi3NRThBaA4dzUzdrRqCHSJs85PbJ9V0
VButWLtT14csXy4EDnKyVt6ty8fbh3U8mWmlelpVIGUWJ/DA71CqM14nOMRfXBvKbVSn4mRXd0m5
gni8Nle0Bf52s7GL+NvFgwVqpE1QK6kePZJqK5q4/KENdfSnyBVYZVwpFWy1sfPz3RsMFJ2AmtIK
81RLnGUMV6tpDajyBhqkcmbcOh/zTG92TtBkKzf5xllS4AS4RKmKCHAJIXIaqwpNi+LUUCTGj1yM
0xnSFMgHVcj37n+V3KvLqIVRdTmjZVI/VznMy4MM8JGSU3/yAhDTB9qqFtTNuXVKQf+d0LwFGNAo
YGDicoRlosxX3tCNLxXA3zlOfAHZwsIJONDxZnKo1CNkKo4NqchmQJdkA6vcWoB2YynQQ3RDAEgx
hrdsKjWqYhB7JpVXAobfa+6UfsmQR0IBtY5WTOCNC0pRiL4gxSlShmW/rKb8gzL0yFfBjAq8f1Qa
D8x7hno9LNHfspKH/FDzXIp3uzL6rbAqaOSXzLU7cg/e1ILAx0ZTGCL+aCAPAnwpEJMguBbzvGvh
yvtVuvWQvnPYFqwzeBnbMAnp5SDVYs0WTUIVRezcy9yhzI5zpbrZoQoTWB0zu0MEpaDqu2Lsbm0w
+CzZdJXUDksMJ3XBsmeeO/PmBLlUv7J+RtBFb5yOeUDdLn/nCgp39x/KtXfhMyGSAP4gPemyk6aN
Un3I9TOvrozm0Z6b8tCOesYQVpUdB6VZow9YrgfcWFb15FQVRT1nGZVoHXS69uiY50lLiwB2egMV
S/Rtw6B7ils17fKNbFGpKzdoaQ/ksrQWZNtccgUtc1y1KPKQeWnjjM5V05/KCaLabWbUNmTYHbSx
eaAxCJdZzi6kgb8fnHHY39/oK7fK5YfnkQIUWBNMwhIVXFeo8M5ZoJ/RDmop5lZjPrzUFvilgztH
lfppRLHTPviK6/uHEtoQpLPSMgkeh5Ia+z6EnD5aicWvCnT8Jgo2hoTPMgvFuOTlwwoDOwDEWk7n
tKysTREE9cNIZ3VrMTYDlCJE6IYJ162DpBQ1vCQ4lkisvTellT8CVytDOCaVwKhc/ggND69ETJOc
B2A6e+GwIGLioydE+0tFzHglRF36eLkchXVSDzlPT5h6uVxoTugbZXp/Du1hrD8lmZsynRROKIEf
Gq5JLDaQ1yYIN6P6Fk20PFFFWLmO8pPeuid+A7AxShM8chXk38I9wVgfIaJh9mck8vT/7HlKv6Z1
mD7VTdivfK48wsVSFCC5eaAcKHAuZ1JnlP7UZrA6SPJygdhE1extErAV13D9rCm10D+UcQQGbBkz
upmV04kf+nPfl9NjnTLWC1UFqjTpqG4c2O0291/TjUOUtCs4WZmKU/e8PEQ3Zj4z1+bubHB6w0uf
FMTjXWZMY4baYWanHiNuuo9CIsLFmyBtTXWlc7C01bTkiZYIZRhsBgynLq6RXSYC1vGgOXPJYjQK
YjOf0gPjdQyTJJWA+SpXog4JysxAw3uNVOlq4Ewuz6fjoijPEOjIDXrjErvc7QWi7PMZIa5Ad099
TWKfbBz0n9IDdNq18+DQ+1NfcxOqPMrpTlu6w7ae1d753qG0oj0Ns+MYx9TWI+W7AsFeeTB66M/3
igp9wbFhwCyot8FIueBX6Ndx+knrYoE2RyEHoX44LkrMzw3S5fBoRiEsnO89YVAluAmN/gzPZBlC
mZEbgfcN6H1F1UsedkhBt4jaNErKNEXf5w+d0NuDoUXKSpR6/WAM8LgSjoeFkFn85c4mBqLVoz35
Z1UFSRqTe21De8q+vvvzWIXOsElSx+1ZnF+NanChm51/RrNOjzdB00muKLMfqBp2VukcHRtw+F6M
iW6CJc2CL+9dH0AJ8xuEGeBmkT+5/MpQFPnIiJV7noXPbCiWqt50PT2nOUz8n8gDBrskSDsXri67
XZtPv7YWMNqQzlC6Y5SQcPJycRj5SphtZvc89hr6QKqVfYgrJ/vUaxA+Vg6r3v/YG+tRiIGPT879
ML0g//7NY3Ehue3DeBTnJqnQNC4Mo0fstGa4rCkVEoAmqFaixxueFb4cAg7SEIlpWDo12/YJwKtc
nIO5laMgqJ3PBemHOtEjF5VvwF5ZhQWNDMA0UUTwPEVMqw5amD0mjZvmK8/p1haALadAzeuUtEqX
W1Cn8AHQpGcLkKDwlGB8gS282vu9mjxmpRKtRDs3lqNDYjM4BrBVjhxcLjfksWhRf7LOwRhnm7Bl
MKQIJnuvBdq4mVS6C/dP+Dq+A+hG0YL0XZfVxYU/GE32ElWawOsKpAw2c6kjRwqDiPbTLvz8Q9Vb
Nhpfk9m/wgCPKpGLXEl+uv8brj0C3oD1GViE5eLKcGQ2jWTfaMBnjVpx6hrU2pMoTBFpoEiSBzAc
ppi7d7ZzqaHSzoX4kf+V6aa0Zm+udkaTiyLBEHiw6bm7jJ7p0S1EfmCwf43d4jpoYSmZnsj8hB7Y
4kwNlbozmjGBh5i4oh8goQyKvaUyp7nv08Z9L9iVL6NuKRN4GEdkH+fyy7QyKdEy0tFmFkpzRutS
2eSZnXxH1nitMHHrtQIKorxEvYsbay1eR+kb6IdqHZJtljUfjAQBz9xGqqzUoA+vh8HcxiPMqNDJ
oWfOJBIKvG54uH99bmwvHoe0mgRBwmAX3+unSqCWveue264rDsNgfXamOf7gg0B5vy0gYiB4wfCz
u8uST5S61mxBY3Pu2Y+jk+VquakNtBG2eZ/W2zTIonfyTWJ14O3BqVL9JYkn27w8zGg24eYfFGjT
Rk1/BPFgMZmvVScmytoVXokbhykLeJSZ6IHLx7i4p3owZFqAjsJ5LhvqBFXVqH/8stL+sfsEaZSK
uWnPnNoRjeepUx9nU4m/oQRorpikaxP4d4SMSww0i/RGmqw3L7Ms5tZgbLk6j6XiUKht4c2qk+TR
Ker6rJHhH+/fn78Er5eRPiNrhCwkUrSKybIvFyxaRA6RMCnPLso1UJbYaaYUHpzkwn6ZkaPggw0/
g6BcctMcW9eslOcRQZTqgzWoSfWfXymT5dnRpNjPA+KoaNfUTWb8FHFnByjzDEYYbU2/i7LzqE9l
d3C1IYegOarRMdrEuo6OJ8KDCPtuRtq5arSZgsA1voWuQLznqNVVEx4sM+nB6zNLoX9XUYz7BccW
EosONOFinw5xkHxy8iLrNpFf58r+/hZdW2gYjLkVuAoGLggvL3coNwqdjeD3R03pH91xfqZjOp5o
jGSHZgLPq47+uBJ7XD9rQnVJ30fNU3ahFmsqionQtZ1A44qQ4y6qkW9Wc8tG3ooi5Hs/D7gUYRWD
F2R6NL8XnxdPWR4qWXoeq0n/aqJeEezaxGnGrS/0bjyW/QhGea6xpysrX6dj9PQZ2KFTydsGv3q5
cuYGWU0XuDvbMACNzKwHKugTJUDAhWJIcnDMCN3Iqke7dcbGrVjO62MlA2RUgcIOhTOqoJerM/VV
1bit8Wz1mQEzN7OEVBLGfU9l5zFPnflzLgex72/2jXN1aUnQWaP4ysTowmV0QKXpuaNDLfQxrE59
ztjgSdWLEHLs5v2+EIo1YUC8Kbve9LsuvzAKUH+YtKY/q5Vq7e0GvXACHHczx8ZanepqM/+CwnS4
AQRpAc2uy6UEpM3TWITtuQRriZJmWu3R+RuexkDVvDxOE9RUkzVM6dVmSuwJtR+6W6DEaOsvFiWv
NIcias6tH0B7TznMehLV5Jbwp5XB6/2Tk9fhwk7CsEREDloJQCnHt/jCaIqR3ESY5dw1g7sf6W89
ZUPpbgIoyvYTk4u7KSF6dLpcinRX5or3vfZPMvGSSApZskc4YOGfkghYFHJH1bkwGFiHEd89mvmQ
Qjg91+FHCI3T7UTfyeQXICi+Q4u40pEVeTe4neAc/B/VfPoH3OQlZ03iFigoO1p9zmYDFoq2s1A+
QAh8k8Jm+3J/z6+coVxLsocYdIapuS2sYGfp0GtCwnu2JgMka45oZrzJW0hMD1gU62CGla+tvNBb
a4IpJ9KhqQbv9NIsmDBs1LZfnavGKsNTmWnh+GrXCoLWBWWhZ8HY/HsbP3JPTVqVWCLZKl4Spvoi
HZWksyoKe13xx2aGamvPgf06dXB83N/S64IyaxFccJGJrYi8F3taxpFvW1lXnxVOOO7ozpZ5GmzT
um0o2Sr+pJ0ICNxs75Sl+0qgXlr7MIn05llBwNSPN41RFe2KLb6x6QSWQK5Avcsq6+JHwSrStqha
Z+cYXbdvQBL7H+T3obIBttcfqUsFzfuPmSI2iabkJZLv+tJ2lPlsCaUwsnOXZlVDd3rUol2IONv8
wzcT86vRohq5EmPq8o1e2hCmXSg/MjRhcKWXyYmaDEZkUSY7zwA7MrGZeThRubUQLJwgMZFlMj1M
yyn0DAOpos+2ncfDoUKgzXqaKh0ym9aahuKXhsiOsS0trQ3+Ci3GiPt0NlUQNwpUt9sPoevCOYcE
2GBtwhLFshdVjGN9qma7bI/3b9SNs5NcuMQQjg3oaNmhCAujEflYpaByi+iUK5Z+SpR63Oul9Vo6
YbzSfZCp6WIPKReTskqabxLKhR0ss6zQyihuzir9PS8Z2+YhF9NaHfEvJepiGcb7AE/g0vDUy1p7
HbowbM3VcEZ1pRdnMtwcKhYVdZFD5Qia3L4Clt/ejQoiCS8VfKmaFxCrwSRtpHnyPZlRGvmESPTg
f6U844YfYxP5t2lnubmh79ESDJD6S4iUpWTrWKLJhm6mfbaGEZvOPKgDKfxUpcbeihK/PYKyj5QT
I6NU3PI6r5gEBHKgn6LS7DV0oEthbZI5ncRnaG1VGHL81J1/tAUitYhgour1b65oarjPfN0sn0JX
i6J9CmHHsI0aRIF2qVPN49fUNKF8iXS9/w/5iWx6mnOt7R7SKVQMaGqNcNaIz8M8V7zaraAb2mg6
tBrJBlyH5T5Beeg71CMnVIjuX7JrV0/jg1hR0i4zML0EdIBl4TeQBJxbyHTHU1PqIyLdQRilW0Zm
mj/3V7sKTAEJAzkgFoYdjmuwCCyYIA8ml6b1ebRTUYU76MTN6hNS9UIc82mMkj9tFcSdtnPQLBP7
aERb5fn+T7jxwcCyGfhkUpnKwtI+KUOdAkeeKmoLY/7NYKTiW43mDKqnKKv8P5aSL4mOD5McS4/n
5pmY7Civzy200Nq3mYGJ4buSEKH+N8LTZX6+v9x1qMjWMptISfEvv+Cihj10VVwCBLDPqME1j1mN
GBwTrudUq7tHNFfTDehBa8Xy3lhTFo5J67G7DHMtjIYZg1FFlApV2HrKu53etXq9tRUze+2DRtlC
TtN9CV1Ub+5/6tUhytExsA9yJAfVmGUyT1hj0zgWNkC23HwU6F17Ed3q/6PsPHfktpZ2fUUEmBf5
l527Z0ajUdYfwrYs5px59edZ443zqdmDJsbAljdgQNVcsVbVG/CzbNfu9ZtT+DUUOoIQayU3b7Fk
6zj0GwQ07GMTKtVfZuPO9Q6bzeRZRwzllBlzv7Ij3wzIoS813inGL2GSRhE21OkV+2ib898+ateP
A25dW82Zf2W6Gn25P5K36S8Sghz4MEKYQ6AA8lr4oy6CMc2MvaQwj4WqJB+1zlJ/mB3JxC5OcjtE
Pjkv8EmOh9Y/6YpoNU/1EY3aYj2r7+7/lJuHgEF7h1Ib8FBIOFzl179EdfwmcBqhH4ceo91/lSmc
GrHLHGeI24dytOJA6pGl6tMcA3LZ2BWgv32cGNnw7f4PuV1dLo9mVDVkr0vA+7n+IW7X0MCMsFsd
5ibwAiNUD7rV5IceLM3p3aF4PkrTHpazCjr2OhTWt9jYlziBYnjrFJRtwtSwP+l1YI/fSNMc9/P9
eDcHMCpKUvoHhCb9F9bYdbyYnvE0qkp3sGN72DWZHf49tZhJUfqpD6FZQtd22uBimmW0vR/5tkXK
FsJKAKgFSiLaTcsjzWenRuKmPYSiwbcNUZGXCLffi2L45Y4hKrdwXFH40UQL0FkTSCYW80PTqNHJ
7gqM5Ez0QwEmZFv06RDzysrilKLszMPMrXA77Tvro1UOwUkdMDlM/Vp/MrVYrBx4N7tTfgXOVhDA
YbvTCr0ewAi4SmDid3hgnOxLWFXVKS3UeBPjALHH0WxNNfYG8E8CBCYEUVXe4kATlkcdyYCdD2UM
qMs0w3KPmntIC93wuxS5yXmu9ODTiNJod66FnwQfOpD2KZkCcJ4HB4cO9bM7ho5ywFeTUpunIKZk
rr3sXjPRq5yO38jxgZQCzyygxoszUkEj2GrHrj402DOctWbSvboOa6+pomITDkr0t53pxk6dB+Nx
LHwemeg8bNsqxtq2jOOD1qnOVjMDzKjCMP6IA7e5byyr2jZzkZxQ808esB/EBRSt5C9uW+p7t46s
TcrheCrDxvYsfFX3QEaUI37B08rKvTmX5NdxfTtglhBcW8qQIfSHgFCh1IcsEPkWelX68GoYXpS1
vvWTrn0c0Yzaqm3XPtAMC997RMjwlJsQ35EN+OUFlNQassRj2ByyYgJyWkXOIayredPbxto76vZ0
AFxKV8AgZeEpsCScanD8xtI24lOVqW7db7UkFv5+sOox3htz4RdPjm7Hxk8/CPP5r7mm/KeuDPZN
QgELid1l0PshkQGjtdhfVjKoaZ3zE5J0vIRB0WwwDm0erSGrzo3NRlfaeT7eP5veDMoHQ+qSB/5S
XHxAwLV27CA5ubXe9tGmblEaR1ncLsRRxV5k/ifR9SxONnli1s2a0vjNdYMQEKtLtkdA/ZIrXn/y
NNSlXmiqf1QGtMA6S4Dv7kWyo86UrIzubSgqifTwKOLYHChLiZCQx4wdZZN7LBo7PVJC1D+ioCE2
M068K7f5zUHJJUPhm4eerO9Ti77+qmDCAFkVvnsckyjYqxkicU6v2xf4AF/rRE/e294hHLVmemgk
R7Ifeh0uGQt8lrDgPaYQ5XcqauqbFDG1oxLikqWUCBTfXzLGYijpoYMoION9bV/wPllk29QxVd80
BuXBBCaSgQ4tquEhi+oo2Ydd71SUDzOBIC/ltKD2aqGW+Xfsfgf1kGAQaV+cwVRRl8WfBKFZGIvq
njy6m3+UPEp/86TEpTWeLTDLM8/XeGfaiT0dLKABc7PFcyp5GIdEtffaWCah56L8X238dhwnDK9m
f1SeXNjLz6iSmN0xnuArbhDipuNh+iAbjiIurXE7l5UfHKLWFxlP8EybjTWkx+JAgWELvkNaHkjk
jnzuX89Kb+E6T+UneFBTwz/Udf21by37s+GPYiPMzt7GvQDPM/Vrda/FjiYwD0zyN2ipZBqmuQis
8Yp9rSsjVRYgpKFqf8GxUXZV0uonLTSHoxTz2N9fEm/ERJCTM9qQCx/xluuPxSs5Kq3ZqR7GwLGP
QYReQd6VzqWOzQmR8SDZAr9boxm/ZsV/3L1IgCO0SkgJ2ES8cvmAD3qud6u25gsFHFPd9b0z69jy
tGlBD02bwl9F7Q/fq0Qx8FMumtTcOOiRvwS4GyPgEMOz31SV3TTehF7ok1lVeb33s1CIx6AMnK/W
XOvBtyLOlLTlJAbMh7x3Gho4lGfhVOHkxlCUnhvgrPyETlYbb/upFc5ntdKcfFupRVt+NJxy1r7W
Q9FnDwLHsISSij8lxSZPwVBniOK6HStRCsYHyAPWuFZg7DCAOn2hsodex0at7BKIjijdsdpqQZPX
2w6/oUvTwF3bc48k3/oSmTqPvvlwQoZ+VncR1+aHESrdrwRfu39dCIqO1+CG/b6TjhmgN/Mq40bL
jaNucWUVbji4M5LWl8zVanTGtL+myY+eTNg5xymKjZUM9GaZEY6kkGQAJSKepItwNTg4fwTSiGCk
FV8avzdpzmIJ7lO22s+d9St3g3dyLeUnAsdgK4F5BzSwVOZz6Qc1I1zbS9nV04tVzsX3Vu/qi23Q
r3WlWN/9rXRzuKIBKI0SwInj38Jr7HorWQiPRgGp4VMVWtMBYbX4YZ7D4gDoeT68MxT3PQcFvoaY
4kg2zHWoOfGrHHKw/1Dx3v6k1uPkYV/U/kjHcY2w8apP9OdeBc7CrKEm8irwA9juOlaSOZXG07K5
cFYWvMEMs83Olj4oPw0lNvErS5z636auu7+AVw3dRkGLxz3UmRi+OKkeJJD3sEE5tg6FbAhQaH5U
U6d9a6dWW4NlL65veaxIkSXObgmHJDe5/qlzUFDXrnrjUhXm9COHmfMPeYXxMun5X0pclyulMvnl
f44M5SOYJOS5Fhw3SsOLszNPGjsbcnO+gMbpLwMOxY9Da1fvPaFB2NBlBAhCaQUikNxaf9Q6iq7E
oTIph4sWF9XXOBmw/i3T7KiVVvscdFG0N4dRrAS9HUmCkpvQJ6Z+xJV0HTSeegAis95fzGGeEBEp
NXfDRFsHNHODfV4X9prE7+0JwWjCm+MtxikB2uU64jjlc6HkpM8irFR1UxqInUe+EWWbMWunD2qA
71A/ucnKh95sWkyOZQ7NuSQ71cuDSdFQq4elpl0aa+63SmLbHq+q3+3srglDvxGJjojcrXTh4ckt
9lEL8zLJ0669WD7qR97Uw8OxTJ6JnmaH9coB8YqWWKxNeQDSsWQS6YovhlOFY2W3adBe/Fjxt53O
Fb9RagBq3ztDtLWn43DZes4whT/61uwLr3U700WXVfcNTyYL2ueAXlh/rLq2r7ZmZyX4dujKN65C
t9hlrdWdZ7fFuczWogBNtbrWzAeBcTpdK3oC8U5kffe3mdtqskGFp/iIBqqe7FVzmkrEkLuapolo
xrU9eTvKEPl5luDKCKYfks/1MoLGN1oaggIXC/u2Q4aWqNcLv3+ifTGsZNO3e4QDjSI5Ej7INqAJ
cx2qbnrNmmgAXArR/84r3vv+wCUm+fWxZ5Vq8c87D33e84BEkDGS0jMcb9fxfJB9gx0OyEqmuvl7
xH5o17d6Ne4nEUxraq+L+oFcO9xh0jQUDCYH3eLUEZPhR3XhmhcLsedtmZsIB7DtL1YRCGT4+yne
4+xZAzfW0/lglOGabsnt6FK1oOn8KrzBPScn+o9jL6MxXUxY9l7MwBnPddeZ5cZN9PmXY9fWBzOv
I39lPm+XDncHvRXwoogXQom4jugmWZxi7m5f/KqbdyF+OKegG5xdMEbzyqlze9hhWYXCrU7qLVTE
e69DBVbvmIHGg8rwE22nIht67MyRm7FE+ULFD+eno2BIe3/9LM1KyffQf5FsAfI9lQxCDvkfQxrX
hR84rl9eSJrTGBCjGLJNj9TzvKsNZS4fEH0T3yGJ+SoAYL+aD6Ua6OYGte+s2EaTWSZePReO8RSH
g9iXKoR8j4qe0PdxlUfqIfX1ut/d/9XLdSB/NOwyHEuBQ0gE6PWP1jNECOwJUllEihh/zLvE0bYN
DLK/yzAsy+chGKx3tk+koSs1QSh+vMslBH1xiMzOaPW9PVWXKOnTv0l7nGyr1G356MZx1+xdv59+
vvcruYMkBoNyOoSOJZ5IQINNp9FvLnVfFY96M6tH6uD1tzhQOzQcjTUFjeUbly8E+cGZhVouYP6l
aDTz2etFhuVmANQ94BGuRe02cIzMPxU1ZliejUjoF3sulc2gd/O3d38tGEOECBBqpOqx1INxrJwC
1aBVl3QYbXPXm6XlbNyudMPHcSjUXZxa/JB3x5QkJ5BvdGsopywONGl5nfnCwk1sSouv0ahXyHK3
jupZWpN9jBylebkfcHmccEfKNoyswpIT37ysG9PmWtSV6SJZsceUBvy+dkFTdmmz9hy43SO8BUBE
cZJQNriB9pW+qzfIhYyXodSMXWWaxaaYXPUQ5ME/M4XJlcfcW19GCkM0cHaS+Xu9JSXEYzCgp19y
dC/DTQ0rvtsOodn+tMrovZqbeKLLdENisWWTDTPO62i9O0WmA/b6kI7zsBN69m2AXLbtUdV7SPrO
XOlkvm61PzMn4kFrIsGhdSqZN4vMySFdGECdVodCG0KYxLHhZk9t57itBwArhUmlR+VhLDGV9II8
N+h/KSj6HDO4QJ9w1HRDFB/LPPGqMnMgqjT68NHREudbpdSN7vmon35SG1fJN3mmjDSeoTc6Gyyj
010Qo/MJYFrpdkEOcZxKU52HmylAXG8TijL7cn+JLi/510+VJXOJooAGuDjnSOwwb+2r+jB0Sv0U
NHEIjlmt9nTCcppD+O+MNiVeLTfTg3D9aeXCvQ6PrIwUiEQ6mxobnRiO9+uZzbW01R0aUftptJOj
r2f6eVKGeGdQdGm3g4IZtjJFOSALq/wRJOqaXPgC/fbfDwA9AmuDAx8e5GIhC6tygwTg395o8FXN
dVjLsTarLyHQ3y1+yPPjqDvWh1bP+lOtNcGuAu65jW2lXLmar4/j/34ILjwUxCSXjl9zPRJZFXaK
OzsqduE+YAAqV2hIBijodlXTnX0Y089VJ4I99A7zcH8NyL/6/5Y7B4ascpKESMKtFFNbjMGMDTeI
i1A/JMIOPif+7D80ZPErU319ZLxGoSPIFUcBnyrQssyYRsWsduZsHByT5zmOldqLNun11o39tYLF
9WH4v1B04knNaRjz4LoeSx9EVSFC0zhEotM/RErLFVZr4w8/GJ39PPtradXNp1G657mB7BVdNsS2
FgPoKH3r1lSiDlHew4RR4b1gRKrsB4oHm/tz9SoueTVZyH1yZZIkMFtQ7Rc7xgq4y3EK1A+11bbP
c9f5W01xHA+qqXZQ2/hXkoXliVfy+AUDxNkLrNB5VJ0o+WznOC6R4zUH1iEICaNwthNJ13my8T3X
RRw9RWGmvMx2AoRpQM65hmZ46AMngwYtTSbRM9jldld9vP9Ni14x8yW/SUpkcBDJp/HimzSrmSg2
d/qhQjD1E3d0jFaAmI9GYtSUoUFRq2beH/W+VjZhOotjmts1zVil3jnGhKiBg7rq/d90s4T4SRLF
SGtLvgSWw6yWoWb09JkOjpFYH1Bg/thOzXSsc6Rdi2L+fT/acvPLASBL4GqjNMogLDZ/Yc8jLVTD
OEDLcT8nLkJmrAEq1mqjHsrZ1LwK9tiPuORofHdkGlCkgSjSUQxePpaTkCwNYolxKNma51ADNBMb
oe8JUU6fVCNSLmEz6ydfadY6UbffDOmBcghcR8472h7Xm9Sw/Jpi6RQcU+rFW63t+r0RY+VXmCnP
S6cudmma4dvbGWvizLdzS4bN50o5bYunxWK0+9LKaxBuyXF24TeVhSh2hWWEj4lDloY41xpfaBGP
lpr0T5DZC48JTr9FvHQ0UZ0JShhCRgl/fj8kCplZxvPOcRE+HmfkTimx9sf7U3sblrIWDDbudRYV
bMDrAa5FhLqyXWvHzDcUXCBx7MI8/ZdZDeM+moM1/NfiKucrZcnbYVItiKvUDK/DQXboAhNp6SN2
ZPW2cUW3S4re+GbkUfjTUtz2mIyOvWWkVS9jtleS+8Vyeg2PZpzzn2E5/+c6vI1JVDch1nBMuc/P
HWhFr42U4VCV8Ycoa9VdGiU/oDEa+/ujfP2Op+ZDqQCQC/kpNwAn2SJukKuR2wSmdkwrP/rmYA+5
MZMheEb7TD/MBtkd7d9sJUN9MygFUsBX0u5neTrpEYp4jpvpx7G2jL2S2Q6SDByYZhPCwuc5t61a
bc1p9I0JRnqG7cIrFTbEjRgWmF97zkz9GAIvO2BP6HuxplUHI0aXwuZxtXH9rjn6RWFtYejov+8P
9O1ypsSuGTyQ4YYhVbW4JAY0X/VoFtYREehxl3ZWttHFEB+c0Iq9WQ3f5xkoJ5YfCX+Q9J8a4g2M
fYp0IxmqxD7Gzuhs7MJxnkLAHNA9K4QnV671tz4OFSNudUwD5XP8evWif5Erc9/Zx4Q1fMTXuX7S
B4meHMzha8bGWUn5FsyD/74Oih8kC05eyt6L3VoV84gmSiSOM+wCr4qN+aEchuyTXviyMqwZhzq0
84Oemji8AZo8TNyBXszL9dBn7fwQ+3r/0sS4q/NGKJ6NMs+eWwFXpNS0cAMmKAOOopISDX4wZO9L
JeXU8D7jYca/AWksgY6UWHuj8GMsnLUhe7a6zNoYGsK8Vd2t6d7cHisc29LFREX0gCxdv56Yufe1
vBG9fawKJz66OswYDTjK89DYQBCgxm6KNHL2UYVq4/31vkgqXz8SMhtXFA9GaVV7HdluuCFDByQP
DirW99nlB3iVUSG+k2va5/ux3lh+5p+xFnurRLUV2/FWHEWgYRkuoKtPorPPNlyCTW324ng/3sIj
huUnKepgwoCIsb8oWFx/XDSXne3Tgj9yNXUvStk/51qXbPUmbD8PtRv+qtz4oneldepRD/GQaBv3
JCqSiKpU2/s/5magAZ4DBidv57ZEmmCx90SPM7QKufo4CsXeoPBsneFrPoZuY3x6bySSXCkhCx4b
Y7qlFC8QNFMoZLek5+gcKPGs7IZS6Kco0e13Hii0zwgBx4LBpQG0/KjOaeeiyl3tpNtVdsnb8C/F
KX9F6Zi9aJk67d73YbJZRwor2YjUTG9EFjD6qUSQGibkI9vc1I0bP7g5ro1pn605ii2vPkLxSODK
k2gweoWL+7avp7oXIwsjUpvJK6fWlmti3mStr+3Cyfi7zkyx8kBZbo/XmLyEpIsgzDB1sUKsKaYv
aTbWKUSIf683hbbFXDTfRHYd7dqZWtv94VweOjKepDRREwEJxGF5vTuaFK3/nFfJCVx5te200tio
IyDC7USx9J9eQZZeHTN3hqTXs1XvB5d/+R8PTEQPZHBiA3rmClg2m1U/F10/WhZgykr9YZSluu38
Gnus+2HemkeqDjw6YPnxz+LIKbLS6lxnsE44til7e5q+GAoUnligT424SvBYBaJaufXemke6HxR7
kIO65dDYSOCWbRLZp9hwggsq8v3H2HYTjvCp2OjZoP59/xuXJ4scyj/iLesQZl7qdkIl6VSMxRe1
HvoH5Aqnf/tIOGu4h7dC8czg4+QJxrK5XjLUlGDc1QOElopKVdoW2ZPgotpKVsbKKfbWKMJZBzAG
bFFKuVyHitUh9x2AACfH75PY8+3A2VRRmpA3oHLl9Xaer6S7b30cdz2sOwpVUiXtOmIWNKaRqqF9
whWiPnDQKI+d7lunBIDqu0Mh7CS7Lw6HtMar+DrUNBmdFdehOGlR9itNjelJjfHQKv1yXBnG24+i
MyDzCtpxPJdeCS5/tOK6fnCaQnTiRA8h/ABf3sCzZJAKjdX7gBW8cWHQ0uEBXCgrnby4rz8q6eJi
8gNDnAy9O9uptE12hhakmgNqTcDPN0J7/nJ/7d+uEro7cCXhw0g0x9J4Z+pm3Amd2T+1Qa17NrzW
s1prUgWgMQ+gON+nt/b6jVKNhgIcLAeczxb3Qub349iQIZy5S+3tlNfBszATY6Us9Cqfc306urKD
ROpMD5WSzSKMoQWpNZljgGWgmx1EmjabZk77l0iZJm+Is/6prGgciNgPXyozijekqEO4QcY82sX8
4TVNrx9h5HR0MPVerJyqr6C9m99H7kjXUoKGlnhisx+R6Eo15RTbfeA1wAR+4QPVP9Td8DUtUEBS
UtvYw642tkZbio2V5e7BsvJmO/mhfu6HsT3mY2Ie9bgxpL7MczXOQEOrNEBl3zE2dCjr7xa2hRvc
9Di4U9T0FMUOdrYV27+SeLAfUc1KdqVpDo+KOYhTPmbjsS8bd2vVoKmHWAQr9+UbW4mWPYhkWVFi
2y42bWFnDYl6p5yAjI7nNEQ1cYpz69zySlwZ4LdDSbg7TQEaYIuruUjqxrSKSTlZXNBPENHRnQbR
cw76vF4JdXND2hL7QKuSjgAIcXex1FIU3xLEUKKz6JtwG8WKfnLDRvVE2Cgnw4HPZ5oISd3ftjff
R1CgSbTcCCg9h66PCgiCHCPGGJ+RIGsOUWc1B8OJ+kNuxmu38VuhKHlK0WBae5S0r0MJBeJLaPvx
WWkLHGlGe3wc9LHdjE2Wr3DEbw4jvurPUIvbsUt7a7JGJ0bezOm8OtTy3RQa4Zbx/zsIaGPeH8QF
YJLDSMZzJO6Ka4R8cbEg3QnerKgQBuy7wtrkSlFsgyQsd/o44/Uj8uBhsMB6WLkQ+0kxOtD/ygyA
GB0FPdbyDy6iO5+noC8RhOFhUpRp8N6Ull8o8MADfMLqYhKuB98XeanFBjIsHP/Zh7izvo26FvxI
ibl3zbR4n5DhfyNCtwKgJK1VFphxHQ+nl2BAEz/BaaXP93E+109x3iFWkgvFQ8igUrxBD6vNTOqW
e6PZxBcbS7iVBHDBGn39GbB0gGrBWQH1t8T66U6l5nmjJmfXmFFwVFSEcsdynM2nWU8i3JfS2v3L
bvqopeKTzf80uk+DxYWEX733zJJgw1dFcKrfcE0WSxJcPYKvpZOcOxXU4RygcwWLP9tb7O6VUMvC
HasR3wPSCLgdvD6XWIu6Lfq4wI/vXCap/hRkqfAs8Oe7UBPD4+hX9sbBFuE5tEP14gcYft3fDW9s
vldWlgUY79Xr+nrqR5QFixYtsXOu9ePeadTwXMRqsyunYvpk0dRciffmJFMg4koAci7l7BcBh9mf
y6xPz709GizwZADBMreVN7h2mPJnaG1myADBZk47fVOM6OewKdd8EN8adgDRssdBCmQtU3K/rN0e
UcL0LEYxfhqBgu0D7NPOZtp95b8M3wzFTTf21EQbu8WhZ+X6eON4lVklCAYezLx35LT8kV+2cxVM
fjmnZ7NLfYpGjfPU2GV0BkKx5tB3O8MsYV7+VErB0lJHuQ5V9jD4+9HNzkoVTl4xiIHysKv8hWjn
Z72LkjXZ5pvykQSiA7cGnUgyBnlzcXrBOgM7q7nNeSyEs1Fj1BYb1IThLoWFp+Q5SioZdEC1c9Nd
bxjdoTEq5yPtR+ub6M21nuzNgiP1oB7JkmOTcZMth7rKWzudlHE8JiJtXa8CKHJMaapvWGolIiFz
9hQxDqep7M0ftPmrQxQp/7xvl1EKlXVKxCEYDohL+vUcYJ1lFUMBc6wz3PFJwwHAs0QRXtDkGC+j
qNbK48vshNI4lwcVAi4PnmXLRAFHY5Kt3NLOrplbWxMc/NbQ687DoEhHlENPN0mQ2yvnt0x5/shu
gahI7UegoGRfXCRLXSSz8ttishLlwZkK45yPInxWWrVH67+jLdv21nEscOvI8nytQP9mZCmIIQnD
SP4tjutxDCgPTdDmtMRSz0XgOgesAptTX6AhXaOX6LWqFvKwwcLv/sQu6jF8M8pMFPCo4skTdFns
jhEWCXu6OY8N6Kht0mv+Ph7qd/YoZRQ2FWhAnqM8E5f67lYjmtbN5+xxHLXuGKqt4QXtGD7WjTpv
Em1WTve/anE6vcajXmHwPJQw2GVym4H3GQJryh5TR8Rb26qDYz22+IHP+lq7941QyJJRE4HUBxxv
iTGCiB71Wepkj7xymaey8IXwsgHhUreKnbUHosxar5eoexVtsQ+BSc9Kk2FeSSPEEJuohgzbDXZK
G7/4RCJvPHNDV59Ls3YfURYzPCydtZX8c3Eey8GVdQUuFw4mcE2L43HAuSVJQ5E9FrWZBdsM5aoN
hE3jU22YF1PJ0MW8P5vLA/m/iBLIQW1WljMWb5Wp5ZPFxBhbwTxdEmt6xHDK/Z13SnXuMNID/kaW
W8but9YVvroJLCodKOLm/LhyjUS5QDlzMsnv54nOexDhE66I67OwC5umwfs4f0xmS6HzW6f2pq8a
EyJ2AqCtjZmNTA8O+iCyjeKnbeBpcE0fARY3Oys0UZk2qBIGpWN/7QrUJgUqAcbWzyZttzJwby0X
jToTu47NwKRd/9R20GibK2r+2Pc4WSYwarEACOyN8E31IVLIVFrwcT8rpzG/NEVs7AKnd/qV6Vuc
5a/jJZ+YyLPLkpe6SJhSmS07sZ0/qqo1g4gYrJ7muV0erKpPPD9uFU/oyTv7yf9Fhc4tpKYWT6XF
KvWVTPROxiwFiSGegK9+z0e9AOQyzbsePOmmMMN/i0p1vsx1P6/s07cOBa7K/x98kR0NfjUiM9Hk
jyWNvKcWJb8tHD37HOnlj/tT/NZmJP3S2RxQxdAuuZ5hp1T8sCin/HGq/PwnsORkJ5JuoAbERe1l
vIT29wPeXlWoAYC0o6eF1sdNt6K247Kj8JM/1lFVfqhD/M78yO4Ow9Q+I1geoWrqjJ97ZnrlTH9r
GYF1oaen8riiQ3P9paoxTI0au/mjgsfMIVKraGsNsGW1TIQXVSCZPwegQu5/7ZtBgSELFBrpZS9Z
rEgh0wOZguIxjLr5U2yL8sEIMCQUdWbtfTOoP0alvSaSvISNvq5d3hdSLxFwGPfm9acWqeoHyViy
fMLU/GtCkP/IzTXtmipuXhrN+o29qv3kNMq3Ci77Iw4eNUVk21ijUb/19Qh8QFMgMZI9uOvf4Y9a
jJ5LlT9mqavtzcnufqmhS2d6SKOfo2v5D1PXDSvz/DqRiztOlqSAclIkQpJ4MdGAEpxkmijz6zU6
7hirK5+qzoLg78TjF2NS1XYTVOr8V2am1h7gUXgQkTsxJUVx8v2i3NPsDR+YuLU6zxvDgWg15V8u
el4iy0S8tGmsdnYWPtLLQWmpc6atsGpjJ2rkESfN8Q/TlA6Hd65AecmQjrLdQIrcND99pQyyBCue
x6YPAxyvgFR7alfg1kAykD31Q4eOjFXbK7Nw862EJe3mD5BH5PyLSSgDU7FghoePaatpv1OspE/A
VZJzmg/fI3moGeO0losuYgJDgAVM9YTFRmsFzYrr5VaOTWIMaZV/KPF4iQ617wxO6oGqLaxiQztP
tM+q33bp3tXbyX5fyYrgsraL1Ai4Jzi7S9v1eA4zClai+1BUc3HhHfeVChccprHRPEROxpVLcXFu
A4XkcUkTCNyHZIQZi/JkV/a2VZhW+8L/DnUHS3KwEnTfcbo5gl00nu+vIpeh+2NPEQ4oPkBMycYh
0XcXt2FdCDN3jcF8UfFN24w6L5gsRg3ARqqNRHEad4NaY70epvlDUgzKp/vhF5fG/8KzpHjJy2tq
sZrAEEDqNiLzpTHmeOf2Y39SsloFDjm523jUP1uDY29Gqs7b+4HlX3z73f8XePHdRhMYbRiU5osT
J8W2QQPrY6zrzuf7UZYL97/RhRnDRkHFcVl+DHB7MKuyMV9iN1G+1z2ERoWX5n5yRHAsqtS9ZLXR
r3za7QpiShFAokKBChIo2+vdUrtNEqjBbL7MbTHs8Y2zt3YLohkvNMvLXH8N87G8lV4n8VXgG0EN
duqy+ZNGIsrt2TZfqr7sNrlmVxts0NCjN4ppC2ko2NtxHe9T1D0+F0jbbvRQrT9WCLislOAW2ZX8
Ia8WDQYZpfRPkJP+R+0paZxJS6LYegntIN9ZXRWd9QY291wUa1ItbwwyDlrwV+A+AR1fqlzZQVqB
Bhusl7HvnivRa2cjsKyfaZ+AlBJjtUb5fWMl0fihjMqrFcTrEreQ643rz3VnvUxwq4951rm/uQCU
7YBCx843Jxc/QHONO/HG7jTQooEEKc3eOPuuxxP3OiNO9M5+wUcPQKkbtyd37BDALlrzcfbhUyRF
8WKq47Rm7Li86+VUUq0njZRFJYm2uw7tD3iAdblmvZQTRNjUrmjhmoir+yAm95Ov4mCZBNHOEvgO
0Srv9gUYIC9Eo/aD38b2LsxL9dgE9Rpw/XoewI1w0ZN6Scg6LzweJte/S4uTMKRWY/+SRAn3QrEz
1S9+pNaVu/UNA8Bvn7dx/zXrisB6n2r/a3DCwo0G9wTNZAlfCweD6io2Zr/GUkT7BDuGM4MYbhNb
rJGgr++F/0LRp4CCirmiADN3/Z1mTMbiGKPzawKmdkiFVu8HPZ2Ort0hwKAI+P1uoqpfHKzAvBgD
03fdupRECQ5cTRbbwJbAkLqOb6Xa2FHejv8tRggjRxeZRfW5qcLe/pZUoTb4noJ2wLxydC4KCjIs
xUUk6qjacuujJn0dVo+qfGrNSv93bjIFhpwb2skORSq7Oom0LvtmC4BI7T4ZkA6dZ2Cgavw0NVnY
eKbuA3lHRsLftT4v6JW06/q84RdJg2Pkuil30+FDKOr6h5FxAdmzI/VfUJLQa8wk0faxn7f91mqy
6ruTl/0aEf/6NKWODQMeCinVfIm7vgFLOgoyfr2wwt+UOxoss8fhC7aEo6dlWfjrPffk/0LJRER6
35DMLg7usO3YcFja/4asFxkPsduBdYPe5KSfNT0Wz1Mf4kXIXhPWyowvx5WVDogekgQFOqQ4lmoD
1LYxnXLHOPCSXnSXyMmNw4S8v+FFwlaOCA/ka5LvN+MKrBdRIOoeeEBysi6msvexhcrcEP9YRdBm
V4LW2pQBp3qnFsHh/sBen+AMLLI08uim1kHXj011vWwUzjChtFUdeLFl+8ciz+jrp8XgTaUWfRhm
YX5AOy3xQjFnx/uhb0YWiK0sy7FopR7GMnQ999QJEYjEctx0pqeCR+MGl6+SQhNSSHpFJ/B+wJtx
lRh9FzYXFCrgOMvudxMpHciW3OdbOz/+ifhhaXtAxrqHbG7cZiVPv41mS54+7Chqfvy5OCATLaZy
PidDSNcYrCFQoyTzmjh1XW/gplqJdjOPPIFo8OBBxfmE3uQimjqbwRzoqR16amCqA9HQDvVqK/RN
miCplUhEL9QE15qKR2Myne/3x3bRa2IhMbL/iThQMqSxu9ihA+Xb1OgNP/Rohegq0sJGPG3LIXPS
czG6uHzVRRBj4a3Wzq/QQfLfS1pX/d62Tfs+BzB+i3T9lUr/9BmlL/Lit4SkzLNwBxF6nTCiQ6en
7aUtyp4pFzn+RPOaKsPN6NNipKSFjRvsLQ6JxS7S+y4YqU7+P+rOZDlyHMvar1KW62Y256GtqxYc
fJS7JJcUGjY0hUIiSIAgAQIEyKf/j2dmdVVkm3X15l/0IhZhmtwlkrj33HO/g40FbtR0wThVb8Ca
cvKQsXpP6KDvmzgwZYRK5F/cRX+uN0A7vsb04BbG24ZIej2n/6mkRchJItN+xo+2Qde/Lv14QRRz
8DRwFyPkxF/2FPD5f/HU+I0I9I/uCOMmFF4o+QAVhUYK896fjsG5bnESDYFL8hCF/PTgCjPZUtp+
4QX+Hz4GMbHDzjLrv8aqb++D3tf8PWbefDOBzmjyaKDLU+Ty1stt0i/jTdvx8AXOvejkAb5zJzXB
/nrbRMbZTti6tG94JJob5WLvuFCo4ORdAoSX/r1D+PcP+x/N53D3+3uY/vaf+P8H1E3ZNkT96b9/
O7UfcpiGL/Wf1y/7r0/7+Yv+djt/SqXl519O7+P0l43mP95VO/A/f81P3wI/6Y9XUr6r95/+U3HV
quVefwL49jlppn77cXjN18/8337wL5+/fZfHZfz86y8fg+bq+t0avKxf/vjQ/sdff4Hk+0839/X7
//HB83uPr3tav39ShCm8//cv+nyf1F9/SYJfcbnBMwFX23Xoed0tM5/Xj0TRr9dx4HXsHLm/QfN/
+QsfpCJ//SWMfr06jtAOxZA/YDNCrzAN+vqhIPkVqg1mbTAIX0m18Ej+/c3/9Af7xx/wL1z3d0PL
1YRXgwv+H5cm4uyxMPE7tB/VKRyRf7o01UTilASMYL2wFQAgKLG1jjDbJlloxSfffzRNoO/+6Tf0
x4v45x/6czV8/aGoBkOsWf92ZmNV8Oe7MFBzlnRIOt3Fuo/XUsAFIMpVxbBVDR6tQWbIPHaigd/E
OSJ+pzjHaov1/kWt8vNj6PdXca3IfotewpLwn1+FsUZAAu52giAEDiuzte9izr/6plBx/9b76yOg
uR//81tHAXxt837+leOYu3YC7tXzgAb053ffysVZnGgatk6kzBO8eTdLugTLZY5CsV7XPO19rHTN
jnUsox/tAMGjFMswwIQK/SqnnV0+pLImfJvl6D83XTKaXdutQfxkweuKKuyJ6bHEYI3LHdbqfPYQ
0Vj7N56d2VaJlZfB2PPznEndblmQNXBb6PgOS/hnAWmwyWv40P1y8OFFQDNGVeEsOnjmoYtQm3FJ
hxys5isCMxbdHvk+SEfvrEkBOYBMMpZ86EKKYGjVeGBi+PQJZT//pCPt/Xx1wqKZ4v2KrnDPtWk+
cTrVOeQxBgAxjUoEWGdbH4bVMdN3mSHPoGkCHcqUc79YsNrzpFYPEnDA/eL546270gCnN3e/mNOD
IjrzhxT++YcmZM4O1BZVoCTV5Vzjh3RJ54MbwOkWtTHbTHa9jcVqopI4+hWose+irl8cFkSV6WN/
m42BW6IzkzDEQ4VIlfPFDAXUoQFihuezj6SfKU75IQpY/F0tKUxxbVYKgrcYrx7/xNwx+kjncSxD
ZWf3AnT7c590ssoAw7IRUN4b46BGqVphaZbzNgY8igW8P2nNh9swQc7iAqrH1kMW4+cKxMe0h/cp
tDkQvx6CyZBswe40iEMAswEtC//fHH0NLBpgRWKCdkd8srk1gYq8oiaLwh9licMXS5Y0yEmKzveA
/V6T3JKol1mhKIXldhy4E74iNwmNqKp1Ly7Y1zTyAQWNa3eMzs13nTnTfBIiwepOxJF+EdNwwcIs
loVUpXCjISyGL70tVmtGvYu4n5wci9BWxENqq4+NztRjnQ36QmjXY2rrrNGECa4me2yuq6YiPgDg
ufXbnuB1dj7fJqQdonxEhvLFp1AMdskAowMio5EEu6FSeB842fUTWzm8yU3vZGOBaM3UK0YzR27h
zZoZOAU74fFTLbz4Fq75pQvzANHioOf1ZIX7JaTL/B3XsUnG3JONR3OEBE2b2qfg7HUmMqwC/268
UAXOUQkWOX+D7gL8vr1Gn1QYIXTeNmzJcrmuxTlA83NvfJyVu7DjaJd4LnrsVyQ5nvO8zcXc+Cmm
KdDJi3lyFsTKIgmObzDYHprK0/E0HHy82UcDxEyWK5Bd/KLv8VApGZBE/v6a227yIcioeGibrlk2
wSiDzdDFAtx7hRC9nMExoQ+qaXp3DzNIj/fFGuc2GRpwW8U89fPVYpXWFTLDfFXNPlJ3ColV5eW1
0ySebsw8ZE+AugTswYKkyGBghqoreG2+qSEOHpAEacXVA2pZGcS/5WmTNvJLA6wbfcUNDXh0g+CX
5nkOxCw3yBMlyBqTJM12PQ34qUMkIzIiO39heMh3U/ygR0fEQJ67i1sB3G2TA07HADZp5uv+CMEU
dh0/sWEOHr7pS42JHSsB0/DmR6QuLB+tmUZylDJ0QDIXCH7IUY76dS6Wq80bmU3rpmPGHIOJk0tk
exNtnDgdTRk62YJM0lFysJYoMp24WwcSv8kWQZkoHfTT0kUyrfrO1w8Tp6nKo3pk7p4rIDp6/CY7
fsRNG9Q3BloShI4OoaKhVYhEcJD2xXPFbTacfdR9Ise5YQ7CI2tXhv4iPzO3j2Qp4Gq+rUUUzVsH
Yze4ifEA+nDnUNPtjFn+4yJDr/8xol87R3QWbiEQqzblCvUygi7DZH73bSfTg+wgZuRx2gwCGSLu
eKRJ3y07ajCqLj1GYRe1S9J/INYqux9QQ045BDhii5FjcYXEiX2Hi3bEBim2miuHtjBezlA4gJRI
ncfIW/07h7t2yAmwCEeaQsQohgCjjjyIlkTkom1BCbBm2uEWQpfaN1ACD/NEI7mVTWf1PZN4JpyQ
7GzWk8Q8UebhiOSnHWIbRlP48dTeJovhbOuIZEAa8eK0tJiQD4BYKtWF4ZnKEeJp1PHljgLUdAsD
ei/yYQRxdA8Ca4aDwY2pyX2LC6ckZsKv2hn8YNjqVhtbqAi6coWTt74lnStvME/AugkCucBRGRCY
upV4IW94bja3PmMDQO4tY4eod0mYSzW9hMOKdO/ervnQ4PzKqVT8BV5gO+ZRpsQxniUS/6K5HR67
JhgXnBaduxn05L/yJBPvQjOXlQrJx161JtOKnSjtpRelR+S+IGH6jgXuDVbu5BlIsHF+zjof24o+
KF1ko9JBP1HeOHejdXWQY+03vtMGEEJc4SR1twYxIQBgxxM4Q45ZOr8EwWxhRbBoxvI2WvQZ5+m1
8JljPzlScAbrjRCLE1YGea1IoaRWTuU81itU4oX9iBhOipKxtefbCE8Yp+Bh2rR7CdifPLopn8gB
C52gxMdqLkxK/ZK6zEnPwlvsJRO6lccUmcdkY+CZUBuk8bH1MIRq2A6Y6pCiQ1SUPA1sWNdCcpnW
R9A/2LSfLJbEEBETDj+0deebtHMWQDikuSaQeCI64cRGdKeYdPI+UoVtuWVaJwcXOQhQ51m19adO
Z7c/6nawKfZ1AKrZxFIDj0W7rDF4PHjmE6Dcprth7lU4AsXcuaZJoYDNF+JF8NKIhg15KLE3TmPz
yWcB0P2k5w+VRLeIi3GOg05l5YMM8gaqT+Ev4CKHQYW0OXVwx0TmcI6yErnoakPjEelmnjoYgM53
ngJIOceSgc1j5EW6xRTEOBJdh8O9w8gI9DSb0vdUTwh8ywL95UO6O0An4fvRDOEOwHV14GqE2UkY
YLYc5Z0DTtVnnPSyXGZRP8GfTF8b77pJhPMvOIK77wOA7870JiTM+6EIwi2cILaHMRM4qdsA27GY
hL8l0Gafumi8GJlCkgHAwNn0NWoE482XNZuwm6j5BgzjG0j1b0OI6QBDKLtB4oHcz1RNpdaZjwCA
ZiiQg6uwX6iaLfOXg5hmd6ebBk5BML9zNqvl6lZsYdHyusqJnb5IMkTJg+bHzjD93aIMGko1dXID
mt1FKooKYDLeFgtpVzLHSWSJLSFOHSKPbykmkZtlERGQ93yn+2Q3h9Ex1BYevtC8YHOmPg/tNXl0
qMciVHi8h/0EXJmFm683i954czLv8Hj40tlAt1Ei36YmK1XT1Ts3yb65os+Aauoq683DLa2nvvIs
OeBz6sMyyfGj8enL0ODpjK4MQK6FHLFMv5Nk2kxZf48CGfB5x72v5YyqyYl2TY+goRy6RZ0Trzus
S6ZzX0GSaEba5jBYVgovAmTFNj7Ug5ZF23d3owfJhqjBOeEvCI5+7HUXsgaU58KPCB5Xpj457lrv
OALtC9xKtnCgpQL67G1aM453KNxtl6sZ8FDPVxq1nxO9K48YyIkcOQm+id+7lZPzTMVbtM7RXUCY
utGpW1fg7bCDEzp3fqBtOUX1oxc5eFLMsczR3YEUnLwkxD1JyC07dEHqfQSLbh/18Zb0TCIBdIgO
gZNgJcqk6/cZZHUBV7/IyCsmZF5purqMpb8F9asaWD2+KCyN5i30nZMe13E7ShoUvq9Oq+2QqWDb
Zz6TS+oEXT6Pdl9Td9zCaURPmfsj9bGwh4ly3jtIfvX04yhjHHT4XgfEqgGKDX9HHM9uPqXeMyoX
MHiZwdXHexu/KJl860zqVZYBMYkN0m3MG1tpHl6PoSbvNS7zRR2DISYF8RlCAFgfXEIEWh4BKLxH
hvAlIJHe9qsfn2PD0++R8VEhxUuySVNxxDWqH2NJb7DoczPymt+Q1kF+a3fiQdhXGR1lQd0eTl4Y
MveTokiTJCKogrm5IHBvA6zzUsrVbOCl7HEeUzEPBWvMIczkFpCqi+MvW4qwq90U6uboAj7xsSw9
eUmRh/jYBDJG3Zixl4Un/pkklo2VWZLwTIiui3aUhOZ97N0zB5Y356o66xqe+LZrMcL0kEvmrEvw
A3zv9lsP3NgGfO/0RvO5LoFHopt6xcbi3K/VmI3jIcIiw+B2uEIRIXU/Sp0cDFkf3QzrUe4gklfr
BaDQSEgAYzIkFUBsCnkQyyEUFMRF5rQHTv1gN66kqRJ3YsUAMkmDvob07+voPizChI/QUvH7TSEe
1Hj6lx2JH2XiNZe5w5yrpwxFr5+wsnaVLXjQDoh4rr91vjwKFxD2pe+SKB+4ucJTQ8gCC+gEr40f
1yfo3vIYYBhPAVJmedBm7QmZu+0GYNetwZ+mcJHumA8kcKsk1uXgLaKkxJE4lAe3XAPu3YK+hEf9
oLrcH5x622YYPzk6bKeihrkWDtaVH2BjDeCG4c78jnE/rBTNGNzGre6A1VJ1HgYOQtKWTmyU7Y5o
OOHQW6zzWK8daJWB5tH3JLH3Wauy9xBxCQTNpW7S7mzICHp4i8J3LrXQe1grDwNuHhTkTO0t5rOF
KwW2K/BnPs2J00ESVfxEnFH3BU/SCapp02+8BRFuIo1pIaJGPSIH/MZwD0ullPFCejQsV1ikD0D0
0YvUMT/EPTwTg0if5QjZIp+hHNwGAXAsYFhkxRKhJeidmh8JaZ+VsOpr0igffKrdimALqMVTztwA
VOrnVLQIl2zjDx3jWTkP7j5BzgV3g+06dhuLvQ2ej7PMqjpbx0MbDT6cVLhcJzssa+liNctCTIBX
JTcz7F4PJJrtNOZ2xHD2DmMmsMP2Tl2TDu2nG0zxBZFvTdZWWC4j4bJFfyaXCREgMnYqFxRQROxM
8IJi7w0p5ZNGx5xFoilMv8Q9eEY1cDusMswn3hXRPorvwDbrOc4RfBqFDbLkFImrEAGPY7qBUB67
OMynwZBg02FCOywfnvGa7C6cxJMyfJqr1kdyaJt3Kz4rPRnX1X5audEs9X02eqhFwaedyII+qcW0
8aWxnd/Ld+yO84jvMOeeYpgOmJYpCiTwp9p+MyKuILBbhKh5c72dY0DMolxoEPnWjS+mpmUHi/Wm
oNNlv87uOuboEm3gbEidyfTU+UbEmwGJb2/NNNaIIgr9DUIL9ZCnTALUOHReKUwdFVOIuOexllsg
rz5w6KoiY518kKKb23zAskYVYv96k4TW5FhDQnhRNnxhDjFukDvfFFMinpBWWK1pNOQmHm6ldg6d
cJ2qc+q1CEWIBnbtwjID2Q8PmA4PDPwNXy1SzSthcWkCb+DnbiT0Tgag0oF7NXtzoQNz7cbclx6j
3wNuRblpCE3u26B3Tmad0DNq1u0G48ZF38QpJjau2+QmAsImQwqfXMNW7Vbh4n5CmmWBoF8X/Zi6
b/UU4O0Ajf+crt2wAs4smyCfbBhXwOCid7LgZ95mfKGvnlN3hapjuhFhMohKCicORG7blpeu7+F6
bSaCqZADxXLNoSRBkVgESFZIfEkcm0NwRC3hZdjaQUo02Uat38zluCTBM2m9uiubiJKDjz9t2cHx
kocp1iSbxLAnd+iSvCXS3ojJxCVbl7OdQrq/ivlYusi7xZ8KxHVvwj5UpcvSilzzawM+mSqtO1LU
67Deh6vBOHSSzS2vpXpyiIuQAoZag63kTD10HfCjD0gfXhqaT8afbqSavRvHcS5tGwRbBxOzcsJj
aGMYOZm0dzagV5XSczk2wRnbZjNK23yQLCmxzgwpy8GC2sWNTJS7wgmKBhyZBxHY+N1xGpEvMQv2
0xwD4Wkab8tjRx+m1n8eg2zce9rQHDLsU9yvpyWa4jXXqy+3bifuA4Pd7EivwQ0WOr8U1xzjk2bY
qyQUFZ3SaR+Gyw7wJns/GCAzWtzqt6QVMfA/mb8dY7BsKmwKx3aHLTsQLpDUDKYyhIy72iSKFBxX
xTMkmrrCIoHYOT3vCwJjdOl0WIKDG7Z+RK3Y7eO4xUXvO8OdmP0LPANzxTza3w/wnqPgqbEhXzue
swmGFqC2uB9Lp4n7TYuV1CJxQFJPO4Z8F8eZwVsiDklOMSjrLWrttT74Y5huWZiZpULqTgK8l25v
GoqQwx6YqocRUQC6cKcO72+WkqNQNkgLk/Mr3FTjtxUGmW2E9IgmTzxIdxX84afBSaK7XqMexsKk
eMD8TeZmcTKElxO6gazhyRzPA6/s3bHbhiRCN2I8b9P7ohqRtSIzpb5rNwR/AWLtrtMDmgOnX8vI
1qbw0CL+6NBiHDuNoEaNFPmtctGCYKPPzbWq2QbcXTz86aKf0bFHNM1J30RxV8CwX5PSuy4M72Dz
iOVLawlCZa/Bn3UyTucFLfZNhtf/CG3DVhE6/DcVQ5QsosZ+izjN4GbQCj0S8AmbxlqchYQAwqqI
3XlQomfjyUMdcVsXWdw43xbMTPHbBZByQnpgAexVuJ2wm3vw6h5Z72Gon9SE5jegrffDX+VXM6FI
hlqMFbyh7ueHsYkui9vIQq10KRfAPU71sAZ7oxw8+mOUEtzUkPWWZtOCqVJ1XfiCgcOAqHAR53JB
ke9BFkAdhxM4betkK4CJv+knte5qm6alj8zpUq182Evm2k2fRPrWNkGcBynzthDqsm9L07bnREaf
2tb8Dp5SkKNhqL/FpLL9GGc1bwBwkecZSUUl9oDXCrvoNo+U2+x8TEPuTa1eoERtfeaUOkNVF6XN
ISTpAlf1bMoawdS4tvglmhjfax05XuVFKGByaRa5QduD5LwIU+Kcp0pclGPdXGIeXdlWkN1EkXlC
V/Xa+9Lusz4lN9BI05KNJNhjtXC8c3VNixW2/TUnIqGgK+o8WxID4AVBFWhoggyEVMsAqQCRs+2l
15B8GIKB5k02TD8gRSF3kUbxIc0gqiApHKjaxR+LiUy6quPYuQVOCvZa5tCzC/mqxwGvyCNkAL4B
hdcvVgK8lZSwS8Dhc4TOiGiWPty1iqcg9JqThFeoSA3ZJcRZ9kpgiguGMtlxQF6eU9QbXSWHlJEC
6WXjnFtsrd5jvYmjIGV4nA7L3G6tmPY9nqPC+g+QrXlRd/JJNyLZICJTvRrfnhft6h3VYisReX9B
I3xvXYMrmkSrCBCm5k4n4tXjd+FzsiJ8ysOyUgB/JN3ESdZt8OXuGxSEaX5bTLKyLYqQcQeNP9kL
t4anCwlqY7GgWveOLhThQzx0vNkjes/zX2hmSrAeB8ifCOFGYbG86yjDmeVep0zwB/RVreKKafs8
d4i8VPYGIghYLPBMNDnvxpshiFgFA+GU91OEQngJEFO8WMbcWzKgDN4kGSkFlnnR4vjCKybsgaG6
d7/72IDf1JlKPpegn3AWD7aEqMnPAkkYj7XOQqyU1+ieuqDtciOc6L7G4Lyg1xG7gNKWW+xyoYRD
LVCwfpZ7muLGjJBVkQfwajyACjXislm9+yGyqpoSBwdwO9TBtp8DhheJMLpL6NiUlU1r0LWqDuzU
eTVenhmMtKwHlZS54XBnHTY8ezjfch9qMpaJhESRjoF+ha3fplJeCBewCsgj9Be9YajhCoPY4mO7
oAWDWW54rl083jFQyg6wT/qXhbvR5aoY3UPfiQ5gwIjDErEYGR/gPu+SNsi2DGb5+xmn2uOA903y
XnYgt7fLWGYjxh/MdPYCB/bbBN70K9zuoy3MNGNNwEuvv5ZeLt7bCggytOKW41jBK0KzoqLlTc1y
fQYmP869efTg8Ftl/4Ekesze5jTF9YH2NF01xjZg08B6a1Mo1EML2mvQYDF3ZOLQeeF8Q7ugfq4t
0wX6Jrd0BzdB49TR+RH2tmGbdVNX1JAwd7gWswKMdaxtUIfWkIeTdVmmqo+DpXmP2uE0DGnhOIsE
97oVGfoMGkNjygmOJ7z1IQhHBb1z0OsWpidqnl3lguvRQw2sC4lW+UtbheamQDUN7S11U3UE6j+c
N30wYhVRrL7jHfvamWGVEu5xyWSG4QPmaTE/4kLseaU9OT4sGovdDGGDUIKicNPIIOk2SHll5wVp
g2/B6MeYLkJwo+izhH8rqPsdo7dkLpHOHWwyi1DpxNco/wFMh8SeUBm8CsHIN+MAqBdWA/HzCUh2
WTI3mQ8NahqF7GC3UqNVnynPiHuhUBxL6JfrI3JQUcZ2V20dNqnShNewGPEwuy0ulNitpoWcr1DY
cc4uSN6rsrrLSrLyx1Ymb5l8X7NgPAEJsUtJDUJPjSu8VDY84tlYQNmmBwUCdWRnjBRWKMCY825T
6KFQ9rqDSeo4bxgWmzpMn+MmQs+rj3jDiFzAfnQcknvpi2XTucuwiVdgrjSyeNP4Os0Zwjzr+F3k
cMwwahcyDDk347DRFmlcVoPANWv/Yi3mX0LC4uXotSCTRB7Y1L32WcZh8MVR0UZBHq2YPkKr2KXQ
/JueHB1Y7jcmY/g4/mUjZG6Mkve+DPLQARmeZOg9HIHmvK1NFQAL95CgC6w6Ym9dB/kracYL2E/n
cqZzGZrx3Lr6PNfg8OOG/Mo4v1vRSRRAZHb3DibFctZ7IEROYNuA494KKOcE6UGW7uTiJneNSY8e
03NZ++Or57Lv2GS7jRYfCmV8rpHrVaZN8hV0MC5obHhdaNs390i7PY29/WCNNMWIJylEkjgfg2Tb
jwhEAtggK9OWkwPD0VStUMnymqPjVV7cHlsAEgp07giHw/JxiZEwOTUZERYtFUYYSAMvg1qwTQ/Z
r1n1DdTqFoaJJvhYEUON/eQTEmbv+wDqiwQAsKgxj85bFPQF8sAB+x0khkH99Izfzw4+1KMnAZcG
YIEUYYhYSYlHyBYVX40zBdOnDjmIp9RI84wbIcszj7csv4Jd4IK0mG+o2Ng8E1FYWOIhPBEA1wa3
8hLcon/1JGTnBVMfyLSZn4/YemzKhHruOURhc/ViZfnYDx3cFJzjQtD1u4ON4uqqT+QYcb/pUAdf
1+cXEO49/agxgZEHOjoZ+qkVddgd6YhUpxqDMQth0cRmL0ODxs4IPw5vEwAJUb7JljyEFIFUKO50
DJ8h0jy76TDxoW1uMCNCMl4Tze6XxvM0/zfVu7ZNtW53BMHM7NX3+bypI6HGl//ZifKnDAL4X7AY
dYUHQfm8rtv9GRHZUZHJwSXNLlAZuWchUxdE+aB5ctFO2NKm3E1yz5vxG2+1hgYt4ABQQHRm9SvX
g38Lr0LoFLXDWLK1WDowF47J+FTAgIG1OdW0LqtgLrRdNfcm8dDP81bDiWDFTRBzfJMlhK6kgxnu
ECS4etWIv77/u9Xz/4dFbfzkD0p+fip41P4PGNO8Kx3v3//u/fpvxrTz5/jO/tnI9tvn/+5JS9Nf
Ad/+zfSZwQMOO+bfPWmp+6t79ZVdPbhXqP71I3940gL3V7jWsdcGXhoeAgga+S9Pmh//CgQY5LEr
JgfmdsSC/P11/S88adfovZ88Us7VMIeNAURp/eyN6hxQz5Xp5C4BAO8eVnx9S0jd72XmrVWUOs69
i5uizTM1917eOljB2/rI2dl22Em+DEDyFwj9FVUt+3oHJ0YLM5Svv3pIhiXkc/rdBHrepTTxridt
N38y2BUqV/VXJVn7ZdJgx6sHV20LFyl5EHU3ncmA9fmQcEELQLGAGMXw+JT2dfOwwl1QNavnflIz
YMEuXDCjkC5NdujK6T1G+u1hmI37CHFyABKgrdMLYli9fZyp9GVGnsO+6xn7vgIj9jrRq4lCOEKg
Jgji0qg+PTqe17lgz9D05AObUkTwHZSpdPjB2CTZw0PXgvBKkkvdN8s5IEY8C8C/11yZjCLFOPR4
glSGMNig/xw+4Rq198InYN1qTZzX5LrvlM+yHs+iXcQpdueo6to+ulMpLE+D2xynlnpn1Ud2J2oD
kxqsLi89DB1PLTwEUe53mdmJzF26IiTB+jYPSh373vEIlMi+fakhjlrsGsXplrIQw6PWH99sZGBp
XeLpK9DCOXdhr3+gm3NvuimzUwEba5o7lrgs13T29qJb02eYULxSToi3WOzYtLmvScNQ6nU+3HEk
lM/YEk+nAvsB3scolv5j8Hu+X9U0/qARrFzwNs5Bvs6my9EILeWEKI/NFISykvP04PG03wbqEe6z
AG1gA3cMHZ4t83YxMjCrOGyyHMtQIJvBtnXBgPx+DLO9Fz3ysUOOeATzxbIYoCTp9ejArDCmkPIa
Eu6Ip84BRrx6XZ2ySfzsMrQArNedCeBG+GoAqtlCtGF4DuLRC4pcxbv1OwTXnQc0peNReV1+xlQL
e5W+gUlGh5eJh/AP9QzdPHUqbIpXps3eTde58BDd+UscfXUIcYdh0AZYMPFD9wfC3+qSp97XiPDJ
bwCWT6gDQtwtYMXlIf6l1nsPrGl3GSPPJuvN7RRIepRQC+yEJlnmWYgORznZNjGJU2CLOHf9t8jD
y6J0rWriQALrtomT8Td/sdEmBaQ6hHrLHfpEZ1DZ3Otkphyw2D3qNN4zWue0TYqJowNI+HzvuajG
w97cGaQpwmKht83Edj7hHwglTNF59FXv1c8xt/sggvJI2jWGLyQE5iJ1YUQQt6HAhIgkbdkM0Wva
Nj8Sr7vVUsZz7kefWEG5g65ggI2BKc9LUK+GSzzmIULMASev09Iw5+ioBhsOaPMmCskqM3cJySqS
mALAmAi+MAafet9eVpLcI+NGPokMqcgAbVCsF3fbyQvqMzwfhfVARYkxl4fMAs82OmGmQS0DFylX
CSD0KBc6zJdCXqq2f3ZRGk1BL2APmeucjVG4x9r9A+awX5o9YULqFqgBAD0MsA0e4P7E8kL//5g7
r+XWlWtdv4pfAGs3MnALMIqkREpUmLpBKUwBjdjI4enPx2mfOrar9qntu13lWmUvz0CRYPcYfwwk
u+Fa6F11N93Eldps7n29AyjhW3d1UXOdxwV8PJl+I62Vd56LGKDLy5tmkB+dTjMlXW/ja8Wq44zN
3GGTFP3MbW8+lTWZ+E188VyqTiToy2VumDTLboGinqN1PzAi2JCw9661fLiRQgYX0ZP2YRHOXARJ
5TcyTBPbWUWTVVwcgJCPyeJD06eyeRgtO4bapWJbGMqXQayW7gBBLBCc6KxYcIRzoC2L/lwNQrF0
6OLADPpg2aP6msfF/AD+lV8wW+VvsxDmOSbQcy9J3mXnp7gi99ChVuP4Yndau62cyN4BMBGdWufM
kIrHLdXswLN7rB/+2NwtmULtN09VHaJldH68yTw0cXULQY8tYnYFUF7fvedes+rmEkGntkwH3Szi
O3yR7ppumC5kr7r3zFiFNLFZV+jO/mJY04EYM3WW0/DRp3p2Jm4UHe8g2oQ9Bm+l6xRfEVFGX3kB
zXnj7qx7H7/NKosMUpi7pCFjWpf4xj0trS6UK6e3iwv8J2qv2jjM4RTrlyLWvxZr6TaJLXWyBx3j
OpDGvyqIWENLki8M74g7j7nhJYcoWdy3bqqf6kIARsDwRR/CtVWoUsBKONLthBImrW4wGdcHR2pM
Bke7oHQdEeQg22POBs7aepFvQoW11riSU2vrqznBxcl85zSfyimpPMAZdegGa9kj8hvvXeLXgVrS
hmQe+AJdrTnG8pUle+SNGfVlFduGuCACosOy4w8a9paRi00/+DH9YrUdzMTJDJl1NIvOue+7t1w1
xScLhRmmmUX9ao1bcBKlve6cku83GCEyyGzDR1FwGZdjmGpuvrFSbceHyEefzbeVWXtoJn7QQJj9
EuguahzPLN8jPUMoLSwUxuE0+q9pkplegLWCq8GXI7Ck5jUh7vA2IM+6Arwa/NWimjVVXefYjk0M
vvGptCJ2o7zckgeJDBkVB2JRmCin3Sxe89YQRTBO1o8nJhceYyL73mkj3p3heSQHLuwXBDkSaKUG
r3O8TQ5qERXNnTI1GAyGsQM5D1RQF5kROu0yh43NxbHc/lSt+JVVdbSpjG/N7QaAff9jcnmdTkmS
ueXwGfbjZ5HVR69yXezOWr6a8vH3gGa3DRoN5FV249qATloPFuoU8pGNnamxzWUTAmN3vvOIZPSH
OEQopa0sFIWtQzH0GCk/NE100xoZa0sOZiDzPYbKFzFr75NTl/cLxuxQMjMc5oH9DdHKj2uYD0uM
RgqxCroQa+dn6SlFy9IRJBuoZaoDGqi/3CxKAzkvHUuUFUqb/6KPZr12zfZnFs79ND04dvNrKMzz
ZMXzFoywvqMBDOOaHyRuXfzu4NLq2FtxFskQjc47Q0536DufnwPUeet7il4Aczwhps4ucX8Qc6SB
yU1GkCbq4M7XKCtRrOstjdn1CUHi8CaHfmdOj3pfCNQRXwkCqyOCq3WH3qzLuwz+pQwRQN2XSPdY
FsM4HzZtV74mZd+FsixedMxmiyv2s3H2aMLMu3kvWth5BFt+wMeyspPkQ4rCu6fHnow88sAoQr3Y
TnycZXXf5u4ZSL6E80ASxhm9s438ddEyf+NN3d7O2pMnHX0AfY7dO2sYgtpCbT2wjN4yoe/cMnmB
q7CeysX7MaoZpuYp8QhyLbvsDe6bEzqJvnyYDCS5x2wEHYPm/HQWrEoIMJhFeFg1lF+9Vbx7o0yP
dW2jWgGWWPTlkkT2vYukNhikiap2epsLTz4oqNbV7W2C7so3TmHXJ8vS0HU6T3WevngTciFtXNfQ
to+IjH4mJ9IDq6oE0jtt2Y9EMXxr0j60MfbSPiqfBymuI0FqgSjaI89sxtBVvHm+TDkCRi/Egr3w
LcvQHlYjVx5krWMvZ1AldtMKQqrL4R98wpPDpsh/ufkI1NCEsWO1Gx3RDuIMvmk3XUa0tYuEZse0
VmvgjvuxrI4FzTtBP5WPfezsFEzfpHlXswcvIQw3eer1bJeOycSMUa5aiSw3qeawl9+pZ597E8Vm
7KwSG4U2BT5BWs8+WOiCgKdeOXp/JiHhkPn2KVlUjsoqBkWWlOkhePRIJeZ5A+eAJI5peIgN9N/g
myAodroaRiSd9pS5G3/4Ijcj3UDhLYhiS1hip9833g160effHPxaER9mZtF9P893RqwzU2FIYTaV
XCut4U+hrQv1ZM+xFrqZcJ41otmhBO2jUNUByzHyg/QR3+y80q0cqLNGZ+EdUk1cG0YeozY/4ZbY
FDr7YWg5RNWAiGtB8WxTQUC87ZE76Sii6kUjrjwUxs1TgTzfQyMq9B08cBJ6afcg9AfpGfvWmS9l
qsENlE7UBr3Bl9Wgst1d1CFytSdLdP66bZN3ovxO6WIHwwhjid7f1iTndKOuTjsiGRaNjxsGjOxX
dNPupqhy62H85IHlHp6bhIYg+OaEwmgu0B9wji7kejymMzBUbMT3GpbVwBNvDFMYOnFlr1LZM/j4
gprbpnyiouK+Kg2dY7XKXgbH5sGk1ZkzKeVxWGiidSpjXw7zBu9Fvfeb78aJxtUMFg4zvzy53C1h
FL1o+nDnOrm1K/KrOSkG11wjl0twszjALtFN2RRlRrIik3EJSyoEvspMTu+9499L7Y4GzQmRPvld
hXk0BC+n6wYVzAZaEGTrDECdla+S1Bs3bodKI6uetcnZjY7xnfXI5BCUL3szs2BzrG2p4ucSwUvU
+vXGb7tu71U2EgYz4uluuqdiJEihi2qP97OnVtxxLmWGOM+Q3UPVyi8XQw/k8Q5HfLElqCgJZv9O
b4jzq3sRjo7HsKyNerJJ5BBCqASSUH5Std+amiHNNKpjlXa/J3eR98pvU/ICys+ZX9JFuAGGIWo2
mYZ60NffBkOUKx7m9lGP5bSfBMIcq2VHkLmTBhyR7xKr6Lqa4uFceMVy8RIeKV2KEPuVxaS4NIGr
yjPl6Y8S/WToF30aKlKvTOWgcwUaX2ml9ln0yfdSJx+ulWFmGZsqEJU/BCaEs1up5q3EaEOPsFyx
R6hV3Pn8GCrbOnp+FDSgcRSlHcio5T3avnatNdIh0kghxbG9w+ir3w0iKJhWyqFx4Bchye4IXCI9
pkmjhimd7sxRPPLJF2sSQonyQAeQtx2Our7zVqIVdsjjWZy6DugjM8Y1eEYcdgn4ANwMXSNNgKzZ
WAFsPLXWtBkbpW/RXGRh2g2HOip2Thpf9aagMhkd77Y1CrHCDn9ZmATSwfpqZQ91+pAiioh77ytO
OeL8Lv1dpvSaGrATpLDc/NblbvSNc+GPIbLJd6IwSriyij+qYpatnodK6YFL5RhegEOdolVpkpKV
LdVxFdFjNd6KGIxYA2SFYgu6VPBFNdy1Smdan1B+YPBYSQhtWEZaExfaRcuacFJG/1XkzGDRQ9es
0bmbwTBI/ag056d3xaFA4LpGLPFgiWqD6mcJ61GuZz5VeOfXhlN6P+r2sEocB/RXRb84au8tP3rK
DewNMIYgy1wYRoOu2GiShyoy3kpjOvf1mK2dcWyPSeTdKSU+Ebz+7iuJYWTWU5BlrdgwnF/0UjdC
l7LmoLAZMrlXN0Q29JfSrGEHzWcv4dZ1pm5bR/066e2twIW36lQWdnkBOWRd6WNcG8pAk4LWmhDn
vSbl2TLaz67InoF7QyutzqBlfRgTkRkspbzmc34jWn6iKL49KdEcCtJ9OGRlqMWattHs8lgn2Q+d
wlUYm9qjqaVnoRae9EJH/lehkey5eEijRptnrKwE/lVbtM9R46xd5hS+ZslRo/Rj+9WSM7IqbsyX
kTCP2v5GLNYJ7ea6jhtS/pKfVJebsUPSg1XxOW6GbaYxjCrglaCv2E7UXL+Y0vjMb7z4oFp+ZZun
61QYD4WNKEXVQuzJDDH6QFhacnHQseCTY35gcVrFw/LGKw7NoXgsinrdZdZaq4vmIUpUeWd2ssal
hOxeb/HHVZ381XvLeZ6rFhTbeapi3sTFmGBpGAKMxH5R08TiMeOKGAF9emxYaZKvk0i+lU46QQ47
10Z3T+UynlKJWUGRk2s/Wy5MT1aUr4TK7jOcfa3tH1uteUi6bN1ziW5MT1vYL3qERFjxitJaaS7x
DpL3w0lvErosX+c8im6h1rCp8Efazk/RnJbIggs6UJkvYxWMcXTnqDoLQHuyVUfK2mtzO1wQRUW2
/SpxNOgDfgxXU/u2XI7ooDaNJx8HT5UhPSIvWZ9sCl2kG7JfD3U93Ou9voEiuPRxf2KFre6zeHyo
vIWNA8JGWXF2BBfgfSVM2crbjZ+5KxyWG5H75yHn3OHuDF0KfxFcpohFRHXfa96DT3gF83P2EFm4
brAL7KKy3OQWYC33UyaSR3x9r9Y0Uas96GplU3LM3UXqRqZnITTFJWZHMNMGbnGMxq3SOHqGIRZP
U/uK/nQnzQ2pOH7YEz0TFmA/s4+cZCy+AMTWbSq6dZ/otAHakLlLZW/1ONqmRuRtvIZBhUd9P5gP
/pIeNMs7un71wOJ5V3T2d6R6BNf6FWNtu8bt8pJUQFgUAjHUz699LHfEAjADqCfHRS7oVq9+xqQt
kBy0zWzuxulJ+Ew+Dbt/H0nCqPUb59m377muv2uiPWhJsja1CNopt9qwEk4wNYTY8j/OnW+TfZ/M
13ycH4auu+MrdTSX7HkYfCcY3fGllCoN4J9QRVUHG91JtXhbx+nKgGh9/TJXPfWq04xHCf36UKxI
WA6JR3yB30MiqGk7qnzP6di8pYqpTXebfgtTDM+OdupgNPUhS4D5bOsBLvVJGPne672HGjliQ1zy
lOa/3R6QCzgyC/Wb9KxmtTNuu3LzrggTyXuyj9CPbot4K4z53p6RbFhtiWIB3VdtsEI3BqN9bDdr
t85rkqmgYVFYhcuINonAA72YG5QhbZjUdZiO2Z1XIiCLMIANqf4lEu3F7Eo8cqqriE/zf5M0UQWN
z/MtBs66IcvnRxR6EsVep17BFs20irCKscnETOcJfGE927/coft1K8GDVh+zYzSlHcdkE997frOz
s/EOG3G6kUYB11cxZg2oUQu0DVXzZNndnS7zn7Hqk2fsaPhXbLfZLQsfypD5w6VcDEYfSWZM09bN
2um8cYueyUe+1x8IQukwwGdHkzCk0n3LWD/Wc9tWLONfMu1v3K0MigTae8IwiMEUR/izZ0e/cvyQ
K/CXQIoPP4+vYpiO3hBtiuUxNxgc8caIwfuJmdQtmAnibt6NvPkqhdoki1xPiPoyW3u1G4qtDGe9
jPnOmwaUf8l+KdPvmc92thlXuuRJMy4ae15nuQfh5BdDkBCHHRGbSHyMUrVGr7JLBTx8h9p1TTxZ
Ra4LcKp0hvkgZGydMD6PYZPwKfgAUzNS/Nqg6wFwjhiwc7Wk16XJz/AjjLcepEAEdNSw3m2GFEn8
NMbYJ4ChPZ8zBcSI887OVrVlbPsy+ehExhgbIRTKzQ3tMs9OBCtut/r5Jqch9kqZY5C0I5YYlLVV
21cb3A+w5PPJkN7XpJCwWwkSWV6OO5df3N6shFiBBhaOcWsk8X1HsnJmux/EQHdhhwfCpTlp1AFH
XPoxeFgIKEq29PWZITaA+5Ynq3WmJxa4B5tzgv/bcY62V+19tJC+ZHalJSA+2gNi12bS3vsmO2H+
DEtNfjNSvngQUutM8cxgdyv32oxPrcElt84McZcUNwwUtYM0I2cVl6CIVG6upf/b8Dib3CTdTYm8
OFPfh8agozjUxM4A/QYmbn46sA5cPclqsGR5KKFcEOCsZFEZl2qRBDYsUh18yYgGEM2Ey32JEtdX
WId9jMO+DFtdYPFJoipA575DWrSpBC7FXoC2tBH46iR2SWQ4m7TuwkYa72bPF2cxtRVmt4ON9TWc
hCygLTq+fblRMbfMjiZOg223u4ICo7shXZxrWftdFcrFU2cizez9DMLzTtTvjJm0rD7sFhCNwy32
Uejrer+BecfCijbeWrU08QZmlR6AiC7jPPp0I1J6gpCA+qJrrsTQrbSoUKexT3OIQREN3aakyX3P
uQN4YPQbQ8pPZBY1CUHtmXgtBKZO+oXR+4iXdkNjRhFM2XLSNZRrQ4Tzz3PU/QJc8Fkr5JRTnsZ8
PVPvElsDwH0/A6XlXm1hK4zzdKs64nbZLZuPVAx4xQtmYCMkORQ3ui6JZtDL5a7QXKTbWjYxgKCg
3aIKTx5KBHtPSWJaW6fGCl8ulV4AGJv+N01BGtQNwHXTpd6hMsn7y1m8EMH29WYyUnkbM7CiIs0/
ZmhY7hMB+aNG1LVUM9RzGJWq+T1LKNDZbrq12/Mas5KYrYA2km5ns0fcjRR337uuFI9uOrgZchZ7
2UcLyYe4NVQkwwz/K9If2Xf7YXH6z9ipc8rzbtEPfr2EIm7Xka1Y/jVGSlUvPDbFPB55RzvsUo1t
3BpXyylEkRXvkLIz70ZGM6Qc2FYxbRbXieOwzJtpK2xZPMyE7h0jzfUIM1Z68zPFpH2wz/GVIfIo
fcapQsex1Q+gRULX3Nc+xRTcZqraYSZnvV4y39wXtT8c2obZipQ4jZvITkpJh3Rrob2MR+Ym6pSZ
meJ8Y/SefM+WQvsmCQygJWl6DFbIS/eRXqgNHgN+Y9X7NZeo538gJ+ZPy9LlHmnhsoGpdZFbd5nx
ayrQmFuLMlbRQM9sx1eEaMAoarez06lDDBBEF3vxy6vH5arrWrU1fbYM7qvouMz1dO8xz5zBMOZ9
Wk3FxtQbYgVyC5TBVtbeMfvkcQTFekgwRq5RZIrtkLPEB2VSERvBrgMt52G7Y3hvZbMgm+9iEHW+
/Z9Nkrr37dxPZ7vS/EfPZGEPBSr7kwm2g1tGzkOgpb78hbSkOSH7zR9GvbIO+ug3v3w/aua7rCXf
aVcxFSO1z7C3Cldq7S83c7twGcio3VVCFT+xpswt0ZzRtIlLeMAdge/6BNeUDoAi8Qz9WB6w0ME5
5QNOqCKjhYd9pFew5cZknzlAiFHWspqiN6dGYJsXnUIHpGCziTdwDMyubbddLC16FEp7jODvy0Dz
OBZpjS7uls6fXhZtaF89sNx1net9mLtDvK9VNp0alHlbw3svvNreOi3xAsHQ6f6TXMxiNWEIXqNG
ddXa7mRyaXHscwZVqGSwMhTZtueIf4yw+5xnkvqrLd/2KD5aCMq5AOUE1k4ahYM/qRz8fW5Gy6Gm
/gKYsSfyInQ8EJmN13ZnhINRWBLZcPJYI5tAoHZcDwU10yaivfybf6fMr1QA5VlDUmHBL0qKwLkY
ugkZPjGrgRg7zIBIpOBkR/ulZ7l6rR13BNzAhn+HFApxbtR2+66yxbGap+i911obSAT8PKzKZV55
CIlPjeub64qA6TuQaqYIkcYkiPcZAkCKc27Tt3eI/dx6qyeMe4NVaAFlXv2ldmtrZ3qLvcnKaXoh
m/LJEyLB+zbEG6xKIJ6cn+4vBAPxuBkp5YQRLN2NRVOpOGvN0mtPczO69+7o/rLyWvzuwYoD2Y4w
fbYFg4IUgH2tIX4+HN3C32eTo6Kzjib2upjJ8lxwKTntdMPc5mf4Sv9pkCQeB4MGKoyVBppvJqtT
TpwKU5mOywprT/5Gmr1FjGylvUprxj2fVy1a9+6GUhG8uCpMZ37l7S6Oo+UD6GlalB0Ei2+Yk78Q
lk7dhEOXJUdc61HCqmWZvwTxGK8LNMPWtopNkgJPxYMbr7BD2q+9X2BOKmwU2MRpzqSUo5FYS2Im
rgUhJXcDipd15hAYFpDmnqfw9unVJP0KnRycrTR1NseENzVNoYfaokuRHbhTv3LrrFiheOEOp1Tw
ITeG9jBneXRpjbG9zkkMGoql5ESUjIDHM/CUrib6UMCOkMbcWoLZqTIoAnxV3r3KjJyUtbIyMxLU
FzHcarqwPsY8L6fGarpmN8MxZoQ0FMN5mR2gU+wY1mlezIipt5xHrCLuoq9Lpdg2HNOhud6YrCN7
XreO6/ICtO3nZEWBvvq9QbqNGYEEtpgnOftgUNymHj8xyVT8vNPwQMyAHTiRox5s6n5CHPY2oSWN
PnsrqSv3OlQ5LD0F0lKgXYnVh0OgY7UmBzhaV0UL3qrFeXezEtcloYTcR7f4dLkx8ip7nb3mJqpH
r3Kam2H4sDPduBBpAG9Fv621cXhg3tI/VBsh9DEFIBkbP9Rv8WBYZL3sDL8RKwzZM05GNAKG5if3
bquZtzT+8m7uxubHgaAKxspdzoYt2qOFGXMvmE7Xpm3a/whO/490c9eq4D//LoX7l5S37e/qloPW
/vsv+l8Y5KbfSof/f4q5h7ZrquFvN2tbr/72X39bdxVdjf3f9m3+UX7/i5Tu73/U38V0JDn/5eG6
Irz/jyzORhf394A33XL+IgXeckBcOTn/WUx3C3gjhpmCYmFauuvf4jX/EfBmWX9ZyEM5J01iIm/K
zP9ETOd4t2qS/5c3xh9DshsvgKhj5jWkef+WeajmAn6awtjnxta/ywH9ioN1NWxgtE/V4htrkox+
EjJ9sDi4cLPFsomSguxAvM9SH059Mlvfo1XHZSAXP2fyMnD3GPWlbfP6vpi9ae9OTfcY3YKasCPZ
DyIt7Icc42xgLcWxBWQKyLZoV0s/8+T7/nzol+grF+bFVWmyKsr6rUj0DN/MLetLxN+zDno9aZEX
QMc+oQnc40X7BQp6UcoCVHFaTOolaEXhLjAMhXlhav7sq/w9IqAimD0qe8XoXZvK5ZbTNdxHHFIY
yMmnqQSBlv6cvuO8fjHq+NlIineqwCamQm9vFNoHWNCeur2fPgJHSoV1LxcSMTSz2eM+aQLTaF/n
RiXAvEp/K+rsU+retZ2tHcpgbjODv3xqkWdb2p3oXW1tlsoM0jI5QCFVK80yvFVU822n9QMaXF8I
2YSI2fQJry7VcTmAdL1EMS8TVci1d3KsFJp0AoZozC5l/oMYXKyIA30R+DC28wAAos86E3nMP0Yr
/Xa19mYu4eemvkU9RATphZE7eqvGLs/tAvg1dyzSoqiSb9KBBEbTst9ZQxu9j8qO3siU4yoSQ3/O
hzwBu1MWkiptpXRVBNUEH+0zIIT4Pa07v1saOrgsro06U2sC8ewwlfz97iIUlRmV/sa5lRAAHIOL
LLna1AvJMo6Q31puXQjUvdNHfmg3QQitVckPJPkPGSQ/Uo0G1E95GzZATG9G4Nhln5JNH+0JSdd2
ctCmNY+JDKHvxS4e1aOblWXQKt2myQXRft+kCPcWCwPMxI/Pd4GVZRhOXS7nICmBViuD0SA25pfB
S6ztUGleMOjYfdJuvsFJoAxlK83XHBssJDgPWMwEvojxhT2AMhTaQlbYjy6tFdlBHNnmNkaGgHjc
vpfKqr9KjUZKRa8fGifrkvQYmIWrX7Iq/cZi85LWvG6WjeWkRm16LvqaQI6Opyju5yY0MVs4zmCs
e5IPdq7Dn6JkdS4b85JJGjPAPvgULRNHh29RFVjG0TWq009tUU9lz6dfpbwHmWrR+d3e81K1A1uO
fdEwPSBzIYQgrZPDePPLjcNpcPKjLrkuCclTWMn4JhHCAI9f8rDjHcScMdlbywD0TyseXVvnedQA
+o8gVnu/FDzcVXmuTVdekMffY16FPJnVmzaBymj0eLJ127uqq54EcU67aaESq11eYpfwr1kYLxFz
UEDmE7BM4XUrrHLHvCmtjYwJKlSy5LGzUpwMbcY3QnrttWVWXxOgGV1Vx/mS1sRk0JK7zmF9pMXP
3oj+FHv5cVG8Xnf2r62hzhXbxQo9/H298DOJkb89SXCxtSN0t47+eOUaMK7wmT8kH5xqJrqViQoq
RAQyhCm2N+LANBmSfxi9/zn/qhbZp1XmqEBjgJpG8BTl0fKiOTNrOx6ctc2HhF4kUQCsfMZ1PvkI
CvmqOLn8bA3rIjSucFDq6qEE8cchRaCNkDZnrmeSNQAWHJi0MoZs/TbKPJ3klnjIwPIwYTvEZvL/
x1WXo3j1yqDwOTzcGtJRb94IRqRuuufIn/0aNecMI92ggTPp532km9oO4U42NpGPa00W3ooz9QWD
FGto612jgVtA8GJQaDZvfcJNoaIPy0l+Cnts9lXOxOViB13/+bNLE+BXLPZ+6F10MpTzNr3IVtmS
fc5DLlYtc9SqjashGPMaqHGkgqAbzW2ZzC+RTH+MFj3oEgn6KIfxVLPUhiO2HHxrNjhAkrPdZmgE
+P1ce/d+O57MKJrWS8O15Fnpe2mhqeoL465jF2ELWl5U60jIWh5ElMFzaI49UVOl47BRlyQM1ZvU
ZdQMW1jek99nPGvkzgXjYKDgZIo1lcmYyfdOxOrJL8r3WkufmZuhOhOeBSwUbJI9H60V1SbSDY4i
eyEAI8udez2O0UAsZfdkZspdG12qgPr4LA2ug6lv38DDs7tRT4FmiI2p+46lr9dm2G/DvIPgkbsY
BeEaI4d+JQOPmMCRrMBusS6jmdH3nmv+ntIbdgNUemOr+Gwj50qkKeBTjmV01Hhe2i75WYbyabGq
82Rn7xMvK5wpxUO1LD/jmd8aG+URwcmLhqpuqOoa7mNwd9JDTmBafKBd3LwVCLlCSe8IWlvttx/z
r/OYVng/f+c5oPONh5r4uatf+F+RlnwLz53WhrFwesuRULh5iR6jqTzn2fwS5+otameMYRiET2ZZ
D4HdQvH7jvabm6YNskr+aELrNnWB3TUvinfyEe5m5eQhLr9vLb699ZXDCaQSVjwC4INxat9QriEO
i3mNOm/zMEf+nt31ZcL+hGtvqOD4C1xXWcxVqscHB37gOs7k3LKO8BLs7Duf4p95ijdY/tE8cMqo
Kul3msqr3ayIsDATXp03cteNWMECEtCmLQpBY12TwsD3kw+WC+vGco8W6suRN0lLf0BMahR1fHb6
yB0o8aEFOnVSg6ndwfXaKAq0a29zlPe0LwWLfXtDHA7nPuXZhznJbvbGIB45DcoZNh0egRrk5vYO
JkOFrDAGXjdEhZXPsiMQ0EG3XnTwVNo/OXQRzSY3nF9+2ia3QKflZ0W20EoIPWxMfnQ/xTlvatNL
Jnu0BCQIsbJhgTWy6JpY4tJJuw38pVFYcfliLLVrbpt8UfdxdxO15EnykPvldHc7KcO+nV5k6UUf
zUBYBullb7f5rpUFwv5sLLfpogM3MVvB3DHUKEIpVhRF+BtXYmyvWs5ZAgBAYBgE1wTvHdtC/6jm
G0A4VO9FJfsNc/O2GzucWmX8LbOWx4/jKss4/QWJrdDJTI4oUaodJoPmJCrX3Mx1Y6wTy2+3mskJ
mQ78w1A8mq7Fyp9anN3a0Az3I2RRQGboRaTuxowN/ShdvjVolQM8Syi2RnVGK4RoQbDfJuzZwSLR
exctZ6RMeLuFKT8b6krDvODinTpbC6qZ3+l1HGfo3dogd5OnQQNGnhse1MzCI2nc7hfHjL8rlb3H
Iz1rw23ETghUO3WmVCFHFjrCEoQ9Qny7Qkxw9eCn1rFT3vBXfR83BEWRG7l8EoOJE9Wctc9YcJlZ
Co1Tq/FFzyNr2v85DCWQ3BrZ2F2R2KRcDOOacAUEFB1zkIo6iEmj3fqRma3lkHHt2rm/GTqe4Ju4
6wCr4DEQJD/xyOcPkDPfvPVXMmmILFkSrKnSsVbSmCoCLbmJ0nTibcxwh4sk6bZ/drT/aFH9n2WQ
/7e/6n/lskoM/39v7jpVZYzP6eNfl1J+yz9WUt3/C5jHwEHElxgEip3w7yup5/5F4jcLJ3Xm1FoJ
h3Tqf/i7bOMvwqds39Vx9hM7Ti71/91I9b9swDaDPhEKhv805fwn9i79T1nFP62k/O3CoYqMaleb
V/FnLf/nGH7CcSuDMoLiRHooIXcI3DwRTo2BDasWGdc6AQ8pWlHkC8XYv0w40afVIrOkmghpQxn/
nFb+KH47CU0vD46CSgx7Zx4/yQAo3I/MjyrG6rSwnA+m35vKvabkYJPG7bJgvJwVi01qZ1S1+mhQ
W/Q6zKddHm1FnQo6KOYEhW2gVKPr5zkzgZJR2zotI4Emr3kLkZfa9Vhc27ZT49npDOA9zbfyx6Eb
/g91Z7IcOZIm6VcZ6fOgBYthO/TF94VO0uncLxAGGWEADPtqwNPP51kt1VEhmVkyITKHOVZKBUmH
AwYz/VU/9WBSxXOWrGWh2jPJMvGsiiw1DlPopuWLmFNyA6uADcAOLdAV6VoZ+Yh9MQ99qF/FyITg
BGHK3dGBIcCf6RC7PxtGJmeM+fqU3FkLHBprZVcHX15lBDcY4wYC+pkDCjQa+uGYRbCB1tFAdngB
+KErTm1Gh9JRD/QQkPQdzUnt5hHh4MjJ25zXTVrm3St9yrZ/K9H4YzLPbtnupFXZ7RczkEruYyPN
WZf7MXtn+gBeViUGgwJadk2yYsRunma/LlHtXNIEdlBNn/Cn2y2Ec721cvhVy5m01uNodphcgpy6
LZPGh30dk/daBtKtEhQ0rZh0pdHIDFK5kTS+J0k1YEguRKFXgC2ZOkNLJFOTzKON29VLApfFKGBU
jG2LOYqEnT4vclpUnBuPuNc1ixNj51ujaE9k59Xk9RFku8lLaT2ilLbBdjkz9tctfynJZVThg+iG
bFjhaDJ2vk6DtYPs9sCdbMwblcm6e7R9rSACTYVl9Jc8p0lz2wc+NLeFN05lc+8GlSxvOze/Tn1T
jvcuFB4nx/e5CGU+E3qHJTR2V7ilpV5qh/r1ZVADrFgF9KYHZOq9OGQCIfog+BpkpMR+ZL494bcY
GP1iZZ2oIbVSK+o3nsEuYjWEiIQPeRd0N7M1jOLN4k5wXsbKVDEvyibHhjnoPocQ41gcLIDrgdJ7
EiM79EPZdjDawshnmOcOBWkgqY0xvvctigu5+xWBALxGeLQrTpmWfhcO/vDFXOmxv3T43tkgFcHQ
rgHgRDTVDoLzEccp7e9CCPJk7rSYMnwFdoLtlB6LZBf1LZxf0sEDSChnbgy8nXSUtYAEyhD0ucUn
nxg/txWOXcpaRHoy/WbW+drQMpjyle1ZVXzwzHQ0vAXvZ5HFKxQ63fiMvat0hoLIsFE4K+ExkBX4
rXFavYSDyZiXk7NKpu/owqX7rfPF2LBGlK4ySWk2KpVXqtTgduskLSuMXsFMVnZpTGHwR1mUF/mn
OLB8I1hmYWSXm4qwFgacBBW6LA+9QawnWfSZzt0LE3M2iXoaG+e9cibd7BzGTYC/TUivj1FuXRnO
Ft0H5IbCIXsaKr9wF2HhtIxnqyjuOAp27J1NVwa4GyKRszPHfYLLRYCYDG3lFst4chN1qOFphvcY
V1qufRpUX1K3wOG6SRg7BemSrDUZH0HgblY1YXSBZdAo2E+2BcHQTZKYHEEnH7njFeDExMLoJk29
7SeaEV9HducEdAZTsPWMqunVg5WRbGtNQ/BjXQIpWilFAJVzTCleOaJhotaW3gsVA02MVN7ftLpN
T5PTqvlmhJC8aBi1XkUL8p5bsCAWVC9ixwYTMisBMJsM5Wst5XxLmLZgVlWHRzcTw10bItvy+Cvz
jiDeLIE7aJwARaK9ZW85/iKuoEHMZWK8ydno3lRbO3sc7E64KLPGx3XFtPKLQD/eoZJ/uzCngERS
iPHIG61hj/2NOKRVRXf1TH3HAkq6fA4Aca9Um1neLpramnnLrM54PPLvCnbEK1N5p1/gbZzQ8YxS
u/t+brRcR9zEzl1b2xWg2VhLoKHTCB8faqR7IoJSflOGMl+VjnKXnXMtMZ1oNV1so89PlD2Rsezq
qdpjX6zDBQ+BOZ0i6IhUIzN+CXBdj21cwCSIDO8UGVD37rwu6S8lVVbZvhxbkx/lOg+TU8eA7OF9
9bGCg0LBGRznqczxFZpow/eIoo9KITqBJvQfGelZwUJFOR3AQSwLhoSujXcvboz2SWLgsxeMUtPu
Bd6meoZe0PRrPgMhxZD6SkgPojrVlTVhXoQVN5IBvpNmwLrAGQYUuBU/6C4zDlnSy5u6tFl/xFAe
a1E00UWIwThOcuaJ9AwuCO4v7EF1PmT7MbLYlkI4UUxVCncmm+MYb6Yqmpu+F+F9BDX/0GYdYMQx
ng4NPEqsPVl6lzN7fg06P8oXsNcBUbfmzCdo26eBIfbCaybjFMwGxuLRtY+e6LBANzY3mQ3FA4WH
bFvWBuWi5iW2TvrG5F4m4DTaefLlGRXtG9hs5laqc+O36UWNqbkrcf7shWPg0EKFbNGdo+BVkvF+
s6faWxOz595py+QQTZV8M2dggeRVxltbZ9MxGoer1DNmeyjwDvNKmRDfNIh8Oha9lFRGZSvTz3rY
pQlU+yAZ/AdvnntBtKweVpCaPByGvbnB3MG6wREj/RApqUgCNJzU0Y0NdNGq5w7NzPBiYrK6MzFl
spl3guOYzvWuL6Z0m0Mge8LRVi4R1r2N8tMQhm3Gbdnb1gezQhYDXEuXiDEGDmAsba824vGCd7oF
qyZVezThjsDH7MBldMLbqI6DD+lN3xVhjjVHDf/cSSG2vZX0R+AbpDzoVDg3ZqgeosSNl7O4HowH
5Pe7wSnz2wz+15W+el8zboWZTQZxsqJkFbGZWlTWUBx66Oo7Zg7FtU7TWDlyitF1BTWxyB6LlvHl
MbVciGRpXgfHsIQ5r/3Bf2wtjmDKbL0bEqv+2Uij/IUTcHEIuS1ZLpsll0ndC0od1hV2cWL6QrzI
uSPVaOaoKm2PC9G0rUcAlNDVBUY4WlmyVVkExckL2ZJ2IIZSYh0rpxZvbjd8xtFkbim7wp+WpemO
0SLxwqa3cL3Kz27o0segsYYNCQW5S/M0Y72d7HULy2Up4/rAONK8qbpmA2Etv5+wJ+1bn2xplaT4
I/NuBxrRX80B1OLWH8sb0QPQ4QKCkbPqWuIOTwOn3FASGIJ3iyzPuS9T1dyKPpLfmVCl7wyOywc/
9+t1i267G7x4ukEYroyFy9tCs9gFPqikMs6/itlqnmtG7zhvRMjFN+8LBj58Yt1eYDBDjGelWXUI
ul4wxzszSnD35sSh8nkkgViE+bszYyXBkhb1GAQ7kd5LIjX2QneiO6OQxzghPfdYMkja8LJmht3M
zdqts8Zd4pQdAgSRJjzSZ0TmNIS4NhYeonqZ3ndtYvL26mk6cnTENrCtxXSEh8P4qxvKE5wYUm4p
d+zSMTz24VE9ODj7NJRZnVCWWEJXk2P8wzA8zCKOxXtHjpN76dIWUdcdDOOjp7f4GGVtf9s4JVHL
GljAhvfrvPQ9VX7GUw9BIiDpnUH4euK2Jmem4WSpa5ComKxwhZ8y4jjUzuhZ0JgpDGjXAK4RSYlG
nEqXvZvLdmhLw478jvWQqQqd5UQkbC9aOpxatnHFtozzELtCFxMdE4trgAIj9xgnwbEl4fgytCNJ
2CgkG+o5xUnzzOEeZPBWUK1hxEa0CSXmEAPka47064L37sgC1xkHi4Vhe+67BCu/wQDQHyG4mBtI
afZbgF+AzGLBu8Mr8pW0/eJH3Jm3CirGxuPFcqLNE4ik30xHJt75JoB4d7Tm+q4TlvVQuX26ExSD
79Gug1cvbp+KuMaBHfUhJqoMSDEx7GhVGyiKbL320imyjWmGxZaoebH0jEhc4pmS+tBrhwtmvdde
5S4sOHb2fUtfMgRAFhyMGzyPDSGlWDsLzlrNg5RptnPrGA5WqzgsZDA/6joPuEhjBFo7BGA3atpm
bBcqli3D4dBW2FbIzOvXfuzegZZnR1fBZo9l7vGQF2+dTmJ2hTNIrayE6hU44zyuHO0zt3PmijzU
ENx0WLyOcZI8gEIlBVOVkbe3FDexndoXxeTzsUioPmRwpF5Zft8L36234MQ0IV72NoYVrOoaMyum
YQd/Y/vBDTbtKIiZ1xRllw9TWfmrMuNaN4hhG/KT6h6oRLzsB0qGCICKFZsBEH66uvyRSpCOmA4u
+fWr1ZDzby7Ej8yRJiFOHW8gmbdw3QGf50NrLXoYHw++Nl4H5UULJ2ABW8jaTY9FRvdSlzozIzg9
gRGrQK87dj4uVZVHtyOD22xp5Wm0we3THyyIpOmimRGsswlpYtH7TbZ0O0kqXVenoBrVvmg9aFvk
CS+c8q2lZJtxva3HnKORg/wVT2es6vIsy8C4dADdtrMRhsfuSgiXkXMdKLGWon81T60Rhx8hKt4Z
WB+bADFyRA7nHDlyco23zsgV/TC+XLQm5ubKByOp86y/iHb6bMW1L8Ku1ICUUJdAGBMvX7lyhB5V
wX25ywj4nfk/aRILlb9jcU33FN4XTxx2hzdqvsz7KKrdo8J1vC4Mmd/Rv5YeMOJr3PD4XVkd8m1b
6B4bU1EenVS/CM4FL2GZxO+BTQ7R0pa/5tH0lwOvGOS/NjvMDjOBsuwfS6s7W40SDDBSDQNa1x/K
G+YDr5l+Z5mVeCNsX6yzJKzu5FDq54qH5aUaEFQXYcOuDuh7T4m68VyXFqYi4JynPGXZbThHf3gx
GwJqk1YSrCl8cDFsKZRCSJ8pL6QqKSFzGKsD2KGJ4JR7znUqNjrs1Ebn9rSRoMAgrpTeKycUfSLM
hRXcgTKy7ViHD5UZTCeAB49z2JFrcJFHC9may0TTlhB28VF7hrjpokbue3XFEVK5sYoy6LqVdKJV
WFi3g9ViY/bnp4qhwrorpM0qhZyQNN0dC/b4fW6u4QeL6NY2kU6wdyqAVJBcGKIK18LG0N2LrLe2
vi2G54SB9Nqqri8VLwRyGnXtGjJXvY3yonwsQ++cOp21xJkr9/bEHjluWgi+gQOFt7LDdaUi6xRa
SPXlyLneMM3+vvFxWaGHuglHtCkE/Ws1HtY0WTeEJ+AcT8y1/NK9PrIVj7FlfoDZlDsZMK+O+CYA
7mCrTpuEEIGvCILUItj1MVlp3uf9sdTtdJ5DBrCUYQC0h1Ox1ZbTsNGI3QMfvjjgZMIy4VQ1G0/7
0a1aakrM/pBYij6z0uwfw65gmjYmBoJumz+YJt6wQF1ZfrIW76OayJZCaVwlRQQthXzZNfxKd1mN
M/OuzaJh2/jVVzNbsCaYrYF1rXymE63zXfmOs4qsEvALWYgQ/lxDWg6PSbEqfYj+iJbhRvMsHsWM
I1/5vXi1gxnO1Vz7RNlty1qh2+CABaB83zTwQ1h2SbMXvjLQGBIhd74kHSURPr9hHnOXmTbcNexz
j+0N7c4kDYp8UWPROphsosk/lunKnMgGcXQFNW22/UueNhUAg9G7b+Pa2mZWARrad6NnXsnR2nA8
9QGaEpvyTFAbdgI1VQFmchOCzm4wo3llJFRDXSESGOT7GMNB1XFgdIuMZgdzOIrRM7eoWWD2+tm4
DgBPFRAbWi296C5sZtgSdlLg65PZ/N31FM75JOL64tsAddTLN7QUCZAjvRKhUewWVRfmIEYSi4kR
wcB1SrZo5TnuRxNX1k0whsmm1ozPFzCEg7WFVWCbpHXxOqW45c2qVzu7MQ3QH3V37+oiOU1TwZOq
AWbQp1ZsREXjURu5IGBFDH/GKv1gYXfBdEf+1n5hPDFuCjsuH0XCMZGZe9acMj8E9QZk8a6mYWnL
C4T4POGwLy+7lnF1ee6smP2rNzga+gF3z1fk2/MNbUrj3o6RZTBN2P3Wz2WwSbKpWttB4i6ux/sT
wy9QiWE4bIwiH9fkgQICZeOIK09ERbBOHTBhaKboYLY3nl1y2pf4yplAdSY12Yn5ltgE85k0N+dV
5TnzQrfSPI8NEBoD/tlD3M/6JlRehdEXgNIId3hRhQOgIUMSpO8K3oZhOjKU4dy+0QAy8QKUEXO0
1HtvOt2tSLg0G5u5NzyI2uHNZzuURgMaUJxP6cZAne+3NIiNT1ZCjRMVXY5BnDeA/EKVa3T26Gxa
G10842oMrzKnwl7JO8kxgq+SqCHo6sFCm0DQ8fZmREJlBWIfEG9/bYehcxeSDuC/tUd844IMr+td
S/aYuLlChguIuG9tybF2tvNuL9NYcjiKm7Wd98lM/mWA+JR71/2z7q0Pg1HPozcpAQ7XmcenuOU4
iw2ELBko3mNtmez83AosrGiurIjaQ/yJtEuzT55X6VLW08coM/u2H9lv2pNgR2kE+hL0AAJzLEHf
S6MbvkzS1fwZvvUuk2uiBoX5LLwqvIExbUDcnBprG3ix+4wTibqoWDh3Zu0PJ51qufe8KyG6FwjG
WCGMpYpmZ4shGph/SyVNUbbnICuxC3N3ck51saJ4mAK8yH7PPab2VcKmg8hg8dIOmkEeOaAl0I9g
SV/mjRIwO3LACMiMzpdK03HH1vZ7kPQ3RtpWS1Sjz6DpbxO+cPDDfmPdz04lQHVbNUNU8gFxCtoU
JrNaoTrbB+XNzcbjflywL+hh7Pf4s7gYSR88C82Crnm5smepziIpD1VyfVFkxtmufPSypnjE87wq
Jv1NSuOtLR12TtQ3vOVp/QWumGbILLDYgaTVxhY2GQgL2M3IrPrCNqLGk+egSUxOdzHaMIrxowfM
1QEHnCi9kRuicBx5PcW5Cqr8D/rJIImkmO5cFk3PQRaPe0SdIYefYpQJFAdVOA1NWa71MdUsFxzM
XSzx80UL9Ajy7+kKMe00dzX7QILoxl636kzvGPmlqQu4k83Xhk6d55oO41VjUpqGYB4vvQalozHm
5L4Z4+pGum508gLHW9eWeEBDf6ol/PjKMJ7cyXVvo6A+MemeVzxPySpMdHBvXHMunqlvkW3o7aP0
e6v74aT8NvvsCDix1az02scDxSau4BgEBn9PqSa8gMkwFxRRDOtOZ/lDkKrg3bI0Gysbe3tRlu1e
K92+O4OdVRTH2hy1XfwQTlvg9mi84zypFnMuQCrBYW9HSQKkzBxwKyOTEJqHlR1p6IoohlH+XeFi
PGaH1T6Ybg/hp0rHh1LwUI5zYNGwJ7vnKKWPk6NQ9jKq6yIrFCjz3BpR19zccpZRImmKSgwe4tq2
ad2bwBzoijRsWrUTBQfY6BlPi/fAQmAtJ5dfSEXkorZAF7RIAmcSqs1qpB6HX4OMRviivZcin7et
nNJTELnjo7RCY9ubjnfbUviDijbB0DPm+o/1PN7JOkzv4df2axIWDbSTyX1kEFVuKwS7Q4ctbNeF
pBcYoLn73EIMjkp1M3qt3OoARZpCPfKnZh7dNNk4H/qBzWTBx/o+B/4PhjfYzrIIQyeTJjAb9KLg
/TPSB11eqSopMRsjGaMnSrVRatO65Tugrmppzc346NuTT/7dcMNjS/0LZ4mBJ2GYSJJgFmQ9joR7
GjIX708b4RFa5DN97EpbUCBaOlEWIq089nZEl6GYiBNDMESXnEhtplz4v1XSektZEl/pnPLMiwT+
E+hvD7NIM68FCP0DEcxrQqT3700nYHHwAs52kYQlWxTVqYA0to5gBWO4uURuGd27bWQdESQiH+Ws
y+kuKJNbdN146VOm99hVU7ehDoN6Po9mxLUT1AORLNR1eFTJI5SDCx3C+V1JwektH4T9UWtF7LUz
3AZKuqib+ZSVvPWnkmrJHqhyl5Un6mrdnbJzTvDMqU7BkBf3wCrFhx0bKJ5IHvohFcm8GDriQTRw
Djujj/wbpi45O8DeQZkN428UBn8UqlawEJy4eUaYov01pOb8rvOIDbh2O8BC4FW4CCv69VQ5FTtC
U1REzBUYLdilq8bGdAIFlNwwqLxzgxMNNj87oV1Qk0asrPETe9B4Ow2hgXrWvIaAD6GduTX4z779
BqBv3HO8Awp8jRmQ/zzXHnPfyi1Ptstuf1b+QHbPgzDOYRXEmj3H43ge+EWIN02TN8l6JuYBzLHI
bcJXBBOq6sxQOX/At8n+P1TCeeRg74mbIi+9lyn1I7B3NYasctny2gSRQIonwd0xd91n3mHoQUGB
yLMM3BTc3gyNxn0t6r5gJjs1ot6lSQYzUIrGolYDWOanRU0RQ9rOjoZ7MVCAsyA9+dCIwL42MPuj
3OjSGquNdgeKKcLE7UxSjsWYkkugwEuOtvPQdjhzNi0FmU8lnc/UIfVlvdI4Ae+ZxBWbUnvyYDAG
k/uEiFW3jPEvQy6O4+C9F8YfZXcj/5vCZm4Yj8309Yt+6enZODWzAaWn9PszSyb6ghUQ7zNyu9ZL
s84uxtTGn74bnodq9r9NDIfWdjziOyqC+4YbCfw2RrNVy6zjIclpMeUhiKYbi1wYs3CrdR4NCMjQ
0iKGHVXWiP7GzaLye1mI8WwOLk/9wIltpLXJd8+NkuKVcgXH3PdplZ5TDrAK0Wcss4VHpDJYz2E5
3IpxiOeDicAUPioRNKg6MWvDhyMMyq7HPmrbtQiLGcJXyliB9Zfja6YdLiJWZpQdrxOqum3jzkCR
SvP+AvoID2XqC3N4isO2ofy3EzL+7AwQ0pjAuHtccowcUdryh01SM915gus6O/ZwN2Aa3aqIrdnO
GtribeLltQEgmnKK7txs65YFwINipMCSkXsyoJwaw2PiGS6B5tE+dobZrFQ8ovll9pcYWdCvS6Lb
hCMlTTGAdupnb12OCntSQj1wPoduDKe5TplbAHy0WuPAgmc1u6rZtEz3tuU8mruiFvOpTFIwiLbI
l4R9px8hL4JLTljFXmIr8Aib++Ks2FR/mt4sHuGABC9mjeE1NMBtkgdikhsVIr7pbS8/UJAcfRI/
7DZTSl8f7BBn3E41o1pG726+YMBW3xCIwJsl6z9gSkjNJx/f49fQ1vluqBlOqbF9EQMAFBqSDm4J
/pYRXVs/dpqIDsZH/QPVE69pe91eUbX3Vpb6Q1ZteQSBZv0wUrfbx/gB72FcoPMkkt0uK7S5VDGb
TTvFVwbFxTsQ+w22dcEjOw7senPuIoAEQ3meJm3vYsMrT7XU3MKGnqi1wWQBqQvbgs3O4JTwVO5z
33rJdGy/155tfUs97h+FJxpcxOTdhiTRdhTvYaAqSGoPYop2/pwC7qQlYs9s5sK2G0L/lPnjFk8C
XzFp5xMtxUyx+mEKjk7iBDvufv/SF5355ElGkvTCei9lMfGaTQqIij3mRZLEAx6GpKYGgSXKvMU1
gzWaGe1LgJf6UTaxPpm2Blh/lcIdz3liRbIfuxpGfA/fHcNox5nVVrXPzJB60atj0GYoA4MDKg0+
AGz+TyrsD+bo+xcj693lNMwPUW1+6UlCgukSRAcLtfVQmHPPEc0F+Rgl1trFGreakSiWPLsFrhCE
uJqpGzZ180hwG1h/4Ae7FoDAXmUu1tbSoW9sZvEihJeXz5BHiM365ecsbZYMFke5COi0fQCOWi49
gVQz+Y6/kXqY++vW5vrQqey2LjEDeHQi7U3p8HhJh82+HB2P+UscnxqrttcIS98aSPZsQ+E3E9Bu
qKruBoa7E6SsksKwHY+XvWNUjYn6uonH8lff9fYcPEzgMddx1ZLw9rDrO33/DL8s+dGVGpIRdqTm
Kxy0feqquvym69m5jCwBAIBD63EAtfUDn4L+UYelv8sNuswY8T0Ip6+PlRnpG8PmMcOF+4BB8T71
e/cpCaM1bwWT7Z+T7VUUfpNlLJeBXVdHIAtesi2MprpjFFWvDBf/iWOQzIvG2X5I06khkq4/JxV/
DKAUzSVQo2JHC/ajJ7xyMzhtfY9uOYwb2rGTx6i1bmQwM/QVlUdPr9Y9CCS6EjdXFRbnJiPWhPcn
EeoiWMaD3zIN1swCtIb/YgqHHYhTUhst09cgjmMLZ2jaPasyQ3kWyn3k1ph4bwsFB8PzdkqyYtRD
zZ80zP5Nj38M0Y8oeFDMIHxyN1yTqKRBGu7j1ZAI+nptcyo/hSJ07us83QZdSxuuY44f3PXGamaH
dkmvGAUKA9lQjvzbII7GnVuy/SDoLD40M4Od57TsrwZt0XvNyPwiDQXLnznbI8xCe5+00UQZLeBP
qs9TnDOiTEcgh4X9UjJK2KVZ+Gq2kXfwo1AcyZ4J4voy/o76gR4b54ayqJLi8V/U5ejGXyTYQXZE
SY5tOhhEtO0UFnuLZ/Zm5mLcaUPOkA2vdn2ZYIndtLgzFzDeUnBPqgIJ2TOuauf6wt0SvXVdCcks
7mLnrum9DjmPdBi7RSLEnHyyfhfONl1itaT3xxDezvBmwGZO2t1QPtYnz3k3xQdzltnKJ3i/VRXZ
/Da03ZPTdc2psAY32jaMW6ZVUpuFdVC+iq8xoGqEZA2RFZIxA1Ma+UCwGfow1zg3NkxIip3n+TM0
2hQ6rWVoyuW62XOSt9REzY5Zs3QybjuaeLofedB79HhS4EAx2JTV6ZkeY7s7eW3tPvolrjyYU3MP
WWzgUGM+izGIgjN9QNK5MTxeiruY4e4ABz43FR/U7sJJH0qpXbzfTuIGp17hOjqK3ImGFRBU6hQp
qc67b91kC+MOL1kmz4xyx3Hd1UJ0n5MIaavd4H0z8tfZIDBLvSe1Hxie0DhTat4HGtP8+COsTEv9
iI3RiIjEMorheZp3LjvYQ+/WhNSnClmDZHK+8ox2vsVxDf+AuCc1QqF3QY+ZqfTDWngkBDPdmjzz
uzhomxjWRR7Wq87CPaPDilR/nfsbOljUakjMcNWbIrp0tr0rvBFNER+Oa6mblFH5D7Sk5t33JufD
pSPORzyzPbUq0kl/R6GYvuZqtA6dGXofg+V0tLPmZZXdlxOHrQ11pKk46LLmnpta1/6qkhgOeBlS
doozipFNRIIBq5phbgmHTD+8a/OpFiJiuZ5y0jhsrUN3rRkfuQsduNamCzgT5bKvdi7vEr3OywZi
9NAzbnjozMj+EWhv2Df03u2UDrH20Do7wUUrMWICwRHIbGcKTnV3lJ5N4+qSoYQ7QVWpSrnq8jS1
7ZsYqLn92teU3htQuYHXfmH6jFHTyD02/fBoEJbOaJgmmIwpzqFtrb6vZmOi/jSlFQMnVxbUvX/b
JdonEhaGUFVlNSZssYOg6x8EaTwnxV5ouiTC8IlIJH/Kc3HFrQm1ldtJ6uzFb+wWGmzVk1Py/Wi8
RdIeW4MjVF5ND7EDvMqLJOT0YngryhliHfwunAVOiIoET9OniiBek2HO5QuLY6Ze2pbDl2kKGOmh
nhog3hwby904hBa6QgH1F5tGVkremQY83m49BGUz3BH3b9QjHiLnGv+qosG4/4+rE/n/gSH77v+3
xg3vb/PDp4/sA2/dv5qyr//kf0zZpIQdwRvODejWwK79D1N2GP6nJ0zPN33fczwfz/I/Tdn+fzoE
iykxhM7Dqx/61j9d2SbZYte2rglhvNz8Y/f/rnWDX/9TTvi/OzcCO7zmhz8/HhKma//1H9b/BioQ
Z7OKnD3nwwQbJ0rJAjdN/uBPPfzuEG8hSRfbePH0UK3yBjkIF0Kt9jMK8lnPRsnIr2uQQpmoZSMj
YLTSHONE3HX2Kaqs4KPq23Efm4gq6yjIoctZV21PjEmX4A7jrPLHHUjwXH4v/7tQ5H+B9LjH+Nfx
R9pcrz/9KOa/fpSQwIUrUB05KbJCLSZMkN9bHyMsxDuDKJVr2w7sao5OPS/L1r2RTQVrKgqQ4VY6
7qvvCJrB80yyj71irdOAWV0H4LjATnfCo2e/jUYQ3PK8Be9819k2ThxqqJxK5x8BDpJ2pcFuvE1j
F2x63zRe+iEQNzMi3+HvP+I1tP0/Dvp/flnBL2Huceywrrmpu8dWmfmEHefu0xYF4GkWO+Nb6pTZ
izvDLVg0MqRsMY8qf/xHpc5fXl6CAH/6u69X/acbRbtFV49BCQTWmY37ELfLWx220etAt4jxb34H
mfk//R08PT//jsiotOtB3+TmcvSnD7fxW9IY5sWnJRqvVqKz5d9fSPt6e//Zlbz+BT99miL1nQRu
KdZQrt4PHz/zQxM15lPX2PSITIM/7aq0h+KCs804k9f071So4Vq5jTSfgrA2n6yhD76hJdAow/YL
TbITYbpsKhsaDYFNylWxqnyR3R6BxmWq/DfX6C8e2OD6/fz0l9PZFAuJwAcu0N0W4XzANXv8+6vy
Vz/6+t9/+tG8eBs7muZuO4HclHGxs1T1b+7cv/rRv1T7qI4k7zj23ZZc050F1NHs5W9eEPtf/2qa
IUjGOzV/dauwa9Yrp2SR/me65v4ft8PPK8pf/dG/rI2+mCQODX6yyhLIeDgvi2b9ez/617XKy4QQ
edltbQr6bIezo9mvfutH+78sEsrW9uyDQNnikduoKWXgN/2bx+YvLsi1gurnGwSOTZITESIcVjvn
2E6/N5H4vQvi//LoY0u4NtLiYSuD8FuZoYJ69envL8hfrFz+r8862X+BxssNgoefMezsM5q0s/ZR
14X88fe/46+uzC9Ppe5tk35ffkcXDxwaXVGHHxC58t/8Tq+/9qcnM0uxy4whd2I+QfdsODQxl0bh
+L0//peHk+7cTFhKdYxq8N4EnHUw/v/ej/7l4WwzWJhMFSBGa3MlJWEPcAyX3/vZvzyeuMIaKwPH
iWGnveQVEVFz2Pzej/7l8QyKktkGWvgW096Kjgj0/ObfXOzrDf0nb54r+uXnr3I2EgSVLmdRUeP0
EuWKOqhGhc/ZgFXLly4FU6jUN7/1ObxfHtiG8Y6KZ56qMW+WsyUx0Ih/8zn+4o6/7nR//hwC2V3a
UnKJOMcXo9hacfJ7d7v3ywOLysOpKmzabUwFSACnnX7z37sevzymeRUJO2nadms6/nNnDq+eZ9/9
/Y++/nF/9r3+8ohOsYjgDFbtFsimu3EEnP+ujIp9EtLr6WNR2v0fzs6jOW6dWaC/iFVMYNhO4gQl
W8G+3rBsX5k5JxC//p1xvYUuP41UNVuVijNDAk0A3X3Ox59z6b4vJmtqjrR+oO0NfPaB7Bo5OAcz
I698qov5CmzdKShh5L3UUPURvk7l/28QL64fL33vxWwNfc4MZ2B7QWO2VLOF8ltB+8V1awBnMV9r
xKBF03NTctNBZVSfBezXhQKxmK90Q5axUTdd0Aq9pWvC9iElU/991dMUiwlqIHqegY51gaO8E4WN
AViH6+6JWExQWVkMwvw8UARQRcepjvCuPtsNXHiaZ+rV29lPugm9adUzkfwRMy+cdeoPr7slizna
RXE0jePQBcIoXkAL/QJ5fuXdXszRhnMrbMSyC8yzyMijAt+cNtd968W0JLVZUX/Gg8xo6q+piJ+d
KwfgYkpWuSjjuCNmeaV1cHSPmuqvn3zn8yh7J2aJxZyEs2PB6GNsj5ZrbSovZGHEOnc9TXH+hfYq
0PQOadJ1MjbkyrI4te+Nrkn3bh/pNNPMYzacYRri++BJ75+4gOgNssDaAJB1HyoqXOJ1ltTuTyqQ
ta8Jqew9TpH0WaebhGT1OcFP4Yc0/PGgLE71I0h2u7bJ8mAYm3hfxwmEhkQ3in/PKchdl83zfjJd
+kI1akVAatiAHqaKuvkuHV6TXJA5nLwOLHRam+6TBI6wpVhc/6rNDuZ43dP6ryZp+J5SV2e6boUj
FqFHH+kk9EdeVuTDqXk8C1Cc64arvQg9oC84N6WaIah97ytN7V85FL3y0ou4QyGf5tAe0wVhcoDV
uOEQ9LqJYC/CjpNHYV9zlA/JUOHTSYZf9HRdd6/tRdQx6qpwMjfvAtxgVKJ2GWCScHj8ZDa8Pxns
RdxxKexUnOJ2gVWFp8pG3mqG172zz2d/b6MlnUBhV5QlY2SYqDmy6ThFXhBtr/vii9CDlN0rh5hZ
TD3uNnXmk+rCK4fJIvYghfB8zv14mINFl42xNiN5XVizF7EntjJJyo+OTloUt1KivEWg8vENMc5z
7524Zi/mpDb6YwPYrgugJ8Q/SeLQ5AGeFZVk6D/lxAJ71SsPpQXdPkcqvkEd6dDJP/7080N958Ot
xaw9pw7VMKbE69iYTrqlvC1uzvy6t+PZ0Px2KFFwWtou55ssu/2NkDcT/YTXfe/FxOWdG88VSJ9g
IKdQKUz2kXXds7YW8zYZJvrUC4aRYSdPJAuh7CbTlTdkMW3pUs6GnGpMrq3d08UeFGAWr7sji2kL
K6KVaVh1QWm2D3mFIQjJ6ydj9NIoWUzaopOtIc5fW0IgbKKj0bxe96UXU9bDq6V6AXnDoG2lN6Fh
f3oEfOk7L6ZsPZYl7edcmuLNBpmK1XSfhLDzQHhvziwmLJBObWJg9wcrdKm6dZCS4bKEfuxa8r62
8ui6/fCShurohhJxwxOl9gk2Yjh+8VL6zz6+88b5Fr/zK/4mJt6c0phaWQ95EzE3lXK2mSvVlrOV
kPM9fE963Rdrs571Y1u27lGOkhpSYcM+pLHwj+03znUvm7929TffopagIWar+DshbmO9RJmRfPob
LwwBczmTrbqeKp03mQIbIIv+oTbiTzbQ5qXbt5jJUTa0vm3wHuunjLIuDgHzu4oCKnSGWbijoAyP
twIKtK2hHBymiQIOOlu0g5d0/iNtB+0/c+KUxwYl3IYWIP/B1WZo3xO3glItmrMp4dsqOzJvKk1M
p8Jtw0+e/Pt3xfAXd0WV2pSWw9gGRl3oR6GoKRZ+524+HleXrr64Ly09TyBYaD2j5g8vbrYWk777
+NLnS/zviKX5579vE2MaTH+uPZq2tcp7tGXXH2mOsX5SxKpd9e1Nc/ER0DXMxi14qg3LTJb6YA4+
m3Dv3xiyd//99nmV5gOJMOYbjQSz/4M0wFUP1Pw7RN/MoTmJs96hOw4EAi1A40yVm9n3n5xHX/ra
izBq0Lvrj27GVrFzbnVVPtoedWkfP9BL114EUtvWc8tzmJ/tTEcuAgeKzp1/r7q2sVjYQD4yaedm
NvEKOI7h1K+LWMbXfXFjsa6xRSwaQTPVAcVjRTXnSOMmubdPYuLfy/zvQDeNxeIGoWqRko8bDo0P
Mt0DRLkaB42mXN3fdeaQHA3JGRp9FvoJgmh3n1j0faNwROlrlvOJ/NJw6NPE2xuSNv+RwtsNdZvp
fk4t47p1o7EIIuyTJ68R83CY69YKdIYg6hvd+OT+nn/oezdgEUTCFsOpUyszoJFbHsdWFIdU6+v7
XnioXyKzUoB3KH79eKhc+rTz8Hwzfwq6pLsZMR8VYgARgIQ4N75MwPsbXncbYx8hRQr2+e7jT7sw
6M9VEm8/bY6TWmtT8he2W3lHE2X4Zgh5Qh9f/f0YSbHFf68eknB1aKezDrmf10Gj9/ohGqm5nsd4
+vXxR1z6AYuIEOuQdcoR7WWrBP3ARfZvMpbXRZu/e6Q3j0JMzpBrMdtaEc9/ogT4apVdl9QFVf+f
+45k3qexlC2clu88/dWcr7sd+iIWCH+mFrLyGKtl8YMVYHbnUUF83f04SwHeDpZe9RL7yQB2mJnb
99hF3Xj+bOd54UHqyzlcTIIEHbszKudOHHkjO/OCq8aIvpjAaI/aehQxhTpljzXuzJZ/HBOYENdd
/vyL3gwTEIuh08+KYRKZdxObqk1Tz84nU8i4dF8WM7TN+7DWEPgFYBzSg+uw2fY8+EMDJMiz3JCW
q7hPfqesih+b5lyu3HrayS9rbUftpbbtJjekGLXE/37dz11MaqqcSziruRX0CaVCzgiUN4r7w8cX
vxAx9MV0jgqTN4eZdoe4rVowsdE4fHEHpb94dpI/f/wZFyKsvnjRWxGlzFLz20MJDSpooOB8Pa9v
qRKfp609Inq2K7N9/PjD3n98FJ39d3AIYy4tuAxWMLcRGtQpgNX+yaXPM+N/30uGv5jrpRQNiVzH
DJjhflDTcrMy9fTOUEm0hSnofzICL/2Cxay3TCXanAroILfsP7oo9qQWr4qChr8Y26HZI9wCXRH4
UKZREzQK/Z+bfTJQrfNl3rtBi5GagShR9JI3QSUtR9yko6M9FxVmOg9YT7WKU7N9gbJoPbDlS27Q
T3rRKvUNa6Ui23polQsGTeRqvh3l3P2BGFnuUJW1d0Nc6Pe8g0vUEzhOPVZDaezjfPXqcE1qulnn
aU8X6mCX8U5RNHwzpO58W4Ky2tmFrL6dezLXKZUP3/TM0FEsZrAsrhtviwlUi0Jr5jRqacDpksD0
sxMcqOsqTQx/MXPKViQKxkATUG6CySgGQ22G7mfp/b8rynee17JGb5j82EMbXx3IBTvHjIrQbWo3
2WmGlB1gXCYg+DEGP4AaCgSNp0LzixaVatuVdK2GVaSpjcnSsryhHDRENUxTw9pXOHFTXFfXVfIY
y8Nueu8SaQm9DzTdHW/8+Fy7SKfwJy+T9wMgWvT/xgt7AuBBP+AUAPE3gqEdoc6UkDKrsf2sVPDC
hD4Xzb59X6kpN/FLJ03Q8FFb2nonMPJ1e90A9Bbhok/SeqJ1wgysJk2+xpo/nAyaNz45hXo/dhve
YpUAPLSDNBSZAchYpIUA3R7ijlCOUYJWSdm4z5bsym8fz6ULz2JZL2hzDo5OwVeHnEH1DT/YdMrn
RsJ8JJ5//BHne/7ekF88bh08UZ3khjqkdJKc+sm1XwpTpk8dhN9DPUk256PZQruJ0vXHn3jpDi5i
rpsW5tgnhn7oWnpMVg1dgdGqkHCVzjWpx7mo1JPlUsPw2Xg4B4f3fuIiCqdDp/vD6KiDELSarMKy
tenu1pNDQ8U9UDFnCtErmtExsUgBIpR01/UwosV2PS+AcmGf3KyvELGiA62mHGirkb5OTQ0gJke8
jIGxKP4BJWWsKk31d6NbAw+gur+7gSUmX+xwcu7NEYzfuivy9sFvw+ieZrJ83Ya5t2Nxld3OfUQ3
k2rBG0d0AAIG0/S1T/vBFsrYjx4w6caaBnFLG72/+/gxXNhWG94iUIPiCHWbwqVD7jH71oreqz9A
GwT4hCLWfjCLokPZGvpmSgbz1bay5BavWv9Ir2X2ok1O/RBz3gSIw6bzVkI9AeLjw0rI4vhPP4Cw
+/h7XgoWi5Cf1hXbK4ettXPe/JL8vC0LnJwfX/zCCmZZbxnTZcHWbRwOQxPNtzQSWreg1PoftV1y
9Auhd/Px51z4EcviS4QPOlRKORwm2dKU1YTI6Dnv+eRRXrr6eaa9Wf+LPq068KTDITJsOLChpQCe
iBYK6Mff/kKMWBZhwgs0/WroBjraNHNeyc7W7/q6zb7EcOLWeWVVW6kQHxQxgNRPHvt5efrOpD0z
7d/+pnrqLbxlw3CgHSb7ZRkx/fOAa2C6YfzaFEXu/wY3r2f0zxXhaS5rCKEf/9pLd/P89zd3M6S8
NKx4Wx9q3f8hGwdkRDN/cm3jPLne+1mL4OcXoGlkFA+HuCvCYe3r6Xjqsbb/tmtofxEdVZIuMD/c
oGHRg6xwBPiVevrZ06J13aku/pn//kDYByBlEr0MmKnfR0LUhrRe/9kvPF/lvV+4CCt+6I1W1Lj9
YWosDnat7JS6UWtuas8gk9J2dr53gKCdwjFtN+S6yo2wKoq+yhJKxAin95PXzKXFnLsIHKx4YeLB
AAsQEGtgn3NjD2t+ZtlNLclmpg9mX1ZoznVy5DdSgEmjTR7YQlyZAe0B+abAYATmh69J0r/fFB2M
7Jz+xE+Snxde7stiUouiw7KGahZEHoSpyOpp5wO6AKgmtzcfD+W/p2jvPIxlDWmP5YC+tGQEwMxa
3ws7s9+gZOImiLIRJFRG72jN1HmkIA7lFvggW4wYxsK2Ao4a5MNoPWIu8KB6ffKNLkyAZelpntWT
6GKyhWOTqNfW8eMX+qjOALRWYjyJqq8xJ0domJgdpXluSramQrQrXHH6Zx0kF+LZskYVWCinMW08
H9r+uzF1uwzHi12jwXV/mb0bTNjLPv61F5Y6ziKIdWPYyRmLJIQULaB9ftjldaYfjNiJ1pWKk61b
JdEnQfrScFqErUi5sVN7nbE3YTPtGk9Nx1xpvL0H6Hkf/5wLb0tnEbyUKjh/g8O1Bzp7ZnkaatWb
3kshqMQgQxpuP/6Y8zd+b9Au4pNyOXnpVVUE6Wyt8duu6+iz+Hvp0ovgBGwGFuXIpcdE2/jGQWIW
u+5LL6KNNwDKVZOdBza9mgcIubT0+sr65OoXBtKykJVKYTDqyZwHnoH6aJU55xaypG3tOw7k532U
+7q/LYA3fvxjLsWNZWlrbLe1BZQsD8g+OwH2a/ffUE7ti+OwcpFpFga+DqE1mRLqQfjP9gBkJcUF
ILrNGBdglzO/+SxmXBjZy2JYZbcoRpx2CjSQHW6viBL5Roaf5TsuVBwZy3rYqZsLFYddHui6paG2
Oy+7La8d/ZUsIqhAtUzqQB/K8EFjF5/twHaPaFcFMJyPb/fffOo7I14s4gT0XEPjwHQK8qnalGYO
o3ceV52rs7qeMXPc51G+bZvy3prmA0WSW1JXOyyoFFqEG9ON/nAcum5TDW7u1m0iNuy0f4bdrWs7
GzN1jqLJPjmBvzQQzxPrzeLIEk6UO0aVB6MhwHILo6JXE0ImeW2Y4EpX853nRJ8m5y+tl8Qi5CS6
hTRFtXmAo8frNoMY9N/mZFW/NRX17CBpNliHvS9+Y0dS/xqTQQd1HcMtPwLkaT8J43/LL957PouI
lHt2XKQ6iq7ZMUG4oYFOj3kOkDocRfqLbU8UOFlqHKi32yjU4aWrgskn+xyXDWDTbKjLTZ93cgV0
Nd0209QC0EnmaGVHiAxLq7aeIS2dO+DYimZygO3X+HXz0msyfExnnbNAXRqvoupls/l4zF14B9qL
G9synj2Ja4jyiq64T4saZ9rQUNfbKaVuxmEQR2AEEM+dafok1XdhHtuLu6jBJa97R6OhRXlQRyIH
4gfAlAYrWdJ8/fhnXfiMZVU09IBKq+p5CCAgyTX0iwY/GiALY+76/ccfceEtuCwabjTTdtpeHwJ8
DckmBnd8UCLPblwZ63eaVyefBOHzlHpn0C0riPNR6GUWxtBGI/ETFUz0TyIb7/mqH2Gfh8WbeZwp
nJawH8dAh455jPpSoQ90qyGgcSp/sLu5/+ShX/oV50Dy5oNkEXZWTPY18N1u53hi00HH+vg3XLr0
+QG9ubRfFq0K06gIEt3BEMBbUHwSkC884mV9K1G4lJkW9kGu3BCaTi5uEwGPYaVDH9lnhet8ltq/
9PJZlrt2BtalbqAluB27ylxb2qDgXyfyBJCs3s4hTqQBHSI5iqNXf4tVc+WRxLLUNQRLG/puW1Ct
IPVDMpfdvhSduu7ZLEtdQ/RhDec1JY+9AZiR/0z1+edVj91ajKhSE4njlGMZTFFn8caU+nFIcc5c
d/XFoIqaunIqX2NzLIx63eaJTXFz/O3ji1+ITtb5729GbJXqIfpRtnygy9xbZaNfizpbPDaZZfz4
+COcv3u7d+KGdZ4ubz7E1SaW4g773tQoyI8oC5juukqMeQdyODvE4IhfwjxD5TnZ5V1t1Ck4J8CZ
A/VfxcaY+ukb5IhhlTxbR4QwqrW0+yobklUFEfSH7mX9zs38wgRfhPfJSjRvl096/5qqWN0V4cSq
2h2Sn3o9+7vG0WFVdYavXmm2IOWVpAyIrcU2HOYz7fUIZvNB2zRCG/9N51TubEuM37LYkl/MSNM4
RjVTjA9pt+/bcIZIjOV2FWsxtm6UXY9D5/Iq6XK17zi565pv4RziRB+n+N6T7cBZbwmOCvcckHO7
GY0Vx5bwepRtMCCfRoUKdGUUJqlp3fPbb4k/JMPKCOfsNLRAt1aTSHGs93yVfczxL5JdGBjh4GTP
eVWFd5rK5WOpl9oqGW2goIM+29uYwl1oltOIwamTxcajpvGZlDWCiyrV+K1Fpj84JoTrbRXbKI7i
KL0VADD20AtDC32HX67PW2KPXCS4C6genXlSrWg7UISatfcnFR7YlIMXhSC1BwINUg0myPyaZ7F5
TBAXwt2PtQEXWppMHr6Bwne+iMYHiCf7gpSLKpuHfJ7t3+FgpKcCZ4/C5VIPt3Kyqwg78hg/C6vI
0x3BTuJigjbEK1U3xcaBiZiutLjw67VnAAtJu8b/rrm5cxpSG0WzHLQ1mM4JRQzePRPEn9tvfQHy
fphidAPYwjYeaO2n1GgQOUpRc/yOLvggEnIdDW16ZXOy29yqA3+CeUoOsYajDbRe4Ug0+jTbiGFI
ih0Srmp6GnrDhr7mAd5koElqpj1br6DCd/PTOUH41eSc0D1N3WDMX2DVm68hZoCfRQTZDvy8Jg7s
Cce73NVjPhW2SKDFYw7fjvqSdAWWyFgP4LsatD2iBQvqZrDsPQ6zfuRZlCPrdvP6WWs0cesZyt4D
8KuflITENprCXxsSA1PtjTpul6pD1l0WlMc6DqCyAMDs9NMwww6ebTr3ID/as0IH3HK5QneGM9lV
pY4rOfGguLddnaxG5kRByqAQe082eGGVZpxQNLWjhd0iEhCo+ra4meiTWldImq1dW3PytUmkD4kX
Y28Zcw5RDysH1GG8j4Edb8LOHvZ1b4VoU6Ky3fmaAQYVmaAErgewdtzNuV4i2oZVWjuevEuHPNk7
/tnmlA3+rnDkdOwHa/YONhlsD7OBZsDPHc9qLSP3kvtE6C5Et8Za1UDHACNpHWDCKjn3GGHO20vh
5ydUCOhVwszAgde2WfI7Qb/e3pU1HdX3MtXGX0kkVRm4aVf228nLfuc06x5zCI3JbTXjSTyZULv1
l673/+hFGhfgeekD389jKONNpyfOvazmdA+g3XxtAN3ct7aT3gvTTNcTxGyccjiPirOxakYmOCQN
aUk6yV9SYG7oPurmC1+/RVzi9SMu4qJ7nDQ/fxJzDszD8YBM9gXIhp5hUFCQNxuHKnWwZE4jtMtB
wpZi5wJ617a5skoMw2d4yfgmAsa9N5vZeCJ9791XNTbGqADXO9psdziVzGBlMfjW8BxNbZP7Wbyp
Kse/F0NMhrZr6k3XyPaYG0m7dhFBs35zm1tapfNNKeX4mLRGvJ5spX/hINNFaEAe2661v3IVzdlo
GN73DgW5e3oPmntfk/ErBFgNSFbrvOa2cH9TM8IyK4qLXygEiAF6AlKeft1yPZ5VxtgMxvumrOxd
6ERVsUlyqGPMFMRroNsQJGh1e2yNqtzy0OXJn+rsi25jZHO8tt61Or4qSultQ66yor2zOO5xRXOu
anSz+mairMTJS+Bu6cFL2XrRsV6C8lbAhldDNgKdtr0RJmMMV7cC6j0B9D4zuHQIr7ZbrHorjaat
RHRKbBXQnnWJi1Bvh71Z1eVjlVomi18ifw8T07Z2FUZViXo+ngPd6XOLUKCyb/A5+6cm6clw+G6l
r63Ki8UqUnH5HNd9ScqQiAiTNIwfIDWDjKEWO0Ul284bgDLtVnUquZNSNhHymch9FpPb/hlHjjPI
8lIqqqnQPvROLVamSHjJUVCvPdq4mzCkAXz7aQ4d5rO507JDlZVqrRzNv218z7qp+jp56b1C8tIa
tWY9wP9/1tuwPnqzJ+qNbqqOsDgUtlxXldmcbeVUHhEtsTzAF4/jB2GCUtsM2PCmtYg1+WDHEykq
FFL5itbNYoecw16Xk9ndtSpyb/WWbxxLXp3rKLfLW5XVvNCB9kJ+UoDeEaj4D6Crx0MMJAojhvBS
VgCJtdX8ur3tOEcAzK2Q57RjXZbrEnlwoDmp94PqFSpGXNH+nj07u4VTIL8nUToccSdEP/0wtALf
T42nRs3jdsLg49FGmNLL4DZ9tIL6bL7qrRsdZzM2X2Mbv43NuuJrPznJBsOZvfFzANq5O1qBdFzo
lLlXlc+k0NrACXtrDwSv2dmV4QVlCYS+9Tmb99yO17ZMLKwjE0IJILUrw8yr6a5qysb74vtKgGDF
w92snDjz873noDdZO5k3aXgzehS1fiT7AHCl1Fa2aL1Nwlrsi4z87NlC8vZTUut5imLY3w1nKM+E
VLPnZWegzq19Hw04cZHwmyfZQ1y9ZsJq9ngV0evpXQ//20xv0h4Gv6VFablx/ci5OSM7sarXoXyE
pthaa7sjuMNhbo5Jk09fZnSFOxOBRLgF4e+9DkZmbQfdCb3jlE7FqaxYk60IUk20bpNqINnd2la9
9iF24JWfjYzUvaPfZ6le/dLqTvved437te/caoczxDm0nUaDcKmZpyGkT341JTPpOkof2xcbvhdq
XpZc9coy5PwDEhM5CeXD6Vu3ohx/pKYfbaUbA7UvQcI72E0R36zhSAlWAnbzEOVzH26rM024rf2Z
Lui2Oelov/ZJmwHc5MS03EW2rQUK6yUWBdLZ9TquQhkMrpMdnXZ8GSoPqw3Z0pEzPre6KYWbWquk
L8Uv3aAWj87Cyv4XxQ9M+DTshLESohp2usFOMDEm71ZjNf9cADO8HXSzfG4gbg+7FpVFvctA6nNE
7oL2H2a4AE1MS/NKhqAXV11N/QaalJp26w5OKUlNbBEmeoYw9Y7SEVb678Bqe8f66mw9yyvtNDnQ
UldwDNJ5VdHYjZvdVoFpaZUfdMyuam1aaVoEPRxa4Lm2UWwH30gVlWBJfOv6rQwQb/QM0DTGkupb
ozhSwFf+1gTSnNCptV+JJYEgR3nMShYn43gL9knbaDFY4zULzyRZWZrRrAuQJ5tCeHm3zSlZ61YJ
thh9TUNcM/F2E51DbjsGaZ93VGb2cW48R7gg/41qoGwQ6YEXYkCcHhzD8Z/TZjbhH8qKtY1kqa7Q
PdLizenq0Z6J5aq3KYmUFP25qL3ybQ/E/MbUDOubPvfDxiXWUY3e67cNT9ZbYf7yIb9lVl6vSXPS
HFpSu4Q2LcP+Epkz9XUW/uq9X0zGfZnHWTAobxd5Xfaat1MTAMkP71h/MpPadNiKbH6F+if9rxRg
O/beqrvW2kNTdX7O4VAP67mGMBv0qY0bsK21xlsrlWKE0/Qku0uTGjWaRZJ6YkoKV9/FJV31FVtv
uI+0kMVaGVFhktTduGIfqExWa7Gh3ckBifldlMOYFVCstuBR3Wnr+42gmo/u5n7XDf3JxO3YBvTc
qd9COKrZfbyBNKy/h6vv7SAXZ4Oe7E2wmU68nxuNHzarKj+VZG/vkjYZdgmM1u3Qm8NRmGfM/JR2
1hqn2nggFdHvLORbG69j2ruukiiSm64OtO7c2W+gCgycPC7wsaYG64TZlSO7jTlKGa3ZjHnHUFp+
yw0BYm5qoVOsrTAiB5j1xnhDgx52GTfPC3IOFjAFMwRjsaNAPn1IsqrGyGuFt3492dpKqyoWCnEH
F559q0mdkdWr4cmsyuwlDmWUgXb3WuRVNcUenfQHKtAQGGE+KKiQ9Gy0fbb+hYk33JQde4MVZqiK
pZ1Eg9uOpnczSCdT4BA5JloLoigMudmZ02M8KY3gbmS8GB2OgrPUyr9QQOA/560zPWlEmKfJCeO9
q7lq2jYeInXOKRVyNiMUDC7XaQ4FXvtbEv7nFWhdNM56UjH3ODv/b8Vh/vfGQZS2rmQh/7S58P9A
ekT0SF+fc2MmtuvehvRUnKrJ6H7QIGPO68Sv7MMszPnrAJrcAtLOgnbl+0KGW0tV408rVeY+rxL9
n5aczndfUFHdTq6JDBHP0bNsO+OHOZrsWRM32VkibO5tAl2yGeHwD+fIgKoBnluyoqjpiOhJRCs0
USB2M6efXkqv8r/0wppf2CK/IOpgbRq5Wfbbb6ByN15vPQMMtu/Sbs43KrFmHmFegViHm4psLm7r
8GmaHQEXm3h8i+pRJwsiQoMWgEpvWexO9gG1g5WvTWo3cvjFNaexaJBPXmXIR92x2o2kl+0WaaEH
W1kYqUARxDZ/U0Hn5nRj1JGLFlnk6LvJH8sTJWIkWFgU4HuN02+zV6TGSg8d90eIiMRaz5yE/Muh
APYkDTtYfeAwn0qYws+1F1cD/7/ioblU7Nb6ectne3Z6Mu0xCywOXufNMOjhs9abrJEA9w13I8mz
aTU3vs1CC2YI2+VKN2ZiIZoCCsIs+R2VOCqMJDNOFQK2o8z4NzjCornX6NI5DZ7B3h1Pu1tsXYT1
PxrXQNVjMsihYEdadIf2IOPZpzI8CdWUh1AT9oNly0wAcR8nivHget5TxNM+9rmGVscw5U2Euuse
XlfyTJWwN/BCqZhgEJDnw5Rq7q6zkdZhejZJ/bG7/QcwW34H0tc+ZKz9OLjovF/ulFaP+N7DtTnO
+Q+3tIZ2BfKrfKLlot5CV203+EUwcbdUvgGNIjeQ0MXQpeGqmCo72hhaVH/xqEL8TTtPeCIRnaSb
Niy7G5/V83Gcm4KlaZ3v286d1+TAvd8+ptQn0dQ9pwG18hFoz9YhSzzDOPssjSc52MN9byTqhZDa
rlwgoN+BDrjfeTt3L6ZlK1zr5BMeQESHeLNQEtxpflqylY/1GkQvbpDN6Pr2HtWRYW4HXrtnU3kZ
/yr0odnNhmh2RHJj2hiFbWqrIirNP1bUjS/UGAo0ao3hvUibAibQ2zQc2649/hJpLjSsmqrYFl06
n0V1zfxNupoWUWDFEY0W2/43XzXy1WsMNvgji7a1mtE292Zv/iv1sVvNPQ6VVe54Y7nryS5avLDZ
6rsy9J8TOxG//aHHfMoyPAHm0pRPqLzt58oactZMsr1z68F/tOtx4ptMif8Lx0O1aVsvOcJfd3c0
97EETj2Qxqu2zMNXoWeNAlA29buKivL8gLagw98hShs/JmCqr/RhslQAhSf/yFhz9rXRDewVMnvb
cAR+q2Vt/pzKxG0xOPXJi81Je4rNAWmxBiwLznqG128Tpjkt93jrGvYU2gCFGQm55C2o17Jn41fo
dIZn5NcweszebRrrSRLUbL267chJwXPrI4BI4/MaJGstC8h+yVZLhLOFDALVzY0ZGeoVXLh4yeCU
c9BTYtzys7RDI3o29sXKmPlXI5TPUOCj267p1a20Q5pMXfTfh9EqwImSP5lpOmXtseEW1fcc2CQ3
5uQIzE5O6tYbZ3RyZwsDxXoqcskLbiqwx68q0RfGJp2qCOgFWVauRAnYrYkJdJdUcXikPan85Q6Z
szb0UkeH3uPIZsXqWMYm5PgimDMUV+usi6y9V2r9Y9mg0kZvn3r7CRemohq9sh4y21Y7Kmrs+7J0
i0MOAZue7SrW0XzNrfG9MqmBWUE94Twrg98+04a2pi8BzwVN8gcrtsyvY51lN2VSdfD19OKQYW8i
vxMnN2qenP0ch/XOKbOcunE9O8yjrZ+wmtf37agbONjq+uxVsd2feUPamzmQz1tOAWYKDnoKaVEU
sbmXKlesH3CBn52C1S4ZWDNEie8elW1660mz2007lZyGNKV6NJCePUu8xNRHCC9czQ7m1dQZzITN
PQN5GMyouk+qkuOFGMQ3TeWOkeA1bbzkACilvOOlRnOjwfqGAzgys+lWxNKPV2Gbmz8dvy+Oje7Z
R3hKw9FFD8iyHcb+miN063vpcYEq1BTbGFayG9G4woYHH8tiByGBdXRhTZtoVMVdWbBycKnLe05A
l3BAWptGvWEo+oeGsfkdKwKrjIp8952WNZoNIL/Jdhkltq94cB38GOyNdGWoL12MBoBNWcJwNmbJ
MxJqPlANKs911SO1GdlkuxS80d7Htq25a2uj3A6TinaN1hn/js2UPKSaNx1nJ+eouu6j8T5jjv7T
cmS8VhGFPS7lVztlDeUBx8EwE6nodZS6AvTUeuzf6Sw+6EVuYbC08KQDWGazq/fbvukFK9yRRj1L
TDvMc0nwf+yd2W7kRrrnX8Xoe9aQweAGTJ8Lkrmn9l03hEpScd93Xs1rzOvNk5xflqvtsrrsOr4Y
4AAzQMNtV0nKFJOM+OK/EpngPPS8p5umtNsbR1CgYAlVPBbwLiSit/XKpGJuRQPqy6m57S6rVdoZ
o6yqfdQQMvASNVKv26ZWz0tnocK1sps9Oza7Gv0GDB91JvvSl5UYXxZDUy6buJrjVYa7Z1U6YeDD
jFDgGk2x8zRYqFm8RQ0l5SqLDFa0LdKeRWdNTQeJmXT97Tw0PcePQF2sFf2G1i6gk3L2lcqIaNxV
u1C6FnpHRsZS1nRVGJNmkQvfT7u+KQQpR3mp6Xs5ds1LaUmlurEmK95EfZO/5l8/+pwCYtOfsjpj
nyuiaaAzTuOQMsyDctOHatd60I6lvHMIgu9XUw/lTAWa5LildvG2Nbp+ZWsUaJcR6Je2RPXiqtKJ
jym9BuvBhs9wzTHVbOYPAyxhQRbmgsWXT3pJO30gBuWMSUC7mQqb5hcgtlVr19OK8YzqWLCAs9yK
1ONcxdLjcOg89lZouRpvbxtTmOJaTTJtJWAkEEGcv2KytqjVLfLrrK/ti8zu6o225OkDnTI0M80c
Ne+oum4vU+LBHywB3qOQB7HJhdk82I5xQx9auRZtZOwqLUZborGX7OVUDy91zRxt1cl5FDniWXQs
OaBVipdoQ/TcTyWsTj3OdNoN82NjQmzLCpSR9vcouLBiexFu19pQLP0gdrIR4R3cjHOndVWxpjEL
HrGVmL+sapZnsAbImEwSYGNKHvL5KjUa+RZ2sn40bLMp3VO9J7s3wcirXCTx3TLi4KPLsnwHeGev
mubeKFd6fyq9bXrjwixO90UDCKK45kybj98RLUJ5IOWKrdbExqrsnOpqbjqbelZDqfdWJFQQHEQn
LIKhRgUHZVp7jtX9Oc7A6Oi0CGOQJ00FEI+jNGSijOmlFlOBCk0QHHKsTJyaQs2+LqfR2UmDAPhM
S6OHYhLT07LQgtvqSwM8p/XrIRE6LVGzPt3h32xpqi6i+1Jp6j1V4cOKLQiFf9XKfQ7E88aftT44
SH6ZmblzZtZR61PLUPuE0SdvYWgEgCNm4luhjdG+D8NdxH276WhXBH8xUfmacWXs9aGPDrWaO4x5
Ae2Y2RQvZ1XOAuJRVVvRpZxki8s2l4Kt8pGsKii1fDWRiYDNnzpTTxkAJlq1yl/iIFL3Ff2t24Ja
k2Mx055L0zJ2jcYedjax2DexEZOmYkWQCOyXTfpUVSHlsDINql3fmnj+oBtGyAkGiiu4NpI5C4v+
pLYZJX3qSctBBiJhDZRgvRiN0q+WsbQuJ2R/DpKtlKIfovWbkTDFpHiLW8WCD2JZj6KgeBohSbcK
wls/AjlbaGWviRmZrYwmS9ojKROhA8l5Bn8xz0JrqfxumKDjqdCiYnSsS3RgrTpvgEbSh9JxIt63
XdP5aJkJ6bC5tVHSVH8kSY+bYskSNC/cwtqaezFGrZYDg0iEm3S3M/rf1+GJQ4xCGoydSGV4ommv
vbK5ehdVpcSrWpnnzUjJ/AuH7uSu16P00Z76+FUzApYmgPLRLyIoRkDuqTiTiai5ebJl8J05MM5M
USSrpYgFIbldcDMPE7ZgutdsNwSB3HRzJVdynnnA0Dr4bEjx1kkV8wu3YLGjPwflVO9gHOR+OFD2
Mq5GChIVb0ypA5fBPN/WjuiObaS1FO40cAZevDjNhjH0mVPncArrWSImR0vdLyK2OLEBZ4V2OTPs
UQzSAkbSjN7xaHYapRsRNX3UmZqafd50I62vZd5rZxy5ss1Cf/sacaO2J6Vmfp4pkX+2xNTxJJl5
TBp1HVUabQTz9KQ7i2NS+ztXF7FFfhAHp2Klx/p43owCI6beCqqd2C8oMw3z7orC7dlVtb5fRaHh
XCdYJHej1Nkr6EE4o8k8OpCc2ZyNUzvtYeryu9qYOFukuArheM210E47BilFLp1XmqdOEfH1aVyy
htcQ/WKZN2Iew42wM/U+ZNuFzzc0bAaE8jhupwHnu1AL47MD+vKWEpZB7iLtpV5iFeHWpl5zl4Nq
126hMJT1dqKtgeK1yyEqYpfhqfA1tqc91uJoO/HLXDpZUTEoDmm8mftAPyScH1GxZRyR8ilz9kbD
WgYZH+5mALBLBfmbcJV6qZ6LNFWvwi7Q9uQda7tM1bqzQDfEhWEkzVtWlGNybKt5QJVgdnLb6Y15
n/Z59yQ1TXwem6Rdd0aIh9bu5ocigcI99JoTa+t8blUKzJJqOGNxBzmRko05QZAw8Xk8TYJshQ3t
2BqfB++2WRuI5d+HuSVcro8L1Hw1T07mGKfY7swZb/Pcyf22mGjYUojaBObJh2vaKql6BZpr/EgO
JDKahn3o0l7bNbJUVlTHOntYqPFJt4KM0lssuJ2a0JjjSGUddCgVA3LgXqlJgDxvNKdZQYeVvlmJ
4MtkUEVGvET8Xi42ILJMlBKUbbDXVGpqwpvaoV/P+iBfaeYqtnqX9WeyGEJm66rUn8vEEKsCmvVS
G0363BEMi/MCoGarWkI5Rv0wnXMqqAjtkqDdUeN0F0gnac2wZ6W+70nR4S6fbWXbxIq56bVwPKo0
0mXuqBW6t8RleoHlLexXsW3q3FaUp1RA6RDE9EeXJaV+akdLchc3UGN5pZcPLH84l9nCdrmZLY0X
VEAYZAmWN6guNN9YREWPA1W7vkYPu8c+b94hm5CmS/3UCdGaoSNm3v0NxVz5tQEee17nlbpKl8W4
onIngXfIwj0DYLyHkotWfHrpnUmEYLfWDHE9y5SiVaqBqe5Rp3bHHOoAT2rp29J3FRXLjeH1cI/Y
nJZMu1ZwGl2nRhm/hUUuDzWmhde0P6HexrQYN11Bvm0JRLm25WzTn7YEb4RUfA6tplvVKrVrfd5D
4DFGrLqoDUDXc/308PYbFU8xFBz8fhMP6Zq7GgQwyVs/1iqx5ozMuS1JiplRrgjvseFS1DTZHVx+
kIy3ZCZPlwTXYj3ODCQvTZ+pWxK4hC9sEj0UHiJUG7D3m9QaO99J8+y8UcyQMik7vZ5IJwWFN2UC
bzgNhyHqtJuYQPDAi3JpeLUGfh8ndnwb5/l4nqnmSXpbgcdPLB/XppjAbIpwWUVTmtvbRgXApTqm
YuEkS/tdM21rR+Op0qyUhTymw+ykNIqx/i+YzqvWL1JgL39MwV80bSbEhuytbstiF6kc29ScCE+K
Ms/ywiTAth3NUMXmJaw7E7bwDmlJcM65QAxeHSkPgdKNaz0olC1g37jVg0inr2qpk30CHMnGUTrT
/eSM6UOEMGFH/Swd90RXHLXGMs7tAmMZpXldtgrNMFDoqQ1RFBZpG6duZcbpM4uq2V6LPshjfzQT
Z6MKNmOfqNxC/1w0YeNnaglBWpCL2y2iBRAbSHHy8qwaVb/pys92Ug+Srm085Ia+BLfmiDTqolMw
Z2jDGLe3OrkAzjpifEs8zF9JsRmq2eB7NF2Y4Q2vMX2xwP19ihCKAVkDv53f2U7IjrvED4JVOFwz
KnevNF0HF5pigrqUPJ4EPlhjEXOu48XvOzLzzgjQTNxGKoNHDVzvYla13JLN1UNEXe8m1JoHE5aM
T1ozdCh+OZ4pjRF5ndWaBhWFppNvlyAN0gPD6pSOHmkZVhDuTh9YRgM2D6wPS8YJmjMNYQRpbYO9
Sy08qw0rKK41PS7vgppuS99qIqfwMXlgv4nKpMlchziDN2atXmXCaOZmJ3qAAvjKFIh5sAIOr3pu
6Xw5xeKQ4ZE5K97CTN/TBISLSyR5cDcWczyi0zEN2jfVqRj3YZ1SmxiSJqc8l+AztBtCabMPD2/o
eKT1VCSwA27kVApjXx4bCTte2Hce10nKDRSE9VrPKhWN5OOmwAuizJaNJpC5L03USz9eGnGxQAuB
oqSROrtmFcpVJ2VzmIzUfBFGCylUKHYhXH2hyCJAUXSVzoF52+YlChNa5n3d0CbfGvt5n9sYjKVz
0n6UoIeezRLGtC9bI+KjQ23PwZJ0sCxUtY1qm3Qx61FS5IDawbBWkxCLAhY8dDbF+MQHZq+bvtH3
+clrVCO7/jzOHX42HcjsPLBGGWwZdyd1ldNo9wR62r2D8xZPcWgaN4aqN8JN0FUdoHSQxaUtq3al
GIvf9CEDOvpwIzvP4mn6UsvJ2ZaAMmDj5F18jml2RPwnwmjTtEI9w/vU+i0gHZuyHTqbhBv72SHx
svZogpZ+ElT9M5a19CJC0nXDrRyd0wKsPomhtGkPnaYzERjzhaZPJvUC49z4dFJxFqln88ZWWsVj
5zC/ZF24rGVSUiadl+rtUi79mud/otA+EUfJePsuuxOyZNlq/lDZc89NBWvNpQVdtcLC3lPqNbwq
aQwZTVUwLDMQgdWlMMpBWZXbQTHrlwEZzkFpk+4g7egLHFRwnEl+0FxozvARf46MULMkduZ1cUoX
gppYxktlXMp0qxQkBwiDphHI04YSSzPnl9CqAxiBs2+EjRU0H0aGl8guE1RCRhgesH4sb3S0z7CQ
GjYVIPWbltKuY44E/Y32+fxJQjUSzB1XzeBRs4f6Cobm0HCLrBmi49WgKM4VD6BzTTdgcFH3svV6
Brw1NbiFnzUUJPKe7MxB8xFy+iaTwbp1qGO+rJSyeBmVDAR0CUr4n6ArrzLOJ9Ib8Zfpv0rr/1YR
3W2Z87+v5XWvKPYb1EXdf/xPqgp+/6/Ne3n+kr+3H7/o9Dq/fVX7WwGe/9K9/OE/VkWHXueqf2/m
6/cW9vDrz6ep7PSV/9W//OX960+5nav3f/7jteyL7vTTaPEsqI/7+le7t3/+w3QcyzpprH/rLjq9
xrcvOP0S//zHRdtRJPrLTQTG0b0Uv/yP3/9112YvxdsPf963hjppfnKEiolfIB/T5Cm86teGOo2/
Maibk1TUaXBMJyV2gX8u+uc/pP7Jtin74hyqGRaCU76pRcX0619ZqqCu2Zam1Plu6x//ujaXvzLE
XFau8p+1up2sHb8zyfRTUt4m+XlCnjgF9aNm2xTQZLg8FoSS2oOcxb6JiitE269wubmfGPoB1IsY
Gv0g0sBipinfOSPeBHZ53+vGmZbT0Zm04ghcRQDMdbAM67CrvLEYN0YW0z+7mB5FtcnaDJKtMTBe
D2XP6FCGu96ZbwC2rpyxuK9tcweb8myXxqGwg9s5ToC5TWV2ser50jHIJC/L94FCY2avChN959zq
iXZDps2K7rkt2j8oyRqpaVeaX5CAXPSdfpxAYW3Nui0t5RYd8UWQE61vIznus21/mp6n/CnPk89F
ibJ3IqLcjUQQe3lavjeCOsyqNxmSOXK7smio6Ivp8QMY3o9D1nlEVjyXBY46Zq0nRUfz0+DW8cM5
/gwwdAPZW7vEESPRgDIkCJq5Ti/vIS+hqXr7QvKnKFdYi0R3zRq5TbR2PebWPVrZ0IvoaFgpkVjT
9bl10FCddKa6O7L8hpRWI0oTe071X8RYXmcaV4VNPoA25tpOqIqBv3rSwEp1DXjHe25OvArEiVd3
yrAZkvxKWJ3h1gAE01zf873A67a1nU2LH0vrMBg3v2/HH9vSOo9KxuQArarHyITQxK7fk4y37iic
3rAVgt/ISHOnkAy1rOGTWNr6PgmXh1EPVrOqXJiZeshIfXaZkK6VUX01yookTegF9Fqa4RZtc631
5i15IOeKcQvw8Q6cfRmH8VPB/OS1bfEe1mhr2DMTxyArxM7fl7wJsePL0jWtuHMzCp08kVXg/m3i
bKdkfnAS/Yh2/dnoQ4oPLbTEnNUMXfnSR7SalMtNKOmsaOcW5KAFYSFnbisVsO+qzmzfCJSVkdTX
5O1stUF9gKi6TzVjhx3nPlO7q2Dpz2bB5FTaMdNsfh8s841wstBXlOUmJhIdlFOHNO8yL5shTJED
IwGKhoH6XuNxsBmsRBBs1ZTXieTREdHiBm1RIY9s3jlG7p1GHJQovRpoorYpGaJSbxvwyfd18z7Y
6Ta1NYrI8jMkIHwEtPROEoGwPTQrqw1Wij0YbtJ0m8Ei5rbWjlE3Dl7fBxd64tDHFydPCkVPvD13
MuYvQqOyQihbFb2pWpEU2iZPQaU+j321skdx7MfsCi4jI/wXUkHpndt6lK9Opb0yoe5As76+tdGw
bwtV+UJv8R5l0K5SuDhy1I7SiT7PqnGr6dphHvLQx5S7z9R06+jVdZuiBKiVrZHkW+SFNX686HOk
VNeqmJ7L0f4yFMoFuQV7VYhDMi/PSWnuUmN+Hov8farEYTTqn6XYfc2g/Le10TCELQU7BLwPa+d3
fg1dqjEyxmm5K+xU9RmNHxMN+ZKN8iuvwtdxKji0UZweFMewax/BHEih+VlByQen768rtIHewzE0
y4Di+mDOo5Z4rOuGFsXCzquVfjoKVamxrQdlFYrs6HBCT6r8meiVQzUH+7LRMWhQil7kvzqG/tbe
fxa/NmVbfuk+7uzfb+z/8adf9d9w/7cYsnTJBvvn+//XEtqXXxDpxtn/+V//u01f5pdfNs388vbC
LLB9+VwCZP/y6yjQfj8L/Pazf58F2NQNwb59UpXpmNz/NQsYn2xTknFtMYxI/RSq8vssYBqqISxq
VjUVDzSf/++zgG6q/ESLitmv9bd/Zxb4Y56L5QjHZAxhGjI5eQjqcf94t4MEQKZCXd+RI7kxavWQ
41EmbY2mtt7nmzGcVOhk558EkyNp4Ad//5idXthxNJPnTDq6/THg3XQ0UXdoZO+qaF41VuRyPLuL
nXSlZOxBFNWslBFGa14G8vHrwaXqDRVRi1U31w2P2WAzFqnfyhY+Cvw1yp+TZSaeqdoWYrhOGnWV
Jb0fqhXBJ9XlWH7WcmMzYxcyQ+Mqz9JbBGqRjQeyzo/yhNvk5m0yD2eOyZICb4vvF2yvMP1umTZ6
Yj5ZHbIhQzq3aqda8BI0WAVj8jmSmNHb7NyhqnCW8YseGv1uaOzbMAfDaKonoep3Ulo7HRVjFsdv
iA7BjMMrs8FRYPbUzg+V4yWNfT5m1i213NenH8lwuoP5TNxWGXdpY1+ggQrcQqBClQKPQCD9qeNi
pe0aXNDH5LNPhKSkwJQrc0EJoAavczWQaTkWW84Ub4Sv4B6C691YY/WIcHtV6cvzNDMPtJESrdVJ
WQu8AcLU71RZXk6ygE/UG05x0jyH6BzdAqGpFiBb0R3NjWvTR1K6ryrTL2R+1GxlZZa5J+N5lVFi
9d2j922E/b421PmjRe/rfSpUSzUNg8nDFB+TIeu2znsE7M2diu0cMcohMtq1U8+rOjauEH8Capjj
BezfLXmdB5LMV7IpvDSzzmM23i6qbiqEMjV6Uqwe7WOYTfdZx/Ui6iZSjK0IOj9ZglWkDb4Ry62V
iyuCfjZx4OzmWs9dYiLPgb8ukbXe5y3TH3EsamIedaN5JAiSOLAA6f50qFHPk2AfuadPZ+EuLkt0
UQN5AJPWX6vG6Qa39VUc2rShR4OHl5XcH9OXETIsm7EwM47E8J0OjPkzBJuX9wZDmtX7/Vw9ZUaz
X4b03BLGttfDK8fML3NhHZNsughP9Q51fXOi1bNMOSBPvKM0fas74m5oAKSYR+i7v7R4TKZInqei
WVtyOhvCV4ROPlz7JZJgn5OAh6XFhxFbVRr60YxAy6Lfc4Me6Xz5SdCnpv5gHRCaTuW8oQtJ6uYH
ceuQNk2OIKm9a1TntjKd20TNCBW313PfPDYqaOCoTRfxZKyqLjnrxsqtmvI6GDalxPpnTBfJXG+a
OjnGtrNSyxBXZYn3SpxVKP7Goro0A+VWzj0mGOtYLfWu100feixFNTQdmrreGZNB2jXw5lQgyRyA
1sZVW3UPASthi+U+0uWm4HlDwnSIoTgrs9wEWbMPpuQkS/4cRNlxHEzpqlHi18V439BJVPU672hC
npmvzBbdadetGbE3eshixaQ/q2I99ECmNFko0+nSV5cDnAFOz7OKHripgjdV05XFKlRiZ+mqlii0
4SLXez9BnwzXdBDNwmGhXSfaeJY7YlNU0eJ1Wu7VYEQ8EriSnPOovpfmcAGpsS3TN2xn7gJgpUww
cfZrg5tTF8qeD2HftxUChvISG99wOk7tKhx/SfCzzsKvBTUfFn5mex2nApXrliY+mG6ZnUjRQlJ8
x7U+6zEfUnq2CWmXaGWxrev5ArXN1g7Cq8wKsJFAuNBB2MFNKhOXkZujKsoniULZkTgGo6zcVgvj
mN6sGym3gSlBqEm5znt/KvuH1i52Qtfv6oBIZJ4SwXPLoXHdmIOHDWJnlhCNzs8qAxgkPm5uQueE
r9sYYnXT/uD5lRk9DeiRu7sosWpP5zVHgXO0Aa+ZguQna6P2o7VRl4ah8xDh/voad/vdxDooja5U
I1upLLu9kZdrRC++znncCg9dbdwBKjJ7G8emgSQu8ML2OU6SgVQLEODVXy/UX0OHvv94gRZOv7Ct
OZqhAm+cBo7v3oxupKGlj8N4N3IQWpJ6hxYWVJKdrC7MI1C8V1VMGZncNJbc0me7HTvDqwxjnfM8
UUBEf5p5jnvmvIOQYb3eR711LKP6cSqKy6QIDzUrqhiKXen0Z0CRmKWcy9hoHhB/HYba8OC673Jl
uDY7fs1i7h/yPjnXlekeD+uxqc11mIRvBL9thtDwgRvP1MzwiVN8b9m1hTldtAkvwgiU28UNjXQD
2RjE+M34fj07mO81vsatg+opzPUryRcgjWadFwohneZx0uGKs/zvdSGezgOmkLau6qBKoEMfGw0q
REVxFHFZTdQCaCA2evYt3+n/8Umf6Vk1Ef1+dxv/G9R3eOmxSqTfD/G/f9uvU7xlf7JsyzJU8Sue
d1q2fp3i+RsJhiYtTHPQg/IUHPdtitfFJyFN3XKY/oUjHfH7FK9rn2zLZH5nnFHlaYz/O1O89mFV
VYTGHm0a8uMYHVgwSmU7B5swG8/omKOaUWkHD8v053TINief+CCFW0PJxLG1i+E9ejOH2r+pFZ2Y
O+1qDBH3E4XdrAI1eKG9QsPbI2Kf4y82DYPgggXdvxhzcZgg6jz+ZaW3xWNqirWDiQB5cxPZR0tr
NqgjbxfZ32npIuGbLqESJgCmJPKs9GJUoLyjMfKgZj3dvhZG9DaZAc5mq+fP2rs0KV7xAe9CfFI+
AoryyGU9R3l+xA2IBt1uaj/JEyTOUb0OdeuQ9MqESU2ofhLC1qoLL+bMthdl2crpTrNz2L4TG3Dt
ZKeYddu1q7T2yio+jGP3MITLRTCb2zp6s5zYUwpVrFTVujklSXfJYxB96dt8sxT24wiiT/BZ/BBr
F7VuVCvZDy9G0KHzKO+IPHozEugM5psrTV1WM0yvU7bJLVSsOGtojt+Ds1zMYYPRP8yIAigqAm/n
7lmLB5I+ulJbzWK8zyvjfGHp3Jvw/I/WPE8egrNhg16oeR6S2BsEWk5Ebo21stD5Vi4CSUagE23s
TjZ1hUETbYRVS83Vlta+XJDPnPcm0myu4W1Oru9eJnIdgywc+gVcFTlSxUop4juzXJKtVqrHjDOI
X6InXA1NsP76TP1fWF9+zDX8N4QRvq0SQER/jiPcvBThD1YWvufbyuJ8kuqJEJCmiUvKOC1Vv60s
YD8msD/4luT/+Zt/rSzaJ2mbGJHRRKswkaeQtG/4ACsL2AAEh+3gisQO5/ytleWENHw3y/y6sti6
+bF8dAxCidAwDiBWJ2JJe80fQvSj5H5oRCBFtXsqMFrhWCj28YIQrYLbdQlq7bw+jJsNv80pKTDL
jpmC0poM+tpX8jJ3C714jhHiumjQl31toxdswmDYxUqANNtYutXEYuuCJ5vbSfYhXevGpCMXBfFN
UoN7NX6tM7xpWSiq8yztB2TVTvcSOyORwXD/sJ0nnV2dYiO3GnP8jA2CTJoiUT2ZKoikaqf0GoSn
3siqva/MgRajumrWbCMide0cys1VS4y7QDRElEy2eUVIK9YeqzTv61j0Xl4alaeTiODO40JEHEka
q0ALYGJJlPVMipFZaUkmG4bqQUmcDj2wPLEM9XxPTDm2yjia3zlG92sHczTWpWL0CjUzPdGezpqo
F1dOWRiemVVfTtoRcP6Tw8Li3D2avaVhQgHPlxyUvnp4iX1bw3jGt7hw7RMi3GNIIHnAE014TWBA
tIr04mxceodfotbybR+O2VYRzeQ53RK+ZR1QYpaE1rVdBDOxgeNyhjdt8JWumTAVtOM6tcpTAMHQ
7mcn3hamQIOYRiutjWbPkH3rVR01xk4gszVJyuW+WFBMYerA59lPi73Rxuk2OmmyJ+alHMc8CXLN
mZlOECVNGHlZMCjbLJyOOdd7oyPMdsMQtpgjlDkmwW4mtNbVejQQs90RA1vBstcDAl5i08JtzXEd
BUjv5vHYHPuuSIFXGCvxOdK92WXOc3uyiJWcyvbhVAXoikqGT2wq9wNwyM0wgOJGYW9xagY4dDGU
BSyi0BzkGY0+RpjmvidxmVrYsV1JxcyxrIrs4f8vkKcygT9fGy9fmpfX9+xHKKp2+s5vCKomPp1K
BgULmgmSeBpyviGomvaJpj2DyQyHluac0INvK6RmfdJAjDiA2LrGYOSw4H5bITXjE5OXCrgvHY1z
E6VIH9jTv2JT/yzQWP8A0SsBpDMSnvakpTxPUhopg3yfdup5Wkp/mZBc6cpjahXnE+lNotEhzkTo
x3q41QIIxlGvXosp8JTqG13/p/zu1zjQ389g34ZBG0rlj2evyehEOVpzu08qdW8rdehHJWamzsmx
T0b9ukd/jUgXaBVnMNMVBvBatqqbL/1bnQj42A4Ro1z22qC9SJIrXU0h1shqheHFucXyXGS3lgOQ
lnUzZ8klST2CSq6FFZbXmoTbC+hszPr4SerLflnK2yVPznnn97Qhha6YmnFbZG24zRuFtGO77FZJ
zRvs5fKORWhHEQ8oXHipUltHFvwtmN+5lac4Ztpocgl/etRH7CLk2byOjXqvYfrdFJl6MxMGh2GU
f/SdebEs7U9O2D+errmgH9Bx7AjkI9bTsHfQz5KGbXvkM2EljlBvOCPaEkcngCkiqQNANKgwZiRP
ZWHtypOeV06hP7TtBh8pXTlom/PQfKcxxc2H59MaXpDr0SWG4ttpFq7ZAvIdmQgpGC7BWk4ihhWu
H6xoywDuIWHglhojbSbNW0tD1zJYw1VdW7vvnr8fAK1f4Zcf3Dv/Vuc6dSSCKc6wn4PxMsuiQ1Mk
LKL6GRd52w0F4ic5ZB6aJush0Ll/Z2t8ooMpWQ1Ef0Ia11vkeOu4Cm+SMdsYjnjt7S7YLAiOcLtm
jzoKQZebvSCmPrzsQ6wxP3nrf4QSf7vtP56BUEvjZlTUek+Tw3amUik39rEqfMdGwKWLDUala7tZ
pyRzuZaTPQ2mem+mnefkkZ9iEagssnNJwsYRD9nsj9y0bu5oR0enLcYqr8NpvPnrt/r1uP6jq8yi
9D06grgxMrDhgrb1vafFhV+EzgojAw14PVTDFL42BrePXd5menKDVxeUKgrVrRyw9JTVERvx4k50
3v71+/kjgvT7lTvhWN+BNSZuHc0wcrIM2Tt7JJZGz5P1s6qI0zH330ZIEy3M6WW/+/FF5JhJqIIt
yrk61ll9bDt0zTWnVN8YhOMNVtF5uBxTtF7apui526MIaUUm8pswJyQHe9lFEHaHvsXvEWZ4tQ16
hvBpPKlZeqOJdlsm1vtfX4vTR/Cjj4Zh+/s3i/m9meayxMddZEQavzskUHEkJWMk9DLrZwW02mnp
+NHLfMC7Dda/OCcUaq+V406AkUFAcX3CzSBsV2olMszqvJekyBg/y8IWp/X/R6/5YacKCKMrpqyo
93TX3CCMPuDlI3MEzsFtR/ML7q/Ab/Ar3hE86MVkciWmsZ4E7UlK03XcGOhIpsFAbBGqj0kN2dI2
w2enHFnLKGjyDMvOvb/+FP4s2/fr7/DdPWMas0LIsl3tUS08VSdXgohRq9eyp+CJTA6Ip2xjhs6d
EC1DL6my2J4fGoEQxQ6Zytle0J50jzkxhkEYnnfYvXMKHEZpeBAth3Hi+BCL63GuFpeZQ/WR78H+
qT9JZP7amPuji/1hzyDNoB4jqdd7eCbkN7LAokAtlo7MZREPBurvWvT02KTegFh5rsx1j/GpN5QL
ggnP5iz2dN28UibkNKK/piH6gBrylYV2i+SZvJSwVn+ycH4FiH/wVj+20BaFks154NT7pFWkp/TC
PkJ6EYaWxsM5sYbmKuQshT2zn91hJDcq1NLr0qzUC0MLTTfP7MW1BjX2UpyXDMTkxwVd5BZBrq+6
tG23mSBTYUzu9UC7Q1/07Gh96Y4pXtWWRMpWi5hEiHEi8bT0sfke7ByiC5jrVicM7a9vqA+E829r
3Mc23ABfoF1KrfpP6s5su20k27ZfhBzoEXglCJIgRYrqrOYFQ7Is9H2Prz8TLudJW2VZo+rhjnve
nJlOiUQTsWPvtebaA1fiaBYdsJnuM9P+RhDprsi7U1I/cLsgMGgbvW4Pcm5u8jT/LN3D/ODle68n
yUVb43Q2yj22ChlC4JQ5PUKSpSkTnktKClsHSKPkmeJI8vCSaPpXyDWtE3VoYGkMA8LSIUeKKVin
jEwQZb9iNKwQ7yio1OhVO3qG+ccpGYIhSquwDc/tFTptfcecycpMlMU1Dff+gMYJxHUeLn4xYbi2
qOxN3qkXohySrS0Fu9RXn8EzCUozMImAMTkESVRTsjzfzSL1tAaGNpsSMeiVfF3U6rCB8vZk+LGG
48Y/k2Knr7RCOoGRvmP2eh9qyWPPIr7S0+IiwwRfhmCkBrPeVKH++OcbrH6wor5vjVtyMwizV7u9
PFLQNkF12/R6tS57vVx1GqfSMVSZY9YaTlHkgat0yFWXxmOwZidONmRnVk6b6M92WFKel3q2Cf2A
83zb7usBjEG9MOL+/Fm/85x/98a92xH7AlpKr3X93tfDU90frf6klflZ19JDUwf4W+F8G2BeYKMo
bk1dIEjaWdkIiG0KBtqH2zHTVkU4v8V5fZlgHQ3SoyWJbVUymBTVDnCWM4CZbRiu1DM+Wj3gu/p7
364pccx1XXVuUjz5eG8zTVXw7tTXiWkdCq3fmoybJ19xJfUqNS9Ye8FOXWT9K3rKTWAiDQtT98/X
4cN79m6zRTKXAt7t670h2fq27aL0NskTa91iv/UUUVsYCLAoFjKIhMIUtAdYqKXZxvRkzM+RVAdw
5GBkR1meuo1cMe+qROYqKoZDTQ/1XTMB8Pjkwy7b5O9u2rstW5ro++NCafdxltAJLggC8zCkT0c/
D31qZXEZpNWAuZUXUNY6y9ELeJ+BXVzophJc4xfLFsJNGJ1FFHc3QyZwSRCjcARroyIsw6mSz7LE
YAy/t9l8Us+8m8j9s/AtX+ennXTCAB1Jhl3sG8zpa/ryEdymxNzhpVE2vV3OLoPJ1q21GJesXgzr
PssxpndGAhmluiAR8JpkrMuym3aGUobM6KiZyzQO8b0zZe1lH/Yb4h4HT2brpqmV0kGDYwjA01yV
VibDPLBGp1Gix84Ozm2RQcMJVBgW2GN3QB4ZS0h04QBQBVicIBhHMpyOsqW/Q1jWteFT9C1VI1kQ
xTpMmh2smkdRh+doULalnmZH3iKv8oOTkHLa3xBjVlYXlm6gAUilpdl4oIMT3qOlqpfzcdv05n2b
tBTVVhG4PTFCSEfTwSUuXPtXt/vDQ/hHRa/y7hAORNfsOLyWe5xQXC+8yqumGUr2vcwfnb5NAifA
AeNAd/826mq9aqVydpSxKV2bRqJbaA3GnkK5Vxpjn8zaVY+cVQMlwOlEMy5Htb/QEZkQI6t8csz9
6FTyvVb96UkphjLXLfTV+yQR90APn9qRe2DIQ7Au1PBs2ea9qlr3mRpejmkDhr1Agov+Ol/N+eIq
VaNzkynPJE9c//mV++gTvY/D1lhyw9HK6WRUSnSpLPnnTtSr7Y2v5Tt4NcMXpr7VWi0nA82Ojns4
zocdhrI9Ls/Q2rLAGNDq6BkdA3+OtnXnB5+8Vx/1fd5Haqv9ZOGKkct9EM4DL3y1iIubgIksjiyK
qNFLwABYknlJiqC8mu0WvzitZNfKFIQd6ahfhrCkNtLQqfQTgCOXPIif7DAfnS/eZ3IrWL1F2Sn9
PtcTT52VLfSatSyJoyXQs/Gqi27eoLJyMiW8+i/v1rtjZKZmMvzNadj7kbLF1raVM6xRUSQOoS9w
W8rbxoYrYFhr+r0rP/bvIGtv1Qg+Z2kD3IAecBZh+0mQ10dJirLx68LHTTeGCuvd3ur7Oy2mra61
PZjGZDz78cipDqjZykjyb5lkHXJWCS0sbnRO/Q4MR8PVWil2JyX4WkRYAKQ6fjaF9En8wkfRMvK/
b3xyydiy23ch7jR6OMGTT838pkwKVqO+aHZqUOFfphiNov6Q0A2D2/gkG8VFHdEN6GlS7XrRlxs6
BtGe6nK4agNgqpqSXhu95s5m/GhZHOjArrmQEz8Rbn60Y3/Xcf20RvipZND5E91eqfo7fBjCbeIR
lZskEGRlj0rSPg0BG4Q+6Xtdb58t1mfa9IhMjC48Yeo4NhGuP72ztE0w87xzEVQHQN23IKeq/eRJ
XFQmv9mq5Xd7HtjMOZQGo9urygD0WY6PSjUmDul6r1rVcXoqgkvMx/j25uoCD8GFUrDdoejlk2V8
PFZYZg5sWJV/b9UUZ92wlkq13X7/fP/RKPT3Q87/u4pq1baRp/x0n/5NZoE7uaili29Ny1L7jxfL
+vv//NHtV62/MKCieReoIwQlw/92+1X9L1ln1qnjnMZTtfSTfnT7JfEX1aqNXJqNSIa/ucSn/mj3
SwxY+bvaMg1VZKHZyLH+g34/P++Xh8sUuKbQOJEspKC4Esb3k95Pr0JMaIEBvbs8yLKeT06gkqzA
eF9ej1JZbmJYbU5UAlbHeZi4vqXX3lzU4b0MMB/1Xddw6iqE/DAOfvg66G1zayfABXppomkM5jN2
lZID6MI17tHzZfCgEUD4+8jEEoCpR62RPuXzMe8WCnBmc4wsYHvu9Nwyv5qxn506diEn0/XExeMA
VbirnaENO3rHen1laOkIoALJ/9ABfObtlG5zWyueaVP7b34Rlvzt0pY4AGrFUpSZAf8GarsPXmfS
5kuMj+ZrhIHi2/fP0vgW58Sazpxw4dDRgQnl+Woy+BOw8+gKXp50SwCb7KGCTfipoiPH2w86lTKP
d24Nmnk+Wi3A39kCQMo37MNXuVP4cvT0+SKFETxopZmsZdR6BNZIMic5FMHz4is6xj3dC0ePk2kT
j5UjzRYN5zylxTMntXkRNG1229KbeCQyxn9URmUsHNFJyCtmc86Ns+qX81Hog0+TH4bDrAfoKTIj
79yACeS6DLiJYlr4ImUx7uOooy/Y53l1r6gF05tG9W/b0cpaKsxI3k11gGsLK3e88eUqYUkegGGp
WQ9ls8/C85CorIuEeHQl7qmxuS8zYTwxr7F2DQnGZ5hTzS2pWdJ97ydkVc2N7SV9kLs+cy5PtjN/
bzWj6qjYpsrWnJ8Mc9Bf6dlxMJkirbkEV7xBxGQ/ypo8nsYhnFHS6sOllQMzMrpZAsolsjOZDOGr
SCbDU+RBfdRlJTmPJF09Dl1CL9icmAQF6LvX2BOmQ+B3W1wq/WbmGHMaQREc57wvHsaglR+qMJzu
IngQZ7kng7kW/BU90ZMv/UxLvfNlyRXWYkHCj+bCQJUQrQIqx34ttnqKq7yK596h7Ze49lj3d+j8
LgkNb+iJE3YeFaP2HPYCBFy4NJd6OEk72sH+PrdxxnPGQHGg+Fn5aNqohORUmo5GqQTnLOmCJzAd
w3Yg7xd0Be+mqs2J2851ckQ9nRy1tI6uCNsm5ToqNAa+sK/0EB9/a2gooDkKHYIIZ3eTNeKYEuGB
azgnwjHl5/WDld+Y+I83k9rJZ0SK9TkEFuVmUYpdXq8fbCblCwwHVQL+9rfUzseT2U6QZFGOvgI+
Y9K+zL+bOJZ3Ee7mYwouMFiRUPklncC6rmbJTDcDBmrQ1SmsBXI/6q5aZ3INKCdoxhMetYIv34+h
kwzdgpCBNAhgF4ROK1RoVkFjnbpERxylaMMxwoW2l0ZF7NnIkxvf14uDahigvstuTG7lUC0egskK
b0KotFdtNjSH2gySw6Tlwb7IkvKuqEE+rmJ/aPddPXdeGVnSMdHk5mhEUfelB5J8UY0tzL+m1udz
0avVuZvT7qIkO+N6YeDtUnCJu4B1xst8WdmMpaZCT6tMFFVdtzcBoN9pU0mepaGTwFpmw+6nPef8
ryLgZyvBu9Lr+/LNVmUjCxQMgMX7qUTpL+7/UEkOUBDSL8BMQa1h+DDTlegqBC6KfzADFBS9qRk0
CJX+oVRtscWI3z0gshi2kUTghF+m6n2iVyewEgQTSaZ6k8VW/CA3kH41dMqbOC9nb4R7Dj+/REdu
Z7DB//xddPPXaYUwbYvun8G7h7VIR3D7rp7UVR0xr1aWhw4D6L3I4USxYudQPee5ewqXa1iTRpGR
XLhc3eU6T8sVz5drHy53oawR2kS0EXakl+TXatp3F/oY1udkjOXzyLZ07LWI0dlUKfLWDgyIZNVy
29XJ6jxpNlrGFz1g+HJ5QOblUWmWh6ZbHp9oeZDC5ZFSloerWh4zfFI8cThYChC5PIbBxAPJAtbt
G6UdjmoyQ9NYHlzY7NJxkn0EtgtcL2qtczCMcbmOWF5e7UplYVZLFsQigGw2Eo1umEVH33I6MmKS
Xb8kmSMvnKHxPVJKNjX2YyYEyEO2QRx5nWxdkm9j5cC0VdLdKZnN9BDKIEYO8fwsAQSgtxoze4iv
Y+2h5tDQlm8GUsHxicjoFQxghyaJkx2z8Dqvn/PxrtJyd8w8tYDb82ILaPrpSUO3hOAvnx4WBgwQ
+DUDreje7lHZIwdnUy1XaXmRx5ErpPEZM1MdJDig601rwSapXRDABidIOWPv7PqXMHEjwIsGaCM6
lUSKLGTv5jp4Ka1dhK0hYUi+Ftmmnx+l9H7CxCyfk9ygI7MmpMe3vwp1B36SR2aILsmLEdNxUsgO
jbNVSnfer8AJcI1TzXbxoYrwvqU539Nmhm7gGETAwr+ZaA6kXqSXCKFl9Y5gl1PWj7DRjH1faQfW
LjexLCfI0QcwqlbZB8lzDoFnhaZCJ6NGsOuZOrhliG9kqLQDgPGSI+C9ZvqlyySQSyeUC6nPMJpL
k7SlOFEoB3IU9IY6rFSUP0AiT0TObdoErjedI4V4qfHBNvqLLp3XDbVWGwQSPURlIyL9aIcQ2Ixs
Y0SLpekROHq9ilTtbR6GBzlXv6aTvKbqeVVnO1pL2m0GVAds5F2FpYxsnwOKg1XWFvuh7AzOPP6D
0u3GvDiles1qF8mXmqxDalKNG2ZVO0vNd2N2A9lzzg+6/jJ3iguJdS9p9GHN2EEPxdmfeKlwtjGS
jfV0YcxDvh8iFZalpS4JJZBPWMsxChlVvWPEFsmcnZms6GFzkoV/rjsyKcR0kgvCBAJYQrP9wtnW
HXKES6Qc7AbARhDELJXcE+sm7Wb06y9xth+t5wYBnqqjPHvRrFsZyi82vyW7hI5+/LWAyUUAqmPB
zp3iwc3jo6rS62nRli34+2DVZMFl3qwy3MkJjGA4nQOkXEFEtXQ/M1jLq2nddrkzxFdlseEpk8vI
U+tHiAJ++gSG+N4ARypBSpLiUyM/kuBQVYJiNjtY/o1BssrIlDFRSfneRyB/W2txilR9f9mhA6sA
bpaQ5APNQ6ofaY/hdK7trXofgqENestLg3ojR14gU39M7IVEgKq8KTEGk/Ye9PRowrKS2lWrkEsW
ux1Id6t+tcDmpEftblLOCYLG+hnNODD5V6Fv52+4jhzSFtqxdPL+ogHspJ5TFURideINNIizLGzo
bQc1uuzzYqUNN3UHGGYkADq+FllyocnpuhshummEPtD7DAEm1cMxoV85G2sKEV1dXqsOXWG90Yad
Zbn+NHpaW9AmmBzSCCZb2dRUn3PVuJZ2X6Yn3SAvsHsjnZn/uMCXnwJckjPduWJAOVIPCK01Pm/j
ivbKwjfY85gEElnFcbcS1V4EJwp1V43SlzC4NeqzHUyHWHmol0Qi5OFS9lZCZglT6t7YU0n9aRGj
zHPyRatnxwBKVY5rJQ2vwMm6UbWvXgOzJU7igIUIiNcut09kBBfpLXFrAMd2dbCUK0TViPJexqoG
mKGNsMZRkks9+pF5pVkEdz4qy+zfkDwgPzt8Jq4S7IZoWOnDm54oK6vdlLLX5pWrhs9V/LTQbQvD
/fPW+l5S/31r5ZynW6pATguW513bH0hDGWhQnw9j4fMgxfWALkAIHqTIrhR63wVgSyyZbX5ZI4WV
WWHl/qkCrkY9M3Ly0LJjK0vTvmwjiovCTy0DMxsXDxAOkLPvRcG01AfJUilYQK82cmPGBzkDIj3N
kgCgoBSXTEfqXZvD+wwHeVgzYFjm72AAayK9VoXNZK9MiDVC33LFGv0FuDXPyFIVh0R3gQCPLPtA
gES4Cqf9JF+X6SFqIk8gWFpxbllpyTereClKOs9IUaq7gvC5wsoJumST2AcKCtAwIRmx93e+zCQD
yt1Oy6ZNr4a7tAyBDsztNjPzoF+p3Tyc5KTONnOJUGxaBfgS5SMxLICuXBPSh/YQ11fSILwsrAm9
QmFGG1sRxza7DqbswOH2m4q1S/uSqgGIBLx8RrlMrNYGmVRqeNvRxKwOyWCd0La6GtEpetOvO3jx
5qxJQD1nz7Qxyfb5XcvdsYAPue20F/7V3DavRD5punSe9OcsbL3C8K9y644TD4NhxVVnc9X15jbL
athl9rqr2sMsrBsFAkc6AzELG9JaboE/wzPzn5DWHbTxWqnezPkLojsnsVVHtij50XN/1s9a+lb/
9LN4FuGV0NXQFCS+nMXe27Rn2ajT2qj6A3YPSocZ4HCZYujqnqiF5mOiJBVWhTFyhyaAmidj6FSL
Wt4EJQXg9xfj/1nv6pcO1/8hZJCCweaP7a0fwKBDlz83YVQDCfj7j39jAn7uev34cT96XgsVyIZF
Y5oyqQS4I/+356Ubf2m2je8LxRyGwqXA/9Hz0vW/gEPQgrL479Z7XhBOWgX+kLagfhbj0X/Q8QJF
8Mvjt7ivNRv/AewLlLZQAt7NtKpCmKqkxPUdLJ/rpJX0Y6WY+L2N+KVoAYWEmNPWWVeVL5DM7E2S
W6SXJboJfbYsnxOZooQURaD5IjVOkxTMnP6xl+eQw446w282RFIftFElVS5Hp1q3HUhPYrmyLCBL
atSi3axp8FKgx0IvHOjbTmO0TaHhkyeF3Ja4nqupwQc6KMkzKR+TlzURv2Xmp2V9XDqZWcKlhxm9
tiRIJ5lFcPzcDM16qMt+hVWqRIibQMssod/NBTtYS68JdMPGmmYANEH+VDXsavYcRScBgdqzRPqi
TNqVyLOLqI5fszl6iaxaWy3/wvblL3oItkBqso0o5kewkGR5J9VNZ6cXEib2FQkv0dYcZ4SVUvEU
ou8AktQCDDZoVAy2JbmzTs+LRByVYXjypgp/ryMY3lutNO8iI3kJp4WpxOwiwL0Mx5GzTNQyE+/t
Ea8+SQBdE7/QfoRiDp5oKxZjb1nL8W1VEgmBCo1U1haEIW7feTr4RktDYmIgu9j/cy0me0olqjsZ
LbHNSHJBpOcrFxiT6ShUE9nrI/IVNl9+W5PmT2mPV1sf6DLJA1dh+VeFmT6BhbvJp+DgoyxyYerT
cSR0k2wI8l60Xvq6cMVROcgLALE9hhNamDoLLbi8Ogfy0Lzt8uhVMgmGber0qRpJvbTSadw39G64
96NskK6hJOuiG1tMSxJEfJ826RjJ9RGE9hXBZfXDKIeMpLHhA+WN33wdx/O0fMYufbKX+EY7gM2f
ycW5IsWQ4gitdJo35VMJdWhXKCQVMpBRLrQ8K3aDMPTTtDw6YGuPIFwk7F6cmUcO2BeWGSwYG8ai
1MhWpl6nQVq+KIpcXUVz91AOBmOvTpBKr+2KKnopFZOu3FjchGY7nsoxf2r8+sbH3uxocX5DOPdb
XDUPuZydlWYJ1BvGcNPUUuLGavZidcnrFC+AfR0RcqRrxDFpHLLyItU3el5qJAAFIARCaU9iz429
eFnVkO+LQeJVLYxbxVKuSNvIt7iGk03xXbBGwITTTEl0Ktjsmf8aqWOie/hCGiHkG9+iZ0woX+HE
U3pWa2PXwk5ca0F+w8y+dCY7fDMm5apPBYptkkm3IsrfDHTU9O+k1NFphQLylMlclvRp4y8kMQZJ
yZoIsCPRaE/4RlB6BGRsp1SAq7G0+tyBwq/t7HYo1r40BRcmTYdN7xumy/Z+HAyemdHgfsoRwyVs
4wyn9Va5KMcIcoAK5Xpumgboqg8kykAfWEBYcuIAjsig0PyRwWKsDQ0JB3DMeTMjTlnlYfXQjiwI
3WQG61L2m21VBOFrW9hftYjQPl+K3nxOBkZJE3LhM2Q6spsAA/LZYlnEx6uBD8l0EFOkpDLlJPFC
0E9Vl3ZTZef6WpbmL1xJ09VtYIyxrO8KAXGoh7SGWkQlOaAJX2FCH8cseRNj2n9JYf9xassaR698
wYCVj9bYYcYxi55GFzB6ttBnrDS1fuAE81Kr8rOQ+5TjLGkPOW2hfeV3yUbh5ebgDUYg0Wmwi6VR
KYyelTbvVZAFAkMoFLE103WY83Lc7RItLy+FoPUqRr966AqkQIKIDeRBef1SFujB+6giD7jvjt+f
GwPkxvKyoQYUvFJ2PasOoTLTTgaLDjJsinYS5qWVHkX2FgPRv9SX/1GR8iGP6JcK5MO/9f+h3VBb
7C8/HWP+bcJ2U9bPbTr9zk/z4//921Fj/qXjjcE+SK48+g3mp/84ajhRqUABle9jNn7f344aPIem
ClaVACc8NbLB+O3HiM1k+mZhj4OphK9P5VD5n9Qbv9cumBQ1lCE/DdbqcND6iQmxp9WIlvKvPidW
0sDvckXZSpy/9bLY2wMtAPtfNe2HYp1FoPBPef1DIsUvfC9cKPI+VRtem1kmQKKnhdDJ1UrM0Zdo
Kl9+uhO/6Tv/XoDKL+Gy/fytZJCxJJQGk5cg5531tZ4zKzLMNeMltx9ffKgvfaQeao0gAhKDyble
6b75yTdUfj1B/PMVqR9//u2g8UlIwvfoEfe1pYe/Tn3JKWqiHBrCVcqzTA4BX5heZEhjM7vIs0/6
7d8FT7+7uO/Oz8RKR3ZOro0nsUyKAudo5Bm9gq9vOnRyfx4q62AtkkQycmGpfHZk+nVK+88XXi7E
Tw8RLfmgMkRVeNPo2pfdKb1s70Ny0L8UZ/bxP99TjGe/fW7e1cOg9NW2mQvfy3ttXeo2heKwnerL
wB6JibMRq+mf3b9fS/B/vs47OTkZXjIsuHH0BlNsF1ZxJOALE1NkBNE5xQ8p/HnLMsxZ5BYZEhVz
/VknZPk2/34DgYT9eiXNmeTpWRlaumLKtpfP7WBtMWvuIixjRqKuyoYrCoRdmGvaup9c2t8qOMyF
i/DL7RP2KBWyNbdegpSwHOw1Y8yt1Otbm1dGH32kXcykAWD8+U5+8JSKxSb48+PSG/IkKtjZXvlQ
3kTfJNpmIx3alX9fH+Fgzp8+lx9dzXdrTUIEpNASrfJs+m8F/WVQDNpkf398ZlY0Qm0rqdsosXYn
f7rAve9m/f38wP389fsBZ5emwa8Lr0Wd6URflIf8WITH8CaqxCY8Q8fZD521IgILPuVX39zD8jzl
x77ZjQesOF/9+IBMH/ppf5GcDDTIX+KzIT33FyRCrlgrA+1YPRcneKRwm9eJC0XOOEouBxPmLafi
igSA9ihK5Z5QJWe8l9x+9RXboYqpdi2aXavtG90heWoVPbbX/TWDVsVVHNgPrWNtGw8l1s7wpIM/
eeNmXOsEkG7ofO0J/5Q3+nry8l0NBrr5Gh7rU0MK0r7d1aeFic/AuKSNfJtdS5vusjpX1iqnyUoD
/F67CLai31a74FDssIXTmseI+JpeRSHqg3X/opP9kJ8kuvHrcVtvl5T7Q7dr/ruVEebvr/cEaZId
MKcm+YicD6u1MadEO6v1aQz38dlaDp4+EYG9uhL8GVXsJ+/WO2LQPw/DuyUZI35VJaOset3y+hLp
Bj1gXWNU99Wn0KdT2xN9WD9FCrMUlpW+Lc8ZyTHkyKzaT99w66M34f0KbY4snmrve0I/yKjyCR2i
zBbrwY73zYLfwH8fNOl9OsgHP6s0FwHIHuXBYudeG4T7rZpSkd0GevsIlg4RLaOltRrJ8mqcBolC
uCe6Laqu42hdE+kNmE3t9wNs+Q1FOsQ4ormmqMOHk15C/U9WA4l5K5UTQzZ0JEmgHDMawL21cOI0
uLdILGvl6S4OFG+MRLih86I5fTc9Rnl42TB7j9s0wBulE7FuHCdihUScVhvQ+PTY5zXsfWYw2Sns
87UUZ2vO3fAAml2AwHfV4caXrYR0yhixoRwZp7xQL214AG35Eogn5TMB3wdliLDf7VmxrtmpTraT
50e7uHqw7eBFEHkwRt3Zwqof0ic1y2tSGgm/XdXccdbhTzaxj9b0d3tYh4OxR2/pe4pfvYQ0fHOC
viONEsBnKBngPuBRbGvtszX993smUO1f3y+dILyIeanvVfmWr2b4HP55yJddk1jF6xAxaBNdhxUg
hhiNzX9p7jNRr/36i2c6WNkYSD6zTVooCdjpUkAo1tZhKdaQ2w/6fOiNq7y4/mT3+uibvtu9dC1D
D4P/fJ975NLv06a+Iw1tt9zUGIV7Ih37Oj0bCju1qR7mYG97f/7Nv6+AkOn9+k0nKSd6oDTjPaF2
h0pX1zJq1caWqASmQ8k/L2XQn3/VB8cCId5tYQWqMoJWItUrJoQ2PtZ2WNExzfqguSPag8oowjUw
09r4zJ/yQdUMpOnXrzfOTZ1raEi83m8PEuRtf7gW9rTOmL63inKIWA39ybr83gHgoyST9dkirYpl
HfxN3fV+8ERaqaktCQ6kYDLpICQvJc+GzSEuUOUro+0jY6W9mLJEkem1TGewd9mXTAaVqj4BHznM
6eCllf9IxM8FYo+GYHWNKWqlxY7U7sirgoCXaPuq2RTFYZpZirZJvSEVkxm5tKTOdP1qQibAkQQ5
hoOIiuigkVV2F3JnyRGpxs7JzXDZuJ0QH85wrc2HoXzR03NJkRhu+35b214udpiXR2s3M8AeNzI8
RFqvK4nGJwWdxJTLP0wIFtTTkB18/cHQrzv11h7vS/2t1b9k+Y3SbxMNlPVb3+6sxusbT0bfpmwz
QpOyrTIuH7oJN/W4VfodM8Qw8AJY3eFOQomJwhBVQ+nT3EPEC3xu4iACjd6xiKeJNe0yqbvbWK0v
NJBynT+fyOE62CWMSNpzJiNNOiqMY/tN0tleD02hr07jlHhzrN3AF9l2k4c17qQLZAt3fUFPa5qA
mCzxwWLdljqpW2Rukp4WivGVsLeVJaYbO0UA0WjiTcqV66kRd3p7Uora01Lz1gbTkmsZaO3wYEUM
l3QMBk3oTY3phmm9DjIdh3TiKLbkKlPzdZDExqbKyZp6Xcb58yzb7UpE4VUkaNDOE2uOfpel8ZZ0
aRQeXAzSq9BvCflCDpPbGHzABOMr/RZGFYM0oOgVDci3KNjVdEDtdQpUHmnncAw74cYGVJ8CMi4B
wmTUQM4KONRBhx/nHBGn2A+a6gVSCYV+Pk+V7AgaTH05dCt6+Ia5r6L0IEpxpYT1Lm9Ht+q0tV1F
LtaiOWC7CdVd3xQ36ZhfxjBbYwU1rCJ7Pj7jFY6OsVouzSVnylti9zRy0laQgYDQ0k6lxX+dZMPX
ErUPnouNPZeepXdLku7RTGV3imO8ddZ4miLxTVfHm648VjphOTIvTQEDYPFJHvtpp8rRfgj062TU
j3T+bobAehFwxeakhT2p7kCLbSbDuGhXiTmdKxDucWVc9fJwoQpIvrPpDfJ3qeRWy5Sd5BceaBLc
RmJnhudskl20XKQEV7DLEjdUH6XS5/0dr8IA7Qjlth9DM9KT6Fm3mw3+EpD6hLnLD6ysq0VRk0dn
xYw+2yc/WmjeFWLKZOOWUbvOqyZvbsadqPp1SkpUFILBX46bb1nsO61PSWXO2F1Wf17Q9Q/qgUWr
/fOZi+C1WbcajShIci594qaDlhc86zdFLCO5N3ie6RQ3OM/LUwOqv8hu/IGwLgo+2bwh+scBjg3d
EpMn5g65lB0ZiQcwAbfPALz5uyXxjME1qOh5nYoYjUqC8fW2yR9lmWrnNRoALPkG0yKdPRIDgJC2
PuQoBKeglBu3Q4ox2FdBfy7z68Qi/VlUjnWbDbPz50ug/r7zJMS7kmgO+znpSYbDe5KvVCSC6T5V
Qeg/ssOsDE6dYiRKlgZ4H8CBm87kEDo2NatMH1kmQ2X0sLiNRMTnJkTcNlrbqnZB5XbKKtO9CpPg
k83X/uCDWu9rKUUPZ91Iag/ttxeyCVtSu5aDYZvXD61+LdvEvGNmi0onUa9qcrwYf2GAai9AKm+y
wSJODdVbeY7UYx/ivt8J9ZDC6iBM3u3CxZTqdChXawAhLY/bC0NEh6iq7ZIVmODrHGPTaezKCRJ4
XH6+CXnFmz5cz2jiCsLncsz7MFWWLO9lxaiK2yxwI3sm/4xIeO1rmr0tRwAIjk7Uhm6DGwRC6UpZ
ZEE6ORe17PisU2X7LA1PJOoBBbsoDQN50HTVatNaTXA01ldJ66Whp8aXusq0Epmd0vAUSqOj5NFF
cT+WJK2rgtwNZg8xgRuD7UwkIeb8+JpoodEHBp6ZsKgec+xgmXWrs3vr44vFotsR4fTnx8pY6r7f
lA7WuwJUIgVOSxqFc/MFGZHbAl/pNlXN89QW24AwoibxjPami78EA9Lp8bEKr4ysd4KBo7RJhmqH
1RZDAti1jUgPMeOFBA1J/P2QtQctdGNU43qsQieo66PmJ26XLDOnjrmPv42T+tJOGBJFBYByYs5N
1cuIn1UFcC0xrbWJ9gHdzqFNnDwJ3KrHtIATEtoEMamwk2xrB7QNyCP7qpG7c1W4cRS4ClZt+HQw
FD5Dxlgf1M3W+7rZr5VSMGrzjPTRb1Qnqcwjm/dB7ueVHrQ7plenKrKv1E5/JYT1tpO3oSUfVW5c
EqDprCuvN6srpSZorSXYVbqczYIJaXL3P9R9XXOcutL1L+IpSSBAtzNjexg7iePE+bqhkp0EEJ8C
IQG//l3jZ1/Y2nGmHt29VedcnFSdHll0t1qt1WtNZfSZtVMWF/pq1uwQQJk1FsCRdedLtClwJ/ka
T+OdBVl4GoCem4E4uvk+A24ncJZuRX1YgHdMJYEWqcWYZ/AuaNS7wcZZMdhDqUagQOcjXb9FPbp9
G4YRFkBr9PJmABx3BVixAutO2wZXENC9USTGo2h8Q0rQRn9SFvPF5xtz/yGXw85AWxH/CzIqVxup
b6DSfljOBFF4P/u7O/55jBNwa+eWAFwuHg3w2ATJuPiQihF1+vR+RgMzzc3tqt9BYPcAru+bAUy8
ahKPLQCRqLl2DdX3ahU3l9uK4fmy8KfIcC4RGwZY8DhNgyyFCgqSV3hL1nfTCrZTiMmCQXCbf0DM
565J7EeU31m4fdBZUae3vKfIv3jjVfr9uINKE5B4gB+u6+e1edxAjFLGaCvY9kc7bxna+ifojO/z
BjVoqh/AsilPIcbCmThanun6whjha5f5xLmfJAN4oLVtYkw/R+iNlV9CdLTAxA9O0igCWje+7XTx
CW+Qt/1yC2Xfw6ZndeH4fvXHz0H1vMO+YSY3HQGzDNEQXqFxqbr0th/E9zaab0tAG7vV3IbAM5w/
I5izbkd81gAkFhe86s8d/vQ8IPb895sO2BOgv5JMtsm7cchvQ8UPeNfEdCd6/D26lefeleX3Wy8/
/f03X6lYnlpZz/7kEcxYhC7naRlcazs8FqUpBv9DPKCA3BqliS3JDtCWv//YqxvsFAeYI9Ig/xRh
JmP1iPkeaBJBqpb/ZKW4hdBOWw2HHsO0EUD6AV9vk3K75bgH/f3XX7nZn58Gn++uUR0F2IPxLLZo
ybXxzTa/XSExIfFnTpjtZepi7/3srX+Iydg5rZjZ1nLTuCeC9Z3a8CDT9pHgbzzvbDAHN+PvCfwo
C5U4KqGb1VUxzgGUpqAb+fvf+lr3/2m84tl37aAep8NwS7Map2ULAQ3IX+4xy3odYz/PA8taU2hf
p3uL0qPGsjx/10mMTWMoSLzXNJvAbVQnX86xq/JPE5g2ym67pdj6GBQ0y1Dfq/7ifr/2aZ0cCBFm
YM/wgpst89zv0Qecuk/nx3/wbEH8mSfgpAHqAiWnOMi5wHBx9H4pvthcf5tDeV+gHx2OwFrllx63
Xomq2MlijQqrmc+4W2OW5ntuiqsp4rcVgSJGjnHtltwCznNLc37pvvNK4nhiynj2tVXY4hXZDCKz
TP5I8fTYxuMJs0rnfJWGJXDQHJoJnytchj2/s5OqJihF8iCFh3NEThWRA+MDtEK+5EV6KNl0b1c0
i4cvKrkhQeGXq9zx1Lac+WIDEaBiN7fFxm8lXstmRPA5LaZdckvwWElx6l74G1/bVSdbzRwUGmMd
BVmB1t85YfSI0wXcM+dWIMPURB6FiF+oSfP8f3/z/wTz+HhZmPL/J4wH47gNv86Y+qn6pbvv7XMk
6dP/419cBznPOgO/AZFIIIXJuRD7F9dB2P8gujEsBgTCGfKBivdfXAcL/wcsqYTiP5hsxtw1nPRf
XAeo7fFvApAOgEw5Rj3/TzjSP6Z5AFadIIjDcO23BsOzOeSU1uR7sF5iPH3NstNIQJefjpD+sydo
3P0T1vU/4Dz99mx77//3FHo+LviaacerB7ngCgNl2JOWyQbSOfpQo9l+4Z72inGXbFMAkNMsjbSn
hJctdErad02dX2Kgec24c6pCNblOLSvtiSfznaC4YG+NuMSw8JpxuNHz6iCNwcUzzlh52sf5dViD
eKcXkI322vSnbsmzBL10OiSKTebUr02CNqUAEffKkgvZ+LW1O8dfUZVSo+NkTmdBsat4GPNbUa//
N6WOf99WQSt6/tVna1/ztYrzLZ5PNcgL07S5KkVy/fdt+eO5DdNOwW1Bx7fk9WrQIsJL2dGAkXsC
9lXW6rs2GygQ5zVnEiOVJriNuoh5fmzq/EnpbEbZinLGFYboG6F7dYOp/N7vczxVv882jK16ZGCT
16fl/AJtWGgwgLj6edLTw84z43GDpv+aR/oUm6q6byH3AimG6ALDzGuO5CS0Jd3k0q0gcekq+6vk
3YH208+/f+rXTDsZjWEOr5kg8nRa6CDy93zrgNRmW2Ev8Li8Yv+pEH62L0M9p7xi0PNqE/EmH0kP
zqdiuXBxec24kzNT3hBI5xJ9CtpFPMimnD8GwSU82SvGmWNcwFUSqQdsugaXDI3RyjMfvTbd5cGk
4JroEmB4TypJVvBamhGUfJs2nnvuJOQpwGQPJsvB+QOBtQfSpNFxxbiPZxg5GbloIl2SoMfi1Qil
8A6Y4Cbf3vvtjHNPGYatiLcCSx8xIaIOYAccfogQMxZ/N382858LIKabnIwM0XQBuDdSACuCAD0C
XKVPc9i2Dwq0CdMh5xXJ/v5Lr3iPSyi2EHCvTJjSPMWyBKIpxSNRu8ra7xu4lGAVxijiwob61A15
Vd0oWVXvlgqUBwe/1Tvf2K5pbieCwIJiMruaZYLZcTX/42fc+cZNIJJ6JqA3HMJYfA0Cun4ZNsou
nF2vbbzzibWAdM1a4xMPJRgsrcBbW9Wp+78v/fz3/8F/XDYt1qh1wBMdaOJGbn+rhrNbjFIm98Gq
mIR0Iuj/rkUXcq+dgqLTyyMe/BhgZB817oyBAHnI+YFqbB7//qf8eZ8wcPXSdgQ0cLkl63hqpIJs
+nJY0Wn3M+0cV1pODADgBdKR3fQZalVXgZ4uEIi/tmrnuOqHobdhhVXrkr5pdXMjx+jot2on3/Ny
qIE7o/oUDuynrdc7FlivVT+xVj0v1cDfpKY0wlFC0I8vlxJkGfKSBOCfdyR0GcjGihWdBqvTqUnt
LbioPkZs+OCzI+CzeukidrZyHIZUn4Qp7yQxGeQBbvxMO5tNRNzBdoHiFVJQO3Bnf+UjqNp9jIPt
6+W6ywTzUQNBdtQzqd9stF5uesuGz37WndMVJArNomUxncQIoCJUJvp672fZybqcYS6JaDaeAhmB
NNAe8uoSDfyfvQRayC+3pMNcJyu7YDx1TfJuXqrHPqVen5K5gF9AECMoZm5YtQ7wBkfijyCF9rsR
MBdZtyW6DjDUNZ5oDUkQIAKK3nNLXOxcJcCPRuNuPBVJ/11Q/aCayq9GYqnzJYczuX0PGrPTUkbJ
le0xLT2XQGB4+YmLhRswmlsqSASdQq72EW0Ps2R+SdCFvpmUpZDHrcGTPGAgP06CnyLZfvst++yb
z64CPE4aDZo7fMsw/FaugGr3o9ehz1wEW2/zPsYA2njC3uzAvCqSSxPxrwTOE2bu2aKHMOUT0J3j
qQw2oOj/QbPA8ys62TWdkqIrBhzueEP/CQIsDg6P6YffVjvpdbXLKOcQ2hJsWcAi1M6/chr5ZSkX
oJFGRQJJBDmdkpXdaNCG143xSyUumiAGzBodRUgd95bc4xn5CxQI5gvLPme6/5Zu6C++9L4hhfzy
kOB4X+Zekd2sGhAji6ZVv9qW8fYQyXT0upZCwPPlT6V1C8qMAtLZIinAIkMaIa51mS/xhT/lFZ90
X7lXyJ8vhMK+WZc3fGLfEsYfvBwncapnASaoYZnwcYG1BSfUAImjIIDAo591Z2OKqSdgeqY4KkSX
xen0bjWTV/uUPQEvnsWp3UQkBZ5bTtsKxEfagrdpaufBc8fZyy/ay2VrlzxQp5WuV2curhD4Gr89
cdJAKyBtsVU4hsDm0uwWqNQBCM8++Rl38gAKoXmKwWCE/mC6n5YPKLIOXpbdV9tJbEEtRlgeB8wR
DSCOSi4Imrzi3e4jLaD7QboAuH9aY0z56jj52DfbJUGEsx//IQu476/EhKSIFzudcvCmg15qAJv2
AwaVef8pn3ny6LU5T/QWz52xH22OmRPwHbWbgEYg8ntsIr8gis8J7plxMSqdQOZoPEkIEdax3qs0
9/yoTvQDz44KPznrsxh1MEsHfKxft5q5T6/1hKSrGSigyPRzIuNOXkJKvOYu4cvtIFs8kX7DmqOp
vVNRfayGofLcaifso1ka3vUJtrork52FfiMUmjzrT/fZtIus7acKNWJiIIar1gQEpL1kfkdp7ET+
LCpoYwJFesID7L6ZQwCO/iXmeXWI+ZUd5871KmAGLK89dnxJ5fWsgkO15F5dM/YkNPjMt7G5Glyl
iH3d8RsN+XSKe5ZXTD4hGJ+bnsIYikIxNmSJD3L6gOFsv6g5S+M+D0hqoeNZKmz1ZNlhSNPrTgZ+
5855Av65aRxzRUgq7Af4r/b9IiDJeqkeeu0rnv/92X6QGeluwAXiNDdAADLkwoJ6rtoJSRV1Ta1X
OEiIs2Fmzd1qSk8HcSKyklZ1MobYVbBJ9hCFEIoaQ8k8rTtnMcXjHNjZQLYRhYAA0TH5OIlLPaBz
nfmHk4c7AZksU7kVM7qeiWlidQ3WAfFmXWgI9qwlET8BTToLcBOQbfglrycw/LMPPG55Wc9di1iK
KQY+px851Y2nbacHUudqVf1qx1M9bvJqg7oPSACBaPIKVVcJWs00iMe0gnzcsp7aVGXN6Hl4Rk6s
rpKC9CyCadD3vAcL5wdRxXd+q3ZitR0rqI3VFPu9qVMMPnVwzVz7mXa9foSgdyBqaPhtEsPLVT0d
kjbkfvkrcrx+pFDdCdtBnfiWJ/sl4Stop/0afUCqvkwzUNFblqSEF/ZTeuIC7h4vbevnhqFzEuGy
XwPThyNUNGfo8wbpR3ojmr6/pCj5SpIMHT+f25WBGgmFHK4ue1WFu6G/BAV8zbRzHw3yKYk3CU9M
DPQi1vpeK+OXxp7UZZ9Ffj4PsliFVNgWDP4s4wEPgldenviEdn5meiJMgPsHnjhhlFfExXXRte/9
TDsH0hLQkRWYjzpZjmkcCG5Dwgg4ve4fP/POoQSqJwlU6wqoRFvRh6Xky3HaUv7Lz7oToeA+h7ir
VKiJJPslx/ILyOY9e6CuyvK66ZjNtFGnesq/xwFoByqMS/qt2wlPKKwFveXwwmYUv0DquB/YPPjZ
dkFHBAqzfRTjg/YByTH/tIhhBcKUp8bPY1wdXrBoQFkP45OnuhIMGgjtjZmkn7s8yYU+c/QqCJuV
9oiheLJvN4x2Ryr2QnOgWfsyJfahaoqSFqgyAvZ55OlpNpdK83Pi+0OR4VLNQ/4wDvIBArhjs078
PVVayes0DOAvLTSa9E6VG/8kjU4khr0GHR3KcJqM5x/mRDDQBmGTNr06VVb9hhD5tg8TsGB4eaqL
SQqkHLWZzo8jGuxh3UAzzIl53sWetNWefe1UBFawUatTq9ZPXZh+Qnn2xW/dzukqQ7a0BgKbJ9Fv
5Dfo1ZLDNvagffEz7wSw2aY1nNSMMj6Rew0GPXCGGz+YAfRuXnpqPg1QM+2wLSs0X0w+fC1J6Hl2
uzKpBGgdqFPDWTDrf5zzDrMtzK+DRJ2jNQasT2k8kZyWMz1+WdzqdHrw2u6nwaNnjgImzGqoNygb
z2dKu7zA9KyBZJOfcaeC7EzVhAGEoiCbADUeFDEYs/ZzExdZNw1FI+sEtz2g3b8wk2C2YPaLehdW
J+YOOg7UolovoqMBmQlmyMpL8nKvVEkurK5BpxsgrATlIyvuxxYKI3Xq16V3kWlNNIFf9SyMvbUG
g9DgZN9VlPzw+5ROWKKOiTqQZyHqRf+tEaqF+jpAU5cUtl/ZFhddFGEyKLEdWg56yd9XoBvJLfUr
Hv8DLVKMjvRcl4ICE2OyE3hYoWri54Yu4V5E8ziCegjKx9DmmJHlv9p48+xouOR6Kij0HI5EnVhS
P+Th8qYbLs2/vbbfTmTOm8ZMaALTy1idhhzF+lT4ZRQXUtRgsC1GB3c4CZ1/Yot8YCb0NO2UvIFd
Q6tzBH06y7t8nj51qfXsALiwk2VqaugKI+q5GX8iB9yptvOrpV3YycTqmooRMa9BuRwHxW2bDn4X
aZfWHISzabJoNAExUX2VNFAus/0Hn4inLugEDC5aSloPJyL1z2VM3hYbxr39bDvXUJ0uHBPmWHYk
zGkrgrdAlXuads7KQIM3FcSqaC105j30Nx6ECI5+q3bq3HRYQ7aFSLDhTB7LiNxtsV88QovoZWHS
C0PCDarmp0SRR0WgrFGwwa/qoS7qTi/Myvp8oGF65Xodz7Idlvk9KWCy8eXKOe9Vi7l13Fn6NLia
Nyq+BImdvIpNKthL6xhdi8C/jXMBrGU3ixXvSryI+n1Np45tQwWAcqGGE+iXv5qUfOiCxguvjLmg
l6s2fDEheM6x4XzCbGAXLOA1XkuvmKcuhCgallibkqE+CQRkarpZYCg89vNxF0SE+oFCq4oPp3ju
PqRafNTl8tVrw10MUYnUVFYTrv3WxNNeph0YE8bcL+xdCFEyM5kWFm44bAZMNaKGvFSrr/xW7kRn
EjTgJjr3b8HneTWdRXVS6vkxzwf0s/pbYo5pDSAwduKTXXd4nwNpBwEKym/hTnBi8BRUEXwF2Xbd
gJdvEfdKgavDz7gTm9008wkqlLg6zCFmQ2oJPm3iB8qBDsPLfYkrNmxkxvdcpuW6iOTjWEx+B5vL
HGPqujOiQhURR+UAIaz4Ay2MF2oDU4Ivl11QBqHqGTceaYXFYHu7XUVEX5qG/XPVBn3Xl9arJihz
KBwPpwpxY0n5D7fU89x04USWQJdwK4ELwwlHQTNRg/geKnKQgDt4uYsL8hELi/JyiCDrnqubZDUf
JZVeLxWY/Hi5LxZaNHF77moHqmx3EGotDsGiQr8gcqkiyoYnW47j4lQqfsfBSp9A/MpvT5z4BPIh
DJoG425LH8qdGsqfFTRO/bKWy/KQL9EU62RBTTE2V1Ng7tdC+GUtl82hi6SKdASMjxlZsCtJo/fB
yr26HfRJPfhZStwSA03sHptCGpDwbOPbppRed0HqgnzQ0A54p8S5RyPXXdNPtz3kkP3y4X9wPvE6
A12OZDvrWR6SRt1vXPhB5KiL8xnJxqGvJzHdkIRo6vUPjATfvZzQxd+AVAjqBjHyeBShRZMEFd1P
eDb2c/HYiU2Itm6mLs9nZxhdj7V+NAl/9Fu4c3biyo1R6TgYQIwnPpghyZRVn/xMu4HJGOsAYx1P
OZT0Otrva5P6hWXsHJsyxfPkFuHFqWmBdkwt1BU7Cy0vv4U756YIBmFJY4fTzIIbgO9/6SD57Gfa
qWqXsY37NkA+kZpiTA4ynnLx2xMXgdNohTFNXaAvCxXr/VJWILnXys9NXAwOJX29aAb/NqT5GrYQ
Zy0iv+PexeCMkNfL1wA9XxG2BzG0D9A187ueuCAcpqRiQKuhAErK5kdYtvyK9VXtaZ2/PDFpPlmB
KVZcZdONXreJeruO0JP0chTuxCVG0CGxYlDoF+y9YOVNNDWelp2wBCOloNIgf9dqsMdh0iDf6jnz
q1C4E5nQMFrrcYCjiHi+6cx2u1B147clTljmDeSaxgSOsnF5zRl5L2rhd0V2cThbt8aAOAOmIWT/
e1nq6074tfKoi7iBbnzKITGFCkJCUktv0waW29b4XTUjp5otOBt6AZmg07jwOzoEp6EpPnpttwu4
qUQJhKACSIPHbBdHFbS2/KbqAN9/GTk5MTIpJkTOWEIuXKDrVjZ+R2XkBCXO4I5tC5ykiOMjuuu3
OfFLgS6AH/MARTcE+JBrpb+2gkKduIoKz2U7QSlo2uuhQ7hvJdn3YXMXkUvwyXPT7r/PvzRyIhJd
wgYzXnj+3ZSIo28tkKXfKs4miNOamm9HkU7kfiURNIH/7jhn3/vDD7qPspPdugQtivrU448o91UF
udelGMXtZhmIFivT9A+YsQDTfwm6Qr9k7D7WMtUyulYj6pheyy9RvIHwfquV9IwzN/eES57mFT4+
dBTuVcHeQI/Nb+UuGKoUMdCFuRggmJa2eyAYvzV8mPzSsQuGyqNGs43iISGJc1AmgzQyWb2eyqgL
g8LxN+c9mMNOE3ifyZSoHYij/WAiNHQ60Imu5oaP2G/ozv6Gvs2jVpDF+Lt/nlPBH/zTRUIVZSms
LaP+NJBy33Tx+GBCGX/OV+t3ULl4KAyztEwsyYByvQPplO6/SyMvdYxeCefQKQzQGwFFKEXbv4W6
924LG/1rqHowoBd5qkGJWqvgPu97z6wXOompysdR9gYIqVBOn+nK3kAD26/D6zIyQZl7KMSMNukm
IMEbtCME7yrjN1YEAd+XZ0xfjVU+wStPnY3D3yUhM+BMdvZs2YdOIU/DEc856NmfVj6vjwTSUV9D
SEb6ha2LkgobFY8J7bA1Nu4zRgMJJjpp7/8eAGdX+UMAuBCpJRiWZjN4uOQGsoRxIMA5zSbr1x9w
QVJbjUk0HeH2VJoFM138PgiNX8pxQVICzQwbU3Qd8bItoRgaKQPJ5XK7cMI/IaL+tDFO8dDxsJBd
JXqIEUHNE5br9a0G3gICPIsx0y5N5v4j+svqYSwpeewkZCdRGrUJ1Nnb+rbUYSKvu1qL2zEqgsc0
DNVZabTo3le67r/WaTNCN74iy08dcGgD4KCf8juKcvzWBAq2zGDyM7x88YM2g0btZRR0ahqilm4d
OpLqdlTDG9kLvxYTcwKsWqyJbAORG9SFv0ox7Ps++MfPQZ3gakTfjaKG6Yi9AU593PyOWhe6BMoq
bSoIsGbFAr05cJ5D0ONC0fNKTLnIJZPTKp5wIcyILNP359PqA65X7TevDXHBS10/rxDvhPVRSTAz
Qwu0+uln2SnFoTUxNqYAG2UE9aElv01bv3F36tLq5NIOIs576G9MVwFp9snsN35NXdwSK2PClgmW
eThcQbzizgKN5rcdznFnw46ruYdpKuR1OJ2J+we/485FLZVDFWG8Bs7X8bnYFwVej9OttVd+C3ei
ka9TVTCmRFYXGz0Q090b6Bt5OrcTjzKfty5OYDwKwD7Nr2PRXajFXgkbF7NUlA2kgjE3liVdeIBg
4s7Kj14b4kKW+AbG+4Z2+JK1hKpzshPW7w3WxStJudgUGiExxD0gS7zpSYJ/P/cEGriApQhCF03S
ygTYYjId0rksd1u5NH6HsysDCox4XgRijDPJeXWbcF5edZuqLhygr33N878/e3VYeBLETTLEmdBh
/Yb1Tf5RQSzbz8WJE5tCBSyalphnKbTRDKfXSjJP084dWY6NXTZjwKxNzIH136px87s4urilSqSp
naiOMz0Ouz7/qaBy6ufgTlBG+Qz13Bzs61qL4VBE9EFCTsCrSUhc4BJYvpp6zCOeSWve5dvyBlLj
H3zWTVxtTcg5SUULzjOiygIMYtC3tH3sV/YTV0mz6OIq4hto7lsefli1vB8n/uC3cPeoTDEZQmqY
Rm2SjbQ4jZFXXUtc5JI1ckiBjuBI3pCkphOkFfKm9EPlQRr5ZVSOLJEUABeeIa+U10lA9EH3bemF
9AUf/Evr0yrDCao5PDMC05EJP/GLAgN/TifEBS5ZC6wi72aenRVY80Dsq8grUYGK+OWii0hJulVg
0l9p2l6lciZXgkZ++GTiQpeGJBB5PcN6avlw1fRVuCeosrzinrjQpQDN04lZuCHGle76WX7ut8jr
dCAucElHZVROLaJ+mlP5HderBEo0kwwmv6ziYgzWEgKIZtmWTPTkWELxRENwxSs4XYDBlgd1NOaQ
q4sVuMPsKj5ipNArh2MW9KW3dNtI04JC7WjhQ3k11IW61nnSe3WLiAvpqrVVIBGl+J7DUN6EuCke
R039HN2FdG1lGlekDHhWgctK5p3eR13smVhcXqi0McBeMBjvCxXtKFBuexuZ2NPPnbQlVNxLSlOe
2UKCvSVSeQBcSlVIvykZ4vJDYQg1wbvgGGXtNhwM5I8YE3svb3QJopqepor0DckmyBRSmmehZX6O
7oK6VgDOLeZNSFYZTJ8ucl8y4VUFERfUNYATr+mmgmQqUB8G1nxUbeCFLiIupqvtyqYeIDeWsZZ9
AusHKOdq6+coLqIrDs2gky2FXNMK0umtEp9tsrz3+pAuoqtuR7OpttyyHHOiUEJOKvNxqls/bgHi
4rm6Wi4slAmy1hy/ibv2ahLE65ZCXOQSxiAF2Mnkks0k2c26uerK3DONO6dnLCydcHDarBvQFMPL
Y70b1+iL3447ZW0f47mIVMJC37ICCoi/6We/iXniIpdyNuhym4I5Q1P7kEDRsk4uqZq8Uqq4uKV5
aOapMqXJoOO0i6AFHfB7r/1wQUs9uOaWhOYzZHiWK5nm1yb/5WfZqWdltA5lP0czPMTah5gn/JgO
od9UD/kPZqkP2yUsyZwZCgG9EiQFV6H1IxAgLnEQBvtDVkkDbU3LDy2nbwrPUSfiyrPEMoK8dl+Y
bAjnt9PcH4BE80uCLmrJhKqIuOpNpiAtuYNSRBY06W+/j+nEpLKLalbwnmclTzI7BodijP1yoMsa
lAqTglAaHrhEIDpouhX6h0QHfjWnC1vii6R6JBTynzY0V4EQfFcITQ9e2+LillolwQxMljmruuBh
k/a6quMffqbdJ0qQHSycyDmjQZ3lrHufbs0nP9NOZK4Rxp0qrucMDFP3OROfGFRF/Uzzl7UsGDzN
jCvEnA11c9PY9Zh4cp0QF7I0yXKF5A9W3TDIZnYJuy2a5B+/ZTslOG1kjgGwYc5Y/KUgFmqMleeG
sJcb0ulG8zQWsIxJ+K2dbxS/xO5z/lz/fU4i3IlJ1jURpDjsnCX9sIqrpB0hcmjykX0t8Cgc75Ip
kn59JuIimBZtCenFjGQeVrcMbJl6CPzqKxfBJOdIlCA70JmoB8iUQkF7ZJ6m05ebn2/hsLI+0hCA
tvnjRIbqLm8TP6IW4iKY4lglOIQCnYUtlPFAGZzchku/+t3bXBBTUho5S14h43Zn3gRxqIvKL+O6
IKaQRKkNQd+dWR1DM326A2HjtVcguSimHu+UIGEPJkgti10y5sehTvwuPS7BIaSEcxraUmfxt9Rc
hb2nWSdAk3iRYmgqnVET7HkioRuXP/pthhOgIpHIfmhvZHOQgKRFHkHtcwll8kpF6MJ6wmgxpGyw
G1Wi81uLKDoGsZz8Tk0X19Mu8WChTjRlo+SP4Zq2u05Ms19UusgeaFkpAqQ8pEcD4LPmsXocylH7
3V9dZA9wBqEA49aUpaK9lklylAv3a0W6wJ6yTGRlilZnG20+SDYeeLN4NgtcTE+whFB4gHRT1hr2
m0r6rZ+pZ7/QhfTEOh1TCcXjjPW/+FIfalH5lT8ueoc3s4ICNjY777c94AzXoDTxOzdd9I5dVzaM
Z4cu2ske47keryA2O11Iruci6g9Hp4veEUFH5wRkDDg6ZXiyQCx/V0PLC2D6KhVd6WAq6C5UYD32
83kXtGgnyJgPIK/N2iAYD2M/kkPc+LF6ExcsRFYoDZhpmLKyINtuSGe1hzSUFw4DXFsvz9BWqyhI
TTNlXbAN10MsB4jQt53fncXFCtWBXqBPCd+E5ha5a2iCEmD0JAwmLlaoxJA5BCjHMRMUqnxl237h
uvGjJSMuWoh3DCTtTI1ZL5K3nXxfFfEHr3PDZVQqFqUjDPuMWVibnRXhz7rs/dofLmBHl9UydhKm
xx7zT8jEu9jOfvOJxAXJ2ob21TZEY0Yp+G8acqen3u9ActFAYRqm1sz9mKVreiBJvutavxdx4mpu
WUFAlRS1Y1b1+fU2/GIk98thLh6ILClosAm4JCkLDyAM2Kfa857l4oHirWJlAAqmbKy73SyWXTp0
fgWRCwZa277GeNKmsrYvii+pXar7jRTsh5dvu2RGoi/THHpYKivAwcKbfNcuniWRiwhK9Vp2cw3T
Ni31oV5nuU+GYfHzQBcV1M99AB5YWFdU3tT9fASM2u8ByGUzAnVfUYiiaXHWMX2ASFJ3LGdAbv12
3Clwh/O8Wbh1RUaBBkIp9z4dPB/0XDqjyra8yskiAVWhQNbmXWM/tdPW+lERE+o0a5FO8nwqYd9o
Sw9qq7/NQePZQXSxQVGZhqDAD/jRTOKk13CXgDDQa8tdcFBZtdtooio59sF8sGyBqkEDTiM/405j
aAUHyRwMUXyEXPhuA/Iopn6x6WKDiK4iparKHFVlouu0LLYbvabGr1h0sUEAR45JwQtzrIP4LijL
K2EGvya2y2fUpxPlGk3sI1Qk7Y6M4g3LK8+HQhcX1Fg7MUA7zbEa148jVEh2QyA8636X0kgELboS
03lT5gLKcUmagdTbd+XO/TOE2lVkFzEfRQFC1pTZeI/1+zURXFqjNi9N0CwJjOf5B1DXfM6tT00Y
CxccNLZDN61daI5BM+ypLA+JSXwCE6adhhAt1RqUls24FZYHw1Lgg757RCUsO1E5j7Q1UbyaI+Hy
axO017YePffDadfikFzHsrfmyNVyO5jqWmxe7H9YNX9Z3A94xmNlqczRyDa/FkVAdybqmc+FGdbP
vYtneD3IilCJJw5zHJfkoIh8zDevgWGYDl+aNm2NvoqazVFr+oYVBch7QSXpc2LCuHNiojw2TTcb
OCBXb/Gpe3SbR59UBdtOTCYdqXpV1uZop22PH7oJE+PpJ85pOY2k5lWNj7m1JNglrL8K+ObVSo3F
f2BBRuaDIo059hOeOdZ6i69AJP/TK3hcYBDUHQyfMY987Bd1s7XxDpvkc+pg3U5cklT36JPDdMLr
fTNV+6HwUi6BaScu85GuKqlhelm2a2HOJBvC71O60JdxVgTE4ogcCLnqXd/Jx5SM0qeAwLqdsFQY
i+Lj0pljJ8meh/NVF3vVVDDthKXkpDAU/z0Km//G49W+VPEvPx9xgrKKhNw6jcAJt+i6J73Zpei2
e26JE5Vdu06jlKU5tr38wOoffZD4wPKxI05Qqq4XbOqx2SFZcCbwm0JpvzTlgl4I6GB7abHZ1QTC
m6a8wVyPz2UnFi7mpY9AAkbxlAwZ9m4XQ1EjBr+G13d0IS8jRaTUrTTHotoOdZLpofc73F20S8NM
z0wQzMelhFr5XO4gVOzzrIH9cM5JosZVkQ7Zrzgr1lYppp03P+kSGHfiURQyrmmBdQsx/mg2/sE0
q/TcbScgk4YEwMnDdhnezTTdk23ztOzEY0PLLSa4KBznYd2t+a8h/eznIE4s6qKMuV7gIMDTHIDk
/n/MfduSpLiW5a+01TvVCIQkxvqcB8Av4XHPiMjMyhdZ5A2BAAFCIPj6WV6nuvuUzxmraX8as7LK
jAx3HBfS1tbaa6+VLc1w3WZwKVsU9kyNthPuOPiEQQwEhLxJ2+C6q1/yf5TQrHTndNsS4gqQUz7R
ufHXDfclA+h8wObLiFu38Xro/XpYzFUKdCy9pAARHkWew/fsiArvkJmzdExaXrkoL5WLbMUlwI3Y
HUeq09y12/Ds08X+RTb1O/ryfwD5uPeLhZlOG45LJrTHEKBpeAxXNQYPqk+dzBMyN/KlqUktUIUc
F3WAZsMIv5tkmcfDmHpTH5qwrWgWrqnXD2rzw1LBELOhV0GLLL3Unkka7Ffz0thjTySk5gj5CTuy
r1ctk0vxmVkHiWxhPnjc+vY3mpQ1kOKr3KVw3xejOpuYKh5pexS2OlaNqDIyXEULw7Uvot22tYMW
4IEf/dxH2TDMawYxS3HdMkku4p0Jy8pvpDqPuNYZ5/G5QXa7Sv0D934R89w8GDsNGHOHtZiVRJp8
EsnP6x7oRdxztZwhUI1bl4n6HE7LTTwGh+sufZGEzFG1qZlK3HdUFtTHx5Rf1fHF0kv2xtRO7cIs
pkpEDM3h6UPyDSaHV933JQ9PzglDAuLtkTTxbVL7Aspw1yULlzw8MYdirFOLS6dLlC1JcKMh1XDl
TnAxT6q2TOYqWOxRh27na3wAhJqvkplDyLuYJ6yMnWrlaI9l17VFMq/tbknH+Lp89ZKNJyUPW3Dm
zodIPuDo0dKlRE/5JK872Vzy8eq6VZqEHe4eT/amqgd1l04Lu/Jsc0nIc+lSwmsXi2iY36CDdq9d
fR2YcSmFFC59k1SYIkc5md+ML5/wDP4ilJ/D6r/YxC6JRPPColKIBqhUSrtbqAt1J5fGa4i+Usu/
XLWULulEBI1w4RQmCOkdF9nS2W9y7q+CpBEELvaLuILfa9NHmO9JfYjsb74T162kSz4RdvcADaS4
cpiuZV7HYR7C2eS6zeKSUVROPem7DRdXfLiXQ4PSy3BN1RwjchEBmNfGJOiaPjLaB0XL9GNQyiuB
h0vztJbRaAyX2B6bM4cAfd9f2kpfmcVeEoumeNnGqqf2uNbVPR3bfJya65bQJatIDtCW4THBHCyr
CkCpkjmk3K7yHmTpJa1IjbHZDMGoiH46dioucKa/pkCHS1+ASMwEdRuAVHRMq+YgWZeLll3DV8Kl
L0Ck0PiKrZBtgzFYgD6KOVPVVbUFXPpiVSbeigbiHJgmnmRgbAj2flUsuSQURWwc9BjgwjOcn+6D
Mq0yW7Or5I1w2xcpXJ06EcaRs0cu26Uspn7oyqxXPfrurrv9i7UZQd1TQJfw/DT7vE/cWxxf1cOL
e7/Ym9OkH9ZqQMLS+DYqIuWPi0vVdeHqkuYzjLyH9TJSlrahh2VKM5WG103wS5JPQBq0ODW4dNzw
EyCUQvVXWVSy9JLhIyEuss3xjAkepOpeyxZj3qA0etWzvGT4nGnbkPcMuyONS3JSgVP7VkziusV5
SfHZWpqOZBhw9UpVYWYaa9rct+VwlT4FBudyiQZrVydN3x1l1zbZgPNEv5bX7fiXVJ92isZB6sEe
3bhl4G7d6kq9XTfqF0tU1Ta1A2mHI8wv3X5RyZYHIQwDrrv6xfpcgQ9OY5P6Y5UCAE/ME6un67bl
SxrRFgfJqPvNH2cfVAWUqcadN+GVaf8lkwhcX6vYuPqjacTHErBv1iX+ur3zkkskNfwMSDSsRxj5
WYhAzdHBpvoqBRYGOcg/l9PGiI6ouEp/bPk6tRk4HXGbp8O6/LjqkV5yilRnIMvo8UgD3LJb6h0b
/oojct6D/0XyfEkoMpq4ys94pCi8zj9TPF66K7tl/GYG2kBZC4Li9cdg463dXfddLtbs5sN+5Wno
j2z6ENgAQk/XPoVLaKRrSwoqpz8msMaYXJNNyVW2BHjAFys2WCnUyQVGSS32sebkQK7zxcGlL5Yr
X7egnSrijzhiQPDQbE1WjVeCIpcMo5JKqL/b0R8lrfQbsKPAZesYxX+FMJB/qA/8qwl0AY7U7YDG
fp32xw59vvQV1sTqNLM5SO7UhL78D5A2I/2rLXUFL95109a8e7bEK6RHZd/MbVah6tUNGZBEs53g
VgNJHb+VanwhLUuGWzI2rjqN87BOD3Ytq3SnQ7T73kyQ8hqLrokSd7NObBH3FC5lZNfJGLYOc1JC
5SGTSVp+pkESibzZEAKKRg5mLGzC3JzFadAsx6kCGPVEIxckez2FtDwwD97U09ILmm/J6v0OlcrT
3Eb0I5Io95WGZrpPPvbP3U59ANykbCn2Fmznbw6ftuYJzELYERp4UDeKRSh+BqhHQhKHUlaiv7/i
5T5eDTUvpI7mn5uHnBqkVtshhi0K7CNujI+T9jvpNlS9kqBpzVHVvN4+1r1q/H4SLFj3HG2n4w1a
mBpxG9h0Hu6TNuniL5BFX90xhtVClQs21W+2XJMylwkoibkjpm9u2nIpx4cWCpvrK4PjaFVogwa/
XJdpx3I4EyRyP5FN2tPZjVwVYadX+ogKc7VkqYyC9OuKQR9voFHrYInZpHH9qaq9DG+CJRG88ExN
7V6wNirzNEZ9YMe4Dx6XZFN0BymCVeSUOske16rqPixRXZtdqVxHnw3UFXA3U9ed5ciMCPOhtI3I
/FR3eh9C8SZ+1Coam3yArjzqU9sMRVPVtWi/4XoB4X+hrgzytONmKjYPFnoeLhOB0vogGSSbCDXm
IFIQ7LKBptvHxYKuldWx6IN8CXVJs211XO8hOB2mu9a6ss6FH90n1zQEGpgqXNwhTljAf2xQsIqP
sexJeYgJrM8z18fw+wkg3+RyOQTLiYeSQ7wblJky34Y+esfHWAjs8mY+4aDfswxaib397GphdQZY
l6fHKrHhDCGiCEi6p1hF2dTFzD25lK5SZTYq5y2rWxOvReJl0O2dFmuV2xI6wjC/2TaZm86gb3qJ
ubC7sY9Am6VNKKs8EkqX+0Za6gsCMv37Upd+zoLQGPhydLWThQh1Or8OjvJPAA6kKvolSceslYtc
Dhb/3BydiKctq5qBikeUDpjNIIu8mINsBf4+KM8TlQVsaOBbryHw44vRObV+JmuqwOOD9n1tfvAq
HdMirFoX3zWQjfwRbZUPD4EI/LcRFipf1lJHr0R0mgGzqILxgyz1FkJghi3bbaIWaBTnNR17sptk
xOjT0q5JuHdl23Q3q5OROaiF6yGziZsfh9k13R5rK3a5Scb++1JRIH8SEtruCP+goD4E61x+Shla
uHsX0gFyj2PL35bEBCc941+yCqou/NPUi7bpd9CVbIzeLXamzXPFZNP9RDWPsB1kZSLhwCWWMTv5
KYaqctbNZaK6XKMs1McZC+NqzfFl1/GhZyGdD0NAI3HXL/15DgS8RFgq+xKPC+dC+YI2toq8aBdU
HUxLrSRD1g8lUDRWt/1bR8Kw+i6GuC2/W7hQDEU4SqTYVdWw9raCfLe/6RjZmsdtrNnHxusgznU4
L8l+NMrZB0TTwOe0cobtUTnlUQb5Rd2+oX0kTt9KQ+RJ9KjroyVa2vLUM89+Ni5qwd6lvFvuu65D
uhC1s/3EktTBdU25+ufUzNOTUV7yrO2xooLcbpFuX2q3BbIgG3KMDAptS1xUyJeGQ9hjToQBU+LB
p7IMDzpwQ7mrkaoF+SB4Ge84uszKwooqMJniNgl2dRAs76wT3XBj9FbEG2JHtqDeeR7eD1E6Y68R
SCCVpJmSK6R4x8ettLu+ss86GNNth5DAcYellojOnZA03E+NDMlNQAU3pIjR4fJxWBPgZYTZ9H2E
DvKtiM1yz8agNqeUV218SOBxEe0pFsF0jw3w1K59PkAK0vnqPl1Yha6Smm73gnXDHWAt7O4xeCNR
vvJO1nuj+aKylQIxzrBA0y9Q7FwfUkUbnkMG+beoHtLvSTqUX6M+7LvnnlcbZkJFFMlZWInCD0Rj
Q4RYJqTXVgnNwgguWLqpvtJZ7Geq3anrwmEHAF0V0LHpdmaSh8r7Iw1rUyQKpSPL48MYkzBLyfoo
Wz9msdzaLIU4XKYg8YR5WT8jjXBZg07c3PlgyTZoEuiUb4XkzGXScHNXR9G9J7pI+PhZLsG8j8K6
KhwMkQq4lN9tfFwB5WkRFBNc3QrZzmmuTDCnGYGO3sGX0L9CdG74fSqaV7eODvHcf+VSTnvoldOC
zXp55XNpiqGGvDWUBcYhT+H95zBtRYnwk3h/gqJdlMGE6VVTnCACRHhsbd3bKgLEw3JIM4qHm4ND
QTJK1nuyygOp/X06j+EOsvce/qmtyieuq3y14UPD3G8YRrYboNx4BJD1VVG57eJ4KUBrlUW71j/h
R1LtAoeKsoDRGRIA3+yVV4e1lUNepuGUh73DtuLIU9iKR7fyU9yDK1gloPgkXHQZL92hpUN619Pm
vlR+KRhbn5tu7PW+8sFv1GND0KW+nebtnpTSZJLYN7NocbJMjLtyYT91NT9IjXJx3mEMk8ZMWAnG
50Mo7nDk3M47ACTM/WwQgrpgggVWJEdkW3ES272Kmc6EV3MeNSrIaT98KLnkx2iS0A834TNFEwnU
lZo8VlGfaTdmdR/iPbxDF8KcxGTXJFTfAKxgZUYW9JhogM7Z2DXJE/zqOXaassAXkl2xwdNTZT3f
7FMkCfu5sHIqi3SuotfKxG4thrlB0ZFEta7vSEISYAezI+sD3IZ4sYSdVAcpGqVzfD8S5UnQlmTP
gUz5U2hics/CQJmMSvSiZn404ptZk67o6zgQN6Ip2ae+bROfxevkP8MnkoX7dBzKT0vTLBY5H/pC
T2lEhcfMHKFhLPtqewNsn2w7AWHQvF276BPsYcyYjXU1fuL9IH+OEpWf27Z1GB2nsaawnAYOw+mq
3rCBACh7YIFv1g9jl8ruxGUoov0YyRCM6zaY6K4nY0sL0XQSbKduKR9sUlp3aGKqv7TbpM+MdUU7
EJEVplXU23VBfWlNXSGnBvdK0S7TPMdpRb5ZDnO5N2XCxmVRD7AVGOkyfA6bdnBIqkTVHKuy7z6a
aaX9b2biy8+JgbWUjSwGk39ERoza1dIRWkBAOxJPs2qN2UWugU6d7tZGHzkcml5CQku9643ChByc
QDunrCZYqCrHx8dpWeSG1GScNHyovOue+qGXdd66LiYILHU4ZUBYE7tPbbeRbNRyHXI0PZPHAbL4
+mWA3IR9HG0YDvs+dFbta1IiNwTAzKBl5SN0A+NbdNN+7uO6oCYMj0iao3QtcBS8g8ybBf+ZkBNk
PSy/hZp5hHws2bZx1yDOfAqjePPfk7UE3dPMQzAdxh4a1gX6gmv5rOFOGt8MsaAlhqJmcTbPRKkc
Wj4t4gqTPlvwPJtjAk1qaBV7jea7RNZ1/xx0vqsfCWFdVSRIeUk2GSggPeHcApdwajcqdsitn6C1
WKGrKRTYSrd5XbfCccVua08TdRJETuDXMO4UaIBWlNlcb8OLd2J8pwNE8Q4NePRBzmrYpudUq+Wn
CYSKMoXe4LduDSDD2Q2skUfo3SMrYR5NFMU8IXfPAiPG26k2wU5jI3+nLk5e7RDoE+MpDhR1508I
hUQ9JPFE50zr2dNTqmRNcQSYIZ9Nt+2nnhP7Eac6wbOmH8s4H6PwGJVS7QK9tFMxB2Kgh5gG3udm
psQ/T6Se1jw2zVwg1onPm9MlVLXhStxhjfXd5yDkwu/aBrnA3YDIuz1qpKuZg+nivmSdCb+Gk423
HIedujtMwarNbkuJ/EAFTavdFgQzOXFPaXore7e+wnlS/QTPY5a5HUxXHQakWzXqSctAio02d9Pc
LtFjo8+JUedKOO5AK9F8T6Oasicu6bbr187yHNW/o4ekp88sPDdNVgb0Phm3FCdEGMd0sDIpVwug
jca0cIzKMFeV1sjHeJw8D1UffNDjrLATTZo/i4Ur97glth+fFrK2X7ul8xH6io0KslVF2J6sjUco
7vZb9JB0an6qrO7h/75Un1W9+uFzSZiZ87hEm1mciiAosACgFCAbe47w6zCmiPZiGnO/LWN1WPQW
nWYxVTWE2jbqc2twFg6h3dR8RlLXsKyjUQ0zddzIy5am9Y9EqeUZcHn8VvFkMTu1TerGwgAXSdLE
1gYLkgXhqQLzp6g9mXcln9RRoVKXKb9F9T7snC9v9Wy9fKjGUL4Nc/IIr2yamQjNu5Ga1I7Dgz7O
lwoUvh2LfaVvbR8vEAlr4gmScnJFl4vsU7WbPJX1g6vjLTjAFiW8i8S4fCqXOLjvAk6nImaNAYSA
liR+3EacK3ZkiOPxvrSR+urrTuksRCa77MaEOHHLSMuPa6obsKmieQDngjDV7/pkCD6umtAMIALP
O5E0Bxe3w5lm862fwwfqenheBIJtyCkaHhQdJ7E8yHKwdTbLLX1Ol2Z7N4mRJ7LI+UErnASz1Lek
vhfYw9evcJ9d5922Yg88TN3cHz3Zyi9951azGxbeYbdRvp/3XUnC/hGYHA7lc4T0EO6j8jvO0M2L
thOYttXGjoOY55cRwfImWuOS3YZ+qvQTYPz2hxRtOuS9WqciGnx7ipMS+Y0ex4cpldB1hBgwwlif
0vjzAN4WzSIIBG67wW/mYerrSe7KZOGPBK6q07GUE46l7Rom37Cyz2BNyNfgwzj4xuFAm/Z3XeP7
YxI5+tmCj9kiv0rnZdcSM2JWYVOsM22r9IZBRpVma81NkPt0mKNbqROZFgPvzltCU72QyjzomcaF
1tup3tYhq5M+/AA7xu2uD/3s7qNY+NcNe8Wwa+SCFvMRQgi7gRjObnrnfXTqpOOvysK2DIOuWp3D
WYd8wajR+FTFuttCUPuHqLOIOnb1RbkM8xOjHHG0IoF9VkqUcBxWbXprmuUHSJ9se7fob//RRTPU
fCkNdabVuuY+gBDsYZHrGmZriO7Djk+34eZ3CW1ItWtb5e/LqD76sn1aW0sXgBMRv8HmD8oZxPDC
LskD9EN9X6Ugx3nd7EtFIqdzdBzBcIM0xA43tBXQlReWbh+CrXMkcw2N3sGd17/NkYvpMWyxJ+Vz
nPhhX69ohNIN/BHkGi331s0j0i9tgoNLgHfky7hs6hRCW9rdrhZF2ZyOUdTfBToUGPxFha+6DGf7
AOpZyvcRTcXwApq0sXm7rK17nSpT/USRYTIFtuAZMIwpe1xlQ/cO1A5dUt8FHuMfxZ49JaY1zd4M
G/x+qRvX5JiAQRplMoVqebZUhD7WIjJJPiOw34dGLu+qalp+4LoHAQ1RqIbKNrQJSVGXlen30C2y
v1HlUeWF6R2izQSdDZ0bSrDzwd8Na7l3KmLHnnezvqlWrPEb9KL0L1ynJLntx6rBpKamKuaOdnXW
YkNTGVL5Pj2tsYtMhjqPQ4Ibtk59Emc32gJ7BixQkhX2Y3uqW2qLcWzTZs/jzlYPpjQSp55oZv3O
TWr+OkGOK8zJHKHOOCvhRE6GSrxADK2W+RCwpLoLYyAarzgEpOtN7OKVvEYlfIu/cwWW/sMi9ORO
Ccg40WGYy2Z8Em3bxz+2stPqAIE/+XOeYGF7S3Ba37By9Zg8kgoAQaHGqgqeymiDREhGFAoRWOlW
jNhECdp7C7e2OE57BXuFjzAz4lCCmaLkIQa6GbVZgKhDn6KkC09hV/O5WPjQxpkLMRi3NZpj4kMd
pYPe0xYj+HFptY12vvQrLWYOb45cL1PbfXbTiuiGEtfgHwnwwHdUQoY1k0KHZQ7x9EkWEDydX9oY
TleFkR0DY2fBcTrDJqI+MVfD/srJAMiBm1yPZJdZ0j9o2L5FhVw4r158FwZ9Pq0iXPJ+3Pz0xF09
7NrO4diII0ir91JUJP0JFClZdh1vkgFVKyTamQUe1X8Au3XuoRiJN9w0ImSRzkrj1LyXHDjm54GU
ipIM8AWaO7DI4uBxMAECbWuVgIZO0KXVmnHa2vlOI8lSPmNzFMn3Mk5TlaUh1WM2wTfqXWn8HRlS
nSxZ2274HpDVH98BejNY1aMWOuVlPeIBtR3fxuOCD2gK40M07dXIpdl7aOADc2z6xCYf0qVd5I6V
mONZtHLzFDbhpL+JMYDoU9/UZV3Ua6g4GAURWj5s0dLO0y822YL0WzybHsDDPLh6B+ZvgONTqyea
c2PDNPNIxdfrWHCXvcFTrHRdSdMfLfw0j106ikdgZfTKasxlf/BIemLCduyPYgp90XTaZFun/nDG
+Pdv/n+VP8zTP2oX9u//gZ+/QeFrrEo1Xfz491fT4r//OL/nv17z53f8/fDDPLy3P+zli/70Hlz3
j88t3qf3P/2w66ZqWp/dj3H98MO6Zvr9+rjD8yv/X3/5bz9+v8rr2v/42y/fjOum89UQEbtf/vjV
zfe//ULQAo4MHhyZf//nD/njFedv8bdfnt6Dpgq+qeo9sNb963f/eLfT337h6a8sYgINfCTFnovT
9S//tvz44zf4JBExgv8j/zzTzjozTupvv8Txr6CDUJ7ymMV4y7lkbw3CIn4V/ZpEHIbinIgQUuTo
mvnPu/zTw/rvh/dvnWufTNVNFt/td3brZUFKxOySaZhGa4+UPKiPBida0I3SGWhHteRrtI1f0nIG
JBBhiSY4IIGyX5EDNF6RZ65VeLtGTYQCjIu2TAtRvfN5NKcx9OXHhJrkVG7N53qxXzxYVw/9woPb
pGtf2Tj7PBEjDFp0g+uqdgWw0vf5JhCiiKqh5KfTk1IN/6BiH5DCpD45GCseA+kWIOCT/phoTT+P
bUdNMa8VQhhu/n7omi+wnxe52GKbWYl+HBoFtEji5IUk71HTjvlM1hGHDSsLOdC8ixZbEGuRbcah
uQdQsh5NL31O0IEDtKDDXa549TGxwfINhEz5ouqR4BBGYAO4rIx9KRELT4Db+a4f+FCYcGPZatf2
bmpMBwQHSVoRa2l+xDU1R5yLS7Tp8/EWB6Xu2xZJuR83Vr5KQvhHPhGWLUMIpEnDjCtICTl2ZRU/
D2aNd5ZF275pAFEq0vGCcOSwiJz4K1AsoJiYXznjXfqC8gr60uU0YK/rLIWnU1o+LNgMwfCk81n8
tyvipXffbBx4kdWYW02mRDhkUTgupwGDeTJtyHZJauMDpd1UF8Dw6/u57/r7NWDdk5YjWCQoRTZZ
gyrgXjGNUs9ouns6sejY12H9AKBt/uQq4MEmkPwDq1X6uPomuOtKM7+tpmlOo0nQtKeGsWjbFrB7
b/RD6uHTLhk1dxQ6lAXrycyydpIym0qBtgOj1L3r0yqf6jnOWhZMOB6lJvNJ1ADU2cgOAMiGozqO
fiG680MLABiwgY/f2kCOO5uK9eMCk7yvKJr290k1P4u2D7J2NFFepZV4BKaC2hFy+oNEUeIYR1Vf
yNX+SFqpHxxFeYKraPkHpeh/FD7vq2+jsebndBkc/xRP/3WQ/f8wfp4Zl//3yJm/d+/fQQH8Ryg+
x9vz6/8RK1Fh/pXF52oviRO0uiL0/WewDMiZgPpHeBTxr4Sitk6RJaAciaX2X+GRkl8ZxzXChLHz
L5L/SXT8nYb638GRCiJw5hFhCIMPjgaVS3aT6LcwMHwpX3icbtv61SrVKWRxtoNq/FsrEgcUlwNL
1wHAOwei71NdqnSYCiQZvV32cwh+LmCvaK5rHA02yIzRG9iqlTw8TGyL63d07xhbHbZqQY/iYzrT
sYzQxtmT1EICF9h3ex+XUgvQQTceNNEzwoGoXsKVUHxMooO1315k56jdy9FFI3moF7TMKhwIOcFP
5aw8QPo/bsuuNh3qPSopY9wUzbkOO76INYgipDlQ+jFNQTpbh2dEOrWUAHEiUtRIsjYsMZqhwhaO
8i94Ur83E/zTMHNBURQC0EeTGJ0G/FKGrUXW0XdUlJ8IA6kGZ8rNzizcQWoLmWeuuwFiNZC+XOTw
NfDJ5mleqajp/F73vas+zhVbzLm9ohIYkqkl4LlB8TgCK3BX4uHU6w0OYiVqtGO8JS3NxOREOuYg
9cUYbGTBFk+AsmhAQOybdol7WFtxAxyrKd1wLrKppcF9lSGibbgrA+gZpAcc4WNmUABqZTSfWi97
4GyCRyF/jpe2FDzXK/rpvo9gD5k3inHE3XVBeL4gG9FEFB29KmdQ8lYGaJrnSdKWU3RE+VvylyDW
3NqCDwAVyO0GbR3HD1oGhiZ7QcABbe9h5Vv330c46Lhlv02LgQBCDdIAPyNxYsb1h6EK5vlOQBIf
g6CnSeInioZefNqQUJzLDkNPQtzCiDIWDQ6Nx9F+yJkLz/dfOVfha6s6Soav/7To/0hE/jnxwBr/
JyIVxSPnhJ2PxZSShMaXyu6jnhIGI8TxIyqOqGndIBuS23IKYdXDkmJQhgH5ispNrwsyDbNhkgcT
zk01cFqZMP0XzM4z9exPMxDC4LBhiGIYWbNEXIoxVIma4Hbqz/KtKcPU8HVYQryDsGUN2h3Av/NQ
zYtqe/UcRE3P5jtfOWzSf8FG/J2j9ucbQfRjcJOmLMboXBJZN7FUtestf+NGm6R9mAEEzPVhHHXF
6DO0cSvJstJhPjbY5vUGng6qd5Ann4pqFXRZ93Jz5z9m2IcsqmhdD9GaR17PKw5nrW9m8dXEkyv1
vTcSBlei1eSvRLbPdPI/fQkGNxoOcCaGGwAoFBdkp4SkiE1Jv75Bua7GiYPN4ES2O+oWk64HFdsh
nk+QR7TmL3vrye9KOX/6cCTaSGgjTC0ShfFlzG5HQp3a4vKNtcyt8tVBxoPD7MSyAc9QwpYUHw4L
hPMaoGZs6ygPAwsv+fsOYHMXP/TR5rEiQJE/r9RzOQNplbOGnOdFGUBFtIBzJq/TR+PaKEoOsOs+
h5NlVgbXBG99BUUgIhtHFDbzNqe/SSiJ+P5D36U1VjFVY9Ohcpy4gKZ7mN9qLDLb15INeygJJ+eF
a22D21w9SIAjSjm9Q9xZZ1CkSjBuxHlVBuAv4A/5vyk7r+a4jW0L/yJUIXQjvE7kMEkkJdrWC0qU
ZeTciL/+fj2AqyzqllTnvPCQpjhAhx3XWtuYXDafmUbAiPcE2ZnqKDb6cevt66bXd9uxvZn/5q9/
ZaDbwZ82VZrwXpPotGGZKOPxQ78saUQd0G3Q75wmAfd+qrqGDxcVMwzjb2GS9+N81zFLemQWmEvX
/A0jWrLCZbdgqY+L2dH6PDBpgqmXVs3kFhxgGxSpQxnK8r06ucwo3bveU1onlDvPZQ2eI3yqs750
ja/VaiBzL2rYPPi2lEz/GiyV86cdOoq2/MPMfJVa93lqV1l2kwJkSenGk6kv2sAug+JXIVLpp/ZF
WPNeQRoNxosYCCW9Pdph+jkbsh3jpaw77Ucr6UVxurdnuy2s05yPZkfjuXdzCTbFDPvOPOLOneYN
lDC4ndP2pyKdtLrUn68WdVJRNT0XhdmN9MGzbojOzC2flP2Jprfe3ES6Vpr/oYbR9ymNegyADW+z
uNTnbFR94PZ3tjl32JgytCOW9Nc290p7+/FqUMENBC4IV8vleAf9jN3Q7JbFV69MTEiWbB8uS9CU
+83mGU07sWTgBxYOzVimFl+qshl5uu1XnCTpmubgpIUynkDha2ftVHbLLqrRa8eXQfd3u0Oftxmn
KohtfcuQWLXcsyzSqGvI/pxWipfUAosVJTsz6OpKvqhK2mp5RuWti57HKZWTe994y2xaCxkOKVZ/
x5w47UBtp5PZQ2WCBfDISfU3lgO3ut1X62m3hlnHPamfapstxWDQAZZJAT3gltJq0xkfKYzk0PR3
ZTdUSlfSrt7OmuyZNzaiOu0DKpCBOTaUneeS/cA9ElbR8k0o8u8jkUameSpTBPS8e1LPtvtmkilz
cS1FiXO4d6ylh5Jl5Krp3FuZiSgEKqeH2E5nRj2AVjtlSImx3LI2aATtfr3TV826/+w0lThaEh4y
k47juFjidztdF8LBJsnsxXMXOr6nIhxmokC75HDa+y00DIUoQEAqWp5NuvMRwaL0S2d7xCovzLdJ
xP/o3Xxm8OHUECRC4dX+OdBj5I8tEybcf5YKnTDzuAyV/pJ3TdgFD6oeZP2M8fUr7LUykbP9FuSB
V8/nyfbH2Pg2wy4kIA6sCfDo2R7pR/v7MswHvEsxkbBOO3C2qfAeDD91xaWNUoLr34Djf8SAkxTY
0g1osVKyCTzXfH+LYPYbfW039gs1hYbWcsI0sIieYUZsS2wNYEk2zsU2RjXW55Z+h7A//Xp730Ur
PAH32HIlB5s+uvlepmFpW0uOSzO+RFWZefKP0ZwmOZ8oHBQc+cxD0XUGLIvirb23fFBXKST1wpmn
34DTf34OyCTS5QGEpJvzfiWyxqby2jT1y2obbdlpg8zNx+0zXcyc2JYxB2XGheDWE46ouNBx76+X
4124QbJoOsK3hSt5GmG/P+xp1qs2dp2ODemMqmh3uGrD6XcTFUDb/weAb9Fld8xE8bzoN6nLTyvA
BxPpeIIhjXoV3sHSl7lqM4B19UtsJC7ZH8YCQvNhCAODL5vxcaiez9XFiYdhfg1DC9DRb1aA0PnH
kMu3JH0ZbpVnczzZ03cXfsz9ipFOQf0CYnHC/NGv0DcrTkt27yZXCnN+9jMajSatiGsQUwDQGYf7
uGLKsbnLSkk6erKon2CyM8MkNkz6BJcXK6kdgqjl9Z3WP+wQSMZkqPkM5HE/xpME3Bs3NVLLnxLD
YKTfBxWCATCOppfBSbqgxgA+7M4uBx1ojKFwmzdpwBNuTq03V+hV57aIkvY5Cnx9imuz7dP5lgwp
HxLEEEMf/FEamzaPkqzpmAraQgdC7jhqT7Wa/3Tg9L11Ld3x4ZYp5E3a3Q9ycpLwDCVcOw3LTiLH
3aGiBBrzhKb1Un0up6XFxwAnF/j41QNC2ZmVV+9kkyn+W1bSccPzV5JU6w6FCdLEk2mFRmj9YUiZ
Z49lWClreghzaeOOVBrxjiewIeQ0922NWmdCHy4MzYSmSxiC6BtFVg/NQfglSjSgfHoASPsldQ1A
q15T4WmXRG/2iXwy4xEWKSERn6o1ZhnbwpbGLlmUF897DH7Cf1tspcsJYyW0v6qHxeRRkn4BWPKQ
+3IhDaRAF/PH5DTH/Iq9pqoGt4vf3P4BnAIdPYFA0skkMZte4NCZI/60xzQ+YsQiZpTBy6CELiSY
6SCYVIij15FVORIuEIvWE1pDe3s9UV3p6kBLTW6OP6VPo2MNS4aYUOAG11TUmgyDjxMT6PX2xGjL
MIxPTlHOEcO5ykJk+fDnhGLIHN310O9VDwgv9cLmCDKXeMRUgVyyUzeUavynCb1r9G6pmTUCiIqI
1c5Ps9B09lE5KJIpIyo5466TgCzfe+vVWCjKYJ/Ukjm1MgEZFINv3BdL1CZ0UaNubpitmxipH/9T
kA8wqs0OXIZbPIlcMYrvtg0CHbelpVi86Kbwyxwtjx2YPWzHqwE9ZmhujRS3ZDGDyEwJstupc8z+
FHZFtNy5FQSQ+rEI5ymYX7gxSwVcuQhFGMRnM3dBEe3pQTJ/92CEpLLFxVrvk+mBNzGPRYS+/HCg
QlrxnoRpju0eZpr5fJDHMCU2YMtutv0G0KHDo3INp4T09F/ZvDKNRW25AzAMLMkaQv/acP9kPX2b
EMVy8KamLcEKYtT+I93Y5I01irKKn1f/QcWAaM7hjaYnOU4D3gsou85EhJHF5JGVN3C3f/0MPzkP
39NuAwFQQbHPea8K2CRg7YfWGJ5McHvTU2xWbvYwlyQTr0bpkOucyoC5f78rOFzf7b8RmsWHWbYn
idMC/v97Gh/oD+pVgWqf4yQM/OhsFUESpJQ87HoyjkB6x7h7sJqYYXoMX4wbrzpyF7NZ3gVZqBaQ
ljGMmehmrBd2+1g0OXzjkwVIwwhuOls67HW8pBZRH1YtVOke/m0zPMN0aSlaNqkZp+PZrkWbWaco
9mqErG1SPSs/J5iu2jnkToi81G9ykKtKw3/f26aY6lIf8DGvYMPfOyrLbcYxcvP+GSS+a7VfgfG1
xHlJ2/XstwOYnqzZ8kdG0Z3LZGaG1D6txGK1B+gQtv9JTZHgZ1RxdKZqmR0bBU7V5Beqehq99GDO
YaM0g6TXRYd0/cPCiNOUgUK9NYnxGBiwIoKdm5ncrzsvsNwiOcYqIn65uGEwE76A1gfVfqdKxHOT
s+UYWSK+N8wGZ9IHY3d5kqiuJ7hVXUKJZbyd6hEUxdE0slb4GtlrNwgPxLY11QWcWzPok6eJyXTo
eZPhB4NxghowWIgTdUHPaNadxN/06KxP86x3uVYhYyJ4d1hv5om7W7i/4wO/D2RJAF3CJiIYupDy
p7Jr2k1JEM598OSIBOwHcPQ6m56W2Im4azpmwXrH6SBZjckWuor8v109KqEmR4BcVIfRP4WPVYOt
naGcPlFgzpdXud71GXY4R8CO84FPJIDHJvzPn+tI26Il6wFH/mkks6whHIxiEU+mMPhcUXe6jjva
lbaP3eRQSgcIAXbwd1mZ5j/+cPZ1mRvpPTpvusnxPm7P46ScABYtT4PF0ecdFbiRZL+FqxgoUI20
4DzPM46gE6dafmxycjYQx8wlKzpSXJF6zIKIITTQPu2Ig/6kxOCPY/+b0P6d1hnhtG0xbcI0yTVM
Hva9fQomwCyJcOKnKfR7zZPLYn0QROt2/hdigDQKDjZ6vu3ndGCKXLMvo3lKv5H/gdG7bKlIyNDr
pabxqvKU5iNInmY8tLWnF/rXe/qunszjkgdJ02F1fdemkvujK+kQ/vWnspAf5TxPGBI3ifUpmoQz
8119dRzJ2AQpEKTeLuazCdIBz5LZTkhe8uuHee9TeBjX912yRP0/731xW4cJCgLJ8FS6fcJdMnuh
gytHdvBY4OcsOLiuHJPl9defe+Vn/3DAbOEJsiGP3i0TWt4bVxS4I5JDgaXxAGpfynbQ5VfEreDo
720ldflwqap+QJwHLHSVPW0xV9Q52mGooAsJB0Z/1oG1tJKFx94qckXduDO0LWvShVB7AEGXPIL/
WdRy8KaiInCAV4w48D+/fqmrVtsPLwVlAkfJ3lo6Xnhfm4fTFy9ySIenrSIb1FXgfuitZvbjY+It
bl2jLJ0sS3mACtdk0U3C1BRVQ/3JdSsu6kaoRjvV2hah4EDekgNQaylXPTNHxAuhQqa96xh7wHWk
rjtHTIGdnRp3MnMUjosYovTFU8LN6Iorg+D38wAPyDSOa7Bgj1IXaRMR685BS1Hn+oVkuPsrXnxX
Upv0OmiER28269w5u0YiJECv0jWH8phD1vSD274ZlPGyVCoX6m3bjmVGdyvfLf2sN67rysohfREW
UMK9G+VW3p5giOntoMJWcJq3WnI+wX1Qh54mUeWTO6HkON/nTqWfrwlcOY9n8jwfusSuRiavNJgJ
YdYAqr1sIhqG3molcfsb6/eTt6Ed69DtcYm37J/PpitR+hdepp6G0tE3dKmovL7lcRhwTykF6zX0
rJwRfV2Syd8a358/Xl8KK2CCIakyufqPBoJYK0HMe6iftlKmsEsT/5L1vsvnJ9cWl5CZw1PkEfph
G06KFv3/j7S5ioT8cIxBgjquC2AHXI/1092MlUhTawFCG7mRzqrSnPiNGqkT9ZrfBAtkYvxeT5e3
v2soObCB9sKgc1C4QVORVGy5mWGPum7YY5D5YVgbuoxfrj2BLZyfq4CzFHayNT2osdEAsNiQ10/d
TlYh0I6h6xf1qpA3szeUxQCoRPWpe1DW7Bk1OMQQq5Hs8qSMi9/pPv1krl1qgY5DwUS36a33HV+w
9Jnd0bz9uJko0hHBlm/NasSXreYtm2NsmOuWDqdlduNyehqL9rcJAFCqH5yycD2f80DLCOqTsN93
3EJrymU059OnolQGQrDYMj5jzPocUx34nMdf27OfarPC0xGAJ4XukgWU8H48iaMhXbCwffQpFmHi
OHvLpDvn7KyZ6hUhYxUHw9dReAXIl06FsAtzbB0Sr5lJjaLdxaDg+fLrh/oJ6UBHliXQ8SC9gZ9d
Vjflaq6qIv7EjBhtSWYnc3D3GT00wt81QBtpEk1PtdGzJsVk6gBpufoZ3JrIHmQ8M8Riz0VnAsfO
XSTZdZcYevdWQwmmtlhevbSz0/q8eOzFczOGtJ/3XV7odusagDbEztzCzp2JRre+VuJ0+pi7aJGq
Sw7SLoU+1Q0z7feCYdvwfTWP/L4JSmXO+8jwaol8AeC6eNd4SU/+WvZJQRY3jM21zoEyK7ffEoXF
4/m9oZPNaS3e/Xpl38cCXHqayjTkLSKCQL5HYfYQCE0o1PbLllkyP1UNpyoxh/BEajqn6U7WXO/f
BUTUg3842NKxMXNE2MAZsTzgYd5ZPHOsck77YJ+UjBfD33lpVAqaPowLaOjDQLbiS2UlgdvulzGY
wgjklx9X8E+ujRDXIdeybxIP5Nub1VNpoLIa+VR9tr7O1rIcKnIfeA+eKlqEEMDIwKaP46VqH9rI
G1EYLLw4Fin+1dSd2HLMew+8DOWa/DEfQT3SYyNpmguNQtBlqzxydGtTDPWAIQrirLWZP6UbnW9b
YatCzghxl7EMFms419SEEN0HBS/rh8oCOlGcDRTR7a90yHMoebMsHO81W0KJM/aE0XfZMRwW0DZ3
zBZcYvO89ORCj6PJm0eHJY9rZAtLmSVavncOyvABGQrJJnUyMMYW6N1QQ0Ge246uKmFTsnB+KGcu
UXYzD3Ts54vZcUcmEHdhYkA+rpSu9siOcW7GH/NM/avaQ18CWrCrCEiMT2I0NRqdFnkLcQi1CYKi
cwK5BmM/zr5aCMgWcPzRMRm6znjxR4WdKtJeu6zQNALvG/WiOD1H8D0abxfDQHSyQ9uoEbTfsnaS
E5dSIh8iJyMlIjRmQtjDMHVeE+0VaiNRuSekj1PnUlB369tPEfUXhheaTUDS+7RUaZrA10orz4TB
K3sEEvp4Gs23oDFs/9LXLVPZ9tkU5vDxatvXjm5rP6urkUj8uGdDYDH2c3bPUG5d/1vLrltPHq69
Tg8MthTLg9wLJehhqXQgpKA7sIhDj6PqiGtGyVQ5Ckvt8PfaCYzSkuMZe+6IE3VnyvbtYXSqgT5M
6hvp78Jt0sUf7xieHKCDoM1GHUcCN9MVrv9UsLjapetatbwMVZw4wy6vEbVOP1lwgmnsFmUc3iAP
HEg3Bh9W5kFbk9/bEIbHnF7+YbI0natSWMEDpEr3fhxVTS23t6JPeQ7Afx8IlEgebISFun2M1sWt
yRr0XGZbQiq99ZupQmVhDzq2Mw89RGg44oWdGdUHWMFpd2ugsjCfewo6ySFGH+lr2GVzenLQKSmO
uW21z6RLCcQgyp35vl18AtO6cu3x4sIjgpTigM4/NCHEtX2iJi+Cpq6yyboLgrJ+NDxCh50pI85b
X8TjYfQjuezK2K8PFOyq4BaN2s4Hb1Z69yQXZXAcKZv4vGzmvTD+xHroWzGMe3oP9hfLDZLbfJId
ZKjeSx9hj/SHlvrH61RAmkWv66sLavTVsOzsMYcxae0WJRLV7ezIhL5IvTqms34P7RNXf5ikWJIA
aYyW8Uf31OCMv4Mhcs406IoDOiGwFmsOqyc7pLvNCQCpQZK9q+gHfHIpvuy6QPRUmoPlXi0h/FZI
9/Nnk3nYJ9UIUQEqzrsPQ9LUH0OnhkWXRcsJNQ/5rHzDOYeBWR2rtNatOCnLO4Kp8myKeEbboc51
Ccp7AJUX3dR05D+ZtZR/zXDPP4edap9mow3vI+rnl7xrYQYDpRaHKqksCnfjcmScsMD1Lel0MR3V
31VpMn2o7M46LmObHrNU2NTdB+g4wLDmv2t/hCcMLOhjIUx1S5U9fhyR4M12RgsdBID0cmfOefBC
2Ti/hTgvP/r2MotdChwBQj3yOWafis+57NvPKLcwmg7Hvh8ko5dlC/VkN5Ww2SyjMASSUr64EYNb
vtRqLKs9dWcaGFChvkIKr+6Dqk72rmWrFytz7cNYt8559Cr7wXYi4zAuw/IdCZvqLXITanhzaByq
AZJIt4TWm0UL4Mar5uwGSsz8YUG25cGNuvps0Vq7xCNTTNBkmO/yOvHTfdJW4iNQG7iyAHVKPsUK
YbTN811di3mX+n7rnfw8C//xs+k1cKv+zcK9ndEqCHYZCeGuUxJ7mGTmJ4EBPhpT5n+QEeN+0dGo
qK8DzT5EyC99QpSfHqsxupZ5qPyq/NoXTNVmtmta3XM0kz18OAjsknF7cGtR3TD9zLqHSOt+nRJh
3DZ26+9D8seLxJw8VVXS7PCZ5Su1qGVXLUP6NS6zJN+Pdjl9bORY7oG5o6Bf0MvYjcCaFbyzvHzD
oMJEsvkCZDpkBUGw2AhK2Ubz52x4/UkudXrJeoQW9nm8ZE/02NTTiLPZLSCBzj0QUPQNnPLFHZMG
BlpRIXG+N5Ih7gGbT/U0nHKG5f5leap8jOkPHiEIDN4hHDzw61E2RkfKG69jSkMLjeQ/YhpSFyCZ
34bOeXXzYgK8lk0nAwGh/RLYzSlzvdq4WKrJgvtAhMUNL5Y7e9o19SMRRRyccnKj4dA0Ni45NlI4
r35YY15hAWiYVWp+bQ30WcZAwrtACPcvAxQlwgktAjY7nir/211KyZAbQ9xVUCW/BIVWrEnVwOUS
MA+FM972SZfWu9KVxYEMuPlrxHfcWbN0P9NnaZ6QqDDFAYKsOrnz6L7aVle0hzA02ltPSQ+4KUHg
dyMu4pnKaQ2lGLW71DrGsksemslhUoMTdvWhzqRX7gIvCGP/T1GM/h7dsZnuFit8C1LNhm48qgtT
L7rnii7EsbfTODkNMjCfowxoCRIsRcgLVdgSUADPhO3Gk0UT43vlzJifIHHuwUOkyY6FN29HsMJH
3+mLTxT65Y4ZQv7X0Kmiz7AX0cStAL0uO1ahfrGCVJ7gKAMrTMI2P0eVn3xhQCwKqcYcv4nO6S4i
VB6VkzHe9+4C7H4Ky5CrmY/FiQ5Vc5vYCfoRRUF7QWThIU1qdHdq+KL55PtPrVUFQKdFdJOjEbfP
h04dqdNGd8Uy1HdNMj/y4N9SqOPfmsUqqXDQ5qoyB9vdOOoIuyHhX0kYiJlQwWMCg/04J7I9Oc0Y
FTs5gtdPJYpqop7cnVebX6jBibspm7y9B1f6zATmEHwPd/eQtHX+5yKgPTuRrLodDK/gphZD+8ml
VknHJcuSRyMy7D1OuHou22m4cQNjuZhYszPCP+GN4LOZbjsI4zn2h4HuVIlS2mlKs6Q8Z5Efp98N
QvDltelCl0bEkqDFccgWS9cWkqXRhTY3c0mcoM85JCMJEDmiSDuIkqj/wPguIC9bBlo3AwnxVp7Y
cqFuLFXtPPd+p3s8GQYFZMyaovkqi8l14sKiw39UtK/yYD/l0bgkr17OWVaHFBAzvyLX2jfBlU6V
GCXP8zJ4vO3LnVn3RTbvLEUP8nVKVNT8gU5cgRjW2q0LEJHwYWJ40G4vQSlL8Y27qeuNk6HoZe+7
AljGYe4HxFjAiUTtTRsaBiRYyldzvePWueVjWiBH3O8YFqXSYw/QPT4aXeu0SISVugUXlrP/3QQz
EEJ/8azizhYZIZ4BQHc8NZ5A7UeMTZj+qWRUqZoyR1clz3SjYdbsa4RYbPOOAu0k3TM1qahJdj2Y
CNA6IwjQ+aiG0PApjTWQ40gQozo+hczQVkTqboTmBsR82g/5muymQV7Gh94i0jmAVtOSHNeOSbMs
9RxA/0kK9R3ETHaVeDI7+fe/zSq79rOHUco6up1NlyuGdFJ9RobGKfK9Esw5+0pA5iXHPh1749wg
V1R+3GClkCF1e8Kso3J5XTPkoF4anxwEhiZuYrC6f8iaNObfnEedLkyy0EW1rEZ7xXpcQ+PENHSh
cEMFFdmIgtjO11bgaWs1bTiqIBS5i0qXg/NrH4mlOBIjiRY5vZXnupoO/3cpUk3cQmnwTCcAjS6S
Eod03UBbjQT9ihtBKY6G6lobKHNHo5HnBmBBeuKc62yeDhP1AMRWcr4BFax/RsdVo5Y29DI6lRpU
h6Kc7gqi08JHrHlEPaHdURw1zmP6t6LYJCUVgQtZUI2OnbmWZb240GcS1oLNKq5Pkzk+m1eupf+O
lI4/vqbnCqIYf7aNCsbMauPjT9Yl9gY5GJdcDE5Clcxjaaoz2TcSkR8gPrcwe5h306Z35MUNYnRI
7Uuzvl0iMOQIBZk4/+LYA6Tknq6g6xKsYQe0JJ78K0q1QnQ5Qx5D6EcNKf6xU3NoGeDZwBhUtgVk
L7PAThdC6uWpGp/Tdm7iMeovUQK25LXvhO7PuKbPgmQrCUXZMOvjQ2STHaijn9Dq/Q4CMaooa4cw
fj1Oj4tmItBTyipNEKnYv5Cs0yvfVUDeO+D540KB5oxCQT+DFF3XqhH2NJnH1jMGm/YZ1XZ2bMVJ
w+5FfeG7UWWxgPTuEBOZaJSpmY2BqX09PmWrS0dlVbvXHRH65MIH1O++9QAjMfp03ouwWmADDHGg
NzQkYMnlfZqJOlcIYdK5qnaeU7AEqdvo+hGZhe4ZulNsTem5GEEhEfuEWcukq4T2MY8ibHSLOMml
P/Ovxw6FgzeYEvroNTPVibd57XT2i4cK397k1KKTybVrxGdahrq/rGjmmOhyQqDrHqZIMoCbBm+s
36mflX5tK0XKmRJYMwzkKJMIYrPe5fRfplcUgdvurZpNiCx3VZBg/nO30JyHzoaxzVMgPzB3aFGi
4gTyO5nR6aFDPE9fUsyC+ckEglJjnYM4LU49BJPhC1lb8rXUMJlxn7aBlT2bcd6DmZmQR9FYqCYV
r/ESpfk9Ony4+ZZ8zH1abYlyW91nrq4eRkWFAeVVDgtvMSiTkqsxmJQZ1kvXoD2l37IRurc25GCn
7H0xJHpFbbQMl9eteZspcOhEvdfkHSYXR7KEjM2vAZChArejQuNSvPNhtmcPLbdWfhk9GkvfqphQ
+i2TSif6rQ0qW/57aa+QtLUK1IXo8BYPCCjGukZQC1s9F3MVFl9rm1YGEmxzP2mxCQEiKNmv9mgr
WaZX4wQGRz9OblBVR4HMD+Z96JWiJh+81n/rYKQ7sS5Rm2U18iYy9OeQs0D6OP3pJSVLa3VVxEqJ
Fdy4XNvJa41y9dhov0lWCnK59va2DzIz2aNn5PDDMTR1A3IsI4zaaqM3Nz97KWXWIJud752sxFjs
TdD601NAvs6/R8pJ16kHEbGs0Ns1IjYHwWEj0dFWufy0mjKQNXr+7FYFhbxPuxF9HL2uuo1qqA/j
3GpDU6hO/2LfjBRsQ1gnzVtv1/oiUffSj2hNMF5RQRnoQvUfQsgHPH5b0OxAYG0iCIh3FH40vng9
JpTN9G9UTa1ffsXSANnV7mcZSdexX6U9VdUlHexiArK/GmLkyGbuwSIt3UCzIMDp6uMQJjxcEKBy
I7fzogTUkeScJuOISXRgjy2vLqogmJhpLmHK7CNULERBPF9lqeshuVbMmJNmSn3pXQY315aA0qCO
eSKG16nLXAcmb1PifVDIsfKKAdWQTF19wNd+7b94jBn9GvjEAdi+9DT6yZUfdL08XmzqQ79ttgu8
Z3mtNJgY1a820ubGHUPtnhPEC1hWr/J0hKcRkdMTxIgr1ohmIEKopMFhQPDbY/Yf2quPE0s29MyF
ScqOYZoxpAeItJQ//aY9Wx0A9vJjGbgTM9tMt+Dwn6nyZygoWh7VHKRUi3gAVYK6koaz9wKcZuDv
MmjKbnoDR06DaRZ0l3lKB6kT/cxRpE+ri1RcXO/zMq/VN+Y1Qvt+cVqULRDtMofZG0+WNetWgUkL
mZVxGBzSvFVDoIHmUDR0x5tujsMXNyd8fHKvLsfIEZ7Bf1+L/BEJKA9XeIQjb90KD9gaEHQt9QJO
DVpD5HQuMnGvYTZItnPrqq/Oi5/Dsd45VHCJbrfm3lAtJdpyBs1aVBYo8tN0uq1AAPFoSx6yP0KZ
i+FIJCdykR8Gg5TyMI4NJKJHQN2kpofIiScvO2zAXlp2mmIZ+F5g2J9T5S95cBrWm7wd4/VCI0el
nPAhSoxpiffowNpV86WzprE5VrAZBtT7YOzwFluk46z7nyBu6qg3IPvX43VtuERRVXG0kQpCwe/o
el3CWpmi1VY3BhiLLZhcgSLmuXapAz0laxRuNqFGXG8LmDGHit2RY649U9W3+oamWrqYZGSiiS4P
9YoW6Hxfd80R7wQIR8e6S0PylDbmuMRXME4vkFbxntqo1MYBQqx2VC2ulL9Y5KSqoANKof9GMiCF
KpHPvDaGUGDWTnrDRJDr60tQm7A6qEcKk9TlCTGwpnMeK4I+2J1laui/aeGC+XdRVSypQiI27ynR
M+9KO83BDCNwvkorqFaouM5RCwJfER3R1ZlskMgMCstdlI/actFya2sYvTXpyxYgnX8ZDCfxusO/
nS/YXOyLtfKjGoIWHqy6hsGrRxyCQTtvQ1L/kQflA+apKOwXurs+Q2apwZrPIrPbr1kmNRhmC3cp
wrRsIL2tuL9U7dxxkLYzgwKxbvSOgJb5IVqSwD8R+UTVaz4n9BOzhxj1N8IxojJ9bSY75B74uakv
2bauQAT1TWGkk76GExx2bq85Yk7kLujQHzUPUwuQt9ivvg1PoIF0M8XI8eg55lJWh9RFII38fL10
W+YBWvWagHR0iy+b2U/WtrlccZkAo02eakuTUE5QnYXmOIJmEwU+3TREGEn3EZFXVazZ6uS3Ow2h
cX13cuL01KyNudlCX0bh40IcEYN4ERu6bAYbNXINUuXlE3DVG/2tQH+Xc9Cn1BhmZJGuWCV/drTV
3Vp+Ao0aFqZbXdvaYi5VpV3OZrLT1bb3Ztzzw3QYr7EDytt8t/afE3Ry63M/Ls5oXepr9O2jW8uH
GLUD9ecuThAbojmPrBovsy70euQCIkPWaP2RPaDbhQdgCXAAZqF957+72SPekJyjttObb4qJetMO
KDm+fukMbU0d9AC5tS2CLsj45nFvID2xBH6mHXvsIvYd0dmijE/JyYx221lf98FRvt50E5Wc5q31
I/3o3rWpuoXcmyMPgLTwUUE2aV+8fUf5QG/RBjkgIdQO2uokGhLHBQFIqQXDrpeiQaGO3/wXShgr
7fuzadDHtZyQv6VZZ7XafLSgLnXETK2Fz9uoI9sjqxol4Ne2RNmHpDNu4+U1DoH1aSQVTT5CqGsI
BExXH/XVD7hrQYMa5ZWUtiwQAE6d0+i1N+cpazRDX2huAKmdPrTmmpJqhC7rHdmVzsQ2FuaASj/f
BfNYY3KXFsIyMAzKG0CNhn7SmzFzvPljKPtqzssGWix8TyNctqQXpVSdmW2Y3L6v9f3sQcrzN3W6
pp/lGsNs0eIQjCAhDxr8U0nUkUYATLvtbpF/EY3DiNDGX10jtrVoEzk+Fcy9pDroRTsPd8PekIxe
a0PrSS4Mji1J0rV/P0627keuwe7muiGXE2WKdrpmQzEEKMKwFYm7IiUbFesoyb2WRuwr9JY2gQ7y
1iiqEyNmqVgj/UjUGlmXrpYiS/uhpjZKeBMat9bKQ7PResse+gjKnjbeK1ZOK8dTLVvP+rZ2Boow
fPBabtlu3BprTskV3D6voNWNuOqomV4EVX8dPoUhvNC3MmtI+T0Mmd7etdxlJvW1TLb60A0vbNbZ
UBLgMbF36QAmxH326PW5uYxIBE+BRdSj05kqbTXKYQ216Sl0HB65rpyz+PV8Ak/NbHVE6nvtCb1x
1GGsZee6UbzV56STXu9FaGkM8/VhceSzxn9FkIpenSDVxnuDQEDn0vZ9TQX81cpvSw3c6lrCoIrF
rntup7E03hTG9vTgU050xd5dKdiWTSwvD9TsJnycWDPxxTZR/r3bDBCQaB2XrPWvNQEyJoADD5A0
LEmNuHfGyt+cSIGAVpPR27qmvz+Asu2kuF46k94QRKRQ6SXqnEx4eUl/Lw/m8gjcUKcDW0VzS+nJ
xXSsv31ngvXkV7adzVbOL9eULHE9DlsJEz7y3LavwImB7xYtfOunreRSR6nybCDMkxasMfSS0oW7
QlWuB3kFncFEVCxeudoq6pVEscSJEmCfgwbUeb0p7eSP3UOB+a6eSNuL+UPegAD1d8w75ZQBvtQc
KWD0Hpdi844roWEDUndwQDEGSUOaYh3duFva4daqC2KVExDtdoDSYUQdh3Sze95YaX8w+YX2eo0w
ddjTurWOcOprjBZxX7F/Wz2lIqnTYWU76Ku6pUqOO+qwoVqZDJuxQlpdE/TaMNfJKXPHdeRWSV+j
5uOCek91sYFE8h3EMsdHT2eE1lYTZV7VEDK70VQ+S/qxQtnJDRHcPG5P28FlIMF0kXH6P87Oq0du
Y13Xf2XD91yHqRiA7XXRaXJSGNm+ISRZZs6Zv/481VXysVob0l4HMGCMZrqbTVb46v3ewJelsyy/
UOyti9ldwQEOrPUARif5d4XlY6vtw4zjB08e/rl9TBI5SM/geIBhJRLzDRPU9cQkltz8+QwcKixP
k2rz8yTCZVauE1HryjKjMz1ZHEues5yCZUV75zDMRsP/2paljI26n2WRjOpG8oDAS4mZORJaIYeC
LkwmBbBvqpLSxHAqx/N7mlCHOMWosqYqCSCZdwbSd5+O2JDBbdo7dG0AEjYPlOl6FoNP6ajPkg5t
YS5F1QfW+Yg/jtgQx8ektdwhfwu6LAtzuFlyCAQmDMsanhiNEcBQVPBBBMsDnRN0gDNokWAJ3PKH
w5nT6EIz5XsrjKV23TNCliOjrEmmiOXirplWelL4cUmTIQTTZfa5iDu5MXBUZe3Xu6082nZVsvrM
zNzB4/YrAKE2AC3UCZc+Ho+Eo3VpT9/pXIpqyNlU4LEHR5NHmKiqL1j8iiYGQgh5GKi2VJ5DlxqL
Wnb30Yldc4/Bdr9Or0YCbZQTZVBZ+JdvFvIPGd5SFuP20KB6WQSWrXHYhxIr3cjMSb4snUkNRehJ
ZWdvhhx2jXeF6eUkAiRVVjxiweNDvaJ277Zx3GfesLZf0N/U03IwED3mjxy1reLgNXhkjB96FBRu
cEAwR9oTXJzNwfwrAhy62ia/8Q4SjbIe+syviMZoIUUlV2HBSfx5TabRuanWqi5eK4bRX8KgrfuK
c3M4nTw85+lrZuXqAcdDnbqt53b8zWzarn708c0tr6KJ64NF5fRrVl/ldmCs4khYhHsF5peMz0vH
2DqVNhF1V01tEv5hb9lEYE1mwwyqbZ+6IGb5hW7ihjXxIiIU48GcF/hfTp/Mt52YvBqkhvOddU+i
TjUfGshd3mmgrTfuQnub6zvs0DezO7l9OGDtPBKt46UkOswGKtC0NsYHA/ZwsVLH2itG5yktwMXY
iSqaSeOyC7NyfLq1Ru3RPdy6eYWFFGT9hKoOYhlmyzX+4FuGBfyGYnWXsD54B5Np4BzawDXFfUSF
j++okeSTH95aOHgO3s6ZLHPZDhM9q/mpqL2yw1a4gtUSTomY73BXG+vT6q44im1pYV6nRAPvGXvd
9NTgBdHctCCe7kNI5h42ddjnN58DFuXmM8bNOJftQASGFV95+E75EWXthM93PyIOBBk2A/+TR5TQ
DoPt5UPCk4ijrzh2Q7oSJdzmyNaGYONOBrBGbyN8Y/Sd+g9ifuQQ78aFOlyLaxRw6GMxh1faCLr9
DEmGO7Pr3HCtHXjsOeUMlGDODOlaCvc6pvVSrbtyNEFRa7UsG5BYmKqN2ih0oaxKfPu8FKU13kAf
ApB2DgeqRKrjSCJp2RlhtZUES/E3QzsEA14cCPEPdAIpodSb4LEuNw1WP1mbq3exrLPjCdor2hG6
l4ECcQ6YYcyDaD0sZ1md3nAU5KlapJFjt+e12YFttodCLSf+WANlp3u/zAwEJfa2iffR1HZm8LS4
W2UEx3ywKDfT1JdHpI0Al/pLj5qsrmipyUL07zObLI4WC6PVT31Q1/W7oQmi6lM65F7054zF0XiD
kahZvgzF4NZ/qfam+rarxp166f0x4yQ/YpY7pyDMAktRm2ZQX7yibsrXYw26OBImEhjx4hwcLHH5
Rrnqe6XnqiTmS9pwODBXSat7MWZNcLUuGGUThWcjGX1qLbIJ1isMawZUM6PgONHjr2HhVsj5ucqf
PKeKtt9GCg/8ujyIlNM+z3PwAvxpcxyxMDu0M8vANbFIcdt74/e8vU+CIgtYON0loFfeZOzZ8JM6
NEmWSWNU1/u2mUg/XUpT4M3btR1u0k5nkypDFV4/NgvJKjsOQTHu3bMIyNqgLDqJYcbUORxW6EmQ
vP3whNWL/TY3jdZ87GkUHlCO4aHeF8Xv+ZCK1yFo8usak/3PbD5Dc/A3cz1GoYgwJl8TPrTwk+EO
EBFmbDc185cpBYO75lxXv0lAMR9LaNK3QTZNx3EOmYgD+LL7Z4P9RnXoUVZ3Vwn5f587F0qZjHiZ
0/3cj82nNm7s7n6FA3TwAVPedthQ3s1m5t4jWMFUf5tRV51sUbaPnliyTyvK6ydWN2IhROYmp7Qs
nfdJ0xmExbLOCzLBpmu7sGYZ7uE45h9ovljViqYePlCGxLc9D7/AorweHf8Qw/W8sUG//wSDXm6d
OE5gfXQ4OO5oQXDz8qa3P9GCyMWDzTGvgss8Z9Y+oaHd7rouBSG3vMm7in0qPWzC59q7IWQjzdHD
BtITnl7ip60qYSDFtueYO5f+HTyKIpFuntKzPDPbByjWdItx+LWxoueARN+urW/8MnUOmeXM91kU
W78FZu3/Mc5W+jlNMJyE+eg8zYvFKAu96BQ2NmFjbeHe2nOfB/sB3H7Z2WbU3ZIaWf/O3sbOMG19
/rthudUpiZl3HPXej6WX/BZxHsJOZc6eKzMsT4M9hFdCmMvJcRbzD7u0k1ecJb29CPP0NBtb9CbJ
4O74s13QiR3tZW9UXvtYuQ5Lamok0wGGXdleOaWf/rnUhvW2D/pkOeaT2X2G+4oZGsxGAEA3MaZm
1+TElAmSyIh66eZoh0ZrpVNt5M1jMCxdfzRHuyQRL8S6czeY6XTle/78kUAlknSquDf3thtNEEMW
9y6LhPEg2OPvtniEN5is4q1VtcVpzCKcj8oFHhfZGnAiB9I9buBujvGRdal+G4xrfE/0eh8cGyq4
lzlO5z/tZohpQE8BHXkna/ruwBdx3jpStv9sLsiX6ERnBL018RI98LHFro+j7YRiqPxcGM4q3mUB
MUEtrzgFsj/wV8qe+RGvuSq6No3JG9+HK2Qm8RDMi+8nR47fW+i9EwFPaMnxv5og0V8VLpbeOU4P
NFCNek/MrT2CYtSR5WDFDxSMonwol6eNiJ3hwZ6h4d9Az2msG3C03Pq0rkO4kAUXzoF4jScYHePO
t5htrC02kDGVHf4v5ZNp2mXOxs+ENJfykGMtGm7Ojg8t++wpzbccJtEgG11begtdmf296Nb5UErH
+ofFzEw60cSYmFixxrR2qwmTlCt7Tbfneuhmf2fmon9Oybmviz0mYQnOf0sFJW2HP2mC3AWtGhm4
Bb2iA5qIYb1i3W3NG4ZB4TxnYyG2n8qev+UJY7bkOsIBXsC5Fz3Hd0p3r10tAZPr2rFQZn/SB8SB
He5nevYLRrK0d3IFPENULRBaoLZ8y0i2mzWFdV0vz6thhkvzhRZe3xavmCKVObacfxt3Pivt0j89
/PBZ+fZr2TCebaYB0X2BjdjgUtDqkmER1EjpnpOaLlO7y3E8YQFKRNOwJovEnZb6urTxTjf4nQk1
JI4bKxO0t0f5v6aIav5QtxQds1sQF5y9uibLWeXfnX8QESaOYk9jEL9K1B0uBryePTr8W4a6iBMY
NiSyPzQOLsy6OxcRKqT1YWZlsQ8jrRH+EkncxmUE4CjGW4sJJNGtbBynV9a7jDACgmNIdNhTD3ZO
tCP5R16hARbMF/MXW76Y2DW/eEwKJPv2TTl3grdvNlzk+XocYBYThp3Th3ymMvyqMDTqopPo4jAs
3lfqRszUC8v6gVUi8N29bQ2j6Tzh2Dal620J/c0bT8wjQcCet/SYlb3E2JxwKZVLc8Q9el2ecM/S
vpRH+iSkSKh2VjvBjrtezUye60hwSLzyWix94yZHQVsIjxaXLliRwrgDhrUPiR21Y34ft3PLA9sQ
9KbmTYL8b4ueC9dLLVLXMCMnmogel0Q4k2LGDOQlohLy/oiKQF5K6lQC36YcewR0HfoZMH17+ZaN
S+30RoNXoZl7mKFU+dyTIAI6vjnOIzT+oFn2ISdezE6d3NooQo0ulte34c6B/6YVQi6MbuRxm0du
LPIrY9cxcwAjAnKjhEl6UmlgMqE75JuTKYKpmxpCBgpJHoxdWeFoHCNCnNYSU2lBL4swJrflJrpW
0zNC8Rt3SuOaZKWYf9TGRZweLTO6TU3T8YkszrEVhu07Gn4fP5iTjVPeroti6LVX+UqogP/YmO2y
JO9ozZZ0amwvF3w6mVgDd6PxR1qWN7iHMTJv0obmH4qAgNONuZuclYScIW0G675X9pM4/SGVfCDS
sxXXRhYu8TG23d5LnzJ4gVzjmIqGl/5kPp+lZ/9PoygQ5CNVYlY7LqoGD1uebxcPPl0EsP7r5wkF
oNvRi7cdg6QrQj1II2+rekEy6gweoPpeuQOCWki0OFAWamsyWqLEo6S2pdGh7TUoA14N7BKD+Dfi
MSWWAJvNCFGBK6eUnFaRd9XCPi+jPdyVqq8PKJuNirgkl5ALSvOmN7m7E0ZU9MbwjpSfpw1Z4eHQ
pFxEBDwJ50C6ueKqLV3pBG/B3yWoDzx3Z0EisNpj4sIULneNPWHNF88GuUpgaPg9zFC9yQZab4h5
lye20pikjUsx9NLPRjvKtVlV4P62g1MXMpYzOumRf8Q1bW6Gu8KynDL8+kIc0lsDRvfAiC0pmSYC
HA9IeFz+R806BCXnFX+uPuheSuw0U9mcFiJtJ/RABqMeZ0cl7UxsdAWQMM7WRNoJEmGNdHsEqIrI
aySBi7iYIMobHBOrLGwBW2HYnI2c6j5J6/KOinipk/3qrVI0qrWj/RZHBh7ZRjlK2IW1s6zjJ89D
x8XobMJpwDRI60a1S2Emendrn+l5Cau9RqIjXZNswlsBmhA3O110EERDmbAzMLHh5dpskahWKVpt
KyhJ1qN2lNL6MbtBJkljjoY12WAcnHCLpQJrvez33pIn3KNNMkNBhyBHuAiXNz4b2YQMOVLYGpDB
aLz98Uz4ViyMN4Tp4D3N52Cj51u2I6V1/5D1dFIRStLv9hijHgO6bM7+AYp/qNsP2h9Dkz5+/PHf
qmP5eBsoieEKvBMKsMKLaTjRX65LgvUedR9dE660SFZ1+eMUq3ZaIgqg09Dj/8ZUwJaf9s9FgQmJ
3ZywHNdBfu9cKhixYPFlwzHjsbkEozwUA4OUmjRlNTDJHil7h8ioqalr5ko4S1VaktJUxplLsSX0
aMX6KfKz54RyovR2Ca9juhI/LT2pFPSAWlCq00ZaROlHoo3jcnqT55Xc0rTlV8oG7JXHmIWb6v3H
dx3jk4tvymaEFwrrOTZq2NRcKnNdmtMIbYf4Cat6vMyOlCNBVZ8oRRj2xx7rCeYFYIfcaeCdesgX
1RJOJllTBjCA2cHKGztoSS6G2jCO4/3AWaE6RZ7IeC3TZcFK25lIIlUNTd0PUN2fsYAxIQ40MuQn
KG6rT+4sM8cLS/lvmjVhEaDHmsCBkybLvjeQDK9HwCt5p4Kxk2/ijQ2OBORJJRaNDHsAkyndMpeT
kM0DaLdSTcoMkwOM67A2tpjD0JBkL7WdM9ncNGZT8kM0tRNyEPhTZrLEP7E82oJUY0wR1nsbMgyo
NgFrHRt4MRVno90ldlZI4BxZCGqg94ue+qR5Zar9bM4Jzg4vDgSo/C0KUmhYig60lPQW6JFIm0w4
WcDN3XYa4eTW5TFUBun5cCYYkprbzxRdPIbmTomUNfCFwFG2HoKy89L6dprZ7+oD3RXQrNrIg2Re
dibx6dt4F2+lJHD0WSj7H4qR75rNma9VwN2FiKHoBJrb2LV0f/Lr3iIh0//KPCVeVTaTVUM/q90i
JM+FXvV6m6k+t75gv7Uk3WXoAull2q8E8nWw+3LZGyvsPvJdAm6KopONqHqN3L3gHG7YuzoDNxif
CEbEMfwqALwo7JPdJi59uzl3ZcsGPUTMda3q5o0VMIr/kqf5QtIV7I81NU52CiyDrVLtSzruAJua
GZjFoCnxSzrNTUxYOmyH5CbBH53CrgEW5wM0jcc03IxXs+O31INrSK/h09QwlzlMpWZs0H3TfSld
xQTOVNEcXP2o4sKsmk3VvtY30zZw4OmOwWg123BiSQ9Y4LvNkCWgfrltjj0dVIdfuqSJYvtWP0V+
h8FgqIiQBFzKVo5ujQ2LNBTaLwOsrTdrWi7gx4r0oBtdbJIMMf2D7jHhbSCf+uAuEKc0AV67ZuWW
AT3+2rKDbSAXarUaxAGQHQPzbYNzSk4NLewOX/LIs6WPYm1wrnfuRGzRQyT4LpF9Xz0ZzbTyJ39H
KLVlNAfN/o3VA6PlKweZ6uCEDSZg9P5GmR+97no11kb4uDfzmvVlgP5BtpJWEIH4XI3oKqFQPX6F
Wk6FyYJ0wtUnJVGsR84bvUV2ac3mLXludBqO9MDmGVwDxQ1DR8xdUw3otRY8mB/rmoxsDLC8MR/A
dr1xrD4V52VkZlqyHrD3NwsytHTz6YzDdo63KEB0R9WyXPlJTJ7ALjXLJL9tbMNtm0NRm/EUPg4c
QhmTA8gAy1AWeC3Mqlm5gRgrZAWmt2As4sGg+tMKHDaHDalgstfGXNNknklVmH1QSmj+ARuX7MdZ
LCh4ilVhK1fqdR5lH1Ez7PJulJxWIyfQgU4835GL0HdvG4yerxw3rTnebE0fPOMHKWJkCEr3oPjc
87nOLKNGvhIqzmhRYNLtsc1jbRVQlXAJjyZYiKXRpRX6UTLLMyLVYh6ZecypM2h55+MY+8SWaZsi
1aOLaOkwI4lXkUQT7USlm+pOVVgrGCTJpB+JywKId+0c+ulu8NaWIPSs71Ebv1iEEntTttfTbDbm
SBIb07nb0M/tlqxLreIZ+CvBfwC+zXkuTwH0z/IhrXM5gh2vl/zYVIkSMPE2sd7ubI5u5lcDaH/D
yY8QMEj0kkPbTKEkYdWZyU508lO8DeJwp+harRhhcyKtlAyiHOUHS0FMR5IlRHU6uhRhRH7nUYfD
yolCOK/+S2sRfltCqw/l73Q57ipSjwHOPpX7erKzInhdfZ+IMU2A1NejiTeKmrJEhts4b/TzGhVb
3ULHyrkYGMCQC3aC/ZwMb8gwzR9OdPYwAXnQlrX0SFu5TCof26lJ5ACdK5qKzps6RMcpaONjof0l
lqTTT1Eqncrg6UHnXs4+JYnimMMnlWtMr/ieLM/nm8zST0M7yIDp53uiH7cuu24WzrnmcfI99Bp7
0cM3mq88pYxoFPc+lrkfnwrwAKQK4VYHUtF2lpnpL6j5iI4ildETkI11RRvSS4yidmlyid4uI0Wq
E3bocvf1il2Os6TimGdjRMREsgBplcQCZqUpWQYeNtfV86So5pPq29KakweWQrU+tFBnVBukJjUg
sZb1i6ZEpR0af3ya8GGgmaQRgzZvJLAjqkk2mmIxnBk9Hrw1pjkMfL6Vlr7RyZLN41ytgNvZKKY7
84o1K2hzkU8z6nx/xSe+HWkyBSfbCCRHQCi9ka7mMzuWggIwXjiL9ny2oCwVX01rWAqsIdj2fa+Q
dGotx1Fc73SJ+kgQ/zrY5nJLKneEe6b+3noQ6ZvxlS4D21g+HEV41q1w/fX1IhwSOdQ4u4FCzMtI
4MS0iTLGwjrdJ0USO9sbe4JnGZ1mVfxVo9jYuFdhZ2V9twyN4Rf3okPuRRtXtNH8BesdFstDQV48
Na0NU8X7w+UfqWUVhtZOkeP0x7yjr+TvqkFIdCum8udVoNoSSgsCS+IXjIuAl0WjfDR2HAAM9U5A
K2+3lR2sh90U+DMfwqjuACtcIgyH8AFdcSbxK1h7vGMnCvm/0E2x0sXwhjTyj85Eu+GPGYNrvpim
6YEic4nYknG5A+HndgFDmUrT3nmZnTfvkXhInM7pAonT9dsiR66CjSggen7QQFGsYMCma+SkHFN6
WQY0mUhqAX58nrg8TcArwXgFcyEOTZzmLhPWiC/skGrUzuOcss3UTAh/yeh1nbuwrhp3vT1vdYrn
75Q52Z0adz++iu/Oktg7htKQDvyLp3LpAuObieG5Rm8TdSaVUnrq5AmjAYLq+VybLZOsQDRdsVRq
jERVRj++mAtLGtvCnA+PIZg1FqkguM98e67OonpoexFND4lYpDBsmaiyWGHOdFStDYF9gLvA1Y8/
+LtnIejXWw5VPrC4Bcb17QfbQ0BmSuiOD0JtuD7ybDzBtXXb6Lb4GOpaYErHEAVbrOr2H1/G5fcH
WJCru29xEzhIX7oU0lmb+hih/gNxGAq1TCTPHwhbsug49ktBiD7L//iTLdKyvjnFAyrg5kgbAstV
UJLLsy3SrRiT6ci4T5T6pPAjzj3HIGsbUuyVzYqmQS3q/DkGrVyPNRvHhVcavbMaCBQ/M5+6HKK2
5XMvBEyi0MIs6RLu8KCyYN0Wmff6hK15c8NZlaiGqBJVfOUJKl2OUHqbn9ynS7TDxiIudEknsDBp
C7mmb0dK5yHkFy79YjpU7oZZtKKGwZybzDdrPLQu8bDW4Jsfi9yTcLTldJX1sR2x4o/3YUsyAzB0
TL5kdi2mAs7Kz5w5L8EpL4RuYROu48F1pkdwcYVmZFK0k09+P5dBsCUfHNENTX6Dv4iLKxDrOQua
T8JY+ZvNHQKTWaYspMgZ4gUGw+Pi4ztA1ivgij9+dVyaC2RfpJZJl7A/qNUQ+2s1EK2tyBhOP77L
l9MRfw9XkHxp48Mi3O/MRVk1J1zwQ/9B0zr1IbnB9YRlWIktgrM2kOQn+JzWVgpu9Y8vQnxrxyr4
eIeHHfgsR7i5fmfHys42SUR6fciQzbHVTC2B791DOIVF9Bovi4Frz2CsELleNtZ3nmuuEsNS5aKU
417mPg6+WJv8Ckm2CXckGuL8Y2JYRIQ4O6+3Jmwig5GKM71yVxrYHBViaaE1W3YMQgY8SzcKSqzc
jHQx2paga4TdmL50cteIbx0vE2w19mOY9Z9CT4QgoR3IkHydQtsYEjVvOc7EH8FCDBBJ5WzVuAvV
UKhaGzoAIbsYPjCmg4CiSi94HmJJ420chCLFs8mZ/G46gpM7fVBB9csSoOEpX6HmX5lTazQx3yAZ
x/IqVyqROOglB6iwkyQhO11QmjUHEx3AMNx2bYLT7pFDfWK+/vjpWd+NIfI3WDdMAVsNNd/lXuIH
rNLw8tMHjXQ36utTyXC+uwUmRFlEuNJchHQiFTNbKH9zDSm2KucJZrqEzcwtl3b4G+1gflLkJP21
S1pr9XtzwWVohjgaeNHPGqmXfVSPJioWcbLvYmFwemm265DjBohtdvecbRpRfUZ7lzjVSbGQdbCR
9kaD+XS2SDtr5dSynUywY8yfzY6L/cLHodIjZ8QjtcQHAL5wj5ugiXc+rbZ7fzNoqoNtRqUTH4zl
rPf8/6oOfBOGs3DoJvsyP+xsaPcP1J2eCQSoTJT3uqGoi7lWlWoE26XUja2HgY79E+j3ckllCUDk
HwY034HevyvV8qmVho1zc58mmc9CU3IO8/74+vmFj0H0sx/2svMWWfjd/Sy/47vPd4CR4OJJkN2F
KXCxpFfFmhDSbSV32qt/ZkGQx6tvYkRKS0idRKtE0T+eTd9dAI8ZUrCHxy7lP8vzt7ueB5LokbHX
3+Kge1493PN5S29+MWxYuS4LDvHplYDb63/48efLL/jPHkMAE5O6RPqBcsT8bkPIl9klGyle7zIW
l+1dEIy4hiW9F3He56I7oz95NulVPxnk9mVVRCXIOhriQEplyJi7+N65cCZnK+vujqiLpB0ffbep
19ew7LLtRjfTq9yqnQ+D1cmuNt0aefLR/I00sjMJhbbZyBmm9zHo3fZkN4D+nDq7lGuz7tbT35Ar
PL3JkjGEAkmKjSaHrQUOGWTg+j1dVck3+PFtvayssMVmYLtsBpzc5V737WMl8rdZcI/I7oZwwmpk
B6k7zf0dOXVd3mJJkU8CPZcKIxEriPmnkVSXCWsHKHKj95OHLC4fMveaxxzIq6K1dXkUmQsI2jDP
sjtFR03PojZV2SlE6Mdf/vuPY+WikQP5zjfZni+ebZbitxJOm7iNpa/np69a5GKigB0Uof0nH3iR
3sg9BnOCecNMDoRJeOzFR/Z9tEgXjfZWi5mU18ASI0/FoGOWbRcZ7DYVd8kKJdKCUe9hvvRojxA+
ixOpXZHZ3eGokYOqaeBKJ3yI2JRyGqUeXc7iZSU+wvYA8i5RhkSNPIttHAr0urwrPQ0hHS2IaolW
2c1olESXXd5nCGvXiSQCxicV5ExwVVIyLTUT4yQVA35aykb6kNB1FeDZivBbzRIMynAKBqWrI3y9
XlJ1YEJohV9QP5UyV6ScEDy9+lYqy7qv1Uo3pZsJB7Wl27Mn1wNWUKp6MFNlSHXf5lfycESihdTq
dIS18CH6UFDHlQChmppRfiXmD5+s7kOfeRI6hp0pQRXtnwHXWQquNOVYnSgKeQT8tGLc1p+CznDj
YTd3Rrd6V31JEkd4k7UbCWjqnG6aM24uCGNnRJ8nEZP59qxulj6s6OU4wzmck5zGUDRuXGOktr3q
HjIQ11nufz7+K5gQnEVChmfvabMS5ppdRcTVrNZeWeXqk2Bgh/Jm+u0kBTe6LYYvhAydTM94o7oD
6kW6pHYrN3VfClShEz4ngF0uVQ2IVvMX1SWB2rh+ZMtHRZSmx1+kwy7mdhMoUuICmgGTpefhWllS
fmUoVSr8gK46NUyr0Lst7WYO73Bq7Md3GaGFZNMANYstPKiyJJTWzdUJZ8a+pDVGXl3s4E/iumBG
+CeWHyE+pf5+AHv32uNkNlL1pc1slI8KqjIjxkQfQ+Zp51nYjTrHusiJ4tjxT4BZQ56Z4kor0Ssg
hRBqpEVEx2+bAriRfg/OU5x7c7EeNB6rG/hIqCUGqRHJaMSO+BMuAIjsdyRz5O5jZ+LYg3Z/G/Pt
vZIcOS0ypC8loj7yG5NsS8SrkmLTZh3Hz4AZlvtKf3Qan8hrLRv7hOGVsb767oZq9AlzIylPFgiv
aYjlYt56bIyzzeqLQ69aghosJu5O6qVxxZVyfW0z4QNdMlg5K3sWJ7cmqwH2fVpQ20n3hVkNJZF/
K/H0nV78IB8M2hAKbNWiyE6tArqAC1fPTT/ATreyFzWsR29hyubniTvhYdVihzsFdl8fUb/LYaj6
1pEB9H3dGDamCvtJMXvUUT0npYiBqZSDmW1nwsSDmaDF7dBgSQBcrL2YtDmWl2Ea2B3R4YoRNK9A
SAHPtIumRz934hmil/ZxrpaEzVZ/UzXEgtVDJ6mVRUqCpw2k1FTPgzAwPuBTOTnHUC1dug2ktVdq
4gxna1rzjHPr2/RViZxhposuWUmGFYAO6ifdkpTkUfmqaCGVi2s4aw/5qrH5ugxUFwgf4RsygVB1
tMPbprRh39aOmErQXIV3q2aFFyxyNCItRxh5pY12toV8BRrV3JkwPqiGihZrugr01uZZIVg2y6Gk
CbafdPKsFrp18JxY4DGdRRGhXGvMxJJ4e2slInkQae1taO7UQplWUcAiWi61YNzldWLm8GtDgyzI
XWi4KLBbZfswq/c7m5x0zroG7wmt5unuIlT0yJbJ8LLge+sjpno0X8f2edXruQss8lr5p1ZK+0yO
tYJO0pHYZOUuoD3lVCf3q+7xrJXV6tUYB9ztdRo9+dd6l9BtV+VFopcHBTJqhwAtb9MCxQ5GC+Oy
wqmvKGJs49J0ew1bA8dsSG8cgMd9ZXTS98VSwn0lgsEYz6VKJ3pPHr8SdQ7+mrl0Fsv8PdjQKiaH
eYUajwU5wn3+3lGHft2hqQDiuX6lo9YPyFTSWRs76i19k6H+gjaitznXH6hp5mCT3RGNm+T12WO6
V/ZMqxIfYRNEL+DBocygb6H1s4NaVxpUU2xao2xGGkc4icKsaXgPsu1FnU5v57dG6ZdRNK6yTFA/
WcreY1Gfrmo3qCXy4KBpSTmlEuMoZ0GVm/FYMfjIopLcEl+lcnDiLK2HzAhW875FckXXpUGX80dH
qkryIabPiOU3EIPxpcjQg6nor0KJVHV/qoGGxoaoIW1lBqDcdKoMt1ICu+2JEeuo2JWQZo1B/AsB
PAB1URxWuXMyPDiANRKBsx64d8/GQm4zywYWmLFbBHsiOKK4OngAgGN/HE2TdNjjoAzr1bANnXMw
nq4E9HZPgi8rwE3a2iNMQILLtyrcxy0igGSPNNoxtlOBJICBoIyc9IKsC0c90JXiyMpXWVvoVh0G
RxlJCOqEqJ2NNKkiNEjZw+NMObLpGndURZWm+9i2I5knuJpIATFZQ3LVUf5YorIFhRah8nKdheo/
MmC23kuWtwOtyAHXTBXW0SmSamRzmqt3mYUlHXmNZ8WbpiFoD29XvyP1Ie+IM5rERkulsNY0IWV5
hWZQSr1MtgKuqqddyVxQ+5FSoBlnF7JErU6qeOpUeai9i3QTMFYtV+XOqJqAengqaamyTPBUQapA
nl5VtvCOPeLcpwQBLmxLyCncSRZ5MKObDFsbJnpqBDKmVo1m7VqQqTmXSYKztAibHLidXQ+NyL8J
hqqtU2RRked+KtXDrs8ORkNGTB/Regl0sxfHM2XX15niuJ/eRfFUiZosAplAVwS+ZAZxBJC9Z0Xu
MLKzVlmo7iQITVnAKcNhw8bpzaWa3ut27NoLjGBPaUTuC5pL5Q9If1sW1ZniT1mUFzz/tsehon42
59SxICApZz1PuXipm6TnGLT5rRsPQZBuhXejwQojnofc2sco3xJv12bTGWxml8wR4k0sRsiQTHp6
NGwVv80phKSV8TmYN+z8NS7w89MX/VXnvxhyLFpsyYwcfZN19BA7dN26e8k8SpbHXrFJcK3H9ufI
IWSpm4OLwLnPfv/x8e4SowgD2yeRga6VCAhYvQTpNuEtdRpXxW1ZNJCztUGrdqVZVSdLe838Rx/s
QEVE0kHnjM4DzatLKK7InaEN6i25zYqkDT6tnBR8SP4NkaBEI7bGUlbHCpcFlvkff/AZ9vkHLAM8
zoE2cOmb0fUgROIiqsQwAqfj3ZPral6bwL0BlBy8+DYk9BQKN93u0Q+uECJ3FpSKbUz6otq76eoQ
r+qxp3b2fX522xvMMkC+iGnBODfPP77IS34qpFQcqSyOD3ifmN9n8K4QH3y/mZwrzRtTzLRF55d3
mYRLzWBpCuOEoKpJ/AzXusAP3i7D1DTNVV0s8Np2NpYHxtuuTo063sOfgmu8KxkGTnl0VXB8m5RF
gTwqLYwKlqrosDXeJVSqTnIsMawGtFezRZwR9fPX/D/fBAj1//5vfv5cN/i9xMlw8eO/r77Ujx/L
L/1/y1f9/Vffvubf7+qS/374Jw/p567usSW9/Ktv3pdP11d3+Dh8/OaHYyWD7V/GL9365gvqiOF8
DQQhyb/83/7yv76c3+Xd2nz59ZfPZDEP8t3itK5+0b+6+fPXX0K6Nn+LkuTb69/JG/HrL1fdly9V
8bH68/IlXz72w6+/GJb1LwRerk2YLyZFJjDrL/+FC7j8lW//C1crUBoOjr7EyZjvVd0Nya+/BM6/
QKKxWUXtIMC+TX7V1wSR/PqLCP9FR58sl9BzmRi++OXrV9eCKfXM/udMqEt4DmCdOSXfB5USAqoL
jL3GcIDglmzGIXxsR1RDwSLld8OYYjxn97GDN/FaIq5HDNHPQXQzY7rYvqLfLpvHf9w2fWnfaLku
dGM2UJkLZY7LMOmF4WTwLVToC5GRd+BbD60de3Z2hJaR0MAZ0tl4P5T4G9Bnqfs4PVDKwPq7iiHs
ZR9SpsA7GT5FyO1Q5ui0A7CKKwJvneClN6p0+wlS/90tQ5BHVwKQGLK1YCH+9jKnxfSjRTjFg2Gb
RbyT0p7lYUG0OX+oXfJCD6WVxtnV3Nlxt8OZTQZ0crSufwJl/k+XgZSPJ4cYhRt2cbecta3XJSiK
hxKIvPrUOdOUnFgqsnzHoaP2T9A7Fq87dFXchHeZORXDbQxDNfj0k8d22TkCK/fYmAS0U1dwLRf3
I8qGDFOKObwt6U0m1q1XD/nA4juWoXnXQMSy3w0pVdUOBSI8YrwD8uYms70Ih7jKXO//88tBtCYo
NmiuOt9Fay4hKWNz5vi38qRbvYyxgyF+PWGLD2i+EADiniit83jhNOlD7UEtAjkFPiJJO/lL3WfO
ev2TS7p4VA59XbqatPTp8QpQfrmt/6OrBEQ/57NT9CdImOFTQPihdRxR/JU3W4nd/RUg5/TiNVvX
XZf4ruw90gBfyowabp8E/vb7XOaR9yXEaufB7iHLH12vsMjOIQ7Q3aH9cRaCQHyCIpw4HYz/bJzJ
i0ePBWAe0ib3wPG/vXhrbd05rPvuRF5OML3k80LgNVqxxQFFWgb7dVu9bXmaGkzt/5qnrh5wbgnE
l5/cQ4lb/7MO4DJo1Zsm66EdBOKMe//jHrqDi6p/i9tTik/R7ZI71ss4o6DZI8/EQQOx5Oxbx4Ik
quYeJDGL74TLIf4QLtGyXJWtEbl/cdrp6UT/5MouQH55gzDconFomwLX4csgOcnpyYjgbk6JDep2
y5lh9vdxQUfmgHlbUx4MMazOVdEm1bjHMZ3QnUFAnzsVmVv474hxiZYYuHVt3hZAi+JpgaqSP/lO
WPY/ERWdr+XiLiImgtzA1uFzfr7oDozkOq3+EIynpvfL92TKgwWtRUesVmL1TX5bWtZ4iNh5QPe2
aBZ7x1ut+Npuxtb64K8O9pUljvEQuiFwnCjvk5M/W+NyjCOr3LvEglf4XJByCGd18z/m6/+l7syW
4zaydf0q5wXQgXm4BWogi4MoUqQs3SAkmwIScwJITE+/vyTZ3VbZLe4+dzvCYQdlsQrIYeXKtf7B
F8tpqbvpHrMXGe2lCBVyK4i9nIRokLqIJ8TsipuIjuLQ40SeyYfAQRAj9juXbwialt+yCmcb32l4
62V7NhIAfoAhUavkn3NoXEYs6rsQNZHF2lbx0cRCooirsZfencPkSRoCnrjWopKPv14vf/vF4K58
aobgT3Ry8edgMIYtsJfJgWELrWTeRd4gj17kZ/nBrBupTsAQAdRWgzWOH379zX8ThkJgVyHdRs8j
ndcL+U9bKID8myKNrg41bqbLA/4wwedo6evnjStZ9AUjpczejUtXWrvatIMN/fe+Kt/ZLn/z+pEN
l4tGLzR0kqKfH6J1qsw1MA47VMKUw0GqxVKJ4VkFdHgP7/CPHW3iHWWaLHunE/l334zVMsgpjgXG
/uzAtOTSzWHYjZCpLOUjXZDW6Y+BPZ2IYcYPkWoLYtr7jtLxewfAWY9XhwiSNdgdXJ5M2F1nBwBU
DdUsa4TKGHZh5i7zh0XnMlZ06jtgLJFpFNZuA0LZHjKMu6rjMBl+k1hDmQ5XyAwwOL9eCn83Fmix
RiRZkGyt81nAUKTjTjUPxIG28a4pUnfPVVhH19KmXfA89Yt/2sIlV+/Mvs4Fft51ZJsRsMsX1NNf
gGNb15gdeNvh4CHbFO7WpQk/9Z09fJo7aciknGWHBRjaehsmPb5R7H/92meW0qQoZLuWBgCzAWyo
8We5itgs0duwKw6YZFXoSmWNnPZTGYhg5xZbmVhmadLAKewOXVMZesaHdgGkiTDfNp8c4tCHaUQ/
NU5L2Q/ooA2Tf/j1I/51ZvTw0OmhSR3yn7MnVH2o4APnPKEQ67IrSz9cf6MKb1xGsLmG3/BMcQTl
j6l/Z2r+bmxIu5GGCIgP3EbOdqZb54GK1q0/dM4sPymcGNYdLl5OmuDs61e7xm2Wz2U0OgMl88q/
UpHfXPtWZn80a0D4WbxalOyvPXwXvtlqSsN3Dq8z19KXybOYOp6Myiy55tnhBftho9qdysOI2uDv
XHmLnv4yjer9CtLBT0DrFV8EE3/vrFZxWSFIPiUwPTf5zlD9NZDiosmN3vK5zRHCzx7EHvE167q6
P2SRnxus5RpjC9z1bOOyQbtK7NYZVRn0y4th7k6ZneZ7RCIy5/7XS8XSR8XZbvLwWoYqzFVE28f+
HEujrlg9GRmwqf12q3eyVM62L6YqxVsmqqdwF0AG+t7KuQ5iA7fPL3TGjfSwVlVzU6K4XRxZ883j
XKNR9l7I02Nw9mzw901sTCjfBH/hL+dtrWinbfJANuI7e6RlqmvDXLFzMc3sitQCTZ6xaB6NNly7
nQfAy46zwmvw+Zjr517IVbwT885iDyr3FK4cH5RTRBTmvvvzaFXOKuYFZvel8oeqhb6WyT47FmPm
4RY1ZEXQ0ed6VQiMlFcXP7wRfH8Z/3rS7LNJs6kBAPKKOBJgGQOjPTuGRsruvW1a22W6RlSTvwY9
tjP9tWcO4OGRCDEEnnm2iXadQPW12No0yd2oy9149QNkG+NS0TH5YbqLZybNih3mmsyG0bZ2MhlZ
nq17e4HKdZWNgeF/y5clHDCuAvi1xsA3ZfkNjyeNlowiHFK+pZPLv0fVZWP4zi75y34lF8b31UG3
GBElkvezNzW8AhSTmNPDm99rQA2btg7NkJKnrAerMaqElH5CBDCgGI8OlpIjmIuDK/qoMZCo6kde
+NcTcLYMQFmxJOFDAKej0kBp5udl0HmOWFVrT4d6LMbyYNBr6k6GtWXYIOWZf0vb0KljN8uN8ChD
1WTvXVDP7wsB4leA3wmxIL8oJJwNC1Q4zAYpAx0sQ1rjDS2syo7rdfX+cO3ZrG5ypxjGu14gpBaj
Zzg+5VnZmfHQVIV3OdaWmq+zoRbdEQxbtRa7yly2L9tQLds7G0aHj5+3MI69wFp1wkQB1tRh8M/5
Yogk4ZCuI6REww8PZCN42sH4HYabph6rh4aS5/Je3DirJnBCMzmhjvNccEC6n8W0sXIWLTGuDqrd
zPB2MjeBAV5RGt4HNx/m7cAAtNnDFCpXXgQ99NEb2XvuEOM0lLr2O4vlHOKL5wH5ikUfmNu7Sznu
7HEWc2oxHCTEIrrr9PE8tLA0ogGnBoCUmY+pbegeVeWL7+FcLTeIrGKn5fsmcaOhIBty7RsJuRMJ
nUzaBShTDFNt3Y80toEZ1bV5UMqO0nem7pxrwXNr/aWX08GHHnVeHbLp8xbkkNXBnX1kRZCenWvx
+GocRv61BvfjgpXiH6OTNeW3fi7C/K5xYP99weVpRLKG9iBt3V9vvb95Ku7uQOKgwjDBznnpjK5g
Zzh+LQ6D2bYYMC9Dpdjghi1D8cFG0sc/KTUYBjeClbvkU9VuwXS/zQrxgn1Qt7gvHBbXRcXs1w/2
0jj5aalTUCU7hy7FbKNNd3Y2NDSOp8A10z1KCT1sN4elROXTyaZyxsQomJC6bG2ovVj/AsEovzWm
PRO2XiFcqvP4o8LsCKVFaZa3/N7iXXTI8Y/XHR4x7ml1KUdgrIVr3HLhRkNh/uH7oeSr5BBqDeRf
v9BfssjQcghuwC1hoKPDpYPgn7YuWvyC4q0ZIYrPx+P1rcz2yhjxStzj6dcLBIpTlPMSFWDjePXr
76bx8XPgADkKjJXAZpGacMk479mkdr84JCDFce0wvIk+LOWwMVjRbGi914K6TGskCxI80/IVy2I3
mC4xY9rw/Vy3ovngy9kfv8wvhxXGFRx2qHjNrBNL5bplrETVLmFimEtmFhcm0nWLOpqeqYzuwi7J
956WZmmLH07QGdWnDDVx70shyeHTmCqp/4D/o1+EPIAp1zCxaso36QMOkPARk1clZGflG1q8ByoN
eBy2IkqjfV20PQbFfgmlsUpKty8wGYeRqhk4c92asjsgzyKr6GiqouTX1xUCY7gjx9JfDRxQ8FPY
yHRA/TeI9GKyqMXQyxcRDsrfCqi/HIzA2PRhvBRuRpbiIJ5GbzsrjI7FQgW/8Zd7eDP+vACZNKf1
Kyom6/jZauHlNifX51Qj8Zsaft4veLik+ABPBj5uCfwKG9kTsj/XTWaM4niNGsEAXZDKjXLABr5M
GbmdmkCeVElX+oN/24PW1H9GScjyLsK6jobtsnTHLcgOAYO9VB8MbIpm56MRoX5kHt9oqp3v4lMl
Y8P1Ok/Pj6AadDUD12r6O9OauHHfvj2tkCwk67BtS8DhXyzK8/LYp1aHAOimfJAw6UqMDxK4RpZB
6xjNL3Zn2rcWr8wyqhAHRqWQ5MYT0TQYYC9tylmHDKxNpk44BjksPDBHEUO/OAiIRPs3LQkE6jdF
lRBJtorWOyCJJ8qMAzu89LviR5S9ypy87f12Rh45KUETMiRpI/UGfvupXbeJAQrQxX3BrsiofbIz
u/LuwwEN3ifgPf14i4hl9sOnNTA8YkE6d9/EhMjYNaT4WkEC7aVKTWBRGNgpiPNRzlyq0tBfuuSA
YxwkCJrgmys9iecqol+81iJXPVu9KonkVtWY3qNvk/EdOrFO806hmK2eUH0teOTq9clzl8TxWwAb
dgWGWZRcUz52Niz46DgapjWkcaE2WoQ7awlCdsXYmjpOu2NGsTkOw0z6t1GEtbVzac940xvc3DMY
qCfTbaKxurHbKHVitDT7AW1gWpbt1ToicSJiCPbzcAfmG3fmvRDmGJo4b07bco34woiaOCkH0g9Y
E3nGdMx6pApbJo4sE85vw8nyaV7BMTwhvIBMlRhbIlA8oKO7LHFgb63zdWvBSIxJwV7iorwALSu3
pOimuVYnCiy84yGQAj+jnUnFZro3K7S7Oa09CdqhAzDBWAOBYx3Ypqv/mitZPFR3Xa+1urvQEhtL
EFNPnz+0XET6nL3wEfI1bqsgwvlzQ5GbURKNH7gXaJqOLLbAK7V+OuAM/Z9yWhqGczCisvjxusuc
cdK/5FJwY9/aW1RM4mFzZsuIwFc22uQed0Ke08vFyl4hxOhJF27a67DWAsX8UfQweH+zjLSXF9Hm
utNX3Kc8jExz2PnRRYHCSHrfTHSZ0ZJ7gUpVHUj5ZxN2nsc6yjK9LxavI3Zm3GAQhhXl6E+o0teT
Pu3mLARIpHBlcj6ioN6Lp85WZnm0JNlqGENQBCeEFV27Fg9EwCm6x5cLfUbSWBznijjnitxep5K6
iUze5mnDkZRA+ObMUi8TB/7rC6P/GuBT7Qlrjm6wNZT0/yq3U78HwDbV577MRIAXhjPTGETst0H6
MJRttzV7a+5Ut3dxdDX+QCpNGjcWROiyOdA2DPuP4xBVxYWPTn+OUKShWiSC1WZclaPKpnwXVoVT
XwCF6aLbnlYNvSwMPPCG7SvDmNET70SaPblZr1HJKEXQ3HnbEg7ow39dphi/xjYQTbOz5RGdEpTB
4y3v+7bc2Wuv99E8KpzCZSQh1KHUm+nLJsoc+qgMp9Bar0bkLMpvDi7uLMOlUdK7zMrBW6cDts91
dA8TdOBXufOh9nDB9UBfqJB7LRnQ2htbr0pSjGZrRWDZRp/2UyDba0dNQlyzYBt52S+9ZcWWVVHt
RYa9DcMTSkohGxr5arq+mLViLo/E2TDaHHMOZ5Fh7JrIHYClvR1sJBcIOh7zzhmygdZGb+V3lcQM
4/u2Dfq8fsuVXCvV4frtLC+rQuMGG9w59eZaVy0gxN7XV9O347fIW50ovB0SdupBAkp6y9Xp0mvi
hYqLPq8mjBD5tWD0dRCvFS32FG0lS5/FBZas7KhmHvT5iRSpYLqqMS30ULmB3vpvp17r2CJVCf3d
VNj/LBL4BpTIdhf4Sx8ZGAnOdpCYjPq2xN7r7bRq5pdPxvCbYY/Q4OYjM2+1mMYmDA3GsqhMkpix
ngGKImBQMU9J7xdsWVTZ8yG7X810q/rHwkil4ScoLbTykFttiYV67w4zu1Ki6U20dV/zUvrjCy8M
sDZq8OZkD4bOqUj5ub0aR9kTIBaM5PgFiA86HzBHj9t2YqaDzinepFfKoNbrhrxGk6wFSloGEqR2
+VJDeP0G/PsaFx+MlUKlua9FpQ9QL6vL0oQWunQZ1SR0+5mXWnqwOB7xHDO66qnvlQ5WUYpIR/EV
pU896nILwJygKg53pIUB423rjH6Oqu2wJzZOo17mTmtpiacBKD3ronVgK1m3b9AmE09F3oKMumIg
UW3y3YvOhD5l3dmygjH1bWuk01sfYGiUDEUrJg/PYSTD8RMdUdkeTXI/BKyt6WWkmjzQ359XmIh/
FYavVWrf0gJLlGL83iGPpR5Xw3HYjLjFjbq5VVHGStx61GEYIovQD925Oid0NEJixEPEBWV6K4qc
Y1+oFjHDixGYONPxlnsIu2/5+1hs6JfEYZ6M+GHupT/d96FExuI0RUgNY11Q6Q9Me3RQ2itPqZZN
BJrAWEitsFQbbJ+OOgEDb401th28L+wEhS5dNRFoMfNobx8R1CS7yFt1yCSLWw9qLH9zzYeaLWLI
vOVjrFYgXbBrnUL20037up4Rw9RTl6EVrs+lV0AIlBefx3JqhzwAQ+KXrwMNwUeWlEtpsYLla4of
/YCmur0jwwdMq1eIfs2iAo2+7eZClfYVWOdBQEAzRWnWe8Mxggw2M5DFp2Ay+ua3KMeb7zmI+L5E
WY3pjscoGLrmNwx40bymwlqiP44TSd1304UFwoo3risPUkPvknnuCtrD5eciN2WPDW4tNjAuuXyx
qRMDprZ3uBxt62d0RR202RUGXz0G930J0283SWbGucmxMl+HuIy8FsHzrV2NSe1Z0GFePS7Zivjt
Y731tfQTzL1wGcA1Jl2CCPoKrpp7udCYxpkbwAjKm2XFgrrjcz3KnflY2c0feCVOI6o2ub2liK2P
QxlY1+MUtkV3HwLKMatDBN3eGz+4eKGF6thNyGET7ETmfbQsitzjRRkN+vvNTGP499Jo9U9uZXXu
RQpvujb2tW2r+kM3TMIMLxZ4QMN2CoN1bBwKgZikWfttwA8oTSQWw9I6gCdIV87IpmiLiwWpa54t
lw0lURFHy2bRMa6dHEj6P/nzM8tbR7wCmPR9+po1v4XsTtiYCO/IbYyKSPwmnTAhxYAzfFisxbdh
6DyA5XU6IE+2H7kO1Q/YkXQmcPqyAiyaewByPyOzAtY0nlUV+GOsIozs15sRBLkP6h5Qd52gbeZ1
ZhJiYzyGn8PNYt34Iu0Hm4qeJZC395ROV+Fb6mub83rIFdqPukrsYl15Bef1rzRm5kKxGWrIx9UO
+Ia+lHEBGQgZr3dTr2/0Z7mDSbm1bzx2b4G66LbcpemiLaCQC+NIZ6GQTG4v15MiKl7OhYrfuYJL
pM96Z6Us4uB3oG+6tpvp09snrCmxi+BMtMuBZlFaiNu3cEH1t+FEUFjLEyhI/FKwj0kL8iHvr1Fr
Rrf8nntiOlmxX2KzjGaAhRYdoj3BpEP7OqA6uyJ+BikPSlcI1eoH8SogsuezZ6fj13T1/WrcYVT2
kpOmtR6Wt0Itip9cs5ws1AEPilDAmQFdkzeMOqUhwnbT6Sp1UaPpOB1K5RZ9eeH7Xb6GxwhU2YIp
mtnIj87oSJu5VgwbUYNVgzp3aXOuIu0GuuXtGAdTuhAjVw+aDePyeo3BDSuzJBxDf2h2/RBOeUJX
eSSyISrPKku2PNr4LacFxHVhv4ZlQd7KBek1cUYkjJJNbzi6E9DgvEs8q19D3phXEfnM2+H6Rh8p
kZasRIxkBRUVLNVeOH3da+YjRqCoLQ4Spk4VbDRDCarja7qepbW+DrZ0ePWFYoVfAsbH0aUGa9Gg
z2OohOKACAdLJ1omkgB9u6+EEeVXM2q6q/11NaJl3o4eA7zMO1ZIGD2YrhzbbNdALM6eYRqM6QMC
nLK82ERuIJk9Fcbk4BTP+qldzMakuyZY23ZWf0GJrgyfKROYn2SbyuVrPjsaB4Wso1kcXcy0OySd
snR96tKynpPN35ztmHWjs30itdqkcRzQsF7ECSEwS4pdX7Zb+bRIGMZfbCRdUMudcuS5aEgB8h/i
zEJFsYuhsqn2XtRy8/HYqRwRXtArMwQH2bau5X5sF/eblVaLfWk0oyy+F6Nt0YHE+eaIQl8kmxP+
3pN/uY2TMT3UdPFTVECF3pdDg7V4dNR+ntmPdJuKLNohJdeUO5dauc+dpSo7LbtPxEL0su7wAtpx
TLqpuNFXs/RoWsvYNNTIGDmSRyRMBqQbhGkhXpXLYfv+duN6y7JJA3TW81okeL2vGA76a4Q5lXOr
zKKOBD7AKNPA8qNVAOiSvGsCFiXmPfqinvG+7e51/eMYpj8NASu9q5Z1o9w4Uz1ieQjAl+W31yt3
mW461XzLc9+2ROBNOq2WULRYtQZAbfMLZQM8R6ZVYMS4unreD5sTdvOKsY2CExjjhTBPOH/b+InD
Shynt3REp9aiQP6j3Q3l1hfXEHHC4gOWKbnqEBU02/oUTBvcgt2aLTpkvDE9DC4IfH3kdgubv2zr
VF9mUpOrZCdLS5KCKgs/ceBDzHCrLUlS9kwplJX9IC5VhK6tW61oX0qEMAHqt8tcfWJLYdYcA3Xs
TcTaPNBllyki6vMtE9jNt1nZhpuP1KOzmZRPfLmZe9CXy/DsRJEansklVPE9D6UsnnBjMFmGQ7+O
xfexgEaJy0ZAUwGJksDvXYUplKnvU9jr6IbLhg3V+rWDjMrzLtrb7rkAdiZgyA6QtbisIzfNdJnZ
ouN3202mxSp/KR4F4H/anp4NCMciLo1OD0cjF5NA2pMxkBtJ4fHDNIS9f4tPsz4JFstumKq3GMaO
CylPQIZ3yHAE5kF4QJdeGhWx5fVGVd9BhJNMmP96DikTBfkKw+uXdL43HX3bSNdAi5VHWBNtT55h
syl2HVvC3Xb/PKR10Ylhb0u9BkrLowziz7by++MKH1jAT2Xp2NdQQvTiE2jMkOfViow6je0BT2Bx
lH43oJqeggZoZbIEzqSKHUY2KQtzeetaUgSuImoeOM36uxa3rChCvi0qu2i3vtYAarOhYoIqEpdo
Qy7sn7TRcl5JZGHxA5dlmszPWycgTdPh7fzbQHQ2w4YZZjZ/QpBZTZ/ezlSz6V6KpzNATxx+MM1Z
v6duJi21d+gi6UHLVsVYz/RFeG1Sbj1Mab4YRGbDZJe3Mb86dAlHoD41e8teR05Nx6UYnASGXTMY
puitYYwHXMdUs18iJzUGfkFBV79666kC4HiRaOqJkiuh8rWWRx2WzGEcA73t3y6L2ZQOXClq5eMy
HXOtDBdvJ+SEHRAbdPURaEX1NiRNXteUcNIPHuSsGOAcFbELYUOuh+Q5Or43xpRGw8xGkLDQ/2nC
lmeimCcx0GQN5TVT1wP64hUyw9cJfo1aKJeV1tE/YHQHX/VGBGKqR5msrxU1geuZc824t91tNVLv
e8bPLDPJvaxlu3Vze0b7E4UTfF0/v3QU/iviwf+CU/C/4ib8XyIe0MJDlCQCTfaf6QefkL79f5eD
JiAMf2Yg/Pt3X3kInvcPms1YVwXkfkh/6ZbQKw2B/2PR3jRhAWgIfuDQznljIdj+P+yQMif9nAhc
EJvtXywE/b8cZNwoOvOEJJf+f0ND0P2of/ffIDp4vmchzQHwyAS2/QIl+FO/yrLrLZKecneBSXld
0c6d2/y3wim/1yrvj1FrLYdK/ned+NdvBQVLj1vLmQGM/LlLxh8IH0art7O4FgP/C7hoONWpQLr5
NLnidu3bOkbd/gj77i7z8iChfC6ucO94LJqIroHpbYnZFO7hv1/v/3Gd/sS7+dA9Nw8jDJTx5lv3
f4BKY/k00P/zYr55XsTv7U/LWP/CG5Mm9P/B4sUKgKI0wEUwhP9cwgZ0mH+wiFykT7TwCb2gf61h
B5KNBYFGI32hVJHK/2sNW+4/0HoCmQ+u3ILUEQT//2sYwhsdbYiSWuUR3B40sJ9XU+9MloDcIG8Q
8QJPKOkXWx9KV5b274jK2TTeDMApFHVtzzikFfo+T38aq7vX7fITgeYMZgpZCPw5e1LT9NDZPMeD
iRlPbrqT03U7SOou9tT70YObkShfrl6Ud6dlBRl5l/b9MhhxUaD7fYIXO7Z18qY16Q/Au99TIT3H
qZkIXvJSGiKP9OBfn8s2HbRz58q6tuexGnYhDNQs6UU44+pWlAhIc0EmCxoWh1tziSsRRXinXgUo
6EkUd3ItyxlweW4EJw8XQuudZrl1hsgxI/DQGo4DnQfdKRbLzzNX0lawOwfigKDXiC1pa1Lvczoj
vDMWs0aupKTWeAV3nDvBZANpihc3aKBBlrnqd7QZMPtEU3m6yrTJwaHy0KS+m5tJeHfvzPAZOgbt
ThDTUDARyQJ8CEDm5ye1Wq5cxmJbVxseOcvlxBGeXko6iUucScgYaD3UzXPb5upjiXwuAM5ZDt6F
dJdRvNPm11/175CN0RVGFZr9RFRk4f2FBtXAxEaz15qv7DSYRmqZ9VDdaIka1NlLjCW/COrBefbO
XJ1BL/W3alyQbwYgC/TZ9PMANHSNfPAzI6hoNE52aFZLnHb80sScFr0D+Wnz+sKMDaRnlmMLLNRM
VgNruvtfT8QZwoHHYB7AzKF/yfERhWfQKEo2VY49R31FIbcs10RpNycZy6jJl+Ovv+psceqvQsMX
ZTSCiwNq/2xx1sBuJ0xVJA3uwjZOpIC+unTrYtli2bWifedQPEOOAMx39R4ACsDE6tD48wDLlBpi
5trLqSyMVe261yG0ct+5qgOy98e+4fJwudJdci9+/aZ/+WoX/bUQRDozy2O4eiT+lAQgEoxeN63B
k29YxXIM/ZpqR9nZ/odWbIyrga5Hv5eZMvp3VtX5GHug4JEDczUjBvW5c+gzBX3YJ07TnQauCBhM
jjU7/TUc5f7MSvr1i1reOQrU4gyztL4r90BQOmR5P7/rILolbY1uopRirO0+M4b1BwUWXD2dDCr2
nn2NiSwAyg1LqsLfF9XkXtUo5noYBsj1gxOMkAtLN7pcu7XaBRI1fioF4VVKK3Y/YweR9ND/YpR1
p1Pl1s5nGfnzhTQN/36OfJEsSMbuHTXeYl2VP+i2fOfGVZSCJz5ILuClezIN+F3G81RVQzJwSfwR
YfP6vVPDdMgMq4KKvXm3LAdytM44eiaOjFTgw6TzkF2h8mRdVFtYe0AG7fCqB1Z2DLco/IRRS/hB
tFED56l1EdCCq2jCk7qGN4+lj2FiLY7PVcmg2A3ENvGIDG2P/yqi/yvGtIdWecXJB+BybNL6ccah
/OM028ve39p+N1EVOo7R4F9kQ5t/69T4Ixjh3cUzgitJNJdbnGLtuatp2R+jaMF6lrsOpSMPxEKT
o4RG7QS7LhgZ6D901sVIPySePbN7Sq2Z8qa/lCHKR03/rS+VrdWygkPjpe2nDCTXfjNTPN2wOAMP
CGYkXmVPxRUszo3rlXcD7owfvXCkIeuP1scQKuT91JrTDxrwSxIWXgScBVJiXK7e3HwEX+uio1tY
sBOz1RwSzNopiSug4F897MPbBD6hvLbb1Tst3bhh1ZKOR2/1o6PyOyrojXNqc5+Kqyup9GIImOQ5
f61Rwyj3eKA5xhVIlO0aRWX1KUXC40sxNVWKB09UfCjpWT1YyM1+AFY8PdXII8ZtPtGLpKh1JZH0
jhcRrlGCd5yFqH0dWkfwKPme0gTpdK+VXncUJYvfS6x5bBSmBn8H3jIrQGAYEpXNB5kZLK7bBSyz
OrXp+ju1Xy9Z/MGKq2IdqANmy9UUucFvtPDEAtO9Li5y8IFZPIpgvGhNXO4ys/rDWT3rsguH+Vg4
El0stPFvZWCIGLPXgxlo4QcMaBVWxxmT6jWPq7uJnRaFjSd3Cw6VLahp0L0/oKJWxrY9TEmPWM6N
S/2Ukqs17WECpBi3efkDTcNrBNOqZA3aP3xqqDG+NZdWt9YP1OA/r1ZJtygEqgi0G9VSazG/WCI8
Tl7tJGOmuus1w0sdU6UPKc4LR8guy96pSvosKOzuhV3CQzHSlVUHrZZODDUFrtab7jpER9SsQLnV
XQtccx0e/C2tb4UU2R2ghPW6yBy57+FyX2GvAoxyCCYwQ9vcKxmPXOP65MV5bu8FqFXEwVp1U5Lm
+fLs0KTxklaVEd3RpbqxQEJhfpHPVfVbXqaV8UVoFRo+JJy9Kl6joMhvuoj+0B84QVk/JDMHFbRx
+ntc5j18bxo5jrchPF//c0TfN32CbmebEDU3UYjT5GMY/iNspwmsp70O/gNoVvMPPHhoDOeF6re7
yQ2z5WiLcDB3AA+s6vCamDWGrxA/8KkHuZdL7vJU6BI5+4W+uYm7CkKeIkEJqRcH3arLyTExWaJL
Tt/5EBWtnV/OQ5WGSbvWfMLkGDQgjVUgg4dmcgAAoFPhNd6PG75WSyPKk7cyBE3SAurrryHsugiD
EYlddy/bUJv1WT1x5UlhXkklJbUDM26A0myJg0bPsHeJo37SBu3sXnsdyiM3YMPkdufSklU7bIi2
9Hlb2R83dVe632zUCb0TQhXbYxOxxDJEDnvSY9/POJXALqXeb4u0GBusxM0J7y2Y3ZvddmjjOqlP
HRhHOiD+3F2pJFcbBgbWSHulrmVWnlQO0fhubJbQ/1T7YVvtKQ7MkUpYnZNHkT7swpiJTYHtSE76
5rlB/AlyCXLa7ZUNVSG/NKOpw8q4NkIxgyoxmaF8HzQi6vuDCPzmxh9n2zkgKOXcAwRlvq+l2ayu
nxgwK9EIsaoBnBMN7Zp6BVZfy0TsIsrTuVud2WRyVSMRH0ZZszkKs50G9v6Env2+CWmy0Jktyw7w
db4NNnUtTPn+AG4a5nXcogeJZBZK1auxD4phCo4YR1YgYPMsKHbu5JbqiAryHMaIdYXttQdmCTkR
JMndpwjx+/65RmlE7YzQ7KZhR5pXcFrO/Gs5cv0sQrnPcJoprrHfLNXXcZ4buD+yNdE55HhKW/fZ
rU1dWXO21BuxtuZWRInbcvruIxV1c7skSLrDPZ2h0MJgmLT9AqukTDx2ow3echrWjZHKLelA2OnX
hpCVqhrolkQ4YXVjpAorN4hnLlVuE6PbS9sQBKXZNwCsmknS3Uxd2SKoNqy6PAoyShWfDBnln4Os
sPaGwDK7CiM5HeG2ycusr9IhUVILiWPN+tWjHfJorVN06pocNIqwOjBRlv9EWv5Zor9wyes1h7nh
DhRHDs1XWMtXoD3n6iCVuaZxV7fjXaSWb3ICMVHhnXVMwyK8MUYcNmd3ZZ3Z3XDpY4/zYAJCRL+l
42xZ0If03aDlKxfzI3LUxQ4LsABj2okutYj8HQBgj/a9tOIeu1jg1FGg9nKb2gP8gOi02obad1GG
Zr6P21sStkuJdKA5Vvc4QFe70KD9H+vC/wLAsKhOeRhWDjIqsr0JEKAsL4HNmZc2UOALgV/9hWNN
ULdqKCyY/z1ZCGEEMRKfQ4LnoUQUz/WupqVfTy74uSsbSnTMnFRXU8Oq9kbGOu9alMOapvO+21lX
HR18u+NqURt9ZdVcjk0oP1ILX+IQ0BzmY2LYN0Px7OJeci8zD601qFlUy8ElWbhn3rcFHzdYWfDo
VcoKMeQNu+vebBonXvMu+FDMfUSW4GAcpQBAJVE/Yp3uGWp6BGza09yh68SZB3luTRzqu+jsjrP1
Azmd8LpYXecJFD4siqrBt3roDGnGkVmIgxIDlk3crXosTPPUeyoph3uHIMrq8Ivbg5K9RZ6qwNSI
4Mut0xsKUsAhx0rCCxs77pqwJxmyFfCBjfQAFHilugfBYX3KMmF/d7I2vSqd2b60MX+dkinCZM7p
MBaJQ89eL8oxW41d36KMEBdTr05LNqK3MfbtHYgzEirePgQQR0cx7vyg/NQAa1poUk32ZwET4VEE
xXLK+6G9H5GCvcz1xX7nrstwacqFUkPfD2K/gcwsEyE892D6XefvAdCOIE/cMv1jVGv05FnYmie+
6kYzVtThRUyBJ2riHmQ77rRhjseKKsYLPhjLcTmZAlnNkdbSsgSjdVC9yk41MuBx5zicW1MBBwwt
tl6oxFWdul5F33/FEqt8sCowPnEk1fYZU1mfA6WrikPwP8yd11LkSJuGb2VvQBsyKXdaKocraGja
cKJo2sh7k1Je/T5JMbED80f3ztnOwRANBZJSaT7zGhQsHNziDRP2KdbzMkLTIKeFybK/RFF/eBxJ
+D+woZf43tPGuO2XuDyOk2y3ywJdaD/Q98t2Sd7RVDIgXUV0sbB7Dqt1uUkcLxmOeZhKyfjStgDq
USBGGq95eWWvibGzUrV8A33u46iTWQ/I0YUR+Ks6Sgs32Q/9ghRqnDR7lNqzjwWyOYDYaMBnvTtH
aEg4nxnazt2uUHC3dpNZ/pZmlwcJK10P+B7VVx1508HxJrQmHd+hJdaX6XwKiQ8xezPlo5f5smY7
juUjyrbjJeYhBQpPRXXT1tWN0a3jd9mN8Y1XdsEtbehxby6re0RjAfilI32aWllyiSZnTo2pENDg
iry/VmbOFBtsJAjYLYxj61X9rdso41tAorJEpaHUdxarXW1Nx6u/ltnafqOXIg9iCn7YNQEmjzMF
085QDu4ciIaSXOGjdxS4+6DlHhjdlr7kT2RvvUtDsi76OrMO+VCqwzpb2mmzHm7ssex3lts+T2Mh
g/2CDATiEbP14JEFb+eqSo/k5O2uXt2fuEtiITdUV4k/JXtsIMIPZmybH0dygEsEAv3I7kN5ok8j
IhU09iZGY3OXzbn/xR3i4WTk4KcDY0wPjSggmonWv3DNuT1UYnB3VpWZ2zKg+YN73rV2syH6AbSL
1N0AGhyURlB45SXqr6yRrra+Ahc19y2t5gvYBSbyICVCdsFwjHE1Ihqb29DZO6jOEosmYh9kVbxV
ZvG9d/wUeKQR7rS8HIHOuB5rLy63qzeRjgJU2VVazfqwWI78vkrx2Iq+uCwGJMBchNo1COgesVP/
FzlW8zCTR57Am6DSTr+sqHcyMOR9LAiQt8EwtbfIp9T+zVqxumAdJcEV4s1mlgGxDtxpg1CH62yM
ZvXusto1PrqkV8EhmOMsP+a1n88b8OHxE7GPhZVyqGiue9W96Zj2l7XvhkOTteCSgqQgKbOs4lOw
lA6A2LLfFnXs3pvI7VIbC8uLrLG/TnJu72W6EEd18XxXt528hLeDgUvvW1ext4L7I054iM1gjvIG
dBoG0oR0rhN87rw+iGAVGLdZbn9Cec8+eulKEdAsUw84S3kzoWuAtPToX6Grz03MbfWdrQwwRmos
n5upRTNXoOB4obRiEWR4EDcgs4xdGczLaen99Zq1XW6cWYTXS5d6wEuLZ1Lj/ENBGgJ5prM/1OhE
bVFum45LbXv7xEwIypgnKQWIrriowMJCzS6zhzxs5xPtJ7M9zmBgIhxRqidk49ovbdd1JwGNKbLa
qjuWWWd8o3DKJq5KLdxs+8UxsFGqpGStgLA4sfWrl2JEodsvd60Qya6kjrUbwj7z0PDpHXCMhT+Q
5bEz7kQDBXzMUhRLiuZzOvbFnV2U/b3nOUWExiSporEi84nU4U2YEZuZAIWPbTv/yDA6RMewG7wG
MGoGBNov2ifl52IDlYUEFaF9i/kHQm9HNPwNnFpfRdmaWZvctO5QkmguwW6lGtEzXDmiC26W2RYn
an3OhwH/QOColW8f5zS+gqogYAeq0o/IalIHkKnlHMbMkMsOgvv4gI92fTuBPfgWYgjOAynzV0pB
g8g+Jl2VAHG3FOriB2GO5qnxZhvTJGLC61rY477P2tmMAIl4l21s+vCZQnkAL3WB4LWF3qthwvAc
3AoHckvh4k0P7udErVxnk/O2XubmUDZCYUySY69WmPY3RS0GFYCJfYx4nwELBn+PxXq3YwB+liL8
3CYFpJBKhPdCWS2IfD/brHFVHi2JwJHVFcNBdn1+kYi+ixKcbtZNP1jrtYEMp0Uc7bqfTbsbP2g+
ACUR1+UW/CtSWvcRnfTlmzcM9Z4KcIW3G968ZFF++7VK5HoXdKs7bzBZd1F4GpTCYM+zp806FuVT
qUo5fIVqS+teWeG8t2oclsB7NuJ7WCXLTw7LOUIlIrmGsJkDRoZht3HlKh4mAVMNtJzZXJcQVNkx
0TjAKzxIJDbUSEteUTKKk+vYC0DoFlSOnk2ZtP7RYbPDryn13M+wD+UjWoq9TC2Sl9CoQ7RLvbG7
RqUqnsbPi2fNsgPPImbb6bJotIKxrZztkg0QuQkNF3mzWqn1OZ9tFAVb8bnnpL0x+6L6Sa2EkKOF
RSDuitHqliYGiwaqo42QMTDyy/klh+lTKgMnhADIJQGeluJABWZELFEtIUeDT5h0hUUDP7Xbtq1v
uiLoAf+tMd9ZhzQGtkAjTnWsMCQg5xLuiRme1ATMZIuYhpg/JuEocOjGaeimlb3pPU21Yxc3Sso1
3sUegqIo+ptjjdtboCkPqgv4rbUrKSKmmJCF1yEAXfd+tR2Mv2APVDnvhBsjR8gAY4hD+5I+s3HH
y3eMp4sRwEOMteBjD2PN2Z9FSgPYKtXPLBxGde8rWD6CPQX5iwhe19ofFKC79CpQicqvcEed/TvH
GG20YZ0Uohq1ATvli7AgVxHpJ0HHZrhUpp9cBGs25UetenAqoSepO5W7cQbvqHIoacaK5HFancFH
bswe/OASqJG93NqOFtovEAi0r7rW0ip7DhCyysbWpqE80XZw56IA3lR1J5XRmvvGx5Xjbi6IpS+6
qVyrKzgAlL7NUAKTwU2ZZyHhTJbPbpLXgYgsyEXNjq5ELA6BNdrjgdCUYkFSLKaFVCqs64iuEBYY
G+Gu1aVJeWHaCj8UxY18YUwaWY+NVzgToV+0Vg0OWE0mMiwbaszj+kuhi60aECcq8H75rgM2OFqm
gflkWalumTUNs8Qxev4P9BVgp2uWNnnp6Ck6e14shuy6BIudX1U4mk/AFwltv7AZ5/YdsVDeEyFb
3Qe7Ka1vRQqSpdtUZGs9OTwqoLssITVm5bQ0ZGIdy5jeiqTUOOvCbu9O8cbBEvpXNxjW/PEVkFzO
gQZdAUDQk8WFh4ttrWs1BE+VH5ONtDHqYagKL+7HwYoTysPLGrQbX8n80h5SX+z7OGeTsvpROcjJ
qabZd3Fr13vC5DXficWu3Y2ReKq+y/Oc50yHpqCwqGzEsi/LLLG+xLk/rstmSKSbEsfRJYs8psaR
I1CG14pQ19jpxpe4qdUgug0Hv7I/pGIw0o3MQKSnMYAhylxBuEdLqBr3nal4aood4ZXVT4iAihdT
kRSZ+OIG3SlAmPFIRLDPHE9WNMfyOt7KwcJNQHYtsRUb34JJyCyotwl/9gNiPnpul2BlVXDpojCc
XhDxzLOC3aa7ouLltfYOjKEHu5zCKupgoXYXce+aYIQKY1bXxlB686ap2nHer1MV2DssdWV9kkOH
vwDETuOKyYUD3NSL5gL4tt/fC0S522/hYEEsWn0PG7NR5e0lqaa9XtEYm2CE9oFXH0sQ7OZ9Coyq
3rIRumqLKPycn8CTuiFlBWuobxZRh1vQ/228VwT7xLB16IXXJEZdtgnMYqmg10KGvXRHO6O4i6Pa
5zPV4oz4pEwzhlGxqGb4LvICmr8lZpw6QLvdJRWv6AiCtx9+hJixFQSlDa97SvoKCojj2p/9smK9
gZMjmbJV0v5weNXfqBEVznEMl2bdY6EcgBHOmtjZrmwM8U6vMLbogKT+COiLqTHm5fp8XpxjbzFH
A7MPu6MJ5TYtgA+ignCsZ0vbSXg2hUGQ0mrA7bVy5b4kUPT2Y08lkaYQKty7Ih/yKwgvNYRSxxnr
bQpgcb30VrtPbh0zbrqrHDFZmHBLrkmeQ9rk5JVjZgWzta2lov6InGS2y5m4/t4fw2KKwMvnV/Ma
dsmFD+rxlz+YMv3lNK6lqDzbMU6xlhBUdjrDRoqRpkhVfRH9xJrPsM2AhY4hLIXTpClpzUXK4eHu
bHtm42h9URYHW1XJQdoQZbdDOY+B2iBz2ZUHd/Sb9ZKMnfawFikAu55T2ykuOQa84sadgxyYnWsy
Tfe0f6msG27rYRiSh+unbq3Xa3staIrTiOjZP884wqXAYxtfEORzoyL0verSVbmJzpDItAjC2DZ2
/CnzU7c7hIYbGBaFciJt9ukqlreloCZ2Gy5Z2mCmDDVub49j5hyWcqaflboLkgZRORQGz9BWRlFt
UJosy0us1A1/K80gPyoIEu7RSssxvyDdCB8RBRTphhUMBzcJzJH1Cvs83VZq6J7NOSPtRvHccvcW
JbEvfRfEciuKvLSj8xlxbpUuFUjTXZPl1oObeU1ywyC5zYdGrDElC5qp46cW2y/vdN4x/Q72/OPc
A9pFFc/M3AjSru0oKNzOnB6MYeLF4TZL41ekEJHYgU2EmfGwU/mFzau8aOdU5NE6OePwA5JzrG37
ENiIkI/qvcNKHPYIbz4QW7Muh6+t5Zuob62BQhjRb1ppj1G6TB6RMi/ZJGZLwJQfa39kWlhrTExs
IP7R3sHbo3hSruNiHMw6W8Jbg8onlKcmmYKnEg3r8kYshfedMkO3Xg/GKMQ251icPxIRuaCziXzV
XWwDkf/oJ1PH8l2a+ULkhjdfl3ViqntAr/yQrrE3UQZhJmUXsdGn4ntee6tmfkE3Ga8cyEPdT86T
suBAMQFrlxvq18o4ISxntQcJ9c88Ik+iC8I42OCTtSWFjhcZpTMs6u9x1SfQR5Gbaa6D3q2aVG9T
ltoaptbb3jaLbUBFskIaCvIKMfe1hRIbNBLuU+VU886DoGo/9RVWi9sYGTsWFc2BkBZBFoJD2ViU
zYmHez+t54ehL+f2A8nECgkZdYrg2i8nKaI8t6vq2MZV/rXo0c5iikKU1TXshS7Hsa66wDpRf6q6
HZne6FwmNE0ptkMdV59eYyTXnBzcjNYEUt6QFTVHF6gMf2QVV5U6JRin/7CylR3A8CwNew0IKtun
3rVHQS0AEv+NFjlYHgLML5JtlkzMszqoeWlmDvfqgtJF2x4Nw0j6qHSXYnpQJjHN0SzJeo6z8o1P
NJqGo5Tm2kYCcan8Op61YV2UePO6AN0xkp++T+/zGzmrUX9JkPR8Bsqbd99NoOfkgXJJPR8zpi5d
iAHoWeI+shkrO3lGVkCmX2S4dPE3d42ZGzHlzfAXDZalO2IWFM8X/ZpnW0ebJVLDTmlFXDk4PBQ3
Q0Igv4tnbzAfVupZ7SbRA3tE+MkYrzG07upTDBYDlD4clOKzS5+fjb6A9dVsrDRFrwoTamEL2ocE
XT/SNPNmDCniBnB0vXa0FMt8IKMarDRhXKs7pwPyRH9ShfNh5ZZltpmcIlcfQN1zrDbZ6A3PVT31
K8CqRGZgduhCTVdo8bXNsQdjZ+kmS6auVT/a9glNCqw4cfKeV8R0JelZvFFGM65fIBl3GdWR2pU3
VTfW4n7GA1ocoW2yN3dk6MVNHkpPXc5zWYMHauH8+0tkFOuQXWRD3IR3eewL/xQo5ClptRCxeBRF
WkuveuSy1ityhmnaoYG8jp9918jCHWXgCiuMV6z7JN2eWmGZVHG3nUZKLz2V08ZLyl0FpsJobx1j
Hq3wxgDfnGryCYHutFNcNqv/oHHzFskK8hBALAwaHz0XqI4gWt4CO1xi6t6b++WAFb3nPIwC2cfP
QETBtC+pS9MutOi436mSN/QlLEOC5xdwyb8CS//fwKP/J7z0f8Zd/z9UaQc39DcUzj9k2h/rbPz5
478exm/jzzdA6Zffe0WYet5/A68grwCxCP3wRXX9DJK20Gp3MUY1AVbykl/g068gad/6b0cDLz3U
hi0baNHQvOi0A0lFX9NFTsiysVb17X+FLnUcJs7/4u30FZFhRngXYSxAlMF7YcjSwrLekoX7M7Bi
LSlhnznHdCnRR3HdiQl2DtHrbh1WsR3txU1ZZ01sPid1L0jcqdsW/mWYumzCBdWH7ohKTzncYOHS
GqxrcBrts4vUAcQRAwpgjve07wvrp0/oOt2XKfosUJHcNv5+5v4mZ3UABM9pQkei5VC4TS1zlPU2
Kd2+aNkr3Kq6trDu4ZaTqmJPPEdtxvDCOfrbK/0PCNi3CDJ2SOS+UdkGUuXx+gCuv118yNFkFFrS
4CfcojrvjmMlSnGkXz/0/lGxDWfQ2bK2zH6VmuQf739/eUuD4/7+jvCqoCthC2ID3tQ/tMdV7gQD
6pXZj1ejofHsMBWGNngXSpi4jI3bPh0TgjsDWACOT1IA44C3IZQnncvRS+uh2DRN50AzDd1A6xr8
/ibf4jbRMANICGkmpJ0Orp9p+XaMljSj29I7xg/P6Gc8Q6FmJ363LwMx4i6KRg22swVUzPHi99d9
9270dbWEmk2RCxArgOC318UtEQSE4QQ/kpU559FoacvhSypiu0428HCn7LaGYU8tJ00bG7j07y//
FjiqH9sXAQQGZPux/WYNvb08ktMgy7Bv+8Eh5ndO5Eqg5N9YSBipNSrzy1NmWI2FLC+gjIdiMDUM
bUjhKZp/uJO3YEPuRGP+wKjToPYYDefdQIxeRreJhsD3OFTwbA6NrtisOwOTQox21qBfeCv/9uFB
vmOkDAY7BE/6Xt4s9dMYPJXZ/8CzjVW+Xy1PWcUeI6ppELssIPh46idGHas7D3z5U2Ouc09TJmvM
Vv5hIryDg+sBCJHWeVmoDtvpe9pFElIwC9vReE6z3q+M4wJMmAUB6ZDKSTRJKJ9oMlegF9rNEkIF
wNUoM9PpoWo9xC5rw+rrh7BKtY9t5za9jR5WVg/Pvx+ztwc54pDwUV5kZi1k9Fgt7/aSScZBb2LD
+bz0Y88kMCfaSmJnLgAvQL71DhbqrV10etHgb66/oNw5/dvBAueNjqoDcD7Ao+Mf8F9M04cReFTz
jGzIi5YIuxcx/rya4+penRVnhmRCJwY9b63/0iNMq4W6DBjAaG6k5Mh653/RrsMMo5yvSI1aCqu/
Hy5Nvvj73sd4MUjIvoHg5Q1D0ni7wFB8q9uwVs7zANcBgl0+Dm1J11aNWUvH9ixSZfiV5og3a1eR
pgcFwdmDbMGw078pc1TwlYIYjwmC1kd6pWVPaHiU9x59QFXhiv6icWGT4MItfGVKolsgqfH94YHe
sinYqdCLpTjkQQ1xqSC9V6JkZlLPruf2yXcbF1/kFmA+UzHGgE7b8JFvwJSAX/mye5aT4GfTy3YC
ciXgR4uEi4c2r3T+vKDF+10cKhfBCK7zJOB6I3k3OwGaDVWcNu1T27OKup0zFIG4sc9l2GHSResw
nuF8wl5dV38Di4qkJmLDl9590qnYOPYVktefemMCdBRkng4QFjFr7nqB/C2vpxkcrV+wzlCM79uX
XA/PLS2I+CqTi06Dpks2NYgBXEdwFFKfgmrRDGDHBaRPMUmZmp7dugO5oedPWp+kWBLM7LeAy7g8
bre6xAJSR8vmNAQP3Hlm1JqLOr7IKi4DQkXtPpxR/HpAW0qN131fgF4sgQraVWQApFqOieBw/Uq6
GItPswlmErvXF2WDGWkPEtnfz433WzijjxaoD2EEMw8Xt/i3c92J1zqBplo+UcIceuBmtum3mrOW
UwRBT0+yUfz+iu93Ixv8mWnjFERUytn9/opDbyLPVDnyq6NAP7uRnCjc1lsaDPgr7725c72nOHcU
k1Da0zgkN1QutEHy729Dh7NvVrmDnKRNsdx2bdPG/+bdk4MrnDoj9CrgwGjAOpsRMLbxs+lSum5X
aTEAKu9jv8nuIDbrWkSbuk2yS4LRxgMYdwJZzii1Jt0VAEzvgdZdGaybQVr0CsYAj0/Q2GpprphE
AJ1zE35+uxExNEkWe2oyD5s5Jbq4QBFWaz0VM5L7twjn++2KXTLV6flPWP13+1rgcEARbvDUPK1D
TvD2XRdenMK+GPzHedKgzt25MG3PSs9bQZAljqklF6btcpZASc5segP5QL0qphyj0ocYij/3a3cZ
0K5j1tpa7gqX54FSUkdRBhK1wiubVRfLSgtBWGuAkCVQANAsf5i97yznMXuCrcOxya7GG7Ss9449
HaJKGPLW9qNuNrO2xpb+b4b0H3wAlu7LOoYyp8tcr4xo9kq9pfRtx0FjpBZhvLW4+luogSCWWIY5
PSmty8S3ulU23gllCT6VpY5+xLNcV2GAiN63QT87Q7RyXvC4f5if76JMHg21XqiBLBUQDi+E1b9z
SMalsChpNevjq3Qr5HamFkWarPk+mkFh13SCAd9+8u1an4+V0Vi8kMWrymTdqcqzxmQPLn6Sj0Sp
WkdM+rnD7HNmRT2jztDimA9CllrjZJjYNv9iXo9EJLxvxEBMNjlyLIuhqBLBULzyvIHs5SyJNLS1
cuh5fPRWWHz7/SC8W6MB4QLRlWbckXaa/wh1LQl+dPU64+Nc+Q27wzm8tdNgAfRBZom59p+2hXfH
kb6kcAjsTY4lE7Llu+MIgwpCyHbxPw6TxQyBrq8NOTn7GR+Rt6KBtiINvBRwV3Y0Xb2cY0QwMLfT
+73sl3K8A0gQxPk+HgV0LbIQGzGssuFTSwUICr3imoPq9bUlndSW8EsZaOkFVpF+HfQ5NQX+1Z0y
XPNwvjebquFO3IJa1qfCG3We+vvRpsDzdk/k4fUhwCZhoXfyz4yKcHAwEmBmH9N09Uow8lPhtLhP
m3F+8mwlYIB0ae+Bq4aFHObY0CP+0F0iFksVELBs2hlXfVIZ4ibGg8EBD90syXegg+ZRYgrubQts
cMofIi9Vf1+hI9h/k+gnyFsxW2h/bwPIyG4bdcSPw7SX0g3mU99Bz2s2XmVW1rVj9la4res+tKJ8
Gac+BmwbdKgMUBTuBcqwSzGzGGYF54E2N8rtIt9DlZrEA0JAKIhEJjYtEu2pEOhCTPyGrOXFmPpE
ZpEPqEIp0lqmYnuxFGs8bbqhzb39HPqJs3UrY1EfpdfY2adJlEm8dcRoWxFUxrBZN14yDuEWvWJZ
oIRQJkfMBHCGbkyprmLK3ubBklZqQzkagtTctWiLiEcgHgBMHsPGXJaPy7g44w0KJLVxz4nhTz/c
3vP6R+XT9Wo2bdNYKZjIRdFXirGGWvaqEUHVbMICzb808nu6KsGzBYK8/pFSAJ3x3fBGCvvhRO8O
xACoESs/jgi+ulqP1XRL7xDTykEF1fKNojjMXmsPZfozDWoHnkW0YELSixvlNDNTWtEybNO/XFbr
WrSA7SbE8dISWY2lwLUxn8GzztfSRaAw28eikpN7H9egQC68XKRJsGeuAFratLMyOdZLDO8wlUwM
Actym8a9ytcLxHaMNDtI1J68hk6WFGyws1Yp+tIYE4o2F0wOaYDBdghbUL5ribrCzbgi/+Pdag9L
voznbxpZVvIzk1oul6MfKrpnNXWhPV/mXt9q0+PFMHw/WnMXp/LDq9mlK2Z9LppUaXmcBIy64Xxb
EJQywyh3U8zZblfZytan6GvkIMaRBjXs9qIAXRvMt17uoOC76cJQR9V+D5qx+OQnyF2qKyFK5MFQ
vwDkC4WgYoq7V4ju9H55DSw3s0r67wiZxzuZsxEkNL6gNgApd2x9S+tslKa9M5N0zbqt2YL7DJAA
Mg23/oJOL9I8+woNofBxAuzRoc/o+4ysjTwTJ0iEjZ/+I9w/Icum60Id06Mdw9NHbWrVjrdHnlWP
mFMC3gw3zZCOxkN9djcWZ/fOUI7adlvVxBtw1PqKz7XnR01HV1X84dznvwj+mtbmKlOLJLOGPMR7
sVokNtzPIBctPoj9dU4tyYALyasw6iJIxc+uI6HpwHtlRFqRDIAHdFEWpO6EjnIjpm76RFdkymrG
y0hVc0hxI7WWmyD39S1nvOlWPXjMLK7g8KPuGcFyPcG83tBv3l0NvleGlR6aGW9DkMroJnSSewB8
wmWj1+fpe8fpnim4pXzPhePnPRSuiEMnEjKkAAScLrUYi9fZE6sBGdStjyoPP9PIBb50E7Omj15j
3NBVrv7XC47GQXnFeHgdauP88b8G+fw5KgWAjny7rbgBVCPT+bnIvDbrDxnEKR4aoa2FiyQ2pnnm
Awl40sAkPr+oRs0jU43Me+qTi9oKgT8BLkxRYbkNabczSsjoltpttaXG1oPbcWKabQVEUo6lpHJt
vln6idk9vxpRNy0riH3t/EzIY5GjRS3u29I6rlOgtUPN86s9Tw8vLkrGx4Mmxhf37NS+eGvKPH0l
67+6WWNFbPrpozIyMY2XPKmjh/c8kRQdd+6Sh9R/BfOjgeug6OEwu4Yx1bd+HlCD/g//aEqnEf7O
MN26yC8UZiZLe0h0RcvcSaQsWdMhiopUPgbJ+81m3+6eLS+pmT6DS8TKw/czwe7tqxNuY6Pz10di
RrSMEUENiY9UytXDVE+4nsnHqUzKJNsDX+Pvpp1jJQ5Y7NW3aK+e50qWD+HoH16HHGnknttZcG7m
j3ACNFw8bzOtljVboEHMRyI3ON9gqpC8x9N7SGIu7qInS8o0li21zZKCASUbXlM6XcCx0st54nzl
e8U6IQ+/LwgWwUkgGY5e1RGrOrOqojIUZTVvkFGlbAi9d+Lz6dgNfCFodMtT1U38H4Eqimig/SxK
RR21/PI0F6NWVpB9ztVp0zXzJ6+Otd5WDOqXmSFDtnIa705ns8NAlyinYFeCyeEji1FjOnGBOWOv
lq+mt+TsN0nZwD0/vpaT87FM+3yPmCn57vdVDMJxjvioMxwH52XNvHLVhliiI/ZJk5/k+Ng5MpXe
EWE1/egL3BaGCB8IVfBERSLBgnvKtNjlRiA7/AyGr5411Kv0FD/XT4OhkPy2Ndn6eUcg73wB7NHx
eRz/XP6VlYq6cihsoBYbShYAp28c1Oj4hAdhkkk9uzg/PLwWWZQFajrewwJDOeMiiTvF31Dn0ltM
Wk7VsMPdm3ppbBWkvojsFfClR8yRyUNf1a1HIVFxjZIiGNkqHQ8ReeuEIjHS1XtyPT14WEPrUoE9
BQW1+JzWP7+OSSJP+VUSnsXGpYyHvs9OoZPrImUzcdzdoPDpeOMHQRkLTOOCmPCa7j3ZuqhbULpA
YWLjUwTynrT4Bik5h6G2k1eGUDyVR8eXAa3cWI95bwNEwXfvpXSExT2VaCczAZteSuVWsf+hUJM0
HnqCaaoKqoXH/cR+y/wyZAuD9ZDj7KunUQsxsqODTEedXmhGvEpkHVaNbJ88iK6d9SwQbCjhEXbo
CkKua4bR+AW9K1/iHScanuiboaT+bUTQvfye2oyQxfjRBIWBGV/srk663Euf2Kb7gb3u3Nlfhzig
NHGACT1XIURONRSflADn0GwmToeFZN9CtKLcIM4S4j7CLK/yEKcivmn44Gklnall+/ok53fZtTkF
4sh1HS2cFb9sNyWtcKZbCLqAL0T/evFmQ6U/Ub9U7+Pc1t9Dt8LgE2uy6g/GDtWJakfmrnsbWRm3
LOWEaDE+qXEFlwy3y9erMqz0T16nLDElOxFmzvpH53q43k4NNEuWFcbCxrJ7M7ibUtSjG+AeCCc/
iVXFoX0hESDklxJD6XLgoJ3oOpRHQaBcdIjLGQC06T9olUp95wVsGBbF+UJuH3KkdUwV4+GcsSHd
rfwCLjx4PXxXXzYsBGb1XwaPoYvR0Cl1EXLovR6ES5VUmoycdh4u4lPmtjzzKOnizZeZnegwLhUL
1/DnUt/W9LLgMIHiHMGdYtKLvLV1mxHUF/gfe+vHyi4yJOcH4Fu7NC9ZjfvzgFAH1pteEXg6xBKg
9/Kr1HZKcIS/T6/eJfTUcrScj0ljFeAV8kHvysqgkwhOi9Z+SJvG4659wOKsBgnu4NQZQq+gcqbw
Aqkt6/S9//7yOnH9W0dPXx73bSx0wEtYXP9dYgu0sjHk4FOqOm+NOTVgPf50d8o/+F+/KzSxmhA1
MbkWJSv+/96eUwYFMC5Cyb/mCGjFpom6Nhbi1g/pWbEje6iswzzLct5wI3p4h9Hr5vj7x35bQnBN
k/mDvIt2Y3Ic5rn9tuiFnzxqdyy9h5CumveU4czJFj0MYFR3qiF0/tM4//OCdhhSOMAoE99m/E7f
XrBIe5Q2YTDcdws0lCdk7sPxwl8LtrnXlf37B3xvTsYTUrtFkchCRMaiHfXuggvmu0k9lt79644h
U6WL9qvnrK6LydAQzPu8jVX/YZIOLlvQNfV+7vRsDcagBOfRH+7o7UxnzEmlgpDDC/tFxE/et8Xw
YTckFrvdPTZIelFJ4jrW+DJh/oztcTBnvIJUTCsrE9qtPhE7A1cKlJxaB54gZBUy+z087sblKGdr
WSO2+o6Psz5i65Sh/uR0kTz3s9rzNvv7h3j/GnlxAr6TS8cEeZN/+HviKtGN2M/NJ1Q19c6kXgKh
dnDr6cNqBJP4g1rNf7qea/Ii9X/I/b4rzvp4WPGCzen0euwtCWzojYnGOcgpGJ3JvyqtIXQE8Cmg
ssjGzVL9x3bgSG1hgCbV6XwsESTrt+EXJesCurs+MH4/oG/3H+qzoVYmYwWCRxFUNN9tfxIId9Yr
tzj6KNcWbuRXle88eT0L5k9L8J+X4tUFtL1AkpFkvt/q0C2o1inxEtiiuik+u1RHmEc2OMM/tcDf
GYHx10FohDTjGUUwLeysb5d7bYKXy5c2/G7mlKlfl5XtFTpU7J1Kp5MymOsqgmPd2/7G70s6HZuS
UBT6k1Mv/mMuTTbB34/2K0Tkfzd8lxomQwB8G1Eytrbg/XljmvSL/CwdDr2y0V7d2ajq8oonU9hT
82tQNY12qKwJapshWg8YEmk+AQC/6oooAmhQAlOypSJ1bQtqIuYdiPAkaY4rMYvbnGKUdaxljWKb
VthXZNoQZdj1uS3qbleVkwICi8oFMmxb0KCUAK8dQOaOd4cQhN6BC48kybkFTg3B56ZAlyUEyjPN
XgZRGq1c6RxJgPys2pZG3jJFXgMn3+DXAGSewx0yh4BDDIYk2+s5BSpeRlOmlc2RQsqqwxMJYJJA
uwHuVp5qe2K4Cf28yT85Q6mDTOMcc7U0bXlvJmxtBSF6wKMQTtWAhWO29Vq/hLL9Vymm4ziHEncO
sF4iOzp+kvGFBKSDC7+bqXiR8xSejRNzwyWrgmxnvjTpoqAaVy6VtsOiz1Dm5aNDOA4fGlxgKNqL
3DMNXaRA+oMy8HrOD0O5Dg4wbFgTlIOpDPl0PzY5CskYaxpYCUo0STqs6lz7LuzC1pe7pPOE2310
V3yJmo/0QXSnjdjUtL1TM+Ig733MWqrgyZZ5Dsxhn/adZQFZtAiGf62kxENw6XqLtJ8sd1nH4EQ5
L24/1GGYF/YurwcEZjctG9qCn8mIOrG9qxtkcYMt2qmqXzemQcVkjggZLTeIVvDa8hqNf3wTNrTJ
ZUaWHwY9/dosNYeD+B/mzmM5bnTL1u9y5zgBbwZ3ApNISyatSE0QFCXBe4+nvx9Y3adUGaIyzu1J
R8+qj4iE+d3ea31LBMf6DfAHrhM3UDkIgNI3CM54IaDKFHrb/KsV+F9zZE2fPtSPJjADDkJFlCHL
Znf/sf+jIL/uX/EcrovhX59G9rFLLYws5SgJjCqGBI1IXM+hMBAnYvAzQNbI9ogFxHpkcSnNh6qw
hGyTx9rK7g/D8UGbYy1xZ9JAfcxtynYlNu/yZhq2VFjKe6PRcSxaWgTTt8sgcKlD8xjwUW/VUCtb
m9EXfUuaKnsJxRgaswUnHO6v0vkcwil1YcE5mJX4tUwZjgSy6EewXZVrqBFMkFoUmk1iTKqXkFVz
uyRZJ3qcFjrPnEUl44vV8/eo6h9I1KsOjSqEh3xoO09rKY0jkAm3AwBvN7JG886oImKq4yr+Hrd1
AB6EsNZZLQoXLnO9Nxc53yCupzsN8kHlT5tz4cDgNzYjf3Jnck78Buaq99FjBN9rAub8FKDMAlAn
0TZRIpYPFZSyBS2riMVOUMrwaZwW8y0TMBlZSp8/jqYce6LciXty+KLYLgVBOaqUDzdkRxQ/2sQI
7ihqxuioOsX6LtGC4pwlVdI9ptMo3lRzgY+/zbv7dlAphDAVuO089XulbWbCcPLRdALDCiLzJcZl
OO9QRvTvrYxPB3J/RVRFGOdEbwyKZv4wO83IXQFlPFgDZBKuKnXJ3TTgrtXQEBw0LKW1E8BFeBOT
tjqCWREPrS6tX2igrb3dcIA1wDb7JBrpsKMqL+zjVIlkFzhr9l0aR1JhF3x7kd2plfA6YpP+UQvC
BDVBWt7aNsHabgUVskbShvhyo6zKQHyUDZa6ZUynPSyBOrQxqcBzlQwmYo56zkCeg7KH55JV+2aq
G8yOvXzQsnwih0F7xvH5LvZBcKNKDJ+h7TsC+2oxtsMJ+IGrzaXiqUZXoItWm9eZhNBNItJ2B3bf
p2gzUscgnaNC8a+ob3TMS1uRs8IHaU6En5hja8V4etdGmFKdtOvCpzqa65dmqrADAm+anEAi18FO
+H10gk1qgQy8KVocdTLHs4UtLXMKKPdvSY4pkuZT/lyUcW1X1SDdWTQ3dhUJcE7fiMEeibP61pr6
dEzoQ2BhpxDMRQM8kz2ZpLCowqNuCmSz4QG33hqBzZZrsm8kDjBp67M+6lCx5FqHw02M1bbDO3dG
P4TmZIyaJ7ksKn/oJ2AG1aC/NUrwNHJ+f1pqkhJ89N+zDU8+/AF2QfOjzkDIzfZ0fugaCw15o9Z0
ktOws8VoGHY6OHC/Zn+MLdlorSer6KxvxAwpj0kTlN+GZVh+9Hzg7mCUMvatRPFFVgq3nurugX0v
4VxgN49C06ZfF7EsfCWTAhRjlLlvollcMzwnZiSIJiZ1Ki3VtwYNI6dqi8RPtb55QnOm8PsHeS+J
hbJJdKV9pV5YnwE7NltpzqyHPG+WQ9gmWCEMplyO53l8U6hit296dTwDz2keG6Ld35UUX7gt1zPW
d4gDHprO8VZSuv6AvX7cEUatlNSTzMKHTaG6HNtRflKOsXYLvNhjEETNHeFp0ZNJSee1XszukQU/
3DLYjNMiCR3aKj3ewOzTjnTeJeBiuQXkZpmhwYho5DZLKJTnlNbAGRR8hUmyysRNMyb1a9X1Klgh
bVmOjaX2BwRUhPwIORQ7ZbHwQ4ZE1yhGam4lepHOUC3qrTmECh2DRvguBCQ2icdZA6IG/i2f2IO7
Rk+p3TymmjIYnSeW2Bc6gIJVcByFKgQHJGU3gjoXz1nXvPFvyNzGY/bc5uxgwFUkN5OVIAvVKine
W2Ulf+2FoIdvEo3iCQlS/xTLw1D7kZwpqmNFknGAzdaYG0vMC2ufR2aFWabFzT3Qh3dNC3e9nSwd
CXK5EhQ3pYAO4TALtcGz1sWxa461NdCAkjA0jrtCrfNbZVKFO6OwYvx4UxOVXmRVzX0SgkEn/K2c
o0Mep2XsCk2hodQMAknwjaFtl/vZLJo+8teth+haeK/J8+SplSPOtJRaQZM5ksHOBcpWHwwnqjhJ
6yhkHzyOJLBiNxYz/YiMMJDcUWKLeOgoEHTPRG8u+HBsoak6osLwIRfInbZDp0PClSfQ04+LMgfy
YGPyEC0CDpnsxJ2p0qnwazLxyP4bWq1/sIQwJRReDjOrAVYTwDqC7GFNEHhQ89hypGZ3sGWFxR85
ACeOiBdMPI5WMhVwROgvnIyM6dRFuLe4JRW3fULMjKNLRrrvBCg6yW02C7q1KDx+Ai1zzFBynq7q
sUrW8luSNhKzg+qR6KRawx8sGQ9kqNROL81y7qlSn0XHNKJrbOcF5Wdn6VaiDhRgGlLEoKfbIgZA
5oUjPpM0pnzrJuREQMtUJdPVTTEyKNUljbRLQzzMdtVrBolYI115HSf0DXioiQiqBAsyrBMs+M5M
LfFZqoTm+2CxNQHPNct+SbSS4oXEl/QEaelTJJQY7VaJHPzESL+fSVUz2Jj1mMAzh5m0439QirAJ
43cmodrUQT5lla3BEZ0IVcgNyYi8Sp5KTTtJwqD3TzSZ82CbYHp/C4fh67JE4VMYVV9JDNESeJFj
/jCiOfECM2h8kcVDZJLQG9pyxnLIwGncNErcb4YI0lNVVwtWZeSjhHPkWv7QFJnuAoub7d4kG9Ju
hi5/78JggRyU0VELp+BE59MEBzG1uCAXFhv1DKhJeTAQNjVuPFCD4nvggyEQMh6/S2WV3lV1Aduy
NQy4CESXP/R124VePxFZsKOaHRq2ALUZ4EdSu0RYZJu0DrSHIhUlz+qi8pAGmnCS00k9yBXN1DJs
aapbHItcoIrDW9Ebvb9MspzZoIYzIDvWULdeRWLoDbrGETN6MwJDakdxcuoU9Jyqt7ioLCkP0LYi
1Ox3UNHCCdKmID0sMFC/B/Tjaz+h7+c2DErAK3Pa3LDKs/jHepq5UOmy7/yE4J5VB8IVzHynL6ro
OcGx/ZWK4LRBTGT54A3yjVEZyVlI4CcOuR69iEX+lCUo1EIObhtDDpLXEvdiaWtY4F8x1Tb7XiZf
mRyGiaThmKLtHss4Nx2KVN7jaXA4hCu3CceS/TBK8Ttud+NrGuAVTyVlPA50lF2tqsudQin7maaA
nK5z2lTZpNfWJxIp1+BZJsf1I1Tf1XQ9pM8Y9Vi1J7n9Vg6mEHuZHtOgpchd6rtCK+LSaZt46uiB
LSVFTGNMJEfJmEdsnRwe7ZRVrfwtghEKAjPjN0DpMiKgAfzdDzpMaEdzpe1yvZcNMoMRmEJOXPl5
8Ci7LxWnNmiLlaKIX1l4R0xYgjkOW4KZdLersHLGtSY/rXqGjbQMKYbk1ZulaSRc9INZsTxw8gTv
GqDSKgNNOdJSbA7VjNjFbkK2NMcJiM+3VO4IiGkpfw52PGTTe9fhZfUZlJzT+orq6veBbhrpR8kw
eEUyKHuK5yFSrnha2MwjZ/1BIsAQbHIj6g7qzPnNFtiOdG5GAKPmCXWOFhmHvfbctVn2alTDROiv
Ag5QBIl204+G9EDXDzc+rWoelt6NUebD1+n2zH7F6EHMwWdWE1oU2qhLhPJGiUZJcPpgDUmbc1Gr
vKYacD6glOEjctQojxI1haw76LR48tRJUjZpjbceY2F0zjVcUBiJRbC8FG1fpLdyKY2ty6kiWFEs
ll4uZJVIfZjNviCCl1Fv9V4JQMkS0aS8ZchZBWi6gjklwYZGHkyIUxqVemk5nLYntbL7JcpbjLgs
uBrWcvpqZmb3qMxVErIG4C3pYTYDSjqkpXIAq87ZQNUKWA3yc6vfNH1Vxy9hmKrkUkGDamjv4BJS
CphaE2a8Dj4QmaO7PuqF/CdAgGnQvAhdVl54Wk0PENIRFJfBrxBwYVNvZpXsyHOCsYn3oArIuPoE
hTW9iQH5Pbf/IxcsA4Bd1SakYFpVNGkvWqPJ0cNfRWShWhshXWatJVtZCqbqYFlYiGgFM49Tv2Ac
Lsb3UA3ESffRey+Mt1pqrfi1r8YIA2thUoATONkGyaizRDAdd899REHBPHZsKKcbrKkwGR0SuPo6
9Re6brwtljzQGN8Usy+G3NWyrp+Lg9JzexBMStQfrYMYBwDcg9KRJqt7ZKpFsbIXe6zIYFuUuGOP
w9khrDdVZSbMx0JHWBLqqJOMyIyte2UxY85WzCbKVP24M/J5XjOK/+LGIPXqs1H1wmJSYzBJJNCX
FrWDojSPC1s/zKhCRkKc3WE2r3pbUmtL9Yx5UVSffmT+XJl99iSg+uls+YOBo/aMHQ8VTP5d/GDm
oMqPmtQr9RZa/9Cgn5nsZSX2YGTqyclB/b+34nA4a6h2t9Sn4yMhgsoaENmfEmmeITEoOSKywaJB
XQkZkKhpNHY1WzjDhsUN6XIqxrTwm06UnW4yq7HANDSk3ysgyylT60p+1VlHe3clZ99jpoWXFI5C
5rED5YQYJJUGj05Xu9wFtjl9ExbYHhUsZRhE92Yap5o7Etnw3og01u02gUspFgtWUVtswD97bCfw
E8OcxLocCtNacWFHDZR6ISN1g39sCATyeiQT0ZAMa8UJ1sRoT53FdgsAyniFrweWwjEC3PEOBcWY
XPPZmNub3NRF0K+i1ncvSDIasCMN9uvIQWtSE0DZSzJ6J4pbNyEn79xWa/bhp4lG4AT4MzU8IwW/
JoC4RmLfa5g+0PxVGIkdee5JWCg0i1bZSnfDT8GLMaZQsBU0f9u6yurE6SmYfVsQUvBtQI7rCfbi
PpdqoxO+d5552a5qBablJWg+fgDQZ1OQJlV4FJiG268cLsfozkjyZt11kZu7ZQej7xvV0OJvTJHK
7CuDmtyXoxKckG+G38NG4smb4zIhowt6KiPLAtC5Wpl+5Bz15/ED9Fd9QP9GIy+ZTY0cE0WqWfck
k0IKBN077iSKFrE7otn5Mioq/kYtbbGJq0mCbLLRHuDXl5tOLsQXHZ6UbRnoI6MmW3AOtAvZ1KY2
3+D1lOH19S3BpZAuEe5b8WANu1BvUM21BVGNdhiMMO4+MIojkayVQ3bbLG/oXNH/FSFxtW4IPYCp
V8CHEdtdZSB7BFNcsyko5vak9OAcQ1kaSD7TwgqICcKTx3EyOtTQXYFdGZWC8VVtIqhNORvw2/qD
IdmaKk5r9tRzbOtpYCGTSesYEABkCxRhlEvOS04FwF70CkBlOiD8cxUxB175wbEMNWR+yFmgWw5K
9XNsI+L4gnZyxk6bXw1mi+FA0l1TuVk9mPdEqgHP7ARNW1F/MVWgXC7J2Q7kA/mmqYF8KZgJU5UC
6yAIkfxtzgAiT0LVntEQJg7aNPkNtw7xV0VrWLMDOQr0p/GBAe0/kKBZAzTP66PYzJh/GyU7JNIK
D+30UXsWgqiabqhcpQrFgDKf7azKpdfYQokBLkNqbkqUL6JnjNrMocACWmLXgajlXi4l0WOqTQ0O
drCdzsD+3I0UWBjrc9NvR2WkDK3IZXADVFp5qVF/hPbQZ69Km5cvDWnDdhQX1B5ReiLgCgc++ax5
DYVRDNlbTYIjsPM4NT22o5a6y9ci7IVdA4k/c5s4NW67viv3nVbjQWmM9EhdwNgCazCfqRgDig2L
UP9WyQtkalVs74dmlndpS66ukwzmuO7WxBxJT0GJx2hbc9uSp6rDJBfYOOWxNfmFJg/ZPS5eIhYp
bhEe1qrg6hWt99i+SIdiLiM0i6P0EgXz9GIFnWRXbS9i6dRSLzez4CdyZxEcvdo9wUavfUkNpG8l
ibgvIv8EatHEg8OK8IIXyDxNiA/8akX2Tmb/hnC6O1f9yvM1O9I2kC4tZysEycjXoOY+6wFkp95s
FVgqiGb418exlpsvCcUO15w4qJDjWyz2FEnls2Bm6kMSKWruqFT1d1VVSLToUICmivI+91T/gcJU
1IOabyxQaT649OZxV71wogUodN+obalqt10S1czyrQm/GCttjS8b8cI0g6ag10AjtLxVZyQ+M9gJ
PCSED5fi1IGs7qM8WXYIzOfuKYinUXvXCrVMt0lp5p3qBGojdoJrDpo6NkxeKSobem30wRJLinXC
gLtaWtg2mkTiOXDGGnHawZOnikko6aRtVGig5le9IFSys+sqzSZIIIYWiZrLPg/9hCvMehgitFHR
fiGTZhuP2mvGo82gQV6vakhUo6r8IdbCbLQujVYEhF5bjcTM0EmNQ9BdZPcFEs0NvsGaNkiYhItY
3w2KSfYpqKdJb5rn0hyDIXFpEJuc+7AyxVNykyQE5xDqOOqmLnlipfRt/a1Pl0Gabf5KFc/0m1W2
ZACxImaGLWgkLbHAyczrnah6KFqZH4Xw+OovvRAusmbHJAbw/0Ojb+gTyZktB+YD2P4g050JcqYx
bP7cnvtnt5euoUGfHu+sRf8VFfgaYfaruSPWZqxJYWx8B2q3epvyv4QfOUhNXjhwhza70n79Z09+
vaIuiTQrV+8wLd9LmgPFObMT8Uv8yP+6ImT2VYChaEVDax7Gm9ojghvEScDyESc0Bf+65f+I5vA/
4DT8IyzsUyrE/0aag8Kr+Dwo7PEtHt+KX4PCwEj9d1CYJMv/giyzijtMy8IEhLPzvygOkvYv9CX8
R5QOBu+Tf/N31N3q2ldWDwv+9A++At3aLvq//0cW/wUyCCMoXxxfgWap/0lM2EXvm4OGiqEXfc3q
N/0l3mYIJQxukPiO1VG6nY7mOd/KZ/pm+qF7Eq6MlH9+t39f40IPoYZMSzDgpKN+199Ez/a4EV5/
ec7nvzrh/wgZW//E3w3y//7TorXKl375+QZFEkFY+NPK0bgPjsOX8lhuQEv8VK/ooEg4+uQSF+N7
HDWiWuRWPDbRkJ47A20lxPqGTSiLQ2donIFyq5n22SjAYWtbJuA42I4tpRrgcJFMp0H1836iHLVW
NtKsWpVaLVlswQpobhXTtSiT0YtvdIdUX5apoco2XWKa3qjKrQuyr/L6UaLHZSWib4lUkhFKGJ5e
cZLumxa8DOURX2p00sWlTAP1ZYbvEC/KnyMAMseg67ct6p7ZPl7r5miGCfHWKYMmBTtDM6saXzfy
UxEVlODCezp2gOGGytMASgBC7iOQRymH9kHA+IH/16PjlJ3FTHzvTK0kJTzqkweZOsrGJFP4IWw4
sQ29yhauHrvvYgkUJ0hYnXOC7x0AFeVLnZjKoW2aiqCRjqM2uuaboM0Et1x32W0qv2GbEvyuM2MW
uVY6DZFePM4cvz2BAuCBinF1TAf6Q5SNAYKwuHKJbgKLlJvvBpnOLp1OGF8D1DhOzeGOOAZSGxQN
JH4UjI4cAKtCgIS7Owklu6TS6mWUWXeJUr+CDhlOiSyYXiHltX/lW11lar/7VteF5JdvNYF3T+UN
/q0hHbFVxcahWbYRlZeJ+FsBjqx+N8Y709qFfXxlxVi/0d9d8kIoaAWFFuHwVI6YdEcHYQZnVkhz
DmWRkB1CTVJQT7oL3snW+/NdfnbFdQ745SZ7KtF9PzMgucGt7lLiVHykXte0OvJnA/5Co2OgOKnn
dcA3PT0eWz8lvTedc25H6PfW4Cb3UXFQ7dgGJseZNXQJAYpWaYK9XItbu4jL+nvSWWeKX+6RGNNa
swRrOZp17KHApF2Se3hF6JYlJ1WNvSK3bopVpyQmKT454xVTaOJFYEr3zUobZ5+qkZUhfcG2ZtcN
AhIhiYBHl690pQ7MKFde/z9FnH//0PVL/OWHGl2nZ2pBlBL7Mopyd6MW26SZcoKN24P2vZe3f37p
Fx7evy90sYoQzqbokRyS2UREffM4EFqc2fLS2y8Glg59o9ABS02vjA7GfsycWHDk0q6fDOHc9Vj+
H6r0/Odf8tnnd7HUIEYpBfAN81H1S0xxo1soR736ZkmlZ11Dhqwr9u9G1WXOHnAMCAhZOh9xmrvp
4XbYCMfZSVztJj0NO23T2rGT70jIcEZP9ODa2uJmcm5q1/Ktu3rzQHzrbvYeMOjc7DNPtslFurLS
Sv/clP77RVxuRhEdFjTx+GmS6YuiR5q1pJ9QiTpUZUtQmBzQnWLck+RMopJdf/vzU/9kFwEo/Z8f
2kSE/bBoyXIMybRC29LaLY0m2MO21t6UT9ibl4NOZPuVy63f72+mNfNiEmip1XbU3BmAfriNHMme
7NQhhcqFAbi59iw/m2rMi/l6wPcZmRZXwVbp98/Frjm2TulU2+DBeiq2w97cYKj1olPgCbvEuXJv
6z387t4up2yNHGJR75ajaJL2rr3FyS0xUrSU6Qp30c04Jo6hPUaWo8SN3Yup22u2OdiqvPvzD7A+
+4QuZjd0emURDOVyLEhB6PrsmXjbGzBKG5NOIFlDTmLsBuvQlF/b0HLLGttfqhIvavgA+WmAwrcj
VyzUxp2YdG8ZyEpEDYZHoT4tXi2loWM0b3AIH6v562LGDltfV7YM9GrDRhk6r0aR1O+EhKbevVk8
ylTs6+xQE5/Tl3uhem7F+x4WZKHcxRrH+t4Ol+dRbGzRvKPCbdOAwMIgelQ37yUiCUcSRXQy6uN3
gsWcNtjRq+hNP0vlg5SVZ+Ia9nOHTUAINiMSAaX2u8V0V6GZgkIBLRItSTdGKyXFu7A9dYW+nUBX
TuM9251xOo167wCw32llzItSZxq0D/okfems/us0sJIDxvWoqN8gTHmPpP5Ed9T986v6bNolKfgf
87tlxlTxgYUzDuKDJtviKTtI2/TQx05xJiTQW97Md/E4PelfutP4IB/bKxP+Z/PMJbgKn+DQ5xFX
DoWzDByYgqBKXM0uyDz9uZRDB6frku/XJzXXJ1H5Osl3f75p7ZMp3rgYlhKsX7OjrHWcsh4vs+Us
oupZGYtaH41+Yw4r+nxnYYJRh+eiGgEyL7ZFNL1mEozySDH0pbXul+nAafkrOHU7iRdUM48alZ+e
NpQo1Rvyf21q1Hbb+7WI3w2EfcMHOQTupNILqtNVxYSNZfDMMNqUY3Jizt2T+oKMoXKkLKYUfrOE
RynYh01jB+lrMx1F/TYgCUp5wJJr52i+VOIOo/7Yy2xYSSNK0yvLvvLJkeUSEkTSwjRE6JWPWu1W
lT2+zJQI0QD6/U+ZdADJ4/v1cPnXD6R4WK9v/ETzFtUU+YYOYq/hObEXyKo0HJwqtqcj+XOtiWXt
8c+v8IMO+Js5Trt4hfmCS0mTBOk49X60gb7qYIdqUUO6mnFINhX1RMHWHxbzKfVxrWnTF6b4yhl/
hL0jb8ddqRzr9q7UbwkTJDbg2tT32VdtXuyXRJN2CuX3hZQRPC4SUWTS2nIkNlC029Xd/dphbWS2
tfT9qoAxiE4paQML+X/kIPh7+b7YRwVjjhk2Y25sdax4E5anI1bAK5+F/NnScrE5QoVqVfgM5SNs
JvHrhA1z25Rx6HUDmOKkIXnCGAJtU0oQb5pkkvdGpEj7VYDH3SISJJUidWRkvba5UNmTAt3YtkGP
em+1cVXhCGKhIjAHiGK6IUGp98ZOau+pmU0MvSHr3tMBY+eV2/nkboyLo/+SC8SShDwrNnok1Jps
NiKadOn0/uev9EP2/5uv1FgnoF92z5OZ9YXaMNHM+/HG2pQOPXhHcBrmVcn7KXyPN9H+GrNEWpf3
313sYtmf40pSCYCcj1Ho91LwFb6HJ+bovvyAWt54D0zDHrC3W7baHEoStK7Roz57jBfLPRFyUpXN
7Bhrsi8q0o3QxQu3yIGvvCZlHTy/u7P1v//yGK1xKLOwMOdj7tVfRc98fYf44O4kW3/e5Pt1vCM7
Zz4yt4V9xnnqyO675HS+4fbf0m/sdr7/+X3Kn5yGjIvBpQ9VZ4kBGUKpdFLJbSo3UrmlIRl/zZ/b
uyHe0G4/qLJkk6TrC/t82MSPyUlAXk79RnQFerQ/89ch3LayHe37K8nl8mdv/mJUDmETko6SEJNK
J8hKvqYmPIRNvgz+8pNgDGcMJ8eq35WbevS1ak/oQRyh1J7JGaT4sWsnV2v3S+TNximW7Vy7tsle
r/+b96ZfjK86FJWkT3hvy2YNMH1D3eWROvtFZ7d75Y18cuuXthbZ0pclH3Q++mPrdcfxvj3V0Mnt
4pC4xdY66S/1OdkWXuX0tuznz5qr2OFGOl+5/LpN+t0dXmyfKLxCfJ+ZQebsixX5eMSgzTa2Budx
ojriL8DnpMxVIt02TDeq3rNtEjwvk7v2Huja2G19p8avBAG5jW6338za4V76K3ss5bOns47YXwaO
piN9mWgNI7qFtSCcuttO626W+dC0zjA8ZbC2FU9pDKDtG/K0Q19vCGayo8oX4xulocW1MdPNVKDC
3mrKnpxjAQ0utINdNpxabT+i54m7c1vcRI1q03Zy/vxcPxvx+sXyXiBWBanKD282k2t6icPU5Wo2
CTv24jKHuQCXHAL83M7OnXBHsOpOd/10FzuLU+05U9mdk/l//jFwjX//kten+8tTHKRWwzlfsF2M
o0OjT75hvubLTjDuYnE7w9HplZsGyEYxJl5FSu2MBLeN7aRjNxQRpjYhEUq+Lj2ry1xsNTJ+owAp
pc5JbHAX5W4UDEcchObKdPmRtf67j/JiPoZGVho09xl27D3wlm8kyguhu3yrbxK3L2nzu5RiixvR
eAoRc1mwD/Z/flTKJztr/WKmzhFhiP3Ctox06X4rN7ylZU+6YEmiauSaO6TrsW05wXP7Jb1Rt4nP
atTbRU6d6zb0lHmbL5vkRTqEnTc9zJ7+kN/lP4MbXThXyRellTzzyhf22UZNv5jKCQUmApzICw4+
iru44Jk2eLwcZc9vvk3dYh95mvvnp/JZte/SzalS0QZPw7Xim26n7jU3e6yO5p7+Ov+XPxZ27ANW
2IfndBc+Vg5hMq5x5dqfrFjaxRQ8CFW2FAOX1vfakQqKO3nEcpyMK7vNz8o2H0esX8ZGXAf4G2r+
viXZ3eP0YGyHL8IPnaLRiaA081oL5ZOKgnYxz8b0sQwk3dJaHSLwMidfpHlGo3Katv3iyTsD2eaB
vShbfd3781v7bD+lXQx7CVpZG8tcMxp80XLV6U5m9D5oOKt6jXrkbUyA4AGhHnZcJ/125aqfjCDt
YvAioxcFBTnDcdzPiF5LedMuuhuGL2PvKRL/QXnvh3OsFbtSP4BSweN37ndVbo/5pryyoVhbjb9b
1rSLYRwpxFxMOrdeTlu99ouaEHtHsja0jiq36uyS0643Cz/ls7jRUNwPxFq4+PE0X4WTeUoGsKY/
Rfk8prT7vdi6MydiPfZVtVHWKGt7JOc+2uKOMXN7eb3y5D7ZbWgXI7oTgmyU11GGj/Spcvs3AESv
uKiKm+TKJ/HZYLrYZ8l4SemxcgXzTnIfJ1u9Ja3l6pT0WbVQvRirBmG7QIb488kOi910LA+ZT7rH
TnHbU0xq6Abrm+UwT+zms+Rlk5Nf+eiUT4bXpRsb1NgoWylXhmgS3sTPyqa+r9x2X/jztnKb3bLJ
37KzdMAS/Cyc9HPpx08ok56tPViOG75+d9yEJ8p3u/Lh6gy9jrPfLGNrT/vXZbcjccJaMn6U9SAQ
zkZp5UZ3KNIyQb+Ibrljury9tlO6wCf8+9j8wSX+ZR6DClqK5TqPIbUQGhdP2H31rGD38JJTfGUu
/qxooa6P/5eLgHEX9HziIoOLjmlvbWSPCMpNtSlc019c3dXt6H7eId126yOZQafOFw/aefa/onV9
+v8bJpfSDzlcYzxGfoSySbei9wP+lGf5wu7aavfZ9kO9mMFGWewzuCnSkTQ3e72v1tdd8zF2KpvA
HydiFydsvkdXxqT0yYSpXsxVITJ/cmm5XBR8q8zN0p7WxCSHHOYOXfleidwMK89D5GcModiOTpiB
rCtv9LMD/kd/55c3Ggkpptx1vxM+l2/j/bIbf05HY6s/iO/lo+C3m+W5f8h+/PnVfVZ9uUT2hgFB
edh4pSNxWL6+f7xfnILGxT2KYrbF0uY2dfRbgnJs2c3d1nsO3cD5z7g1/x4gysXkBNzIBKTGtVNb
9XKHmcC7trp/sEl+M9I/dpO/PEU48Impr58kma7UXP1lY3KEF+3aa3YIIu/JGndI4fYQN2yJwbRR
TjBkzrrdvMluuQnYPGqn6UCLjOOXK155uR+39rufdTEBqUq8ANXkZw2u6BWb6dg/D/awJ6jxWO3i
LW57T/VXya/XPks2BdGf5TG47Tf5cfI6f8tJegdDw5c3iD+9cRvtwo2xu/IprF/3737bxckO5GeT
YuKlib3B+XHsPWTz28pLfZF+YeBap+YmPqsvoOlOka/7eHU2f77yRwX4d1e+mMTA9Edm0lAZJh61
T6l3Y4N2kV4jhpgEsgI4Ap2qEljsBmsPWMGGdKLzqENPtoNneXwILY+GuhHaxXNfbWQsw1jW7Kr2
wECMZCW26SbON2ryirs4bF0xQZV2XuhQWdup3U6jXet2uPbFf+CncYwUXcuzpsCxOYcdopDb8L6s
PXKXm8X+8x1fJAH8/emvC9Qvnyd+hkIbNJ5172ib7Ba56YYGkdc/hd4Xqk3+5KsbcSPt28O1kf7Z
+fejLP/LJVc1hZGKXFKj0Yue13+WeM+9N7jo8VgE0cd6i/1DohvcupVn2tiLvc59mrzKl5x2F9kP
V27+k+n14xf+8kvwvhA8uO68pdvlOHq6rzrVLQmd7mTLO8Tizrgz7upzdUpOV674STlRudjHpQLw
wGC9YoV7QDRuE2G/2Gcl8KMWCY4btm8SX17uDE7qmSoqnSvj/bMNv3KxvROVKhim9T0DP/Pym3Rf
OjvtzpPdzHu4NnA/K8l8lBZ/eZ5RHy94EbiI7As0kE7/j7PvWI5Vabp9IiLwZoqHpq1aLTMhJO0t
oPDePP2/UNyBNl/T3DjTY7pEmazKzGWmWhW+knbXhAY4XBCr0PoTdQCQlqgKxIeBW7W7S6cBXxxB
1vEGHiiA3rmOfiR98tFTMCE50AcH0OdbvMubrT2/suxLVyapC5KIGWTGm76o1+mKxhaqGdUfdFY+
OsARjkWqh1B3cLin3uE/y5eNtV8bdhFyIftdwJQEs1Pp6QXGvHqBoBbOoZ7RgFHDtQaOByA51dZm
m6PWnWj2c9X+Wg6SNqhcSYBTAeMu/vU5UEDPMfqAiXoWWh1nC2Vztakgiasr142PXBtzEUEBfq9J
wmFux7NyRH8thbXun67RBrVlUSxSufcKETGWLqO4j6KNYuzaoIsg1lNc5Q+1AFTVAPWWmwJVBVjn
bG2X+Wzem8bFm6+hSCxVHaYRCgcpeNf74FKY8Z5/ol9ni+Hb45lb2x3zZfhrsYahr3IxEXFAx0RC
Qk7NPjD0a9HQtQbDDSsvfNwkA9kYbu299dM0/zWeLwmoTBGMV94kkDoP7cG/lXtyjPGu1dtrZdfe
5EZOpUbftc3ahQs1bwusrecQ7/bHn7z2wvxJFn/9DRy0EieqxWbpvwXd3yMx5F7BHoR4iDVUavHN
ueAQHMKzePlvA/7cgr8GhF802LUKBgwOypfiX1vI0SPl4iAmqQp/2Rf2KWr1kGjin8AvdObt8bBr
NbKf5/2vYUPo8EzQWWa8Y/eUX5p5juvn5NjrqTN9K27wlFkdNtYuN+JJFZGZlsfiObcfj75yOH5S
mV+DNz7Dtz4obZ5Ew0e6u4Tlra2FjcOxltf/LO2vXy97UDqGHNtItFi3cSIDdGV1LmDDOFcLPz4+
aHsyJmN+IxYbd9lPSnDnQP6UPX+NmWRiMHYDvghz6YXE44ET9dUUuX2wY0/pe8mrKDZq/ZF+8V8k
t5G1rLhFjnDpeyheq0DcTGjKgqqlRfvhm7sltVq48mcBZuGLCPLkLjynG1t8bfIXkSknUzCMcOPz
AEAx4mu0cZfMicm9GViEJKqFnRFEjjDrwqtfmIn0PjSX4I32Yc8Eg3Hr8c5Zawn+WOf9mugAelRU
/xP5vqILe2AcDmQ6lTgE+FEju3KsKl6FvXzk1eBZ1BMVVwrKOAcAS5Ek7HOTQp+QbJTf11Lvnyrt
rz8GHKuQLyFD5I0GoLPYX6FGa4kpWCCU6n85rT6GRmSWG6dmDTz0U0z5NRw1RrU8FBhOUiMD4k3G
ZEIuGOB8UT+B0K91Bh4xuuh2OqZiH2zs7bUnFL1IRZOx5ilpxMq27pxosJAesqNIiw8hePM75dLt
WovZsW/sldpHJ0rnz9VXvQvfizMSMlQARBNKmPQrOO376jgY/g6SMY93w/xMubPnlgY0fN2JEOZu
cA02r1C7BJQcQjmA2xF4RdPdloaiuDbM/M9/zXurVEJAaIbxEhEQuRDM7Emm9jWEEWLpyxcnVSLy
HjwuYfY7p0qDAMksN6iN5G9V99SwlAHLeXhT4RXZ2nSEzQoAcRN/Smmhht0sQNZoTHOIIKhAniFP
oEZyfaYAZuJiWZvCT542UyGA/BDYykPW6vBIMhmht6EurvBvXWz0meyA9f6RoJmYdCAB2CSAibEq
AsQL6OEwvlfkWjGuL9K3rGesMBbVqZ2VL1g3ZnyLJC9xeQQZWeNo5PdipVN8hzKzEGmPF4qZo8C9
lZqTj19TWIghDeOPGmnNF89DX0qnPgPQQZ8aSM1Y6Rfta1Nv5C8bo60t2OLFl7YJpFqpCc9a6nOo
oGEIRQ+IhI3o+SU1rKdP4mDX+0RUKdSsS6eloAuBfwW8AGHNx3/D/GH3PngRZemmgt2bjz+hraBI
F+NOgL4HVK/KbGOAtTSZXgTcoc/hLDRiSiuz00cDFES8AGFg/UkZvPNFLnNWmljsjroC/vP4o9a6
eDT77zJCfxB6oUGLV601GvVh2DE78hS48Cx3RbOxwBUZd5n1eLC1cEcvEtMkhB9MIYF90bPjFV7Z
DhcM13GKzH4UwOKeCxDkUIa8xciFNo3gx/qRynB/YASvcg1U6/sWjMhYbyoIgwJAL6JcDvrKxl+3
co3Si+w1hdITNHQ5FOjwuNhzb5LNPXVH0McpnUvfxdyTAJDT/NDLAa0XjPYJkFzGTOGg8ewDbg5E
GgwMNjb8vKn+Z7NJEJ/4d1nAmyZx62NZ5PGjkq+tsnVu717q+OE5M/h1bCM5z6HqXuBFDqlRxoXJ
Hzwwbp0An8VnIcqNtDIeT+fdVAMDzSf510BwTAErdcAX1MBIhyENdQLKINKuGRMrCff18P14nPuB
CAPN5/XXQFNDicTPsanQ5TjmH6XbPwdnyYAf8et0697jjRVh5xNxb0kWIQgI7LpMIUKGk1IfKi9x
Qg2aavqkKbimReApkFJ0qqjSu+I5sVFdeNm6r+8fUnziIvR0aCWmTIihqxPkPzqAjFFNDd6lS2YP
LvvFfcgQ/uC38e9ra7cIRAykgIgwf2qvUUekiMakD3ZoJihZjWZhRfqbpAXaYGz1ddbGWwQhpY3G
3h8xHodinaJewZP2tthK9xtTmLxF0OGhcyokNH68AUphPASgXRB7MCAOufGcmnf0vY2xiBth3jGg
cmEDJsk71/8RzqXT05BX26g73I+akrKkukR83vTBHKI7M3cHuzqmbukSnZiocu26XWPken+UbZCb
XAiC9DuyZXj6U7e782VLJovQ1X1DOERErMprYnZwUWDVyYciogoj2amwKUab+6o2BX1FFHoSkNLV
4C2A10trjDvOAC2ybNACHROdljRJj47caePY372OMSuL+AKFKgjg95h1SHAwpqjhvfQHklbUBbSv
nXJm9W7fWakOZvzGgCvLvCS8lFUBuQ+Qd738NnnxO6c3EMY0Ibho+U/AaSsOemNw9LOit3TrQTDv
oHvzvwg5Ix7qMVwa8Y2Gf47tebUjAGxAePiPQU1eRJYSTjaxz2KExEHFrj83TupyL8CE6LEHZq1d
2KMOVSQ3+ciQXNOWdN2q466dS3kRZKRI6vtyfk8JnKHk19wKIhVStsVuIG64CzcyuvlD7k3hIrTQ
MJ2jlBJVkXiA8nPBaUlvP94Q9ysE2IGLwEImim1IhCwqT3TyFkxafOEYrTr63Fs6WlWrklxvO8Of
NKFBBfQp4C8Kc8YTX3ru+itr+7ssObRH0BNbTiNnprEmCDN9138h66EQPfJN4O1dglqHLQzgATw9
/rtXJ34Rr/jAD0ZoQs27CiUiNbCIyToAfFry5b+NsISFp4QrIFWWzdWgLz/VeQ4ihH2pZrnejSpY
Y0Bh3LY5vSsHc4kRT0pIhcCyCOsAAqjRvUpH5ECXxsnM2JnO4c1/ag5AExYf+ca5XLmulpQfWAzG
o0iTuUhQutDCEwwBaJO/mwXEu7VgGHgsXjQ81U3MiFsFXH1sqZcQ/dliD/XQM6v+2VihtTlbRBbi
R3zGU4jsHaMXOOrEqLtUTURIy6AAjBKb4rFPconc28XtbPInKECjv2hXG8dybfxF3IFYF0+XTIAm
jqD238lT5/qJ1m31JFbuBmkRWpiAHsOipGhvOg5H/6Nz+lxLTuJzfwncvlcZa4CMITRmJk38fDyh
K89qaRFmfBHCSnKMEbtWU1BSwVPQzR0IoeanLZD6vDR3ItkSOk+gKhBSBaYM+e5nsgt59fGfvjZZ
i3Agj0KV+hV+1+8nyL7VakcdQpiEx/rj379fgIfe4CKXKWilUIpBhnhDhPppdpXPAcoennKGeqHH
uJSVGemRuvpbUMeVkL9EtNdtwEZjrNBeIkDXZjiXXKn3otGIhyiE5gCElOyBAVnykF9D4Qr/kcff
ubKlf2pNv/IQhp2gATPPI2BBzzgw+3Izcb4PEsUULiICJQtsOviYwuAw3sgpv3Ho63GjNn3Ex638
937tE4MsYkICE1gCbDVwQA5vgBi+k14HJ3bZAlp6qLvyMIXdlUfcnzLUsoqN3bcSS5feIlDxmFqa
xqw1DhoW+TNjJXb7KW39/NqiLCLBCL2jATYSuIlgLvdECxoIG/xnK2389WvJ5xKuXVNdPYjxOHci
x0plWujHa7C6AAAZ2vQXHw7eZsvobbNR6b/fYccaLd4cuTCVZQwJE0+i9synsO/BXCdq4IRnP0Ur
G+VDD5i+jdFWIs4SdQ0xOqmja9xDc/oHLNbGw2llTZaIapkeYDELOTRvEmtYzN4oCNpDWR/uIsoG
qPoH6XAnVi5B1XnaVUofS7he3AJADwEkp8htrtlJ2gF84grnTC+ONUBYMAHWaNAdRDPSITONzHC6
ybvaaFXJ2QJ+3e+CQqN+nohfkQHtGegFkrncDgBWZtIua8Wo6PnXYtd66GVooxGajRseRLu3W5vS
8f7TeUCOhLfHoWklxC+5qJEvyA3TI4OsxpMItkWEFt1oUDgTj39/5RAvuaRFT+qohF+6B5NbjzpA
QEWlTv7l8Y//NILuLebirdDmXYMLBL8+Je+RB13ewbek9668+awOuwl4ZEDDTd3qR60VW5b4cYiV
UxXUhpESgegxGfKZkALCds4UamjeRXhexlBuBIlGS27hVotzLZAI7L97hGpEGsqC2CNl//nBVWbP
mp1olg4pdBbKAjBDefHfkd4/ntP7+PTZNuHf4US2EZIiw3BEdibFEdhviJdGmcFDuFWA0RB8RpCL
9Tn0DiG2XvIuO9l07BTwuezhNONSgA6melx5EdDEAiQaKcbN+1DjJtUnErRc9RIkRojWGiHlgZ9F
mjee+0hRYgYkvyxeH3/Gfd4ePmPxdmkoyedy+E56xJuAfRzgrnyRTMgQ6dWuN6EiekVTFAU68TR8
B2/DR3SEMiV4D6fH49+v2EvKEnA+BINEAshCeYNJ39pbewhc7oBWpS4YuUdcFI6/RADKsgutJ//x
cbuEmkNWVxGluRw0A9qEXe5KJnTYdxFalI1GvdG75txYvvH4C++jCvCFi9jFSqUiFx3uAMa8dSZS
kn1zhXr6JdoLn4PnO7kX2rkDuCF6P1agkcP/B8NoXsU7B38JKYeqO6ymIzxIwDSymQ77yZkyR0rU
KdfC0UghLFSO/y0hWSLLGTiqK0yCR2PIwTzJ6J785G1QbuzL43lcufOWmPGibH1IeWKj+L2ONtmo
QNXjAu7YuNU4XbtklqBxqC9BIa0SsFA6/zw57DMdq6nln7iX+ZGNQhgQ6iPQ4+CM4Vy4ZF4s6z1D
BtRuBJWVd/cSR04JYtnBppaHvxnpVDYL9nndbdzoa8WWJU4capqEFwR8npyHsDV0sivNmkjteIdT
9EYxO/kZZixieeszfQIrrDDKiwyDl/IlL2/yBK2S9FUmziC5rV+iNSloaNhkk9uhbIOkUPAgcBnx
zmD1CuxObBY9RCndFZUZgnhXdhu7bOWi/Pm6Xy+BXMwipHF4Lk5HePtwzQVavnVkctBHIRursJYr
LHHmYkH1UCGOGI++hVfOblDLgyxqpyZ7PG+0x9t5LVdYAs7zWmwlmB8hV2ilM/TIv5jwmUW7XrDh
9juM37wC/6I+NNCXeauj9NIKEJ+iTjULeq6QHwtl63Xw84i6EyR+brhfUwrzTSFs5gomHe+EEVQq
2uzya9leyvEo+qxKQQpaeuGPLBheEYEImVWNk5kfxMLiAGAIIYMFBd0smYVqGpxMQEhpmxxT/m9B
EhNSfRCQpmgApgdTkY00h603QGvUS6uoBPrqsJ+CB5SCz0q0gDdE9i8NLiYTEZVP9kRC+a+PVI53
s2hflYPeBjCfAnoAZE258Wj+/fF6rJQflp6lST0pQlGgc0xr8ANx/3Zu5nYWsR7/+srB5haJIVzm
ILblV4jDwhfdvPnBxqFeeZb+wFN+LR2UBAMYQGHppvSIfkIe2ko+i85uNE7WCp1LDPgkEhZSvsia
e+IIvp4+dy7nQuPWmwa8Tx/PzdrDbQnvbuEXC28C1Do7E9odKgxmHMZOHWLCEBlM3VOyceRWkrEl
qFuEmwdT8TEmCxZqIqwnKhgbt87jr1hrbi6R28psvIJdhA2ELPbIQDUSKnV4RqV25QCVtEMXwMCO
r+zsBtyy29wqK75uoq5WwuIS0g3PqCbk8xAVXDVJNbzi+Fu2k70IfPS5v6JokTUZoQFYsfImbeRE
a2WpJUAbXsUhYgd2deJ0pm/VVueRa7RLDVkXLNmEpIz8NXrSf9wn7OIhNY40ikMZjihc7Y6yG+8B
KeJP1CVRGY1+UU7j5fFSrhzWn/fBr0MVVnlHYLdFe3wSqBwgU0S4Pv7ltaDPLuLA0NQNJwcI+kzb
7mOuRkE4BP7FP0oc1MQE+ILVkpb7zwMtGnAgU+HqoAsUmCUpbC3yxit4mON13xt/zVzCuRP4f3KC
Xx/qQ3NVmAjSwkbvjfrS7tP93waTCYNAu9uHG8/tta25KCDFYVnkNYtlq5jYo9kOgu+50ZXTLh1i
HUYTTlYPG4dwLdH9OZy/vqjnYUELlMHMqOddkFRc4H5Uj7JyULSEjUF+FuvetC0yPzZnGQVWmnNP
lzVqax4kMOI9+8brQBxaYAtVO9DBreApscizdKKcUFFHpBTKxl+wFpaXgGwggIDXmD8T0BPw0kot
Am4CbFRtKyYr93fGT7b2ax5HmXR0xaBIFldmmeLqtutYr00GNJ/GhRnbxgZcOWlLwPVsvixLA2aS
smvV/1kycGpc0NmgoTHq8XELN7X2PYvQMVFTAltiBOemNgA/KSAMFjnRqTpvoY3mH7qzJ5b4asH3
0yCWMIDo1ipex+dhvwUMX/vpRcxoYOYEyxv8NCc9c/wN1kpcDEb5sQg3yu4rB/SnUvprsUtOaiVq
wAAjY7UXH9og8PtRSzDYNNHfuHvX8vyfy//XIMOUEQr5FSY/NSCs1+Yf8NmUUep1YUIawzgECUYN
2ZwA3g7QTyi/WUWHGnKkQN7IfLzd1modS5w0K3DcBOMK7Go0lHlYOh6lxAPsUYLeHewh6Zus59Qt
j3r431lwj5FHW4SiQLqXzQ6oAeQ+xZ7yIKL05/EftBaulljpEa7LadHjD5qeOp3a5QfWiM4WYwmC
Cj6FsTHK2uafiwO/pr4KYUBG90iZmvFFyJ1q3NE5JKahJziJ76U8qnxrR2GO/E4naMOGrJvL9kjt
pOFKf2S9GsVbWMn7NAQJflD//ilUBps7OITTntCzpzaozOgtykYNDVy7E2Cy0O8Jt4+480hUEY8K
coNKXco4dINUYg9nL1Xe+Vm4sSdXDtYSKd0Weaj4Jf4YCkbCMONSYxYy5xJ4nZDiDDee0CsvdHoR
eZCtwtU2RIgrJHua0LUTLmWIWo/zeHFX3rT0POyvtW2nGHLfBb4BPn8wCIbXGtRxQ2GrEbjyQqAX
sScrO6pR5osGxGer8GAAuuMOnQaWswG0Dsofj79iZYfS8/3w6ytgk8k2qYxhOrP9gLK0OtMTaG+r
L7f2Nl/CglFP7XhmTu5YCEudgqdRS46xK+rSa/rRvbCvEpQjIVMU7BktUTSmUmM9gMLKVo9rbQ+w
/35exBRJ1nbz5wHdEg8OZNmVMNULstFlWgng/wMKJhzVh9H8eWDklwc8BzQZHfSNY7L2aF2iemtY
3YoNhWe+HCM4qP0tM+UniKIbcq+2+uQ2mnQdUcIUzon9eD/cF1SQ4DTx74zBLm+CXSiGZGE3i8Bg
MzYMiBOwT4k6oNXE2hXRRbjlWPGJmoPluDHyClRQXqJ72ayBCTqLkYcv8O2SSmeASUPT2wgs/piY
lEZuUMXAlyr7+BpDrglPL2PrmXKfyYPvXkQLmLopYwzlCnTdgvccqzmZ8M9BgHyCN7E+vsXWuG/3
wMjqIO9kF+o8VSpUsPdkJ5pwGdMAXAz/bqzB/Jz93yeNvEQFB6HChyyHyNVrmZ6Z3W461yanFVbt
bom+rK7zIr5UDA8HZQEQxPSgvGYdZlPrPBzFm6+XGuSSPd8UDN4EyVgAiGvjuNyPmfISC8xmU02T
YeI8OWK/qQbYQxm+Q1mRfT2eufvHXVbmYPormsFIpwzhyYhe3jEEGbP2thCbKw8YWVkEkriHninh
kbBlHvuBIjhOxkvzxZmolxVedyr30TO2qBFZ+Sn32MpOIi1xhTfWGzembuXFIi+hwFIJleAfXHMF
jYMPqAXDtgLsg5pS4SqjDX9l2FtvFeRX6guysni4jPVUhpWAzkkHLLBKYP4I8sAf+iTBoc2dUOf6
glJ2/dK7vStu1mXv5yTwuvp39QaJomHfhS3ZvKa3EjQOPEe/YFCp+w6st3exuUmrnT/jzgFbYoO7
gmPgKwfgRnuhIJKiStaAmzXblwhzG7n32scs4gmslDtmguOlR8lpa8tsP2l1XFYb1/ZKHiovAb1y
KUJVjsF+DD6gEUUZnQY55kB7ZrbAJ2vhWF4ECLi9jCGcO2lPegou6CKTa//N34BIgk1BFIF6DS4h
cxrdbN/rMGGGm+p+0zNnPlX31mfxKol58v9gXROSALcyJ+mYWoqRQYggNuEiXenlxrFaiRhLIG/N
DCSZ+BZ4KxTDJ7pWR/Egt4xKZVtiCvdfWLBg+ndXS0SqgpGdEQBw5s3titLHEDqtKRBJsK6tIG9I
NrLJ1U2xKI+MMBOaGgnhT+qfhkj3q49W4jUJAvht8Ea9UsNrtKXRef/hg5Lcv1/F+4qQ8AFwuFmk
c2CaFk6T/mkVc5DMoU70/xTOl1BcPmVkgfZLzvOZkPkQSZFqyUCgBVT1YasWqdKpjwdai3dLGC6c
0WFSXbSTF2qkB6wYtvJR/Zr4egtIZKpDwlrnIEgJe+k8c/hJ77q3rAp1buu0rV3HS1iuJMt1IpFu
8jrf7fNdO9Kw6VWLDKZ2KiwKWL8CRdIq3WhwUt8ZvxD22+BvmnhFSm9sn5925J1Tt4Tu+rAmVaDL
D9nV6gqeoMoUs9/eGy0ZIeeRwZh8KLDJ06EtDnHzPpY+Hg28xuSvaWT6Za7Bve+5HzKNp8HcLDOt
GKULSWwOCsPKEBhVWxopV2rwiUelAyKkCVIyCzaDKpPCQb0wUvLRoxOVsZAIpA02utbSn7E1/+MS
L+JZRHNROcBY1KN2vst+Z1egK1xJG01Yz9vMOb9msfpEnjdGWzn10iKCRUqfMVkH749WC2waop69
gb6vGcziWVCvCz9Q64VUNdSZ1Y3Dcl81SJKXwOGc8WUGBlSQ+wX7m73WNSpJWXZkYRGeJM+1CKpJ
cOIFCGtN14wIViiCnZ7FRhJlnihNx7K8QpYERgU4AhDWFUUj4IBWCNWUDBq08ttRL/hchYE6HBEG
VQoNvj2MjbhxBn8gdPe23yJQylLcTBLXwwPIbyA3gXbKxJuTYMdEQiXiKoPBU9c4lyjRtOxoseGf
mDoUefUHItdqkHxN8UebM9YY/JWTl4xBQcvpeQr+q3ZDXihybKFyDe1j5cmPrRhV/QhKFgLpdylO
uQiN6hoAMD/RS+ZFRCOHFrIjn1tFQakUfebCv1A50YoQwnIhpabZ61Al+46yEsWoYZQx4uegiKNw
2R5kC02qDHhWAoK00SJdadRBCOPfcEtFUhk3AkR9adQCGJ26MHamo2B7K50QuDtqo6m5EtWlRVQn
4ii2pcCPngxAPQ9BZTWADUaQg5o9XpXu7fHhWAFwyUtQdYQNlfQC9J07vd/DN0Ux4+/KAgZVsFkL
d2+toj84MbLWWsSTXjvGgKOVIKmslveFynoxipfmBY7YrFrbXai1NYqZ0NHoDg0UQ+SNDbl2KSyx
2C3D8PA4wIFCQI6zT0iK7/jjZNCzFFH8KmlNAyI8uDIaQ/StRGOFtiYvkdiCLzZ0MBAaJeECeP8a
zuNoLoCyKB6jl0LWg+I4Mde++Gprkz6XvjbKMLZ95ZlBrZv8hQXFEgy2r9afdA5dKzoyu34/jlqY
6CmKfsKehOJGxr6WkiyR3YQFH5ri8ERkarcMJlMhmBOoE0JmgTHq4E0Bax+A7+qNLrdKIis7dInz
noqmGGIaQ0KP75KYgSPa9WkrPV3L8paAbjJmdZzNNIUOBAsL2Td7EArMsNN98leUySHmDgXJ3bgT
rso5++4uVaJNJwYS2la+2+pyrRTsZXGZxYqckif1fNjPokve4DVkkT3jMHrsdrvkmO5R+aCg/Zb+
4fGnPD6TAvuDTLsTf/8HDi7zgHU0LMT0U3LlaeVMj68FFX9mXXvOObGRgAoJGZWJgSqaoFHAtK8c
c4mEwK3gG17V2T4vA51FFMzOo3+SIzOvzl3+RARYBWaxVqLtAOtE2IkrejAMJ7+ATn46/gn91m2C
8VAJqS3n6M6TAu4/BMLLLISk4xoPoArJpuJraQkbyqjaTX6DKkxvBElg9FD4TEKD80H1pZsLxSij
Wiki5EdyU2EZvRx4HTr4qsw6WeolbbnvlacSZE+OdoBpM5pMDkHdOzK+0QyyRrEfuPL0xu/NVs4/
2sihhU5j8LmC/EYID0gOvBNo1W8/0xxuJknyNiqFlknfQa3Y8lBr8cSWOq6buDGL4YVOTapBTT2X
K6IlAWQR4i5S2fEU8kmqckxxCNIQYprjbP8c9YU5NbHRtIOLx5JcObDLcnlBfPcDuIzT4UtHEl2J
s2f4K1sFz7+FSqINdfoZDv2xGUKHUay2gO5pk9F20ygqCA9sTbwiqiCkxOMUjiyBebXIR1mr1rmA
wMWJRjbBlwASV+xbHFsp65LgD3yVdR4KQLTMqyGREX0zVepA1eU7MFLagm7OZS++1zJ3UCqFWJXU
iqkhpSL56lIWJsx5mUKWpYTTQaYMmEGoacHUiRoyPYCBpEPB9xnrWUsqZnFUu0rCf9mxojHynSpw
CF4g+huZAolrqnoNxSp4FfLshaTvTdJ0nhALFjMI8I+PZTvhx3emHhM754T6NQyhSa3w2feUl9bU
19CXNEjz5IfHvn2uxGMY1hoFS4gChvWQk+xsaOLjRS9l4SmsNHjTG1xgxYxGfHfMUlgdpLBYlJUW
HRqnCmHYeo7LEVSzPz6vstGJA5043JHASYndFO5QHWs8hcPY17i20H3IPQ0qNPPCXqUbHdq02Loh
4rCop5Q1QKe6iTy+9ehRa/kzhMUT3kYiCgE4mbp0gxfWgLSIllBpKGBLBpx8Oc2Pb/S0h1dE2gMl
WdF6xag+Ne4Sutz7EA1J0UeBFNpJnsKLAsPGEYSUvDj08VOBfSu9jjQsxkr4Wz4Jcuvl1d+0/Dvg
zPEVzDHYj2LAJuG6S92ElhzzL2jXgSEmISWhBj3iCeB+dAiZz1ZDlq6FOONMcc340+Rf857NHSmj
jxAbOSYVXObZyijh8uWMTfDSMrIZiKgnTpeYOaQgtg39+xTnO3zG2KM3SUG4p7755aR1SrMb6QD4
a8XtOV9xmox94kb+Ak9b7ir7fW2nsMKlQp3ihmQnEBQlcHiLNIPxUAYhK2wNHg2sClpPRC1yWuOT
F64MdViqXyFS2o9Y8xDWtKVk5uWhm6ZSkyXakTgj7VJjiGEYUpnpML10JQjqsHrrFApvUXUIDu1b
MoqY1PTY9fDQpaAnFXYolUeAl8PihArQyGoMCltFSCIT6RlIozCE6a8DQ8xKmvRc4LRcqrFIdOkw
pZ6xBj1zvaD6knsZlQXQL91Tkt6hqkJDMtqA+5E+/w4PV8jBywSo3bOKRSJBMUu6zm0uBKJdEYu3
suBPBTv6Xho89f2xLf82pFLhPNyMVlxeZay6GKFa1OjgHeB0pGKuSS2t1dxOpOxIznw9aw8TJFzl
qPSoMHFSFPsDOk61KlKuPsyF9Q63IUeJT2xTw/qLil1McG+VyR6VJyUw2katPAmR7UijdC2dugYa
pmAuhcmZ7lQqeQcyX1ae4BxCd5+iAp95CnCN90Sx6NGGg4bQqETUmkRjPvF/lpNDGq2AsYasMr3G
AMqIhgCndlDkF6NDDx+e3KMnNUgvOXOKoHmVGQ0SmKA0ZWbX+Gdq+g5TUPSyLyaFfAe8LySI1cZt
8NxVoU2RxBHD5LkhJQRp45y16tQN0ego69SSu1AyObDwBAUOwINo1bivWo6F2H2s1W01aDEUeCFR
KuBKExAFZynHXcBdEcmjEbZAIySL3gW0EgJhpyC/4rMeEhRSoQmCHdJTo2VwXze5oGn2ZSZFn8xT
FZmDYPgJuH6ixs7tWeAtU4uTJAtkMAhoD5LGiJGKzWMENa9RORAoEXhIwakXWH2SGpWSYaUo7WsY
7cgBgujkpN/JBG0X0D4uBTwZYhihOY0Ya00OjzqS9W983R6HBi5vcFZA6WM0ssSDlVzMQq4MTnad
0TJuwRlUaJQcesZQtWkwrqxoYR81oFhg1j6i+FBDjjZGWtSDg7nPJoeLkUvyfzkaSgO8PuYHQj+n
E6XmqAQ0riQaTI0WS/UM6ShLqL2A14MQvMCyPQv5oeiMGpJdPAoBMEZNYe/UPE3nDgAf0lxAxcz8
Cs55mQFzEVky2gjuAvzzOCIeZYMpgnpes63WjAMMq/WWfpfJHwkOFQ3SGDP628oIEmDS5ohTALwA
NAtjO8bJFU5jWZNhDKW6VsGzkLvcHCpUsdvn2Q7dqCA9iKNRQWwbFWpezSWtKBDn3qjhKZ2uOZIW
vtU732HBaWutrLEVOH+ixvc6BTv0H3kcjin8gIuUKbOKp4jlHq88+Pb2qORLTGO0ZYo4RMZLMQpO
gBUtAvrIIwtNiqjxCGx7sqpCOwrtOY0vJ0OZBpdAfMQI6BpXzBgfRRl1IyY0iCh+yO9hZUTZhE1L
NE5k7aBOdpCicrt58lHRlfvYbOEQWk5wxcvNDoH+/0g6r+XGkSWIfhEiYBrulXD0pESJMi8IaSTB
e4+vv4d7nzZidowIoruqMrMya74LkJt+nvf4djhKM7jlcs5h6cfGvLa9Y/f7PO5ddW6CZRhLp2mb
ow4OYJCkLbTm0vRHVbqFWn7o1C+ilcslZDu/H69aIl1ZOXEaDEJxmXwZTDAlaW9IxJ82WEzOk7IR
s5Na6WmaG43rqTTI6Kzaw6CalWOvC52VslWj98EEMhqESVMldzR7NGWxavpLMRff60jBT03NTQsf
8TJmyHYViMjwFzHgwtS5w6ptBtB/QEv5ZNac32xHETAFS+TVuheL5aslY6VqBHEzXebpHb5404jO
kfEObIvJVclgXCrhxPrRznV02eVysNeGeGIsRShsiXGrp85nsZL8SNJkwQJsqSA+WY7fy9AMpPBL
BjIAbdus9t42n0g5DexIJfj08TKzCBSWYmM9tW2gF+G+tq2/RYs0d0yla1Huwlr+UlJymBK+an1s
ArWeeGIg8689tNMaWDeE5LpubWzzgOC7oQtZ289lmQO7xeZpvBf2pyrf+/UuFto6r86fVqITld5f
CO7A3z3cxXhW0go4qpE+T6r2O7Lf5cgEoeD7NqBKKy5NUp+q0VY3WintjJo3Vmq35uirVSAX6T9h
Nl5s91joPmjFaiU8nnDWtjS8KTfSDdvzM3lJ0aEpi+k4GR2heGUf7+Jl3o8Ybm9Y5n0eK+Vk9Eu8
1eTxo6KGb9m9tIOq/VLW1CtT+3eeyVitUmc07qlB+45kH5w9uRLtTiinUnxnKYPJWBB+N+H4MjZu
lyPfWoY93eyuCaVDqaTbuA4DYkbv2PcdhJCCZaLFGcvkT7OxVI7ImtMJtTetT3kxadJ47Qzyybkt
UUlU5ZnifNBQF3ftcU0/E/tD1rkqzmZmx5uMA1+OhHoSUZB5NSBTp3ee1HCVjDM2O9Ddh26diXdm
FWuT2EN8nHtr24bapTbbow7pFtXFYZ1tVtgYBtrQz6PUrZSSx1fLW9FXEOXrcpyjwk/WxNGXN1kY
n/XMmKaUh0LhQIG4pvpv2n3EdEh9UZMYzyaA1+i6tw7dRU16R9b8WP3u4HotrbxJynONeUo7vZKJ
eixEfp37iE0Di7+JwJ/zwL+gdgtu7/lC06a9dW31sWj2tuqyexlPdxV8ZlavzXCcy/iX3AuyL0k+
IyNrXELqIvxNIbFMtwnrl4hkTIU38NaTJcJZyLysPnPDVpWndocMElrxFzso8pvNOECv8Ti7ot73
trpVSrLLqP7NxFtCgviLOTS7JuHabXR3kVCGKl+T/GIs7pCyOSSUXzUf3vXph5fQZR7j/nDCovDa
OHXDbHbD5p9hEjeu/Vajt5rNcaGR66bkqGjyRup/DUvaKKRSl6+a9VQkbmHiSA7UXWFDMYOlauWH
pqdXO1TIJpKy3cI6SWMs3HFQqFPlqsb7Guf7xapemwT1QFdsVdkpZAytWaLJdde09yZ9ovYvjVzu
1j77FCYPyUlYw0h5csO2TjyRvIRs15bvseZaGHjI0tGSt8U3BGOrOxGW4eXHpL3r1o4uYZ2DrAPJ
UPbJRA5qF+9N29cbKjVjykGfh+s6WacIwwz2jeSudCXo3r6npcUwdTScETerPsMzlZ6o/5lXsp1I
6dLewyVICWtoWRdPishT07NovgzWl6wxJRiR0W70ZeOUgdxigkneWJ/5jbk3qjO3Z0uFGdOjxq6m
/KRiLDlzfuretWRCW8kqFJZrW58RljotydjqToeDDL+W1xhhQvPwHy5U31zvMyt9Xe70gE6kjCi7
mgPVnEPN18OTZRNQ5DDp1HR8veQO5rnXCu6iQ97jdrvaZ4suWGSNp+AHBSA8tJmrZAPJRVzZdNld
Ee0iJi7NzryIaUHNONYynNrzUgL69m69RCeM7oKuZ6KY+73Ux76t4JmZPICEhJCoxov635BU0SRf
/GasuOOqTdIGYxS0eo4T5Gsr8NgJCsUz85AP0R7SPHKrVKM3TlxDni9TZe70CL5daD9yhBlV0W4p
7VdpEr6U+yEOi/N7yP5GW+a7RfY0Y18VfyZXz1wydngKcGmY7lSUlRuLtW2YnN3QfJpiNyKur5av
rr4Ktj7KDfxST9IPN0C+ofvORi9fNuUvSQ+bpjLuRbdT43MvvZPuHUgTuWUWJgGYyfH0rd4lx9Wy
T0pOZxQebErtWLGkltYVOFmlJz8Pa0imZdMcnuJqmj70Rp4/RNh0QJXWIPaSVPnaNAdp2XvgE40T
x5lvkA4d9ky+KivfafVncdaissWQfRL7vJ33U5QEqk10hLFeV0VlYyrz+2XclUr7sxpGcqIFfrHl
qNwiNXFwbHrptfq5Kaa/KGJwg8PchGFsBn1cPtcW+1OhZT/Li21sZiNmellCUmylp0pdnI44aj6X
Ky/Dt5WPcRCFyp9kKV41hD/L9Jw157Vz6k+t+QdHOLD6wcwzuFru5P8MDMbSsfWW4dHAmf2hepNU
cnBwo8OizgoeZIvFRCZOdcKCn2dKpGW5yrRZSk+Z/b76qhJ++o1QXkS3yWsnFo/1hB0nVlReku8t
xde7yAlbn3A0IIaleMefkkawRPLr9vJBAbGrG8Lgd+QN2Pa1qFiX/jO+lYu4ax/S4hPurQTK4CqG
W3d+ntyG9DTonQNzrF97irUeuYAVbLLiix3HQVadW3415+PNoG2bLj8N6a7EenN0yjRocLy0L1oa
GIRnIyouTa8hkpkpONpLNDrVq4GpVPg8Nqo3FJsx+5cYfojqXNmJk4YSsVpxW/w202yTh1Ce94at
tW6baoeiqHepERACz6rr1H/Hg6smuzD9leKvcH2J+n9jtu5qxW9xo6pdRr8SmDBqMQnekEjbNZ5d
Xypz5TpFzhaBgWV7Grm1rvzU+rLH9JzreAob/DaOh07QQU1eriidOeXVyHbZTasjJtDnJvWoJUvq
qiUWWGl8Qk0cNF18FNbRuOj1kS1yCyMdZDO1a/+TxoYp24vMewEyUV66caesJMJnUPXYhjUGc/ih
Tfe0CRJr+zI5ByxV2q+Fvav191hhATGfng3xz8SgNwVgIqR+4jIr30VLtqNkeKI5FqUbyz+dit1v
+W2jnyv+6vGqw/5r7JZXHkafig7AcVKLD3CmPr6E9a7Rb2V2avVjxfY8EvCC7XnETbLkUfSWdqeo
OxqCtfopQy8ntzwvXBPQrvewQ92oYFXp3D/WEHGEj0fDjf8oSSFRg7N4LTvBNesPEkALGcTDiXak
ZsvsHz2e29RbBUu2t6LaWN8Ule5e/eqNHzUvubET7OSTc0+sTs9mB5bGvWaPl7Conkgw3Wg1D5Og
evnZDgMCLGPrlc9iVk/lTcT3aL7gNSytr61GZxMnTpqU57pnjmeoNuICKdMQGDIfbj2Fb6W0sjJN
YpK+E3jFZTXIzSG388AsU048FoG2q8RXaS/wkC5xDj8WTXU3qJI5TZgaM8zmd726RsumKp7Cnlf+
ZDDOlIJvAEmgLLB/JndzcSLrumQ3e11p+04w62N7Qa62Mc3jUl1L7bUJzzoNbQULlvta6I7qtsgP
CXvWgwZ4mPngVmm5654r7kHMmTuVV5a55laXvml8Duu+kMB4g+azy7YTi7/ml0ZEjkzRZG1w/uRz
mXEwycSzK/9KsQXc3OTVXk98TFiIILFNf/jllEm214stDOhEB7JeE/O1Ln+H/MtouifwdlQIWnes
e0dkfHfv/Kxl+jFr7aZpoQzNZ8SiNl9fZ8vbGCyirp7m4mNJzisOIdF7V0abQntKw6BkHo82pv0q
ZhfYzT6nLTiYFmjlDnWWY3JTjQxigEA5+Sfmm9IcDGRHWXwYaWW5Rwyn7Xjfjyl1fzAY5xXulFVy
gYZoKdpyRwfEsJxwHgkf4l0IZzaqNzizg3rZLLLZfkiti75E9W/K37vWEewUYUJjX8qqdLDoNcBK
lENXgaMYF0QMY0moUWCmV2anUqVsGvnG1O4WbUXoVKsjo4jtnhq8JAuKx1+mX7XqWuSOEQWR9qPb
uasbL1nk5OkuboNBbCE5KMOj6UzEOdSv+AanObZl0mkpbx1Z2vV5SK9x96aXALiHTpq8kZ2BNP+c
7Z0m/9HRNVLkGHQpKn1MfMhWVtgyV5rR4DhNQyrGpuSdp3uR6Uc2cWvtplDc+iqCP+HzYdRCLKu+
6X6mastJqWM3bQMr3bYtzctL10ibLvoNjYMR7ldEsLFr5sH406S0ajg4saave/F9Jod3dtXuwt4w
vWDHgKe+2CDuR40YZIsRBXBJ5iwnlMDAACWR0l0T5W7e3jODNPQCwuOQDjSN5k7qvlbLdIxkX+B3
2FWObG5LJM4kbaiU08A8Z7Mn1Pv6qyVvKpHqEsPvW8iaPPeyUTpywbdPfpQbla7JjVWckJJI+k8H
3PqyCAtse1M8wmy4R3OCcXtfYmGSFCcYgflnFl5/wI18UZAAAS++UIHMEAc7dasa/7L5vb1WFJZ4
m+DbQpsW/hr524QSGCgr56oVjtaHLhqd0aA9B3YE/9hM3W5BLambH5F26gSOOZk/xTyk+VWdDrwJ
eQNG6Gis4zWu3Z3lHmknYK+rircE8MG8jrOL+5PGHKncJfhuAZIsNYY7zkBiiDHMjdn8VuF5wlba
3okPAzwnpm3eLtalIldr2BgWvgP3SapcdI+bdfl54IEfyH5N+SjPTzOSIkb/ugqWzqtTX56cSnLD
zuv6HbbVcvJpjbssLd15ggmThydtDDeraQVRhM9891TOnDDGT51kA1R6l7R+jkavrbfNtG9fG0JA
cZj/Y/YMkUKKtwi1ouWFtwFB+Yf5N2RurDiVjEP9VrU3bPlY03bc9/AHg6dSo3+1dK/8FgLnfswE
o1B4Q/Rp9e+z8iReNGwI1PGpe9eWoOIn0rx1WYEqn8tI2dKDkFjmMMWHyeeqyY6GZAvzBL00d5Rk
cBmmBZ5DkD0gO67eS6R/KQk3pdcXB8B6W/2NIzfvvpM8AGklIduaXxXp0LVuNm9DOWDgM/5EZjrt
Ryp+6uELkJfI6E36qdJS37LS4iWrH5oGrQoKkPf8HM7NrjVO8NibfDkKqq40gML6tQY+OBMx+zXg
AGA9yX9V9cwokRtbEVWbZj7oFWV6Zm7dmdm/RvnR9OcH/o8RFDebWlz/A5Yer5zYpMck3mIdYzt6
tYUfQMUlAwzF67eR7mSSmOXXnK984g+vLEhnN/DmDVyrGd7kG7xJRzazMQfN/Krnt5R3Kq4xE8eq
dnoWu74+11pgLm44+6AlCMIIA8CEu0DdyCzD6cLfKGjlXaP4vG/m/DlQFqJjr3tm6AxRENalSyRs
Nd3WGMuDg93cgIqnf0PUONW7EDe+drlzc5zKjWBsfaDqiZWH79U4pCGxBkQMY1bY0NRIDd/acteh
Z5J7J/2uraPy4pgLvMfhEUQgHjo2x44KR6s9W6ncofjB7cGMvPS6tm+aAF9RqIRY77/jFSdlW7ro
evFG9FIS5T9oBRIAspvbb+Jrbf2Q60GabXPFseldicixcBfrA8vijvZzRl9uIWLTpWKbDQFH0yh8
EG6JfD7gpNyX7Xv8tfRM6gXclOqM8VY3zwoyP/XUN1tb/Tfxi+tuNHd1timlt7B+rb9KNdyH6SvM
yWPosQdE+i02X917dxJA+u2sOVr+1BoHZaSYK6wtv9rh2xwjCqkcvgR6NYVGe9XdFEqMm7ijczZg
yMeNPD4MkBI3q9B28197paOqX8RcHGaDoU34E+9WxhrqRnoxWHYofoWmfFQKu7c5WN4MkcF2Vatq
VI7DUrq9UZ/M/5d3EhsqEqCWaXJiUpqq6kuQf8DmivFkNuq7BACxkfThwWFXhdO1sPaUIQvkWS8y
UCLSaqLupdWafbfEO7WsHGOot20d/slp/WmP1rekJkEDtbzJjMQR3dbIMr+YhGdanmqMFJZNGfmC
afaKkAkB6cZS3Cr+UeNvFTWCegitgBGcsMFW2yn14QHDxa5s/EHZFz+k0G8TDdNtdvaqS3Mbmsgb
lr9h1FwUKB2FC8x5K/ibZc1TVm0I5r6JHezb/FH3WsVfLb+EatGH5G829irUyWwNH6XwGMabzhHW
dMoaPJj78bD0HOICTExlvQaQWk3O1bPdfUS67KcTtm5N5kdm9gQE4GfDI75LfR7Hx2APUDsTkVu3
jz5Zxt6fEjS3sxc1XK/1egJTC9fxQ7FuiZY+VeEu5XfruvQspBveom1GmcDo/hrHJ+rmtPirTY91
1P+i6XdCaR2BAGxo8LGgMF1FHCakixpuWRGOWg5X7aPphRnuH+jDAvDdX6doW477BSQWsgoqQYue
7BL+Ap5npyuH1QByV7064xZc99UCTLRbV9i4E1U4GRzL8MV8K/Hbbjeh4VUsaIakmASj3O2q5Vz9
mGiuMnO8Ai6DUozjVRr20vPaH4mzYIdyND90K+LpurkaFObWriO0Db8GVinVRb3N2q7I8O7bEXK3
yYht5NYbB5+BW7Qvwn5G7YKdNHICSb2pvPr0yXxHk3Dn6JDSZcg0CPi1WFipQRhFGEmRwTfyGwGv
u+/c/BimranuFpyKiOuaf0Y0gQUE3mXkLhcD3VrhZdDE4YzfuBZvu/FSpHfbOC3TOYNlBejV96JH
bwe42zxCAOfGz4cEtP8daxzYkxtNHi2Kgj/j67hcGuXW/9k/eWJshsQzwn/1DICVJLfZGD4UKsPC
Hx7it6r+ylGC2dNhJMlPOFPiQ4pqvSux3tWPjnVsRoVW4iOje6SNzH3wO23e2FubpKrwkmdBXt7s
8diOnpRfZLjlITuQwG5p1tvy3oB6/srM2uCeQf1Thb+65WQ2Qz9a5Ux2eO6yfl5nV+d5zw7OuYaz
CBpXp7wnE2lJSuHFyUfdnORvi98zZN5c/ITVfcDRVWRXRkBISNgjIU5rlbq9oH6yMdgp+6jqDqKF
A8SRCIqxkHfryCQBcgzU53OWe3qnk5HfsxU6HTnLgDgg73zB483fsL6ZxXJo6ONUw7X746pc8saZ
J0yfA4w2fHEIzUfEqfCW5mOW4fkdof0uDzkFihrbY/rQkK00NBuP+SZTaSxQkeROBeJHy4DSx2bR
N/3oXhRGk9rpte28etqzfR3be/OW2g7vAyAoYIUSQW5Jf3n5iStZXfj2R0mjqby3wCxRupVL213K
TYRCtnA1c1PHsqtekxI63H30bh/L4ofhlk0g2fpuyFu9gJ6zYg1TdLEpB5XCQ58C0e/rgYnGJvtD
PTTDNyu5RxPPb7H6EjTm+h2OqCXKl+lDejjB9EcJlUZbk2Lb+wmXhrybGZWqFaO/U6Shin3UGVgF
tfbC4bRG52z5aJL3KPZs+VOGokvEm5HZgX6cZW824B4POQi8Df1DcIecGK+2In8PhXSIGipNiNHj
3QLbl+p3I+WadWMS3TFBH7+wzI8zl1mjRGVoHRcdiyuDLwehvvidw32RSoEMfx2HO3niAaW3YWx8
u8iCxoTDgbhbLzVauggCFCH2eKxD7onINTjadfUvjc8JyHQUOS0ikqjdWm3hLKSzMTDE7bcuvWjF
hDhoQpPPuicnJDJp3pE+lrGfriU9BLi2QZVqDM/MJm/R0ePkEcCDll36fNrUinkaYPTxd5YcTX0a
ohsRk3DdkY1AakO/PZot4332HNc4Aoy53qKBAjFR621mEG5jMYUXuR8zK8I8g5j0b1b9ZSkB7yXD
OJCiNJ3a6iu3eScSABe6UyuuzoqlOqX1JHXu41GPT6K/FPyDUf7F32amyBitp1z8hDVu2W+pjDxf
YQBXXyRidmPdn9cemyOGXfrkEFU4V0WxVf5UQHs79kFGmmVFDhmqwi2NN6nmoRxqrsL1q7K/uyh6
/JED73+KKsaIGBNOwqTvThxVPE9zjPKr+KBkWwpwomlsRiTahZl9dgYQaj7jafMGDsKaDgIyiIF3
uTuW8V8HD78w7Y5/q+jc/4Qql1U/D1DrETNaw50oW9Z7RUuUtO9jnu01C01WnO5VfvDIMg/EYh6K
WbkNeBJM+1K8hNlVoGWMwrvcTZ272spl6MfQa9VHt1l9xHkaFAdp/rAV8GuEbs7ARxnuif2sqqM/
5/tuhacKn8oIREl76qN9pcIcPivSVre81Q5dY/xtKy+GXTHMHeGudLt6uUuk10Qd6bT/GdW3AGJK
+p0uoFs2aUviZAnynuEIWzz3U39OC/U5F2DVxJfFxV7HRrH4J1rkEv0iwzoXMJ3r19RRSGP7ho01
Z25uv405eZVsuPZ61f1SGeGfUD5qbbVrBk54P+jca+a/oQcpoQIrk2Rth8z6CuNlT07fSzTsZ/XV
RFZcsUKQNG+6FD11gNotA0ZiSuMpgd0HTrNkp0wgdjOaFl/X5NivVf3ZNKLkpgkEQk1ET1+u1U7Y
0a0yCe8RCEerf2qUeaqu7aQGNWOxvq3yAwLiyolkG93/OY9hchFCifChDGRuFHb7VthE6UnWuBfT
yC4AvmobUarbwY5Dp0nNzBnkZgziXnxHrRn5MKGoFpb4ZIUISIQ2kh2q0N2Xl1Dy+3wrFJv9Npe9
g0mb7hL1PdSvy/jC+NmmB9tid6JJ3BJFUvmtG8I1CUJYN3rLOJVhpm+xCeO00V8iPWuEFDGEsipj
a9MTEU2QcArChkxhx2zuNWICm+o5t6RDo0iTY0map+PLoXJQbdfqb4OeuEq5XbQv3YL/UoO8521Q
v9qZEb9ATVGXcCVwltaDoMOFuNIcEyOjtW7ObVy/GYZC5PYIE6V6iNnFPlX0y4jxJjDBQhdrAWER
ekwbvE0MuALtQ8R4VMbxuGu74jhOg4DVCmG7MBiOraBpZL5MFuYc0ypCJ5Q6sWkboXhxxPM2bWiS
QU0XF4Ln1JXttVBtx+IWkeb6rHWfdmrtC4xGmnGoSHDS3dlGh6pr9Y8uHc2q2CXRwG7ckIDvF4Ec
XvTRT0lBsVnL0siBX6SLZmFoi1NAeU41GmeHLtJUtoRQaFSLOTqxp5TQdS7F62LspdZX7X2lB9F8
G62DIM2U9QBOW1/3T7zWkd8T2AGdJVaw+lQCj9TQgClIsxQvnTVwf8V8JSGYMl9i0pSsn93c7sFX
mEar3inal5rUjIjp5gK9LZkHET8butdhNdG5dgLOBNGbUFkGJot83TIB2CxIsdJqWd7ARoPmIX/w
Kwxsh8V0tYiPW++ixtoNS+wPKBAGlcGyuceT1wzDtsm1XSN6AfdGy5SiOUT0zP17b54r4NTB+mdy
b9P89uNX3tsY1mgfdfsDcBa25bmPkrNSbXN1Oq72r7AAuwsmlFbdL3rnLwbPoZZ2VvytCUJbJJf1
M9yi9rnS1Y5dyl+yHRD56LY18he7Db/asiFAJw0RkaDGmxXhSpXxlZjKSudDMGA3vPWKvFXT+LaE
mRM2Fml3wtHDBCVEJaHDHbsl6FoTu8+5Guyfsa1lb5AXy5WUKPEUPfxVKvSoHGpt6AiUrHtkw6lM
3kKhaxX/A/ogrqnkayEj6exIBDMj+4AEW3NhADkd3VD4WZpuh8Y+xPMMk0f4DSqmCUK+miOwsVqf
nbirfKC2qhJIzkbgG2ss00M6N+BS8bVhqa0BHhmy8iRBxmmjsl1RIs5D9TEptp9Y2QV57jlL0qfw
saCogTsNtPcreysFqhvDMGRPHsrBN+qHQuw86wdZpNbzirSzmgzbLx+iXXTuzhRjkx/GO2PcrFax
tZH66zRUgukkZTepQqWg3XqOfAO9FBYtLVsve8b4Na6fotmqzJ0acrIWpU1Me8KOnuRGxnOnnmfT
ptepXZKtQ1XfqD0/4l9XY/0XGscMBUJLo1yadOnGVyY1TDCS4c7FW1lnr4q1GJcFmhssIWc0f6i3
lUxz8/Fi1lcjvkstKPVeLqvHgSsTfCcL47s2eNG0dzQt/pCxjiajII615q9Gyp85o/WeRFGgJZAV
DShcJgvbWXprR2wQyUt/HZ4w3UyPY9+QcLTjZSx/svA7HoE7OcLW8ovIYKLDLlL28XtQikVWvNbw
18Hv2I6Qr6MIzPApVM5a2MfXjM1NDRXiTZ/Xn6Qep33a3a086HPjVy8SYlbGQEcuRpafj1K+0i7G
RG7AmEOsuH3tZP1LYqiOgT+sOTk5atxM67f9Q3mH3zXakNlG82t5SZ8DMVyr5rTECJ5Qr1pqActf
uEbcbo0YJbaHvZ25kOTA27WZMJd6NLUl/IQMsydt7VxiefKd4ovsBAlXiwpEZuquPxOc/QqF61V4
bTmd12mXhAfVunR66kRcMdl4H9tnSCeo5amASPXtEuQN0anNWq4jKbo/ypQ1GJp4zD5HKb5kdOOi
PczS5zDZPpf2UyIaX5pehSawXp3YTdDcMpP0J51er8iRM4wdN23+FBmWvu3bFQ8Q2n+vCgd4U+WJ
v39UYwcREw0yh7bK+mPCJFYU6ylScOoGp9AAgfoxhVZdLlZuPFRMSlDI27z6WhccP2bhtKvqKMpH
H1Z7e875HGzBZl+miXaKP9g94EB4SOWvGBDAqt3GBJPv2dWotDxxAcPXxWDlFKQjX/c2+dXq6hZ1
DEGCkXdhRRO6AsbeVPotLAMFKepGhPZJGsSRX+MPUwFgZ8l2rBeL+W7XWON1lhe2W8YuqTFVhdAu
c4hr0TN+NhiiGN0C5qD54/gXN6b1jDKg2YxxOVyHGESfa3+G14piZXFlmT0PG6AqPcpD2jhjLe4m
MhQWPCpDv9alFiTsuexbtpJZXJHKrVUQ5yjReA+LxYFdEVHOahi7D0en97rG93dZ37J1lBBvbJVe
LimAoCNt0gdqdJpJcqpNYW0aNb2UkpcjEBkqDOY0jXHRlGAWZIutx7zdqqOEpHUGA6QRexqk6BaN
ubvMmnXs5+VrlsANNV1uXUtFPVyZ9nOjEJ1mz88grln71j4m5U6N/iobl/lEuWo0oqKeMqeyzava
wSrnFzV8QaWee1n62RA4Mr8NLUWzbm6h9aRhYI2ecJBJErDuc/YvZPhqm7d4+lC43GLrpTfeZh1U
V3mVAQ3ThyLoLRWQxRr/jstrc7YndgfCuGmO5gLJFOq5sjWTWP0K2VYtIE6jFU6uCkPXprmSR197
DHcDxHm4NjZIqrmb2kx89WvjTWrDQnP4MifjVgtNt8hm5UW2fsJBcigLepMkdyRS5DIYCDJarTZR
BE/SdytHbKCkX11X/EZrDEr2Vq/drknDuwS8IA8vyQwkGxsIbjo9z7axOascH1S9lewWvH4b7iFL
NxUWAaKjMLa5/G+JCRm0NHTF2r8isU6AF8NqydDJ9Cas5SB94x7XKy5MMyjLP600IBh7LIlmZTjI
c6xgFvyvmt6MgT0hMHkhbOpdFnRLsTVA8aLhq8IlfYhf2MRC7o4KceRxcz1Mr8OENFTIJdNK6uog
KuoKO2SKZNvTRoOgg01Nj0+Ttn7ZPEHL5kzytvXRmfJzVNqfRV3QQINfGkshoS14mDsgegyKor33
Bu0dgFtqjCcMiVPJRzce9XNgshCFgllAiFhu2zLttOlDpk5ExuZ/nJ3ZcttadoZfJXXu0cGMjVR3
X3AeRIrULN+gJFnGPM94+nxwOokPYoqpU9VVp21ZBAHsYe31T54EvAGgHWuwXgwT+ncWGM4LjV8W
sPzTVLP3hjcLj0PxoI5itheeMDKmTSLdSfVREEszLzlfLPr8GV9H2CyaO49bupy4JdfIupSadZLD
XJwa55j/KuGwrJpqW8uQQAaxJ+V0hqy4UyC1FGIeVf7ad3pyjGnPSM+9yxvLlUNm3dCCPBQNjW9h
nhQ33UCfjt22eOnIkU3qFP0QbDUcnq2K/5+AfnBY7oe1bsHiK5hYBtaG2Y/WoZGXdvZLHRZAzx6n
bgmFc2zq9GX0bIU4ocPj9AitPd+WkS02g53TfvX0mySg20ctJC/c1M4PWg3TTCgFZGN556gUw0G5
CAKDU53LKCzlhroUJUppwE33bNBC3TmbrUkDyTKOkiXurTCfK84x7Ysbk4peE96qFDSLxZxlbB/a
1CsAYG75nIeQU9puk+raLaGAQHeP4JA9Got1236qubWPA3upC94w+BfXe6C7W8Ttxm3yrc/XUko4
/M1jqrQrI/jGwr/p03jv29bGKdccjr36YDw6cHayjGxvWCtlqswderuD1cyhYe8859UpWB0ZKJBr
PH+4yVxjVYFu611HK1Y8ZljEpS2pNObJhOqN3BroWZ7nw6cOU6ty6m2efLPJYsL+YaycWrhxyXe7
fpb0+9r6Dg/M899cGSAFHlu98KW3Fp9u3bS5VToaBdERYb9oswYRWQB7HMyNFn+on7Tg1WlPlKdp
RQ8rYxZDupCslVxJ92pabGxPWxXYx8/7EYvROnfLKX2tCRjwfbpppOc2D9cmTra2v1e7pwwxktqQ
66bLc+GXI8xhKlExjxqJZuQ46VsW9gDDlvrDNlpvo6vONjSsbx75tk0erTtLJ1YcwVuC8CaGkKeG
JiwziAmmsvepg3TEm07pHsrmvm39ddYj/TOznYaEAFHgEkPFUQdf6zwpqQHshHZl6TPOyA3y+ZRu
Gcck1+h2IWwPgy5d7N0X5rvk38vmAn0R9LXXXn1Xsw8LXF7JcXWtX9NkQAMatB99l6Ktz5JXJQ1O
mY+JbalVJ6WzHr1Bxr8gHuaZ3e+laJ/ZWMyVpNuJrUJXLOBUOT4H1+NrWkgQC94TghbZ9b5DSmI/
3tM7Zm6xeqZWuHZT6OchUOahzk6ec89hxksBhfexO8omV3kdLCsj+DBonLb3vfRIve/nzqkxgK46
DABkt4Vs7VScN2jJc/7fVSE8cKNtzzKU1AGmrd03m4rDiRB+NFNFclTzfjEY8a73DPWOvCw4sVqF
ZtKvuqWoYeAqisvaHSnrzOg/VGG9J+qbFZ0GUc+jQoLgopZQsmLbPQqje4PBnob2snEgkTudTFc5
Hauj1IkflYJuPkfghRtUNeMiGZHw0d2ByqbLes662G5oCVBWz5k4c62NLFZKQciiD7s0OZKXs6rU
Ym4xm/HG14W2D2PA5Uo4uy7U7vXAW4WGtnDtDiHGOgvWigSzFGp7rS/UYp0ER0k4d4ghKv+jba2z
278Y7nekvkD5nEJNQ1qo3p1inANJO5X02QsrO0qdPDd1sUpN2byzuhAmlGdpKw5xGDjF7Qop4je/
RXXV4tAWi0B/s5wQt9kmJww0av+rXJciSKVKyPFE5BLAWY4UuK55T0a3Gjw4Rwgmu+RZiDeYf4P2
kQEWaFAemkUnUcOwoGRPwhweODNtTXadRAEbsV352CCCkqr3bgiPVrTvc5AON134SYS0woI01G/C
rl97wj1KcA3yLjgYQbZTXQONTGes6kxVF+h/lpGR03WSd7lD18DPvKcilJc6jDYUtsTGwxhOy1UV
t0e3dOYu8Eo69PDyh2ChCWsRpS0cujJX3rLBNj1aK1i8Ss+lVcxrmxV1Q4IDjeutCrmtJQ3ARK22
iFyatLda+8rCWyvPot/qDi9tjsySYv9u8LBvgbV+R4GdufeMD90+w+cW5dbmyOyIhywxQWPuB3PV
pTcVlYSS0zTQq3UrnHvmVyJjpyd9ppDktS6cF3rNLIkyiIl2BlUqyKSFoolq7rslD1hJ4l1UtnjR
0eQNgkXByd31Fzl4Td62Oysz7wjfyhalkZ7L8r731pq20H1tn9EhVrTHKk8poV0OAss0crRZniNJ
S1cyqKsmunk0ui9xWtGS26CrEY4/I2nb2nKydpVQXQ/K8NGZdy21WTacbOl73D0Dh3NEHxWhhOJg
zGuIYe6kwQq4NuoNeJtil8N8EOVG9pT3pswgGce7jkaMmuxE893VBujn/oelRvTCJfY+G1+wpyr1
Dx0m4ATSiXdv4LDmaMNeB8EfqCXq7ha9C12Uftmzkfe3EhO7kQ2kCMrMr7sXJEOV/d3XfijmZijL
U2zcgmQCE/fojaX86BXJQkORHxjFIRpOhR6tyXxdFmBHWnwuklcreOoL9kG05mIftXDZC+ji2rHA
myosBE3KEa9YpRbSKX8RjSxE8FmDohUWWjlYh0L6oWGZG6EbNgtkMCNJqfYztPliiYLIw5eurDbk
DM1j31sC8fYkJqoobleQn1VTzN2mWaTDUTcT/jGInAMg4rO3SjmtRYioSBKTaNNnN7F6o1LfyOtq
2OEZS2N/NuCDZHUIWoenEfhyl2m2RaHr05U0tjSMdH1dNbd5PY9pc7n3urvME4ps2Nn6Zz5mY9EY
EeGjBLsDngRMJe8GMvks1N4F52fQBPhVUgPwWqDQlY61BxWF+NsQMp7NoVzVeEegA/4tiKZksL3C
rMideO6Xyart25usBNw4+PW+7F97fRGYxlwN91VwLruDCWFU9W8zWWJoeuFrFutbSwie3oednQop
2ZkWKG9hw8pEGim9U3ZsOZbT7kOoTR9pWUbeYqjELrVtYgERbnHETStw7c54kvUfRpzA6zJ3vjs8
BvmbrdQxuhWkDnmrLFCnLnq1gv4QrqUAgqzYu+Md1e8c03nz8KXoTiP9q3VnmVTZo9zUNz5wTG1h
HF3spcZFJiYtvcJ9cINxVPhnw/Z3OU9adZQVqMtcK+ptpR2E3Bs4olLCBm5J2l+4kavyiNiY4u5B
uOkLQg0IAAACK2LYloG6dUKMkhsDUkk/JIu+eTcMjXZRTXvAzdb4YtFPLTj5tzVO5dZctfutIvf9
Im91LDmTmzSIcGbxqMKSpqK7YjZut3JERdZazrE37+r1QEKYFhaoO+k81V356Bcps710ZRLuDDxW
9EpVT66kmI+jb5+8MDnfL9zGqLe2QuPAtekl6Da8TdFBE0UChSRF6p/z4RZqZ6i8hEU6H0qcCuDD
52DPrxZbe+fe54BABsIJu1g5QfGmV6fCRCzRowdru/gzKRE796VDjVrD7FfyJ4vI4SKuKb/a6sPT
1JsiV3Zi9ILI4lOGd5GZCn+TNueCxjGY2qCEM5cmmAA4thS2RSQznWGscvM74Ub4HAXd1mk/XSTK
tscBznPOdkOZlIg+u00KSGro6xtOnuTPGmj7WuXWGU+PGVCIJr9GivGC9ZGU1ts4Cl41Fz1uEvd3
FlkC93RNN5SelU7Pqzm1EcQnBVXDsmSuFfWdwK4H2r7vffTVVvWlpawuhVVvQVfWGUZPWRTfe/hl
UTcNUNXwFqREJ5kBdl+vf3PD2zheuNCzYYX6PeyG/uTjaj6jzsY/AOqvJ1mneBjmWuvMg3LpleWH
WmVr5tKiKb19zclJC6W5AfpoRUDXubNW6Qx53b3eU5iZ94Ku66J0+mFuxRElNu5YUtz8iMcB56+I
LVtr5g2Endy5b3VCGUW+zsbygq5bnn1D8lu3K+GjZiOfyqRHzr0iPcjVFSQikYJS42eUWrcyHL6A
84USYuZsoj92iq6jlEDyhn7R86PFkCTs40N5tFpp1ESe6e6kwUOerxDeosU/+YChPae3R/ii+AfI
3HXnqujGaDKs3PhB1Eunv1PwZJG2TEskrZm9KqRvbQWxJljVxrwrvsH7dsn3le9KZ+e1D72ybZxN
6EqLzj85wU0E99RedOp9lK/69nsSL+3kzQeVN7/5BuDUUwWK6r96rBXtkxwtLUKo2oNKg1NKsKdJ
OM8OJef7+NTFdMyFMpI8/RvXorC5DVk07OZsGoukO6rNU6Lfi8a8lVzjW8beGYkjNfBCbo5Ak6Vc
P+berrafNYrljD541DjpsrRN51bU7VwteWk+Go9aRQTGYYXIP72trVs7x+ywhGWfRpa+10ZRbZ4L
LD+BxecFHuexUlKJlkfbgNozBCxRQ0yPMdZuqwI2lpb2m1oSIFFpuXOslGWh7tV1AwFrniO7UuLn
XP6Ign6doyXpM1J6i2HAAKfx+UfGvtecrRIU2yLLN5GEWiqS1goiAIEjTHzjjXkw3dIbvntiLpzg
Vk4rmxazucsUmZOHAnuarubWBvQvaetl7asXEmSfqBQwJtiGstZs675JqeKhA+8Lg4KoR46Xx9/w
nbvxZA7RKZrgwDs3VsLy268FHjldvK7MW029VbWtoCUEAilbNxFH9bI/CEOZGXle7HTLcxaBZ7yA
TWA4AsxdeFhIASx6vPFG0T9cVWwCNF7hAKIdwsAH5fAajSmuzUwVTRYGWXLwHgtYrx7QTK/qa9q3
mU5RK4ZdoYWHWCvvfR3KrxQ9Sq6/d+BmGJJ7NEpfm4kMEVoVbGzhbdQBQQQOa13aL7DaaAAAkzPe
PzOteMoC9AztMpVunBrL6D425tkoPwpBic81Q7VhcdVGpbIZstDluQm729Q07rO6o7sNNJ/OHE6L
ntohFvDLeFbn8ouUO69SACwMMmWauB14xneTzbqIlgrEfLvcdv7K9ClXvP6HGwT7xIbBjlCBCspI
adL1I7MzWdd2vbSgsXlKsnTMs+f6hwpujiHTpRjr8wgFbmLaO6XA1OlBtbCRs+AChTR2QdaqfBGg
iSfD3EBdWEpPrlosbJCBKvIgbJxdvhG07sDIF8MAtpv033MbGogEJIPpS9MjiBLxjUXXsIBgWvtQ
imAFzjTwwDhKlqWe3zlpcmtG3on4520Xi1NWH4IWU6W6/oRIE0gbId26obHAcuNFcby9E5vyPPQQ
J1DlA0PaM3pYh9CB4xR0EIq/tqNSRq+r35lRTQzvQjcZYstukdvM5Pn78IzgeTZaJp7bGZrBK5aJ
F+yopxnBWRg0hqwaMPj0lSc9ZNVd5TxduYHxi/7mBoyJmXGue3Ifaaqyl+U2GwmianHoVS+AimiA
Dil9lr/WYYs01igMKnoPzPWzdgWwkj54sA+ufI8LBrfTNOGwUpOisWHnDN1xtM+N0LMDAa6GBfwu
dErqMo/m5KWDeTrSIaDfIF+5tHXpEUwskItKMwfTYmfodIx18e4yXUdGkNct6eXBlr4PiecEu0Fe
G9fRvtG2rbI167euwuigZIBJ+bqy0SqiBvGrlzxSl4Fkf2cXK70N85fGXMLTNGc5vQe9PKtGP1d7
KjWbm8rvvP45YRku37Rc2fjwP2QbkXngmm9e+8geivgJSeZcoDBzso7oiXoTGNIu0kvo9Ti/DzUV
LcJ5BraGFj+eme4DiSRWgcNZzsx+kxtklckmr4uNEla7xJPgIumEtFIVfo84H6j5TuXvugjlnQaK
+/Ur1cbn97uhNb7qX1zOmyyM0jiRB4IYvZvbRbxzTunan70vnspNWM3kNdQSefYszZHWwZWd7drZ
fb0QM5rTc3f9w51/oEE6yHChl19/I9W8NMom5qqekNRSslztxlWbDR5VMhwPKX/BYv6lsNRZZmu0
J90lrbsRBIPVCmvUD1oUShp1OfaNoBdRRXW2q4GrGkrPTY7h/XtQPvvU5jGOpsYp9062Em0smN61
i+t6D8rUYmAqG+oRmuup/ZCzx8jYdz+MfryAhWHXsImTu0B7knBJzJawWdxb2cO1aqQHHNVWIHB6
buDnJeYOvateL6E7nkmcXlr3dKUH77E3VjL2GCF2oQeJgqZeWJSAINAMqZ37WikwwqEDIU5cDjqa
61XS0vJeY1B4N8op6dP+aC24LkgP5yS7yAftAwu67NTWbxrrMnsXgyMO9xGAz5Ddgrl2GTp/aQch
sxDdrMXErJk5eEEl9D/oKrVP1jPwraHdaGxj1It1swG6QPBWtlsT36A6PI4uXbH20GGmC41M/V5m
TALOwA50AnLHBvgS7buhw0f26pUfD0ckiuwwnqfOZNlkoLunqHDRBOlPkaqf/ODgpnBi7NsY+iGG
BAEtonJZ9dtS1eFx3gv1WDufhNlU3a3W5Usjfx+SPZIikOqnAg2WSbBHxgTFSAlVjEInS70PmVJK
fl/ofo3ztrhXs+ZU1Mm7GloLmzOPwpYfJ5zx8KnDG6Lfh4Y95yThF8sOpwAOm1RwMxG8qw6J6F22
8sBYybrO3E3svJXyMaGQ5tie6QLvWqyvVNxMoDVtwohVRzuyhw105zWotwnfKmzXsEuh5Q0BPiYZ
RaJGSJr23CMGQLEVlI9Fv6uTvQrDoIDrDIcuD5B9+wHrp1H/EJi2OTJyR72dE0ltDnQDCMpDw2B1
p1o/xPEZFxjF3domFjn+klKxJdG9RIcWooxzX0vVfxGe9xQmm0Se29ljWJ2zRF0ojXsnUffFTYPk
mSiwRMy9GmVJqXnrLg1nkJ8zKJB1nN5/PZ+tCxujMbHiZYg0wu4zKJ24sSBTwblRat78kjoXtmID
kdUE8fMo2IZIOUv6bayg+sY5Ehy89YoZJJdOQ3kY0vOInEObWz8kHX5zXI1ijLeMFpfMsZI6vsFu
3TtDPMYgYe9BaEZbEdYQGM1iDo8zt6hmmB7hVilL4JpDK+2q6CCJXRPvbFOBXvEQgbhFkGOi8pz1
mz4oTw0NocimVZ/V1TqicTszPO9s+PZH6hjzVHwvnb0D3UeG3h9X9/SEl1nVncOufdecZqN3/VxD
P99F2AWr7lEfvnXJVqsO1jBcq28u7I3yxOMzMVvHqHUlPvTnAFwKS8bPOFup1HMjwWJOE5wewtdv
88LLlCcv03K8rE4kLpUGnrIVSYE4Hj+hbgQV/9oVJsVan2Qi81r0G8YYTjp8lCD61ZXd7oKRtjyx
JE6kog2oh8JDoC5gKMpwBhH7jI3kRY4C6poBu/7bPdWaxt7oUdYnwhrCQ4qiRlJvtWj79bP5/c6I
+fOfN2sKf70w/ToEBY7pcpbazNLt1cDx3kjUp6+vceENG+NN/VIQ1LilRiQtqTdOyMzyJXZcFnkY
NykmfF9fQvz+AQljOmBlG1Z2JHU3wC+ogDDYKzBeg3KKDazhBjMBEzR2oxUskkMCNyILbyT/w8F1
XHIGaFrdIm6OAwxg6TPM6S/74dYtAXUKaSWSnReyJCt0fTO45SXdvLhZGLG90CDF+iOLP0/WDtAe
5yv888JS3HnRh6Lce0GzoB82ZwMulEOJDZhW0gQN/dc6OaZQs/HJsCP2F+VbQf5l3a1s6SnzPpRQ
PhcDkF4QLxoP7p2Cy7Id0IqXajLqnnL93JCkXcVHiBRdRsBB9y3zsSQn66AGFuntncRbpHlJSE/y
0Q2PagEc48XHokOcwgkPBDQAjPKjzLoyj5ULa4YxmWZyxUHbMEugg2rtSRjXobV9kXT3UXcRqOyc
GB9ZRO7NX5t5xnTmJUnbQ5mQ95WbmfdWEZa34E/IBOI0tXFXTxKsQSJrAakqxBZNWMbp67F2yXhb
n5ydZGmQtSzptb1UFmB3g5Oswt68l2pqnAQuWGKxBtA/N+SKztdnnMvLRiphcbYclmt6myktM1v2
xZXBfyGfXuiTSdx6cdm4Xq7tvbaU0F5GlaPhIZ9Ir34q4+Hkg/V9b1X42XpjAeyYqgy7wcD4Uq8i
LD0svfsowmiky0TZ1sRnHVfMpEz2VYsQLg/V4txZVDlq6pQPrW0GcF5bBdR8nHSI/30oeNGAo0st
SufKoq2N7/E3xwh9cjyrFTUIZPxGD2Zt4sFn0WdJVylWioij5rVjAboBzcjZNwlGqyHSQ+/j3NPf
upo/YjBwNUr/M6nj+yzq1zo05BjCm0fCpCAn0IVLWhT1pi2AaFCftkVGQx7DRstfxq55LZL+0j1M
jkKdbjuyGtophk8t0BQ8mrn85rzhMh3Q+sf6RGgo/sTG0GgWLaBCZvCzP4377Ow3b+2jxHkDDO+9
PTKtMOlZD3sJihK3D5+cGyJqBHOcd7PAamNjBW/0KDGVVWf2c/UjjG4glTMOPyMC2WmmsG88F0R3
6Evpg/pUgmWBd+QnNCKpXIa7EuMAFM1k0K1hjlcJxmiz/BtC5kKexSe8KYW+DMsz5iSD58IL3NNC
T67kB/x01v/du56cz9ReydMBM6cbTNpX2ibcAUvcwKSceaRHS7MHQfSXPjd3ZKjOvZUNCXImkT2W
rUximEzOjuHCmVG9buirjb+1iOeIHhfYo8x1OjNv2hJR2zqaoy68RcZwjNYU1De4HUOOXQMGbqN1
van33lKskFL91RE82fdM4TqFmXJXpCjPkdyv1bV8RoqK3zNp3+0C26SlueUxz7qZvsCrdP75+ugu
whXdzj0q7/yaEf6FE7k+2Rz9oQ47Vn2VwDZQxwXqkfn4iMwZxdwcYf/MX3mPVxbHsWz73asc//6X
zb5geQjD8VrOQbpPtsQSnPoPDLbnyfIv9sX0yUZjVxBBCrW3bhwbkngeHoUKGy/pKLu+vonfF0VC
n2wtldzkogtb60aRRuljTdJNHqT4o0srO8qvRr5cWB20yT6SaHaB3fpAowS0M2vrhd4/cpaAdmCt
WpPUgnIvhvfIvlYkXahVtck2UadtkzsRpPemxkIeZ0op38U0XjGVwzylXWQqiSPJlYFwoej72R36
ZRxoIKt6FIGYsXGsB/lNQ+dtXnt0F6o9bbKuurqZ9aGuEZbjWucmR5KHOeLX7/5S+0qbrEWWFYvU
9Go6kkWKY1FYgKiHnm1Wc/QT2Fx35mAsZQu5bAa75lbpQHp9A5MpzPu9ZWx41JzkuWJyreEZUOcV
3ZHUdmfdINfwg1VMQXrIkGTVYI0uS/7eLFV5GwlP3tc4Riy6CvlKg5Ibs6lEvOoqHo0k7TqQzPzB
tm5ErODv6ThYYEWy/b3GZHYeZR3U/UhP8S3Aiu7rJ3GhyW1NMyc1hWkmAj88tG6AP5uZNP2tIiU1
gCq7vuKxhQzEUm4wsQ2WwBvt0h4SbSMp3XtYCWmjuE17Jf/hwozUJkspSGwxwHUkc6LEjgefb9az
OY4GM9W4sgdduFuhTRfJwjAR+XAJTwv9dQFbb5bwMpeNBfnNUCx52XZWeVCbzLn1vaLeRTEqN0xe
A+RV2bAIWGSv1A2X5s5kDfX6GOjbMjvGUE7HwN8JSFW9n1+p1C89zMn6KZmaGcid299I+YFEBbVb
CRv3mCuv6tKXnyyeZePoaacRDuBHBV1r/GDLQ6PKy68H5YXvrk7WTLny4yiHF3tjClxkdNn+VmKR
qpbte9QE1wb+hYVZnSyUyE29QR1kLtLTgqkDWONx2uyCWKe69PbCHm4HrbdmuJ4vVB1Cytf3dmFV
UycVb467TJ47aof67bGOX9PgStL0+LV/syX/PDb8shQLC/S1yPlcV9mFyWijBytbQWXpLc1h8de+
+2TVNP2qzpN0/O4S2LRY+WFyZTO+9FQmU7/Ai8IqYj559EmrwvtWvpImdWkoTSZ8TX5o7LBY3cDt
x2K4VxYwi3HN+/qBXJgG6mQOF2XrupLKpxuWNyPuwlExhl9//dmXXuhkAkPK6dxg/OY2Gk8ZpdCo
Sk/uBJ4Z8pWvf+nhTGaxFzvu0ERQWXQVobcGbGxitfBBz/PrW7hQi/wMF/plTPpJO7hY3qYHE2q4
Kw/OTLEsdas32OmRhScYqKy9dgSanqr4fn591QuF8M94w1+u6kUQrQY9SQ+1X7+noWbQydfidRhh
p5CGNRoHPHS/vtSltEtlMpvNuk7ZEofggO4mPMqPQ4wUeS6du0dt1l8ZCBfe0s8OxS/3k/m+yEgd
DQ6VlnJgSHIfz9hcvAcW3M8Mtfy1xN0LI06ZTO+o821Fc0psVyGxo6uJ/Cer20s9IrTypfGyKz2d
C3Ndmcz1PJYiXYffeWhk4T/mvPi9Y6fO5utXcmFK/tz5f3lanhu4tpsVwUF3V43/EDS38rUg+Usf
PZntIMeV5OhRcJDw5IytDn/cZV5c2VEvzZXJdG8tqkul4anET7iiJyiocDZTsBCcDxizXltnL11l
MuMNLWigY47PHliuWRffwWwC0hmcWYepxufXr+DSrJAn+3cvlKrpI64S4GlVLIKGCATcEmYo32pp
5yAVyK+sYBfuRx6H8i9vO/SrkBhirgSRFyY8zVPUsqJc4vFeEMlw5YYuvHh5MsttUmadMMXHsbef
m+g1ikrsLj6+fliXPnuc9b/cQRUbttP5cYxVwalB3YoPtlf5Vx7PhRktjxf95cMRXJWaCo38oB8w
Za8RlNH1Psn5Uk+vrIAXJrM8mcx6VTdNk3CFunrCdww93pWv/vsPtqb587bheHViZtGh7G4l/YYU
mSsffKGFbdmTh1J6fSTyKI4OGUJ9G9gO7jXy5Fn94byUqBSJfrpGSrh0E5Onkw1K7Yk4jw4BtN7c
eqrKK6Pm93sCjhB/frG1kgyDZ9rhQQzSWseEo6Dt7GOjbl1bR3+/i1q2OrlCpBdSlnCFWsKTvcLd
4uRIP6oCP0stWHw99i/dxWTN612fDrPh83gQuNb6fegAa4PIp8O14OtLL2Cy3oVm2ptK54HWqvFT
VFZwNKXXr7/8hQc0TYr3Ak2yiyGMDsNH86C8Zz+cFwSHX3/2ha89zYavtKqJUNFGh6o3DVy21OdC
l66cOy9978liVmHC4Vo+D73+oS8J3XsyV97566996aMna1knQ/TKA5eZRWgA+BSUMlXHC2QITEK1
8Jd1IvsvPqHJJLay2KzdiieEvoFIpBpJ/tf38Psl0/qJPf66ZOakXeEzxoipIH3sk5V8spN99nYN
S770+ZOZa9elkQiXx09qovJAztcYY1yg6ZzBNvj6Fn5WUv/3LGiJydxtstT35J+v2JjFx/ItO0l3
YAvaN23uvorN3FlCwvz6Wr/fgC0xmcKV9N+jSWY0SUcTy8bsgD3c+uuPvzQRJvNXxwfHVRCwgfuo
+DO8R+XT1x98oRNkTXPdHbtMzahMo4OhztIjFGSY4GQS1BB7f/QPOtRjY+E8u1dO5xce0zTbXUrJ
GfR77iOk7f9UPEh3aEUBa9bpX7zAZFZ3omgB+bkAXiQDzj1H81V9wCFveDOurHcXn9hkdoe5pAgt
4BLuW/eRfIQ/9B/lWbqD31wpa/FRHZRrVxrH6W/G709K0C9zECKPpQK+Rof2RzjMofIhLMbN7E7V
CQqfFzvvs958PQwujC9r/PtfrhRIsikLRw4PUgLzzlramnRlYlyahNZkonuto/bRyObwJBxwUpek
ttLgIIqzHJhsKaPd9smmSGI6zS3auYVUWdlSmGV9rMpUX6dRle7Y553l17d6YeGxJouCbpZppWVK
eMjJkYV09+I+GiMjbobO4OsrXKj7rZ8k3F+eZim3KNcJMzwkH2i9oVBGYhY9qx/W2XnhFPP1VS69
ssmSYOepJROpEB0sj84wbfO0KK7cwIWPnmaCe5ncwnnn+8t09WOLSNPAufKtx33pN0N6muMtx1pf
oP9h2R8YZomEsl9rsg6nyDZffP1gLl1isgSksoU9xNCEhwY3L3TyWHqYQAjXjo6XPn4y/eM66cnT
pWyOY/C4fe+vW+9Kn+hC3TAN1I5lrSJSko9uz1h2E6hTLLq3+P7rx3Kp3jcnc7zLfUMSLZQgMhu7
h+YEN2dMg76tvpW3zbfy/cplxvH3uzc8me9R7mN/EXIT5LuRHdOP2REzbMyUtQ/6RmizdmWUXpjI
pvrnNavzHdvxIeMeYKHgwWVUmA2uW2fmf2TX6s9LM9mcbOtjeLWO2x3FrUe8LYErKH6oVJZWsYL8
gce/uIZXXppzk+mc13FJ7DKPLSeM0JE2dW1ceU4XBuxU/RDISjc4ORhFI2HlRqyy9JpilPX1677w
taeSBq2V6sFGAX1T4fwmU8A5yt3PT/73j+4/3M/09F9Dpvzn3/nzR4qtmu961eSP/3xIY/739/F3
/uff/Pk3/nnwP4q0TH9U03/1p1/ig/914cVb9fanP6Ce9av+XH8W/d1nWUfVzwvwFcd/+f/94b99
/vyUhz77/McfH2mdIE+7+3T9NPnjXz/afv/HH8qI4f77r5//rx8e32J+b1+3b371f37h862s/vGH
Lv6ma7JmCCFMZKNjTdB+/vyB+TfD1BQFWqNs42OrMVaTtKi8f/yhyX9T+BXTljXZMhVrbECXaT3+
SBV/M1Sdj4PpqAkbz4Y//vt7/enV/O+r+jdoRKfUT6ryXzfyy6y3NNPWDcOyLFkAofKBk9nfh1at
x4VKPhV2p3gjN6mNhy7iShJ9vNTsqJqwDhXPDvlhXZ2UO3DnDAW/kXQthHKzhbSayTlAlFPIyrzp
XB96ixumPdlmKQECpu85OzXFRpvGnZND7LC7wkGV4BGWbdQeFgdFoLjOoQ7NMMcLGWoXxvEppC83
6DUYkMDQGK3XuNCSXt7tUtmD1C8aoZxNVXHvBG1msN5ILcfo8qyBoF/XgqpbiUyUVpmCFlVOw3Cu
WU2m0cnHn6Uy/Q6UKSvkg+QIU2ycHoFlpfo4eeSaJTz8PBRZ3mB8ZuHGFpRFs8AtT6AcTZxqGUa9
f0sK8TFCZrgrfN//rjmpjK+WLFVY0ji9/5/sndmS3Da2dl+lX4AOEgAHXJ5MZs0qzbLkG4YsS5zn
mU//L5bV0ZWsdGao784fxxeODrctJEEQ2Nj72+v7Ek6GHR5UM4/DjeFKoDO2ghM/6eATsAlIUDYw
209FFyj67Opcze+WYHLezISr8n3gBGEPIycxbHB3RebeRcVo2HeeVY7hVeY0DqnCZUBNN6Nv26Vu
ANvJi+amegyNGTGcPXhwUGkeFNZjP0QwEZyQW8LgWPqmWEZruU77SEZv4dv2tO+EwPggmHTBm66p
ZX8YZd5Bnqe4jHEY9jmgPjBlcsL1NqOsTvwoQqxvMlcnb+jTQqeaM8E+vUbO+8Cysoe2SQYHZ4Vl
5p8OFBp2lQdSPFqm6luUdsCFC+EqtK9ivMkCaM87MVePtpy/gjNw/SVvSIfKzsajRt0FWZP97qZZ
MOwzG6ugJAQqEpo9Bjp9guo7iBXtL8q0gF7OE9gF7dAuPy7O4AdmDcxCu2M57ICeYEiRlAC5nn3s
Pz+qo4/o+PhfvyHHtgWXCEcL0xTW5mBTZaRZIkuP5TDdzqERO9fCDGDHa8fMRxwcnWHcxSWvqAZ1
ToNRC5+GBgvnBmJTdV+AgntbuSVgUqTgr7AkLD7O68yJOZr8879VHR8qP3+rK6Xr2MIzLbE5tlSH
uV2apT3O5LUR75JEgmwO4tajJVUm+KMk2hn7XTyZAO0q0f4xLdSa72WFUvAg63bwwWfRDqxbtazG
w9H4wyFD8gNwMT1HhsYvUKdYkNBwS+9X3nB+uUlCe4KAc1JEOOcl3is5uuVjyTd4VUQ5DX5jS4cz
XbH6u8bt521VLd0f+YDHM+Y0xbxyUizJLSSyAizgDOP7HAYlQGAve8wdTcYGrGe1ep7wR0DziUJ+
WBCE132e0p4UGVmXX4iGn2px/wmW/p5Gx3T5H8KxtdyGxQncpGGMkCQlaWy/K+GUfu5r52MaxeJm
DhGr2iZO50UTzYfaaXAcSjv3K+C69o1rrI16Q9x9DBCp+Gk2zPdeZNCTCgnvajbEcOGVH4dbTz/V
8ZQlbLZ4Ke2tZEgPRUQ3IBSmpRH97xFv4zAm1XJV9qa41oVTX5kcUrx4gaHF+dX2VEbcTJPjOZbn
cPQ58PDW3/bsYqV1Qxp5blltk+3cFoBRbmjr1n63zBXeLwN00Vx01Lva/GpeSHP2JZigBSJ1Xi7L
wUw1JqCh8aBmkR9gkQsQSSq9UM8Ta1B4/Cs9jlomxzM9U8ptm4SXFPTZo6ryMw+819KAJukhBL2v
+p5jY5npSgTdO0eY/dAoD+ILRsAg6VGiUVuHLX5LsaM+C26qq6O78diAdj5Y3gDMJ/YglbpZfw3i
2XprRQHi0Kc5/qVw63X1vXjfNd+/d6++Vv8b4qlV5fHP8dRd2fz19TgAW/+Dv+MpqX8DzOnBQNec
LH/HRn8HVFL9xobqKNf2eIek9NiH/x1Qyd+kKxVd/YRhbNRrTP3vgEr/xj+Qet26+RcUzRm/EFCJ
Jzn7s8UkXBP4zjo+3c/CVludDD4lumtFj9t7BOnYFnn/kCwlzChVN2D3uobtaD9C/6ALMI1wjHBz
rJoM+Itto7r7cHHH29aSn0ie17dj7E1vRd196cvYl5UxPhZDPH80cld+EEZDz17ZT+N1JZPpqlvo
ap0EdQmsqLo3RJZw/O3cae8knOXwkE0tv0IYDhBJXclc3rkxHc5XXirzChttR6y9U2bTvupNp4dt
5jlFHOwczwrS75nN0fs1oFEFUKFsFb2QOqRzdReb0Rwe5gl+Gl0oSQ7LyOekm+jddBXU3Nik5V+O
yr2HLObU95UbAT0AfYdwO6EJXgY26FCzyfPAL8PQfkSWMN56ZSGwvdDQMKxuKV7F/LnYqEwyhviV
xhbMsarjhH+M2zLCp3FCQXRd9HD+3gVGUxUYRNMj9zYkELttu0mFd+MSWyv4KMo66Fi1G4e3jaz0
B9n2AY5tKfOEU6lMIpyd03yAE2XkX+p8mgA8AIp/rGto02nYLgNkKYisydyNHz2TlN8rpWFhPWYa
+E09dhO0F7vQ9lfZh5Ry43iqsw+mg2PknbMYvcT7zcKtHpB+2wSJpom0oHmtnQZMQw556iXab8QU
wJkLI/sWhBrChr1wHce406luEVqak86Cq8G13W+hk5oCLl1iu/fm4OW4IbCIun0Co2M69N4K87c8
a0hhsSchdqxemJQY3kJHrbgKmfssc5b869IPVkL7ZwC+xq6zWX4vMkiE2Jbl4X4ZZw7xEXaVsR/T
PMZGLoa5im/S8q0TSQOdZ1osuCaBMr9Mox2HB6wnYvO9aLI5vHZcFXzqvCH8minM5XbzoMHe2XFK
aoGmuvR9H46kAmxvzqA20Mlh4tjigriPzATPDczr+3vPmUZeSQ+ZxFbAbnwPCsXrNnQLAHoG5pA7
a6hb/MeiHEPb0VM/XCXB/ALK9UBjuDAjJfA+EBMl3AKyWMp9MAw8FXZx7eqbTGbwSaN0XN7liwtt
j4wIkzXTIfEqNT1afrMlK27TRsb1lVgS1QBsXeYPjd3ACIrHFF/juOrwTWyU+1fktnRrZu5kfm6W
bv4oq1IE+0rOGGNGUJwUUam0AmArZZ4+iGIwUfwAp8XfpSzxj+mioCjuQ1qG8A83SsAGwVwHh0Hl
SbTvajOGo5aHXXFjK9t6pQb8+RLPw9LVcLV1ZVQ97ZylUMNCl+I8mA+hZ3ajT/XsKcp2cOtdogaC
pFIBJa524K6J54g2cr/1qmswbjlAcnupcHEfWG1LqvMPZocditN76tExC+5Zg7PEVzFNTtJPYsdE
qhdF6IeUbfbu26UiMXI1ubL65DZh+73XhcZYfDGmz3GTp++8EtSKje2adaOVxM4iKrk2+h5/kIvR
uTu9tpukuAEvAXLXmq1gOojeAfp0bQegTq+4J7UpvNYHMeEyaoOpbvIOvNjcEnKagwut7NeP2H9M
VxylOP7XHcRrQ+s/H8TXX5ev/yKwiKuj5Mb6H/08jBU5DMfhLDZpY5AEmf/ObnAYcyPSFoVIgj/t
rKXgfx/G1m+2JhbULruWZclVwfrzMJbWb0JwK9GmJU3HssUvHcaS3/U8sBMO47tCWUSgRAtqmxcv
2s5xQUH2FDAyokz6vovHAU86JOF+IN3pzghkke3DStOMT/Jj5B9xcWpumrIfkEnRtRbu21RgPTrA
n7Nr+IN4nXE8OBh5cMmcpuR1y5d91UQY1hzGKcAlFLJV7nMuG8br1mzT24DOzxQuaGwn12DKEFyC
fwlvOkEheOfilgEIcQGM+n+LFijCmo1bM+H/vGhf55vYcf3X/16utv6NS7ogtWA5BHzWuij/jh3X
Lv2fy1M4v62AMo1mcL0LPJWGfy5Py/nNsU2luOOvgeYvxopPl8RnoaJ0yfB5HmudT8G0SOod347i
jj6NPPFs3zK8dVWyqPC+DFGYAg2drTdDjF75dhi8oabOh93LLu3xQIReXJLGNioCGHLbsvpRGQFE
b9OogsdElNjL1nnv8ndCDOzbegsrlKIK7G9eu9KXZTjAFw+0l1ZrrJMShFnafm8UWCKac02LSFyV
IL3cRhQKVh/NPzvHrM23XWdEnxHw2KA8Ig+obst9asIZM6zmHUcrRpeW1djZPQFvJEhzNNOXPNdW
44upkWqXalh+HLk17o54KDrZoesgDF8J4pc7O/KwKcxrQur92FfLyrlqcC1Tc2ulB10t6PAWO4vT
qzaNY/lBl+lwP3Vp5OLihDzwnm8R8+M4nDVK7LAGx+W1/XKz5KWFFp8z1Lhzy0CkfjpG8j1oq6rc
l3P6JO5tLmhUnlI+R6+W9Iqp2XGkadk2147jV5sFFpf9hCbUMdBgbth6bOwpxxw0t0OX09uErhuY
zRy6nYjcRxOSOsgHXAidnTW63g1/cPHm2VdwIk3Fjen5Zig9y/G4NymuTEQG7lZTZ2VVmEej9vy8
T+WjZUCsL+uRtE80dXeiDry/N6CjMsDztNiJ8bRWOCNoj8yN2PZYjYE5ZGKpGW/C4bnnlPkSAMb3
865sv9E/21yff75tZsujy8UyGc20+bbl02HwLNfQV23qUQXFuDLk0RDmj3eqHCHxUnO68GhsIJup
ZCi2EUFKQ61h1vHbbUvdOiTwcdqZE49wciq/xSMgxt35J3oxDNsPAD3+LlxPanOd4WdPFI+0wS1h
7Ppo9T2csxcohtwPL4wiOFSPHkcJW9iuB+VUCYZjhRyPk45gV+JlVEC3g3bQBwdXK06/cJTz3SC7
uP7YY/dhf8kUt6LrwhXxj7BIVrfCpC69AE5OAw8HQaI9sAtF6QR9Fwcd4HEdtgdYO4dUEkOB+zIs
PacSAUS7nMJfgtVEcQOz1PiuE6fOX+lQGsNNPy3O72o0uvmw0LjBtYtNsgE0o2zR7opm9ZhaOiQJ
+9Ebl/xLBFEB1EGklxkieDqFbHeiIIYEUy6z9yOwcheLziYt/CQDTkM3URuot4BysQPHscAxYQTl
kcwhiA9hg2F7v4IwbaM3KIm26EQ9ex/kuEngqJ5H9nyXBsaEzWHquBidFvYc4gZHYz/GWs6QP1pL
Xlg4+fYJ7qd9S3L+vi+nnJWY5/CoQ9PqEq5vcZWhnRrGOXjIKbjEgH+GBYPr0aycj07OXYxm8C6x
/+QmgEtIzQW7vo68ls53LKiDz7mAOYrjcBn3nyctvG8LtoNv4cLHSE6hWMfdmwXrmeRTrqOkeSvn
uh8+mNjZJDdenIJPXtICjDSqjjzrgUeMDhyphJDMulKgPOERLdVQPyzplKSfUDyq5F0tuhqytmyi
+HGBiyLuF66+8592FhT8lM6r9euBUH1lUHhNdMWIkGrSqYImsMTK/nNOKc2ORjiPAA8rWswbI2mr
v4IwAye3S7rQ62/IhcDjXRyrRULo5Y1hfDTgTrofU744gGZx72W02i9aUV2hTvERO+ZSvR8WK5o+
ZUkc0k4eetN0PebZgArHoxEAS9IFrOaOAlQWfIYzgN2u5aoG+y8jtIo/eBdRmN1EIAWskOyAPYiv
IuxdYBGVNeX1t9DLXIyYQ7J9pHU9DZ15DCVsyUDGGFi4XGrfd4VjGDsPER5t0rEaivtMBh5VgKZv
IZi7hs7uGg2Vp41G6VzTY4ktTzX10IgpI1XedTv0nrnrDEO6h47fzZW8WLBQrXH7EDeVTkv4/qxJ
n5ZpbCP6TkMGMceyA4PUhkFwiNOeflDQGVW3d8cm6O68jgviIasoNh0UhbRx5wTe/BFeK23yhcow
FZM2bPKMR9WHzoMCCmhfoZxN3Er5UQNGGwdhJFr73rAEjdkCCvn1VMwUD2JwirAFowh6k1NJM3yA
wzeFVyYZh/kmEhVMgS4WxXWR1vqPuHRDOFMNJoK+IURSXdV17EKCz+uIOHjpHfOO7JV0dp1rgArw
qD69Eumgw9dD1zf2hyiahHFTyt6kYzs1i8d2sN2K/ajCbqChJ+iDGnjefVgbHC4e5wxGWVafSLyT
ZuAnmeG3i5Y5PxkLGzDIRZS5jNPTjhIB8ioeJyOhsTKfmljoG/QKOG4sauFWfx32gyPC+q6Woial
h6FkllGI82Ks6gx3gUF9DRA5sMJLGfTNGaCkhUOetG3b46hx5DaDzhbSFUMajH40JVykd56TBuqx
wdY7PfSVq6tPE7LP5VY4RRVfm0Yo/uj4TPRDUdYDps6pbVrXdTGZ3t7qnFk/Rkmth4/nD6rN0auE
Q3UNALxlcSKa0t0UlYoiCKO4SSI/Qsz3Wk8mdl09Lq9ysYwLR+9GDeM+jSVdDsT1oCcI3xxWRJMV
G4OL0XgzFFdkbvJd7I2jr0Rpf5pBab+rZIWoBI+lx8AzzAOeLwH146i6Pf/Qm/hm/SEWKV4uEZ7D
heAJDfLsdNa12crOLWKaLGfXueGoCf9U7IcTGHUTuzivCdSvacdIWlmEAZYNqYbS/3rjPj6pE2qD
ylAKeEQ9zn5XsLtmUMwO55/sxJqz2AGlIqSyuaOs1+pnTzaQZo2qAUwyPfmAN6owuR40DpG/PApc
G2aOmIOYdNsmX5fEPVkez1QFO/Nt0ypxOxqt++38KJvarJJc/12uahb8XZL126UpWzGSgM0Sv68z
92BrrMfsKrOwX9acEF6IqZ4BNvRp0F+qyfz/mTASgsXyz3fvj0Xcff/rX//TfP3zX4c8br5239vn
qaOn//znXXy9ZrNXeEhirfUqzYf88y5OfkgicnE94l6KNqtk5j93c9PRVK5t1CqWpVfR6r/rOOI3
1DRkepTWrFqPEs8v1HE2nwBjIsmwuOXbDjclkgDHn4Cjc7pfBNg0fstwlSqNw3CA9+yzyTlxJaPq
dHSPWEdRko2dwtS6e272Mk+ONK821BSFaTd7xNbyD5LcJXGIGT+Q2jIwe3UavAoi+QmPifLCjXCz
ba8PyY7CX66AFSq2stdsifMycPBXwDPFPBi4gO4rK5K+bCrvwpOu83V0H34aCqkRwwjJR388nyjy
IjyjJ+VjJHCl8uXD6GT2Pk9KSjIu9J+BAjU02/jL+Qk+8RqZX5sj1OQepbbYhGZocJfIDZ4wStAc
Bdq4qoJguHDz3JwET/OI9QBzKRBGkXQ8fjjyg87iBTbUdQMV0TzhP28w7s6Kc/WAnXp/YU/bnoHr
gHwvJrd5KvvcsDerU1d1afWjS5oIQdTesrv81khsgg8MxMvG7zKDXkUnzd2rXgjnB5ekP2LuDNR8
rOrj+RneqOrdn79FKVJixChcgo4fHjMB9NRRqEDU0Q4tHBfDwxiiq+OHwRDs5bLMe8hcr2x+860n
LUjapfMH1hdEgWZ/iRpxYkkzM//5NZujy8tbM9bKkL5N4xT3ufarGYTmnVm2ZnRhSZ9YW7ZUlibN
o8g3eJsH71TajeHUrF9Pq2+nOn2fVa24oC06+TzMiiJPboMMXo+3Z0dx5s5WD7eeN82XeofOUO4n
N4luSFv9Wnfwzxf5bKjNolKYVUxOgr2yiTkehqiR3rl99aoL21+ML/5eMmQblGZ7RcK4bovPHoqL
Ag4x7EiAZ9vmgCy+vh9l7/19CP9j/unl1KEH4etgX0PoZG/F2VwoO1W5XunbgTRvaVeYbwdESbdB
37f/xVBUnmyKDMgyrS0AhmvEzBXJrfx8zLtPOYaEN/gPi0+ISJoLYpWXq87jaFOKkwmZoL3da7q+
TNARmJU/j9x9orKhFpE10+H8V72JmnhDvBqpiW7Xo4Gz4fgNzWg0TVlalc/pbX2H75Y8tIuDX6TT
mtcjsow/E4HlxflBX76w40Hl8aD95Na5G4wVpAvL++SRnsEv2HQ73Oe0c2HLfjmN66siEcoytMVT
WPJ8CZaU85WNipI3Bv+5mzRXO9UFvwTvWD8pLbX9tPo0x8KTSv35Qre8jDyO3WJ3b9B/2uKUSAIT
L8IxZxot4xKv4sRrI8pdbwaQ4dcKxvEM2pTPI5LmSL3aGmuGYinHfeBO6Dd1Md/VidMfdBCWFzbC
E++NAHudRGolUmyBNG4ZhVLnyKdSLe29UzRYkKFz9r3Eai40Wrw8abVD5YaF6bHxImA8fsAoQhYf
TqsXqNkPr0u76d+bC8mlsprqKxVpmN/n1+SJo5ZT1ibSJG6hMrnVy7dh2k6ijhs/NRO5E21Hn5pw
arL52QhxOYhrOrycsrG/YhKc5vum67u32hrrt7GuYUGe/zkvwyiCW+Z4FZJLlE6bnTPuihSDna7x
8Q0LoLJ3Gd4YVtel844CZP2uTeacBtbJwUU+SazkUkb6xAJjX2bPpv7AhGzZ1kPRCmuMGL/HDgCX
Q6Pys7HtwEdbX/tER7d1P3YXnvnF8uJ2TQgh1n0PbdW2HYIcr7V0HRpCYRXJoR3wkk9LD8vXsvh+
fnZfvmyG8ihYE18h3dJb7kvVyZA+NtI7Y2E1mZ+7Irj2zEDfNk4nTX/EJ+t6LoPkgCZQ4Z8VRO4t
pKf+zs3G+hKb5cRzy1WyqRGs8fRb3MhYZGS/BSneLm/snWu49Tu8mKMP9YpUOf/gLz4rh9o9Fx4u
TusyfyoQPNunFiysAsPOO78ywS41ceIi5Q2nj0EUTFfh3Hufz4/3YvdlPMGpolbdJcmazWfsGEPi
NnAS/CbS+hv4R+7jCONuz4+y6WBk+2WYtfGC5JTFLr99nckQBPFijzxWlQb3VrvKyUp4GH5nxMK6
IyfYHNKpbzFfkdHVXIcJ1jtTfDdWHi4aWE3CvuxD9bB4GDad/22nZsAGAMZaE1xlvc1Z54hsMJwC
rKpNCwhFFomDZplFF6LHdTs4unU5FKupdj8NQUVqXWLP3mvcB0aY2UvrzylumPtogPwXL2kY+FXd
i2tpmMmrli3Vh51r3MB414Z//jlfXg/WnyDXFCYFJiG2uaSwtlIL5VXrh1EqDqRq6FkIinI/lsK+
7zMAhHFb4bhg5kH0mTWq37Qjfnte2qJ/X6A2VKadXDiWT06LTWJVu2vsvt1RqEQJNy16vqygjKuD
qkzuCvNodu6ewwybvdgM9uNgZnczTiE342QDPTw/Ly82UqbF4ajmXkoLj1qzKs/fTJN5lNjcdWki
gnwNdmD1WJrTWwoA+sdieBNrdLEufOYv5NiuQybZtMk0SEkmfatNdXpzMsIyQw3myt9V81iU3Ssv
MGD70qcjjb2lnFsJ7mCKZmr4V0OR3kr3r4ESQEvrnB0C9AqXC43fL2cC9TyBH1ud57qrpOJoJiIN
5sJsnNm3Gwk+fGzFY1tZ9ZuF6oxvJEvz2p3d6s/z0/9yw2NJ6icVCIlbdxuyzHUx9p4D47Jo3eR+
/pG2BzVV+YGj7RJg4MTzcWTaluTcdBSb3fHz5aMCPL2ki497HlW4PME2ld6P92nW2HiPxN7DQl32
gv7g5Qrn2JBkyUh5cH5sc6uWQkNYe0xq7DGL9F4kd+HStjfZXFEgyguMDwOTTP4u0/382IlqubD3
vjy8GFcRMHGw0Mi2zVAAPbeTLo0XsvR9sKeutlLWy/bL2GTiwlAvt1LE20QkgosXM7xNolVJtcZj
CzLUzA7+yjGk/VT08sv5BfNyEEUV3lyVbjZ9AnrzFqtg9lD8mrM/L5b13Sgj+S0uMIw8P8rLZcko
XABWJbppEuAdr5Vxpt5mRcnsW32T3aJIriyEyDHbdZthJY/D6K8BftYjcj0cTdNy1mOCpsLNiN4y
0wfSgezyLPNGNrXxSoyDfWG3OzV77DnrTUvRaWhvziHK/E0vIZ2TlUkRFuC5tl+SPL06P3snRyE0
xrqEbBSFmeNnQcQcj1OMAUKGZPQqbxPnvk/C6cJyO/GOaNl0qeBQAcKBa/3/n52p+KsMJNY8YkQx
iVtsEpzb3Ajqd0pFkW+ha7wwdy+/JGoXpKJJLqIQAztzPN6U9gmaa8bLvdi4k4mBHSJ2xIVLnXK6
dDKeejh6hdz1LRFpe5tl3uKaRxO+0VPy7SJMDM3rxAx/mGbyhtVzqSH/xPviSsUlYt2k1mPp+Mnw
c2ycevY6v25qzXWJ0i3w3EuEjBPzt35LFv0LijLDtrkHISfZScOmU0vhdkCvIHGO/NKxG12fX36n
B+J+xtWU3Ox2kRs9RVmrws52ADb6rh5pPGTh45i+9Bc2o1MjWSic0AMi/CdldzxxhpcPMfCP3je1
Vb2RpS1xSTCq91M1XerVf9EbxQbByvvPWOJ4rEVhSuC53Ljryg0fBqroDY20Swy1q7CCt7JrBwdr
b8tq9wNYqYIIqpo6Ks4uMR/Gk6Xeu4HM2x3NnKgx5lHQnoBKPL7vpm55NxXNVHwYjaL63iC6ELs5
zWfXz5cSI6vz72fDBHja6+gYItZizVHSMbfT1kRJNBgl5ihzaB6iSNLpMnXd55lOCCqDuT64QWBg
/qUW40G0cXBDC0t1c/5XnHp364QqSd2Y2H8T7vQz99lZ0E5cKqu+Dmla5tLl9Ndkj+wLQ534mNcw
j0AHOSuR1WbnmLuqtB12cyw3sAAqpFTBfg6N6qFBfYWZg6wvladPjkhFwebGar6U4NkFq2lIu8FX
ZE1uY+n0N40OFd26fWC9kmkVvTk/mye2EEWcQnmHGIly3XYLWVqPFz6jjtDAybHdKtGZOb+GeXta
OIpTi1f2FANskX5dhnp0GKm6YyBu+smYYW6YJs3NYsbNa2Nt/D3/VKdWKps+FWuyq+jNtyFNnojE
EWU3+Qilhl2IcutqCUVxNdBJ+2GuM+NrLscEC3YqiG/jRus/vZ4Y6EI08tQLfHx95Pa4pug5Dcg6
ba2RwhDSlAxnNEYOVn1Nmha3OL67CMBU1GNMmUWvZeEN91hz0qjjlCh3ksncjwZKSCvrqzeZAAAc
uPPa2VzmQD9afPyGsPRxXMJbr6gpUy2e6C8c0Se+sbUcZXKpQGqEEPd4z5q5vphpCQC+8mDm7pBl
TTc6H603NKyM386/q1MrkBXPJ71KfemCOB5Lj6FhmnnOHEVNcIhKUPT1ZIdX/8UofMy453hoXrZH
5Whob4GwOZFIroKbrE3Ku0oP0aV1tx7vL144omUCQUrort5OXBGN6F5XeQk2M3+NmEv2+3yJ9EFA
ONS3Zh4ChxDkdT/OQV4U+1UX9Di0ZnZLi/QPc3TzG5uo5Gp20/CNrQa67meSHDeTZQ6fzs/IyZ+6
KnDWD5yu5nUrehaGTbGtJpw8J58cx3I7V3H+kIVNsg+XILgegUHseqtSf54f9OTCcqm7IjGmPWXL
96q1sOFjlBMa5vT3BsjE3jRrLHX1kh/Oj3RyWT0bafN4LQnOxCwZCd8fvHdmgIHRko0XEiGnnwdx
DFVreh62J2JP4z7WZw1CcM8Ld03Y42sad9A1CqGTS5ebk49E9y2Zj1XMtv0qkzTokemyqWHca13N
pQmxrjWrC490apQ1bUqqY83WbyPY2sUvV9nt5Ktx7OFBwNpKKzwJz7+eUxP3fJTNuZNaJgJbWbEQ
uMu970t78Dsctj+pKqDB4vxYJ7LSZNDWDC2LDrn5tugxWmo2k7ADuTb3ox8qD586sG/j3RDm3u9j
o627SXrN56kys48itbHz7vr4XuWzdwlNfvq3uIr175HXo/Xr+LMb6LvUhmpHfxZWxk4/4UhlRr9P
lttcR07xY5CxX/RxiOdwSwPpFIdXs/dTXvWPld2T75hcEdQcgm3gNcc/IumDyJyWafRR01Y3kPK7
XVm3+YVT5EQPBxcGSqAI4SS0lK3AD/2rV7olU942oXu/5GH6NiV+feSspQlaBE53F9ODekjmtPjT
8IBMBLTDfRZk9L7OAxmhCwvh1KJ7/ns28SuQLndUE1JHL/Bw0muYAMoZ1aEUtEGeX3OnZljRn2eT
oUdAt013pClhCZUQDoJZdrsxULOfV+nPvsp/fI/rV7I9blB6rSlJbpzUSo/fY9OP3mBDEPETYnaY
I0ueqt24lp7eKhOHOH/QWfVgzi2JKhkkZXrhKz71lJR5aArhvssNcfMVU7IN3SW0Rx+AS35XD0mD
82LevDs/l0/4+e1j0udIUsLkL7Ut5Ig6SvuOvgQMcefoaybsMPaROxsf1lboe6uc2nw/JUP7CJUq
+manGqxzOKCNAV9sGb+PosUP0babyrhuq8l5D4feSS5MxanjlIldVQUuifGt+1Kd1uYELGUkq2HK
mzw05505du6bxfOgWJSYnyuV2x/Oz8y6WbyYGIJLtaaGEGiK4/cfhn0s0pyNbS6z+BBH7ZvewPip
d+wvVmd8Oj/YqZcNYHFVUxNaq20zjSh7ZzJnvhmKxuJO1h5m34nd/xfHD5o+Dw00mxOByfEjDVZq
u3nMPMrJOdCknb9ZuqF5f/5RTn03riPW+hkld1qajgeJ1ZwRZ1MjqDtzKYHH58YhBP1LHr/p/ggM
pQ9JIFtcHEfrwvOdemUuUga99vRSjV1n+VnYRZVuSEqEQr4MjZCMZBPd1ZVhQS5wUiva5Waefjz/
sCffG5U8h+Qkcqttr1Vdin7gF03+OGrt0yGpfGOIk6vzo5zaW3ki5HQ2iS8SosfPhWWS8MbYmvwg
yIHStJO+ox7T3ZpdOl341E69PQ/xE+pWkkWoTI+HyhrlGLaVghIL5fiYaqE+Bi7t/FMTGpATHHEL
QWr8XIhA/hdTSfLVXBOkHJ5qfbnPXl5lui0pWlq7cjnFn+Kykvs8R7B/fipPvTAyG2SmuA/BW5HH
oyxZ4sRDhsVw00aln+sxl7tRlPq/2b2B1q1lvFV4qDdLseIohrPP7XTRk3XQo56vnbm6BCU9tTFS
uSScRMbDpG3mrA5ZkQ2WTr6tghFnliCLDiMdtThP6sbxmzk34Dlk4wWhy8kUAPg/i6FdCnbbVQKd
I+xMiwhz7JUJLLOo3TdBN7cf2R2dm2CYhtsWHej1UuIUMuqoeJMt9R/n3+TJaE8TqJBdIZ9DmuX4
VarFaktr4qvIgAJfZZYergfHrL4mbRBfz0uh/jLFIr9wW2j3E5T6eBcmnf0mzEBmnP8ppxbV81+y
2fKSwnEqaDmE9U7V31tFJK4S3dQX6uUnRkE4zuFA5oAk/zYgsKuOVkW7JMgGRxvthlAuGU7mlXXh
7Z4Yh8iVGJrMPlH0tvpb5Zao8razfDtq84cpKXE0oc5zYc5OLF0qvYLqGMcr9bHNWVSYRd3YEoaG
8oyGTdOZv9GAWOAe10Pdm0Mb1wtED9fn35RmTWwOdZYrbUCuYEiKusdrJhERyL0os/yxjsTbPnWx
RMVpap+KQuDXMjd39Mis3tLRvF/SqrrkCXViJ0crQ/svyvZVN7R56iZqojQKQ8vXVm/CzLWNg1s0
83t3NH6cf9KTI5EaI3CkFsSCOX5S4BdLmHkLuqDWm+9r1deHBXrje6jAl86MEwsGuQyNRmtFF0jn
ZqgYYNsYxJ7lz2jMdpPrjHtRRoF//oHWvWz76ri/PfX+rOrPzavzGjto6OTFvKd2kTNpp41+N9sm
W67Nflj9CooiLS6chidEOkRLzwZd19OzQ8lJ28iBLiP8Hiohl/UoEteDEt1hiTXEnjJXxbXsx/yg
DLelW8CbrGsdOOqTiI17DxhnGXv1HmDPJYuSk3NO3hehnYBjoDbRaS97lF6kXX3u32Cj8znzuXB3
v77lrK3dq6iPyJqr1vHjtxkoxJQ0MObGq6YQs69DjHDkwiz/rbM5frcr3ZVTkroHXTdbzYvp9qM2
2rAnRlzc8cadl/rzIlea5/JFzsU+zbwmvbafGiiLqY4+lE9tla0VaWTGfVAAFi2sYQ/TVRo3zWJ1
9oc+bozwNTtd8Wrql3DkTjooZzfUIIfuatqOu93sTZ7z/9g7k+aqlXZL/5cal75Q30wlbW13uMUY
mCgAg6RM9an+19cjnzpVsPHFwR3fiDM6gNPqsnnftZ51nlm73bN4sX66GW7wpNkdoSnG4D6s+hRg
6aCtzqVM82U927YRR/UKRS27ql7MpfwOGE3nF9MphuBVHqsUyVbsMYn1UfFiUtVfDKuGCQ6JoG9s
rEvvq+BgzCX2VuPF6hrsrtfVabfHudkEdbt6Y/wF1zLZS5M9Zwf/xTQrXwy0BR6OmjaJ1FJ+ym6y
NXlWFHpfzLfrmFZm3O2e3P7Fnls7VlEn6sW2m7fC8Q79hJonVKbC2lsaq8zp+eyW3+HF/jvNwjuK
F1Ow/49B+MUsLBsaYpfKUmUWIxDKsmiyW6iqC/6Z2F6GWQubF/txQ61dRo0qHPloZcXiPEpfbXem
M6891fdls4AR6hrIgLGgJsWWE8ZjUZjFk0k5A7eRBVWk6bT2o+Mo6COm11+QWwsOY35BY5Q7JaOm
OCIR0O/wDG1iLwb3E6ZGa6eOEYoX1AbNdrAbzguCowRp44XFpNS9cgp7iA0YI12YDbStj+XoShFV
aepdCdfrA5gcm7kcFajRJzOrAI4MDmAKAB65CIOcdeSc0pKwIg93tBm5pOF0Vx2eJTOBKNFXEHzA
uQdWioBP5iXA72Dc6WFQzLzubPL1drwxvVr7kLbT9LFfJVG43kxf4hIsmvt15Y394vr1fNMbdXvp
V1tFk1ufzZBTlO4mchLze92uAg5Ydj/DDvGxkCDiMYbIyJphCNDZVkvBK5751/qgAu1sLoJs+TT6
/kCg9mpaRLcPAybxeSBULC4n3fqx1DaML0238FRqvfajKSjqhHh3xJzMXc0bq9fles9EXAaHrd6q
J6eqSy2sM8oxESXH/LMQrX9uFUX1vVF9cTsbyyRu0syzn2TRkd5dInwyYZ3nuR77tpUS0uJXSIGr
YLA6bOuqVOeVtyooZs5aPAEg66Fcijltbhdz02Tsj/SYoHAW/TNGW+Bpsqyh+KVeO30einxuz7rB
r+TBE5nzBF51no6G6aZmRKPKupEwjh1aqUue5Ah2tANAXlhJub3yUU51VY0HWwatDpPdI9rQ1Lbg
Rmal5odayi9S4H3KwpKHVoZasBrPPceoawhi09es1zUtMkHMwQ/zpf1UYBeAe+y1G5TdnDDgeEHp
0h8QYxn+eQB0VY+LwGezWAcEy0ZKbcUtmNMhi7oM4Us0pXgZIj9dSLc3BIy3wC5soH1tbdHw6seW
qrhrDjkuW1zToZmJUt2NGvHe8ZIXox13OhCFePadiSg3U5th52xA6KEAEMLL7z/BreiUlfcxx6L6
oznrCpz2VDXiuAY9X6epQ0hFVz6l8qyf3bEPO7MYWWpqJgV67OmAcgwYzN2y+DB68rkzk67coCGu
szsbAA1lMYN0UV0Ni8DwViYcyh8hNgDtznAaOR8XtyeTmWabu11Uk6oNEVfdHCAqHh3lkSqgLVpq
qK/o8OpFu9Oxk7tbOOhWoZWPzQK+uOD6ATzm0f+uO4x84F7teFIFycOYMR8cpqL3DjQKCnZdoA5Q
oMsL0ZUizIy5YGLRuqjvPPNxzQ3BHweqf/TSuuWNKhutfmP/+Zvi1H/BmaA1xS4Pvum0qpihnpyA
JdmxcLMHbleFhCqFkd3rZQwbiU1v3Xcx2ONnViUZwdj2oAxSDgpIDojaUT2+7Kr+xwz8v15Opf+1
Gfi8/9L9bP59+ev/mH+B4lO/wlaBkg4rEyT7f82/lv8fHtmuSrNgBr/g8v/Fxnm7YZgSzb9/yFbp
X+9v8B/kQ8gMKWqgqKbE9zfeX2pLv26EObbs+KYXAzwaKP1UtOwNI0STSa/jLteKLep75Z5lRJla
0VYP53lalGcpnsYgzryODQ/55nN+5myZyB+9YJ4Aqi+5k995RlfJ93vXeKDDVvfQFfeqXpSppnVC
Xamhva4GPRCJV69ZdtRB8GdJ0BW5C+/dqTyIocwdbihVb3WfxxdKfNq05P85moAmIuC72B8oBypV
hqRzDXtUZWX4xxz6zid9qVJ2CCjWtgR1vU6oijuXgPaz0Z4PfWCS4JL1JZqhdix1PRylErd+r8oi
7IuOJM8AI2mJ/78f10c43WMZptDA3VAPqoa/s5ZDdghA5fwQrmt1B5K7x+Y46evgkhE/sfK/c0ZM
MXfd0C72o5naCLvXrhsGF8dM0Wh6DGFpni+cjMNgWLWuZ0cCco8Ix3GdMFaOXuYdg3U13hcWntZw
yl94Czhqr7WtrrtDOoKxDy3YzD6/c77eqHJ9LCEKAZ+Xtfjit8t0YwgxQRmAeoVzZOitOfI9rXmm
nqNdlsoWPkmirQu9x5rw8KZwfYuYuOhpx4x6Uxv1TmHkiepc8k2zthBMXMbW2O0xy1EKHWYu9NHu
jHILTbrDJJRWpjqXQsrh0PramP0oK2803w+t7qvEGvzWj9axhGrZ+ZUHFYyZlJWo8+qMFMRgItDe
smXiDGQHhEsmeZ2olMMoAcTJ0HZNyvehVL3eRUuGdv7cGerssSdvYItaNLLVge32BnE/ndiYaZpK
73Nv0Edw1YDoD35Q+s+pBMxwsERbi1g11pBfdatZ3+di2MrI66z0++Kv64dqTfvh0I3aQN5eEKzM
49ViVMh7tAbFtEMSPH/qf8p0XTuzyl6vjmntu/1FoHmLd3Qzl1eM+i0L4jotUiS19Bmgsvo5KdjQ
bXHtLRm24EXrdKbklgLPaGwlr1iHmizBA+Pfs85576ylpbQXNGa1RlbW2nk4rqIZw3pWihm9ysub
Ml+FG5Kc0n0a+wrBpEHwjxk6tkTTLZyqG46LN/jbflak26QoaXnvVs71cC5Sv6/O22pqv1AFc0Rk
Gdnwwy+Qj8aOA78IFYRKn9xhharnL1b7uOUOy3PqtIYWldMwXwvRB2nYGiV1I7Xa6TsbfaODOCeV
eaTlg2OGLRJi0FecjqywMld2ZDKf/C+BkY05m9ll9sJmaor9c3fVg66VPaT2tLcDci94yZLJHPBS
C4vZ4908zmrCB5Wy56la4HKRcBv7MSCATB0sP+3hVtId7eFPQXpOeqX5Mh7ndfmWsuPIAPs4s0Kp
Yg+3dTEOX6VRBc+t3XkrkoZpftfxKgANnCVrP1YgowmdaTOfpGCbF2aSZIJIee36CWaU54R75AEv
de66t6WeT008u6mXhYKEC+ZCp1Xs0Esxj5FAH2mc11xZG4HFR0DtVHlXJKU263bCxpZOV2C3VRAu
+bBdFxxaRVSwXbdCTUmd8HY22HXsmLmWhasNFPqsarIFkjA9mW82dpIq6oyxraMinUoRBV2Gz7xp
VcWNzwIOX3A85XVpNx7PzTL7NCm0okqy3DW/dg7Q+RCPl/XRa6ihhz7Ypct1dnpwVHWn7u0UMBEM
qRG7nYPTrgHEy1QY4R8xzUONhPq+NAs3Lkjyvgf9iTc/s4q5P3JSG7hU00vLEN3fdjYiu+D8oJd4
XClD+gZpIDsHqrSr9KNjZg1Z79w1DIfSMvLItggAisrB5p2zZqmdm/5mRV2xTQdT5DdU+uKCfY5r
pHkRAm95bNfCOvfKNsw3UxAS6E1XPC443YN+J51sviEGIM5kW4Ztmcn7xbUvS9F1t9Kv70tbFTfY
COPa1y6bPn9ISUthdjUvh7W9Teduw7Kj2ZHrT7fWSuSz3tErcdjozlmrVxHzf3MGTq1tsQtTBmy7
7i51mgubVD/wddSVVFVkoaU+sMZJfoH03qt98Uhv/UObISjQ+SVgCkeyH8fnTF+OBlZq3XHO0wKQ
m8olA6XujYHQRwbO13mb33uD5kb9tPJEUrM9A0/MJ0tk3NaJNJFKOxab+Nq48pH97hhp43ABTs3+
DtsrWZlM3g2eryGiUGy20cCIj5SBF/DX0xoNk8rO3RnbHT/BkClnk231cyJBhU4MCQYhhGxYyruz
vLeu5WwaYW+5UaXblyx7zHKNGU9VZt6Y6+QnFiBzwuRXWun25GRxai7+HRkMJkUPSVoNiRDR4uhf
PPL3IrjVO2Oz6RJiNy/TubkYJgjf1lSEtlpvyqK6Kwd5pU3rwBGzd+Tz2DvvpFaJyy2rljuvZkVx
u0XG/KBbtBrXgmT599XUuAi8Vu3MXsXj3Bf1Ox77zttq3KtUctTOmYuOfp1lodb59Y3U7bu8Dorj
5LircwxkfzRrzTvTbPnYVWWJm4iVtyjzIpZivDTt9D0K0+CsI6mByC/7AYRe55M8bdwZIwkds2Pd
AWwPwsqf688cHBi76nxiellONldfo3pgqYZvdz34QV9GMigsFTt1PTxMc1v/cLy1uUKcYRzllK/J
Cq/+3QCE8Ubv1bNJPMx5x1mkWWvmnVUj2oxPjyDvfOm+08+4AYMPCL+moX2mr1nz4LZzCaQOGHal
6pr417G4xTcwZXxU5XTddLkXtzkssTYYOBD6xXwrgbHFVp6/7xdKpO3AUYutahS4Zn8oivYpJV0a
g3D2rSyHz7rVsaVxiVR60DK9eU/7z0rSTlrPnpE+Cr3aHmGUQE7UbfYvG8lFu+pztovpYFTz0ZqC
LuryUp5lrfW5ZCuBK9F+HjUZwa7huKi7B+oO2oMnSla9qXQROEOJNUR61Zq6PF+wd7Q5qMK0aK5k
N8PY32pI8dbyThk9X3PuBOLoScs6H+zgXJPkWGCKvmvqGmWd1iLXxCVFD69MUOOUt6Obmc+OVd6n
8/YR7eePYtSmO02b1/emI8XnbOiMdDzPHUEds3Ao2XDxdWseu8ZW9blodJjdByZU0+j4nOv0a6qv
rX6Lp4MQQNMYJz8jPEouzo8ua7aF4zE4PQuUakcRrhptykv9YO64uKqfJyuyc4QiP9JOM0svlGk/
DwePrcLWxkujixp4f++j8EiotdJKDqXUVPNtwhnVFodmWAH8oarKrFpeAynfCf2yK6rqgvCzcaEU
YVYGpVnfnyt5J3Jr6B4s0qOWT05VZd58oL/Jsnbhrhtt6WNe5fBm3/dI4s321ncrdBVXWUMMQn0L
J7X01e1Ez1eKL2nXZx3QdSgpP/Qg9wpybhDPFwfVuvNnOxPLC8B3i0zs3F1MgdJdjtho3HsRUNCr
qNqUidvCPlNgJJGNXQNT1KxHUfvtR/ojVFhqMzf0p7bIba0+/M+p9v/ipQ2Og3881f4aTbL/9X9O
tS4pIxaCaRrS1FhQjHNC/QdpZdv/oeiO/ATLhr4nutFM+PdYG/yHoGP61ybyvv2f0y//91jrcKxl
zkCfpP/zz/7mWLv3iH7uAFA32+3tcGtpzMOl2A+9PzVaaoiOq+jYqFRybNOLSZnFZS6UkZ4t/mQF
n0kfgE9h1vSd38qSPe2U7UPvggPIdXiBccecDM0UUEjiBg72WIhYq8X6frYnFY2Tnr/lKjq9zB0o
Y2D2gfiC4Zhz/K9jTZUyHJljfcznak7YQz2zA8NdDRX4yWBJvs4ptb6hinl1TES0gJ52neCpsGJ3
tS0NJVXKrasVehYLjTbk2ZPWSu1adu09qSj2G2Oe1Ch2CAO+7l1VhjoUUt9J48gZB08nh2WN7RZr
dZgOgtLrSpcJbehSPlR91tz99J7f/vOq/AnovI8IIRg1IJJAgAwnT3FeFdFIeYOLb+7kpaV34tL1
NjPRO2v+oGtqfKOS98oVwtSiWEkFBjfpKSVAlUL5m9GtcW9llzkZJv6U59e9mxXnEMbmN1pkrzxD
BAYof0xqSIhkTpqfvQoUWS3mGuuyy6JmWW8MrSR4ZtRCt3bOLD9/+PPtPO0vcjuRk1CLt3XyjOxT
cNa6LkBlV3RAhek+qkkEF5hYqzfu4WuDuLTi0ayDywtOFf2IfUAQKDJattSos1jNBDGGG3Lv8z9f
zO93D5rOTllDOAHP7lRJ3lEDoZ7GUTqbCT05cjCbihuLzW+WjBo2/EMrmrwEF6yqxXmjbX069q7q
27M1CfAykS+e0pfMSlR1l/dbPE2rFk1ZOzwa+aQnqWJ/kRX1drHRUvlriSyj0k9lboY5uOvwfp1n
cHSz7YXJHRdLnVIScVOXxEzfyLbkz7f29BEiYaDtD5EE1ZbBhZ7oxTjZ9E3uOVs80G/Z2zr1Hbaa
7m9VW/t8iY0CmQGQAFwVv14O55+51Bw6RpVvrJ+lCJA4O1luvGUR++1hYUijQL+zD+is//aZTZ0L
TrRJaWrQDnzGL28edMeobnS3Gi9ry/EiQR3zrbTb3+VUuw2d2g3rqA819hQG5o9pmSkhp9g1jy1y
aZ/ulVqOlGPPlOaczSI4pO141K23XpPfrtd2KUzDo2QBpH55KhKxx1VpmsSU3HlWdjVLK4sHv1kp
BtU7W9VuCqwDqzHc/vmlOV1xEcfDO0FXy65iD0Paf62fFnuvDiaOogYxD36/ujsoe0vHkGDSbonK
utGKN9ASv72kjAc6Hnt3gB+PqebX8aqmn/UupaKb9R1aBrdpztKAgt+fr+p0RUCPDquBtgC7IfhP
9ulVTQbfNHvouC1QCyyFt972a70dNZ2I53wptjdWvN/uIuNBkKGh5elsmk4pBlpPgMCy5SSe5fS1
aOxxHPDyGdFAMbBcvKHX+u0eMhpbQ3z/+0YNn8yv93C0l2ooIIXGyuPU1g8+UWH5m2mlr10TghZu
JCADuAlsN39+M6hf5462+V5MMo73rcZk9M0WhO5yztHeor+8PhbyFr45mjKnvBGy0JbWKV0vnvQU
gv2sinc4UouLbVrWN174V2/ejotFWItRxjy5rMyTm3A3bh49Wrr50lbR5lXqb2fJ/RHtVlP2Xqxy
p24/UznBTISXDxpqat5PdSsuqkzUb2iCXnvNfx7l5FrcyqJlTB5KXNFSvuQguN6uFjXiDdAawRZ5
+fjnz+q3lun+XbmwIHa8gEUn7eS76jU7nZi/vLh3SbVrW1E8zFljXcpilYkhXOgwfP9kKyidVBbw
AHIarXgz8cYI6SR6Nsk3ACa/TZv7b8Q+bGce8Oq8KFN/mr9y2XreWvHmeGqqEuzl/RU5Ll6i5jqP
en181ufe/PDn27Cv2D8fkF7uAmrX/cSFBvRULzlW8PKWyqC1j7gQ+4OzHYNSq46UXLQPmdXcZ+k4
vxuA7J39eeBXPxOsNmzO0U2zYPz6SWIcXT2NfInY6ibrzGjL7VCMmOXLQvfeODXs8/Dv1/j/hzqZ
p/16K4t54xrHfF6u8ty4N8dCAo9zKD5a1Zmv9O2hKzQzaUjMe+OhvvqNOj75mFwkwrqTwUlNobCo
8VB7MRfHOdis46qCOv7v3M3/N8qpXQ5hh5vPk0eKtDUtl/aImqgO/DZyWkIM/jzUqxe0T9nMCLSy
rZMLKrdZo6mm8eBMpNG15zWfMYy9dVB49b3ElMC6ivITf86vr4eGnc7JkEzFi+PWF4G1eRcTupen
hd76l8Zw6gvO887R72zzjVv5+shghFwDJh5vza8j536tE0PKyCWWTRCDIHzPXAIIEwp4+cXS2X3s
usWWzP0kv/39rWXLyyaRT2JnaP469FborTZrE0PTvXhAat5cFOaSvTHzvfbl/TzKya1dPTXrlto8
wrQMkRDeZtM+Un1SLMH4t5pvZrSfhzqpSwx0isiV58vbyRjnYm9MqGF8C9D42tLhUYGgErG7WU79
mV6t0x00uSAQV0GMTnuKVMCOzPAoTu4ufPXGK/LqHfxpwJOlQ7d63RkK04s7tyy/1Y5ZxhKq1Qco
bm+RcF772ihf4endzUC/GWc6P7PHJWBZnCCtfPNo95z38zK8scS/dkFUUzyqcazy2BJ/ffE6Zedd
5vBNA31fIo676SWZQVXS8PQOf37HXx0KnTphiJAtUQD/OlSf61lO0hqxsZRsw6JClOCNTkV3MB/e
2Mm+eu8o3WD8YS/723tR2oDUOBR48YAGOdLbrj1UmiPfeBleHwVLJ95g9Dt7TuTPe0s/kC491cyH
4Ns6CSq89mpt5rfwDm+NcjIrrchU0lXjCa29YJbPJu1QWM1b9t/XR8G/QDkRJdkpzoc8NL1YJua+
piNyS62LGRpS/DUHklkB+B3odEqHO0Ti1zsmp5SAmYpr4aSMuBYdLHO79VZ15pUXjaIrq25AdRrT
9skoynTGUcwtngghAmz3izEuh3R1+sRJ0yx4Y1X8fbS9CKRz2IX8xhnjZErYUFyMNEoNkEEOno+8
92khVZVrlVd646j6jS3N7w9qR7VyXNqTUTC1nbwOhknGuq7nZqz1lZGwlUL0sEss/vZbhQKMUwfR
GreQlfjXB6X8EQAIZce4GQhIDjuvtfqQpjde/M6X8u8R6WASUMdyaTZA+9Ni/VR1bCkktgA6R84z
Ba7VJkF0md8qx7z83r9uCF2LXQV8Y3OHi5x6SVtEezAByaDcplXOX8EGup13MEhBXs9lsA4rnS9l
W/KJkBvbO+qTNffRRG8WTY2ZcpbgLMCf3FP0Nouk4XDeJQHpTEGIqAbxBn9m1FVCIk5uHlJFwhnS
MKO3jn/7eFz8DWhzUAgizTg9O0P+kM3QW5wXCGryEjx1UxaNxFEVySLr5v7Po52ushiMPMCtFCE4
bvL5nrzhPLGNc4+TxjUvTRXOdG8/jV0OWTbj3wWI/Zb0LYf26VfFmDhygPAg4mXQ0wrWqLKiKWvE
QGSAB/5lO4OLoZRkaSKWRIi/1UY5/aro5O6BuaQAUc2hhnQylZOjhOJZzikFnRzR0waV5lPvTm/B
G3+/k9gq2a7w8kFUoSr462eloYrET4yTSSu9TsRu2XrfV/hHYeak7WdHjsYc//nZ/X5hJEft/7HG
U5MITj5kKsEztWKTtPlh7s9aVYvzFgPXG9PF/vnwq//8ZXGc48fDo0SVSk31lFCj+lnVdIGaA43z
Wn4pdVfrzjyfzct9YW5qTjI892kTrun4MRdAWfPRlDcl0rWbbLIW1OP5ZhWhtwa1FmdNPjx0MFS+
bFWlFVGvDRVMALv5CM73MsiM93XW2Gc44sCC27i/8dxWQXptVOzMXbeab9no0h0nL2T9QJAk0kQk
MQ8Q1tW9ZgaIx4nP67NLoW9tezk7so8X9lb5GS1wGnXSMNbr2uudCoFpUb13hhFhAjC9cyRM1FIL
TzhPUxb0xzLt1mvN7L63pkbqoz9uegjq2XiuBNmvs6HEZ2MN1GWrUBLMmsGyqiEyem+NyLA8qx7j
lN8k7P20jW1n/UpmZFaEo70OD8TeN3kYTGttxouAPofTCJ1h2My2KOI18zMkmXJ2s4O+Vb4K221y
tLD025lynb2duXPlI8rRqiosLa+MCH4yw85BZ1apBvSzM+KKmVQLhK7vQE5w+lnfWdPYJKttSyMc
ZEo6nGVXujjYqvTDQiPXZM3o/0eBrPVPHrbcD8KmIiJN04mko/RwbkUwJhq0ue+2OZlTRCx0TuQ5
ppywJ9weT5k5kMHKfvfD0HqY6jXUBtwp5DceYW3znEcORK1qR+/mfpK6FbRkH82G92RZ5eyEDUlk
H+bG9j6C0sCx1GhGUIG+MpovpUBlEREfiQZ1MLAV8YjH95pRNrhXeug5DZ0u5AomOiGfSFMEtmM7
f682Lzdud/R9TRaQ6ULgNYL0gh+rKE5u0qZgsLhmm9C/oj0msLcY7zprNKfDWvbtGXGOdn/oyqFF
m9tkK/rM1HAvM5RV04XRkPx40zHpOEevcgr9eRorHGF10HlP0sq1ix6dY3EY/ax6Mhdxb+TIujBr
qI/mapIWr7TZG0McFK0FYWGzy2hBdvsNR5q8XdsRbDFKOiMyjUwSNWmiQPREb0e2Xg7rXa9012M2
Q2IRU/TscGfURZYtUT1XzRINxbpmZ9DXZkehX4Sp1kxJQb5NE3bSXttzu93yKqmLoLxGmiJ1JJgL
vpy5U+01hrV0iWakzU5ILmpR4kAwBxTYrLvrO9EW0qruG44x1FqWLJXLozUuBt/R3DYqQrzjoxur
ujW/Z4EcRWKa84aRJhCtuHedreLLxmjiQw8BqTc1N0EntOo6G5SGfpjbYQ5oxzJA+RsaYycMpAdO
ZSQv9QMxv50feViUss81jhXrzMtIEkhckkq0i8Yf1I1GNqAWG8xLGFTsbNVzWp5tlUaFXtAzmTy1
TehvcUGFmjdM/GAzXdPE85XwDq6frVpsMcfzqcndKVNAP0hsvlU4qXotmqRefeQwE19Ski/ldgsz
iwzr1J1q+kzLylHL6jL3uUp7ZUUawIc8rpnGjKTKB3xufjenU9hma1EfLH0kJMTX91DcXMntgwbf
swk1K1itA5HamRHO5ZLfFK2ot9Dv6/aLLXXzxlnSuUDf12kofg2FcL8nvf4qN7bCipHRyHPPzDzt
wi+M7DnrWf1AGJgb0aWrwOfV8FoHoajFHMTQ67evsyCRNGoh4H1CGyu9oy3QPTGdKYxlZHwSidTs
SuMtR+cQdqIgKzg3ZP7kYvzRQ6ubZ+1Ai18rktWySaNzPC2PgI9byPiXxq3CftO7Icysbr1ch22q
oz6jSxVClZDTodUVQsM2sypzOdQwOUSMplp455jcZvcdazs1Wt6ByiD+CCNeoleFdyVXKMJRMGjj
fBgDDx6KbS/mU551CPwGhE3bYXHTXUhdT+sPpMIiP5/8Vi7JlGfuFQh9lqzJQfKKzHgxbs0OrWmE
jAwZdjHk3o/RkME1WyfLPsMh5Xxy3WHTL6yh32h6LSIQZ3arpiYam5p5pBG28b2di2k7wJdpP5UV
Tv+onYk4D+0187xk8YzhaSNbtmDWwzB+NrB03Mm2MFkgmm0Mon4rLQgJqUfO48C57QrNdPOsyQat
V2XM2OtEN6Clzbq0wILRrJaKytFzv/GSDRkYjk43DgasgzxsrXXqIxAWCknxYJfouabeussbIZwk
74hIi7q5WZ6bRjAH+e6qcnzLXj8ktl3nIq4zVNxRW3kwL2kQBaipTRJjQ98W7EcVb8Nni58ILXFJ
S+x83mINhxx19ie9t63PeFWpAiPytD4KG+s6d1RJeTRoMJ8px0OHbHTL/kaRWhyEemsGV4YjsjIu
2j793mn2IkPPmRuPzFkbTXjn5oNK5E5/Diu3GG98o3S70Gs0ahlU7lRzsFdCYKOUyqxPjnO2WLHC
X/s4FFupE6pqScmqPAOgdOx5+bqlTNbXrpmPj+kmizEJZI5WDbXqlRxKHTtx0fJ+YEiovmsjc2PU
DkMe3DXuvIkIgDGKVGNVKDJHuD9NBGgF50aj56xvk9bxAMGwzla8TsTlHhsogxO0dNHVxG5sRZOM
3GwHSNPKJc4GcmOiG0qSKXu6298clPnWZec1iBVbDIt2WFv+Flzk+prbkZxL0oP5xIoiKhdt9MNN
Ms+i3rdyxUyAgTU2ySq4zrHimaGkwhCwhSiygNNE4KxnPci6pOkb0qcx+fTjR5P0AOd8aiWGulXN
jvklxZRgEBkL1fW6qTca9mGT5+16KOpprmMihq3ubgNWLoHAqyYXX8nSLprnYdHclPKjh/PvaM/u
tKnHhUOO2j5zZDJpq6JJsUV9pxA7m2kyOUOfGocU3xGOENARPSUXaZZOH9rcuGY86O3WuTpQTs1V
5F1sy1Q8o9A15UfPqAnzRkJaMU9CdZ4ASafLLMLF6/eIuMpd16SsMS7EziAVWK6sGtqb1CzFhcWv
4e4zPHyPVNklPOUeD5DX9ViS2jzfnHCpqEKFSFaxXvTFnH9XIttV7+bSPegVUqbEdjbnWNNoKJOc
/iYh4SP/B5OxZ76r6Oqwpk48z9Bi3suiumUf9K63TREka5X1n2x+tnbwc2hYVjdM81GrhgH2a8+e
FHGoI/1DWi3zXSkG271cUMt/nHBzqMTOCPCOkb5uu2ZT9kaQdMJZetpJ2fDQvJD50YyJNao0f5yS
chPZhU6ARX0+wjTeHvt+ylXMktH6TxgXe8TzjVd8mZACEjMtBxa/LZi2IJFj1RNOPlIcjWbU4g9L
OdRdxB102igfF5km2ZKPeWSZKUJdfOOGOPjmFNxn3dpdm60rnEut0KZLRDMuxvdR5J9W9LmfhKib
/D22Hdkd7XwTN/mimLD6rhgu+hXiYQgM2LIPRE0Ldoz0uj555WIi9qVckSW9YTSC++3bdaLbvX9b
r6r8YezI5ahSatTDySMzj2nQnHGbC2+5L722/sqEaL4n1HwdIsfEW3LcLCG8ENKWS791g0aBNjv/
sYss7GMlzfF5RWKrc4LxqW6m7dqerWJo0wMyuPLHHmUHGNTrdYFLa5huF1v6aLQbI/0uTHfg6NK6
7Ny7dZP4kFjNDk3e9Vf6tAEqwH3LwowdX3GES43+oq5zdoWTsrw2KVkQEk1SLootQ1gCz5TV2gfI
MWA6VSGnj83mPKXbijehzL44s9UfVLVfuP1/2Duz3biRLlu/SqPvWeA8AH0aOGSOSik1S7ZuCHkQ
x+AcnJ7+fExXd9upgtX+rw9QKLjKtphMksHYe6/1LRsH98qc5FtXVzgMwoGfHOa4xxziDBtXfqug
VJCnMKVXY0TOOyaIxo1wdYRlexPzqD9U0OffwsSCZxvbsiA7TdYbW5B4zXLkakXAm7DdTrT/N8xU
lE2aRTob5HoWX2Te18+pYt6P1EExfnE2R74lE9fBo6MZWwT0hNezHqxUrHlo6W0dl7+MbHXFdpxS
psd2QnJAeCcGF3YbIXHaJckexHi78Qrbj/ZgqtFImHuDn62b3Cs3djAfT5735DF/PHhsEXD0FOPk
S3VQHqqkUD4LMyvuh0oqm0Rv0DTrQ3/bu4LAq9BLXopY0ARCMT0Qk5NSvC6XrVlVsztfxGzvt0ko
ANlxFz1HbjvcC8+ag1Cf+yPGsTwATsOeSlERh1viYR6LHb4dTP1uN1/qvd0HQ8OTjYFlmoNeRVzP
zgebnJti+67zZKeV+DRmXiBrpcu8wMQ8H1jh6F6R6J6U3Jt6aOEo57TKbLpvHV6HwOXNi2FKsHDS
wCY9S73E73ZwCnPbOWSYI1HF8xSaJW9COn2encMjgRjgI1zQn1Uq7B0AiGwLl1X/PEPHpAGYp09Q
UUZS+CLVuZ7jud80o3sYCQR8nIj44bNn+CImuzmEpnehMIx5m/q23g998skTZnw0VEUElam2QZXk
A7ghS3mO8QxcTo1VPICl7u4mpZvsTW+GOQXroKs7M5+6tcqtaMy9sTEy53NPtYkzRcXZ75bPjaSr
O+fkZekdxvqpr9sDNWgyMXVVvc9gAsDymGOYBHGLOc8UjbvDvhqRglMme/R6Ns5IMb+5rmLssjpn
R53hivSooudBfbErW7nLvSzc6VGnHNIkTnZJRTfCxy+bBtoY3ZSd1d6YuZY8JInd1kEvs6t4HJU9
bYkRsHrFWtZP3yVCjQ3vHw1DlS0/0Y4S60pmnR+6bfY1zKL5omTqeJlb5WvB1ovCgtQ1fGLmqu2n
5DCIInlVIlE+oPrVL0A3tOs6pOHgT7bNd+xi+jarut+k7CjzIDSV3ACm1aSblJoe90Ea7lFi3c5e
4x3MHtVrYJJg589zwQ1cZIO+ju3eXlXMZS/Q8CsXla1d9PCw9qZdZgeZWU8mRBRAiRq58q1ZHSw1
Vrkf57F8tuPKOTq2fseC4XyHwcC7wY6MGycL3zqzfZacwyvVR9kEwsrLlzH34tw33dReY6Ro7/VZ
dBfE9DY7Qx1ucmJNeG5YVDERhiliY9u4QY3Brsvshs9JDxZhnCmARxkm2CRPpjHtZCATFUJonzof
Y1m2eMw0Y+GRoGHHejbJtuoDXe9szy8Wd1pe1byyk5NprYSu0mwbdTGzsX2Td3GBfYhaVLsD5K2O
YHoMGCxeQVMBFvNijTMBlCs4o+r2bhwW85zb5PrBPlnqqsVdV52Mdkq0eO66Ci646bXYtE6mvFna
6XE8WfXoDuXYLU8WvpqrlQYVS0QRGCebnzlU7leNJTbj0bMtcApSz7d5P4ZotLKM7VZ4cgzGJ/dg
YhZ0ZImum4+xp+AvxMaL1zA7+Q7NkwfROvkRxcmbmJx8ilnh4lmcT/5FZcLygfoSb4qfnTyOdpU7
N0q4OB/rWcEFmbnG9FlJF29kevJJ5kpkPJcn9ySjCUx0dUr6gQ9dergqzcVrCbrR+9aUSvvF7rru
Ju8FZg4AjlG06hezZqEk+DZ5t+Hh7E5+zhmpHe6Yk88Tc5n5WPxwf56coIPiYqbCLIVDVJ7comTU
Ls7Rk4u0nfI6XaeLubQ4+Uw95BiOz9uXrA+XsR1s0sWVmojGMfxu6MYQ+Wxn0Q8bClysQEpwBXWL
ubVrtTT2C2ZOoT8m6XD0Tk7Yoo5wKGZ2XT06J69ssdhmzZODVm2mJFrhiu3eZJPhsS0Xu22Z9bXY
jycXbnNy5CrGUjNPJ6duUYYlYmJzcfDqJzevZOcvV9Ni8q16F6+smGiaej2NI5+Vlm9PjxZ3sHty
Cusn1zARZO5Vv1iJ53pxFYs0zGyaOw3sQOfkPHbMRFH3dT9HM3oDzMkYNhlUTE2Xphv8SCyRSYGq
f4XWA1+zd/I46ye/c6m2ym4Krc/GyQ1t5VGarQe6sB1y5BzH9DQ1PYZPEXXdOmfdfrIXezWcvOUA
NkkhbpK08SWAJLzY1LCaTssHizbRtbi1o5Nze47i8I4UtcXPrS/e7hLpp1griRHOgbnYv/M+pJHN
DZhS9bmRHa8RepWVr9AnrvFLLi5yszNxlJv6ZGQbdzGaz2VDPead/OfVyYuOTQklpX7yqLfV4lcn
6wbvOjhyfOzpydMuT/52jZ7bFdSCSpLAuZjhlfLkjG9ONvnCFHq8cRN1qGiQLFZ6AmB4gajGYrFP
Tnb7EUuhGxiLC5+k8/JbyvxmCJwZI7qvNWmhrog7co714uPXRi8tMLziM9RPZn9pqxj/wx8QANPq
jvKEBohPmIARq+FDf4IHdCeQAIo+M/XzCoFuYJ5gA31DRXZRFxoXHsrDUHW2r50ABdUJVtAxAMpu
m7ot6qsUXQ9Eg1jPIaFNTs4Q2F2oB/UJgDCfYAihqOArRCdIAv1sgAnuCZ5QsNbRrrUdogepptKb
8oRaUOoFuwBPHn98d8IxeCc0Qz1ZjubTFbVQ24SQUrZFlbVo11HS6wizqnaQBAwMM6jFKZVeeYPz
lZIMM+nsYlIXWXUzZVqjXalTIVSubVdSlYhGqrTGjUxubbTXVKJDDU4hNCLh7MfeA2FDU6JTnrGz
opGGyxw7G6tEhAZUBs+Q+jSmSmxZm3FkHnDwJicdL+hj9t1N26LFXbPk6/291UIFatZSNxSupBBJ
am/LJGzqhzS3TLGW2LyH23AiAPqtKVWhXMRowqoLdwROtWFhqZv7wet1hGlVGntfSNmq7Bg3aGpI
EWiJqVhbi8FQsW/Z5XogLzS7KnyevKQ+JrT8SuF7VdxrZUAkQ4oVd6zkABKqm8tq0gLBvPqta83x
S2ZRqQWUYyNdOgDTdm5e9FU+5nu6M533mBvMu1jJhDIrVVDAm6t7n1pQoVNO1mlrP3pjZozXc6s4
3l2S6/R+tCTp2RFJM54iRsOmQR0weVZmrUcKafGJ9nk+rJXYbBXh11rqstdOldnKjrZAVFVtmVYa
81aDN5rtSp1mURAptUIJaQ29l1BbkuvKPq9g2OTTu27H1neAZdTbKi6daa06jeJcDETYKJVvTEYV
eiu2gJF4EvU4yK1Tjz27bYVXuXI36EmM5RQ7jzI+ojtO43qlpqITStBMXjlsWyzb3o1Iu2k6hKWX
RAebIh/Ap+xNrK8MCoBkVH2T5n5DyybbgSvoqjuGU5BCrSKz+mNOhglzeE/WlXuRhehpoZa3BY7i
qiud+pWMVeHeT7laC4vX3ahUf0ea/3/0zr+j4/hp7Ll67V7/7XvRJd10fBXf/8+/37/Kb8m//d/m
9Uvy+jOC5/TXfpgVLesvlCBMo2HbQ5JGwPhfZkXD/AtnC6pGuFIYNVDa/49ZUf9Lw+XmsDFEq2qB
bfxvs6Jm/4WMwALGhcURtPEfInjOxt3Y95B6Yf8gNlFb/JFnyrxociIeNJP5Xa2VyjaM6CgmzBfc
VdE41gUrRrLSm3lWAYjpAHI1o5ueZgxU2r5P6STCHhD5G9uu6T6KPLZPutmlOyI70q0ezy3QKzUO
/cQZ2C7inq5h2kVpQH5yTb5z2kTfLPKU926rPBazawWNqxYHTPOdyr46bJ6TtEZqXiTKtxAp8R1N
Em0zWGMa8EV/5uWQBmzdIei4csh3EFGNdl81WfQ66rn9eYqyxo8TJ7/DawNnJ+yybJ9FJt1iy7vk
c3sYsMmCobFT6dYbGHHWurzpCSCShXljMQMMDKU1gyo0hlvkWCmwBMh7CW9TULKtiTqbFlxMWHHb
dQXDuo6WidbNgll3LWbzELajY1xkWc6C4MZNep9Esd4ziRqnCsl1mHVXMUm429Jo9asUGyMu8cKx
PhGRmoyPOpPSYj+HKbVz0rbfw9imbRnnYChiF8cCVoI6f2Q5Tkie1bzYuBdpxDZ+B7InzL5mNcTL
3mcyzVbiiSHc5PWrcAiFXW9ddwYf0M8uZMeVBfMFtLjZ97Lu34Z4RESX+sA6q5Y9sCUIlVK+a16p
SMYQliVsjwsW6d66SEJZNspKNGiP1KtRQIsTRMOkSXRMFMkYmXKHPQed5ki3ZZaZjAsLT7tKXbeA
MdrLhr2KNEPwdAVicwY1Ex+YO+iKHl7b7GmIe3bQW2npXrpzq9N2t/s+XDPPtp9DZnSK39puTfTW
DKPHHwbXe5W0OTW/hO9/QLtodZcVQI+ZEO8G1NsGyZ9QNz15w8DWgFMEUhp6fsUMwuzvbFP03FoC
btZny4qntTWHgi4PvE3v2fMy98Gts/Jo89aUGzXuslvHxtR7p6VKYe2HsGIGSG1gP4Wzl36L1cIw
r+uyr15GoiuS7exQ2hRjAo2vHj1vCDCzWjcubUjwaJUikpUNyCp+bAcnm7a9XKIuBqcYvtpAJ6Ig
U5WEiVruuF/bOmbc6zCKjA+wLeYh0KqGtk9nKa13gYp4/tQhtQMvo7XRYdYHCCQKDM3cp8umJ+sG
OinhgwWEErSy/bjrq2pCtop9emM4U3NbCak/WtakQ91O6ulzQejjBCzPjcugRXa26ekvUDy7nXah
MW70i3l06R1ZvfFQJ1NISp2reY/pwkVZ1+UU75tyGkD4KlUUQrEcairaiA3Wq+oODZQsg7aIHwMa
rS7iNKvbHfCSmEExOwR05RGdcVcL1Xo1zko2PxRxFet+OXEvMp+oNfMaUpYkaWAiRxewZ24HSt5P
0UofmupB5sS67CvKGBhjUsR4lmswABi0babOGgIKPxSeJ9YdDkAS2zQ7fiWgwtyVhLDDXdV6cyMK
tEehNNKpReZuKm0waDoXJdSG9kApxOOfOon5fbYr46bSR/3Co+sZ+WVUp2+OyzRpM+Ql7KrO0yfJ
9jtWkxVMx6S8oGtYIatQwZyPcFN2QpXoFaYyKp5cZdI/gQKL0IMgKn7G12B9RlXYseVsbOo82Eu0
BSsrJEFqcJyM2S1lDjzYMoriNeEIBvu6BMzVVJsyOmTsVlByRvU19b/3rLCwVv7g8Qxt4s4Ue2C0
XrJxa60LA9GHNRgI0gCQ3qX1nJeUsHAlNzX2KdvXkyIvAvLMI0pmIqhWaUgH6aJojOKTWVv2s5Zb
UeVtKZIjZ6/XXsncT0nMvAtaJspFB6My5HZaoMNhCMwHZ0a46fomngMlFCo4T3iqbLF9PH9zMwTk
f/X2ZVXaaclknswGFGFZ1A4voo68daLXhp0EUqdOdPuVSMsq1dEHMDAPqxtn0Ak06FGhiLoHhjPU
fMctD81Ae/EYolkoaCuphcrdUjc6db2vwA9V/Iwv20X2KlNHrEYHOUpQmNEIMsKw6ibbp5ZSp5Aj
cDxfggeiwMZSovFz13FEzMciaWkLn2UIW5EOaW6iPMqAxmxp0KM08FVie51+FSGNkHJNcWUMB2HF
MCtoL2T2mN0o5hy6ll+ZnqhpKmjKVys2hPSbIRrrS1CKYK+KQnthHDll9xhcChAukEWB5jGSv09q
zykDO5ZAnQZhTTZEcNE1tymaFHkZGiaQ4tTy5mlnjW37lltF+4CZuRvXHUamiA9Yie/ANvJog7ak
hck65/UUlMgQX6qcUdQDtYZgYp4LplJRUU3FSrQQnK5BKiXVITJ1YKPEaIQuj0nsIRRY+tVcgtxh
Au0qrU6K5eKXTn2eydZetYK0mk89U2oArlNjz911N0u6w9T2sGOqlN7NxtFykTD7qYuZgXPK8mzo
cUeq9jzZ4jJWZbSfEhaWy0FI1Vqjdqdy26pFkptH5CajfjOrhTCg6YMx39Qj0/DbFESasdKTXn+J
limHn2tz5QVG46btcbC9bEekpHvdcUbeU+TK0mWRoSI85kAMzYtc7XljZU2m9EwbYCcU112mQRBx
B9W6VgsnI41XdvTa00Xf9hUiRFQGrpDD57xWIlqTUFCOVq9M91YVIvmITZZRujkxfRbmcqLTfE2X
+otGGki1LEJm+UKXJvmUa10SUf8DfaNaHWebpNyoTm6p0Yp7bVJ160lJR2dSkV1luX7BSuKZ67y2
ERQFkeY1b2bJST2Vrii8dZkKEu9at6stEEownsNDk0Ps3cJGz+cN/eI2C7qwHXoRJDwRRJTmNSXV
RWSq6dcq7+1q7fYR3ZOYe3G66cUYRy+SPsxLao8WbMfU5oOm+My4pjmOqHXJFjjZT0bfWg9RoViV
oDa3OsEsMUXpIUY5bqou1sJLSYk432nujBIvmWIUYnNdek7ie16tv8Bhke2NmKzihu6C85Lmplqv
xzbTja1k1G5QyeoVIaSDWUH+MYiX42ubh7H0DU0k/YtMVYuxWN3mFnlanuyhTdHJDpYxOe0dNZpc
P0+N/FPIva1eCUYz1tbwwjne08uZLDoQFa8Ge3ZS4fgA6zhFo1YkE4zWa5ixRxaiu0SZzA37sPhK
Gwf9ucjH9FrXFPHgltAAma4g+F539WBMQWv37Mo7jVeyWrI/bolc5Oe7PRiwOjeNejVlXvOsQkyq
4PNISdNu0besczhX2XVmVV12zZAImpzMCm83J0wMLybGlgFylhHVbq7Ki7BV3dcQjWYfgLhzX+rF
gbcS3DT2PUo9ka3UEMAkobGT3LC9zd9sCE27UCoRd7M02zdYQ+NjJXtt2y8S5B0wn+qO7Olh2hBO
yy2aOCydNqewj/Q+X/dhot6GzSyvmaq335w4GVRfUxOpQwHFREY/QLW46w2zCxCwcL8oOPLROTKK
Y4koE8/zW29AHWMrxQwMu5/DyN7QrTAPc2yOBOy1CA6+iUzU1sbKs5COpQlMMHCEaD16kIb9qVSy
9FB2vdH6UagOXZBBbGAglqnjq9XUE3Rfp4b01rF/jH2tzW3BPjtsnEsy7eMrcLd0QGBDW5rfWkLl
1VBK54Zdu/dKAERJd7PjlujQb8LHAs9INZGaKIHY9fYP8Yy8bjd38XRj95KFZ2KEt9O56bj5l57U
2ukaOihq6pV70VssfTjcDVTf+DNLn962BFQ2Sk2shwp6NANMFvYP5LWLwPonba2OLoGVCtaKQ2wU
DOtFVvyTPTQz0Y1aGqIRTDo8Kxlbi7fRGvgsFAl8ZqCqzrhqG0RTHwjNF3nwL0fGDw7MZuF2qCB9
3LO6tERsVNYFU4hxzDOo07MV3adFWKzynNFNLGCFBD175hsjAYNHf0gfPjj3MwGzjiMdwYlGKY8v
BUfC8vs/nTuv6RrpDUt0JdTwSDPJhHQxtW8/9QtufpzRz7CXk8P2/EQNG5H04oJScVz9epg5X8qi
gdGkNc4Vsoe6FVUg7cS71MehVHwPmQnku3nkW2BXx4Ki1bYxBzG+3gcwFnH1ga3k/XnDSKEV4OJg
cRmanTkCu1Qpw9xMymBGLbfRbMr5Ipyi29+f9z8dBf8Sbhv8SziYzo5CiFXZOzHVBE6DeU+hZLLF
CT9yeJ93NyBfEPUAfwGbKliIc9iMNbqUkalb0KWgjmcBR15OFVNPjykg4I+Syd+fE2GJHJHpJSCm
H0r1n+4Yw6Vj0IVDwYbM4xGZLHNcqwDW2w/uzDMxP3emi5SfzriLi5rApLNbpq9UyeuOZyMMiz7d
lKgyYXxPjfRVoyrWmdEl4f73l+tMZL8cEjcg3VhIBovG/uxh8Ejx4dUKFdG1i/atSZiIWnHcH9RY
2g/qPIivvG7GQFW4Tz+4H99dQ04VwpTDyVqLRf1sDSpttfLsyaSvkOXMnaLRUmgdtYImaROl+kdZ
TMuN98vzCMpj8QTh0cGvo5/fmHqVVCLRXPY2Pao2yrWRF0OaT9Oj1cPTDDi+A2cztp7Q+obF1mqc
8JhUWfLp99/4u4vM51hcDWiHdA8ax9k3ThhjSn/fEkHaucuepJgpITQ4iFGg1vj/fIAPH95Z/7De
E4CKZgOyCDyc8zsrCQ0xZ+7AYtRZ1pMoHS3SgiT1LLHKC7WPtl7kzkwkM+LGxQfG3XfX2WJU5lp4
YLireXzOVgQtbZaaOBYoBZ3woFozqWaJ4rZv4J8pYf7o2wVghL+MO5q8BBzf7yBtTCKkOpogX3Pq
04OUvZPhL7M/522WrjBF8LL7/QHP1oblgLxCWPBoAHOG50azyku7WJdlEpRImHYyJck2/3hVPbtp
aCPrjsPbemkP/0PSpoUYPq481M0MQirQ46m2ms02Brw/6CmW8vGj19fZDfPjgMvhuFkZlJ5HGdki
Inw6rDDKRIb+klOwPo8sQXRQrJWM6AvFSNM/Aric3SkcFBAbFYdmLhh673xFWBS6QzpV5KMrw7eQ
lkzglfJbrtsfxUH9w4GABeMM5B9WdvPsloynRKv0Jo2CicfCz/NoCgCNZjjysj9NOuacsGUtuaAc
0MOC9us2YFCHSU0oAvwxrJhPLyeVsz1decuvfn8rvgvc5VgYs3i5W3Rfl/3dr8fKQ9tK0bTHQUXq
PE0QSJY0QIeuv0rRzKYX4exEt6hawuMM5J5UH2smycMdxRxuezO38yuAvszYfv+x3n/ZUO/sxYUJ
2YiJydmXXXTI39M2oWU8U9aFYDcB18p07S2/+vNDLa47SmRe1e++bDTX8YgIOw60un8ksemxF/JR
5dd/fhi2kLy7sM1q7vkZYUQwqwIrUNBpqUXpmedrKPjYj7sm/xe+PEAfFlQj7lRuol8vaSJVHG8Z
PNehhdweJ3N4RNGGlGj51e/P6v0jbxI4Z8Bkcz0d9+LZoWiw5FmD6weZZZju6D7zfI+9nPcIUtMd
847oylKK/uvvj3pWD/DMswnn5WATdMnKff5m6klgCEGyRwErnMfcmVrzOFhSXnttx30ax8Mz+i25
z0FDBp1biw/2q/9wd2IHxacHuY0o3fNrSbGMtwfNDO//vtJvHDXXX8p82RsIm+yiDx7R90fjVPE/
ayrGSY579vIXIq+k59Roc5vpUREKjXC7e/xfrAXvD8Toz2FnBWeJt+A5xVNLBzeC7Uyjcx5PTwKD
tH/pSbAhOcHbYlOMI+n82+uqckxsSzL3sLE3JVyjp3qUPWMsfvX7G+Ufzojd8eIW5nTeb2GGrnMj
Q6v46tr0Ynm2hZpc/CvPNjcCcC/2o7xz2aD9+sDllkUtXDM3dc24JOlq+iYMszikcfft9+fzbuMA
EcZlH8jem2rpHaDFQunZpB3tjtTU8PSgUVh9fDb/cBAE6zAP2Wu77w/SOWJKAGSEGDaL4t4kLvON
J8rc/PGp4K5euAgqS9Q7JqEYyprJEGq3rDeiW94vBTZR+VFl+f4GwBpwyuNkP8kvl9//qQpjf5sk
ZtyFvl7aurEyObd+K82U7bOXtezgf39S/3g4QKZopNiKWOc0q3Bqi9CZaJXq5UAmChy7fT3RMADH
Nq7//FBL9g7bLVp27x5WFOyTxmhAQQmShYTFekl5UDPK57JeFOy/P9i7W4ImgIYFngJd1d9XfJlI
vYmmN7bTkMgIhU7QWoX3tPrDo7BrhJQCCkznfgB99OvFUhDK9xhx0Ikut1tLx3VVkWX4p18cR+FL
o/u3vI55Z/16FFmlPXTPDJklpfOwk2SNIjMyhHPHXtL8KN323SacoyHqYBFiw8/W8WwjM0qjdW1M
cMwzsuQJeTBaBnTmd5PWM39P7egPmZCUh7yJXfQlvCnY150dT01Tt2bE7mGmoKWs2Hq/Gj033f3x
leI4GO25G3BGnm9QietRcTuga45JCJoOqhgpB0l0q8k8+9Mjuax0usv+jO4NMdq/Xi0cmE1lJgNP
lKjJEmSW2pEN6Aqv+eBAJ37ET7U+aA+oCOzMMHKituHfvx6pjYYBmTfPbr6s3b2XjVdJGOpfBOqE
y6o1kLcPmIavKxzxDARNI19pEdLd7YSnBmNbTE4L2A72qljgVOWgTkJeonfAj651IgHvMcmj7HoL
6LdtKAHxie3R0cT8FJORWWxpP06PttmV1aEOJYMo2AxUngM62VtG3PT9usii+I+R+kb7rGXSsGN+
+VyHgwERkZCMz63VEQCoL1XW4zg04ZGeOhJ0hjdlH1hq0T4Oc+VGx7YToYkdXjVu6ohYk1WLwOHS
wxe9uCajEKt9CUfY58J43+d+xBXLWo47KWrsEc/CVLrHLmm1l5QoTcZWjqT9+8fXnbYDJTkdNF6s
588NTv92TCWGSxmxh20zpWDw9OF9/P7pdE/vUqaLS/70efFIlgIKUp3XA8EWtJMMEvdIPZTsIQcF
jsNUzR+0zs4XUsAeFFqIrBYSH8DM5QP99D6C2JrTIsJnVRL89TbiRdnmRR/9IfOPo7CQ0uWkQ0bP
+ryNnLoEqFnIP/xmNNiKE1mzmi1F3P/+Ep2/7DgKBC1gpuCGoKKf78IBjumyjVWIEIUsD2lbRZXf
5iEVgLA/LDT+4YujQuMBZevPRvi8eZul6CDLUiq+HBRswoLXQsTg8sci8EfaxYdS8M9/LH/nKwrV
BhVW95//8ct/XSVfm7It37rf/qnt93IRBrbnf+iXn9z+5+m3o+/loif85T/wj6MtvJXfm+nueyvz
H5/i7z/5v/3NvxWKD1OFQvFrKYtu+WmYsX7JUyAq6adr/17ZyLfw+oukcfnzf6cK6kgQl84LtGwS
m9lk/bek0fqLsQmuc4dN/hIsyNr9X/kLxArSzYQzSNFNgb9slP7OXzD4eWw1Fsi3u0D14Gadvn3O
++8JCl8ZV+N//vuXiYp6KkF/Wtd1Nsw2H2FZSthqvg97llYzpp1CKoqhiCiYDXR1wG9U4/uCpelZ
rDHXYQNrdfGqiaJVA7NN5cZwQWZvcvwXlc/gdMiC0M4AMRiksI5ruBWSEaFANxCUER/ggOdV1QMn
xiDjQj8KN2OTsbz4UnbEHHlSSbo0iK0e97KhhuEjLf3MW419oxKEg56nwrGY2LETszSoNukoHoku
dbKetK4uvtqi4B3pVz8yVbTO60hY0bC8y/vE6UaE9u7UjR0uAtuGOBN1ZSTejB9JLR5MIRLjjG7c
CbCq7d34I9MFJrGxqptGJ+yFgR7JLwa2C9oGeodd9kp6Y6PeuAw2v6TscLTaRwFmmKMvxyLtnupc
yGJvE1utb6fOIW+G7BucXDnxq2SD4/VGquILZSKbJhqnB6JY22u8gL6JgjDQhzHaOYUWf20V+4l4
62MX9X5PP/1Sz7stbDFM5sZ3fJm3NQkySdAWOXGqEqFoUWuqP3Ue44e0vFJ0MRAMR65u7bbNJRs+
Y22VSEqEp1zysZ7DzOQ7TchFbDP05ml0iLrudRyO9Aw32FgPmbBxejsywFcz7eFXAMIxY+fO7qxL
L8JAqruXWEjWc2fiREQf0hJqCxPhaZrrq6oZev1KEWV9MTTt9TzFZr+ayBjznSG+HaIi3UR4mg3A
BvJiHNvjHOrWpnVMNP40LNYmYsBPs1mOR5qk5pGZ+aXaSfCsY08hsYsz637gQyK9iJ5seDa7BgX5
rdB7tKZTD7GJTUA0NM1WjFO0HhdnGZ3nx07BctqnWOGxhNCnq5Cd1114kZOYx19EX5qNue3t6PGr
l2BJ7ulUr8CLPVUZcAbmSYQ2NtJKAluOVR24cxU/YlYoL2ybDGltqt0YNVV8UL3vtuNGqwKYvoBD
gL0mG5rLgfDZaHbY6So6aXrATqYjbrzUWpeGYT6UEUyUdaWiyF1pAzA3jGy4h0S1Syw4Tebc+A5Z
tZu+GY+Jg23I4+oTbFcee0OtAq79Kk69AIJRuSMd666v8YhWSbfColFsmSI/avmwEZHS4bKHwrSI
CHhlaGagxTb3QrKASyyj2VtZRVe6FpO8ytlK8z+niziX8yEk/G7TSv7lYGIN/dK2byQ9J2Wv1trR
YPTsexOMaPwR1Ret6FAl18mXZszMKvDi9JuDnbIKUAq8tq1lXHZDNa6WLedFAsvj4NiVeWUvIgcz
G3foiWvAFRJokJvNeoyMzqz8uRqaTVvgV5+FcZWydfHtVAmvWml6gY6qZcVZeTd6Epn9mta+XW7M
dnzNtPzbYGggBTqhHU0XCtbOLJXpEuGptiVseUyIDORvM053VsOgEqWpKJF+4UBEwmJux0nAcNti
xNTtMc4N60LS3tvoBk3i1VDU2wn5AQ9bISUrgavXkFpAwBDTnEW9vGQrmoprUStvmiKv27h6I6IB
YS2xxkwJp7J7aMfeXcXx+JA5qFQ0iTKo6+gyYRQlx6G6VK3wImrMT5NDAvcXqNzYtW2CRt1yn2po
zoHc4LHRwsL42nrUAupQuMdRabwrYniOSclSmEEKYkpeKjemHV80SXVMMInC9C59WeXmdd5Dc8pw
V7GiIfJWeyJcFZWrGdmSN4GhvQHP8eCiuZlv9PX3ZhDhG0S2l9xT1iSD9b5nZMIHaORupjF8Dvvp
CvqeQugXsWJ6gTJZDb16n/bGEVSwkQUxIfQkYVciey1DpbiOChISNSw0q8YsdpitbgylP05Z1CBk
RUe76R1F2yhS485apGVd1riIOcnBA9sLaMPC8p0NBy2drxCeG2ueJ37LHtVnra6TAGtnTDpaVFsH
inoSZPmL1L3lvdOFKxc4GHrHHSy9LPDgiks3BqbUqnhhKuuY8bLcV2HXrmw7doddVbNk2IOC1AND
8dQDLWx5YURly1R0cu5DI/5shcMnxyqdy8l7ArqwK+ERjn29bAfbyzkMgymd94i35SdsgKrveHJf
NJfWvB8Jeu/z+jqroRxgJKwDw+LeL+unqFG7Q4S1PNDogqxjvTog3RoDmXxlpSNVIY6sq9HTzTtj
NKNvRv89r/K1wVMN26xts5uExWHK8luvA1OjjdsuzC6pNOIVHNbrhEGYn+MAerFaanGvuMxj4/+x
dybLcWPZlv2VtDepEaLQN4OaoPPena1IcQKjKBF93+Pra0GKzBKpSLEiZ8/sWURQCol0OODAveee
u/faN7r5XHXacAzFBPFts22W4FLX7QkjfLsVZrhMellnPjuF5Rcr7C8Vnogxkk6I8fZzkl2n8o5M
BFRUmE4hd4WgoZSCOqB0I3E8AYw6hrPUO4Uk3M+zhnJcuNQde5xh0exyOfzG4DuGOyPAwC5roJTQ
x/ps2x1N4bWSrvtVsN1mPsXBw2At9GL0BM9RYHlWlVprf2Gj5nEWuwQFvVSMk2V1JytfTCgjQ6Ta
TfIVJTE75uWF2sAXp9ERm1OAbnJSKSyK8I5GGY+ZxFCEjgsmWttKhKjGW70j5Ow2F5qHut/FtPXZ
y2NIhlK4fDN1vEsVYi5DcPup9gkc3eZFf9YXBp+npUWEy4iCTt8edMMxzDNLvROP7BX1pJPllDyY
4OsFOV0/Mg0wGJNVlbYw5eJh38rTtpPqjW68ZI12MWPlKspLLwWrRdovt1FFffFZE465ogIDgShE
SQCJa7BOeb+Oig9pZrhkM9Md82T1ayPKjFNyfNUjyjTicD+hC4ZkpHtNoDio5T1TqI9WVk12EI7D
wKRtlddLWyKmU/es6vxIpv6YrEtlBqxJgQbrVzV2drSuJbGqUSKfUH0hNB6B6qBzqa4TWD0p7glj
TWBEt6wnZuOalqVsUd7uFmWjzQUbJgrh0a0rVdwtiEGrMhz2Y5+RIRkQxGlql5FkVlIlpaDjw66Y
hsOlhWkjyDsIQcUe0Ue8DWfqUhNled22pzLpePaL7pFYXGWHxhRVJLlRBabGIG6u5TG+yZuLESXl
dsgJuuvr5SKb7UFqhoPceY1izq5slCJxt7nBEFmmN5qSV58mxRq29LNMBzcJetiEML1SfTXm9Mqy
pl3IjxCiaLljnt8iy4afqmn9dijAVUUzXLG0OTQwKaFWzEdTjG5rBeKRxnzH87fLsg2p9koHV6Ly
+M/RUuTjxRjtidvj7sYagsxDp+xJ2K93TDl6jmR9ZxjJQxlGlIejchvMkRfFKM1rzJpGu1O17E7m
yEVDgIigI1yVzU9q3LtgViN7kc9qd13L6x1PP6fqFR/LjcNcjOAxdhAiH6VYRLcXcmHAziW7yBAS
Zgwnr8wtFKHZX8LOCyiO51hzrJGbNZ62GYgQnDkdwJ8e7A0OnSD3K0F8VCCGoCJ3g7m6zdXyTMrE
CNpNuW/F5mH9Kb3JPhFeeBsnwhM2xpMxdDeCJL52wnA/wp6zG0oC2woGp4ONR0fIEi7LWNxWYOHq
LPHzqT6JmbQXlHxvxGAGwF3b4iTfSmp7P+EVUsovbcbjZahcjiQ/iJnOHaA/Se302UJ9bDbGKexF
T18KBRqB5eO+3BRxdT+VwVnttW1fIq1MeitnMVKQzd2Jyv1IUpKj60LgaaY287OAXzRxsgW8j44W
pdlOjlXPQMwvCn1EPlRFVFweYnJP8OKQ4e6zKIjxwUwb1D9P3RA3hwh40TZoJLeioq/H2ctm+IRd
jRQ9uw6DvVUon+k4HlLulW4KvRxDFOmxIm8WHWjWWD4+oX1Y5LaQVyAHAWDAdvFmqD6LqZMlDIZn
W1TisywqLhhdoFFEyTE6JjDvVDwI67ZHp+6h77lY256NVrizAuMuzAb8vJJd5BmiQ336oqWHQJDh
91UNodgSCL3IuujJMLnQ59m8Xw6JJdrhoml7YURjqk9U16pWbTECMgopVMpb3ENyjaf2URzFjQW7
SpYBcyLlxKw7gsKab2Ij3oHPY3OzALXG6oFKhVHGq9vyKUt1r2JmH9kqlw1kg8PgmFp2JKBgHy2X
UqxsQ31ko91TutewFLx+Ka7jeXBiuHZl2VD8de7ENVKLi4ibIC9gO2lUxsFIVRWK14usbzVt2KrM
bmkIjDDtXDFP2PNsaDELn9ruAsXmttaiUxuyWAmfR+pJF8KgH+r6KY0GN+nGT+WgwIPJmD2WVEjv
6O0zPyjNAgQnPCctYqYgFl51BTM80eDO0CyILMP5oEuTlrlEjc+wkuY6e0lDS8WvYGiUeWJassKB
YDizGlLM5MHoUzZbTHWiFu+XMnghI1fIbDT603KD9zmDO1lUlroxiC1GEpPP4jejTeQXaezCmyYq
VE5civXnqGryJ0tscxX6RZe/NgGeZKeG5n0CFmfNt+qcwWxABz7Xp4jQ7J3S0U9yhXAuUmewtBqZ
sSgkbAvmqXQZWMNB6NCkVic3XGnQkgZd8yyyRqTKi0yU5UYQsomYBkFLgxDL0rrUCsOROSuPniCp
4ahs1QawnzYPeDf6HnqolcnpZONKEESHFnkXgo7rDU8sg8k39EYsQKIWWuSRSnrWdfgouCIUQBWR
+KTUVojZLBdZ82fygpp0EiAneDgg4ONRJBPBpGJ6N3M61jaYtDLlO4SpsKu8CbwC0k51wDWUUV0N
OARdASnXfUi0A0M3G7xnLR7gTfYKqdFMf3PzqOa9Tkh0kwU4YJS+1f10iMPjYoK9dQNojWfe2HgX
Cn11HGWBYDC8RsZtbhjcNDH7/nfJVKV30C61e3LOx1dBk8BSLmJjZSzuijR2IB/n4+oXZ2UxTjjy
0cZpSeHXakYBJ5fqQuVOj3tx6xpBtxMOeBpdgwHDcNSB5SYL5Ua/CbJKuzOTZWBkmQcM11KljcIx
aTGUO92E5NNv9WJseOgAAHjKUkwwNfVYG22DjulFVauMp7/vjYsJd4A2U1X20FgTU3aIgulLJ52Y
LB3VnLN1HB81mJOxlNxKHbtIlASAm6j4S5wTLQaK5xhb/CepyeZwk8E1EG/HUYvXUU8VP7PNKOEG
wEE7u1BrXyDkZdyAaR6jmpegSzjzap76sdf5t3ql/3+N0Ev1rbjtmm/futNz9d+hG6ojMP/3YbSf
v+Xf3nZP1+//0+Ct/qEpiolY+r3BW5X+ICOLu0/8s03Kz/zZDV0bo392PyW83nRR141JkZY6zcx3
zc7fNT9/SCl+6n0iH1MQWUgmr0kWJelZb7cbqm6YwFrQQSnRAcLuS6KmugJeRmp4FXYWD1WWTVg7
wHQCtD3KWphDezDy5WIsRkYGO4XduiUkC/VGVooaMGGydJWLo4Oh08iL/PNML8ogKjucH1JG3s9m
mS70EIK0fDDhpGs07MdCqniQS8EYnT4sO5MZXlnv7KAxVTy2DcytmrZTOs+8SBQMw72kh7TawqyG
RuEAfUuE1zTrQWbxjEYSNCpxiuK0hCWUyCy+hFgmGU4MJYE6W6nKFA5bQjEHSiQ6dmIvjKdsjAvS
vOBlMqFmcwJFTVkIhtZA7aq7cKa5Rgz50tACqmaMvc9mJ5qxY0a6AlmiMGLonZIhpKAXjFSTnRkD
bSRvkjEfg2PUdx09oUCMeQQxY2jPQamZ4h3INm0SnRRHKy2SWAPmFB0S6OtYsBWsyk/z1E7NPZ3i
SXKqZsoZrkbAo7TEIgRUdOLAceSOMevKfMZrJ0fX1hJYT1OeT9UumMohOk0x3SlwaZquJI2raAJg
HD/kFBLZSXgxxFnodCt2mnIzprANwiqHSqjItczAV44mdwbdtaoJ81trlhJ15oOBvoLwzgZ7g2T9
lfShmSkEY2Avq9hMoU7eCz+84wiAO5zkoZITsWPjsAauesx+mM3L785zHD54ijWEhRRZYCNJgMfz
1cSvNIMF+ZYQ8GKzxEYD6whX8n0gVt1zYegJheNqbreKLhDop+B7r7O+SnZQCJv8RCKgyOyw+uMJ
W22ULWxjvdpDlJbCbRvJc+CUi5pisrOy6xFhhtupVn1dkcmRUSaWAP/aUZeuoaZ0u04eRq/GfXcv
V6P12Il59YXV9UVuKuNBDBNhtvVUUa9LpclfZDOkv60qPeQ1WeybR5YacXOZEjV7rMRJvK1Dar+C
1dHnJZTDUxjKRoGtXoLYVWtW2dDgL/wxFm6ValjAqZfZYY4zvYO9q3VPAA2q6wwBxJOsNvSkZKbg
gM736u/NFsU3R5bonYAsO4cncgCBLvjr3K/gj9kFOHEAorH2ActK0Zlrr4valB7TswZEXLwbso5V
bi/rR6wcvIQqNzehWdxAu6KBlKnTK0vi5jDPpeyVUPkcHo4UoaLYp7cwG8vSsSYtoeqS63WVnCa5
7gHaF/WDUWa4T1NkgOm+1mLDOsQx0VowrsbO9AcLMNg5E6Up8RS9ivJH7oNk/IpMzLLAYI6BeB6G
PKvdXAsF/XOYrACeZJ5o/dP40Ci1owXDD1FquXBepqDFGMyulXGxhM7Q2fcYa3ZOljR6TRWddoMQ
6NXNoA/WFca25osJKtRYt86NCO1qJ3e8UlzeW7C7dJaEwsCbaNibf8T5XRReIw6S6MlpR5x9OauJ
fNWOXYT7LJG61hFDUX4cJXBGHlIt3LlY6hEapuRhGHDVyrh4ztsobfZ4ecpkK1QYFD0kQCwC8zVO
EO+0BdTsQdFrcwIRNJSyo/RAn491ZVITgJhtlw6CP/FO34yxkJMrcHpV5XdK2TTidkEIuNxaitQJ
jlXXcnZoCnb0C7clyiKkZTnQVvtphvsLZ9Jfbb+ydYalnNgXtCXvpDksxuRUM/qANlKHorwwErF0
q6rpXv6D45A7jbATWTemi7cTljZK02IoA9kXdCW+VNE4f5GaaPhRuvzbXcH3qtV151pDHcO+tYWp
SV///qdd+AXZZqajj1jLLGULhDbGSJcVNy22FRsSaXuaAx6K35/aL3G461FX4SOK1TX5ZZ31fz5q
NpKIxye0SllI6OmESaF/BQbXU40l8RClxRvWouzUlLVVU8BXCgZnUTU+/f59/NW2vSFLyL7RuiDA
e3eJUa8YaGfZ1AiL8MEUk/DIVMv62Jybvy12ACGHTlZHlPTdufL2hE3GzbiU6FR2YWHdgc+Q/KWd
pQ+iiH49H/pIWCExJqqYVN67DgqDgAN6dIGtA1h3WktuYT4XwZH90OpvPwU4NzA/qVw5dlzey56W
Ge43cYCBrTUBOs9Z+hqNhG3/3c+HW4SqDbGZiuXyfa59pmtiB8LXsqGFUfyEKounDrTdlZwSpvD3
z0incbk+2WzQI+J5+xGx6NZJECE4iILhURCHFQiRxh/cB3/xCenUoZK6upfWoKC3B6m0WoH1MFo2
BGPCRFi3dukhHQr2+YqyBdjy+wv461iF3EBeg6nQF7DWotD++TnTZ3YAeQgtO9Xb3pebjphpYflI
ZL++6TelNQU1qmJi3skFYrB6J7SDRm6NaqFadgSzDX9xlB70noe7EYZ+Xxbi19+f1F8cjmUBae7f
ZaWq+W7wgMyIybwlRiNLhPiBFEjlIGSWfGjg0Z2VeVY/iMP9dYgUoQMq7OvjUGIt8+4ihsuYiHU7
w5u26KtlXfiMO66y9UE6g9UtbHnIPzjir3cJR5QUhQmfYU4x3l3QMA4VVvgcsZbL0l+MerKZIkga
EGEl/P5i/uXJrYOGopu4YrV3d72mFu2QAUGwqb7paKXj6COw7e8Msyn9UErie6MdleWDZ+2vTpCb
n6cASxtClHcDb6NnISNIb9imJA0bAcWJJ1dp7bdV1m5+f4K/PgJIsxjd+brKM7V319IIGQApekE2
DGF/iAVjrTPb4QMV6Pt7cp3QMOyyM84vPAnvigLiL9iRMwCXNNkQfVlhFxsLBY3XzSC8c00I/N+f
1V8ez1AxZGL7WAfgtw92QhbIbCZoaS0jAdujNummj9X5cWBY6W3VCPMPLuOv9wm1AX5z3MJM3AiI
3h4w7hfCUIlLtaWxYOeo0Cm95chI71QcIPsGalO64kTZyP/9if7lcRlVxPU8VdAqb4/bTYPUzD2b
evWYq3fZilEsMraiikbrXmZJHG4Bf34kgP31npHxEONXRrxOWfC+LlAJzjAARll2FzcDxIRMVL7I
MFXc35/br08BukREwwgTsSUSzvr23DJqr+8GFFsX2PLR5vArY1C5SSysAP/BkfhIaLhwMAC/b480
JNBv64ZghFKU2s8sp5vKVpdW3Wq0Yj9ykf16b1Ib0whBoIgdG7nb24NNetj0IHE4WJBt5GyBOdUa
L2OotBtaGH9b34m6c1W0qSiVMSW+G0kSoyQKB185vZVBdNZAMxfbt/XB9fs+IP08xa3qO5lBmTNa
RdHGuwsIYmPKosKAfB0shNL1+siOaz/L/ezqQllYyAFMrmmCd/9RGMyGlqqIZMVWhIhYADD3o+bI
QaTmiHgL0fjgRvr1fuXdrSUFGnQN1NW7d6ex0iRBhbM2Kr129KAX/VkneOr3N9GvjyKqfQPTJ7UR
9+V7PT05ZkFk9jn0fzTIx3KZy6tQVFJXMtvqdja6+jGGCP43RfxMu2vNrGGFAPnI+b29mUbBCIgi
T00gH4O5ibQ5d1sriz4Y3dbh+c3Hi/SZg2AS5AmTzfceayNDFSZMLYlMc9G8aMTOQ9nK2J50YsT2
tdsgVRPOUZ3k6hGHk6J/cGl/eWQkhX9MajXctEiV332ABuqAvINqb0OVao59uNC2UBtp2k7FnAIE
7KCy/f7DXF/x3RljalqtLBTRyKLfPaTwgqo4YpgnSTRSi3s1gMtrM3eE6m7B/WZ9MD/+codKOBVZ
+KyGYY67amZ/LkTlCq2oauga+n+081bAVgopBn97klqPwohKEQ/WQnovw85QIJpVpGiwxNLWV4pS
2mgA/h2plCUHnVL1tYbE98Fn9+tiVmI80HjuKJ84vPV+7l+6ALMOe4GphfQIYNpjrEufCDs+m1F7
p+XDFzWIHNWAbVPq/UdHX6vPtx8kjz7wCRS9cE+V9w9I1y3dKM0ZyTeC1ngCkNsdoVk9zB5tutKJ
F3wy6i65rlsSE4GKtduePL9a/fr72+nd50v9KIEiWRkYrOfXQujt55tIZVGQDA+VwSiQZwFvd+iF
f+Q7/6ujYHZlIFCgQODAensU0DPzUsXIXTXsNU5cR8SwLSQj/v5c1vXDT1d09XVpzCZUAJSo2Nvf
VYxxIRNxASDRsZDPIIyFOfSMeCVuPLMAF77tEBmVRMdpY+LPIM4qH+CEWX8A3Hj3gK7vAnjAWvhQ
lLNiXEfjnxozGhx5M1qqDjZSKNwwf6D1wIkyyb7QIGD+e+tSjsYMJ1JN4urHB/Z+GaDTKAuLSe+c
bgWUER8Jz15PE5hLujGaifv7K/y9Wnx7iVW2fnhmEKwpDHnvxrtJWoIGhsDgiIoplIwKMMBHW29a
Y9wMyA+7PWBBS3ZbqdHnO0TbMkKGgv48ktZMqM9qYy0JwCj2R/TnRgyItVcHfKcuCXrS3aCXpN4g
KDCq9DotRgQycyT1AHPZNnqaM7kRvSSVKsvXAwnSlN1RP5ePQSKqyfP3M/2fncH/AoTy04f+i0/i
GgtH87NP4vv3/7kzKP+hUhxaeFChLIsU2v/0SWjiH8zCBBoz1dPB4jv+tTMo63/QlKFQXsswa3UY
/2unUAYYbZD3bdLoUNbejfl3tgrfDTI4OKz1yLiL1yUx7+Ttg2eouTBKVdC6LXa7k0RPbR+L8vVP
F+Pqx63+sxnjl4NQaGgQOtS1vGHqf3eQHialAL6GPfNM0PYaeWPbGhPwB0/1+7KCa0nFSs8Cbg9z
ufluDEnAR5dsrjYusYTiYdLju0gjhisehMwvRUH6YJJfB/mfnmr88hxuNZPSe8TVtX5CPw9ZrQr2
GLRbQ+JWWiPsIhZpEocM5aQ2EjUyx3sClU30Okqx+f3lfDdk/3lkGgkoANdB5d30U3aBOFeKyJGz
ITsmgE936ITRDnUKfq9h+C5y39KJmCGTth+BQ94N1d+PTiGFVlFXWRxr76alYZZI5s04ulWzHTsC
gHRhUbVOZHYf2dl+PRT8/bVzvt7n6z309hLHAAgzJpveJakNxp4YVn5ttY2jwcn/YJBGPPzL5wk5
g6UVNyKyzF+8czm7Xm0bI1tBBqqOTl32+T6WjfA2xjxQeEJQNE+mGOIWjGtFQk1vjoAmtD5/yuqA
0DAtQnCbQKw+1fMQfGLGBV3UzGn8Sky7Yk9FYTxO7C+7ajWJfiCbDorECR3syjauSly7Dui39nFe
svBBHYLhSZCi+C6gUYFGNQV+Cumr60RXziCrOm0QyZoH5BC8rBk2C/lzqniMTC1GgboE3ZHtaR29
WV8j+ANNvXyCAyO9BEvTqx4JB1nLnwJ/RCMsW68TLEXB0Wn8JchjWoCOUaEHByORCNgcLPNkJUpI
4iLM047g3VcDpWrm9FlVfB17uOG7MWk1EtK7LL+Po2zJXCLYyOBp+uUeS6J5N2uzeh81JVsblBjM
UZ0hL2R4AJ3/nJjS/CLPA5D5nDJD2pbszJxjtOeznScGAlskm1nhhYSN9WBthwiOSqBNna1MHaKu
pW074hN19qFVfWkBoCE/fG6NpRcpXCIRA9OoC4feMvPGLaoOoa1ehN9EaJ6nIU3qfiM2dfQoakl8
J45xa9hKo+l3S6eMiOQTI/tqxiMlggrS4DTCuz/Lybx4nSGG6OFjq3AW0CMX+s3iPq9klZaUILC1
jlEDyZSCgA43r74IOqm53ejj0g1Io8EgQNYasoFeU4RtnWf6WVLImcDAlFhfURu117G4JlWI5F2Q
6Zg19YmQckiUGIuK3omqJfkU9HDDPc4JNfiYFAgR24SMrqpKVdJ66kkD9kx6pS+RtCo6c1FNF7kd
jNYbJCJCxDiU0SDqaumGAYh9oaT5tO2QFX0lFp7O1zQvbHuC3Z2B8I769Mpiv/yUwV16bvNmeBDE
ZkEYXSwoOhmZkfFDsdYfTa2WZ3toyqGnRB7kB6NKMkepwPX6cQmgd6gacxNG8fAFvLly04gwD5E8
Da9d1yZuOEqtSk5MIV7LvdQWH+wbfV8kvB252cpk2JZYx0iEK6zj60/FJqnVpdKpKAPmenEQdpF9
aG5G674IZTTwk4f7GpQnl6PXSXS+reqXUTm0We7U1pnIgCm/jAnIVeVkBncd+lRZ8Kc2+zHI/08t
9V9kD/003/1SS53Lf+TPxf9q/5E9F19/rqm+/9yPmkrRUEtp7P3Rn1l3zNaO8Pit7f7PfxGnARqD
NRlMJ/o3wGb+VVMp0h/0cwHOU4KYPwqnf6qv+CvuBmBYwD5ZCa012t+QXxnfOyg/3WFQLLizqEWA
z6yqL/XdHZYNI8GZBHE52D52SXysG+UcVuWXspKxPckZy6z4isbKfR+Ye7Z794xVpwoquJoeJGJ4
sBgRcF8x+JIoa0fK9C1EAUIi61F1mLoWtzR5phnjOvlJCKTZgdQZ2gMsaCcZuuchlp1atNsU9xyD
47HQ8A6F5FnJav0sqxtZ3ia3VnJBW99U7qjac+UHpqczx+6tihzujWbua/PqAm8IRx5SYCeKjlNk
95ta9QBmj6EXdI5MUCEJ3J0PtdtuDSTWSEJ2IvSyyhNVRPVXVnqN4j4ub4LkQOp8DegzcFdhWcpu
z0ZOz6i1LXWX3Wa3iZu42SUIX+t7RbypT5poY9rlq0Iyc7YcMz/ztQch4KG18ydz3lS37EblqX0n
SI5YOqTXtvG3SLopbrFM3dXZuRQ+IeQAHL/YIVIoBl9opqRlVKc6YcQ3N4Qkt8JE2kmMC3gEJ7u4
u2w6kvy21ftriMvkO9Q9Dl/JzoqMuJLSljatW3SyM0VO/zi/CE/C0/wifv9V/P7r+jV67l5/fI2e
5ZfuVX755z/Da/KMzm6jvgyv6ovG+s4eV2atPp/JKQ1m39rU6VHGvqlauEcYVZVesZV9VlFloJT2
RTZT5fJzLduL4eZsTTxmzypk6j6z07vRjW4mcZcSci1vbKI4dxH54rk7Qmxs4IJciOWQNH+M3AEp
VHlpGK6Xi66QjHvNaxnShq+ri7+8mM3WQK5CijjTiMyXgkRuwQNb/HlyzMFi58cGTL3sa36aX9Pb
ySGKpLds62lw1IvdeHyf+VyqHt4e42mTN9ukQkJ10ch7JVNDISILDLPh6JOPAWO+4jwjRNaoljsX
p+hoq3fzVfQlEH2rvcrxThb7Sd4Wh0Bxq23U4wJpiQHNbkLhJWwvuX6Ud1nvhxt+vIw+TdPNpDxp
xf5KF/1EeORWDVUWzKrhYM8iEILFOBorcy79SQjdMCKXeXUyDbs0JXTBidVDg9tRma6ifqsMGzKH
TcMlCrnghEvNN2BrnKYIljpWQWLhN1pwUoJTdUSYPvmYB7qjef2ksdFtSa4aORbVwT6KQBfwfDuz
fNcKVy2zY76KJBrCZq/QVo2v0V18Prm+a2Z789WvJ7cUzuPzSbA12OZ03IgdoNbwMUczYQ6q055F
j5TkdvEs5YhRJbsTLkPk8YoysSWh187ehI1yNQDLxzQnL/fBjNa4bU8VjqOj4ofGu9GiNFRFZSNj
wSP1y9bkHPMFRt8Yon8susYibK3okOFjl+Iv6Okxye2bhBDyY4Ejr0qPFrsBAVo03pvVedWV+Exv
MEZY9okorfomr19TiHdgBvNs8gxaOzcL3RfYJi4pVZXJAHOR1X3SitviKzgjvLAUiAOZFcjhO8uR
uKXAuX29IAzlrfGJEqC9w92loKNxJOMpDcDdGd+sUXjoErz7hGoCkj8QTkKzG1z4XSQ9qKbGmW4K
0U+LT4X4Scy8ajjMZ/NZTtjHj/CVCVAH92N2UFYjp+mx72EXfp9difMdmkqVaMfw2J+Mh5HxULLL
6/wagwf/zquNdP1NcelP7en7H/NnP/5GZHjFhVfYyzqgof/+8a/WOu238gQ3vx13DIzLYXmYsT4R
eImUDxWUS6gh+v6rWj1rgSPNX7jtldgVJnw8OVq/szZTRcrUYF6ounHPM1XrdocDXWBdlonYkxeX
ZhpBZU4Y7kJgaCrvwiDPLelsIIKs3bDSz3sixKJq12j3uRcQ1m2Sn0vo69Lj4An0R7AI4BhtRHVc
1YL9SGxINS6fkGvzheUtR3bxBC2W7BCGMNiNtSmxWPY2KkGresxG3c/cArm/UbHUsK1n/Zh86Vlf
pa2jYp8gSCf8VDI9Eg1lFVu6b4YBU8dfzhXVv+pQJE/yY9Go5KrjmBwEVHKTFxMzk6MDNeXFm1P5
qsNnl7OOEupnNv68Yq/x0Mbdg6pNXqXilOw0XzYWLykDPxur11DLnCphiGWPKulLMAijm8r3gZR+
YWL/TGSARYuZFEeUwOio3aYXrwjM8IIe+wU+kWWBxI/GMRyc0CJzlcVZr0q7ttA9IasOq6NLm01X
ETKXCFFvHF/H8Gi2D0SgbiCApnYsRn5iXQlKn3uRpBI4FzJQzPF1rBWqJ+B8neIFDYQF9ERq8eZZ
l3y6lcLJprT1Uln1xKJ2qT5QZFQsQ8ZhIYp70wvTkyYN5zSRjnhnLuSRf2Jl8VUu1GOoXqLiP+j4
/XdT+a/7a9+3Tv+90v/2W5E+p/0/du1ahLb/242fWfp0z/E/rvvi63P5c1n6r5f7UZqyN/vH2uVi
c4K9H7r29Bl+lKZsFfzBhtBKUZM16tC1T/ynEUDW/kAhhTyQuhGALmKY/9fuA6aySnHYDFxprbRD
/k5pyi7FmzaHgBiL1iGqpXc9OG0ZVSMeEpACu/hQ79uzcBG2il25lJ0MwPv1f9Wzeda99UH1W8fY
znvptlFs6RJcx+fBx/hzmh/mbeBNfu4ll3ET7wlqcNs9U8FztivIz6A6me1qp276Q+KF7uTrjuQH
TurKru7pe6ZXDzeZ0/P7yZU3lZveBHvZqzfTAf6BU2/rQ+upjuANB8WNdoS9OosrbeNts5u9zhc3
6r7epJvEnT3BL7f6vroN94oruem53cSACU74BneVX/man5/DM70wySehYKu6wolA61UgfcRduWUN
vzcu+qY+z6fI1Xequ+yzc7wbtpWfb9sNbm9P2PZ7c19eB1fCObtN99a5POXbet9tGy92JM4TF5En
nLSN4RBsjQGIKuIUXTKGRWo6UAP3wVWvkjL+Jd93O9VLvYSXxctlf9t5CPL9O6Z1R9qQe+TJXvCq
O1xXv9qyQOZtqJ605RXceqO4yxb20a71PfEqOE57suI2qYfokTPrN9hM/dGvd4unbJpD70qbZqt/
bg54WX3F0V2y546Gh/thk+6kzXhVbAd+arzJrxlmN9Y1JV+7I/vpenQNJ93ke2At6QZwmFNsiPty
Yiewk320T/amr7xK+/Qq/Sq/YNfclryP1qXuu3OAzrosFpzB0/btEV3VpdyRlWAPXrqptqKfu9EW
LNp1cJmPs0v+pS+6ilPYtatfkhvxmH9dPlHWMoMwpsokrw9OcxZdYlrOytk6tbv0trovvHo3vYp+
52g76l9eJL6KDsOG9cxG2yVe50le6icn9aS52SZQdlHvVmQs3xpXxq7haJYTbxQn9Zf0qtjHruYm
G7LnHtRttZcP44OwI9vDlXmzpte9xPx+dsl/v8kPyq7fEoGFIMc8qzfSFXfiJvBiP/NqnhORP/va
H7J76Sr+wvPDdybXxm7ekPmh79WN4MeX9DY5JUd5nx31ExrSm+TEFs2mOWIt3hd79dB+IKtj6fpv
HvV1E/Wn/sZY9kAvy1o6zc7okeIz+Z1bubQMt71t2BXvoXFfX7tN7GOS97JdtVtc5hMPZK4r3Ck7
Ak+9/Dm6Gp3MgY3idv7oyQ5uFvtT7MZ+b4+O7Mge8qh4K7nNjifMT7fS1sBM/RJ7hsdd5ERu7Ugu
HBU/9Uw+b4W7vDuo4T7fpA6LBaezMdm4+WbaltdY1reCp7vhJtzEm/gbKcqZsf9eIi1f8vth2x3S
TXpvUvZt4818wUPL3Z+WznC4ERxWyZ9Ut+HPum3wOfL1XXZQd3Cb3PLe/Bye5J10DuOjyb100v8v
defVI7m1due/IvjaFJjDhQ2YsVip80x33xA9oZlzpuH/7ocjaUYSzpE/2Z+BczAXanVXFVmbe79x
vWvdsCHDOJQft3vt3vB6fzoal9I4xOF0jM/FabtGfu+rNyj61LcmrwYv7WS2dFkCzZHY3tApO5HP
oC0ZVma/j3bhvL0U9ucKqzBzFpgwdntPPA6uYn95h8PapnXn7q+NHGq+DlGNyyd5fQiJxDk7TAEF
vIt5bQ+Dv7iaP4WErJI7e9TOnNSvCB8PFvtROMUf2XFu47zpthimDpPX9n5zX7DhZzXgoVyEU3Xe
fDSFvdmpvfFk3RYOFOxeft38wTc9814lNAwstoMcyIHmGm7q5m7hFV7lUFQNhZv1uF+3uKyf4huU
v+LKjrlk5tV+4nEEQkg+PDWID6K3uLndOLLbXQcndaGC8GjwEKhLp9xjLMVO/dyf7dnu/DUgiWJT
CTaIIPsdETFncrH6NuMyoeYiUkZgGGa8qj2Q+x8yx3g0XmK3Y/ulzx2frrlKKOCBECLk7mrPdAw3
ujdCMEe2HAiHhg9Jjs1T7I7O74pP/6B3RZX8j+2rHy7zT61x2KeQjEKF49J6+mXDlaF6GJCvuS1U
F5wLky+8+dA6OHwDlpJ89pzwJCp81cJSWK7gPuQ4oNHT+DFlNT5Qi/ZXr7S/VE7lMIRtJw40Tayk
4TZBcVwP42nkGEIE4+9HduRqi/tqBnow+bhmG/YPn7wOr9h7HaGsvW+b3UnyBzf2uEOc68S79UDy
u9A8Rhiqzjcx5ZEHSZMtvo7HItw/sD/o7DGGh6+L3/JTgtFsvZ5/o9ctJzMYPSJbZ/8VO+ht38/9
QXNr/l900Di7R+0sbL36YLElZC6ThYhZ8mX3D289KczYLAizf/siDPu5E7s79xLXdAt3Y1dmIe+6
MLjnUA36MPLtSLIcnS/D1rqyaDhxxcd68c05G379lj3y+ayrbHdO5OmeGAz+xnpKbuml/NMdoooj
n8dys6eE2+Ip8kyv5ZbWdx6L07gcwE+QjMUP5BuIbJ7QonXVYHN1Vq5w6YGEELs5AJKwnYtf8TjJ
BFzLTzizLsqljhnAN0WswkZ3RQ/SLw7O6gg8mf1v+5qNNgcsiP0Y31F4u2PU2MjIF2E40Vl1jZAq
h79v5dqzeJ/k1lwExTyvZDjxTLXJjdwo3L/OHioN/nhaD1gCnt7KbmGBeIVg71uvPuyLhzzss3mZ
jyvL0XPXJs+eeCKIguachP2x3TeqqwfCzf6kDXc9VNgAgw3MPGBQeJ3zUHL3DKmz4SrnHb3evdxg
J1gFCNW+rYVmZ9x0warsi8zQNkFdxO6RcRyK31CQ4jlzOwf5NAT6QT8MeOXUjTzrIJywQSfhdj70
h5V9vF9LJcrbz0jsZl7ybWNKuAokQHlATdCBogzhheJqsmdw8vYtUZ2xTQf0tYII6yKyxRKMR+R1
wcASE3c4DQ6r97bn7TkJaw+qiSTAXB36GBtk4Oqp4GC7QGPBSxGIeOX2kxVqYefLnFk5SIL5QA3o
205Nr2YgHydfOHT+gSH2kxX2hyTYj8PASyoHdT8s8OTBZ+FS18H+IAR4QAHus4oZts67rSqCkSWV
2dL7V2WG1q1YUWRcuAQYdEyg7qweKxpwpO7Mp/lOvWLTeNalC7uQu683YvFsu/xA+OvyaXbuzjwR
BWdCjOR33EcV0FuxRSflNTCmciAx9cHMc5mvEu/eDT+FEsLVkZMAVQcHeXUmHAXngjBaDMyL9plp
uFC8WwN0LrG7q9u8CQFtIY47tsGrP8wcx5IwAKEvnEvGsxE5hPuVAWL6Mk+qCIlfHcK2Q+RWbuNT
23Riri2Fpme5tUsw5xQs8uCzsC5kBt9sm/hthy++hMXaPc9+WpGj2M2QyKPmpDoK8WfDVy/t7txT
v8SPJKwprFSUHwBme5I/JCwj4c7u9biV6cy0n0spzpbs/D75Ul/3pW6PFAGcgmXAevL3xrMIyc0g
e4wIsZubMmgJVBJXwT61AQUZ/VLdlHfr1+WwBwoDkU1KuNIdsBwc9SiQeJl1pfoxnchKvIJznF/i
Y4EKrC8d+N9j5ZfH/Bgf66BYzwLvu1lOEBJe+q8J0fJe79Xt3CEIotr9VPikVAfuxafs5ai26LPB
7MSdAwq1dnohK7IRSyRKqoPGTw/IRPMqohE3I6VI7dIBEseySK5AfgLjxv7PRw/3CxUgcgbLabw9
bmk8HpC/XsbrcoaSwjfdwaOCGAwEatDSgT7l42VPISuJQiVyrGtzUILNawnZc0cMm5N2jR4ZOBz4
QXwwnlr9CfYI/Uwg5iV+SQszMEklqG9TLA25RZbFdC1PfwRfrobDKQrrJ9aXjaK68s1IFlKd5NsZ
wozGTp/UkFruSXlVv5iP6m0asDy8Nnug6RDqL+lX69qd9NsyiL0CYiE7ze3Y2yv8d4IneN2hDHCR
hJl7HCptNlQ1geC1fE/mqZ2YX0fkSwgM2ZMzupH9eTjkRFJawC/s1untW2LTt+qtr22ae/k5ZUyO
vAZi0GD2G48w70DVQG0PFSRWofWqaXbC257lh4iiD/uEH+pHXkzMtz9eYU/6CMPowrOTTdawDvc8
zPr23KhVHXo/e1OXk/BKeMoGFPpzdOhd044fFUqoYdqFW5D4tVO52YvEfvhM4dqOPs/u7C/eG51Z
jEJnm7bJSeQeodvyVEr2Orurp1hueFBI2TBEEIZCH2Sr36JG5Gy4BMw8JRVsci7SS9G1AtmXpIDf
rnAoDu8Umb2hpVdtz7SdH+XPZZiGnZdcN81f3lefghiX26PbCPkP0q+WK0A7Z0PJwj1+uwvbCmLz
INzJvu63/n4bA3FyhobXl+K+uMJrofo1zm0P6wiCMGsoxTvNgUT0Ynjsdsx67Gde6eqcByrGPlSX
BJ5VgM/hwbF3nTeAgzhabt7ZD03D1VE0/hZ0p/4ebO+beztuztN7Fuzx7L5cewoy2KTQXIThfS4j
fhSwUbo9HemP2LRM8HnfDIoNQoPvtNo0jvhJIhGAwoj/ziwZBHZ4F8td7ZpIeo/qhBOMr8TUEmS+
vuwiXY0bNffvwaKThgaMynCzMJZxI40TYeT3cNAiiE7xh6bfPtYYfyssgiXouP3NE4L9lbhfZ7nR
+ALqwTqyjx7bkPXCKc1e/2Hzc2KPzjHxvZk3BeYBzkwbRxrs9ZchYJAfc76vMikARpmw4DwBTX4H
DuALPqSMXubN+BYCF5s3cMMEUn4Sisf0ipj97uMMwnrZJgNRXbqbBGKJ13wl1cbD7OmiQFTx1/G3
+qd2/W/hN2jqP6axprCk5Vo30oUglUiz3JyKwhJ+3ftCnOKhXLTiQyrFIQHgARhEVjN5BUkn55sq
NhZQdSxcHVQUBCoUww/F7R5v0TrY/UKQYOCoT1FLIjK1t5voKbpEF7hkb7pQ9qZwDoCiBHAQ4i2o
MRFUz0eNmlH/oXhcvfgwhBHxHtxuWGwR60+h5lAe+0vhT6eOVhVVGBcj5KWX4aSHu0UcffNh2tM2
7nD6uHxc7FsDJ1QG/dNG86C/ZA/9190NSI+7fysp3uSedqDXgAvo74zTYn+eONwl/mA3VZZNtwbX
j53H20Eng3XQDsiUbvwZ3glMMOLdTuYmzrAnlbtfMd3uJGANaTAc9XeJwJf6kdtAmYrdhCeMK+Jo
DrtL2UgsZ0JUru9QOXFWH8Zi8ox+D1r93Skh9ufPLmaC1+wxWnS3+Ht0o1FoIGqmAbS5e2ywl+9k
r/EZiuHRGA6+NADe6tfu9u3rJASf9KwxUzyRHjdC+9irw+1YKXe9znG3a0pZExYdAWsiaSz54mRV
MFIg6n39ga+OGWB63Js+CHcbB03xFg/aVVJ9Da89HXDMwYq9VDwOB3lW6tP9xfkvxD+dv8eRlgsX
P5nYim9f+Q4Kmb023Fi3zUX8mN3tLLWwu3nZZeZ470YEwsnYcUqCMKhKKqI7w+3cfU9CVup2pFqn
9RT7TxmR4hh2NoJ52IjibtEdyEl3A3LYU1uSa84sHRVSQAyMN9/sIeJI/LOHeFCgiT78jM2x8ERu
aA8MFxZuDHGt2BJoZ7l1LAJhGZUcgrpGOe9JCe0dTCoWbLdjZ8iwrvHt7C7YpL3kUGJmKqIx8/+U
LWs7/O8H9OHHaf0TKLHMGy0vEtO4RF+lG/W483sSJxPvPYn324NOq+Uy+Zu7B7ImpnEPLSHnuxVu
ZqrMw4sWpg/abX2iqna3fS7O/P49vxq+csDHe+bRJCRJbiLqx3v0EN3Gx+phOjUnKVCO23tNfTMm
5tk8mSrn6qehTmA4nEmgCWNIjcOJkJgkzu8O601BrKHfdifjaTtS33P7EKfp5ceaLZKey3NPinl5
wTkSS7riNcfgbZ5XUXSRb+WX4Vie8UIEtDK+LPJHipwtpQn90IfWHZzI82cY1Nqw9dVTe7JuihD7
jhWnfE7lTbmRr/3JCEm9vT3Bz4Jfh0/+FnDo/4XKfr/Qd/77fw2WehX5Xaz/P+/XBDV9mp8exk9f
0Fvq0s/D7xs0v777O3KIEf6dBmLHCP/WmgFPtDddmGpllIbRRO13qCHlZ0aTdUBGILHpnuwg7R+M
9YxpgRiFuJLP+huIISYq/nBsmGJjGgE5NRGeRPpDqvmnmi005RBTo2fltJGF8S51FUL1rKM5PIaT
WfhgRc+bIX3UhvK2U79WQzx6a21cgM6qXj30J63UD2UN0HArbwRBP9aTemWU52TO+Ye0Sa5isj0h
6LEAXDCOBeMxU9cfpBxC10r+tIrxsVPF+1rNqZrkIBrVUvtSMgBewiaGLPq7bkJSZvflHBQFNJJ1
ln0y8lz/2kxTv9MFydLTgoBGoGltdUWbVTtOpkFenklKuCSMCsM3OX4Y8lazFblYXsU1gicQZlFH
gLvpDrTpp7x/i3N0VuIuAwvS6HDZpguE3+BK164vj7E1T36lGcmNIiEurmY9NBnALYEHDbEZwoJU
ON1O4Qa1+kMsavVnBLGHHe+B4wM0fh2yUfNhq6nwGt8o4JIWyse8MrWDWBkf25LG9QpK1MnUAaJP
syDC0DooWsTmtouNUMmW0o6yNg+MsXtoZNo9k94nn7WCIkTNaxjoOOZlH99ZZRMObQ1SiUY4U7VO
VOeBNZVeUa/hPDFPIybHFe5WIz/1c34ysyo0lc6BiL0fhrAGLxyJFbMvtW1q2zVNW7tZgcdkUfJh
jSdeUF8TFYCA1Q2gxpr+kxYbfiWPtzz6l6XZvBlhTMl8hhHL36zWTlVqREXQt4ojGA9Gae3qxI5e
0RHhO6lD72SWfpYSgfbLMt6ijVy9NBD3g/KZjAGoMORRn3tlo2GiASqS1KYPJbnKPyg7pU5RRdey
yUPkujt/qcTXBYT+0851CoujeFiiLLtp84si1Ectyr6q0wnuXJ/D5hsZtCeCjK4mGjcPEzw6bODP
Xd4Xt6BRtEM/psds0pwcXmpYDifBhS84d5Rp9XMJHlQYz7+wDwRnM2BX5bYw1ogtn8qiuCkigwxC
BqjWt9p56eQyVNQVZiMR0mCj7ZnHH+IbddsocecJUGlrfmbm0/jFJf4te/zv1iLfZ8D/ubV16zKt
0s9ABbAzKJWEX/7bf9nf8YuFFXTpZ2RuvrEQAH/Epn0HZ+5/UpGYAwosMl7PEBYtq9+48DDBxPia
hbX9pXX+3c5K2s+MwRgiEyT0rv+uMsjegP9dhLIPoqD6uxN4MGSLpZf2ttnv2mNwyUNdlkqtKw8l
2WJmis5SwHQHgqlYUqdk3myzjSZZexv5B4atkxiOZk2CGraFFJnEEoK4r3C3H9VpRfCgsJpbqVrk
AFpLCKisUq7e5VoQKQPnDVQ04jioimtwUt1WAgaS6sJKcSaL1XPHDME5M6f1Y1PLMG8l6lR+0EdJ
fqracgxGKPWOVpsup2hpsCZd03UUdnBG3pIAkEEhZPS/Pcm/tVv/g+SO09duGLuvP8Ht2P/k77iI
AXWZfweax32Q5J9v748AiX+y36r89/v725j59xACFAfqbozzQW76bWzrO/iYnY0PR98SFh8Gc79v
b9RtUOzbtcuZZpFMyE6+b2/Axwx47lsSHTKwKfj+vxFKgFn+w/7eQwlGDHe6HdRndgnzP03N6Pmk
NElqTo5k5ccpUj8Mij7eNumiumOTxwe93WZ7mg3J1upiO5nbcisX8J9UpUhWpasGxRHYQ2xUUM+j
2KmBKJhgs3Jlu611lSntNINyTV0AEmsq8haDuJ4mcaQXXwIX7pmGsfthAdHQt4Ax8pwKSsXAg6UL
hq1BX9OtBb0kuQVGqSQDAMfN+CDgdj1hSgV/mPTsPWI64kYepArA1Crd1qNC/WjTu9txTsWjoc/l
WZtQt7brap0UB+WZ5KNUJv2r0bgJegoAvbqAwaELTImeoQ/HzJq+trt2QzIa97Eo0I2Tti+KPAq2
XlKUVOYVN9i9yumzPKYPyPGcGR4L5aKEqL0P1STM3xC5QdN2udXq6i3S29dqaz91HSTs8ugV0N7N
UXOujcVP5+bWiPVbKa5uy4o6GnyThzmSHpc1dgW9CfTIm43byswekq55qIyOhkhlXOW49PYgq10l
r+/iU14st7P5nKWGqzDU03Wka4t11vvlPM0tmhwjtDy18NoO+mj3cnk39DFEjh2zoFr2OiztPcHi
R93czklunJhJesnr7ePck5BIKO3U/RNTtl48kmQ11d0a0yPRGd2u4hjyn/qlL715UdgkQnTDTBnl
d+hCZ/FFKc5x+5XJELduAf609b1cg4yGWxIqQMtfyoG+fiyfkGXdp1LNSyKV762ik05ncH9QTO66
Q9ubN3LLFU0qAMaaHWIzC7dMc5iVcYfsBtgo8ow3Y6x5bRe9lXn1pTJocg53gpzdZEnurRsM4LkT
SwdNvh2r3hU6f9teJgKpZPmQSJtmDwo9xxUFA1F+w74ecth5mctzYEYMLItoSBBp4xrDs1AIfids
fh/XT1r0WCuBqhb3nQRP3LgEo5wFAhWTBMi+EIcCDNKdjCL1LF+VQbsOE+IGFTW7+sPWf4yqMVS7
7nUzIrcptQMRiQdx+mWdtqNRqq9pF98mUU7Bv7hZBUm21ZortXrntkQ4sVKEQv7aT9IR+k24Myl0
iKuzrOxO1NTtyQxaWb6goBVfzUVi2ih51eQ3dtBp63pfmsSXXGae6l5KeE6UqKOIGHSa3+FqvhPz
+aGaEHMxE7gHW1tclNConisB2A06PifVFDyzGc7KbB0zo3lKR4AMQ+MsxqVXNDRqRr+T7hHn/Chl
hq/OFxM6ae0ESQAu0VgDa13OyBeeOv2DKWRHMS58JQfNhTSkUYEuTgev7+NXqygoylfR3VrMRKIc
vsS0HqXp0I73avu1XFVXyfwOAGylZf5CJK7h+mYC/K71TbE/K3Xm6411qXVrsfNDV1ekGYsNsydE
8pXd1RS8C/QOlPJGE7rnwtAOqxw9GZXg9U1zFnIqiZJg3U2NdhL0uyluWQY5qC1QIQw2zDQjys5b
q+nQa72nJa+rqt32Q9+7MVM+UEt/iNrpStwDiZ76WTJRhmd8wNsqovVp8CDi13SYwYwqDoa+ARXW
HIC9oOuoTgLhvWqPsgywIlsQt1GtJ9ESbxWL1pgAiF/ov2Guibh1qfAX6dPKpMPCwEdsGf7WBS3b
txMBAuTTB1mk6dF10XsSbY4lbrDF1fnJyvJwVDJwPnF0aqrqS8MwPAY9Aus7kuiAs+424AHJ/IDO
zewWqKB6sPmlTt4U1kezanosf/NqRUl3VpOsuXRDQa3REE8EbzeKsJ3bNYb1fhay0wpNyc0I2S3Q
NyUJ1DT7kozTTSQBcrKQNzP7MTsx2Xi3E2TbtSSxOYxDyVvtRgcuNEjyS15tD4NWvAEevvZFkZza
pBO8YajEg5ZL03loZM3RV7W8qniee63s6RStinSVRYbYPa2PClcxqMVkohOnT0msU1Pr44K920qB
mRp+b11mK30roPq286bcUPRA7zLuDyht3Q1l3wTZWiOwvXk5qW2Rl8OpCoQc+Y2sysNhyTMbYi1A
cl2kuXJEL7gQrYPFFKdVt/RH4/QjNp/a3Pogw6M36mlQiKDYM/O5TaanWoXHNumMpy5t4ernYeVG
zthfO57L6jYttcKWUxhXFYC7Tl8ux0muv6BC8nkblUfo2E9VNrdOFOcHsxJvVKFPbEkSnxu9id6a
zgC4IaQ7dxPSO8eKxmo+25DxV04NtbuTjE2MCgpaW0PFAZnH7iOECq0jlt1izxIQCjH7iLLMEApQ
L4SmtFyy7Q25nOeZIFWU7aXLghIaHKjsN7fKhC9iLnvlhFavAHawasFNx8rqo9ca25JWXKuG7q2F
poC+yyRM27M4Ku8EvJ29SVZvD1me4hBjWBuXbrTHRT0DpT3nRfQITcJrPkd3FtWKqbKeZ3V+my35
Fsisr6jDl2QJW/k+rmeqsLvGG07pcW7VKshEUYD/eBIR5RFM5mPENJhrhl8pIpRnePglO8tHqJKW
GRSRVTwoBThqZUYwaUKKtZu2NlB7jSLevmIFiYMjW0VEqUAaL1AycqbX4UMF9R4zF0V0LrNEsRkl
IZRP8kuq478nM26etajAwavt9FWFm9Y3K3bDMnY6E8XazpeSDkdjSL5UOqq2Vr6d0fzeZ3XpX2ZS
OYWMtObnBCrSa6mvYpCqEp37DsIqsR+gYsroao3dQS47uJgkVtk0iJY2RKl0c3FUS+2DWQcLALEx
CgHPzfLSpoC+tUZwSiu6VQzQ/kosHgkvNOyU+SgM1k1fdOGCGVHE+dD1g10vA1MvqniN809WbenM
RVBokjXGJOb2gTlJMCwCekRiLsA1EcWe0pSPYl4d4Y92zSTqnKmdEmrQ1UO7JOetyiQM21DAM901
R8TfzVM1ZEwrDwwpXBu0Xi+DuRS3ZrdbzzbXFQeZcxqC0lrdoV/KqinHRtSoq65mOCfN84Bqma+k
h17MhPsNptcnCnowVytWk4n4tJmOISz/3lLwxOd2oKnPKG2QtMpHlM8Mb+qF9/9a1pYiCZMClk8x
HoRpCFekjG1TGKAIEsawFWi8xAhoLc16kTv5U9qXrjzJX0YCTbWhMJ/+OtT//yPx+jdj1f9W3KSq
SaGUWMBED/sva7n/89578O4/eO7/+mnPxL52FHb/LEP6Dz/ye3bGsxMVsPTQPEIoSSX11+wMJP1e
wYX4hRkOHUnZH9kZyHxKDHAa8C4oWgxyph9FXkOlXAUxv4aq7l7//RvZ2S/8mT/6I//wxn9ffSCl
Vjr0ryQnRrnZ7jTtEBPZeWndbId0SAFLzFMS1Np00QrhLlMnZrx1d4wZLtFUoiolyZmq55x3GqqR
4AbhJBut/pq3ffFqmgvQSgEpvBJKNORDYjmg6PtR6XAaaZHVnFMyDLNb1RsRg+Rl6fZeICCtCgmI
EOQ4zkIBdr1aVkcsyvu5odxRwsx/Nw4rsehUqyFT3DSdhn0qf67c2bISeCCtlLGgqe7a+06mapws
Et3HMV2CFZp8sLwSiolIYtaL4SFkdOlLU/WtifQuS5pbNWWEUDPBZW1p91irylvSpdeq1O/FhJl+
TewcBeFJhxdfa8zGVqcfBiu9w7CfYYm6JCk4ao2kr8z7kcTQxAppyuyaWbM5mowyWGdYgSqOsofK
6wWT9Q6tPBlVjHUijz2X43ZeN5FcVoVpqZxMIM6i+LVPirc+0q9xsoBWMEkaFVXIoRHvQD8MMzXT
3gSsq427xHd8rhqGjaSJSbQ+PylNDAC5sh7yqAhriyhJjregHOrla9e371CvwpihxTt51xoOEtFK
DlCwQoguWsIoR1JAdmEHzyBhwx4z3B8ZN1VavI9rB3NZgwatXpXw0Btdc6NvkJeOhajaWYbumZKI
mHo4HPpQXkU6jp2gXquO4U/IhrpAZQntETkZLxLBXveS8TBLn4xqzZBs69PjmiYPCbwAlJ6rEgnc
oUNJnmc81lv2MU23pzIxgj6NWeWRTLatlvoW9dP6PHTzfLvtohOTMAvHrepf+j6xgrJhxxnF56lS
Wh+6ckR45chTtck4UtzOqMUv1amXVjTTReKuaXki6yCIyAcTvGVDm1kGKItxb+TiYBnlTZ71j1AZ
edQmmZxEErB7hybfT0mgEBELWosv2I80XavEm5qU+l0T1gz5dusrzs/Ox5a5StrMuJihYliC/GUq
EV+PZacSXya6AFa2eFpXQvoR71J+dsSsVZtpHA7rdjGLwOhuxWQJ5r2wkPrWdSd6KXTScQWJMe2C
2KYXwRViC4J0Q0lTttH380QD6Mc0Bd3Tf2LJ7l+wmydBYCnBZ/VXNbj/8Wn86TL2fygx/3jfL5Ze
036GgYd+HcxKv9En/WLp97/s1WKG/LH4TFb9KDMzaWXCaQlv3jcGvr1v95ul3/8EFxJa4/SMuEOq
d3/D0n8rI//O0ONDDBgWoZA0KMFxsR1V/rsyswDLBKFSgtIyvDjKylTimoH7QBeMoVdZIrHMcm/W
kgcL/SVh0+fDBCc8cSyJItJpvrZJ62GJ9bDaRFoYmln/XzQm/oOl3n+ziEPe/fc/L/A+pNXwkzf2
AwXrsf9DlXd/4y+7S9Dln3d6CRFFcjp5BAXfB/kEXWF/KRRrGeTTFIPS7fdIQjJ+1vilzKyepH7r
M3/fX/xJ3ekn4Sff2alM62/VeWWilT+0MdAaUikzw2i572X9z1SIJdIseVZJlFjbyHBWI8KVvcVL
PBzow5JIapmLMVe69GMxlxpRuP4ga7HLxKvoZnQynXZWnyXo7vxoMz7FBSTKXdHfSrNoD2PNdINR
k84yp69k8109E7Jn2a9cUn8r6P3L3tjvsQj//ebftuMgIf+k0/j6q115RmM2eSt+vx1/vO2XPWmK
P8satH088d86Bb/Gtob1M9SCsJpgasyd3OTHjlTEn02InVVL1neeR6i0vu9I/kRMqwOG4A+Mp4p/
C8Qg6TtI4YfJ+wX7A3+j+KdBGbijlXxqWyGQJQkl3x6Kh8XMj6iyhVUDXKtZkpeqHwN1lV5oG4DH
K+dzi5CRNvUQB+Rl64xK/SJJ8Yn6x4tex88rdfsxP5ryK304RkvGO7kzWnuilhyV26Mgr8/JNj8O
UlahuLe5GwTE9LEb3Yn7lNF6hVAxisMFGqa6yxJoCazrODMJYBl5AG0VuGqjyt1m7X1opt4odMF4
VQP/6vTz1qBPII2NsxXvFkJWcZ2ekXp+LQbp0KjJRiXjUe51y0HfDuiwKR6QjOd4TPdVN92jGPpM
Fv95GdSXVUy/jlAnQJ1MD16WP6JYcRg70R0H81PRMmCu4BTsaDECcTRuMpM4sJ2cukkelpa76E0y
8KllzB3+xzphSrmQHmP4kVyACV97Zb4v6og5v9qrEmqGFDXlBXQDNKGiU5f1ZQVzYKfJMDLHBSCM
0NxfqV2KUgIrQgk4Ok3jLw0tLVsVN4jVpaBtUoWwhcR725hQaYHlFfBs8Rk2xV8kiiJHK2ZifX24
MzdImHP9agm5FKKTFAiikTzlFtXI1HqhWDZ7CC0S/XfXKoVPAQU/y90wWx56XwyP6sMhXiHJWcTh
0dhgxoLzeQJ1GlOAb2EJDvYMgj7MkNIvyANxQrZqxbbdbHGnfVlMikyZ8jlZWhPhp1Xw4gUiLSuC
ISSdAKM24i1kcYLTyBAK20UMMHZtKw8+L6Bekdwe1ByIhz3k+ntCk2rKVuv6nxiZ/cG0/WPA1r9g
8Gb8ZdjmFT89vBXT25e6+70d29/0q1c1jZ91SHNFWGd1ZedA/gEOsMSfgWTtYKsdA0CQji/+DRwA
5yUOGK5Knb/AHE3P89f8XFJ+xp/u+TkNoT2J/ztBm7KHf78zYRCCqfKOD4DyG8wZpvRPUZuhbsuq
bLrmZ1P0OOqi/pAvQv0md/p2GDSSOV+MNBDjVkMiQ0E4A5U6mdK5k8rudogRs9dTsyDgV0Wqsj0C
U41dqdr6Uks9gqZ6U6ITq8fLDXRMNNtEWgyhZA1MN6VS9UQBNX2NdGVXJFI2IPdJLd1BYsmojSXl
pwam1wOl6DlMNXkBnLUkQLS7toZkwjA+QUCXubKWbqNLWxReuKgrOm9Mh4yBNsjLP6KHSmqE/Pv6
XGV9s7p5opM+o6lFlLqVlBu6dbgrJbBfTUq907W2RKba2EOo6Y9dqkJOMsntYI9qH2eetBX1QSlk
rXQivgew8l3+65AtEtR8bSmTECH71b7QkdnOiyzlfouoyms6oNBEAbDIOaRQVjFXtmrWx2aO1be8
1CAkKQhRCrOaX2Gcjyy7ge2dz1PdjGTAXnuz+SJUBShnTVkbbqlB69nlAZTekMTDTSEr5Lbdolyk
RUzAueY5leFmCirytSq3dHfTzXcx1obHWC4VKuM9cmXTttGoahc5yxwUL8qLVAgZ1ezyVpWL7Eut
JwtD3Z2ebbZo1ZgpA6AX3MxCIT7FY6JHrtGM9Vu99MgKy5OVHIZqaZ7FdXhe8hayfLUSDgUwWXto
oFwYeiREo0x+KdVBiV3QT6BUYV2PaFkhpwdB8XtEXhHQ/87sNpOecqm79uIgXjoYRd2hs9RXut6v
ebJHZpqQQtkyxCBLBRQZ7anoQDjNMk0Gg4H3tDkac4/2HAK/l3QQLqs+/m/qzms3ciXN86+yL8AB
gyZI3qbPlEuZKkl1Q5SqVPRk0Jun3x91+qCllEba7gYGs0BfNErSCTIY5jN/c0kzC5hLklmwttyh
ZlKcZAd2ZxZd1NLx2i91HHxzmvaBG9V3k5Mlv+yGNohNTSfa2gotbhaQ695PkwByL2Ixl0vvprAI
NkYaql1jNsisZzlSkID+8KCniTasg6oxw0Uc2vamSuPbbvavH1ybehj/7LlNisBY/kf2LZjwwejW
Qa1pz7aodUxb2p9VjvaP3jYPvTFepwV9ST0REdd1156HiBsXMb0lI2x/yIHihc9br3JhPtFgReMo
lDTeDA+2AGplbZn2zsK3XW0Xp+24D0zMsLgY603OtUGfxtkNjXdd+wm/H4v8Lim951qw2N3CyNZt
UR2V3SQrGArloqhZpyAZg2ld4aB4MzWtyJeZ5lhY5qWahggN+vZ9EkQ/CqxbHirLmDaB0fcwIUeV
bxOJ5JCVGtcFtsZL5cbFym0EGIpB768aa8g2aSa/j1ONB20xmE8omCIv34nafKjGjrAeVXZkHKjP
KzS0Zt/pHDekZWaIY9Xa7KZEQ0pHG00Ch8ID4+naK/y086UobRh7Ek/oydWMQ1Dhdpn4VL6pMVlL
Mze8GzwJaOSXhVhTNoQGoNFGG62g3hB6FBStEvy/CZ5q77sxOOJcc9XIAaRPUOV9lE9XNKL9O8vL
NHuF0j+da713YdiP9rTVzMisV+3o3FhqyleucvzmONhhCeqprO/HwPRvaX731rHwaK2Wc5uSbtdT
Yk3dstfH5OD1/XBM01jeFrwTxsW9NRyTKJSwocUodsjfFbeB8lBq7BxUNJLG27pVU68SyyG8nIUn
Y06NDdE70K9x0G56gCUJIkwZWlbCiqEkTPTlcoBg226Kh6uuH8R5MaSUqPD39Zb8ON/a/VAjfCJt
SBP24B9s4QzHMY5pQsXIYD7b7bzDhlr9jHKLO8Mbcv8PmBeVHP3ALe8rbD3ZwZgi3OalU4vzFOOn
r9zvxPvLbQY9078iiSCBmG/R1yUJI88jQKcdGgMhMIxAmYtStmu9SQ5ZZBxkgIVHkic7QBuA6R2j
RtoLx8qkusuL8j7Jy2gFmqQ+vspyjn+lB6/FoY35Sv1n1jBfueB1ASuRyrqz2cbJU5kxCUU4Rvam
xRhmiSDZPRHmd6onEh/k0tx3YqI3OLLr818mi3FRpgW9+FC7S6JZMxXQkV/gAVAQ1CuaVivLhket
0+Ey06xfIgj7JysK7JRrRExYPJ8//tw1ePf4iOo4QoL80t95w8nKqWm1Wzx+O0KrLsNDP9YXQV/8
dAfarqny76RXHNOyHqhgRtuYQu3eBrBgDjBrZbIN6M3v8Hf4wktkhjGeTiualrNuEBnjS/L5+mNb
GuYNDUKVmN6iqz+o/HsaZnBubUE2gHOm2fzDFupfyuY/DmTfxLr/bzWn7XNx+TN7rv8/wBParOj/
vtq0LCg0/Z+bE7zs/Dd/h8RAA2eXKXS/cHyaiQl/d6w0omV9/np/Cb2/DojB2IKGpQwgHIcKqE2E
/Y+A2P6v2eCSIiex8Atg9l8JiF+k2V+vIknHCoViAnKETIFsnYBlAUW0ejp6KHkUVBBAhnAM92gR
H7QmG2CFwdBDqTc1Lit0Wtegz8NVWljaAgXnAmewWj2+mrsPTgvxtsZAr5/ofLblIR/gEIM08fYM
mwJkyRO4BetxcMVdiK/mvpI16h9CoWzUdnC9ZOSdFwYKb+Wo+/e54ejXeVRNd58/CfW8kx02u5+Q
kJgU86j34anz9lGQ2EnrsGyMdePZ7WJyM3Qah67Y52MgzgCH/g6rdJbFrAbIsHIU22Eo6jM37Ag+
Ol8/n+xcHG0fzctxMs0Hw9fsbYkX9GaiRze2ebppQxS1V1GWeReNEwybGmDAopr0G5xOfvlGjeBH
SuBjJbF74VcZNY961A9o+1EwNk1QG0UVVce65VqDC5FfGpljn3ktZD8fBAGHkyeNP+ZgyW2WtP5Z
aif5hWVLZ1m06VnRN0AK9InkQQOM3JvWr6wByNkVINTkaO40Oxx/d82UL4dag3VbW+YycIIbK03P
Bi+wvqeNLDeRmQ0/E2GFmyG8TFO3QZrW/IWh9qOM9Uta+t+4cZ1N6QqYnHl0kRRh+kDrDkQUIpTX
gU9U5wxMsEfwdV7pAVoHokQ2oa7qi6m0J+58HzO/0K6/5X1Of87L632dYLRRp7BPvHGCPD9YI1xR
bPcWAhig1xfWL7fporWtBtCTY/wrK12w2qOr6Vc+tuHXPZrpzJ/pU+8x9PE5n5C07DM9pKDUJdi4
RjY8MSeUlfUzBUqSHli657Nku78jWVsmPQAPifhEhy6m1n1Xtv4gHT6fCkpvAVYVZrjMnvAyPph1
+Aez2h9FGTZAkOYwOG70XdCk+qJTRXUW67XcjS3a9INMf3lYnK9IYsuFV/R7NQ4j8C67ucgtml+t
HdHNwrmYNK8/02Mv/GZEbrJMrEZbxRPI224Sy7Awn2IPoaNB6Ht05LMVWQEgO6g5dwRCaBKE5Xk4
x/CaGn/HWSDXqu+sxdBr1dbQevRfZPgsYrUrxvwhqSdUGGK/2aE7DvgoidFhSuzbYJjd+YAh0tiD
X0tStSTkvjKnwqDj4brlnnxGXyeDuiHENPoFNfclTsf6UaXjiNKL63ubAILTEXHIcTdi6U2GbPBJ
Sw02lJoz7LL2o4Mf6eKqwMMXTeUmn0UtHZiBVS2PeZp353nTI2nc61VvrRUe7vayNRTKjK0mp2Tp
1X14VnCarCIDPFyeqwBAVjv+RH09udZKZFPseQ1OiaWBhKQ4JYDvJqjjS69T4VXRyR6hpkxq6N3X
KjdwUe9HoImDpZuQCFU5CMQi7WECqlghOOvY2DxvLRBj8aJ1k6ve3wx2kDzkU0FcAJwmUgTnHQ3L
xm/95dikPtU42s2TPen8aqgOptXbN2M8NctgKvKNURpahvZlBS+8MH4CRhY/OfCSY4WVerHwM0ff
d1iKIFdHqv0jA5D2TGu9vfbcVr/TMMNBvDajSuj7TvlbwxxrWRgYVGom+XZKgrGodBVeNKKvyJCR
4SWb9NcQJ4q970fhykmbaWv2aYbb0hBGO9eLp/sxY2OBlqy/jZEk6Pa6nSFq9GH6yPmTNFwfK130
9SNhW3lL+gBsGPtBedZXKooXkxL9pRcDheg8By3k2FLdCm3McZHrRb4dShNc6MhCq4yKjoUrh+QG
x7qMM43leswGu/keJjXl36kLI1RcbQ19E9vxk++T10v3LjZFBvtXkAxMCxewt3qe3BIvQhrhwr+M
LCveeN6LGXkTEy2xNlPOJ2VfqFwnsyKVlt8dHAbvfAdi5+hbV0nk50fX7kFgAy1A/iCxxMOIQmlU
Fhas6Lxqf/VgypYWsfk+NnMUHGL0WgF6ddtCecrkxqLQGw9UTuO2RmtOj6y9qcjhk7wFCUAMWWCB
4Q+Hlj5ivkDqTdylfkEtquxqCCuaE9hEytUwHAM7+GEOPly+anQnzgmskcvESb+5gEExV49aA/09
iHy/Rse+jSq00xdT7w7H3K6GI0tmOIJW885zqtFqUeahBtW6VuIO7IK40yJ+yXNTe9/7OHIA+irP
9QBhWStI2tsQ8/cdhMrsNhiz9NaQ2pH93u9D5v+itQiUF5OvVxeB7ZBp1JoAhq71wHjTdBdl+DCl
cR78tIsWvZWqY4F3U3YDuaZbmaVpkVOljnuOJcVe9aYeIRHeqbtqKs3HEe13lGEHTzS3kVaiGixG
hJgKmGWLFqA8unSFWyEqXlnqAi84ea84h4aFbIv4omOKlxqdMAQbHLu+AzwWdKuyjfwb/l+57asw
g+ideOd9gdeSmTcaKF/dgC7cV/I6lyGhddpoFYWQMkdcqVTTVS5LZxF2lrkVUjPTNXXy9EbLg7VB
8vfNLrC939ljwTHQDc1dNjrng9Wh9R5zMo+RW7D14Q16qfDZL11fdEutb9u7Ec/5YwCS7jrvCjR4
Jhp1mUQnPRMKlLHK0GIwkDjyrYYd7NsH0U89QsFJ+ZhOpbsa/cJ8NJqiBysYI+DlQ2SaWXB3dUXF
LphrP2EG73F00+4yJuXfyMBqtxzLHnPKvgtoQ21Gro0IEIrZUcfg2Rfo3V/kc1F0bKL4oZJeckNt
LFwVel+tg6nyz3A3bG51LK3jpWxJ/BYq1dBphOIxrtu4RTUtdOoSlVtLPXr14J77fXmn5zGZs9Wy
DgeHnkPeuj+T0eCq0zCWPnYJQerKt2ogsHqU7sY+DL5JkXe0MXJDXptV2faLKR2z+3gaBOJBaYYP
UQiip/MRuJk6p+Dul41brWQ9sZvwGKnQH6SRvDJrs/7dAJJcJY1cl05Ff16L/WM1We6mV4gUCmHm
KEGn6ATgFfo7TDxNX73sQWNKWSyQWzGUsOx89jFByIbr6iz2WwCTMzvSSEtUlEoxrMawSw9D5KnH
lwMiiCLIYZ7nP04pqsxp4/lQvsrMJILT2WmghKL9KLQQzTS07Wc4jy4x5bQg80692VoXOhDgu6rJ
3FWNJcBdCuonQgAVAxpv5cWu2dz6Zdr8jrqOo0DKnmPGbYbjNLQ1QGo1yhkJEzrWrqMlvldmQPE6
cysW/ND4w7bOfKI6mRvD8eVaLo1ZmbqrS+9PHgbeuVe49W8QVx4Cy2Zgibsk1plb0Rc6NLmqEgXA
bdEBhi0bHxOVGmvmTRYEI0zaBnkmV/QPuMahNNUF/jHMZIbx6Rzc22ajHs1iqi98T1CKtUqKPi//
SKTBgoxtfMcX0lc452h9rx5DzwbFVLQ2cs5abPMChTVyvnkl0UI4wDUO7Sz5I83E2g9pzp9ZMrP2
bkY/HRaMGI46xJ1HNxnVQ91rrE+ciCcIp43kR7JTj+PU6UdcrIOtGkoGj1K3XDZt6UGajrmHbiE6
9GeUgiYYEToHUzC2/KtrtcERnnf91/QHXuddWXb5V6ryP5aYzwP9L5MEmKtI/33OvXhOo+n5dQtq
/v2/821wGNhHuphm/k3d/0cXHVnt/zLQZsbHhzaQxCPmnx0olz+yZtAGprMg8ee+1d8dKHBDLsU0
6A/Yvs2OmP8CbOi0RGcBQcVUDMtBMnjAJycyGq0RAQc19XrbaCFMJoLSvDoE5bR5NR0fpNGnxaGX
YahYYf72Ykt3UnMbpxLruWmst62mnRWNvknHJ9/8bQ7hcfYg+XywGXzwphT1MhoKB9T6AGRb3slo
Ca8kfIOGrls5lwHOsLhZ9g+RBiDOIbddchmvh0QvFwAEVlSgMUPQfgg/gxsXXagp3A/VjSXBRPlB
/aR73l1Ta9+/eMZTVvDLM2IKL2Af0048hWuJ3vSNwRvqre8NFNKFjV8R4bsCRryKU+02FOVdKYyd
jaS+SgxsajVVcv0MRyv2znVj2CdaSMXUTo1ViHnYQiOR//wZjRlH8boYMz8jawxQm07nEYrp24JD
aNnFlGDStTUdi2C9HBeirTZdDHihjZHwtooHi9abqzBDoVR9EYTc/mbpbBFa2FVhS7NEax/DqvzR
5/ntFOQ76qLDwtF9Y/35o370xRHTYAWz03Ckmas4r8FvM4E2dZjNALzRVmVjvY4iFDfNln5d4Tk7
S4p6kVSUbCf4HJ8PztZ+P004AAG5gQIL5vzt4HrrKpn4ChHvKtpiY8Y+0h4/H+J0mwLjErSwWc8A
ajCDPRmCQnZkhWZcbzPdPWvHeodJwFYU8gurqhO3Xf778zgmPsk0o1GaPW1Hy0ZkY5yHNSDV6jnI
XXVRJ1G0xkYtX9mZg7IX9LNVNEI8maIgoVNY3Xz+ppKD7c1szo+Ap4DO8afPjn/zz199SjvLnZT2
UbVN8KQ5T6K4X1eZ6p7cfhyB8xaVdgiafryPFG4dHW5Ej0FiW9ReWvdctxNFtJWl0XOn0gTBRadw
l3ZmDvtpBPEIRTTDUNbW6h9DhfgWBluqRLXBzgFsI04CJXSC0WuJhR5V6Kl3SmxFK69apbVbMwj0
VR84V12Ci0s8+d+KokH1Jw7OZ5T/jsc4x6AMic5Esze+GII7q9GRHXVjiFAWbDt8oK9cdDzWENf0
hZ3Q+u0rh1hND8/7REvJ84t9M+r4HBn6Argpvh9Not0Db042uhdgSWcNT1ZGE1rAOnN9HRHrbmdi
qbs2u4ZAxQu/2FhzMfjd5wBi5eFRJcD+na68ImuJyLMa2dbSD9cGVNhlG/chJMnphtrpMu+jG9K2
aFsOuM+tlArbrYN9xh4GjP7cRvb3tjX7q75Fq79gZS+tKQPPnUHw1cG4L8cuuKg7QE+gDkr8cAPt
fqj4oaoCBAhKEfwIYrLwKG53XCL2KjBL/JV098/ny+6jDYbRtCksiwUINO3tqhsDfbAJCCsOkFr7
lgZRcxFMpGRt+vz5QKfn/ry8ba7u2YEYQQrz5EztMbqsiraptkpPk11eTloLwj+lC97qnFoo5TRw
htLHmHWw+Hzoj94R3KY1e9CZoIRP3lGn1CVUo2CqR0XyDCX6IpSDePSnPPpipNPrnpcEGoMWB0BR
MUtWv51Nf6ptiom+2k65c7Rb6PsqtdDIoQw1obDpq9+fv9kHkyqh3lDxRCABw7X5zV+dGVCr/LxP
9Gqrw2hZ16ZzEANgM1uiG4ygn5WIJU6RX7zkB9PJoI6u44lrzF/z7aBaUcfod/TVNqOVv/JkfG71
4YjFC6Tgz1/vo2NZGgYfbu6JUFKYb6BX72f3RJJlUlILddQzGLafsOtgQ9otWMQqWNEN3vdt86cE
lAijM/n1+fAfvuhsQG7R5HGM0yUrS7dzIC1U28qsF5mNamjYbGqqGJ8P88GiwWwdwRWiZFQZrZOX
9NpUNr6fV9tiMrqNMeXfowpN21EhjgkMUQkUhD4f8V1HhXUqAW9zZ0uaKpifv51X0KPVNFQa1nC0
VO5lQMUNoaEw8jh9x/SG6kO40kyp9rIPjLVrVPGjW6t138hiY8seM/hRyb9AfKQ0wXNx/Cu8et2f
/vhjQyLQMbzHMPx0XclWU24ehHxsUFCNg8dZ6Y4/lferGvDXc6YBtUK9PQIjr5GGAdrw+aR8+Bk8
wHJ07gXmMMbbOXF8M7ar3ivBGMQ3jddv/Ww8N2R+ORrBU5yiKfH5ePNnfR1kzt8AdROXiIMzCSze
2/FGqQWcmHa5TSfvgErHfRl/BUT46JXoSnN5kWrRxzyJngIZt6k/9eU2qEJrYzVdvjS0atz0YnwI
9OCs1b5aWPN/8d1L/XNE5+QADLwwH6p8ZMRCUbn2te5KVSpeZXn3s7aVMQDbyWO4UeBiKG7vbEI5
evOPXW1cQuzB+sPGKNCpf3aZcRGUWsbvm8MudqLnz2f/o70NBIKbnXYqSeBJ4DzWItfzrkVOWou/
O+lw0ZvlpR2H1//ZMCeLKmmpysm2K7eyLnVkNRDSSAcE3XWgvZ+P9EH4KF+/0MlyolXsRRSUym00
Tb8is4M7rl2lrfxOA+Crrzx/xdOv/HLPOag8eeJlJ786lnsHq1wrrcttbMJRxvIqaaEwV4m4rF37
QndncY10R0292Dp2cPP5i360b7BQR1cKNpLJ/97um36Iol5XLDH0n/R1Lt3uCTC7evjPRjk5lIsm
wtCPyGw7Ag+iVrAeg/SLpOODy9uFNkt5noOf5O1kbQyeX/oIxaFZ2Q4XXdE/esN0I+r46IT+rQ6b
emV7wAA/f68PT9kZ4Ms5h0DjC6Xm9ZWay9YYJuimW58K7VbLKbxN401OWLsfHA4/PwKXKWuxi/PU
RMHGuvviAT4IrKn4cLTpAlgwO/Dt94uH0R+MIeP7KUErNr3XQiiZEpCqCLJvOHc/Wir60xgYUTeJ
yHDJzFafP4L3weYnV/YsEygIKb48OaWKiOWVqBx5Rbvyt1OVPkeTuOnywYEoDBCzC0eIsk56XfaV
eciypN82SPiEkeWsB/LUFcWU5Loe/XAryvwQ1BL96rpDSMRzV6aSw6ockmSfWiPNKKDDVTFdenYX
ILqk3dZVWJ+JoP8+zgjUHOvoYfCSbdPUIDxEjOihSdtImJ2+anpEpct8emijiJwuQJ0o1+BfZHwx
qU3jSmpAPiMDUXBHJcNiNJPbPkzTlSysI5IV+zgswgNFWZwxHIt2dJ9d5AHSM5ae0HudonXbBHdD
l3ZLlZiHoRrOwaCaW7rS0EuQCsI3E6W1TEv0FW2H2lrgAb5GoAflZa28ldFobEYN6pw/mVfhYIIE
KKJ8HSZ9/ihwKlzohX9WZlW/rScap7XrnneFnW5GqrxLqVqY03BRFlbdYHZVudpcqPiT2Q4yAMml
mY/7SItT1GC8fiGKyj5rhdBgmFr/+s2PgoxwhYM6GBfyyV7349z0Mn1U26bP4+XUo7ARBuG1XkfH
wItv+KsvNuEH9zIAPAvbYoKNOVd4uwWQPBu0OCzVNm89vFJSN4ASrK9xRTy4Uxct+yb/4hXflbSI
NlBLw0YHHh10u5fqw6sj26rCdExqiZHYVBqr0oYcQuErvi1y5GE6rMzbkh/KLvHWyrOvsyx7Vpir
8mj5RWAotOxVmIKgj42VHQ3jld3k+ZOlGeamFbQvYNTg7Pv5Nn0HQZqfGWUBbukZYcU9/XaaRqRQ
Rs8L1JY227nrqAP4muYwZeGVa6p6WSHMgUwozGavNP50mntrVahSfP4QHxwVLobYBP+kIDMK7O0z
WH1pOk3rFNw2gNDTBvAGHKQQkMUXbzsvspM71ZX6fB4idkfF4eRMMmul2r4YCtyasx8yxgTEtr+I
sD8IzmBLorGLuIIA6HIyn1QryjauOswzeuN7DVZjGeagFYtwR10GvDnRjwzMaweOwRcv99FVJ+cr
Rwfi9h7BlSdx6pmDXmxjiO8I/jzPaE27ziC05+i82eMyj7svcJnzJno3oTaLeE4nqBmdfLnErVwI
vYK3TWyMVvzptrSzNSh4b2P5/ReDfTS1M9+ZQijdjnfVjXYEHDC4HqpGtjxqcZssrTZbJqY8U05x
plnOrVnK2zjUf3y+PD+aWLoXyCOjr0lAdLJq7F6GhWYJte0ESlb1Whk+yIwCr1hVQn0eAQBVSXL/
+aAvGenJ1FKkhMPtugYlMuiMb9LypKuz2uZiA6jtJXsLIw0hSNfQ9nkyk2F2JB7lwh2ypwjqGeWl
FdSQMzFKeup0fZFl8so1RdVsE/QjGvIVyL9F45j2GsmbFbLEvywLLQP6f+tAA4+TQ1bCqaa6BVP0
5CUNju0QadQkvplJC8lReJeTk2jozIG4d4vwpzIN1BxiWIh24p5Rp8FuG8XlVewl4bqqSxcZrQr3
QRrIqy4qbz+fHmPeR++mh1IaSaSHxKp1ss/s1EI2bfCL7VBnM8kFa1ljTsAU3IpqQrLZGhEDVL5+
GOfoINSM8gcCqBvUeKdbPcSBF4GItVNke3sqoP84hcVk0MuMI+tRujGi8kHkbaDKfFUp++BigvWF
qqZJGQIe2MmHhR2D0lKluCUkWMphZq60Of3Xvh6w1aVRDbjD/QpA/a5txblKn4WekCdnmQH9JBdL
08E2qskutgDHMOEaBmeJdDVeCdzLlEDwoY6mLFt6KCRuVBqhJSLILOI4xwvaN78h9f009M13sJ7Y
4OnTdaykdRjKtFzrBSSUz7/uB7fSHCTgLkv9xISZcLLlVN0EpdMih6Wj94zY7J2Z+3gsFgXoHD0Y
5n/mMQGyod/S0Ygps11vwCT9/DHeHzgCjRw6mEwarapTTCx0LyV8t0fHY0zO0lG/BOKxTGrcq0IE
/UbQENGs9YIczefjvs8fTG5lMGwUOWeqszGfSK8CCTBLke13EUZLLZIfmvC2KkRWemyADwRPlR/e
skoX4EgvwEB+Pva7u/hk6HlOXg1d1pEAK5NyRTbjLkG/ZSzoH6juiy/8xTCnJXG3g1TllAmbwOsu
8rSluFpvjeKretO7C39+G5iUDuco5wR+w2/eJtDB7ZkxE9kPVrVH6LQ4S4WVrT+fs4+/l4HiLU1C
oOEv8gavJs2Y3Ba34xhjkwHN7sa6DaV1KaPwqfO8YwvSZEFT66ysyp3Ruv/W4Fz4CDuAuffMeapf
Da7SriEZCBhcaYe8Na9bP/49Jg1IYPWzbMp9EIfYz0F8GYv9Fy/+Ls+c5/fV2HN88GrsWNOiMAwY
O4jaje3hvifnTi1J3yhX6MPclVb8MLjaHWyhc2C+X2yUd0fpPDz4IfqWVFjperwdHh74MPUo/G87
9ykcMVJEt7Uvr4w03jmYnn/+su9inZPBTmoikxZoJNBOvs1yNJnQwZFdu+ptg6p1+h8OdbJsfZ3m
Ialhvq0RdS0QQAI4vhDdjUFR/t95KRvGMbG/JeXJSWMCQyulYIO0jQOgWMLxolU0kMpO4yVkju7f
ebO5FcyORMrmtCSY0ZG06WnjxexV7SYyoClWXao2AP4heA5Ixv4b7/dqvJMV4vRJ10IUyLdRoI6O
6C/qCjcTcPu60ez+naFoL0AxYbef9lFg3Bsijf18K6KZvOVal15dLNFHwzU2+aqZ/i4mnRcjfQWK
1zpJ7ul3qzUj9z1vfq/RQl9VYhlaycvWQ5a2nPZxCh5BM799/oLvb2U699QD5UsLHUbOyQ6wKl3T
G3/+eG20LEZDW9V++NSU2VqgSqVZ2XkZYkoepOM6b5zbtKu+SK7mo+xN0HfyACf7orWU1esD+72M
gN2kcmfRoUD49ebzF/3g1mDJkMFRsqZ58JLnvzrV0lJOMhqY3FqI8EBsXmKq0H61NAFcvX8dioQu
cRmRoHiBYb0+Petm4thOiGGlof2IIt2/seIMpztDLtM6X9e9Hl6PasAM0hx/jSqmeUvJb5UYERT3
Qb9NtPKPWyjUOFyj2zpuXO2blvpaWqrbRDfkxpmwCDLwhS3Mi3gwrscc4nIcyQEeYogDWARRO+zK
ftF2A96VwtOWvoHxMBzp87EIsIOj3L0JqtxC+BabFiItmMyySZApbn3WOc1yDy83M4m2dZe5fwpk
n3ZVGtrnRRftulw7dq2ZIW4d4bUrJw9wsX4Qremups488/sEb+Daa48TesZ95yW7rhL4lzq8PcrG
v1WTWJelbz0E1LdWAz3fEgGBhZOBMXct7RsuKek5H+mHncrhtiE7XqJ8DMfFRIBwQFhjMY1Qn6Uq
8gUcqhK7Eq1daVpTLI0yPmsnNOMUep7weUlX0ra8DmML39vc8a8sKxNbUHIpqiBgLGZafiBFA1fT
BhHp64+qbu96DTlciMVXji/2CTQkZNNGAzJ4rfAspOH5CCEFIzzbqM8zx2wo+GnjxZjo/SpMJv86
9GEs51FcHWiW48fKDjuEaCIv7Ll42IdJ8qxNZnmQxqgu9YrQs2186FRBtYZWY69lYMTnrh0UaOBa
+0oP7bUlG33f58G50Ex6P1mKwIKFLHJuiltzDH76WQ/3v7+NhNkfIuEAclVVsWzc5Fdupeqym6on
0mzQxtJbmdTPF541NVvTTLHz0jHFBVuwtgCEcQcm42IG+uw8YeKJFYtdp/CPhsS5lN6IiWEc2yva
xrCrZH5F5Z1v1/vQIKKhAZ/fFvbDqCy6GkMQt5j+0NZauKa/SeOZhxUbRb/OqvDQV1H9TQBygb1c
ArZ1MmMroPGsnMkqDlZbD7uMWiLO5mW1joPiAahuCtcmxkDI7ftruFE+2aHZ7rXav1DQzu57LbAP
gRHAKgFYq62LFpHpGp6LNlr+uXQ1CwS21f+wcxSDcyYeA1dQAOamy6Ve7rpBaBfSKpOK8nEFFlr4
48IzQtDjAWZ45lRft3lrbJ0JUUvysWSZdvaAmGWZL+xJYelCq2Kv6QjzQeTdxkUh+fPiu6M3O5HB
trVbCR0ltm/Io5Pv9DYRL+5AQO5LtGp+hqbK1jFI9ZngUffPdhga1iK1+g6uuVGCr9ZGDSWKuL2L
oI07FCwWRoZtnj+sFdSEzPSaTRo28jAY9qODwOVZqQtwdypFWMdxpitAgdi4BRpCGXyTyWzJkMu6
rVaiJWNbFCPUuRy53m0qSo0jBWDyuREEPxu9l2u/4X7NTDtGO6IKpqsGnSET30xAyhZpzyViE3jg
mrMasBJjjWBvNhkbuHmUPd0APV1l1ECUgqDEDNFpISSpanD0tRMXCjuovLvA86c71II9sxFxm6/h
K9W3ERL0ewvCJrK+mRX9Ggr/ygmRppy6Wq6xkEIhWff1a62jZzyzTXBEymR+7sf9vuvrSzMM+iUE
xt92qw04aIZRsFalN1VLLbKpSfqpL/eitoN6WyRVf2nn9k1iIk7ZkEHDM2vOEgQsFpnyrRVqSGg5
wKJp4yNQRQh41ib01b2q4t/VqKBaeBhJp+mlG+hQ1PuDNakRgwFZrBwnDJdtJe61aaIsowPBaF3U
9WSKozowm+1UF2euTK8nfaQSE1X5eoIatCL/eACPUK9kLptNoot7nBOQGSDwWaI9cHRr0pCha2Fu
hs2Rmt3vzGVdQPXHb7oP9iKE1sOV891I+Wevcf4wEKZ3QNmasjvzVfQtb61Vb97DkgSJWbX3tczu
Q52cvHM1kmRd3fRec5u45oWW5cgONMU5kuXrXrMAPZU3XWM9WQ54oF4ipjSNNKUjBGOtjRi9a63x
2WLfvbaC+CNxoIQK5mJ6gb7MwXFzeyG8HqdLalGrsaSQKqvw3M/tpd9k/5e989iuHNey7b9UnzlI
0DfqNXi8vAtJER0OKQy9dwC//k3qVlZKJ3Sll1mdarxsRDZihCCSIAjsvdaaP9ORG+jfx5W/amr/
C8kApB04h8qKf4VptEsLLOxksceEm0pv+Knn5ZdxstbxZEwncyaWYim7eAfRWGreuoZ2ytd/ZXAo
xci/o3h+YUZfiYHJec3jh7F2zs3MFSsmZkNgRHklQGL4DmuBjPLyRjN407O5uIfrFEzK2xl2dUmv
eOWMvU0rSvsejwupy4kuLKNYW4nxVbO6ayuT1YF1Jhg87xvv1LeM8FXXBREojfLZp+AXxcWp3rbe
LvJvnNDZaob0nqCknfeFQ669ka/Skek4tdpe5dZJH9rGHt8smZ9hdZVGMUxPy5ZrlwTazB43CRuS
dekD8rEwi6wsb95ZTXeTlfInnv/xpKF335/k3RQ5chc7Y9I9qliOybVdWORbX4fgQYgk1fhNomRB
++j2r4+3Ye8dqxdhOyQlEgbZeR7VrEIZuoOmqJSloj1zR3AeEzo/76uYLpXQL1Hj3kfWtB+85LMz
9TsHS3rulHth9SH4PT6mkAM7akyjatfhB/Njb48TapVpt1WOkS90rsxaO4Q6HdWuYZ47P43EPlGt
e90b7uncPZGSsu4/UwT8vvlFpesw3SgKLceLo6PaZFVaFHmkJUcheSHEyM5FudJQg35813/flBpc
tIM0yEKty+Hi7Zk6y0Toh2NeMvF7SMhwQUlEkfPNCAJBH3E/NZ8VRH+/MB31jAVNiFIXWpHl719t
ty09btAGUz2ZbMiy5JOw2T6fSVj5+MLeOb8vEmTfIp5AN83jCmicJnpJ67Tajd1wEvn2rohhw3bt
Vm/EJ6fc92bucjBj84O3i+CCoyqaVWGj7V3Gcsk1dpxw66gnUd5bHSHOZtnRFDItLFIYqL3P+p7L
j/7tjPTX0MfyyKpow3JJydqpHGJrQv/Ah/3Xh/VhIvB+nvkgDrF7Mlre3z9qv77m43em06TWFlNc
7cwQBAoEF7ustwMERSH7k48f5XszhhKCxxvK8QlR/tsZIwlmJgOEspNWctQ0jWuOKKvKGy4/Huad
VcAmPJeYStqjHs2Yt8NEojKcmfb+bpiGwPEfRD7RcjL3ZGJvMs39RKry3qRZUFsLgZOqM4fPt8Pp
zuCKOu95D1R34ujjSVGN2r71sue5rSkhcnuDUJlfImJZHPczHeg795RB6Vx7Fu4f1zuqlGRxno3E
LPL4ZqxpDhHp29R18DEPhvXJm/j7EgNpbHH+LKEX9J2P3g5V4+CTJL3t4nG2T2ubdKKiECPNhynZ
ZzYirrmb5cabe+eTttE7J/tXIxv6cV9BK1kbXC7SJe186R6GnrX7eNK8s8wsNSAeo886jTXr7VOM
ZqfJ54T3z1agV5y9Z16YHCfI3vhkoHdmJ+IilDUGilYye44W6sLx2zicWGO8rH0UzU2rsh/kRm2a
DnhV53zydr83PeAMUkXHJbK4ot9e1qyRFJ+xu97RMoNM6mzbSoDX/OzuvfOAlvMhtANSXmm5Hr1y
bZLPSsS8ckgSvrWLNNG2rj9+QO8OQUuAYj3uLCpab68ES+Ss1zpDyESdO0XRBIJ4pf/ZGMskefVJ
i0gudWKfBSpd0opxiMN323w8xDsPxBco4Ck28n/rpUH6aghULxMxFuy7e1+/96rkx1hb+1hX/+Dr
zM9f/IAcVNEMH92uUXqF1B3GgVl2Pxbp82iWpBVO2j+6nr/GObplrhWNjV1T20OqoxFQMa4nz7tr
qOh/fN/ef/x/jbO8Vq/umzYpEw0e14PF71p3zWutiD9rFbw7BjlIL34qAsqO7tmgnNbxw+X75Iab
IRT7pv1si/H+EAvlA2kzi81RLbb2lCeRJVAA7rWTtC/PxtHaf3yn3lnJKDUi6sBGaHMtR4ulPvqo
E33KvRXZwVY4nKsifm664gwI799flwkmpz/HttYkIGq52lcPxWjD3OHxk4XB/iSIZy5p/NtaFUKN
UMeYjuDhk3J0PIZfZf6YQRVCh0TMLxy20Ru3FuAkPfU+KVS/93SWzR+WOqKr3CUz9vX1OFOf234F
AUL0+vXc3UThZyvMe68/WXIs+/h36VAfPZzKaCsnskcejirOllNlFWaUGJNPtC/vDYMEhUBaF9oM
sKS3F5IjIPGikI+M6abg/SQlSk490J0/nmrinV0rn0uX3TndEwMt/dtxZmrhXpgzAShCX1aKamK8
FQbgt7pZu7W91VIUaL5LVqh9sCnnGMBgyFvJiKkpHSNIyJ3KvhcEKfr2HFhNEczC32VVDf63PSkn
67as5o1GKGhrDoFhXoy2/ckH8p3P8ZsrOPrudzFUA7JXgdn0ZD81z70ldqlenQvgJJZodx/fsHdH
s5GyYajk+RyfmSJSExK3ZjInbQKC4VJTKtDiJpDVr8T/rEn43iRgp/Hfgx0tzYXEvuclDKbH1Gq9
F/Bo4DoP/+SSgNYvG0NUlEc7jDLO+s4DULKTpL7wwhClDdsR3XvN3p48l49He/+a/hrt6A0dR2rO
dcVoc+VuXVPtbO0+Fp8sa+8Pgo5DLOo4bM5vZ3U4uk1e1MhYPE1ttPKasF1C2ZtPLuW9dZod+3+P
ssyVV4tnPpIX7zqCthzx67p/OvfQvyj1Gtb/8HKOpniNOHpUJgONJpGuxfdcfLUb8clS8O7MRqlk
eniEKP4fHQ741nlkoxNDWkM606ZfptPsKs1dU+5aaY3/yaHr3Xv312jHXhq0C1A1JkaLrG4jIyLd
8YMqTwQxFJyPZ9x73wRyhyBsGD59xePJ4DR6beqOYjLogty5aVv8iWf/t/aud+fbqyGOZkI3RGQa
apKZAEOSqrJXDevY/EfzDcMum08+bmj83843+jlkQw1Mg0md27GOc6Pa1Dqn4s9MkO8+HD5wHp8e
sh2Oj/mRpdzScfmK9rTcJDGfyuhXvYCNUNx9/Gx+H4namsHpd9Hlkea+3NhXrxBZer6eJmx1StvZ
mmZz6Do6JM1wmXLw/nio3790DIVdDKn4Egx/rFkZRU2yEpa3XaiBVWzUPfKHXWzEF1oW7wrzjHZt
SSDOx4P+PjEYlBrbEusqFtr32+vLZj93inJmt5DNG9198Kv8ouimv/3qMorN98ihULnYLd+O4hsD
mu2C5zWl8MsqCNBpscn0h2QUVBWcT57Zu9e0RFYyB3Xmong7WoOpzI4a3qdey9YGRpNco184yc3f
vnUG5TReWGqHiBKPLoouZJ7FqSrYaAkCtzSCEEXQDOUnC9HyY96W7ai30zsjDXRxDxwfGfQZhW+S
ecUu6vTMIT0ajoSXOulnKvF37hoWcXRqLmJ7CD5HX9moHPOk98mxKCrr1rLrtTHZV5hb/vYGeJHX
m3ghOMejTzlaI4yZ6MfcNQsUpBmsChuNZKLZn3yPfv9UkJ/qEWCDrBU9+LFMsvfSsZb9XOyErza2
qM4K3T8bVbMRZLCUVvn88Uz4bLija+JoPYX0bYFwTmpLS+LSEyJYugA+YdJt1X39B8OROEJ+D8Vq
RCJv53cZV7oYnZHhiA8lYWcXEjIel6DHEy9I6Q1+PNw76xKSF1ZAB2cE5/2jiaH8Lp5avSh201wE
0iCxbm42yPtWrn2RKLUn2HyvwR35eNR3Ft43ox69xINTZ7OqymKHGgHy9IzKTW5UR3hX4fzrRf5b
wVH/Loj5dSbU//l/y3R+Pxz6f2G61FJe/ffpUrvhqf9ZPOVPrwOmln/yZ8CURzgzIcy4CXE0UgBk
4foXmE7zxRIwxeZp+WLyGi5/9SfjxP2D4jx9pKV6TjF7eTX/TJgy/8CKTcWCvBmKv3Cc/lbE1MtR
+tXCiZWHva2gxUJIDnbL44phNhUZgosyo3sJqbB8ARgsKAP0Sld64sHRWDAHWRr98hbwAeBCSMOj
dk1zcQ8ErF2LBZNArkIUsKlRB8DF0UFk7uRC/HY3IV/lqWzMKFARQkxSRp7FTBaJsmpgImr6VqUw
j6MlU7W0B/rdFiYfzbVXvNTXmTc+lgU5nn44PZHpjKghA4bhSm/cNErFKzE1v2zQI3wpHeg9prOa
MRnuyJchLorWHrkJJOh2g8LT7XVVMMTsu4LuhUVhLJG2kKhwPE76XbQgK8zENdf5grHo/Ubv13lk
lfC7W/rlhNNl31WPL1EZytzy1865GKW6rtMaxZRJ3sQ+XAAGXrZQNKaQkHkckRdubVzIBbXhLdAN
C/rG+ILh8HC4pSCSnRdGhznV3enwQu4oCYzaxWZrf2sWuEdLLO55Cu+jhvuhh6hMiixzyO7Qol+Y
Ddol5t6/qBb5zoAYKCLLT5BNl3drgwyMIFsgI8mCG5kywCNZNKEFS86trp23VmHZX1ShviBvpcQ2
6dF5GQ/FoSs98VS1JTlCjeqtdULM7Ld8QvRVGrPAXJaN3Ykt86+IVdQP2226s8TKnQOCEvVYNVr3
LKrmSZ9VaS08FmhRrtnYOv4SOe5Yrgbi7l1/mpGZTO4qlW1ymGzNv6TPBoTArpoTlwjKgA1Xc9cL
LVnVTqcFCeGlHdTPx9kKi4OXGcN6TMlD9rrJ+QGqYgjK1sl+JKAvIKo0yFavY6c0tfN+aoio7KXo
scWBciBEstdgxcNVPJlHO4VMLsOxJZsbUyrH+HA1yKgp92OloTgJvTxLWbxFeRNHsCUCunGEE08u
sbhEa5/NkW2eIVa6IfUQOdK4dNlLQLXtHGM2aL0HZ8ovfA/fqwbYtqjzB9FPMHpUfQ8mpFubrbrF
NmPd8sHPTt0qLgHlNBnQmwHv7rAimlephxoFZPM4anl1bjemt+9botftcugepDZBOzUS97sn07Re
Yxeab50uC8E48ACjyFEPOuiTrZyK/jbFtXlWFHZ4p1eFv0s1t8SjKG3vVLQ2r0dKRc/lTHqTVW1+
KbukeIRWaT7Dz9bPXH1OzU0yqLS6FAqe5aoszGRbTp72UBWEHw6l0IjOBArEu4+oJOYZaumO0Otq
TzbmddtKYLujvlJTZazcnkBhxxvy9WxALpwTczhJCLkN4ri4zMPwMQPCq42uvtemy6Zyh7W0rexA
aRgEWFv8HOQk0cmZ5bYZ9W2RIlgvcEKszVLLApqa/soqLXln5MQEh+mqw021KYtoO6SktoVJdCHS
7keom/3PPm7ptCa+QZ63ZWUEQpxaRhxrXzCjenFy1kZaDhu+trLEVpto6uZUbTq2ohicHDsUVCW6
qR7uOZSfzhCbvpv42X4Qj+482lXpXIVdbJ00DXFUbX8FSo3M6QiKu987COa8Od83jVXs67nFCbd4
eq7TxP7e90T4ptJ3VgLdZhmP/ia3oLSFUTzed6BDL0rthvw35axCx63XGOym86GRVZCDxTnzvSz+
mvp9eEkm03geJkV0PhAjz+YOL9A2bjXnohi6vtl0mrnFWX8mp+SsD91Tb4C+LmX5LBTp2jp2tbEr
kbXXA6RzmZDy3N6i1DHWna9f27NE2lS66wkE0Mq0m2zVpVJutawBrNZ8BfwOVh0ZfERn9pTQDe+q
zUM83XE9XvppkQUa1KV7EoYHYogQGARo90kkMlJdC3qqlVuQPllQ6dKVQei6bHSMqoKoW0zruZ2/
57S3ZN2Rqaqb03ioi1pAz4rNX6OLU49oiUAbRnW9rJlsxJzz2XJH3H7GKc+LMqNDanVSJjKwm4YQ
PToCdw5Z1wjJjEsv18p9KXX5Q9hZvp06IsT9SBknsk9uOwtTtEuC953poOWrSIZa1Zhz16hYJhyO
bbQn2yLaMH/rlZHQNQ3KXr8Fv1zdjJ10CKFvHnXNy0/7JnU3cLx+sE5tZVNpOLR44ypJxpk7+IVY
4XSfb3vDv0en6m7LMt6yO8hQAOcPUY2jubJg/ph0nKn4qfaK5hnzUcp+lRM/3rbhmY3X8Rv7fFLJ
UMAEZpjrW2eedtgby3Ul+11oTPkmLnzwQgbdSZF9sfIx2jXlmBDz1citBx5v2/GtvHP76EtoNS2P
ufPWVebejtP8OI9Tdjt2aYPscxrPUGsWe2vs4lUlh3g7oP1cswfB7GWhVkQSivS5uojkcNH54JOM
RninflrjzsS2faBCoU5jihp7ArfaFVG+UJ7wkeHkWHL7SVvdJIp4dU6c8I1Gneq1du3pAwGSvSpX
ZhpeZqFxkblsP6qhG7eZRWHPc8f2VDihXEFKQ/42s1L1GVw3OW/TwXqcMX2aCRLT5iZeMm/5AHXC
Tq0Tc4ytMQ7M2Pa8QCijjjdEV+vuvZZHGdQivFhrAfuqf+pIfL9UfnVZGmIrwF1leXnP0m0HIFtJ
cB97YyMTjcyINk4x+AqwYKP1YPTCphgf76Xvnwu3ua7KlKCJUZ2blcXRJYr5AjrntF+2pBmsSxSN
ZOcG4GsO6DbagKiIcgVXa5tOCMqTBz6rTzDDULhK1L4+DG7FtPAkqeOqadlrUQjS+4tuDsHRhTHR
9epQxslGoqLtxvb7UEfxeTT68lab4iu2ojcJcvdt7BrOXssqfS26jEw/k6+ds86RRAbMeVYuL8y+
N1Vs3CI7BzSz7NPidAjEFNpf7KmO1+At1DqqBv92EvAoxOT/tP2hPB8MjrejtL5LnLcLF7691tph
5CMS9jVa2vSMrrqOIWuwRriVa1+pJN0MORvvTT2gfOuDCiDmfN62kRjWvSer7MICemGfZwPBxGlg
2jJ1D5rfT1MAlEFpB0vF6fiQ+VPif1eqU2g2X44Bf+u49P4Z5x8clv7duet/4XGJvLWPzksXsG/a
p2h4c156+Td/HpgE5xt4j1hs/5W8y1nqvw5MCy9yaTxylsfYTfGPU9GfByb7D4IBiZdD/UBbz1sU
Y38emPQ/XOxSiHL+0YHpuM7EUQ2BEZpKxufYdFQidnPC5sBYdNu2nJuga2z7Fk5kvzXDMvukpPVb
vQRlAso+6sQW3vnfSk2VY9Z2mvjtdkmebIoez3C2Y128s4hO711t/+o5XP3ryPc62+z34bjlhrBA
AyMp+s1XndW6p/CZtFtnMO+s0NuYHKyCxEhJT1L5+Zzm0fbjEX+rpS0PmWzlJecNecTx0XNsO7tV
AyMSZpuvpq7ZyLHZhHn5mZ7g92QRRhKUbR3USeSKHGPFbMApaempdttEYbdftmfod2Et4t2I1Ell
xNmp7Xb9HRSJmi/sSHbcdMtP+jZa9WOhnF1Z8TUI3MmfiYZvL3UrrDeOCA8lO54beyiaT1QWv4vZ
FrWIDjF+mWPcIebz64p6Kqi3536Ub1OtP4cudKaK7sqNfEWTWhL+o4/rkTCLoBgNBOxTN31Stv0d
Zbb8ArhxedmWLtJxnV1GHJWr3EPFZoAXWJWsqacV36ytL/t14mplgEDn4BvayiOijdzQM4SvJzKy
n3R9Oq0iqa16ff6OBvCzzJXl0l9VLBDsUK3wIDXZxEksWru3tybxYoCRZEVvQ5EhSWfHXaHuNoGn
9kOpr5yqpnpu1m1IUquNTp0Oonn18cx1vOPCGwuRKVBCsKhQQf9NPpTOBB4kiZ9si2mIfmkpKJVZ
KTuGgrVYUwj7r4J4wa6USV581cL2LpzmeR1CeyhhD03jZqxn7pvw7Bv+WX2iL0AX4gesremOd8NC
exkW7ovHG7L26+quAgmjFjaMDLdiNL07C/cgoGNnsvh2o/+bqOCnrtikKiWJiVSBeTjjJM5HMrRG
/dmpexcitZkbz16ZgzMNCbYKDKWBZ26S/qHjvwd4L/qzmqupZn/Qzu66NN2Z44Bq5FVaJoWg3BCq
bVenEBCHtuA45HRLrUEvMSAV5YU7qaINYpKmyKsyhxizwhA2K7drs6cOk8J9m5GZxDKUmZtGynlX
9rnawhPUdnTkK/lAscZIdyrUlXNiO6O/k1aaHVynNadg6dhfYMQA0Jxp9c+Cwe5MvGtOUHpefhY3
5EjXmd7/EorwgSAzvPAi7/oKeGTXnmHK0a3AIpbNDnLV8D4n40zSDIfb/Mxs3f5XLCa1d7TKfyhB
RxNYJbXisXSd8AKzznRuuMTqjEYuDnmfZAR+19a4LmsyGVc9sIRs1dKcOImhb2MKsyq1L/OQnWAH
UwEaWDFgbMgJXtAhLRLdGLM9G3bd5FmkV0b1uEKv4Zz5c4dzLc1F91wnsXYZDXatDjFBYApvlsvD
pKqmW5tWOvO8Ig+SuE/u5VJSsABBnBSN3h5oNNdcpO1l7NA4mjTq0LS2kR1qPifrMOlje8WGyd3G
8H9XY1Nz5EKJX3iXIklUtBfYA8L1aGacZ3FSzStKK0YbwJT6YkV2qq9Ds5NPwmrY3gF+wjaVtYbv
bMa5V9H53EVautbTlIiFLEuvw8yqfapThXYXVZ7MOFIsjOMGFutmyEYojPbsQfyBZ+WgZMVuVeFn
du1rqZFedvCiYYJlluS/WldZP70+nCJ+W5CqWegm+1mHU9bYXk8adp7+asexJlPGuwoV5QEzj76g
zjnP4sL9MfvlbW069he3LLJTLfeHfWKi6QY+U+dwb1vrMqxlEcCJItN4bjjzjSaC/SF0roGnxwcD
beXGzvxobeHI2gOdkiusIulp7IoxyAfL3nnm2JJRDeQiFSlnqtmvvnRNVD0R4PWgAQ5ZCVPl+7xG
GVzgrVyzzX0maxlKrkzkOncUBBKj8sBJ9xq8Mw9QZOpNdQBKiXutrOtqlCdES7mnk9UYey2Oh3We
tO0hrRyLkhRCOaBUF3gdzI0mhksgLGeGqOqTwoeflRbykOqtsZnjft7PhneLpoedOGBU4rrZe5e5
dqlXZh/YRhRvJKFnhNe6xaGviBsnUbfcmtQxkRf5w6NwCPQpG3ElpvQXiBpxMJKIQEDQdXeabtSH
dPaTU5lmz000T+d6ac6/ZGokXwrWzcfWLeIDzsRiPfblNfYah6pgwUpetH7BkZkzTcc9WdduDxWt
SB26ogPxyNGo8eJavGJEY86UoVVbr2v6m8l6KvIHEqRN8DTJpYCHve7qyvcD24m9JNCzgl0bmJt1
Wxs3U0JKewCHyL/jyGWtocXBgzaoQ9tRlDOrivaC03p8kxGP41rJVysTFlujqjx17MwtEb3N9kND
ceIiJErpNHGKcUOHsjkZ435YVwnpPtpUuQdTTWfgrOW2rPLkoiyS6ymBhB04MzvITW21LW90PV2M
uRp+xZpHxF2fdDtdTOQNpbJ+GFpcpIGI5nTn1AZw6yg/FP0UrWxMZtuo7n7Aw3JXBOA2lwbBOOXa
qnRtx0ls+NVT7PWD3E8pic2qzffuxLYiqKm5Qj25l6BZNron5zNLOv51WfjqxHD6Bl+TlZ64qWve
xywWOxIqsBK2tTgzeoJv3Kb8ntEJu5wMGq5gA2ZOW/ONj79m72kcB4fK4dxnytlczb6VnDUlO5XI
Na1vBT69xxww20leSv/ZaXv5Lc+9mTB4G6ZVolXmWQ+2jY9nwnfFA/4GMcC0r5qKXWGaJv0d6rZ5
awzhRIUmByDomulmpLpG/nqkDhNJgqtE6EjtRFiN+whF7raXXbUx0tkMQjP+2sYR8YHdMFNvaFV3
wSeZo2fiVyQxtZCrirzbeInAIydDfn4cz7skKUjLMpvnsZxPxmp+ymoXM1qY5ngre2puXvjcsTxt
vKK88Ttz3um5eWUOYpXHcftU4HXbYcfUV2imugPx6RtjTNqrOXYu63i6LTspTptafI9MqEOjoHMY
l4v3N8ywjxvGqsOQClcLLLCd5hks6eZZ5VN72YbSx0hFCRVDp0URODFUuCuzYdo4Cd/t3JnKFbfz
W6Hi+IqKPE3Cutd+Cje9iTAFRj7YuNqL801t8G0jyCr56TS1cejbJN4mfuxfD3Arqct4Ei/jQHRk
VPUWjCksnIFes1ARJDVsU4XBA/7OM8Xf4SkWMWxqZXfyYs5qfxvjXKYyIVrrkd2GczHzdsWrUfDK
7OWQ5l8SrW+ovXvjXQ0Wm9C8zrwbc29o4DcOV2HvDDWBjVa7zivHv2wj+pwDv/QtIWLjN7/VEiou
bUbgNqXB5BQjrHE2qdj/OmezY+E6tIAn9iCw7nkTkgNthrYNqO41PzPbYwr5sd0/zgrApKFNcpfU
YeQifMTtFNRDZhBoaVowiZLRxO9vzD08IhCBDXuJxGRPl9RQ+hBceq6Bi9SnX08sR1OsatWKSzu2
qyuN0FsKgEVb3YeOJvV1bUvR7GeiGJpANUlyVyXpPAYg8dKKLoeT3ptFSTBF7LXdr24YoFFOmoRi
aWZeUhEA2tV3eTOz1wMrSkBpOaztOWcVqjXjrDAb6yJp5so6yczIDU+qIoW+4RStfQ6rIv3h5F4e
bchBNg+d05tnmMS9fR1Z/Y2vCuSJCd/nh5Q1YNVZfXkrh2pjFpY8rWPLagNH70uWLD38qjL8C0UR
Tqd0v6b9BEX6PKFj9Ew1jB1mYHel/03Vk/crLxq5Y5bP15MbhfsSc7mxrgmW3QmJ/JRqW2VssXUq
n6yP3IWcVs4JZfJ8jjaeytRVKiJnvEl8T8XrIdELPoEOvAG3N/mxHaHUcnD9mnZAQVQsu5x6NQgW
mapPwVSQ7EDkVV3KR2OCnqo3gx3767DvdTNo05hNbYwmv/iCWld+dzla/aSqpG5hTsCS7fO6xVW3
4A1sGWU1nmxdf04osKa0OvTqtonKHOxYuywGlT8oe8W6wVdYVT7PMlTVTZMzIXaK2u5F30hKlE0h
c8pzU7kRRtw9arHwHzt+drwxdKdYO30+XhucEU6SKu5vymTWdrnK+zN3arqHDkphwoZ6biiL6qO8
rxVMPzZVA7ZYoPN4rxuEktXBMokhZd85m/OqCOXo3OeJzUaMGLNzXJIgDPG5ORvvBWzIo0238EXA
HY5VrMLAjW0wiKzwCxMxeQEkmjWt6ju9y+P8vl8YiuoFp+hLH7QiAWn9ffbCW3xBL7oLhbERLU1b
a2EzElI5roqF10gRErFtBMBvTvswC2QiIDtCEr0Y2wX3aOa+fRq9QCA5ije3s4FSOX2BRBoLL1L4
2bTP1LBvdMUpREKVlAtf0l1Ikz3oEbCSC37SWUiUwivj9Rj5FTHxcCrrhVgZa3MbsHmIz7OFZxku
ZMuobJttuNAu/RDupfgXAnOhYeKi1u/m2B2uX86Q/79AeKfqn//5H9+roexbdfMzSqrytTiCZvKr
w/b6CSD2z7JPerUgvv/zP66eyqfibXVw+Qf/VR103T/gYQoPpwM1AHQRxl/VQfMPKhVUBRalNSrR
V3IK/w/HcpEM6ovjxxPoLv+7OsjPA5yAQN8ywW0DUrL+jpxCMPyb2gQ5d0tNgj9wFbEE8Zu/LtuU
tuvTGpLWpunjeAu4xbgVrpr2M7a2tfCkuNCKsT+MnCTMVVgK/8Zfavu2nqdnpqZnazF0ZCj2+ojM
kPNET5AfXAcJsNdn3ds5MT8nItgIb7ssD69u9DsVwBdv3evKCr+9ZxAGibsLOQq//9vf3sg1pG+h
b25yzfGuijhMTn06UEQsRypZ96X9tUrJh1QqhWrnZmV8olKqoGaNy4o2FG7/1IvL7agnW5BT1kZa
ZFQ0fZGddGVN7qEzfOvi6sYWTvPIIZaPcsIXIsxdfW2kJrRTIVMyCKSSu8aMx9PY19U65IO7LnxM
Cz2argt9LBJQVVqHvVKjtzN4YkvXMz1ti0J+UhKlnnz0NJHR49nTLVBueOqO7oeNngv4NZUKry3k
XV4nHa7xoYlOQz9uA5WY2WOjz0IGQzs+f/wsjN9nkoMCyIErRSEOdtbyu72W1Ob0qj24r5th4o8Z
9uOXHnPfuvISua1rUl5cCBzusFRbxvFe46h9QnPq+ye/hnipNL6eFDwIKu0eNhkUsKZ97MWJjbCP
KIb0mzCmArTNUo5/GHeKg6g8jkt17dRfq4RWeTBG0j2whNtFQOO/uAyJpPkhvSR5iMjUCCZS8Q9l
ZwOVDO0QGG82WKdsiNWj57AVEfX4Kx+kcZESOnIqMoN0j8kQKmjIqbAoeXr+vh8KOW61RFVXsrG/
loZxobu5sReisk5rr+LsPRVfZr94MkuwqgDZq4PZdeKB06b7jS9yvaqrKj8vJdSpnCIDugTRXPW5
cFdIE/2bEV3SxWSJziPKZCiKTV1YJo2jvN3HXiruqsX9uh41czM3ZbtHsgRQsteNXRo65SpnF0Kc
UU3KTgKB9zEuqulLQjb4JuP42G7YDKBmadIoXeFu0oixNnVuRMHG8Czp8u5yqXjkAeeW6pRYFXaE
bjfOT1o2aE80hY27bjLtJ1s27Iw1cmIrdoz0T9PeqL9K9rbruZnkNbk1+ZYcoPmgQ2RFSuGpa8ia
1WqsiSLQOuGyrKRswGLhumzWByq0mjnCsAo8e7Y3ddlX5rpryuaC+JmeMJSmDFexAiJn11q1RrMe
NVuU3XmyCjVNOFTreu4FH9i7gp59GkyRXn+lP11vu6aoEgxDmn9hJAbEsgGqctYm5TfPbOJTknfQ
iVdst/0IWfACIw5Gx+3TTVtROkISUBZfezLv2KK1tLpjTon7nI/xpqQsRK4XYiEFqmsvkib7oUfj
cMVmyFmpzMfCZExA5guZnihLJDs3TcinKed05ZFTsur0gqmmODzGUIjiEBpeoFUE8Paj78Ao7Tzt
BImY/VP2GK6DyNEjNGqqgkXg9Wzzd2hBPGirHLt3BCQ15kG1XkUJxVkAqrQmCTSpqT+lbOK9Zq+z
S9qkWaytonREnumE5sErmmRn/V/2zmw3bizN1q9SL0BjcyaBRl0wgjFpnmXfELIlc56nTT59f1Rm
dlkhl1R5gAOcBg76phMumwxycw//v9a3nLg/p9gZH6IkBJTRcJIWihY1nDdc+u/hmE2H2Z7CK9uq
KBjj8TxNdbYycxLfgOJXT7F9IuKuGnHfoIahElGZPq1yEt0boea+iIsebH5ar+vCctmiucNGNo79
Le4tziBoZGpyv9JoJdMpf4hh6ZJpW0xnyGA4Q2sKShWRu9phpH27imfbVyenX8/SUvjI1PiaNnN1
MErbvZ8GRCrkC8vrRsl0Yp1Lpz5rwE5vyoGD8jDZPJFOPe+KsKbyrRlngTX5sm7HQ5mq9jl4WlxL
oaOuLbeDiEb6c+dB+nUsSo+mcuimkfwTK2lu+Ey+9najry0qBESWJMO2azR773apexBOrOxms4vX
M0rC2zjtSEQIA/dRqom8lpE2/6gyXuYQjs6GxLfsOmWiPetF1a2LLHXOiam2zmw7GM6afra/a7T1
f7iFwqsL8uSxMlONNhzvdGxTy89ka5wHsaRyVXVTeaJWbiR3dpem6zZvCMiY4qE7QxbB4h7DDLnl
WCGvp8IBVUUDZgW3rj5xaENdKHicXQqrl32uyetS6vFJIJNyM4zC2mh2gAVKcxQ/G9EESRqkJzXl
4AP1qafRkm7vdUGirITS6bvMMq+svFXPjapxfS22kstYhvllEaZB6wEyEgPJCgpoqXLWz8bOThBv
qiUwySTFd+lZahrnntnrZ1ZsDvARs/GuUGqfUvB8E4+Jem4njF8u0ezUYADalqQCrWLTkJZb6SWv
GPR+dBjAHTdcfyGRBdYYfM1s/m7ROtVXrW+Sk1aPrOdRFtQo6rE80e0q3uaU5Py8yFUocU2KOnzk
QTyWwuAeVTkU5ySB75ougLCTUUqJnPBicJ1mQxp7fTBspu84zZwrJeFMXEx9fQ0QaP42N238YE3G
dFW40U0xlsqLNdsGcw/HTKPq1XN9EvkqS4gfSqa5v7QRbal7JVT76ayCMIf+qUUhKgmfti+qJGnU
3TwUzrVhJxW4/1QDUeLwl1lN7bvBHtDSSuGOqJH6cJC7AtXGVZwZ0t2ge+vXPOHR9KNeLdQ1m4BE
rqnpKt5YAyDf9lZIaR5IOZsndsPgkOqB0PZZhfNZFcVVlWL2XTmEIayapLnLpBhXUdNYFyWy05dE
VeRDFoENRx84jJtBlcEDCAXcjZFSRgiZhvIxcbBFg1RSrNKPMAxuWrdJadZEnUtrWTwDl7P9fug2
XYohVKe+llJuN88QdyUPriiybRzYieVlKIpXrDLjZU1e8TcI5+lTKnIKGpUMN3mh019w5ah11Le1
Fm1fo8zwmoaiXhtp51SglOZ8Z4Yz843I9qOrZ1dsJ8ufc6GnK+qpBao5tx/vLKlPl5UyONRnKewX
xJ/mIPMq/aBGSU2qe9GfDJb1mKQE29EY8uEBGk+jq3V4VXV5FwRuNW/gzkXnQWnoL0LE3yt7sC/C
zmyelSqrNK9Ht3QnR+YUNrPQ1ipVsqtJK8e+m2eNzVZpivOqoh3lJr22llOHvFBokO+qFCFXkmRf
+1m4q2FoECMXLeyoEDlVGd6IdDgZHLVd6VJRVy6ECUTFV+BhC88dMOUpko91CIW+x4Pt6L4VKHO5
VdGpnuoVqh7FlMX1JDJtK9SxW0eQH76RcpnH99QBvk7kj4oNizQa7L5ZNhfGwAtqS77OKHIPk9QO
oRkauxxqCAWcrB22FAEus1EpOOib0AK9SKtZ5cg3Zwo29Ial3S7oqfNMHHk5jkFEvPqyC3L7kMN6
VJn7cmjTmcN7Xu9UGR8c7vGM7Up7yURKFFpn3+fmso9pMvcEoz/0o2S4GtUw3rB0JycYT05En4fr
jgy728TViAIlg9DuMZQr2UA5KMp29K5yJlAQeagmYXtp9kMR5P4YAaPrFVtlQdZ+BoypnWkWMwG9
uek7le3nSm9tqign4DwoUFqW4yM5Y8ouowTlybHigmYa3fOE0u95HRVEwwt7kzp2eF679WVDz2gP
5AuGSq61Fx0GnX2PgG7d1JF8gBYbH9osZAZqguleCJSNpc2nAv7FHzNqgSqgR/S7ZA2GsqReLp10
D1JpS7TFsNLbEb9fuYsrOa2NMLnlY85WaTif49QF/yiq1G8n/bKzRsGXrxpXDnmlLtUnxIpyAhTd
xVFxkY7VdKnNVZtvGvA25xNR6iemKPorSlpQ7pBCnM9TcsHahuCaJ8MOllLjNm/Yjo6WSwivbQGs
Z6K7MmWfrp0sN0/JvqivR53AdkfNfwSEmJ9kJL42a6u3nFO5/IGAJx+uDBHTPC4JnYoUw1iq9Y7f
yrTZMftTihlqeYhGafpQDfs7/p2Tga/rgJq3SzZdoHZPYf402TH6zi4d1yWj9tCnEzsyncCi2sgM
9slBcqr1GArHtuIdhkHtx0F+Ls1CPVdw83oJewwFQf8uaAO5iVq38BDjGvz18YcOcsNHuD6dI5Wd
qY6q416MqX6n0PY+zYpwuh6QTe/1LhWXIS1qKlCCQ07Zp4q1VsUo8zUSJMn0qU6n9qzhI2qM6c5C
6OolbpnAmrU4Bde50a7sQSspxpWFeaaHRap7tBuNzCsVRv08jmzjXbs+6WJq/h7iNZ0Ip9jg4+ln
NZlWaiHSjRsNkR/qVAFXI9qjdaLo84uVWNW4hlRDS3gGW8Y+ve6sS7qiOkPHacpvCTq7m0FJqz29
IlluwmB08AAY+nDVVhk7u0TM43lNz5SyniY3NQpt7Ba0191V2cz5bZ8lymmmG3SL+9liA1CqSsjD
fgTriQYdrqIXIImiK2LIa9r+5pMccvQOtWlsaGXqvHSBByQWNjVABxsDh3hSIbcjjtTTErDCIZz1
ZKOmRXINcZgeZq26XyPAkQ8IZLEGWGO8LZc1X40Kti9ZzEOdactYXkc+MM0QdoIgzDmEtVV4Iayi
Y4s9x7u21Arf7UzSwjOlxmPhrorBdBF1Col003RQtzsLstK6nrp58vOprjYQep1g1aL79MdYt3dD
FHY+aZLVj4nhtRahTTiwg7HUZNdIn76b6HDX6AUvzRxuJWeE6vS19tAZNFGhFFI+VINSPBGKY62t
xlEPQdJVq3BC/V+JirN51KGcnVH1EzmwSurMRitusqkjXp0eOb4WkYbNJtN4OeVoHWp3Ol/AnPdz
pTwTQxjeD6Mefx86ITYzKPwfvZI313gcSxpSXXE9Zn14aE1CBiZlYG6n/7mOKnSypjFq4GILV71x
jRAgYzWbmBCWW2ot2LJDdup0ZM56pg78q3eHYNUoQ306OJAhdPZ0XVcpu7pKa7/Q7P4gktLYStMN
DuqsZ9tQ6fA+FoFYh07Fx9q4Cj3KYjyBayw9WTWcX5SWYjtACXyfc9NtCpV/0OxcVKnsGADnFiWt
HS+tw+5Wm2YMPBZiodFL86j20zHbNkgBz1yROR7pKzQmx2476w3b21DveYqoY/ej7FG06oR+lLE+
PBhaOu6rSsFVH7QZ47doTB8XRnGi5C7rXaOth+h2No3oQIe6FJ6M2DAGmUMVpWI9BWnSsLsrdA4C
yW04xgHpciJcF5QklsS1m7CNrQOxyM06dhCDr4zS6PeBrg6bQs9p6UNXhR3KlORmZY6YXczViocG
LIl8ppXL3t1PkjFFA+LYAcjSqmeNSlrVPm3S7rwHquCx7KwGVx9+hDKBkjkEX12NTtpE9CQUZsO6
DJdmFJURwytRTKyGIDh1bepzVteOmzlIXF9Xyv0M9MxTDOURITltnuilUHNEdsZyiBtBxXbJbPly
tlr4xKhsmq4C6AXTdQzq+XYo+Mt6lMwr8JliH6qxn8BO9TirrNoBtlA5hjVlEJJxBHUHv4psZVOK
eeNWE8Fk4Lo9eIHgpmU6njoJzWrNKIGNOkGyzoLpdmr0Yi1sZHikrNln4I/NlRlXp3qRxn4aMxTM
SKWbOonGy2N5hqM7ZAbMrgN0Np4ZQ1iTVcd+V27R8N/xEp66MLnnQd1PZrobjWY7SetkRJh3VrMi
G/7QhKBQYgQVAQVG3WWLMk8uwTw2/RhY2PISQHN7UDU2QfOM9J6ZcvQgfkK2jvVsunTmRl4ZcU0r
rgLMfW2YKIDqMNFg0CaInVzLXAm1eJgtWy09I8Ud3oYUT1zAfv5kdCEwyKDf4ugwfvA90cxepn1Q
1hqCAliRXkWxCHQj+G6oopQ58Y1kFukt6gAyVtVvnVkzVmOeV+cmNVAvr5sH9Fjx2nan9Lp11PmE
FgaNXN7mLqYFuopdnZOZO7TshHCHZmrIeT7W3W9aO99liHSAxNrch55QaJmSZ4oT6ap24ztNKj21
62hY2Vn3TBzGhtmOIWdwuDbaXrs0NZIG48QVZ5FtOFe60zvncaSWa7Xqk51uuPl5CEyYNqBDTycL
Iq8YezjhBLDdB9NUsnyn5nkXddpZVoXZuaihsHR1uBGj/uiEKiYBMgfJmtPIM5ZNzsc1WjsLNf6j
rUq5U/t2NdCLOh/YGlAM7eR3d1Sq6zKRzimCJWyHszof1KAod9LSqZaZ0iZbvq/bHVK+/FypE7C8
UeZ+t8nd1qhDl67weABU0zI5YSUI60JhpYiEFd91FHksyji09X6Ys80ClakWOe8ckCHhCIMNcRiG
60r00ZNNTeSk5pu4snkHJ+FYFyeF0Cdn7cx2++JaU8TlokTbBlPX7YpkCi9sG/2HyZr8jIVLuaka
Pf0ZVPl0KrOw+trmenpNrxKxjU0k67kNWXY9jaa6xa3To4RrtfXiWfIxCjB4ytDEVFY7fIpa8xhq
7XSrFnGzJb9xuGtno0RW1Xdi1fVxtAsCNj5hIpJTG1mJD1i+OinKJMh8zjvSY+tjnSCyCjmfd8YK
ARt+DD0q57XGpc+6QsabYG76fVLLjLojHsi5NZzN1FjJpqiH7hz3ge6FwxRd9oGS3+TN0Oya2GRX
46RhOvk1jd0U885SE4nVAmlj7aq091O1MZ/COaZQ0aVUlYZc8pp6tgzJidYxvWiOnX13G9ap2R6r
hDAf072tLYRttZ5XqznLjfti0sMHha2NXU6u76R1CQVc05W1U9cl9g/JMpHPirtCGanfxy00m86W
4Q1z/DUVvZUgjwtkMiSY6Cal+shGzdzUVr2VeFjozzh7ougJEXMaz1YBeagqw6R3s29dTvGhxcjg
V7byU09DuDJRRYU71yGI9oZPWXsX2SV1nLgo1ooTUvR1+ObqtLuPnXrPp9v/aHqKNU02tusyshYn
YHldlUs+RICap45A5uKyrTx7Ms3TRlVwjdpu6c+STKNsSLt9RBV7bbLIvpD2bqw6M9c2xmyaL5PE
HGeSFrLu2ehZ+FtWyegOJ5hyqlPwF9aeer2yUkLNXDcoJFvPGMi2iuCZrYBAywN2Tr3k0VHpowTb
3vSIiD3KV8NZFTJRIB5Ub4kVdn3R65hNBnLY2OWGHIxaJwvYnWHu6rvaYjBJ56qmrHX6euAmaW+8
C6NCPdX1cFhj/Ok8QYDSzkkyAMHD6JzErXUgeSLDkEOuJ6LL0KtpBZJ9pPU3qqHm28GYhg3F6kzx
6BclW33I3J0x9hLnW1d9TZrSfiowHT82atfeU1fDPEYQVZisEy0qT/JBYgukS3BSEGW8RwGqnk/s
eE7r2aowgKUA7afwcnKKBKvhFN1/3HB5J1WngYn/gZ9gIfuGXqC/7fuMCtz9SGi1rxqJQRZdvWjx
gHKn1KSz6qII1OrG5K7u6Lm8sDyxadFyYcPK1jPzyVq202PoWFu75qifiexORVNyaEsCQ9O4AJHC
qeaTe34X1b7cM6xODXOiThDlsbzeoMIUjHra+HWZGHdTLN1VJHWM30YFut8Ykk27zDhaXz5HOh8S
8SvWCVhx44w09RbWmJgyNkfNJ/3M4/bdclsOJVXgDhwH1ddMt19aaLooEB7aIZZHSt6tMEFvF1cB
B0xUiyTYGUEaeDXs90+YDK9N3rcdM4JlcIhgVIHi8S5cxjZnRnQX1/5cqtnBLcmAmCw5JOsgsm+r
RH+im3c3pWConSYZOCKwUTdpGGBbdorLbK4yP+WgRekhPUO645yPpFTv7XrS17NCtw3cf3nS12Jp
UjUqzQSpSjgk0c8GLrVHRdtmp4bfkvOM9iNo6nNwQ7mnVqpfRKO7zWfEcWbYK4iNi/yHMtFktTM4
7qhnUtaFueTYbVm3lGOivRjm4WuTqvO6CfJ+qyStvqb/nbGbyb86dGrxUCSq9WPm20H0TAHcmMPp
5eOP4l0zlLSjV0wnEVcWiCHzqBnqTmXZy7GmbqKY03pspi3GVPecSny6RRNGNai27Oi2d5SY6QYX
OK1VjIDmmHof38kxZsa26ItjixCQjlQDltbbr3PgT6q4F6XfTbp1ZQWhQ69CHz+xFxxbcWAy2DAe
gEIY9J1V/WgOKKOKRU86nY8AWfWUxZotxuynYjv3hpbPe7rPn2VuH3txuKRjGovjCoL44qw4+mFV
FDAj253v0G3AGOs8ssFkW0ncwMdP8PijfL2QtawipslH4hwZW4oKTY05W51vJGiavJn4yG1QmhwP
a81Y4/1L0T47GgDLxPy7pprl2vhFUDaY/E54lm9/JEtsG1ZV3/lpACY6r+rKd6yC0lcb2n4mmtuq
CIC1A09o1fl+kXf+H/z45UEzrS+Zr8dPuSWHms++ocxkBo8iKJ9kTclaR55YYyAeOxXz0Wecp+Mh
y48GP4lSxtKhHJvHQoKYbBGqgpS2qrE19zHtaILMneru49f6fvw4qouERuXrdCGQLn/+y1zbS6Nt
C9ttfDuNo/XkGgUyka71ipSP8+NLvfNG4fbETWCg5wGzD+/0iOxDyQiYBd4xXqPBPGjf1ar5oqCY
XcVCsCFMWIhYUdC3Z2utax8+ufz7rxMwEYQfREhgvt9NRq0xY1LUuXyna89NWp4K2XyjsPlND3va
YbSAKzZ8sbTWSWTf0Ob/Nia4xamDgOKQ5pZOCdVrJ41Xqf3143v7zVt4c2tHAxzjCeEYIbdmm+5B
K9xL1+i+82p2H1/m3XzMGwDJKDCh6UxPNKjevm1LyaFNaDNxQYa8sYmedEr9PltktVSbIQokm0hE
IE+AryB9ZG8i8U5/fA/vhzW3gCwGxRJiMHDUb28hTtAwsCgwCBzWBfp+LgwCvf7kly4Kn1+X8tcf
6iLmElgjBQPu7VVEmZA/Jwaukth34WTfdll3X6BxamTrf/yDfjes+IAcA8WPtuwB314qMTJX1Gbf
+PpcNbs5tB/jEgSE1kfGdjA7c0kpmz55iL/7efqipwNRbEETOnqPbsP+RSYthNWqvw3xintW1Hzv
DPINIv3549/3u89W023KH7bJlYxjVmStWLOGW6PxsynJ1mjY2YWgmKBYyn4kqpJxW1EiB9LiPJZE
CQkE8Z+8zd+O21euMJxkCIL60ffRj4EiiPRsyNk0zlyEVSdxze60C2a6ef3LxGshJjqJ1xJkL2pB
nO+N8skz/+1NEG3B/L9s72novX3R+IfKWouKxjdl+UjQxvWkamegGW8rtbpHUHfJ2jV7tfnTAKyt
y/Lpk/fwfgWG9kZ1xF6st6TzHU2fMMjzPmyJQBvaAVPZwD4wFUSQB0nkd2axaUF5Dmmcbqyaoq6E
IULKnW5Ga0VT/K7DylFM6iql8+0FtZLu0E0J+G1UJT6+0feDE1c/dAR2JNykqh8NTuEUdjRji2bh
Mu5iahOHxHW2Ni5lbx6I4fr4au+nTpYSvLaIfQ3GqHH0VNpRs/ouyVTfNdvhOU3jG864cESUz0SF
r1i9t3MKHzkXE5YN2lw9TrtNkoCaQmoIH+7FXsmqx1lPjdVUtJe0ixuy8YAphA1Z23VeYKjVaP25
YtxVaEl6TExeYVOJTSLpEFluf+ssZ9h1o4H8pMghSphsJuj6XjXDQpwGP+2ZmkSK1E0Y+noDgYL8
ESKN//jpHb8rWBsa235e1ate8ng2Hvsisio4JX6PbBW2Uu5cyRC/ggOtCZJq8dm8fDz7/3E9TlnL
GY/k4OXPf9luRDmSH9ors9+giTwpEw53bRhYn4zA4yl5uQrBkkuENaOQPevbq2SES+WYDWYfmAce
myr6Psv4W2dUp20uaD7REf74MR5/mlyQ2jiWbzY1kASP6QKyGiOEmNTFtNCmBVenGhqR+klr1B8q
XVjc3jHtgtIoPrnuO7f3cmH2xPqySUTleRyOZCZOl3SOI/0MWSNdCVQ7pX4bIL3z0rHVDxquysRM
7pz5Z2Q5N4WILyyH7Dd2QHOZP2qqlniDyxHw4+dx/FFyWxwUmKNs0mOI1z1a5IHKdW3Bt+C7NbWs
QIbGHnMOMZgkRe4/vtRvihjCId9oOQCRmK4f61zTibJopsSSOTDMVs1chKtQh6tkQ9EJOSX4MzTf
tTWrT+YYbECGtCv0tsrSAqIISpMqG+PvH9/Tb4YD0WmwEVgu2GepR+Ovr42Ia1GATFoy6TDZgKip
W/yt9vxE8/Ux6TGIh3EWbT6+7rulGi6D4KjN/zEFL4eGtwMfpTzzuUxITm3Tn7hyqbK5dp7ma1cW
sa85yXw6Fn15YiHz2wwgSm0a4XX3/PFtvMYW/DpTLrcBVpgKjgmi/90r6bNaH6hTDL6RjfqzWQVf
0yG+GIXWbwO7e0nH3rpFVmPiB1bd8LpJqmmXZfM619zoSnGaPV4iGgJDShugsUPPgLOE+14BG1cb
skHnOJdXttJEF3jxzX1qzOreLebRL8m4+2rmtbkr9Vl866qZer1Ruts+6sHQNEW9qYlhXNH89kC5
5WskNfl5OZKsi9dxpU3Yv7DeaXvM698LxbYPhNDoT22nyusuL7lJogAh9ZWbQtPu61GnkJqhwnFg
6+00utfndWkm+NOz8iKH7b+NwAogZ1bxVS8NlXU4jvIsSzF6QXFFi27R5DyRo5repXaZmFtcs/r8
ycf4fo5nYYQFAfmAj8Q1jjZP+I3AQGXN4I9Y2Z+drA7uNFosu3wW92bjfgYO/s0g5MWzW+OIha/j
3ZykTPWUmL07+mGh3yJfuuMdfi/t6lvf0jKIFwfs3O5qm2b2pPz4eOhp72cefizRwqDnxGuw2tsv
II/nwomsbKCCHwb3vYo8LI9tcw3dIfgBkNmKQR/VykrLFHmNtHF8yKjc3kZZY5+EVPZ/DsnAQEyk
ctLlCEg9JQNwtyK1ie5GsMxmKTnh1ziYtBUuQOhQNv+QMFuxfRVQ0meLtx//pvezicGHS8/8tSBg
HQNxM3MiNBw1im80IULFqokvGzd2LpxKMnasKNg7UP39DkXsn2krf8vr9J9hYf8d6egNNOn3XKX/
J2FIv7yid1Yn76n5/vRctm/cUby1P71OpvvF0ATHTnZWHAhx5vyP14k/4vTgaK6+EJyJdmTn8hcJ
Sf8C2GrBulI5ZIO5HC/+IiHhkKJXsKBjSaRxOAH8La8Tl39zNuam3FdbCKYQYYNeevuJFInbAn43
lFViqqfsoMJunaA08efUDHqfYjLJHUqgKTOap3iOVy1lf2UVGWbTkRaqNYeom9qf5gyqE8dsNr4M
CgEkc1MaODdw0qP81NXxWQ0c02swxd6VZpGcNVY2/xkF9n9heF4ML03XNy//OHuq2n9s+uL5id5w
8V9vxt4/3/5n+8d/hy/lMgLe/If/any76l8Wo1zbZ90//4uB/uf/8j/9wz/tc7cf2+5cpvMPMcbP
L1nZVy+/Dsbl7/w5GC31C2cwToywz4Ut9F8GI3/ERKkxRQPmN6xfjXeq9YVhauiC7hCFV/7avwaj
+cWhbENrBvgha7Sh/53BeLw2cfTAwGfD5QKa9AcZ7NfzgAUAgsTsAUZorj4EDVu20sAAMEr4GZH2
2RH+nVFuuZxJQ4nTJ9I9ejNvh35jAM9B893RFDEs1H3gR3xKhuO3MJ/6AzgmMuFjeMkStbIdPZeg
eYsdfX11L9IZYRm0CgHR3e61r0A/s11cBMr1UNaIZ5IF8qGBUkaDBNsmXSGNFYTh6c3WDk2xyYKa
eI24jg/zFBaHDOXYbWTmFTqjDjeBi2DOk7nYT9MsqfSaATQK6hpIpJEeQNeYJziLUzCkV2MUQT/R
3SG5+mXo/MZH+HpW/nXftjwey1kGCfVRXsoyc/xyOlOCgNDdeXk8blZ/K5q8QjfJ0dG3FMHuiC4X
whQ50KaaCuUb/58B/8TIgs5Tis5tvTSJBMAKArALW4oCq6GVFGu3LcO7pMrRyKZx3K46uCcT2OhZ
9SwwXLUXJwN9LhpWqq+WlvrcDkOSbOhDWwcYwNM+qxOzRpht7aSgG472MHFORNxWu3HSldOS3JTN
bM/8S2AyMvwruRpeoapIH5OCTkUQo3T8+Em9tiCPntTS6XEs9rmcvvTlBPrLk0KklVXM5e1akNzl
DUOmQu0JO9ghITkuHiik6tSkR7lVRwSRam/iP2SJjnKBlEfVTgrkMDfwq80tCUa04lqISyIV9zTj
w23eYjP/5IaXE9fRDVMgWRyBbAGXBs7bG85CJAepRm+xoD1Crq0T7AbpPsaQKDzbQKNtQragaiUi
OKxw8fKZpFiOrsPZxzeyfGHv7gMImE69hpG2WIR/fXDkg81xuiw5GNQgUSqBDp26tT97P+/WOKY8
3g6vgG/YZjP49jJJUtcLALpbp1BhPHoOGDVkoy5kcHb/nS53WCYtCh4uXFUkuoe0RbRnki1GAHZQ
fvb0309zOlhE1VKRB+iADo9ux8yDwtbKsl1nxlQD98qqfaiXGvYPE+FkgPnxSuiBuYCOu+qJCj2W
UFM76dOmuLC1Di2EM8MJ5V/H6zEUwdnYN/XwSSXtuGpC+4fZEQWDubiube1oTEvaiFoTiHY9j5a2
ztz4bFaLwyJnP/TORTd32h+P5W8t3xfVS3HTNS8vHSvz2/X3dU39UYLbiMOo++f/3iVcXc7h/34N
P3tq8EvHdf9mDX/9S38t4oJYAVZvKrIapypO+P+zo2QRX9opS9YeC7hN/sy/dpTGl2WGcqlVL5Up
nU/xrw2l8UV3GSwUCZYKBa/976zhr83zt9+0aeGcJyOGrvfS3Xv7sWUtjfUEAvo6KuBGU3Gwg10y
FRK2DKvZbY5Qaa/3qQ3LHEl/BBfswUJv9pJzdnmqFHvXI/2BNAycLvcMCCsPGE+3SFnLyyGVyo3R
tc4p3UH3Nk50mHRjkm17KLRrifPiW9234rYc4/6lrcyrMLRrwLk6nEUJhOIkGbToooWcfogUKH9W
2dg6NGC8f8jwMdHkbld4kmLEs8Xp+JG9SnM5gQ9D3SLbm7DS2syTXW7iIY11QOwk6bI5qLKfmEtd
hKTU/+nwFIa4V7Vaf56THIj86JrJVSPzHolz1WWw5w2j5Mip64NXYsH2sm5AS64PpPFmJYLZQA/n
R/KyoV05sOLJGh++BXltexz8pOkB87Y3BJHQkSMsLtqXbqo9Z+WCegYunPTisgpG9c4q2upZZ/a+
R0hMwVkPhdjZtBNXktYUn3RlF/B6k3rvIsyid63MxsHBrwP0R/a4dKM0/uQ8/n66Z1+5jFrc+Mz4
C9vh1+m+SGfVKEK3WJsWTJaYreZeTIrzx3T//yeSIwTHclz89/PI6mnKn4p/7NvsqXh+czhd/t5f
IA73C2WRRY9juCBqX1vAf2F61eXcCksR/6pJ73SZZf46nPK3TLbpcCbg5CKEYL39ay5xv0CepSWn
0jxnywjZ46/D0J9bTs5RfxyOfrMFZeZ5uz9AW0H5fKnmLneBauhowMhhLAqiwjYDTo4tKlMyC/KI
DYtqb9QWbyJnS6Buwnh28Elc0hWZ8MSxD6vVeVWlQ4AjvXR3Akvv0oxJdK+i/4oOdQ4uWwOJvjok
+94avmYA6n+40aTuLWl8luD2jiey/AzYv6z0bLqohZlvf0ZUZ2nc6A3eD50VLkzvbCrfnlaPKFMt
GfXn0zRtI2I6OEIDiaQvVEl9VYaQzyJs9hclDrFtpkrrtFakfhAiXHhfiKs9NRv6G8LRq2s+6gf4
I5/sAl7hGL/O5iZlCwp3hH8hB2GFOCpeawgc6pBtzKaFMQvZyGhu0dnIr6UByGxF6xlUq6zKp3Iy
iuuqHu+iOhZnBY7b8xj/r44NsUguB5FX90k9k+KgtS4nBMsCpRW6+fgSaYMLuLz7OpWNvs9FNDwp
eoOA35nQ+XVOX64UQVttLQVYCrfEqOlGEXyFsgtQ6GdFtZmi+EFYWRCu6Y4v+CRQrPRc4y75/voF
/a2Z5T8rgP0v3p4I/aNpZfcUd/Gv1QVaXP+aTtQvFtMJm0bBydFmmP85mdjGF4MvGdoPclibWgEH
jj8nE018EQ71g0WNxzhD4PmvycRZcOCIXOgdMNe4fy8kaTnTvBnJLrucpcSF1oebUI8+wtlpdGV0
IqATw8A2Oy4RB5A15+5LnLcBYDu3PLNhvL7INu0uMCygJf7lSf1mOluu8P4ODKoknCQg0RxtqbWk
JpClbmxK4WW6aWps9gYyaV9Lg4uPr/Ru3uS3MqUjmSWbiud31Pkx60YJcoJ9/FxVMcRhGmM3ln3W
53z/RKnRLCJZ9qCo0o4xSZGTCfTahuErQyoumnIS7aouy5DEE9EJnIV51u1opSjnluzNh0GWWrz5
+Icuj+ztI2VtMihoYfjQcYUuD+KXk7drF7WdJJrhT03d+pXVWmfZFLAXzNp8Ky2TIAkRfMZYf62+
Hl0WVTdnfcq5TIzcwtFltTyoURriSisqiAZQeCNw0QZIzNUcaZXru1JtQviL6jijuK8LGz6tSdyF
W6UlZnXFuKtmMU7ekGbmaVFZGdu6waqfUmIJQw+WSkiHuHH1ExYyVKK42tKJZa/QTM/9b/bOYztu
JG3T9zL76ANvFrNJBxqRImVb2uDIlOC9x9XPE+yeaSYSnTisfzu9qi7VUWQEwnzmNfqM+m4U+jMK
KRPh1I5fqrZe7YTGJwUoDtqHCBPCTkUrxfgdh41AZqAU+XDCIcT/DHY7/icfK/5gwxj9CaEiAWlP
wtreZLFqpHsAI9aHYHKj77M9mtZza4Zp9tlIxhTFSHOq4hu0wq1vAVwX4xGZt7D7nBhT6hkF6ocn
B/1Vba9asw5xrs36r/YQRvlRHQ0Xjh52Dx8Dy8avaIrs+PNszZ3qIcUPF8RC9JNbvTasGa6i3/2w
qlj9pVMtQ1shG/T7oo9G7GMw06G+bCithUJer5Z7Q+3tB6ebm4mWKsu+s+PQN7BBogWM7G6alvuM
TaGf8liUxaEsEwHrrR27DFxhC5wPylaFYgwv821ezw4KGRl2NnuMKrNT5NgUCoxumodd6nfmI1ZC
46egDAZ3p2Yz6qNjOjto+mVRvQfG7fzK0NCD1emYdSarOwaqnkhhKxFuJgDI5wm7Iw5K5w1p+RdK
XerHOdGwJiMSH9y91mTZH9hbRgi9dxxhvudJ/5QjTIXD2lTtUmADSLM6JkVAwxmrX37rZ/tZNOpN
LYYeyhQF0+e0tcN3bmO5/6yDPvxrqCNYjDCBXZi6zqwj3dpXXtmkrWcbwrnPksnu72PhGt+qUqRP
pC4Qa6JGM+7yzrXnnT3q2sM4uo4P8UV1n5FosCGTA45EuwhsyylIiig78DY3R7+dKpzTcsWY971j
DI+jCvhhb2QjIhlugZsaUBYRfiE6C5/LNEnFMQL2190gk4yccgol/+jEABO/ZCiQJdILhcLhHaTG
utqVc2WApsEJZgbuNMbZodQy90Nku1W3D4WLym+BnoHXjLBgaeA6ZnXo/FwH9tEJRD7RLbMKaCRp
8NPoJ2D2uZvGRGJ+idwQzi7GroIU/qu0SZj2ejsrSEeZPZ5pWmYJ/X2sD60PxqfLAR+jRvsYG3k7
7qPMnz9M3VR8c9oZ+dcWOZIdbUX/eSpi530I6tBCbKsMPlfoW6ILPqjNX9Ci8yc3Qj9tH6RN/DxF
aovbC/oZkoidxc3JMYX5xRBK9r3WxvyPm7ewGN0q7b83FOx+qoECMzzE74pq45BDMmwMHMduKKKb
/vs+rSfM2lwl0veKHXTdPk6LUd1xl6dYmikj8tuoM3FOVDt2n6zeDNuD1ufU3TNfinageMIezBDo
2DdRrj1C+dcBFjqULw9Jh+nOzqoE3l4oT/FhZIdLO0VKURoHbUCcbt9H7vwNtKBAoidt8x/YHqGk
oIVtAaks60aLi0xoOqJCkNmlZxkpaeToYXjwu3pCEyJvwK0hCpEG73VUW1DdgJoEUN8ph8zreh1P
YgEmmgqAxkPkzSXWb3AvXDqzk1qRsrtqHnINKBEcW6t3xh+wjLHQTmg+K0eFoDWjXavT2CJuCAJI
bLU+HMg4lPDO8ClL7ssBbYLDkDj5DycwsqeZ3RvS9g01fafXxfzemkSu7lMEr365XRkbJ45b9y0N
hPKpEiYN/oIgAHoyrhTxrlZQ2MZwqVSDA3UTFDo0qG1oZtV1Auq1yc1PWRG39k1e6HF9yEGEFXdD
17IzUWSwPnc0MqB4KrmT4RXWJOrN9adU5lKvn1LpeKrRF6LraAAsXIKHHCTJY6zFMNxCWfU5bZ4L
1Tfv4jktPxg2a/X20XR6CzQWCMiICs9f0LkYZsw4YvMYpYV4GuBDHIZBODDqU+MhjNu/rg93QcgC
I0mNy5TcJspjQBHPx6uR6a65QqAQz0H3HDqQqHaw4OwRez937lBkzvV6P4Twuo8xZJr8s9Y6wkdH
jI1/xEiySQ+VYZUTDFcYT0qHBN6uCPTA3wv0NYYHnUzTOlSpaOCTT1AK/8p5+ezd9XlcwCmIO+j5
Q1uBD2WAaVvUjiEqQQKgrXDEVUsg4NGAO/pphH3DQzQnrnVPrDRqt1UM7+cA67tB4XDWMNGsuK27
fwW0/z8f+ncz9vb3//5fsu5xpcrS/fzxOhuS//X/ra0Y/wDsZdFBA99OcvOq1+oY/6DrQmgO5pH9
T9f9P+mQ/g/NtujKkArx71/q7v+prdCuIdil7Ihp9dtarcsMgSKwPA7gIgEYcOgXEWxRtW3StG3v
NY0znehpBocITbV/bZD/WsBZZjxyFAyWDBDSYCCoVZ+fOnQGIUWDv/FE2es8ichdoJUcHyKhu8dX
6/70r4vqtfHR1lCyB/QqE4hjdyDpy3qPX/TLbFWkoR3f2Aeoj22gZJdpD5OSwAtQhlwkANoWI+E2
kBr0azs080WAaYop3mVQ2HEqacPS6123pGenNCdgH823wa11dtD/22ErM135dEjj0qSnhAq0avnp
VNoyLi7vnWd1mrWDmYLOga8Xb/90FKzYwICpTfawXIVX69mUYaP6SdV5oCPF/RzTqg4yevB1i1fl
2yeEWC370AQnib/i+VDIeTtiht1E2NYDDdd9wtjQ1TeuzpVls2i30dOmkEVja7EXcx1HPOQ6Wg9i
s/s+NVr7I3dl/va5UBnF3gz4LXytZUezs7GkSEuj9UqnNe7hRBAEus24McoSBMYW5LvYpuzLAal1
5GF49XGKVnOGYqAVGGh5fYu6FMITlUL7oE3tu8BFFK6zEUcH9hxsjLy2ipQyeYNeWIbLKoqC2WzW
5m3rdd3U7UWBx/wQof94fUdcHma0cqEn0hLmxyL+cT4/e1aKqMo0HFN9tcB+shLvUCez9mo11xul
krWhQLwbdMtoVlHwPh/KJ6NVmnJE5UTN7LtZ6+zbrLDqx8o2t5SZ14YCPQMNyTEMTITkn7/6athE
hgZqbyVbXMGTqSFBLIQWnwQP9Js/E6W2V0PJYO/VUDrqy0abpQzVNvpNgVDHPbSErQldbobzURaP
CMWyriwxQ/UynivibUN9iIog2QhMV5dNVeBTAYYjdVjcRORCU1YFAXOBk3xjhtqwc4UZSfvMaOPS
W53Qf4Za3kS9H7Y+kipwWSd0IUDqzJ4VaX+9fXPbrwZZXERWp1dlgaWQV8aZ48HYtXfhIHDibfp2
485bxvTIFtKfAUpF+QYB6GVMDxbMR5DEKbwY0IMHIsW8iSjKUNXIfnEbphtfanX5XhrMks1nmPr5
rgsDgReAY2PGZUfiJNoQdyesid78kSAU0UYxCaAkzWKxflWP33WW2bmXhO2XbuyTY+kaw+mNH0lm
rLwXNG7YtjzV51PBckKL/FZJvdbp+72lhu1vPWwxFyhra6s/dLFsL2NBh6WeSOXcXiwbr5VPoshY
ZW+NP3wk4khJTRxCrk/phZf8OsPjNSfxQWaNwJP+q+wDvr4UCkCoWYhTm6dgK/0oLDd6l094Dg6J
mb3D3KV7r1rh+CD0oXpHy0p7n4Ac/YrfNGrLqnAK3GLD+cHuSOltNG3veQGaj7k+lRsM74tdK38n
i07PTAe1IxsMr3+nr3WRSReCtn7Qud9RiTURUysqTwSGjdpa/+b4AxtxSdmUZHJK2csLBlnpPoc7
nnqaKr5MqBcdUsUe37prGcShl8lIpNeGzAZeTyqZc99MlCqFoZfWJzur+qNv9t3G0l3kuXxj+WQC
1XxBvEvs5+th0qrT0bcTidfwmX6UuORMB0pXubbLDRRRKaTgUVcOtbLP52yEuBi6XoWWwCducuS5
tab86KiBhvNOZeNBw0IADMAXGtJSMx/p0hanoSzQxlLGvny+vkEvz4EmAS3Q9tDqVzjg578dLsxc
8IgkXpJOzg7Z6OKmFpOzcbIvYiccH/F8dQ3ArnjMLh98EbhK51Rd4vk1VJSpjNU9OtvBaeqt6L7u
6/qdP0x/2Xirfbw+vZfY6Pz8MTIcGE46VqAXaDcdwIVwrDb27DCMkdcbY/2jOU/mj6Ksp2g/dDZo
EXqt4/MUIw14qDA5TPZlg6rou9JxOXZ+27jfk9GpvgehRSU5MRspaH79d14ev38DgF1WieKZXMBX
sUNnZuowBlGC+miqH4Y0/m6GOZbdbTbt0dDpNoZb+x7A2BWCPYVsY9nCwR61cGsFX7SkA/6X5WZ7
NGXqsbfayPespDS+dxi/e+Vk5Z+vz3Rtw7ERCMWI1S1u+fOZhlodT03Yxd6I+yh4TFoKcG4T7/oo
L0d78d1JO4BEEa1LJZvFvZtHBXo+dRp7lBix0EoVdaIgmaHE2YzGnQ004G7Ct+rzTF97j8QPgohV
7xuHnuLyLQIm7lufaZ0DIHM6aATc4Mu3LSpmVS1KC232TEnY/LBw6wjI6fVpryyuDu8Zy2NIDnD7
FxdeTadj7lIzgm2Fdl6gZSXmbV38Pxxl8QlVbMA7vCqQS5rs7Jjwnu+0PBEbd8ba0eXk0k4FDI0k
EJ3oszOB2HTldBMacVOfvXeQgvsYRkGNunpoYr8a2sDOkLqdgJGXwoo+pYXSQSnUEOp2YktBCcwq
cv7R1X5rHKo/5WhH/4Y9/dday9p6441NXYkLFJ7VYr1pOgiVHkroxR3+p9nszE80JOPj9a8qJ7rc
y1Rs2cqAQ0nZF6Mk1awGMTwQWufZcGe6FQaqbhceidz7jU8rj8VyKLrkULegDXI5LIYKh7TREIpE
7Kof/uD8/r6JjBiwnP1ZGqfEjvbz+tQuKP2INwNnop3L+aA6ZssVfnXxhY7aIw+JuhZGdomXdciJ
weMGnVyRwr9X1XnAPtFqMcNUkLI2g/xUFnr4xKc0v17/KZerzMnh4ICpobH+L9/iV78Eq08oZUiw
EBGm8ycLDsIB4cIWTIuVbVwGl7f9+VCLywnrAHQMe4bSCKtPNuJRNyZy+R5WisE7tBaN/+F48jl4
PTWj6ZXKZzxAPYgTFKX+O0qSESlqC8Vfl47Q9aW8qNZxCWkytsOZ3GQ1FxdETKzTukoRenroqzdV
oiDpHCGGGO79qVcfRF6j1Wzjt+n7rfMthdb/5/oPWNtWLDFSDTynjoUMwvmMQ51+c4MnqfSOrJ7r
oSu+2DCK9p3v6/cDX/kICzXFG85I7tyg8o+4IqLhUfa313/I2qbSkctQnZf61NKMPETEHCvyOvRg
mFLH49ihSyuFdy00dv/GUIjroI0hNb9eUGWvPjI2dbUaFGjM1zW98HmKIKBj6bJPNdRyrw+1tn8B
50v8B+eFAuL56tJOHJ0utQG/KmF4p4fjcMQi0cc/OxK7KUzjjf10ec1ScpWoSOmyBShpMV6ClIhb
RXrgJTM6g3Tm1T+KnecbVanLu49RiBmoMmtMbckZr8a4bJtKCTyl8PuvZYpbbhfo6kmze2nxgoNn
WcdbJd/VqbFDCQ7QqqWKeb6UAbVGQs088FJdKT/S7RyeQ1UfNi6AlXCILhxKBTZFN6LZl/PyanMI
4YzIOsaBN6dG9pyAbPkVqEaDC5nuP2pDZd81kx0eDWiJ1MfifN/DH3qCgAPXp8Af4Pr+eZE1PH9m
+DmEdbCcqFJRmTufNXIXXCA4HnoUI4v32EzqSAPNghe0qfZunOgf0DAx6x3kreqvIsbuWskm4wah
lfihRBj/FrnjcOvtW/sUlu6QqqNxJ+ut5z8qwyBCRKIKvLp0pc1Fjuui1SMpsjF5Wd28mPyLQgDB
IMWBxTjToE+IEoQBCHrb+llI6FJa1+W9iyzofYkI7y1s4xAr8kZgolWWzzNigVuR4kVTk4dXJ9kH
NixFIqi3nM+WveB2vi3ESUc455/5UCNlihXIAW1fEGW0wCkBu8mhneP4cY6AreOHXPzz+lKsrDgl
B0CuFEYkVX2xEr3NlVUajjghw5kgO6DgQYEL7Mbml3/LYr1p4HG1AkNkskstEnnsQisfxAlLri8C
R+OHKEQYuTJH7i93I+FcG4zjZXEzyidwiVLTo1Kfk74VJ9y7uxMpKUq2fWo+mWnu3HPrJx/evoR0
PWhL2wjUwzE5/4yhix9Nl3ZMTndp52OOs0chPnkjZ4zNYnA38o3kGlImOB+lywcCJ5AcJ7srMMG2
YmJBf9wq16xcwIxC+mvxP8Dui7YATQ7U7oFRnvrajJ+CycHVqZFnX0F5ryuq4b7GzX5javKnL3fH
60EX5yBIpxqDErKXuJ2Nh7Yc2vuqle6oTWH8tPXBv2ngE3p+6dunN3866OQINEmCnAsM5HxRkxwo
Tx8F4uQGCJUpPbf+3Jezd32UlQiEzQjSl6XlC+ryz1/d/FFiqQPkO/ekZla6H+sZ8YfCxWU3UreA
6yvHmXeMCi5UKACiy2wIxyo1HcIa2+qwdz47QzXf12U7bIRUF8xPNiNhJV6lyEuQGi5bOvjQKzXs
T/dk1fp4Ag8XZkfVj4tdHo3KL4jvOR6aSvQbjmo670ezD34B4FMftVlJPNtCg3/izX1qOh2/DnUG
a7hDbFrsMQwsH8LcxKO664Z31z/DhU6Q/NUQdZEjwH2VTG4RwygkNb7tR+7JTNLyEVmWxvdmVa8d
8IYZfok3sejCaUc1c8LuYzb6nauE0a8EHtEHDV2Ap3CycVZvVWVGnZhPDhHYKPR8Pw1BFzxd/7Ur
m0aGzgDEeZ6JKRdbE05TZwm1c07gbND1Kt1oNw0iPdrgpjaew42hlm1HZcC/ECN45+Q00fieZ6K5
1bRxeKjG2d/4BltDLY46Kti+bxe4ioSJ03zKkxpuFr2Td1UI9epvLCDvq4LIluwELa7lDke42KU7
fOqUuu4OehmH3T7Ra/eD72TW8fpgK+cOl1F60jRUeUyXVR9Bxacf8VA8tRhS7UXozEd3AEL6d0ax
icLlm01h/fwiSRl+imv2BJX7bufmjdiVYb6FUVuLS5jMf4ZZbL0EI01lTFHhBy9bfanGira3L4x3
aqn8wctC/QFLFzVlpPD3SgdjcGeBy3v7zezAV6DbxcXpusu4ZMAY1TcQiT6JOhM7TJOnnY9vwP5v
LCjMaIv+gcE2WSwoOOZEjfBIOzkYfHr8P4ibWNfe/J1RqLei/uxQf19semeKkSzIcudEkfxPOGIV
oeIvsNECWT1ZJNqyA0KitpQA7CjikG+y3eHYGo9hKNIvAAtNryn9rZLb1lCL+RR15tSBxSFG8T+7
V9Hh8loDxH88IiZ1fenWhgISJh9PUifO1vmO19D3l6AfAJJKUNxMLS4neNBHB3fAF/P6UGtHmO4E
cQDYQdK0RejT0HSjtskRLsAiEsEV9ZGo499iQv+1XLkSYIHIRDxRldIJ1LnOJ+TjDJ/kfcxnGnrz
rpqi6C4FrXZjWKq+izSnvu/zsPx6fWqrgxLhA2uSknS2jJhfBSB9p2Ltk1j2Ke6H8ig7YEcXU8/7
om3n95SNW1oNerRx1a+E4Y4L+Ym5ktAx7vmgZe3avYNV6AnPQesxGwb9hAMo+m9pZz/YoZ6+/cZA
hkyW96nuoz8ov+/rSWLGWCotZ7kt6vwAXBSzXxgOG1fwylJSB4f4A3oQcMHyLBtoH05Kzygqth9H
vIIRsiSnOKhlle+xQao+Vy6+4de/31rtgH4NlWc4XFRglnszLrKy7lnpEwFDnNGa1JpnLcDyAluY
3PnWpdyRRqnnTwFSQ6cykh21ASGG+zwJkOkkbtn4RSvnEjAZdvVSNpta1+Lj6gps9QkS2wmDgOiA
bkwNuN6vTpDj/853RW0ddi2oP8l4Ov+uBiDNOgFQfirhhD73Ayx0I+idjZB25fRTtyM2p92BjuRS
98ESxaA0XEAnpMzKY6fAsYi6Jnz7e4OSEGUmAjpKkssmbABbJ/ZjRinhEeMB3/2Y6z73ru+WtamA
lcajjqK+QcfrfMESG3HRNIMqHDXxfNQnaUFmonT1N0bRAI6BRJE5tDwor46b485alKaDfdJB8u9d
/NR30Ay7jc+yts9Ao6DPIF3s6Vufj6KrIq2tsLFPTTM5N0C/8agTYfasu5tyNmtDkQMCDpLdO474
+VBzkKf6MKExUNs5dniBFR0FWcgpDxVj4wutDQWHXJeaAAhXO4tHIAmhbs0jPrkgFsrDnLbZTana
2SEQw2YwJ1/IRXJNG4lojq4nOJtloRhBaHDWwDxOao2APha3O60QR4rU/7QFvmQisD/nrtPtMWbi
zmi070Nb/by+VVanC8qEjYJ+Hx3n85X1caJDktjFB5rb6oT2A1W9xMiPdeUOh+tDydD0YrZEx5Qu
uKIRQz4fysR3AjLQZJ2aUhP3iPhqhzLQwn3hq+qDGWnIXKDne6zbsH92qib4G28Q7ys2G6TfhOiL
GCLAwltw9KxT6qQGkkJ5u++5Kzcu38vWirSE4e6VzyrastoiQC+Em2PMXVknUbgGNomRn+8QaLN/
C1SZ77ELNQ5l41v40MfF524w+hM26s2TEc/odlxf8IvLhp/CpQlUBvQSzTv556+ugblStTEZMaxt
HSW7N6wovbN65ev1QS4ELVF1QZXLoU5J+i6JzOejDOUoUP/xjZNhIUd2nKtOrXZDnQG/VPpuhH2p
Tr/hbxFNVYpAuayEhPI4uXNp72wdXcvdgBzyeGgHyRPFj9Ltvd5s8j/FYCdwS0ebV7X2yx5X37TC
UmnC6PzjWGvKZ7uhbXfsMaiFNoc+FGKYoFQ2rjl5Wb7etjDAaQnIJ55eGS/E4oTAOh1Kp+p7BMKr
4qEhW9jnuRMZ7NYZaltPWKHEmvjr+rIuz+XLqBSJ0GQC70Kr7nxVSzNIMk2FDGHVsIjjJEVJAOLP
Lq+bLX8A+VctJsgtxGNEVZ80aNnUhnHhm5gQ9mBBMvfUG1r4NM+Gjce0Jp7C0lBOSWA4P9rZSTZo
C8ulpSpKzARjGXQxd88S/eeGIjS1fO7BBxjTH+qyv2elLA9ZHVQ3ieUEN+PcjD/etrAvY0ohIOwC
GNhenM8QW8Za6/mcRgq9b8YLEwu1Av6hPU4bz7Dc+a8XlgqcoSApA58GsCsC8Off0HRiEeiwID2f
Z/SUqkytw2/+QF0AQTordzeWU/59y/Eo5bNVDQlzUeRyvzrvGrYOWd932MjleuMVozbf9gEOersu
evGaG9BV46q/HXm372mxY892fW2XF46csCyyaNw2XAnLCmflxqnjW2nlYdCCwLfJA7fLlBEn0uvj
XO4bXg8aEyg3S9jcEg7mdGjFc/OWnutEKM6Wudb/Gq1eUg6KPLp11E4/ZOBIvevDLs+knB7bFQQz
xQLKGtr5+hrSA9qiJeMlffo9dZx4X5fVJ4RftjhKK+tIuUgKY1m0E0BNng+kl84gKnXC3JWQ+jar
4DRPgZhu3jwdZB9k2ZXnn9Rl8SDOwaBYZV8XHrWe4eug++KW2Bv71FwkWznJ5YyglbmypUYGr4Bu
O5/RrCa1609x7oUC3rdhN+qOYkx6uD6jywMHZg8XMjIO4osLPo2C3ENEEQFHbYzgD66KtSTNNW8w
MP5shF+/ebsznOxm8anY88vtPsZ1meRkep4oencPaCg4pcm4BQVemRSJq8lNpXOyuKUvlg7/4NAs
vM5KvlrZrO/jxLhp2izeDULrN5Zw5UPxkRFe0iS0DELX+Wht1NomkVnh1aMyP+ttMZ0GV3krrFYm
WLpEuxIJsiEc+Ste3VSGL8xerdTCq8rUeDegI/RFL5Rq4/tcnldGoSIAixjCGHfw+SjplE912hpQ
DWbFP8GAokyv9phNZ3qzcSOtLRtNRgBoZELowywmhE1ElSQCs5O+rLudAv6PPn03n67v77VR2N0A
WDQSYsxEzickKGSb6ZhC0xgGda+VcwvhAFPx66OsbTiHlI7uLGBMQErno7hooth56eYeZljOP8Op
UY/d5FrHxO2TfW1X/kaAtTarF14arwb1+SUWNe3ULKm0Ofe6mK6VY4twn4XibxxWNgLYDvY0ZcSX
MPbVlhu7ctDyIc09vK2VY97gl65g6Pv2LUdDCMIE2AHeQnfxhVDWDFDc0LFMHfrshiQjO84sG4BT
NHSvf6aLVgCHiMTRpuwC+lEq+Jx/J3wYo0zEvBJUaNsdAhWAlPWv9Gp/1mH6J0v7+7DLP+JQe19G
9UZbeOWbyacDxC6DS0Lm+dhD7WOc4PJ2uB1m5bHalyBO0fG7PsWVA8xfDzoZdCfEwqUbmMa12OCO
wCgFrtd1ywUbN+lz5NRb195l6ETxH7lz8iUbFdQlhMqdK0tAhig8uJrhyUduYOc0Om4Q6GA8or+q
7QvwHTfAPoMPVbrpe7a2nPT06XZA0oSiLf/81eaE0muXVRcVnl1g6FYLzTzRDG03lnPlYNOB4AkG
i4stxPK9ItDIFLOHpRS2ZvMUzwKQdzQbFZlMomP/kyhvVWyVW5RNAplR0r5Io87nlahZLnruYS9t
puqe/JDsLyiMh1qNZwQrYQvvABhU9cZtvHo0XC4vrn0UG8HNno9rjkGDy3bIFTbONKe6SHwO6jy5
Q9HD+DUWRrRDvEV/QvW0vtOIFL90oHw2foQc4zwap6DzAgchWKT/KL/Gq28aGdmgdoqbeWrrirt4
jNMHQ6Hm3ZiItxSx1j+ACHgrxoAFB6MnXwfMGLi+F3cChPe2HkoioBrk2M2UIDpni6DdiBxXtisG
U4TeUjRYEkgWU+O2djB9zjwFYfHnGVfRg6CycLx++pd5qZwLH1EqrUlwxmWmZqNqk6Ks4lctgoNz
qb2Hr5ofxqZFkaWEcxlXodgVVRccro+8cu+YpG0Seo0jibnEirZZp8V6XWU4eWrVTiFR2iX6VJzw
Ex42crYLrN/LLMksOP3wTQiGzteSfwt4aCgzT1jWL7XM35mifWgj9xCn9ZPW9jfWkKGn1Tm31VQd
EhEfKz24QXr26/U5r3xTytLEzBQiwTYsy98alsZ5y6PldV3NDYhQIgbpyfz2nQMHmGxfZlLAnxcp
lB5DHUqDOfUqQ42IlnUT+fhmC+u7ctGxmGQcL/4A5FHna6qMdaWiWoX+V1fMuzxPxa0Ac4ZEI0pc
jnhrP5xPKFl07FSiC4KYRYSuI0rftaWdeFFdKgdpdPXN6If58foHWrlPZAYFa4UXF4uMxRuR2cEQ
6WqSeCYyU9/DUWuO09zXu2KM3bu06lWcbQN1iwh64V4lJ8fMHHATnEOijfO1DGc3zkNIGx541GLY
iS5JvQy6zo2dWuifxsFw9LNJe57VTD1ASKDfLOr0NDQGjVrTSfdBOeue6Vf2Rghy0Xjjl/GU0fCV
abfsc5z/skmkvNghwVWhF/0uFr69S8I8APfjvnOM+NH3o+ikKcF7O8zexfnwmEmDg9gcf1//MCsn
B8AHRUKiS6LmJeAqrnOjNyvIacJq1bsO1eXTNHX9xm24OgqoW/p67AHe0vPZUmdEsDAXsWdUQwMc
2qrv/Nb8dX0qKxcfbEb5qYFCS6WY80GaPHVKY7JizwdqdxjDcN67DQSpzu02Rlo5ovRz2Mi0KDk8
S8S1PoK9neMp9iw0grAa435r7ICvR+Q/f52DZCsZvCjMs13gSqFaTjjAPyzbD00+JGkfQXlz5ii4
M/URUdssENHHoQ3wtXLH9CDGqD40qYNw0TSF9zVaafvZirKNnbv2KZHMkWRijA6olJ2vsoyURux8
Y09VMIDF5k7sBcjKDbz+2rekLI+PLT0PtD0Xx8OxwyANCyWGdlsEpy7rq4MLnOaAKq6ycTVdTuil
ekvZANMVaU9/PiFlCo3B9rPMg4Albg1//NkMhnK7sTdl7nQeUDEKOlnyVaazvZxQXvm6ix1k5pU5
8h77YSqj6tkgkJuOkMz8Zp8PCPAeEwwsA0wIyqba8Z5q7yWcHoCsP8w/qf2m/b4BNq5REKIbdgix
a3tWmgQ7lyQsyp9mYQe/kxA+MUD/zG/vZ6vppoNLrGrtEUNTf4+tHn0asnq8nYpsOvaKVr9P4qHW
d0LVG+NERyPPvMGe5gByVNoXN4Ib8IvSNkPhNeZU7xnYPUy+qn+vdNAmyBHoiPpZlfJDWnT+JSZD
mQ52OyC47NSu8jOsxKQe27TzbwxhztVRQyhuRqjTBrqpGQGaw3ltRxsXzkoQzXqTd3EVSBzusso6
KVUct5oOPTwu56997Vrf8DkRe0cV9XOZheqDmhkO73et3dm54h9UJ3lrN5Ywlt9A0RDcHoWVZQJB
/plqmLXx5FhzcBq1ft6NpdnsWsPeylXWNrHcWHSzGFBbSh50Q9IpjYvkgVahKl1MfnIgu9lyuF4d
hdAS4SnJANMWGZFb6mZeuXXqhYmv35jZ0D+m8Oo2zv7aKASTcGqlHBMd+vMDaQSICNvzAIOrLD4p
PWQK38/ERuh6ecGgGvNqkMVUQm2KwmRikCSK6XHGTuKVkRXuaZxvMZxWhyKLpF1EafeCfJgHc1fY
dZ96faA0sMMq/+SDVt1149RuzOryYWJWQHVeCrp0KBbX5gxUZ0K5mw9Ul/ldU7YaZNoCW5y0q9F3
TPNxi/FyGdgxIm861RyZTy3Dx9ivI7eOGdGsGh29Z5CU5jTYh9optL1UZsEIU397oYpBKb5K0hNY
l2VYlyQxhUw3TD2rj4a7vtAjmrFRySOMJPD1i3tlM8IuYcOTzNEeXlJpnHHo5zx3E2+KsuEhzTTr
R1LZ4u0lWFrQsgFFz5Sqpb54hOwmAxxY6wxjasOj1hTNtzYPso1XaOVjcaKIIkgu4E0usUhkFcT/
8Ei8uEgDzMUr9RZ1eXXcw6lWH4Y+sg59jTfo9SVcHdXkMSdjAtW/jP2hRHYWrpWJF0BNO1UGJiNq
O8aPlp8opyIw4i+WtEO6Pujad2OOdH8MFI7gF55fIpjmarIqlXhtqfY3EXbdu8qO3qpOxg2PbiS9
X+JNSfNY3CIspaE2RZt4w1wF78bSTzMsSPpi40aUx3YRPJwNIyf7qhoztaFljCjveWbrxLcWca4t
bVN+ISqTnNyosbw0dmE5TFno3OktIrTXF3PlC+q8pIjkEPgB+FkU1TE0nPyw8mNvzo32sUfhaz8a
QbUf+0479I1R34osC75cH3QlRaKFSOGUchBSYgT057OOmimLy6pCyMLso+rIQ+M+RmVtkwo3+p/B
cepffa3Y94RV/U5T4vEmFELzLCiOD0qW+Bs7auUapwMIMsZyDKLxJew/4+7URlHGHrz2YQ/hMj3i
+K4cqlAPN87pyuZFkFDKmrB5wecuboPM8SctHUnKiCpaTM2r5JjH3VaMtDYhWxan8AjEyEvaC7ze
VUak1IoP7dLzkxA69zyXp1yJnQfdHLbagKsTkt1a4l+Sl2VqZheKr1YmQ4WV+z3AI/tOicItttfa
LgUVAZuYNxCg1uIwdmMI48XRYk93/AjMeDUey3wK3hnhhMFmYFm34D23MrO1mVEiJuKiBk8behGs
xH5WdC7LhrKAP+xURxs+jFgWfr5+FlbedXqBPLIvFVIMIc4/FbpmvqFlJJy2GQ3vcV2rn/LYR9yk
y9123/q6uXHjrE3LxeiaVhqkaaCEiwGnqmz7oKZwohaOZwqjOSHiuyVLuBalk0mibMbSAcVdVh9S
xLh7I+ljz0374U4Jh/F2yNTonV52yVMQwNcmkElvgZNHP5pmpt4WZnOxv764K+eApUVgDXksyiBL
lTWksIE6zwH3jDMbX1yBeHyloFpR+/0Wl2JlWTlseLZL5QQcYBZHrhu6YXSyKfLyQsl/IEvP7mzw
b7o+obVRiMbonOkQ3i80jWNtAMA9JSjFCPV7lYHK1CtkCq4PsrZq4DwkJ4mHgVrlYocgvRgkeRh5
YxKIPWW9HqtBa9plmt5uzGd1KOI9C8tQKai9eH6yGTX2urRDTw3FtyoY/UM0aE9CxP7f2AnAO8jT
WTRZaTmfE69f2U82qjSFjVVhMTXKUR+RKFf9N5NCiBzg7byU3miGX4ixGMitoKqgIYBjVNT/avCr
hpShvv6RVgIHtL8ot9o03SV29XxCcW32mQbez6MJiGYE1Ak/OtllYjVHvul4HCbLnvY+6Jd5N+AK
b5GMC3ODQHRxeZH7UPmQbR1JiF3mphI/2gYN5wsFzeJ91CM934PcRcEf+bksy/23lunleCDtZWlV
ErAWV7LbqjV6V3ns9badnVxl6HaO0QYb+//ikBFAEpQgqirR45ROz5fWsJDUJeGOPNUdflWi6w+K
WvsbgdcLve8s8pOjSBEFWaQHerTY+jQDKCFHVeQJagnlbooaACECrbs0bPQPTuT+H+bOpDtuI0vb
f8Wn1gU3ZgTO6aoFkANnMUVKorzBISUSCMxTYPr13wOW62szqVa2etUL2abozEAEYrhx7ztkN+6Y
Rgjgt9reSw0lg6I1i2vPRGMw7jpsF3xjwMC1w0Umb5B8RZR/2k4gCXe5o2mbViZOmDRq0ULPauZb
bZbuiUDu3fJd++CvaRiiONSPj0aqQFayNbGl3dtJ33UbDGxwBKuEm8tgIqA9sVmY65C8HTJ4yiwo
6uEeFeNjSost7SwF744si2ki8BBjsLIVESnSC53cSXTReSviNm8neAXR1HxvcQy+8auxQrZmrrRA
RIa4gLFdfk9cjBKr2ZyKoIud6lqW3nCTZBhxKxXJ62oZPSCtCtc/1KXD0lrs875Pxb4c9PasGG3r
vIm0RyDVp8j07+ceXUTX4VXoH0jN0bKWhl4awCJQcqpy52bGXTXI7FqeWEc/sFlDZo24YzWfYzyP
0z1uasVGnqpkH5nSD9Ri7vTa/Jg0Pah3/3OnzEvbi26R4csDu7B33IrPsZ4Zgqhsw6Scb7GIvI8G
KhujPupBO7a7JldWMKPVU1nTidTH+zFZM1IrMYUAE9Th0UqB+u1rNpXGnV0O8xCUlV00ATQL7cT8
er+b0c56AQA9ArXzOGSJM/QyUC8QO0xKrDtMd8qnirR/QaE+Lz4uZHFPNPijjq2cDiqbQMH483aj
yTpvahVHwy7yB+3cT7l3WVOS/2rAB2huhTqsxLq1dHw0pRxfQkmk2AG/oR3PbYVN+Cqz97/pC0AR
AvQ1G3BMCHetql/qgr6k/ZxcxzqG4HWRyRPXp/cbDkEWAjTrtZGI+5iVmAizGrIRWkjf1M3GbXBM
EdVzCTrlRHd+MBfWaA50HgpnpCuPbhy9hTVN0gl3V8bxfDliVhHiQMLdY3DGT83snlr3P26Ps2YF
HwL/PjrZpO30RUOUhX903v8xKlQ23QIFqB7Vze1YGc6JnfsHU29l4YFG5dwGG320ppas7A1Evdyd
MHvzMkqcdEvOaNr9PEj54esiFAIkCnMN3fC3Exzmvo922dorC+hQAiDlrLNmfGBn9xSb/kcDyFnE
xrnC3MAqvW3KmgW6g9YCv4Xs78WyNNaHYaLesVw5bVqfmIbvR2/VDkQDiMo6m+gxLKuXTlVZkbR2
rTm7QdJiy96PmnUixHs/emsZjpIqyVAOu9fj8C+5oSp1lolmzJ1o/KfFzYzQIU+7a+GbnMjj/ag/
q/Aa0TGXQiDybwevb4acHcE0d62v5aDkHbUp4vyXrfbQiSbrT2S8oq+gFb9tZcZWd4xjy6QMnaaB
zJTxCTcudf+rcw4MEOUZIGskQyGBvm3FR38yqaLR3GEcGu0QopG7tHb0u850ohNN/WDYODtXhi34
AyyBjubcYqOEXInJJO5uzrvBdi5V4Z1SAfxhI7wcEP54o1LXeNufqYl09IlpxM3LmWy/Jy7kiGXX
z0ftfUpujTqY0YQeK6ziOKtaDjkCr0Vh7BZRtvdt0oNJYbPvk4NmE9jfGtHYdUGm1xkktais9aCG
WB2fV0u3oDK1oPm5XVxnOLUxvu8+UdArNhA050o+eNt9PS76UUKs2Nmxmz3nIC6p/+vNiUrx+92D
tLlOJnvlvlL2P0qK+MVcdLlT6gwy9TUhZjTm4/xqSJo6dIq8PbGyf9gcXE4q0whbwfo56lRqQnMp
Yn3HglnOy9rGEMxFmCkeVstevTglyvpuEBm5NQAgtuH8BKz/tr0hknZrl7azswcXu1fPKLc6voCb
n8+hd72iFTCinMpczaAaHu0itb6gPqeEs+tm+d0eei9su9lGO6D/pmlOceLu+aM+kaTgKuBaa9rl
aPFNtUy7ptWd3VTjxIgEfb2NfSs/sdP/qE+Azgg6wU2ToFif4i97cANNUdaabe/8xI33k08VwB6W
8byrPTCjdnJKg/Od8vwr61awe4FCWRUljmaiVJRtFGKpu7SJqCTWy4CPnlZ1eRvi6AccwLbrOiE1
bSLu3i05NpdNG4+fceJw0g26c1UdWoNpqlAkY29ssUnXLA6OpuoDNfYgsvOxnk8Vudat+83NjNIB
FxeA7LBBKM4fTWiVEkmlRrPauuXTlxLQxXYuNXdj1fDYEE0SVxOwgRNX6Pd71murSAyTAVmZpEcH
iprEgmEf95N4SfKbah78Sx+lj0uBz9xZ0uAdEWRuNW6cGE9PxsAVOxKB1Q32m9HTYLnq7OcL4AdT
ksQGeDRY06uS89EyixF5GOwUlr6Pnd7NjIRQoOdz96vxPL1GLRSFE/Kqq3HJ2ylJuqzHW6ZHGqO3
5yt7rHFMjDzz15cXEAvOA2OV4X7nJ95apkT5I7N3Mw4coTMgf61sZtjPR+xH8wYJBUCKBvEhQslv
+2KWeuZZo8Db0BRVFBYinzaGD0sqaN25PeNKZJ+T0fvl0u+a+oZdBiNm9WY/ZpdPmTcbuUX8plFI
DAAjwNbt/fbEEP6gc8Kkhs0Oz27Ixvu2c2NpK71RurmzV1lv36CdLUprxiYaOc8DyaaIybrbf/75
mK7b7NFaRPqAGQIqiYj6WPXPnXMbsc2ZgAHD0UDNU36fjpO3NepZkNKK1LYSkX6IxPzy84bXl/W+
4bVYAvVjleR8298Ge0yVsvcQFatu2w+FuskQpj+flXvKgfF99owEEMIA6w2GPQfpirdtZa2StVKz
sSulDsm6Teo8RH6to9dTrWWbiJTbt8ROnY3nlWJLkVpt3dRL7dBeqn6Lnlx7AXZj2aRz3e5mttyL
PE7wfPF6ZH41Cma+quRlwwIJktksQiWNujsRdP1gv6DmCkCXPYPi/THdzEeZS+fVGDvfad0zbcrS
MKJmcmKN/bAV5EPM1UKSuX40VF1h6yRQemOnue2Htou82z5KjROTbv2So3fP6bju/LTAMXB09lcd
ucxJV8ZOagsbrhye/LowkRobzueOa/rPZ9oPu0Q46FEQJBFwDAovpZWoqKuNXY8BSqD3lneeLRhT
/byVV3u4406RXecwZhsklX/UqRJPoDafan2nl07phDCj268YipERJBEinrSsSD5XCZbE4WSh4UYq
cRq7XT6QowziVOlQIoXRvTTWFNVBi9zns+V1y+MYtUMWTCKTmHFnSStDrbWdPGyBWMs9In6cW7mt
lhqhbd99dIra9ze2NaNnxj8g3VaWMeB0bUVWGUiMdf8oxkh89ynqPRtcf+8HW4yfpl6TNogdy/6K
ZUM2BbC7nS923EEdgP7SG4EOWw9gqylAr+V2rE9hgcTtR5ENugixMqEyAq+zusvlmH2N22aKQ8su
zCEc9GppQ6MW2NQCQMz7gAefne3fReV5iehKYzdEeeoGbgw+ONDx73068WreTTco7CRKEcOCZ0Zl
+O3yd3FYGYSZz7uZTBOnfK/QVaxER+bEOcX2ej/Z1jBjpSLb1O3fnYSK69dopPW8k9XQhrGy/Q/J
mOTff7VHAIE5LcigETnAE3/bI1/k9QKSS99xz/S25pTXwaTJGqur6ZQe1XtuB9diEr/2ejhwpzxW
79cd1Wbd0iy7hJsdrsB5tZyTgygJJArMuc+nNh00dA+TVG1yFbufsVGpn8xqLC6VLCMVzvlIytfO
yurbL4/CKldFNQnRJpbe0YqbpqZOK0hYgE8bM/Shd25Wa9zArJtT1YT3pxWBx2ppAmCId3us/cVu
Hvutkyy7Fq/3Lbq/9k7TxQgAcjg14O8DAZpasxEcyyu6+iimV3qv9aJyZkREIy7RRhPVB2OxZwCy
dqzdDpmDoVA8Wyhy/Xw4309d0ixo4FH5REED9NnbSeX0To6/+8QyGf3lIquiF98Z9RNhDrPm3Wqk
GarrSDXDM4E7/baZein7djL8bhdVY+afNX4/a9vCNpZsa0Xz9IftNIChdTyAq8DtfffzIEWqMw6j
C5S46aJok1RTbmwGp0jNAAlfzQ5kbzUyMIzRSLaTXzvmlkhmsreJMzX3k79USThGckoBXKMwcYYJ
Igm4pvCnZodLOMx6B0XlbZlHs3W2jEmdhVNH7jjgCEPbBeHkNA5lRBbvpi4KLF3mJffSsHDM+KGZ
B6GFtRgSsfHLWlyBqYvtMzdugMZ6beUHdTaa97pSTRwMY6ERUkVpPGwHty2ybRQX8uACiS4oH8Wi
D18l6jHr1uO10+2I5z13orVoa0T5xjJmdzVWN4sHOffRHcSD/DCI2P3eREq7A2KnZ8i31cad1xjG
F2UpoQVTK3KFMVVFwqDpKscF5WyO13ZumMCfncn/UKq2igI/81InnOfKm3Zd0uTIMnvaUl0VaB5R
JF4qmDmD1FRMCVFwu2xq4csbLpOFvlsGo78lEd9BYFkS/VMziFyGWW0NGQIeS1EEi3SKKJAWoiH7
xq2TAj6aGaUbipvGR3tspbUdc7Orz4qkVZ8tJ7Eeqez2SI2sEHbZusONq2lJHoiYVfMpknV3KZPF
XLaN7Y/JSnGrrH1f1WUZCj1zN7jdFyKwndh+8dvIdZDycWaAcnYSW/idzcYHTMkNI8jkqH/GVcZu
d0RVsb9lqrQH/LOHCncAAyMoYzF7kjxu4veBN6faWddQTg2Qp9Qizq1l/pp1WcOgCY11mihtxhes
7rhcDn7NGpaS2pgfWeqbiBz7SVNuj8xH4cmLhU8/DXEz82ZaQQQ6Lll3RbpnsXZ1N1j3w+DniqhS
T3pWfTz6oWtOpotlmEpeSquyr0xnlLcUQtGk0HIhb3Ni648ibnKCXN8rB5y1BSUIPTXqb+0y4sik
vHyka1oXVSGb3YhIurKGiyrJnKcMjAOVOjKZ9KzwF3sbp/H8UreZc2eOg+shEm8alNR6dx43o8e1
JcT+lRQqZj4Jm1Ql1HLmFTOysSVv7hZAK9GKC/4gNIuE7Ms0JtEUFEJM4HhSWb+YlRP9gXBR87UU
kCWDjjveoSN9b4Wmz8UYeoLRXnfuB2+IrxpZR/dj3WgvXP+6LGwG1ZUhGrLe8wgN4muaKtPYt35u
zztzsIriMndtRnuUafsNrpVT4rmXiGRnqiSTQSuG9KYEL5yGnj2Lx7pphmdJvujA6ESQH5hEeJkj
4/pc+YnyQvjyWhmMGIE+IqOv7ud51Ot9hfYzf+v5Q7+xCsOqQoUodRQsdZbekwyVeahTrTOCEo2A
p84nc7Odsdx0NmqOmCFZ7kQPfEyCUlOjG2TxmCahdBpvC4zR5ZbhaN7HXpsRwHPSTASW0fW3uVWj
NYZJqMe07JJVh176vIOu9JI6sADXXvqjGTXnEcrqw44l5X9wY1tgeDbNVPpto2rjoHNNSqQSHT8v
INE33hPdoT8N7mtMCQkN61JU7vzRKlI9HFMLjvGoz/ZFs/gGk9ZIxHjRmWMNSZcLXR+iERsXAR0c
8b3z3O5Sc1x5iNx+KjdZmTt4wwy6fRclUXFwk6ZzeYWVgS2Z2xtnDiWM28p34TF5lH2IGFHhabad
jW2C5vclcD4lrxb0XO8b2zSWnevVTnNR4pzXhJ0cUAyeO3/xQzlkydXqRMPcsEd32lUst2G3TH1V
7geV1iWpuVKUZ1ndDoBgZAGCdaq6h5yaRBcm1Ej3Ioptdty6RJq+6EbnSqgWdnluNsaNDmbLDcci
VddG0yFPVuDhuMeVk220xBxQXmDvHPd4piSjsXfcgU2zgfdy32Zp/i0xtTHeO1JM8a4f0lLuc3S4
uNoRqlt76Yw+YXedsDelsaz/oIGJJGxCfAKT1jfuMPPIqK+3GqFASyhWgsPV5ixEWt78shRYn+5b
NXj6GV61ZhI4vMWMFyNhDE1+MTmBpSJRBTA1+4dCSB3VhVSH6lN69vKA2zaGbUvRmwdhZvm5pYAv
BHJsqimwLMQEtqkXy+4sYjfWN2asPA1xuMq7ixEzdwOfQ+u6ZdF5F55Xazpy53aeB2Za5s+5VC2a
YwgefaV+315WSNFGIMeMlqRs7XG1mJd6vo38RRtwtikLNvE2cqbAS1NY4Klml7xm5LXP8ylygooL
zl41nh4ucX8Fiaq7HUbN4TAimEsDE++ybufU9cAQIF6BhVm82m1S4la3tpziNAC7Fn/tHK1QodMO
wPkpsKUXunLq7xUJQ+6kjnLSILV1QmwCYa3e5GlJGBzNc2MEce1WcjPPnnalCpRKSRE5yVfL7t3r
ZW5GuWentKZNrZkcaImRaoHnp/g9qsJu2DCbdLp1VNp9Laoor0Kr8uTMZupkUL9Go442C6iTLKjG
0Rk2LJjc38bF0D8uFFP2qGPP4mJMZHbWtJwdm9QjSn3MnMxdtjIbY+M8KbXkD08f7HpjJY6Zbnoj
xkltKox9P8lq18kaJpltZY0RlnNdXDGWKZu1rLoqlIsW16GJ7N7NkkOefbLniXSxynr3vm4d6znx
Xfi6bpeP+jbvBfL2JZ1VQWpwXge6aNke+srtPmRt2zz3DSfdHl1E8GdWF83cV9l2u+d4VIJjSSfL
XEb6/MWwpuJ5WAyT8KBpZ/s+G7TxW99+T/KdkRbLdzylxdcpX0pCuppc9hT1YE1MQBEi0AbPbTa8
N4diLh6Xh0aJ/luv8uFLhTx3HjQwkD/LyRu+c0Ehvqtdox6D2eyI72wED/O7NT45JGrWkv2QJ6hZ
+hh5DQH8BNglrdOrMUTPY0rCZVpgDOm+HO7b1vS+1MLpHzIhO3WDWkH5DR5z5oaiM7w2KCKtvfGm
Tr44fWk+mJZdczm0o+iFjY2zuTNtMkkYwhZxwPeUH5VdGp8yvfDuhmbWgfUUGuLy4BjyZjOxzWkb
VmPunxNGudM2q4zp3F2YTmCC19mTQXpAOCWB/yri3jtgBJblwZTUCVxQ9L4OepVb8WbU+vJrHWXO
cwa7kCg6HfxPmmMmFoIETvHcRb72oWzn8jodjWkrByObt6XRFqsPg1SPRVE13+amh2BWRFG93I/w
65gSckruqtEnavfizPDwXoT2GAwR2oj0IZuhN5dV9okBy4aLAZGXz0mlyRx6RqXVN0vTGtpm0Em3
bjz2+zogC8eBlGbS8fa1YZCFRSIidjZ53JuSm0pXpB/00Z2rT51c446utexlk006wE12gv6AJnpb
h6XvzX1QMFVvyrbVD3OuuZhk6CPbG6FXOQc1ed0iMBLsXgOhUn8OMh8Nw4CSohOfmT4OdTjXTa0M
KE/Xapv1Iv6M963/vaJiBgbQm5Il6EHy3WWNi6FP7+raHwVmKguhdJ58HE1O0UBKkmtTa0dLYCZg
foKpiqsq0CJeJ8uxjMsLpzemBMuLwbop0Po1952r5MvUl4qrtZlFGz+dCg/C2rRePlLL6EMML2oV
tsiDahcjVloSfQmR3KdePtjsf7M2fcaMeB7OfLH087bgGoizo+42lNexS+WY8U3NIR/rqnrnRoss
zxrYCVdm2/fzJrNSkt9L7me7SJpVhyae5byshtHEomMpnPNKVdN3YKNefVHYVtwGneZFZJvMuAgz
SBMPllWxkrLe4yCpWjV1H0zsh4uzuFW5H7ajI7ONMS3T59Lq1WMEoDIOMzUkXWiOff0ofdnGIXhL
71uZLji4qrJc3EDkvL9Q4sjtBLbWt196nVIfwK9CPOaVQjkQZiwptKJw4isU5Bttq/eukW6trk7w
qONktoIJkHu8yd1UjzfaEg8MzyJXqcE4W4r9YBbwL0xvSCUWK6iS7F0vR1ljdBU55DitrPEGCYxy
vB06z/2keajghMbYs2vruvTOht5SXaBHgkQcMrho78F2mUG/ktoLnXho9LOmyy3za47vibrRuq4W
IYpL5XUyx0117mdzclMQJ7iBykq7DLiI9l9REOpvWwM39WBaKicNfY1gNGRlQ75bHFNFYck9oyJg
oSweiGZOCdvTPLtDPCq3AjWUPv6enerGwEUzuqSi4nfjvud1i730Me0IRZwMyaVZWv58SWSEKYRX
G+I8b2odbF2JPGyYp157lxuZeikzdsTNmM3Nx5F616FQGUF/GnM/vEyjLmfvgCOB21hd9cmVVmvt
FIi5rQesLosMgW85seKmZKzaACEh+xFie5dsMtepb6cJu5QzjTBgn2XUQ7fVoEd/zBkjvWkJ7bJQ
9I1+qFVD0GiNepVuBzVo7To0njqQUq/8TZ+pvgvE4jdWkJYWA9dbZlwTT+qVIoaZmEgkeSjqA+Vz
jMtMsvFcJEPbV0Qgcf3F0/RenmfQkL4KHc2EzbLE7bIp/BJv8XyckWwkgur3vSKhiwZyhE9oP3vT
c4HywkU3ONxehwX7rwCmGzpCet0UEduVKIYAon583cFAvRVJ7R5MTbBlG01c6NtZNJEZDC7RM5nh
NPPIlMjEpy2V1aGfCJ+UwDLq38TQohRn1lP/vUmpop3Bd4t21bT40cYtu/Kb6qxW3/zdSoaqxglt
3GXrjbjKTILHRpt0J/x77XJnbwpgBVQcPEL2frTuvZrUU+ygDxciiotTGOIQfhKQV49t3puV3/HM
/i9LcXqkhyijC5DV5B6Pa2KGHObKmstp1w72NUKaLqdxR8r4lxNfngeYDqFjF0Y+GcW3Gal0VtpQ
G/q40+GTgv6F9lTq8ymN/fdFD5yKcVSEP0etlAn3thX23C6JUYHHCkql10WaFLdt4ecXRuRYu6YS
1gmBhh8UvFe0P2DYVTwBdbWjROIiG2txnHjcjTYWfw7ruGgHTjdr+qwhfhKIsrHDBgXnwFkI3ov0
kLpE0e2v2h86EIeslbtnreUr4H1vO972Ayd6bPYoD6Xj2Vhj2FSicvDLL5FWkMsBp0yPjWNhhcyE
VBNbY7+DpAmnuvU6wgOsY36eI32XB0Yqk6oVOHx9RTAcA1dJjOWyigdExqNxuE5z/GNIxzprOJ2H
P2/qXToWS2vQpBSHVl1O0txvh62f+jpehrzYNb3XhW1SyttukuOJSsL7+i9sGoBSSOCRkkUg4W0r
PLxddLwXXk5OYWcg1HPTb1M0kHDTvsI2A9t9ClD+bhAR9dLFypSDMUQG9Wi95Qqjx153eFVlmoVG
kWobDyxciED/L9Py4BkwLwhFWAIENEeDaC6ds0ROP+9sbGoCyVVlv6DNfWJWvHtVr61A84CcQTH7
2JwpT4tyVHZDyr7Wli3x8xIsRvXLgl5rK/xZXdUpMR1jmOLCGz2jL2cqD5MbOGSxdrLH3HHptD9F
n//jjYtM98//5OdvVT232PL2Rz/+88Pw3Paqff7t+rHuftup8vtjL6vyP9cv+f8fevsV/7yW37Dn
q1764//rzYdo6c8n2Tz2j29+2GLQ288H9dzOH59hBPWvDcTP1fp//k9/+dvz67fcz/XzP/72De5j
v35bzMP/7c9fnX//x99eWYb/8dfv//OXN48Fn7uuyr57btvH/t2Hnh+7/h9/427wOxsBXHZ2N5bO
K6FlfP73rwDcwHSnWkSakv/8229lxeWWZt3fqdyhoUlmmam/1r67Sv35G/hKgHJXTTHPN+CQ/vvp
bv9VaP7XK2I0/vz5t1IVt5XkQfne4zoS4hjAjTnVLE6d1V397coexNi5k5lNG+Va3aeU1NDXJJv2
ys51Ij17NC5GbbQOqzDzM0G3e0sxfroorVS74FqtvrpxZhIBZerSpN57Pksz/4joZP6n0/wvzbX/
dt68mWv/wxn5f3CuverR//dz7Zb53le/fZTfqr9OttdP/XuyOb+bxAyOgdqKw78cNs1/Tzbvd97z
SiX1TP2Vi/Zfk038vrJpYY1xVDk2IjT/Ndu838GScjWFzKGv3hner8y2V+bxX9EPxBc2HPUVmMIp
DM7m7Wwr5RADCu4KalsulraLGjd2R4GDWxP8Lqj5+aZB6+5iNr07oSvSLFm5ra00ucjzRYe25Moz
T7ZNkPRCBEOqiSs3T55m7okXCWzxsCubS0OBTJDa4H+IOZwvmnzutz8/dN8tGlApqzUwJgmoCFrH
2PaxRtEvMmQBEhKlbexZuk0RyVun0LsQuh2ZgNT4VR9BqLnA2UDCIKSFMusx5IbMPmmYuYy3Ua1n
G8vPX5Au/sPXi19l3Rw3dBSIKX9apEA+cGvb+R9tyrVcFP79zwfw+Chc26A3+kqdRcL/2PW5V5Ys
k17GW6532AKN3bjhTl6feE3vdNBoBhYuupo6cxdW6VFX3KQGVVIX8BaF8jdxnl9Whf8lkg5avu3D
0KpPLYrPXgaQKV2MQyGm25/38ziaf30AcHr/Mn54h7x1q8Hw65Q8nJ9VVzm5xOulByuTDdQJh5Eq
3c+be8WU/3V9vbbHRs7pQFiIPPzb9UWCxgI6v9a+VTOHVSOfEqQMARGJJYhy70PpIyjVOvaBfPLL
4DZ3P28fQCANHD0AOtrI4LLEV1rd0XFilZNmLzZOJdKvL6i53OTaYm5tN32JVb0cuKQfSDqX+2Ko
raD18idq5i9Ih13VZp8GSVF3m2yGPljpS7KjVmLfKlvcNJI0gVdcCc29WdLsRe/sm1IKLuAzGQr8
SMkUKRJUBu6oFwWXv9vMMOoAdsX3Iddk2Or8Y46sw2JlVlAu8s4xmj+yyL3vhH2oWucgdFq2vfhT
ao15COz5yau9LmiWttusrY09hbv1MfCaQ5Wp9O5H6DokyY2DreInbH2swFf6V0wW/WBYf+VkpnOn
R1O/Rfwfn9ZEtGduN5lhgjDoJu/KOrRJ228QSlgOdluJDcosXVAPxZVMzUPaCa7Pa8/M1L6eye9e
2s2650kNeQ9thJ/qNdm1zLoHIDP0ihzock1qOBynUWw0MGVbuOs3jYWXE9njr5rXlV96f4w21Mr8
sAKsGmgFmV4nGyx61Pl7M6rSoGyKJzf3bqZB3DhpX51lXbVc55nyd7Mj7t3InQL28OVa1PYQekkC
m8GKJaBJasicPDeGU1qBOft4HGkA2hfPOtRZ8ZTN1mdTmubG97qHqEjybeHxCIYs50/re4288irt
PRGg+p58UH60JWVkhKoWHTbFhb4Zalvb2klrBXZH6W5aB/l1GCcbRmsqQPMkfTx/8qADAQxhEGay
ObvSKP39nOh+KKR3gwyUv3faed5DuBNgCeWTXVLVtbK+3unQEIOYWui20wDxjJ21nFWVc6hy17ms
BFOBCMi5HBmGBBTbrgWZsE0Xf77G0Recg2ZlGwd99zAq+DEqOeKaJn8RY/1gJt7567PnMaLUeumd
l8UyhORcHsfBfHEj7R5eQL1LyINRXqWTQ5O8uHO84EgzmpCzZ0r6hjc8Kzn0W5HO2MYM+aFwUdIW
+J9spcVzZ75cdn7UPZBi0zdO6mYbafhTgENatzFIGwV+IuOdlZbzvuxYgl7ZPywOE0Bz5IsW22jG
z+1DP3nZdhLkyLD6rUOPzBV42Inj1Zc1cAHj4BsUCeXAk2kpaTItKq/WRaMPfPEIjjaMav56Xe7U
z9tgHixoleiCBHYS8dXKF8FcZC9IdEM0X4oncBs3lECvzWj8gBX7faHAa2dU7q8biwkPJsXfy8js
4BvYhyXCg6LpJgGrxr0pS7BWZS69oC/9G2O2DsAEu8B04yfLZ2DmyqCNqH3A6uHK1uoHTWOkZk9+
8TpNbfSRF2YsdNPEpOc+RW/xOvHwX7YzdGGcYV2i3vJtQHEonIS415cFKHCh3RPrTxQpxb0Vc9Xp
8qcyZskCML3vEgNrMzbfvveyTdO1D2lhHlpZs2hJklI/ZeLrESV4NAC4zmjUO8zRoVgDZsCy2TKw
op4uatlPF1OBjmXhahZFSL0P8AJJbsh7L1EI7DKlns+rcToeUkfh4lpfeKYxFyzROn9yepceFNR3
AomkoNY0JP6HqvhWLMl5ZguMG2pWfJe2D62XwF5QD23RPpAOXxniKLJ5bsum7DFPRMJzVyJ5ySUY
v9d1qtXefZHry16lgOljMn1hW7XVGRgnVgUFpg35MjMUg3Y/zRmTS/MvfByvdwK1kY+QGvLPgxeR
UdSjdN7nfvSsg2rZmJOlbTWbT0W6ecizwgo4MqPHDjXbwFnDvshft8ZmMq4sj4IQVS/H2FvdiFik
440fjJ53ucRquhUWmyA1qWzbUsM+t8vYx62LqY3KdjcHvBTtLJbURPNWe5ynOLm1RGHCx62qM2Wy
4WdO9eDK0mbZcIe7ssEH74x4MT8ai4zWCT3jk+rN7LRWpiEinWCLgbamwycNpZ0VNo8MAmfexyQK
t+08sNMX1qFN8D9bJjWEfYa6RhBBO/rS5knyIdPKfOu0ziMZsmxjG0W3Gf1ObKi16Q8T18xLoJs1
JWG9/mpoYtqLMpqvtRxuJMid5KmLteyj1LVHoyHnHQJm4f2lOgwj6m7a1hwNczuMzf9j77yW3MbS
PP8q/QJQwJtbECSS6SWl7A1CFt57PP3+TlZVjAhyEps1N7MR29HRfaFSHeLYz/yN/rOqUvBtijbs
0pDDMmQUa6ElZ/uJLqcHetE+WPUgfx6T7Ps08TyLywke0HSt8WDboDl5qZrPz88icevbeWxUnCaS
atfK4l1Mg+aG1hH9H9vAVIB9WFgcA4wpdhowW0/NjeZGVzq81tvxwRi6+GtZcIM/3xFpbN7LbVW8
l4rke5hVAakmoJiuVOMDV7x4U7In1EYzNzEt+pPcx9PSq7u0jH/3lfpYaf1dU1o/9Cj7UljpTUqb
1l0W3tJ2Ah9QFnh/JYOs0sLmwKlccYc+DmeCjoyKCQAIV0vz+Waq5fR2niwSlcBuvFK2Aiw/MSXH
ky1ph/ygZnLvdZMxPaKhk+zasSUzhl21I6L8bBfiM1W5ZVDOY5bWy9c+dihHRN8x+OWENfFvUbvb
KbU4tCLAeA4X6Jx+ns30O5KkFW9Wq9GcHLZUjNYFPeJiZE9AIKO/ClV7zUXXclK9YlqifYbE6d60
pKeRkbg0k99j3Ki7JYaYrspavBGhPtNgTgJEE0owNXRq9TKh+TpAxDWZTpISUsuzhocotryui641
fXgbpACLKgVgVwj/wpWbzCMeuTM76aNi1Z8TdHastIAWqvOeL7pGyAa3QW5q2kX1IWmW9+GYJi6g
P2UXte0x6OQfht1JdMGkT9RW3htVc1MrdnWoJ+M6ksIPStv/TNTsSgmt0BVx6JAFINiSbhfl8TXI
TMK0bJjuDalLr/OZs1wEXNyaZR5HEbuPaDu4Ys8ZiX6vFdw6iSZAqhk3JPbKD7NdmZnb0K7aIapG
1Jg5HMmxXXajPeduXqXTTujl7ntJ3ZC3OEtQgTsjM0a8As4ckqt6mgeUlVWZbWxLnqkShFAeJkhT
zONihb+TituTh/X3y6H/M7t/tbDoaUAopgDBllqrjKi9VnR1kEleIWaKxdGR9yC01SIn3Lft8qW3
rWOd8Krkme4PgX0vwkncFWw3dwZ1Rz+RAH7hzRUxkyxEhsUqNwQDs5Z+R4Mm9XLuEOBYVJkGr6Wh
eCzV7HddNZ+1ikinX8hrEu0tmsgOHSB6XnGMSL149tUozqBj6W9VndBRhJvSQuSQE4S3MqcTrGK6
bzPugGiQO6I2kpbnmG5oKme3qPaT3XJEJN6nNG2kK2VktdvCuK8W/kkSqc9TorRPJRpbMcBE+ptO
yJu8BDzjf72M5FzhyMMwzrK0n6aIxpHTNg4964qLFXQV/VdeBceZJRHYtR6pyvfeHFNPhFtaXH8G
sNPtCZ6D6xAW/9fn5XtVee2pzPnvuiZ7Ulv7v6vA+b9KUR1t1/+q/5UlN47Of19ye/+Nsul/buKu
a//zrfj5n/tfQ9yeFt/4+/8U39Q3BoVeulcaWaCQYfqv4pv6Bsk43IMo2kIFhyjxX8U3641O103I
j8CQ12Shdv9Pqdd6A2mDP4RaIcpmsvOq4ttZMYLRFap4EELwUjLXOpFJFc9KbIeyB9MzuTNLPX2n
FRr626Cd1McE7A9ilWV0bZSxEu41oxxaN2lxlAGxyrVNLtChbRSMCsX0KD7Ik5J+jOcZbXlBRLgH
+9ywv9Wl5m4zcukGmtNXOxym77C7zMorEKbc0RlpfsHA7r0/luVSHVvcaKfXD5wTDHeF4gTTu1Zx
ccwydAoscLwQHOk3oDDK70kxpdsE47fYdSRNJOiFcpTQ33jvUNFSgGwt8eelHo46ZMu/DYhedaAe
ql/F+6759aujObI+DCfn6v/hmrVCaLF1gG77H/G3k2Mj/tY/x0Z+Q+eZNgiNMR0nYVFT+qdmrbxB
TE4YJyC1T4Il6sX/NEj0NxSYECCWhbwShFsO2z/HRnuDJQr2MgQ3JiqYjPWKDskzI+/PncWdzb+D
Xi7EV/bVcwP9D7p+MxtdUIFL8eJZO5hzEjv7FmXXg8xRcYglfoCsrt+PkdPdZgrwJHfWWoTC5/IG
IFoBmNXQwYV01vy2WGobjFWuL99AhEW33TgWt4spJxkQzroGOxRE/YM6Nbda7uiPqaQ63wqcPR7D
OVjeSXGs7ELbiOq7doYWUdukd24LeW+hOzrLh1wa5mLfGfXwEcEN6mxyT3KVBfnV1P3dZfz/23vV
/hNN2v9+dz9Fv/7jfou+5d9OHwX+0t+b21LfQJjmaqeJR4deF6Tivze3Lb9Bc1MhiEazV6hp0QD/
e3Or1hsESqB1YTAh/o74o783tyq/4V9DTxA8tCU2pPaazb2uwxMlAlHQRWeBfsa5IxOV9xkoA+6y
QH2o47F7i8asDn9MyoXLeR2N/jUKSvM2XWmEFcSf/3GCQqPvdW3SKj9EhBbtCccNMAvbpZI+gmmc
C68r9Ggj0bj4ZagMyHDkeY/PYC1ltCyzblZ+rqvlfm5a4UVB4fXlLxMLcfLsiE9Dm5VbC2Y87TaR
Z/3xaX1Ydq2gDfuQnurQ0ykWmB4Q/JJ00elyL1RKGWQqrY7bOYOYQRVHyq61ooiBUCq1cazlGt4+
YnDfY1Xg+cei7LX3QGxw5APrztuFK6V0OwPSVh97xQhVclXEjvA4V+w7iuP6Q6Xk2VXbdtJroUGE
CoBlAH4I60ODh/H048ZycfreGbDyWCT9UVJRAEDxMyKCtyP1Q2/2ARXqqty1nROQgcnDla5XyWFW
MDNzpdra6kwpAofx51UsfhBRFBYvaEPTkhSr8cdsm04ZxbZVl/4iAZRDCGf6EuMb7C7Y4X6cJSd7
lAib/VAaTCpzheaBgdA3qInnG4sqEtBBCB4AYrDsOP0NRqkj9FtQxLXwhfwUm21+NwDId1/eWGf7
iteOCE3Q3oVvuLn6UimWCzkcw8yP0Zjd2WOZXcsmrbIslpqNPXx2Orl8KAWQigMpgI8sIqs/JlU3
OlVphYKxntM8zadu+gTeUSmI6ooP8jRJP5WwGV7r3gcwSuSm8Eg5pCAdVpCbuUI+lH0T+qERySGs
vCm77tM2v3rlPKISJ/RGmE6WDU/7048LQePWSqfUAFURuYriLqXiwenpoCa+9sZ5HgrcmIVSr41m
zelQaIam+kQV0pe6NnmCI3sDsrnZEGpZx/CEQ2Kd6D2DUzL4n9NBkkLFjDSpKorhDrWFbkqv1G4a
HvLGae6y3tgyyD3bHKCpuAQYSshJGus6USy0Ysx5qv3SHh9Jbm8XPWk9kJD7fJJ+GFNRbWz8s+PF
gJhNIPqE2bmm6etZ5BZcCtPm3rYRVUbEPPAKWCmvXytGQYca5UeEpdZ29VZfqFTArMpXCtVxF6Et
omBT9W9G4XuohxDcknKcLpYlDKYtlFMgmdTBfk7G75MCSO/lHX7W5GZLECmAz1N46pAr1E5HCbp6
qNmVfIuuUVoCZb+D8ta5zaJ8zOEB39pBAvlHXaKdmvXxoVYBEZSjbG7cI5dWDtERcks2igwv/fR3
qMi9GWrAyo1VS3Ekc7TDUhjBRiyhnN2MfC4IN060jAAZa3g6TFynJmwZPtcJHHgrHepTSTTs1Xx8
P+fDU1RXMSxFynQ4VIcxpMZK+TqFSEaFDXoYpQKLA1WLjV918du5yJh//IlRvz39UZCH0wDYRuXP
Wv8kBSqo6HreCqMuDSL0SXkYyHlUdfXyaEYbm3LDIFXVYcQuDQVkVD3c2E+X5pfSBZI7PHGU8lYR
TdvaaZnUCJ8ETSFfgRyPn1JuteuptZKNy1n8q06ec5aShxxsBlOGbMTq5aExFwzYvVT+UFKnDQo7
31MLKbxKpfLdT6lErlTP+0aeq42PPD80QEJwtoFeKDCt1lr1OzDDINHpZ/jm2A5fEuwGrwuaJ37V
t7DgiM5ueoSffwGmMO7GPM2uM10LYJUY8cbOEYt2MgfosiFzjSIMARbB/moO8EdD5bZ0gOOH9W9Z
xvO0modsH+DS4MJqSb2Xb4uz+1ykDJR6+XzuJXDfpxsVUmTY5plU+Imeg6ptsEKFMsD2vU+CbrxK
oRhCahn0+cPL457tXcZFxodnC5wtOmOrcTvDHJtk7HEpJlu6Q2QKzTgn3PShEDfqajaF1i2+HQh/
cSmubtwJeBtygXPuI4zTfQAvMR+dOeuvgoZ61FzVA/yPeTxGORYmnWRl91Zra/sct8yd2efLFyZu
phyUG3S58TWpPH1Mpn04l86T1eufcz2b36YSzyC5y+CbKi2TNK1rdJbHzpuasLrWpL5zC3nqPaS4
+reA3Yd9ihmPW2SDfFP0S3QTyE3n2boU77VOiyARQ+ztOu6kNOwDP8+mFPmIxfTmhXvt1cuAhBc2
RGSP/GcdvEoONEyVYp4fzbPh5TIhep0MX14e5BmKtloFIRRGuEXhBpDN6goZVUnK5nQq8MTIfoRV
/DDB0aYYH0tCXj720qF4jDTpfSEv+0RBcWEMTD/qw4MK3M9Viuq2nBo4ORWElZd/2tmNQ7YLKgn9
NHJuLtFVdIEO+1Da9cL2V6f+uChN4y2V5riqmii7QQk5AZB/fT1WXisNQ7vrZOTVnBi1k9j9KIN8
GvNx1w/GiAn5jKNB3Jf/ZpERACVCpFqFntnpGQ+HRR3lHpCV3UzGvkDReofNn7ExlRdONELC4Dm5
RpF3XSf1qYZWVCKJE932tN9z1lVbgo8vr9elQUCxUYDDEoCgd3VtyBJms/Ik4fGt2LVHj9cSNGdl
41K8tCuoS8CBQdiGZGG1NqbWhFZQJawNwcUhsPX0cxSAx5ixsbxLktG8HsMOSmIDsfxfzCJFefoG
PEZoc67e9CGFIIvPXu5HEEM/CtC1J1FDvHp5Gi88MmSrgkZBQQmSzSpmWiBSI1Qb5z4SDuZNkWEQ
zK0YeWWInFcT6tG3l8e7MKEsGMUXBgRWvHZ7URHmrGklY/Q9tJJvaLQQmiHUMJKze7fri95TgU3s
caNvNuZT5D+rq0cn3ObqoTpMHiY21B/JrJPZWAOVuCcuc954Rqtpu6VfGk9Lm+S9yaLuwV81XtjG
tVtWlfJK0WtO+cnwq6PXs4kqqaf8K9U60mclHY/JbKaN6OXCcgopV7o5rBouVatR0ilQKUjjFCoJ
qQckDpSrhEITjGS1PxhaswV3Pp9ULksuFPogxEsYKZ5OKsAJouoSA8WSP/OKpPw8cit8se3E3Dnw
BmiCR/qDFFnlLgc2eHztZlJsxP+fmRKUdOzV5h3hUA+lCR02qdMH7mh069CSeKj7ptllFTxuNpl8
b2VbRJpn3uDpXoJuSUmPyIWXDEHF089WtHoM4zAo/bqOu/YuzRuEcEoosNLNlNXaL5XlJQNppLp9
O6EqcUcaYLS7cQ7kcp+Hk/MJ/QF711sT1wbSo+YX0MaD5VHjkr4BrLHod8/zhIZKYjfIDvUdVVBr
mbt3Mgoh8a7qe9IWNQwQnprGAZCyaiftxwJ1gaOWhuXXPrTiEU2pqqrcEEHcB/IcT60l0/6ihTb6
LfAIo6+pnTe/Xl6S82tZwTeW/IvnHcLlWmt67PIpCYak8i1Hkr+0vNhuFzflRhxxHqsqwLJIpnCC
oxrwTF354ywXw4J6Wd2VvkSBIwinW2UENohA4ZOgA7tqi3n1y991XmAEHSJSEsYTmmPr5KeWYRLb
TQxC09D7o4kG4vUsl+jHamZ47SBD5Qagl/eA8gKqL42aPOAPsxWknX+3+BE83wQpIkdZbfh8amHa
tgGEckdE55kz1Nd9vdhHZUJDyqVbq9zAEl9+vv7jeQDZ6BZXNqHDKng24cyHi6HnfhdbKQL3pXzP
0y8Bi24Sbxq77j6OEvsryk+ta5VtgZx0svgv/4jzq4b2NDmZptLvE12O0zPnSFGTyxFkeqnQqqcM
e4xjSHd+b411suvDCIQPtfzkJom6EbHA1NoY/9IOOPkBq1igbIlkoFHnfq9N5du6W5K3k26kqFqM
kpcYRnUT4kJwkFIt2w16ieINQKuNbXh+vE4nQUzSHxs/6GagZkj3+TXqGWFX2O8MfWk33uhLg2B/
Yz5X9/j/1aUOBlw3B1UWu0yLHttBR0cOAYONyOPyKLaIbVhRNtbpp0RhOvZVQ3xjBWjDd0quPjbB
vGVcdl4UgiwHnQTTIQowwoHodBhtAEuj22gtIIFfAREbo/dTO3fAnxzprjNwcq37aXgsAtL5osgW
Qrsp/WXraNctE2igojLSK4A6YC7TLnl1UHD641Zz0JtRCcu+ZTntcvFVLBfeSoG1hYAQj/7pa8Uo
gqUFiZW6hr5azygatbpXmIJCr7IPmlbTWq7TeA9w7rU1aDHZJkI4aIVTh1uX7oOqCVP4gbk/L3Sk
7QZkcGQ5EapizdfOKrZygPNo53S41bUkqbxqPC4MRy8b9SPN9MwmDI5o6yZHJ8CV7OUr6OJ4dHgE
4oYIci3i2XYhsihDnvvyEIQfcq1UfKmNTC+qrY6qNJLi/2Y8GOP0eingrvXKxyA37XBmvKDopdts
DK19OusINtjtDCVj3LLluPB9GogiBiOqoom2ul2KosU5c6a1FMXFgp5aH+1to/y2KEt7Yy15eXj5
8858wZCgBdXkIFqu4tOCfeHp2ZRCIURTSqnPWzcgIZL+7tAtCbsON+fiQZJj9C4Xgtc4vcWr7joO
bM/KketQ0oNUhrclvT4v7RPcLAovK6uDlpU+oZgXZXK0sfTimlidIcrKbBxotaL5sAqs8WRdCohJ
qa9nluwKvQxNe6BTDw537hwvb5QtxpY4+2cjghXj3TU5uOuLywpDJUK9NPU1uRl9zcKExe5iYBtt
cheahXkdWotM6QQLxpeX5cLFTMuP5ptJhIFavvjzP96YISwXdFkmLMSRN/YwKq69tkQ88uVRzmSB
WXzonkRS4jAhabGKZSRLxuMsiDDWTgt7l9HQOlhF1D5MnWNdjc0SX6uBtXzLuljzHKWX7+Vhco5G
1qQe9CL7Ps4aY+PLL1yUAmYkgAg0BcmfTr+8dZoiyGGR+VZpyEdQq0Q4cqx4WmZvNTkvDsVNAv7D
RFR6vfXrDCcxPL9SP+2QfcL3l8Q37PJjlzqfXp7oC8vJfUU7leBVlH5WD2Cu1qhJtXZCrhLkXqnV
zaFL7WRj6i5cHRCF6UCQ1GP7sq5WtAg6zjmUEeh77BwbcuP7HiC91wfB4hf1ED29/FUX5g8oMQNy
Gv/CP55uUiseyAc1DH9DRb+mATIdYP/O1+h/bsmPXByKL6PvIdPHWUf+vYTqWAwH0Y/yYeGViRp3
mTX1aOJDsvF+Pu+w1aGHnwnWE44mevNni9UqZd8PqColujI+OXWkCxmn0jegVHhNmrdXjdzIV0sx
RwezNvW7BTHco0YD8Uazo+BtFOuovFMR+6kh61S70mT8auZw8Ao0xzx5yJHJTOkfaNiO35hpZu5m
lIce0kUNPCMQNK65yV4Li0BExsJAmJSZbjvSBKenqpfNtIaWh8EvzQ7PHHAQmQ3wZy9viPMLmpqj
rQgoraC3rtMDJAPRSB2q2C/rZTiURmXuB8Pu/UlPSt80peBQU2jbeMHOtwaPAq+z+CoaY9YqANHm
CN+JDO9iqi3pIcZ2eF+X4HVgMGzs9wvZB1kPYdxf/X1c2k5ncZKSSI4sLfLR15Eg0tn6QYHEdI0w
K7LHkQo4vqy7B2OkgwAFQd2ZIfJSL8/x+VUifGC4tjHJ4m1bQ08GUrsaPFLsN0CODkaZdXtjMrYI
KM+eaaeHgGEwdqIbxfNA3H76qVhtgpdwnMjPwMYRAoSSsm8SOUBYDfJk2ATaFT433W2Vl8UxCprw
AUrp1zCojNtlHGD9solvtHmp/Zc//0wQibtGoD0pPRjCQX3t+qfQexF+V2INpOCI+tWEbnDYXhk5
Qp9zUUz3hQoFM0+G3MvUxbpaqtJwlyZe9uhcvRoIJH4NoA8eT+52cpvTaTLMadTr0oz8sDWNL+iJ
ygdcClQvmlJjw7DsPBZh1RlOgMRFwWt1hI2W51nrjNTH/iCnYtpWboKYqTuHZY0Uow4RL5xgvIzF
Vqnt0r4ndwE6DzydQpu8OmIqBqLDrNWpryaOoEeoicsFqlN3GcYrTEBv9Vm6C4wgd+dqRnI30pr3
Ly/7hUNOTmOjIMYrSmi8+nhr7BGGVcOUKLwuEU7Dk1crZ/iS2DdsHLALlxhqBPAAdOTzKZ+t8kEt
TiJzfn7VVLW9liLTvs6HQmih2pBQDKwC+q58NRYFjCcnGjQp9spEm6t9ZJlFNSeoM/qzqkm7RlIa
FNVpVb48ixcScYxNRXuZOjGl8LUHqAaHD5Sznvg8fPfLlNgPc27LR8Tnwl2lpCjkJVU3enKgEMjD
yj+arTZ7qPgJXdewpvFpS7e0Dm6USqk+vvzjLi2xBcCNuhKtP26206MUaWFm2six+ks236e2Xt8m
NtRYwJr6Bv3qwhWq8laIFjToUGDtpyPpqdJB/coTX6vR9HTNPLchBvftlmfNeTwGio4Oi4X1pQC5
rjYtwZi0KFVBKKbNCj4/Jjy2uP2VqPID91a2sbiX9q3o9OFjrPMyrHsrXaPKkQGWCOa4HKAnpRMz
xzVUXLyTD5EVZt7QZ1vifpcWDaACKQpQVHQlxI/6I09JMtS+xskh5CzK+FBVJia2DtGtNmhbfdPn
vvTqSRI5AZLx9BkYbvUkIdKrRCNsZOClynshBB033T0B6G2AU8QQWVeJgSdnSm00UFxtsN7JdQ2A
ub2HpenB/v6ijc29HkwfrGq4ennvXnqVsDEQtkEqqA3HWF0alpVKM8Fe4meUPnfY/Fg7XKkU11Li
0TPz1DiMSYMqLmy3I5+I6XiwDL6FhwBwmnCrhnAhr6OeRxoF2olgmUbA6bLULTFR2nCWkmGu9jGW
VjdT3nzL+ip9DNvx3ZgYMiI1Bo0BYKu71ITKng1Gs9egXh+ilMbYyxMkBjxbO1xuyGgBn1G7PP1B
BbgPWR25eJLK0o/APRysFWQUuAtZPVa5Rvc4csxPpRoNV6iH/4ugiUWhcIBzlC5QRafDD5ZVRvhG
kKmMFcm8gmZiCZBrIza5+JGo4oE7JmKinnI6SlAWRL/SzCi0TXYRFc+PsvAVpRptuBnHfjfbg+wm
o57f43iibczx81ecTTJpJp1VNMiI9k/HnzCckJxyIMvMFJKX6G2PFjtaqkc49rsKffgaSwODBTZ7
50EruIGcOnmgJvjUjJW/KMGhkmH8toqbK0At4vRatbPrTk9vWjAp6Pz9gBB/a4XDLcDFHfTrt3I1
/jbm6rZQaXSp8R6lyqewnB5nObxXCm0HRgb7JBgFZpb4k5PuFkdFBTb9lNflDxG1Wk19IDm+Bol2
IJW702zOx9wdUynw5RHRDgA5YyEyJPuYQq0fNeMqMYddFQc3U+hcIwR1N3b9oc/VYy4pj5WZH+U5
/CGl40006nupjx7UFCMPBuMSzDze7h3uGZ87SbsabMMPpuIYIEnl2mN9lNpNyR2m/HxJ2PCifCh0
f06XxNL6sB5HDmKEWPUu1iZ4QKin8zOc14o2EQvTCRVoNcp4wh/1dKgpdpbeQbxXXI+2Hzkzqg99
tgXyv/R2CrdgYBg8NeaZ41/qJKDQ5MRHraG+HtlJrimp5b94oRHeI+IUTAKgcKffUk9apmbmmPh6
r8AZDOTEk/Jpy+n1wuPFQcS4HioaMeVambaajDQraOL64KR0kEaYr9tpERxwk/j18vV3IRJgJDr0
tHQchlRPv8cYGj1KUOL1Z9NebgcpRW83Le2jVqaJl6RVuZErXFgl4juNVBUYGaaXq8gjp9TX9Spf
llGFv0FUNbmfzWAL23x5FO5JqtWiM7u67ygi9LlMFOnnPYLrWW6Y+3DgzX157i6OgiyB/Ffgv94L
FlHqiA8MO86c6xszdgaPfC/fqPpc3AvUHeF6gcCBDHa6QrzY+JFEfYJcihIe9C6fvTEsqr2BaPL+
5Q96LlatLgXAZoir0aBRQfqt522QsfPuoHQgWhzCKarjvMYxIm7Hq0apUFcSyr77WLXS5gA0rEMI
nCLxeN3ouY1NahQsN2hY67XLOcG5gpc1/YRoSf2ULs5PI1iWvTR1xscpNutsn1oSYL1idrI7ZQbg
4NaVNejXvYHircs/0eH4MfaSGynjMPrTbCbE+pYyY6VAZvfDAo16SGMH6pkc6k5xzYmvlbeB2jj6
fhjy4bPZxEm/y5p87PzaGHrLjSFbjbtCGUw/K8EX74KmVL/I5O2J25d6fsyVQaWdqUHOnAbkCDD4
Kb3CKvOHBv1VtVCxG2jxiFnQ/NCMx9EGjgHwUM2+Vp2DyhCeExPeXAs/tXMM5NdbOzc/Z5Usv+sg
Tseu3XXNp6hW2u9oe2M4g4tC5Xi82elnjsyRv4kIupEZ+l6TM6N3MRtDV8JRB/OLlibau4Y0yAAF
NSKVXQwmvlR1aiFbOFtm+bYB/XnV50qVeO3SK7fMWb9cN1USfqhTuz7OlHsfczNq9v2MiJBVLupd
PSr9QTbm/MpBukPehbE6OW5TKVQzLbNePmnIkNBcCKQo917ebhfyAtG8olZCi5eSzmpnSziO1aVs
xH5uUBquHPtXr7WhazfJo9xU/XXZ2vpGIHTpyBJ4o6kqEI606U4PUxNpBXklNXWrQ91vatHTjWIz
2qhpXrpUOUWIEFP040FaXXJ92DGfdI/9kVyPWEY1Bn+pjOmgYiNwt4xKfXh5Ji/dEZRQUSDmfwgn
1wmIPMpja/BZWkc1zE7ZfnpJQWbM7Q8vj3RpzcgX0cGmCC1Mb08nsBjyhWLVFPuxmXQHKdTsd1Ix
U17P59GvyfS+Z+YSbNxLl+YTMgywGmrAhK/iR/2Ry2W9imt8BdoZor56zf4cjlo+lX6ZTD/or8kb
m+TCbFIkNsC08EaBQl5Fq03QY0pvtmThuMjtHMScvKqKfy7QjzY+7FJ2xlDC/lloOcCiO/0yW12a
Ni1J+E27yZ+CjMdExtnGq4HS7GK9tlwFGABeEknkjUFo3jRq1e7DheAzHOQtNsqFxT35NWJi/phn
O09qSw7oZUzTuEPMqkMETM+9IUxBAiNUdXQQ39p4RC9OtgZ0RjR5CdxWY6LeQqu54fwj1+zsdSOq
vL6ajcNildrGfXNhG+l0rm1iQ0pM3Dqnn8e1H9q8boS8uBpeAUOXMddICjxj9HYvt9ToXz4rF8gi
NGr+GHD1nI520k8qAGHfWsDphckE9CjUqRI2Qe0ZRTvs6HFKxzIpioNajdquyyxnD21uI+gSh3L1
rFMwB3BBSYn62lo7aUS43EwVEh1B7vDwm6goShdf1WyS94lj5fuu1Wtfxn/qSq36reOkittnPTyV
ehSE6ZtCDlrFzMCepiKxVO4MuUhpOpX70rF3Y1rfdmb/a8HhRZ/jAy7YH4MxOYJHuSWA27Ed0Hat
vkxK+dlSg2Nm5g+YTe0mXPHU3pk3Dv2Fl0FosNBcE1VI8ECnm2OAGhXWokM0Yjm1a5LC2ad9uSXG
e2EUhFmYB0qcjqBGno6SAnmXCymkRzLbo9v3aumndqpsfMuFjSd4xlzPCFw4Amx/Ogz2K3DW8aw5
NJJQYalx4jHTLr3Klyk40g+2bh0pqd6VOJLu5SYy9qrZyH6OgdTLJ+D8xIlGJUmfxd1IZ2R1uMeg
b2crqCn6RYgppUZbXiF2qfqkhOW3utasq//ZeOL3/HGByb0aNjIYjwMumrOnJyC5cDAN91i+GpQB
mnqD6f5MHD/d2jp9B4R5CMwh8ZmrK0V12DQ0VPQDrKjoXYXwrIFGQQoJOrA7zUJwLh77+7Yaqidw
GjG17NYon+Kg1TpXK4Meaw7FKpBjxIhyICArtJsuau0ZBagobL0qNEd7Hw0JSJJlbi28pzTEot0h
DZR3iItgIZS1wnfWycpEvbWbua4psPYJVtp9I7cepjPat94xys5tc5zpXRks8k+nSMdvEJwxebXQ
e0VNcolLt9GTBjfPpV2OTaSraKO1CyX3Qh7tbKenpL2uIknLAetb+R1cS1l2gTN39jVagml+FRgl
OtoxU3U7xF3We6Ep5WQpuBK6SqYblWfilDvsjDosM882tArKWj6hvzVRnXo7pdga7ec5/pQaUlvt
5SCYsp0VSPLnORh0xLniunKrAlHBG1pmaHjSyh+toVUOGWp1uWc6C8Y3ypBPd/z65HZAklLf4fKX
Btg8ydoW2vZCy4KQVWBOTVHe4Lydbjbk/xJweRaSgI16TLVek1xJb5wEvUEtQaN3bnBOm+cDHYPA
VdrUcvld2Pz1cfyA485wHTt4QXno2tWIPmyh0Z4L3KutCdiCvpgF2VVUX05/XjI1ahfXtnNoLTQr
61DegW4sXa0wsB9CIJc4+B38Rp2G2SiBxktdo+r5Ah38wjvkatwgaG8qq3jPzty/+phCaqabhLyG
SDdXUY9V1bMS8BYdLIyaxkWzZreR5LdFXOqfFInj+/JwZ88fsSpFLgVNLPx3oLKczkTY1Qka70vs
62Ex7thR9m6JkuHO1ikETkkIdiJo8TRUvkzV0m0EHWKaT5ZBDM4n0mehb32GmlumXBMeY7EPpz9y
cy18NMfio5Ji+1b11W9DHx5f/tqLA9L2JVTGPIKO7OnXYrNg12M18JANmF9mGCy9N2eoK85MnVWv
DUy+7O7VBRdA/TQHeeWZZCL01T1YSHDjooGvlHuTCGbEcA2B0a09ffaciFGIYXhLNABo60Kik07w
BkI+rQ6V6hgaMmVbKYv2UTv3uCqnW55KYqpWa0dxhyYFDVCe7TXptZhoWWZRLfI4674uYf1SVLLv
AhMvPxq/1m5QK0O0Lba6NmdhgvjQPwZeXS01dnFTb5HwJDmSljmOcYdgaLeQvxemk5eZsBvsPuCv
NcZuMvV2UOMZwEJZ9D4ahdahW6Z4b8rzdJcam8y/87AEsrLOeBxGgUtYw8CkMJTUJKgjP6hU9crs
M+1dFU4aKq3s1NaOq2M395k/D0Zwg7hm6QUx8s+Jk0hPL5+RC/OLDb1O3Atjg772KgyrpqSWoiKM
CIjnHwUy5PexocjHlwdRL2yfk1FWhwLRIqORbBjDQSQsHXUn2akSpjCACF2V58OlD3NECeyQhDQk
KPF5czljFE1HEzfvZIdXRbOnl6ZjeifvA1NQqOZoP8d0HGJe9EmW345t8tjlNE0APLpxjRko8Icb
iirmvu26LSuzSzsG6IHoJYL04Aye3i11Xw2BpaaR37aS7iJL2e5TU/4ALA0Jd93YIuWdp8dsGPRV
TFhrlDfQqD4db7JyKVk6K/Sjof5pxZnqJbOuPWIiPmKcYbwzNOSRwYxFt1zAHZWjIDvMiNLeDJhR
ey8v54V7lXcU6DpICK44Y1VjKTS7K2H6h76Dr8he0kasHGU0WQN1pPyBIfHBztD0fHnQC1tIdADQ
HBDgNdg1pxNAxhjmSsdGjdvubREm6pMT9vl7BYzAkxLp9a7oKQ67WWUFW7v3wvcyNCUXzikdImO1
eyn+LMocx5E/WuVNqCyRmwYBFhRjRh/booTYoXdcZNPnyeq5p4K3mWUdNbP+QT3jZ20QdI01roX5
8NuMUtq5GeGeNHyj63EVYrzhtU1/B4UiQfCp/mYZZYttcdHtw0ravTyHFw47BGCyX4EzFP3P0zns
+9I0Zoc5nApc4hyrszDCRqjhX4xC8sg6AarAG+l0FIqcMf6hQeiPpJEeOxqF+2G23ZdHubgoYN5o
CUGg4FicjtKnaUoDEfUjwDALcsOR7EVpphxzk0/r/g9n57Ekt9Gu6VuZOOsfEfBmMRsAha52bBqR
lLhBUJQEl/AeVz9P8sRMsNA1hdPaMLQglYVE4svPvGaTlQQdtIOjcHUD4W1IlQnwL/vJWqFmCO06
RnLXm96PdtC0k5XgYXP7yV53CUik+crBv9AUlrPCy0eru9jMXSAHKD3kzYvZ2prfa5t6Sqp0jKrE
ECHdlALNY0/5jHfvELSdUE9gN7NPgNPmYJ4Wk463ab1M22CGTAM1ctjO2R5xY8eduBj5UxGHInVX
dwc0A4IFdLFpv17+7jzPsnhQVF7J6OF0qiNxZE/pP7d35/oiiAGSkMvIu/sYEV2PO7dlEdXuhzsj
L62T3VVN+PZVyJJhXDCypRW3W8VwhmJmpsWL3hCoqFanC0aZFdxe5XXhxJuWUBkp9gNlcp+h4tvq
mbEzEEkTNf/Szpt5L1SmS/aWIcFDjyYEHwZ1YgbVvDULUs6rA0IAKGUBEv48LyuG2UUHmqWq2vPB
j5NX2C7no2mPqC55AZaf+5wPv1a7TGCfR9wl43fQZNLjBE9JtdzaB9XCOqEvuVsgGZj+aiMnb4x2
hOJ6f7RLcrNf/RDoL1KiiUHmvgu9bTiz4YauRGtZ40iVLU8t9vLnTS3NCLXq8qVqcGhJvfgfhlLl
P7GJJXK2TcuHxqq1D7d35crxQ86PzJ6JiRSclHnBL32VBN/erndrJWrEigG6nWh+GkOteesqEj9J
tg2ESoo+7i67vkYHON5QfrIFitbqkHf3qSiOBDVeh1BWYT9lBOV72jMLTRWN/Aq98AjAnx52zbqe
M5T5Al3PlrMOviRQK305+LJo8b16nSzL6II7lbkCejaXW4hzuNFZyxBHYkRMKtOeGqNsfjALctWT
ahbzXQMu2fMbr+6MYCx78dGKnQXf3tJaNH9WNy7hxlE/ArRbP4ATU7iE1RcbS9lPyWQW35YaJNzJ
A2TLFGjTy9/S1NB/tIa9bkHjjKsdbFOmfhuFVi5ha7qrQhdpKM37pVvwwvAY2IogjjE6DYWx5b/l
3SpiWI0ZnslZmcaJ7xhgBsNey70lzCzch8N4shSpiq53OdgXkTxP65A9deUY/7HMSiobPvhqJ+Mq
/AKZ89LXwcp+mMbG/KzNS/lPNejVn3mTtJk0KbFmxpLWxHH2MuoCJfuzMAfvXYbAkR32lcpSGIZi
eZBt9kIG5swNkBUbwvs2FekPjHz4Auqiz74rs6eVPvID2ddEr8cv9rbCfIf88UXD1mvzO4MzcJen
eoX39jCCEALX+mMxtfEF1w4P4KVld+cVfPWHEi1hC9SRrjxpnZnFJwPwzjkdDWbUuqKKb6nizl+r
xuw/CFPb/DZW+w8u06MgtcqnYiwVBNXcUcUEamtouFRz/Js9tdYj0cX5TdAb/YBfQ3wqaRf1YVdh
hF0z9vbOg5Jnpl8ghyZdyPpG/bPBHcL1zdnLsoCayOqQ0ywoFdBrU/DLUGJvjuB5J9+0apvacNS0
8V0+pcV611mNYgb/EUOOuE6rgyPJnBQudmN6H5TCrt5NamV9FqiUoA7szPH7pfWGjwn4q8Sv3AL0
tFbiF+1TcCefXWErH+asLL/c/vrl130Z7+hRQR5nHIY4zCv6QNJ5zhIXeRwlPdKgcYpAw1hr+p3T
25/fvhLIHclARQODyv7yUySzaPUuKemOIzby2PTpP8NYtO9Urz9yrbj2TADEdGwrgG+QTV+uVOcJ
BudLykqUBhFm293j1sRW0I/K77ef6TUSHngtymQo3hA7mc7ulircxnUVDmjUJD0yTcZW/qY4TPqJ
DcaZi2QNU7Nn0g/AOEyTCZ5kUR6F1p/Ps3uH/Ah+gEoOzKhnF+TmxgBKN8deVCb2FonFxhh68Zao
NqvP+jo+QpTufDt258CK++9V7tLcGL36sVOGvxPvW67Mj8MQYz1vP9qpYf+D9Vty7nOjObjlr7wX
GklwC6lkVULybrOW1tlMPNzjaFD66a5L3b9EX44n+NHxmxN2Xov0/ZbMEEZvu4rZTWKAW4aIo9iy
63AqLcZ9o+OENLJVlCCEsfgmSJCDkufq83EGpFg/Ao/73CGJszlnGVrTTqL+Pg3a6ic67tj8Xftf
bCUsJ/pHfLhIPu8+JiyDTS+tWMorUtUfsyL1AQy16EkO28FTXT3jZKWcb6wKAXXvqh/PKsYZLQ8v
mroZmEwdl87JU6z+1G+6dxLALO5nLt+TYmlT2LpNdd+SSRxc5e7rOEXvkRsAeSlEuPfKzXaC4w+d
Ci/ack1ENA0ZkKeLG2UbA2s0cTsM2ahOhFUdvdWrKzNWQe6JgMLZvYwmlorrniJomw+Qu09V1bW4
orXugzIhrVpkc/J5rfPupBeWfvCSX+d/AOkcqCcWczzmebuV3QQ5lS6BgzuCcj+tTaMx3/CO1Kau
nVrM5EnNLIfTtEcJz1hPqVm1YL2nxBk+LXb8HbbXE+g652AgfvV5qEJAzNBUeSVQbZIEtaLQvcjM
7PYdU8Oak5sdgY3kruyjIb1O1eKS0Wg1yl/xS9ZsgZjwSDhYBQ+8YOqMPjK0RTyrTd49V3ReD2KN
jFr79XSpWw4yh97cKxZ6l6cLKCMvUrDMePFWRG+SZmhOdT2VRJlJD6fBKH2jN9KXqpuP5vxXEmvZ
p6NO4Kzo1h5lgIeoSNWS5WPDme+ddPHe67mj+KOOLAvzLshgarZ8vX3vXfsmfll0LzE1N1oM0o1F
e6aSP3o7zh8Np8wieHjlh9Uzsd8yOhMnPvu32wtffVo6oeAyoQZRlV++3MFetg5cEi+X+RmiIV0d
uoYQZ3Vou2Ad0voTElw/bq95paNMC0YHqitnSVQSu+9wtK08RspJmlOm32tB/UJ5nv41mbYSjMY6
RQilbJ0/VaYeOXlSPXRo9vqJ0pdRPFjE6LXswTQqK8MT56uldO373hrsd/qGQAH2ElMEWdc+t6YH
/of5cMT4Xr8XNNeAZaKtihxcxT81xh9dVSYfbz/d1eMrtQXAVwLP2SPSzXyp03pmR61KKXrMLDHP
HHuPRB6nhB+ZQEe10JL0UcWo09e8uDuSW7kSf+juStcOGq60oeRZ++V7TbvNodriehnwWn9W1Uw8
Z4uLJZxjYoVqVPWzauGy6g6O5/dI1/tt2s7vFeq4sNIKNbQLR9yX4+KeZ6TF/HWc8CItYVEXa2sF
kwqictjc+VFXsKSekdyKEe88o7KFjuRW2s+ZwD4HfQv1M8ZteM41vRN6iPyd1KRPQ1UHjbLwWwJ7
07VHJAZRTdMMRstLtjHhPo0GQxQThS8GqGY6tHduuVXPJqr/v2taUtzffltXQijKh8j9Anug8bVP
otVRtIracaasoZye8W70TmqWGgch7crnLaXemVCheM08c3fg09LCvNNtSSgtxTkl5YLYaaPlYdL1
tIrWAq+3ciijmsskuv1813JZiVtBfZPoTWGyi954GU3zZHHbgskt75vUaKdHiOr6GLj2osaocDbr
N2Hl2n2T8EHoaYEum1icE0ywZcWvbTT/qLJu/DTgoGgGSD6pT66a1hUq032PBHOmZffp5sxvZjRJ
loVkMhGXyML3g4piLVxFKHLPKs04K4kYAkdfGuDZbR1uOhZKtmUgN0dBESn4WR9s3LWvyADRy30n
u3x7LGoC1mNZOwx0kcJRwlWPTX9oenG2tPggBF87ggC2aBURgADzGpffa9a7DjJ4PKiGPXyUuWjo
JWqiHhzB15Q19pPkXSZAuI/jU3e5zJKVWdlvHRleN89ZpOGP1/ngbRHgW0jVBHa2+fSp77rkQ+9Z
28Mci0ycM0VkjD/AdlID1etQ+MPiZZ9uH9KfyNfdlS8bZmCr6CjRWJK31C8hq/YcJY8d4UXzYIet
4n1bcpCG6lieqsQ6N3XxiNvlOw9zvC0xP5az+mcxbc/NWj4kXfNhbOfT3GD1qlafJhrjzWAEhbOc
Fa0+6UgZKx60+oQDMxpTCIen83WkZQ7298pFStNPwgYga9KP2xUQmbDHAoqDG1EggXQdwaeUzWgG
vWk9ad4whI4Ehh7smzwa+31jvg5egVqZRH4XV8SqFuO22W60OmP/Gz6q1osHbAIv03XBEBCyIXaf
IEP+hLiu/w7ieu78fvS+Kx0tKb+dsvVlhWz+Iwbb2IXmsjzndOdLP7Wy/A9d0RC4XFFK/SoKa0h9
TLqzEh/xWP+9iHPtiM175eJkBxmdoKoI1GlfFywjGvZptbrR4H0Xotwekb4t76sGRJk7odTcqXjF
pm1XnIwE5sPtrbwyo5XaTPhyMjQgzO4JpiLWYqeBTxLl0qbQydtHLe7vlLz7TU1cRt9aFSmj+FR5
2sfUVv4xocroWX8kxXv1FDmMjqiPfl7flx+ChhxyUgBGi7YEL+c5lf37jfuyypKTh22v78R/337w
a9EHtD3lkMwCgTNdrjiPAq0n6uKo0WY0iErXCeqUEHR7lZ/Imf1JJcLhwQC9GCbz/gvPVJRcRq43
LMq/Qdp1o6rsIKYAEA/1osywzGUY3jBQuV+KqjuDOB4DT0utz268QF7NHPPO1pL2btvk4Dar5jOj
7PRpRbHxETFCIxJYl54XOxXvUHV/+8BSiqpLTJAEmeAtdLlL/WYo0i/cjVoMsR8Z8emRqs+9nyZ6
d+dtufKcKPjr3t60q6+GHBnGMwwzEC6Xi9IP31Bm2dyIzgzG9G5rA7ZsrYOL7tpnR6MSthTjSqq8
3b1gb13TGTGGx0Jz6wjWkk1bdPaidqvzz5aV9U/ZlnmPJX6+nzrRioPlr3VDaIJIgRmUCSR5+PIp
425qPaGwfrHmSK2QjpFLFtl9DTIiGOLU++SIbCYLmDdfdQq65/aoH/yIqzstYV8g+bgd98NPpcmA
Xk10P9zU1Pw1dszzgORG+C/e5/9bxVN3n5oFXnGhc+5GitH1T2NfoRjgKcO/eRbwchoAM2D77m4/
6dqsNFh6jqo2YjUwak6YuIi4/ItnAcuC3hEpLVC2y7cmrMIozXHibGYpZpmJ/alCDfEgKF87moDw
4AvCc5Ia6JeL6G41IBlMNFzSSn8R7pa92zwSMWV187MhHDRDlh7hh7bGghy02cEzXqtTmXXxC1Dw
g1u6Z/nHjlHUJmrLfBqpg84ULsvwvIsRc4PWdb8Ntpf/bhrFUvuYKqmbn6mWUjDOTVrzgYqz8Hys
e5oEl50q/mec6LnhxFnjiw3QyGHWUVkoj2orz5G0tYbaXufB9LVzU+BL3jrNy4ZPXBIYI3/6StHK
SYrjlR+ljelHwxP9f7vgYrWZ/F2//+9w/L+qsXzPzHXo//d/XStTyLWZG5ODgezfVY6gMtJmagU5
TA09HIi7RfbArQBFcz7n1NSnwRitYFGd9dPt43Tt3pMkYSaKxCAYFpdvutD11magzi20YUPfYQcR
tnbxu9Z1n9zR/Zg62xEo0ub/uL+Qfl1xd4BN4QJwUbmH0FIOGaP8EI6+nWF+Bdu8KQff5LXkG+8N
MGDI+sJr2xP22m7MxmLklhWzUv1edvXS+g263qe2R6siJfN42nrUZ6tV+ZLag/cwo04ZLoZbBKM7
/gW6/s0GgZDLudYluw+kBHjiyx3vPMUdFYYgUYLq27mqzOnhf1B1XHmvF6vsvuBtSrskkYF1RZTg
DjVxM0IV0Gaq2Pfvi2TNXhT1X9RTaLC5IJhoalF2G5dPxtmdFbxw3ciot5lCYFsDWzY3bp/Y1wJe
bCA6OlLj5ifOZ3eAbHwJtRqoIs0lffpgjV5KvlK24ZJq6alPNPcLVuprtPZxF/bmajzURmV+Z/44
vWhWLB7SQlGCbQR2cfuHXQmaFAISFUr1jK/yLtNCLdYcphqFmnSzO58g2UvPSSqlUbWCsigZnhmK
Fk2W8dVVu+nz7dVfi8h4SDrJPUEiAUb+3rKipBDZGGbEESXj1AVenszPaWxNuJHD30CiD3/DsHD7
5KPWSu0USepP/UxRnMdtaC2cHsEM+25FgRIqTI1PmDGJNMrrTMhvga/LL1xhHvzsK5EPMi21sSSF
AozcxR9n0S0ln2XHydPn53Ucy4dWaccvnkiRF5nQS3FofEVqH9sH3JsrqQfjCGbFUNWBjOxnq4Wq
0TgbEUWgdzT+peXLGOTT5h6w76+s8hMCyZfuSOVb6/Kb8HKRT/bmOpG24tXqe25j9L5lNqV/+/W/
/t6hmwK0lDw9oty+nawKpzPqfnKiuPdEqCpF+jHNuzywzMW5Wyh7MLuPi49vXlQOW0AXAYWRoJjL
h+M4Nk2hYV1ixnrf+pvrre9rT/sa23r3VDdb9aNzFvsgObgS0mkbQsKUDQt0xfZjHjyNMvpPqRMh
np080HDtP64WvQU30Qy0VemXtloTv+s8MCfLYnvvkA9potpmiNm7TK9Np3l7wUCbjE+fXqaEuu4x
QenoxonbG3YkvFicjaId73C4bU+3t/v1zckq8FzR4wPXBc3ucrsbYaYZ3mV2hOOdOHfkEyFKIiGK
egtFSn0kInu03O7o9obXD5wqO4IFZAe92nQnbwLBqzpjHOrZ9PYsnc+fYo+JmoEQ5c/3/ksvKhNK
p2zKakeL0XR3y8AMVjTKfHB8XgccVpEJOjEas8f9lKnrbQNLh96O7FgvQiPulw+TkRhA8BTWwxL5
yQFxEGzZckQulPt1mfjQaASLza1PU5iB9+XrE0njlWJt7AgEtBKsokcOzxTtfVY409Eo4vVSPB5w
DjYU4tC+s9kI5HFIIK0oq2f9HkZefK8uRZsfBJ0rTyQFgLDJYHpPTrdLZegZlAmkKysSqZI8Flmu
nydgRFHdOvVBtL6yFKxaBjUSyQgLa3e5mmOK2ESVwuvOlBrpvK0NcB7xwqbejlpBV5eSwnbSqwx4
1u49pX2a9d3smVFlZXWkzEjgJrM+32nwCA8O45WojSeYreJ6IQEBezg2g7RuSDfTjHDBhmdbxIg/
pon1Tt2y4qvWaeodLbvt4K1dmUywjXwFJoxqSFB7yryqUTThTm2gY0sR3M5I2y2NG8bCMR8mUXTo
YE7mxznRf+SekX0qDGCEeMFk0bJ53l1aWNrDhpZIaAtziBK3EFHTd6o/IGb05MTzl9tR78oe/WyS
kS/jHofQ2eVnQ0USUwRuzBpK0yXYERuiwASJdu7KOD3fXuxKzKPuZPzM3kictDwbv8QgZnSei/yT
GeGKbjySelh3yqpM6BxigLIq5fxm1D9pFvAeql2kOUFYXq43i2bmEwaRG2/ANjsNlnPpltnBU105
0T/ZShg6S1mK/cfj5FPeNiJjFXs1P9qeWE+J2Abk/gnntzdQ/uBdkKOQhaDO8AgI+B6miiO5qIzc
oSu4dtpL7PUJogTZUap9BeyPeBZRHBFuhtmMtC/3rS2dxUKyVY8wK1YeFM+NP/ZF0jCVQsek8DNT
qU9u2yz3uI8tf5d1t0bVYi73HfoQL4xorEfPZhxqZW29IbojBPoUWoH3Spb6o5NufQAo0n5viXSN
3rpBDIdpZ8qeLx+fswtkg9HWg924elRYNNlFE/9w3S75N4tIKRfEQNFF3c/QtHYrR0SU9Qg/7wmI
XN1/s5O2+u32o7z+WLBJpsxDW4omEXP3y5dglkmRI0ZAaxmFPZ85TBpsw0CZAIwClejsyPnvSolz
uaB+uaAyQ/LOF9tB7EIZHlbR1fQu0/LvuS6yh/QpheunjVNAeeYg9TJSiWVLGiELNf9R4nQFG9zx
PvZ93Z6cjB4nNWR11zcI7N3el9efGz+TsZpsHzNQ2Q/8jGxrAe05TrRmRRu0I4lgM6ujDxbAOHjR
VyiRrIV2AE1c4hVXyeWW4FvkgeHCfjtLkEKEetaFWl1rgdLmSxRXDZ1y5Lvv1abuQ5Sa1nAqTCWw
q7Y6iDGvP3x+COYGspNLQben9pkeFRqMDyfCkWw6zzHa8sbqHTWPrjStWQYmAeMACDOvMEpJtYk+
ZnzN1CGB7g9Z6ZzE6ei3bkt1ZTWov6xINgpcyB4b0NAoRGrawfu99qjSVVPOG8HR7XFZdZ5S9jDz
j9LEMfFcTevAUEfzzZGURF+CjIEvUFrsR4xq42q1NGSKsmF2wnid13NeOdXp9lmVKdplvGYVSLxI
CEnBj/35UcdugUWjS0qbAwjQ1Zaztjl/z6lD0a1rMJ7monzQyQEOUp9rH4mUOZctXqndI3/YLzct
krJDLFqTTdwa53HorfjUxwKrcK06WupanCI6kXoDMUWcxLhcCk8FQ2lW3tc8LlU45Uy0NC3LcVUe
uNQt8+2FzM8SjRERCFpJwLlcT0PpuleW2Ylsfa3v9TETvphS9yB1uPpUxHf51csAvHuqSVslcH+h
s1A5bsDUpKEMz6pzVs6fjaUV728flJ8UsVcnRQ7iaNWQPu4/8Iy+Xwo+kC8PUNOprtoliL1RB4O8
xpGeGMn9ZkyMkOhEAF7Nlgcdb0hIH404lwt6vCSKQ6ipg3mv5gaqEeUkwkHJ/oKJqD8zydOA/Fr1
WRu05mEopj82Ab3C08AmTHE5vlSVY5wgPSQ+WiBJqCHFHg4aOJQkjyuQ/lt6d/uBr+0vXTSSM0n1
UfdzaaMdjWbd6KgondAjIYo4ou3AenACGD8a2hGmVL6w/QYT1qS3JnMApP4vj03BAFCNU9eO1qGu
0NkfvcBhH8MUT40gSYzG76HHnNHctc8z+VcE8wRjgLlLXzJzds/tOBm+kmxrZG0Y6ojRnINVhUky
9aXmo6U/PY+Y/jwl3I/MTdz+wYvd5eza0xyOmwR7zsl672xeFwABU2vfQ0343HQx/sg4exg9qrV2
7fqs4tr1gu1Wbt3pq5E/1gvaAv9ptG5Isq5zoqKEQNkoW/8gcu69jSHj19sv51rY+nWvdoe/0dqU
M8aAqPf01u+G0vhiDZb20sa5EbQo0t8hL2cFHqCp4PbKV4I/eC6E5DxKXpoI8tj8EreWpPbM3skI
y5PVPo0L2uqa6Pvz7VWuREfQcVzp6JnKGLlLrUDJLoUNuzmaxIDto7Cac2bUT4u19Adh5HV5hR3X
LyvtTl1ZGkidi4QwkiRWYOjVjCUGIG1lA3LkKFjmdqrS/ZtNhDtBDiyT1L2ziQKfY2j7nFvHqpa7
ymsUZgb5EZ752ibSjWc8JgdA1r5RmLZp0pgNjcKiG1GoUZUKvbRZfxgU6wgzd3UpooUE0IDl3Rsd
p0qXJZYmHJLNog1bT/8E2zc/9zUohdsn48r4g5Lnl6XkAf3lANalGMHs2nak2Jbz7DlpE/VxXTyZ
cLCixYubb0ot/sndZfDtqU0fMpdcb6w6x2+F2j2Olf1DAPg/yIn+Pz+L+Qc6cVeoO8NUedlQlnwX
RqWqd46GaWa4urWun7JatX0X7heyFNm8vjTlZnZ+bLX9ozubTR+2OGCc7bUGeobOUft7MajLUfP0
SslI910OOYEH4yW1Fw1C4IqXP/GKzNRGeiKNmnp53Dznm+ZtL6kCqkrVKGBMmG9p/t4Yl/Okp8+z
RDyPRfZ+bZR7W6u+1NYQrIb6rneUYN4QoL39el+HF7I9GndcPNKA5edk/Je32zN+HPTa2iIE9eN7
VN7GQEUH8OAQvb7b5CpU6NJnmCJRjrJ+WcWNVWtEjGyLrD5tqQbEc1zE77SptwNHher51mfiNqJl
DQgJXsurDk4zxpkFUUmPRt1oI8iEAhJrr3y+vcrPtHt3f8ryA4Y7GRGdh91D0SRytl7QHncVJQYZ
MM7ro2cl02nIBpS/8KOKSr1vzgnOJ36z1fMZe7s2JC8Wp3Ux5pOCZcCpKNf8rAhhvvPGfHuyZxvs
O9frKbc37et/oGNooOAt7NobTK/VyplP4FpMH8bUEbLxCjSOI0u3H30wiSDey/CtW7smTmHakdTY
+7E2fe2jrzOFuWqi7R4vQ6AYk36n6OX2PvUqQJdeRvOjLK0zg/1D3v3rs8nPoUklme0wvfY+HPjv
Lmuee3aUSmxL35WoGOmJeWfFZunnYkPw11WyoJT6hKqw/+6maoJ4LgqfzH7y504dow4a68Hxku/1
1XunmQKUnLqTC/PyMHsKqB5BshD1afxESlR9souk/TRMiBk3qvq3nTnNuYTyGxkbCpW3T921PaFK
Y7yHThdMnd1Frc9Tkdt5bEeUimuoZcuGWVF25A/9+nuFr4YSKP0islFUGS8fcdTiuaf5zaCtxp3X
isf5qVrFZxOexikfvLcjmVgOlzjwmA712R6iIKkaY9Y5djSmsXOKFyMLWx0l7dtbd2WQxzJ4Vpj0
oqk896JfZZ8amjIzYKqKYvSRURIBLfevm9564cp/f5tXJDe6znowkhrdaffZVawwHZcvt3/I693F
Yh6ZSaSQYKgh7Hq5u53ea3YiZj1aVvEHxaoeWAoE6MQTLpC0ajg4r69zBZaDM8b7pO2Pwtrlcq01
mcxSKz0yN0UZfRpIoz+JMn3U7dp88yDocq398eRORfWxoBEYq8uTbU9/OTpymv9i/zAcQq2arw/z
tssHEnVcWJ0NMnNd4ai6o6eejLWpT043UJM661Fn5NoGWpCv5SYC3DdlSvvL7YUl7yoBw1q0OM3g
1+jVvZBGVqfe0pbT7Ue7thQNPJUGCT1tpg+XS1VqiaIE2l7AEyr1NGZAyNTBxXrNiYuDpa6dQls+
FkEEquR+/ImuLwRyXCEoNU3zxaib5gGZ3+aUAAN8jJuqPTiGr0so7mKaIjBUJDlzj/EjXK9FmtU8
2qbSEpxp650yrF+p+IbyFKttGSqwEsNFeEdfwOugydI6MwKYuOQfex9KAOeZ3idCizC67+5qHEz8
CoObgw29vgrfM6xC1Pf2bZ9tUNZWczMNN1/NDIaRDhPaB0f+ZtdOCDNQSkFkhyC37U5IM3YN8qW8
NukKAMtr3bDubDCRMdvu4IGunRBAOdy8FE4gVnYfM1LaGsyyVovUvBd+nix22KWjHiZU/v4Aifig
NLySfwAP1rBVQ8bLQnJKPvsvH5pE6W2zgsy10IbsveIiGGSqieUXeDKcSg5Q6hvoiYe2F+tntVW3
e1Nv26CrnD6I56Y6OLGvn5+fQ+2DjIwUdduPTuKeMpWhthrRSbJPa+2OoPgKTN2gjZ6gW31/67d/
udzuWqjUWpsIQfge9i4UKLXNopn7MoJl/NvtlV6fVPJ9PnypGENetg9oPUoKZVmxktT7uPPaeD4J
rWoPrGden1RGidw89FupIGGmXb5Nt6+Q2K29DbG5vronJU+iCvjnPa23oxHzT4T8ZU4GEg37AvRj
gQUxgrpcy6vaMqHaVKNx7GMjmNUl/rZVumWE7Yzyjz8pfVyEs4g3sjJc1R9zgKZNlHR1Oj7wV+bk
VPd6qtwpcdFMCBMq3Yd1cY0/JjM32mCrnS1M8ex716bzWGGgsoEFHuyhQ6W2ytz+o66MP6x8aj7j
FZZrftyM29d8i7vZH7oRSmQ6KToTinwW4iV1Z+qAUstbDf1fhW0pOqCvi1N/VsWswXczZvOb1Y/E
4EXOW8K3vn6beh4oCn0DyVzfhRBcnZiZ2pMaLX053HVLplKjpukft1e5IptFzJX9TCYWNEX26gcp
ySlUNDTk40Vh7pvN6buq2joE9FBFyJ+sZlVyeA6VlYdYmbVQTN1peO/lo0HPNTbWp0yx5sdijIeX
YStimIHgrI4KUxnDLg8O54aWlxysYPe0B19skJ5E12gDHeUFbXm7SQPmHy6aw7O7LeFSm8rmW4ru
qnftJLDrjGMPSG8vbGumDzKbQ+iBC32kJRJ/t/ouK6U51iDuGzs2yrPjDeQI+dAaYBuy/mT1DjKh
Rttk3xkUT95dklkskCIiu/m9gXMklCwXYmYN9qryKWYqzQeC0LSB2dfx2RjoAsJ81vV30Hy2p8zp
nY+queBAprZD1Yexg2OYj1pZWgWoTY4nTUesJNBiy1v8vFYn2F2T3j+teSOCHL4qTOGyqL73VoW5
a68q2h8ZCcpzVuO4cl7Lle4NCvP6yUX7vQYyAlI9iHP0iP0+7cwlFK41Tk+GV/ZUXEaKXkrKOJJO
MG352wfqdQIBEocEDNQCiCZzD22c1SLTl6pYI2Oxq0fJaQ2NOS3fdYMCoKX0UsjgffViF8uR8Ozr
eMnK4DPoIFI4vGJa4JbKGNhjNN9Z6nTWgaWGhltNB2fxyipUjQbuKtx8DqoVlzGMJNNU5pwmyTDm
M1KyG9YH5mK/GSCKaYX89iX7ksRvF5U1q3UQ5hu2KKmH7NEGIxZkdun+i2f5dZVd6lC0UMWNrtsg
F7VjWLZrHXkGfK7bJ+L1DcOzAPogV2DDUJC43LHZLWYF5St2rKhav+4ywzeLagsSItxB8fjTcnAX
KADSgRUkZhrUbbuioxWdMbWrDq7DHGkupEspvnZUVd2DUPSNiKCI9qlf1KR6VIoO1nRqzPjMJOpa
K35uKK59GjZz+N406fSEL1wa35nx2n726HunQdcocN8aSIFoebWe4nvdNmLaV1f6uyGGMxtOrZYf
dZGvfFGcNtlJkMYL4N0u968oMIha6Y5Gq1u4D+s8JIxxekmsVfUqqNxeOSnlSkc+TZ0330ESVcfC
YKxIYvZELFHNOY44Oa8uMdVQ5NDjaSGr/2YViRiUYDeXUvHyARNwvU62umtEIUSf1SrnUDHio/Li
dZ4oiQHUa/8XmXK5Sqd2JSRGEwrAaqRfNmsa7sApirsaAaCg9BCeu33sr3As6fAxqJFdDPCC+8R0
3mzRjcxioxLk86MY9KkOtGz7mhgxwtt83P7SkA17q2Z9gS3lvcdFvrlzwEr6hjtVH7tq6+/VOpmw
AsO7QZlU5N+yGkzTrLdns2vJwJv8L3NQ08/Qh6qDEPR6v2T0IZrSAQG2sJ8k233jjGprLlFnanM0
d1XxlK6Z/Sm2Fh1j39E+SKyvgFbkZAvOIcKUKD+YuzhBcjPFKLssaD55ILjzLHnI0j5+WHT1s70Y
eYRICQQSNA/P1BxloNXm+Jw1xufb7+3a72BgI5NuOamnq3l5UNo1zm11GWYAq1XzO7AtATmI6d/7
ukm6fxSFpgwggbmsTkY7rx8qzekc/OCc75U5l0dSFa+DJ7Wd1HojDZRcyF3KvIjM4mj8VPNmpmh0
zvhkITQXlqvQ33wbABeipcGtLRHl1u7OcfIU0yjBUtM0J9+mVRnDHvjOQb1xbXvpXtMPIjeQ3PLd
9uKD5dmTLeaIBvdviOrEgZiY1q4bgjGLeNoG62FxZjNQ9OneGvI/aTccAeGulLCUihRVlFXk1oCi
L1+xvlrOJNaUY12goWRxkvBY1JMXYRqtT2+vZgjgGdECeS8Y5rV/iHO8HOosGYIym8yDSCEP9uWl
xa+hY8V0h+kLZfXlrykaWh+T8n/Y+5LluJFsy1+h5abfM2voYR7MXqWZMMQcJMUgmSluYCAZwjw7
xn1/Sa9q0bv+g/yxPh5UpAgEkyEporuqutusqrKUFN0Bh7vf6ZxzpXoS+7Jwk5VZbzZV6h5hE76x
k6DxDjU1WvNEtn5kRrhcBT2ixCxMzucQ4nfLDenlKtBZRiiPvNEuB/D6lShlkSbbqCQpQtdxLqdp
QAmHP51PuIbl0YkvIBA1Y3nPh5Sx78Fldos+1TO+FgjIWUk8q+W0WkZc/sDHcSVaIEAHCOjyNBSB
3nP7WK9cobkvkppjFmgpGBSQS4gS0DvgJl+WxKvvFcj8PEd1ih5PCbriBjWLfYP2X/KxiGlsj+m7
IRGHO4rWPIDQHX4uNksYEeJh6GQDxJmF0FP93EKf+alKBPTiI576KbKl6EFlQncupo2yFjMm06Hl
jAqSD63rTKyLZRErfKcHIavhpThlBgwuYNIeiOXv32bjvUUfFrlQpGmAOaKogeHDFlnGyHZb5ZNG
TBTD63sFrkvTH3HxxrYCs2BDQckEmWtoSI0r97ZSUJWAIJ8AOQaqaIVAJ/KyVLf97iEBmuT9dzpA
fNLpkOQFuwxAfAqFG75U5KoxGlwD2tSUoWbFVdeZlVjLJkP7O6u9VAJUmQufxNYTZyyLrqZaHDCz
Usofg6KBOeXd0pLLqtT5kCd62Bf5vKlQNAFM9Vg4dFABx7Py+A+F9kLOGzCA0bMCZ+fVcEonqSd7
l0qX+ysh8rRPPJGLOcekqBERwS7Qj6JIb8DK7G4CJaW5/w5IlUAMMt7oy1T41GviMXH0N/YG6jgo
OEDdAj15xtroSYeu6FIW55MWzdpB5hO8SZi6x7o7vHFc4AVhFtALkGYa5zGUnEVjGDtDO+quiC4h
0l6u0W2qNio/kdaZnchrqNGGlgd53SOh6AEsFGuPhgJopgTYOTDhYwKWHfPQ4EPHk0kkxfexnGq6
K7CQYylCttq0aBR2aZegwYql/TkLZWg0h21zxNyNb13ISSJ1z6rIp4NZhETL8POjlbPEN4pQT+oe
zcj9Qi4XeYEMFgQ1jomMvzkVrVdR4SKKvx5OBSVUxicq1Nb6UN2WYSfMu9T/TY6zY3SIg3WlLyUj
JkCMhcAAUqTDmaAYnsaZEteT3EY7UtZDcx4lDIWN3BWulYcQbGkhnmfaTVTchmzSW6Lww5QCPANi
Y+qgafDohbGFkV2sNldr1aRXgb0Q/JjAXJBj1+cba0ojcFVEEpZFu+TRmgZSr4E+aVcgvCYh4JSl
bSBQqpYxcgBHbOZbU4GaJWFdkVZHoXW4qF4JUJ6SyhUQKBFrcqIbLdK0yxdtc0wSb3wi6dIBGYpz
gZw5eiKM9mQvCW3juSi7ewqbGC6DakulSuGsQPNsXeiF8gY9fMkEWKFjvTIP2ofRqSErhYQzjAWq
Z6OXRNs2oWiyopq4flehdZjA6VJWgVqvuYXOeX2CfK2X5JvSozE420/lCviziiuyZedp2czmEePi
uEkTQYhDdDkU+9vcToIjsc9b34L2Yad4G4q4oT9/XeJAJcP2ACudsA2ACTKE6qeFm9UWIMPSkc8+
voQBnKBQa3gTuCJQzR8Fv/Douwot5vOJRjLW6ES4RVVjHzOZOy3V1w4ZppGQHkP6lKLeQM8dvhHy
noBJuGk2EcQK2t+ArHYPAotdoLudoi5atNkBNwZdUy+jtizRQNvz0D0p6fiC05HdDnyobAqNbWWJ
zJuRJwoFsIAKMQtQiCZKF0UVFVC3s2lWg9SuI34XP3NViUps1vvoWO2GZdohkG3QjAF6iNmi4wla
/bG+j2uDRfNovdOaEhCsoPBLI5IT9RkDsVtJrMhdJgquawZ1WSeotoIap/fET6dBVCfQeLejzLED
yVP1REwkwF3kuvYmmi1B00NNuOqTVHPouOsKIZXtgTA/68X9bRzaAHsh0tELXxRNVKzS2hIDlgFh
gPFVpFjkrLxu+rLzj7hkY2cJnwJaqtQfoKTPQ5OgBWIjBlI2idK6NVkhzKaNpqNFU8b5ypG56P00
+uxwypDZRxwPjJU8+uyQD+mA2o6zCdCvhRlrvG1C4TcE6gbV60xhbBNyoMcs/k4abDgr2Gsy2rLS
5BG8wVFAU2VgfwL17eMNSwbIUV+MQjOWC9qTvO61KymPtAr1wiYADNjGjyF+WLBPkuKhzXTfgbLi
y539AH2evrE62e8u8ypMpamYktKbiDzEb+3ClkPUrKI+s1rI6XdzWSv8mw4c3lpnPBC8LT8nNq8n
aPtg2ZoHGTUBoXtrMIHQosUQ4kLeRAUX9HslJi4I065MqonSuH4IDQmOhTC9kKOzLPqGtb3VqL7Q
zYuw7Z5YMa5RdpLTuUg7XnYsumRhGrG6ZXDQ0WS+r7UUtkICAeV9x/cgvSlpcNbAU4Y2H8wuvMrh
KU5ywsZMVoZIheBzBkyAkmpcVf2132dhDL5JGuo8WwgJzlHokRkhmUCQTCPMQx9BsWrO9nW6Fare
B/QNWVS9imNIOIk+i2gryNHtXS/rPkKxpC+JFWSZHFtuwPb5DIp06OfQJF0aX7//UgfBOC4kbBHa
G0YAIhDLPnwpz6sEElaFPyFokA22Ui1WvSkKTH5tdxqjoHmkr2VGyHiwGBFodIVZt5kWGVkLNpmV
qiKH1LWdvjiP/zFQ3yl//U/8+SnNOiBxPTL6469X9bYgVbG9WDtZeTGpkmcH90ryn3SQP39pOMSv
a/+pSMv0Cxn/rcEvYaavT2I6xBn8wUqAPOw+Vduiu9kiPiW7CaAYRP/m9/7wYrsb5bbLtn/75Smt
oMyE0Vw8/C9ffzR//tsvyCq/+lZ0/K8/vHRi/N7d5uIe3aX85GJeRk7yXB787tYpyd9+YWTxA03u
Q0AcpgxhMU3dNduXH0kfYI1RtIPsg4AeDDRTkEDo1vvbL5z6ATlf2rcPCV4JVV5cEyDQ7n6kfJBR
8gRAA44CCFVgPexX4frlonn5VG/rKI1NLNQDIcZPQZPUrToQu2OQCWrcBFefFkKK2O+mnXqslzy9
R1/feOMpRmE25VVrQoMpEHKu+ayd+hmDhk3a5tX6f32z14pQY9PxMg3tvow1AZNwVLAhTB26MJvo
kYL8WSrGK3iIZihp90xazd+faqf6PH4lDl4+EsDARyM1ODyWUIcpgN3obFOt66XHkWWqJnrIsWZu
d1NcjIYv1Mu0c6eiFy78uLsknTjrXGFGV1druinLyEdef+y40tenxTB0rwEcChIGw0fiApGLUjSb
RqtZ5iYTohlFBIRctXTphy3UOzc61uT82JR0b73yBEXe7ZDdb2wzZt3fIAd1kxHfQF4QLfICmBJX
hzL6D6Lzxm85stlEDWWpyPGWWRQYAestPDGcHfm444I6nQMOAUJyBDdA5o82UqB0daq6BB/XTq97
NkGWRpwxmAvVmbUci+tarpYlQQtokl6jacCx+emdPt5cAIHAJ6VJT9ja4bIWolTxIfhEplw/ZGJx
1ZPY7CDnGybaSrX9Ref6i0DSbhotmuWxeueV5IiLf2BL6RIgM4m+9ag5ILIbmR3N7lRXqGPb7GJ3
IvcQWC3iVaa4OrJ/dwlysEj3QvO2gZqesIAthjPJ+wvVi9ADx7aSvDJcCd8HBw9bYQWHZhlqiV6z
4azOwCGv0iN2kp63gyWjCDkEhwgSx0y7HIgyWfRSfLJOXpMyMCLGtUTIcgqNtmHKcqmJ0jphy8f3
t8pbNxuCNlA4oMcNt24UscW2ggPXJNiNSfOoFfE19ZML2bt5f5odhGP8eipITQJUFoA/1EY7QnBV
zi4ISqghe5uG2XUiqpDk6wUrIymgbdIiqMVF7roTNmRW9IoJoOurdcyK77RVk0SfsqSHGqmkM35v
tor7SQ4bKyaSTpgKhZMO91HXTtXABfAvmmlZfpW5vSn3ndlg77GtsGC52sLknXSMM4iiwhvfDqAn
VNMA7AUqfHTcek9VQwYC71B01249Jb7m23rpStpaLm0zsmUTPWLguSFN1Ptk3sqZq5PQqUqozMbB
ghIjmdT/3LYNaI6IwZDwaNqrHNuvhQZ4BoV+EcT1mgHyzg4aIGzjWQKmLorhuCHlWd8HN12BfVmA
KRAyyNVUBnQOp7wSzVq+tlqhN93SnSaxpEMjHjFeP2XBhLV53KwlDkTZPCplY7W5NCuwoi7+vac1
l1KeX9nxQ660l55QzoM2XnU8M6la76ZrRAhaab1ppzE8/TowQjdeaUpt2SUIeHnwuVVdi04oxuk1
Tvmq6lxDKcVLtwUBVI4+5x1Zxor63AjMpCzbae5D/NgLFn3LLxg70e2+R+zEQ6Kvmkhs4fCiv/CD
5Lr23dhgvOIKDQHWqttNa9mbSk28TMtoqrj2ptdyh8kEwciK9pJvcGxF9T7m/Bs0wrry80gysz68
hRYaetcn0XWgiTNNdC3G9azKJVfohzQH8+dZBQgdxmiagnAeITXgK/xvfoAvKqv3AbULkqijWYZF
FANFFkuaSsI6LMCTxOVBL5JU/uJhbem9S9c6QzZbSNBJ+wEXN8TZEvwrQXpuXXGW5GiVBbM3U+Ts
hgviFXoImnGvbJimWUY+NIkTZkXHSut+6vbllRZ6C8UDc5pEq7ZGKbUhqa5I3bRixFv4wVbteosy
b9B6lfIy+jtbkNayhI3H9HPBr9fErQxGjFaZBhoer62CBN0bGO0TvXWgHTGFpNZajbwpLyPdF0gz
N6QFYe+mSWq0gs+0xCia9rGL0U1Orel/9YxJYDbLag5a4QZ0krsSDbZbAsnhmsUGabh4BanraVah
Kxq4MzFXzstcNlhbNKLAWzCoxiZhsJAl12qUeimktcGVnZnZZB7Vkl40vVkSLKwiz9EZ7gaKwIaa
F1cqPlwqdqbQRcDDxmbS4HfA/bGVBthNjXsqkzjUU7ZBg8hiXpXign5qL8KfZThWKnPP1GTeiI3F
5eGMdWsjytHHEi0LRRd1Uk9R9VLDPq6rOUGaDs7xIux6U+vt3R4gMiyZ6H7pwn6KBmlW5PUmuDEb
2fMsMYJ1gWGV+VuVo837goXENVBg8aYF/TRuaHCF/7lUEhyRRo+xTyB9T/Xu72K+nb5/+751yVO9
d8jbICGItODQHPdFLkcq4RGeq8WVAlyrCwJmdbThzwHbjtpcZOLBqoAHizTIyLUJbDHKclDXzUYL
v3g4xYWMRiJReh2BJlNy4sLvYrASZV/vUsB4meQa6q2/U5vKSvZvXo2dVLbxjayS3xTUipFcN4K2
M99fjAMGystTAn2JRBkcbWHkZhIhQJs4W4XgIddJesahpVan9U+NJEJ1VVi0+CejcQtOrh57gV+L
UjtVAmQK3KNiawex8e5RkOPeOUro1TxyUngpaiIhksF8abwbZPdvxaR/RNu1KUiVpqwQixfIMmly
x1fQuhY6yYnIWO8vx5t749UjjFajrWMmLoG9NpE2vlRyN9C9NHOCUrl9f563NgekzaGeDxgQIJ7j
XHsd5T7DE0Ez+yb6nLHiGi23LYR1M9JruzOSoPOJoqDWh2soF7zfu+JK1MARxi2Evi1zBoqQhaat
gDBbxBWOrVcdg76/4TbDfiNlB94dksNjNobsooSlFFDMRHkessdICBe4eBioYoZo0hvVE66waS/h
O8ZF/2ww7vT31+iN+E8BMQM8VfQ2oMWX4TlFvkfw8pbVAEt+AMfcUm3+yYcfFCXHwr834h7wngQO
JVbkgZC3Gs2UiUoaRqBc8QGazwgWiDwmugSZGd9NhUzEjXwEngBxj0MnCVNS4jfiftBXRhstkos2
Jj6mRIHcCmE4KkkyqAoSdXQLjvd0JWcs+kMadfq9O6kENdPtJpzRHdEhKBNzadGBs9mJAFP0/Ezq
opksA1SiSQs025iXxP0dGn4osbDTKq6tHB3PAjk2W/xO3NaWAi8ICrlrVY5Xsc/cZzGzaUMPoqfl
FYcMba1qKz+E8fOkBSlqA/TuBQBJizJmLLEIPsVBoyu1NMvl4AFNjR66VrlngTgs8ND090lbT7rA
s5CWmxFYGxVoXnQQtRoRNq71fqfeWIX5krJaSrlnZRGZ14m7boPA4CpyJXa2VcML7HpxASn6qYow
m56SSsPPy+IKZPZrLRJn1FlqmsqoQvd3F0omTIqIhQQL1wu/1Go4ExAri1V7k2v9NXDvLBqp1hM5
g4vol3OU1SzqaSkwtqRGS7g6mtkeY3ksc6OG7lTi3Cms3ULs2ieRJ8vebS/p/d0V4sLmH/zcvumz
yILHuyy1EDYawprUFbFrdSUE7jxq17KXPIAKPrVBDM1T+54t4YLL6gppCAP5VoN6o3ZPjDLDLtD8
Ty68zxxer5K68Gq0VaeIelR4i0YgBl3DmuRXLFpHaV1rgGI/pb/n93AMYVHZVprVrbBmNPy3YTZN
7n9psX5pgDKeelvUHSI9yRBRSiSsj7YrZM6jr2Vvh58Ah4K0nHbTK5pVEPhPUWQ2bDeljowYaPeq
GPNoPCmsIeyC/LFyZyMesTVypSTdZe3XSzGEwQ/wTbHXXK3W2TBeSXJ7KcVXvRLcBAWcbohwcZKR
N/E1zRmpNtwqCbKCmbBo4nqedd5CgBUiIqgNfvip73zDTZslOlDoqRR+ShCwAjqgmgyUrKB5NPXq
AE5y5m1oLoTuEbntpkDbmOg7NKF7kJrYWCvnnRKuurKfimyM/dpYmkjmMm5XaPxbRBV1vujRw1Iy
6LcpmMqSY9DAPWajpFggBmGnj+47bTjjCnhyzS2O9N37l92h8YNGNwSIgNoEChV8sFHoiYosWAad
pGFpmQ2NB3ixWvbwKuk2SAJx5ofuBvRuVPC7KfSf0IFXOxKWHly4eAQkLYEqlwBYA9lteA2mbA66
ioBaNlhGVg3SZ8SL0CiIgLk/hk9FpDu+AGkyBgAaaPGh6ohrcDgZl2hMQpXTTFEKFkyPFsleR9B+
u/RuFLY3hR5ufCmGnxjJs3Lcw2Cm3Ode+5Dn3k3W5ZWODOzCzphVDWQbAhkdckOPsugbauvKaBWF
kBN3AxfANHU1PHVGZlYBNNKQ8a90olI3hy4ugrQMKvmVL824DkGBnyLz0UwbuTJosgv9bWq97dup
nHXTphFtPY3DmW1XS9ACFqkirNNQWEgC8keKf4P446bE0YmL5lKTsaO6xtY90kAWOIfz34nrNHIT
0wf5voyV3qg897dA7T1dlvvLhOsuG0Ij0Ah3lMCTFq1XcAv28Uos5HVDvN8TwUez4fSaFHGiq61t
FRKCigz3ZRUruGOxVxMEjrx9U3D2hrasSRrGwj28e3vSIaJOmA0DY2vwsXeDpo0Qz2GjmSiSR6bw
tqjzUIVrYSYn2bUqV/Max5dBKqJ0mZswCAE6qu1NKksGB20gNA5gVnHo/kYERISIHJMa6CM7R2Ux
7BeuH08bP1jYanJNJAR1EsyVh2CNTxADp/UEEvitUbruDeo8E9zIQghbR9QVw2ubEHMiZfaJs8mE
7aNVzgoLYMbXKuLpiNEsei5KgbGgaj5ruc7ENlt0CPYFGUcUcUYF5B/JvEUWNFA+cW/oNatkyh0H
PIxCKjSShGoFkGrmbnColPgtKPpR5RsKQTSbRzPCwyj2xUwu8YOqDI1cJRs+k6gJhqS0oD0rMhoF
AEow57ySQSE/F2aAmqIum6IArH6pIgVqRRk+rmh7AOSHs7BsLwVgm6HSY5Rs4oShukFzs0u0PPwk
425RSLqigXeAS7lHIJWx5NErQMBmYqbQQ6bvFlkXfSJEuZd476bk1Zscl7OlVei7K6vxtVvadzTE
9gLIlbdo6s0Ae4Ce4SbfugYjh1Zmu5aM5ulVCphB01hqhtg6ZawkU+Ys4mRdqx5kH2E8/O0ILcR1
GXcmugjay5QTFkj5LyJFvi3BSkMr7vYSfa7QpEFRElTThAi2PfisJahGC0FsViiRLKmlLxL3iO/8
xs2hAsKFMgt8QuD9Rrl6gvRW3JWsYqpaA+8IiwnDK9MjKCYrUOWOhASH09GeO/D5gTMCnGPMbmV9
2WsFklBF+GpJ/RMPUbOaJA7d6SjLHZnuDUMgIvsI0CoIEMiAjhXFOwCkUTmE3l2KSz9CgF34Sg3c
HgRlQmL4XPjAdt4GRJOV78Uzv6yMVgs+7azRD9UD/7K2N6gH3qYx/jMu/w3+yl8O9M9YJKSO+H/s
y28HRUKjKpwnJx2UBulv7EuD6gcKlEWzFlCUKTkfW3NfGtQ+ACIAoAA1eBRkhWhrXxrkP4BhhZ1M
jSHSQbQL0b40yH2gaGkK/QK4GLisHysN0qDiddoZ2rcoQAJ6DK42wDFj+mPnsyLj9cC0AN/KPPd5
7V0Cl0CyZZ0V7CysedlMZSAIs0yUjaRnP/cqHyzrslU0Q+hzu9ddsEShaMQBcFDWwiefkaETzmXg
lIpUnsOAlFGxcbm6QMNe4BD0OkiVGedpqHYknCF8qQGUmPeIbSXUslO4WLFv1QGnIcnv+cuwUEI9
R077syrmRY6calMqFlvCr4TW3UxMuRj3P4BUkd7UVRSbAWJUD0404qaW2NUROOPYH8LHog4ZBfvS
lqpY/EE5rAKjEMyVhDfB1FzkXVYhEV3eibj24Dg32Yu89/+GM/edlfp/yuOFvf3Xx2vjPDrDs4W/
vj9bwgdonQIACfV4VE6QGPh2tvAjaMMAYISkHtTeX5fdUVsHsRy1enSph4wITW/tzxZ+BPFUnC3K
1IMMuPIjZfcDmDZkpACRB4cdREm4s2MVHC7IZKUHUsXsicZMu1CZAVCj6WrVfOF7EGmbWxQ6SiMQ
mic0aJlrnM/OmT67FJIYPZn6YhUlNb8G+BMZAEFcS+Tzj1/pV9k22ZBiuyXAeLx7Z/8rbzEc07/e
YnqaOH6xHe4y/MZ+l6kf0NAcIi6gBOH/4Ox/22VAcOxUNFSqWwNJCFzur25wKPGi5gX/ABuBll/3
u4z/gC6uYN1AGgObDCLRP7LLdv2Thzc4pOWAbeOROaST4RC8rtCnHR+wnRpzZhYT7jdPjlKjJWJb
6j36g6HuBCqAhQaqhoZueffU6GwKUbTnpS+rS0nLM11k+99BEa+MIg+psBpX2k9pCdk3vfL6JrYa
9HWHNBzQ8WWNxhM1EgtWn7AEyY9QvqsqN8PdC8HczyEgVms3FuUt47tBpNuQH563LR+kehuqiFc6
6PN1ag152Sr2JlgY8J4gP2d/Vkqu37z6hm9ARcYJPHpTI58PqVn0hDtsllZEbo++RjxnlnVuozol
pCaOUwZuOziWrZukc/R/KKyYkeLpjx+rv3RwBm7Qv+6RAvHk1ec4cIo2Djq6XegOcE5//D3axt3r
w7X73f3h4j+g3IKsJ1L8UPFC1P/tcPEf4DGhjQaoO3DtgRz8driUDxT8A64YveNxIvGj/eFS8Fu0
Yyo8JyCYAZT5ocOFgQbuEfxqSu3BPY6HQPOHUUqCthJvwd/mTb6XeKMOOqK3kOeFXPId7vIp6/LT
nChbLbBvZT+OdCRwGaso2oVSEc0gvH9rr9RCRT/7TvsdtHnFTDRhDuYJpwcVuSds5hphnK41ZCsU
JoQXQaDHWdd2ZQaUq1RwaLOgtOj2lwRtYQHe+7ljc2lasMpCriGL8ONb9/8Fi0CjRLh2f20TXjbw
GhsY6L9/mxRO8rT999eb+OsI37YxXHWapoNGJfafNvBE0ASMOo1ArVDRQuzwvY2AZQE0GfRLyAPA
J3kNAFQ/wD8BYh0nAzghBAc/so0PdzF1QIAjxE6GDvMOHP8KxBW2YUlacLTNruf4WZrHouEJPfTI
Ev9Yz6fDKha0TnEuafteKis+dnoEMEa4Fh1SzKDsm5lSWnFRhuipS5Xv0xbtaZROT2o3MApZS0zg
472ujSZqgSdB6Uecki8+xJRmJISwhCqSGBB5zxSLZKWE7LFesztK9WvbCcNMs5tIckK6BFRcunCv
FoZXiYKYRRDMMlXu3RBdHdtajVaQyV+nGvocZzWr55l6J0cSYypAAbNdMg1aG7WtEuhhCUKTRlaF
nJ4L6mPo57cKInMjI4wRg/elt1IlmDyYnDjMjBkiLziBUCWZup6yQIah1UUGhQKpSVQzuOQJ2tcn
LqTN1CKHiCoGkuIUndH5YKGywRJacqbg+88eunoIOZAJtsTcqrm9kOxUsv7/PfAWABiBAyVOvXMP
UDu2dnAPbAfI4a+/uD/+wgcqwSVBDQXtkalB+mbFhA8c2C0a6PRwD4HlxbXz7fgDbQBZHxCfoc+6
C1/2VgzHH/3qEJGDwreLXvb5h6+ez3vw3x1bZ7TLoY4GJDHaJQDsN9bJJGnqBZ0tCmYD+SmYFDAE
NCm/l3xdTLN74jKhbqfJbZV0aHkduKIRRn4EaS8U66AfNpcFFxW3yovNVyv5hof2Rr6fUkGQzECi
A9BoujSvT18Drj3UmWvBzMIGClRgt8ykgl1WUffo5agFsZH9wBDC6V7UX2dZATCEUulilN53PQgP
CvBM9FwWOKAcV0CZCbhD1CnWmov8sAKlLV2oUBVBNHXd93ZpKo2C0xbW0GIrIKdguqEYGZraZzrk
ZFOjbFF6KjtdVimBJ+s7C+TKJdK10cuL/1BY/89kZb8+OPXiDvD1f240SGtEz7sf+9vyFTr/6F/Y
79zDAV4h8SnxAYJCUGAD4wwMD/QC+tPg7X6RIvlfptr+iez/9ek1sH8XvL764Z5g8PrXv77p4aP8
yUA4/NGQhPDjP3/9lhCNhfSDKqJxCUiO9DSe/JYIKF699GBFyhOXBEODYDB44/3HnPnbwimevG63
I7qv7/hCm/gYbwv/yUkuNk6cDpI3NGj49rAHxIw/r+H3Rte3RVw9D4alPsipw27SKI3TN5ke1Ok/
dXgjRch88W/L7TbyE/ff3yKUUHb2qdNcUmbJtkhgsgrfSZy35qGcl1PnMdI0fHPsM7zDxA/8/RNS
kg7Vnzn1eSfbZ+xXsn2+2BD8o7xIv1zsQvRkW/qDvUQT4CfPVmyTJ++CmsDD8c+w+pOX8TeUK0Q/
NqhJFx8TgvNI/KeL1ZipRL3aU19pWjnxfhT6USg8/dQxZ1uneP66i3bvsH4ykYqL9v+u3E9BJ4Sc
yv6Pb5K6vuvuWPqF/wgK236k3cA0/3vqqxgeWLkkdsqvr7Mf8WWCMzz55ba5MJxo+5wmw/0KU7mf
7OfX5dKvtvtRdo9MBUxOXZN7J6kcUu0HehmXJu//tN8/ZwAunaoYjnqOM0sX+GHrUJrf/hF3T6ye
YXdc++QJGeY3jcvOGz91Sa6drHIu6CsAlZJsBxcaqnv7F/r5DXKNhRmuuSadPiqMVOk5UfSWJYFq
9OkTvGRxZttomzj/9eJj+bRNSlBAd5fNLT2xcFKenQsIInmDNeOpaNepHwUsne1o1Xb5w9PHTdzh
09K618mjVrUTDT4xLyAeO3XY3/B5/XK34JOKVMnwwWki6tQZDpxMJGtPH9WI/CzbFmgp9saNDtV0
8OWA45cQ1rOUsn0Ga3iX+K/8k7WPJMHFVUWiDv7iWwcEk2JmWqmkSUIEFBRZ8P5ivhX9/J8JfJA6
/78x0IlcRDqDLX2Gu/Zj4qbRYNCjH/YlUHs3aoIyRIOAYL9FdrbtHONuE3+QGKPp7fd34Xc8LAx8
8uzvB6LPSquepw5reM7AtlMG6alj3myz6jGC142AAs74hZHi6+2HpQ8unsF/MNGK+QnhC6Y5Pt8Z
dqAB9YMiHUolUEjdqYtlIMKGNsR+ILo8VGTz5GExQOFEFx+/vKQd9mu0H3k3zxncFcPJthf32+J5
Oxj5DHe/GfiPCOYGO542ujx1ZSy3y8h+GLoMNNl98qA53HpwiLDih97mcSN0/PhbhQ9AyuCqOkc8
YgEulkKxfr8CdD12QL0T45FbHPupEz8OR6ZJ9lNXeuo8Dg8hVb89eVBvZAZo956TBz0MO9hznOw/
/ifZXjz/l3mdjgA6HIXanPrUy23SDbYDqDGnj7ryH8deAToWnmHcbZkSb2BcUGM9w7j+42gVzpGJ
XDvPjuuUT06xf0J63gDZ2P/x54PRtdOlhAwuYdTdzjFu5DT+fpzd454jQFk70WjQM5ziNQzp09Nw
M5wj7lkjueITvxoYaTTF3K/KKV+NjuyM01fnMHPrtKf3bz5KYtEO46deEZc+XPz9MLstcQ6TsRt1
aC8garaf5ufX+MUeM2BEleN0zRkuips//l4lIwUtMBJOf+wbRCbjis4Z3NjNtnvytlG0HWxmYO1P
f+Jd6v2rw7kfje4OgEH3f/z5r7jZJlvXifYD7cY9R+Vsg5pd4VystmkyuDx3NO5TD8omjXHPDawp
EH37dzhhMVDrGwaY57D8t+kwSgNE+wyP+sd/Ty/AfPnj77t813Xxx/9InvxsuNbnqDYAieGPylY8
1RM69RveOkk/vqB3NPVTB75zDw441Uw+dVi9KkIfRc6JUw4sITornD44atn+yKdHy6PTx7WQhwGo
cOASgF97+sAPBzHITkz31EV+8ONH57EZ7mLKRzp14Jc7dHNwvqkc86lj635xcQtnbnCJAm9x+sgf
H7vt4NuhAQKaIYCMhQ6UaDkGcbSjJuAfl4cFQwD1wj2IY4fsoFfzG8AaBMUJvsIBggTh+7eP82v6
tHWSI3/nnwKSsksN7b8+tag0Iz3aZl9f+RWI7b2M6p8F94HNgyjjwef/wXHHN/sbQemPjWhVRTq0
QiimHyY/f2zQHdLk4ivUZ7+SO1cFne+4/b/Y2/0fG/tjVdKE3siboNoop4371Wt7gSfth6LPDJaB
dnA3/NgzX9GTMHxiYDsP0F4nbblrAPTcMQDgLeTcaJbqm/otXOHvQkpgzzijjQjtWFAxKM8ItxzK
1ujMul/D/Wf+iYl0J6J57RdYzn683QEFHpbSmqCEhD5JoqbRTorfrp4RduB732uNJEqWEtj2wbFV
ePQdAJcE+l9o6IA+bIdb+Cfebe24XrF93D/27q0EtGCjTAHarHcnvHlwVn5iIgNor8dHbEBgACgk
6ECsGPw0lCuxigKlpIHr+26+5GUx/3FW6uV6+h4r9Wqt/hWsUPR4cEfsN8cbR+g7j+rH5DlFXLcf
iO6yM0S4uzt4eEhoa5+/PIDf+bD6NnL9agAlo2KgJw+blrh8d2HXbFv0WzetERjsx6VLQiliJ88C
PEcxTI2dI2GsV5FL4Zr7B6SPS/tTnPq45jaJnSLcD0SHpeTQU4edF1iGIUrqHJk26FaNTds5oG1G
v33yhmt7jkzbxE/Gi3AOEMjEKdLtW2iPd+3Rd569FxbbfgPs7okznOip/whfDeDT1wPThoKn7rMp
OgAk5bbbj0QfmOotnDwuAOROMhz2HOsADv3Tdv94u4c9wzVsFCmyBYOrARHmfpafNxoQEcWdM1gE
9Mk7fdz508HlwJ0jdzknTjR8Wqq2cOpWWGyL0QbjKE//5GHhiKFINWSM7UjKp468ckg92g3nSKSt
fOJVY9dkp7B+6gNv0MPHCcePfIY1Xvm410HKK8l2CECCfsfpX3BVtdsYkIzC3Y9FDzS0RvZ//PmT
Bz23Z6zJfqDduOegZKwBnR8XBM9wRFC9JMOHpR26Tt0WfxGmQFLrDGOnBZoO7cfZre85TDPYHCOv
B6Tt/Sw/vx2uwdipRtUetEo5feAbFGRGCQn0cz59XHqiAfob7AkoAp9h4N2tWQD4uh+LfjuoPOz/
+POLvMmgR7Ef5mXUM5zkDRDTj6CwDAY+CxetAV1p+LznCJI2jU/6l+TA8JHPsNvuwgJLPHB/kCfa
T/PzX+7uBRW9BAj6OR2GjYcJ3Opbnus7XeJ7CqrEvoOsxuDGQDOm058dNzIM1NYthhv6HFHNZluM
a1PngMihzdV2R40bllyhgU37tp586VNyIhyjpzdYTCidnMFYoYdFWg9WGwB9NL06g2P7x3+j1/9b
oRlY9WgmCqkZSNVAVwxddo9O949LreGm1r6r/vPqLP0rZNa+uIA17gg9+31Kr/kzHOKPuDEfHT8Y
nogzuJgfi3hsRs9gk3QncSPneVt6r9fhHEHNunNoOmkw7Dke2KsACns96jmQDDoIBMMyLRWfOPUC
Ay7+MX0euj7nCL82hU9Zu+HApzqHeUOBd5gFPUdsNAPF4WJJ/2fz8Wa/qDs3m6qDn7rGc2SzD0jT
3Dn4eBh5+OnQZev051042XD7Qhr09FGXaBTeocXoaOhzKBG8FG6X6Qhhz52DRPhSYH1j7DNsjKXT
OyHa3I2X5AzneuUMSSkw5Kd/Qvg5TnpwRKgc1qlHBH4lGGKjvXwOaBJi/We/HsIldz2KTn5i0Ie7
UTkZwj+nL8XlNhsCJdE7/vRRrx1IOm/fpiVTgcJTl+MaGbGDjXyOlPk1NHrAW0UgVv4v7q4lqZEj
iF6ld15NgOThMxtHICFjhs8wNODwsoTaqIygZUmFLSYc4Wv4CL6Dd3MTn8Qvq5W4s9R0a7oTsNkN
MFFVnZVV+amXL3mVPtpdV9C6GCGYGePaECMT11RTcZwNjQ1zK+BXVhjY/GSXJQ28lsbQFqBlHscL
WcPDOAOikdzCUDvaGjfS+X0/KRCHRlLzwiazW8kQgo6/LJ764f8HAIHSu2gfTajdOFqLeig8S2eu
oCa7tYEepmoTHqBSfToEiHAt4n/aokmpf2rzSeMxijtH86LgEhgYDd/nyA4GCO17aFfNyyWdfYs2
XmW7hFtkJbTQYptiNOABtuYWUnv4Z9Y5Oz8pEHKA2FTGyNV1gjBXZm6wQRM7+vv3P6bX9BMaqKDy
CCv4DsVzN4Z3TdyHQJJtopUrL6q+ep5ZFLS+OUzwCMGDkVjBSA5Kcg3FSBAUXLO6T9d2rUnniJds
9JF6sctMBzqG+carTa/j3fR6kEKAZ+YaYaS9MflPA2E14FgKm3dgHMh4BDgBVIfr4ABW8BVPzBv0
/bzEuz/6/rr8+hdzKOx9jEi7YGSFO+jQjGegRSkYvNJwvVxiqQgd2BTBlf8aOqSAKed/1QNCc8Zk
hGIu/gv/sgzHu5ekkyvpTGv4eKduGji8IPjkLW1w43z+CzUPc3HdgDWxauAisZUIU5HyMIPW8kZ0
iURysZUSSS5Q4v+HjOPkii5amV4pNaYr2tIOQrvgjV8j+d6ZmHtZDqFR8kT7KXRRw6p2iYoxeN7Q
cCZ7l84AKslnhSw1Uc42tZcLNj7UXgaF9RqP2d+a0fWjDw8KZnjPIa0rLDwsZHOZxPDJEA8I1Whp
YNgoNL9ywfO+BsHhSRKSyilY8vOJCxcLWu/m4r3As+K9A9KKh/IBaHVt/cuZga0C3HtTo5D/mmr3
IP+/2T/I0RiLxXzR3xcXiN8CX6Mihnodxq6oIEcD84Fk9I/piKlk89pMvQrQNu3d5iZecLdBtVbN
fVK0w8/j5Piqr1e47cwpK+6ZDeqcUW40X24n4AvDzLy+rejCSkuKBI0Myh4wy0s4dg3w2VHyqw3A
iBquVsbneUI8Bokv9jgi0o+RJElqV+tndW5pgTuKPVs0q3tmZRXyE10cH89YtlyKiP5b22UPiKum
5B5KwvKLb6HHCy7VMhRgNv7LHeAsJdn0AOfXX+0aZOrgY1O2/LyAssxBxwwJ9CYErOA0dufjoMhI
I9+2h+dTVFlO7Fisd71M11aMWPfRHUkMqsH7sT+dmETmwFoKwsVafxZr1QBWvk8ng0AEGiH7gfvF
WJGvb2kwGBwmqEKUVybKn1kodFqC2toV1eAD8MY8Ct2ULQ2SiI8oeRYRO3ro8CT1lxobN7DRzsQE
WQb02lUYfB7U8rU1ECELg0Rrjno3lpoZ4KrO3DBvl9oKdul7vGSga9+tSMujNJonqi/xHxI8a/Iw
fr0apYjHaQSl+2oahc/HwGHyZPXXvEeI/yh2/QHeY0EtKo4i+n5qXMug8ukXvfvhJaTVQuvK5l+x
03fRkZsKF34xuoKMPp324t7pRW/3t4iUh7pRxKH+o7geLNXotNtGC7p322/Rs7rqs/L2+1+TXPTb
pwjhm3NV51dKCvgkLxeopbb3IsWmcQd0U4APolPA4nmT6LhqwIt6I3QEGt2FOdgtBTVEe5JZAgIy
seZlJhb3xQUCADsOiAojLwucHv6x/uVyDAH7VCYP5U1mqeu/oh0+QagoH219m/LMVDy24LzCPu+B
e4hJ2OWu+0aU/4QnO3M7Eyf7kWvc0HhHQprYB7RomdsPu1uxhjy2d9XRLCjlnR3J06GB3KLV4jjL
01H5SF29XqJURnQFNRZDa/hRXTOHy1BkcjVwUN1AOzT4Y3fTG9DFyetYA3XE494+kMqzotFVtKng
9CG9FGatNDwaXPYDJH2c5LRaJnCqcdsj3rJ5KbQ03uzfQ4+D/UPbX56m/qlG+xwiEgxpbzUo9al0
bUpsocLnbWlEAiegdZil5GAI+FJbw2PP8oMHdjbLWs4cJ3dW3iAaGMFslkN3KVEjaB/cfE/RlejW
DszAG4OztA++Lx7UR00aNDYEMs3k04Veoi1hhtGTgtIgtskEdWHROxtddKl8jlpkZLfCEkZZg3S8
Q9zV02F0YQHpKbzkEYqwPOsfvPO4dAYFf7aDYv6A8b6t4Sd34cuiLIFF4FVq62v+sb5EYiO9ovaW
wv0GxPks6uHpEUW6TmqnBoVPpp1wYWbDz3+Okps5i4GksqFBWuI/oKR5NOHX5k2EnjWnruxRXzpP
3m1+Xs8f7dyXGP6eNwgo+nbthEIRteDr+8oigsH/2FdWbPYiRXM5QlfSb/4BAAD//w==</cx:binary>
              </cx:geoCache>
            </cx:geography>
          </cx:layoutPr>
        </cx:series>
      </cx:plotAreaRegion>
    </cx:plotArea>
    <cx:legend pos="b" align="ctr" overlay="0">
      <cx:txPr>
        <a:bodyPr spcFirstLastPara="1" vertOverflow="ellipsis" horzOverflow="overflow" wrap="square" lIns="0" tIns="0" rIns="0" bIns="0" anchor="ctr" anchorCtr="1"/>
        <a:lstStyle/>
        <a:p>
          <a:pPr algn="ctr" rtl="0">
            <a:defRPr sz="600">
              <a:latin typeface="+mj-lt"/>
            </a:defRPr>
          </a:pPr>
          <a:endParaRPr lang="en-US" sz="600" b="0" i="0" u="none" strike="noStrike" baseline="0">
            <a:solidFill>
              <a:sysClr val="windowText" lastClr="000000">
                <a:lumMod val="65000"/>
                <a:lumOff val="35000"/>
              </a:sysClr>
            </a:solidFill>
            <a:latin typeface="+mj-lt"/>
          </a:endParaRPr>
        </a:p>
      </cx:txPr>
    </cx:legend>
  </cx:chart>
  <cx:fmtOvrs>
    <cx:fmtOvr idx="0">
      <cx:spPr>
        <a:solidFill>
          <a:schemeClr val="accent2"/>
        </a:solidFill>
      </cx:spPr>
    </cx:fmtOvr>
    <cx:fmtOvr idx="1">
      <cx:spPr>
        <a:solidFill>
          <a:schemeClr val="accent3"/>
        </a:solidFill>
      </cx:spPr>
    </cx:fmtOvr>
  </cx:fmtOvrs>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1">
  <a:schemeClr val="accent1"/>
</cs:colorStyle>
</file>

<file path=ppt/charts/colors8.xml><?xml version="1.0" encoding="utf-8"?>
<cs:colorStyle xmlns:cs="http://schemas.microsoft.com/office/drawing/2012/chartStyle" xmlns:a="http://schemas.openxmlformats.org/drawingml/2006/main" meth="withinLinear" id="17">
  <a:schemeClr val="accent4"/>
</cs:colorStyle>
</file>

<file path=ppt/charts/colors9.xml><?xml version="1.0" encoding="utf-8"?>
<cs:colorStyle xmlns:cs="http://schemas.microsoft.com/office/drawing/2012/chartStyle" xmlns:a="http://schemas.openxmlformats.org/drawingml/2006/main" meth="withinLinear" id="14">
  <a:schemeClr val="accent1"/>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withinLinear" id="14">
  <a:schemeClr val="accent1"/>
</cs:colorStyle>
</file>

<file path=ppt/charts/colors18.xml><?xml version="1.0" encoding="utf-8"?>
<cs:colorStyle xmlns:cs="http://schemas.microsoft.com/office/drawing/2012/chartStyle" xmlns:a="http://schemas.openxmlformats.org/drawingml/2006/main" meth="withinLinear" id="14">
  <a:schemeClr val="accent1"/>
</cs:colorStyle>
</file>

<file path=ppt/charts/colors19.xml><?xml version="1.0" encoding="utf-8"?>
<cs:colorStyle xmlns:cs="http://schemas.microsoft.com/office/drawing/2012/chartStyle" xmlns:a="http://schemas.openxmlformats.org/drawingml/2006/main" meth="withinLinear" id="14">
  <a:schemeClr val="accent1"/>
</cs:colorStyle>
</file>

<file path=ppt/charts/colors20.xml><?xml version="1.0" encoding="utf-8"?>
<cs:colorStyle xmlns:cs="http://schemas.microsoft.com/office/drawing/2012/chartStyle" xmlns:a="http://schemas.openxmlformats.org/drawingml/2006/main" meth="withinLinear" id="14">
  <a:schemeClr val="accent1"/>
</cs:colorStyle>
</file>

<file path=ppt/charts/colors21.xml><?xml version="1.0" encoding="utf-8"?>
<cs:colorStyle xmlns:cs="http://schemas.microsoft.com/office/drawing/2012/chartStyle" xmlns:a="http://schemas.openxmlformats.org/drawingml/2006/main" meth="withinLinear" id="14">
  <a:schemeClr val="accent1"/>
</cs:colorStyle>
</file>

<file path=ppt/charts/colors22.xml><?xml version="1.0" encoding="utf-8"?>
<cs:colorStyle xmlns:cs="http://schemas.microsoft.com/office/drawing/2012/chartStyle" xmlns:a="http://schemas.openxmlformats.org/drawingml/2006/main" meth="withinLinearReversed" id="21">
  <a:schemeClr val="accent1"/>
</cs:colorStyle>
</file>

<file path=ppt/charts/colors23.xml><?xml version="1.0" encoding="utf-8"?>
<cs:colorStyle xmlns:cs="http://schemas.microsoft.com/office/drawing/2012/chartStyle" xmlns:a="http://schemas.openxmlformats.org/drawingml/2006/main" meth="withinLinearReversed" id="21">
  <a:schemeClr val="accent1"/>
</cs:colorStyle>
</file>

<file path=ppt/charts/colors24.xml><?xml version="1.0" encoding="utf-8"?>
<cs:colorStyle xmlns:cs="http://schemas.microsoft.com/office/drawing/2012/chartStyle" xmlns:a="http://schemas.openxmlformats.org/drawingml/2006/main" meth="withinLinearReversed" id="21">
  <a:schemeClr val="accent1"/>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368675" cy="536575"/>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4402138" y="0"/>
            <a:ext cx="3368675" cy="536575"/>
          </a:xfrm>
          <a:prstGeom prst="rect">
            <a:avLst/>
          </a:prstGeom>
        </p:spPr>
        <p:txBody>
          <a:bodyPr vert="horz" lIns="91440" tIns="45720" rIns="91440" bIns="45720" rtlCol="0"/>
          <a:lstStyle>
            <a:lvl1pPr algn="r">
              <a:defRPr sz="1200"/>
            </a:lvl1pPr>
          </a:lstStyle>
          <a:p>
            <a:fld id="{57BFF3DC-B8D2-48AA-A55A-F1D962287525}" type="datetimeFigureOut">
              <a:rPr lang="pt-BR" smtClean="0"/>
              <a:t>21/05/2025</a:t>
            </a:fld>
            <a:endParaRPr lang="pt-BR"/>
          </a:p>
        </p:txBody>
      </p:sp>
      <p:sp>
        <p:nvSpPr>
          <p:cNvPr id="4" name="Espaço Reservado para Imagem de Slide 3"/>
          <p:cNvSpPr>
            <a:spLocks noGrp="1" noRot="1" noChangeAspect="1"/>
          </p:cNvSpPr>
          <p:nvPr>
            <p:ph type="sldImg" idx="2"/>
          </p:nvPr>
        </p:nvSpPr>
        <p:spPr>
          <a:xfrm>
            <a:off x="2574925" y="1336675"/>
            <a:ext cx="2622550" cy="3608388"/>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777875" y="5146675"/>
            <a:ext cx="6216650" cy="42100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10156825"/>
            <a:ext cx="3368675" cy="536575"/>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4402138" y="10156825"/>
            <a:ext cx="3368675" cy="536575"/>
          </a:xfrm>
          <a:prstGeom prst="rect">
            <a:avLst/>
          </a:prstGeom>
        </p:spPr>
        <p:txBody>
          <a:bodyPr vert="horz" lIns="91440" tIns="45720" rIns="91440" bIns="45720" rtlCol="0" anchor="b"/>
          <a:lstStyle>
            <a:lvl1pPr algn="r">
              <a:defRPr sz="1200"/>
            </a:lvl1pPr>
          </a:lstStyle>
          <a:p>
            <a:fld id="{59B7149F-2601-4A88-A1A8-D222DE10BD86}" type="slidenum">
              <a:rPr lang="pt-BR" smtClean="0"/>
              <a:t>‹nº›</a:t>
            </a:fld>
            <a:endParaRPr lang="pt-BR"/>
          </a:p>
        </p:txBody>
      </p:sp>
    </p:spTree>
    <p:extLst>
      <p:ext uri="{BB962C8B-B14F-4D97-AF65-F5344CB8AC3E}">
        <p14:creationId xmlns:p14="http://schemas.microsoft.com/office/powerpoint/2010/main" val="550446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59B7149F-2601-4A88-A1A8-D222DE10BD86}" type="slidenum">
              <a:rPr lang="pt-BR" smtClean="0"/>
              <a:t>1</a:t>
            </a:fld>
            <a:endParaRPr lang="pt-BR"/>
          </a:p>
        </p:txBody>
      </p:sp>
    </p:spTree>
    <p:extLst>
      <p:ext uri="{BB962C8B-B14F-4D97-AF65-F5344CB8AC3E}">
        <p14:creationId xmlns:p14="http://schemas.microsoft.com/office/powerpoint/2010/main" val="414534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59B7149F-2601-4A88-A1A8-D222DE10BD86}" type="slidenum">
              <a:rPr lang="pt-BR" smtClean="0"/>
              <a:t>2</a:t>
            </a:fld>
            <a:endParaRPr lang="pt-BR"/>
          </a:p>
        </p:txBody>
      </p:sp>
    </p:spTree>
    <p:extLst>
      <p:ext uri="{BB962C8B-B14F-4D97-AF65-F5344CB8AC3E}">
        <p14:creationId xmlns:p14="http://schemas.microsoft.com/office/powerpoint/2010/main" val="2645213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59B7149F-2601-4A88-A1A8-D222DE10BD86}" type="slidenum">
              <a:rPr lang="pt-BR" smtClean="0"/>
              <a:t>6</a:t>
            </a:fld>
            <a:endParaRPr lang="pt-BR"/>
          </a:p>
        </p:txBody>
      </p:sp>
    </p:spTree>
    <p:extLst>
      <p:ext uri="{BB962C8B-B14F-4D97-AF65-F5344CB8AC3E}">
        <p14:creationId xmlns:p14="http://schemas.microsoft.com/office/powerpoint/2010/main" val="677545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59B7149F-2601-4A88-A1A8-D222DE10BD86}" type="slidenum">
              <a:rPr lang="pt-BR" smtClean="0"/>
              <a:t>8</a:t>
            </a:fld>
            <a:endParaRPr lang="pt-BR"/>
          </a:p>
        </p:txBody>
      </p:sp>
    </p:spTree>
    <p:extLst>
      <p:ext uri="{BB962C8B-B14F-4D97-AF65-F5344CB8AC3E}">
        <p14:creationId xmlns:p14="http://schemas.microsoft.com/office/powerpoint/2010/main" val="20130236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2" name="Do not remove" hidden="1">
            <a:extLst>
              <a:ext uri="{FF2B5EF4-FFF2-40B4-BE49-F238E27FC236}">
                <a16:creationId xmlns:a16="http://schemas.microsoft.com/office/drawing/2014/main" id="{6525389C-46CD-40C0-BEF2-3C21B6B72DB6}"/>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5/21/2025</a:t>
            </a:fld>
            <a:endParaRPr lang="en-US"/>
          </a:p>
        </p:txBody>
      </p:sp>
      <p:sp>
        <p:nvSpPr>
          <p:cNvPr id="6" name="Holder 6"/>
          <p:cNvSpPr>
            <a:spLocks noGrp="1"/>
          </p:cNvSpPr>
          <p:nvPr>
            <p:ph type="sldNum" sz="quarter" idx="7"/>
          </p:nvPr>
        </p:nvSpPr>
        <p:spPr>
          <a:xfrm>
            <a:off x="7178515" y="10312736"/>
            <a:ext cx="515895" cy="230114"/>
          </a:xfrm>
          <a:prstGeom prst="rect">
            <a:avLst/>
          </a:prstGeom>
          <a:solidFill>
            <a:schemeClr val="accent1"/>
          </a:solidFill>
          <a:ln>
            <a:noFill/>
          </a:ln>
        </p:spPr>
        <p:txBody>
          <a:bodyPr lIns="0" tIns="0" rIns="0" bIns="0" anchor="ctr"/>
          <a:lstStyle>
            <a:lvl1pPr>
              <a:defRPr sz="850" b="0" i="0">
                <a:solidFill>
                  <a:schemeClr val="bg1"/>
                </a:solidFill>
                <a:latin typeface="Calibri"/>
                <a:cs typeface="Calibri"/>
              </a:defRPr>
            </a:lvl1pPr>
          </a:lstStyle>
          <a:p>
            <a:pPr marR="1270" algn="ctr">
              <a:spcBef>
                <a:spcPts val="215"/>
              </a:spcBef>
            </a:pPr>
            <a:fld id="{81D60167-4931-47E6-BA6A-407CBD079E47}" type="slidenum">
              <a:rPr lang="en-US" smtClean="0"/>
              <a:pPr marR="1270" algn="ctr">
                <a:spcBef>
                  <a:spcPts val="215"/>
                </a:spcBef>
              </a:pPr>
              <a:t>‹nº›</a:t>
            </a:fld>
            <a:endParaRPr lang="en-US"/>
          </a:p>
        </p:txBody>
      </p:sp>
      <p:sp>
        <p:nvSpPr>
          <p:cNvPr id="11" name="Espaço Reservado para Texto 10">
            <a:extLst>
              <a:ext uri="{FF2B5EF4-FFF2-40B4-BE49-F238E27FC236}">
                <a16:creationId xmlns:a16="http://schemas.microsoft.com/office/drawing/2014/main" id="{4E369708-D77B-4F5F-942C-597221682C46}"/>
              </a:ext>
            </a:extLst>
          </p:cNvPr>
          <p:cNvSpPr>
            <a:spLocks noGrp="1"/>
          </p:cNvSpPr>
          <p:nvPr>
            <p:ph type="body" sz="quarter" idx="10" hasCustomPrompt="1"/>
          </p:nvPr>
        </p:nvSpPr>
        <p:spPr>
          <a:xfrm>
            <a:off x="6764177" y="45208"/>
            <a:ext cx="828675" cy="223837"/>
          </a:xfrm>
          <a:prstGeom prst="rect">
            <a:avLst/>
          </a:prstGeom>
        </p:spPr>
        <p:txBody>
          <a:bodyPr/>
          <a:lstStyle>
            <a:lvl1pPr>
              <a:defRPr sz="700">
                <a:solidFill>
                  <a:schemeClr val="bg1"/>
                </a:solidFill>
              </a:defRPr>
            </a:lvl1pPr>
          </a:lstStyle>
          <a:p>
            <a:pPr lvl="0"/>
            <a:r>
              <a:rPr lang="pt-BR"/>
              <a:t>Num grupo</a:t>
            </a:r>
          </a:p>
        </p:txBody>
      </p:sp>
      <p:sp>
        <p:nvSpPr>
          <p:cNvPr id="15" name="Espaço Reservado para Texto 14">
            <a:extLst>
              <a:ext uri="{FF2B5EF4-FFF2-40B4-BE49-F238E27FC236}">
                <a16:creationId xmlns:a16="http://schemas.microsoft.com/office/drawing/2014/main" id="{0AD1462A-AF16-4990-9061-1FE1C76C3CFD}"/>
              </a:ext>
            </a:extLst>
          </p:cNvPr>
          <p:cNvSpPr>
            <a:spLocks noGrp="1"/>
          </p:cNvSpPr>
          <p:nvPr>
            <p:ph type="body" sz="quarter" idx="11" hasCustomPrompt="1"/>
          </p:nvPr>
        </p:nvSpPr>
        <p:spPr>
          <a:xfrm>
            <a:off x="201283" y="696584"/>
            <a:ext cx="4866017" cy="9442330"/>
          </a:xfrm>
          <a:prstGeom prst="rect">
            <a:avLst/>
          </a:prstGeom>
        </p:spPr>
        <p:txBody>
          <a:bodyPr/>
          <a:lstStyle>
            <a:lvl1pPr>
              <a:defRPr sz="850"/>
            </a:lvl1pPr>
            <a:lvl2pPr>
              <a:defRPr sz="850"/>
            </a:lvl2pPr>
            <a:lvl3pPr>
              <a:defRPr sz="850"/>
            </a:lvl3pPr>
            <a:lvl4pPr>
              <a:defRPr sz="850"/>
            </a:lvl4pPr>
            <a:lvl5pPr>
              <a:defRPr sz="850"/>
            </a:lvl5pPr>
          </a:lstStyle>
          <a:p>
            <a:pPr lvl="0"/>
            <a:r>
              <a:rPr lang="pt-BR"/>
              <a:t>Corpo do texto (fonte </a:t>
            </a:r>
            <a:r>
              <a:rPr lang="pt-BR" err="1"/>
              <a:t>Calibri</a:t>
            </a:r>
            <a:r>
              <a:rPr lang="pt-BR"/>
              <a:t> 8,5)</a:t>
            </a:r>
          </a:p>
        </p:txBody>
      </p:sp>
      <p:sp>
        <p:nvSpPr>
          <p:cNvPr id="16" name="Espaço Reservado para Texto 14">
            <a:extLst>
              <a:ext uri="{FF2B5EF4-FFF2-40B4-BE49-F238E27FC236}">
                <a16:creationId xmlns:a16="http://schemas.microsoft.com/office/drawing/2014/main" id="{822685E9-8252-4F8F-B9CD-A97E6487DB3A}"/>
              </a:ext>
            </a:extLst>
          </p:cNvPr>
          <p:cNvSpPr>
            <a:spLocks noGrp="1"/>
          </p:cNvSpPr>
          <p:nvPr>
            <p:ph type="body" sz="quarter" idx="12" hasCustomPrompt="1"/>
          </p:nvPr>
        </p:nvSpPr>
        <p:spPr>
          <a:xfrm>
            <a:off x="201282" y="449293"/>
            <a:ext cx="4866017" cy="247290"/>
          </a:xfrm>
          <a:prstGeom prst="rect">
            <a:avLst/>
          </a:prstGeom>
        </p:spPr>
        <p:txBody>
          <a:bodyPr/>
          <a:lstStyle>
            <a:lvl1pPr>
              <a:defRPr sz="1200" b="1">
                <a:solidFill>
                  <a:schemeClr val="accent1"/>
                </a:solidFill>
              </a:defRPr>
            </a:lvl1pPr>
            <a:lvl2pPr>
              <a:defRPr sz="850"/>
            </a:lvl2pPr>
            <a:lvl3pPr>
              <a:defRPr sz="850"/>
            </a:lvl3pPr>
            <a:lvl4pPr>
              <a:defRPr sz="850"/>
            </a:lvl4pPr>
            <a:lvl5pPr>
              <a:defRPr sz="850"/>
            </a:lvl5pPr>
          </a:lstStyle>
          <a:p>
            <a:pPr lvl="0"/>
            <a:r>
              <a:rPr lang="pt-BR"/>
              <a:t>Título (fonte </a:t>
            </a:r>
            <a:r>
              <a:rPr lang="pt-BR" err="1"/>
              <a:t>Calibri</a:t>
            </a:r>
            <a:r>
              <a:rPr lang="pt-BR"/>
              <a:t> 12)</a:t>
            </a:r>
          </a:p>
        </p:txBody>
      </p:sp>
      <p:sp>
        <p:nvSpPr>
          <p:cNvPr id="21" name="Espaço Reservado para Texto 20">
            <a:extLst>
              <a:ext uri="{FF2B5EF4-FFF2-40B4-BE49-F238E27FC236}">
                <a16:creationId xmlns:a16="http://schemas.microsoft.com/office/drawing/2014/main" id="{8B97680E-4406-4FFE-9A78-1C35F418FCAB}"/>
              </a:ext>
            </a:extLst>
          </p:cNvPr>
          <p:cNvSpPr>
            <a:spLocks noGrp="1"/>
          </p:cNvSpPr>
          <p:nvPr>
            <p:ph type="body" sz="quarter" idx="13" hasCustomPrompt="1"/>
          </p:nvPr>
        </p:nvSpPr>
        <p:spPr>
          <a:xfrm>
            <a:off x="5197609" y="453922"/>
            <a:ext cx="1819208" cy="196850"/>
          </a:xfrm>
          <a:prstGeom prst="rect">
            <a:avLst/>
          </a:prstGeom>
        </p:spPr>
        <p:txBody>
          <a:bodyPr/>
          <a:lstStyle>
            <a:lvl1pPr>
              <a:defRPr sz="1000" b="1">
                <a:solidFill>
                  <a:schemeClr val="accent1"/>
                </a:solidFill>
              </a:defRPr>
            </a:lvl1pPr>
            <a:lvl2pPr>
              <a:defRPr sz="1000"/>
            </a:lvl2pPr>
            <a:lvl3pPr>
              <a:defRPr sz="1000"/>
            </a:lvl3pPr>
            <a:lvl4pPr>
              <a:defRPr sz="1000"/>
            </a:lvl4pPr>
            <a:lvl5pPr>
              <a:defRPr sz="1000"/>
            </a:lvl5pPr>
          </a:lstStyle>
          <a:p>
            <a:pPr lvl="0"/>
            <a:r>
              <a:rPr lang="pt-BR"/>
              <a:t>Figura 1: Gráfico Exemplo</a:t>
            </a:r>
          </a:p>
        </p:txBody>
      </p:sp>
      <p:sp>
        <p:nvSpPr>
          <p:cNvPr id="22" name="Espaço Reservado para Texto 20">
            <a:extLst>
              <a:ext uri="{FF2B5EF4-FFF2-40B4-BE49-F238E27FC236}">
                <a16:creationId xmlns:a16="http://schemas.microsoft.com/office/drawing/2014/main" id="{DF940817-6A45-4C87-A4D7-D95F0F10BB25}"/>
              </a:ext>
            </a:extLst>
          </p:cNvPr>
          <p:cNvSpPr>
            <a:spLocks noGrp="1"/>
          </p:cNvSpPr>
          <p:nvPr>
            <p:ph type="body" sz="quarter" idx="14" hasCustomPrompt="1"/>
          </p:nvPr>
        </p:nvSpPr>
        <p:spPr>
          <a:xfrm>
            <a:off x="5260173" y="2488450"/>
            <a:ext cx="938213" cy="196850"/>
          </a:xfrm>
          <a:prstGeom prst="rect">
            <a:avLst/>
          </a:prstGeom>
        </p:spPr>
        <p:txBody>
          <a:bodyPr/>
          <a:lstStyle>
            <a:lvl1pPr>
              <a:defRPr sz="600" i="1">
                <a:solidFill>
                  <a:schemeClr val="bg1">
                    <a:lumMod val="65000"/>
                  </a:schemeClr>
                </a:solidFill>
              </a:defRPr>
            </a:lvl1pPr>
            <a:lvl2pPr>
              <a:defRPr sz="1000"/>
            </a:lvl2pPr>
            <a:lvl3pPr>
              <a:defRPr sz="1000"/>
            </a:lvl3pPr>
            <a:lvl4pPr>
              <a:defRPr sz="1000"/>
            </a:lvl4pPr>
            <a:lvl5pPr>
              <a:defRPr sz="1000"/>
            </a:lvl5pPr>
          </a:lstStyle>
          <a:p>
            <a:pPr lvl="0"/>
            <a:r>
              <a:rPr lang="pt-BR"/>
              <a:t>Fonte:</a:t>
            </a:r>
          </a:p>
        </p:txBody>
      </p:sp>
      <p:sp>
        <p:nvSpPr>
          <p:cNvPr id="24" name="Espaço Reservado para Gráfico 23">
            <a:extLst>
              <a:ext uri="{FF2B5EF4-FFF2-40B4-BE49-F238E27FC236}">
                <a16:creationId xmlns:a16="http://schemas.microsoft.com/office/drawing/2014/main" id="{DC30B1C5-4166-4727-8E0C-3676465DA06B}"/>
              </a:ext>
            </a:extLst>
          </p:cNvPr>
          <p:cNvSpPr>
            <a:spLocks noGrp="1"/>
          </p:cNvSpPr>
          <p:nvPr>
            <p:ph type="chart" sz="quarter" idx="15" hasCustomPrompt="1"/>
          </p:nvPr>
        </p:nvSpPr>
        <p:spPr>
          <a:xfrm>
            <a:off x="5260173" y="784573"/>
            <a:ext cx="2411162" cy="1651891"/>
          </a:xfrm>
          <a:prstGeom prst="rect">
            <a:avLst/>
          </a:prstGeom>
        </p:spPr>
        <p:txBody>
          <a:bodyPr/>
          <a:lstStyle>
            <a:lvl1pPr>
              <a:defRPr sz="600"/>
            </a:lvl1pPr>
          </a:lstStyle>
          <a:p>
            <a:pPr marL="0" marR="0" lvl="0" indent="0" defTabSz="914400" eaLnBrk="1" fontAlgn="auto" latinLnBrk="0" hangingPunct="1">
              <a:lnSpc>
                <a:spcPct val="100000"/>
              </a:lnSpc>
              <a:spcBef>
                <a:spcPts val="0"/>
              </a:spcBef>
              <a:spcAft>
                <a:spcPts val="0"/>
              </a:spcAft>
              <a:buClrTx/>
              <a:buSzTx/>
              <a:buFontTx/>
              <a:buNone/>
              <a:tabLst/>
              <a:defRPr/>
            </a:pPr>
            <a:r>
              <a:rPr lang="pt-BR"/>
              <a:t>Gráfico (</a:t>
            </a:r>
            <a:r>
              <a:rPr lang="pt-BR" err="1"/>
              <a:t>Calibri</a:t>
            </a:r>
            <a:r>
              <a:rPr lang="pt-BR"/>
              <a:t> 6)</a:t>
            </a:r>
          </a:p>
          <a:p>
            <a:endParaRPr lang="pt-BR"/>
          </a:p>
        </p:txBody>
      </p:sp>
      <p:sp>
        <p:nvSpPr>
          <p:cNvPr id="38" name="Espaço Reservado para Texto 20">
            <a:extLst>
              <a:ext uri="{FF2B5EF4-FFF2-40B4-BE49-F238E27FC236}">
                <a16:creationId xmlns:a16="http://schemas.microsoft.com/office/drawing/2014/main" id="{35F61155-AA8D-42F6-8BC5-F09C81B1BC55}"/>
              </a:ext>
            </a:extLst>
          </p:cNvPr>
          <p:cNvSpPr>
            <a:spLocks noGrp="1"/>
          </p:cNvSpPr>
          <p:nvPr>
            <p:ph type="body" sz="quarter" idx="16" hasCustomPrompt="1"/>
          </p:nvPr>
        </p:nvSpPr>
        <p:spPr>
          <a:xfrm>
            <a:off x="5197609" y="2900916"/>
            <a:ext cx="1819208" cy="196850"/>
          </a:xfrm>
          <a:prstGeom prst="rect">
            <a:avLst/>
          </a:prstGeom>
        </p:spPr>
        <p:txBody>
          <a:bodyPr/>
          <a:lstStyle>
            <a:lvl1pPr>
              <a:defRPr sz="1000" b="1">
                <a:solidFill>
                  <a:schemeClr val="accent1"/>
                </a:solidFill>
              </a:defRPr>
            </a:lvl1pPr>
            <a:lvl2pPr>
              <a:defRPr sz="1000"/>
            </a:lvl2pPr>
            <a:lvl3pPr>
              <a:defRPr sz="1000"/>
            </a:lvl3pPr>
            <a:lvl4pPr>
              <a:defRPr sz="1000"/>
            </a:lvl4pPr>
            <a:lvl5pPr>
              <a:defRPr sz="1000"/>
            </a:lvl5pPr>
          </a:lstStyle>
          <a:p>
            <a:pPr lvl="0"/>
            <a:r>
              <a:rPr lang="pt-BR"/>
              <a:t>Figura 2: Gráfico Exemplo</a:t>
            </a:r>
          </a:p>
        </p:txBody>
      </p:sp>
      <p:sp>
        <p:nvSpPr>
          <p:cNvPr id="39" name="Espaço Reservado para Texto 20">
            <a:extLst>
              <a:ext uri="{FF2B5EF4-FFF2-40B4-BE49-F238E27FC236}">
                <a16:creationId xmlns:a16="http://schemas.microsoft.com/office/drawing/2014/main" id="{C094FC4D-AECA-4CFE-B925-37721146CD9E}"/>
              </a:ext>
            </a:extLst>
          </p:cNvPr>
          <p:cNvSpPr>
            <a:spLocks noGrp="1"/>
          </p:cNvSpPr>
          <p:nvPr>
            <p:ph type="body" sz="quarter" idx="17" hasCustomPrompt="1"/>
          </p:nvPr>
        </p:nvSpPr>
        <p:spPr>
          <a:xfrm>
            <a:off x="5260173" y="4940254"/>
            <a:ext cx="938213" cy="196850"/>
          </a:xfrm>
          <a:prstGeom prst="rect">
            <a:avLst/>
          </a:prstGeom>
        </p:spPr>
        <p:txBody>
          <a:bodyPr/>
          <a:lstStyle>
            <a:lvl1pPr>
              <a:defRPr sz="600" i="1">
                <a:solidFill>
                  <a:schemeClr val="bg1">
                    <a:lumMod val="65000"/>
                  </a:schemeClr>
                </a:solidFill>
              </a:defRPr>
            </a:lvl1pPr>
            <a:lvl2pPr>
              <a:defRPr sz="1000"/>
            </a:lvl2pPr>
            <a:lvl3pPr>
              <a:defRPr sz="1000"/>
            </a:lvl3pPr>
            <a:lvl4pPr>
              <a:defRPr sz="1000"/>
            </a:lvl4pPr>
            <a:lvl5pPr>
              <a:defRPr sz="1000"/>
            </a:lvl5pPr>
          </a:lstStyle>
          <a:p>
            <a:pPr lvl="0"/>
            <a:r>
              <a:rPr lang="pt-BR"/>
              <a:t>Fonte:</a:t>
            </a:r>
          </a:p>
        </p:txBody>
      </p:sp>
      <p:sp>
        <p:nvSpPr>
          <p:cNvPr id="40" name="Espaço Reservado para Gráfico 23">
            <a:extLst>
              <a:ext uri="{FF2B5EF4-FFF2-40B4-BE49-F238E27FC236}">
                <a16:creationId xmlns:a16="http://schemas.microsoft.com/office/drawing/2014/main" id="{3AEBBFD2-6749-417D-A6C1-383CD78E0D7F}"/>
              </a:ext>
            </a:extLst>
          </p:cNvPr>
          <p:cNvSpPr>
            <a:spLocks noGrp="1"/>
          </p:cNvSpPr>
          <p:nvPr>
            <p:ph type="chart" sz="quarter" idx="18" hasCustomPrompt="1"/>
          </p:nvPr>
        </p:nvSpPr>
        <p:spPr>
          <a:xfrm>
            <a:off x="5260173" y="3231567"/>
            <a:ext cx="2411162" cy="1651891"/>
          </a:xfrm>
          <a:prstGeom prst="rect">
            <a:avLst/>
          </a:prstGeom>
        </p:spPr>
        <p:txBody>
          <a:bodyPr/>
          <a:lstStyle>
            <a:lvl1pPr>
              <a:defRPr sz="600"/>
            </a:lvl1pPr>
          </a:lstStyle>
          <a:p>
            <a:r>
              <a:rPr lang="pt-BR"/>
              <a:t>Gráfico (</a:t>
            </a:r>
            <a:r>
              <a:rPr lang="pt-BR" err="1"/>
              <a:t>Calibri</a:t>
            </a:r>
            <a:r>
              <a:rPr lang="pt-BR"/>
              <a:t> 6)</a:t>
            </a:r>
          </a:p>
        </p:txBody>
      </p:sp>
      <p:sp>
        <p:nvSpPr>
          <p:cNvPr id="41" name="Espaço Reservado para Texto 20">
            <a:extLst>
              <a:ext uri="{FF2B5EF4-FFF2-40B4-BE49-F238E27FC236}">
                <a16:creationId xmlns:a16="http://schemas.microsoft.com/office/drawing/2014/main" id="{1A0F7846-ED50-440C-B7CD-B254DE725497}"/>
              </a:ext>
            </a:extLst>
          </p:cNvPr>
          <p:cNvSpPr>
            <a:spLocks noGrp="1"/>
          </p:cNvSpPr>
          <p:nvPr>
            <p:ph type="body" sz="quarter" idx="19" hasCustomPrompt="1"/>
          </p:nvPr>
        </p:nvSpPr>
        <p:spPr>
          <a:xfrm>
            <a:off x="5197609" y="5347910"/>
            <a:ext cx="1819208" cy="196850"/>
          </a:xfrm>
          <a:prstGeom prst="rect">
            <a:avLst/>
          </a:prstGeom>
        </p:spPr>
        <p:txBody>
          <a:bodyPr/>
          <a:lstStyle>
            <a:lvl1pPr>
              <a:defRPr sz="1000" b="1">
                <a:solidFill>
                  <a:schemeClr val="accent1"/>
                </a:solidFill>
              </a:defRPr>
            </a:lvl1pPr>
            <a:lvl2pPr>
              <a:defRPr sz="1000"/>
            </a:lvl2pPr>
            <a:lvl3pPr>
              <a:defRPr sz="1000"/>
            </a:lvl3pPr>
            <a:lvl4pPr>
              <a:defRPr sz="1000"/>
            </a:lvl4pPr>
            <a:lvl5pPr>
              <a:defRPr sz="1000"/>
            </a:lvl5pPr>
          </a:lstStyle>
          <a:p>
            <a:pPr lvl="0"/>
            <a:r>
              <a:rPr lang="pt-BR"/>
              <a:t>Figura 3: Gráfico Exemplo</a:t>
            </a:r>
          </a:p>
        </p:txBody>
      </p:sp>
      <p:sp>
        <p:nvSpPr>
          <p:cNvPr id="42" name="Espaço Reservado para Texto 20">
            <a:extLst>
              <a:ext uri="{FF2B5EF4-FFF2-40B4-BE49-F238E27FC236}">
                <a16:creationId xmlns:a16="http://schemas.microsoft.com/office/drawing/2014/main" id="{AF6524DA-D2FF-44B1-865F-590088C8037B}"/>
              </a:ext>
            </a:extLst>
          </p:cNvPr>
          <p:cNvSpPr>
            <a:spLocks noGrp="1"/>
          </p:cNvSpPr>
          <p:nvPr>
            <p:ph type="body" sz="quarter" idx="20" hasCustomPrompt="1"/>
          </p:nvPr>
        </p:nvSpPr>
        <p:spPr>
          <a:xfrm>
            <a:off x="5260173" y="7406497"/>
            <a:ext cx="938213" cy="196850"/>
          </a:xfrm>
          <a:prstGeom prst="rect">
            <a:avLst/>
          </a:prstGeom>
        </p:spPr>
        <p:txBody>
          <a:bodyPr/>
          <a:lstStyle>
            <a:lvl1pPr>
              <a:defRPr sz="600" i="1">
                <a:solidFill>
                  <a:schemeClr val="bg1">
                    <a:lumMod val="65000"/>
                  </a:schemeClr>
                </a:solidFill>
              </a:defRPr>
            </a:lvl1pPr>
            <a:lvl2pPr>
              <a:defRPr sz="1000"/>
            </a:lvl2pPr>
            <a:lvl3pPr>
              <a:defRPr sz="1000"/>
            </a:lvl3pPr>
            <a:lvl4pPr>
              <a:defRPr sz="1000"/>
            </a:lvl4pPr>
            <a:lvl5pPr>
              <a:defRPr sz="1000"/>
            </a:lvl5pPr>
          </a:lstStyle>
          <a:p>
            <a:pPr lvl="0"/>
            <a:r>
              <a:rPr lang="pt-BR"/>
              <a:t>Fonte:</a:t>
            </a:r>
          </a:p>
        </p:txBody>
      </p:sp>
      <p:sp>
        <p:nvSpPr>
          <p:cNvPr id="43" name="Espaço Reservado para Gráfico 23">
            <a:extLst>
              <a:ext uri="{FF2B5EF4-FFF2-40B4-BE49-F238E27FC236}">
                <a16:creationId xmlns:a16="http://schemas.microsoft.com/office/drawing/2014/main" id="{86B3D293-3414-4937-B8C7-9F38B9A61824}"/>
              </a:ext>
            </a:extLst>
          </p:cNvPr>
          <p:cNvSpPr>
            <a:spLocks noGrp="1"/>
          </p:cNvSpPr>
          <p:nvPr>
            <p:ph type="chart" sz="quarter" idx="21" hasCustomPrompt="1"/>
          </p:nvPr>
        </p:nvSpPr>
        <p:spPr>
          <a:xfrm>
            <a:off x="5260173" y="5678561"/>
            <a:ext cx="2411162" cy="1651891"/>
          </a:xfrm>
          <a:prstGeom prst="rect">
            <a:avLst/>
          </a:prstGeom>
        </p:spPr>
        <p:txBody>
          <a:bodyPr/>
          <a:lstStyle>
            <a:lvl1pPr>
              <a:defRPr sz="600"/>
            </a:lvl1pPr>
          </a:lstStyle>
          <a:p>
            <a:pPr marL="0" marR="0" lvl="0" indent="0" defTabSz="914400" eaLnBrk="1" fontAlgn="auto" latinLnBrk="0" hangingPunct="1">
              <a:lnSpc>
                <a:spcPct val="100000"/>
              </a:lnSpc>
              <a:spcBef>
                <a:spcPts val="0"/>
              </a:spcBef>
              <a:spcAft>
                <a:spcPts val="0"/>
              </a:spcAft>
              <a:buClrTx/>
              <a:buSzTx/>
              <a:buFontTx/>
              <a:buNone/>
              <a:tabLst/>
              <a:defRPr/>
            </a:pPr>
            <a:r>
              <a:rPr lang="pt-BR"/>
              <a:t>Gráfico (</a:t>
            </a:r>
            <a:r>
              <a:rPr lang="pt-BR" err="1"/>
              <a:t>Calibri</a:t>
            </a:r>
            <a:r>
              <a:rPr lang="pt-BR"/>
              <a:t> 6)</a:t>
            </a:r>
          </a:p>
          <a:p>
            <a:endParaRPr lang="pt-BR"/>
          </a:p>
        </p:txBody>
      </p:sp>
      <p:sp>
        <p:nvSpPr>
          <p:cNvPr id="44" name="Espaço Reservado para Texto 20">
            <a:extLst>
              <a:ext uri="{FF2B5EF4-FFF2-40B4-BE49-F238E27FC236}">
                <a16:creationId xmlns:a16="http://schemas.microsoft.com/office/drawing/2014/main" id="{9D0C14BD-A764-4864-ABDB-4E7B3192AAFE}"/>
              </a:ext>
            </a:extLst>
          </p:cNvPr>
          <p:cNvSpPr>
            <a:spLocks noGrp="1"/>
          </p:cNvSpPr>
          <p:nvPr>
            <p:ph type="body" sz="quarter" idx="22" hasCustomPrompt="1"/>
          </p:nvPr>
        </p:nvSpPr>
        <p:spPr>
          <a:xfrm>
            <a:off x="5197609" y="7794904"/>
            <a:ext cx="1819208" cy="196850"/>
          </a:xfrm>
          <a:prstGeom prst="rect">
            <a:avLst/>
          </a:prstGeom>
        </p:spPr>
        <p:txBody>
          <a:bodyPr/>
          <a:lstStyle>
            <a:lvl1pPr>
              <a:defRPr sz="1000" b="1">
                <a:solidFill>
                  <a:schemeClr val="accent1"/>
                </a:solidFill>
              </a:defRPr>
            </a:lvl1pPr>
            <a:lvl2pPr>
              <a:defRPr sz="1000"/>
            </a:lvl2pPr>
            <a:lvl3pPr>
              <a:defRPr sz="1000"/>
            </a:lvl3pPr>
            <a:lvl4pPr>
              <a:defRPr sz="1000"/>
            </a:lvl4pPr>
            <a:lvl5pPr>
              <a:defRPr sz="1000"/>
            </a:lvl5pPr>
          </a:lstStyle>
          <a:p>
            <a:pPr lvl="0"/>
            <a:r>
              <a:rPr lang="pt-BR"/>
              <a:t>Figura 4: Gráfico Exemplo</a:t>
            </a:r>
          </a:p>
        </p:txBody>
      </p:sp>
      <p:sp>
        <p:nvSpPr>
          <p:cNvPr id="45" name="Espaço Reservado para Texto 20">
            <a:extLst>
              <a:ext uri="{FF2B5EF4-FFF2-40B4-BE49-F238E27FC236}">
                <a16:creationId xmlns:a16="http://schemas.microsoft.com/office/drawing/2014/main" id="{5B5E5A42-B0A2-4B66-9274-9EE221CC491A}"/>
              </a:ext>
            </a:extLst>
          </p:cNvPr>
          <p:cNvSpPr>
            <a:spLocks noGrp="1"/>
          </p:cNvSpPr>
          <p:nvPr>
            <p:ph type="body" sz="quarter" idx="23" hasCustomPrompt="1"/>
          </p:nvPr>
        </p:nvSpPr>
        <p:spPr>
          <a:xfrm>
            <a:off x="5260173" y="9839053"/>
            <a:ext cx="938213" cy="196850"/>
          </a:xfrm>
          <a:prstGeom prst="rect">
            <a:avLst/>
          </a:prstGeom>
        </p:spPr>
        <p:txBody>
          <a:bodyPr/>
          <a:lstStyle>
            <a:lvl1pPr>
              <a:defRPr sz="600" i="1">
                <a:solidFill>
                  <a:schemeClr val="bg1">
                    <a:lumMod val="65000"/>
                  </a:schemeClr>
                </a:solidFill>
              </a:defRPr>
            </a:lvl1pPr>
            <a:lvl2pPr>
              <a:defRPr sz="1000"/>
            </a:lvl2pPr>
            <a:lvl3pPr>
              <a:defRPr sz="1000"/>
            </a:lvl3pPr>
            <a:lvl4pPr>
              <a:defRPr sz="1000"/>
            </a:lvl4pPr>
            <a:lvl5pPr>
              <a:defRPr sz="1000"/>
            </a:lvl5pPr>
          </a:lstStyle>
          <a:p>
            <a:pPr lvl="0"/>
            <a:r>
              <a:rPr lang="pt-BR"/>
              <a:t>Fonte:</a:t>
            </a:r>
          </a:p>
        </p:txBody>
      </p:sp>
      <p:sp>
        <p:nvSpPr>
          <p:cNvPr id="46" name="Espaço Reservado para Gráfico 23">
            <a:extLst>
              <a:ext uri="{FF2B5EF4-FFF2-40B4-BE49-F238E27FC236}">
                <a16:creationId xmlns:a16="http://schemas.microsoft.com/office/drawing/2014/main" id="{68976EEE-43C8-458B-8617-239C2249E635}"/>
              </a:ext>
            </a:extLst>
          </p:cNvPr>
          <p:cNvSpPr>
            <a:spLocks noGrp="1"/>
          </p:cNvSpPr>
          <p:nvPr>
            <p:ph type="chart" sz="quarter" idx="24" hasCustomPrompt="1"/>
          </p:nvPr>
        </p:nvSpPr>
        <p:spPr>
          <a:xfrm>
            <a:off x="5260173" y="8125555"/>
            <a:ext cx="2411162" cy="1651891"/>
          </a:xfrm>
          <a:prstGeom prst="rect">
            <a:avLst/>
          </a:prstGeom>
        </p:spPr>
        <p:txBody>
          <a:bodyPr/>
          <a:lstStyle>
            <a:lvl1pPr>
              <a:defRPr sz="600"/>
            </a:lvl1pPr>
          </a:lstStyle>
          <a:p>
            <a:pPr marL="0" marR="0" lvl="0" indent="0" defTabSz="914400" eaLnBrk="1" fontAlgn="auto" latinLnBrk="0" hangingPunct="1">
              <a:lnSpc>
                <a:spcPct val="100000"/>
              </a:lnSpc>
              <a:spcBef>
                <a:spcPts val="0"/>
              </a:spcBef>
              <a:spcAft>
                <a:spcPts val="0"/>
              </a:spcAft>
              <a:buClrTx/>
              <a:buSzTx/>
              <a:buFontTx/>
              <a:buNone/>
              <a:tabLst/>
              <a:defRPr/>
            </a:pPr>
            <a:r>
              <a:rPr lang="pt-BR"/>
              <a:t>Gráfico (</a:t>
            </a:r>
            <a:r>
              <a:rPr lang="pt-BR" err="1"/>
              <a:t>Calibri</a:t>
            </a:r>
            <a:r>
              <a:rPr lang="pt-BR"/>
              <a:t> 6)</a:t>
            </a:r>
          </a:p>
          <a:p>
            <a:endParaRPr lang="pt-BR"/>
          </a:p>
        </p:txBody>
      </p:sp>
      <p:sp>
        <p:nvSpPr>
          <p:cNvPr id="48" name="object 340">
            <a:extLst>
              <a:ext uri="{FF2B5EF4-FFF2-40B4-BE49-F238E27FC236}">
                <a16:creationId xmlns:a16="http://schemas.microsoft.com/office/drawing/2014/main" id="{BA1B157D-6481-4DD6-8CB6-4A5690DE3B89}"/>
              </a:ext>
            </a:extLst>
          </p:cNvPr>
          <p:cNvSpPr/>
          <p:nvPr userDrawn="1"/>
        </p:nvSpPr>
        <p:spPr>
          <a:xfrm>
            <a:off x="5197609" y="2805080"/>
            <a:ext cx="2585720"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
        <p:nvSpPr>
          <p:cNvPr id="50" name="object 340">
            <a:extLst>
              <a:ext uri="{FF2B5EF4-FFF2-40B4-BE49-F238E27FC236}">
                <a16:creationId xmlns:a16="http://schemas.microsoft.com/office/drawing/2014/main" id="{B763102C-E988-4B2C-B821-AA2F63FD46E0}"/>
              </a:ext>
            </a:extLst>
          </p:cNvPr>
          <p:cNvSpPr/>
          <p:nvPr userDrawn="1"/>
        </p:nvSpPr>
        <p:spPr>
          <a:xfrm>
            <a:off x="5186680" y="5253211"/>
            <a:ext cx="2585720"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
        <p:nvSpPr>
          <p:cNvPr id="51" name="object 340">
            <a:extLst>
              <a:ext uri="{FF2B5EF4-FFF2-40B4-BE49-F238E27FC236}">
                <a16:creationId xmlns:a16="http://schemas.microsoft.com/office/drawing/2014/main" id="{6426E48F-3239-403A-AAF6-2C57B907CE8C}"/>
              </a:ext>
            </a:extLst>
          </p:cNvPr>
          <p:cNvSpPr/>
          <p:nvPr userDrawn="1"/>
        </p:nvSpPr>
        <p:spPr>
          <a:xfrm>
            <a:off x="5189287" y="7700205"/>
            <a:ext cx="2585720"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2" name="Do not remove" hidden="1">
            <a:extLst>
              <a:ext uri="{FF2B5EF4-FFF2-40B4-BE49-F238E27FC236}">
                <a16:creationId xmlns:a16="http://schemas.microsoft.com/office/drawing/2014/main" id="{6525389C-46CD-40C0-BEF2-3C21B6B72DB6}"/>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5/21/2025</a:t>
            </a:fld>
            <a:endParaRPr lang="en-US"/>
          </a:p>
        </p:txBody>
      </p:sp>
      <p:sp>
        <p:nvSpPr>
          <p:cNvPr id="6" name="Holder 6"/>
          <p:cNvSpPr>
            <a:spLocks noGrp="1"/>
          </p:cNvSpPr>
          <p:nvPr>
            <p:ph type="sldNum" sz="quarter" idx="7"/>
          </p:nvPr>
        </p:nvSpPr>
        <p:spPr>
          <a:xfrm>
            <a:off x="7178515" y="10312736"/>
            <a:ext cx="515895" cy="230114"/>
          </a:xfrm>
          <a:prstGeom prst="rect">
            <a:avLst/>
          </a:prstGeom>
          <a:solidFill>
            <a:schemeClr val="accent1"/>
          </a:solidFill>
          <a:ln>
            <a:noFill/>
          </a:ln>
        </p:spPr>
        <p:txBody>
          <a:bodyPr lIns="0" tIns="0" rIns="0" bIns="0" anchor="ctr"/>
          <a:lstStyle>
            <a:lvl1pPr>
              <a:defRPr sz="850" b="0" i="0">
                <a:solidFill>
                  <a:schemeClr val="bg1"/>
                </a:solidFill>
                <a:latin typeface="Calibri"/>
                <a:cs typeface="Calibri"/>
              </a:defRPr>
            </a:lvl1pPr>
          </a:lstStyle>
          <a:p>
            <a:pPr marR="1270" algn="ctr">
              <a:spcBef>
                <a:spcPts val="215"/>
              </a:spcBef>
            </a:pPr>
            <a:fld id="{81D60167-4931-47E6-BA6A-407CBD079E47}" type="slidenum">
              <a:rPr lang="en-US" smtClean="0"/>
              <a:pPr marR="1270" algn="ctr">
                <a:spcBef>
                  <a:spcPts val="215"/>
                </a:spcBef>
              </a:pPr>
              <a:t>‹nº›</a:t>
            </a:fld>
            <a:endParaRPr lang="en-US"/>
          </a:p>
        </p:txBody>
      </p:sp>
      <p:sp>
        <p:nvSpPr>
          <p:cNvPr id="11" name="Espaço Reservado para Texto 10">
            <a:extLst>
              <a:ext uri="{FF2B5EF4-FFF2-40B4-BE49-F238E27FC236}">
                <a16:creationId xmlns:a16="http://schemas.microsoft.com/office/drawing/2014/main" id="{4E369708-D77B-4F5F-942C-597221682C46}"/>
              </a:ext>
            </a:extLst>
          </p:cNvPr>
          <p:cNvSpPr>
            <a:spLocks noGrp="1"/>
          </p:cNvSpPr>
          <p:nvPr>
            <p:ph type="body" sz="quarter" idx="10" hasCustomPrompt="1"/>
          </p:nvPr>
        </p:nvSpPr>
        <p:spPr>
          <a:xfrm>
            <a:off x="6764177" y="45208"/>
            <a:ext cx="828675" cy="223837"/>
          </a:xfrm>
          <a:prstGeom prst="rect">
            <a:avLst/>
          </a:prstGeom>
        </p:spPr>
        <p:txBody>
          <a:bodyPr/>
          <a:lstStyle>
            <a:lvl1pPr>
              <a:defRPr sz="700">
                <a:solidFill>
                  <a:schemeClr val="bg1"/>
                </a:solidFill>
              </a:defRPr>
            </a:lvl1pPr>
          </a:lstStyle>
          <a:p>
            <a:pPr lvl="0"/>
            <a:r>
              <a:rPr lang="pt-BR"/>
              <a:t>Num grupo</a:t>
            </a:r>
          </a:p>
        </p:txBody>
      </p:sp>
      <p:sp>
        <p:nvSpPr>
          <p:cNvPr id="15" name="Espaço Reservado para Texto 14">
            <a:extLst>
              <a:ext uri="{FF2B5EF4-FFF2-40B4-BE49-F238E27FC236}">
                <a16:creationId xmlns:a16="http://schemas.microsoft.com/office/drawing/2014/main" id="{0AD1462A-AF16-4990-9061-1FE1C76C3CFD}"/>
              </a:ext>
            </a:extLst>
          </p:cNvPr>
          <p:cNvSpPr>
            <a:spLocks noGrp="1"/>
          </p:cNvSpPr>
          <p:nvPr>
            <p:ph type="body" sz="quarter" idx="11" hasCustomPrompt="1"/>
          </p:nvPr>
        </p:nvSpPr>
        <p:spPr>
          <a:xfrm>
            <a:off x="201283" y="696584"/>
            <a:ext cx="4866017" cy="9442330"/>
          </a:xfrm>
          <a:prstGeom prst="rect">
            <a:avLst/>
          </a:prstGeom>
        </p:spPr>
        <p:txBody>
          <a:bodyPr/>
          <a:lstStyle>
            <a:lvl1pPr>
              <a:defRPr sz="850"/>
            </a:lvl1pPr>
            <a:lvl2pPr>
              <a:defRPr sz="850"/>
            </a:lvl2pPr>
            <a:lvl3pPr>
              <a:defRPr sz="850"/>
            </a:lvl3pPr>
            <a:lvl4pPr>
              <a:defRPr sz="850"/>
            </a:lvl4pPr>
            <a:lvl5pPr>
              <a:defRPr sz="850"/>
            </a:lvl5pPr>
          </a:lstStyle>
          <a:p>
            <a:pPr lvl="0"/>
            <a:r>
              <a:rPr lang="pt-BR"/>
              <a:t>Corpo do texto (fonte </a:t>
            </a:r>
            <a:r>
              <a:rPr lang="pt-BR" err="1"/>
              <a:t>Calibri</a:t>
            </a:r>
            <a:r>
              <a:rPr lang="pt-BR"/>
              <a:t> 8,5)</a:t>
            </a:r>
          </a:p>
        </p:txBody>
      </p:sp>
      <p:sp>
        <p:nvSpPr>
          <p:cNvPr id="16" name="Espaço Reservado para Texto 14">
            <a:extLst>
              <a:ext uri="{FF2B5EF4-FFF2-40B4-BE49-F238E27FC236}">
                <a16:creationId xmlns:a16="http://schemas.microsoft.com/office/drawing/2014/main" id="{822685E9-8252-4F8F-B9CD-A97E6487DB3A}"/>
              </a:ext>
            </a:extLst>
          </p:cNvPr>
          <p:cNvSpPr>
            <a:spLocks noGrp="1"/>
          </p:cNvSpPr>
          <p:nvPr>
            <p:ph type="body" sz="quarter" idx="12" hasCustomPrompt="1"/>
          </p:nvPr>
        </p:nvSpPr>
        <p:spPr>
          <a:xfrm>
            <a:off x="201282" y="449293"/>
            <a:ext cx="4866017" cy="247290"/>
          </a:xfrm>
          <a:prstGeom prst="rect">
            <a:avLst/>
          </a:prstGeom>
        </p:spPr>
        <p:txBody>
          <a:bodyPr/>
          <a:lstStyle>
            <a:lvl1pPr>
              <a:defRPr sz="1200" b="1">
                <a:solidFill>
                  <a:schemeClr val="accent1"/>
                </a:solidFill>
              </a:defRPr>
            </a:lvl1pPr>
            <a:lvl2pPr>
              <a:defRPr sz="850"/>
            </a:lvl2pPr>
            <a:lvl3pPr>
              <a:defRPr sz="850"/>
            </a:lvl3pPr>
            <a:lvl4pPr>
              <a:defRPr sz="850"/>
            </a:lvl4pPr>
            <a:lvl5pPr>
              <a:defRPr sz="850"/>
            </a:lvl5pPr>
          </a:lstStyle>
          <a:p>
            <a:pPr lvl="0"/>
            <a:r>
              <a:rPr lang="pt-BR"/>
              <a:t>Título (fonte </a:t>
            </a:r>
            <a:r>
              <a:rPr lang="pt-BR" err="1"/>
              <a:t>Calibri</a:t>
            </a:r>
            <a:r>
              <a:rPr lang="pt-BR"/>
              <a:t> 12)</a:t>
            </a:r>
          </a:p>
        </p:txBody>
      </p:sp>
      <p:sp>
        <p:nvSpPr>
          <p:cNvPr id="21" name="Espaço Reservado para Texto 20">
            <a:extLst>
              <a:ext uri="{FF2B5EF4-FFF2-40B4-BE49-F238E27FC236}">
                <a16:creationId xmlns:a16="http://schemas.microsoft.com/office/drawing/2014/main" id="{8B97680E-4406-4FFE-9A78-1C35F418FCAB}"/>
              </a:ext>
            </a:extLst>
          </p:cNvPr>
          <p:cNvSpPr>
            <a:spLocks noGrp="1"/>
          </p:cNvSpPr>
          <p:nvPr>
            <p:ph type="body" sz="quarter" idx="13" hasCustomPrompt="1"/>
          </p:nvPr>
        </p:nvSpPr>
        <p:spPr>
          <a:xfrm>
            <a:off x="5197609" y="453922"/>
            <a:ext cx="1819208" cy="196850"/>
          </a:xfrm>
          <a:prstGeom prst="rect">
            <a:avLst/>
          </a:prstGeom>
        </p:spPr>
        <p:txBody>
          <a:bodyPr/>
          <a:lstStyle>
            <a:lvl1pPr>
              <a:defRPr sz="1000" b="1">
                <a:solidFill>
                  <a:schemeClr val="accent1"/>
                </a:solidFill>
              </a:defRPr>
            </a:lvl1pPr>
            <a:lvl2pPr>
              <a:defRPr sz="1000"/>
            </a:lvl2pPr>
            <a:lvl3pPr>
              <a:defRPr sz="1000"/>
            </a:lvl3pPr>
            <a:lvl4pPr>
              <a:defRPr sz="1000"/>
            </a:lvl4pPr>
            <a:lvl5pPr>
              <a:defRPr sz="1000"/>
            </a:lvl5pPr>
          </a:lstStyle>
          <a:p>
            <a:pPr lvl="0"/>
            <a:r>
              <a:rPr lang="pt-BR"/>
              <a:t>Figura 1: Gráfico Exemplo</a:t>
            </a:r>
          </a:p>
        </p:txBody>
      </p:sp>
      <p:sp>
        <p:nvSpPr>
          <p:cNvPr id="22" name="Espaço Reservado para Texto 20">
            <a:extLst>
              <a:ext uri="{FF2B5EF4-FFF2-40B4-BE49-F238E27FC236}">
                <a16:creationId xmlns:a16="http://schemas.microsoft.com/office/drawing/2014/main" id="{DF940817-6A45-4C87-A4D7-D95F0F10BB25}"/>
              </a:ext>
            </a:extLst>
          </p:cNvPr>
          <p:cNvSpPr>
            <a:spLocks noGrp="1"/>
          </p:cNvSpPr>
          <p:nvPr>
            <p:ph type="body" sz="quarter" idx="14" hasCustomPrompt="1"/>
          </p:nvPr>
        </p:nvSpPr>
        <p:spPr>
          <a:xfrm>
            <a:off x="5260173" y="2488450"/>
            <a:ext cx="938213" cy="196850"/>
          </a:xfrm>
          <a:prstGeom prst="rect">
            <a:avLst/>
          </a:prstGeom>
        </p:spPr>
        <p:txBody>
          <a:bodyPr/>
          <a:lstStyle>
            <a:lvl1pPr>
              <a:defRPr sz="600" i="1">
                <a:solidFill>
                  <a:schemeClr val="bg1">
                    <a:lumMod val="65000"/>
                  </a:schemeClr>
                </a:solidFill>
              </a:defRPr>
            </a:lvl1pPr>
            <a:lvl2pPr>
              <a:defRPr sz="1000"/>
            </a:lvl2pPr>
            <a:lvl3pPr>
              <a:defRPr sz="1000"/>
            </a:lvl3pPr>
            <a:lvl4pPr>
              <a:defRPr sz="1000"/>
            </a:lvl4pPr>
            <a:lvl5pPr>
              <a:defRPr sz="1000"/>
            </a:lvl5pPr>
          </a:lstStyle>
          <a:p>
            <a:pPr lvl="0"/>
            <a:r>
              <a:rPr lang="pt-BR"/>
              <a:t>Fonte:</a:t>
            </a:r>
          </a:p>
        </p:txBody>
      </p:sp>
      <p:sp>
        <p:nvSpPr>
          <p:cNvPr id="24" name="Espaço Reservado para Gráfico 23">
            <a:extLst>
              <a:ext uri="{FF2B5EF4-FFF2-40B4-BE49-F238E27FC236}">
                <a16:creationId xmlns:a16="http://schemas.microsoft.com/office/drawing/2014/main" id="{DC30B1C5-4166-4727-8E0C-3676465DA06B}"/>
              </a:ext>
            </a:extLst>
          </p:cNvPr>
          <p:cNvSpPr>
            <a:spLocks noGrp="1"/>
          </p:cNvSpPr>
          <p:nvPr>
            <p:ph type="chart" sz="quarter" idx="15" hasCustomPrompt="1"/>
          </p:nvPr>
        </p:nvSpPr>
        <p:spPr>
          <a:xfrm>
            <a:off x="5260173" y="784573"/>
            <a:ext cx="2411162" cy="1651891"/>
          </a:xfrm>
          <a:prstGeom prst="rect">
            <a:avLst/>
          </a:prstGeom>
        </p:spPr>
        <p:txBody>
          <a:bodyPr/>
          <a:lstStyle>
            <a:lvl1pPr>
              <a:defRPr sz="600"/>
            </a:lvl1pPr>
          </a:lstStyle>
          <a:p>
            <a:pPr marL="0" marR="0" lvl="0" indent="0" defTabSz="914400" eaLnBrk="1" fontAlgn="auto" latinLnBrk="0" hangingPunct="1">
              <a:lnSpc>
                <a:spcPct val="100000"/>
              </a:lnSpc>
              <a:spcBef>
                <a:spcPts val="0"/>
              </a:spcBef>
              <a:spcAft>
                <a:spcPts val="0"/>
              </a:spcAft>
              <a:buClrTx/>
              <a:buSzTx/>
              <a:buFontTx/>
              <a:buNone/>
              <a:tabLst/>
              <a:defRPr/>
            </a:pPr>
            <a:r>
              <a:rPr lang="pt-BR"/>
              <a:t>Gráfico (</a:t>
            </a:r>
            <a:r>
              <a:rPr lang="pt-BR" err="1"/>
              <a:t>Calibri</a:t>
            </a:r>
            <a:r>
              <a:rPr lang="pt-BR"/>
              <a:t> 6)</a:t>
            </a:r>
          </a:p>
          <a:p>
            <a:endParaRPr lang="pt-BR"/>
          </a:p>
        </p:txBody>
      </p:sp>
      <p:sp>
        <p:nvSpPr>
          <p:cNvPr id="38" name="Espaço Reservado para Texto 20">
            <a:extLst>
              <a:ext uri="{FF2B5EF4-FFF2-40B4-BE49-F238E27FC236}">
                <a16:creationId xmlns:a16="http://schemas.microsoft.com/office/drawing/2014/main" id="{35F61155-AA8D-42F6-8BC5-F09C81B1BC55}"/>
              </a:ext>
            </a:extLst>
          </p:cNvPr>
          <p:cNvSpPr>
            <a:spLocks noGrp="1"/>
          </p:cNvSpPr>
          <p:nvPr>
            <p:ph type="body" sz="quarter" idx="16" hasCustomPrompt="1"/>
          </p:nvPr>
        </p:nvSpPr>
        <p:spPr>
          <a:xfrm>
            <a:off x="5197609" y="2900916"/>
            <a:ext cx="1819208" cy="196850"/>
          </a:xfrm>
          <a:prstGeom prst="rect">
            <a:avLst/>
          </a:prstGeom>
        </p:spPr>
        <p:txBody>
          <a:bodyPr/>
          <a:lstStyle>
            <a:lvl1pPr>
              <a:defRPr sz="1000" b="1">
                <a:solidFill>
                  <a:schemeClr val="accent1"/>
                </a:solidFill>
              </a:defRPr>
            </a:lvl1pPr>
            <a:lvl2pPr>
              <a:defRPr sz="1000"/>
            </a:lvl2pPr>
            <a:lvl3pPr>
              <a:defRPr sz="1000"/>
            </a:lvl3pPr>
            <a:lvl4pPr>
              <a:defRPr sz="1000"/>
            </a:lvl4pPr>
            <a:lvl5pPr>
              <a:defRPr sz="1000"/>
            </a:lvl5pPr>
          </a:lstStyle>
          <a:p>
            <a:pPr lvl="0"/>
            <a:r>
              <a:rPr lang="pt-BR"/>
              <a:t>Figura 2: Gráfico Exemplo</a:t>
            </a:r>
          </a:p>
        </p:txBody>
      </p:sp>
      <p:sp>
        <p:nvSpPr>
          <p:cNvPr id="39" name="Espaço Reservado para Texto 20">
            <a:extLst>
              <a:ext uri="{FF2B5EF4-FFF2-40B4-BE49-F238E27FC236}">
                <a16:creationId xmlns:a16="http://schemas.microsoft.com/office/drawing/2014/main" id="{C094FC4D-AECA-4CFE-B925-37721146CD9E}"/>
              </a:ext>
            </a:extLst>
          </p:cNvPr>
          <p:cNvSpPr>
            <a:spLocks noGrp="1"/>
          </p:cNvSpPr>
          <p:nvPr>
            <p:ph type="body" sz="quarter" idx="17" hasCustomPrompt="1"/>
          </p:nvPr>
        </p:nvSpPr>
        <p:spPr>
          <a:xfrm>
            <a:off x="5260173" y="4940254"/>
            <a:ext cx="938213" cy="196850"/>
          </a:xfrm>
          <a:prstGeom prst="rect">
            <a:avLst/>
          </a:prstGeom>
        </p:spPr>
        <p:txBody>
          <a:bodyPr/>
          <a:lstStyle>
            <a:lvl1pPr>
              <a:defRPr sz="600" i="1">
                <a:solidFill>
                  <a:schemeClr val="bg1">
                    <a:lumMod val="65000"/>
                  </a:schemeClr>
                </a:solidFill>
              </a:defRPr>
            </a:lvl1pPr>
            <a:lvl2pPr>
              <a:defRPr sz="1000"/>
            </a:lvl2pPr>
            <a:lvl3pPr>
              <a:defRPr sz="1000"/>
            </a:lvl3pPr>
            <a:lvl4pPr>
              <a:defRPr sz="1000"/>
            </a:lvl4pPr>
            <a:lvl5pPr>
              <a:defRPr sz="1000"/>
            </a:lvl5pPr>
          </a:lstStyle>
          <a:p>
            <a:pPr lvl="0"/>
            <a:r>
              <a:rPr lang="pt-BR"/>
              <a:t>Fonte:</a:t>
            </a:r>
          </a:p>
        </p:txBody>
      </p:sp>
      <p:sp>
        <p:nvSpPr>
          <p:cNvPr id="40" name="Espaço Reservado para Gráfico 23">
            <a:extLst>
              <a:ext uri="{FF2B5EF4-FFF2-40B4-BE49-F238E27FC236}">
                <a16:creationId xmlns:a16="http://schemas.microsoft.com/office/drawing/2014/main" id="{3AEBBFD2-6749-417D-A6C1-383CD78E0D7F}"/>
              </a:ext>
            </a:extLst>
          </p:cNvPr>
          <p:cNvSpPr>
            <a:spLocks noGrp="1"/>
          </p:cNvSpPr>
          <p:nvPr>
            <p:ph type="chart" sz="quarter" idx="18" hasCustomPrompt="1"/>
          </p:nvPr>
        </p:nvSpPr>
        <p:spPr>
          <a:xfrm>
            <a:off x="5260173" y="3231567"/>
            <a:ext cx="2411162" cy="1651891"/>
          </a:xfrm>
          <a:prstGeom prst="rect">
            <a:avLst/>
          </a:prstGeom>
        </p:spPr>
        <p:txBody>
          <a:bodyPr/>
          <a:lstStyle>
            <a:lvl1pPr>
              <a:defRPr sz="600"/>
            </a:lvl1pPr>
          </a:lstStyle>
          <a:p>
            <a:r>
              <a:rPr lang="pt-BR"/>
              <a:t>Gráfico (</a:t>
            </a:r>
            <a:r>
              <a:rPr lang="pt-BR" err="1"/>
              <a:t>Calibri</a:t>
            </a:r>
            <a:r>
              <a:rPr lang="pt-BR"/>
              <a:t> 6)</a:t>
            </a:r>
          </a:p>
        </p:txBody>
      </p:sp>
      <p:sp>
        <p:nvSpPr>
          <p:cNvPr id="41" name="Espaço Reservado para Texto 20">
            <a:extLst>
              <a:ext uri="{FF2B5EF4-FFF2-40B4-BE49-F238E27FC236}">
                <a16:creationId xmlns:a16="http://schemas.microsoft.com/office/drawing/2014/main" id="{1A0F7846-ED50-440C-B7CD-B254DE725497}"/>
              </a:ext>
            </a:extLst>
          </p:cNvPr>
          <p:cNvSpPr>
            <a:spLocks noGrp="1"/>
          </p:cNvSpPr>
          <p:nvPr>
            <p:ph type="body" sz="quarter" idx="19" hasCustomPrompt="1"/>
          </p:nvPr>
        </p:nvSpPr>
        <p:spPr>
          <a:xfrm>
            <a:off x="5197609" y="5347910"/>
            <a:ext cx="1819208" cy="196850"/>
          </a:xfrm>
          <a:prstGeom prst="rect">
            <a:avLst/>
          </a:prstGeom>
        </p:spPr>
        <p:txBody>
          <a:bodyPr/>
          <a:lstStyle>
            <a:lvl1pPr>
              <a:defRPr sz="1000" b="1">
                <a:solidFill>
                  <a:schemeClr val="accent1"/>
                </a:solidFill>
              </a:defRPr>
            </a:lvl1pPr>
            <a:lvl2pPr>
              <a:defRPr sz="1000"/>
            </a:lvl2pPr>
            <a:lvl3pPr>
              <a:defRPr sz="1000"/>
            </a:lvl3pPr>
            <a:lvl4pPr>
              <a:defRPr sz="1000"/>
            </a:lvl4pPr>
            <a:lvl5pPr>
              <a:defRPr sz="1000"/>
            </a:lvl5pPr>
          </a:lstStyle>
          <a:p>
            <a:pPr lvl="0"/>
            <a:r>
              <a:rPr lang="pt-BR"/>
              <a:t>Figura 3: Gráfico Exemplo</a:t>
            </a:r>
          </a:p>
        </p:txBody>
      </p:sp>
      <p:sp>
        <p:nvSpPr>
          <p:cNvPr id="42" name="Espaço Reservado para Texto 20">
            <a:extLst>
              <a:ext uri="{FF2B5EF4-FFF2-40B4-BE49-F238E27FC236}">
                <a16:creationId xmlns:a16="http://schemas.microsoft.com/office/drawing/2014/main" id="{AF6524DA-D2FF-44B1-865F-590088C8037B}"/>
              </a:ext>
            </a:extLst>
          </p:cNvPr>
          <p:cNvSpPr>
            <a:spLocks noGrp="1"/>
          </p:cNvSpPr>
          <p:nvPr>
            <p:ph type="body" sz="quarter" idx="20" hasCustomPrompt="1"/>
          </p:nvPr>
        </p:nvSpPr>
        <p:spPr>
          <a:xfrm>
            <a:off x="5260173" y="7406497"/>
            <a:ext cx="938213" cy="196850"/>
          </a:xfrm>
          <a:prstGeom prst="rect">
            <a:avLst/>
          </a:prstGeom>
        </p:spPr>
        <p:txBody>
          <a:bodyPr/>
          <a:lstStyle>
            <a:lvl1pPr>
              <a:defRPr sz="600" i="1">
                <a:solidFill>
                  <a:schemeClr val="bg1">
                    <a:lumMod val="65000"/>
                  </a:schemeClr>
                </a:solidFill>
              </a:defRPr>
            </a:lvl1pPr>
            <a:lvl2pPr>
              <a:defRPr sz="1000"/>
            </a:lvl2pPr>
            <a:lvl3pPr>
              <a:defRPr sz="1000"/>
            </a:lvl3pPr>
            <a:lvl4pPr>
              <a:defRPr sz="1000"/>
            </a:lvl4pPr>
            <a:lvl5pPr>
              <a:defRPr sz="1000"/>
            </a:lvl5pPr>
          </a:lstStyle>
          <a:p>
            <a:pPr lvl="0"/>
            <a:r>
              <a:rPr lang="pt-BR"/>
              <a:t>Fonte:</a:t>
            </a:r>
          </a:p>
        </p:txBody>
      </p:sp>
      <p:sp>
        <p:nvSpPr>
          <p:cNvPr id="43" name="Espaço Reservado para Gráfico 23">
            <a:extLst>
              <a:ext uri="{FF2B5EF4-FFF2-40B4-BE49-F238E27FC236}">
                <a16:creationId xmlns:a16="http://schemas.microsoft.com/office/drawing/2014/main" id="{86B3D293-3414-4937-B8C7-9F38B9A61824}"/>
              </a:ext>
            </a:extLst>
          </p:cNvPr>
          <p:cNvSpPr>
            <a:spLocks noGrp="1"/>
          </p:cNvSpPr>
          <p:nvPr>
            <p:ph type="chart" sz="quarter" idx="21" hasCustomPrompt="1"/>
          </p:nvPr>
        </p:nvSpPr>
        <p:spPr>
          <a:xfrm>
            <a:off x="5260173" y="5678561"/>
            <a:ext cx="2411162" cy="1651891"/>
          </a:xfrm>
          <a:prstGeom prst="rect">
            <a:avLst/>
          </a:prstGeom>
        </p:spPr>
        <p:txBody>
          <a:bodyPr/>
          <a:lstStyle>
            <a:lvl1pPr>
              <a:defRPr sz="600"/>
            </a:lvl1pPr>
          </a:lstStyle>
          <a:p>
            <a:pPr marL="0" marR="0" lvl="0" indent="0" defTabSz="914400" eaLnBrk="1" fontAlgn="auto" latinLnBrk="0" hangingPunct="1">
              <a:lnSpc>
                <a:spcPct val="100000"/>
              </a:lnSpc>
              <a:spcBef>
                <a:spcPts val="0"/>
              </a:spcBef>
              <a:spcAft>
                <a:spcPts val="0"/>
              </a:spcAft>
              <a:buClrTx/>
              <a:buSzTx/>
              <a:buFontTx/>
              <a:buNone/>
              <a:tabLst/>
              <a:defRPr/>
            </a:pPr>
            <a:r>
              <a:rPr lang="pt-BR"/>
              <a:t>Gráfico (</a:t>
            </a:r>
            <a:r>
              <a:rPr lang="pt-BR" err="1"/>
              <a:t>Calibri</a:t>
            </a:r>
            <a:r>
              <a:rPr lang="pt-BR"/>
              <a:t> 6)</a:t>
            </a:r>
          </a:p>
          <a:p>
            <a:endParaRPr lang="pt-BR"/>
          </a:p>
        </p:txBody>
      </p:sp>
      <p:sp>
        <p:nvSpPr>
          <p:cNvPr id="44" name="Espaço Reservado para Texto 20">
            <a:extLst>
              <a:ext uri="{FF2B5EF4-FFF2-40B4-BE49-F238E27FC236}">
                <a16:creationId xmlns:a16="http://schemas.microsoft.com/office/drawing/2014/main" id="{9D0C14BD-A764-4864-ABDB-4E7B3192AAFE}"/>
              </a:ext>
            </a:extLst>
          </p:cNvPr>
          <p:cNvSpPr>
            <a:spLocks noGrp="1"/>
          </p:cNvSpPr>
          <p:nvPr>
            <p:ph type="body" sz="quarter" idx="22" hasCustomPrompt="1"/>
          </p:nvPr>
        </p:nvSpPr>
        <p:spPr>
          <a:xfrm>
            <a:off x="5197609" y="7794904"/>
            <a:ext cx="1819208" cy="196850"/>
          </a:xfrm>
          <a:prstGeom prst="rect">
            <a:avLst/>
          </a:prstGeom>
        </p:spPr>
        <p:txBody>
          <a:bodyPr/>
          <a:lstStyle>
            <a:lvl1pPr>
              <a:defRPr sz="1000" b="1">
                <a:solidFill>
                  <a:schemeClr val="accent1"/>
                </a:solidFill>
              </a:defRPr>
            </a:lvl1pPr>
            <a:lvl2pPr>
              <a:defRPr sz="1000"/>
            </a:lvl2pPr>
            <a:lvl3pPr>
              <a:defRPr sz="1000"/>
            </a:lvl3pPr>
            <a:lvl4pPr>
              <a:defRPr sz="1000"/>
            </a:lvl4pPr>
            <a:lvl5pPr>
              <a:defRPr sz="1000"/>
            </a:lvl5pPr>
          </a:lstStyle>
          <a:p>
            <a:pPr lvl="0"/>
            <a:r>
              <a:rPr lang="pt-BR"/>
              <a:t>Figura 4: Gráfico Exemplo</a:t>
            </a:r>
          </a:p>
        </p:txBody>
      </p:sp>
      <p:sp>
        <p:nvSpPr>
          <p:cNvPr id="45" name="Espaço Reservado para Texto 20">
            <a:extLst>
              <a:ext uri="{FF2B5EF4-FFF2-40B4-BE49-F238E27FC236}">
                <a16:creationId xmlns:a16="http://schemas.microsoft.com/office/drawing/2014/main" id="{5B5E5A42-B0A2-4B66-9274-9EE221CC491A}"/>
              </a:ext>
            </a:extLst>
          </p:cNvPr>
          <p:cNvSpPr>
            <a:spLocks noGrp="1"/>
          </p:cNvSpPr>
          <p:nvPr>
            <p:ph type="body" sz="quarter" idx="23" hasCustomPrompt="1"/>
          </p:nvPr>
        </p:nvSpPr>
        <p:spPr>
          <a:xfrm>
            <a:off x="5260173" y="9839053"/>
            <a:ext cx="938213" cy="196850"/>
          </a:xfrm>
          <a:prstGeom prst="rect">
            <a:avLst/>
          </a:prstGeom>
        </p:spPr>
        <p:txBody>
          <a:bodyPr/>
          <a:lstStyle>
            <a:lvl1pPr>
              <a:defRPr sz="600" i="1">
                <a:solidFill>
                  <a:schemeClr val="bg1">
                    <a:lumMod val="65000"/>
                  </a:schemeClr>
                </a:solidFill>
              </a:defRPr>
            </a:lvl1pPr>
            <a:lvl2pPr>
              <a:defRPr sz="1000"/>
            </a:lvl2pPr>
            <a:lvl3pPr>
              <a:defRPr sz="1000"/>
            </a:lvl3pPr>
            <a:lvl4pPr>
              <a:defRPr sz="1000"/>
            </a:lvl4pPr>
            <a:lvl5pPr>
              <a:defRPr sz="1000"/>
            </a:lvl5pPr>
          </a:lstStyle>
          <a:p>
            <a:pPr lvl="0"/>
            <a:r>
              <a:rPr lang="pt-BR"/>
              <a:t>Fonte:</a:t>
            </a:r>
          </a:p>
        </p:txBody>
      </p:sp>
      <p:sp>
        <p:nvSpPr>
          <p:cNvPr id="46" name="Espaço Reservado para Gráfico 23">
            <a:extLst>
              <a:ext uri="{FF2B5EF4-FFF2-40B4-BE49-F238E27FC236}">
                <a16:creationId xmlns:a16="http://schemas.microsoft.com/office/drawing/2014/main" id="{68976EEE-43C8-458B-8617-239C2249E635}"/>
              </a:ext>
            </a:extLst>
          </p:cNvPr>
          <p:cNvSpPr>
            <a:spLocks noGrp="1"/>
          </p:cNvSpPr>
          <p:nvPr>
            <p:ph type="chart" sz="quarter" idx="24" hasCustomPrompt="1"/>
          </p:nvPr>
        </p:nvSpPr>
        <p:spPr>
          <a:xfrm>
            <a:off x="5260173" y="8125555"/>
            <a:ext cx="2411162" cy="1651891"/>
          </a:xfrm>
          <a:prstGeom prst="rect">
            <a:avLst/>
          </a:prstGeom>
        </p:spPr>
        <p:txBody>
          <a:bodyPr/>
          <a:lstStyle>
            <a:lvl1pPr>
              <a:defRPr sz="600"/>
            </a:lvl1pPr>
          </a:lstStyle>
          <a:p>
            <a:pPr marL="0" marR="0" lvl="0" indent="0" defTabSz="914400" eaLnBrk="1" fontAlgn="auto" latinLnBrk="0" hangingPunct="1">
              <a:lnSpc>
                <a:spcPct val="100000"/>
              </a:lnSpc>
              <a:spcBef>
                <a:spcPts val="0"/>
              </a:spcBef>
              <a:spcAft>
                <a:spcPts val="0"/>
              </a:spcAft>
              <a:buClrTx/>
              <a:buSzTx/>
              <a:buFontTx/>
              <a:buNone/>
              <a:tabLst/>
              <a:defRPr/>
            </a:pPr>
            <a:r>
              <a:rPr lang="pt-BR"/>
              <a:t>Gráfico (</a:t>
            </a:r>
            <a:r>
              <a:rPr lang="pt-BR" err="1"/>
              <a:t>Calibri</a:t>
            </a:r>
            <a:r>
              <a:rPr lang="pt-BR"/>
              <a:t> 6)</a:t>
            </a:r>
          </a:p>
          <a:p>
            <a:endParaRPr lang="pt-BR"/>
          </a:p>
        </p:txBody>
      </p:sp>
      <p:sp>
        <p:nvSpPr>
          <p:cNvPr id="48" name="object 340">
            <a:extLst>
              <a:ext uri="{FF2B5EF4-FFF2-40B4-BE49-F238E27FC236}">
                <a16:creationId xmlns:a16="http://schemas.microsoft.com/office/drawing/2014/main" id="{BA1B157D-6481-4DD6-8CB6-4A5690DE3B89}"/>
              </a:ext>
            </a:extLst>
          </p:cNvPr>
          <p:cNvSpPr/>
          <p:nvPr userDrawn="1"/>
        </p:nvSpPr>
        <p:spPr>
          <a:xfrm>
            <a:off x="5197609" y="2805080"/>
            <a:ext cx="2585720"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
        <p:nvSpPr>
          <p:cNvPr id="50" name="object 340">
            <a:extLst>
              <a:ext uri="{FF2B5EF4-FFF2-40B4-BE49-F238E27FC236}">
                <a16:creationId xmlns:a16="http://schemas.microsoft.com/office/drawing/2014/main" id="{B763102C-E988-4B2C-B821-AA2F63FD46E0}"/>
              </a:ext>
            </a:extLst>
          </p:cNvPr>
          <p:cNvSpPr/>
          <p:nvPr userDrawn="1"/>
        </p:nvSpPr>
        <p:spPr>
          <a:xfrm>
            <a:off x="5186680" y="5253211"/>
            <a:ext cx="2585720"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
        <p:nvSpPr>
          <p:cNvPr id="51" name="object 340">
            <a:extLst>
              <a:ext uri="{FF2B5EF4-FFF2-40B4-BE49-F238E27FC236}">
                <a16:creationId xmlns:a16="http://schemas.microsoft.com/office/drawing/2014/main" id="{6426E48F-3239-403A-AAF6-2C57B907CE8C}"/>
              </a:ext>
            </a:extLst>
          </p:cNvPr>
          <p:cNvSpPr/>
          <p:nvPr userDrawn="1"/>
        </p:nvSpPr>
        <p:spPr>
          <a:xfrm>
            <a:off x="5189287" y="7700205"/>
            <a:ext cx="2585720"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Tree>
    <p:extLst>
      <p:ext uri="{BB962C8B-B14F-4D97-AF65-F5344CB8AC3E}">
        <p14:creationId xmlns:p14="http://schemas.microsoft.com/office/powerpoint/2010/main" val="3106561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70DF5D-DE6F-A25D-AC5B-E677C5466ACE}"/>
              </a:ext>
            </a:extLst>
          </p:cNvPr>
          <p:cNvSpPr>
            <a:spLocks noGrp="1"/>
          </p:cNvSpPr>
          <p:nvPr>
            <p:ph type="ctrTitle"/>
          </p:nvPr>
        </p:nvSpPr>
        <p:spPr>
          <a:xfrm>
            <a:off x="971550" y="1749425"/>
            <a:ext cx="5829300" cy="3724275"/>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C2A93DA-F647-5A68-176F-F682732235A0}"/>
              </a:ext>
            </a:extLst>
          </p:cNvPr>
          <p:cNvSpPr>
            <a:spLocks noGrp="1"/>
          </p:cNvSpPr>
          <p:nvPr>
            <p:ph type="subTitle" idx="1"/>
          </p:nvPr>
        </p:nvSpPr>
        <p:spPr>
          <a:xfrm>
            <a:off x="971550" y="5616575"/>
            <a:ext cx="5829300" cy="25812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4BFAB1D-C3B2-F434-AF65-CFCE32BFB0A7}"/>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5" name="Espaço Reservado para Rodapé 4">
            <a:extLst>
              <a:ext uri="{FF2B5EF4-FFF2-40B4-BE49-F238E27FC236}">
                <a16:creationId xmlns:a16="http://schemas.microsoft.com/office/drawing/2014/main" id="{89ECB1E6-78E1-1799-C87E-536FFB82653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A149946-B6A0-9338-64BA-5F85B5EFD35C}"/>
              </a:ext>
            </a:extLst>
          </p:cNvPr>
          <p:cNvSpPr>
            <a:spLocks noGrp="1"/>
          </p:cNvSpPr>
          <p:nvPr>
            <p:ph type="sldNum" sz="quarter" idx="12"/>
          </p:nvPr>
        </p:nvSpPr>
        <p:spPr/>
        <p:txBody>
          <a:bodyPr/>
          <a:lstStyle/>
          <a:p>
            <a:fld id="{ECDDF6DD-FE4A-8F4C-9E53-E49DC61037F4}" type="slidenum">
              <a:rPr lang="pt-BR" smtClean="0"/>
              <a:t>‹nº›</a:t>
            </a:fld>
            <a:endParaRPr lang="pt-BR"/>
          </a:p>
        </p:txBody>
      </p:sp>
      <p:sp>
        <p:nvSpPr>
          <p:cNvPr id="7" name="Espaço Reservado para Texto 10">
            <a:extLst>
              <a:ext uri="{FF2B5EF4-FFF2-40B4-BE49-F238E27FC236}">
                <a16:creationId xmlns:a16="http://schemas.microsoft.com/office/drawing/2014/main" id="{66F2296E-0148-AB86-51CF-3A31F621245B}"/>
              </a:ext>
            </a:extLst>
          </p:cNvPr>
          <p:cNvSpPr>
            <a:spLocks noGrp="1"/>
          </p:cNvSpPr>
          <p:nvPr>
            <p:ph type="body" sz="quarter" idx="13" hasCustomPrompt="1"/>
          </p:nvPr>
        </p:nvSpPr>
        <p:spPr>
          <a:xfrm>
            <a:off x="6764177" y="45208"/>
            <a:ext cx="828675" cy="223837"/>
          </a:xfrm>
          <a:prstGeom prst="rect">
            <a:avLst/>
          </a:prstGeom>
        </p:spPr>
        <p:txBody>
          <a:bodyPr/>
          <a:lstStyle>
            <a:lvl1pPr marL="0" indent="0">
              <a:buNone/>
              <a:defRPr sz="700">
                <a:solidFill>
                  <a:schemeClr val="bg1"/>
                </a:solidFill>
              </a:defRPr>
            </a:lvl1pPr>
          </a:lstStyle>
          <a:p>
            <a:pPr lvl="0"/>
            <a:r>
              <a:rPr lang="pt-BR"/>
              <a:t>Num grupo</a:t>
            </a:r>
          </a:p>
        </p:txBody>
      </p:sp>
    </p:spTree>
    <p:extLst>
      <p:ext uri="{BB962C8B-B14F-4D97-AF65-F5344CB8AC3E}">
        <p14:creationId xmlns:p14="http://schemas.microsoft.com/office/powerpoint/2010/main" val="692307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ED798E-7567-5F2D-AA59-4670A2A805B5}"/>
              </a:ext>
            </a:extLst>
          </p:cNvPr>
          <p:cNvSpPr>
            <a:spLocks noGrp="1"/>
          </p:cNvSpPr>
          <p:nvPr>
            <p:ph type="title"/>
          </p:nvPr>
        </p:nvSpPr>
        <p:spPr>
          <a:xfrm>
            <a:off x="534988" y="569913"/>
            <a:ext cx="6702425" cy="206692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756D535-073B-A7C6-413F-9596CCA516B7}"/>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17932BC-5E60-EFD7-649F-A2CD55A61B54}"/>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5" name="Espaço Reservado para Rodapé 4">
            <a:extLst>
              <a:ext uri="{FF2B5EF4-FFF2-40B4-BE49-F238E27FC236}">
                <a16:creationId xmlns:a16="http://schemas.microsoft.com/office/drawing/2014/main" id="{55650779-0594-FF02-69F4-6E008863C3D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1C2597F-1AA6-2C3D-8484-A2E4FB99E63A}"/>
              </a:ext>
            </a:extLst>
          </p:cNvPr>
          <p:cNvSpPr>
            <a:spLocks noGrp="1"/>
          </p:cNvSpPr>
          <p:nvPr>
            <p:ph type="sldNum" sz="quarter" idx="12"/>
          </p:nvPr>
        </p:nvSpPr>
        <p:spPr/>
        <p:txBody>
          <a:bodyPr/>
          <a:lstStyle/>
          <a:p>
            <a:fld id="{ECDDF6DD-FE4A-8F4C-9E53-E49DC61037F4}" type="slidenum">
              <a:rPr lang="pt-BR" smtClean="0"/>
              <a:t>‹nº›</a:t>
            </a:fld>
            <a:endParaRPr lang="pt-BR"/>
          </a:p>
        </p:txBody>
      </p:sp>
      <p:sp>
        <p:nvSpPr>
          <p:cNvPr id="7" name="Espaço Reservado para Texto 10">
            <a:extLst>
              <a:ext uri="{FF2B5EF4-FFF2-40B4-BE49-F238E27FC236}">
                <a16:creationId xmlns:a16="http://schemas.microsoft.com/office/drawing/2014/main" id="{0A1B43BE-B02C-CCA8-B100-F67A6FAB2238}"/>
              </a:ext>
            </a:extLst>
          </p:cNvPr>
          <p:cNvSpPr>
            <a:spLocks noGrp="1"/>
          </p:cNvSpPr>
          <p:nvPr>
            <p:ph type="body" sz="quarter" idx="13" hasCustomPrompt="1"/>
          </p:nvPr>
        </p:nvSpPr>
        <p:spPr>
          <a:xfrm>
            <a:off x="6764177" y="45208"/>
            <a:ext cx="828675" cy="223837"/>
          </a:xfrm>
          <a:prstGeom prst="rect">
            <a:avLst/>
          </a:prstGeom>
        </p:spPr>
        <p:txBody>
          <a:bodyPr/>
          <a:lstStyle>
            <a:lvl1pPr marL="0" indent="0">
              <a:buNone/>
              <a:defRPr sz="700">
                <a:solidFill>
                  <a:schemeClr val="bg1"/>
                </a:solidFill>
              </a:defRPr>
            </a:lvl1pPr>
          </a:lstStyle>
          <a:p>
            <a:pPr lvl="0"/>
            <a:r>
              <a:rPr lang="pt-BR"/>
              <a:t>Num grupo</a:t>
            </a:r>
          </a:p>
        </p:txBody>
      </p:sp>
    </p:spTree>
    <p:extLst>
      <p:ext uri="{BB962C8B-B14F-4D97-AF65-F5344CB8AC3E}">
        <p14:creationId xmlns:p14="http://schemas.microsoft.com/office/powerpoint/2010/main" val="253087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D8076B-29C6-A942-B4EE-52002E990F6D}"/>
              </a:ext>
            </a:extLst>
          </p:cNvPr>
          <p:cNvSpPr>
            <a:spLocks noGrp="1"/>
          </p:cNvSpPr>
          <p:nvPr>
            <p:ph type="title"/>
          </p:nvPr>
        </p:nvSpPr>
        <p:spPr>
          <a:xfrm>
            <a:off x="530225" y="2665413"/>
            <a:ext cx="6704013" cy="4448175"/>
          </a:xfrm>
          <a:prstGeom prst="rect">
            <a:avLst/>
          </a:prstGeo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D3A332EE-D8BC-7C7F-E4A9-6D0C7C94B28B}"/>
              </a:ext>
            </a:extLst>
          </p:cNvPr>
          <p:cNvSpPr>
            <a:spLocks noGrp="1"/>
          </p:cNvSpPr>
          <p:nvPr>
            <p:ph type="body" idx="1"/>
          </p:nvPr>
        </p:nvSpPr>
        <p:spPr>
          <a:xfrm>
            <a:off x="530225" y="7156450"/>
            <a:ext cx="6704013" cy="233838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3FC8B086-ABC9-C04A-9205-3E554C6AA1FF}"/>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5" name="Espaço Reservado para Rodapé 4">
            <a:extLst>
              <a:ext uri="{FF2B5EF4-FFF2-40B4-BE49-F238E27FC236}">
                <a16:creationId xmlns:a16="http://schemas.microsoft.com/office/drawing/2014/main" id="{44FA2C97-CAE3-D634-BD3B-AEFBBBE027A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1EA548F-8A6B-D024-011C-705EFF7BF788}"/>
              </a:ext>
            </a:extLst>
          </p:cNvPr>
          <p:cNvSpPr>
            <a:spLocks noGrp="1"/>
          </p:cNvSpPr>
          <p:nvPr>
            <p:ph type="sldNum" sz="quarter" idx="12"/>
          </p:nvPr>
        </p:nvSpPr>
        <p:spPr/>
        <p:txBody>
          <a:bodyPr/>
          <a:lstStyle/>
          <a:p>
            <a:fld id="{ECDDF6DD-FE4A-8F4C-9E53-E49DC61037F4}" type="slidenum">
              <a:rPr lang="pt-BR" smtClean="0"/>
              <a:t>‹nº›</a:t>
            </a:fld>
            <a:endParaRPr lang="pt-BR"/>
          </a:p>
        </p:txBody>
      </p:sp>
      <p:sp>
        <p:nvSpPr>
          <p:cNvPr id="7" name="Espaço Reservado para Texto 10">
            <a:extLst>
              <a:ext uri="{FF2B5EF4-FFF2-40B4-BE49-F238E27FC236}">
                <a16:creationId xmlns:a16="http://schemas.microsoft.com/office/drawing/2014/main" id="{ACABE2B6-B1A5-9368-5905-7E6F5E511F06}"/>
              </a:ext>
            </a:extLst>
          </p:cNvPr>
          <p:cNvSpPr>
            <a:spLocks noGrp="1"/>
          </p:cNvSpPr>
          <p:nvPr>
            <p:ph type="body" sz="quarter" idx="13" hasCustomPrompt="1"/>
          </p:nvPr>
        </p:nvSpPr>
        <p:spPr>
          <a:xfrm>
            <a:off x="6764177" y="45208"/>
            <a:ext cx="828675" cy="223837"/>
          </a:xfrm>
          <a:prstGeom prst="rect">
            <a:avLst/>
          </a:prstGeom>
        </p:spPr>
        <p:txBody>
          <a:bodyPr/>
          <a:lstStyle>
            <a:lvl1pPr marL="0" indent="0">
              <a:buNone/>
              <a:defRPr sz="700">
                <a:solidFill>
                  <a:schemeClr val="bg1"/>
                </a:solidFill>
              </a:defRPr>
            </a:lvl1pPr>
          </a:lstStyle>
          <a:p>
            <a:pPr lvl="0"/>
            <a:r>
              <a:rPr lang="pt-BR"/>
              <a:t>Num grupo</a:t>
            </a:r>
          </a:p>
        </p:txBody>
      </p:sp>
    </p:spTree>
    <p:extLst>
      <p:ext uri="{BB962C8B-B14F-4D97-AF65-F5344CB8AC3E}">
        <p14:creationId xmlns:p14="http://schemas.microsoft.com/office/powerpoint/2010/main" val="1586923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4E1BCA-B8C1-D4EF-17AF-CCE49BC2F689}"/>
              </a:ext>
            </a:extLst>
          </p:cNvPr>
          <p:cNvSpPr>
            <a:spLocks noGrp="1"/>
          </p:cNvSpPr>
          <p:nvPr>
            <p:ph type="title"/>
          </p:nvPr>
        </p:nvSpPr>
        <p:spPr>
          <a:xfrm>
            <a:off x="534988" y="569913"/>
            <a:ext cx="6702425" cy="206692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4EBA727-8776-4ED1-12E6-7D98B2A305F0}"/>
              </a:ext>
            </a:extLst>
          </p:cNvPr>
          <p:cNvSpPr>
            <a:spLocks noGrp="1"/>
          </p:cNvSpPr>
          <p:nvPr>
            <p:ph sz="half" idx="1"/>
          </p:nvPr>
        </p:nvSpPr>
        <p:spPr>
          <a:xfrm>
            <a:off x="534988" y="2846388"/>
            <a:ext cx="3275012" cy="678497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16ECCF0-B4A4-CF76-94ED-506C9919B880}"/>
              </a:ext>
            </a:extLst>
          </p:cNvPr>
          <p:cNvSpPr>
            <a:spLocks noGrp="1"/>
          </p:cNvSpPr>
          <p:nvPr>
            <p:ph sz="half" idx="2"/>
          </p:nvPr>
        </p:nvSpPr>
        <p:spPr>
          <a:xfrm>
            <a:off x="3962400" y="2846388"/>
            <a:ext cx="3275013" cy="678497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5A930290-3DFD-C144-687D-6C02BB8EC424}"/>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6" name="Espaço Reservado para Rodapé 5">
            <a:extLst>
              <a:ext uri="{FF2B5EF4-FFF2-40B4-BE49-F238E27FC236}">
                <a16:creationId xmlns:a16="http://schemas.microsoft.com/office/drawing/2014/main" id="{A825E421-D055-0685-8962-EC7BEA4703A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BE5C6CF5-FB50-6DA5-E1DC-52AE00ECC29B}"/>
              </a:ext>
            </a:extLst>
          </p:cNvPr>
          <p:cNvSpPr>
            <a:spLocks noGrp="1"/>
          </p:cNvSpPr>
          <p:nvPr>
            <p:ph type="sldNum" sz="quarter" idx="12"/>
          </p:nvPr>
        </p:nvSpPr>
        <p:spPr/>
        <p:txBody>
          <a:bodyPr/>
          <a:lstStyle/>
          <a:p>
            <a:fld id="{ECDDF6DD-FE4A-8F4C-9E53-E49DC61037F4}" type="slidenum">
              <a:rPr lang="pt-BR" smtClean="0"/>
              <a:t>‹nº›</a:t>
            </a:fld>
            <a:endParaRPr lang="pt-BR"/>
          </a:p>
        </p:txBody>
      </p:sp>
      <p:sp>
        <p:nvSpPr>
          <p:cNvPr id="8" name="Espaço Reservado para Texto 10">
            <a:extLst>
              <a:ext uri="{FF2B5EF4-FFF2-40B4-BE49-F238E27FC236}">
                <a16:creationId xmlns:a16="http://schemas.microsoft.com/office/drawing/2014/main" id="{785597C6-3F41-E1E2-6CA6-158B5F52819E}"/>
              </a:ext>
            </a:extLst>
          </p:cNvPr>
          <p:cNvSpPr>
            <a:spLocks noGrp="1"/>
          </p:cNvSpPr>
          <p:nvPr>
            <p:ph type="body" sz="quarter" idx="13" hasCustomPrompt="1"/>
          </p:nvPr>
        </p:nvSpPr>
        <p:spPr>
          <a:xfrm>
            <a:off x="6764177" y="45208"/>
            <a:ext cx="828675" cy="223837"/>
          </a:xfrm>
          <a:prstGeom prst="rect">
            <a:avLst/>
          </a:prstGeom>
        </p:spPr>
        <p:txBody>
          <a:bodyPr/>
          <a:lstStyle>
            <a:lvl1pPr marL="0" indent="0">
              <a:buNone/>
              <a:defRPr sz="700">
                <a:solidFill>
                  <a:schemeClr val="bg1"/>
                </a:solidFill>
              </a:defRPr>
            </a:lvl1pPr>
          </a:lstStyle>
          <a:p>
            <a:pPr lvl="0"/>
            <a:r>
              <a:rPr lang="pt-BR"/>
              <a:t>Num grupo</a:t>
            </a:r>
          </a:p>
        </p:txBody>
      </p:sp>
    </p:spTree>
    <p:extLst>
      <p:ext uri="{BB962C8B-B14F-4D97-AF65-F5344CB8AC3E}">
        <p14:creationId xmlns:p14="http://schemas.microsoft.com/office/powerpoint/2010/main" val="3248378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27671F-064F-EC95-66F2-CB27916E4AA1}"/>
              </a:ext>
            </a:extLst>
          </p:cNvPr>
          <p:cNvSpPr>
            <a:spLocks noGrp="1"/>
          </p:cNvSpPr>
          <p:nvPr>
            <p:ph type="title"/>
          </p:nvPr>
        </p:nvSpPr>
        <p:spPr>
          <a:xfrm>
            <a:off x="534988" y="569913"/>
            <a:ext cx="6704012" cy="2066925"/>
          </a:xfrm>
          <a:prstGeom prst="rect">
            <a:avLst/>
          </a:prstGeo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3327F7F0-64ED-8AE7-B031-0BF13CE6F39C}"/>
              </a:ext>
            </a:extLst>
          </p:cNvPr>
          <p:cNvSpPr>
            <a:spLocks noGrp="1"/>
          </p:cNvSpPr>
          <p:nvPr>
            <p:ph type="body" idx="1"/>
          </p:nvPr>
        </p:nvSpPr>
        <p:spPr>
          <a:xfrm>
            <a:off x="534988" y="2620963"/>
            <a:ext cx="3287712" cy="12858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E47528C4-F976-A34C-D204-7F819700C3EE}"/>
              </a:ext>
            </a:extLst>
          </p:cNvPr>
          <p:cNvSpPr>
            <a:spLocks noGrp="1"/>
          </p:cNvSpPr>
          <p:nvPr>
            <p:ph sz="half" idx="2"/>
          </p:nvPr>
        </p:nvSpPr>
        <p:spPr>
          <a:xfrm>
            <a:off x="534988" y="3906838"/>
            <a:ext cx="3287712" cy="574516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DB19343-9FF7-7FDD-A1D2-675BC53443B9}"/>
              </a:ext>
            </a:extLst>
          </p:cNvPr>
          <p:cNvSpPr>
            <a:spLocks noGrp="1"/>
          </p:cNvSpPr>
          <p:nvPr>
            <p:ph type="body" sz="quarter" idx="3"/>
          </p:nvPr>
        </p:nvSpPr>
        <p:spPr>
          <a:xfrm>
            <a:off x="3935413" y="2620963"/>
            <a:ext cx="3303587" cy="12858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ACCBDE3-325C-340D-0FEA-14225689722A}"/>
              </a:ext>
            </a:extLst>
          </p:cNvPr>
          <p:cNvSpPr>
            <a:spLocks noGrp="1"/>
          </p:cNvSpPr>
          <p:nvPr>
            <p:ph sz="quarter" idx="4"/>
          </p:nvPr>
        </p:nvSpPr>
        <p:spPr>
          <a:xfrm>
            <a:off x="3935413" y="3906838"/>
            <a:ext cx="3303587" cy="574516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795D3DB-2F62-2511-826D-39E2365B54F9}"/>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8" name="Espaço Reservado para Rodapé 7">
            <a:extLst>
              <a:ext uri="{FF2B5EF4-FFF2-40B4-BE49-F238E27FC236}">
                <a16:creationId xmlns:a16="http://schemas.microsoft.com/office/drawing/2014/main" id="{482507C3-7714-B04B-943D-ECA8AF3078D0}"/>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2093D6F-0D41-2EFC-58C7-CA538A58EEF0}"/>
              </a:ext>
            </a:extLst>
          </p:cNvPr>
          <p:cNvSpPr>
            <a:spLocks noGrp="1"/>
          </p:cNvSpPr>
          <p:nvPr>
            <p:ph type="sldNum" sz="quarter" idx="12"/>
          </p:nvPr>
        </p:nvSpPr>
        <p:spPr/>
        <p:txBody>
          <a:bodyPr/>
          <a:lstStyle/>
          <a:p>
            <a:fld id="{ECDDF6DD-FE4A-8F4C-9E53-E49DC61037F4}" type="slidenum">
              <a:rPr lang="pt-BR" smtClean="0"/>
              <a:t>‹nº›</a:t>
            </a:fld>
            <a:endParaRPr lang="pt-BR"/>
          </a:p>
        </p:txBody>
      </p:sp>
      <p:sp>
        <p:nvSpPr>
          <p:cNvPr id="10" name="Espaço Reservado para Texto 10">
            <a:extLst>
              <a:ext uri="{FF2B5EF4-FFF2-40B4-BE49-F238E27FC236}">
                <a16:creationId xmlns:a16="http://schemas.microsoft.com/office/drawing/2014/main" id="{ABE64303-278A-41F5-75EE-9189F3860D5B}"/>
              </a:ext>
            </a:extLst>
          </p:cNvPr>
          <p:cNvSpPr>
            <a:spLocks noGrp="1"/>
          </p:cNvSpPr>
          <p:nvPr>
            <p:ph type="body" sz="quarter" idx="13" hasCustomPrompt="1"/>
          </p:nvPr>
        </p:nvSpPr>
        <p:spPr>
          <a:xfrm>
            <a:off x="6764177" y="45208"/>
            <a:ext cx="828675" cy="223837"/>
          </a:xfrm>
          <a:prstGeom prst="rect">
            <a:avLst/>
          </a:prstGeom>
        </p:spPr>
        <p:txBody>
          <a:bodyPr/>
          <a:lstStyle>
            <a:lvl1pPr marL="0" indent="0">
              <a:buNone/>
              <a:defRPr sz="700">
                <a:solidFill>
                  <a:schemeClr val="bg1"/>
                </a:solidFill>
              </a:defRPr>
            </a:lvl1pPr>
          </a:lstStyle>
          <a:p>
            <a:pPr lvl="0"/>
            <a:r>
              <a:rPr lang="pt-BR"/>
              <a:t>Num grupo</a:t>
            </a:r>
          </a:p>
        </p:txBody>
      </p:sp>
    </p:spTree>
    <p:extLst>
      <p:ext uri="{BB962C8B-B14F-4D97-AF65-F5344CB8AC3E}">
        <p14:creationId xmlns:p14="http://schemas.microsoft.com/office/powerpoint/2010/main" val="1971911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5B48A1-FFBA-5F24-33C8-4231D32D4D10}"/>
              </a:ext>
            </a:extLst>
          </p:cNvPr>
          <p:cNvSpPr>
            <a:spLocks noGrp="1"/>
          </p:cNvSpPr>
          <p:nvPr>
            <p:ph type="title"/>
          </p:nvPr>
        </p:nvSpPr>
        <p:spPr>
          <a:xfrm>
            <a:off x="534988" y="569913"/>
            <a:ext cx="6702425" cy="206692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E41DDB2A-7054-DA36-4EE8-D9ED2B1B6A55}"/>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4" name="Espaço Reservado para Rodapé 3">
            <a:extLst>
              <a:ext uri="{FF2B5EF4-FFF2-40B4-BE49-F238E27FC236}">
                <a16:creationId xmlns:a16="http://schemas.microsoft.com/office/drawing/2014/main" id="{DA88D280-7661-1F2E-6DCD-076A6879ED7A}"/>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479B9A36-D658-39C8-F788-9935598FA886}"/>
              </a:ext>
            </a:extLst>
          </p:cNvPr>
          <p:cNvSpPr>
            <a:spLocks noGrp="1"/>
          </p:cNvSpPr>
          <p:nvPr>
            <p:ph type="sldNum" sz="quarter" idx="12"/>
          </p:nvPr>
        </p:nvSpPr>
        <p:spPr/>
        <p:txBody>
          <a:bodyPr/>
          <a:lstStyle/>
          <a:p>
            <a:fld id="{ECDDF6DD-FE4A-8F4C-9E53-E49DC61037F4}" type="slidenum">
              <a:rPr lang="pt-BR" smtClean="0"/>
              <a:t>‹nº›</a:t>
            </a:fld>
            <a:endParaRPr lang="pt-BR"/>
          </a:p>
        </p:txBody>
      </p:sp>
      <p:sp>
        <p:nvSpPr>
          <p:cNvPr id="6" name="Espaço Reservado para Texto 10">
            <a:extLst>
              <a:ext uri="{FF2B5EF4-FFF2-40B4-BE49-F238E27FC236}">
                <a16:creationId xmlns:a16="http://schemas.microsoft.com/office/drawing/2014/main" id="{896DBC7E-29DF-8246-84E6-FBAC694FC47A}"/>
              </a:ext>
            </a:extLst>
          </p:cNvPr>
          <p:cNvSpPr>
            <a:spLocks noGrp="1"/>
          </p:cNvSpPr>
          <p:nvPr>
            <p:ph type="body" sz="quarter" idx="13" hasCustomPrompt="1"/>
          </p:nvPr>
        </p:nvSpPr>
        <p:spPr>
          <a:xfrm>
            <a:off x="6764177" y="45208"/>
            <a:ext cx="828675" cy="223837"/>
          </a:xfrm>
          <a:prstGeom prst="rect">
            <a:avLst/>
          </a:prstGeom>
        </p:spPr>
        <p:txBody>
          <a:bodyPr/>
          <a:lstStyle>
            <a:lvl1pPr marL="0" indent="0">
              <a:buNone/>
              <a:defRPr sz="700">
                <a:solidFill>
                  <a:schemeClr val="bg1"/>
                </a:solidFill>
              </a:defRPr>
            </a:lvl1pPr>
          </a:lstStyle>
          <a:p>
            <a:pPr lvl="0"/>
            <a:r>
              <a:rPr lang="pt-BR"/>
              <a:t>Num grupo</a:t>
            </a:r>
          </a:p>
        </p:txBody>
      </p:sp>
    </p:spTree>
    <p:extLst>
      <p:ext uri="{BB962C8B-B14F-4D97-AF65-F5344CB8AC3E}">
        <p14:creationId xmlns:p14="http://schemas.microsoft.com/office/powerpoint/2010/main" val="387786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3D25F230-93FB-A92D-5EA7-77CF5001266C}"/>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3" name="Espaço Reservado para Rodapé 2">
            <a:extLst>
              <a:ext uri="{FF2B5EF4-FFF2-40B4-BE49-F238E27FC236}">
                <a16:creationId xmlns:a16="http://schemas.microsoft.com/office/drawing/2014/main" id="{7A041763-B546-276E-FD20-A8486C366F9F}"/>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D4E1725E-70EC-924C-361E-B462F47D6DF0}"/>
              </a:ext>
            </a:extLst>
          </p:cNvPr>
          <p:cNvSpPr>
            <a:spLocks noGrp="1"/>
          </p:cNvSpPr>
          <p:nvPr>
            <p:ph type="sldNum" sz="quarter" idx="12"/>
          </p:nvPr>
        </p:nvSpPr>
        <p:spPr/>
        <p:txBody>
          <a:bodyPr/>
          <a:lstStyle/>
          <a:p>
            <a:fld id="{ECDDF6DD-FE4A-8F4C-9E53-E49DC61037F4}" type="slidenum">
              <a:rPr lang="pt-BR" smtClean="0"/>
              <a:t>‹nº›</a:t>
            </a:fld>
            <a:endParaRPr lang="pt-BR"/>
          </a:p>
        </p:txBody>
      </p:sp>
      <p:sp>
        <p:nvSpPr>
          <p:cNvPr id="5" name="Espaço Reservado para Texto 10">
            <a:extLst>
              <a:ext uri="{FF2B5EF4-FFF2-40B4-BE49-F238E27FC236}">
                <a16:creationId xmlns:a16="http://schemas.microsoft.com/office/drawing/2014/main" id="{123B8D4F-4074-C70B-BFED-23695A991664}"/>
              </a:ext>
            </a:extLst>
          </p:cNvPr>
          <p:cNvSpPr>
            <a:spLocks noGrp="1"/>
          </p:cNvSpPr>
          <p:nvPr>
            <p:ph type="body" sz="quarter" idx="13" hasCustomPrompt="1"/>
          </p:nvPr>
        </p:nvSpPr>
        <p:spPr>
          <a:xfrm>
            <a:off x="6764177" y="45208"/>
            <a:ext cx="828675" cy="223837"/>
          </a:xfrm>
          <a:prstGeom prst="rect">
            <a:avLst/>
          </a:prstGeom>
        </p:spPr>
        <p:txBody>
          <a:bodyPr/>
          <a:lstStyle>
            <a:lvl1pPr marL="0" indent="0">
              <a:buNone/>
              <a:defRPr sz="700">
                <a:solidFill>
                  <a:schemeClr val="bg1"/>
                </a:solidFill>
              </a:defRPr>
            </a:lvl1pPr>
          </a:lstStyle>
          <a:p>
            <a:pPr lvl="0"/>
            <a:r>
              <a:rPr lang="pt-BR"/>
              <a:t>Num grupo</a:t>
            </a:r>
          </a:p>
        </p:txBody>
      </p:sp>
    </p:spTree>
    <p:extLst>
      <p:ext uri="{BB962C8B-B14F-4D97-AF65-F5344CB8AC3E}">
        <p14:creationId xmlns:p14="http://schemas.microsoft.com/office/powerpoint/2010/main" val="3582926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1649AB-2760-8038-F1A0-F3E17FC6EA23}"/>
              </a:ext>
            </a:extLst>
          </p:cNvPr>
          <p:cNvSpPr>
            <a:spLocks noGrp="1"/>
          </p:cNvSpPr>
          <p:nvPr>
            <p:ph type="title"/>
          </p:nvPr>
        </p:nvSpPr>
        <p:spPr>
          <a:xfrm>
            <a:off x="534988" y="712788"/>
            <a:ext cx="2506662" cy="2495550"/>
          </a:xfrm>
          <a:prstGeom prst="rect">
            <a:avLst/>
          </a:prstGeo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3F4D6FE-9C4C-8676-E3C2-6A023697DA27}"/>
              </a:ext>
            </a:extLst>
          </p:cNvPr>
          <p:cNvSpPr>
            <a:spLocks noGrp="1"/>
          </p:cNvSpPr>
          <p:nvPr>
            <p:ph idx="1"/>
          </p:nvPr>
        </p:nvSpPr>
        <p:spPr>
          <a:xfrm>
            <a:off x="3303588" y="1539875"/>
            <a:ext cx="3935412" cy="75993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6C21B1AE-E4D7-791A-9B62-7F381A51B287}"/>
              </a:ext>
            </a:extLst>
          </p:cNvPr>
          <p:cNvSpPr>
            <a:spLocks noGrp="1"/>
          </p:cNvSpPr>
          <p:nvPr>
            <p:ph type="body" sz="half" idx="2"/>
          </p:nvPr>
        </p:nvSpPr>
        <p:spPr>
          <a:xfrm>
            <a:off x="534988" y="3208338"/>
            <a:ext cx="2506662" cy="5943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0578E65-D73E-8355-29D8-2282B7926D80}"/>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6" name="Espaço Reservado para Rodapé 5">
            <a:extLst>
              <a:ext uri="{FF2B5EF4-FFF2-40B4-BE49-F238E27FC236}">
                <a16:creationId xmlns:a16="http://schemas.microsoft.com/office/drawing/2014/main" id="{FE50DA13-B048-DE39-DCC8-239C1FEED35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EE141E1-4015-5940-D05A-25CC078E334B}"/>
              </a:ext>
            </a:extLst>
          </p:cNvPr>
          <p:cNvSpPr>
            <a:spLocks noGrp="1"/>
          </p:cNvSpPr>
          <p:nvPr>
            <p:ph type="sldNum" sz="quarter" idx="12"/>
          </p:nvPr>
        </p:nvSpPr>
        <p:spPr/>
        <p:txBody>
          <a:bodyPr/>
          <a:lstStyle/>
          <a:p>
            <a:fld id="{ECDDF6DD-FE4A-8F4C-9E53-E49DC61037F4}" type="slidenum">
              <a:rPr lang="pt-BR" smtClean="0"/>
              <a:t>‹nº›</a:t>
            </a:fld>
            <a:endParaRPr lang="pt-BR"/>
          </a:p>
        </p:txBody>
      </p:sp>
    </p:spTree>
    <p:extLst>
      <p:ext uri="{BB962C8B-B14F-4D97-AF65-F5344CB8AC3E}">
        <p14:creationId xmlns:p14="http://schemas.microsoft.com/office/powerpoint/2010/main" val="1788458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812F9D-7474-50E7-8DCD-5F0E5BC490EE}"/>
              </a:ext>
            </a:extLst>
          </p:cNvPr>
          <p:cNvSpPr>
            <a:spLocks noGrp="1"/>
          </p:cNvSpPr>
          <p:nvPr>
            <p:ph type="title"/>
          </p:nvPr>
        </p:nvSpPr>
        <p:spPr>
          <a:xfrm>
            <a:off x="534988" y="712788"/>
            <a:ext cx="2506662" cy="2495550"/>
          </a:xfrm>
          <a:prstGeom prst="rect">
            <a:avLst/>
          </a:prstGeo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26CCB4E4-EF32-C998-3A58-595CE32AFC05}"/>
              </a:ext>
            </a:extLst>
          </p:cNvPr>
          <p:cNvSpPr>
            <a:spLocks noGrp="1"/>
          </p:cNvSpPr>
          <p:nvPr>
            <p:ph type="pic" idx="1"/>
          </p:nvPr>
        </p:nvSpPr>
        <p:spPr>
          <a:xfrm>
            <a:off x="3303588" y="1539875"/>
            <a:ext cx="3935412" cy="75993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DC9D4212-8DC8-A8D2-AFED-3FE1112FD66D}"/>
              </a:ext>
            </a:extLst>
          </p:cNvPr>
          <p:cNvSpPr>
            <a:spLocks noGrp="1"/>
          </p:cNvSpPr>
          <p:nvPr>
            <p:ph type="body" sz="half" idx="2"/>
          </p:nvPr>
        </p:nvSpPr>
        <p:spPr>
          <a:xfrm>
            <a:off x="534988" y="3208338"/>
            <a:ext cx="2506662" cy="5943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E2A9175-E08D-D2EE-372E-0851C74C409C}"/>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6" name="Espaço Reservado para Rodapé 5">
            <a:extLst>
              <a:ext uri="{FF2B5EF4-FFF2-40B4-BE49-F238E27FC236}">
                <a16:creationId xmlns:a16="http://schemas.microsoft.com/office/drawing/2014/main" id="{958F83F2-D0E2-638B-6693-CEE43ADE652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72398AD-C6A6-F5E1-9417-1621303D907C}"/>
              </a:ext>
            </a:extLst>
          </p:cNvPr>
          <p:cNvSpPr>
            <a:spLocks noGrp="1"/>
          </p:cNvSpPr>
          <p:nvPr>
            <p:ph type="sldNum" sz="quarter" idx="12"/>
          </p:nvPr>
        </p:nvSpPr>
        <p:spPr/>
        <p:txBody>
          <a:bodyPr/>
          <a:lstStyle/>
          <a:p>
            <a:fld id="{ECDDF6DD-FE4A-8F4C-9E53-E49DC61037F4}" type="slidenum">
              <a:rPr lang="pt-BR" smtClean="0"/>
              <a:t>‹nº›</a:t>
            </a:fld>
            <a:endParaRPr lang="pt-BR"/>
          </a:p>
        </p:txBody>
      </p:sp>
    </p:spTree>
    <p:extLst>
      <p:ext uri="{BB962C8B-B14F-4D97-AF65-F5344CB8AC3E}">
        <p14:creationId xmlns:p14="http://schemas.microsoft.com/office/powerpoint/2010/main" val="1265041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40C442-0737-4329-8530-819B5C6A6576}"/>
              </a:ext>
            </a:extLst>
          </p:cNvPr>
          <p:cNvSpPr>
            <a:spLocks noGrp="1"/>
          </p:cNvSpPr>
          <p:nvPr>
            <p:ph type="title"/>
          </p:nvPr>
        </p:nvSpPr>
        <p:spPr>
          <a:xfrm>
            <a:off x="534988" y="569913"/>
            <a:ext cx="6702425" cy="2066925"/>
          </a:xfrm>
          <a:prstGeom prst="rect">
            <a:avLst/>
          </a:prstGeom>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1A30F477-354E-1031-62E0-612FD9E38131}"/>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791A4B2-FA2B-4A94-1540-8405CB42AAE2}"/>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5" name="Espaço Reservado para Rodapé 4">
            <a:extLst>
              <a:ext uri="{FF2B5EF4-FFF2-40B4-BE49-F238E27FC236}">
                <a16:creationId xmlns:a16="http://schemas.microsoft.com/office/drawing/2014/main" id="{4A79E28B-B398-FFF5-D27A-641CAD3A949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F3FE491-3771-D249-2F98-0A6ECE07333F}"/>
              </a:ext>
            </a:extLst>
          </p:cNvPr>
          <p:cNvSpPr>
            <a:spLocks noGrp="1"/>
          </p:cNvSpPr>
          <p:nvPr>
            <p:ph type="sldNum" sz="quarter" idx="12"/>
          </p:nvPr>
        </p:nvSpPr>
        <p:spPr/>
        <p:txBody>
          <a:bodyPr/>
          <a:lstStyle/>
          <a:p>
            <a:fld id="{ECDDF6DD-FE4A-8F4C-9E53-E49DC61037F4}" type="slidenum">
              <a:rPr lang="pt-BR" smtClean="0"/>
              <a:t>‹nº›</a:t>
            </a:fld>
            <a:endParaRPr lang="pt-BR"/>
          </a:p>
        </p:txBody>
      </p:sp>
    </p:spTree>
    <p:extLst>
      <p:ext uri="{BB962C8B-B14F-4D97-AF65-F5344CB8AC3E}">
        <p14:creationId xmlns:p14="http://schemas.microsoft.com/office/powerpoint/2010/main" val="33232951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6135E9C-60BD-7951-868E-2680A9B21BF1}"/>
              </a:ext>
            </a:extLst>
          </p:cNvPr>
          <p:cNvSpPr>
            <a:spLocks noGrp="1"/>
          </p:cNvSpPr>
          <p:nvPr>
            <p:ph type="title" orient="vert"/>
          </p:nvPr>
        </p:nvSpPr>
        <p:spPr>
          <a:xfrm>
            <a:off x="5562600" y="569913"/>
            <a:ext cx="1674813" cy="9061450"/>
          </a:xfrm>
          <a:prstGeom prst="rect">
            <a:avLst/>
          </a:prstGeo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4EFAB302-1466-AA2E-F2E2-455ACB991336}"/>
              </a:ext>
            </a:extLst>
          </p:cNvPr>
          <p:cNvSpPr>
            <a:spLocks noGrp="1"/>
          </p:cNvSpPr>
          <p:nvPr>
            <p:ph type="body" orient="vert" idx="1"/>
          </p:nvPr>
        </p:nvSpPr>
        <p:spPr>
          <a:xfrm>
            <a:off x="534988" y="569913"/>
            <a:ext cx="4875212" cy="9061450"/>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A2D91F3-890D-29A2-4808-0EABB5336AA3}"/>
              </a:ext>
            </a:extLst>
          </p:cNvPr>
          <p:cNvSpPr>
            <a:spLocks noGrp="1"/>
          </p:cNvSpPr>
          <p:nvPr>
            <p:ph type="dt" sz="half" idx="10"/>
          </p:nvPr>
        </p:nvSpPr>
        <p:spPr/>
        <p:txBody>
          <a:bodyPr/>
          <a:lstStyle/>
          <a:p>
            <a:fld id="{8B00BDF9-35EE-434C-AFF8-F7228B694BCA}" type="datetimeFigureOut">
              <a:rPr lang="pt-BR" smtClean="0"/>
              <a:t>21/05/2025</a:t>
            </a:fld>
            <a:endParaRPr lang="pt-BR"/>
          </a:p>
        </p:txBody>
      </p:sp>
      <p:sp>
        <p:nvSpPr>
          <p:cNvPr id="5" name="Espaço Reservado para Rodapé 4">
            <a:extLst>
              <a:ext uri="{FF2B5EF4-FFF2-40B4-BE49-F238E27FC236}">
                <a16:creationId xmlns:a16="http://schemas.microsoft.com/office/drawing/2014/main" id="{2C48FB23-A9B5-175D-06A6-5E65947ECB1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727585C-A47C-15A1-59ED-A8E418BFDA88}"/>
              </a:ext>
            </a:extLst>
          </p:cNvPr>
          <p:cNvSpPr>
            <a:spLocks noGrp="1"/>
          </p:cNvSpPr>
          <p:nvPr>
            <p:ph type="sldNum" sz="quarter" idx="12"/>
          </p:nvPr>
        </p:nvSpPr>
        <p:spPr/>
        <p:txBody>
          <a:bodyPr/>
          <a:lstStyle/>
          <a:p>
            <a:fld id="{ECDDF6DD-FE4A-8F4C-9E53-E49DC61037F4}" type="slidenum">
              <a:rPr lang="pt-BR" smtClean="0"/>
              <a:t>‹nº›</a:t>
            </a:fld>
            <a:endParaRPr lang="pt-BR"/>
          </a:p>
        </p:txBody>
      </p:sp>
    </p:spTree>
    <p:extLst>
      <p:ext uri="{BB962C8B-B14F-4D97-AF65-F5344CB8AC3E}">
        <p14:creationId xmlns:p14="http://schemas.microsoft.com/office/powerpoint/2010/main" val="6041729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D0B344BE-0E94-46F0-A8D0-C638FDE01CD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3738655" y="-3738658"/>
            <a:ext cx="295089" cy="7772400"/>
          </a:xfrm>
          <a:prstGeom prst="rect">
            <a:avLst/>
          </a:prstGeom>
        </p:spPr>
      </p:pic>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5/21/2025</a:t>
            </a:fld>
            <a:endParaRPr lang="en-US"/>
          </a:p>
        </p:txBody>
      </p:sp>
      <p:pic>
        <p:nvPicPr>
          <p:cNvPr id="11" name="Imagem 10">
            <a:extLst>
              <a:ext uri="{FF2B5EF4-FFF2-40B4-BE49-F238E27FC236}">
                <a16:creationId xmlns:a16="http://schemas.microsoft.com/office/drawing/2014/main" id="{99C08F38-FC8B-4A47-A4D5-087838216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353827" y="31873"/>
            <a:ext cx="302959" cy="231337"/>
          </a:xfrm>
          <a:prstGeom prst="rect">
            <a:avLst/>
          </a:prstGeom>
        </p:spPr>
      </p:pic>
      <p:sp>
        <p:nvSpPr>
          <p:cNvPr id="12" name="object 340">
            <a:extLst>
              <a:ext uri="{FF2B5EF4-FFF2-40B4-BE49-F238E27FC236}">
                <a16:creationId xmlns:a16="http://schemas.microsoft.com/office/drawing/2014/main" id="{E0BEADFC-6BD2-47E1-93A1-431CF5D0CBD9}"/>
              </a:ext>
            </a:extLst>
          </p:cNvPr>
          <p:cNvSpPr/>
          <p:nvPr userDrawn="1"/>
        </p:nvSpPr>
        <p:spPr>
          <a:xfrm>
            <a:off x="5186681" y="446899"/>
            <a:ext cx="2585720"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
        <p:nvSpPr>
          <p:cNvPr id="17" name="object 340">
            <a:extLst>
              <a:ext uri="{FF2B5EF4-FFF2-40B4-BE49-F238E27FC236}">
                <a16:creationId xmlns:a16="http://schemas.microsoft.com/office/drawing/2014/main" id="{D1D1D683-735D-4564-8DC2-B4350317C7F5}"/>
              </a:ext>
            </a:extLst>
          </p:cNvPr>
          <p:cNvSpPr/>
          <p:nvPr userDrawn="1"/>
        </p:nvSpPr>
        <p:spPr>
          <a:xfrm rot="16200000">
            <a:off x="1254388" y="4360554"/>
            <a:ext cx="9710824"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
        <p:nvSpPr>
          <p:cNvPr id="18" name="object 340">
            <a:extLst>
              <a:ext uri="{FF2B5EF4-FFF2-40B4-BE49-F238E27FC236}">
                <a16:creationId xmlns:a16="http://schemas.microsoft.com/office/drawing/2014/main" id="{07972958-A2D9-4036-92BA-A08CB9394917}"/>
              </a:ext>
            </a:extLst>
          </p:cNvPr>
          <p:cNvSpPr/>
          <p:nvPr userDrawn="1"/>
        </p:nvSpPr>
        <p:spPr>
          <a:xfrm>
            <a:off x="5167360" y="10139082"/>
            <a:ext cx="2605039"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D0B344BE-0E94-46F0-A8D0-C638FDE01CD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3738655" y="-3738658"/>
            <a:ext cx="295089" cy="7772400"/>
          </a:xfrm>
          <a:prstGeom prst="rect">
            <a:avLst/>
          </a:prstGeom>
        </p:spPr>
      </p:pic>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5/21/2025</a:t>
            </a:fld>
            <a:endParaRPr lang="en-US"/>
          </a:p>
        </p:txBody>
      </p:sp>
      <p:pic>
        <p:nvPicPr>
          <p:cNvPr id="11" name="Imagem 10">
            <a:extLst>
              <a:ext uri="{FF2B5EF4-FFF2-40B4-BE49-F238E27FC236}">
                <a16:creationId xmlns:a16="http://schemas.microsoft.com/office/drawing/2014/main" id="{99C08F38-FC8B-4A47-A4D5-087838216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353827" y="31873"/>
            <a:ext cx="302959" cy="231337"/>
          </a:xfrm>
          <a:prstGeom prst="rect">
            <a:avLst/>
          </a:prstGeom>
        </p:spPr>
      </p:pic>
      <p:sp>
        <p:nvSpPr>
          <p:cNvPr id="12" name="object 340">
            <a:extLst>
              <a:ext uri="{FF2B5EF4-FFF2-40B4-BE49-F238E27FC236}">
                <a16:creationId xmlns:a16="http://schemas.microsoft.com/office/drawing/2014/main" id="{E0BEADFC-6BD2-47E1-93A1-431CF5D0CBD9}"/>
              </a:ext>
            </a:extLst>
          </p:cNvPr>
          <p:cNvSpPr/>
          <p:nvPr userDrawn="1"/>
        </p:nvSpPr>
        <p:spPr>
          <a:xfrm>
            <a:off x="5186681" y="446899"/>
            <a:ext cx="2585720" cy="184623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
        <p:nvSpPr>
          <p:cNvPr id="17" name="object 340">
            <a:extLst>
              <a:ext uri="{FF2B5EF4-FFF2-40B4-BE49-F238E27FC236}">
                <a16:creationId xmlns:a16="http://schemas.microsoft.com/office/drawing/2014/main" id="{D1D1D683-735D-4564-8DC2-B4350317C7F5}"/>
              </a:ext>
            </a:extLst>
          </p:cNvPr>
          <p:cNvSpPr/>
          <p:nvPr userDrawn="1"/>
        </p:nvSpPr>
        <p:spPr>
          <a:xfrm rot="16200000">
            <a:off x="2020368" y="3584911"/>
            <a:ext cx="8169204" cy="1855898"/>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
        <p:nvSpPr>
          <p:cNvPr id="18" name="object 340">
            <a:extLst>
              <a:ext uri="{FF2B5EF4-FFF2-40B4-BE49-F238E27FC236}">
                <a16:creationId xmlns:a16="http://schemas.microsoft.com/office/drawing/2014/main" id="{07972958-A2D9-4036-92BA-A08CB9394917}"/>
              </a:ext>
            </a:extLst>
          </p:cNvPr>
          <p:cNvSpPr/>
          <p:nvPr userDrawn="1"/>
        </p:nvSpPr>
        <p:spPr>
          <a:xfrm>
            <a:off x="5172190" y="8597462"/>
            <a:ext cx="2614701" cy="2375991"/>
          </a:xfrm>
          <a:custGeom>
            <a:avLst/>
            <a:gdLst/>
            <a:ahLst/>
            <a:cxnLst/>
            <a:rect l="l" t="t" r="r" b="b"/>
            <a:pathLst>
              <a:path w="2159634">
                <a:moveTo>
                  <a:pt x="0" y="0"/>
                </a:moveTo>
                <a:lnTo>
                  <a:pt x="2159635" y="1"/>
                </a:lnTo>
              </a:path>
            </a:pathLst>
          </a:custGeom>
          <a:ln w="38100">
            <a:solidFill>
              <a:srgbClr val="0D366C"/>
            </a:solidFill>
          </a:ln>
        </p:spPr>
        <p:txBody>
          <a:bodyPr wrap="square" lIns="0" tIns="0" rIns="0" bIns="0" rtlCol="0"/>
          <a:lstStyle/>
          <a:p>
            <a:endParaRPr/>
          </a:p>
        </p:txBody>
      </p:sp>
    </p:spTree>
    <p:extLst>
      <p:ext uri="{BB962C8B-B14F-4D97-AF65-F5344CB8AC3E}">
        <p14:creationId xmlns:p14="http://schemas.microsoft.com/office/powerpoint/2010/main" val="1063322400"/>
      </p:ext>
    </p:extLst>
  </p:cSld>
  <p:clrMap bg1="lt1" tx1="dk1" bg2="lt2" tx2="dk2" accent1="accent1" accent2="accent2" accent3="accent3" accent4="accent4" accent5="accent5" accent6="accent6" hlink="hlink" folHlink="folHlink"/>
  <p:sldLayoutIdLst>
    <p:sldLayoutId id="2147483675"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5C70EC06-35C8-2393-1B3E-A196C69033FC}"/>
              </a:ext>
            </a:extLst>
          </p:cNvPr>
          <p:cNvSpPr>
            <a:spLocks noGrp="1"/>
          </p:cNvSpPr>
          <p:nvPr>
            <p:ph type="body" idx="1"/>
          </p:nvPr>
        </p:nvSpPr>
        <p:spPr>
          <a:xfrm>
            <a:off x="254833" y="449706"/>
            <a:ext cx="7300209" cy="918165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63B1DF7-7BAB-AA54-6F75-E1AF8F63A90E}"/>
              </a:ext>
            </a:extLst>
          </p:cNvPr>
          <p:cNvSpPr>
            <a:spLocks noGrp="1"/>
          </p:cNvSpPr>
          <p:nvPr>
            <p:ph type="dt" sz="half" idx="2"/>
          </p:nvPr>
        </p:nvSpPr>
        <p:spPr>
          <a:xfrm>
            <a:off x="534988" y="9910763"/>
            <a:ext cx="1747837" cy="569912"/>
          </a:xfrm>
          <a:prstGeom prst="rect">
            <a:avLst/>
          </a:prstGeom>
        </p:spPr>
        <p:txBody>
          <a:bodyPr vert="horz" lIns="91440" tIns="45720" rIns="91440" bIns="45720" rtlCol="0" anchor="ctr"/>
          <a:lstStyle>
            <a:lvl1pPr algn="l">
              <a:defRPr sz="1200">
                <a:solidFill>
                  <a:schemeClr val="tx1">
                    <a:tint val="82000"/>
                  </a:schemeClr>
                </a:solidFill>
              </a:defRPr>
            </a:lvl1pPr>
          </a:lstStyle>
          <a:p>
            <a:fld id="{8B00BDF9-35EE-434C-AFF8-F7228B694BCA}" type="datetimeFigureOut">
              <a:rPr lang="pt-BR" smtClean="0"/>
              <a:t>21/05/2025</a:t>
            </a:fld>
            <a:endParaRPr lang="pt-BR"/>
          </a:p>
        </p:txBody>
      </p:sp>
      <p:sp>
        <p:nvSpPr>
          <p:cNvPr id="5" name="Espaço Reservado para Rodapé 4">
            <a:extLst>
              <a:ext uri="{FF2B5EF4-FFF2-40B4-BE49-F238E27FC236}">
                <a16:creationId xmlns:a16="http://schemas.microsoft.com/office/drawing/2014/main" id="{C2BB1AFE-0078-7D6F-20D4-F9A4B2CFBDA5}"/>
              </a:ext>
            </a:extLst>
          </p:cNvPr>
          <p:cNvSpPr>
            <a:spLocks noGrp="1"/>
          </p:cNvSpPr>
          <p:nvPr>
            <p:ph type="ftr" sz="quarter" idx="3"/>
          </p:nvPr>
        </p:nvSpPr>
        <p:spPr>
          <a:xfrm>
            <a:off x="2574925" y="9910763"/>
            <a:ext cx="2622550" cy="569912"/>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DA3747D7-DB4B-80F6-04EB-158ECB43CA7F}"/>
              </a:ext>
            </a:extLst>
          </p:cNvPr>
          <p:cNvSpPr>
            <a:spLocks noGrp="1"/>
          </p:cNvSpPr>
          <p:nvPr>
            <p:ph type="sldNum" sz="quarter" idx="4"/>
          </p:nvPr>
        </p:nvSpPr>
        <p:spPr>
          <a:xfrm>
            <a:off x="5489575" y="9910763"/>
            <a:ext cx="1747838" cy="569912"/>
          </a:xfrm>
          <a:prstGeom prst="rect">
            <a:avLst/>
          </a:prstGeom>
        </p:spPr>
        <p:txBody>
          <a:bodyPr vert="horz" lIns="91440" tIns="45720" rIns="91440" bIns="45720" rtlCol="0" anchor="ctr"/>
          <a:lstStyle>
            <a:lvl1pPr algn="r">
              <a:defRPr sz="1200">
                <a:solidFill>
                  <a:schemeClr val="tx1">
                    <a:tint val="82000"/>
                  </a:schemeClr>
                </a:solidFill>
              </a:defRPr>
            </a:lvl1pPr>
          </a:lstStyle>
          <a:p>
            <a:fld id="{ECDDF6DD-FE4A-8F4C-9E53-E49DC61037F4}" type="slidenum">
              <a:rPr lang="pt-BR" smtClean="0"/>
              <a:t>‹nº›</a:t>
            </a:fld>
            <a:endParaRPr lang="pt-BR"/>
          </a:p>
        </p:txBody>
      </p:sp>
      <p:pic>
        <p:nvPicPr>
          <p:cNvPr id="2" name="Imagem 1">
            <a:extLst>
              <a:ext uri="{FF2B5EF4-FFF2-40B4-BE49-F238E27FC236}">
                <a16:creationId xmlns:a16="http://schemas.microsoft.com/office/drawing/2014/main" id="{E3168E77-2C4D-03BA-34A3-2D6A7F3B922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rot="16200000">
            <a:off x="3738655" y="-3738658"/>
            <a:ext cx="295089" cy="7772400"/>
          </a:xfrm>
          <a:prstGeom prst="rect">
            <a:avLst/>
          </a:prstGeom>
        </p:spPr>
      </p:pic>
      <p:pic>
        <p:nvPicPr>
          <p:cNvPr id="8" name="Imagem 7">
            <a:extLst>
              <a:ext uri="{FF2B5EF4-FFF2-40B4-BE49-F238E27FC236}">
                <a16:creationId xmlns:a16="http://schemas.microsoft.com/office/drawing/2014/main" id="{4673F284-7E1F-83E8-9500-D80FB255BD4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353827" y="31873"/>
            <a:ext cx="302959" cy="231337"/>
          </a:xfrm>
          <a:prstGeom prst="rect">
            <a:avLst/>
          </a:prstGeom>
        </p:spPr>
      </p:pic>
    </p:spTree>
    <p:extLst>
      <p:ext uri="{BB962C8B-B14F-4D97-AF65-F5344CB8AC3E}">
        <p14:creationId xmlns:p14="http://schemas.microsoft.com/office/powerpoint/2010/main" val="210018881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1.wdp"/><Relationship Id="rId10" Type="http://schemas.openxmlformats.org/officeDocument/2006/relationships/image" Target="../media/image7.emf"/><Relationship Id="rId4" Type="http://schemas.openxmlformats.org/officeDocument/2006/relationships/image" Target="../media/image4.png"/><Relationship Id="rId9" Type="http://schemas.openxmlformats.org/officeDocument/2006/relationships/package" Target="../embeddings/Microsoft_Excel_Worksheet.xlsx"/></Relationships>
</file>

<file path=ppt/slides/_rels/slide2.xml.rels><?xml version="1.0" encoding="UTF-8" standalone="yes"?>
<Relationships xmlns="http://schemas.openxmlformats.org/package/2006/relationships"><Relationship Id="rId8" Type="http://schemas.openxmlformats.org/officeDocument/2006/relationships/chart" Target="../charts/chart3.xml"/><Relationship Id="rId3" Type="http://schemas.microsoft.com/office/2014/relationships/chartEx" Target="../charts/chartEx1.xml"/><Relationship Id="rId7"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microsoft.com/office/2014/relationships/chartEx" Target="../charts/chartEx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Excel_Worksheet1.xlsx"/><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chart" Target="../charts/chart9.xml"/><Relationship Id="rId4" Type="http://schemas.openxmlformats.org/officeDocument/2006/relationships/chart" Target="../charts/chart8.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5.svg"/><Relationship Id="rId12"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6.xml.rels><?xml version="1.0" encoding="UTF-8" standalone="yes"?>
<Relationships xmlns="http://schemas.openxmlformats.org/package/2006/relationships"><Relationship Id="rId8" Type="http://schemas.openxmlformats.org/officeDocument/2006/relationships/package" Target="../embeddings/Microsoft_Excel_Worksheet4.xlsx"/><Relationship Id="rId3" Type="http://schemas.openxmlformats.org/officeDocument/2006/relationships/package" Target="../embeddings/Microsoft_Excel_Worksheet2.xlsx"/><Relationship Id="rId7" Type="http://schemas.openxmlformats.org/officeDocument/2006/relationships/image" Target="../media/image21.em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package" Target="../embeddings/Microsoft_Excel_Worksheet3.xlsx"/><Relationship Id="rId5" Type="http://schemas.openxmlformats.org/officeDocument/2006/relationships/chart" Target="../charts/chart12.xml"/><Relationship Id="rId4" Type="http://schemas.openxmlformats.org/officeDocument/2006/relationships/image" Target="../media/image20.emf"/><Relationship Id="rId9" Type="http://schemas.openxmlformats.org/officeDocument/2006/relationships/image" Target="../media/image22.emf"/></Relationships>
</file>

<file path=ppt/slides/_rels/slide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5.xml"/><Relationship Id="rId7" Type="http://schemas.openxmlformats.org/officeDocument/2006/relationships/chart" Target="../charts/chart18.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chart" Target="../charts/chart17.xml"/><Relationship Id="rId5" Type="http://schemas.openxmlformats.org/officeDocument/2006/relationships/chart" Target="../charts/chart16.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chart" Target="../charts/chart20.xml"/><Relationship Id="rId13" Type="http://schemas.openxmlformats.org/officeDocument/2006/relationships/chart" Target="../charts/chart25.xml"/><Relationship Id="rId3" Type="http://schemas.openxmlformats.org/officeDocument/2006/relationships/hyperlink" Target="https://pt.tradingeconomics.com/germany/electricity-price" TargetMode="External"/><Relationship Id="rId7" Type="http://schemas.openxmlformats.org/officeDocument/2006/relationships/chart" Target="../charts/chart19.xml"/><Relationship Id="rId12" Type="http://schemas.openxmlformats.org/officeDocument/2006/relationships/chart" Target="../charts/chart24.xml"/><Relationship Id="rId2" Type="http://schemas.openxmlformats.org/officeDocument/2006/relationships/hyperlink" Target="https://pt.tradingeconomics.com/united-kingdom/electricity-price" TargetMode="External"/><Relationship Id="rId1" Type="http://schemas.openxmlformats.org/officeDocument/2006/relationships/slideLayout" Target="../slideLayouts/slideLayout4.xml"/><Relationship Id="rId6" Type="http://schemas.openxmlformats.org/officeDocument/2006/relationships/hyperlink" Target="https://pt.tradingeconomics.com/italy/electricity-price" TargetMode="External"/><Relationship Id="rId11" Type="http://schemas.openxmlformats.org/officeDocument/2006/relationships/chart" Target="../charts/chart23.xml"/><Relationship Id="rId5" Type="http://schemas.openxmlformats.org/officeDocument/2006/relationships/hyperlink" Target="https://pt.tradingeconomics.com/spain/electricity-price" TargetMode="External"/><Relationship Id="rId10" Type="http://schemas.openxmlformats.org/officeDocument/2006/relationships/chart" Target="../charts/chart22.xml"/><Relationship Id="rId4" Type="http://schemas.openxmlformats.org/officeDocument/2006/relationships/hyperlink" Target="https://pt.tradingeconomics.com/france/electricity-price" TargetMode="External"/><Relationship Id="rId9" Type="http://schemas.openxmlformats.org/officeDocument/2006/relationships/chart" Target="../charts/char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93D2A4AE-38EA-2690-BCD9-B1221B1F8BD9}"/>
              </a:ext>
            </a:extLst>
          </p:cNvPr>
          <p:cNvSpPr>
            <a:spLocks noGrp="1"/>
          </p:cNvSpPr>
          <p:nvPr>
            <p:ph type="body" sz="quarter" idx="10"/>
          </p:nvPr>
        </p:nvSpPr>
        <p:spPr/>
        <p:txBody>
          <a:bodyPr/>
          <a:lstStyle/>
          <a:p>
            <a:r>
              <a:rPr lang="en-US"/>
              <a:t>Group 2</a:t>
            </a:r>
          </a:p>
          <a:p>
            <a:endParaRPr lang="pt-BR"/>
          </a:p>
        </p:txBody>
      </p:sp>
      <p:sp>
        <p:nvSpPr>
          <p:cNvPr id="3" name="Espaço Reservado para Texto 2">
            <a:extLst>
              <a:ext uri="{FF2B5EF4-FFF2-40B4-BE49-F238E27FC236}">
                <a16:creationId xmlns:a16="http://schemas.microsoft.com/office/drawing/2014/main" id="{E10C6891-1801-FFE5-50B7-5831D992F297}"/>
              </a:ext>
            </a:extLst>
          </p:cNvPr>
          <p:cNvSpPr>
            <a:spLocks noGrp="1"/>
          </p:cNvSpPr>
          <p:nvPr>
            <p:ph type="body" sz="quarter" idx="11"/>
          </p:nvPr>
        </p:nvSpPr>
        <p:spPr>
          <a:xfrm>
            <a:off x="201283" y="696584"/>
            <a:ext cx="4866017" cy="7757599"/>
          </a:xfrm>
        </p:spPr>
        <p:txBody>
          <a:bodyPr lIns="91440" tIns="45720" rIns="91440" bIns="45720" anchor="t"/>
          <a:lstStyle/>
          <a:p>
            <a:pPr algn="just" rtl="0"/>
            <a:r>
              <a:rPr lang="en-US" b="0" i="0" u="none" strike="noStrike">
                <a:solidFill>
                  <a:schemeClr val="tx1"/>
                </a:solidFill>
                <a:effectLst/>
              </a:rPr>
              <a:t>We are initiating coverage of WEG S.A. (B3: WEGE3 / OTC: WEGZY) with a HOLD recommendation and a target price of BRL </a:t>
            </a:r>
            <a:r>
              <a:rPr lang="en-US">
                <a:solidFill>
                  <a:schemeClr val="tx1"/>
                </a:solidFill>
              </a:rPr>
              <a:t>53,38</a:t>
            </a:r>
            <a:r>
              <a:rPr lang="en-US" b="0" i="0" u="none" strike="noStrike">
                <a:solidFill>
                  <a:schemeClr val="tx1"/>
                </a:solidFill>
                <a:effectLst/>
              </a:rPr>
              <a:t>, based on a discounted cash flow (DCF) valuation. This implies a potential upside of 10% compared to the 1-month Volume Weighted Average Price (VWAP) of BRL (current price). We base our recommendation on four key catalysts: (</a:t>
            </a:r>
            <a:r>
              <a:rPr lang="en-US" b="0" i="0" u="none" strike="noStrike" err="1">
                <a:solidFill>
                  <a:schemeClr val="tx1"/>
                </a:solidFill>
                <a:effectLst/>
              </a:rPr>
              <a:t>i</a:t>
            </a:r>
            <a:r>
              <a:rPr lang="en-US" b="0" i="0" u="none" strike="noStrike">
                <a:solidFill>
                  <a:schemeClr val="tx1"/>
                </a:solidFill>
                <a:effectLst/>
              </a:rPr>
              <a:t>) Inorganic Growth in Emergent Markets is Underrecognized; (ii) Unpriced Opportunity for WEG in the Data Center Market; (iii) Adaptability to market dynamics through technology; and (iv) leadership in energy transition themes, with a focus on regulatory alignment, efficiency, and sustainability.</a:t>
            </a:r>
            <a:endParaRPr lang="en-US" b="1" i="0" u="none" strike="noStrike">
              <a:solidFill>
                <a:schemeClr val="tx1"/>
              </a:solidFill>
              <a:effectLst/>
            </a:endParaRPr>
          </a:p>
          <a:p>
            <a:pPr algn="just" rtl="0"/>
            <a:r>
              <a:rPr lang="en-US" sz="1000" b="1" i="0" u="none" strike="noStrike">
                <a:solidFill>
                  <a:schemeClr val="accent1"/>
                </a:solidFill>
                <a:effectLst/>
              </a:rPr>
              <a:t>1. Inorganic Growth in Emergent Markets is </a:t>
            </a:r>
            <a:r>
              <a:rPr lang="en-US" sz="1000" b="1" i="0" u="none" strike="noStrike">
                <a:solidFill>
                  <a:srgbClr val="172C63"/>
                </a:solidFill>
                <a:effectLst/>
              </a:rPr>
              <a:t>Underrecognized</a:t>
            </a:r>
            <a:endParaRPr lang="en-US" sz="1000" b="1" i="0" u="none" strike="noStrike">
              <a:solidFill>
                <a:srgbClr val="172C63"/>
              </a:solidFill>
              <a:effectLst/>
              <a:ea typeface="Calibri"/>
              <a:cs typeface="Calibri"/>
            </a:endParaRPr>
          </a:p>
          <a:p>
            <a:pPr algn="just"/>
            <a:r>
              <a:rPr lang="pt-BR"/>
              <a:t>WEG derives </a:t>
            </a:r>
            <a:r>
              <a:rPr lang="pt-BR" err="1"/>
              <a:t>about</a:t>
            </a:r>
            <a:r>
              <a:rPr lang="pt-BR"/>
              <a:t> 15% of its </a:t>
            </a:r>
            <a:r>
              <a:rPr lang="pt-BR" err="1"/>
              <a:t>revenue</a:t>
            </a:r>
            <a:r>
              <a:rPr lang="pt-BR"/>
              <a:t> </a:t>
            </a:r>
            <a:r>
              <a:rPr lang="pt-BR" err="1"/>
              <a:t>from</a:t>
            </a:r>
            <a:r>
              <a:rPr lang="pt-BR"/>
              <a:t> </a:t>
            </a:r>
            <a:r>
              <a:rPr lang="pt-BR" err="1"/>
              <a:t>inorganic</a:t>
            </a:r>
            <a:r>
              <a:rPr lang="pt-BR"/>
              <a:t> </a:t>
            </a:r>
            <a:r>
              <a:rPr lang="pt-BR" err="1"/>
              <a:t>growth</a:t>
            </a:r>
            <a:r>
              <a:rPr lang="pt-BR"/>
              <a:t>, </a:t>
            </a:r>
            <a:r>
              <a:rPr lang="pt-BR" err="1"/>
              <a:t>underscoring</a:t>
            </a:r>
            <a:r>
              <a:rPr lang="pt-BR"/>
              <a:t> the role of M&amp;A and joint ventures in its </a:t>
            </a:r>
            <a:r>
              <a:rPr lang="pt-BR" err="1"/>
              <a:t>international</a:t>
            </a:r>
            <a:r>
              <a:rPr lang="pt-BR"/>
              <a:t> </a:t>
            </a:r>
            <a:r>
              <a:rPr lang="pt-BR" err="1"/>
              <a:t>strategy</a:t>
            </a:r>
            <a:r>
              <a:rPr lang="pt-BR"/>
              <a:t>, </a:t>
            </a:r>
            <a:r>
              <a:rPr lang="pt-BR" err="1">
                <a:solidFill>
                  <a:schemeClr val="tx1"/>
                </a:solidFill>
                <a:ea typeface="+mn-lt"/>
                <a:cs typeface="+mn-lt"/>
              </a:rPr>
              <a:t>primarily</a:t>
            </a:r>
            <a:r>
              <a:rPr lang="pt-BR">
                <a:solidFill>
                  <a:schemeClr val="tx1"/>
                </a:solidFill>
                <a:ea typeface="+mn-lt"/>
                <a:cs typeface="+mn-lt"/>
              </a:rPr>
              <a:t> </a:t>
            </a:r>
            <a:r>
              <a:rPr lang="pt-BR" err="1">
                <a:solidFill>
                  <a:schemeClr val="tx1"/>
                </a:solidFill>
                <a:ea typeface="+mn-lt"/>
                <a:cs typeface="+mn-lt"/>
              </a:rPr>
              <a:t>aimed</a:t>
            </a:r>
            <a:r>
              <a:rPr lang="pt-BR">
                <a:solidFill>
                  <a:schemeClr val="tx1"/>
                </a:solidFill>
                <a:ea typeface="+mn-lt"/>
                <a:cs typeface="+mn-lt"/>
              </a:rPr>
              <a:t> </a:t>
            </a:r>
            <a:r>
              <a:rPr lang="pt-BR" err="1">
                <a:solidFill>
                  <a:schemeClr val="tx1"/>
                </a:solidFill>
                <a:ea typeface="+mn-lt"/>
                <a:cs typeface="+mn-lt"/>
              </a:rPr>
              <a:t>at</a:t>
            </a:r>
            <a:r>
              <a:rPr lang="pt-BR">
                <a:solidFill>
                  <a:schemeClr val="tx1"/>
                </a:solidFill>
                <a:ea typeface="+mn-lt"/>
                <a:cs typeface="+mn-lt"/>
              </a:rPr>
              <a:t> </a:t>
            </a:r>
            <a:r>
              <a:rPr lang="pt-BR" err="1">
                <a:solidFill>
                  <a:schemeClr val="tx1"/>
                </a:solidFill>
                <a:ea typeface="+mn-lt"/>
                <a:cs typeface="+mn-lt"/>
              </a:rPr>
              <a:t>gaining</a:t>
            </a:r>
            <a:r>
              <a:rPr lang="pt-BR">
                <a:solidFill>
                  <a:schemeClr val="tx1"/>
                </a:solidFill>
                <a:ea typeface="+mn-lt"/>
                <a:cs typeface="+mn-lt"/>
              </a:rPr>
              <a:t> </a:t>
            </a:r>
            <a:r>
              <a:rPr lang="pt-BR" err="1">
                <a:solidFill>
                  <a:schemeClr val="tx1"/>
                </a:solidFill>
                <a:ea typeface="+mn-lt"/>
                <a:cs typeface="+mn-lt"/>
              </a:rPr>
              <a:t>access</a:t>
            </a:r>
            <a:r>
              <a:rPr lang="pt-BR">
                <a:solidFill>
                  <a:schemeClr val="tx1"/>
                </a:solidFill>
                <a:ea typeface="+mn-lt"/>
                <a:cs typeface="+mn-lt"/>
              </a:rPr>
              <a:t> to new </a:t>
            </a:r>
            <a:r>
              <a:rPr lang="pt-BR" err="1">
                <a:solidFill>
                  <a:schemeClr val="tx1"/>
                </a:solidFill>
                <a:ea typeface="+mn-lt"/>
                <a:cs typeface="+mn-lt"/>
              </a:rPr>
              <a:t>technologies</a:t>
            </a:r>
            <a:r>
              <a:rPr lang="pt-BR">
                <a:solidFill>
                  <a:schemeClr val="tx1"/>
                </a:solidFill>
                <a:ea typeface="+mn-lt"/>
                <a:cs typeface="+mn-lt"/>
              </a:rPr>
              <a:t> and </a:t>
            </a:r>
            <a:r>
              <a:rPr lang="pt-BR" err="1">
                <a:solidFill>
                  <a:schemeClr val="tx1"/>
                </a:solidFill>
                <a:ea typeface="+mn-lt"/>
                <a:cs typeface="+mn-lt"/>
              </a:rPr>
              <a:t>diversifying</a:t>
            </a:r>
            <a:r>
              <a:rPr lang="pt-BR">
                <a:solidFill>
                  <a:schemeClr val="tx1"/>
                </a:solidFill>
                <a:ea typeface="+mn-lt"/>
                <a:cs typeface="+mn-lt"/>
              </a:rPr>
              <a:t> </a:t>
            </a:r>
            <a:r>
              <a:rPr lang="pt-BR" err="1">
                <a:solidFill>
                  <a:schemeClr val="tx1"/>
                </a:solidFill>
                <a:ea typeface="+mn-lt"/>
                <a:cs typeface="+mn-lt"/>
              </a:rPr>
              <a:t>market</a:t>
            </a:r>
            <a:r>
              <a:rPr lang="pt-BR">
                <a:solidFill>
                  <a:schemeClr val="tx1"/>
                </a:solidFill>
                <a:ea typeface="+mn-lt"/>
                <a:cs typeface="+mn-lt"/>
              </a:rPr>
              <a:t> </a:t>
            </a:r>
            <a:r>
              <a:rPr lang="pt-BR" err="1">
                <a:solidFill>
                  <a:schemeClr val="tx1"/>
                </a:solidFill>
                <a:ea typeface="+mn-lt"/>
                <a:cs typeface="+mn-lt"/>
              </a:rPr>
              <a:t>exposure</a:t>
            </a:r>
            <a:r>
              <a:rPr lang="pt-BR"/>
              <a:t>. </a:t>
            </a:r>
            <a:r>
              <a:rPr lang="pt-BR" err="1"/>
              <a:t>While</a:t>
            </a:r>
            <a:r>
              <a:rPr lang="pt-BR"/>
              <a:t> </a:t>
            </a:r>
            <a:r>
              <a:rPr lang="pt-BR" err="1"/>
              <a:t>emerging</a:t>
            </a:r>
            <a:r>
              <a:rPr lang="pt-BR"/>
              <a:t> </a:t>
            </a:r>
            <a:r>
              <a:rPr lang="pt-BR" err="1"/>
              <a:t>market</a:t>
            </a:r>
            <a:r>
              <a:rPr lang="pt-BR"/>
              <a:t> </a:t>
            </a:r>
            <a:r>
              <a:rPr lang="pt-BR" err="1"/>
              <a:t>expansion</a:t>
            </a:r>
            <a:r>
              <a:rPr lang="pt-BR"/>
              <a:t> serves as a </a:t>
            </a:r>
            <a:r>
              <a:rPr lang="pt-BR" err="1"/>
              <a:t>nearshoring</a:t>
            </a:r>
            <a:r>
              <a:rPr lang="pt-BR"/>
              <a:t> </a:t>
            </a:r>
            <a:r>
              <a:rPr lang="pt-BR" err="1"/>
              <a:t>tactic</a:t>
            </a:r>
            <a:r>
              <a:rPr lang="pt-BR"/>
              <a:t>, </a:t>
            </a:r>
            <a:r>
              <a:rPr lang="pt-BR" err="1"/>
              <a:t>analysts</a:t>
            </a:r>
            <a:r>
              <a:rPr lang="pt-BR"/>
              <a:t> </a:t>
            </a:r>
            <a:r>
              <a:rPr lang="pt-BR" err="1"/>
              <a:t>remain</a:t>
            </a:r>
            <a:r>
              <a:rPr lang="pt-BR"/>
              <a:t> </a:t>
            </a:r>
            <a:r>
              <a:rPr lang="pt-BR" err="1"/>
              <a:t>cautious</a:t>
            </a:r>
            <a:r>
              <a:rPr lang="pt-BR"/>
              <a:t> </a:t>
            </a:r>
            <a:r>
              <a:rPr lang="pt-BR" err="1"/>
              <a:t>considering</a:t>
            </a:r>
            <a:r>
              <a:rPr lang="pt-BR"/>
              <a:t> it a </a:t>
            </a:r>
            <a:r>
              <a:rPr lang="pt-BR" err="1"/>
              <a:t>market</a:t>
            </a:r>
            <a:r>
              <a:rPr lang="pt-BR"/>
              <a:t> </a:t>
            </a:r>
            <a:r>
              <a:rPr lang="pt-BR" err="1"/>
              <a:t>itself</a:t>
            </a:r>
            <a:r>
              <a:rPr lang="pt-BR"/>
              <a:t>, </a:t>
            </a:r>
            <a:r>
              <a:rPr lang="pt-BR" err="1"/>
              <a:t>due</a:t>
            </a:r>
            <a:r>
              <a:rPr lang="pt-BR"/>
              <a:t> to </a:t>
            </a:r>
            <a:r>
              <a:rPr lang="pt-BR" err="1"/>
              <a:t>political</a:t>
            </a:r>
            <a:r>
              <a:rPr lang="pt-BR"/>
              <a:t> and </a:t>
            </a:r>
            <a:r>
              <a:rPr lang="pt-BR" err="1"/>
              <a:t>economic</a:t>
            </a:r>
            <a:r>
              <a:rPr lang="pt-BR"/>
              <a:t> </a:t>
            </a:r>
            <a:r>
              <a:rPr lang="pt-BR" err="1"/>
              <a:t>risks</a:t>
            </a:r>
            <a:r>
              <a:rPr lang="pt-BR"/>
              <a:t>, </a:t>
            </a:r>
            <a:r>
              <a:rPr lang="pt-BR" err="1"/>
              <a:t>potentially</a:t>
            </a:r>
            <a:r>
              <a:rPr lang="pt-BR"/>
              <a:t> </a:t>
            </a:r>
            <a:r>
              <a:rPr lang="pt-BR" err="1"/>
              <a:t>underestimating</a:t>
            </a:r>
            <a:r>
              <a:rPr lang="pt-BR"/>
              <a:t> </a:t>
            </a:r>
            <a:r>
              <a:rPr lang="pt-BR" err="1"/>
              <a:t>growth</a:t>
            </a:r>
            <a:r>
              <a:rPr lang="pt-BR"/>
              <a:t>. Some countries </a:t>
            </a:r>
            <a:r>
              <a:rPr lang="pt-BR" err="1"/>
              <a:t>affected</a:t>
            </a:r>
            <a:r>
              <a:rPr lang="pt-BR"/>
              <a:t> </a:t>
            </a:r>
            <a:r>
              <a:rPr lang="pt-BR" err="1"/>
              <a:t>by</a:t>
            </a:r>
            <a:r>
              <a:rPr lang="pt-BR"/>
              <a:t> it are:</a:t>
            </a:r>
          </a:p>
          <a:p>
            <a:pPr algn="just"/>
            <a:r>
              <a:rPr lang="pt-BR" b="1">
                <a:solidFill>
                  <a:schemeClr val="tx1"/>
                </a:solidFill>
              </a:rPr>
              <a:t>Mexico:  </a:t>
            </a:r>
            <a:r>
              <a:rPr lang="pt-BR"/>
              <a:t>Industrial output </a:t>
            </a:r>
            <a:r>
              <a:rPr lang="pt-BR" err="1"/>
              <a:t>exceeded</a:t>
            </a:r>
            <a:r>
              <a:rPr lang="pt-BR"/>
              <a:t> expectations, </a:t>
            </a:r>
            <a:r>
              <a:rPr lang="pt-BR" err="1"/>
              <a:t>even</a:t>
            </a:r>
            <a:r>
              <a:rPr lang="pt-BR"/>
              <a:t> </a:t>
            </a:r>
            <a:r>
              <a:rPr lang="pt-BR" err="1"/>
              <a:t>with</a:t>
            </a:r>
            <a:r>
              <a:rPr lang="pt-BR"/>
              <a:t> </a:t>
            </a:r>
            <a:r>
              <a:rPr lang="pt-BR" err="1"/>
              <a:t>tariff-related</a:t>
            </a:r>
            <a:r>
              <a:rPr lang="pt-BR"/>
              <a:t> </a:t>
            </a:r>
            <a:r>
              <a:rPr lang="pt-BR" err="1"/>
              <a:t>uncertainty</a:t>
            </a:r>
            <a:r>
              <a:rPr lang="pt-BR"/>
              <a:t>. In </a:t>
            </a:r>
            <a:r>
              <a:rPr lang="pt-BR" err="1"/>
              <a:t>this</a:t>
            </a:r>
            <a:r>
              <a:rPr lang="pt-BR"/>
              <a:t> </a:t>
            </a:r>
            <a:r>
              <a:rPr lang="pt-BR" err="1"/>
              <a:t>regard</a:t>
            </a:r>
            <a:r>
              <a:rPr lang="pt-BR"/>
              <a:t>, </a:t>
            </a:r>
            <a:r>
              <a:rPr lang="pt-BR" err="1"/>
              <a:t>Mexican</a:t>
            </a:r>
            <a:r>
              <a:rPr lang="pt-BR"/>
              <a:t> </a:t>
            </a:r>
            <a:r>
              <a:rPr lang="pt-BR" err="1"/>
              <a:t>industrialists</a:t>
            </a:r>
            <a:r>
              <a:rPr lang="pt-BR"/>
              <a:t> are </a:t>
            </a:r>
            <a:r>
              <a:rPr lang="pt-BR" err="1"/>
              <a:t>optimistic</a:t>
            </a:r>
            <a:r>
              <a:rPr lang="pt-BR"/>
              <a:t> </a:t>
            </a:r>
            <a:r>
              <a:rPr lang="pt-BR" err="1"/>
              <a:t>about</a:t>
            </a:r>
            <a:r>
              <a:rPr lang="pt-BR"/>
              <a:t> the </a:t>
            </a:r>
            <a:r>
              <a:rPr lang="pt-BR" err="1"/>
              <a:t>development</a:t>
            </a:r>
            <a:r>
              <a:rPr lang="pt-BR"/>
              <a:t> of </a:t>
            </a:r>
            <a:r>
              <a:rPr lang="pt-BR" err="1"/>
              <a:t>domestic</a:t>
            </a:r>
            <a:r>
              <a:rPr lang="pt-BR"/>
              <a:t> </a:t>
            </a:r>
            <a:r>
              <a:rPr lang="pt-BR" err="1"/>
              <a:t>manufacturing</a:t>
            </a:r>
            <a:r>
              <a:rPr lang="pt-BR"/>
              <a:t>, </a:t>
            </a:r>
            <a:r>
              <a:rPr lang="pt-BR" err="1"/>
              <a:t>viewing</a:t>
            </a:r>
            <a:r>
              <a:rPr lang="pt-BR"/>
              <a:t> </a:t>
            </a:r>
            <a:r>
              <a:rPr lang="pt-BR" err="1"/>
              <a:t>long-term</a:t>
            </a:r>
            <a:r>
              <a:rPr lang="pt-BR"/>
              <a:t> </a:t>
            </a:r>
            <a:r>
              <a:rPr lang="pt-BR" err="1"/>
              <a:t>investments</a:t>
            </a:r>
            <a:r>
              <a:rPr lang="pt-BR"/>
              <a:t> as </a:t>
            </a:r>
            <a:r>
              <a:rPr lang="pt-BR" err="1"/>
              <a:t>having</a:t>
            </a:r>
            <a:r>
              <a:rPr lang="pt-BR"/>
              <a:t> </a:t>
            </a:r>
            <a:r>
              <a:rPr lang="pt-BR" err="1"/>
              <a:t>substantial</a:t>
            </a:r>
            <a:r>
              <a:rPr lang="pt-BR"/>
              <a:t> and </a:t>
            </a:r>
            <a:r>
              <a:rPr lang="pt-BR" err="1"/>
              <a:t>enduring</a:t>
            </a:r>
            <a:r>
              <a:rPr lang="pt-BR"/>
              <a:t> </a:t>
            </a:r>
            <a:r>
              <a:rPr lang="pt-BR" err="1"/>
              <a:t>implications</a:t>
            </a:r>
            <a:r>
              <a:rPr lang="pt-BR"/>
              <a:t> that make </a:t>
            </a:r>
            <a:r>
              <a:rPr lang="pt-BR" err="1"/>
              <a:t>relocation</a:t>
            </a:r>
            <a:r>
              <a:rPr lang="pt-BR"/>
              <a:t> to </a:t>
            </a:r>
            <a:r>
              <a:rPr lang="pt-BR" err="1"/>
              <a:t>another</a:t>
            </a:r>
            <a:r>
              <a:rPr lang="pt-BR"/>
              <a:t> </a:t>
            </a:r>
            <a:r>
              <a:rPr lang="pt-BR" err="1"/>
              <a:t>jurisdiction</a:t>
            </a:r>
            <a:r>
              <a:rPr lang="pt-BR"/>
              <a:t> </a:t>
            </a:r>
            <a:r>
              <a:rPr lang="pt-BR" err="1"/>
              <a:t>highly</a:t>
            </a:r>
            <a:r>
              <a:rPr lang="pt-BR"/>
              <a:t> </a:t>
            </a:r>
            <a:r>
              <a:rPr lang="pt-BR" err="1"/>
              <a:t>impractical</a:t>
            </a:r>
            <a:r>
              <a:rPr lang="pt-BR"/>
              <a:t>.</a:t>
            </a:r>
          </a:p>
          <a:p>
            <a:pPr algn="just"/>
            <a:r>
              <a:rPr lang="pt-BR" b="1" err="1">
                <a:solidFill>
                  <a:schemeClr val="tx1"/>
                </a:solidFill>
              </a:rPr>
              <a:t>India</a:t>
            </a:r>
            <a:r>
              <a:rPr lang="pt-BR" b="1">
                <a:solidFill>
                  <a:schemeClr val="tx1"/>
                </a:solidFill>
              </a:rPr>
              <a:t>: </a:t>
            </a:r>
            <a:r>
              <a:rPr lang="pt-BR">
                <a:solidFill>
                  <a:schemeClr val="tx1"/>
                </a:solidFill>
              </a:rPr>
              <a:t>The country </a:t>
            </a:r>
            <a:r>
              <a:rPr lang="pt-BR" err="1">
                <a:solidFill>
                  <a:schemeClr val="tx1"/>
                </a:solidFill>
              </a:rPr>
              <a:t>o</a:t>
            </a:r>
            <a:r>
              <a:rPr lang="pt-BR" err="1"/>
              <a:t>utperformed</a:t>
            </a:r>
            <a:r>
              <a:rPr lang="pt-BR"/>
              <a:t> expectations </a:t>
            </a:r>
            <a:r>
              <a:rPr lang="pt-BR" err="1"/>
              <a:t>due</a:t>
            </a:r>
            <a:r>
              <a:rPr lang="pt-BR"/>
              <a:t> to </a:t>
            </a:r>
            <a:r>
              <a:rPr lang="pt-BR" err="1"/>
              <a:t>robust</a:t>
            </a:r>
            <a:r>
              <a:rPr lang="pt-BR"/>
              <a:t> GDP </a:t>
            </a:r>
            <a:r>
              <a:rPr lang="pt-BR" err="1"/>
              <a:t>growth</a:t>
            </a:r>
            <a:r>
              <a:rPr lang="pt-BR"/>
              <a:t>. </a:t>
            </a:r>
            <a:r>
              <a:rPr lang="pt-BR" err="1"/>
              <a:t>This</a:t>
            </a:r>
            <a:r>
              <a:rPr lang="pt-BR"/>
              <a:t> </a:t>
            </a:r>
            <a:r>
              <a:rPr lang="pt-BR" err="1"/>
              <a:t>happen</a:t>
            </a:r>
            <a:r>
              <a:rPr lang="pt-BR"/>
              <a:t> </a:t>
            </a:r>
            <a:r>
              <a:rPr lang="pt-BR" err="1"/>
              <a:t>by</a:t>
            </a:r>
            <a:r>
              <a:rPr lang="pt-BR"/>
              <a:t> </a:t>
            </a:r>
            <a:r>
              <a:rPr lang="pt-BR" err="1"/>
              <a:t>rising</a:t>
            </a:r>
            <a:r>
              <a:rPr lang="pt-BR"/>
              <a:t> </a:t>
            </a:r>
            <a:r>
              <a:rPr lang="pt-BR" err="1"/>
              <a:t>domestic</a:t>
            </a:r>
            <a:r>
              <a:rPr lang="pt-BR"/>
              <a:t> demand, </a:t>
            </a:r>
            <a:r>
              <a:rPr lang="pt-BR" err="1"/>
              <a:t>supportive</a:t>
            </a:r>
            <a:r>
              <a:rPr lang="pt-BR"/>
              <a:t> </a:t>
            </a:r>
            <a:r>
              <a:rPr lang="pt-BR" err="1"/>
              <a:t>credit</a:t>
            </a:r>
            <a:r>
              <a:rPr lang="pt-BR"/>
              <a:t> policies </a:t>
            </a:r>
            <a:r>
              <a:rPr lang="pt-BR" err="1"/>
              <a:t>from</a:t>
            </a:r>
            <a:r>
              <a:rPr lang="pt-BR"/>
              <a:t> central Bank and the provisional </a:t>
            </a:r>
            <a:r>
              <a:rPr lang="pt-BR" err="1"/>
              <a:t>recovery</a:t>
            </a:r>
            <a:r>
              <a:rPr lang="pt-BR"/>
              <a:t> </a:t>
            </a:r>
            <a:r>
              <a:rPr lang="pt-BR" err="1"/>
              <a:t>plan</a:t>
            </a:r>
            <a:r>
              <a:rPr lang="pt-BR"/>
              <a:t> </a:t>
            </a:r>
            <a:r>
              <a:rPr lang="pt-BR" err="1"/>
              <a:t>from</a:t>
            </a:r>
            <a:r>
              <a:rPr lang="pt-BR"/>
              <a:t> China.</a:t>
            </a:r>
          </a:p>
          <a:p>
            <a:pPr algn="just"/>
            <a:r>
              <a:rPr lang="pt-BR" b="1">
                <a:solidFill>
                  <a:schemeClr val="tx1"/>
                </a:solidFill>
              </a:rPr>
              <a:t>North </a:t>
            </a:r>
            <a:r>
              <a:rPr lang="pt-BR" b="1" err="1">
                <a:solidFill>
                  <a:schemeClr val="tx1"/>
                </a:solidFill>
              </a:rPr>
              <a:t>Africa</a:t>
            </a:r>
            <a:r>
              <a:rPr lang="pt-BR" b="1">
                <a:solidFill>
                  <a:schemeClr val="tx1"/>
                </a:solidFill>
              </a:rPr>
              <a:t>: </a:t>
            </a:r>
            <a:r>
              <a:rPr lang="pt-BR" err="1">
                <a:solidFill>
                  <a:schemeClr val="tx1"/>
                </a:solidFill>
              </a:rPr>
              <a:t>Tariffs</a:t>
            </a:r>
            <a:r>
              <a:rPr lang="pt-BR" b="1">
                <a:solidFill>
                  <a:schemeClr val="accent1"/>
                </a:solidFill>
              </a:rPr>
              <a:t> </a:t>
            </a:r>
            <a:r>
              <a:rPr lang="pt-BR">
                <a:solidFill>
                  <a:schemeClr val="accent1"/>
                </a:solidFill>
              </a:rPr>
              <a:t>s</a:t>
            </a:r>
            <a:r>
              <a:rPr lang="pt-BR"/>
              <a:t>hort-</a:t>
            </a:r>
            <a:r>
              <a:rPr lang="pt-BR" err="1"/>
              <a:t>term</a:t>
            </a:r>
            <a:r>
              <a:rPr lang="pt-BR"/>
              <a:t> </a:t>
            </a:r>
            <a:r>
              <a:rPr lang="pt-BR" err="1"/>
              <a:t>disruption</a:t>
            </a:r>
            <a:r>
              <a:rPr lang="pt-BR"/>
              <a:t> </a:t>
            </a:r>
            <a:r>
              <a:rPr lang="pt-BR" err="1"/>
              <a:t>may</a:t>
            </a:r>
            <a:r>
              <a:rPr lang="pt-BR"/>
              <a:t> </a:t>
            </a:r>
            <a:r>
              <a:rPr lang="pt-BR" err="1"/>
              <a:t>obscure</a:t>
            </a:r>
            <a:r>
              <a:rPr lang="pt-BR"/>
              <a:t> </a:t>
            </a:r>
            <a:r>
              <a:rPr lang="pt-BR" err="1"/>
              <a:t>long-term</a:t>
            </a:r>
            <a:r>
              <a:rPr lang="pt-BR"/>
              <a:t> industrial </a:t>
            </a:r>
            <a:r>
              <a:rPr lang="pt-BR" err="1"/>
              <a:t>potential</a:t>
            </a:r>
            <a:r>
              <a:rPr lang="pt-BR"/>
              <a:t>, </a:t>
            </a:r>
            <a:r>
              <a:rPr lang="pt-BR" err="1"/>
              <a:t>with</a:t>
            </a:r>
            <a:r>
              <a:rPr lang="pt-BR"/>
              <a:t> </a:t>
            </a:r>
            <a:r>
              <a:rPr lang="pt-BR" err="1"/>
              <a:t>structural</a:t>
            </a:r>
            <a:r>
              <a:rPr lang="pt-BR"/>
              <a:t> trade shifts </a:t>
            </a:r>
            <a:r>
              <a:rPr lang="pt-BR" err="1"/>
              <a:t>boosting</a:t>
            </a:r>
            <a:r>
              <a:rPr lang="pt-BR"/>
              <a:t> demand for </a:t>
            </a:r>
            <a:r>
              <a:rPr lang="pt-BR" err="1"/>
              <a:t>WEG’s</a:t>
            </a:r>
            <a:r>
              <a:rPr lang="pt-BR"/>
              <a:t> </a:t>
            </a:r>
            <a:r>
              <a:rPr lang="pt-BR" err="1"/>
              <a:t>products</a:t>
            </a:r>
            <a:r>
              <a:rPr lang="pt-BR"/>
              <a:t>, as </a:t>
            </a:r>
            <a:r>
              <a:rPr lang="pt-BR" err="1"/>
              <a:t>domestic</a:t>
            </a:r>
            <a:r>
              <a:rPr lang="pt-BR"/>
              <a:t> demand </a:t>
            </a:r>
            <a:r>
              <a:rPr lang="pt-BR" err="1"/>
              <a:t>rises</a:t>
            </a:r>
            <a:r>
              <a:rPr lang="pt-BR"/>
              <a:t>.</a:t>
            </a:r>
            <a:endParaRPr lang="en-US" sz="1000" b="1" i="0" u="none" strike="noStrike">
              <a:solidFill>
                <a:schemeClr val="accent1"/>
              </a:solidFill>
              <a:effectLst/>
            </a:endParaRPr>
          </a:p>
          <a:p>
            <a:pPr algn="just" rtl="0">
              <a:buNone/>
            </a:pPr>
            <a:r>
              <a:rPr lang="en-US" sz="1000" b="1" i="0" u="none" strike="noStrike">
                <a:solidFill>
                  <a:schemeClr val="accent1"/>
                </a:solidFill>
                <a:effectLst/>
              </a:rPr>
              <a:t>2. Unpriced Opportunity for WEG in the Data Center Market</a:t>
            </a:r>
            <a:endParaRPr lang="en-US" sz="1000" b="1" i="0" u="none" strike="noStrike">
              <a:solidFill>
                <a:schemeClr val="accent1"/>
              </a:solidFill>
              <a:effectLst/>
              <a:ea typeface="Calibri"/>
              <a:cs typeface="Calibri"/>
            </a:endParaRPr>
          </a:p>
          <a:p>
            <a:pPr algn="just"/>
            <a:r>
              <a:rPr lang="en-US">
                <a:latin typeface="Calibri"/>
                <a:ea typeface="Calibri"/>
                <a:cs typeface="Calibri"/>
              </a:rPr>
              <a:t>The rapid expansion of AI worldwide is fueling strong demand for data center infrastructure, characterized by highly energy-intensive operations requiring advanced electric motors and generators. WEG is well positioned to leverage this trend, combining its portfolio of energy-efficient products with the strategic acquisition of Marathon in 2023, a U.S.-based manufacturer specializing in generators designed specifically for data centers. This move significantly strengthens WEG’s presence in the largest market globally and mitigates cost pressures from recent U.S. tariffs on imported industrial equipment.</a:t>
            </a:r>
            <a:endParaRPr lang="en-US"/>
          </a:p>
          <a:p>
            <a:pPr algn="just"/>
            <a:r>
              <a:rPr lang="en-US">
                <a:latin typeface="Calibri"/>
                <a:ea typeface="Calibri"/>
                <a:cs typeface="Calibri"/>
              </a:rPr>
              <a:t>By integrating Marathon’s local production capabilities with its vertically integrated model, WEG gains a competitive edge over offshore manufacturers, enabling cost-effective, customized power solutions and operational synergies. The combined market share of 15% in the global low-voltage industrial motor segment underscores WEG’s scale advantage.</a:t>
            </a:r>
            <a:endParaRPr lang="en-US"/>
          </a:p>
          <a:p>
            <a:pPr algn="just"/>
            <a:r>
              <a:rPr lang="en-US">
                <a:latin typeface="Calibri"/>
                <a:ea typeface="Calibri"/>
                <a:cs typeface="Calibri"/>
              </a:rPr>
              <a:t>With data center infrastructure demand expected to grow at a 7.1% CAGR, WEG’s early market positioning and technical expertise forecast robust revenue growth, margin expansion, and a potential re-rating by investors as the AI-driven infrastructure market accelerates.</a:t>
            </a:r>
            <a:endParaRPr lang="en-US"/>
          </a:p>
          <a:p>
            <a:pPr algn="just" rtl="0">
              <a:buNone/>
            </a:pPr>
            <a:r>
              <a:rPr lang="en-US" sz="1000" b="1">
                <a:solidFill>
                  <a:schemeClr val="accent1"/>
                </a:solidFill>
                <a:effectLst/>
              </a:rPr>
              <a:t>3. </a:t>
            </a:r>
            <a:r>
              <a:rPr lang="en-US" sz="1000" b="1">
                <a:solidFill>
                  <a:schemeClr val="accent1"/>
                </a:solidFill>
              </a:rPr>
              <a:t>Adaptability to market dynamics through technology</a:t>
            </a:r>
            <a:endParaRPr lang="en-US" sz="1000" b="1">
              <a:solidFill>
                <a:schemeClr val="accent1"/>
              </a:solidFill>
              <a:effectLst/>
              <a:ea typeface="Calibri"/>
              <a:cs typeface="Calibri"/>
            </a:endParaRPr>
          </a:p>
          <a:p>
            <a:pPr algn="just" rtl="0"/>
            <a:r>
              <a:rPr lang="en-US"/>
              <a:t>Companies that fail to keep up with market changes due to a lack of technology face difficulties in making accurate decisions, lose competitiveness, and experience more inefficient processes, increasing the risk of failures. On the other hand, WEG represents a good investment opportunity as it is aligned with industry trends in digitalization and innovation. WEG’s Motion Fleet Management (MFM) solution stands out as a specific and user-friendly tool for managing mobile assets, featuring advanced predictive analytics technology that improves equipment performance and maintenance in real time. Additionally, the MFM is accessible to companies of various sizes, making it more flexible than the options offered by larger competitors. The use of artificial intelligence in WEG’s analyses is also an important differentiator that strengthens its market position.</a:t>
            </a:r>
            <a:endParaRPr lang="en-US" b="0">
              <a:solidFill>
                <a:schemeClr val="tx1"/>
              </a:solidFill>
              <a:effectLst/>
            </a:endParaRPr>
          </a:p>
          <a:p>
            <a:pPr algn="just" rtl="0">
              <a:buNone/>
            </a:pPr>
            <a:r>
              <a:rPr lang="en-US" sz="1000" b="1">
                <a:solidFill>
                  <a:schemeClr val="accent1"/>
                </a:solidFill>
                <a:effectLst/>
              </a:rPr>
              <a:t>4. Leadership in energy transition: motors efficiency and  clean energy generation</a:t>
            </a:r>
            <a:endParaRPr lang="en-US" sz="1000" b="1">
              <a:solidFill>
                <a:schemeClr val="accent1"/>
              </a:solidFill>
              <a:effectLst/>
              <a:ea typeface="Calibri"/>
              <a:cs typeface="Calibri"/>
            </a:endParaRPr>
          </a:p>
          <a:p>
            <a:pPr algn="just" rtl="0">
              <a:buNone/>
            </a:pPr>
            <a:r>
              <a:rPr lang="en-US"/>
              <a:t>WEG’s sustainability policy—and its leadership in Environmental, Social, and Governance (ESG) practices—remains undervalued by the market, particularly across its two core divisions: Industrial Electric Equipment (IEE) and Generation, Transmission, and Distribution (GTD). Fueled by robust R&amp;D investment, WEG is poised to capitalize on tightening global efficiency standards in the motors sector, where it already boasts the world’s most efficient industrial motor and a clear compliance advantage over competitors. Simultaneously, the company’s broad renewable‐energy portfolio—from utility‐scale solar inverters and wind turbine generators to hybrid and off‐grid power systems—positions WEG to benefit from the rapid expansion of clean‐energy infrastructure and the accelerating shift toward decarbonization. By leveraging its vertically integrated offerings, international supply chain, and partnerships, WEG is set to capture growing market share and drive sustainable growth in a world increasingly committed to net‐zero targets.</a:t>
            </a:r>
            <a:endParaRPr lang="en-US" b="0">
              <a:solidFill>
                <a:schemeClr val="tx1"/>
              </a:solidFill>
              <a:effectLst/>
              <a:ea typeface="Calibri"/>
              <a:cs typeface="Calibri"/>
            </a:endParaRPr>
          </a:p>
        </p:txBody>
      </p:sp>
      <p:sp>
        <p:nvSpPr>
          <p:cNvPr id="4" name="Espaço Reservado para Texto 3">
            <a:extLst>
              <a:ext uri="{FF2B5EF4-FFF2-40B4-BE49-F238E27FC236}">
                <a16:creationId xmlns:a16="http://schemas.microsoft.com/office/drawing/2014/main" id="{43511298-1471-9981-85D8-8AEEF8FE40E6}"/>
              </a:ext>
            </a:extLst>
          </p:cNvPr>
          <p:cNvSpPr>
            <a:spLocks noGrp="1"/>
          </p:cNvSpPr>
          <p:nvPr>
            <p:ph type="body" sz="quarter" idx="12"/>
          </p:nvPr>
        </p:nvSpPr>
        <p:spPr/>
        <p:txBody>
          <a:bodyPr/>
          <a:lstStyle/>
          <a:p>
            <a:r>
              <a:rPr lang="pt-BR"/>
              <a:t>EXECUTIVE SUMMARY</a:t>
            </a:r>
          </a:p>
        </p:txBody>
      </p:sp>
      <p:sp>
        <p:nvSpPr>
          <p:cNvPr id="5" name="Espaço Reservado para Texto 4">
            <a:extLst>
              <a:ext uri="{FF2B5EF4-FFF2-40B4-BE49-F238E27FC236}">
                <a16:creationId xmlns:a16="http://schemas.microsoft.com/office/drawing/2014/main" id="{80BAADAB-C320-FC56-B356-00838201F319}"/>
              </a:ext>
            </a:extLst>
          </p:cNvPr>
          <p:cNvSpPr>
            <a:spLocks noGrp="1"/>
          </p:cNvSpPr>
          <p:nvPr>
            <p:ph type="body" sz="quarter" idx="13"/>
          </p:nvPr>
        </p:nvSpPr>
        <p:spPr/>
        <p:txBody>
          <a:bodyPr/>
          <a:lstStyle/>
          <a:p>
            <a:r>
              <a:rPr lang="pt-BR"/>
              <a:t>RECOMMENDATION: </a:t>
            </a:r>
            <a:r>
              <a:rPr lang="pt-BR">
                <a:solidFill>
                  <a:schemeClr val="accent5"/>
                </a:solidFill>
              </a:rPr>
              <a:t>HOLD</a:t>
            </a:r>
          </a:p>
        </p:txBody>
      </p:sp>
      <p:sp>
        <p:nvSpPr>
          <p:cNvPr id="8" name="Espaço Reservado para Texto 7">
            <a:extLst>
              <a:ext uri="{FF2B5EF4-FFF2-40B4-BE49-F238E27FC236}">
                <a16:creationId xmlns:a16="http://schemas.microsoft.com/office/drawing/2014/main" id="{7999C2FB-439D-C85E-731D-D4AFD9B0372B}"/>
              </a:ext>
            </a:extLst>
          </p:cNvPr>
          <p:cNvSpPr>
            <a:spLocks noGrp="1"/>
          </p:cNvSpPr>
          <p:nvPr>
            <p:ph type="body" sz="quarter" idx="16"/>
          </p:nvPr>
        </p:nvSpPr>
        <p:spPr/>
        <p:txBody>
          <a:bodyPr/>
          <a:lstStyle/>
          <a:p>
            <a:r>
              <a:rPr lang="pt-BR" err="1"/>
              <a:t>Thesis</a:t>
            </a:r>
            <a:r>
              <a:rPr lang="pt-BR"/>
              <a:t> overview</a:t>
            </a:r>
          </a:p>
        </p:txBody>
      </p:sp>
      <p:sp>
        <p:nvSpPr>
          <p:cNvPr id="11" name="Espaço Reservado para Texto 10">
            <a:extLst>
              <a:ext uri="{FF2B5EF4-FFF2-40B4-BE49-F238E27FC236}">
                <a16:creationId xmlns:a16="http://schemas.microsoft.com/office/drawing/2014/main" id="{72A59C87-9222-0152-B5DE-DD76FE79C6E0}"/>
              </a:ext>
            </a:extLst>
          </p:cNvPr>
          <p:cNvSpPr>
            <a:spLocks noGrp="1"/>
          </p:cNvSpPr>
          <p:nvPr>
            <p:ph type="body" sz="quarter" idx="19"/>
          </p:nvPr>
        </p:nvSpPr>
        <p:spPr>
          <a:xfrm>
            <a:off x="5197608" y="5346700"/>
            <a:ext cx="2574791" cy="198060"/>
          </a:xfrm>
        </p:spPr>
        <p:txBody>
          <a:bodyPr/>
          <a:lstStyle/>
          <a:p>
            <a:r>
              <a:rPr lang="pt-BR" err="1"/>
              <a:t>Exhibit</a:t>
            </a:r>
            <a:r>
              <a:rPr lang="pt-BR"/>
              <a:t> 1: WEGE3 Performance </a:t>
            </a:r>
            <a:r>
              <a:rPr lang="pt-BR" err="1"/>
              <a:t>vs</a:t>
            </a:r>
            <a:r>
              <a:rPr lang="pt-BR"/>
              <a:t> IBOVESPA</a:t>
            </a:r>
          </a:p>
        </p:txBody>
      </p:sp>
      <p:sp>
        <p:nvSpPr>
          <p:cNvPr id="12" name="Espaço Reservado para Texto 11">
            <a:extLst>
              <a:ext uri="{FF2B5EF4-FFF2-40B4-BE49-F238E27FC236}">
                <a16:creationId xmlns:a16="http://schemas.microsoft.com/office/drawing/2014/main" id="{A93F8564-6BE6-563E-027C-C7A628041ECC}"/>
              </a:ext>
            </a:extLst>
          </p:cNvPr>
          <p:cNvSpPr>
            <a:spLocks noGrp="1"/>
          </p:cNvSpPr>
          <p:nvPr>
            <p:ph type="body" sz="quarter" idx="20"/>
          </p:nvPr>
        </p:nvSpPr>
        <p:spPr>
          <a:xfrm>
            <a:off x="5260172" y="7392682"/>
            <a:ext cx="1159677" cy="210665"/>
          </a:xfrm>
        </p:spPr>
        <p:txBody>
          <a:bodyPr/>
          <a:lstStyle/>
          <a:p>
            <a:r>
              <a:rPr lang="pt-BR" err="1"/>
              <a:t>Source</a:t>
            </a:r>
            <a:r>
              <a:rPr lang="pt-BR"/>
              <a:t>: Investing.com, </a:t>
            </a:r>
            <a:r>
              <a:rPr lang="pt-BR" err="1"/>
              <a:t>Group</a:t>
            </a:r>
            <a:r>
              <a:rPr lang="pt-BR"/>
              <a:t> 2</a:t>
            </a:r>
          </a:p>
        </p:txBody>
      </p:sp>
      <p:sp>
        <p:nvSpPr>
          <p:cNvPr id="14" name="Espaço Reservado para Texto 13">
            <a:extLst>
              <a:ext uri="{FF2B5EF4-FFF2-40B4-BE49-F238E27FC236}">
                <a16:creationId xmlns:a16="http://schemas.microsoft.com/office/drawing/2014/main" id="{A1477FB4-AE66-3454-44D7-F2B6C28AC126}"/>
              </a:ext>
            </a:extLst>
          </p:cNvPr>
          <p:cNvSpPr>
            <a:spLocks noGrp="1"/>
          </p:cNvSpPr>
          <p:nvPr>
            <p:ph type="body" sz="quarter" idx="22"/>
          </p:nvPr>
        </p:nvSpPr>
        <p:spPr/>
        <p:txBody>
          <a:bodyPr/>
          <a:lstStyle/>
          <a:p>
            <a:endParaRPr lang="pt-BR"/>
          </a:p>
        </p:txBody>
      </p:sp>
      <p:sp>
        <p:nvSpPr>
          <p:cNvPr id="15" name="Espaço Reservado para Texto 14">
            <a:extLst>
              <a:ext uri="{FF2B5EF4-FFF2-40B4-BE49-F238E27FC236}">
                <a16:creationId xmlns:a16="http://schemas.microsoft.com/office/drawing/2014/main" id="{C4F608FA-823A-8F83-7553-B0E03D068E74}"/>
              </a:ext>
            </a:extLst>
          </p:cNvPr>
          <p:cNvSpPr>
            <a:spLocks noGrp="1"/>
          </p:cNvSpPr>
          <p:nvPr>
            <p:ph type="body" sz="quarter" idx="23"/>
          </p:nvPr>
        </p:nvSpPr>
        <p:spPr/>
        <p:txBody>
          <a:bodyPr/>
          <a:lstStyle/>
          <a:p>
            <a:endParaRPr lang="pt-BR"/>
          </a:p>
        </p:txBody>
      </p:sp>
      <p:sp>
        <p:nvSpPr>
          <p:cNvPr id="16" name="Espaço Reservado para Gráfico 15">
            <a:extLst>
              <a:ext uri="{FF2B5EF4-FFF2-40B4-BE49-F238E27FC236}">
                <a16:creationId xmlns:a16="http://schemas.microsoft.com/office/drawing/2014/main" id="{495217A6-6893-FBF0-A50B-2D4D20AF63BA}"/>
              </a:ext>
            </a:extLst>
          </p:cNvPr>
          <p:cNvSpPr>
            <a:spLocks noGrp="1"/>
          </p:cNvSpPr>
          <p:nvPr>
            <p:ph type="chart" sz="quarter" idx="24"/>
          </p:nvPr>
        </p:nvSpPr>
        <p:spPr/>
        <p:txBody>
          <a:bodyPr/>
          <a:lstStyle/>
          <a:p>
            <a:endParaRPr lang="pt-BR"/>
          </a:p>
        </p:txBody>
      </p:sp>
      <p:cxnSp>
        <p:nvCxnSpPr>
          <p:cNvPr id="17" name="Conector reto 16">
            <a:extLst>
              <a:ext uri="{FF2B5EF4-FFF2-40B4-BE49-F238E27FC236}">
                <a16:creationId xmlns:a16="http://schemas.microsoft.com/office/drawing/2014/main" id="{B533E478-F5FE-1A83-1CC7-3A0D688ECEB9}"/>
              </a:ext>
            </a:extLst>
          </p:cNvPr>
          <p:cNvCxnSpPr/>
          <p:nvPr/>
        </p:nvCxnSpPr>
        <p:spPr>
          <a:xfrm>
            <a:off x="201282" y="696582"/>
            <a:ext cx="486601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 name="Espaço Reservado para Número de Slide 16">
            <a:extLst>
              <a:ext uri="{FF2B5EF4-FFF2-40B4-BE49-F238E27FC236}">
                <a16:creationId xmlns:a16="http://schemas.microsoft.com/office/drawing/2014/main" id="{3C006367-11E7-A95B-CF62-A88A2D6F3591}"/>
              </a:ext>
            </a:extLst>
          </p:cNvPr>
          <p:cNvSpPr>
            <a:spLocks noGrp="1"/>
          </p:cNvSpPr>
          <p:nvPr>
            <p:ph type="sldNum" sz="quarter" idx="7"/>
          </p:nvPr>
        </p:nvSpPr>
        <p:spPr>
          <a:xfrm>
            <a:off x="7178515" y="10312736"/>
            <a:ext cx="515895" cy="230114"/>
          </a:xfrm>
        </p:spPr>
        <p:txBody>
          <a:bodyPr/>
          <a:lstStyle/>
          <a:p>
            <a:pPr algn="ctr">
              <a:spcBef>
                <a:spcPts val="65"/>
              </a:spcBef>
            </a:pPr>
            <a:r>
              <a:rPr lang="pt-BR" sz="800"/>
              <a:t>1</a:t>
            </a:r>
          </a:p>
        </p:txBody>
      </p:sp>
      <p:cxnSp>
        <p:nvCxnSpPr>
          <p:cNvPr id="23" name="Conector reto 22">
            <a:extLst>
              <a:ext uri="{FF2B5EF4-FFF2-40B4-BE49-F238E27FC236}">
                <a16:creationId xmlns:a16="http://schemas.microsoft.com/office/drawing/2014/main" id="{CB7174B5-3C6B-DEAD-5113-CDCE8C09DDF2}"/>
              </a:ext>
            </a:extLst>
          </p:cNvPr>
          <p:cNvCxnSpPr>
            <a:cxnSpLocks/>
            <a:stCxn id="54" idx="4"/>
          </p:cNvCxnSpPr>
          <p:nvPr/>
        </p:nvCxnSpPr>
        <p:spPr>
          <a:xfrm>
            <a:off x="5498943" y="3615037"/>
            <a:ext cx="2188576" cy="4514"/>
          </a:xfrm>
          <a:prstGeom prst="line">
            <a:avLst/>
          </a:prstGeom>
          <a:ln w="12700" cmpd="sng">
            <a:solidFill>
              <a:srgbClr val="003680"/>
            </a:solidFill>
          </a:ln>
        </p:spPr>
        <p:style>
          <a:lnRef idx="1">
            <a:schemeClr val="accent1"/>
          </a:lnRef>
          <a:fillRef idx="0">
            <a:schemeClr val="accent1"/>
          </a:fillRef>
          <a:effectRef idx="0">
            <a:schemeClr val="accent1"/>
          </a:effectRef>
          <a:fontRef idx="minor">
            <a:schemeClr val="tx1"/>
          </a:fontRef>
        </p:style>
      </p:cxnSp>
      <p:sp>
        <p:nvSpPr>
          <p:cNvPr id="24" name="CaixaDeTexto 23">
            <a:extLst>
              <a:ext uri="{FF2B5EF4-FFF2-40B4-BE49-F238E27FC236}">
                <a16:creationId xmlns:a16="http://schemas.microsoft.com/office/drawing/2014/main" id="{16304FA5-42E2-DBD1-5250-403E7F1F8EA0}"/>
              </a:ext>
            </a:extLst>
          </p:cNvPr>
          <p:cNvSpPr txBox="1"/>
          <p:nvPr/>
        </p:nvSpPr>
        <p:spPr>
          <a:xfrm>
            <a:off x="5178844" y="789295"/>
            <a:ext cx="461472" cy="223138"/>
          </a:xfrm>
          <a:prstGeom prst="rect">
            <a:avLst/>
          </a:prstGeom>
          <a:noFill/>
        </p:spPr>
        <p:txBody>
          <a:bodyPr wrap="square" rtlCol="0">
            <a:spAutoFit/>
          </a:bodyPr>
          <a:lstStyle/>
          <a:p>
            <a:r>
              <a:rPr lang="pt-BR" sz="850" err="1"/>
              <a:t>Ticker</a:t>
            </a:r>
            <a:endParaRPr lang="pt-BR" sz="850"/>
          </a:p>
        </p:txBody>
      </p:sp>
      <p:sp>
        <p:nvSpPr>
          <p:cNvPr id="25" name="CaixaDeTexto 24">
            <a:extLst>
              <a:ext uri="{FF2B5EF4-FFF2-40B4-BE49-F238E27FC236}">
                <a16:creationId xmlns:a16="http://schemas.microsoft.com/office/drawing/2014/main" id="{990232E4-A8CF-62FB-673C-2E9DC78EF49A}"/>
              </a:ext>
            </a:extLst>
          </p:cNvPr>
          <p:cNvSpPr txBox="1"/>
          <p:nvPr/>
        </p:nvSpPr>
        <p:spPr>
          <a:xfrm>
            <a:off x="5178844" y="1286415"/>
            <a:ext cx="516551" cy="223138"/>
          </a:xfrm>
          <a:prstGeom prst="rect">
            <a:avLst/>
          </a:prstGeom>
          <a:noFill/>
        </p:spPr>
        <p:txBody>
          <a:bodyPr wrap="square" rtlCol="0">
            <a:spAutoFit/>
          </a:bodyPr>
          <a:lstStyle/>
          <a:p>
            <a:r>
              <a:rPr lang="pt-BR" sz="850"/>
              <a:t>Sector</a:t>
            </a:r>
          </a:p>
        </p:txBody>
      </p:sp>
      <p:sp>
        <p:nvSpPr>
          <p:cNvPr id="26" name="CaixaDeTexto 25">
            <a:extLst>
              <a:ext uri="{FF2B5EF4-FFF2-40B4-BE49-F238E27FC236}">
                <a16:creationId xmlns:a16="http://schemas.microsoft.com/office/drawing/2014/main" id="{57BA2F2C-7628-2699-865D-62D8560FACFB}"/>
              </a:ext>
            </a:extLst>
          </p:cNvPr>
          <p:cNvSpPr txBox="1"/>
          <p:nvPr/>
        </p:nvSpPr>
        <p:spPr>
          <a:xfrm>
            <a:off x="5178844" y="1534525"/>
            <a:ext cx="1132943" cy="223138"/>
          </a:xfrm>
          <a:prstGeom prst="rect">
            <a:avLst/>
          </a:prstGeom>
          <a:noFill/>
        </p:spPr>
        <p:txBody>
          <a:bodyPr wrap="square" rtlCol="0">
            <a:spAutoFit/>
          </a:bodyPr>
          <a:lstStyle/>
          <a:p>
            <a:r>
              <a:rPr lang="pt-BR" sz="850"/>
              <a:t>Market Cap (BRL </a:t>
            </a:r>
            <a:r>
              <a:rPr lang="pt-BR" sz="850" err="1"/>
              <a:t>mn</a:t>
            </a:r>
            <a:r>
              <a:rPr lang="pt-BR" sz="850"/>
              <a:t>)</a:t>
            </a:r>
          </a:p>
        </p:txBody>
      </p:sp>
      <p:sp>
        <p:nvSpPr>
          <p:cNvPr id="29" name="CaixaDeTexto 28">
            <a:extLst>
              <a:ext uri="{FF2B5EF4-FFF2-40B4-BE49-F238E27FC236}">
                <a16:creationId xmlns:a16="http://schemas.microsoft.com/office/drawing/2014/main" id="{A0E30A3C-B238-469D-9922-D518DF22BB1D}"/>
              </a:ext>
            </a:extLst>
          </p:cNvPr>
          <p:cNvSpPr txBox="1"/>
          <p:nvPr/>
        </p:nvSpPr>
        <p:spPr>
          <a:xfrm>
            <a:off x="5178844" y="2506152"/>
            <a:ext cx="582626" cy="223138"/>
          </a:xfrm>
          <a:prstGeom prst="rect">
            <a:avLst/>
          </a:prstGeom>
          <a:noFill/>
        </p:spPr>
        <p:txBody>
          <a:bodyPr wrap="square" rtlCol="0">
            <a:spAutoFit/>
          </a:bodyPr>
          <a:lstStyle/>
          <a:p>
            <a:r>
              <a:rPr lang="pt-BR" sz="850" err="1"/>
              <a:t>Upside</a:t>
            </a:r>
            <a:endParaRPr lang="pt-BR" sz="850"/>
          </a:p>
        </p:txBody>
      </p:sp>
      <p:sp>
        <p:nvSpPr>
          <p:cNvPr id="30" name="CaixaDeTexto 29">
            <a:extLst>
              <a:ext uri="{FF2B5EF4-FFF2-40B4-BE49-F238E27FC236}">
                <a16:creationId xmlns:a16="http://schemas.microsoft.com/office/drawing/2014/main" id="{62C8D80E-FB64-8787-0F20-EB898BF46C58}"/>
              </a:ext>
            </a:extLst>
          </p:cNvPr>
          <p:cNvSpPr txBox="1"/>
          <p:nvPr/>
        </p:nvSpPr>
        <p:spPr>
          <a:xfrm>
            <a:off x="5178844" y="2021002"/>
            <a:ext cx="1068557" cy="223138"/>
          </a:xfrm>
          <a:prstGeom prst="rect">
            <a:avLst/>
          </a:prstGeom>
          <a:noFill/>
        </p:spPr>
        <p:txBody>
          <a:bodyPr wrap="square" rtlCol="0">
            <a:spAutoFit/>
          </a:bodyPr>
          <a:lstStyle/>
          <a:p>
            <a:r>
              <a:rPr lang="pt-BR" sz="850" err="1"/>
              <a:t>Current</a:t>
            </a:r>
            <a:r>
              <a:rPr lang="pt-BR" sz="850"/>
              <a:t> </a:t>
            </a:r>
            <a:r>
              <a:rPr lang="pt-BR" sz="850" err="1"/>
              <a:t>Price</a:t>
            </a:r>
            <a:r>
              <a:rPr lang="pt-BR" sz="850"/>
              <a:t> (BRL)</a:t>
            </a:r>
          </a:p>
        </p:txBody>
      </p:sp>
      <p:sp>
        <p:nvSpPr>
          <p:cNvPr id="31" name="CaixaDeTexto 30">
            <a:extLst>
              <a:ext uri="{FF2B5EF4-FFF2-40B4-BE49-F238E27FC236}">
                <a16:creationId xmlns:a16="http://schemas.microsoft.com/office/drawing/2014/main" id="{3311B42A-E2A3-51C9-DC3A-E11B44410148}"/>
              </a:ext>
            </a:extLst>
          </p:cNvPr>
          <p:cNvSpPr txBox="1"/>
          <p:nvPr/>
        </p:nvSpPr>
        <p:spPr>
          <a:xfrm>
            <a:off x="5178844" y="2267891"/>
            <a:ext cx="987171" cy="223138"/>
          </a:xfrm>
          <a:prstGeom prst="rect">
            <a:avLst/>
          </a:prstGeom>
          <a:noFill/>
        </p:spPr>
        <p:txBody>
          <a:bodyPr wrap="square" rtlCol="0">
            <a:spAutoFit/>
          </a:bodyPr>
          <a:lstStyle/>
          <a:p>
            <a:r>
              <a:rPr lang="pt-BR" sz="850"/>
              <a:t>Target </a:t>
            </a:r>
            <a:r>
              <a:rPr lang="pt-BR" sz="850" err="1"/>
              <a:t>Price</a:t>
            </a:r>
            <a:r>
              <a:rPr lang="pt-BR" sz="850"/>
              <a:t> (BRL)</a:t>
            </a:r>
          </a:p>
        </p:txBody>
      </p:sp>
      <p:sp>
        <p:nvSpPr>
          <p:cNvPr id="32" name="CaixaDeTexto 31">
            <a:extLst>
              <a:ext uri="{FF2B5EF4-FFF2-40B4-BE49-F238E27FC236}">
                <a16:creationId xmlns:a16="http://schemas.microsoft.com/office/drawing/2014/main" id="{2A381356-8A20-BB89-18A8-C47522C2D500}"/>
              </a:ext>
            </a:extLst>
          </p:cNvPr>
          <p:cNvSpPr txBox="1"/>
          <p:nvPr/>
        </p:nvSpPr>
        <p:spPr>
          <a:xfrm>
            <a:off x="5178844" y="1034193"/>
            <a:ext cx="654345" cy="223138"/>
          </a:xfrm>
          <a:prstGeom prst="rect">
            <a:avLst/>
          </a:prstGeom>
          <a:noFill/>
        </p:spPr>
        <p:txBody>
          <a:bodyPr wrap="square" rtlCol="0">
            <a:spAutoFit/>
          </a:bodyPr>
          <a:lstStyle/>
          <a:p>
            <a:r>
              <a:rPr lang="pt-BR" sz="850" err="1"/>
              <a:t>Industry</a:t>
            </a:r>
            <a:endParaRPr lang="pt-BR" sz="850"/>
          </a:p>
        </p:txBody>
      </p:sp>
      <p:sp>
        <p:nvSpPr>
          <p:cNvPr id="33" name="CaixaDeTexto 32">
            <a:extLst>
              <a:ext uri="{FF2B5EF4-FFF2-40B4-BE49-F238E27FC236}">
                <a16:creationId xmlns:a16="http://schemas.microsoft.com/office/drawing/2014/main" id="{995D6200-909F-316E-0D13-9B4052BFAAE6}"/>
              </a:ext>
            </a:extLst>
          </p:cNvPr>
          <p:cNvSpPr txBox="1"/>
          <p:nvPr/>
        </p:nvSpPr>
        <p:spPr>
          <a:xfrm>
            <a:off x="5178844" y="1787113"/>
            <a:ext cx="1368963" cy="223138"/>
          </a:xfrm>
          <a:prstGeom prst="rect">
            <a:avLst/>
          </a:prstGeom>
          <a:noFill/>
        </p:spPr>
        <p:txBody>
          <a:bodyPr wrap="square" rtlCol="0">
            <a:spAutoFit/>
          </a:bodyPr>
          <a:lstStyle/>
          <a:p>
            <a:r>
              <a:rPr lang="pt-BR" sz="850"/>
              <a:t>Enterprise </a:t>
            </a:r>
            <a:r>
              <a:rPr lang="pt-BR" sz="850" err="1"/>
              <a:t>Value</a:t>
            </a:r>
            <a:r>
              <a:rPr lang="pt-BR" sz="850"/>
              <a:t> (BRL </a:t>
            </a:r>
            <a:r>
              <a:rPr lang="pt-BR" sz="850" err="1"/>
              <a:t>mn</a:t>
            </a:r>
            <a:r>
              <a:rPr lang="pt-BR" sz="850"/>
              <a:t>)</a:t>
            </a:r>
          </a:p>
        </p:txBody>
      </p:sp>
      <p:sp>
        <p:nvSpPr>
          <p:cNvPr id="37" name="CaixaDeTexto 36">
            <a:extLst>
              <a:ext uri="{FF2B5EF4-FFF2-40B4-BE49-F238E27FC236}">
                <a16:creationId xmlns:a16="http://schemas.microsoft.com/office/drawing/2014/main" id="{2170243F-2D2A-454C-BB45-1D2EE3117241}"/>
              </a:ext>
            </a:extLst>
          </p:cNvPr>
          <p:cNvSpPr txBox="1"/>
          <p:nvPr/>
        </p:nvSpPr>
        <p:spPr>
          <a:xfrm>
            <a:off x="6504678" y="789295"/>
            <a:ext cx="1314045" cy="223138"/>
          </a:xfrm>
          <a:prstGeom prst="rect">
            <a:avLst/>
          </a:prstGeom>
          <a:noFill/>
        </p:spPr>
        <p:txBody>
          <a:bodyPr wrap="square" rtlCol="0">
            <a:spAutoFit/>
          </a:bodyPr>
          <a:lstStyle/>
          <a:p>
            <a:pPr algn="r"/>
            <a:r>
              <a:rPr lang="pt-BR" sz="850"/>
              <a:t>B3: WEGE3 | OTC: WEGY</a:t>
            </a:r>
          </a:p>
        </p:txBody>
      </p:sp>
      <p:sp>
        <p:nvSpPr>
          <p:cNvPr id="40" name="CaixaDeTexto 39">
            <a:extLst>
              <a:ext uri="{FF2B5EF4-FFF2-40B4-BE49-F238E27FC236}">
                <a16:creationId xmlns:a16="http://schemas.microsoft.com/office/drawing/2014/main" id="{D2C3DBBB-E26E-BB68-DB87-7E89FC2ABD94}"/>
              </a:ext>
            </a:extLst>
          </p:cNvPr>
          <p:cNvSpPr txBox="1"/>
          <p:nvPr/>
        </p:nvSpPr>
        <p:spPr>
          <a:xfrm>
            <a:off x="6701163" y="1034193"/>
            <a:ext cx="1117560" cy="223138"/>
          </a:xfrm>
          <a:prstGeom prst="rect">
            <a:avLst/>
          </a:prstGeom>
          <a:noFill/>
        </p:spPr>
        <p:txBody>
          <a:bodyPr wrap="square" rtlCol="0">
            <a:spAutoFit/>
          </a:bodyPr>
          <a:lstStyle/>
          <a:p>
            <a:pPr algn="r"/>
            <a:r>
              <a:rPr lang="pt-BR" sz="850"/>
              <a:t>IEE, GTD, CAM, P&amp;V </a:t>
            </a:r>
          </a:p>
        </p:txBody>
      </p:sp>
      <p:sp>
        <p:nvSpPr>
          <p:cNvPr id="42" name="CaixaDeTexto 41">
            <a:extLst>
              <a:ext uri="{FF2B5EF4-FFF2-40B4-BE49-F238E27FC236}">
                <a16:creationId xmlns:a16="http://schemas.microsoft.com/office/drawing/2014/main" id="{95BCAFB7-E738-3462-1E7D-3B6C3FEFD57A}"/>
              </a:ext>
            </a:extLst>
          </p:cNvPr>
          <p:cNvSpPr txBox="1"/>
          <p:nvPr/>
        </p:nvSpPr>
        <p:spPr>
          <a:xfrm>
            <a:off x="7014590" y="1286415"/>
            <a:ext cx="804133" cy="223138"/>
          </a:xfrm>
          <a:prstGeom prst="rect">
            <a:avLst/>
          </a:prstGeom>
          <a:noFill/>
        </p:spPr>
        <p:txBody>
          <a:bodyPr wrap="square">
            <a:spAutoFit/>
          </a:bodyPr>
          <a:lstStyle/>
          <a:p>
            <a:pPr algn="r"/>
            <a:r>
              <a:rPr lang="pt-BR" sz="850"/>
              <a:t>Capital </a:t>
            </a:r>
            <a:r>
              <a:rPr lang="pt-BR" sz="850" err="1"/>
              <a:t>Goods</a:t>
            </a:r>
            <a:r>
              <a:rPr lang="pt-BR" sz="850"/>
              <a:t> </a:t>
            </a:r>
          </a:p>
        </p:txBody>
      </p:sp>
      <p:sp>
        <p:nvSpPr>
          <p:cNvPr id="43" name="CaixaDeTexto 42">
            <a:extLst>
              <a:ext uri="{FF2B5EF4-FFF2-40B4-BE49-F238E27FC236}">
                <a16:creationId xmlns:a16="http://schemas.microsoft.com/office/drawing/2014/main" id="{564059E5-8071-BE9D-A3F1-474C89BA01BC}"/>
              </a:ext>
            </a:extLst>
          </p:cNvPr>
          <p:cNvSpPr txBox="1"/>
          <p:nvPr/>
        </p:nvSpPr>
        <p:spPr>
          <a:xfrm>
            <a:off x="7357251" y="2506152"/>
            <a:ext cx="461472" cy="223138"/>
          </a:xfrm>
          <a:prstGeom prst="rect">
            <a:avLst/>
          </a:prstGeom>
          <a:noFill/>
        </p:spPr>
        <p:txBody>
          <a:bodyPr wrap="square" rtlCol="0">
            <a:spAutoFit/>
          </a:bodyPr>
          <a:lstStyle/>
          <a:p>
            <a:pPr algn="r"/>
            <a:r>
              <a:rPr lang="pt-BR" sz="850"/>
              <a:t>10%</a:t>
            </a:r>
          </a:p>
        </p:txBody>
      </p:sp>
      <p:sp>
        <p:nvSpPr>
          <p:cNvPr id="48" name="CaixaDeTexto 47">
            <a:extLst>
              <a:ext uri="{FF2B5EF4-FFF2-40B4-BE49-F238E27FC236}">
                <a16:creationId xmlns:a16="http://schemas.microsoft.com/office/drawing/2014/main" id="{8E136FF0-8288-1B08-069B-51CA60C49B92}"/>
              </a:ext>
            </a:extLst>
          </p:cNvPr>
          <p:cNvSpPr txBox="1"/>
          <p:nvPr/>
        </p:nvSpPr>
        <p:spPr>
          <a:xfrm>
            <a:off x="7282471" y="1534525"/>
            <a:ext cx="536252" cy="223138"/>
          </a:xfrm>
          <a:prstGeom prst="rect">
            <a:avLst/>
          </a:prstGeom>
          <a:noFill/>
        </p:spPr>
        <p:txBody>
          <a:bodyPr wrap="square">
            <a:spAutoFit/>
          </a:bodyPr>
          <a:lstStyle/>
          <a:p>
            <a:pPr algn="r"/>
            <a:r>
              <a:rPr lang="pt-BR" sz="850"/>
              <a:t>188,879</a:t>
            </a:r>
          </a:p>
        </p:txBody>
      </p:sp>
      <p:sp>
        <p:nvSpPr>
          <p:cNvPr id="49" name="CaixaDeTexto 48">
            <a:extLst>
              <a:ext uri="{FF2B5EF4-FFF2-40B4-BE49-F238E27FC236}">
                <a16:creationId xmlns:a16="http://schemas.microsoft.com/office/drawing/2014/main" id="{B8CB2C37-5609-3D64-9B53-8BF931C87CE8}"/>
              </a:ext>
            </a:extLst>
          </p:cNvPr>
          <p:cNvSpPr txBox="1"/>
          <p:nvPr/>
        </p:nvSpPr>
        <p:spPr>
          <a:xfrm>
            <a:off x="7014590" y="1787113"/>
            <a:ext cx="804133" cy="223138"/>
          </a:xfrm>
          <a:prstGeom prst="rect">
            <a:avLst/>
          </a:prstGeom>
          <a:noFill/>
        </p:spPr>
        <p:txBody>
          <a:bodyPr wrap="square">
            <a:spAutoFit/>
          </a:bodyPr>
          <a:lstStyle/>
          <a:p>
            <a:pPr algn="r"/>
            <a:r>
              <a:rPr lang="pt-BR" sz="850"/>
              <a:t>217,621</a:t>
            </a:r>
          </a:p>
        </p:txBody>
      </p:sp>
      <p:sp>
        <p:nvSpPr>
          <p:cNvPr id="50" name="CaixaDeTexto 49">
            <a:extLst>
              <a:ext uri="{FF2B5EF4-FFF2-40B4-BE49-F238E27FC236}">
                <a16:creationId xmlns:a16="http://schemas.microsoft.com/office/drawing/2014/main" id="{377CEAEF-2E98-2CFB-0E62-31B4A80FF3FF}"/>
              </a:ext>
            </a:extLst>
          </p:cNvPr>
          <p:cNvSpPr txBox="1"/>
          <p:nvPr/>
        </p:nvSpPr>
        <p:spPr>
          <a:xfrm>
            <a:off x="7014590" y="2021002"/>
            <a:ext cx="804133" cy="223138"/>
          </a:xfrm>
          <a:prstGeom prst="rect">
            <a:avLst/>
          </a:prstGeom>
          <a:noFill/>
        </p:spPr>
        <p:txBody>
          <a:bodyPr wrap="square">
            <a:spAutoFit/>
          </a:bodyPr>
          <a:lstStyle/>
          <a:p>
            <a:pPr algn="r"/>
            <a:r>
              <a:rPr lang="pt-BR" sz="850"/>
              <a:t>44,55</a:t>
            </a:r>
          </a:p>
        </p:txBody>
      </p:sp>
      <p:sp>
        <p:nvSpPr>
          <p:cNvPr id="51" name="CaixaDeTexto 50">
            <a:extLst>
              <a:ext uri="{FF2B5EF4-FFF2-40B4-BE49-F238E27FC236}">
                <a16:creationId xmlns:a16="http://schemas.microsoft.com/office/drawing/2014/main" id="{BB26F302-A97C-824B-7A7B-802F30E0FD16}"/>
              </a:ext>
            </a:extLst>
          </p:cNvPr>
          <p:cNvSpPr txBox="1"/>
          <p:nvPr/>
        </p:nvSpPr>
        <p:spPr>
          <a:xfrm>
            <a:off x="7014590" y="2267891"/>
            <a:ext cx="804133" cy="223138"/>
          </a:xfrm>
          <a:prstGeom prst="rect">
            <a:avLst/>
          </a:prstGeom>
          <a:noFill/>
        </p:spPr>
        <p:txBody>
          <a:bodyPr wrap="square">
            <a:spAutoFit/>
          </a:bodyPr>
          <a:lstStyle/>
          <a:p>
            <a:pPr algn="r"/>
            <a:r>
              <a:rPr lang="pt-BR" sz="850"/>
              <a:t>53,38</a:t>
            </a:r>
          </a:p>
        </p:txBody>
      </p:sp>
      <p:sp>
        <p:nvSpPr>
          <p:cNvPr id="54" name="Elipse 53">
            <a:extLst>
              <a:ext uri="{FF2B5EF4-FFF2-40B4-BE49-F238E27FC236}">
                <a16:creationId xmlns:a16="http://schemas.microsoft.com/office/drawing/2014/main" id="{29BA56DE-457D-48D1-0918-DFB8012AC86F}"/>
              </a:ext>
            </a:extLst>
          </p:cNvPr>
          <p:cNvSpPr/>
          <p:nvPr/>
        </p:nvSpPr>
        <p:spPr>
          <a:xfrm>
            <a:off x="5325201" y="3314079"/>
            <a:ext cx="347483" cy="300958"/>
          </a:xfrm>
          <a:prstGeom prst="ellipse">
            <a:avLst/>
          </a:prstGeom>
          <a:noFill/>
          <a:ln w="12700">
            <a:solidFill>
              <a:srgbClr val="0036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3" name="Imagem 62" descr="Forma&#10;&#10;O conteúdo gerado por IA pode estar incorreto.">
            <a:extLst>
              <a:ext uri="{FF2B5EF4-FFF2-40B4-BE49-F238E27FC236}">
                <a16:creationId xmlns:a16="http://schemas.microsoft.com/office/drawing/2014/main" id="{13BC6B82-EB91-3423-AA8B-C0EC656070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70936" y="3338048"/>
            <a:ext cx="270160" cy="270160"/>
          </a:xfrm>
          <a:prstGeom prst="rect">
            <a:avLst/>
          </a:prstGeom>
        </p:spPr>
      </p:pic>
      <p:cxnSp>
        <p:nvCxnSpPr>
          <p:cNvPr id="64" name="Conector reto 63">
            <a:extLst>
              <a:ext uri="{FF2B5EF4-FFF2-40B4-BE49-F238E27FC236}">
                <a16:creationId xmlns:a16="http://schemas.microsoft.com/office/drawing/2014/main" id="{4955A1B6-CB63-FF0C-01A4-C6F560944E66}"/>
              </a:ext>
            </a:extLst>
          </p:cNvPr>
          <p:cNvCxnSpPr>
            <a:cxnSpLocks/>
            <a:stCxn id="65" idx="4"/>
          </p:cNvCxnSpPr>
          <p:nvPr/>
        </p:nvCxnSpPr>
        <p:spPr>
          <a:xfrm>
            <a:off x="5498943" y="4033674"/>
            <a:ext cx="2188576" cy="4514"/>
          </a:xfrm>
          <a:prstGeom prst="line">
            <a:avLst/>
          </a:prstGeom>
          <a:ln w="12700" cmpd="sng">
            <a:solidFill>
              <a:srgbClr val="003680"/>
            </a:solidFill>
          </a:ln>
        </p:spPr>
        <p:style>
          <a:lnRef idx="1">
            <a:schemeClr val="accent1"/>
          </a:lnRef>
          <a:fillRef idx="0">
            <a:schemeClr val="accent1"/>
          </a:fillRef>
          <a:effectRef idx="0">
            <a:schemeClr val="accent1"/>
          </a:effectRef>
          <a:fontRef idx="minor">
            <a:schemeClr val="tx1"/>
          </a:fontRef>
        </p:style>
      </p:cxnSp>
      <p:sp>
        <p:nvSpPr>
          <p:cNvPr id="65" name="Elipse 64">
            <a:extLst>
              <a:ext uri="{FF2B5EF4-FFF2-40B4-BE49-F238E27FC236}">
                <a16:creationId xmlns:a16="http://schemas.microsoft.com/office/drawing/2014/main" id="{45B0FA29-D04B-864F-3307-00E2F6BE9C9B}"/>
              </a:ext>
            </a:extLst>
          </p:cNvPr>
          <p:cNvSpPr/>
          <p:nvPr/>
        </p:nvSpPr>
        <p:spPr>
          <a:xfrm>
            <a:off x="5325201" y="3732716"/>
            <a:ext cx="347483" cy="300958"/>
          </a:xfrm>
          <a:prstGeom prst="ellipse">
            <a:avLst/>
          </a:prstGeom>
          <a:noFill/>
          <a:ln w="12700">
            <a:solidFill>
              <a:srgbClr val="0036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6" name="Conector reto 65">
            <a:extLst>
              <a:ext uri="{FF2B5EF4-FFF2-40B4-BE49-F238E27FC236}">
                <a16:creationId xmlns:a16="http://schemas.microsoft.com/office/drawing/2014/main" id="{A2CB7F9E-4F4C-7EA7-78C0-603D52A92C61}"/>
              </a:ext>
            </a:extLst>
          </p:cNvPr>
          <p:cNvCxnSpPr>
            <a:cxnSpLocks/>
            <a:stCxn id="67" idx="4"/>
          </p:cNvCxnSpPr>
          <p:nvPr/>
        </p:nvCxnSpPr>
        <p:spPr>
          <a:xfrm>
            <a:off x="5498244" y="4471303"/>
            <a:ext cx="2188576" cy="4514"/>
          </a:xfrm>
          <a:prstGeom prst="line">
            <a:avLst/>
          </a:prstGeom>
          <a:ln w="12700" cmpd="sng">
            <a:solidFill>
              <a:srgbClr val="003680"/>
            </a:solidFill>
          </a:ln>
        </p:spPr>
        <p:style>
          <a:lnRef idx="1">
            <a:schemeClr val="accent1"/>
          </a:lnRef>
          <a:fillRef idx="0">
            <a:schemeClr val="accent1"/>
          </a:fillRef>
          <a:effectRef idx="0">
            <a:schemeClr val="accent1"/>
          </a:effectRef>
          <a:fontRef idx="minor">
            <a:schemeClr val="tx1"/>
          </a:fontRef>
        </p:style>
      </p:cxnSp>
      <p:sp>
        <p:nvSpPr>
          <p:cNvPr id="67" name="Elipse 66">
            <a:extLst>
              <a:ext uri="{FF2B5EF4-FFF2-40B4-BE49-F238E27FC236}">
                <a16:creationId xmlns:a16="http://schemas.microsoft.com/office/drawing/2014/main" id="{1387DFC8-B754-A65E-C05A-9C166C72ACA0}"/>
              </a:ext>
            </a:extLst>
          </p:cNvPr>
          <p:cNvSpPr/>
          <p:nvPr/>
        </p:nvSpPr>
        <p:spPr>
          <a:xfrm>
            <a:off x="5324502" y="4170345"/>
            <a:ext cx="347483" cy="300958"/>
          </a:xfrm>
          <a:prstGeom prst="ellipse">
            <a:avLst/>
          </a:prstGeom>
          <a:noFill/>
          <a:ln w="12700">
            <a:solidFill>
              <a:srgbClr val="0036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8" name="Conector reto 67">
            <a:extLst>
              <a:ext uri="{FF2B5EF4-FFF2-40B4-BE49-F238E27FC236}">
                <a16:creationId xmlns:a16="http://schemas.microsoft.com/office/drawing/2014/main" id="{E3D10A27-B9BD-A479-5E0B-C5F96A79D9B9}"/>
              </a:ext>
            </a:extLst>
          </p:cNvPr>
          <p:cNvCxnSpPr>
            <a:cxnSpLocks/>
            <a:stCxn id="69" idx="4"/>
          </p:cNvCxnSpPr>
          <p:nvPr/>
        </p:nvCxnSpPr>
        <p:spPr>
          <a:xfrm>
            <a:off x="5499235" y="4904598"/>
            <a:ext cx="2188576" cy="4514"/>
          </a:xfrm>
          <a:prstGeom prst="line">
            <a:avLst/>
          </a:prstGeom>
          <a:ln w="12700" cmpd="sng">
            <a:solidFill>
              <a:srgbClr val="003680"/>
            </a:solidFill>
          </a:ln>
        </p:spPr>
        <p:style>
          <a:lnRef idx="1">
            <a:schemeClr val="accent1"/>
          </a:lnRef>
          <a:fillRef idx="0">
            <a:schemeClr val="accent1"/>
          </a:fillRef>
          <a:effectRef idx="0">
            <a:schemeClr val="accent1"/>
          </a:effectRef>
          <a:fontRef idx="minor">
            <a:schemeClr val="tx1"/>
          </a:fontRef>
        </p:style>
      </p:cxnSp>
      <p:sp>
        <p:nvSpPr>
          <p:cNvPr id="69" name="Elipse 68">
            <a:extLst>
              <a:ext uri="{FF2B5EF4-FFF2-40B4-BE49-F238E27FC236}">
                <a16:creationId xmlns:a16="http://schemas.microsoft.com/office/drawing/2014/main" id="{AA3C3DAB-4D7B-900D-3D87-EF526B415426}"/>
              </a:ext>
            </a:extLst>
          </p:cNvPr>
          <p:cNvSpPr/>
          <p:nvPr/>
        </p:nvSpPr>
        <p:spPr>
          <a:xfrm>
            <a:off x="5325493" y="4603640"/>
            <a:ext cx="347483" cy="300958"/>
          </a:xfrm>
          <a:prstGeom prst="ellipse">
            <a:avLst/>
          </a:prstGeom>
          <a:noFill/>
          <a:ln w="12700">
            <a:solidFill>
              <a:srgbClr val="0036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2" name="CaixaDeTexto 71">
            <a:extLst>
              <a:ext uri="{FF2B5EF4-FFF2-40B4-BE49-F238E27FC236}">
                <a16:creationId xmlns:a16="http://schemas.microsoft.com/office/drawing/2014/main" id="{E72A62C0-7D7A-74BC-54C1-A045158B2A4C}"/>
              </a:ext>
            </a:extLst>
          </p:cNvPr>
          <p:cNvSpPr txBox="1"/>
          <p:nvPr/>
        </p:nvSpPr>
        <p:spPr>
          <a:xfrm>
            <a:off x="5427596" y="3278091"/>
            <a:ext cx="2452859" cy="353943"/>
          </a:xfrm>
          <a:prstGeom prst="rect">
            <a:avLst/>
          </a:prstGeom>
          <a:noFill/>
        </p:spPr>
        <p:txBody>
          <a:bodyPr wrap="square">
            <a:spAutoFit/>
          </a:bodyPr>
          <a:lstStyle/>
          <a:p>
            <a:pPr algn="ctr" rtl="0"/>
            <a:r>
              <a:rPr lang="en-US" sz="850" b="1" i="0" u="none" strike="noStrike">
                <a:effectLst/>
              </a:rPr>
              <a:t>Inorganic Growth in Emergent Markets is Underrecognized</a:t>
            </a:r>
          </a:p>
        </p:txBody>
      </p:sp>
      <p:sp>
        <p:nvSpPr>
          <p:cNvPr id="85" name="CaixaDeTexto 84">
            <a:extLst>
              <a:ext uri="{FF2B5EF4-FFF2-40B4-BE49-F238E27FC236}">
                <a16:creationId xmlns:a16="http://schemas.microsoft.com/office/drawing/2014/main" id="{CEE94260-47A8-A945-77B6-2955C84C297A}"/>
              </a:ext>
            </a:extLst>
          </p:cNvPr>
          <p:cNvSpPr txBox="1"/>
          <p:nvPr/>
        </p:nvSpPr>
        <p:spPr>
          <a:xfrm>
            <a:off x="5527394" y="3695596"/>
            <a:ext cx="2307668" cy="353943"/>
          </a:xfrm>
          <a:prstGeom prst="rect">
            <a:avLst/>
          </a:prstGeom>
          <a:noFill/>
        </p:spPr>
        <p:txBody>
          <a:bodyPr wrap="square">
            <a:spAutoFit/>
          </a:bodyPr>
          <a:lstStyle/>
          <a:p>
            <a:pPr algn="ctr" rtl="0">
              <a:buNone/>
            </a:pPr>
            <a:r>
              <a:rPr lang="en-US" sz="850" b="1" i="0" u="none" strike="noStrike">
                <a:effectLst/>
              </a:rPr>
              <a:t>Unpriced Opportunity for WEG in the Data Center Market</a:t>
            </a:r>
          </a:p>
        </p:txBody>
      </p:sp>
      <p:sp>
        <p:nvSpPr>
          <p:cNvPr id="87" name="CaixaDeTexto 86">
            <a:extLst>
              <a:ext uri="{FF2B5EF4-FFF2-40B4-BE49-F238E27FC236}">
                <a16:creationId xmlns:a16="http://schemas.microsoft.com/office/drawing/2014/main" id="{F7CB8F32-D314-0A40-7AAF-5A98787D8A6E}"/>
              </a:ext>
            </a:extLst>
          </p:cNvPr>
          <p:cNvSpPr txBox="1"/>
          <p:nvPr/>
        </p:nvSpPr>
        <p:spPr>
          <a:xfrm>
            <a:off x="5501904" y="4130133"/>
            <a:ext cx="2353038" cy="353943"/>
          </a:xfrm>
          <a:prstGeom prst="rect">
            <a:avLst/>
          </a:prstGeom>
          <a:noFill/>
        </p:spPr>
        <p:txBody>
          <a:bodyPr wrap="square">
            <a:spAutoFit/>
          </a:bodyPr>
          <a:lstStyle/>
          <a:p>
            <a:pPr algn="ctr" rtl="0">
              <a:buNone/>
            </a:pPr>
            <a:r>
              <a:rPr lang="en-US" sz="850" b="1"/>
              <a:t>Adaptability to market dynamics through technology</a:t>
            </a:r>
            <a:endParaRPr lang="en-US" sz="850" b="1">
              <a:effectLst/>
            </a:endParaRPr>
          </a:p>
        </p:txBody>
      </p:sp>
      <p:sp>
        <p:nvSpPr>
          <p:cNvPr id="89" name="CaixaDeTexto 88">
            <a:extLst>
              <a:ext uri="{FF2B5EF4-FFF2-40B4-BE49-F238E27FC236}">
                <a16:creationId xmlns:a16="http://schemas.microsoft.com/office/drawing/2014/main" id="{9BFE7408-6655-C105-7953-7DBB7CFEEE02}"/>
              </a:ext>
            </a:extLst>
          </p:cNvPr>
          <p:cNvSpPr txBox="1"/>
          <p:nvPr/>
        </p:nvSpPr>
        <p:spPr>
          <a:xfrm>
            <a:off x="5473046" y="4568964"/>
            <a:ext cx="2361961" cy="353943"/>
          </a:xfrm>
          <a:prstGeom prst="rect">
            <a:avLst/>
          </a:prstGeom>
          <a:noFill/>
        </p:spPr>
        <p:txBody>
          <a:bodyPr wrap="square">
            <a:spAutoFit/>
          </a:bodyPr>
          <a:lstStyle/>
          <a:p>
            <a:pPr algn="ctr" rtl="0">
              <a:buNone/>
            </a:pPr>
            <a:r>
              <a:rPr lang="en-US" sz="850" b="1">
                <a:effectLst/>
              </a:rPr>
              <a:t>Leadership in energy transition: motors efficiency and  clean energy generation</a:t>
            </a:r>
          </a:p>
        </p:txBody>
      </p:sp>
      <p:pic>
        <p:nvPicPr>
          <p:cNvPr id="91" name="Imagem 90" descr="Forma&#10;&#10;O conteúdo gerado por IA pode estar incorreto.">
            <a:extLst>
              <a:ext uri="{FF2B5EF4-FFF2-40B4-BE49-F238E27FC236}">
                <a16:creationId xmlns:a16="http://schemas.microsoft.com/office/drawing/2014/main" id="{F4FC5428-C8C1-B5ED-720E-0E6455C793D3}"/>
              </a:ext>
            </a:extLst>
          </p:cNvPr>
          <p:cNvPicPr>
            <a:picLocks noChangeAspect="1"/>
          </p:cNvPicPr>
          <p:nvPr/>
        </p:nvPicPr>
        <p:blipFill>
          <a:blip r:embed="rId4" cstate="print">
            <a:alphaModFix/>
            <a:duotone>
              <a:prstClr val="black"/>
              <a:schemeClr val="accent4">
                <a:tint val="45000"/>
                <a:satMod val="400000"/>
              </a:schemeClr>
            </a:duotone>
            <a:extLst>
              <a:ext uri="{BEBA8EAE-BF5A-486C-A8C5-ECC9F3942E4B}">
                <a14:imgProps xmlns:a14="http://schemas.microsoft.com/office/drawing/2010/main">
                  <a14:imgLayer r:embed="rId5">
                    <a14:imgEffect>
                      <a14:colorTemperature colorTemp="5300"/>
                    </a14:imgEffect>
                    <a14:imgEffect>
                      <a14:saturation sat="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5383863" y="3756178"/>
            <a:ext cx="258611" cy="258611"/>
          </a:xfrm>
          <a:prstGeom prst="rect">
            <a:avLst/>
          </a:prstGeom>
        </p:spPr>
      </p:pic>
      <p:pic>
        <p:nvPicPr>
          <p:cNvPr id="92" name="Imagem 91" descr="Forma&#10;&#10;O conteúdo gerado por IA pode estar incorreto.">
            <a:extLst>
              <a:ext uri="{FF2B5EF4-FFF2-40B4-BE49-F238E27FC236}">
                <a16:creationId xmlns:a16="http://schemas.microsoft.com/office/drawing/2014/main" id="{339F501A-88DE-00E8-071A-C2E121F9B8E8}"/>
              </a:ext>
            </a:extLst>
          </p:cNvPr>
          <p:cNvPicPr>
            <a:picLocks noChangeAspect="1"/>
          </p:cNvPicPr>
          <p:nvPr/>
        </p:nvPicPr>
        <p:blipFill>
          <a:blip r:embed="rId6" cstate="print">
            <a:alphaModFix/>
            <a:extLst>
              <a:ext uri="{28A0092B-C50C-407E-A947-70E740481C1C}">
                <a14:useLocalDpi xmlns:a14="http://schemas.microsoft.com/office/drawing/2010/main" val="0"/>
              </a:ext>
            </a:extLst>
          </a:blip>
          <a:stretch>
            <a:fillRect/>
          </a:stretch>
        </p:blipFill>
        <p:spPr>
          <a:xfrm>
            <a:off x="5360010" y="4188530"/>
            <a:ext cx="270000" cy="270000"/>
          </a:xfrm>
          <a:prstGeom prst="rect">
            <a:avLst/>
          </a:prstGeom>
        </p:spPr>
      </p:pic>
      <p:pic>
        <p:nvPicPr>
          <p:cNvPr id="94" name="Imagem 93" descr="Forma&#10;&#10;O conteúdo gerado por IA pode estar incorreto.">
            <a:extLst>
              <a:ext uri="{FF2B5EF4-FFF2-40B4-BE49-F238E27FC236}">
                <a16:creationId xmlns:a16="http://schemas.microsoft.com/office/drawing/2014/main" id="{A7CE84FB-0CDB-DC03-49A2-9697701151D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72556" y="4638853"/>
            <a:ext cx="247147" cy="247147"/>
          </a:xfrm>
          <a:prstGeom prst="rect">
            <a:avLst/>
          </a:prstGeom>
        </p:spPr>
      </p:pic>
      <p:graphicFrame>
        <p:nvGraphicFramePr>
          <p:cNvPr id="22" name="Chart 2">
            <a:extLst>
              <a:ext uri="{FF2B5EF4-FFF2-40B4-BE49-F238E27FC236}">
                <a16:creationId xmlns:a16="http://schemas.microsoft.com/office/drawing/2014/main" id="{35D63A91-364A-4099-8D7F-A65339ED69E3}"/>
              </a:ext>
            </a:extLst>
          </p:cNvPr>
          <p:cNvGraphicFramePr>
            <a:graphicFrameLocks noGrp="1"/>
          </p:cNvGraphicFramePr>
          <p:nvPr>
            <p:ph type="chart" sz="quarter" idx="21"/>
            <p:extLst>
              <p:ext uri="{D42A27DB-BD31-4B8C-83A1-F6EECF244321}">
                <p14:modId xmlns:p14="http://schemas.microsoft.com/office/powerpoint/2010/main" val="1210408236"/>
              </p:ext>
            </p:extLst>
          </p:nvPr>
        </p:nvGraphicFramePr>
        <p:xfrm>
          <a:off x="5259388" y="5678488"/>
          <a:ext cx="2411412" cy="1652587"/>
        </p:xfrm>
        <a:graphic>
          <a:graphicData uri="http://schemas.openxmlformats.org/drawingml/2006/chart">
            <c:chart xmlns:c="http://schemas.openxmlformats.org/drawingml/2006/chart" xmlns:r="http://schemas.openxmlformats.org/officeDocument/2006/relationships" r:id="rId8"/>
          </a:graphicData>
        </a:graphic>
      </p:graphicFrame>
      <p:sp>
        <p:nvSpPr>
          <p:cNvPr id="6" name="Rectangle 5">
            <a:extLst>
              <a:ext uri="{FF2B5EF4-FFF2-40B4-BE49-F238E27FC236}">
                <a16:creationId xmlns:a16="http://schemas.microsoft.com/office/drawing/2014/main" id="{44CF9491-6188-0411-C27A-40B6A5D30FF9}"/>
              </a:ext>
            </a:extLst>
          </p:cNvPr>
          <p:cNvSpPr/>
          <p:nvPr/>
        </p:nvSpPr>
        <p:spPr>
          <a:xfrm>
            <a:off x="5147310" y="7719060"/>
            <a:ext cx="2625089" cy="25260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Objeto 46">
            <a:extLst>
              <a:ext uri="{FF2B5EF4-FFF2-40B4-BE49-F238E27FC236}">
                <a16:creationId xmlns:a16="http://schemas.microsoft.com/office/drawing/2014/main" id="{181739B1-40D2-E7C6-65BB-9C78554B848B}"/>
              </a:ext>
            </a:extLst>
          </p:cNvPr>
          <p:cNvGraphicFramePr>
            <a:graphicFrameLocks noChangeAspect="1"/>
          </p:cNvGraphicFramePr>
          <p:nvPr>
            <p:extLst>
              <p:ext uri="{D42A27DB-BD31-4B8C-83A1-F6EECF244321}">
                <p14:modId xmlns:p14="http://schemas.microsoft.com/office/powerpoint/2010/main" val="818214032"/>
              </p:ext>
            </p:extLst>
          </p:nvPr>
        </p:nvGraphicFramePr>
        <p:xfrm>
          <a:off x="4960" y="8576943"/>
          <a:ext cx="7762481" cy="1581510"/>
        </p:xfrm>
        <a:graphic>
          <a:graphicData uri="http://schemas.openxmlformats.org/presentationml/2006/ole">
            <mc:AlternateContent xmlns:mc="http://schemas.openxmlformats.org/markup-compatibility/2006">
              <mc:Choice xmlns:v="urn:schemas-microsoft-com:vml" Requires="v">
                <p:oleObj name="Worksheet" r:id="rId9" imgW="7991392" imgH="1628938" progId="Excel.Sheet.12">
                  <p:embed/>
                </p:oleObj>
              </mc:Choice>
              <mc:Fallback>
                <p:oleObj name="Worksheet" r:id="rId9" imgW="7991392" imgH="1628938" progId="Excel.Sheet.12">
                  <p:embed/>
                  <p:pic>
                    <p:nvPicPr>
                      <p:cNvPr id="47" name="Objeto 46">
                        <a:extLst>
                          <a:ext uri="{FF2B5EF4-FFF2-40B4-BE49-F238E27FC236}">
                            <a16:creationId xmlns:a16="http://schemas.microsoft.com/office/drawing/2014/main" id="{181739B1-40D2-E7C6-65BB-9C78554B848B}"/>
                          </a:ext>
                        </a:extLst>
                      </p:cNvPr>
                      <p:cNvPicPr/>
                      <p:nvPr/>
                    </p:nvPicPr>
                    <p:blipFill>
                      <a:blip r:embed="rId10"/>
                      <a:stretch>
                        <a:fillRect/>
                      </a:stretch>
                    </p:blipFill>
                    <p:spPr>
                      <a:xfrm>
                        <a:off x="4960" y="8576943"/>
                        <a:ext cx="7762481" cy="1581510"/>
                      </a:xfrm>
                      <a:prstGeom prst="rect">
                        <a:avLst/>
                      </a:prstGeom>
                    </p:spPr>
                  </p:pic>
                </p:oleObj>
              </mc:Fallback>
            </mc:AlternateContent>
          </a:graphicData>
        </a:graphic>
      </p:graphicFrame>
      <p:cxnSp>
        <p:nvCxnSpPr>
          <p:cNvPr id="53" name="Conector reto 52">
            <a:extLst>
              <a:ext uri="{FF2B5EF4-FFF2-40B4-BE49-F238E27FC236}">
                <a16:creationId xmlns:a16="http://schemas.microsoft.com/office/drawing/2014/main" id="{0EFA70DC-1156-B483-7666-7EF14B635F33}"/>
              </a:ext>
            </a:extLst>
          </p:cNvPr>
          <p:cNvCxnSpPr>
            <a:cxnSpLocks/>
          </p:cNvCxnSpPr>
          <p:nvPr/>
        </p:nvCxnSpPr>
        <p:spPr>
          <a:xfrm>
            <a:off x="23956" y="8491475"/>
            <a:ext cx="772448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5" name="CaixaDeTexto 54">
            <a:extLst>
              <a:ext uri="{FF2B5EF4-FFF2-40B4-BE49-F238E27FC236}">
                <a16:creationId xmlns:a16="http://schemas.microsoft.com/office/drawing/2014/main" id="{67A09E4B-18DF-DFA5-D656-8006B688414E}"/>
              </a:ext>
            </a:extLst>
          </p:cNvPr>
          <p:cNvSpPr txBox="1"/>
          <p:nvPr/>
        </p:nvSpPr>
        <p:spPr>
          <a:xfrm>
            <a:off x="23956" y="8267945"/>
            <a:ext cx="1257300" cy="276999"/>
          </a:xfrm>
          <a:prstGeom prst="rect">
            <a:avLst/>
          </a:prstGeom>
          <a:noFill/>
        </p:spPr>
        <p:txBody>
          <a:bodyPr wrap="square" rtlCol="0">
            <a:spAutoFit/>
          </a:bodyPr>
          <a:lstStyle/>
          <a:p>
            <a:r>
              <a:rPr lang="pt-BR" sz="1200" b="1">
                <a:solidFill>
                  <a:schemeClr val="accent1"/>
                </a:solidFill>
              </a:rPr>
              <a:t>KEY FINANCIALS</a:t>
            </a:r>
          </a:p>
        </p:txBody>
      </p:sp>
    </p:spTree>
    <p:extLst>
      <p:ext uri="{BB962C8B-B14F-4D97-AF65-F5344CB8AC3E}">
        <p14:creationId xmlns:p14="http://schemas.microsoft.com/office/powerpoint/2010/main" val="3711365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3179A9-F04E-0D72-CCD6-A90EB321D592}"/>
              </a:ext>
            </a:extLst>
          </p:cNvPr>
          <p:cNvSpPr>
            <a:spLocks noGrp="1"/>
          </p:cNvSpPr>
          <p:nvPr>
            <p:ph type="body" sz="quarter" idx="10"/>
          </p:nvPr>
        </p:nvSpPr>
        <p:spPr/>
        <p:txBody>
          <a:bodyPr/>
          <a:lstStyle/>
          <a:p>
            <a:r>
              <a:rPr lang="en-US"/>
              <a:t>Group 2</a:t>
            </a:r>
          </a:p>
        </p:txBody>
      </p:sp>
      <p:sp>
        <p:nvSpPr>
          <p:cNvPr id="3" name="Text Placeholder 2">
            <a:extLst>
              <a:ext uri="{FF2B5EF4-FFF2-40B4-BE49-F238E27FC236}">
                <a16:creationId xmlns:a16="http://schemas.microsoft.com/office/drawing/2014/main" id="{D552CF6C-5F9A-6109-8C68-09770A095AB2}"/>
              </a:ext>
            </a:extLst>
          </p:cNvPr>
          <p:cNvSpPr>
            <a:spLocks noGrp="1"/>
          </p:cNvSpPr>
          <p:nvPr>
            <p:ph type="body" sz="quarter" idx="11"/>
          </p:nvPr>
        </p:nvSpPr>
        <p:spPr/>
        <p:txBody>
          <a:bodyPr/>
          <a:lstStyle/>
          <a:p>
            <a:pPr algn="just"/>
            <a:r>
              <a:rPr lang="en-US" dirty="0"/>
              <a:t>Founded in 1961 in </a:t>
            </a:r>
            <a:r>
              <a:rPr lang="en-US" dirty="0" err="1"/>
              <a:t>Jaraguá</a:t>
            </a:r>
            <a:r>
              <a:rPr lang="en-US" dirty="0"/>
              <a:t> do Sul, Santa Catarina, Brazil, WEG S.A. (B3: WEGE3 / OTC: WEGZY) has become the leader or vice-leader in most capital goods product lines in Latin America. Headquartered in its city of origin, WEG combines a vertically integrated business model with production flexibility and continuous technological innovation, allowing it to thrive through diverse market cycles, segments, and geographies.</a:t>
            </a:r>
          </a:p>
          <a:p>
            <a:pPr algn="just"/>
            <a:r>
              <a:rPr lang="en-US" dirty="0"/>
              <a:t>WEG’s operations span four main sectors: Industrial Electro-Electronic Equipment; Electricity Generation, Transmission and Distribution; Commercial and Appliance Motors; and Paints and Varnishes. This diversified portfolio, coupled with both organic and inorganic expansion, enabled WEG to achieve an annual revenue of BRL 37.99 bn in 2024 resulting in a compound annual growth rate of 21.43% over the </a:t>
            </a:r>
            <a:r>
              <a:rPr lang="en-US" dirty="0">
                <a:solidFill>
                  <a:schemeClr val="tx1"/>
                </a:solidFill>
              </a:rPr>
              <a:t>past four years </a:t>
            </a:r>
            <a:r>
              <a:rPr lang="en-US" dirty="0"/>
              <a:t>(Exhibit 1).</a:t>
            </a:r>
          </a:p>
          <a:p>
            <a:pPr algn="l"/>
            <a:r>
              <a:rPr lang="en-US" sz="1000" b="1" dirty="0">
                <a:solidFill>
                  <a:schemeClr val="accent1"/>
                </a:solidFill>
              </a:rPr>
              <a:t>Diversified and Integrated Product Portfolio</a:t>
            </a:r>
          </a:p>
          <a:p>
            <a:pPr algn="just"/>
            <a:r>
              <a:rPr lang="en-US" dirty="0"/>
              <a:t>WEG’s product portfolio is structured around four related sectors</a:t>
            </a:r>
            <a:r>
              <a:rPr lang="en-US" dirty="0">
                <a:solidFill>
                  <a:schemeClr val="tx1"/>
                </a:solidFill>
              </a:rPr>
              <a:t>, demonstrating a truly diversified and integrated offering across global markets. </a:t>
            </a:r>
            <a:r>
              <a:rPr lang="en-US" dirty="0"/>
              <a:t>This integrated approach supports WEG’s vertical integration and facilitates cross-selling both across and within its four business sectors (Exhibit 2):</a:t>
            </a:r>
          </a:p>
          <a:p>
            <a:pPr algn="just"/>
            <a:r>
              <a:rPr lang="en-US" b="1" dirty="0"/>
              <a:t>Industrial Electro-Electronic Equipment (IEE): </a:t>
            </a:r>
            <a:r>
              <a:rPr lang="en-US" dirty="0"/>
              <a:t>In this segment WEG works with low and high voltage electric motors, reducers, drives &amp; controls, equipment, industrial automation systems and services, solutions for electric mobility, for Industry 4.0, electrical infrastructure for civil construction and maintenance services. Electric motors and other products and solutions in this area are used in practically all industrial segments, such as compressors, pumps and fans. They compete with products and solutions in the main markets in the world.</a:t>
            </a:r>
          </a:p>
          <a:p>
            <a:pPr algn="just"/>
            <a:r>
              <a:rPr lang="en-US" b="1" dirty="0"/>
              <a:t>Electricity Generation, Transmission and Distribution (GTD): </a:t>
            </a:r>
            <a:r>
              <a:rPr lang="en-US" dirty="0"/>
              <a:t>The products and services included in GTD are electric generators, alternators, wind turbines, solar generation, hydraulic and thermal steam turbines (biomass), transformers, substations, control panels and systems integration services. In general, the process deadlines in this sector are longer, with longer investment decisions and longer design and manufacturing deadlines.</a:t>
            </a:r>
            <a:endParaRPr lang="en-US" b="1" dirty="0"/>
          </a:p>
          <a:p>
            <a:pPr algn="just"/>
            <a:r>
              <a:rPr lang="en-US" b="1" dirty="0"/>
              <a:t>Commercial and Appliance Motors (CAM): </a:t>
            </a:r>
            <a:r>
              <a:rPr lang="en-US" dirty="0"/>
              <a:t>The business in this area mainly includes single-phase motors for durable consumer goods, such as washing machines, air conditioners, water pumps, among others. In Brazil, WEG is market leaders with the main manufacturers of this type of equipment. And abroad, they offer a broad portfolio of products to serve global customers. In this short-cycle business, variations in consumer demand are quickly transferred to the industry, with almost immediate impacts on production and revenue.</a:t>
            </a:r>
          </a:p>
          <a:p>
            <a:pPr algn="just"/>
            <a:r>
              <a:rPr lang="en-US" b="1" dirty="0"/>
              <a:t>Paints and Varnishes (P&amp;V): </a:t>
            </a:r>
            <a:r>
              <a:rPr lang="en-US" dirty="0"/>
              <a:t>WEG works in this business area with liquid paints, powder paints and electrical insulating varnishes, with a focus on industrial applications and the Brazilian market, with gradual expansion into Latin America. The target markets range from manufacturers of white goods to the shipbuilding industry, among others. They seek to maximize the scale of production and the effort to develop new products and new segments. Characterized as a short-cycle business, variations in customer’s demand are quickly felt in WEG’s production and revenue.</a:t>
            </a:r>
          </a:p>
          <a:p>
            <a:pPr algn="l"/>
            <a:r>
              <a:rPr lang="en-US" sz="1000" b="1" dirty="0">
                <a:solidFill>
                  <a:schemeClr val="accent1"/>
                </a:solidFill>
              </a:rPr>
              <a:t>Supply Chain &amp; Geographic Distribution</a:t>
            </a:r>
          </a:p>
          <a:p>
            <a:pPr algn="just"/>
            <a:r>
              <a:rPr lang="en-US" dirty="0"/>
              <a:t>WEG’s supply chain strategy is built on end-to-end vertical integration, from component machining through final assembly. As the main consequence of verticalization, they develop customized products and manufacture them on a large scale at lower costs. Each manufacturing site is organized into machining units (transforming raw materials into components) and assembly units (using components to building finished products), supported by at least three approved suppliers for each key material to spread and minimize supply-risk exposure. This verticalization of production allows: flexibility in production, which reduces delivery times for customized products at a lower cost; supply flexibility, which makes it possible to quickly change the mix of products offered to meet current market demand; control of the supply of their factories, which implies greater flexibility; there is no increase in production; and continuous learning of all stages of our production process, with gains in quality in the final product.</a:t>
            </a:r>
          </a:p>
          <a:p>
            <a:pPr algn="just"/>
            <a:r>
              <a:rPr lang="en-US" dirty="0"/>
              <a:t>This integration of the value chain is complemented by a widely dispersed network of operations, with WEG having 64 factories in 17 countries and commercial operations in 41 countries, making presence with factories and commercial operations in 4 continents (Exhibit 3). Although most of WEG’s revenue is generated from domestic sales or exports by its Brazilian factories, being exposed risks related to Brazil (Exhibit 4), this dispersed network mitigates location-specific risks and facilitates market expansion through enhanced access.</a:t>
            </a:r>
          </a:p>
          <a:p>
            <a:pPr algn="just"/>
            <a:r>
              <a:rPr lang="pt-BR" sz="1200" b="1" dirty="0">
                <a:solidFill>
                  <a:schemeClr val="accent1"/>
                </a:solidFill>
              </a:rPr>
              <a:t>INDUSTRY OVERVIEW</a:t>
            </a:r>
          </a:p>
          <a:p>
            <a:pPr algn="just" rtl="0">
              <a:buNone/>
            </a:pPr>
            <a:endParaRPr lang="en-US" b="0" i="0" u="none" strike="noStrike" dirty="0">
              <a:solidFill>
                <a:schemeClr val="tx1"/>
              </a:solidFill>
              <a:effectLst/>
            </a:endParaRPr>
          </a:p>
          <a:p>
            <a:pPr algn="just" rtl="0">
              <a:buNone/>
            </a:pPr>
            <a:r>
              <a:rPr lang="en-US" b="0" i="0" u="none" strike="noStrike" dirty="0">
                <a:solidFill>
                  <a:srgbClr val="000000"/>
                </a:solidFill>
                <a:effectLst/>
              </a:rPr>
              <a:t>The global electric motor industry is composed of distinct yet interconnected segments, in which WEG operates through Industrial Electronic Equipment (IEE), Power Generation, Transmission and Distribution (GTD), and Commercial and Appliance Motors (CAM). Each segment presents specific growth drivers and risks, shaping the company's performance and strategic focus.</a:t>
            </a:r>
            <a:endParaRPr lang="en-US" b="0" dirty="0">
              <a:effectLst/>
            </a:endParaRPr>
          </a:p>
          <a:p>
            <a:pPr algn="just" rtl="0">
              <a:buNone/>
            </a:pPr>
            <a:r>
              <a:rPr lang="en-US" b="0" i="0" u="none" strike="noStrike" dirty="0">
                <a:solidFill>
                  <a:srgbClr val="000000"/>
                </a:solidFill>
                <a:effectLst/>
              </a:rPr>
              <a:t>In Industrial Electronic Equipment (IEE), long-term trends such as factory automation, digitalization, and industrial Internet of Thing (IoT) create opportunities for innovation and efficiency gains. However, the segment currently faces near-term challenges, with clients delaying projects amid budget constraints and uncertainties over return on investment (ROI). </a:t>
            </a:r>
          </a:p>
          <a:p>
            <a:pPr algn="just" rtl="0">
              <a:buNone/>
            </a:pPr>
            <a:r>
              <a:rPr lang="en-US" b="0" i="0" u="none" strike="noStrike" dirty="0">
                <a:solidFill>
                  <a:srgbClr val="000000"/>
                </a:solidFill>
                <a:effectLst/>
              </a:rPr>
              <a:t>In Power Generation, Transmission and Distribution (GTD), the push for renewable energy and grid modernization supports structural growth potential. Still, the segment suffers from regulatory delays, political uncertainty, and volatility in infrastructure investment cycles. Utility companies and OEMs have been deferring capital expenditures, affecting the pace of grid upgrades and power system enhancements, key revenue sources for WEG in this segment.</a:t>
            </a:r>
          </a:p>
          <a:p>
            <a:pPr algn="just" rtl="0">
              <a:buNone/>
            </a:pPr>
            <a:r>
              <a:rPr lang="en-US" b="0" i="0" u="none" strike="noStrike" dirty="0">
                <a:solidFill>
                  <a:srgbClr val="000000"/>
                </a:solidFill>
                <a:effectLst/>
              </a:rPr>
              <a:t>The Commercial and Appliance Motors (CAM) segment is more exposed to cyclical and regional consumption dynamics. Competitive pricing pressure is intense, especially in emerging markets, where subdued purchasing power limits demand.</a:t>
            </a:r>
            <a:endParaRPr lang="en-US" b="0" dirty="0">
              <a:effectLst/>
            </a:endParaRPr>
          </a:p>
        </p:txBody>
      </p:sp>
      <p:sp>
        <p:nvSpPr>
          <p:cNvPr id="4" name="Text Placeholder 3">
            <a:extLst>
              <a:ext uri="{FF2B5EF4-FFF2-40B4-BE49-F238E27FC236}">
                <a16:creationId xmlns:a16="http://schemas.microsoft.com/office/drawing/2014/main" id="{D9C612D0-96D6-8B89-2E07-68B7CAE336E6}"/>
              </a:ext>
            </a:extLst>
          </p:cNvPr>
          <p:cNvSpPr>
            <a:spLocks noGrp="1"/>
          </p:cNvSpPr>
          <p:nvPr>
            <p:ph type="body" sz="quarter" idx="12"/>
          </p:nvPr>
        </p:nvSpPr>
        <p:spPr/>
        <p:txBody>
          <a:bodyPr/>
          <a:lstStyle/>
          <a:p>
            <a:r>
              <a:rPr lang="pt-BR"/>
              <a:t>BUSINESS DESCRIPTION</a:t>
            </a:r>
            <a:endParaRPr lang="en-US"/>
          </a:p>
        </p:txBody>
      </p:sp>
      <p:sp>
        <p:nvSpPr>
          <p:cNvPr id="5" name="Text Placeholder 4">
            <a:extLst>
              <a:ext uri="{FF2B5EF4-FFF2-40B4-BE49-F238E27FC236}">
                <a16:creationId xmlns:a16="http://schemas.microsoft.com/office/drawing/2014/main" id="{79856C35-E519-74D3-BC4E-B78F4001D70F}"/>
              </a:ext>
            </a:extLst>
          </p:cNvPr>
          <p:cNvSpPr>
            <a:spLocks noGrp="1"/>
          </p:cNvSpPr>
          <p:nvPr>
            <p:ph type="body" sz="quarter" idx="13"/>
          </p:nvPr>
        </p:nvSpPr>
        <p:spPr>
          <a:xfrm>
            <a:off x="5197608" y="453921"/>
            <a:ext cx="2574791" cy="242661"/>
          </a:xfrm>
        </p:spPr>
        <p:txBody>
          <a:bodyPr/>
          <a:lstStyle/>
          <a:p>
            <a:r>
              <a:rPr lang="pt-BR" err="1"/>
              <a:t>Exhibit</a:t>
            </a:r>
            <a:r>
              <a:rPr lang="pt-BR"/>
              <a:t> 2: Annual Revenue </a:t>
            </a:r>
            <a:r>
              <a:rPr lang="pt-BR" err="1"/>
              <a:t>by</a:t>
            </a:r>
            <a:r>
              <a:rPr lang="pt-BR"/>
              <a:t> Sector (BRL </a:t>
            </a:r>
            <a:r>
              <a:rPr lang="pt-BR" err="1"/>
              <a:t>bn</a:t>
            </a:r>
            <a:r>
              <a:rPr lang="pt-BR"/>
              <a:t>)</a:t>
            </a:r>
            <a:endParaRPr lang="en-US"/>
          </a:p>
        </p:txBody>
      </p:sp>
      <p:sp>
        <p:nvSpPr>
          <p:cNvPr id="6" name="Text Placeholder 5">
            <a:extLst>
              <a:ext uri="{FF2B5EF4-FFF2-40B4-BE49-F238E27FC236}">
                <a16:creationId xmlns:a16="http://schemas.microsoft.com/office/drawing/2014/main" id="{D1299AF7-F9F1-E03F-2565-BDA412F212AB}"/>
              </a:ext>
            </a:extLst>
          </p:cNvPr>
          <p:cNvSpPr>
            <a:spLocks noGrp="1"/>
          </p:cNvSpPr>
          <p:nvPr>
            <p:ph type="body" sz="quarter" idx="14"/>
          </p:nvPr>
        </p:nvSpPr>
        <p:spPr/>
        <p:txBody>
          <a:bodyPr/>
          <a:lstStyle/>
          <a:p>
            <a:r>
              <a:rPr lang="pt-BR" err="1"/>
              <a:t>Source</a:t>
            </a:r>
            <a:r>
              <a:rPr lang="pt-BR"/>
              <a:t>: WEG IR</a:t>
            </a:r>
            <a:endParaRPr lang="en-US"/>
          </a:p>
        </p:txBody>
      </p:sp>
      <p:sp>
        <p:nvSpPr>
          <p:cNvPr id="8" name="Text Placeholder 7">
            <a:extLst>
              <a:ext uri="{FF2B5EF4-FFF2-40B4-BE49-F238E27FC236}">
                <a16:creationId xmlns:a16="http://schemas.microsoft.com/office/drawing/2014/main" id="{473A2AC9-B091-EE09-DC14-E405392860C7}"/>
              </a:ext>
            </a:extLst>
          </p:cNvPr>
          <p:cNvSpPr>
            <a:spLocks noGrp="1"/>
          </p:cNvSpPr>
          <p:nvPr>
            <p:ph type="body" sz="quarter" idx="16"/>
          </p:nvPr>
        </p:nvSpPr>
        <p:spPr>
          <a:xfrm>
            <a:off x="5197609" y="2900916"/>
            <a:ext cx="1980906" cy="192039"/>
          </a:xfrm>
        </p:spPr>
        <p:txBody>
          <a:bodyPr/>
          <a:lstStyle/>
          <a:p>
            <a:r>
              <a:rPr lang="en-US"/>
              <a:t>Exhibit 3: Revenue Across Sectors</a:t>
            </a:r>
          </a:p>
        </p:txBody>
      </p:sp>
      <p:sp>
        <p:nvSpPr>
          <p:cNvPr id="9" name="Text Placeholder 8">
            <a:extLst>
              <a:ext uri="{FF2B5EF4-FFF2-40B4-BE49-F238E27FC236}">
                <a16:creationId xmlns:a16="http://schemas.microsoft.com/office/drawing/2014/main" id="{FF082BAF-E2B5-0BC0-43CD-75D023C00F41}"/>
              </a:ext>
            </a:extLst>
          </p:cNvPr>
          <p:cNvSpPr>
            <a:spLocks noGrp="1"/>
          </p:cNvSpPr>
          <p:nvPr>
            <p:ph type="body" sz="quarter" idx="17"/>
          </p:nvPr>
        </p:nvSpPr>
        <p:spPr/>
        <p:txBody>
          <a:bodyPr/>
          <a:lstStyle/>
          <a:p>
            <a:r>
              <a:rPr lang="pt-BR" err="1"/>
              <a:t>Source</a:t>
            </a:r>
            <a:r>
              <a:rPr lang="pt-BR"/>
              <a:t>: WEG IR</a:t>
            </a:r>
            <a:endParaRPr lang="en-US"/>
          </a:p>
        </p:txBody>
      </p:sp>
      <p:sp>
        <p:nvSpPr>
          <p:cNvPr id="11" name="Text Placeholder 10">
            <a:extLst>
              <a:ext uri="{FF2B5EF4-FFF2-40B4-BE49-F238E27FC236}">
                <a16:creationId xmlns:a16="http://schemas.microsoft.com/office/drawing/2014/main" id="{A07B896A-9AE1-41ED-2311-2038ECAFB3A8}"/>
              </a:ext>
            </a:extLst>
          </p:cNvPr>
          <p:cNvSpPr>
            <a:spLocks noGrp="1"/>
          </p:cNvSpPr>
          <p:nvPr>
            <p:ph type="body" sz="quarter" idx="19"/>
          </p:nvPr>
        </p:nvSpPr>
        <p:spPr>
          <a:xfrm>
            <a:off x="5197609" y="5347909"/>
            <a:ext cx="2373508" cy="208387"/>
          </a:xfrm>
        </p:spPr>
        <p:txBody>
          <a:bodyPr/>
          <a:lstStyle/>
          <a:p>
            <a:r>
              <a:rPr lang="en-US"/>
              <a:t>Exhibit 4: WEG’s Network of Operations</a:t>
            </a:r>
          </a:p>
        </p:txBody>
      </p:sp>
      <p:sp>
        <p:nvSpPr>
          <p:cNvPr id="12" name="Text Placeholder 11">
            <a:extLst>
              <a:ext uri="{FF2B5EF4-FFF2-40B4-BE49-F238E27FC236}">
                <a16:creationId xmlns:a16="http://schemas.microsoft.com/office/drawing/2014/main" id="{79EC87C6-C2FE-F101-EE72-240C24533C90}"/>
              </a:ext>
            </a:extLst>
          </p:cNvPr>
          <p:cNvSpPr>
            <a:spLocks noGrp="1"/>
          </p:cNvSpPr>
          <p:nvPr>
            <p:ph type="body" sz="quarter" idx="20"/>
          </p:nvPr>
        </p:nvSpPr>
        <p:spPr/>
        <p:txBody>
          <a:bodyPr/>
          <a:lstStyle/>
          <a:p>
            <a:r>
              <a:rPr lang="pt-BR" err="1"/>
              <a:t>Source</a:t>
            </a:r>
            <a:r>
              <a:rPr lang="pt-BR"/>
              <a:t>: WEG IR</a:t>
            </a:r>
            <a:endParaRPr lang="en-US"/>
          </a:p>
        </p:txBody>
      </p:sp>
      <p:sp>
        <p:nvSpPr>
          <p:cNvPr id="14" name="Text Placeholder 13">
            <a:extLst>
              <a:ext uri="{FF2B5EF4-FFF2-40B4-BE49-F238E27FC236}">
                <a16:creationId xmlns:a16="http://schemas.microsoft.com/office/drawing/2014/main" id="{CA61FDB8-8ACC-BCAF-AC51-CB5176C6042A}"/>
              </a:ext>
            </a:extLst>
          </p:cNvPr>
          <p:cNvSpPr>
            <a:spLocks noGrp="1"/>
          </p:cNvSpPr>
          <p:nvPr>
            <p:ph type="body" sz="quarter" idx="22"/>
          </p:nvPr>
        </p:nvSpPr>
        <p:spPr>
          <a:xfrm>
            <a:off x="5197608" y="7794904"/>
            <a:ext cx="2574791" cy="242660"/>
          </a:xfrm>
        </p:spPr>
        <p:txBody>
          <a:bodyPr/>
          <a:lstStyle/>
          <a:p>
            <a:r>
              <a:rPr lang="en-US"/>
              <a:t>Exhibit 5: Production and Sales Distribution</a:t>
            </a:r>
          </a:p>
        </p:txBody>
      </p:sp>
      <p:sp>
        <p:nvSpPr>
          <p:cNvPr id="15" name="Text Placeholder 14">
            <a:extLst>
              <a:ext uri="{FF2B5EF4-FFF2-40B4-BE49-F238E27FC236}">
                <a16:creationId xmlns:a16="http://schemas.microsoft.com/office/drawing/2014/main" id="{6168B0E7-08D6-4D37-5CD9-D71BC9C78A8F}"/>
              </a:ext>
            </a:extLst>
          </p:cNvPr>
          <p:cNvSpPr>
            <a:spLocks noGrp="1"/>
          </p:cNvSpPr>
          <p:nvPr>
            <p:ph type="body" sz="quarter" idx="23"/>
          </p:nvPr>
        </p:nvSpPr>
        <p:spPr/>
        <p:txBody>
          <a:bodyPr/>
          <a:lstStyle/>
          <a:p>
            <a:r>
              <a:rPr lang="pt-BR" err="1"/>
              <a:t>Source</a:t>
            </a:r>
            <a:r>
              <a:rPr lang="pt-BR"/>
              <a:t>: WEG IR</a:t>
            </a:r>
            <a:endParaRPr lang="en-US"/>
          </a:p>
        </p:txBody>
      </p:sp>
      <mc:AlternateContent xmlns:mc="http://schemas.openxmlformats.org/markup-compatibility/2006">
        <mc:Choice xmlns:cx1="http://schemas.microsoft.com/office/drawing/2015/9/8/chartex" Requires="cx1">
          <p:graphicFrame>
            <p:nvGraphicFramePr>
              <p:cNvPr id="7" name="Chart Placeholder 6">
                <a:extLst>
                  <a:ext uri="{FF2B5EF4-FFF2-40B4-BE49-F238E27FC236}">
                    <a16:creationId xmlns:a16="http://schemas.microsoft.com/office/drawing/2014/main" id="{0856F23B-DE30-D6CC-822C-82F2B28C149C}"/>
                  </a:ext>
                </a:extLst>
              </p:cNvPr>
              <p:cNvGraphicFramePr>
                <a:graphicFrameLocks noGrp="1"/>
              </p:cNvGraphicFramePr>
              <p:nvPr>
                <p:ph type="chart" sz="quarter" idx="18"/>
                <p:extLst>
                  <p:ext uri="{D42A27DB-BD31-4B8C-83A1-F6EECF244321}">
                    <p14:modId xmlns:p14="http://schemas.microsoft.com/office/powerpoint/2010/main" val="4015648861"/>
                  </p:ext>
                </p:extLst>
              </p:nvPr>
            </p:nvGraphicFramePr>
            <p:xfrm>
              <a:off x="5259388" y="3232150"/>
              <a:ext cx="2411412" cy="1651000"/>
            </p:xfrm>
            <a:graphic>
              <a:graphicData uri="http://schemas.microsoft.com/office/drawing/2014/chartex">
                <cx:chart xmlns:cx="http://schemas.microsoft.com/office/drawing/2014/chartex" xmlns:r="http://schemas.openxmlformats.org/officeDocument/2006/relationships" r:id="rId3"/>
              </a:graphicData>
            </a:graphic>
          </p:graphicFrame>
        </mc:Choice>
        <mc:Fallback>
          <p:pic>
            <p:nvPicPr>
              <p:cNvPr id="7" name="Chart Placeholder 6">
                <a:extLst>
                  <a:ext uri="{FF2B5EF4-FFF2-40B4-BE49-F238E27FC236}">
                    <a16:creationId xmlns:a16="http://schemas.microsoft.com/office/drawing/2014/main" id="{0856F23B-DE30-D6CC-822C-82F2B28C149C}"/>
                  </a:ext>
                </a:extLst>
              </p:cNvPr>
              <p:cNvPicPr>
                <a:picLocks noGrp="1" noRot="1" noChangeAspect="1" noMove="1" noResize="1" noEditPoints="1" noAdjustHandles="1" noChangeArrowheads="1" noChangeShapeType="1"/>
              </p:cNvPicPr>
              <p:nvPr/>
            </p:nvPicPr>
            <p:blipFill>
              <a:blip r:embed="rId4"/>
              <a:stretch>
                <a:fillRect/>
              </a:stretch>
            </p:blipFill>
            <p:spPr>
              <a:xfrm>
                <a:off x="5259388" y="3232150"/>
                <a:ext cx="2411412" cy="1651000"/>
              </a:xfrm>
              <a:prstGeom prst="rect">
                <a:avLst/>
              </a:prstGeom>
            </p:spPr>
          </p:pic>
        </mc:Fallback>
      </mc:AlternateContent>
      <mc:AlternateContent xmlns:mc="http://schemas.openxmlformats.org/markup-compatibility/2006">
        <mc:Choice xmlns:cx4="http://schemas.microsoft.com/office/drawing/2016/5/10/chartex" Requires="cx4">
          <p:graphicFrame>
            <p:nvGraphicFramePr>
              <p:cNvPr id="13" name="Chart Placeholder 19">
                <a:extLst>
                  <a:ext uri="{FF2B5EF4-FFF2-40B4-BE49-F238E27FC236}">
                    <a16:creationId xmlns:a16="http://schemas.microsoft.com/office/drawing/2014/main" id="{8CFC862D-44A6-FEA9-9908-39CDC960BB59}"/>
                  </a:ext>
                </a:extLst>
              </p:cNvPr>
              <p:cNvGraphicFramePr>
                <a:graphicFrameLocks noGrp="1"/>
              </p:cNvGraphicFramePr>
              <p:nvPr>
                <p:ph type="chart" sz="quarter" idx="21"/>
              </p:nvPr>
            </p:nvGraphicFramePr>
            <p:xfrm>
              <a:off x="5259388" y="5678488"/>
              <a:ext cx="2411412" cy="1652587"/>
            </p:xfrm>
            <a:graphic>
              <a:graphicData uri="http://schemas.microsoft.com/office/drawing/2014/chartex">
                <cx:chart xmlns:cx="http://schemas.microsoft.com/office/drawing/2014/chartex" xmlns:r="http://schemas.openxmlformats.org/officeDocument/2006/relationships" r:id="rId5"/>
              </a:graphicData>
            </a:graphic>
          </p:graphicFrame>
        </mc:Choice>
        <mc:Fallback>
          <p:pic>
            <p:nvPicPr>
              <p:cNvPr id="13" name="Chart Placeholder 19">
                <a:extLst>
                  <a:ext uri="{FF2B5EF4-FFF2-40B4-BE49-F238E27FC236}">
                    <a16:creationId xmlns:a16="http://schemas.microsoft.com/office/drawing/2014/main" id="{8CFC862D-44A6-FEA9-9908-39CDC960BB59}"/>
                  </a:ext>
                </a:extLst>
              </p:cNvPr>
              <p:cNvPicPr>
                <a:picLocks noGrp="1" noRot="1" noChangeAspect="1" noMove="1" noResize="1" noEditPoints="1" noAdjustHandles="1" noChangeArrowheads="1" noChangeShapeType="1"/>
              </p:cNvPicPr>
              <p:nvPr/>
            </p:nvPicPr>
            <p:blipFill>
              <a:blip r:embed="rId6"/>
              <a:stretch>
                <a:fillRect/>
              </a:stretch>
            </p:blipFill>
            <p:spPr>
              <a:xfrm>
                <a:off x="5259388" y="5678488"/>
                <a:ext cx="2411412" cy="1652587"/>
              </a:xfrm>
              <a:prstGeom prst="rect">
                <a:avLst/>
              </a:prstGeom>
            </p:spPr>
          </p:pic>
        </mc:Fallback>
      </mc:AlternateContent>
      <p:graphicFrame>
        <p:nvGraphicFramePr>
          <p:cNvPr id="18" name="Chart Placeholder 17">
            <a:extLst>
              <a:ext uri="{FF2B5EF4-FFF2-40B4-BE49-F238E27FC236}">
                <a16:creationId xmlns:a16="http://schemas.microsoft.com/office/drawing/2014/main" id="{BAAA8DD3-B15C-4E4E-6186-C5F5CEA439AE}"/>
              </a:ext>
            </a:extLst>
          </p:cNvPr>
          <p:cNvGraphicFramePr>
            <a:graphicFrameLocks noGrp="1"/>
          </p:cNvGraphicFramePr>
          <p:nvPr>
            <p:ph type="chart" sz="quarter" idx="24"/>
          </p:nvPr>
        </p:nvGraphicFramePr>
        <p:xfrm>
          <a:off x="5259388" y="8124825"/>
          <a:ext cx="2411412" cy="1652588"/>
        </p:xfrm>
        <a:graphic>
          <a:graphicData uri="http://schemas.openxmlformats.org/drawingml/2006/chart">
            <c:chart xmlns:c="http://schemas.openxmlformats.org/drawingml/2006/chart" xmlns:r="http://schemas.openxmlformats.org/officeDocument/2006/relationships" r:id="rId7"/>
          </a:graphicData>
        </a:graphic>
      </p:graphicFrame>
      <p:cxnSp>
        <p:nvCxnSpPr>
          <p:cNvPr id="16" name="Conector reto 15">
            <a:extLst>
              <a:ext uri="{FF2B5EF4-FFF2-40B4-BE49-F238E27FC236}">
                <a16:creationId xmlns:a16="http://schemas.microsoft.com/office/drawing/2014/main" id="{6C44C21E-3E9E-C4FE-3566-E4BEF12341DC}"/>
              </a:ext>
            </a:extLst>
          </p:cNvPr>
          <p:cNvCxnSpPr/>
          <p:nvPr/>
        </p:nvCxnSpPr>
        <p:spPr>
          <a:xfrm>
            <a:off x="201282" y="7991754"/>
            <a:ext cx="486601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Espaço Reservado para Número de Slide 16">
            <a:extLst>
              <a:ext uri="{FF2B5EF4-FFF2-40B4-BE49-F238E27FC236}">
                <a16:creationId xmlns:a16="http://schemas.microsoft.com/office/drawing/2014/main" id="{3424FA8E-A474-124F-23B1-DA96FEF684C4}"/>
              </a:ext>
            </a:extLst>
          </p:cNvPr>
          <p:cNvSpPr>
            <a:spLocks noGrp="1"/>
          </p:cNvSpPr>
          <p:nvPr>
            <p:ph type="sldNum" sz="quarter" idx="7"/>
          </p:nvPr>
        </p:nvSpPr>
        <p:spPr>
          <a:xfrm>
            <a:off x="7178515" y="10312736"/>
            <a:ext cx="515895" cy="230114"/>
          </a:xfrm>
        </p:spPr>
        <p:txBody>
          <a:bodyPr/>
          <a:lstStyle/>
          <a:p>
            <a:pPr algn="ctr">
              <a:spcBef>
                <a:spcPts val="65"/>
              </a:spcBef>
            </a:pPr>
            <a:r>
              <a:rPr lang="pt-BR" sz="800"/>
              <a:t>2</a:t>
            </a:r>
          </a:p>
        </p:txBody>
      </p:sp>
      <p:cxnSp>
        <p:nvCxnSpPr>
          <p:cNvPr id="17" name="Conector reto 16">
            <a:extLst>
              <a:ext uri="{FF2B5EF4-FFF2-40B4-BE49-F238E27FC236}">
                <a16:creationId xmlns:a16="http://schemas.microsoft.com/office/drawing/2014/main" id="{89C7CA4F-AE85-1A29-B7F7-924384815211}"/>
              </a:ext>
            </a:extLst>
          </p:cNvPr>
          <p:cNvCxnSpPr/>
          <p:nvPr/>
        </p:nvCxnSpPr>
        <p:spPr>
          <a:xfrm>
            <a:off x="201282" y="696582"/>
            <a:ext cx="4866017" cy="0"/>
          </a:xfrm>
          <a:prstGeom prst="line">
            <a:avLst/>
          </a:prstGeom>
          <a:ln w="12700"/>
        </p:spPr>
        <p:style>
          <a:lnRef idx="1">
            <a:schemeClr val="accent1"/>
          </a:lnRef>
          <a:fillRef idx="0">
            <a:schemeClr val="accent1"/>
          </a:fillRef>
          <a:effectRef idx="0">
            <a:schemeClr val="accent1"/>
          </a:effectRef>
          <a:fontRef idx="minor">
            <a:schemeClr val="tx1"/>
          </a:fontRef>
        </p:style>
      </p:cxnSp>
      <p:graphicFrame>
        <p:nvGraphicFramePr>
          <p:cNvPr id="39" name="Chart Placeholder 24">
            <a:extLst>
              <a:ext uri="{FF2B5EF4-FFF2-40B4-BE49-F238E27FC236}">
                <a16:creationId xmlns:a16="http://schemas.microsoft.com/office/drawing/2014/main" id="{BA69A282-8BCB-A603-10DA-040D343C425F}"/>
              </a:ext>
            </a:extLst>
          </p:cNvPr>
          <p:cNvGraphicFramePr>
            <a:graphicFrameLocks noGrp="1"/>
          </p:cNvGraphicFramePr>
          <p:nvPr>
            <p:ph type="chart" sz="quarter" idx="15"/>
            <p:extLst>
              <p:ext uri="{D42A27DB-BD31-4B8C-83A1-F6EECF244321}">
                <p14:modId xmlns:p14="http://schemas.microsoft.com/office/powerpoint/2010/main" val="2815205666"/>
              </p:ext>
            </p:extLst>
          </p:nvPr>
        </p:nvGraphicFramePr>
        <p:xfrm>
          <a:off x="5259388" y="784225"/>
          <a:ext cx="2411412" cy="1652588"/>
        </p:xfrm>
        <a:graphic>
          <a:graphicData uri="http://schemas.openxmlformats.org/drawingml/2006/chart">
            <c:chart xmlns:c="http://schemas.openxmlformats.org/drawingml/2006/chart" xmlns:r="http://schemas.openxmlformats.org/officeDocument/2006/relationships" r:id="rId8"/>
          </a:graphicData>
        </a:graphic>
      </p:graphicFrame>
      <p:sp>
        <p:nvSpPr>
          <p:cNvPr id="44" name="Rectangle 43">
            <a:extLst>
              <a:ext uri="{FF2B5EF4-FFF2-40B4-BE49-F238E27FC236}">
                <a16:creationId xmlns:a16="http://schemas.microsoft.com/office/drawing/2014/main" id="{423B4C55-082B-4669-5197-C3AF0FFD5A6A}"/>
              </a:ext>
            </a:extLst>
          </p:cNvPr>
          <p:cNvSpPr/>
          <p:nvPr/>
        </p:nvSpPr>
        <p:spPr>
          <a:xfrm>
            <a:off x="6195682" y="720515"/>
            <a:ext cx="622300" cy="116840"/>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a:solidFill>
                  <a:schemeClr val="tx1"/>
                </a:solidFill>
              </a:rPr>
              <a:t>CAGR: 21,43%</a:t>
            </a:r>
            <a:endParaRPr lang="en-US" sz="600">
              <a:solidFill>
                <a:schemeClr val="tx1"/>
              </a:solidFill>
            </a:endParaRPr>
          </a:p>
        </p:txBody>
      </p:sp>
      <p:cxnSp>
        <p:nvCxnSpPr>
          <p:cNvPr id="45" name="Connector: Elbow 44">
            <a:extLst>
              <a:ext uri="{FF2B5EF4-FFF2-40B4-BE49-F238E27FC236}">
                <a16:creationId xmlns:a16="http://schemas.microsoft.com/office/drawing/2014/main" id="{0F94D848-D13D-7D5B-3555-79DA429568C8}"/>
              </a:ext>
            </a:extLst>
          </p:cNvPr>
          <p:cNvCxnSpPr>
            <a:cxnSpLocks/>
            <a:endCxn id="44" idx="1"/>
          </p:cNvCxnSpPr>
          <p:nvPr/>
        </p:nvCxnSpPr>
        <p:spPr>
          <a:xfrm rot="5400000" flipH="1" flipV="1">
            <a:off x="5650754" y="821592"/>
            <a:ext cx="587585" cy="502272"/>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DECF9F6A-250A-C2D5-3876-AFAA48029F34}"/>
              </a:ext>
            </a:extLst>
          </p:cNvPr>
          <p:cNvCxnSpPr>
            <a:cxnSpLocks/>
            <a:stCxn id="44" idx="3"/>
          </p:cNvCxnSpPr>
          <p:nvPr/>
        </p:nvCxnSpPr>
        <p:spPr>
          <a:xfrm>
            <a:off x="6817982" y="778935"/>
            <a:ext cx="507378" cy="36718"/>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A4B000B-0218-E22A-75DF-FCBF1BF089D5}"/>
              </a:ext>
            </a:extLst>
          </p:cNvPr>
          <p:cNvSpPr/>
          <p:nvPr/>
        </p:nvSpPr>
        <p:spPr>
          <a:xfrm>
            <a:off x="5869305" y="6537960"/>
            <a:ext cx="1769745" cy="1866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1790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99958D75-817D-4F1A-863F-C1695AACE8B8}"/>
              </a:ext>
            </a:extLst>
          </p:cNvPr>
          <p:cNvSpPr>
            <a:spLocks noGrp="1"/>
          </p:cNvSpPr>
          <p:nvPr>
            <p:ph type="body" sz="quarter" idx="10"/>
          </p:nvPr>
        </p:nvSpPr>
        <p:spPr/>
        <p:txBody>
          <a:bodyPr/>
          <a:lstStyle/>
          <a:p>
            <a:r>
              <a:rPr lang="pt-BR" err="1"/>
              <a:t>Group</a:t>
            </a:r>
            <a:r>
              <a:rPr lang="pt-BR"/>
              <a:t> 2</a:t>
            </a:r>
          </a:p>
        </p:txBody>
      </p:sp>
      <p:sp>
        <p:nvSpPr>
          <p:cNvPr id="3" name="Espaço Reservado para Texto 2">
            <a:extLst>
              <a:ext uri="{FF2B5EF4-FFF2-40B4-BE49-F238E27FC236}">
                <a16:creationId xmlns:a16="http://schemas.microsoft.com/office/drawing/2014/main" id="{AEC1E335-BE11-4F82-AC1C-6CD447EA1013}"/>
              </a:ext>
            </a:extLst>
          </p:cNvPr>
          <p:cNvSpPr>
            <a:spLocks noGrp="1"/>
          </p:cNvSpPr>
          <p:nvPr>
            <p:ph type="body" sz="quarter" idx="11"/>
          </p:nvPr>
        </p:nvSpPr>
        <p:spPr>
          <a:xfrm>
            <a:off x="201283" y="453922"/>
            <a:ext cx="4866017" cy="9684992"/>
          </a:xfrm>
        </p:spPr>
        <p:txBody>
          <a:bodyPr/>
          <a:lstStyle/>
          <a:p>
            <a:pPr algn="just" rtl="0">
              <a:buNone/>
            </a:pPr>
            <a:r>
              <a:rPr lang="en-US" b="0" i="0" u="none" strike="noStrike" dirty="0">
                <a:solidFill>
                  <a:schemeClr val="tx1"/>
                </a:solidFill>
                <a:effectLst/>
              </a:rPr>
              <a:t>While WEG benefits from scale and efficiency in CAM, the segment offers narrower margins and is more vulnerable to short-term economic fluctuations.</a:t>
            </a:r>
            <a:endParaRPr lang="en-US" b="0" dirty="0">
              <a:solidFill>
                <a:schemeClr val="tx1"/>
              </a:solidFill>
              <a:effectLst/>
            </a:endParaRPr>
          </a:p>
          <a:p>
            <a:pPr algn="just" rtl="0">
              <a:buNone/>
            </a:pPr>
            <a:r>
              <a:rPr lang="en-US" b="0" i="0" u="none" strike="noStrike" dirty="0">
                <a:solidFill>
                  <a:schemeClr val="tx1"/>
                </a:solidFill>
                <a:effectLst/>
              </a:rPr>
              <a:t>WEG operates in the global electric motor industry, focusing on IEE, GTD, and CAM. The sector’s long-term trajectory is driven by megatrends such as automation, electrification, and decarbonization, which supports a CAGR outlook of 3,32% per year (Exhibit 5). However, the short-term outlook is challenged by weak industrial demand, tightening capital markets, and volatile input costs. </a:t>
            </a:r>
          </a:p>
          <a:p>
            <a:pPr algn="just" rtl="0">
              <a:buNone/>
            </a:pPr>
            <a:r>
              <a:rPr lang="en-US" sz="1000" b="1" i="0" u="none" strike="noStrike" dirty="0">
                <a:solidFill>
                  <a:srgbClr val="082850"/>
                </a:solidFill>
                <a:effectLst/>
              </a:rPr>
              <a:t>Industrial Technology: Competitive Moat or Cyclical Vulnerability?</a:t>
            </a:r>
            <a:endParaRPr lang="en-US" sz="1000" b="1" dirty="0">
              <a:solidFill>
                <a:srgbClr val="082850"/>
              </a:solidFill>
              <a:effectLst/>
            </a:endParaRPr>
          </a:p>
          <a:p>
            <a:pPr algn="just" rtl="0">
              <a:buNone/>
            </a:pPr>
            <a:r>
              <a:rPr lang="en-US" b="0" i="0" u="none" strike="noStrike" dirty="0">
                <a:solidFill>
                  <a:schemeClr val="tx1"/>
                </a:solidFill>
                <a:effectLst/>
              </a:rPr>
              <a:t>The electric motor industry is capital-intensive and concentrated, characterized by high barriers to entry. The electric motor sector has high barriers to entry, such as high costs, technological requirements, and the need for scale, but maintains low market concentration, with HHI of 1218,66, with large players dominating specific niches, such as WEG being the second largest player in the low-voltage electric motor segment (Exhibit 14), while the fragmented structure sustains a competitive environment. Thus, new entrants face significant obstacles but still find opportunities in niche markets or in emerging countries. WEG is among the largest global players, with approximately 3% market share, alongside Siemens, ABB, GE </a:t>
            </a:r>
            <a:r>
              <a:rPr lang="en-US" b="0" i="0" u="none" strike="noStrike" dirty="0" err="1">
                <a:solidFill>
                  <a:schemeClr val="tx1"/>
                </a:solidFill>
                <a:effectLst/>
              </a:rPr>
              <a:t>Vernova</a:t>
            </a:r>
            <a:r>
              <a:rPr lang="en-US" b="0" i="0" u="none" strike="noStrike" dirty="0">
                <a:solidFill>
                  <a:schemeClr val="tx1"/>
                </a:solidFill>
                <a:effectLst/>
              </a:rPr>
              <a:t> and Schneider Electric, in a market that has an HHI of approximately 1169 (Exhibit 6). Compared to peers like Regal Rexnord and Nidec, which have smaller shares and higher margin volatility, WEG consistently delivers EBITDA margins above sector averages (Exhibit 7), outperforming key competitors in both margin stability and level. Sector margins typically range between 15% and 22%; WEG has consistently maintained margins close to the upper limit, remaining a operational efficiency.</a:t>
            </a:r>
          </a:p>
          <a:p>
            <a:pPr algn="just" rtl="0">
              <a:buNone/>
            </a:pPr>
            <a:r>
              <a:rPr lang="en-US" b="0" i="0" u="none" strike="noStrike" dirty="0">
                <a:solidFill>
                  <a:schemeClr val="tx1"/>
                </a:solidFill>
                <a:effectLst/>
              </a:rPr>
              <a:t>This leadership is further underscored by an analysis of Return on Invested Capital (ROIC). WEG’s ROIC stands at an impressive 36,6%, surpassing competitors such as Siemens (31,1%) and General Electric (29,2%), highlighting WEG’s superior ability to generate returns on its capital investments (Appendix A). In contrast, Nidec shows a significantly lower ROIC of 7,4%, reflecting greater challenges in capital efficiency. This strong ROIC performance cements WEG’s competitive moat, enabling it to sustain investments in innovation and global expansion while withstanding cyclical and structural pressures.</a:t>
            </a:r>
            <a:endParaRPr lang="en-US" b="0" dirty="0">
              <a:solidFill>
                <a:schemeClr val="tx1"/>
              </a:solidFill>
              <a:effectLst/>
            </a:endParaRPr>
          </a:p>
          <a:p>
            <a:pPr algn="just" rtl="0">
              <a:buNone/>
            </a:pPr>
            <a:r>
              <a:rPr lang="en-US" b="0" i="0" u="none" strike="noStrike" dirty="0">
                <a:solidFill>
                  <a:schemeClr val="tx1"/>
                </a:solidFill>
                <a:effectLst/>
              </a:rPr>
              <a:t>The electric motor sector is in a contrasting scenario, with companies with low financial leverage, such as WEG with a negative Net Debt/EBITDA ratio and ABB and Siemens, with ratios below 1, and others with high leverage, such as Regal Rexnord, which has a ratio of 3,63 (Exhibit 11). This heterogeneity reflects different stages of investment and strategy among companies in the sector.</a:t>
            </a:r>
            <a:endParaRPr lang="en-US" b="0" dirty="0">
              <a:solidFill>
                <a:schemeClr val="tx1"/>
              </a:solidFill>
              <a:effectLst/>
            </a:endParaRPr>
          </a:p>
          <a:p>
            <a:pPr algn="just" rtl="0">
              <a:buNone/>
            </a:pPr>
            <a:r>
              <a:rPr lang="en-US" b="0" i="0" u="none" strike="noStrike" dirty="0">
                <a:solidFill>
                  <a:schemeClr val="tx1"/>
                </a:solidFill>
                <a:effectLst/>
              </a:rPr>
              <a:t>Nevertheless, scale and vertical integration provide limited insulation against short-term shocks. The industry faces declining new industrial orders, slower factory automation capex, and increasing working capital costs. WEG’s superior execution is reflected in consistent EBITDA margins, but these could come under pressure due to softness in key export markets and delayed client investments.</a:t>
            </a:r>
            <a:endParaRPr lang="en-US" b="0" dirty="0">
              <a:solidFill>
                <a:schemeClr val="tx1"/>
              </a:solidFill>
              <a:effectLst/>
            </a:endParaRPr>
          </a:p>
          <a:p>
            <a:pPr algn="just" rtl="0">
              <a:buNone/>
            </a:pPr>
            <a:r>
              <a:rPr lang="en-US" b="0" i="0" u="none" strike="noStrike" dirty="0">
                <a:solidFill>
                  <a:schemeClr val="tx1"/>
                </a:solidFill>
                <a:effectLst/>
              </a:rPr>
              <a:t>Electric motors are central to energy efficiency and decarbonization efforts. WEG’s portfolio, featuring IE3 and IE4 efficiency-class motors and automation solutions, aligns with international energy efficiency standards and regulatory frameworks. This positions the company to capitalize on mandatory upgrades and retrofitting in both emerging and developed markets, increasingly making WEG indispensable for clients pursuing carbon reduction and ESG goals (Exhibit 9 and 10).</a:t>
            </a:r>
          </a:p>
          <a:p>
            <a:pPr algn="just" rtl="0">
              <a:buNone/>
            </a:pPr>
            <a:r>
              <a:rPr lang="en-US" sz="1000" b="1" i="0" u="none" strike="noStrike" dirty="0">
                <a:solidFill>
                  <a:srgbClr val="082850"/>
                </a:solidFill>
                <a:effectLst/>
              </a:rPr>
              <a:t>Vertical Integration: A Double-Edged Sword</a:t>
            </a:r>
            <a:endParaRPr lang="en-US" sz="1000" b="1" dirty="0">
              <a:solidFill>
                <a:srgbClr val="082850"/>
              </a:solidFill>
              <a:effectLst/>
            </a:endParaRPr>
          </a:p>
          <a:p>
            <a:pPr algn="just" rtl="0">
              <a:buNone/>
            </a:pPr>
            <a:r>
              <a:rPr lang="en-US" b="0" i="0" u="none" strike="noStrike" dirty="0">
                <a:solidFill>
                  <a:schemeClr val="tx1"/>
                </a:solidFill>
                <a:effectLst/>
              </a:rPr>
              <a:t>WEG’s vertically integrated production model drives efficiency and pricing power but introduces operational rigidity, particularly during downturns when fixed costs erode margin buffers. Copper price volatility remains a structural risk, especially combined with currency depreciation in emerging markets where WEG manufactures. Unlike asset-light competitors, WEG must actively manage inventory, logistics, and procurement, which can limit flexibility amid demand fluctuations.</a:t>
            </a:r>
            <a:endParaRPr lang="en-US" b="0" dirty="0">
              <a:solidFill>
                <a:schemeClr val="tx1"/>
              </a:solidFill>
              <a:effectLst/>
            </a:endParaRPr>
          </a:p>
          <a:p>
            <a:pPr algn="just" rtl="0">
              <a:buNone/>
            </a:pPr>
            <a:r>
              <a:rPr lang="en-US" b="0" i="0" u="none" strike="noStrike" dirty="0">
                <a:solidFill>
                  <a:schemeClr val="tx1"/>
                </a:solidFill>
                <a:effectLst/>
              </a:rPr>
              <a:t>Short-Term Disruptions in the Supply Chain and End Markets</a:t>
            </a:r>
            <a:endParaRPr lang="en-US" b="0" dirty="0">
              <a:solidFill>
                <a:schemeClr val="tx1"/>
              </a:solidFill>
              <a:effectLst/>
            </a:endParaRPr>
          </a:p>
          <a:p>
            <a:pPr algn="just" rtl="0">
              <a:buNone/>
            </a:pPr>
            <a:r>
              <a:rPr lang="en-US" b="0" i="0" u="none" strike="noStrike" dirty="0">
                <a:solidFill>
                  <a:schemeClr val="tx1"/>
                </a:solidFill>
                <a:effectLst/>
              </a:rPr>
              <a:t>Short-term supply chain disruptions remain a risk despite WEG’s effective crisis management. Semiconductor shortages, geopolitical trade tensions, and stagnation in industrial activity across Europe and the U.S. have led OEMs and utilities to defer capital expenditures, particularly affecting automation and grid upgrades. These trends impact the IEE and GTD segments, traditionally higher-margin growth drivers for WEG.</a:t>
            </a:r>
            <a:endParaRPr lang="en-US" b="0" dirty="0">
              <a:solidFill>
                <a:schemeClr val="tx1"/>
              </a:solidFill>
              <a:effectLst/>
            </a:endParaRPr>
          </a:p>
          <a:p>
            <a:pPr algn="just" rtl="0">
              <a:buNone/>
            </a:pPr>
            <a:r>
              <a:rPr lang="en-US" sz="1000" b="1" i="0" u="none" strike="noStrike" dirty="0">
                <a:solidFill>
                  <a:srgbClr val="082850"/>
                </a:solidFill>
                <a:effectLst/>
              </a:rPr>
              <a:t>Strategic Diversification: Resilient, but Not Immune</a:t>
            </a:r>
            <a:endParaRPr lang="en-US" sz="1000" b="1" dirty="0">
              <a:solidFill>
                <a:srgbClr val="082850"/>
              </a:solidFill>
              <a:effectLst/>
            </a:endParaRPr>
          </a:p>
          <a:p>
            <a:pPr algn="just" rtl="0">
              <a:buNone/>
            </a:pPr>
            <a:r>
              <a:rPr lang="en-US" b="0" i="0" u="none" strike="noStrike" dirty="0">
                <a:solidFill>
                  <a:schemeClr val="tx1"/>
                </a:solidFill>
                <a:effectLst/>
              </a:rPr>
              <a:t>WEG’s strategic diversification across IEE, GTD, and CAM segments adds resilience, yet each faces distinct near-term challenges. In IEE, clients delay automation projects amid budget constraints and ROI uncertainties. GTD investments show volatility and regulatory delays, while CAM faces competitive pricing pressure and subdued demand, mostly in emerging markets with constrained purchasing power.</a:t>
            </a:r>
            <a:endParaRPr lang="en-US" b="0" dirty="0">
              <a:solidFill>
                <a:schemeClr val="tx1"/>
              </a:solidFill>
              <a:effectLst/>
            </a:endParaRPr>
          </a:p>
          <a:p>
            <a:pPr algn="just" rtl="0">
              <a:buNone/>
            </a:pPr>
            <a:r>
              <a:rPr lang="en-US" sz="1000" b="1" i="0" u="none" strike="noStrike" dirty="0">
                <a:solidFill>
                  <a:srgbClr val="082850"/>
                </a:solidFill>
                <a:effectLst/>
              </a:rPr>
              <a:t>Battery Energy Storage Systems (BESS)</a:t>
            </a:r>
            <a:endParaRPr lang="en-US" sz="1000" b="1" dirty="0">
              <a:solidFill>
                <a:srgbClr val="082850"/>
              </a:solidFill>
              <a:effectLst/>
            </a:endParaRPr>
          </a:p>
          <a:p>
            <a:pPr algn="just" rtl="0">
              <a:buNone/>
            </a:pPr>
            <a:r>
              <a:rPr lang="en-US" b="0" i="0" u="none" strike="noStrike" dirty="0">
                <a:solidFill>
                  <a:schemeClr val="tx1"/>
                </a:solidFill>
                <a:effectLst/>
              </a:rPr>
              <a:t>Battery Energy Storage Systems (BESS) represent a high-potential market that is still in its infancy amid growing demands for grid flexibility and renewable energy integration. Scaling up depends on auctions, regulatory clarity and competitive positioning in relation to global players specializing in lithium battery integration and energy management software. Early-stage margins are small, and success depends on cost competitiveness and adaptability to incentives.</a:t>
            </a:r>
          </a:p>
          <a:p>
            <a:pPr algn="just" rtl="0">
              <a:buNone/>
            </a:pPr>
            <a:r>
              <a:rPr lang="en-US" b="0" i="0" u="none" strike="noStrike" dirty="0">
                <a:solidFill>
                  <a:schemeClr val="tx1"/>
                </a:solidFill>
                <a:effectLst/>
              </a:rPr>
              <a:t>International expansion is strategic, but carries execution risks amid rising protectionism, exchange rate volatility and uneven global recovery. Brazil's stagnant economy limits domestic growth, while China's policies increase uncertainty between supply and demand. Regions such as India offer promising growth in the medium and long term, but require localized production and market entries that demand compliance. </a:t>
            </a:r>
          </a:p>
          <a:p>
            <a:pPr algn="just" rtl="0">
              <a:buNone/>
            </a:pPr>
            <a:r>
              <a:rPr lang="en-US" sz="1000" b="1" i="0" u="none" strike="noStrike" dirty="0">
                <a:solidFill>
                  <a:srgbClr val="082850"/>
                </a:solidFill>
                <a:effectLst/>
              </a:rPr>
              <a:t>Digitalization and Value-Added Shift: Strengthening the Moat</a:t>
            </a:r>
            <a:endParaRPr lang="en-US" sz="1000" b="1" dirty="0">
              <a:solidFill>
                <a:srgbClr val="082850"/>
              </a:solidFill>
              <a:effectLst/>
            </a:endParaRPr>
          </a:p>
          <a:p>
            <a:pPr algn="just" rtl="0">
              <a:buNone/>
            </a:pPr>
            <a:r>
              <a:rPr lang="en-US" b="0" i="0" u="none" strike="noStrike" dirty="0">
                <a:solidFill>
                  <a:schemeClr val="tx1"/>
                </a:solidFill>
                <a:effectLst/>
              </a:rPr>
              <a:t>Investments in digitalization and industrial IoT, through platforms like </a:t>
            </a:r>
            <a:r>
              <a:rPr lang="en-US" b="0" i="0" u="none" strike="noStrike" dirty="0" err="1">
                <a:solidFill>
                  <a:schemeClr val="tx1"/>
                </a:solidFill>
                <a:effectLst/>
              </a:rPr>
              <a:t>WEGnology</a:t>
            </a:r>
            <a:r>
              <a:rPr lang="en-US" b="0" i="0" u="none" strike="noStrike" dirty="0">
                <a:solidFill>
                  <a:schemeClr val="tx1"/>
                </a:solidFill>
                <a:effectLst/>
              </a:rPr>
              <a:t> and acquisitions like </a:t>
            </a:r>
            <a:r>
              <a:rPr lang="en-US" b="0" i="0" u="none" strike="noStrike" dirty="0" err="1">
                <a:solidFill>
                  <a:schemeClr val="tx1"/>
                </a:solidFill>
                <a:effectLst/>
              </a:rPr>
              <a:t>BirminD</a:t>
            </a:r>
            <a:r>
              <a:rPr lang="en-US" b="0" i="0" u="none" strike="noStrike" dirty="0">
                <a:solidFill>
                  <a:schemeClr val="tx1"/>
                </a:solidFill>
                <a:effectLst/>
              </a:rPr>
              <a:t>, signal a strategic pivot towards a higher profit margin. Success depends on technological innovation, organizational change, customer education and competition with established companies such as Siemens. WEG must demonstrate the ability to provide integrated, scalable systems that simplify complexity and reduce costs.</a:t>
            </a:r>
            <a:endParaRPr lang="en-US" b="0" dirty="0">
              <a:solidFill>
                <a:schemeClr val="tx1"/>
              </a:solidFill>
              <a:effectLst/>
            </a:endParaRPr>
          </a:p>
        </p:txBody>
      </p:sp>
      <p:sp>
        <p:nvSpPr>
          <p:cNvPr id="5" name="Espaço Reservado para Texto 4">
            <a:extLst>
              <a:ext uri="{FF2B5EF4-FFF2-40B4-BE49-F238E27FC236}">
                <a16:creationId xmlns:a16="http://schemas.microsoft.com/office/drawing/2014/main" id="{E1B33D62-510E-40AD-9641-18B8B87175D5}"/>
              </a:ext>
            </a:extLst>
          </p:cNvPr>
          <p:cNvSpPr>
            <a:spLocks noGrp="1"/>
          </p:cNvSpPr>
          <p:nvPr>
            <p:ph type="body" sz="quarter" idx="13"/>
          </p:nvPr>
        </p:nvSpPr>
        <p:spPr/>
        <p:txBody>
          <a:bodyPr/>
          <a:lstStyle/>
          <a:p>
            <a:r>
              <a:rPr lang="pt-BR" err="1"/>
              <a:t>Exhibit</a:t>
            </a:r>
            <a:r>
              <a:rPr lang="pt-BR"/>
              <a:t> 6: Electric Motors Sector Revenue</a:t>
            </a:r>
          </a:p>
          <a:p>
            <a:endParaRPr lang="pt-BR"/>
          </a:p>
        </p:txBody>
      </p:sp>
      <p:sp>
        <p:nvSpPr>
          <p:cNvPr id="6" name="Espaço Reservado para Texto 5">
            <a:extLst>
              <a:ext uri="{FF2B5EF4-FFF2-40B4-BE49-F238E27FC236}">
                <a16:creationId xmlns:a16="http://schemas.microsoft.com/office/drawing/2014/main" id="{362EDBD7-CE78-4D91-8E0E-460EE8130444}"/>
              </a:ext>
            </a:extLst>
          </p:cNvPr>
          <p:cNvSpPr>
            <a:spLocks noGrp="1"/>
          </p:cNvSpPr>
          <p:nvPr>
            <p:ph type="body" sz="quarter" idx="14"/>
          </p:nvPr>
        </p:nvSpPr>
        <p:spPr/>
        <p:txBody>
          <a:bodyPr/>
          <a:lstStyle/>
          <a:p>
            <a:r>
              <a:rPr lang="pt-BR" err="1"/>
              <a:t>Source</a:t>
            </a:r>
            <a:r>
              <a:rPr lang="pt-BR"/>
              <a:t>: </a:t>
            </a:r>
            <a:r>
              <a:rPr lang="pt-BR" err="1"/>
              <a:t>Imarc</a:t>
            </a:r>
            <a:r>
              <a:rPr lang="pt-BR"/>
              <a:t> </a:t>
            </a:r>
            <a:r>
              <a:rPr lang="pt-BR" err="1"/>
              <a:t>Group</a:t>
            </a:r>
            <a:endParaRPr lang="pt-BR"/>
          </a:p>
        </p:txBody>
      </p:sp>
      <p:sp>
        <p:nvSpPr>
          <p:cNvPr id="8" name="Espaço Reservado para Texto 7">
            <a:extLst>
              <a:ext uri="{FF2B5EF4-FFF2-40B4-BE49-F238E27FC236}">
                <a16:creationId xmlns:a16="http://schemas.microsoft.com/office/drawing/2014/main" id="{92E2ED06-B177-4953-9824-803579B42954}"/>
              </a:ext>
            </a:extLst>
          </p:cNvPr>
          <p:cNvSpPr>
            <a:spLocks noGrp="1"/>
          </p:cNvSpPr>
          <p:nvPr>
            <p:ph type="body" sz="quarter" idx="16"/>
          </p:nvPr>
        </p:nvSpPr>
        <p:spPr/>
        <p:txBody>
          <a:bodyPr/>
          <a:lstStyle/>
          <a:p>
            <a:r>
              <a:rPr lang="pt-BR" err="1"/>
              <a:t>Exhibit</a:t>
            </a:r>
            <a:r>
              <a:rPr lang="pt-BR"/>
              <a:t> 7: </a:t>
            </a:r>
            <a:r>
              <a:rPr lang="pt-BR" err="1"/>
              <a:t>IEE’s</a:t>
            </a:r>
            <a:r>
              <a:rPr lang="pt-BR"/>
              <a:t> Market Share </a:t>
            </a:r>
          </a:p>
        </p:txBody>
      </p:sp>
      <p:sp>
        <p:nvSpPr>
          <p:cNvPr id="9" name="Espaço Reservado para Texto 8">
            <a:extLst>
              <a:ext uri="{FF2B5EF4-FFF2-40B4-BE49-F238E27FC236}">
                <a16:creationId xmlns:a16="http://schemas.microsoft.com/office/drawing/2014/main" id="{733DD9A6-CF10-4FE2-AA7A-B95AB2919EEC}"/>
              </a:ext>
            </a:extLst>
          </p:cNvPr>
          <p:cNvSpPr>
            <a:spLocks noGrp="1"/>
          </p:cNvSpPr>
          <p:nvPr>
            <p:ph type="body" sz="quarter" idx="17"/>
          </p:nvPr>
        </p:nvSpPr>
        <p:spPr>
          <a:xfrm>
            <a:off x="5260173" y="4940254"/>
            <a:ext cx="1065676" cy="196850"/>
          </a:xfrm>
        </p:spPr>
        <p:txBody>
          <a:bodyPr/>
          <a:lstStyle/>
          <a:p>
            <a:r>
              <a:rPr lang="pt-BR" err="1"/>
              <a:t>Sources</a:t>
            </a:r>
            <a:r>
              <a:rPr lang="pt-BR"/>
              <a:t>: IR WEG, Bloomberg</a:t>
            </a:r>
          </a:p>
        </p:txBody>
      </p:sp>
      <p:sp>
        <p:nvSpPr>
          <p:cNvPr id="11" name="Espaço Reservado para Texto 10">
            <a:extLst>
              <a:ext uri="{FF2B5EF4-FFF2-40B4-BE49-F238E27FC236}">
                <a16:creationId xmlns:a16="http://schemas.microsoft.com/office/drawing/2014/main" id="{4BFAC7E4-A2E7-467C-8FBE-578E440D51C0}"/>
              </a:ext>
            </a:extLst>
          </p:cNvPr>
          <p:cNvSpPr>
            <a:spLocks noGrp="1"/>
          </p:cNvSpPr>
          <p:nvPr>
            <p:ph type="body" sz="quarter" idx="19"/>
          </p:nvPr>
        </p:nvSpPr>
        <p:spPr/>
        <p:txBody>
          <a:bodyPr/>
          <a:lstStyle/>
          <a:p>
            <a:r>
              <a:rPr lang="pt-BR" err="1"/>
              <a:t>Exhibit</a:t>
            </a:r>
            <a:r>
              <a:rPr lang="pt-BR"/>
              <a:t> 8: EBITDA </a:t>
            </a:r>
            <a:r>
              <a:rPr lang="pt-BR" err="1"/>
              <a:t>Margins</a:t>
            </a:r>
            <a:endParaRPr lang="pt-BR"/>
          </a:p>
        </p:txBody>
      </p:sp>
      <p:sp>
        <p:nvSpPr>
          <p:cNvPr id="12" name="Espaço Reservado para Texto 11">
            <a:extLst>
              <a:ext uri="{FF2B5EF4-FFF2-40B4-BE49-F238E27FC236}">
                <a16:creationId xmlns:a16="http://schemas.microsoft.com/office/drawing/2014/main" id="{49D5BD18-554E-433F-BA22-DB478D387023}"/>
              </a:ext>
            </a:extLst>
          </p:cNvPr>
          <p:cNvSpPr>
            <a:spLocks noGrp="1"/>
          </p:cNvSpPr>
          <p:nvPr>
            <p:ph type="body" sz="quarter" idx="20"/>
          </p:nvPr>
        </p:nvSpPr>
        <p:spPr>
          <a:xfrm>
            <a:off x="5260173" y="7406497"/>
            <a:ext cx="1065676" cy="196850"/>
          </a:xfrm>
        </p:spPr>
        <p:txBody>
          <a:bodyPr/>
          <a:lstStyle/>
          <a:p>
            <a:r>
              <a:rPr lang="pt-BR" err="1"/>
              <a:t>Sourcers</a:t>
            </a:r>
            <a:r>
              <a:rPr lang="pt-BR"/>
              <a:t>: IR WEG, </a:t>
            </a:r>
            <a:r>
              <a:rPr lang="pt-BR" err="1"/>
              <a:t>StockViz</a:t>
            </a:r>
            <a:endParaRPr lang="pt-BR"/>
          </a:p>
        </p:txBody>
      </p:sp>
      <p:sp>
        <p:nvSpPr>
          <p:cNvPr id="14" name="Espaço Reservado para Texto 13">
            <a:extLst>
              <a:ext uri="{FF2B5EF4-FFF2-40B4-BE49-F238E27FC236}">
                <a16:creationId xmlns:a16="http://schemas.microsoft.com/office/drawing/2014/main" id="{927070B0-83E3-46ED-8C79-DF87BEB35143}"/>
              </a:ext>
            </a:extLst>
          </p:cNvPr>
          <p:cNvSpPr>
            <a:spLocks noGrp="1"/>
          </p:cNvSpPr>
          <p:nvPr>
            <p:ph type="body" sz="quarter" idx="22"/>
          </p:nvPr>
        </p:nvSpPr>
        <p:spPr/>
        <p:txBody>
          <a:bodyPr/>
          <a:lstStyle/>
          <a:p>
            <a:r>
              <a:rPr lang="pt-BR" err="1"/>
              <a:t>Exhibit</a:t>
            </a:r>
            <a:r>
              <a:rPr lang="pt-BR"/>
              <a:t> 9: Copper (USD) x EBITDA Margin</a:t>
            </a:r>
          </a:p>
          <a:p>
            <a:endParaRPr lang="pt-BR"/>
          </a:p>
        </p:txBody>
      </p:sp>
      <p:sp>
        <p:nvSpPr>
          <p:cNvPr id="15" name="Espaço Reservado para Texto 14">
            <a:extLst>
              <a:ext uri="{FF2B5EF4-FFF2-40B4-BE49-F238E27FC236}">
                <a16:creationId xmlns:a16="http://schemas.microsoft.com/office/drawing/2014/main" id="{DEAD7168-96D7-45D1-9502-F417340F968B}"/>
              </a:ext>
            </a:extLst>
          </p:cNvPr>
          <p:cNvSpPr>
            <a:spLocks noGrp="1"/>
          </p:cNvSpPr>
          <p:nvPr>
            <p:ph type="body" sz="quarter" idx="23"/>
          </p:nvPr>
        </p:nvSpPr>
        <p:spPr>
          <a:xfrm>
            <a:off x="5260173" y="9821920"/>
            <a:ext cx="1065676" cy="213983"/>
          </a:xfrm>
        </p:spPr>
        <p:txBody>
          <a:bodyPr/>
          <a:lstStyle/>
          <a:p>
            <a:r>
              <a:rPr lang="pt-BR" err="1"/>
              <a:t>Source</a:t>
            </a:r>
            <a:r>
              <a:rPr lang="pt-BR"/>
              <a:t>: Trading </a:t>
            </a:r>
            <a:r>
              <a:rPr lang="pt-BR" err="1"/>
              <a:t>Economics</a:t>
            </a:r>
            <a:endParaRPr lang="pt-BR"/>
          </a:p>
        </p:txBody>
      </p:sp>
      <p:graphicFrame>
        <p:nvGraphicFramePr>
          <p:cNvPr id="23" name="Objeto 22">
            <a:extLst>
              <a:ext uri="{FF2B5EF4-FFF2-40B4-BE49-F238E27FC236}">
                <a16:creationId xmlns:a16="http://schemas.microsoft.com/office/drawing/2014/main" id="{F21C8B4C-C0C3-5B7F-81CF-624D0A324B2E}"/>
              </a:ext>
            </a:extLst>
          </p:cNvPr>
          <p:cNvGraphicFramePr>
            <a:graphicFrameLocks noChangeAspect="1"/>
          </p:cNvGraphicFramePr>
          <p:nvPr>
            <p:extLst>
              <p:ext uri="{D42A27DB-BD31-4B8C-83A1-F6EECF244321}">
                <p14:modId xmlns:p14="http://schemas.microsoft.com/office/powerpoint/2010/main" val="2354635061"/>
              </p:ext>
            </p:extLst>
          </p:nvPr>
        </p:nvGraphicFramePr>
        <p:xfrm>
          <a:off x="5244178" y="5900549"/>
          <a:ext cx="2579687" cy="1525546"/>
        </p:xfrm>
        <a:graphic>
          <a:graphicData uri="http://schemas.openxmlformats.org/presentationml/2006/ole">
            <mc:AlternateContent xmlns:mc="http://schemas.openxmlformats.org/markup-compatibility/2006">
              <mc:Choice xmlns:v="urn:schemas-microsoft-com:vml" Requires="v">
                <p:oleObj name="Worksheet" r:id="rId2" imgW="4137789" imgH="2194639" progId="Excel.Sheet.12">
                  <p:embed/>
                </p:oleObj>
              </mc:Choice>
              <mc:Fallback>
                <p:oleObj name="Worksheet" r:id="rId2" imgW="4137789" imgH="2194639" progId="Excel.Sheet.12">
                  <p:embed/>
                  <p:pic>
                    <p:nvPicPr>
                      <p:cNvPr id="23" name="Objeto 22">
                        <a:extLst>
                          <a:ext uri="{FF2B5EF4-FFF2-40B4-BE49-F238E27FC236}">
                            <a16:creationId xmlns:a16="http://schemas.microsoft.com/office/drawing/2014/main" id="{F21C8B4C-C0C3-5B7F-81CF-624D0A324B2E}"/>
                          </a:ext>
                        </a:extLst>
                      </p:cNvPr>
                      <p:cNvPicPr/>
                      <p:nvPr/>
                    </p:nvPicPr>
                    <p:blipFill>
                      <a:blip r:embed="rId3"/>
                      <a:stretch>
                        <a:fillRect/>
                      </a:stretch>
                    </p:blipFill>
                    <p:spPr>
                      <a:xfrm>
                        <a:off x="5244178" y="5900549"/>
                        <a:ext cx="2579687" cy="1525546"/>
                      </a:xfrm>
                      <a:prstGeom prst="rect">
                        <a:avLst/>
                      </a:prstGeom>
                    </p:spPr>
                  </p:pic>
                </p:oleObj>
              </mc:Fallback>
            </mc:AlternateContent>
          </a:graphicData>
        </a:graphic>
      </p:graphicFrame>
      <p:sp>
        <p:nvSpPr>
          <p:cNvPr id="10" name="Espaço Reservado para Texto 3">
            <a:extLst>
              <a:ext uri="{FF2B5EF4-FFF2-40B4-BE49-F238E27FC236}">
                <a16:creationId xmlns:a16="http://schemas.microsoft.com/office/drawing/2014/main" id="{37AFBADB-561B-78C4-2ECC-75372659DDD1}"/>
              </a:ext>
            </a:extLst>
          </p:cNvPr>
          <p:cNvSpPr txBox="1">
            <a:spLocks/>
          </p:cNvSpPr>
          <p:nvPr/>
        </p:nvSpPr>
        <p:spPr>
          <a:xfrm>
            <a:off x="201282" y="9903144"/>
            <a:ext cx="4866017" cy="247290"/>
          </a:xfrm>
          <a:prstGeom prst="rect">
            <a:avLst/>
          </a:prstGeom>
        </p:spPr>
        <p:txBody>
          <a:bodyPr/>
          <a:lstStyle>
            <a:lvl1pPr marL="0">
              <a:defRPr sz="1200" b="1">
                <a:solidFill>
                  <a:schemeClr val="accent1"/>
                </a:solidFill>
                <a:latin typeface="+mn-lt"/>
                <a:ea typeface="+mn-ea"/>
                <a:cs typeface="+mn-cs"/>
              </a:defRPr>
            </a:lvl1pPr>
            <a:lvl2pPr marL="457200">
              <a:defRPr sz="850">
                <a:latin typeface="+mn-lt"/>
                <a:ea typeface="+mn-ea"/>
                <a:cs typeface="+mn-cs"/>
              </a:defRPr>
            </a:lvl2pPr>
            <a:lvl3pPr marL="914400">
              <a:defRPr sz="850">
                <a:latin typeface="+mn-lt"/>
                <a:ea typeface="+mn-ea"/>
                <a:cs typeface="+mn-cs"/>
              </a:defRPr>
            </a:lvl3pPr>
            <a:lvl4pPr marL="1371600">
              <a:defRPr sz="850">
                <a:latin typeface="+mn-lt"/>
                <a:ea typeface="+mn-ea"/>
                <a:cs typeface="+mn-cs"/>
              </a:defRPr>
            </a:lvl4pPr>
            <a:lvl5pPr marL="1828800">
              <a:defRPr sz="850">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pt-BR" kern="0" dirty="0"/>
              <a:t>COMPETITIVE POSITIONING</a:t>
            </a:r>
          </a:p>
        </p:txBody>
      </p:sp>
      <p:sp>
        <p:nvSpPr>
          <p:cNvPr id="13" name="Espaço Reservado para Número de Slide 16">
            <a:extLst>
              <a:ext uri="{FF2B5EF4-FFF2-40B4-BE49-F238E27FC236}">
                <a16:creationId xmlns:a16="http://schemas.microsoft.com/office/drawing/2014/main" id="{36D03AD7-25A3-555F-E263-EC54F6F97553}"/>
              </a:ext>
            </a:extLst>
          </p:cNvPr>
          <p:cNvSpPr>
            <a:spLocks noGrp="1"/>
          </p:cNvSpPr>
          <p:nvPr>
            <p:ph type="sldNum" sz="quarter" idx="7"/>
          </p:nvPr>
        </p:nvSpPr>
        <p:spPr>
          <a:xfrm>
            <a:off x="7178515" y="10312736"/>
            <a:ext cx="515895" cy="230114"/>
          </a:xfrm>
        </p:spPr>
        <p:txBody>
          <a:bodyPr/>
          <a:lstStyle/>
          <a:p>
            <a:pPr algn="ctr">
              <a:spcBef>
                <a:spcPts val="65"/>
              </a:spcBef>
            </a:pPr>
            <a:r>
              <a:rPr lang="pt-BR" sz="800"/>
              <a:t>3</a:t>
            </a:r>
            <a:endParaRPr lang="en-US" sz="800"/>
          </a:p>
        </p:txBody>
      </p:sp>
      <p:cxnSp>
        <p:nvCxnSpPr>
          <p:cNvPr id="28" name="Conector reto 27">
            <a:extLst>
              <a:ext uri="{FF2B5EF4-FFF2-40B4-BE49-F238E27FC236}">
                <a16:creationId xmlns:a16="http://schemas.microsoft.com/office/drawing/2014/main" id="{CF701BCE-A4E4-1DA2-FD66-05C6885895AD}"/>
              </a:ext>
            </a:extLst>
          </p:cNvPr>
          <p:cNvCxnSpPr/>
          <p:nvPr/>
        </p:nvCxnSpPr>
        <p:spPr>
          <a:xfrm>
            <a:off x="252581" y="10161953"/>
            <a:ext cx="4866017" cy="0"/>
          </a:xfrm>
          <a:prstGeom prst="line">
            <a:avLst/>
          </a:prstGeom>
          <a:ln w="12700"/>
        </p:spPr>
        <p:style>
          <a:lnRef idx="1">
            <a:schemeClr val="accent1"/>
          </a:lnRef>
          <a:fillRef idx="0">
            <a:schemeClr val="accent1"/>
          </a:fillRef>
          <a:effectRef idx="0">
            <a:schemeClr val="accent1"/>
          </a:effectRef>
          <a:fontRef idx="minor">
            <a:schemeClr val="tx1"/>
          </a:fontRef>
        </p:style>
      </p:cxnSp>
      <p:graphicFrame>
        <p:nvGraphicFramePr>
          <p:cNvPr id="4" name="Gráfico 3">
            <a:extLst>
              <a:ext uri="{FF2B5EF4-FFF2-40B4-BE49-F238E27FC236}">
                <a16:creationId xmlns:a16="http://schemas.microsoft.com/office/drawing/2014/main" id="{0C73D6C2-FDBC-437A-B462-EB1478C4097F}"/>
              </a:ext>
            </a:extLst>
          </p:cNvPr>
          <p:cNvGraphicFramePr>
            <a:graphicFrameLocks/>
          </p:cNvGraphicFramePr>
          <p:nvPr>
            <p:extLst>
              <p:ext uri="{D42A27DB-BD31-4B8C-83A1-F6EECF244321}">
                <p14:modId xmlns:p14="http://schemas.microsoft.com/office/powerpoint/2010/main" val="3728057212"/>
              </p:ext>
            </p:extLst>
          </p:nvPr>
        </p:nvGraphicFramePr>
        <p:xfrm>
          <a:off x="5118598" y="637557"/>
          <a:ext cx="2705267" cy="184153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Gráfico 6">
            <a:extLst>
              <a:ext uri="{FF2B5EF4-FFF2-40B4-BE49-F238E27FC236}">
                <a16:creationId xmlns:a16="http://schemas.microsoft.com/office/drawing/2014/main" id="{F15BD94E-AB32-48E7-B37D-5CD8973D5E76}"/>
              </a:ext>
            </a:extLst>
          </p:cNvPr>
          <p:cNvGraphicFramePr>
            <a:graphicFrameLocks/>
          </p:cNvGraphicFramePr>
          <p:nvPr>
            <p:extLst>
              <p:ext uri="{D42A27DB-BD31-4B8C-83A1-F6EECF244321}">
                <p14:modId xmlns:p14="http://schemas.microsoft.com/office/powerpoint/2010/main" val="548193253"/>
              </p:ext>
            </p:extLst>
          </p:nvPr>
        </p:nvGraphicFramePr>
        <p:xfrm>
          <a:off x="5143170" y="3101044"/>
          <a:ext cx="2704459" cy="190702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Gráfico 15">
            <a:extLst>
              <a:ext uri="{FF2B5EF4-FFF2-40B4-BE49-F238E27FC236}">
                <a16:creationId xmlns:a16="http://schemas.microsoft.com/office/drawing/2014/main" id="{482C24DF-0848-4376-A75D-6402C79B694B}"/>
              </a:ext>
            </a:extLst>
          </p:cNvPr>
          <p:cNvGraphicFramePr>
            <a:graphicFrameLocks/>
          </p:cNvGraphicFramePr>
          <p:nvPr>
            <p:extLst>
              <p:ext uri="{D42A27DB-BD31-4B8C-83A1-F6EECF244321}">
                <p14:modId xmlns:p14="http://schemas.microsoft.com/office/powerpoint/2010/main" val="3094091212"/>
              </p:ext>
            </p:extLst>
          </p:nvPr>
        </p:nvGraphicFramePr>
        <p:xfrm>
          <a:off x="5309365" y="8183311"/>
          <a:ext cx="2514500" cy="160850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507697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A9334D79-4E68-8D77-CFD7-5BD783F824B7}"/>
              </a:ext>
            </a:extLst>
          </p:cNvPr>
          <p:cNvSpPr>
            <a:spLocks noGrp="1"/>
          </p:cNvSpPr>
          <p:nvPr>
            <p:ph type="body" sz="quarter" idx="10"/>
          </p:nvPr>
        </p:nvSpPr>
        <p:spPr/>
        <p:txBody>
          <a:bodyPr/>
          <a:lstStyle/>
          <a:p>
            <a:r>
              <a:rPr lang="pt-BR" err="1"/>
              <a:t>Group</a:t>
            </a:r>
            <a:r>
              <a:rPr lang="pt-BR"/>
              <a:t> 2</a:t>
            </a:r>
          </a:p>
        </p:txBody>
      </p:sp>
      <p:sp>
        <p:nvSpPr>
          <p:cNvPr id="5" name="Espaço Reservado para Texto 4">
            <a:extLst>
              <a:ext uri="{FF2B5EF4-FFF2-40B4-BE49-F238E27FC236}">
                <a16:creationId xmlns:a16="http://schemas.microsoft.com/office/drawing/2014/main" id="{1103FC3C-6C94-727A-7BB7-7D90B3176454}"/>
              </a:ext>
            </a:extLst>
          </p:cNvPr>
          <p:cNvSpPr>
            <a:spLocks noGrp="1"/>
          </p:cNvSpPr>
          <p:nvPr>
            <p:ph type="body" sz="quarter" idx="13"/>
          </p:nvPr>
        </p:nvSpPr>
        <p:spPr/>
        <p:txBody>
          <a:bodyPr/>
          <a:lstStyle/>
          <a:p>
            <a:r>
              <a:rPr lang="pt-BR" err="1"/>
              <a:t>Exhibit</a:t>
            </a:r>
            <a:r>
              <a:rPr lang="pt-BR"/>
              <a:t> 10: </a:t>
            </a:r>
            <a:r>
              <a:rPr lang="pt-BR" err="1"/>
              <a:t>Onshore</a:t>
            </a:r>
            <a:r>
              <a:rPr lang="pt-BR"/>
              <a:t> Wind </a:t>
            </a:r>
            <a:r>
              <a:rPr lang="pt-BR" err="1"/>
              <a:t>Installions</a:t>
            </a:r>
            <a:endParaRPr lang="pt-BR"/>
          </a:p>
          <a:p>
            <a:endParaRPr lang="pt-BR"/>
          </a:p>
        </p:txBody>
      </p:sp>
      <p:sp>
        <p:nvSpPr>
          <p:cNvPr id="6" name="Espaço Reservado para Texto 5">
            <a:extLst>
              <a:ext uri="{FF2B5EF4-FFF2-40B4-BE49-F238E27FC236}">
                <a16:creationId xmlns:a16="http://schemas.microsoft.com/office/drawing/2014/main" id="{04781345-7390-884F-A40A-471F39E59363}"/>
              </a:ext>
            </a:extLst>
          </p:cNvPr>
          <p:cNvSpPr>
            <a:spLocks noGrp="1"/>
          </p:cNvSpPr>
          <p:nvPr>
            <p:ph type="body" sz="quarter" idx="14"/>
          </p:nvPr>
        </p:nvSpPr>
        <p:spPr/>
        <p:txBody>
          <a:bodyPr/>
          <a:lstStyle/>
          <a:p>
            <a:r>
              <a:rPr lang="pt-BR" err="1"/>
              <a:t>Source</a:t>
            </a:r>
            <a:r>
              <a:rPr lang="pt-BR"/>
              <a:t>: JP Morgan</a:t>
            </a:r>
          </a:p>
        </p:txBody>
      </p:sp>
      <p:sp>
        <p:nvSpPr>
          <p:cNvPr id="8" name="Espaço Reservado para Texto 7">
            <a:extLst>
              <a:ext uri="{FF2B5EF4-FFF2-40B4-BE49-F238E27FC236}">
                <a16:creationId xmlns:a16="http://schemas.microsoft.com/office/drawing/2014/main" id="{66159C12-B4D1-8053-1F1B-1D7065807C23}"/>
              </a:ext>
            </a:extLst>
          </p:cNvPr>
          <p:cNvSpPr>
            <a:spLocks noGrp="1"/>
          </p:cNvSpPr>
          <p:nvPr>
            <p:ph type="body" sz="quarter" idx="16"/>
          </p:nvPr>
        </p:nvSpPr>
        <p:spPr/>
        <p:txBody>
          <a:bodyPr/>
          <a:lstStyle/>
          <a:p>
            <a:r>
              <a:rPr lang="pt-BR" err="1"/>
              <a:t>Exhibit</a:t>
            </a:r>
            <a:r>
              <a:rPr lang="pt-BR"/>
              <a:t> 11: </a:t>
            </a:r>
            <a:r>
              <a:rPr lang="pt-BR" err="1"/>
              <a:t>Expected</a:t>
            </a:r>
            <a:r>
              <a:rPr lang="pt-BR"/>
              <a:t> Energy Matrix</a:t>
            </a:r>
          </a:p>
          <a:p>
            <a:endParaRPr lang="pt-BR"/>
          </a:p>
        </p:txBody>
      </p:sp>
      <p:sp>
        <p:nvSpPr>
          <p:cNvPr id="9" name="Espaço Reservado para Texto 8">
            <a:extLst>
              <a:ext uri="{FF2B5EF4-FFF2-40B4-BE49-F238E27FC236}">
                <a16:creationId xmlns:a16="http://schemas.microsoft.com/office/drawing/2014/main" id="{2CAE1D57-B6DB-708D-A043-3681F8B14B45}"/>
              </a:ext>
            </a:extLst>
          </p:cNvPr>
          <p:cNvSpPr>
            <a:spLocks noGrp="1"/>
          </p:cNvSpPr>
          <p:nvPr>
            <p:ph type="body" sz="quarter" idx="17"/>
          </p:nvPr>
        </p:nvSpPr>
        <p:spPr>
          <a:xfrm>
            <a:off x="5260173" y="4935375"/>
            <a:ext cx="1380470" cy="201729"/>
          </a:xfrm>
        </p:spPr>
        <p:txBody>
          <a:bodyPr/>
          <a:lstStyle/>
          <a:p>
            <a:r>
              <a:rPr lang="pt-BR" err="1"/>
              <a:t>Source</a:t>
            </a:r>
            <a:r>
              <a:rPr lang="pt-BR"/>
              <a:t>: Internacional Energy </a:t>
            </a:r>
            <a:r>
              <a:rPr lang="pt-BR" err="1"/>
              <a:t>Agency</a:t>
            </a:r>
            <a:endParaRPr lang="pt-BR"/>
          </a:p>
          <a:p>
            <a:endParaRPr lang="pt-BR"/>
          </a:p>
        </p:txBody>
      </p:sp>
      <p:sp>
        <p:nvSpPr>
          <p:cNvPr id="10" name="Espaço Reservado para Texto 1">
            <a:extLst>
              <a:ext uri="{FF2B5EF4-FFF2-40B4-BE49-F238E27FC236}">
                <a16:creationId xmlns:a16="http://schemas.microsoft.com/office/drawing/2014/main" id="{CC4CBD8F-B2A0-E988-AB81-B28590DE6699}"/>
              </a:ext>
            </a:extLst>
          </p:cNvPr>
          <p:cNvSpPr txBox="1">
            <a:spLocks/>
          </p:cNvSpPr>
          <p:nvPr/>
        </p:nvSpPr>
        <p:spPr>
          <a:xfrm>
            <a:off x="6745289" y="53382"/>
            <a:ext cx="828675" cy="223837"/>
          </a:xfrm>
          <a:prstGeom prst="rect">
            <a:avLst/>
          </a:prstGeom>
        </p:spPr>
        <p:txBody>
          <a:bodyPr/>
          <a:lstStyle>
            <a:lvl1pPr marL="0">
              <a:defRPr sz="700">
                <a:solidFill>
                  <a:schemeClr val="bg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pt-BR" kern="0"/>
          </a:p>
        </p:txBody>
      </p:sp>
      <p:sp>
        <p:nvSpPr>
          <p:cNvPr id="16" name="Espaço Reservado para Número de Slide 16">
            <a:extLst>
              <a:ext uri="{FF2B5EF4-FFF2-40B4-BE49-F238E27FC236}">
                <a16:creationId xmlns:a16="http://schemas.microsoft.com/office/drawing/2014/main" id="{6F8DDE0E-9F0F-54F1-8B29-7BE15826DF3E}"/>
              </a:ext>
            </a:extLst>
          </p:cNvPr>
          <p:cNvSpPr>
            <a:spLocks noGrp="1"/>
          </p:cNvSpPr>
          <p:nvPr>
            <p:ph type="sldNum" sz="quarter" idx="7"/>
          </p:nvPr>
        </p:nvSpPr>
        <p:spPr>
          <a:xfrm>
            <a:off x="7178515" y="10312736"/>
            <a:ext cx="515895" cy="230114"/>
          </a:xfrm>
        </p:spPr>
        <p:txBody>
          <a:bodyPr/>
          <a:lstStyle/>
          <a:p>
            <a:pPr algn="ctr">
              <a:spcBef>
                <a:spcPts val="65"/>
              </a:spcBef>
            </a:pPr>
            <a:r>
              <a:rPr lang="en-US" sz="800"/>
              <a:t>4</a:t>
            </a:r>
          </a:p>
        </p:txBody>
      </p:sp>
      <p:pic>
        <p:nvPicPr>
          <p:cNvPr id="18" name="Picture 2">
            <a:extLst>
              <a:ext uri="{FF2B5EF4-FFF2-40B4-BE49-F238E27FC236}">
                <a16:creationId xmlns:a16="http://schemas.microsoft.com/office/drawing/2014/main" id="{4CC0FD64-B85D-ADCC-65BB-7839A7F60A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2766" y="5591547"/>
            <a:ext cx="2577798" cy="1777053"/>
          </a:xfrm>
          <a:prstGeom prst="rect">
            <a:avLst/>
          </a:prstGeom>
          <a:noFill/>
          <a:extLst>
            <a:ext uri="{909E8E84-426E-40DD-AFC4-6F175D3DCCD1}">
              <a14:hiddenFill xmlns:a14="http://schemas.microsoft.com/office/drawing/2010/main">
                <a:solidFill>
                  <a:srgbClr val="FFFFFF"/>
                </a:solidFill>
              </a14:hiddenFill>
            </a:ext>
          </a:extLst>
        </p:spPr>
      </p:pic>
      <p:sp>
        <p:nvSpPr>
          <p:cNvPr id="21" name="Espaço Reservado para Texto 5">
            <a:extLst>
              <a:ext uri="{FF2B5EF4-FFF2-40B4-BE49-F238E27FC236}">
                <a16:creationId xmlns:a16="http://schemas.microsoft.com/office/drawing/2014/main" id="{49C273B7-D3D6-818E-7C69-15A305C5D02E}"/>
              </a:ext>
            </a:extLst>
          </p:cNvPr>
          <p:cNvSpPr txBox="1">
            <a:spLocks/>
          </p:cNvSpPr>
          <p:nvPr/>
        </p:nvSpPr>
        <p:spPr>
          <a:xfrm>
            <a:off x="5260173" y="7467135"/>
            <a:ext cx="1296270" cy="182053"/>
          </a:xfrm>
          <a:prstGeom prst="rect">
            <a:avLst/>
          </a:prstGeom>
        </p:spPr>
        <p:txBody>
          <a:bodyPr/>
          <a:lstStyle>
            <a:lvl1pPr marL="0">
              <a:defRPr sz="600" i="1">
                <a:solidFill>
                  <a:schemeClr val="bg1">
                    <a:lumMod val="65000"/>
                  </a:schemeClr>
                </a:solidFill>
                <a:latin typeface="+mn-lt"/>
                <a:ea typeface="+mn-ea"/>
                <a:cs typeface="+mn-cs"/>
              </a:defRPr>
            </a:lvl1pPr>
            <a:lvl2pPr marL="457200">
              <a:defRPr sz="1000">
                <a:latin typeface="+mn-lt"/>
                <a:ea typeface="+mn-ea"/>
                <a:cs typeface="+mn-cs"/>
              </a:defRPr>
            </a:lvl2pPr>
            <a:lvl3pPr marL="914400">
              <a:defRPr sz="1000">
                <a:latin typeface="+mn-lt"/>
                <a:ea typeface="+mn-ea"/>
                <a:cs typeface="+mn-cs"/>
              </a:defRPr>
            </a:lvl3pPr>
            <a:lvl4pPr marL="1371600">
              <a:defRPr sz="1000">
                <a:latin typeface="+mn-lt"/>
                <a:ea typeface="+mn-ea"/>
                <a:cs typeface="+mn-cs"/>
              </a:defRPr>
            </a:lvl4pPr>
            <a:lvl5pPr marL="1828800">
              <a:defRPr sz="1000">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pt-BR" kern="0"/>
              <a:t>Source: IR of the companies</a:t>
            </a:r>
          </a:p>
        </p:txBody>
      </p:sp>
      <p:sp>
        <p:nvSpPr>
          <p:cNvPr id="22" name="Espaço Reservado para Texto 4">
            <a:extLst>
              <a:ext uri="{FF2B5EF4-FFF2-40B4-BE49-F238E27FC236}">
                <a16:creationId xmlns:a16="http://schemas.microsoft.com/office/drawing/2014/main" id="{58611B16-FDBB-94CD-249A-993887A59B36}"/>
              </a:ext>
            </a:extLst>
          </p:cNvPr>
          <p:cNvSpPr txBox="1">
            <a:spLocks/>
          </p:cNvSpPr>
          <p:nvPr/>
        </p:nvSpPr>
        <p:spPr>
          <a:xfrm>
            <a:off x="5227099" y="5300417"/>
            <a:ext cx="1819208" cy="196850"/>
          </a:xfrm>
          <a:prstGeom prst="rect">
            <a:avLst/>
          </a:prstGeom>
        </p:spPr>
        <p:txBody>
          <a:bodyPr/>
          <a:lstStyle>
            <a:lvl1pPr marL="0">
              <a:defRPr sz="1000" b="1">
                <a:solidFill>
                  <a:schemeClr val="accent1"/>
                </a:solidFill>
                <a:latin typeface="+mn-lt"/>
                <a:ea typeface="+mn-ea"/>
                <a:cs typeface="+mn-cs"/>
              </a:defRPr>
            </a:lvl1pPr>
            <a:lvl2pPr marL="457200">
              <a:defRPr sz="1000">
                <a:latin typeface="+mn-lt"/>
                <a:ea typeface="+mn-ea"/>
                <a:cs typeface="+mn-cs"/>
              </a:defRPr>
            </a:lvl2pPr>
            <a:lvl3pPr marL="914400">
              <a:defRPr sz="1000">
                <a:latin typeface="+mn-lt"/>
                <a:ea typeface="+mn-ea"/>
                <a:cs typeface="+mn-cs"/>
              </a:defRPr>
            </a:lvl3pPr>
            <a:lvl4pPr marL="1371600">
              <a:defRPr sz="1000">
                <a:latin typeface="+mn-lt"/>
                <a:ea typeface="+mn-ea"/>
                <a:cs typeface="+mn-cs"/>
              </a:defRPr>
            </a:lvl4pPr>
            <a:lvl5pPr marL="1828800">
              <a:defRPr sz="1000">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pt-BR" kern="0" err="1"/>
              <a:t>Exhibit</a:t>
            </a:r>
            <a:r>
              <a:rPr lang="pt-BR" kern="0"/>
              <a:t> 12: </a:t>
            </a:r>
            <a:r>
              <a:rPr lang="pt-BR" kern="0" err="1"/>
              <a:t>Leverage</a:t>
            </a:r>
            <a:endParaRPr lang="pt-BR" kern="0"/>
          </a:p>
        </p:txBody>
      </p:sp>
      <p:sp>
        <p:nvSpPr>
          <p:cNvPr id="23" name="Espaço Reservado para Texto 7">
            <a:extLst>
              <a:ext uri="{FF2B5EF4-FFF2-40B4-BE49-F238E27FC236}">
                <a16:creationId xmlns:a16="http://schemas.microsoft.com/office/drawing/2014/main" id="{8B02493C-390E-F4A6-648E-B28D2F5DA7AC}"/>
              </a:ext>
            </a:extLst>
          </p:cNvPr>
          <p:cNvSpPr txBox="1">
            <a:spLocks/>
          </p:cNvSpPr>
          <p:nvPr/>
        </p:nvSpPr>
        <p:spPr>
          <a:xfrm>
            <a:off x="5197609" y="7799496"/>
            <a:ext cx="1980906" cy="196850"/>
          </a:xfrm>
          <a:prstGeom prst="rect">
            <a:avLst/>
          </a:prstGeom>
        </p:spPr>
        <p:txBody>
          <a:bodyPr/>
          <a:lstStyle>
            <a:lvl1pPr marL="0">
              <a:defRPr sz="1000" b="1">
                <a:solidFill>
                  <a:schemeClr val="accent1"/>
                </a:solidFill>
                <a:latin typeface="+mn-lt"/>
                <a:ea typeface="+mn-ea"/>
                <a:cs typeface="+mn-cs"/>
              </a:defRPr>
            </a:lvl1pPr>
            <a:lvl2pPr marL="457200">
              <a:defRPr sz="1000">
                <a:latin typeface="+mn-lt"/>
                <a:ea typeface="+mn-ea"/>
                <a:cs typeface="+mn-cs"/>
              </a:defRPr>
            </a:lvl2pPr>
            <a:lvl3pPr marL="914400">
              <a:defRPr sz="1000">
                <a:latin typeface="+mn-lt"/>
                <a:ea typeface="+mn-ea"/>
                <a:cs typeface="+mn-cs"/>
              </a:defRPr>
            </a:lvl3pPr>
            <a:lvl4pPr marL="1371600">
              <a:defRPr sz="1000">
                <a:latin typeface="+mn-lt"/>
                <a:ea typeface="+mn-ea"/>
                <a:cs typeface="+mn-cs"/>
              </a:defRPr>
            </a:lvl4pPr>
            <a:lvl5pPr marL="1828800">
              <a:defRPr sz="1000">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pt-BR" kern="0" err="1"/>
              <a:t>Exhibit</a:t>
            </a:r>
            <a:r>
              <a:rPr lang="pt-BR" kern="0"/>
              <a:t> 13: Market Share Growth</a:t>
            </a:r>
          </a:p>
        </p:txBody>
      </p:sp>
      <p:sp>
        <p:nvSpPr>
          <p:cNvPr id="24" name="Espaço Reservado para Texto 8">
            <a:extLst>
              <a:ext uri="{FF2B5EF4-FFF2-40B4-BE49-F238E27FC236}">
                <a16:creationId xmlns:a16="http://schemas.microsoft.com/office/drawing/2014/main" id="{9768794C-B6C4-1751-489A-B7336BCF4CC3}"/>
              </a:ext>
            </a:extLst>
          </p:cNvPr>
          <p:cNvSpPr txBox="1">
            <a:spLocks/>
          </p:cNvSpPr>
          <p:nvPr/>
        </p:nvSpPr>
        <p:spPr>
          <a:xfrm>
            <a:off x="5260173" y="9838834"/>
            <a:ext cx="938213" cy="196850"/>
          </a:xfrm>
          <a:prstGeom prst="rect">
            <a:avLst/>
          </a:prstGeom>
        </p:spPr>
        <p:txBody>
          <a:bodyPr/>
          <a:lstStyle>
            <a:lvl1pPr marL="0">
              <a:defRPr sz="600" i="1">
                <a:solidFill>
                  <a:schemeClr val="bg1">
                    <a:lumMod val="65000"/>
                  </a:schemeClr>
                </a:solidFill>
                <a:latin typeface="+mn-lt"/>
                <a:ea typeface="+mn-ea"/>
                <a:cs typeface="+mn-cs"/>
              </a:defRPr>
            </a:lvl1pPr>
            <a:lvl2pPr marL="457200">
              <a:defRPr sz="1000">
                <a:latin typeface="+mn-lt"/>
                <a:ea typeface="+mn-ea"/>
                <a:cs typeface="+mn-cs"/>
              </a:defRPr>
            </a:lvl2pPr>
            <a:lvl3pPr marL="914400">
              <a:defRPr sz="1000">
                <a:latin typeface="+mn-lt"/>
                <a:ea typeface="+mn-ea"/>
                <a:cs typeface="+mn-cs"/>
              </a:defRPr>
            </a:lvl3pPr>
            <a:lvl4pPr marL="1371600">
              <a:defRPr sz="1000">
                <a:latin typeface="+mn-lt"/>
                <a:ea typeface="+mn-ea"/>
                <a:cs typeface="+mn-cs"/>
              </a:defRPr>
            </a:lvl4pPr>
            <a:lvl5pPr marL="1828800">
              <a:defRPr sz="1000">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pt-BR" kern="0"/>
              <a:t>Source: Omdia</a:t>
            </a:r>
          </a:p>
        </p:txBody>
      </p:sp>
      <p:graphicFrame>
        <p:nvGraphicFramePr>
          <p:cNvPr id="25" name="Gráfico 24">
            <a:extLst>
              <a:ext uri="{FF2B5EF4-FFF2-40B4-BE49-F238E27FC236}">
                <a16:creationId xmlns:a16="http://schemas.microsoft.com/office/drawing/2014/main" id="{ABCA08D7-BF97-B8EE-2352-549BA103714B}"/>
              </a:ext>
            </a:extLst>
          </p:cNvPr>
          <p:cNvGraphicFramePr>
            <a:graphicFrameLocks/>
          </p:cNvGraphicFramePr>
          <p:nvPr>
            <p:extLst>
              <p:ext uri="{D42A27DB-BD31-4B8C-83A1-F6EECF244321}">
                <p14:modId xmlns:p14="http://schemas.microsoft.com/office/powerpoint/2010/main" val="3686885050"/>
              </p:ext>
            </p:extLst>
          </p:nvPr>
        </p:nvGraphicFramePr>
        <p:xfrm>
          <a:off x="5280834" y="8086154"/>
          <a:ext cx="2411412" cy="1777053"/>
        </p:xfrm>
        <a:graphic>
          <a:graphicData uri="http://schemas.openxmlformats.org/drawingml/2006/chart">
            <c:chart xmlns:c="http://schemas.openxmlformats.org/drawingml/2006/chart" xmlns:r="http://schemas.openxmlformats.org/officeDocument/2006/relationships" r:id="rId3"/>
          </a:graphicData>
        </a:graphic>
      </p:graphicFrame>
      <p:sp>
        <p:nvSpPr>
          <p:cNvPr id="11" name="Espaço Reservado para Texto 2">
            <a:extLst>
              <a:ext uri="{FF2B5EF4-FFF2-40B4-BE49-F238E27FC236}">
                <a16:creationId xmlns:a16="http://schemas.microsoft.com/office/drawing/2014/main" id="{D4F78E44-F7AD-B5BC-EF2C-94D4461CE8D7}"/>
              </a:ext>
            </a:extLst>
          </p:cNvPr>
          <p:cNvSpPr txBox="1">
            <a:spLocks/>
          </p:cNvSpPr>
          <p:nvPr/>
        </p:nvSpPr>
        <p:spPr>
          <a:xfrm>
            <a:off x="201283" y="453922"/>
            <a:ext cx="4866017" cy="9684992"/>
          </a:xfrm>
          <a:prstGeom prst="rect">
            <a:avLst/>
          </a:prstGeom>
        </p:spPr>
        <p:txBody>
          <a:bodyPr lIns="91440" tIns="45720" rIns="91440" bIns="45720" anchor="t"/>
          <a:lstStyle>
            <a:lvl1pPr marL="0">
              <a:defRPr sz="850">
                <a:latin typeface="+mn-lt"/>
                <a:ea typeface="+mn-ea"/>
                <a:cs typeface="+mn-cs"/>
              </a:defRPr>
            </a:lvl1pPr>
            <a:lvl2pPr marL="457200">
              <a:defRPr sz="850">
                <a:latin typeface="+mn-lt"/>
                <a:ea typeface="+mn-ea"/>
                <a:cs typeface="+mn-cs"/>
              </a:defRPr>
            </a:lvl2pPr>
            <a:lvl3pPr marL="914400">
              <a:defRPr sz="850">
                <a:latin typeface="+mn-lt"/>
                <a:ea typeface="+mn-ea"/>
                <a:cs typeface="+mn-cs"/>
              </a:defRPr>
            </a:lvl3pPr>
            <a:lvl4pPr marL="1371600">
              <a:defRPr sz="850">
                <a:latin typeface="+mn-lt"/>
                <a:ea typeface="+mn-ea"/>
                <a:cs typeface="+mn-cs"/>
              </a:defRPr>
            </a:lvl4pPr>
            <a:lvl5pPr marL="1828800">
              <a:defRPr sz="850">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rtl="0">
              <a:buNone/>
            </a:pPr>
            <a:r>
              <a:rPr lang="en-US" sz="1000" b="1" i="0" u="none" strike="noStrike" dirty="0">
                <a:solidFill>
                  <a:srgbClr val="172C63"/>
                </a:solidFill>
                <a:effectLst/>
              </a:rPr>
              <a:t>A Pungent Company: Fiscal Health Above All</a:t>
            </a:r>
            <a:endParaRPr lang="en-US" sz="1000" b="0" dirty="0">
              <a:effectLst/>
            </a:endParaRPr>
          </a:p>
          <a:p>
            <a:pPr algn="just"/>
            <a:r>
              <a:rPr lang="en-US">
                <a:solidFill>
                  <a:srgbClr val="000000"/>
                </a:solidFill>
              </a:rPr>
              <a:t>Analyzing the competitive landscape that WEG is inserted in, we see the company as one of the best positioned in the market. To begin with, the company has a ROIC/WACC greater than 1, which indicates the value generated for shareholders exceeds the financing costs, a sign of fiscal health that few players in the scenario have (Appendix A). Moreover, WEG has the lowest leverage among its competitors (Exhibit </a:t>
            </a:r>
            <a:r>
              <a:rPr lang="en-US" dirty="0">
                <a:solidFill>
                  <a:srgbClr val="000000"/>
                </a:solidFill>
              </a:rPr>
              <a:t>11</a:t>
            </a:r>
            <a:r>
              <a:rPr lang="en-US">
                <a:solidFill>
                  <a:srgbClr val="000000"/>
                </a:solidFill>
              </a:rPr>
              <a:t>), which permits it to augment its investments, which is crucial in a capital-intensive model. In a high interest rate </a:t>
            </a:r>
            <a:r>
              <a:rPr lang="en-US" dirty="0">
                <a:solidFill>
                  <a:srgbClr val="000000"/>
                </a:solidFill>
              </a:rPr>
              <a:t>environment</a:t>
            </a:r>
            <a:r>
              <a:rPr lang="en-US">
                <a:solidFill>
                  <a:srgbClr val="000000"/>
                </a:solidFill>
              </a:rPr>
              <a:t>, low leverage also assists the company’s financial health.</a:t>
            </a:r>
          </a:p>
          <a:p>
            <a:pPr algn="just"/>
            <a:r>
              <a:rPr lang="en-US">
                <a:solidFill>
                  <a:srgbClr val="000000"/>
                </a:solidFill>
              </a:rPr>
              <a:t>Despite WEG’s quantitatively lower investment in innovation compared to its competitors (Appendix B), its lower leverage ratio as well as a higher operational margin (Appendix C) allow WEG to increase its spending in a more flexible way than its competitors can. </a:t>
            </a:r>
          </a:p>
          <a:p>
            <a:pPr algn="just"/>
            <a:r>
              <a:rPr lang="en-US" sz="1000" b="1" i="0" u="none" strike="noStrike" dirty="0">
                <a:solidFill>
                  <a:srgbClr val="172C63"/>
                </a:solidFill>
                <a:effectLst/>
              </a:rPr>
              <a:t>A Force To Be </a:t>
            </a:r>
            <a:r>
              <a:rPr lang="en-US" sz="1000" b="1" dirty="0">
                <a:solidFill>
                  <a:srgbClr val="172C63"/>
                </a:solidFill>
              </a:rPr>
              <a:t>Reckoned</a:t>
            </a:r>
            <a:r>
              <a:rPr lang="en-US" sz="1000" b="1" i="0" u="none" strike="noStrike" dirty="0">
                <a:solidFill>
                  <a:srgbClr val="172C63"/>
                </a:solidFill>
                <a:effectLst/>
              </a:rPr>
              <a:t> With Both Inside And Outside Brazil</a:t>
            </a:r>
            <a:endParaRPr lang="en-US" sz="1000" b="0">
              <a:effectLst/>
            </a:endParaRPr>
          </a:p>
          <a:p>
            <a:pPr algn="just"/>
            <a:r>
              <a:rPr lang="en-US">
                <a:solidFill>
                  <a:srgbClr val="000000"/>
                </a:solidFill>
              </a:rPr>
              <a:t>Since 1970, WEG has been an important player in Brazil, with its dominance being continuously consolidated in the motor market, currently holding a share of around 80 to 90% in the national low-voltage motor market and 70 to 80% in the Brazilian medium-voltage motor </a:t>
            </a:r>
            <a:r>
              <a:rPr lang="en-US" err="1">
                <a:solidFill>
                  <a:srgbClr val="000000"/>
                </a:solidFill>
              </a:rPr>
              <a:t>market.In</a:t>
            </a:r>
            <a:r>
              <a:rPr lang="en-US">
                <a:solidFill>
                  <a:srgbClr val="000000"/>
                </a:solidFill>
              </a:rPr>
              <a:t> the external market, WEG performed just as well, possessing, in 2022, 15% of the global market share in the low voltage industrial motors niche, with close to 24,5% in the Americas .</a:t>
            </a:r>
          </a:p>
          <a:p>
            <a:pPr algn="just"/>
            <a:r>
              <a:rPr lang="en-US">
                <a:solidFill>
                  <a:srgbClr val="000000"/>
                </a:solidFill>
              </a:rPr>
              <a:t>In other sectors, WEG has affirmed equal predominance: responsible for 65% of the Brazilian alternator market and 16% of the North American market; 23% of the South American transformer market and 6% of the North American market; 10% of the South American soft starters market and 17% of the African market.</a:t>
            </a:r>
          </a:p>
          <a:p>
            <a:pPr algn="just"/>
            <a:r>
              <a:rPr lang="en-US">
                <a:solidFill>
                  <a:srgbClr val="000000"/>
                </a:solidFill>
              </a:rPr>
              <a:t>Regardless of the significant market share and the considerable CAGR growth of these products globally, the high fragmentation of these markets (Appendix D) and the low demand growth in South America mean that WEG's presence does not have as high profitability capacity as in the electric motor market. </a:t>
            </a:r>
            <a:r>
              <a:rPr lang="en-US" sz="1000" b="1" i="0" u="none" strike="noStrike" dirty="0">
                <a:solidFill>
                  <a:srgbClr val="172C63"/>
                </a:solidFill>
                <a:effectLst/>
              </a:rPr>
              <a:t>Brazil In Contrast With Commodity Markets</a:t>
            </a:r>
            <a:endParaRPr lang="en-US" sz="1000" b="0">
              <a:effectLst/>
            </a:endParaRPr>
          </a:p>
          <a:p>
            <a:pPr algn="just"/>
            <a:r>
              <a:rPr lang="en-US">
                <a:solidFill>
                  <a:srgbClr val="000000"/>
                </a:solidFill>
              </a:rPr>
              <a:t>Due to more intense barriers to entry in the Brazilian market, the number of companies entering the electric motor sector has decreased. In 2024, for instance, only 9 companies entered the market in Brazil. This is not only due to WEG’s sheer size, but also because of internal legislation and the so-called “</a:t>
            </a:r>
            <a:r>
              <a:rPr lang="en-US" err="1">
                <a:solidFill>
                  <a:srgbClr val="000000"/>
                </a:solidFill>
              </a:rPr>
              <a:t>Custo</a:t>
            </a:r>
            <a:r>
              <a:rPr lang="en-US">
                <a:solidFill>
                  <a:srgbClr val="000000"/>
                </a:solidFill>
              </a:rPr>
              <a:t> </a:t>
            </a:r>
            <a:r>
              <a:rPr lang="en-US" err="1">
                <a:solidFill>
                  <a:srgbClr val="000000"/>
                </a:solidFill>
              </a:rPr>
              <a:t>Brasil</a:t>
            </a:r>
            <a:r>
              <a:rPr lang="en-US">
                <a:solidFill>
                  <a:srgbClr val="000000"/>
                </a:solidFill>
              </a:rPr>
              <a:t>.” The cost reduction is especially important in the external market.</a:t>
            </a:r>
          </a:p>
          <a:p>
            <a:pPr algn="just"/>
            <a:r>
              <a:rPr lang="en-US">
                <a:solidFill>
                  <a:srgbClr val="000000"/>
                </a:solidFill>
              </a:rPr>
              <a:t>Industry 4.0: The adoption of the Industry 4.0 model has been one of the drivers for the reduction of costs in all industries (Appendix E), and that is no different from WEG’s case, which brought unit costs down substantially (Appendix F). This was achievable not only by creating their own efficiency program for improving resource management, but also by acquiring strategic sectors/companies </a:t>
            </a:r>
          </a:p>
          <a:p>
            <a:pPr algn="just"/>
            <a:r>
              <a:rPr lang="en-US" sz="1000" b="1" i="0" u="none" strike="noStrike" dirty="0">
                <a:solidFill>
                  <a:srgbClr val="172C63"/>
                </a:solidFill>
                <a:effectLst/>
              </a:rPr>
              <a:t>M&amp;A: Small Transactions, But Big Synergies</a:t>
            </a:r>
            <a:endParaRPr lang="en-US" sz="1000" b="0">
              <a:effectLst/>
            </a:endParaRPr>
          </a:p>
          <a:p>
            <a:pPr algn="just"/>
            <a:r>
              <a:rPr lang="en-US">
                <a:solidFill>
                  <a:srgbClr val="000000"/>
                </a:solidFill>
              </a:rPr>
              <a:t>In contrast to other big players, WEG’s acquisitions program usually involves smaller and more frequent acquisitions (Appendix G), but with great convergence. The integration of Regal Rexnord industrial electric motors and generators operations epitomizes this aspect: there was little overlap in the customer base of both companies, creating opportunities for market expansion. These transactions mainly focus on the geographical diversification strategy, which also permits WEG to enjoy higher profits due to currency devaluation. </a:t>
            </a:r>
          </a:p>
          <a:p>
            <a:pPr algn="just"/>
            <a:r>
              <a:rPr lang="en-US" sz="1000" b="1" i="0" u="none" strike="noStrike" dirty="0">
                <a:solidFill>
                  <a:srgbClr val="172C63"/>
                </a:solidFill>
                <a:effectLst/>
              </a:rPr>
              <a:t>WEG As An Established Choice</a:t>
            </a:r>
            <a:endParaRPr lang="en-US" sz="1000" b="0">
              <a:effectLst/>
            </a:endParaRPr>
          </a:p>
          <a:p>
            <a:pPr algn="just"/>
            <a:r>
              <a:rPr lang="en-US">
                <a:solidFill>
                  <a:srgbClr val="000000"/>
                </a:solidFill>
              </a:rPr>
              <a:t>Since energy efficiency has become a decisive factor for companies in choosing electric motors (Appendix H), WEG has become one of customers’ favorites, as it enjoys one of the highest energy-saving motors in the market (Appendix I).</a:t>
            </a:r>
          </a:p>
          <a:p>
            <a:pPr algn="just"/>
            <a:r>
              <a:rPr lang="en-US">
                <a:solidFill>
                  <a:srgbClr val="000000"/>
                </a:solidFill>
              </a:rPr>
              <a:t>In addition, WEG has other strategies to stand out to its customers, such as the Part Replacement Plant, which guarantees a discount for a new WEG engine in </a:t>
            </a:r>
            <a:r>
              <a:rPr lang="en-US" dirty="0">
                <a:solidFill>
                  <a:srgbClr val="000000"/>
                </a:solidFill>
              </a:rPr>
              <a:t>exchange</a:t>
            </a:r>
            <a:r>
              <a:rPr lang="en-US">
                <a:solidFill>
                  <a:srgbClr val="000000"/>
                </a:solidFill>
              </a:rPr>
              <a:t> for any older or inefficient motor. Considering that in Brazil the average age of an industrial motor is 19 years (double that of a more advanced economy), there is a huge dormant market being awakened by the necessity of the implementation of Industry 4.0. Thus, WEG establishes itself as a dominant supplier.</a:t>
            </a:r>
          </a:p>
          <a:p>
            <a:pPr algn="just"/>
            <a:r>
              <a:rPr lang="en-US">
                <a:solidFill>
                  <a:srgbClr val="000000"/>
                </a:solidFill>
              </a:rPr>
              <a:t>At last, WEG is a master in client captivity, as it utilizes the cross-sell strategy to maintain them. Since WEG’s complementary products are tightly integrated, it’s harder and more expensive for customers to switch to other brands. </a:t>
            </a:r>
          </a:p>
          <a:p>
            <a:pPr algn="just"/>
            <a:r>
              <a:rPr lang="en-US" sz="1000" b="1" i="0" u="none" strike="noStrike" dirty="0">
                <a:solidFill>
                  <a:srgbClr val="172C63"/>
                </a:solidFill>
                <a:effectLst/>
              </a:rPr>
              <a:t>Verticalization</a:t>
            </a:r>
            <a:endParaRPr lang="en-US" sz="1000" b="0">
              <a:effectLst/>
            </a:endParaRPr>
          </a:p>
          <a:p>
            <a:pPr algn="just"/>
            <a:r>
              <a:rPr lang="en-US"/>
              <a:t>Energy Costs: Since the surge in electric prices, particularly in the USA, but also in Europe (Appendix J), WEG’s verticalization (Appendix L) has shown one of its strong points, as it can provide cheaper energy for its facilities, in comparison with its peers who do not have the same degree of verticalization.</a:t>
            </a:r>
          </a:p>
          <a:p>
            <a:pPr algn="just"/>
            <a:r>
              <a:rPr lang="en-US"/>
              <a:t>Factory Distribution: The diversification of the factory base around the world could help mitigate the surge in labor costs not only in the US, but also in Europe (Appendix L), by implementing the facilities in emerging countries near the major economies, such as Mexico and Turkey. </a:t>
            </a:r>
          </a:p>
          <a:p>
            <a:pPr algn="just"/>
            <a:r>
              <a:rPr lang="en-US" sz="1000" b="1" i="0" u="none" strike="noStrike" err="1">
                <a:solidFill>
                  <a:srgbClr val="172C63"/>
                </a:solidFill>
                <a:effectLst/>
              </a:rPr>
              <a:t>Threaths</a:t>
            </a:r>
            <a:r>
              <a:rPr lang="en-US" sz="1000" b="1" i="0" u="none" strike="noStrike" dirty="0">
                <a:solidFill>
                  <a:srgbClr val="172C63"/>
                </a:solidFill>
                <a:effectLst/>
              </a:rPr>
              <a:t> &amp; Opportunities</a:t>
            </a:r>
            <a:endParaRPr lang="en-US" sz="1000" b="0">
              <a:effectLst/>
            </a:endParaRPr>
          </a:p>
          <a:p>
            <a:pPr algn="just"/>
            <a:r>
              <a:rPr lang="en-US">
                <a:solidFill>
                  <a:srgbClr val="000000"/>
                </a:solidFill>
              </a:rPr>
              <a:t>Given that WEG’s revenue comes predominantly from abroad, accounting for more than 50% of the company’s revenue (Appendix M), external events have a noticeable impact on the company.</a:t>
            </a:r>
          </a:p>
          <a:p>
            <a:r>
              <a:rPr lang="en-US">
                <a:solidFill>
                  <a:srgbClr val="000000"/>
                </a:solidFill>
              </a:rPr>
              <a:t>As Trump tariffs become a dominant force in global geopolitics, WEG’s goods, such as those produced in Mexico, could face severe barriers to entry. However, due to the ongoing expansion of WEG’s facilities in the US, these import risks could be mitigated. Moreover, since WEG’s clients are mostly original equipment manufacturers, they tend to be less price sensitive, as they prioritize quality, reliability, and technical support throughout the equipment lifecycle. Further, the tariffs could be an opportunity for WEG to expand its market share in the USA, as Chinese imports are getting immensely costly for the American citizen.</a:t>
            </a:r>
            <a:br>
              <a:rPr lang="en-US" dirty="0"/>
            </a:br>
            <a:endParaRPr lang="en-US" kern="0">
              <a:solidFill>
                <a:schemeClr val="tx1"/>
              </a:solidFill>
            </a:endParaRPr>
          </a:p>
        </p:txBody>
      </p:sp>
      <p:graphicFrame>
        <p:nvGraphicFramePr>
          <p:cNvPr id="3" name="Gráfico 2">
            <a:extLst>
              <a:ext uri="{FF2B5EF4-FFF2-40B4-BE49-F238E27FC236}">
                <a16:creationId xmlns:a16="http://schemas.microsoft.com/office/drawing/2014/main" id="{FC837BCD-4BCA-4978-842B-A1D4B1BDCBDA}"/>
              </a:ext>
            </a:extLst>
          </p:cNvPr>
          <p:cNvGraphicFramePr>
            <a:graphicFrameLocks/>
          </p:cNvGraphicFramePr>
          <p:nvPr>
            <p:extLst>
              <p:ext uri="{D42A27DB-BD31-4B8C-83A1-F6EECF244321}">
                <p14:modId xmlns:p14="http://schemas.microsoft.com/office/powerpoint/2010/main" val="1796759917"/>
              </p:ext>
            </p:extLst>
          </p:nvPr>
        </p:nvGraphicFramePr>
        <p:xfrm>
          <a:off x="5132785" y="1023248"/>
          <a:ext cx="2634399" cy="13753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Gráfico 3">
            <a:extLst>
              <a:ext uri="{FF2B5EF4-FFF2-40B4-BE49-F238E27FC236}">
                <a16:creationId xmlns:a16="http://schemas.microsoft.com/office/drawing/2014/main" id="{F92150D6-92FD-4AFF-8195-299ADF908B94}"/>
              </a:ext>
            </a:extLst>
          </p:cNvPr>
          <p:cNvGraphicFramePr>
            <a:graphicFrameLocks/>
          </p:cNvGraphicFramePr>
          <p:nvPr>
            <p:extLst>
              <p:ext uri="{D42A27DB-BD31-4B8C-83A1-F6EECF244321}">
                <p14:modId xmlns:p14="http://schemas.microsoft.com/office/powerpoint/2010/main" val="2945973155"/>
              </p:ext>
            </p:extLst>
          </p:nvPr>
        </p:nvGraphicFramePr>
        <p:xfrm>
          <a:off x="5142841" y="3116195"/>
          <a:ext cx="2827204" cy="175779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200970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3F47FBE1-B1FC-C171-F612-A4101EA0D9C2}"/>
              </a:ext>
            </a:extLst>
          </p:cNvPr>
          <p:cNvSpPr>
            <a:spLocks noGrp="1"/>
          </p:cNvSpPr>
          <p:nvPr>
            <p:ph type="body" sz="quarter" idx="10"/>
          </p:nvPr>
        </p:nvSpPr>
        <p:spPr/>
        <p:txBody>
          <a:bodyPr/>
          <a:lstStyle/>
          <a:p>
            <a:r>
              <a:rPr lang="pt-BR" err="1"/>
              <a:t>Group</a:t>
            </a:r>
            <a:r>
              <a:rPr lang="pt-BR"/>
              <a:t> 2</a:t>
            </a:r>
          </a:p>
        </p:txBody>
      </p:sp>
      <p:sp>
        <p:nvSpPr>
          <p:cNvPr id="3" name="Espaço Reservado para Texto 2">
            <a:extLst>
              <a:ext uri="{FF2B5EF4-FFF2-40B4-BE49-F238E27FC236}">
                <a16:creationId xmlns:a16="http://schemas.microsoft.com/office/drawing/2014/main" id="{81765797-1A69-CAB3-972D-4F8A7BFB2443}"/>
              </a:ext>
            </a:extLst>
          </p:cNvPr>
          <p:cNvSpPr>
            <a:spLocks noGrp="1"/>
          </p:cNvSpPr>
          <p:nvPr>
            <p:ph type="body" sz="quarter" idx="11"/>
          </p:nvPr>
        </p:nvSpPr>
        <p:spPr/>
        <p:txBody>
          <a:bodyPr lIns="91440" tIns="45720" rIns="91440" bIns="45720" anchor="t"/>
          <a:lstStyle/>
          <a:p>
            <a:pPr algn="l" rtl="0"/>
            <a:r>
              <a:rPr lang="pt-BR" sz="1000" b="1">
                <a:solidFill>
                  <a:schemeClr val="accent1"/>
                </a:solidFill>
              </a:rPr>
              <a:t>THESIS 1 | </a:t>
            </a:r>
            <a:r>
              <a:rPr lang="en-US" sz="1000" b="1" i="0" u="none" strike="noStrike">
                <a:solidFill>
                  <a:schemeClr val="accent1"/>
                </a:solidFill>
                <a:effectLst/>
              </a:rPr>
              <a:t>Inorganic Growth in Emergent Markets is Underrecognized</a:t>
            </a:r>
          </a:p>
          <a:p>
            <a:pPr algn="just"/>
            <a:r>
              <a:rPr lang="pt-BR">
                <a:solidFill>
                  <a:schemeClr val="tx1"/>
                </a:solidFill>
                <a:ea typeface="+mn-lt"/>
                <a:cs typeface="+mn-lt"/>
              </a:rPr>
              <a:t>As </a:t>
            </a:r>
            <a:r>
              <a:rPr lang="pt-BR" err="1">
                <a:solidFill>
                  <a:schemeClr val="tx1"/>
                </a:solidFill>
                <a:ea typeface="+mn-lt"/>
                <a:cs typeface="+mn-lt"/>
              </a:rPr>
              <a:t>estimates</a:t>
            </a:r>
            <a:r>
              <a:rPr lang="pt-BR">
                <a:solidFill>
                  <a:schemeClr val="tx1"/>
                </a:solidFill>
                <a:ea typeface="+mn-lt"/>
                <a:cs typeface="+mn-lt"/>
              </a:rPr>
              <a:t> show, </a:t>
            </a:r>
            <a:r>
              <a:rPr lang="pt-BR" err="1">
                <a:solidFill>
                  <a:schemeClr val="tx1"/>
                </a:solidFill>
                <a:ea typeface="+mn-lt"/>
                <a:cs typeface="+mn-lt"/>
              </a:rPr>
              <a:t>WEG’s</a:t>
            </a:r>
            <a:r>
              <a:rPr lang="pt-BR">
                <a:solidFill>
                  <a:schemeClr val="tx1"/>
                </a:solidFill>
                <a:ea typeface="+mn-lt"/>
                <a:cs typeface="+mn-lt"/>
              </a:rPr>
              <a:t> </a:t>
            </a:r>
            <a:r>
              <a:rPr lang="pt-BR" err="1">
                <a:solidFill>
                  <a:schemeClr val="tx1"/>
                </a:solidFill>
                <a:ea typeface="+mn-lt"/>
                <a:cs typeface="+mn-lt"/>
              </a:rPr>
              <a:t>inorganic</a:t>
            </a:r>
            <a:r>
              <a:rPr lang="pt-BR">
                <a:solidFill>
                  <a:schemeClr val="tx1"/>
                </a:solidFill>
                <a:ea typeface="+mn-lt"/>
                <a:cs typeface="+mn-lt"/>
              </a:rPr>
              <a:t> </a:t>
            </a:r>
            <a:r>
              <a:rPr lang="pt-BR" err="1">
                <a:solidFill>
                  <a:schemeClr val="tx1"/>
                </a:solidFill>
                <a:ea typeface="+mn-lt"/>
                <a:cs typeface="+mn-lt"/>
              </a:rPr>
              <a:t>growth</a:t>
            </a:r>
            <a:r>
              <a:rPr lang="pt-BR">
                <a:solidFill>
                  <a:schemeClr val="tx1"/>
                </a:solidFill>
                <a:ea typeface="+mn-lt"/>
                <a:cs typeface="+mn-lt"/>
              </a:rPr>
              <a:t> </a:t>
            </a:r>
            <a:r>
              <a:rPr lang="pt-BR" err="1">
                <a:solidFill>
                  <a:schemeClr val="tx1"/>
                </a:solidFill>
                <a:ea typeface="+mn-lt"/>
                <a:cs typeface="+mn-lt"/>
              </a:rPr>
              <a:t>represents</a:t>
            </a:r>
            <a:r>
              <a:rPr lang="pt-BR">
                <a:solidFill>
                  <a:schemeClr val="tx1"/>
                </a:solidFill>
                <a:ea typeface="+mn-lt"/>
                <a:cs typeface="+mn-lt"/>
              </a:rPr>
              <a:t> </a:t>
            </a:r>
            <a:r>
              <a:rPr lang="pt-BR" err="1">
                <a:solidFill>
                  <a:schemeClr val="tx1"/>
                </a:solidFill>
                <a:ea typeface="+mn-lt"/>
                <a:cs typeface="+mn-lt"/>
              </a:rPr>
              <a:t>roughly</a:t>
            </a:r>
            <a:r>
              <a:rPr lang="pt-BR">
                <a:solidFill>
                  <a:schemeClr val="tx1"/>
                </a:solidFill>
                <a:ea typeface="+mn-lt"/>
                <a:cs typeface="+mn-lt"/>
              </a:rPr>
              <a:t> 15% of its </a:t>
            </a:r>
            <a:r>
              <a:rPr lang="pt-BR" err="1">
                <a:solidFill>
                  <a:schemeClr val="tx1"/>
                </a:solidFill>
                <a:ea typeface="+mn-lt"/>
                <a:cs typeface="+mn-lt"/>
              </a:rPr>
              <a:t>reported</a:t>
            </a:r>
            <a:r>
              <a:rPr lang="pt-BR">
                <a:solidFill>
                  <a:schemeClr val="tx1"/>
                </a:solidFill>
                <a:ea typeface="+mn-lt"/>
                <a:cs typeface="+mn-lt"/>
              </a:rPr>
              <a:t> </a:t>
            </a:r>
            <a:r>
              <a:rPr lang="pt-BR" err="1">
                <a:solidFill>
                  <a:schemeClr val="tx1"/>
                </a:solidFill>
                <a:ea typeface="+mn-lt"/>
                <a:cs typeface="+mn-lt"/>
              </a:rPr>
              <a:t>revenue</a:t>
            </a:r>
            <a:r>
              <a:rPr lang="pt-BR">
                <a:solidFill>
                  <a:schemeClr val="tx1"/>
                </a:solidFill>
                <a:ea typeface="+mn-lt"/>
                <a:cs typeface="+mn-lt"/>
              </a:rPr>
              <a:t> (</a:t>
            </a:r>
            <a:r>
              <a:rPr lang="pt-BR" err="1">
                <a:solidFill>
                  <a:schemeClr val="tx1"/>
                </a:solidFill>
                <a:ea typeface="+mn-lt"/>
                <a:cs typeface="+mn-lt"/>
              </a:rPr>
              <a:t>Appendix</a:t>
            </a:r>
            <a:r>
              <a:rPr lang="pt-BR">
                <a:solidFill>
                  <a:schemeClr val="tx1"/>
                </a:solidFill>
                <a:ea typeface="+mn-lt"/>
                <a:cs typeface="+mn-lt"/>
              </a:rPr>
              <a:t> N). </a:t>
            </a:r>
            <a:r>
              <a:rPr lang="pt-BR" err="1">
                <a:solidFill>
                  <a:schemeClr val="tx1"/>
                </a:solidFill>
                <a:ea typeface="+mn-lt"/>
                <a:cs typeface="+mn-lt"/>
              </a:rPr>
              <a:t>Therefore</a:t>
            </a:r>
            <a:r>
              <a:rPr lang="pt-BR">
                <a:solidFill>
                  <a:schemeClr val="tx1"/>
                </a:solidFill>
                <a:ea typeface="+mn-lt"/>
                <a:cs typeface="+mn-lt"/>
              </a:rPr>
              <a:t>, M&amp;A and joint ventures are central to the </a:t>
            </a:r>
            <a:r>
              <a:rPr lang="pt-BR" err="1">
                <a:solidFill>
                  <a:schemeClr val="tx1"/>
                </a:solidFill>
                <a:ea typeface="+mn-lt"/>
                <a:cs typeface="+mn-lt"/>
              </a:rPr>
              <a:t>company’s</a:t>
            </a:r>
            <a:r>
              <a:rPr lang="pt-BR">
                <a:solidFill>
                  <a:schemeClr val="tx1"/>
                </a:solidFill>
                <a:ea typeface="+mn-lt"/>
                <a:cs typeface="+mn-lt"/>
              </a:rPr>
              <a:t> </a:t>
            </a:r>
            <a:r>
              <a:rPr lang="pt-BR" err="1">
                <a:solidFill>
                  <a:schemeClr val="tx1"/>
                </a:solidFill>
                <a:ea typeface="+mn-lt"/>
                <a:cs typeface="+mn-lt"/>
              </a:rPr>
              <a:t>international</a:t>
            </a:r>
            <a:r>
              <a:rPr lang="pt-BR">
                <a:solidFill>
                  <a:schemeClr val="tx1"/>
                </a:solidFill>
                <a:ea typeface="+mn-lt"/>
                <a:cs typeface="+mn-lt"/>
              </a:rPr>
              <a:t> </a:t>
            </a:r>
            <a:r>
              <a:rPr lang="pt-BR" err="1">
                <a:solidFill>
                  <a:schemeClr val="tx1"/>
                </a:solidFill>
                <a:ea typeface="+mn-lt"/>
                <a:cs typeface="+mn-lt"/>
              </a:rPr>
              <a:t>expansion</a:t>
            </a:r>
            <a:r>
              <a:rPr lang="pt-BR">
                <a:solidFill>
                  <a:schemeClr val="tx1"/>
                </a:solidFill>
                <a:ea typeface="+mn-lt"/>
                <a:cs typeface="+mn-lt"/>
              </a:rPr>
              <a:t> </a:t>
            </a:r>
            <a:r>
              <a:rPr lang="pt-BR" err="1">
                <a:solidFill>
                  <a:schemeClr val="tx1"/>
                </a:solidFill>
                <a:ea typeface="+mn-lt"/>
                <a:cs typeface="+mn-lt"/>
              </a:rPr>
              <a:t>strategy</a:t>
            </a:r>
            <a:r>
              <a:rPr lang="pt-BR">
                <a:solidFill>
                  <a:schemeClr val="tx1"/>
                </a:solidFill>
                <a:ea typeface="+mn-lt"/>
                <a:cs typeface="+mn-lt"/>
              </a:rPr>
              <a:t>, </a:t>
            </a:r>
            <a:r>
              <a:rPr lang="pt-BR" err="1">
                <a:solidFill>
                  <a:schemeClr val="tx1"/>
                </a:solidFill>
                <a:ea typeface="+mn-lt"/>
                <a:cs typeface="+mn-lt"/>
              </a:rPr>
              <a:t>primarily</a:t>
            </a:r>
            <a:r>
              <a:rPr lang="pt-BR">
                <a:solidFill>
                  <a:schemeClr val="tx1"/>
                </a:solidFill>
                <a:ea typeface="+mn-lt"/>
                <a:cs typeface="+mn-lt"/>
              </a:rPr>
              <a:t> </a:t>
            </a:r>
            <a:r>
              <a:rPr lang="pt-BR" err="1">
                <a:solidFill>
                  <a:schemeClr val="tx1"/>
                </a:solidFill>
                <a:ea typeface="+mn-lt"/>
                <a:cs typeface="+mn-lt"/>
              </a:rPr>
              <a:t>aimed</a:t>
            </a:r>
            <a:r>
              <a:rPr lang="pt-BR">
                <a:solidFill>
                  <a:schemeClr val="tx1"/>
                </a:solidFill>
                <a:ea typeface="+mn-lt"/>
                <a:cs typeface="+mn-lt"/>
              </a:rPr>
              <a:t> </a:t>
            </a:r>
            <a:r>
              <a:rPr lang="pt-BR" err="1">
                <a:solidFill>
                  <a:schemeClr val="tx1"/>
                </a:solidFill>
                <a:ea typeface="+mn-lt"/>
                <a:cs typeface="+mn-lt"/>
              </a:rPr>
              <a:t>at</a:t>
            </a:r>
            <a:r>
              <a:rPr lang="pt-BR">
                <a:solidFill>
                  <a:schemeClr val="tx1"/>
                </a:solidFill>
                <a:ea typeface="+mn-lt"/>
                <a:cs typeface="+mn-lt"/>
              </a:rPr>
              <a:t> </a:t>
            </a:r>
            <a:r>
              <a:rPr lang="pt-BR" err="1">
                <a:solidFill>
                  <a:schemeClr val="tx1"/>
                </a:solidFill>
                <a:ea typeface="+mn-lt"/>
                <a:cs typeface="+mn-lt"/>
              </a:rPr>
              <a:t>gaining</a:t>
            </a:r>
            <a:r>
              <a:rPr lang="pt-BR">
                <a:solidFill>
                  <a:schemeClr val="tx1"/>
                </a:solidFill>
                <a:ea typeface="+mn-lt"/>
                <a:cs typeface="+mn-lt"/>
              </a:rPr>
              <a:t> </a:t>
            </a:r>
            <a:r>
              <a:rPr lang="pt-BR" err="1">
                <a:solidFill>
                  <a:schemeClr val="tx1"/>
                </a:solidFill>
                <a:ea typeface="+mn-lt"/>
                <a:cs typeface="+mn-lt"/>
              </a:rPr>
              <a:t>access</a:t>
            </a:r>
            <a:r>
              <a:rPr lang="pt-BR">
                <a:solidFill>
                  <a:schemeClr val="tx1"/>
                </a:solidFill>
                <a:ea typeface="+mn-lt"/>
                <a:cs typeface="+mn-lt"/>
              </a:rPr>
              <a:t> to new </a:t>
            </a:r>
            <a:r>
              <a:rPr lang="pt-BR" err="1">
                <a:solidFill>
                  <a:schemeClr val="tx1"/>
                </a:solidFill>
                <a:ea typeface="+mn-lt"/>
                <a:cs typeface="+mn-lt"/>
              </a:rPr>
              <a:t>technologies</a:t>
            </a:r>
            <a:r>
              <a:rPr lang="pt-BR">
                <a:solidFill>
                  <a:schemeClr val="tx1"/>
                </a:solidFill>
                <a:ea typeface="+mn-lt"/>
                <a:cs typeface="+mn-lt"/>
              </a:rPr>
              <a:t> and </a:t>
            </a:r>
            <a:r>
              <a:rPr lang="pt-BR" err="1">
                <a:solidFill>
                  <a:schemeClr val="tx1"/>
                </a:solidFill>
                <a:ea typeface="+mn-lt"/>
                <a:cs typeface="+mn-lt"/>
              </a:rPr>
              <a:t>diversifying</a:t>
            </a:r>
            <a:r>
              <a:rPr lang="pt-BR">
                <a:solidFill>
                  <a:schemeClr val="tx1"/>
                </a:solidFill>
                <a:ea typeface="+mn-lt"/>
                <a:cs typeface="+mn-lt"/>
              </a:rPr>
              <a:t> </a:t>
            </a:r>
            <a:r>
              <a:rPr lang="pt-BR" err="1">
                <a:solidFill>
                  <a:schemeClr val="tx1"/>
                </a:solidFill>
                <a:ea typeface="+mn-lt"/>
                <a:cs typeface="+mn-lt"/>
              </a:rPr>
              <a:t>market</a:t>
            </a:r>
            <a:r>
              <a:rPr lang="pt-BR">
                <a:solidFill>
                  <a:schemeClr val="tx1"/>
                </a:solidFill>
                <a:ea typeface="+mn-lt"/>
                <a:cs typeface="+mn-lt"/>
              </a:rPr>
              <a:t> </a:t>
            </a:r>
            <a:r>
              <a:rPr lang="pt-BR" err="1">
                <a:solidFill>
                  <a:schemeClr val="tx1"/>
                </a:solidFill>
                <a:ea typeface="+mn-lt"/>
                <a:cs typeface="+mn-lt"/>
              </a:rPr>
              <a:t>exposure</a:t>
            </a:r>
            <a:r>
              <a:rPr lang="pt-BR">
                <a:solidFill>
                  <a:schemeClr val="tx1"/>
                </a:solidFill>
                <a:ea typeface="+mn-lt"/>
                <a:cs typeface="+mn-lt"/>
              </a:rPr>
              <a:t> (</a:t>
            </a:r>
            <a:r>
              <a:rPr lang="pt-BR" err="1">
                <a:solidFill>
                  <a:schemeClr val="tx1"/>
                </a:solidFill>
                <a:ea typeface="+mn-lt"/>
                <a:cs typeface="+mn-lt"/>
              </a:rPr>
              <a:t>Appendix</a:t>
            </a:r>
            <a:r>
              <a:rPr lang="pt-BR">
                <a:solidFill>
                  <a:schemeClr val="tx1"/>
                </a:solidFill>
                <a:ea typeface="+mn-lt"/>
                <a:cs typeface="+mn-lt"/>
              </a:rPr>
              <a:t> N).</a:t>
            </a:r>
            <a:r>
              <a:rPr lang="pt-BR">
                <a:solidFill>
                  <a:schemeClr val="tx1"/>
                </a:solidFill>
                <a:latin typeface="Calibri"/>
                <a:ea typeface="Calibri"/>
                <a:cs typeface="Calibri"/>
              </a:rPr>
              <a:t> In general, the </a:t>
            </a:r>
            <a:r>
              <a:rPr lang="pt-BR" err="1">
                <a:solidFill>
                  <a:schemeClr val="tx1"/>
                </a:solidFill>
                <a:latin typeface="Calibri"/>
                <a:ea typeface="Calibri"/>
                <a:cs typeface="Calibri"/>
              </a:rPr>
              <a:t>company's</a:t>
            </a:r>
            <a:r>
              <a:rPr lang="pt-BR">
                <a:solidFill>
                  <a:schemeClr val="tx1"/>
                </a:solidFill>
                <a:latin typeface="Calibri"/>
                <a:ea typeface="Calibri"/>
                <a:cs typeface="Calibri"/>
              </a:rPr>
              <a:t> </a:t>
            </a:r>
            <a:r>
              <a:rPr lang="pt-BR" err="1">
                <a:solidFill>
                  <a:schemeClr val="tx1"/>
                </a:solidFill>
                <a:latin typeface="Calibri"/>
                <a:ea typeface="Calibri"/>
                <a:cs typeface="Calibri"/>
              </a:rPr>
              <a:t>expansion</a:t>
            </a:r>
            <a:r>
              <a:rPr lang="pt-BR">
                <a:solidFill>
                  <a:schemeClr val="tx1"/>
                </a:solidFill>
                <a:latin typeface="Calibri"/>
                <a:ea typeface="Calibri"/>
                <a:cs typeface="Calibri"/>
              </a:rPr>
              <a:t> </a:t>
            </a:r>
            <a:r>
              <a:rPr lang="pt-BR" err="1">
                <a:solidFill>
                  <a:schemeClr val="tx1"/>
                </a:solidFill>
                <a:latin typeface="Calibri"/>
                <a:ea typeface="Calibri"/>
                <a:cs typeface="Calibri"/>
              </a:rPr>
              <a:t>into</a:t>
            </a:r>
            <a:r>
              <a:rPr lang="pt-BR">
                <a:solidFill>
                  <a:schemeClr val="tx1"/>
                </a:solidFill>
                <a:latin typeface="Calibri"/>
                <a:ea typeface="Calibri"/>
                <a:cs typeface="Calibri"/>
              </a:rPr>
              <a:t> </a:t>
            </a:r>
            <a:r>
              <a:rPr lang="pt-BR" err="1">
                <a:solidFill>
                  <a:schemeClr val="tx1"/>
                </a:solidFill>
                <a:latin typeface="Calibri"/>
                <a:ea typeface="Calibri"/>
                <a:cs typeface="Calibri"/>
              </a:rPr>
              <a:t>emerging</a:t>
            </a:r>
            <a:r>
              <a:rPr lang="pt-BR">
                <a:solidFill>
                  <a:schemeClr val="tx1"/>
                </a:solidFill>
                <a:latin typeface="Calibri"/>
                <a:ea typeface="Calibri"/>
                <a:cs typeface="Calibri"/>
              </a:rPr>
              <a:t> </a:t>
            </a:r>
            <a:r>
              <a:rPr lang="pt-BR" err="1">
                <a:solidFill>
                  <a:schemeClr val="tx1"/>
                </a:solidFill>
                <a:latin typeface="Calibri"/>
                <a:ea typeface="Calibri"/>
                <a:cs typeface="Calibri"/>
              </a:rPr>
              <a:t>markets</a:t>
            </a:r>
            <a:r>
              <a:rPr lang="pt-BR">
                <a:solidFill>
                  <a:schemeClr val="tx1"/>
                </a:solidFill>
                <a:latin typeface="Calibri"/>
                <a:ea typeface="Calibri"/>
                <a:cs typeface="Calibri"/>
              </a:rPr>
              <a:t>, </a:t>
            </a:r>
            <a:r>
              <a:rPr lang="pt-BR" err="1">
                <a:solidFill>
                  <a:schemeClr val="tx1"/>
                </a:solidFill>
                <a:latin typeface="Calibri"/>
                <a:ea typeface="Calibri"/>
                <a:cs typeface="Calibri"/>
              </a:rPr>
              <a:t>such</a:t>
            </a:r>
            <a:r>
              <a:rPr lang="pt-BR">
                <a:solidFill>
                  <a:schemeClr val="tx1"/>
                </a:solidFill>
                <a:latin typeface="Calibri"/>
                <a:ea typeface="Calibri"/>
                <a:cs typeface="Calibri"/>
              </a:rPr>
              <a:t> as </a:t>
            </a:r>
            <a:r>
              <a:rPr lang="pt-BR" err="1">
                <a:solidFill>
                  <a:schemeClr val="tx1"/>
                </a:solidFill>
                <a:latin typeface="Calibri"/>
                <a:ea typeface="Calibri"/>
                <a:cs typeface="Calibri"/>
              </a:rPr>
              <a:t>Argelia</a:t>
            </a:r>
            <a:r>
              <a:rPr lang="pt-BR">
                <a:solidFill>
                  <a:schemeClr val="tx1"/>
                </a:solidFill>
                <a:latin typeface="Calibri"/>
                <a:ea typeface="Calibri"/>
                <a:cs typeface="Calibri"/>
              </a:rPr>
              <a:t>, South </a:t>
            </a:r>
            <a:r>
              <a:rPr lang="pt-BR" err="1">
                <a:solidFill>
                  <a:schemeClr val="tx1"/>
                </a:solidFill>
                <a:latin typeface="Calibri"/>
                <a:ea typeface="Calibri"/>
                <a:cs typeface="Calibri"/>
              </a:rPr>
              <a:t>Africa</a:t>
            </a:r>
            <a:r>
              <a:rPr lang="pt-BR">
                <a:solidFill>
                  <a:schemeClr val="tx1"/>
                </a:solidFill>
                <a:latin typeface="Calibri"/>
                <a:ea typeface="Calibri"/>
                <a:cs typeface="Calibri"/>
              </a:rPr>
              <a:t>, Argentina, </a:t>
            </a:r>
            <a:r>
              <a:rPr lang="pt-BR" err="1">
                <a:solidFill>
                  <a:schemeClr val="tx1"/>
                </a:solidFill>
                <a:latin typeface="Calibri"/>
                <a:ea typeface="Calibri"/>
                <a:cs typeface="Calibri"/>
              </a:rPr>
              <a:t>Turkey</a:t>
            </a:r>
            <a:r>
              <a:rPr lang="pt-BR">
                <a:solidFill>
                  <a:schemeClr val="tx1"/>
                </a:solidFill>
                <a:latin typeface="Calibri"/>
                <a:ea typeface="Calibri"/>
                <a:cs typeface="Calibri"/>
              </a:rPr>
              <a:t>, Mexico, are </a:t>
            </a:r>
            <a:r>
              <a:rPr lang="pt-BR" err="1">
                <a:solidFill>
                  <a:schemeClr val="tx1"/>
                </a:solidFill>
                <a:latin typeface="Calibri"/>
                <a:ea typeface="Calibri"/>
                <a:cs typeface="Calibri"/>
              </a:rPr>
              <a:t>treated</a:t>
            </a:r>
            <a:r>
              <a:rPr lang="pt-BR">
                <a:solidFill>
                  <a:schemeClr val="tx1"/>
                </a:solidFill>
                <a:latin typeface="Calibri"/>
                <a:ea typeface="Calibri"/>
                <a:cs typeface="Calibri"/>
              </a:rPr>
              <a:t> as a </a:t>
            </a:r>
            <a:r>
              <a:rPr lang="pt-BR" err="1">
                <a:solidFill>
                  <a:schemeClr val="tx1"/>
                </a:solidFill>
                <a:latin typeface="Calibri"/>
                <a:ea typeface="Calibri"/>
                <a:cs typeface="Calibri"/>
              </a:rPr>
              <a:t>nearshore</a:t>
            </a:r>
            <a:r>
              <a:rPr lang="pt-BR">
                <a:solidFill>
                  <a:schemeClr val="tx1"/>
                </a:solidFill>
                <a:latin typeface="Calibri"/>
                <a:ea typeface="Calibri"/>
                <a:cs typeface="Calibri"/>
              </a:rPr>
              <a:t> </a:t>
            </a:r>
            <a:r>
              <a:rPr lang="pt-BR" err="1">
                <a:solidFill>
                  <a:schemeClr val="tx1"/>
                </a:solidFill>
                <a:latin typeface="Calibri"/>
                <a:ea typeface="Calibri"/>
                <a:cs typeface="Calibri"/>
              </a:rPr>
              <a:t>strategy</a:t>
            </a:r>
            <a:r>
              <a:rPr lang="pt-BR">
                <a:solidFill>
                  <a:schemeClr val="tx1"/>
                </a:solidFill>
                <a:latin typeface="Calibri"/>
                <a:ea typeface="Calibri"/>
                <a:cs typeface="Calibri"/>
              </a:rPr>
              <a:t>, as it </a:t>
            </a:r>
            <a:r>
              <a:rPr lang="pt-BR" err="1">
                <a:solidFill>
                  <a:schemeClr val="tx1"/>
                </a:solidFill>
                <a:latin typeface="Calibri"/>
                <a:ea typeface="Calibri"/>
                <a:cs typeface="Calibri"/>
              </a:rPr>
              <a:t>penetrates</a:t>
            </a:r>
            <a:r>
              <a:rPr lang="pt-BR">
                <a:solidFill>
                  <a:schemeClr val="tx1"/>
                </a:solidFill>
                <a:latin typeface="Calibri"/>
                <a:ea typeface="Calibri"/>
                <a:cs typeface="Calibri"/>
              </a:rPr>
              <a:t> in the </a:t>
            </a:r>
            <a:r>
              <a:rPr lang="pt-BR" err="1">
                <a:solidFill>
                  <a:schemeClr val="tx1"/>
                </a:solidFill>
                <a:latin typeface="Calibri"/>
                <a:ea typeface="Calibri"/>
                <a:cs typeface="Calibri"/>
              </a:rPr>
              <a:t>most</a:t>
            </a:r>
            <a:r>
              <a:rPr lang="pt-BR">
                <a:solidFill>
                  <a:schemeClr val="tx1"/>
                </a:solidFill>
                <a:latin typeface="Calibri"/>
                <a:ea typeface="Calibri"/>
                <a:cs typeface="Calibri"/>
              </a:rPr>
              <a:t> </a:t>
            </a:r>
            <a:r>
              <a:rPr lang="pt-BR" err="1">
                <a:solidFill>
                  <a:schemeClr val="tx1"/>
                </a:solidFill>
                <a:latin typeface="Calibri"/>
                <a:ea typeface="Calibri"/>
                <a:cs typeface="Calibri"/>
              </a:rPr>
              <a:t>developed</a:t>
            </a:r>
            <a:r>
              <a:rPr lang="pt-BR">
                <a:solidFill>
                  <a:schemeClr val="tx1"/>
                </a:solidFill>
                <a:latin typeface="Calibri"/>
                <a:ea typeface="Calibri"/>
                <a:cs typeface="Calibri"/>
              </a:rPr>
              <a:t> </a:t>
            </a:r>
            <a:r>
              <a:rPr lang="pt-BR" err="1">
                <a:solidFill>
                  <a:schemeClr val="tx1"/>
                </a:solidFill>
                <a:latin typeface="Calibri"/>
                <a:ea typeface="Calibri"/>
                <a:cs typeface="Calibri"/>
              </a:rPr>
              <a:t>market</a:t>
            </a:r>
            <a:r>
              <a:rPr lang="pt-BR">
                <a:solidFill>
                  <a:schemeClr val="tx1"/>
                </a:solidFill>
                <a:latin typeface="Calibri"/>
                <a:ea typeface="Calibri"/>
                <a:cs typeface="Calibri"/>
              </a:rPr>
              <a:t>, </a:t>
            </a:r>
            <a:r>
              <a:rPr lang="pt-BR" err="1">
                <a:solidFill>
                  <a:schemeClr val="tx1"/>
                </a:solidFill>
                <a:latin typeface="Calibri"/>
                <a:ea typeface="Calibri"/>
                <a:cs typeface="Calibri"/>
              </a:rPr>
              <a:t>without</a:t>
            </a:r>
            <a:r>
              <a:rPr lang="pt-BR">
                <a:solidFill>
                  <a:schemeClr val="tx1"/>
                </a:solidFill>
                <a:latin typeface="Calibri"/>
                <a:ea typeface="Calibri"/>
                <a:cs typeface="Calibri"/>
              </a:rPr>
              <a:t> </a:t>
            </a:r>
            <a:r>
              <a:rPr lang="pt-BR" err="1">
                <a:solidFill>
                  <a:schemeClr val="tx1"/>
                </a:solidFill>
                <a:latin typeface="Calibri"/>
                <a:ea typeface="Calibri"/>
                <a:cs typeface="Calibri"/>
              </a:rPr>
              <a:t>having</a:t>
            </a:r>
            <a:r>
              <a:rPr lang="pt-BR">
                <a:solidFill>
                  <a:schemeClr val="tx1"/>
                </a:solidFill>
                <a:latin typeface="Calibri"/>
                <a:ea typeface="Calibri"/>
                <a:cs typeface="Calibri"/>
              </a:rPr>
              <a:t> the labor or </a:t>
            </a:r>
            <a:r>
              <a:rPr lang="pt-BR" err="1">
                <a:solidFill>
                  <a:schemeClr val="tx1"/>
                </a:solidFill>
                <a:latin typeface="Calibri"/>
                <a:ea typeface="Calibri"/>
                <a:cs typeface="Calibri"/>
              </a:rPr>
              <a:t>production</a:t>
            </a:r>
            <a:r>
              <a:rPr lang="pt-BR">
                <a:solidFill>
                  <a:schemeClr val="tx1"/>
                </a:solidFill>
                <a:latin typeface="Calibri"/>
                <a:ea typeface="Calibri"/>
                <a:cs typeface="Calibri"/>
              </a:rPr>
              <a:t> cost of </a:t>
            </a:r>
            <a:r>
              <a:rPr lang="pt-BR" err="1">
                <a:solidFill>
                  <a:schemeClr val="tx1"/>
                </a:solidFill>
                <a:latin typeface="Calibri"/>
                <a:ea typeface="Calibri"/>
                <a:cs typeface="Calibri"/>
              </a:rPr>
              <a:t>those</a:t>
            </a:r>
            <a:r>
              <a:rPr lang="pt-BR">
                <a:solidFill>
                  <a:schemeClr val="tx1"/>
                </a:solidFill>
                <a:latin typeface="Calibri"/>
                <a:ea typeface="Calibri"/>
                <a:cs typeface="Calibri"/>
              </a:rPr>
              <a:t> countries. </a:t>
            </a:r>
            <a:r>
              <a:rPr lang="pt-BR" err="1">
                <a:solidFill>
                  <a:schemeClr val="tx1"/>
                </a:solidFill>
                <a:latin typeface="Calibri"/>
                <a:ea typeface="Calibri"/>
                <a:cs typeface="Calibri"/>
              </a:rPr>
              <a:t>Although</a:t>
            </a:r>
            <a:r>
              <a:rPr lang="pt-BR">
                <a:solidFill>
                  <a:schemeClr val="tx1"/>
                </a:solidFill>
                <a:latin typeface="Calibri"/>
                <a:ea typeface="Calibri"/>
                <a:cs typeface="Calibri"/>
              </a:rPr>
              <a:t>, </a:t>
            </a:r>
            <a:r>
              <a:rPr lang="pt-BR" err="1">
                <a:solidFill>
                  <a:schemeClr val="tx1"/>
                </a:solidFill>
                <a:latin typeface="Calibri"/>
                <a:ea typeface="Calibri"/>
                <a:cs typeface="Calibri"/>
              </a:rPr>
              <a:t>entering</a:t>
            </a:r>
            <a:r>
              <a:rPr lang="pt-BR">
                <a:solidFill>
                  <a:schemeClr val="tx1"/>
                </a:solidFill>
                <a:latin typeface="Calibri"/>
                <a:ea typeface="Calibri"/>
                <a:cs typeface="Calibri"/>
              </a:rPr>
              <a:t> </a:t>
            </a:r>
            <a:r>
              <a:rPr lang="pt-BR" err="1">
                <a:solidFill>
                  <a:schemeClr val="tx1"/>
                </a:solidFill>
                <a:latin typeface="Calibri"/>
                <a:ea typeface="Calibri"/>
                <a:cs typeface="Calibri"/>
              </a:rPr>
              <a:t>these</a:t>
            </a:r>
            <a:r>
              <a:rPr lang="pt-BR">
                <a:solidFill>
                  <a:schemeClr val="tx1"/>
                </a:solidFill>
                <a:latin typeface="Calibri"/>
                <a:ea typeface="Calibri"/>
                <a:cs typeface="Calibri"/>
              </a:rPr>
              <a:t> </a:t>
            </a:r>
            <a:r>
              <a:rPr lang="pt-BR" err="1">
                <a:solidFill>
                  <a:schemeClr val="tx1"/>
                </a:solidFill>
                <a:latin typeface="Calibri"/>
                <a:ea typeface="Calibri"/>
                <a:cs typeface="Calibri"/>
              </a:rPr>
              <a:t>markets</a:t>
            </a:r>
            <a:r>
              <a:rPr lang="pt-BR">
                <a:solidFill>
                  <a:schemeClr val="tx1"/>
                </a:solidFill>
                <a:latin typeface="Calibri"/>
                <a:ea typeface="Calibri"/>
                <a:cs typeface="Calibri"/>
              </a:rPr>
              <a:t> </a:t>
            </a:r>
            <a:r>
              <a:rPr lang="pt-BR" err="1">
                <a:solidFill>
                  <a:schemeClr val="tx1"/>
                </a:solidFill>
                <a:latin typeface="Calibri"/>
                <a:ea typeface="Calibri"/>
                <a:cs typeface="Calibri"/>
              </a:rPr>
              <a:t>could</a:t>
            </a:r>
            <a:r>
              <a:rPr lang="pt-BR">
                <a:solidFill>
                  <a:schemeClr val="tx1"/>
                </a:solidFill>
                <a:latin typeface="Calibri"/>
                <a:ea typeface="Calibri"/>
                <a:cs typeface="Calibri"/>
              </a:rPr>
              <a:t> </a:t>
            </a:r>
            <a:r>
              <a:rPr lang="pt-BR" err="1">
                <a:solidFill>
                  <a:schemeClr val="tx1"/>
                </a:solidFill>
                <a:latin typeface="Calibri"/>
                <a:ea typeface="Calibri"/>
                <a:cs typeface="Calibri"/>
              </a:rPr>
              <a:t>add</a:t>
            </a:r>
            <a:r>
              <a:rPr lang="pt-BR">
                <a:solidFill>
                  <a:schemeClr val="tx1"/>
                </a:solidFill>
                <a:latin typeface="Calibri"/>
                <a:ea typeface="Calibri"/>
                <a:cs typeface="Calibri"/>
              </a:rPr>
              <a:t> </a:t>
            </a:r>
            <a:r>
              <a:rPr lang="pt-BR" err="1">
                <a:solidFill>
                  <a:schemeClr val="tx1"/>
                </a:solidFill>
                <a:latin typeface="Calibri"/>
                <a:ea typeface="Calibri"/>
                <a:cs typeface="Calibri"/>
              </a:rPr>
              <a:t>significant</a:t>
            </a:r>
            <a:r>
              <a:rPr lang="pt-BR">
                <a:solidFill>
                  <a:schemeClr val="tx1"/>
                </a:solidFill>
                <a:latin typeface="Calibri"/>
                <a:ea typeface="Calibri"/>
                <a:cs typeface="Calibri"/>
              </a:rPr>
              <a:t> </a:t>
            </a:r>
            <a:r>
              <a:rPr lang="pt-BR" err="1">
                <a:solidFill>
                  <a:schemeClr val="tx1"/>
                </a:solidFill>
                <a:latin typeface="Calibri"/>
                <a:ea typeface="Calibri"/>
                <a:cs typeface="Calibri"/>
              </a:rPr>
              <a:t>value</a:t>
            </a:r>
            <a:r>
              <a:rPr lang="pt-BR">
                <a:solidFill>
                  <a:schemeClr val="tx1"/>
                </a:solidFill>
                <a:latin typeface="Calibri"/>
                <a:ea typeface="Calibri"/>
                <a:cs typeface="Calibri"/>
              </a:rPr>
              <a:t> to WEG. </a:t>
            </a:r>
            <a:r>
              <a:rPr lang="pt-BR" err="1">
                <a:solidFill>
                  <a:schemeClr val="tx1"/>
                </a:solidFill>
                <a:latin typeface="Calibri"/>
                <a:ea typeface="Calibri"/>
                <a:cs typeface="Calibri"/>
              </a:rPr>
              <a:t>This</a:t>
            </a:r>
            <a:r>
              <a:rPr lang="pt-BR">
                <a:solidFill>
                  <a:schemeClr val="tx1"/>
                </a:solidFill>
                <a:latin typeface="Calibri"/>
                <a:ea typeface="Calibri"/>
                <a:cs typeface="Calibri"/>
              </a:rPr>
              <a:t> </a:t>
            </a:r>
            <a:r>
              <a:rPr lang="pt-BR" err="1">
                <a:solidFill>
                  <a:schemeClr val="tx1"/>
                </a:solidFill>
                <a:latin typeface="Calibri"/>
                <a:ea typeface="Calibri"/>
                <a:cs typeface="Calibri"/>
              </a:rPr>
              <a:t>potential</a:t>
            </a:r>
            <a:r>
              <a:rPr lang="pt-BR">
                <a:solidFill>
                  <a:schemeClr val="tx1"/>
                </a:solidFill>
                <a:latin typeface="Calibri"/>
                <a:ea typeface="Calibri"/>
                <a:cs typeface="Calibri"/>
              </a:rPr>
              <a:t> </a:t>
            </a:r>
            <a:r>
              <a:rPr lang="pt-BR" err="1">
                <a:solidFill>
                  <a:schemeClr val="tx1"/>
                </a:solidFill>
                <a:latin typeface="Calibri"/>
                <a:ea typeface="Calibri"/>
                <a:cs typeface="Calibri"/>
              </a:rPr>
              <a:t>isn’t</a:t>
            </a:r>
            <a:r>
              <a:rPr lang="pt-BR">
                <a:solidFill>
                  <a:schemeClr val="tx1"/>
                </a:solidFill>
                <a:latin typeface="Calibri"/>
                <a:ea typeface="Calibri"/>
                <a:cs typeface="Calibri"/>
              </a:rPr>
              <a:t> </a:t>
            </a:r>
            <a:r>
              <a:rPr lang="pt-BR" err="1">
                <a:solidFill>
                  <a:schemeClr val="tx1"/>
                </a:solidFill>
                <a:latin typeface="Calibri"/>
                <a:ea typeface="Calibri"/>
                <a:cs typeface="Calibri"/>
              </a:rPr>
              <a:t>fully</a:t>
            </a:r>
            <a:r>
              <a:rPr lang="pt-BR">
                <a:solidFill>
                  <a:schemeClr val="tx1"/>
                </a:solidFill>
                <a:latin typeface="Calibri"/>
                <a:ea typeface="Calibri"/>
                <a:cs typeface="Calibri"/>
              </a:rPr>
              <a:t> </a:t>
            </a:r>
            <a:r>
              <a:rPr lang="pt-BR" err="1">
                <a:solidFill>
                  <a:schemeClr val="tx1"/>
                </a:solidFill>
                <a:latin typeface="Calibri"/>
                <a:ea typeface="Calibri"/>
                <a:cs typeface="Calibri"/>
              </a:rPr>
              <a:t>computed</a:t>
            </a:r>
            <a:r>
              <a:rPr lang="pt-BR">
                <a:solidFill>
                  <a:schemeClr val="tx1"/>
                </a:solidFill>
                <a:latin typeface="Calibri"/>
                <a:ea typeface="Calibri"/>
                <a:cs typeface="Calibri"/>
              </a:rPr>
              <a:t>, </a:t>
            </a:r>
            <a:r>
              <a:rPr lang="pt-BR" err="1">
                <a:solidFill>
                  <a:schemeClr val="tx1"/>
                </a:solidFill>
                <a:latin typeface="Calibri"/>
                <a:ea typeface="Calibri"/>
                <a:cs typeface="Calibri"/>
              </a:rPr>
              <a:t>due</a:t>
            </a:r>
            <a:r>
              <a:rPr lang="pt-BR">
                <a:solidFill>
                  <a:schemeClr val="tx1"/>
                </a:solidFill>
                <a:latin typeface="Calibri"/>
                <a:ea typeface="Calibri"/>
                <a:cs typeface="Calibri"/>
              </a:rPr>
              <a:t> to a more </a:t>
            </a:r>
            <a:r>
              <a:rPr lang="pt-BR" err="1">
                <a:solidFill>
                  <a:schemeClr val="tx1"/>
                </a:solidFill>
                <a:latin typeface="Calibri"/>
                <a:ea typeface="Calibri"/>
                <a:cs typeface="Calibri"/>
              </a:rPr>
              <a:t>consertive</a:t>
            </a:r>
            <a:r>
              <a:rPr lang="pt-BR">
                <a:solidFill>
                  <a:schemeClr val="tx1"/>
                </a:solidFill>
                <a:latin typeface="Calibri"/>
                <a:ea typeface="Calibri"/>
                <a:cs typeface="Calibri"/>
              </a:rPr>
              <a:t> </a:t>
            </a:r>
            <a:r>
              <a:rPr lang="pt-BR" err="1">
                <a:solidFill>
                  <a:schemeClr val="tx1"/>
                </a:solidFill>
                <a:latin typeface="Calibri"/>
                <a:ea typeface="Calibri"/>
                <a:cs typeface="Calibri"/>
              </a:rPr>
              <a:t>view</a:t>
            </a:r>
            <a:r>
              <a:rPr lang="pt-BR">
                <a:solidFill>
                  <a:schemeClr val="tx1"/>
                </a:solidFill>
                <a:latin typeface="Calibri"/>
                <a:ea typeface="Calibri"/>
                <a:cs typeface="Calibri"/>
              </a:rPr>
              <a:t> of </a:t>
            </a:r>
            <a:r>
              <a:rPr lang="pt-BR" err="1">
                <a:solidFill>
                  <a:schemeClr val="tx1"/>
                </a:solidFill>
                <a:latin typeface="Calibri"/>
                <a:ea typeface="Calibri"/>
                <a:cs typeface="Calibri"/>
              </a:rPr>
              <a:t>emerging</a:t>
            </a:r>
            <a:r>
              <a:rPr lang="pt-BR">
                <a:solidFill>
                  <a:schemeClr val="tx1"/>
                </a:solidFill>
                <a:latin typeface="Calibri"/>
                <a:ea typeface="Calibri"/>
                <a:cs typeface="Calibri"/>
              </a:rPr>
              <a:t> </a:t>
            </a:r>
            <a:r>
              <a:rPr lang="pt-BR" err="1">
                <a:solidFill>
                  <a:schemeClr val="tx1"/>
                </a:solidFill>
                <a:latin typeface="Calibri"/>
                <a:ea typeface="Calibri"/>
                <a:cs typeface="Calibri"/>
              </a:rPr>
              <a:t>market</a:t>
            </a:r>
            <a:r>
              <a:rPr lang="pt-BR">
                <a:solidFill>
                  <a:schemeClr val="tx1"/>
                </a:solidFill>
                <a:latin typeface="Calibri"/>
                <a:ea typeface="Calibri"/>
                <a:cs typeface="Calibri"/>
              </a:rPr>
              <a:t> </a:t>
            </a:r>
            <a:r>
              <a:rPr lang="pt-BR" err="1">
                <a:solidFill>
                  <a:schemeClr val="tx1"/>
                </a:solidFill>
                <a:latin typeface="Calibri"/>
                <a:ea typeface="Calibri"/>
                <a:cs typeface="Calibri"/>
              </a:rPr>
              <a:t>growth</a:t>
            </a:r>
            <a:r>
              <a:rPr lang="pt-BR">
                <a:solidFill>
                  <a:schemeClr val="accent1"/>
                </a:solidFill>
                <a:latin typeface="Calibri"/>
                <a:ea typeface="Calibri"/>
                <a:cs typeface="Calibri"/>
              </a:rPr>
              <a:t>. </a:t>
            </a:r>
            <a:r>
              <a:rPr lang="pt-BR">
                <a:solidFill>
                  <a:schemeClr val="tx1"/>
                </a:solidFill>
                <a:latin typeface="Calibri"/>
                <a:ea typeface="Calibri"/>
                <a:cs typeface="Calibri"/>
              </a:rPr>
              <a:t>For </a:t>
            </a:r>
            <a:r>
              <a:rPr lang="pt-BR" err="1">
                <a:solidFill>
                  <a:schemeClr val="tx1"/>
                </a:solidFill>
                <a:latin typeface="Calibri"/>
                <a:ea typeface="Calibri"/>
                <a:cs typeface="Calibri"/>
              </a:rPr>
              <a:t>instance</a:t>
            </a:r>
            <a:r>
              <a:rPr lang="pt-BR">
                <a:solidFill>
                  <a:schemeClr val="tx1"/>
                </a:solidFill>
                <a:latin typeface="Calibri"/>
                <a:ea typeface="Calibri"/>
                <a:cs typeface="Calibri"/>
              </a:rPr>
              <a:t>, </a:t>
            </a:r>
            <a:r>
              <a:rPr lang="pt-BR">
                <a:latin typeface="Calibri"/>
                <a:ea typeface="Calibri"/>
                <a:cs typeface="Calibri"/>
              </a:rPr>
              <a:t>UBS </a:t>
            </a:r>
            <a:r>
              <a:rPr lang="pt-BR" err="1">
                <a:latin typeface="Calibri"/>
                <a:ea typeface="Calibri"/>
                <a:cs typeface="Calibri"/>
              </a:rPr>
              <a:t>research</a:t>
            </a:r>
            <a:r>
              <a:rPr lang="pt-BR">
                <a:latin typeface="Calibri"/>
                <a:ea typeface="Calibri"/>
                <a:cs typeface="Calibri"/>
              </a:rPr>
              <a:t> </a:t>
            </a:r>
            <a:r>
              <a:rPr lang="pt-BR" err="1">
                <a:latin typeface="Calibri"/>
                <a:ea typeface="Calibri"/>
                <a:cs typeface="Calibri"/>
              </a:rPr>
              <a:t>indicates</a:t>
            </a:r>
            <a:r>
              <a:rPr lang="pt-BR">
                <a:latin typeface="Calibri"/>
                <a:ea typeface="Calibri"/>
                <a:cs typeface="Calibri"/>
              </a:rPr>
              <a:t> that </a:t>
            </a:r>
            <a:r>
              <a:rPr lang="pt-BR" err="1">
                <a:latin typeface="Calibri"/>
                <a:ea typeface="Calibri"/>
                <a:cs typeface="Calibri"/>
              </a:rPr>
              <a:t>analysts</a:t>
            </a:r>
            <a:r>
              <a:rPr lang="pt-BR">
                <a:latin typeface="Calibri"/>
                <a:ea typeface="Calibri"/>
                <a:cs typeface="Calibri"/>
              </a:rPr>
              <a:t> </a:t>
            </a:r>
            <a:r>
              <a:rPr lang="pt-BR" err="1">
                <a:latin typeface="Calibri"/>
                <a:ea typeface="Calibri"/>
                <a:cs typeface="Calibri"/>
              </a:rPr>
              <a:t>remain</a:t>
            </a:r>
            <a:r>
              <a:rPr lang="pt-BR">
                <a:latin typeface="Calibri"/>
                <a:ea typeface="Calibri"/>
                <a:cs typeface="Calibri"/>
              </a:rPr>
              <a:t> </a:t>
            </a:r>
            <a:r>
              <a:rPr lang="pt-BR" err="1">
                <a:latin typeface="Calibri"/>
                <a:ea typeface="Calibri"/>
                <a:cs typeface="Calibri"/>
              </a:rPr>
              <a:t>skeptical</a:t>
            </a:r>
            <a:r>
              <a:rPr lang="pt-BR">
                <a:latin typeface="Calibri"/>
                <a:ea typeface="Calibri"/>
                <a:cs typeface="Calibri"/>
              </a:rPr>
              <a:t> </a:t>
            </a:r>
            <a:r>
              <a:rPr lang="pt-BR" err="1">
                <a:latin typeface="Calibri"/>
                <a:ea typeface="Calibri"/>
                <a:cs typeface="Calibri"/>
              </a:rPr>
              <a:t>about</a:t>
            </a:r>
            <a:r>
              <a:rPr lang="pt-BR">
                <a:latin typeface="Calibri"/>
                <a:ea typeface="Calibri"/>
                <a:cs typeface="Calibri"/>
              </a:rPr>
              <a:t> </a:t>
            </a:r>
            <a:r>
              <a:rPr lang="pt-BR" err="1">
                <a:latin typeface="Calibri"/>
                <a:ea typeface="Calibri"/>
                <a:cs typeface="Calibri"/>
              </a:rPr>
              <a:t>whether</a:t>
            </a:r>
            <a:r>
              <a:rPr lang="pt-BR">
                <a:latin typeface="Calibri"/>
                <a:ea typeface="Calibri"/>
                <a:cs typeface="Calibri"/>
              </a:rPr>
              <a:t> the Indian </a:t>
            </a:r>
            <a:r>
              <a:rPr lang="pt-BR" err="1">
                <a:latin typeface="Calibri"/>
                <a:ea typeface="Calibri"/>
                <a:cs typeface="Calibri"/>
              </a:rPr>
              <a:t>government</a:t>
            </a:r>
            <a:r>
              <a:rPr lang="pt-BR">
                <a:latin typeface="Calibri"/>
                <a:ea typeface="Calibri"/>
                <a:cs typeface="Calibri"/>
              </a:rPr>
              <a:t> </a:t>
            </a:r>
            <a:r>
              <a:rPr lang="pt-BR" err="1">
                <a:latin typeface="Calibri"/>
                <a:ea typeface="Calibri"/>
                <a:cs typeface="Calibri"/>
              </a:rPr>
              <a:t>will</a:t>
            </a:r>
            <a:r>
              <a:rPr lang="pt-BR">
                <a:latin typeface="Calibri"/>
                <a:ea typeface="Calibri"/>
                <a:cs typeface="Calibri"/>
              </a:rPr>
              <a:t> </a:t>
            </a:r>
            <a:r>
              <a:rPr lang="pt-BR" err="1">
                <a:latin typeface="Calibri"/>
                <a:ea typeface="Calibri"/>
                <a:cs typeface="Calibri"/>
              </a:rPr>
              <a:t>soon</a:t>
            </a:r>
            <a:r>
              <a:rPr lang="pt-BR">
                <a:latin typeface="Calibri"/>
                <a:ea typeface="Calibri"/>
                <a:cs typeface="Calibri"/>
              </a:rPr>
              <a:t> shift </a:t>
            </a:r>
            <a:r>
              <a:rPr lang="pt-BR" err="1">
                <a:latin typeface="Calibri"/>
                <a:ea typeface="Calibri"/>
                <a:cs typeface="Calibri"/>
              </a:rPr>
              <a:t>back</a:t>
            </a:r>
            <a:r>
              <a:rPr lang="pt-BR">
                <a:latin typeface="Calibri"/>
                <a:ea typeface="Calibri"/>
                <a:cs typeface="Calibri"/>
              </a:rPr>
              <a:t> to a </a:t>
            </a:r>
            <a:r>
              <a:rPr lang="pt-BR" err="1">
                <a:latin typeface="Calibri"/>
                <a:ea typeface="Calibri"/>
                <a:cs typeface="Calibri"/>
              </a:rPr>
              <a:t>growth</a:t>
            </a:r>
            <a:r>
              <a:rPr lang="pt-BR">
                <a:latin typeface="Calibri"/>
                <a:ea typeface="Calibri"/>
                <a:cs typeface="Calibri"/>
              </a:rPr>
              <a:t> or </a:t>
            </a:r>
            <a:r>
              <a:rPr lang="pt-BR" err="1">
                <a:latin typeface="Calibri"/>
                <a:ea typeface="Calibri"/>
                <a:cs typeface="Calibri"/>
              </a:rPr>
              <a:t>investment-oriented</a:t>
            </a:r>
            <a:r>
              <a:rPr lang="pt-BR">
                <a:latin typeface="Calibri"/>
                <a:ea typeface="Calibri"/>
                <a:cs typeface="Calibri"/>
              </a:rPr>
              <a:t> approach. </a:t>
            </a:r>
            <a:r>
              <a:rPr lang="pt-BR" err="1">
                <a:latin typeface="Calibri"/>
                <a:ea typeface="Calibri"/>
                <a:cs typeface="Calibri"/>
              </a:rPr>
              <a:t>Additionally</a:t>
            </a:r>
            <a:r>
              <a:rPr lang="pt-BR">
                <a:latin typeface="Calibri"/>
                <a:ea typeface="Calibri"/>
                <a:cs typeface="Calibri"/>
              </a:rPr>
              <a:t>, </a:t>
            </a:r>
            <a:r>
              <a:rPr lang="pt-BR" err="1">
                <a:latin typeface="Calibri"/>
                <a:ea typeface="Calibri"/>
                <a:cs typeface="Calibri"/>
              </a:rPr>
              <a:t>there</a:t>
            </a:r>
            <a:r>
              <a:rPr lang="pt-BR">
                <a:latin typeface="Calibri"/>
                <a:ea typeface="Calibri"/>
                <a:cs typeface="Calibri"/>
              </a:rPr>
              <a:t> </a:t>
            </a:r>
            <a:r>
              <a:rPr lang="pt-BR" err="1">
                <a:latin typeface="Calibri"/>
                <a:ea typeface="Calibri"/>
                <a:cs typeface="Calibri"/>
              </a:rPr>
              <a:t>is</a:t>
            </a:r>
            <a:r>
              <a:rPr lang="pt-BR">
                <a:latin typeface="Calibri"/>
                <a:ea typeface="Calibri"/>
                <a:cs typeface="Calibri"/>
              </a:rPr>
              <a:t> </a:t>
            </a:r>
            <a:r>
              <a:rPr lang="pt-BR" err="1">
                <a:latin typeface="Calibri"/>
                <a:ea typeface="Calibri"/>
                <a:cs typeface="Calibri"/>
              </a:rPr>
              <a:t>concern</a:t>
            </a:r>
            <a:r>
              <a:rPr lang="pt-BR">
                <a:latin typeface="Calibri"/>
                <a:ea typeface="Calibri"/>
                <a:cs typeface="Calibri"/>
              </a:rPr>
              <a:t> </a:t>
            </a:r>
            <a:r>
              <a:rPr lang="pt-BR" err="1">
                <a:latin typeface="Calibri"/>
                <a:ea typeface="Calibri"/>
                <a:cs typeface="Calibri"/>
              </a:rPr>
              <a:t>about</a:t>
            </a:r>
            <a:r>
              <a:rPr lang="pt-BR">
                <a:latin typeface="Calibri"/>
                <a:ea typeface="Calibri"/>
                <a:cs typeface="Calibri"/>
              </a:rPr>
              <a:t> the </a:t>
            </a:r>
            <a:r>
              <a:rPr lang="pt-BR" err="1">
                <a:latin typeface="Calibri"/>
                <a:ea typeface="Calibri"/>
                <a:cs typeface="Calibri"/>
              </a:rPr>
              <a:t>sustainability</a:t>
            </a:r>
            <a:r>
              <a:rPr lang="pt-BR">
                <a:latin typeface="Calibri"/>
                <a:ea typeface="Calibri"/>
                <a:cs typeface="Calibri"/>
              </a:rPr>
              <a:t> of GDP </a:t>
            </a:r>
            <a:r>
              <a:rPr lang="pt-BR" err="1">
                <a:latin typeface="Calibri"/>
                <a:ea typeface="Calibri"/>
                <a:cs typeface="Calibri"/>
              </a:rPr>
              <a:t>growth</a:t>
            </a:r>
            <a:r>
              <a:rPr lang="pt-BR">
                <a:latin typeface="Calibri"/>
                <a:ea typeface="Calibri"/>
                <a:cs typeface="Calibri"/>
              </a:rPr>
              <a:t> in Mexico and North </a:t>
            </a:r>
            <a:r>
              <a:rPr lang="pt-BR" err="1">
                <a:latin typeface="Calibri"/>
                <a:ea typeface="Calibri"/>
                <a:cs typeface="Calibri"/>
              </a:rPr>
              <a:t>Africa</a:t>
            </a:r>
            <a:r>
              <a:rPr lang="pt-BR">
                <a:latin typeface="Calibri"/>
                <a:ea typeface="Calibri"/>
                <a:cs typeface="Calibri"/>
              </a:rPr>
              <a:t>, </a:t>
            </a:r>
            <a:r>
              <a:rPr lang="pt-BR" err="1">
                <a:latin typeface="Calibri"/>
                <a:ea typeface="Calibri"/>
                <a:cs typeface="Calibri"/>
              </a:rPr>
              <a:t>due</a:t>
            </a:r>
            <a:r>
              <a:rPr lang="pt-BR">
                <a:latin typeface="Calibri"/>
                <a:ea typeface="Calibri"/>
                <a:cs typeface="Calibri"/>
              </a:rPr>
              <a:t> to the impact of </a:t>
            </a:r>
            <a:r>
              <a:rPr lang="pt-BR" err="1">
                <a:latin typeface="Calibri"/>
                <a:ea typeface="Calibri"/>
                <a:cs typeface="Calibri"/>
              </a:rPr>
              <a:t>Trumponomics</a:t>
            </a:r>
            <a:r>
              <a:rPr lang="pt-BR">
                <a:latin typeface="Calibri"/>
                <a:ea typeface="Calibri"/>
                <a:cs typeface="Calibri"/>
              </a:rPr>
              <a:t> and ongoing regional </a:t>
            </a:r>
            <a:r>
              <a:rPr lang="pt-BR" err="1">
                <a:latin typeface="Calibri"/>
                <a:ea typeface="Calibri"/>
                <a:cs typeface="Calibri"/>
              </a:rPr>
              <a:t>conflicts</a:t>
            </a:r>
            <a:r>
              <a:rPr lang="pt-BR">
                <a:latin typeface="Calibri"/>
                <a:ea typeface="Calibri"/>
                <a:cs typeface="Calibri"/>
              </a:rPr>
              <a:t>, </a:t>
            </a:r>
            <a:r>
              <a:rPr lang="pt-BR" err="1">
                <a:latin typeface="Calibri"/>
                <a:ea typeface="Calibri"/>
                <a:cs typeface="Calibri"/>
              </a:rPr>
              <a:t>respectively</a:t>
            </a:r>
            <a:r>
              <a:rPr lang="pt-BR">
                <a:latin typeface="Calibri"/>
                <a:ea typeface="Calibri"/>
                <a:cs typeface="Calibri"/>
              </a:rPr>
              <a:t>. Both </a:t>
            </a:r>
            <a:r>
              <a:rPr lang="pt-BR" err="1">
                <a:latin typeface="Calibri"/>
                <a:ea typeface="Calibri"/>
                <a:cs typeface="Calibri"/>
              </a:rPr>
              <a:t>factors</a:t>
            </a:r>
            <a:r>
              <a:rPr lang="pt-BR">
                <a:latin typeface="Calibri"/>
                <a:ea typeface="Calibri"/>
                <a:cs typeface="Calibri"/>
              </a:rPr>
              <a:t> </a:t>
            </a:r>
            <a:r>
              <a:rPr lang="pt-BR" err="1">
                <a:latin typeface="Calibri"/>
                <a:ea typeface="Calibri"/>
                <a:cs typeface="Calibri"/>
              </a:rPr>
              <a:t>tend</a:t>
            </a:r>
            <a:r>
              <a:rPr lang="pt-BR">
                <a:latin typeface="Calibri"/>
                <a:ea typeface="Calibri"/>
                <a:cs typeface="Calibri"/>
              </a:rPr>
              <a:t> to </a:t>
            </a:r>
            <a:r>
              <a:rPr lang="pt-BR" err="1">
                <a:latin typeface="Calibri"/>
                <a:ea typeface="Calibri"/>
                <a:cs typeface="Calibri"/>
              </a:rPr>
              <a:t>obscure</a:t>
            </a:r>
            <a:r>
              <a:rPr lang="pt-BR">
                <a:latin typeface="Calibri"/>
                <a:ea typeface="Calibri"/>
                <a:cs typeface="Calibri"/>
              </a:rPr>
              <a:t> real </a:t>
            </a:r>
            <a:r>
              <a:rPr lang="pt-BR" err="1">
                <a:latin typeface="Calibri"/>
                <a:ea typeface="Calibri"/>
                <a:cs typeface="Calibri"/>
              </a:rPr>
              <a:t>opportunities</a:t>
            </a:r>
            <a:r>
              <a:rPr lang="pt-BR">
                <a:latin typeface="Calibri"/>
                <a:ea typeface="Calibri"/>
                <a:cs typeface="Calibri"/>
              </a:rPr>
              <a:t> for WEG.</a:t>
            </a:r>
          </a:p>
          <a:p>
            <a:pPr algn="just"/>
            <a:r>
              <a:rPr lang="pt-BR" b="1">
                <a:solidFill>
                  <a:schemeClr val="accent1"/>
                </a:solidFill>
                <a:latin typeface="+mj-lt"/>
                <a:ea typeface="Calibri"/>
                <a:cs typeface="Calibri"/>
              </a:rPr>
              <a:t>A more </a:t>
            </a:r>
            <a:r>
              <a:rPr lang="pt-BR" b="1" err="1">
                <a:solidFill>
                  <a:schemeClr val="accent1"/>
                </a:solidFill>
                <a:latin typeface="+mj-lt"/>
                <a:ea typeface="Calibri"/>
                <a:cs typeface="Calibri"/>
              </a:rPr>
              <a:t>optimistic</a:t>
            </a:r>
            <a:r>
              <a:rPr lang="pt-BR" b="1">
                <a:solidFill>
                  <a:schemeClr val="accent1"/>
                </a:solidFill>
                <a:latin typeface="+mj-lt"/>
                <a:ea typeface="Calibri"/>
                <a:cs typeface="Calibri"/>
              </a:rPr>
              <a:t> approach: </a:t>
            </a:r>
            <a:r>
              <a:rPr lang="pt-BR" sz="800" err="1">
                <a:solidFill>
                  <a:schemeClr val="tx1"/>
                </a:solidFill>
                <a:latin typeface="+mj-lt"/>
                <a:ea typeface="+mn-lt"/>
                <a:cs typeface="+mn-lt"/>
              </a:rPr>
              <a:t>Despite</a:t>
            </a:r>
            <a:r>
              <a:rPr lang="pt-BR" sz="800">
                <a:solidFill>
                  <a:schemeClr val="tx1"/>
                </a:solidFill>
                <a:latin typeface="+mj-lt"/>
                <a:ea typeface="+mn-lt"/>
                <a:cs typeface="+mn-lt"/>
              </a:rPr>
              <a:t> </a:t>
            </a:r>
            <a:r>
              <a:rPr lang="pt-BR" sz="800" err="1">
                <a:solidFill>
                  <a:schemeClr val="tx1"/>
                </a:solidFill>
                <a:latin typeface="+mj-lt"/>
                <a:ea typeface="+mn-lt"/>
                <a:cs typeface="+mn-lt"/>
              </a:rPr>
              <a:t>market</a:t>
            </a:r>
            <a:r>
              <a:rPr lang="pt-BR" sz="800">
                <a:solidFill>
                  <a:schemeClr val="tx1"/>
                </a:solidFill>
                <a:latin typeface="+mj-lt"/>
                <a:ea typeface="+mn-lt"/>
                <a:cs typeface="+mn-lt"/>
              </a:rPr>
              <a:t> expectations of </a:t>
            </a:r>
            <a:r>
              <a:rPr lang="pt-BR" sz="800" err="1">
                <a:solidFill>
                  <a:schemeClr val="tx1"/>
                </a:solidFill>
                <a:latin typeface="+mj-lt"/>
                <a:ea typeface="+mn-lt"/>
                <a:cs typeface="+mn-lt"/>
              </a:rPr>
              <a:t>slow</a:t>
            </a:r>
            <a:r>
              <a:rPr lang="pt-BR" sz="800">
                <a:solidFill>
                  <a:schemeClr val="tx1"/>
                </a:solidFill>
                <a:latin typeface="+mj-lt"/>
                <a:ea typeface="+mn-lt"/>
                <a:cs typeface="+mn-lt"/>
              </a:rPr>
              <a:t> </a:t>
            </a:r>
            <a:r>
              <a:rPr lang="pt-BR" sz="800" err="1">
                <a:solidFill>
                  <a:schemeClr val="tx1"/>
                </a:solidFill>
                <a:latin typeface="+mj-lt"/>
                <a:ea typeface="+mn-lt"/>
                <a:cs typeface="+mn-lt"/>
              </a:rPr>
              <a:t>growth</a:t>
            </a:r>
            <a:r>
              <a:rPr lang="pt-BR" sz="800">
                <a:solidFill>
                  <a:schemeClr val="tx1"/>
                </a:solidFill>
                <a:latin typeface="+mj-lt"/>
                <a:ea typeface="+mn-lt"/>
                <a:cs typeface="+mn-lt"/>
              </a:rPr>
              <a:t> in </a:t>
            </a:r>
            <a:r>
              <a:rPr lang="pt-BR" sz="800" err="1">
                <a:solidFill>
                  <a:schemeClr val="tx1"/>
                </a:solidFill>
                <a:latin typeface="+mj-lt"/>
                <a:ea typeface="+mn-lt"/>
                <a:cs typeface="+mn-lt"/>
              </a:rPr>
              <a:t>emerging</a:t>
            </a:r>
            <a:r>
              <a:rPr lang="pt-BR" sz="800">
                <a:solidFill>
                  <a:schemeClr val="tx1"/>
                </a:solidFill>
                <a:latin typeface="+mj-lt"/>
                <a:ea typeface="+mn-lt"/>
                <a:cs typeface="+mn-lt"/>
              </a:rPr>
              <a:t> </a:t>
            </a:r>
            <a:r>
              <a:rPr lang="pt-BR" sz="800" err="1">
                <a:solidFill>
                  <a:schemeClr val="tx1"/>
                </a:solidFill>
                <a:latin typeface="+mj-lt"/>
                <a:ea typeface="+mn-lt"/>
                <a:cs typeface="+mn-lt"/>
              </a:rPr>
              <a:t>economies</a:t>
            </a:r>
            <a:r>
              <a:rPr lang="pt-BR" sz="800">
                <a:solidFill>
                  <a:schemeClr val="tx1"/>
                </a:solidFill>
                <a:latin typeface="+mj-lt"/>
                <a:ea typeface="+mn-lt"/>
                <a:cs typeface="+mn-lt"/>
              </a:rPr>
              <a:t>, </a:t>
            </a:r>
            <a:r>
              <a:rPr lang="pt-BR" sz="800" err="1">
                <a:solidFill>
                  <a:schemeClr val="tx1"/>
                </a:solidFill>
                <a:latin typeface="+mj-lt"/>
                <a:ea typeface="+mn-lt"/>
                <a:cs typeface="+mn-lt"/>
              </a:rPr>
              <a:t>recent</a:t>
            </a:r>
            <a:r>
              <a:rPr lang="pt-BR" sz="800">
                <a:solidFill>
                  <a:schemeClr val="tx1"/>
                </a:solidFill>
                <a:latin typeface="+mj-lt"/>
                <a:ea typeface="+mn-lt"/>
                <a:cs typeface="+mn-lt"/>
              </a:rPr>
              <a:t> data </a:t>
            </a:r>
            <a:r>
              <a:rPr lang="pt-BR" sz="800" err="1">
                <a:solidFill>
                  <a:schemeClr val="tx1"/>
                </a:solidFill>
                <a:latin typeface="+mj-lt"/>
                <a:ea typeface="+mn-lt"/>
                <a:cs typeface="+mn-lt"/>
              </a:rPr>
              <a:t>suggests</a:t>
            </a:r>
            <a:r>
              <a:rPr lang="pt-BR" sz="800">
                <a:solidFill>
                  <a:schemeClr val="tx1"/>
                </a:solidFill>
                <a:latin typeface="+mj-lt"/>
                <a:ea typeface="+mn-lt"/>
                <a:cs typeface="+mn-lt"/>
              </a:rPr>
              <a:t> </a:t>
            </a:r>
            <a:r>
              <a:rPr lang="pt-BR" sz="800" err="1">
                <a:solidFill>
                  <a:schemeClr val="tx1"/>
                </a:solidFill>
                <a:latin typeface="+mj-lt"/>
                <a:ea typeface="+mn-lt"/>
                <a:cs typeface="+mn-lt"/>
              </a:rPr>
              <a:t>otherwise</a:t>
            </a:r>
            <a:r>
              <a:rPr lang="pt-BR" sz="800">
                <a:solidFill>
                  <a:schemeClr val="tx1"/>
                </a:solidFill>
                <a:latin typeface="+mj-lt"/>
                <a:ea typeface="+mn-lt"/>
                <a:cs typeface="+mn-lt"/>
              </a:rPr>
              <a:t>. For </a:t>
            </a:r>
            <a:r>
              <a:rPr lang="pt-BR" sz="800" err="1">
                <a:solidFill>
                  <a:schemeClr val="tx1"/>
                </a:solidFill>
                <a:latin typeface="+mj-lt"/>
                <a:ea typeface="+mn-lt"/>
                <a:cs typeface="+mn-lt"/>
              </a:rPr>
              <a:t>example</a:t>
            </a:r>
            <a:r>
              <a:rPr lang="pt-BR" sz="800">
                <a:solidFill>
                  <a:schemeClr val="tx1"/>
                </a:solidFill>
                <a:latin typeface="+mj-lt"/>
                <a:ea typeface="+mn-lt"/>
                <a:cs typeface="+mn-lt"/>
              </a:rPr>
              <a:t>, </a:t>
            </a:r>
            <a:r>
              <a:rPr lang="pt-BR" sz="800" err="1">
                <a:solidFill>
                  <a:schemeClr val="tx1"/>
                </a:solidFill>
                <a:latin typeface="+mj-lt"/>
                <a:ea typeface="+mn-lt"/>
                <a:cs typeface="+mn-lt"/>
              </a:rPr>
              <a:t>seasonally</a:t>
            </a:r>
            <a:r>
              <a:rPr lang="pt-BR" sz="800">
                <a:solidFill>
                  <a:schemeClr val="tx1"/>
                </a:solidFill>
                <a:latin typeface="+mj-lt"/>
                <a:ea typeface="+mn-lt"/>
                <a:cs typeface="+mn-lt"/>
              </a:rPr>
              <a:t> </a:t>
            </a:r>
            <a:r>
              <a:rPr lang="pt-BR" sz="800" err="1">
                <a:solidFill>
                  <a:schemeClr val="tx1"/>
                </a:solidFill>
                <a:latin typeface="+mj-lt"/>
                <a:ea typeface="+mn-lt"/>
                <a:cs typeface="+mn-lt"/>
              </a:rPr>
              <a:t>adjusted</a:t>
            </a:r>
            <a:r>
              <a:rPr lang="pt-BR" sz="800">
                <a:solidFill>
                  <a:schemeClr val="tx1"/>
                </a:solidFill>
                <a:latin typeface="+mj-lt"/>
                <a:ea typeface="+mn-lt"/>
                <a:cs typeface="+mn-lt"/>
              </a:rPr>
              <a:t> industrial output in Mexico rose </a:t>
            </a:r>
            <a:r>
              <a:rPr lang="pt-BR" sz="800" err="1">
                <a:solidFill>
                  <a:schemeClr val="tx1"/>
                </a:solidFill>
                <a:latin typeface="+mj-lt"/>
                <a:ea typeface="+mn-lt"/>
                <a:cs typeface="+mn-lt"/>
              </a:rPr>
              <a:t>by</a:t>
            </a:r>
            <a:r>
              <a:rPr lang="pt-BR" sz="800">
                <a:solidFill>
                  <a:schemeClr val="tx1"/>
                </a:solidFill>
                <a:latin typeface="+mj-lt"/>
                <a:ea typeface="+mn-lt"/>
                <a:cs typeface="+mn-lt"/>
              </a:rPr>
              <a:t> 2.5% in </a:t>
            </a:r>
            <a:r>
              <a:rPr lang="pt-BR" sz="800" err="1">
                <a:solidFill>
                  <a:schemeClr val="tx1"/>
                </a:solidFill>
                <a:latin typeface="+mj-lt"/>
                <a:ea typeface="+mn-lt"/>
                <a:cs typeface="+mn-lt"/>
              </a:rPr>
              <a:t>February</a:t>
            </a:r>
            <a:r>
              <a:rPr lang="pt-BR" sz="800">
                <a:solidFill>
                  <a:schemeClr val="tx1"/>
                </a:solidFill>
                <a:latin typeface="+mj-lt"/>
                <a:ea typeface="+mn-lt"/>
                <a:cs typeface="+mn-lt"/>
              </a:rPr>
              <a:t>—</a:t>
            </a:r>
            <a:r>
              <a:rPr lang="pt-BR" sz="800" err="1">
                <a:solidFill>
                  <a:schemeClr val="tx1"/>
                </a:solidFill>
                <a:latin typeface="+mj-lt"/>
                <a:ea typeface="+mn-lt"/>
                <a:cs typeface="+mn-lt"/>
              </a:rPr>
              <a:t>well</a:t>
            </a:r>
            <a:r>
              <a:rPr lang="pt-BR" sz="800">
                <a:solidFill>
                  <a:schemeClr val="tx1"/>
                </a:solidFill>
                <a:latin typeface="+mj-lt"/>
                <a:ea typeface="+mn-lt"/>
                <a:cs typeface="+mn-lt"/>
              </a:rPr>
              <a:t> </a:t>
            </a:r>
            <a:r>
              <a:rPr lang="pt-BR" sz="800" err="1">
                <a:solidFill>
                  <a:schemeClr val="tx1"/>
                </a:solidFill>
                <a:latin typeface="+mj-lt"/>
                <a:ea typeface="+mn-lt"/>
                <a:cs typeface="+mn-lt"/>
              </a:rPr>
              <a:t>above</a:t>
            </a:r>
            <a:r>
              <a:rPr lang="pt-BR" sz="800">
                <a:solidFill>
                  <a:schemeClr val="tx1"/>
                </a:solidFill>
                <a:latin typeface="+mj-lt"/>
                <a:ea typeface="+mn-lt"/>
                <a:cs typeface="+mn-lt"/>
              </a:rPr>
              <a:t> the 0.1% consensus </a:t>
            </a:r>
            <a:r>
              <a:rPr lang="pt-BR" sz="800" err="1">
                <a:solidFill>
                  <a:schemeClr val="tx1"/>
                </a:solidFill>
                <a:latin typeface="+mj-lt"/>
                <a:ea typeface="+mn-lt"/>
                <a:cs typeface="+mn-lt"/>
              </a:rPr>
              <a:t>estimate</a:t>
            </a:r>
            <a:r>
              <a:rPr lang="pt-BR" sz="800">
                <a:solidFill>
                  <a:schemeClr val="tx1"/>
                </a:solidFill>
                <a:latin typeface="+mj-lt"/>
                <a:ea typeface="+mn-lt"/>
                <a:cs typeface="+mn-lt"/>
              </a:rPr>
              <a:t>. </a:t>
            </a:r>
            <a:r>
              <a:rPr lang="pt-BR" sz="800" err="1">
                <a:solidFill>
                  <a:schemeClr val="tx1"/>
                </a:solidFill>
                <a:latin typeface="+mj-lt"/>
                <a:ea typeface="+mn-lt"/>
                <a:cs typeface="+mn-lt"/>
              </a:rPr>
              <a:t>Moreover</a:t>
            </a:r>
            <a:r>
              <a:rPr lang="pt-BR" sz="800">
                <a:solidFill>
                  <a:schemeClr val="tx1"/>
                </a:solidFill>
                <a:latin typeface="+mj-lt"/>
                <a:ea typeface="+mn-lt"/>
                <a:cs typeface="+mn-lt"/>
              </a:rPr>
              <a:t>, </a:t>
            </a:r>
            <a:r>
              <a:rPr lang="pt-BR" sz="800" err="1">
                <a:solidFill>
                  <a:schemeClr val="tx1"/>
                </a:solidFill>
                <a:latin typeface="+mj-lt"/>
                <a:ea typeface="+mn-lt"/>
                <a:cs typeface="+mn-lt"/>
              </a:rPr>
              <a:t>Mexican</a:t>
            </a:r>
            <a:r>
              <a:rPr lang="pt-BR" sz="800">
                <a:solidFill>
                  <a:schemeClr val="tx1"/>
                </a:solidFill>
                <a:latin typeface="+mj-lt"/>
                <a:ea typeface="+mn-lt"/>
                <a:cs typeface="+mn-lt"/>
              </a:rPr>
              <a:t> </a:t>
            </a:r>
            <a:r>
              <a:rPr lang="pt-BR" sz="800" err="1">
                <a:solidFill>
                  <a:schemeClr val="tx1"/>
                </a:solidFill>
                <a:latin typeface="+mj-lt"/>
                <a:ea typeface="+mn-lt"/>
                <a:cs typeface="+mn-lt"/>
              </a:rPr>
              <a:t>industrialists</a:t>
            </a:r>
            <a:r>
              <a:rPr lang="pt-BR" sz="800">
                <a:solidFill>
                  <a:schemeClr val="tx1"/>
                </a:solidFill>
                <a:latin typeface="+mj-lt"/>
                <a:ea typeface="+mn-lt"/>
                <a:cs typeface="+mn-lt"/>
              </a:rPr>
              <a:t> </a:t>
            </a:r>
            <a:r>
              <a:rPr lang="pt-BR" sz="800" err="1">
                <a:solidFill>
                  <a:schemeClr val="tx1"/>
                </a:solidFill>
                <a:latin typeface="+mj-lt"/>
                <a:ea typeface="+mn-lt"/>
                <a:cs typeface="+mn-lt"/>
              </a:rPr>
              <a:t>remain</a:t>
            </a:r>
            <a:r>
              <a:rPr lang="pt-BR" sz="800">
                <a:solidFill>
                  <a:schemeClr val="tx1"/>
                </a:solidFill>
                <a:latin typeface="+mj-lt"/>
                <a:ea typeface="+mn-lt"/>
                <a:cs typeface="+mn-lt"/>
              </a:rPr>
              <a:t> </a:t>
            </a:r>
            <a:r>
              <a:rPr lang="pt-BR" sz="800" err="1">
                <a:solidFill>
                  <a:schemeClr val="tx1"/>
                </a:solidFill>
                <a:latin typeface="+mj-lt"/>
                <a:ea typeface="+mn-lt"/>
                <a:cs typeface="+mn-lt"/>
              </a:rPr>
              <a:t>optimistic</a:t>
            </a:r>
            <a:r>
              <a:rPr lang="pt-BR" sz="800">
                <a:solidFill>
                  <a:schemeClr val="tx1"/>
                </a:solidFill>
                <a:latin typeface="+mj-lt"/>
                <a:ea typeface="+mn-lt"/>
                <a:cs typeface="+mn-lt"/>
              </a:rPr>
              <a:t> </a:t>
            </a:r>
            <a:r>
              <a:rPr lang="pt-BR" sz="800" err="1">
                <a:solidFill>
                  <a:schemeClr val="tx1"/>
                </a:solidFill>
                <a:latin typeface="+mj-lt"/>
                <a:ea typeface="+mn-lt"/>
                <a:cs typeface="+mn-lt"/>
              </a:rPr>
              <a:t>about</a:t>
            </a:r>
            <a:r>
              <a:rPr lang="pt-BR" sz="800">
                <a:solidFill>
                  <a:schemeClr val="tx1"/>
                </a:solidFill>
                <a:latin typeface="+mj-lt"/>
                <a:ea typeface="+mn-lt"/>
                <a:cs typeface="+mn-lt"/>
              </a:rPr>
              <a:t> the </a:t>
            </a:r>
            <a:r>
              <a:rPr lang="pt-BR" sz="800" err="1">
                <a:solidFill>
                  <a:schemeClr val="tx1"/>
                </a:solidFill>
                <a:latin typeface="+mj-lt"/>
                <a:ea typeface="+mn-lt"/>
                <a:cs typeface="+mn-lt"/>
              </a:rPr>
              <a:t>development</a:t>
            </a:r>
            <a:r>
              <a:rPr lang="pt-BR" sz="800">
                <a:solidFill>
                  <a:schemeClr val="tx1"/>
                </a:solidFill>
                <a:latin typeface="+mj-lt"/>
                <a:ea typeface="+mn-lt"/>
                <a:cs typeface="+mn-lt"/>
              </a:rPr>
              <a:t> of </a:t>
            </a:r>
            <a:r>
              <a:rPr lang="pt-BR" sz="800" err="1">
                <a:solidFill>
                  <a:schemeClr val="tx1"/>
                </a:solidFill>
                <a:latin typeface="+mj-lt"/>
                <a:ea typeface="+mn-lt"/>
                <a:cs typeface="+mn-lt"/>
              </a:rPr>
              <a:t>domestic</a:t>
            </a:r>
            <a:r>
              <a:rPr lang="pt-BR" sz="800">
                <a:solidFill>
                  <a:schemeClr val="tx1"/>
                </a:solidFill>
                <a:latin typeface="+mj-lt"/>
                <a:ea typeface="+mn-lt"/>
                <a:cs typeface="+mn-lt"/>
              </a:rPr>
              <a:t> </a:t>
            </a:r>
            <a:r>
              <a:rPr lang="pt-BR" sz="800" err="1">
                <a:solidFill>
                  <a:schemeClr val="tx1"/>
                </a:solidFill>
                <a:latin typeface="+mj-lt"/>
                <a:ea typeface="+mn-lt"/>
                <a:cs typeface="+mn-lt"/>
              </a:rPr>
              <a:t>manufacturing</a:t>
            </a:r>
            <a:r>
              <a:rPr lang="pt-BR" sz="800">
                <a:solidFill>
                  <a:schemeClr val="tx1"/>
                </a:solidFill>
                <a:latin typeface="+mj-lt"/>
                <a:ea typeface="+mn-lt"/>
                <a:cs typeface="+mn-lt"/>
              </a:rPr>
              <a:t>, as </a:t>
            </a:r>
            <a:r>
              <a:rPr lang="pt-BR" sz="800" err="1">
                <a:solidFill>
                  <a:schemeClr val="tx1"/>
                </a:solidFill>
                <a:latin typeface="+mj-lt"/>
                <a:ea typeface="+mn-lt"/>
                <a:cs typeface="+mn-lt"/>
              </a:rPr>
              <a:t>reported</a:t>
            </a:r>
            <a:r>
              <a:rPr lang="pt-BR" sz="800">
                <a:solidFill>
                  <a:schemeClr val="tx1"/>
                </a:solidFill>
                <a:latin typeface="+mj-lt"/>
                <a:ea typeface="+mn-lt"/>
                <a:cs typeface="+mn-lt"/>
              </a:rPr>
              <a:t> </a:t>
            </a:r>
            <a:r>
              <a:rPr lang="pt-BR" sz="800" err="1">
                <a:solidFill>
                  <a:schemeClr val="tx1"/>
                </a:solidFill>
                <a:latin typeface="+mj-lt"/>
                <a:ea typeface="+mn-lt"/>
                <a:cs typeface="+mn-lt"/>
              </a:rPr>
              <a:t>by</a:t>
            </a:r>
            <a:r>
              <a:rPr lang="pt-BR" sz="800">
                <a:solidFill>
                  <a:schemeClr val="tx1"/>
                </a:solidFill>
                <a:latin typeface="+mj-lt"/>
                <a:ea typeface="+mn-lt"/>
                <a:cs typeface="+mn-lt"/>
              </a:rPr>
              <a:t> AFP. They </a:t>
            </a:r>
            <a:r>
              <a:rPr lang="pt-BR" sz="800" err="1">
                <a:solidFill>
                  <a:schemeClr val="tx1"/>
                </a:solidFill>
                <a:latin typeface="+mj-lt"/>
                <a:ea typeface="+mn-lt"/>
                <a:cs typeface="+mn-lt"/>
              </a:rPr>
              <a:t>view</a:t>
            </a:r>
            <a:r>
              <a:rPr lang="pt-BR" sz="800">
                <a:solidFill>
                  <a:schemeClr val="tx1"/>
                </a:solidFill>
                <a:latin typeface="+mj-lt"/>
                <a:ea typeface="+mn-lt"/>
                <a:cs typeface="+mn-lt"/>
              </a:rPr>
              <a:t> it as a </a:t>
            </a:r>
            <a:r>
              <a:rPr lang="pt-BR" sz="800" err="1">
                <a:solidFill>
                  <a:schemeClr val="tx1"/>
                </a:solidFill>
                <a:latin typeface="+mj-lt"/>
                <a:ea typeface="+mn-lt"/>
                <a:cs typeface="+mn-lt"/>
              </a:rPr>
              <a:t>long-term</a:t>
            </a:r>
            <a:r>
              <a:rPr lang="pt-BR" sz="800">
                <a:solidFill>
                  <a:schemeClr val="tx1"/>
                </a:solidFill>
                <a:latin typeface="+mj-lt"/>
                <a:ea typeface="+mn-lt"/>
                <a:cs typeface="+mn-lt"/>
              </a:rPr>
              <a:t> </a:t>
            </a:r>
            <a:r>
              <a:rPr lang="pt-BR" sz="800" err="1">
                <a:solidFill>
                  <a:schemeClr val="tx1"/>
                </a:solidFill>
                <a:latin typeface="+mj-lt"/>
                <a:ea typeface="+mn-lt"/>
                <a:cs typeface="+mn-lt"/>
              </a:rPr>
              <a:t>investment</a:t>
            </a:r>
            <a:r>
              <a:rPr lang="pt-BR" sz="800">
                <a:solidFill>
                  <a:schemeClr val="tx1"/>
                </a:solidFill>
                <a:latin typeface="+mj-lt"/>
                <a:ea typeface="+mn-lt"/>
                <a:cs typeface="+mn-lt"/>
              </a:rPr>
              <a:t> that </a:t>
            </a:r>
            <a:r>
              <a:rPr lang="pt-BR" sz="800" err="1">
                <a:solidFill>
                  <a:schemeClr val="tx1"/>
                </a:solidFill>
                <a:latin typeface="+mj-lt"/>
                <a:ea typeface="+mn-lt"/>
                <a:cs typeface="+mn-lt"/>
              </a:rPr>
              <a:t>extends</a:t>
            </a:r>
            <a:r>
              <a:rPr lang="pt-BR" sz="800">
                <a:solidFill>
                  <a:schemeClr val="tx1"/>
                </a:solidFill>
                <a:latin typeface="+mj-lt"/>
                <a:ea typeface="+mn-lt"/>
                <a:cs typeface="+mn-lt"/>
              </a:rPr>
              <a:t> </a:t>
            </a:r>
            <a:r>
              <a:rPr lang="pt-BR" sz="800" err="1">
                <a:solidFill>
                  <a:schemeClr val="tx1"/>
                </a:solidFill>
                <a:latin typeface="+mj-lt"/>
                <a:ea typeface="+mn-lt"/>
                <a:cs typeface="+mn-lt"/>
              </a:rPr>
              <a:t>beyond</a:t>
            </a:r>
            <a:r>
              <a:rPr lang="pt-BR" sz="800">
                <a:solidFill>
                  <a:schemeClr val="tx1"/>
                </a:solidFill>
                <a:latin typeface="+mj-lt"/>
                <a:ea typeface="+mn-lt"/>
                <a:cs typeface="+mn-lt"/>
              </a:rPr>
              <a:t> the Trump </a:t>
            </a:r>
            <a:r>
              <a:rPr lang="pt-BR" sz="800" err="1">
                <a:solidFill>
                  <a:schemeClr val="tx1"/>
                </a:solidFill>
                <a:latin typeface="+mj-lt"/>
                <a:ea typeface="+mn-lt"/>
                <a:cs typeface="+mn-lt"/>
              </a:rPr>
              <a:t>administration</a:t>
            </a:r>
            <a:r>
              <a:rPr lang="pt-BR" sz="800">
                <a:solidFill>
                  <a:schemeClr val="tx1"/>
                </a:solidFill>
                <a:latin typeface="+mj-lt"/>
                <a:ea typeface="+mn-lt"/>
                <a:cs typeface="+mn-lt"/>
              </a:rPr>
              <a:t>, </a:t>
            </a:r>
            <a:r>
              <a:rPr lang="pt-BR" sz="800" err="1">
                <a:solidFill>
                  <a:schemeClr val="tx1"/>
                </a:solidFill>
                <a:latin typeface="+mj-lt"/>
                <a:ea typeface="+mn-lt"/>
                <a:cs typeface="+mn-lt"/>
              </a:rPr>
              <a:t>with</a:t>
            </a:r>
            <a:r>
              <a:rPr lang="pt-BR" sz="800">
                <a:solidFill>
                  <a:schemeClr val="tx1"/>
                </a:solidFill>
                <a:latin typeface="+mj-lt"/>
                <a:ea typeface="+mn-lt"/>
                <a:cs typeface="+mn-lt"/>
              </a:rPr>
              <a:t> a </a:t>
            </a:r>
            <a:r>
              <a:rPr lang="pt-BR" sz="800" err="1">
                <a:solidFill>
                  <a:schemeClr val="tx1"/>
                </a:solidFill>
                <a:latin typeface="+mj-lt"/>
                <a:ea typeface="+mn-lt"/>
                <a:cs typeface="+mn-lt"/>
              </a:rPr>
              <a:t>significant</a:t>
            </a:r>
            <a:r>
              <a:rPr lang="pt-BR" sz="800">
                <a:solidFill>
                  <a:schemeClr val="tx1"/>
                </a:solidFill>
                <a:latin typeface="+mj-lt"/>
                <a:ea typeface="+mn-lt"/>
                <a:cs typeface="+mn-lt"/>
              </a:rPr>
              <a:t> and </a:t>
            </a:r>
            <a:r>
              <a:rPr lang="pt-BR" sz="800" err="1">
                <a:solidFill>
                  <a:schemeClr val="tx1"/>
                </a:solidFill>
                <a:latin typeface="+mj-lt"/>
                <a:ea typeface="+mn-lt"/>
                <a:cs typeface="+mn-lt"/>
              </a:rPr>
              <a:t>lasting</a:t>
            </a:r>
            <a:r>
              <a:rPr lang="pt-BR" sz="800">
                <a:solidFill>
                  <a:schemeClr val="tx1"/>
                </a:solidFill>
                <a:latin typeface="+mj-lt"/>
                <a:ea typeface="+mn-lt"/>
                <a:cs typeface="+mn-lt"/>
              </a:rPr>
              <a:t> impact—</a:t>
            </a:r>
            <a:r>
              <a:rPr lang="pt-BR" sz="800" err="1">
                <a:solidFill>
                  <a:schemeClr val="tx1"/>
                </a:solidFill>
                <a:latin typeface="+mj-lt"/>
                <a:ea typeface="+mn-lt"/>
                <a:cs typeface="+mn-lt"/>
              </a:rPr>
              <a:t>estimated</a:t>
            </a:r>
            <a:r>
              <a:rPr lang="pt-BR" sz="800">
                <a:solidFill>
                  <a:schemeClr val="tx1"/>
                </a:solidFill>
                <a:latin typeface="+mj-lt"/>
                <a:ea typeface="+mn-lt"/>
                <a:cs typeface="+mn-lt"/>
              </a:rPr>
              <a:t> </a:t>
            </a:r>
            <a:r>
              <a:rPr lang="pt-BR" sz="800" err="1">
                <a:solidFill>
                  <a:schemeClr val="tx1"/>
                </a:solidFill>
                <a:latin typeface="+mj-lt"/>
                <a:ea typeface="+mn-lt"/>
                <a:cs typeface="+mn-lt"/>
              </a:rPr>
              <a:t>at</a:t>
            </a:r>
            <a:r>
              <a:rPr lang="pt-BR" sz="800">
                <a:solidFill>
                  <a:schemeClr val="tx1"/>
                </a:solidFill>
                <a:latin typeface="+mj-lt"/>
                <a:ea typeface="+mn-lt"/>
                <a:cs typeface="+mn-lt"/>
              </a:rPr>
              <a:t> </a:t>
            </a:r>
            <a:r>
              <a:rPr lang="pt-BR" sz="800" err="1">
                <a:solidFill>
                  <a:schemeClr val="tx1"/>
                </a:solidFill>
                <a:latin typeface="+mj-lt"/>
                <a:ea typeface="+mn-lt"/>
                <a:cs typeface="+mn-lt"/>
              </a:rPr>
              <a:t>around</a:t>
            </a:r>
            <a:r>
              <a:rPr lang="pt-BR" sz="800">
                <a:solidFill>
                  <a:schemeClr val="tx1"/>
                </a:solidFill>
                <a:latin typeface="+mj-lt"/>
                <a:ea typeface="+mn-lt"/>
                <a:cs typeface="+mn-lt"/>
              </a:rPr>
              <a:t> USD 776 </a:t>
            </a:r>
            <a:r>
              <a:rPr lang="pt-BR" sz="800" err="1">
                <a:solidFill>
                  <a:schemeClr val="tx1"/>
                </a:solidFill>
                <a:latin typeface="+mj-lt"/>
                <a:ea typeface="+mn-lt"/>
                <a:cs typeface="+mn-lt"/>
              </a:rPr>
              <a:t>billion</a:t>
            </a:r>
            <a:r>
              <a:rPr lang="pt-BR" sz="800">
                <a:solidFill>
                  <a:schemeClr val="tx1"/>
                </a:solidFill>
                <a:latin typeface="+mj-lt"/>
                <a:ea typeface="+mn-lt"/>
                <a:cs typeface="+mn-lt"/>
              </a:rPr>
              <a:t>—making </a:t>
            </a:r>
            <a:r>
              <a:rPr lang="pt-BR" sz="800" err="1">
                <a:solidFill>
                  <a:schemeClr val="tx1"/>
                </a:solidFill>
                <a:latin typeface="+mj-lt"/>
                <a:ea typeface="+mn-lt"/>
                <a:cs typeface="+mn-lt"/>
              </a:rPr>
              <a:t>relocation</a:t>
            </a:r>
            <a:r>
              <a:rPr lang="pt-BR" sz="800">
                <a:solidFill>
                  <a:schemeClr val="tx1"/>
                </a:solidFill>
                <a:latin typeface="+mj-lt"/>
                <a:ea typeface="+mn-lt"/>
                <a:cs typeface="+mn-lt"/>
              </a:rPr>
              <a:t> of </a:t>
            </a:r>
            <a:r>
              <a:rPr lang="pt-BR" sz="800" err="1">
                <a:solidFill>
                  <a:schemeClr val="tx1"/>
                </a:solidFill>
                <a:latin typeface="+mj-lt"/>
                <a:ea typeface="+mn-lt"/>
                <a:cs typeface="+mn-lt"/>
              </a:rPr>
              <a:t>this</a:t>
            </a:r>
            <a:r>
              <a:rPr lang="pt-BR" sz="800">
                <a:solidFill>
                  <a:schemeClr val="tx1"/>
                </a:solidFill>
                <a:latin typeface="+mj-lt"/>
                <a:ea typeface="+mn-lt"/>
                <a:cs typeface="+mn-lt"/>
              </a:rPr>
              <a:t> capital to </a:t>
            </a:r>
            <a:r>
              <a:rPr lang="pt-BR" sz="800" err="1">
                <a:solidFill>
                  <a:schemeClr val="tx1"/>
                </a:solidFill>
                <a:latin typeface="+mj-lt"/>
                <a:ea typeface="+mn-lt"/>
                <a:cs typeface="+mn-lt"/>
              </a:rPr>
              <a:t>another</a:t>
            </a:r>
            <a:r>
              <a:rPr lang="pt-BR" sz="800">
                <a:solidFill>
                  <a:schemeClr val="tx1"/>
                </a:solidFill>
                <a:latin typeface="+mj-lt"/>
                <a:ea typeface="+mn-lt"/>
                <a:cs typeface="+mn-lt"/>
              </a:rPr>
              <a:t> country </a:t>
            </a:r>
            <a:r>
              <a:rPr lang="pt-BR" sz="800" err="1">
                <a:solidFill>
                  <a:schemeClr val="tx1"/>
                </a:solidFill>
                <a:latin typeface="+mj-lt"/>
                <a:ea typeface="+mn-lt"/>
                <a:cs typeface="+mn-lt"/>
              </a:rPr>
              <a:t>highly</a:t>
            </a:r>
            <a:r>
              <a:rPr lang="pt-BR" sz="800">
                <a:solidFill>
                  <a:schemeClr val="tx1"/>
                </a:solidFill>
                <a:latin typeface="+mj-lt"/>
                <a:ea typeface="+mn-lt"/>
                <a:cs typeface="+mn-lt"/>
              </a:rPr>
              <a:t> </a:t>
            </a:r>
            <a:r>
              <a:rPr lang="pt-BR" sz="800" err="1">
                <a:solidFill>
                  <a:schemeClr val="tx1"/>
                </a:solidFill>
                <a:latin typeface="+mj-lt"/>
                <a:ea typeface="+mn-lt"/>
                <a:cs typeface="+mn-lt"/>
              </a:rPr>
              <a:t>impractical</a:t>
            </a:r>
            <a:r>
              <a:rPr lang="pt-BR" sz="800">
                <a:solidFill>
                  <a:schemeClr val="tx1"/>
                </a:solidFill>
                <a:latin typeface="+mj-lt"/>
                <a:ea typeface="+mn-lt"/>
                <a:cs typeface="+mn-lt"/>
              </a:rPr>
              <a:t>.</a:t>
            </a:r>
            <a:r>
              <a:rPr lang="pt-BR">
                <a:solidFill>
                  <a:schemeClr val="tx1"/>
                </a:solidFill>
                <a:latin typeface="+mj-lt"/>
                <a:ea typeface="Calibri"/>
                <a:cs typeface="Calibri"/>
              </a:rPr>
              <a:t> </a:t>
            </a:r>
            <a:r>
              <a:rPr lang="pt-BR" err="1">
                <a:solidFill>
                  <a:schemeClr val="tx1"/>
                </a:solidFill>
                <a:latin typeface="+mj-lt"/>
                <a:ea typeface="+mn-lt"/>
                <a:cs typeface="+mn-lt"/>
              </a:rPr>
              <a:t>Similarly</a:t>
            </a:r>
            <a:r>
              <a:rPr lang="pt-BR">
                <a:solidFill>
                  <a:schemeClr val="tx1"/>
                </a:solidFill>
                <a:latin typeface="+mj-lt"/>
                <a:ea typeface="+mn-lt"/>
                <a:cs typeface="+mn-lt"/>
              </a:rPr>
              <a:t>, </a:t>
            </a:r>
            <a:r>
              <a:rPr lang="pt-BR" err="1">
                <a:solidFill>
                  <a:schemeClr val="tx1"/>
                </a:solidFill>
                <a:latin typeface="+mj-lt"/>
                <a:ea typeface="+mn-lt"/>
                <a:cs typeface="+mn-lt"/>
              </a:rPr>
              <a:t>India</a:t>
            </a:r>
            <a:r>
              <a:rPr lang="pt-BR">
                <a:solidFill>
                  <a:schemeClr val="tx1"/>
                </a:solidFill>
                <a:latin typeface="+mj-lt"/>
                <a:ea typeface="+mn-lt"/>
                <a:cs typeface="+mn-lt"/>
              </a:rPr>
              <a:t> </a:t>
            </a:r>
            <a:r>
              <a:rPr lang="pt-BR" err="1">
                <a:solidFill>
                  <a:schemeClr val="tx1"/>
                </a:solidFill>
                <a:latin typeface="+mj-lt"/>
                <a:ea typeface="+mn-lt"/>
                <a:cs typeface="+mn-lt"/>
              </a:rPr>
              <a:t>has</a:t>
            </a:r>
            <a:r>
              <a:rPr lang="pt-BR">
                <a:solidFill>
                  <a:schemeClr val="tx1"/>
                </a:solidFill>
                <a:latin typeface="+mj-lt"/>
                <a:ea typeface="+mn-lt"/>
                <a:cs typeface="+mn-lt"/>
              </a:rPr>
              <a:t> </a:t>
            </a:r>
            <a:r>
              <a:rPr lang="pt-BR" err="1">
                <a:solidFill>
                  <a:schemeClr val="tx1"/>
                </a:solidFill>
                <a:latin typeface="+mj-lt"/>
                <a:ea typeface="+mn-lt"/>
                <a:cs typeface="+mn-lt"/>
              </a:rPr>
              <a:t>demonstrated</a:t>
            </a:r>
            <a:r>
              <a:rPr lang="pt-BR">
                <a:solidFill>
                  <a:schemeClr val="tx1"/>
                </a:solidFill>
                <a:latin typeface="+mj-lt"/>
                <a:ea typeface="+mn-lt"/>
                <a:cs typeface="+mn-lt"/>
              </a:rPr>
              <a:t> more </a:t>
            </a:r>
            <a:r>
              <a:rPr lang="pt-BR" err="1">
                <a:solidFill>
                  <a:schemeClr val="tx1"/>
                </a:solidFill>
                <a:latin typeface="+mj-lt"/>
                <a:ea typeface="+mn-lt"/>
                <a:cs typeface="+mn-lt"/>
              </a:rPr>
              <a:t>robust</a:t>
            </a:r>
            <a:r>
              <a:rPr lang="pt-BR">
                <a:solidFill>
                  <a:schemeClr val="tx1"/>
                </a:solidFill>
                <a:latin typeface="+mj-lt"/>
                <a:ea typeface="+mn-lt"/>
                <a:cs typeface="+mn-lt"/>
              </a:rPr>
              <a:t> and </a:t>
            </a:r>
            <a:r>
              <a:rPr lang="pt-BR" err="1">
                <a:solidFill>
                  <a:schemeClr val="tx1"/>
                </a:solidFill>
                <a:latin typeface="+mj-lt"/>
                <a:ea typeface="+mn-lt"/>
                <a:cs typeface="+mn-lt"/>
              </a:rPr>
              <a:t>consistent</a:t>
            </a:r>
            <a:r>
              <a:rPr lang="pt-BR">
                <a:solidFill>
                  <a:schemeClr val="tx1"/>
                </a:solidFill>
                <a:latin typeface="+mj-lt"/>
                <a:ea typeface="+mn-lt"/>
                <a:cs typeface="+mn-lt"/>
              </a:rPr>
              <a:t> GDP </a:t>
            </a:r>
            <a:r>
              <a:rPr lang="pt-BR" err="1">
                <a:solidFill>
                  <a:schemeClr val="tx1"/>
                </a:solidFill>
                <a:latin typeface="+mj-lt"/>
                <a:ea typeface="+mn-lt"/>
                <a:cs typeface="+mn-lt"/>
              </a:rPr>
              <a:t>growth</a:t>
            </a:r>
            <a:r>
              <a:rPr lang="pt-BR">
                <a:solidFill>
                  <a:schemeClr val="tx1"/>
                </a:solidFill>
                <a:latin typeface="+mj-lt"/>
                <a:ea typeface="+mn-lt"/>
                <a:cs typeface="+mn-lt"/>
              </a:rPr>
              <a:t> </a:t>
            </a:r>
            <a:r>
              <a:rPr lang="pt-BR" err="1">
                <a:solidFill>
                  <a:schemeClr val="tx1"/>
                </a:solidFill>
                <a:latin typeface="+mj-lt"/>
                <a:ea typeface="+mn-lt"/>
                <a:cs typeface="+mn-lt"/>
              </a:rPr>
              <a:t>than</a:t>
            </a:r>
            <a:r>
              <a:rPr lang="pt-BR">
                <a:solidFill>
                  <a:schemeClr val="tx1"/>
                </a:solidFill>
                <a:latin typeface="+mj-lt"/>
                <a:ea typeface="+mn-lt"/>
                <a:cs typeface="+mn-lt"/>
              </a:rPr>
              <a:t> </a:t>
            </a:r>
            <a:r>
              <a:rPr lang="pt-BR" err="1">
                <a:solidFill>
                  <a:schemeClr val="tx1"/>
                </a:solidFill>
                <a:latin typeface="+mj-lt"/>
                <a:ea typeface="+mn-lt"/>
                <a:cs typeface="+mn-lt"/>
              </a:rPr>
              <a:t>expected</a:t>
            </a:r>
            <a:r>
              <a:rPr lang="pt-BR">
                <a:solidFill>
                  <a:schemeClr val="tx1"/>
                </a:solidFill>
                <a:latin typeface="+mj-lt"/>
                <a:ea typeface="+mn-lt"/>
                <a:cs typeface="+mn-lt"/>
              </a:rPr>
              <a:t>, </a:t>
            </a:r>
            <a:r>
              <a:rPr lang="pt-BR" err="1">
                <a:solidFill>
                  <a:schemeClr val="tx1"/>
                </a:solidFill>
                <a:latin typeface="+mj-lt"/>
                <a:ea typeface="+mn-lt"/>
                <a:cs typeface="+mn-lt"/>
              </a:rPr>
              <a:t>driven</a:t>
            </a:r>
            <a:r>
              <a:rPr lang="pt-BR">
                <a:solidFill>
                  <a:schemeClr val="tx1"/>
                </a:solidFill>
                <a:latin typeface="+mj-lt"/>
                <a:ea typeface="+mn-lt"/>
                <a:cs typeface="+mn-lt"/>
              </a:rPr>
              <a:t> </a:t>
            </a:r>
            <a:r>
              <a:rPr lang="pt-BR" err="1">
                <a:solidFill>
                  <a:schemeClr val="tx1"/>
                </a:solidFill>
                <a:latin typeface="+mj-lt"/>
                <a:ea typeface="+mn-lt"/>
                <a:cs typeface="+mn-lt"/>
              </a:rPr>
              <a:t>by</a:t>
            </a:r>
            <a:r>
              <a:rPr lang="pt-BR">
                <a:solidFill>
                  <a:schemeClr val="tx1"/>
                </a:solidFill>
                <a:latin typeface="+mj-lt"/>
                <a:ea typeface="+mn-lt"/>
                <a:cs typeface="+mn-lt"/>
              </a:rPr>
              <a:t> </a:t>
            </a:r>
            <a:r>
              <a:rPr lang="pt-BR" err="1">
                <a:solidFill>
                  <a:schemeClr val="tx1"/>
                </a:solidFill>
                <a:latin typeface="+mj-lt"/>
                <a:ea typeface="+mn-lt"/>
                <a:cs typeface="+mn-lt"/>
              </a:rPr>
              <a:t>increasing</a:t>
            </a:r>
            <a:r>
              <a:rPr lang="pt-BR">
                <a:solidFill>
                  <a:schemeClr val="tx1"/>
                </a:solidFill>
                <a:latin typeface="+mj-lt"/>
                <a:ea typeface="+mn-lt"/>
                <a:cs typeface="+mn-lt"/>
              </a:rPr>
              <a:t> </a:t>
            </a:r>
            <a:r>
              <a:rPr lang="pt-BR" err="1">
                <a:solidFill>
                  <a:schemeClr val="tx1"/>
                </a:solidFill>
                <a:latin typeface="+mj-lt"/>
                <a:ea typeface="+mn-lt"/>
                <a:cs typeface="+mn-lt"/>
              </a:rPr>
              <a:t>domestic</a:t>
            </a:r>
            <a:r>
              <a:rPr lang="pt-BR">
                <a:solidFill>
                  <a:schemeClr val="tx1"/>
                </a:solidFill>
                <a:latin typeface="+mj-lt"/>
                <a:ea typeface="+mn-lt"/>
                <a:cs typeface="+mn-lt"/>
              </a:rPr>
              <a:t> demand, a </a:t>
            </a:r>
            <a:r>
              <a:rPr lang="pt-BR" err="1">
                <a:solidFill>
                  <a:schemeClr val="tx1"/>
                </a:solidFill>
                <a:latin typeface="+mj-lt"/>
                <a:ea typeface="+mn-lt"/>
                <a:cs typeface="+mn-lt"/>
              </a:rPr>
              <a:t>credit-expansion-friendly</a:t>
            </a:r>
            <a:r>
              <a:rPr lang="pt-BR">
                <a:solidFill>
                  <a:schemeClr val="tx1"/>
                </a:solidFill>
                <a:latin typeface="+mj-lt"/>
                <a:ea typeface="+mn-lt"/>
                <a:cs typeface="+mn-lt"/>
              </a:rPr>
              <a:t> central bank, and a short-</a:t>
            </a:r>
            <a:r>
              <a:rPr lang="pt-BR" err="1">
                <a:solidFill>
                  <a:schemeClr val="tx1"/>
                </a:solidFill>
                <a:latin typeface="+mj-lt"/>
                <a:ea typeface="+mn-lt"/>
                <a:cs typeface="+mn-lt"/>
              </a:rPr>
              <a:t>term</a:t>
            </a:r>
            <a:r>
              <a:rPr lang="pt-BR">
                <a:solidFill>
                  <a:schemeClr val="tx1"/>
                </a:solidFill>
                <a:latin typeface="+mj-lt"/>
                <a:ea typeface="+mn-lt"/>
                <a:cs typeface="+mn-lt"/>
              </a:rPr>
              <a:t> </a:t>
            </a:r>
            <a:r>
              <a:rPr lang="pt-BR" err="1">
                <a:solidFill>
                  <a:schemeClr val="tx1"/>
                </a:solidFill>
                <a:latin typeface="+mj-lt"/>
                <a:ea typeface="+mn-lt"/>
                <a:cs typeface="+mn-lt"/>
              </a:rPr>
              <a:t>recovery</a:t>
            </a:r>
            <a:r>
              <a:rPr lang="pt-BR">
                <a:solidFill>
                  <a:schemeClr val="tx1"/>
                </a:solidFill>
                <a:latin typeface="+mj-lt"/>
                <a:ea typeface="+mn-lt"/>
                <a:cs typeface="+mn-lt"/>
              </a:rPr>
              <a:t> </a:t>
            </a:r>
            <a:r>
              <a:rPr lang="pt-BR" err="1">
                <a:solidFill>
                  <a:schemeClr val="tx1"/>
                </a:solidFill>
                <a:latin typeface="+mj-lt"/>
                <a:ea typeface="+mn-lt"/>
                <a:cs typeface="+mn-lt"/>
              </a:rPr>
              <a:t>plan</a:t>
            </a:r>
            <a:r>
              <a:rPr lang="pt-BR">
                <a:solidFill>
                  <a:schemeClr val="tx1"/>
                </a:solidFill>
                <a:latin typeface="+mj-lt"/>
                <a:ea typeface="+mn-lt"/>
                <a:cs typeface="+mn-lt"/>
              </a:rPr>
              <a:t> in China, </a:t>
            </a:r>
            <a:r>
              <a:rPr lang="pt-BR" err="1">
                <a:solidFill>
                  <a:schemeClr val="tx1"/>
                </a:solidFill>
                <a:latin typeface="+mj-lt"/>
                <a:ea typeface="+mn-lt"/>
                <a:cs typeface="+mn-lt"/>
              </a:rPr>
              <a:t>according</a:t>
            </a:r>
            <a:r>
              <a:rPr lang="pt-BR">
                <a:solidFill>
                  <a:schemeClr val="tx1"/>
                </a:solidFill>
                <a:latin typeface="+mj-lt"/>
                <a:ea typeface="+mn-lt"/>
                <a:cs typeface="+mn-lt"/>
              </a:rPr>
              <a:t> to a Deloitte report.</a:t>
            </a:r>
            <a:r>
              <a:rPr lang="pt-BR">
                <a:solidFill>
                  <a:schemeClr val="tx1"/>
                </a:solidFill>
                <a:latin typeface="+mj-lt"/>
                <a:ea typeface="Calibri"/>
                <a:cs typeface="Calibri"/>
              </a:rPr>
              <a:t> In the African </a:t>
            </a:r>
            <a:r>
              <a:rPr lang="pt-BR" err="1">
                <a:solidFill>
                  <a:schemeClr val="tx1"/>
                </a:solidFill>
                <a:latin typeface="+mj-lt"/>
                <a:ea typeface="Calibri"/>
                <a:cs typeface="Calibri"/>
              </a:rPr>
              <a:t>context</a:t>
            </a:r>
            <a:r>
              <a:rPr lang="pt-BR">
                <a:solidFill>
                  <a:schemeClr val="tx1"/>
                </a:solidFill>
                <a:latin typeface="+mj-lt"/>
                <a:ea typeface="Calibri"/>
                <a:cs typeface="Calibri"/>
              </a:rPr>
              <a:t>, short-</a:t>
            </a:r>
            <a:r>
              <a:rPr lang="pt-BR" err="1">
                <a:solidFill>
                  <a:schemeClr val="tx1"/>
                </a:solidFill>
                <a:latin typeface="+mj-lt"/>
                <a:ea typeface="Calibri"/>
                <a:cs typeface="Calibri"/>
              </a:rPr>
              <a:t>term</a:t>
            </a:r>
            <a:r>
              <a:rPr lang="pt-BR">
                <a:solidFill>
                  <a:schemeClr val="tx1"/>
                </a:solidFill>
                <a:latin typeface="+mj-lt"/>
                <a:ea typeface="Calibri"/>
                <a:cs typeface="Calibri"/>
              </a:rPr>
              <a:t> </a:t>
            </a:r>
            <a:r>
              <a:rPr lang="pt-BR" err="1">
                <a:solidFill>
                  <a:schemeClr val="tx1"/>
                </a:solidFill>
                <a:latin typeface="+mj-lt"/>
                <a:ea typeface="Calibri"/>
                <a:cs typeface="Calibri"/>
              </a:rPr>
              <a:t>tariff</a:t>
            </a:r>
            <a:r>
              <a:rPr lang="pt-BR">
                <a:solidFill>
                  <a:schemeClr val="tx1"/>
                </a:solidFill>
                <a:latin typeface="+mj-lt"/>
                <a:ea typeface="Calibri"/>
                <a:cs typeface="Calibri"/>
              </a:rPr>
              <a:t> </a:t>
            </a:r>
            <a:r>
              <a:rPr lang="pt-BR" err="1">
                <a:solidFill>
                  <a:schemeClr val="tx1"/>
                </a:solidFill>
                <a:latin typeface="+mj-lt"/>
                <a:ea typeface="Calibri"/>
                <a:cs typeface="Calibri"/>
              </a:rPr>
              <a:t>disruption</a:t>
            </a:r>
            <a:r>
              <a:rPr lang="pt-BR">
                <a:solidFill>
                  <a:schemeClr val="tx1"/>
                </a:solidFill>
                <a:latin typeface="+mj-lt"/>
                <a:ea typeface="Calibri"/>
                <a:cs typeface="Calibri"/>
              </a:rPr>
              <a:t> </a:t>
            </a:r>
            <a:r>
              <a:rPr lang="pt-BR" err="1">
                <a:solidFill>
                  <a:schemeClr val="tx1"/>
                </a:solidFill>
                <a:latin typeface="+mj-lt"/>
                <a:ea typeface="Calibri"/>
                <a:cs typeface="Calibri"/>
              </a:rPr>
              <a:t>may</a:t>
            </a:r>
            <a:r>
              <a:rPr lang="pt-BR">
                <a:solidFill>
                  <a:schemeClr val="tx1"/>
                </a:solidFill>
                <a:latin typeface="+mj-lt"/>
                <a:ea typeface="Calibri"/>
                <a:cs typeface="Calibri"/>
              </a:rPr>
              <a:t> </a:t>
            </a:r>
            <a:r>
              <a:rPr lang="pt-BR" err="1">
                <a:solidFill>
                  <a:schemeClr val="tx1"/>
                </a:solidFill>
                <a:latin typeface="+mj-lt"/>
                <a:ea typeface="Calibri"/>
                <a:cs typeface="Calibri"/>
              </a:rPr>
              <a:t>hide</a:t>
            </a:r>
            <a:r>
              <a:rPr lang="pt-BR">
                <a:solidFill>
                  <a:schemeClr val="tx1"/>
                </a:solidFill>
                <a:latin typeface="+mj-lt"/>
                <a:ea typeface="Calibri"/>
                <a:cs typeface="Calibri"/>
              </a:rPr>
              <a:t> the </a:t>
            </a:r>
            <a:r>
              <a:rPr lang="pt-BR" err="1">
                <a:solidFill>
                  <a:schemeClr val="tx1"/>
                </a:solidFill>
                <a:latin typeface="+mj-lt"/>
                <a:ea typeface="Calibri"/>
                <a:cs typeface="Calibri"/>
              </a:rPr>
              <a:t>long-term</a:t>
            </a:r>
            <a:r>
              <a:rPr lang="pt-BR">
                <a:solidFill>
                  <a:schemeClr val="tx1"/>
                </a:solidFill>
                <a:latin typeface="+mj-lt"/>
                <a:ea typeface="Calibri"/>
                <a:cs typeface="Calibri"/>
              </a:rPr>
              <a:t> </a:t>
            </a:r>
            <a:r>
              <a:rPr lang="pt-BR" err="1">
                <a:solidFill>
                  <a:schemeClr val="tx1"/>
                </a:solidFill>
                <a:latin typeface="+mj-lt"/>
                <a:ea typeface="Calibri"/>
                <a:cs typeface="Calibri"/>
              </a:rPr>
              <a:t>opportunity</a:t>
            </a:r>
            <a:r>
              <a:rPr lang="pt-BR">
                <a:solidFill>
                  <a:schemeClr val="tx1"/>
                </a:solidFill>
                <a:latin typeface="+mj-lt"/>
                <a:ea typeface="Calibri"/>
                <a:cs typeface="Calibri"/>
              </a:rPr>
              <a:t> for </a:t>
            </a:r>
            <a:r>
              <a:rPr lang="pt-BR" err="1">
                <a:solidFill>
                  <a:schemeClr val="tx1"/>
                </a:solidFill>
                <a:latin typeface="+mj-lt"/>
                <a:ea typeface="Calibri"/>
                <a:cs typeface="Calibri"/>
              </a:rPr>
              <a:t>industrialization</a:t>
            </a:r>
            <a:r>
              <a:rPr lang="pt-BR">
                <a:solidFill>
                  <a:schemeClr val="tx1"/>
                </a:solidFill>
                <a:latin typeface="+mj-lt"/>
                <a:ea typeface="Calibri"/>
                <a:cs typeface="Calibri"/>
              </a:rPr>
              <a:t>, as </a:t>
            </a:r>
            <a:r>
              <a:rPr lang="pt-BR" err="1">
                <a:solidFill>
                  <a:schemeClr val="tx1"/>
                </a:solidFill>
                <a:latin typeface="+mj-lt"/>
                <a:ea typeface="Calibri"/>
                <a:cs typeface="Calibri"/>
              </a:rPr>
              <a:t>these</a:t>
            </a:r>
            <a:r>
              <a:rPr lang="pt-BR">
                <a:solidFill>
                  <a:schemeClr val="tx1"/>
                </a:solidFill>
                <a:latin typeface="+mj-lt"/>
                <a:ea typeface="Calibri"/>
                <a:cs typeface="Calibri"/>
              </a:rPr>
              <a:t> countries </a:t>
            </a:r>
            <a:r>
              <a:rPr lang="pt-BR" err="1">
                <a:solidFill>
                  <a:schemeClr val="tx1"/>
                </a:solidFill>
                <a:latin typeface="+mj-lt"/>
                <a:ea typeface="Calibri"/>
                <a:cs typeface="Calibri"/>
              </a:rPr>
              <a:t>recognize</a:t>
            </a:r>
            <a:r>
              <a:rPr lang="pt-BR">
                <a:solidFill>
                  <a:schemeClr val="tx1"/>
                </a:solidFill>
                <a:latin typeface="+mj-lt"/>
                <a:ea typeface="Calibri"/>
                <a:cs typeface="Calibri"/>
              </a:rPr>
              <a:t> a </a:t>
            </a:r>
            <a:r>
              <a:rPr lang="pt-BR" err="1">
                <a:solidFill>
                  <a:schemeClr val="tx1"/>
                </a:solidFill>
                <a:latin typeface="+mj-lt"/>
                <a:ea typeface="Calibri"/>
                <a:cs typeface="Calibri"/>
              </a:rPr>
              <a:t>weak</a:t>
            </a:r>
            <a:r>
              <a:rPr lang="pt-BR">
                <a:solidFill>
                  <a:schemeClr val="tx1"/>
                </a:solidFill>
                <a:latin typeface="+mj-lt"/>
                <a:ea typeface="Calibri"/>
                <a:cs typeface="Calibri"/>
              </a:rPr>
              <a:t> link in the US trade, </a:t>
            </a:r>
            <a:r>
              <a:rPr lang="pt-BR" err="1">
                <a:solidFill>
                  <a:schemeClr val="tx1"/>
                </a:solidFill>
                <a:latin typeface="+mj-lt"/>
                <a:ea typeface="Calibri"/>
                <a:cs typeface="Calibri"/>
              </a:rPr>
              <a:t>which</a:t>
            </a:r>
            <a:r>
              <a:rPr lang="pt-BR">
                <a:solidFill>
                  <a:schemeClr val="tx1"/>
                </a:solidFill>
                <a:latin typeface="+mj-lt"/>
                <a:ea typeface="Calibri"/>
                <a:cs typeface="Calibri"/>
              </a:rPr>
              <a:t> </a:t>
            </a:r>
            <a:r>
              <a:rPr lang="pt-BR" err="1">
                <a:solidFill>
                  <a:schemeClr val="tx1"/>
                </a:solidFill>
                <a:latin typeface="+mj-lt"/>
                <a:ea typeface="Calibri"/>
                <a:cs typeface="Calibri"/>
              </a:rPr>
              <a:t>could</a:t>
            </a:r>
            <a:r>
              <a:rPr lang="pt-BR">
                <a:solidFill>
                  <a:schemeClr val="tx1"/>
                </a:solidFill>
                <a:latin typeface="+mj-lt"/>
                <a:ea typeface="Calibri"/>
                <a:cs typeface="Calibri"/>
              </a:rPr>
              <a:t> </a:t>
            </a:r>
            <a:r>
              <a:rPr lang="pt-BR" err="1">
                <a:solidFill>
                  <a:schemeClr val="tx1"/>
                </a:solidFill>
                <a:latin typeface="+mj-lt"/>
                <a:ea typeface="Calibri"/>
                <a:cs typeface="Calibri"/>
              </a:rPr>
              <a:t>expand</a:t>
            </a:r>
            <a:r>
              <a:rPr lang="pt-BR">
                <a:solidFill>
                  <a:schemeClr val="tx1"/>
                </a:solidFill>
                <a:latin typeface="+mj-lt"/>
                <a:ea typeface="Calibri"/>
                <a:cs typeface="Calibri"/>
              </a:rPr>
              <a:t> demand for </a:t>
            </a:r>
            <a:r>
              <a:rPr lang="pt-BR" err="1">
                <a:solidFill>
                  <a:schemeClr val="tx1"/>
                </a:solidFill>
                <a:latin typeface="+mj-lt"/>
                <a:ea typeface="Calibri"/>
                <a:cs typeface="Calibri"/>
              </a:rPr>
              <a:t>WEG's</a:t>
            </a:r>
            <a:r>
              <a:rPr lang="pt-BR">
                <a:solidFill>
                  <a:schemeClr val="tx1"/>
                </a:solidFill>
                <a:latin typeface="+mj-lt"/>
                <a:ea typeface="Calibri"/>
                <a:cs typeface="Calibri"/>
              </a:rPr>
              <a:t> </a:t>
            </a:r>
            <a:r>
              <a:rPr lang="pt-BR" err="1">
                <a:solidFill>
                  <a:schemeClr val="tx1"/>
                </a:solidFill>
                <a:latin typeface="+mj-lt"/>
                <a:ea typeface="Calibri"/>
                <a:cs typeface="Calibri"/>
              </a:rPr>
              <a:t>products</a:t>
            </a:r>
            <a:r>
              <a:rPr lang="pt-BR">
                <a:solidFill>
                  <a:schemeClr val="tx1"/>
                </a:solidFill>
                <a:latin typeface="+mj-lt"/>
                <a:ea typeface="Calibri"/>
                <a:cs typeface="Calibri"/>
              </a:rPr>
              <a:t>. </a:t>
            </a:r>
            <a:r>
              <a:rPr lang="pt-BR" err="1">
                <a:solidFill>
                  <a:schemeClr val="tx1"/>
                </a:solidFill>
                <a:latin typeface="+mj-lt"/>
                <a:ea typeface="Calibri"/>
                <a:cs typeface="Calibri"/>
              </a:rPr>
              <a:t>According</a:t>
            </a:r>
            <a:r>
              <a:rPr lang="pt-BR">
                <a:solidFill>
                  <a:schemeClr val="tx1"/>
                </a:solidFill>
                <a:latin typeface="+mj-lt"/>
                <a:ea typeface="Calibri"/>
                <a:cs typeface="Calibri"/>
              </a:rPr>
              <a:t> to World Bank, regional </a:t>
            </a:r>
            <a:r>
              <a:rPr lang="pt-BR" err="1">
                <a:solidFill>
                  <a:schemeClr val="tx1"/>
                </a:solidFill>
                <a:latin typeface="+mj-lt"/>
                <a:ea typeface="Calibri"/>
                <a:cs typeface="Calibri"/>
              </a:rPr>
              <a:t>growth</a:t>
            </a:r>
            <a:r>
              <a:rPr lang="pt-BR">
                <a:solidFill>
                  <a:schemeClr val="tx1"/>
                </a:solidFill>
                <a:latin typeface="+mj-lt"/>
                <a:ea typeface="Calibri"/>
                <a:cs typeface="Calibri"/>
              </a:rPr>
              <a:t> </a:t>
            </a:r>
            <a:r>
              <a:rPr lang="pt-BR" err="1">
                <a:solidFill>
                  <a:schemeClr val="tx1"/>
                </a:solidFill>
                <a:latin typeface="+mj-lt"/>
                <a:ea typeface="Calibri"/>
                <a:cs typeface="Calibri"/>
              </a:rPr>
              <a:t>will</a:t>
            </a:r>
            <a:r>
              <a:rPr lang="pt-BR">
                <a:solidFill>
                  <a:schemeClr val="tx1"/>
                </a:solidFill>
                <a:latin typeface="+mj-lt"/>
                <a:ea typeface="Calibri"/>
                <a:cs typeface="Calibri"/>
              </a:rPr>
              <a:t> </a:t>
            </a:r>
            <a:r>
              <a:rPr lang="pt-BR" err="1">
                <a:solidFill>
                  <a:schemeClr val="tx1"/>
                </a:solidFill>
                <a:latin typeface="+mj-lt"/>
                <a:ea typeface="Calibri"/>
                <a:cs typeface="Calibri"/>
              </a:rPr>
              <a:t>accelerate</a:t>
            </a:r>
            <a:r>
              <a:rPr lang="pt-BR">
                <a:solidFill>
                  <a:schemeClr val="tx1"/>
                </a:solidFill>
                <a:latin typeface="+mj-lt"/>
                <a:ea typeface="Calibri"/>
                <a:cs typeface="Calibri"/>
              </a:rPr>
              <a:t> to 4,3% in 2026-2027, </a:t>
            </a:r>
            <a:r>
              <a:rPr lang="pt-BR" err="1">
                <a:solidFill>
                  <a:schemeClr val="tx1"/>
                </a:solidFill>
                <a:latin typeface="+mj-lt"/>
                <a:ea typeface="Calibri"/>
                <a:cs typeface="Calibri"/>
              </a:rPr>
              <a:t>while</a:t>
            </a:r>
            <a:r>
              <a:rPr lang="pt-BR">
                <a:solidFill>
                  <a:schemeClr val="tx1"/>
                </a:solidFill>
                <a:latin typeface="+mj-lt"/>
                <a:ea typeface="Calibri"/>
                <a:cs typeface="Calibri"/>
              </a:rPr>
              <a:t> </a:t>
            </a:r>
            <a:r>
              <a:rPr lang="pt-BR" err="1">
                <a:solidFill>
                  <a:schemeClr val="tx1"/>
                </a:solidFill>
                <a:latin typeface="+mj-lt"/>
                <a:ea typeface="Calibri"/>
                <a:cs typeface="Calibri"/>
              </a:rPr>
              <a:t>inflation</a:t>
            </a:r>
            <a:r>
              <a:rPr lang="pt-BR">
                <a:solidFill>
                  <a:schemeClr val="tx1"/>
                </a:solidFill>
                <a:latin typeface="+mj-lt"/>
                <a:ea typeface="Calibri"/>
                <a:cs typeface="Calibri"/>
              </a:rPr>
              <a:t> cools </a:t>
            </a:r>
            <a:r>
              <a:rPr lang="pt-BR" err="1">
                <a:solidFill>
                  <a:schemeClr val="tx1"/>
                </a:solidFill>
                <a:latin typeface="+mj-lt"/>
                <a:ea typeface="Calibri"/>
                <a:cs typeface="Calibri"/>
              </a:rPr>
              <a:t>down</a:t>
            </a:r>
            <a:r>
              <a:rPr lang="pt-BR">
                <a:solidFill>
                  <a:schemeClr val="tx1"/>
                </a:solidFill>
                <a:latin typeface="+mj-lt"/>
                <a:ea typeface="Calibri"/>
                <a:cs typeface="Calibri"/>
              </a:rPr>
              <a:t>. </a:t>
            </a:r>
            <a:r>
              <a:rPr lang="pt-BR" err="1">
                <a:solidFill>
                  <a:schemeClr val="tx1"/>
                </a:solidFill>
                <a:latin typeface="+mj-lt"/>
                <a:ea typeface="Calibri"/>
                <a:cs typeface="Calibri"/>
              </a:rPr>
              <a:t>Thus</a:t>
            </a:r>
            <a:r>
              <a:rPr lang="pt-BR">
                <a:solidFill>
                  <a:schemeClr val="tx1"/>
                </a:solidFill>
                <a:latin typeface="+mj-lt"/>
                <a:ea typeface="Calibri"/>
                <a:cs typeface="Calibri"/>
              </a:rPr>
              <a:t>, </a:t>
            </a:r>
            <a:r>
              <a:rPr lang="pt-BR" err="1">
                <a:solidFill>
                  <a:schemeClr val="tx1"/>
                </a:solidFill>
                <a:latin typeface="+mj-lt"/>
                <a:ea typeface="Calibri"/>
                <a:cs typeface="Calibri"/>
              </a:rPr>
              <a:t>we</a:t>
            </a:r>
            <a:r>
              <a:rPr lang="pt-BR">
                <a:solidFill>
                  <a:schemeClr val="tx1"/>
                </a:solidFill>
                <a:latin typeface="+mj-lt"/>
                <a:ea typeface="Calibri"/>
                <a:cs typeface="Calibri"/>
              </a:rPr>
              <a:t> </a:t>
            </a:r>
            <a:r>
              <a:rPr lang="pt-BR" err="1">
                <a:solidFill>
                  <a:schemeClr val="tx1"/>
                </a:solidFill>
                <a:latin typeface="+mj-lt"/>
                <a:ea typeface="Calibri"/>
                <a:cs typeface="Calibri"/>
              </a:rPr>
              <a:t>believe</a:t>
            </a:r>
            <a:r>
              <a:rPr lang="pt-BR">
                <a:solidFill>
                  <a:schemeClr val="tx1"/>
                </a:solidFill>
                <a:latin typeface="+mj-lt"/>
                <a:ea typeface="Calibri"/>
                <a:cs typeface="Calibri"/>
              </a:rPr>
              <a:t> the </a:t>
            </a:r>
            <a:r>
              <a:rPr lang="pt-BR" err="1">
                <a:solidFill>
                  <a:schemeClr val="tx1"/>
                </a:solidFill>
                <a:latin typeface="+mj-lt"/>
                <a:ea typeface="Calibri"/>
                <a:cs typeface="Calibri"/>
              </a:rPr>
              <a:t>market</a:t>
            </a:r>
            <a:r>
              <a:rPr lang="pt-BR">
                <a:solidFill>
                  <a:schemeClr val="tx1"/>
                </a:solidFill>
                <a:latin typeface="+mj-lt"/>
                <a:ea typeface="Calibri"/>
                <a:cs typeface="Calibri"/>
              </a:rPr>
              <a:t> </a:t>
            </a:r>
            <a:r>
              <a:rPr lang="pt-BR" err="1">
                <a:solidFill>
                  <a:schemeClr val="tx1"/>
                </a:solidFill>
                <a:latin typeface="+mj-lt"/>
                <a:ea typeface="Calibri"/>
                <a:cs typeface="Calibri"/>
              </a:rPr>
              <a:t>underestimates</a:t>
            </a:r>
            <a:r>
              <a:rPr lang="pt-BR">
                <a:solidFill>
                  <a:schemeClr val="tx1"/>
                </a:solidFill>
                <a:latin typeface="+mj-lt"/>
                <a:ea typeface="Calibri"/>
                <a:cs typeface="Calibri"/>
              </a:rPr>
              <a:t> </a:t>
            </a:r>
            <a:r>
              <a:rPr lang="pt-BR" err="1">
                <a:solidFill>
                  <a:schemeClr val="tx1"/>
                </a:solidFill>
                <a:latin typeface="+mj-lt"/>
                <a:ea typeface="Calibri"/>
                <a:cs typeface="Calibri"/>
              </a:rPr>
              <a:t>WEG's</a:t>
            </a:r>
            <a:r>
              <a:rPr lang="pt-BR">
                <a:solidFill>
                  <a:schemeClr val="tx1"/>
                </a:solidFill>
                <a:latin typeface="+mj-lt"/>
                <a:ea typeface="Calibri"/>
                <a:cs typeface="Calibri"/>
              </a:rPr>
              <a:t> </a:t>
            </a:r>
            <a:r>
              <a:rPr lang="pt-BR" err="1">
                <a:solidFill>
                  <a:schemeClr val="tx1"/>
                </a:solidFill>
                <a:latin typeface="+mj-lt"/>
                <a:ea typeface="Calibri"/>
                <a:cs typeface="Calibri"/>
              </a:rPr>
              <a:t>exposure</a:t>
            </a:r>
            <a:r>
              <a:rPr lang="pt-BR">
                <a:solidFill>
                  <a:schemeClr val="tx1"/>
                </a:solidFill>
                <a:latin typeface="+mj-lt"/>
                <a:ea typeface="Calibri"/>
                <a:cs typeface="Calibri"/>
              </a:rPr>
              <a:t> to high-</a:t>
            </a:r>
            <a:r>
              <a:rPr lang="pt-BR" err="1">
                <a:solidFill>
                  <a:schemeClr val="tx1"/>
                </a:solidFill>
                <a:latin typeface="+mj-lt"/>
                <a:ea typeface="Calibri"/>
                <a:cs typeface="Calibri"/>
              </a:rPr>
              <a:t>growth</a:t>
            </a:r>
            <a:r>
              <a:rPr lang="pt-BR">
                <a:solidFill>
                  <a:schemeClr val="tx1"/>
                </a:solidFill>
                <a:latin typeface="+mj-lt"/>
                <a:ea typeface="Calibri"/>
                <a:cs typeface="Calibri"/>
              </a:rPr>
              <a:t> </a:t>
            </a:r>
            <a:r>
              <a:rPr lang="pt-BR" err="1">
                <a:solidFill>
                  <a:schemeClr val="tx1"/>
                </a:solidFill>
                <a:latin typeface="+mj-lt"/>
                <a:ea typeface="Calibri"/>
                <a:cs typeface="Calibri"/>
              </a:rPr>
              <a:t>emerging</a:t>
            </a:r>
            <a:r>
              <a:rPr lang="pt-BR">
                <a:solidFill>
                  <a:schemeClr val="tx1"/>
                </a:solidFill>
                <a:latin typeface="+mj-lt"/>
                <a:ea typeface="Calibri"/>
                <a:cs typeface="Calibri"/>
              </a:rPr>
              <a:t> </a:t>
            </a:r>
            <a:r>
              <a:rPr lang="pt-BR" err="1">
                <a:solidFill>
                  <a:schemeClr val="tx1"/>
                </a:solidFill>
                <a:latin typeface="+mj-lt"/>
                <a:ea typeface="Calibri"/>
                <a:cs typeface="Calibri"/>
              </a:rPr>
              <a:t>economies</a:t>
            </a:r>
            <a:r>
              <a:rPr lang="pt-BR">
                <a:solidFill>
                  <a:schemeClr val="tx1"/>
                </a:solidFill>
                <a:latin typeface="+mj-lt"/>
                <a:ea typeface="Calibri"/>
                <a:cs typeface="Calibri"/>
              </a:rPr>
              <a:t>, </a:t>
            </a:r>
            <a:r>
              <a:rPr lang="pt-BR" err="1">
                <a:solidFill>
                  <a:schemeClr val="tx1"/>
                </a:solidFill>
                <a:latin typeface="+mj-lt"/>
                <a:ea typeface="Calibri"/>
                <a:cs typeface="Calibri"/>
              </a:rPr>
              <a:t>specially</a:t>
            </a:r>
            <a:r>
              <a:rPr lang="pt-BR">
                <a:solidFill>
                  <a:schemeClr val="tx1"/>
                </a:solidFill>
                <a:latin typeface="+mj-lt"/>
                <a:ea typeface="Calibri"/>
                <a:cs typeface="Calibri"/>
              </a:rPr>
              <a:t> </a:t>
            </a:r>
            <a:r>
              <a:rPr lang="pt-BR" err="1">
                <a:solidFill>
                  <a:schemeClr val="tx1"/>
                </a:solidFill>
                <a:latin typeface="+mj-lt"/>
                <a:ea typeface="Calibri"/>
                <a:cs typeface="Calibri"/>
              </a:rPr>
              <a:t>on</a:t>
            </a:r>
            <a:r>
              <a:rPr lang="pt-BR">
                <a:solidFill>
                  <a:schemeClr val="tx1"/>
                </a:solidFill>
                <a:latin typeface="+mj-lt"/>
                <a:ea typeface="Calibri"/>
                <a:cs typeface="Calibri"/>
              </a:rPr>
              <a:t> the industrial </a:t>
            </a:r>
            <a:r>
              <a:rPr lang="pt-BR" err="1">
                <a:solidFill>
                  <a:schemeClr val="tx1"/>
                </a:solidFill>
                <a:latin typeface="+mj-lt"/>
                <a:ea typeface="Calibri"/>
                <a:cs typeface="Calibri"/>
              </a:rPr>
              <a:t>aspect</a:t>
            </a:r>
            <a:r>
              <a:rPr lang="pt-BR">
                <a:solidFill>
                  <a:schemeClr val="tx1"/>
                </a:solidFill>
                <a:latin typeface="+mj-lt"/>
                <a:ea typeface="Calibri"/>
                <a:cs typeface="Calibri"/>
              </a:rPr>
              <a:t>, and the </a:t>
            </a:r>
            <a:r>
              <a:rPr lang="pt-BR" err="1">
                <a:solidFill>
                  <a:schemeClr val="tx1"/>
                </a:solidFill>
                <a:latin typeface="+mj-lt"/>
                <a:ea typeface="Calibri"/>
                <a:cs typeface="Calibri"/>
              </a:rPr>
              <a:t>built</a:t>
            </a:r>
            <a:r>
              <a:rPr lang="pt-BR">
                <a:solidFill>
                  <a:schemeClr val="tx1"/>
                </a:solidFill>
                <a:latin typeface="+mj-lt"/>
                <a:ea typeface="Calibri"/>
                <a:cs typeface="Calibri"/>
              </a:rPr>
              <a:t>-in </a:t>
            </a:r>
            <a:r>
              <a:rPr lang="pt-BR" err="1">
                <a:solidFill>
                  <a:schemeClr val="tx1"/>
                </a:solidFill>
                <a:latin typeface="+mj-lt"/>
                <a:ea typeface="Calibri"/>
                <a:cs typeface="Calibri"/>
              </a:rPr>
              <a:t>optionality</a:t>
            </a:r>
            <a:r>
              <a:rPr lang="pt-BR">
                <a:solidFill>
                  <a:schemeClr val="tx1"/>
                </a:solidFill>
                <a:latin typeface="+mj-lt"/>
                <a:ea typeface="Calibri"/>
                <a:cs typeface="Calibri"/>
              </a:rPr>
              <a:t> that </a:t>
            </a:r>
            <a:r>
              <a:rPr lang="pt-BR" err="1">
                <a:solidFill>
                  <a:schemeClr val="tx1"/>
                </a:solidFill>
                <a:latin typeface="+mj-lt"/>
                <a:ea typeface="Calibri"/>
                <a:cs typeface="Calibri"/>
              </a:rPr>
              <a:t>this</a:t>
            </a:r>
            <a:r>
              <a:rPr lang="pt-BR">
                <a:solidFill>
                  <a:schemeClr val="tx1"/>
                </a:solidFill>
                <a:latin typeface="+mj-lt"/>
                <a:ea typeface="Calibri"/>
                <a:cs typeface="Calibri"/>
              </a:rPr>
              <a:t> </a:t>
            </a:r>
            <a:r>
              <a:rPr lang="pt-BR" err="1">
                <a:solidFill>
                  <a:schemeClr val="tx1"/>
                </a:solidFill>
                <a:latin typeface="+mj-lt"/>
                <a:ea typeface="Calibri"/>
                <a:cs typeface="Calibri"/>
              </a:rPr>
              <a:t>creates</a:t>
            </a:r>
            <a:r>
              <a:rPr lang="pt-BR">
                <a:solidFill>
                  <a:schemeClr val="tx1"/>
                </a:solidFill>
                <a:latin typeface="+mj-lt"/>
                <a:ea typeface="Calibri"/>
                <a:cs typeface="Calibri"/>
              </a:rPr>
              <a:t>.</a:t>
            </a:r>
            <a:endParaRPr lang="pt-BR" sz="1000" b="1">
              <a:solidFill>
                <a:schemeClr val="tx1"/>
              </a:solidFill>
              <a:latin typeface="+mj-lt"/>
              <a:ea typeface="Calibri"/>
              <a:cs typeface="Calibri"/>
            </a:endParaRPr>
          </a:p>
          <a:p>
            <a:pPr algn="l" rtl="0"/>
            <a:r>
              <a:rPr lang="pt-BR" sz="1000" b="1">
                <a:solidFill>
                  <a:schemeClr val="accent1"/>
                </a:solidFill>
              </a:rPr>
              <a:t>THESIS 2 | </a:t>
            </a:r>
            <a:r>
              <a:rPr lang="en-US" sz="1000" b="1" i="0" u="none" strike="noStrike">
                <a:solidFill>
                  <a:schemeClr val="accent1"/>
                </a:solidFill>
                <a:effectLst/>
              </a:rPr>
              <a:t>Unpriced Opportunity for WEG in the Data Center Market</a:t>
            </a:r>
            <a:endParaRPr lang="pt-BR" sz="1000" b="1">
              <a:solidFill>
                <a:schemeClr val="accent1"/>
              </a:solidFill>
            </a:endParaRPr>
          </a:p>
          <a:p>
            <a:pPr algn="just"/>
            <a:r>
              <a:rPr lang="en-US" b="0" i="0" u="none" strike="noStrike">
                <a:solidFill>
                  <a:schemeClr val="tx1"/>
                </a:solidFill>
                <a:effectLst/>
                <a:latin typeface="Calibri"/>
                <a:ea typeface="Calibri"/>
                <a:cs typeface="Arial"/>
              </a:rPr>
              <a:t>In recent years, the rapid global expansion of artificial intelligence, which has increased the demand for data centers — highly energy-intensive facilities reliant on both electronic equipment, generators and efficient electric motors. The company is well positioned to capture this trend, as its product portfolio not only complies with the strictest global energy efficiency regulations, but also benefits from recent geopolitical developments that favor local and regional suppliers.</a:t>
            </a:r>
            <a:r>
              <a:rPr lang="en-US">
                <a:solidFill>
                  <a:schemeClr val="tx1"/>
                </a:solidFill>
                <a:latin typeface="Calibri"/>
                <a:ea typeface="Calibri"/>
                <a:cs typeface="Arial"/>
              </a:rPr>
              <a:t> </a:t>
            </a:r>
            <a:r>
              <a:rPr lang="en-US" b="0" i="0" u="none" strike="noStrike">
                <a:solidFill>
                  <a:schemeClr val="tx1"/>
                </a:solidFill>
                <a:effectLst/>
                <a:latin typeface="Calibri"/>
                <a:ea typeface="Calibri"/>
                <a:cs typeface="Arial"/>
              </a:rPr>
              <a:t>In 2023, WEG acquired Marathon, a U.S.-based manufacturer of generators and electric motors, in a move that proved timely and highly strategic. With this acquisition, WEG secured a more robust footprint in the U.S. market — the world's largest for data center infrastructure. Notably, Marathon’s portfolio includes the </a:t>
            </a:r>
            <a:r>
              <a:rPr lang="en-US" i="0" u="none" strike="noStrike" err="1">
                <a:solidFill>
                  <a:schemeClr val="tx1"/>
                </a:solidFill>
                <a:effectLst/>
                <a:latin typeface="Calibri"/>
                <a:ea typeface="Calibri"/>
                <a:cs typeface="Arial"/>
              </a:rPr>
              <a:t>DataMax</a:t>
            </a:r>
            <a:r>
              <a:rPr lang="en-US" i="0" u="none" strike="noStrike">
                <a:solidFill>
                  <a:schemeClr val="tx1"/>
                </a:solidFill>
                <a:effectLst/>
                <a:latin typeface="Calibri"/>
                <a:ea typeface="Calibri"/>
                <a:cs typeface="Arial"/>
              </a:rPr>
              <a:t> Generator</a:t>
            </a:r>
            <a:r>
              <a:rPr lang="en-US" b="0" i="0" u="none" strike="noStrike">
                <a:solidFill>
                  <a:schemeClr val="tx1"/>
                </a:solidFill>
                <a:effectLst/>
                <a:latin typeface="Calibri"/>
                <a:ea typeface="Calibri"/>
                <a:cs typeface="Arial"/>
              </a:rPr>
              <a:t>, designed for data center applications (1100 to 3500 kW, low and high voltage), aligning directly with the growing technical demands of the sector.</a:t>
            </a:r>
            <a:r>
              <a:rPr lang="en-US">
                <a:solidFill>
                  <a:schemeClr val="tx1"/>
                </a:solidFill>
                <a:latin typeface="Calibri"/>
                <a:ea typeface="Calibri"/>
                <a:cs typeface="Arial"/>
              </a:rPr>
              <a:t> </a:t>
            </a:r>
            <a:r>
              <a:rPr lang="en-US" b="0" i="0" u="none" strike="noStrike">
                <a:solidFill>
                  <a:schemeClr val="tx1"/>
                </a:solidFill>
                <a:effectLst/>
                <a:latin typeface="Calibri"/>
                <a:ea typeface="Calibri"/>
                <a:cs typeface="Arial"/>
              </a:rPr>
              <a:t>Recent geopolitical shifts — particularly the imposition of tariffs by the U.S. on imported industrial equipment</a:t>
            </a:r>
            <a:r>
              <a:rPr lang="en-US">
                <a:solidFill>
                  <a:schemeClr val="tx1"/>
                </a:solidFill>
                <a:latin typeface="Calibri"/>
                <a:ea typeface="Calibri"/>
                <a:cs typeface="Arial"/>
              </a:rPr>
              <a:t>, </a:t>
            </a:r>
            <a:r>
              <a:rPr lang="en-US" b="0" i="0" u="none" strike="noStrike">
                <a:solidFill>
                  <a:schemeClr val="tx1"/>
                </a:solidFill>
                <a:effectLst/>
                <a:latin typeface="Calibri"/>
                <a:ea typeface="Calibri"/>
                <a:cs typeface="Arial"/>
              </a:rPr>
              <a:t>have further disrupted the competitive landscape. Companies with offshore production, such as Schneider Electric, are now facing cost disadvantages. WEG, on the other hand, with a vertically integrated model and now a U.S.-based manufacturing base through Marathon, stands to gain market share in this environment.</a:t>
            </a:r>
            <a:r>
              <a:rPr lang="en-US">
                <a:solidFill>
                  <a:schemeClr val="tx1"/>
                </a:solidFill>
                <a:latin typeface="Calibri"/>
                <a:ea typeface="Calibri"/>
                <a:cs typeface="Arial"/>
              </a:rPr>
              <a:t> </a:t>
            </a:r>
            <a:endParaRPr lang="en-US">
              <a:solidFill>
                <a:schemeClr val="tx1"/>
              </a:solidFill>
              <a:latin typeface="Calibri"/>
              <a:ea typeface="Calibri"/>
              <a:cs typeface="Calibri"/>
            </a:endParaRPr>
          </a:p>
          <a:p>
            <a:pPr algn="just"/>
            <a:r>
              <a:rPr lang="en-US" b="1" i="0" u="none" strike="noStrike">
                <a:solidFill>
                  <a:schemeClr val="tx1"/>
                </a:solidFill>
                <a:effectLst/>
                <a:latin typeface="Calibri"/>
                <a:ea typeface="Calibri"/>
                <a:cs typeface="Arial"/>
              </a:rPr>
              <a:t>What to expect?</a:t>
            </a:r>
            <a:r>
              <a:rPr lang="en-US" b="0" i="0" u="none" strike="noStrike">
                <a:solidFill>
                  <a:schemeClr val="tx1"/>
                </a:solidFill>
                <a:effectLst/>
                <a:latin typeface="Calibri"/>
                <a:ea typeface="Calibri"/>
                <a:cs typeface="Arial"/>
              </a:rPr>
              <a:t> As demand for high-efficiency electrical infrastructure rises in tandem with AI and cloud computing, WEG is uniquely positioned to become a key supplier to new and expanding data centers, particularly in the U.S. Over the coming years, we expect this exposure to generate significant revenue growth and margin expansion. </a:t>
            </a:r>
            <a:r>
              <a:rPr lang="en-US">
                <a:solidFill>
                  <a:schemeClr val="tx1"/>
                </a:solidFill>
                <a:latin typeface="Calibri"/>
                <a:ea typeface="Calibri"/>
                <a:cs typeface="Arial"/>
              </a:rPr>
              <a:t>Although the main industry surveys and financial reports available to investors do not highlight WEG's potential in the data center infrastructure market</a:t>
            </a:r>
            <a:r>
              <a:rPr lang="en-US" b="0" i="0" u="none" strike="noStrike">
                <a:solidFill>
                  <a:schemeClr val="tx1"/>
                </a:solidFill>
                <a:effectLst/>
                <a:latin typeface="Calibri"/>
                <a:ea typeface="Calibri"/>
                <a:cs typeface="Arial"/>
              </a:rPr>
              <a:t>, </a:t>
            </a:r>
            <a:r>
              <a:rPr lang="en-US">
                <a:solidFill>
                  <a:schemeClr val="tx1"/>
                </a:solidFill>
                <a:latin typeface="Calibri"/>
                <a:ea typeface="Calibri"/>
                <a:cs typeface="Arial"/>
              </a:rPr>
              <a:t>they do not fully capture the impact of the recent acquisition of Marathon. This suggests that </a:t>
            </a:r>
            <a:r>
              <a:rPr lang="en-US" b="0" i="0" u="none" strike="noStrike">
                <a:solidFill>
                  <a:schemeClr val="tx1"/>
                </a:solidFill>
                <a:effectLst/>
                <a:latin typeface="Calibri"/>
                <a:ea typeface="Calibri"/>
                <a:cs typeface="Arial"/>
              </a:rPr>
              <a:t>the market</a:t>
            </a:r>
            <a:r>
              <a:rPr lang="en-US">
                <a:solidFill>
                  <a:schemeClr val="tx1"/>
                </a:solidFill>
                <a:latin typeface="Calibri"/>
                <a:ea typeface="Calibri"/>
                <a:cs typeface="Arial"/>
              </a:rPr>
              <a:t> does not see the relevance and expected growth of this business line, creating a strategic window for WEG to consolidate its position and expand its share before this perception adjusts</a:t>
            </a:r>
            <a:r>
              <a:rPr lang="en-US" b="0" i="0" u="none" strike="noStrike">
                <a:solidFill>
                  <a:schemeClr val="tx1"/>
                </a:solidFill>
                <a:effectLst/>
                <a:latin typeface="Calibri"/>
                <a:ea typeface="Calibri"/>
                <a:cs typeface="Arial"/>
              </a:rPr>
              <a:t>.</a:t>
            </a:r>
            <a:r>
              <a:rPr lang="en-US">
                <a:solidFill>
                  <a:schemeClr val="tx1"/>
                </a:solidFill>
                <a:latin typeface="Calibri"/>
                <a:ea typeface="Calibri"/>
                <a:cs typeface="Arial"/>
              </a:rPr>
              <a:t> </a:t>
            </a:r>
            <a:endParaRPr lang="en-US">
              <a:solidFill>
                <a:schemeClr val="tx1"/>
              </a:solidFill>
              <a:latin typeface="Calibri"/>
              <a:ea typeface="Calibri"/>
              <a:cs typeface="Calibri"/>
            </a:endParaRPr>
          </a:p>
          <a:p>
            <a:pPr algn="just"/>
            <a:r>
              <a:rPr lang="en-US" b="1" i="0" u="none" strike="noStrike">
                <a:solidFill>
                  <a:schemeClr val="tx1"/>
                </a:solidFill>
                <a:effectLst/>
                <a:latin typeface="Calibri"/>
                <a:ea typeface="Calibri"/>
                <a:cs typeface="Arial"/>
              </a:rPr>
              <a:t>Competitive advantage in this scenario:</a:t>
            </a:r>
            <a:r>
              <a:rPr lang="en-US" b="0" i="0" u="none" strike="noStrike">
                <a:solidFill>
                  <a:schemeClr val="tx1"/>
                </a:solidFill>
                <a:effectLst/>
                <a:latin typeface="Calibri"/>
                <a:ea typeface="Calibri"/>
                <a:cs typeface="Arial"/>
              </a:rPr>
              <a:t> Today, the combined market share of WEG and Marathon in the global low-voltage industrial motor segment stands at 15% (Exhibit 14). This scale, coupled with local production and regulatory compliance, positions WEG to outpace competitors, especially in the U.S. market. Additionally, the integration of Marathon enables operational synergies and a more targeted offering — particularly relevant to clients seeking customized, high-capacity power solutions.</a:t>
            </a:r>
            <a:r>
              <a:rPr lang="en-US">
                <a:solidFill>
                  <a:schemeClr val="tx1"/>
                </a:solidFill>
                <a:latin typeface="Calibri"/>
                <a:ea typeface="Calibri"/>
                <a:cs typeface="Arial"/>
              </a:rPr>
              <a:t> </a:t>
            </a:r>
            <a:r>
              <a:rPr lang="en-US" b="0" i="0" u="none" strike="noStrike">
                <a:solidFill>
                  <a:schemeClr val="tx1"/>
                </a:solidFill>
                <a:effectLst/>
                <a:latin typeface="Calibri"/>
                <a:ea typeface="Calibri"/>
                <a:cs typeface="Arial"/>
              </a:rPr>
              <a:t>While other international players face pressure from geopolitical friction and rising costs, WEG’s strategy benefits from the convergence of three forces: (</a:t>
            </a:r>
            <a:r>
              <a:rPr lang="en-US" b="0" i="0" u="none" strike="noStrike" err="1">
                <a:solidFill>
                  <a:schemeClr val="tx1"/>
                </a:solidFill>
                <a:effectLst/>
                <a:latin typeface="Calibri"/>
                <a:ea typeface="Calibri"/>
                <a:cs typeface="Arial"/>
              </a:rPr>
              <a:t>i</a:t>
            </a:r>
            <a:r>
              <a:rPr lang="en-US" b="0" i="0" u="none" strike="noStrike">
                <a:solidFill>
                  <a:schemeClr val="tx1"/>
                </a:solidFill>
                <a:effectLst/>
                <a:latin typeface="Calibri"/>
                <a:ea typeface="Calibri"/>
                <a:cs typeface="Arial"/>
              </a:rPr>
              <a:t>) increased local demand in data centers, </a:t>
            </a:r>
            <a:r>
              <a:rPr lang="en-US">
                <a:solidFill>
                  <a:schemeClr val="tx1"/>
                </a:solidFill>
                <a:latin typeface="Calibri"/>
                <a:ea typeface="Calibri"/>
                <a:cs typeface="Arial"/>
              </a:rPr>
              <a:t>with an expected CAGR of 7.1% per year; </a:t>
            </a:r>
            <a:r>
              <a:rPr lang="en-US" b="0" i="0" u="none" strike="noStrike">
                <a:solidFill>
                  <a:schemeClr val="tx1"/>
                </a:solidFill>
                <a:effectLst/>
                <a:latin typeface="Calibri"/>
                <a:ea typeface="Calibri"/>
                <a:cs typeface="Arial"/>
              </a:rPr>
              <a:t>(ii)</a:t>
            </a:r>
            <a:r>
              <a:rPr lang="en-US">
                <a:solidFill>
                  <a:schemeClr val="tx1"/>
                </a:solidFill>
                <a:latin typeface="Calibri"/>
                <a:ea typeface="Calibri"/>
                <a:cs typeface="Arial"/>
              </a:rPr>
              <a:t>risk</a:t>
            </a:r>
            <a:r>
              <a:rPr lang="en-US" b="0" i="0" u="none" strike="noStrike">
                <a:solidFill>
                  <a:schemeClr val="tx1"/>
                </a:solidFill>
                <a:effectLst/>
                <a:latin typeface="Calibri"/>
                <a:ea typeface="Calibri"/>
                <a:cs typeface="Arial"/>
              </a:rPr>
              <a:t> in </a:t>
            </a:r>
            <a:r>
              <a:rPr lang="en-US">
                <a:solidFill>
                  <a:schemeClr val="tx1"/>
                </a:solidFill>
                <a:latin typeface="Calibri"/>
                <a:ea typeface="Calibri"/>
                <a:cs typeface="Arial"/>
              </a:rPr>
              <a:t>the face of the uncertainties of the Trump administration's protectionist measures; </a:t>
            </a:r>
            <a:r>
              <a:rPr lang="en-US" b="0" i="0" u="none" strike="noStrike">
                <a:solidFill>
                  <a:schemeClr val="tx1"/>
                </a:solidFill>
                <a:effectLst/>
                <a:latin typeface="Calibri"/>
                <a:ea typeface="Calibri"/>
                <a:cs typeface="Arial"/>
              </a:rPr>
              <a:t>and (iii) the success of its vertical integration </a:t>
            </a:r>
            <a:r>
              <a:rPr lang="en-US">
                <a:solidFill>
                  <a:schemeClr val="tx1"/>
                </a:solidFill>
                <a:latin typeface="Calibri"/>
                <a:ea typeface="Calibri"/>
                <a:cs typeface="Arial"/>
              </a:rPr>
              <a:t>mode, such as the production operations in Brazil and Mexico, according to the company's press releases. </a:t>
            </a:r>
          </a:p>
          <a:p>
            <a:pPr algn="just"/>
            <a:r>
              <a:rPr lang="en-US" b="1" i="0" u="none" strike="noStrike">
                <a:solidFill>
                  <a:schemeClr val="tx1"/>
                </a:solidFill>
                <a:effectLst/>
                <a:latin typeface="Calibri"/>
                <a:ea typeface="Calibri"/>
                <a:cs typeface="Arial"/>
              </a:rPr>
              <a:t>Implications for WEG:</a:t>
            </a:r>
            <a:r>
              <a:rPr lang="en-US" b="0" i="0" u="none" strike="noStrike">
                <a:solidFill>
                  <a:schemeClr val="tx1"/>
                </a:solidFill>
                <a:effectLst/>
                <a:latin typeface="Calibri"/>
                <a:ea typeface="Calibri"/>
                <a:cs typeface="Arial"/>
              </a:rPr>
              <a:t> This backdrop offers WEG a unique window to reinforce its international expansion with high-margin business. As the data center cycle accelerates, the company’s early positioning and technical capabilities could result in sustained profitability, market share gains, and potentially a re-rating of its valuation multiples — particularly if investors begin to price in the strategic value of its U.S. footprint and long-term growth exposure to AI-driven infrastructure demand</a:t>
            </a:r>
            <a:endParaRPr lang="en-US">
              <a:solidFill>
                <a:schemeClr val="tx1"/>
              </a:solidFill>
            </a:endParaRPr>
          </a:p>
          <a:p>
            <a:pPr algn="just"/>
            <a:r>
              <a:rPr lang="pt-BR" sz="1000" b="1">
                <a:solidFill>
                  <a:schemeClr val="accent1"/>
                </a:solidFill>
              </a:rPr>
              <a:t>THESIS 3 | </a:t>
            </a:r>
            <a:r>
              <a:rPr lang="en-US" sz="1000" b="1">
                <a:solidFill>
                  <a:schemeClr val="accent1"/>
                </a:solidFill>
              </a:rPr>
              <a:t>Adaptability to Market Dynamics Through Technology</a:t>
            </a:r>
            <a:endParaRPr lang="en-US">
              <a:solidFill>
                <a:schemeClr val="accent1"/>
              </a:solidFill>
              <a:ea typeface="Calibri"/>
              <a:cs typeface="Calibri"/>
            </a:endParaRPr>
          </a:p>
          <a:p>
            <a:pPr algn="just" rtl="0"/>
            <a:r>
              <a:rPr lang="en-US">
                <a:solidFill>
                  <a:schemeClr val="tx1"/>
                </a:solidFill>
              </a:rPr>
              <a:t>For a company, the difficulty in adapting to the market becomes an obstacle, as, for example, the lack of technology prevents quick adjustments to changes. Without the proper tools, data management is compromised, making decision-making based on accurate information difficult. As a result, the loss of competitiveness occurs, as more innovative competitors stand out with greater productivity and efficiency. Furthermore, operational inefficiency increases, with outdated processes and a higher likelihood of errors and failures. </a:t>
            </a:r>
            <a:endParaRPr lang="en-US">
              <a:solidFill>
                <a:schemeClr val="tx1"/>
              </a:solidFill>
              <a:ea typeface="Calibri"/>
              <a:cs typeface="Calibri"/>
            </a:endParaRPr>
          </a:p>
        </p:txBody>
      </p:sp>
      <p:sp>
        <p:nvSpPr>
          <p:cNvPr id="4" name="Espaço Reservado para Texto 3">
            <a:extLst>
              <a:ext uri="{FF2B5EF4-FFF2-40B4-BE49-F238E27FC236}">
                <a16:creationId xmlns:a16="http://schemas.microsoft.com/office/drawing/2014/main" id="{4BF4438A-FC80-E57D-8629-25BB66DD36FF}"/>
              </a:ext>
            </a:extLst>
          </p:cNvPr>
          <p:cNvSpPr>
            <a:spLocks noGrp="1"/>
          </p:cNvSpPr>
          <p:nvPr>
            <p:ph type="body" sz="quarter" idx="12"/>
          </p:nvPr>
        </p:nvSpPr>
        <p:spPr/>
        <p:txBody>
          <a:bodyPr/>
          <a:lstStyle/>
          <a:p>
            <a:r>
              <a:rPr lang="pt-BR"/>
              <a:t>INVESTMENT THESIS</a:t>
            </a:r>
          </a:p>
        </p:txBody>
      </p:sp>
      <p:sp>
        <p:nvSpPr>
          <p:cNvPr id="5" name="Espaço Reservado para Texto 4">
            <a:extLst>
              <a:ext uri="{FF2B5EF4-FFF2-40B4-BE49-F238E27FC236}">
                <a16:creationId xmlns:a16="http://schemas.microsoft.com/office/drawing/2014/main" id="{DFAC4B8F-04B0-F974-2A6C-0AE0294B68CF}"/>
              </a:ext>
            </a:extLst>
          </p:cNvPr>
          <p:cNvSpPr>
            <a:spLocks noGrp="1"/>
          </p:cNvSpPr>
          <p:nvPr>
            <p:ph type="body" sz="quarter" idx="13"/>
          </p:nvPr>
        </p:nvSpPr>
        <p:spPr>
          <a:xfrm>
            <a:off x="5197608" y="460602"/>
            <a:ext cx="2373509" cy="190170"/>
          </a:xfrm>
        </p:spPr>
        <p:txBody>
          <a:bodyPr/>
          <a:lstStyle/>
          <a:p>
            <a:r>
              <a:rPr lang="pt-BR" err="1"/>
              <a:t>Exhibit</a:t>
            </a:r>
            <a:r>
              <a:rPr lang="pt-BR"/>
              <a:t> 14: </a:t>
            </a:r>
            <a:r>
              <a:rPr lang="pt-BR" err="1"/>
              <a:t>Mexican</a:t>
            </a:r>
            <a:r>
              <a:rPr lang="pt-BR"/>
              <a:t> Industrial </a:t>
            </a:r>
            <a:r>
              <a:rPr lang="pt-BR" err="1"/>
              <a:t>Production</a:t>
            </a:r>
            <a:endParaRPr lang="pt-BR"/>
          </a:p>
        </p:txBody>
      </p:sp>
      <p:sp>
        <p:nvSpPr>
          <p:cNvPr id="6" name="Espaço Reservado para Texto 5">
            <a:extLst>
              <a:ext uri="{FF2B5EF4-FFF2-40B4-BE49-F238E27FC236}">
                <a16:creationId xmlns:a16="http://schemas.microsoft.com/office/drawing/2014/main" id="{3DE7D6FC-2373-795F-E111-CFCD5D7EA0CD}"/>
              </a:ext>
            </a:extLst>
          </p:cNvPr>
          <p:cNvSpPr>
            <a:spLocks noGrp="1"/>
          </p:cNvSpPr>
          <p:nvPr>
            <p:ph type="body" sz="quarter" idx="14"/>
          </p:nvPr>
        </p:nvSpPr>
        <p:spPr>
          <a:xfrm>
            <a:off x="5260173" y="2488449"/>
            <a:ext cx="1387762" cy="220909"/>
          </a:xfrm>
        </p:spPr>
        <p:txBody>
          <a:bodyPr/>
          <a:lstStyle/>
          <a:p>
            <a:r>
              <a:rPr lang="pt-BR" err="1"/>
              <a:t>Source</a:t>
            </a:r>
            <a:r>
              <a:rPr lang="pt-BR"/>
              <a:t>: Trading </a:t>
            </a:r>
            <a:r>
              <a:rPr lang="pt-BR" err="1"/>
              <a:t>Economics</a:t>
            </a:r>
            <a:endParaRPr lang="pt-BR"/>
          </a:p>
        </p:txBody>
      </p:sp>
      <p:sp>
        <p:nvSpPr>
          <p:cNvPr id="8" name="Espaço Reservado para Texto 7">
            <a:extLst>
              <a:ext uri="{FF2B5EF4-FFF2-40B4-BE49-F238E27FC236}">
                <a16:creationId xmlns:a16="http://schemas.microsoft.com/office/drawing/2014/main" id="{E1158CCD-78E1-8AC1-399A-85DAF68F873C}"/>
              </a:ext>
            </a:extLst>
          </p:cNvPr>
          <p:cNvSpPr>
            <a:spLocks noGrp="1"/>
          </p:cNvSpPr>
          <p:nvPr>
            <p:ph type="body" sz="quarter" idx="16"/>
          </p:nvPr>
        </p:nvSpPr>
        <p:spPr>
          <a:xfrm>
            <a:off x="5197608" y="2920164"/>
            <a:ext cx="2496801" cy="177602"/>
          </a:xfrm>
        </p:spPr>
        <p:txBody>
          <a:bodyPr/>
          <a:lstStyle/>
          <a:p>
            <a:r>
              <a:rPr lang="pt-BR" err="1"/>
              <a:t>Exhibit</a:t>
            </a:r>
            <a:r>
              <a:rPr lang="pt-BR"/>
              <a:t> 15: Market Share In </a:t>
            </a:r>
            <a:r>
              <a:rPr lang="pt-BR" err="1"/>
              <a:t>Low-voltage</a:t>
            </a:r>
            <a:r>
              <a:rPr lang="pt-BR"/>
              <a:t> Industrial Motors</a:t>
            </a:r>
          </a:p>
        </p:txBody>
      </p:sp>
      <p:sp>
        <p:nvSpPr>
          <p:cNvPr id="9" name="Espaço Reservado para Texto 8">
            <a:extLst>
              <a:ext uri="{FF2B5EF4-FFF2-40B4-BE49-F238E27FC236}">
                <a16:creationId xmlns:a16="http://schemas.microsoft.com/office/drawing/2014/main" id="{53EC4435-BA40-6D0F-B612-EA60B7553D4F}"/>
              </a:ext>
            </a:extLst>
          </p:cNvPr>
          <p:cNvSpPr>
            <a:spLocks noGrp="1"/>
          </p:cNvSpPr>
          <p:nvPr>
            <p:ph type="body" sz="quarter" idx="17"/>
          </p:nvPr>
        </p:nvSpPr>
        <p:spPr/>
        <p:txBody>
          <a:bodyPr/>
          <a:lstStyle/>
          <a:p>
            <a:r>
              <a:rPr lang="pt-BR" err="1"/>
              <a:t>Source</a:t>
            </a:r>
            <a:r>
              <a:rPr lang="pt-BR"/>
              <a:t>: WEG IR</a:t>
            </a:r>
          </a:p>
        </p:txBody>
      </p:sp>
      <p:sp>
        <p:nvSpPr>
          <p:cNvPr id="11" name="Espaço Reservado para Texto 10">
            <a:extLst>
              <a:ext uri="{FF2B5EF4-FFF2-40B4-BE49-F238E27FC236}">
                <a16:creationId xmlns:a16="http://schemas.microsoft.com/office/drawing/2014/main" id="{D530BE11-4F31-77D7-5959-7C767B7CFEC5}"/>
              </a:ext>
            </a:extLst>
          </p:cNvPr>
          <p:cNvSpPr>
            <a:spLocks noGrp="1"/>
          </p:cNvSpPr>
          <p:nvPr>
            <p:ph type="body" sz="quarter" idx="19"/>
          </p:nvPr>
        </p:nvSpPr>
        <p:spPr/>
        <p:txBody>
          <a:bodyPr/>
          <a:lstStyle/>
          <a:p>
            <a:r>
              <a:rPr lang="pt-BR" err="1"/>
              <a:t>Exhibit</a:t>
            </a:r>
            <a:r>
              <a:rPr lang="pt-BR"/>
              <a:t> 16: MFM </a:t>
            </a:r>
            <a:r>
              <a:rPr lang="pt-BR" err="1"/>
              <a:t>Structure</a:t>
            </a:r>
            <a:endParaRPr lang="pt-BR"/>
          </a:p>
        </p:txBody>
      </p:sp>
      <p:sp>
        <p:nvSpPr>
          <p:cNvPr id="12" name="Espaço Reservado para Texto 11">
            <a:extLst>
              <a:ext uri="{FF2B5EF4-FFF2-40B4-BE49-F238E27FC236}">
                <a16:creationId xmlns:a16="http://schemas.microsoft.com/office/drawing/2014/main" id="{5825A684-3F21-6A43-E0DA-3904EDD8718A}"/>
              </a:ext>
            </a:extLst>
          </p:cNvPr>
          <p:cNvSpPr>
            <a:spLocks noGrp="1"/>
          </p:cNvSpPr>
          <p:nvPr>
            <p:ph type="body" sz="quarter" idx="20"/>
          </p:nvPr>
        </p:nvSpPr>
        <p:spPr/>
        <p:txBody>
          <a:bodyPr/>
          <a:lstStyle/>
          <a:p>
            <a:r>
              <a:rPr lang="pt-BR" err="1"/>
              <a:t>Source</a:t>
            </a:r>
            <a:r>
              <a:rPr lang="pt-BR"/>
              <a:t>: WEG IR</a:t>
            </a:r>
          </a:p>
        </p:txBody>
      </p:sp>
      <p:sp>
        <p:nvSpPr>
          <p:cNvPr id="14" name="Espaço Reservado para Texto 13">
            <a:extLst>
              <a:ext uri="{FF2B5EF4-FFF2-40B4-BE49-F238E27FC236}">
                <a16:creationId xmlns:a16="http://schemas.microsoft.com/office/drawing/2014/main" id="{B374C525-1C06-0A58-7F81-E0F0FD0D5373}"/>
              </a:ext>
            </a:extLst>
          </p:cNvPr>
          <p:cNvSpPr>
            <a:spLocks noGrp="1"/>
          </p:cNvSpPr>
          <p:nvPr>
            <p:ph type="body" sz="quarter" idx="22"/>
          </p:nvPr>
        </p:nvSpPr>
        <p:spPr>
          <a:xfrm>
            <a:off x="5197608" y="7834640"/>
            <a:ext cx="2373503" cy="157113"/>
          </a:xfrm>
        </p:spPr>
        <p:txBody>
          <a:bodyPr/>
          <a:lstStyle/>
          <a:p>
            <a:r>
              <a:rPr lang="pt-BR" err="1"/>
              <a:t>Exhibit</a:t>
            </a:r>
            <a:r>
              <a:rPr lang="pt-BR"/>
              <a:t> 17: Solar Energy Market Growth</a:t>
            </a:r>
          </a:p>
        </p:txBody>
      </p:sp>
      <p:sp>
        <p:nvSpPr>
          <p:cNvPr id="15" name="Espaço Reservado para Texto 14">
            <a:extLst>
              <a:ext uri="{FF2B5EF4-FFF2-40B4-BE49-F238E27FC236}">
                <a16:creationId xmlns:a16="http://schemas.microsoft.com/office/drawing/2014/main" id="{FB7A2506-BC9C-E06A-4DB1-714845F30F4E}"/>
              </a:ext>
            </a:extLst>
          </p:cNvPr>
          <p:cNvSpPr>
            <a:spLocks noGrp="1"/>
          </p:cNvSpPr>
          <p:nvPr>
            <p:ph type="body" sz="quarter" idx="23"/>
          </p:nvPr>
        </p:nvSpPr>
        <p:spPr>
          <a:xfrm>
            <a:off x="5260173" y="9839053"/>
            <a:ext cx="1710541" cy="196850"/>
          </a:xfrm>
        </p:spPr>
        <p:txBody>
          <a:bodyPr/>
          <a:lstStyle/>
          <a:p>
            <a:r>
              <a:rPr lang="pt-BR" err="1"/>
              <a:t>Source</a:t>
            </a:r>
            <a:r>
              <a:rPr lang="pt-BR"/>
              <a:t>: </a:t>
            </a:r>
            <a:r>
              <a:rPr lang="pt-BR" err="1"/>
              <a:t>Mordor</a:t>
            </a:r>
            <a:r>
              <a:rPr lang="pt-BR"/>
              <a:t> </a:t>
            </a:r>
            <a:r>
              <a:rPr lang="pt-BR" err="1"/>
              <a:t>Inteligence</a:t>
            </a:r>
            <a:endParaRPr lang="pt-BR"/>
          </a:p>
        </p:txBody>
      </p:sp>
      <p:graphicFrame>
        <p:nvGraphicFramePr>
          <p:cNvPr id="18" name="Gráfico 17">
            <a:extLst>
              <a:ext uri="{FF2B5EF4-FFF2-40B4-BE49-F238E27FC236}">
                <a16:creationId xmlns:a16="http://schemas.microsoft.com/office/drawing/2014/main" id="{CC3002C3-C888-491A-6C98-A1F7C7D7DFBA}"/>
              </a:ext>
            </a:extLst>
          </p:cNvPr>
          <p:cNvGraphicFramePr>
            <a:graphicFrameLocks/>
          </p:cNvGraphicFramePr>
          <p:nvPr>
            <p:extLst>
              <p:ext uri="{D42A27DB-BD31-4B8C-83A1-F6EECF244321}">
                <p14:modId xmlns:p14="http://schemas.microsoft.com/office/powerpoint/2010/main" val="392973460"/>
              </p:ext>
            </p:extLst>
          </p:nvPr>
        </p:nvGraphicFramePr>
        <p:xfrm>
          <a:off x="5257905" y="915954"/>
          <a:ext cx="2411162" cy="1668953"/>
        </p:xfrm>
        <a:graphic>
          <a:graphicData uri="http://schemas.openxmlformats.org/drawingml/2006/chart">
            <c:chart xmlns:c="http://schemas.openxmlformats.org/drawingml/2006/chart" xmlns:r="http://schemas.openxmlformats.org/officeDocument/2006/relationships" r:id="rId2"/>
          </a:graphicData>
        </a:graphic>
      </p:graphicFrame>
      <p:pic>
        <p:nvPicPr>
          <p:cNvPr id="20" name="Imagem 19" descr="Forma&#10;&#10;O conteúdo gerado por IA pode estar incorreto.">
            <a:extLst>
              <a:ext uri="{FF2B5EF4-FFF2-40B4-BE49-F238E27FC236}">
                <a16:creationId xmlns:a16="http://schemas.microsoft.com/office/drawing/2014/main" id="{A570773C-A603-E6E2-857A-08DE992A581B}"/>
              </a:ext>
            </a:extLst>
          </p:cNvPr>
          <p:cNvPicPr>
            <a:picLocks noChangeAspect="1"/>
          </p:cNvPicPr>
          <p:nvPr/>
        </p:nvPicPr>
        <p:blipFill>
          <a:blip r:embed="rId3" cstate="print">
            <a:alphaModFix/>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293569" y="5755566"/>
            <a:ext cx="341629" cy="341629"/>
          </a:xfrm>
          <a:prstGeom prst="rect">
            <a:avLst/>
          </a:prstGeom>
        </p:spPr>
      </p:pic>
      <p:sp>
        <p:nvSpPr>
          <p:cNvPr id="21" name="CaixaDeTexto 20">
            <a:extLst>
              <a:ext uri="{FF2B5EF4-FFF2-40B4-BE49-F238E27FC236}">
                <a16:creationId xmlns:a16="http://schemas.microsoft.com/office/drawing/2014/main" id="{757BC8AA-3613-30B1-D612-A72E7A25C278}"/>
              </a:ext>
            </a:extLst>
          </p:cNvPr>
          <p:cNvSpPr txBox="1"/>
          <p:nvPr/>
        </p:nvSpPr>
        <p:spPr>
          <a:xfrm>
            <a:off x="6247880" y="5580256"/>
            <a:ext cx="458479" cy="223138"/>
          </a:xfrm>
          <a:prstGeom prst="rect">
            <a:avLst/>
          </a:prstGeom>
          <a:noFill/>
        </p:spPr>
        <p:txBody>
          <a:bodyPr wrap="square" rtlCol="0">
            <a:spAutoFit/>
          </a:bodyPr>
          <a:lstStyle/>
          <a:p>
            <a:pPr algn="ctr"/>
            <a:r>
              <a:rPr lang="pt-BR" sz="850"/>
              <a:t>MFM</a:t>
            </a:r>
          </a:p>
        </p:txBody>
      </p:sp>
      <p:sp>
        <p:nvSpPr>
          <p:cNvPr id="22" name="CaixaDeTexto 21">
            <a:extLst>
              <a:ext uri="{FF2B5EF4-FFF2-40B4-BE49-F238E27FC236}">
                <a16:creationId xmlns:a16="http://schemas.microsoft.com/office/drawing/2014/main" id="{EFB065CF-91BF-7218-0E78-182D306C1DC4}"/>
              </a:ext>
            </a:extLst>
          </p:cNvPr>
          <p:cNvSpPr txBox="1"/>
          <p:nvPr/>
        </p:nvSpPr>
        <p:spPr>
          <a:xfrm>
            <a:off x="6923916" y="6124064"/>
            <a:ext cx="939752" cy="223138"/>
          </a:xfrm>
          <a:prstGeom prst="rect">
            <a:avLst/>
          </a:prstGeom>
          <a:noFill/>
        </p:spPr>
        <p:txBody>
          <a:bodyPr wrap="square" rtlCol="0">
            <a:spAutoFit/>
          </a:bodyPr>
          <a:lstStyle/>
          <a:p>
            <a:pPr algn="ctr"/>
            <a:r>
              <a:rPr lang="pt-BR" sz="850"/>
              <a:t>Digital App</a:t>
            </a:r>
          </a:p>
        </p:txBody>
      </p:sp>
      <p:sp>
        <p:nvSpPr>
          <p:cNvPr id="23" name="CaixaDeTexto 22">
            <a:extLst>
              <a:ext uri="{FF2B5EF4-FFF2-40B4-BE49-F238E27FC236}">
                <a16:creationId xmlns:a16="http://schemas.microsoft.com/office/drawing/2014/main" id="{385D5836-44CE-5130-96C4-FC33ED00F93C}"/>
              </a:ext>
            </a:extLst>
          </p:cNvPr>
          <p:cNvSpPr txBox="1"/>
          <p:nvPr/>
        </p:nvSpPr>
        <p:spPr>
          <a:xfrm>
            <a:off x="5068265" y="6130873"/>
            <a:ext cx="996011" cy="223138"/>
          </a:xfrm>
          <a:prstGeom prst="rect">
            <a:avLst/>
          </a:prstGeom>
          <a:noFill/>
        </p:spPr>
        <p:txBody>
          <a:bodyPr wrap="square" rtlCol="0">
            <a:spAutoFit/>
          </a:bodyPr>
          <a:lstStyle/>
          <a:p>
            <a:pPr algn="ctr"/>
            <a:r>
              <a:rPr lang="pt-BR" sz="850"/>
              <a:t>Interface</a:t>
            </a:r>
          </a:p>
        </p:txBody>
      </p:sp>
      <p:sp>
        <p:nvSpPr>
          <p:cNvPr id="24" name="CaixaDeTexto 23">
            <a:extLst>
              <a:ext uri="{FF2B5EF4-FFF2-40B4-BE49-F238E27FC236}">
                <a16:creationId xmlns:a16="http://schemas.microsoft.com/office/drawing/2014/main" id="{ABE4874C-673C-B564-AA3B-932BA04CDFC1}"/>
              </a:ext>
            </a:extLst>
          </p:cNvPr>
          <p:cNvSpPr txBox="1"/>
          <p:nvPr/>
        </p:nvSpPr>
        <p:spPr>
          <a:xfrm>
            <a:off x="6185439" y="6772288"/>
            <a:ext cx="630172" cy="223138"/>
          </a:xfrm>
          <a:prstGeom prst="rect">
            <a:avLst/>
          </a:prstGeom>
          <a:noFill/>
        </p:spPr>
        <p:txBody>
          <a:bodyPr wrap="square" rtlCol="0">
            <a:spAutoFit/>
          </a:bodyPr>
          <a:lstStyle/>
          <a:p>
            <a:pPr algn="ctr"/>
            <a:r>
              <a:rPr lang="pt-BR" sz="850"/>
              <a:t>Cloud</a:t>
            </a:r>
          </a:p>
        </p:txBody>
      </p:sp>
      <p:sp>
        <p:nvSpPr>
          <p:cNvPr id="25" name="CaixaDeTexto 24">
            <a:extLst>
              <a:ext uri="{FF2B5EF4-FFF2-40B4-BE49-F238E27FC236}">
                <a16:creationId xmlns:a16="http://schemas.microsoft.com/office/drawing/2014/main" id="{114F16DA-9366-ADFD-8F0D-3D5D292848EE}"/>
              </a:ext>
            </a:extLst>
          </p:cNvPr>
          <p:cNvSpPr txBox="1"/>
          <p:nvPr/>
        </p:nvSpPr>
        <p:spPr>
          <a:xfrm>
            <a:off x="5188167" y="6777450"/>
            <a:ext cx="741178" cy="223138"/>
          </a:xfrm>
          <a:prstGeom prst="rect">
            <a:avLst/>
          </a:prstGeom>
          <a:noFill/>
        </p:spPr>
        <p:txBody>
          <a:bodyPr wrap="square" rtlCol="0">
            <a:spAutoFit/>
          </a:bodyPr>
          <a:lstStyle/>
          <a:p>
            <a:pPr algn="ctr"/>
            <a:r>
              <a:rPr lang="pt-BR" sz="850"/>
              <a:t>Gateway</a:t>
            </a:r>
          </a:p>
        </p:txBody>
      </p:sp>
      <p:sp>
        <p:nvSpPr>
          <p:cNvPr id="26" name="CaixaDeTexto 25">
            <a:extLst>
              <a:ext uri="{FF2B5EF4-FFF2-40B4-BE49-F238E27FC236}">
                <a16:creationId xmlns:a16="http://schemas.microsoft.com/office/drawing/2014/main" id="{393D6D7C-1073-4BF6-C7B6-279B39E3E06A}"/>
              </a:ext>
            </a:extLst>
          </p:cNvPr>
          <p:cNvSpPr txBox="1"/>
          <p:nvPr/>
        </p:nvSpPr>
        <p:spPr>
          <a:xfrm>
            <a:off x="7117675" y="6772288"/>
            <a:ext cx="630172" cy="223138"/>
          </a:xfrm>
          <a:prstGeom prst="rect">
            <a:avLst/>
          </a:prstGeom>
          <a:noFill/>
        </p:spPr>
        <p:txBody>
          <a:bodyPr wrap="square" rtlCol="0">
            <a:spAutoFit/>
          </a:bodyPr>
          <a:lstStyle/>
          <a:p>
            <a:pPr algn="ctr"/>
            <a:r>
              <a:rPr lang="pt-BR" sz="850" err="1"/>
              <a:t>Scan</a:t>
            </a:r>
            <a:r>
              <a:rPr lang="pt-BR" sz="850"/>
              <a:t> App</a:t>
            </a:r>
          </a:p>
        </p:txBody>
      </p:sp>
      <p:sp>
        <p:nvSpPr>
          <p:cNvPr id="27" name="CaixaDeTexto 26">
            <a:extLst>
              <a:ext uri="{FF2B5EF4-FFF2-40B4-BE49-F238E27FC236}">
                <a16:creationId xmlns:a16="http://schemas.microsoft.com/office/drawing/2014/main" id="{E877ABE4-5C51-4502-EFA6-F9765A7D4E4A}"/>
              </a:ext>
            </a:extLst>
          </p:cNvPr>
          <p:cNvSpPr txBox="1"/>
          <p:nvPr/>
        </p:nvSpPr>
        <p:spPr>
          <a:xfrm>
            <a:off x="5672517" y="7232751"/>
            <a:ext cx="1680817" cy="223138"/>
          </a:xfrm>
          <a:prstGeom prst="rect">
            <a:avLst/>
          </a:prstGeom>
          <a:noFill/>
        </p:spPr>
        <p:txBody>
          <a:bodyPr wrap="square" rtlCol="0">
            <a:spAutoFit/>
          </a:bodyPr>
          <a:lstStyle/>
          <a:p>
            <a:pPr algn="ctr"/>
            <a:r>
              <a:rPr lang="pt-BR" sz="850" err="1"/>
              <a:t>Assets</a:t>
            </a:r>
            <a:r>
              <a:rPr lang="pt-BR" sz="850"/>
              <a:t> </a:t>
            </a:r>
            <a:r>
              <a:rPr lang="pt-BR" sz="850" err="1"/>
              <a:t>with</a:t>
            </a:r>
            <a:r>
              <a:rPr lang="pt-BR" sz="850"/>
              <a:t> </a:t>
            </a:r>
            <a:r>
              <a:rPr lang="pt-BR" sz="850" err="1"/>
              <a:t>multiple</a:t>
            </a:r>
            <a:r>
              <a:rPr lang="pt-BR" sz="850"/>
              <a:t> </a:t>
            </a:r>
            <a:r>
              <a:rPr lang="pt-BR" sz="850" err="1"/>
              <a:t>sensors</a:t>
            </a:r>
            <a:endParaRPr lang="pt-BR" sz="850"/>
          </a:p>
        </p:txBody>
      </p:sp>
      <p:pic>
        <p:nvPicPr>
          <p:cNvPr id="30" name="Gráfico 29" descr="Baixar da nuvem estrutura de tópicos">
            <a:extLst>
              <a:ext uri="{FF2B5EF4-FFF2-40B4-BE49-F238E27FC236}">
                <a16:creationId xmlns:a16="http://schemas.microsoft.com/office/drawing/2014/main" id="{BABA4D70-9A50-67FA-E2EC-1000D261F32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06306" y="6432793"/>
            <a:ext cx="400053" cy="400053"/>
          </a:xfrm>
          <a:prstGeom prst="rect">
            <a:avLst/>
          </a:prstGeom>
        </p:spPr>
      </p:pic>
      <p:pic>
        <p:nvPicPr>
          <p:cNvPr id="32" name="Gráfico 31" descr="Smartphone estrutura de tópicos">
            <a:extLst>
              <a:ext uri="{FF2B5EF4-FFF2-40B4-BE49-F238E27FC236}">
                <a16:creationId xmlns:a16="http://schemas.microsoft.com/office/drawing/2014/main" id="{866CCA52-30D1-844B-D83E-F8D547B4B6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93848" y="5731461"/>
            <a:ext cx="392603" cy="392603"/>
          </a:xfrm>
          <a:prstGeom prst="rect">
            <a:avLst/>
          </a:prstGeom>
        </p:spPr>
      </p:pic>
      <p:pic>
        <p:nvPicPr>
          <p:cNvPr id="17" name="Gráfico 16" descr="Laptop estrutura de tópicos">
            <a:extLst>
              <a:ext uri="{FF2B5EF4-FFF2-40B4-BE49-F238E27FC236}">
                <a16:creationId xmlns:a16="http://schemas.microsoft.com/office/drawing/2014/main" id="{BA0632DF-904F-B2E2-A3AD-74C48290E98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27325" y="5699277"/>
            <a:ext cx="474613" cy="474613"/>
          </a:xfrm>
          <a:prstGeom prst="rect">
            <a:avLst/>
          </a:prstGeom>
        </p:spPr>
      </p:pic>
      <p:pic>
        <p:nvPicPr>
          <p:cNvPr id="13" name="Imagem 12" descr="Forma&#10;&#10;O conteúdo gerado por IA pode estar incorreto.">
            <a:extLst>
              <a:ext uri="{FF2B5EF4-FFF2-40B4-BE49-F238E27FC236}">
                <a16:creationId xmlns:a16="http://schemas.microsoft.com/office/drawing/2014/main" id="{DB9BA90F-014C-7EA3-77DD-0B5B3083C63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333925" y="6424110"/>
            <a:ext cx="376005" cy="376005"/>
          </a:xfrm>
          <a:prstGeom prst="rect">
            <a:avLst/>
          </a:prstGeom>
        </p:spPr>
      </p:pic>
      <p:cxnSp>
        <p:nvCxnSpPr>
          <p:cNvPr id="29" name="Conector reto 28">
            <a:extLst>
              <a:ext uri="{FF2B5EF4-FFF2-40B4-BE49-F238E27FC236}">
                <a16:creationId xmlns:a16="http://schemas.microsoft.com/office/drawing/2014/main" id="{6C39D80A-AE41-FFA7-DB58-282D0E385998}"/>
              </a:ext>
            </a:extLst>
          </p:cNvPr>
          <p:cNvCxnSpPr/>
          <p:nvPr/>
        </p:nvCxnSpPr>
        <p:spPr>
          <a:xfrm>
            <a:off x="201282" y="696582"/>
            <a:ext cx="4866017"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33" name="Imagem 32" descr="Forma&#10;&#10;O conteúdo gerado por IA pode estar incorreto.">
            <a:extLst>
              <a:ext uri="{FF2B5EF4-FFF2-40B4-BE49-F238E27FC236}">
                <a16:creationId xmlns:a16="http://schemas.microsoft.com/office/drawing/2014/main" id="{3B516403-DE73-AB68-B87B-4CD0779263A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186552" y="6431642"/>
            <a:ext cx="450869" cy="388298"/>
          </a:xfrm>
          <a:prstGeom prst="rect">
            <a:avLst/>
          </a:prstGeom>
        </p:spPr>
      </p:pic>
      <p:graphicFrame>
        <p:nvGraphicFramePr>
          <p:cNvPr id="40" name="Gráfico 39">
            <a:extLst>
              <a:ext uri="{FF2B5EF4-FFF2-40B4-BE49-F238E27FC236}">
                <a16:creationId xmlns:a16="http://schemas.microsoft.com/office/drawing/2014/main" id="{BE481CB9-EDF3-AE27-869B-FF881BFE81E7}"/>
              </a:ext>
            </a:extLst>
          </p:cNvPr>
          <p:cNvGraphicFramePr>
            <a:graphicFrameLocks/>
          </p:cNvGraphicFramePr>
          <p:nvPr>
            <p:extLst>
              <p:ext uri="{D42A27DB-BD31-4B8C-83A1-F6EECF244321}">
                <p14:modId xmlns:p14="http://schemas.microsoft.com/office/powerpoint/2010/main" val="2038534439"/>
              </p:ext>
            </p:extLst>
          </p:nvPr>
        </p:nvGraphicFramePr>
        <p:xfrm>
          <a:off x="5294668" y="3089397"/>
          <a:ext cx="2179388" cy="1932152"/>
        </p:xfrm>
        <a:graphic>
          <a:graphicData uri="http://schemas.openxmlformats.org/drawingml/2006/chart">
            <c:chart xmlns:c="http://schemas.openxmlformats.org/drawingml/2006/chart" xmlns:r="http://schemas.openxmlformats.org/officeDocument/2006/relationships" r:id="rId12"/>
          </a:graphicData>
        </a:graphic>
      </p:graphicFrame>
      <p:cxnSp>
        <p:nvCxnSpPr>
          <p:cNvPr id="38" name="Conector reto 37">
            <a:extLst>
              <a:ext uri="{FF2B5EF4-FFF2-40B4-BE49-F238E27FC236}">
                <a16:creationId xmlns:a16="http://schemas.microsoft.com/office/drawing/2014/main" id="{DFC3E837-1079-E925-4803-FD4F9561ACCA}"/>
              </a:ext>
            </a:extLst>
          </p:cNvPr>
          <p:cNvCxnSpPr/>
          <p:nvPr/>
        </p:nvCxnSpPr>
        <p:spPr>
          <a:xfrm>
            <a:off x="5878864" y="5936583"/>
            <a:ext cx="3195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ector reto 40">
            <a:extLst>
              <a:ext uri="{FF2B5EF4-FFF2-40B4-BE49-F238E27FC236}">
                <a16:creationId xmlns:a16="http://schemas.microsoft.com/office/drawing/2014/main" id="{75C3EBEC-945A-0C8C-F3D1-4EB9CF9D33AC}"/>
              </a:ext>
            </a:extLst>
          </p:cNvPr>
          <p:cNvCxnSpPr/>
          <p:nvPr/>
        </p:nvCxnSpPr>
        <p:spPr>
          <a:xfrm>
            <a:off x="6779232" y="5939559"/>
            <a:ext cx="3195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ector reto 41">
            <a:extLst>
              <a:ext uri="{FF2B5EF4-FFF2-40B4-BE49-F238E27FC236}">
                <a16:creationId xmlns:a16="http://schemas.microsoft.com/office/drawing/2014/main" id="{5BBE4E00-1F00-9648-908E-BA05E1AFF791}"/>
              </a:ext>
            </a:extLst>
          </p:cNvPr>
          <p:cNvCxnSpPr>
            <a:cxnSpLocks/>
          </p:cNvCxnSpPr>
          <p:nvPr/>
        </p:nvCxnSpPr>
        <p:spPr>
          <a:xfrm flipV="1">
            <a:off x="6477119" y="6130873"/>
            <a:ext cx="0" cy="2650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ector reto 44">
            <a:extLst>
              <a:ext uri="{FF2B5EF4-FFF2-40B4-BE49-F238E27FC236}">
                <a16:creationId xmlns:a16="http://schemas.microsoft.com/office/drawing/2014/main" id="{236EC4C7-4364-3B72-3BD4-AE4A1FC61374}"/>
              </a:ext>
            </a:extLst>
          </p:cNvPr>
          <p:cNvCxnSpPr/>
          <p:nvPr/>
        </p:nvCxnSpPr>
        <p:spPr>
          <a:xfrm>
            <a:off x="5878864" y="6643291"/>
            <a:ext cx="3195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Conector reto 45">
            <a:extLst>
              <a:ext uri="{FF2B5EF4-FFF2-40B4-BE49-F238E27FC236}">
                <a16:creationId xmlns:a16="http://schemas.microsoft.com/office/drawing/2014/main" id="{DF5A50C4-D742-2903-EAF7-936D848706AA}"/>
              </a:ext>
            </a:extLst>
          </p:cNvPr>
          <p:cNvCxnSpPr/>
          <p:nvPr/>
        </p:nvCxnSpPr>
        <p:spPr>
          <a:xfrm>
            <a:off x="6857056" y="6643291"/>
            <a:ext cx="3195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a:extLst>
              <a:ext uri="{FF2B5EF4-FFF2-40B4-BE49-F238E27FC236}">
                <a16:creationId xmlns:a16="http://schemas.microsoft.com/office/drawing/2014/main" id="{8F04B6FC-991B-0C7D-087C-B823AFAE084A}"/>
              </a:ext>
            </a:extLst>
          </p:cNvPr>
          <p:cNvCxnSpPr>
            <a:cxnSpLocks/>
          </p:cNvCxnSpPr>
          <p:nvPr/>
        </p:nvCxnSpPr>
        <p:spPr>
          <a:xfrm flipV="1">
            <a:off x="6500525" y="6995426"/>
            <a:ext cx="0" cy="265028"/>
          </a:xfrm>
          <a:prstGeom prst="line">
            <a:avLst/>
          </a:prstGeom>
        </p:spPr>
        <p:style>
          <a:lnRef idx="1">
            <a:schemeClr val="accent1"/>
          </a:lnRef>
          <a:fillRef idx="0">
            <a:schemeClr val="accent1"/>
          </a:fillRef>
          <a:effectRef idx="0">
            <a:schemeClr val="accent1"/>
          </a:effectRef>
          <a:fontRef idx="minor">
            <a:schemeClr val="tx1"/>
          </a:fontRef>
        </p:style>
      </p:cxnSp>
      <p:sp>
        <p:nvSpPr>
          <p:cNvPr id="50" name="Espaço Reservado para Número de Slide 16">
            <a:extLst>
              <a:ext uri="{FF2B5EF4-FFF2-40B4-BE49-F238E27FC236}">
                <a16:creationId xmlns:a16="http://schemas.microsoft.com/office/drawing/2014/main" id="{9CA7AF2E-3358-61E3-E5D5-01B95856D6BB}"/>
              </a:ext>
            </a:extLst>
          </p:cNvPr>
          <p:cNvSpPr>
            <a:spLocks noGrp="1"/>
          </p:cNvSpPr>
          <p:nvPr>
            <p:ph type="sldNum" sz="quarter" idx="7"/>
          </p:nvPr>
        </p:nvSpPr>
        <p:spPr>
          <a:xfrm>
            <a:off x="7178515" y="10312736"/>
            <a:ext cx="515895" cy="230114"/>
          </a:xfrm>
        </p:spPr>
        <p:txBody>
          <a:bodyPr/>
          <a:lstStyle/>
          <a:p>
            <a:pPr algn="ctr">
              <a:spcBef>
                <a:spcPts val="65"/>
              </a:spcBef>
            </a:pPr>
            <a:r>
              <a:rPr lang="en-US" sz="800"/>
              <a:t>5</a:t>
            </a:r>
          </a:p>
        </p:txBody>
      </p:sp>
      <p:grpSp>
        <p:nvGrpSpPr>
          <p:cNvPr id="63" name="Agrupar 62">
            <a:extLst>
              <a:ext uri="{FF2B5EF4-FFF2-40B4-BE49-F238E27FC236}">
                <a16:creationId xmlns:a16="http://schemas.microsoft.com/office/drawing/2014/main" id="{34C7AB7B-7421-BE40-009B-3BABBAFC60D9}"/>
              </a:ext>
            </a:extLst>
          </p:cNvPr>
          <p:cNvGrpSpPr/>
          <p:nvPr/>
        </p:nvGrpSpPr>
        <p:grpSpPr>
          <a:xfrm>
            <a:off x="5599864" y="8179109"/>
            <a:ext cx="1586688" cy="1549866"/>
            <a:chOff x="5709930" y="8100188"/>
            <a:chExt cx="1637981" cy="1712881"/>
          </a:xfrm>
        </p:grpSpPr>
        <p:sp>
          <p:nvSpPr>
            <p:cNvPr id="19" name="Retângulo 18">
              <a:extLst>
                <a:ext uri="{FF2B5EF4-FFF2-40B4-BE49-F238E27FC236}">
                  <a16:creationId xmlns:a16="http://schemas.microsoft.com/office/drawing/2014/main" id="{EEEB3621-C9DC-692F-6552-415E91DCF344}"/>
                </a:ext>
              </a:extLst>
            </p:cNvPr>
            <p:cNvSpPr/>
            <p:nvPr/>
          </p:nvSpPr>
          <p:spPr>
            <a:xfrm>
              <a:off x="5709930" y="9290527"/>
              <a:ext cx="412694" cy="52254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0D9055D8-FF85-E6FF-ADD5-4ABBB8E4EEB2}"/>
                </a:ext>
              </a:extLst>
            </p:cNvPr>
            <p:cNvSpPr/>
            <p:nvPr/>
          </p:nvSpPr>
          <p:spPr>
            <a:xfrm>
              <a:off x="6935217" y="8530752"/>
              <a:ext cx="412694" cy="1282317"/>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7" name="Conector Reto 36">
              <a:extLst>
                <a:ext uri="{FF2B5EF4-FFF2-40B4-BE49-F238E27FC236}">
                  <a16:creationId xmlns:a16="http://schemas.microsoft.com/office/drawing/2014/main" id="{ECA6F361-FC7F-5B8E-AF6A-BF672CF720A7}"/>
                </a:ext>
              </a:extLst>
            </p:cNvPr>
            <p:cNvCxnSpPr>
              <a:cxnSpLocks/>
            </p:cNvCxnSpPr>
            <p:nvPr/>
          </p:nvCxnSpPr>
          <p:spPr>
            <a:xfrm flipV="1">
              <a:off x="5916277" y="8223173"/>
              <a:ext cx="0" cy="9654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ector Reto 38">
              <a:extLst>
                <a:ext uri="{FF2B5EF4-FFF2-40B4-BE49-F238E27FC236}">
                  <a16:creationId xmlns:a16="http://schemas.microsoft.com/office/drawing/2014/main" id="{6114C546-BDD9-701A-1743-84F12AE018B7}"/>
                </a:ext>
              </a:extLst>
            </p:cNvPr>
            <p:cNvCxnSpPr>
              <a:cxnSpLocks/>
            </p:cNvCxnSpPr>
            <p:nvPr/>
          </p:nvCxnSpPr>
          <p:spPr>
            <a:xfrm>
              <a:off x="5916277" y="8223173"/>
              <a:ext cx="123881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tângulo 48">
              <a:extLst>
                <a:ext uri="{FF2B5EF4-FFF2-40B4-BE49-F238E27FC236}">
                  <a16:creationId xmlns:a16="http://schemas.microsoft.com/office/drawing/2014/main" id="{1780C6CA-C375-E66C-3041-33A893B40E36}"/>
                </a:ext>
              </a:extLst>
            </p:cNvPr>
            <p:cNvSpPr/>
            <p:nvPr/>
          </p:nvSpPr>
          <p:spPr>
            <a:xfrm>
              <a:off x="5747343" y="9145549"/>
              <a:ext cx="319149" cy="1164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400"/>
                <a:t>1,84</a:t>
              </a:r>
            </a:p>
          </p:txBody>
        </p:sp>
        <p:sp>
          <p:nvSpPr>
            <p:cNvPr id="52" name="Retângulo 51">
              <a:extLst>
                <a:ext uri="{FF2B5EF4-FFF2-40B4-BE49-F238E27FC236}">
                  <a16:creationId xmlns:a16="http://schemas.microsoft.com/office/drawing/2014/main" id="{32DC41AF-E8FF-6065-6027-567203189735}"/>
                </a:ext>
              </a:extLst>
            </p:cNvPr>
            <p:cNvSpPr/>
            <p:nvPr/>
          </p:nvSpPr>
          <p:spPr>
            <a:xfrm>
              <a:off x="6995513" y="8375521"/>
              <a:ext cx="319149" cy="1164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400"/>
                <a:t>5,08</a:t>
              </a:r>
            </a:p>
          </p:txBody>
        </p:sp>
        <p:sp>
          <p:nvSpPr>
            <p:cNvPr id="54" name="Retângulo 53">
              <a:extLst>
                <a:ext uri="{FF2B5EF4-FFF2-40B4-BE49-F238E27FC236}">
                  <a16:creationId xmlns:a16="http://schemas.microsoft.com/office/drawing/2014/main" id="{DEF6D65B-3BA7-F519-AC7C-F107CD86B744}"/>
                </a:ext>
              </a:extLst>
            </p:cNvPr>
            <p:cNvSpPr/>
            <p:nvPr/>
          </p:nvSpPr>
          <p:spPr>
            <a:xfrm>
              <a:off x="6050341" y="8100188"/>
              <a:ext cx="751249" cy="268560"/>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a:solidFill>
                    <a:schemeClr val="accent1"/>
                  </a:solidFill>
                </a:rPr>
                <a:t>CAGR: 28,82%</a:t>
              </a:r>
            </a:p>
          </p:txBody>
        </p:sp>
        <p:cxnSp>
          <p:nvCxnSpPr>
            <p:cNvPr id="57" name="Conector Reto 56">
              <a:extLst>
                <a:ext uri="{FF2B5EF4-FFF2-40B4-BE49-F238E27FC236}">
                  <a16:creationId xmlns:a16="http://schemas.microsoft.com/office/drawing/2014/main" id="{2011C961-9DD8-4FC1-5BF4-3C182A802D5D}"/>
                </a:ext>
              </a:extLst>
            </p:cNvPr>
            <p:cNvCxnSpPr>
              <a:cxnSpLocks/>
              <a:endCxn id="52" idx="0"/>
            </p:cNvCxnSpPr>
            <p:nvPr/>
          </p:nvCxnSpPr>
          <p:spPr>
            <a:xfrm>
              <a:off x="7155087" y="8223173"/>
              <a:ext cx="1" cy="152348"/>
            </a:xfrm>
            <a:prstGeom prst="line">
              <a:avLst/>
            </a:prstGeom>
          </p:spPr>
          <p:style>
            <a:lnRef idx="1">
              <a:schemeClr val="accent1"/>
            </a:lnRef>
            <a:fillRef idx="0">
              <a:schemeClr val="accent1"/>
            </a:fillRef>
            <a:effectRef idx="0">
              <a:schemeClr val="accent1"/>
            </a:effectRef>
            <a:fontRef idx="minor">
              <a:schemeClr val="tx1"/>
            </a:fontRef>
          </p:style>
        </p:cxnSp>
      </p:grpSp>
      <p:sp>
        <p:nvSpPr>
          <p:cNvPr id="64" name="Espaço Reservado para Texto 14">
            <a:extLst>
              <a:ext uri="{FF2B5EF4-FFF2-40B4-BE49-F238E27FC236}">
                <a16:creationId xmlns:a16="http://schemas.microsoft.com/office/drawing/2014/main" id="{B9475D51-2BCC-C096-1F34-5364E0A415AF}"/>
              </a:ext>
            </a:extLst>
          </p:cNvPr>
          <p:cNvSpPr txBox="1">
            <a:spLocks/>
          </p:cNvSpPr>
          <p:nvPr/>
        </p:nvSpPr>
        <p:spPr>
          <a:xfrm>
            <a:off x="5636105" y="9699739"/>
            <a:ext cx="399771" cy="110078"/>
          </a:xfrm>
          <a:prstGeom prst="rect">
            <a:avLst/>
          </a:prstGeom>
        </p:spPr>
        <p:txBody>
          <a:bodyPr/>
          <a:lstStyle>
            <a:lvl1pPr marL="0">
              <a:defRPr sz="600" i="1">
                <a:solidFill>
                  <a:schemeClr val="bg1">
                    <a:lumMod val="65000"/>
                  </a:schemeClr>
                </a:solidFill>
                <a:latin typeface="+mn-lt"/>
                <a:ea typeface="+mn-ea"/>
                <a:cs typeface="+mn-cs"/>
              </a:defRPr>
            </a:lvl1pPr>
            <a:lvl2pPr marL="457200">
              <a:defRPr sz="1000">
                <a:latin typeface="+mn-lt"/>
                <a:ea typeface="+mn-ea"/>
                <a:cs typeface="+mn-cs"/>
              </a:defRPr>
            </a:lvl2pPr>
            <a:lvl3pPr marL="914400">
              <a:defRPr sz="1000">
                <a:latin typeface="+mn-lt"/>
                <a:ea typeface="+mn-ea"/>
                <a:cs typeface="+mn-cs"/>
              </a:defRPr>
            </a:lvl3pPr>
            <a:lvl4pPr marL="1371600">
              <a:defRPr sz="1000">
                <a:latin typeface="+mn-lt"/>
                <a:ea typeface="+mn-ea"/>
                <a:cs typeface="+mn-cs"/>
              </a:defRPr>
            </a:lvl4pPr>
            <a:lvl5pPr marL="1828800">
              <a:defRPr sz="1000">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pt-BR" kern="0"/>
              <a:t>2024</a:t>
            </a:r>
          </a:p>
        </p:txBody>
      </p:sp>
      <p:sp>
        <p:nvSpPr>
          <p:cNvPr id="65" name="Espaço Reservado para Texto 14">
            <a:extLst>
              <a:ext uri="{FF2B5EF4-FFF2-40B4-BE49-F238E27FC236}">
                <a16:creationId xmlns:a16="http://schemas.microsoft.com/office/drawing/2014/main" id="{E404C40D-275E-486F-566C-C4E5368EBD07}"/>
              </a:ext>
            </a:extLst>
          </p:cNvPr>
          <p:cNvSpPr txBox="1">
            <a:spLocks/>
          </p:cNvSpPr>
          <p:nvPr/>
        </p:nvSpPr>
        <p:spPr>
          <a:xfrm>
            <a:off x="6802360" y="9694355"/>
            <a:ext cx="399771" cy="110078"/>
          </a:xfrm>
          <a:prstGeom prst="rect">
            <a:avLst/>
          </a:prstGeom>
        </p:spPr>
        <p:txBody>
          <a:bodyPr/>
          <a:lstStyle>
            <a:lvl1pPr marL="0">
              <a:defRPr sz="600" i="1">
                <a:solidFill>
                  <a:schemeClr val="bg1">
                    <a:lumMod val="65000"/>
                  </a:schemeClr>
                </a:solidFill>
                <a:latin typeface="+mn-lt"/>
                <a:ea typeface="+mn-ea"/>
                <a:cs typeface="+mn-cs"/>
              </a:defRPr>
            </a:lvl1pPr>
            <a:lvl2pPr marL="457200">
              <a:defRPr sz="1000">
                <a:latin typeface="+mn-lt"/>
                <a:ea typeface="+mn-ea"/>
                <a:cs typeface="+mn-cs"/>
              </a:defRPr>
            </a:lvl2pPr>
            <a:lvl3pPr marL="914400">
              <a:defRPr sz="1000">
                <a:latin typeface="+mn-lt"/>
                <a:ea typeface="+mn-ea"/>
                <a:cs typeface="+mn-cs"/>
              </a:defRPr>
            </a:lvl3pPr>
            <a:lvl4pPr marL="1371600">
              <a:defRPr sz="1000">
                <a:latin typeface="+mn-lt"/>
                <a:ea typeface="+mn-ea"/>
                <a:cs typeface="+mn-cs"/>
              </a:defRPr>
            </a:lvl4pPr>
            <a:lvl5pPr marL="1828800">
              <a:defRPr sz="1000">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pt-BR" kern="0"/>
              <a:t>2029</a:t>
            </a:r>
          </a:p>
        </p:txBody>
      </p:sp>
    </p:spTree>
    <p:extLst>
      <p:ext uri="{BB962C8B-B14F-4D97-AF65-F5344CB8AC3E}">
        <p14:creationId xmlns:p14="http://schemas.microsoft.com/office/powerpoint/2010/main" val="1062803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20735-9558-11BC-6997-6021E404D0BF}"/>
            </a:ext>
          </a:extLst>
        </p:cNvPr>
        <p:cNvGrpSpPr/>
        <p:nvPr/>
      </p:nvGrpSpPr>
      <p:grpSpPr>
        <a:xfrm>
          <a:off x="0" y="0"/>
          <a:ext cx="0" cy="0"/>
          <a:chOff x="0" y="0"/>
          <a:chExt cx="0" cy="0"/>
        </a:xfrm>
      </p:grpSpPr>
      <p:graphicFrame>
        <p:nvGraphicFramePr>
          <p:cNvPr id="16" name="Objeto 15">
            <a:extLst>
              <a:ext uri="{FF2B5EF4-FFF2-40B4-BE49-F238E27FC236}">
                <a16:creationId xmlns:a16="http://schemas.microsoft.com/office/drawing/2014/main" id="{60CB76BF-2A74-E9F8-1430-1266CC256B09}"/>
              </a:ext>
            </a:extLst>
          </p:cNvPr>
          <p:cNvGraphicFramePr>
            <a:graphicFrameLocks noChangeAspect="1"/>
          </p:cNvGraphicFramePr>
          <p:nvPr>
            <p:extLst>
              <p:ext uri="{D42A27DB-BD31-4B8C-83A1-F6EECF244321}">
                <p14:modId xmlns:p14="http://schemas.microsoft.com/office/powerpoint/2010/main" val="3094868534"/>
              </p:ext>
            </p:extLst>
          </p:nvPr>
        </p:nvGraphicFramePr>
        <p:xfrm>
          <a:off x="5330825" y="798513"/>
          <a:ext cx="2306638" cy="1778000"/>
        </p:xfrm>
        <a:graphic>
          <a:graphicData uri="http://schemas.openxmlformats.org/presentationml/2006/ole">
            <mc:AlternateContent xmlns:mc="http://schemas.openxmlformats.org/markup-compatibility/2006">
              <mc:Choice xmlns:v="urn:schemas-microsoft-com:vml" Requires="v">
                <p:oleObj name="Worksheet" r:id="rId3" imgW="2651760" imgH="2042129" progId="Excel.Sheet.12">
                  <p:embed/>
                </p:oleObj>
              </mc:Choice>
              <mc:Fallback>
                <p:oleObj name="Worksheet" r:id="rId3" imgW="2651760" imgH="2042129" progId="Excel.Sheet.12">
                  <p:embed/>
                  <p:pic>
                    <p:nvPicPr>
                      <p:cNvPr id="16" name="Objeto 15">
                        <a:extLst>
                          <a:ext uri="{FF2B5EF4-FFF2-40B4-BE49-F238E27FC236}">
                            <a16:creationId xmlns:a16="http://schemas.microsoft.com/office/drawing/2014/main" id="{60CB76BF-2A74-E9F8-1430-1266CC256B09}"/>
                          </a:ext>
                        </a:extLst>
                      </p:cNvPr>
                      <p:cNvPicPr/>
                      <p:nvPr/>
                    </p:nvPicPr>
                    <p:blipFill>
                      <a:blip r:embed="rId4"/>
                      <a:stretch>
                        <a:fillRect/>
                      </a:stretch>
                    </p:blipFill>
                    <p:spPr>
                      <a:xfrm>
                        <a:off x="5330825" y="798513"/>
                        <a:ext cx="2306638" cy="1778000"/>
                      </a:xfrm>
                      <a:prstGeom prst="rect">
                        <a:avLst/>
                      </a:prstGeom>
                    </p:spPr>
                  </p:pic>
                </p:oleObj>
              </mc:Fallback>
            </mc:AlternateContent>
          </a:graphicData>
        </a:graphic>
      </p:graphicFrame>
      <p:sp>
        <p:nvSpPr>
          <p:cNvPr id="19" name="CaixaDeTexto 18">
            <a:extLst>
              <a:ext uri="{FF2B5EF4-FFF2-40B4-BE49-F238E27FC236}">
                <a16:creationId xmlns:a16="http://schemas.microsoft.com/office/drawing/2014/main" id="{38350494-BBB1-A51A-7CB0-F7C5DB0B7FA9}"/>
              </a:ext>
            </a:extLst>
          </p:cNvPr>
          <p:cNvSpPr txBox="1"/>
          <p:nvPr/>
        </p:nvSpPr>
        <p:spPr>
          <a:xfrm>
            <a:off x="201283" y="507452"/>
            <a:ext cx="4866016" cy="5270674"/>
          </a:xfrm>
          <a:prstGeom prst="rect">
            <a:avLst/>
          </a:prstGeom>
          <a:noFill/>
        </p:spPr>
        <p:txBody>
          <a:bodyPr wrap="square" lIns="91440" tIns="45720" rIns="91440" bIns="45720" anchor="t">
            <a:spAutoFit/>
          </a:bodyPr>
          <a:lstStyle/>
          <a:p>
            <a:pPr algn="just"/>
            <a:r>
              <a:rPr lang="en-US" sz="800"/>
              <a:t>The lack of innovation also makes companies more vulnerable to risks, such as operational failures. However, in the case of WEG, for our group, investing in this company represents an opportunity for exposure to long-term trends in the industrial sector, with strong growth potential driven by digitalization and technological innovation. The company stands out for its ability to adapt to new market demands, such as Industry 4.0, and our group believes it is well-positioned to benefit from the growing need for intelligent and sustainable industrial asset management solutions. In this context, the Motion Fleet Management (MFM) mechanism, a technological asset management solution from WEG, which aims to bring more practicality and agility to operations, maintenance, and management of industrial plants, emerges as a technological innovation that is widely needed today. WEG's MFM solution stands out from competitors' programs, such as ABB, Siemens, and Schneider Electric, primarily due to its more specific and accessible integration for managing mobile assets. </a:t>
            </a:r>
          </a:p>
          <a:p>
            <a:pPr algn="just"/>
            <a:r>
              <a:rPr lang="en-US" sz="850"/>
              <a:t>While competitors' solutions offer broader monitoring and automation platforms, WEG's MFM stands out with advanced predictive analytics, allowing real-time asset performance optimization with a particular focus on operational efficiency and predictive maintenance. Additionally, the MFM is designed with a simplified interface, making it more accessible to companies of different sizes, including small and medium-sized enterprises, making it a more flexible and personalized option compared to the more complex solutions of its competitors. Finally, WEG's asset management mechanism utilizes AI for its analyses, a very important differentiator in this segment.</a:t>
            </a:r>
            <a:endParaRPr lang="en-US"/>
          </a:p>
          <a:p>
            <a:pPr algn="just"/>
            <a:r>
              <a:rPr lang="pt-BR" sz="1000" b="1">
                <a:solidFill>
                  <a:schemeClr val="accent1"/>
                </a:solidFill>
              </a:rPr>
              <a:t>THESIS 4 | ESG </a:t>
            </a:r>
            <a:r>
              <a:rPr lang="en-US" sz="1000" b="1">
                <a:solidFill>
                  <a:schemeClr val="accent1"/>
                </a:solidFill>
                <a:effectLst/>
              </a:rPr>
              <a:t>Leadership: </a:t>
            </a:r>
            <a:r>
              <a:rPr lang="en-US" sz="1000" b="1">
                <a:solidFill>
                  <a:schemeClr val="accent1"/>
                </a:solidFill>
              </a:rPr>
              <a:t>M</a:t>
            </a:r>
            <a:r>
              <a:rPr lang="en-US" sz="1000" b="1">
                <a:solidFill>
                  <a:schemeClr val="accent1"/>
                </a:solidFill>
                <a:effectLst/>
              </a:rPr>
              <a:t>otors Efficiency and </a:t>
            </a:r>
            <a:r>
              <a:rPr lang="en-US" sz="1000" b="1">
                <a:solidFill>
                  <a:schemeClr val="accent1"/>
                </a:solidFill>
              </a:rPr>
              <a:t>C</a:t>
            </a:r>
            <a:r>
              <a:rPr lang="en-US" sz="1000" b="1">
                <a:solidFill>
                  <a:schemeClr val="accent1"/>
                </a:solidFill>
                <a:effectLst/>
              </a:rPr>
              <a:t>lean </a:t>
            </a:r>
            <a:r>
              <a:rPr lang="en-US" sz="1000" b="1">
                <a:solidFill>
                  <a:schemeClr val="accent1"/>
                </a:solidFill>
              </a:rPr>
              <a:t>E</a:t>
            </a:r>
            <a:r>
              <a:rPr lang="en-US" sz="1000" b="1">
                <a:solidFill>
                  <a:schemeClr val="accent1"/>
                </a:solidFill>
                <a:effectLst/>
              </a:rPr>
              <a:t>nergy Generation</a:t>
            </a:r>
            <a:endParaRPr lang="en-US" sz="1000">
              <a:solidFill>
                <a:schemeClr val="accent1"/>
              </a:solidFill>
            </a:endParaRPr>
          </a:p>
          <a:p>
            <a:pPr algn="just"/>
            <a:r>
              <a:rPr lang="en-US" sz="850"/>
              <a:t>We believe that the market has not fully priced the importance of WEG’s sustainability policy, emphasizing its ESG leadership in its two primary divisions—Industrial Electric Equipment (IEE) and Generation, Transmission and Distribution (GTD). Backed by substantial R&amp;D investment, ensuring growth in two segments:</a:t>
            </a:r>
            <a:endParaRPr lang="en-US" sz="850">
              <a:ea typeface="Calibri"/>
              <a:cs typeface="Calibri"/>
            </a:endParaRPr>
          </a:p>
          <a:p>
            <a:pPr algn="just"/>
            <a:r>
              <a:rPr lang="en-US" sz="850" b="1"/>
              <a:t>Growth in market share in motors sector: </a:t>
            </a:r>
            <a:r>
              <a:rPr lang="en-US" sz="850"/>
              <a:t>WEG maintains a comfortable compliance margin against current motor‐efficiency regulations, having even the most efficient industrial motor ever developed. As these standards become more stringent worldwide, WEG is well‐positioned to expand its market share, while less efficient competitors may face significant adaptation challenges.</a:t>
            </a:r>
            <a:endParaRPr lang="en-US" sz="850">
              <a:ea typeface="Calibri"/>
              <a:cs typeface="Calibri"/>
            </a:endParaRPr>
          </a:p>
          <a:p>
            <a:pPr algn="just"/>
            <a:r>
              <a:rPr lang="en-US" sz="850" b="1"/>
              <a:t>Energy generation growth driven by a transition of the energy matrix</a:t>
            </a:r>
            <a:r>
              <a:rPr lang="en-US" sz="850"/>
              <a:t>: WEG’s leadership in clean-energy generation is underscored by its comprehensive portfolio of renewable energy technologies, including solar, wind, and hydropower solutions, as well as advanced energy storage systems. The company’s GTD division has pioneered innovative products such as utility-scale solar inverters, wind turbine generators, and hybrid power systems tailored for both grid-connected and off-grid applications. These solutions not only address the growing demand for decarbonization but also enhance grid reliability and energy accessibility in emerging markets. As governments and corporations accelerate investments in net-zero infrastructure—with solar and wind capacity projected to double globally by 2030—WEG is strategically positioned to capture this growth through its vertically integrated offerings. Furthermore, its expertise in microgrids and decentralized energy systems aligns with trends toward electrification in remote areas and industrial hubs, solidifying its role as a critical enabler of the energy transition. This proactive approach, combined with a global supply chain and partnerships with key stakeholders, ensures WEG remains at the forefront of delivering scalable, future-proof clean energy solutions.</a:t>
            </a:r>
            <a:endParaRPr lang="en-US" sz="850">
              <a:ea typeface="Calibri"/>
              <a:cs typeface="Calibri"/>
            </a:endParaRPr>
          </a:p>
          <a:p>
            <a:pPr algn="l" rtl="0"/>
            <a:endParaRPr lang="en-US" sz="850">
              <a:solidFill>
                <a:schemeClr val="tx1"/>
              </a:solidFill>
            </a:endParaRPr>
          </a:p>
        </p:txBody>
      </p:sp>
      <p:sp>
        <p:nvSpPr>
          <p:cNvPr id="2" name="Espaço Reservado para Texto 1">
            <a:extLst>
              <a:ext uri="{FF2B5EF4-FFF2-40B4-BE49-F238E27FC236}">
                <a16:creationId xmlns:a16="http://schemas.microsoft.com/office/drawing/2014/main" id="{77320E8E-BB6B-9A26-FE82-72A7AFABECF7}"/>
              </a:ext>
            </a:extLst>
          </p:cNvPr>
          <p:cNvSpPr>
            <a:spLocks noGrp="1"/>
          </p:cNvSpPr>
          <p:nvPr>
            <p:ph type="body" sz="quarter" idx="10"/>
          </p:nvPr>
        </p:nvSpPr>
        <p:spPr/>
        <p:txBody>
          <a:bodyPr/>
          <a:lstStyle/>
          <a:p>
            <a:r>
              <a:rPr lang="pt-BR" err="1"/>
              <a:t>Group</a:t>
            </a:r>
            <a:r>
              <a:rPr lang="pt-BR"/>
              <a:t> 2</a:t>
            </a:r>
          </a:p>
        </p:txBody>
      </p:sp>
      <p:sp>
        <p:nvSpPr>
          <p:cNvPr id="4" name="Espaço Reservado para Texto 3">
            <a:extLst>
              <a:ext uri="{FF2B5EF4-FFF2-40B4-BE49-F238E27FC236}">
                <a16:creationId xmlns:a16="http://schemas.microsoft.com/office/drawing/2014/main" id="{87E2A21A-F899-B590-220C-5ADD62493446}"/>
              </a:ext>
            </a:extLst>
          </p:cNvPr>
          <p:cNvSpPr>
            <a:spLocks noGrp="1"/>
          </p:cNvSpPr>
          <p:nvPr>
            <p:ph type="body" sz="quarter" idx="12"/>
          </p:nvPr>
        </p:nvSpPr>
        <p:spPr>
          <a:xfrm>
            <a:off x="179321" y="5523599"/>
            <a:ext cx="4866017" cy="247290"/>
          </a:xfrm>
        </p:spPr>
        <p:txBody>
          <a:bodyPr/>
          <a:lstStyle/>
          <a:p>
            <a:pPr algn="just"/>
            <a:r>
              <a:rPr lang="pt-BR"/>
              <a:t>VALUATION</a:t>
            </a:r>
          </a:p>
        </p:txBody>
      </p:sp>
      <p:sp>
        <p:nvSpPr>
          <p:cNvPr id="5" name="Espaço Reservado para Texto 4">
            <a:extLst>
              <a:ext uri="{FF2B5EF4-FFF2-40B4-BE49-F238E27FC236}">
                <a16:creationId xmlns:a16="http://schemas.microsoft.com/office/drawing/2014/main" id="{14986AA0-3B69-6B46-9D3D-3DAD59D2B089}"/>
              </a:ext>
            </a:extLst>
          </p:cNvPr>
          <p:cNvSpPr>
            <a:spLocks noGrp="1"/>
          </p:cNvSpPr>
          <p:nvPr>
            <p:ph type="body" sz="quarter" idx="13"/>
          </p:nvPr>
        </p:nvSpPr>
        <p:spPr/>
        <p:txBody>
          <a:bodyPr/>
          <a:lstStyle/>
          <a:p>
            <a:r>
              <a:rPr lang="pt-BR" err="1"/>
              <a:t>Exhibit</a:t>
            </a:r>
            <a:r>
              <a:rPr lang="pt-BR"/>
              <a:t> 18: WACC Inputs</a:t>
            </a:r>
          </a:p>
        </p:txBody>
      </p:sp>
      <p:sp>
        <p:nvSpPr>
          <p:cNvPr id="6" name="Espaço Reservado para Texto 5">
            <a:extLst>
              <a:ext uri="{FF2B5EF4-FFF2-40B4-BE49-F238E27FC236}">
                <a16:creationId xmlns:a16="http://schemas.microsoft.com/office/drawing/2014/main" id="{32A76CE6-5409-E31A-5E53-7A0B41D9360C}"/>
              </a:ext>
            </a:extLst>
          </p:cNvPr>
          <p:cNvSpPr>
            <a:spLocks noGrp="1"/>
          </p:cNvSpPr>
          <p:nvPr>
            <p:ph type="body" sz="quarter" idx="14"/>
          </p:nvPr>
        </p:nvSpPr>
        <p:spPr/>
        <p:txBody>
          <a:bodyPr/>
          <a:lstStyle/>
          <a:p>
            <a:r>
              <a:rPr lang="pt-BR" err="1"/>
              <a:t>Source</a:t>
            </a:r>
            <a:r>
              <a:rPr lang="pt-BR"/>
              <a:t>: </a:t>
            </a:r>
            <a:r>
              <a:rPr lang="pt-BR" err="1"/>
              <a:t>Group</a:t>
            </a:r>
            <a:r>
              <a:rPr lang="pt-BR"/>
              <a:t> 2</a:t>
            </a:r>
          </a:p>
        </p:txBody>
      </p:sp>
      <p:sp>
        <p:nvSpPr>
          <p:cNvPr id="9" name="Espaço Reservado para Texto 8">
            <a:extLst>
              <a:ext uri="{FF2B5EF4-FFF2-40B4-BE49-F238E27FC236}">
                <a16:creationId xmlns:a16="http://schemas.microsoft.com/office/drawing/2014/main" id="{34F2E006-BCD2-0A96-64CF-62F8C630E8A9}"/>
              </a:ext>
            </a:extLst>
          </p:cNvPr>
          <p:cNvSpPr>
            <a:spLocks noGrp="1"/>
          </p:cNvSpPr>
          <p:nvPr>
            <p:ph type="body" sz="quarter" idx="17"/>
          </p:nvPr>
        </p:nvSpPr>
        <p:spPr/>
        <p:txBody>
          <a:bodyPr/>
          <a:lstStyle/>
          <a:p>
            <a:r>
              <a:rPr lang="pt-BR" err="1"/>
              <a:t>Source</a:t>
            </a:r>
            <a:r>
              <a:rPr lang="pt-BR"/>
              <a:t>: </a:t>
            </a:r>
            <a:r>
              <a:rPr lang="pt-BR" err="1"/>
              <a:t>Group</a:t>
            </a:r>
            <a:r>
              <a:rPr lang="pt-BR"/>
              <a:t> 2</a:t>
            </a:r>
          </a:p>
          <a:p>
            <a:endParaRPr lang="pt-BR"/>
          </a:p>
        </p:txBody>
      </p:sp>
      <p:sp>
        <p:nvSpPr>
          <p:cNvPr id="12" name="Espaço Reservado para Texto 11">
            <a:extLst>
              <a:ext uri="{FF2B5EF4-FFF2-40B4-BE49-F238E27FC236}">
                <a16:creationId xmlns:a16="http://schemas.microsoft.com/office/drawing/2014/main" id="{0E8D7D27-0599-BBA1-630A-649C56FD6B3D}"/>
              </a:ext>
            </a:extLst>
          </p:cNvPr>
          <p:cNvSpPr>
            <a:spLocks noGrp="1"/>
          </p:cNvSpPr>
          <p:nvPr>
            <p:ph type="body" sz="quarter" idx="20"/>
          </p:nvPr>
        </p:nvSpPr>
        <p:spPr/>
        <p:txBody>
          <a:bodyPr/>
          <a:lstStyle/>
          <a:p>
            <a:r>
              <a:rPr lang="pt-BR" err="1"/>
              <a:t>Source</a:t>
            </a:r>
            <a:r>
              <a:rPr lang="pt-BR"/>
              <a:t>: </a:t>
            </a:r>
            <a:r>
              <a:rPr lang="pt-BR" err="1"/>
              <a:t>Group</a:t>
            </a:r>
            <a:r>
              <a:rPr lang="pt-BR"/>
              <a:t> 2</a:t>
            </a:r>
          </a:p>
        </p:txBody>
      </p:sp>
      <p:sp>
        <p:nvSpPr>
          <p:cNvPr id="15" name="Espaço Reservado para Texto 14">
            <a:extLst>
              <a:ext uri="{FF2B5EF4-FFF2-40B4-BE49-F238E27FC236}">
                <a16:creationId xmlns:a16="http://schemas.microsoft.com/office/drawing/2014/main" id="{AAE64206-3AB6-1421-0244-2686B1E5C0B6}"/>
              </a:ext>
            </a:extLst>
          </p:cNvPr>
          <p:cNvSpPr>
            <a:spLocks noGrp="1"/>
          </p:cNvSpPr>
          <p:nvPr>
            <p:ph type="body" sz="quarter" idx="23"/>
          </p:nvPr>
        </p:nvSpPr>
        <p:spPr>
          <a:xfrm>
            <a:off x="5260173" y="9835835"/>
            <a:ext cx="1433521" cy="207212"/>
          </a:xfrm>
        </p:spPr>
        <p:txBody>
          <a:bodyPr/>
          <a:lstStyle/>
          <a:p>
            <a:r>
              <a:rPr lang="pt-BR" err="1"/>
              <a:t>Sources</a:t>
            </a:r>
            <a:r>
              <a:rPr lang="pt-BR"/>
              <a:t>: London Metal Exchange Index</a:t>
            </a:r>
          </a:p>
        </p:txBody>
      </p:sp>
      <p:sp>
        <p:nvSpPr>
          <p:cNvPr id="34" name="CaixaDeTexto 33">
            <a:extLst>
              <a:ext uri="{FF2B5EF4-FFF2-40B4-BE49-F238E27FC236}">
                <a16:creationId xmlns:a16="http://schemas.microsoft.com/office/drawing/2014/main" id="{F7AC0F43-D26B-F8B5-5CF6-7F24E754802B}"/>
              </a:ext>
            </a:extLst>
          </p:cNvPr>
          <p:cNvSpPr txBox="1"/>
          <p:nvPr/>
        </p:nvSpPr>
        <p:spPr>
          <a:xfrm>
            <a:off x="6148378" y="4556476"/>
            <a:ext cx="313663" cy="223138"/>
          </a:xfrm>
          <a:prstGeom prst="rect">
            <a:avLst/>
          </a:prstGeom>
          <a:noFill/>
        </p:spPr>
        <p:txBody>
          <a:bodyPr wrap="square" rtlCol="0">
            <a:spAutoFit/>
          </a:bodyPr>
          <a:lstStyle/>
          <a:p>
            <a:pPr algn="ctr"/>
            <a:r>
              <a:rPr lang="pt-BR" sz="850">
                <a:solidFill>
                  <a:schemeClr val="bg1"/>
                </a:solidFill>
              </a:rPr>
              <a:t>A1</a:t>
            </a:r>
          </a:p>
        </p:txBody>
      </p:sp>
      <p:sp>
        <p:nvSpPr>
          <p:cNvPr id="40" name="CaixaDeTexto 39">
            <a:extLst>
              <a:ext uri="{FF2B5EF4-FFF2-40B4-BE49-F238E27FC236}">
                <a16:creationId xmlns:a16="http://schemas.microsoft.com/office/drawing/2014/main" id="{C1C6E36E-8C63-7D4B-D212-3D946CF35AFF}"/>
              </a:ext>
            </a:extLst>
          </p:cNvPr>
          <p:cNvSpPr txBox="1"/>
          <p:nvPr/>
        </p:nvSpPr>
        <p:spPr>
          <a:xfrm>
            <a:off x="7091305" y="3589750"/>
            <a:ext cx="313663" cy="223138"/>
          </a:xfrm>
          <a:prstGeom prst="rect">
            <a:avLst/>
          </a:prstGeom>
          <a:noFill/>
        </p:spPr>
        <p:txBody>
          <a:bodyPr wrap="square" rtlCol="0">
            <a:spAutoFit/>
          </a:bodyPr>
          <a:lstStyle/>
          <a:p>
            <a:pPr algn="ctr"/>
            <a:r>
              <a:rPr lang="pt-BR" sz="850">
                <a:solidFill>
                  <a:schemeClr val="bg1"/>
                </a:solidFill>
              </a:rPr>
              <a:t>A2</a:t>
            </a:r>
          </a:p>
        </p:txBody>
      </p:sp>
      <p:sp>
        <p:nvSpPr>
          <p:cNvPr id="42" name="CaixaDeTexto 41">
            <a:extLst>
              <a:ext uri="{FF2B5EF4-FFF2-40B4-BE49-F238E27FC236}">
                <a16:creationId xmlns:a16="http://schemas.microsoft.com/office/drawing/2014/main" id="{28ABB4E4-B798-7D99-35EC-91DA5ABE5A93}"/>
              </a:ext>
            </a:extLst>
          </p:cNvPr>
          <p:cNvSpPr txBox="1"/>
          <p:nvPr/>
        </p:nvSpPr>
        <p:spPr>
          <a:xfrm>
            <a:off x="7276889" y="3419149"/>
            <a:ext cx="313663" cy="223138"/>
          </a:xfrm>
          <a:prstGeom prst="rect">
            <a:avLst/>
          </a:prstGeom>
          <a:noFill/>
        </p:spPr>
        <p:txBody>
          <a:bodyPr wrap="square" rtlCol="0">
            <a:spAutoFit/>
          </a:bodyPr>
          <a:lstStyle/>
          <a:p>
            <a:pPr algn="ctr"/>
            <a:r>
              <a:rPr lang="pt-BR" sz="850">
                <a:solidFill>
                  <a:schemeClr val="bg1"/>
                </a:solidFill>
              </a:rPr>
              <a:t>B1</a:t>
            </a:r>
          </a:p>
        </p:txBody>
      </p:sp>
      <p:sp>
        <p:nvSpPr>
          <p:cNvPr id="43" name="CaixaDeTexto 42">
            <a:extLst>
              <a:ext uri="{FF2B5EF4-FFF2-40B4-BE49-F238E27FC236}">
                <a16:creationId xmlns:a16="http://schemas.microsoft.com/office/drawing/2014/main" id="{56271084-9D3E-158B-B0FB-01DFB01AE07D}"/>
              </a:ext>
            </a:extLst>
          </p:cNvPr>
          <p:cNvSpPr txBox="1"/>
          <p:nvPr/>
        </p:nvSpPr>
        <p:spPr>
          <a:xfrm>
            <a:off x="6904768" y="3944614"/>
            <a:ext cx="313663" cy="223138"/>
          </a:xfrm>
          <a:prstGeom prst="rect">
            <a:avLst/>
          </a:prstGeom>
          <a:noFill/>
        </p:spPr>
        <p:txBody>
          <a:bodyPr wrap="square" rtlCol="0">
            <a:spAutoFit/>
          </a:bodyPr>
          <a:lstStyle/>
          <a:p>
            <a:pPr algn="ctr"/>
            <a:r>
              <a:rPr lang="pt-BR" sz="850">
                <a:solidFill>
                  <a:schemeClr val="bg1"/>
                </a:solidFill>
              </a:rPr>
              <a:t>B2</a:t>
            </a:r>
          </a:p>
        </p:txBody>
      </p:sp>
      <p:sp>
        <p:nvSpPr>
          <p:cNvPr id="44" name="CaixaDeTexto 43">
            <a:extLst>
              <a:ext uri="{FF2B5EF4-FFF2-40B4-BE49-F238E27FC236}">
                <a16:creationId xmlns:a16="http://schemas.microsoft.com/office/drawing/2014/main" id="{00C0D1C6-D958-5E6D-A0D9-CDAEC1A88E97}"/>
              </a:ext>
            </a:extLst>
          </p:cNvPr>
          <p:cNvSpPr txBox="1"/>
          <p:nvPr/>
        </p:nvSpPr>
        <p:spPr>
          <a:xfrm>
            <a:off x="7056092" y="4659448"/>
            <a:ext cx="313663" cy="223138"/>
          </a:xfrm>
          <a:prstGeom prst="rect">
            <a:avLst/>
          </a:prstGeom>
          <a:noFill/>
        </p:spPr>
        <p:txBody>
          <a:bodyPr wrap="square" rtlCol="0">
            <a:spAutoFit/>
          </a:bodyPr>
          <a:lstStyle/>
          <a:p>
            <a:pPr algn="ctr"/>
            <a:r>
              <a:rPr lang="pt-BR" sz="850">
                <a:solidFill>
                  <a:schemeClr val="bg1"/>
                </a:solidFill>
              </a:rPr>
              <a:t>C1</a:t>
            </a:r>
          </a:p>
        </p:txBody>
      </p:sp>
      <p:sp>
        <p:nvSpPr>
          <p:cNvPr id="46" name="CaixaDeTexto 45">
            <a:extLst>
              <a:ext uri="{FF2B5EF4-FFF2-40B4-BE49-F238E27FC236}">
                <a16:creationId xmlns:a16="http://schemas.microsoft.com/office/drawing/2014/main" id="{84780873-5894-1F2E-B0E3-83A7932FD835}"/>
              </a:ext>
            </a:extLst>
          </p:cNvPr>
          <p:cNvSpPr txBox="1"/>
          <p:nvPr/>
        </p:nvSpPr>
        <p:spPr>
          <a:xfrm>
            <a:off x="6475567" y="4507750"/>
            <a:ext cx="313663" cy="223138"/>
          </a:xfrm>
          <a:prstGeom prst="rect">
            <a:avLst/>
          </a:prstGeom>
          <a:noFill/>
        </p:spPr>
        <p:txBody>
          <a:bodyPr wrap="square" rtlCol="0">
            <a:spAutoFit/>
          </a:bodyPr>
          <a:lstStyle/>
          <a:p>
            <a:pPr algn="ctr"/>
            <a:r>
              <a:rPr lang="pt-BR" sz="850">
                <a:solidFill>
                  <a:schemeClr val="bg1"/>
                </a:solidFill>
              </a:rPr>
              <a:t>C2</a:t>
            </a:r>
          </a:p>
        </p:txBody>
      </p:sp>
      <p:sp>
        <p:nvSpPr>
          <p:cNvPr id="7" name="Espaço Reservado para Número de Slide 16">
            <a:extLst>
              <a:ext uri="{FF2B5EF4-FFF2-40B4-BE49-F238E27FC236}">
                <a16:creationId xmlns:a16="http://schemas.microsoft.com/office/drawing/2014/main" id="{130BBDCF-C091-5618-73C5-B29FA54991E0}"/>
              </a:ext>
            </a:extLst>
          </p:cNvPr>
          <p:cNvSpPr>
            <a:spLocks noGrp="1"/>
          </p:cNvSpPr>
          <p:nvPr>
            <p:ph type="sldNum" sz="quarter" idx="7"/>
          </p:nvPr>
        </p:nvSpPr>
        <p:spPr>
          <a:xfrm>
            <a:off x="7178515" y="10312736"/>
            <a:ext cx="515895" cy="230114"/>
          </a:xfrm>
        </p:spPr>
        <p:txBody>
          <a:bodyPr/>
          <a:lstStyle/>
          <a:p>
            <a:pPr algn="ctr">
              <a:spcBef>
                <a:spcPts val="65"/>
              </a:spcBef>
            </a:pPr>
            <a:r>
              <a:rPr lang="en-US" sz="800"/>
              <a:t>6</a:t>
            </a:r>
          </a:p>
        </p:txBody>
      </p:sp>
      <p:cxnSp>
        <p:nvCxnSpPr>
          <p:cNvPr id="10" name="Conector reto 9">
            <a:extLst>
              <a:ext uri="{FF2B5EF4-FFF2-40B4-BE49-F238E27FC236}">
                <a16:creationId xmlns:a16="http://schemas.microsoft.com/office/drawing/2014/main" id="{EF7549D6-5FD7-74D6-8740-9969FE9B5CAD}"/>
              </a:ext>
            </a:extLst>
          </p:cNvPr>
          <p:cNvCxnSpPr/>
          <p:nvPr/>
        </p:nvCxnSpPr>
        <p:spPr>
          <a:xfrm>
            <a:off x="177898" y="5775034"/>
            <a:ext cx="486601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Espaço Reservado para Texto 16">
            <a:extLst>
              <a:ext uri="{FF2B5EF4-FFF2-40B4-BE49-F238E27FC236}">
                <a16:creationId xmlns:a16="http://schemas.microsoft.com/office/drawing/2014/main" id="{9824371F-D23C-0B1F-BA7D-AE011263DCF0}"/>
              </a:ext>
            </a:extLst>
          </p:cNvPr>
          <p:cNvSpPr>
            <a:spLocks noGrp="1"/>
          </p:cNvSpPr>
          <p:nvPr>
            <p:ph type="body" sz="quarter" idx="11"/>
          </p:nvPr>
        </p:nvSpPr>
        <p:spPr>
          <a:xfrm>
            <a:off x="201283" y="5779180"/>
            <a:ext cx="4866017" cy="4824649"/>
          </a:xfrm>
        </p:spPr>
        <p:txBody>
          <a:bodyPr lIns="91440" tIns="45720" rIns="91440" bIns="45720" anchor="t"/>
          <a:lstStyle/>
          <a:p>
            <a:pPr algn="just" rtl="0"/>
            <a:r>
              <a:rPr lang="en-US" b="0" i="0" u="none" strike="noStrike">
                <a:solidFill>
                  <a:schemeClr val="tx1"/>
                </a:solidFill>
                <a:effectLst/>
              </a:rPr>
              <a:t>We issue our HOLD recommendation for WEG S.A. (B3: WEGE3 / OTC: WEGZY) with a target price of BRL 53</a:t>
            </a:r>
            <a:r>
              <a:rPr lang="en-US">
                <a:solidFill>
                  <a:schemeClr val="tx1"/>
                </a:solidFill>
              </a:rPr>
              <a:t>,38</a:t>
            </a:r>
            <a:r>
              <a:rPr lang="en-US" b="0" i="0" u="none" strike="noStrike">
                <a:solidFill>
                  <a:schemeClr val="tx1"/>
                </a:solidFill>
                <a:effectLst/>
              </a:rPr>
              <a:t> based on a discounted cash flow (DCF) valuation, reflecting an upside of 10% compared to the current price. </a:t>
            </a:r>
            <a:r>
              <a:rPr lang="en-US">
                <a:solidFill>
                  <a:schemeClr val="tx1"/>
                </a:solidFill>
              </a:rPr>
              <a:t>Our group has integrated into this estimate of intrinsic value the assumptions of increased market share, cost reduction, adaptation to market trends and the ability to positively absorb new ESG regulations and increased green consumption. Our analysis includes scenario sensitivity to account for the risks inherent to our thesis. We reiterate our belief that the market has not fully recognized WEG’s re-rating potential, as outlined by our four key catalysts.</a:t>
            </a:r>
          </a:p>
          <a:p>
            <a:pPr algn="just" rtl="0"/>
            <a:r>
              <a:rPr lang="en-US" sz="1000" b="1">
                <a:solidFill>
                  <a:schemeClr val="accent1"/>
                </a:solidFill>
              </a:rPr>
              <a:t>WACC</a:t>
            </a:r>
          </a:p>
          <a:p>
            <a:pPr algn="just" rtl="0"/>
            <a:r>
              <a:rPr lang="en-US" b="0" i="0">
                <a:effectLst/>
                <a:latin typeface="gg sans"/>
              </a:rPr>
              <a:t>WEG’s DCF valuation is based on a 5-year nominal FCFF projection, resulting in a target price of 53,38. We estimated WEGE3’s cost of equity using the CAPM methodology, arriving at a 11,19% Ke. This calculation is based on a 4,49% risk-free rate, a 4,33% equity risk premium (ERP), WEG’s 5-year monthly leveraged beta of 0,53, a 3,34% Brazil country risk premium (CRP). </a:t>
            </a:r>
            <a:r>
              <a:rPr lang="en-US" b="0" i="0">
                <a:solidFill>
                  <a:schemeClr val="tx1"/>
                </a:solidFill>
                <a:effectLst/>
                <a:latin typeface="gg sans"/>
              </a:rPr>
              <a:t>This way, c</a:t>
            </a:r>
            <a:r>
              <a:rPr lang="en-US">
                <a:solidFill>
                  <a:schemeClr val="tx1"/>
                </a:solidFill>
              </a:rPr>
              <a:t>omputing a fair stock price of 49,17 BRL representing a 10% upside to the latest closing price (05/21/2025).</a:t>
            </a:r>
          </a:p>
          <a:p>
            <a:pPr algn="just" rtl="0"/>
            <a:r>
              <a:rPr lang="en-US" sz="1000" b="1">
                <a:solidFill>
                  <a:schemeClr val="accent1"/>
                </a:solidFill>
              </a:rPr>
              <a:t>Terminal Growth</a:t>
            </a:r>
          </a:p>
          <a:p>
            <a:pPr algn="just" rtl="0"/>
            <a:r>
              <a:rPr lang="en-US">
                <a:solidFill>
                  <a:schemeClr val="tx1"/>
                </a:solidFill>
              </a:rPr>
              <a:t>We expect the terminal growth rate to stabilize at 2,5% after 2029 based on (1) projected long-term Brazilian real GDP growth, (2) projected long-term Brazilian CPI, (3) a global focus on energy transition and electro-electronics efficiency and (4) WEG’s innovation capacity. We see potential upside for the terminal growth rate based on WEG's </a:t>
            </a:r>
            <a:r>
              <a:rPr lang="en-US"/>
              <a:t>strong positioning under tighter ESG regulations and in the clean-energy sector — driven by its expertise in clean energy generation and efficient electric motors — and </a:t>
            </a:r>
            <a:r>
              <a:rPr lang="en-US">
                <a:solidFill>
                  <a:schemeClr val="tx1"/>
                </a:solidFill>
              </a:rPr>
              <a:t>WEG’s </a:t>
            </a:r>
            <a:r>
              <a:rPr lang="en-US"/>
              <a:t>proven ability to reinvent itself through innovation in response to market trends.</a:t>
            </a:r>
          </a:p>
          <a:p>
            <a:pPr algn="just" rtl="0"/>
            <a:r>
              <a:rPr lang="en-US" sz="1000" b="1">
                <a:solidFill>
                  <a:schemeClr val="accent1"/>
                </a:solidFill>
              </a:rPr>
              <a:t>Sensitivity Analysis</a:t>
            </a:r>
          </a:p>
          <a:p>
            <a:pPr algn="just" rtl="0"/>
            <a:r>
              <a:rPr lang="en-US">
                <a:solidFill>
                  <a:schemeClr val="tx1"/>
                </a:solidFill>
              </a:rPr>
              <a:t>Our group analyze the Discounted Cash Flow robustness to changes in the key inputs, like WACC and terminal growth (g).</a:t>
            </a:r>
          </a:p>
          <a:p>
            <a:r>
              <a:rPr lang="pt-BR" sz="1000" b="1" kern="0">
                <a:solidFill>
                  <a:schemeClr val="accent1"/>
                </a:solidFill>
              </a:rPr>
              <a:t>Bull </a:t>
            </a:r>
            <a:r>
              <a:rPr lang="pt-BR" sz="1000" b="1" kern="0" err="1">
                <a:solidFill>
                  <a:schemeClr val="accent1"/>
                </a:solidFill>
              </a:rPr>
              <a:t>and</a:t>
            </a:r>
            <a:r>
              <a:rPr lang="pt-BR" sz="1000" b="1" kern="0">
                <a:solidFill>
                  <a:schemeClr val="accent1"/>
                </a:solidFill>
              </a:rPr>
              <a:t> </a:t>
            </a:r>
            <a:r>
              <a:rPr lang="pt-BR" sz="1000" b="1" kern="0" err="1">
                <a:solidFill>
                  <a:schemeClr val="accent1"/>
                </a:solidFill>
              </a:rPr>
              <a:t>Bear</a:t>
            </a:r>
            <a:r>
              <a:rPr lang="pt-BR" sz="1000" b="1" kern="0">
                <a:solidFill>
                  <a:schemeClr val="accent1"/>
                </a:solidFill>
              </a:rPr>
              <a:t> </a:t>
            </a:r>
            <a:r>
              <a:rPr lang="pt-BR" sz="1000" b="1" kern="0" err="1">
                <a:solidFill>
                  <a:schemeClr val="accent1"/>
                </a:solidFill>
              </a:rPr>
              <a:t>Scenarios</a:t>
            </a:r>
            <a:endParaRPr lang="pt-BR" sz="1000" b="1" kern="0">
              <a:solidFill>
                <a:schemeClr val="accent1"/>
              </a:solidFill>
            </a:endParaRPr>
          </a:p>
          <a:p>
            <a:pPr algn="just"/>
            <a:r>
              <a:rPr lang="pt-BR" kern="0" err="1">
                <a:solidFill>
                  <a:sysClr val="windowText" lastClr="000000"/>
                </a:solidFill>
              </a:rPr>
              <a:t>To</a:t>
            </a:r>
            <a:r>
              <a:rPr lang="pt-BR" kern="0">
                <a:solidFill>
                  <a:sysClr val="windowText" lastClr="000000"/>
                </a:solidFill>
              </a:rPr>
              <a:t> </a:t>
            </a:r>
            <a:r>
              <a:rPr lang="pt-BR" kern="0" err="1">
                <a:solidFill>
                  <a:sysClr val="windowText" lastClr="000000"/>
                </a:solidFill>
              </a:rPr>
              <a:t>increase</a:t>
            </a:r>
            <a:r>
              <a:rPr lang="pt-BR" kern="0">
                <a:solidFill>
                  <a:sysClr val="windowText" lastClr="000000"/>
                </a:solidFill>
              </a:rPr>
              <a:t> </a:t>
            </a:r>
            <a:r>
              <a:rPr lang="pt-BR" kern="0" err="1">
                <a:solidFill>
                  <a:sysClr val="windowText" lastClr="000000"/>
                </a:solidFill>
              </a:rPr>
              <a:t>the</a:t>
            </a:r>
            <a:r>
              <a:rPr lang="pt-BR" kern="0">
                <a:solidFill>
                  <a:sysClr val="windowText" lastClr="000000"/>
                </a:solidFill>
              </a:rPr>
              <a:t> </a:t>
            </a:r>
            <a:r>
              <a:rPr lang="pt-BR" kern="0" err="1">
                <a:solidFill>
                  <a:sysClr val="windowText" lastClr="000000"/>
                </a:solidFill>
              </a:rPr>
              <a:t>robustness</a:t>
            </a:r>
            <a:r>
              <a:rPr lang="pt-BR" kern="0">
                <a:solidFill>
                  <a:sysClr val="windowText" lastClr="000000"/>
                </a:solidFill>
              </a:rPr>
              <a:t> </a:t>
            </a:r>
            <a:r>
              <a:rPr lang="pt-BR" kern="0" err="1">
                <a:solidFill>
                  <a:sysClr val="windowText" lastClr="000000"/>
                </a:solidFill>
              </a:rPr>
              <a:t>of</a:t>
            </a:r>
            <a:r>
              <a:rPr lang="pt-BR" kern="0">
                <a:solidFill>
                  <a:sysClr val="windowText" lastClr="000000"/>
                </a:solidFill>
              </a:rPr>
              <a:t> </a:t>
            </a:r>
            <a:r>
              <a:rPr lang="pt-BR" kern="0" err="1">
                <a:solidFill>
                  <a:sysClr val="windowText" lastClr="000000"/>
                </a:solidFill>
              </a:rPr>
              <a:t>our</a:t>
            </a:r>
            <a:r>
              <a:rPr lang="pt-BR" kern="0">
                <a:solidFill>
                  <a:sysClr val="windowText" lastClr="000000"/>
                </a:solidFill>
              </a:rPr>
              <a:t> </a:t>
            </a:r>
            <a:r>
              <a:rPr lang="pt-BR" kern="0" err="1">
                <a:solidFill>
                  <a:sysClr val="windowText" lastClr="000000"/>
                </a:solidFill>
              </a:rPr>
              <a:t>forecast</a:t>
            </a:r>
            <a:r>
              <a:rPr lang="pt-BR" kern="0">
                <a:solidFill>
                  <a:sysClr val="windowText" lastClr="000000"/>
                </a:solidFill>
              </a:rPr>
              <a:t>, </a:t>
            </a:r>
            <a:r>
              <a:rPr lang="pt-BR" kern="0" err="1">
                <a:solidFill>
                  <a:sysClr val="windowText" lastClr="000000"/>
                </a:solidFill>
              </a:rPr>
              <a:t>we</a:t>
            </a:r>
            <a:r>
              <a:rPr lang="pt-BR" kern="0">
                <a:solidFill>
                  <a:sysClr val="windowText" lastClr="000000"/>
                </a:solidFill>
              </a:rPr>
              <a:t> </a:t>
            </a:r>
            <a:r>
              <a:rPr lang="pt-BR" kern="0" err="1">
                <a:solidFill>
                  <a:sysClr val="windowText" lastClr="000000"/>
                </a:solidFill>
              </a:rPr>
              <a:t>also</a:t>
            </a:r>
            <a:r>
              <a:rPr lang="pt-BR" kern="0">
                <a:solidFill>
                  <a:sysClr val="windowText" lastClr="000000"/>
                </a:solidFill>
              </a:rPr>
              <a:t> </a:t>
            </a:r>
            <a:r>
              <a:rPr lang="pt-BR" kern="0" err="1">
                <a:solidFill>
                  <a:sysClr val="windowText" lastClr="000000"/>
                </a:solidFill>
              </a:rPr>
              <a:t>accounted</a:t>
            </a:r>
            <a:r>
              <a:rPr lang="pt-BR" kern="0">
                <a:solidFill>
                  <a:sysClr val="windowText" lastClr="000000"/>
                </a:solidFill>
              </a:rPr>
              <a:t> for </a:t>
            </a:r>
            <a:r>
              <a:rPr lang="pt-BR" kern="0" err="1">
                <a:solidFill>
                  <a:sysClr val="windowText" lastClr="000000"/>
                </a:solidFill>
              </a:rPr>
              <a:t>different</a:t>
            </a:r>
            <a:r>
              <a:rPr lang="pt-BR" kern="0">
                <a:solidFill>
                  <a:sysClr val="windowText" lastClr="000000"/>
                </a:solidFill>
              </a:rPr>
              <a:t> </a:t>
            </a:r>
            <a:r>
              <a:rPr lang="pt-BR" kern="0" err="1">
                <a:solidFill>
                  <a:sysClr val="windowText" lastClr="000000"/>
                </a:solidFill>
              </a:rPr>
              <a:t>possible</a:t>
            </a:r>
            <a:r>
              <a:rPr lang="pt-BR" kern="0">
                <a:solidFill>
                  <a:sysClr val="windowText" lastClr="000000"/>
                </a:solidFill>
              </a:rPr>
              <a:t> </a:t>
            </a:r>
            <a:r>
              <a:rPr lang="pt-BR" kern="0" err="1">
                <a:solidFill>
                  <a:sysClr val="windowText" lastClr="000000"/>
                </a:solidFill>
              </a:rPr>
              <a:t>outcomes</a:t>
            </a:r>
            <a:r>
              <a:rPr lang="pt-BR" kern="0">
                <a:solidFill>
                  <a:sysClr val="windowText" lastClr="000000"/>
                </a:solidFill>
              </a:rPr>
              <a:t> in some </a:t>
            </a:r>
            <a:r>
              <a:rPr lang="pt-BR" kern="0" err="1">
                <a:solidFill>
                  <a:sysClr val="windowText" lastClr="000000"/>
                </a:solidFill>
              </a:rPr>
              <a:t>key</a:t>
            </a:r>
            <a:r>
              <a:rPr lang="pt-BR" kern="0">
                <a:solidFill>
                  <a:sysClr val="windowText" lastClr="000000"/>
                </a:solidFill>
              </a:rPr>
              <a:t> </a:t>
            </a:r>
            <a:r>
              <a:rPr lang="pt-BR" kern="0" err="1">
                <a:solidFill>
                  <a:sysClr val="windowText" lastClr="000000"/>
                </a:solidFill>
              </a:rPr>
              <a:t>assumptions</a:t>
            </a:r>
            <a:r>
              <a:rPr lang="pt-BR" kern="0">
                <a:solidFill>
                  <a:sysClr val="windowText" lastClr="000000"/>
                </a:solidFill>
              </a:rPr>
              <a:t>, </a:t>
            </a:r>
            <a:r>
              <a:rPr lang="pt-BR" kern="0" err="1">
                <a:solidFill>
                  <a:sysClr val="windowText" lastClr="000000"/>
                </a:solidFill>
              </a:rPr>
              <a:t>namely</a:t>
            </a:r>
            <a:r>
              <a:rPr lang="pt-BR" kern="0">
                <a:solidFill>
                  <a:sysClr val="windowText" lastClr="000000"/>
                </a:solidFill>
              </a:rPr>
              <a:t> </a:t>
            </a:r>
            <a:r>
              <a:rPr lang="pt-BR" kern="0" err="1">
                <a:solidFill>
                  <a:sysClr val="windowText" lastClr="000000"/>
                </a:solidFill>
              </a:rPr>
              <a:t>revenue</a:t>
            </a:r>
            <a:r>
              <a:rPr lang="pt-BR" kern="0">
                <a:solidFill>
                  <a:sysClr val="windowText" lastClr="000000"/>
                </a:solidFill>
              </a:rPr>
              <a:t> </a:t>
            </a:r>
            <a:r>
              <a:rPr lang="pt-BR" kern="0" err="1">
                <a:solidFill>
                  <a:sysClr val="windowText" lastClr="000000"/>
                </a:solidFill>
              </a:rPr>
              <a:t>on</a:t>
            </a:r>
            <a:r>
              <a:rPr lang="pt-BR" kern="0">
                <a:solidFill>
                  <a:sysClr val="windowText" lastClr="000000"/>
                </a:solidFill>
              </a:rPr>
              <a:t> </a:t>
            </a:r>
            <a:r>
              <a:rPr lang="pt-BR" kern="0" err="1">
                <a:solidFill>
                  <a:sysClr val="windowText" lastClr="000000"/>
                </a:solidFill>
              </a:rPr>
              <a:t>different</a:t>
            </a:r>
            <a:r>
              <a:rPr lang="pt-BR" kern="0">
                <a:solidFill>
                  <a:sysClr val="windowText" lastClr="000000"/>
                </a:solidFill>
              </a:rPr>
              <a:t> </a:t>
            </a:r>
            <a:r>
              <a:rPr lang="pt-BR" kern="0" err="1">
                <a:solidFill>
                  <a:sysClr val="windowText" lastClr="000000"/>
                </a:solidFill>
              </a:rPr>
              <a:t>regions</a:t>
            </a:r>
            <a:r>
              <a:rPr lang="pt-BR" kern="0">
                <a:solidFill>
                  <a:sysClr val="windowText" lastClr="000000"/>
                </a:solidFill>
              </a:rPr>
              <a:t> </a:t>
            </a:r>
            <a:r>
              <a:rPr lang="pt-BR" kern="0" err="1">
                <a:solidFill>
                  <a:sysClr val="windowText" lastClr="000000"/>
                </a:solidFill>
              </a:rPr>
              <a:t>and</a:t>
            </a:r>
            <a:r>
              <a:rPr lang="pt-BR" kern="0">
                <a:solidFill>
                  <a:sysClr val="windowText" lastClr="000000"/>
                </a:solidFill>
              </a:rPr>
              <a:t> data centers. </a:t>
            </a:r>
            <a:r>
              <a:rPr lang="pt-BR" kern="0" err="1">
                <a:solidFill>
                  <a:sysClr val="windowText" lastClr="000000"/>
                </a:solidFill>
              </a:rPr>
              <a:t>With</a:t>
            </a:r>
            <a:r>
              <a:rPr lang="pt-BR" kern="0">
                <a:solidFill>
                  <a:sysClr val="windowText" lastClr="000000"/>
                </a:solidFill>
              </a:rPr>
              <a:t> </a:t>
            </a:r>
            <a:r>
              <a:rPr lang="pt-BR" kern="0" err="1">
                <a:solidFill>
                  <a:sysClr val="windowText" lastClr="000000"/>
                </a:solidFill>
              </a:rPr>
              <a:t>these</a:t>
            </a:r>
            <a:r>
              <a:rPr lang="pt-BR" kern="0">
                <a:solidFill>
                  <a:sysClr val="windowText" lastClr="000000"/>
                </a:solidFill>
              </a:rPr>
              <a:t> </a:t>
            </a:r>
            <a:r>
              <a:rPr lang="pt-BR" kern="0" err="1">
                <a:solidFill>
                  <a:sysClr val="windowText" lastClr="000000"/>
                </a:solidFill>
              </a:rPr>
              <a:t>sensibilizations</a:t>
            </a:r>
            <a:r>
              <a:rPr lang="pt-BR" kern="0">
                <a:solidFill>
                  <a:sysClr val="windowText" lastClr="000000"/>
                </a:solidFill>
              </a:rPr>
              <a:t>, </a:t>
            </a:r>
            <a:r>
              <a:rPr lang="pt-BR" kern="0" err="1">
                <a:solidFill>
                  <a:sysClr val="windowText" lastClr="000000"/>
                </a:solidFill>
              </a:rPr>
              <a:t>we</a:t>
            </a:r>
            <a:r>
              <a:rPr lang="pt-BR" kern="0">
                <a:solidFill>
                  <a:sysClr val="windowText" lastClr="000000"/>
                </a:solidFill>
              </a:rPr>
              <a:t> </a:t>
            </a:r>
            <a:r>
              <a:rPr lang="pt-BR" kern="0" err="1">
                <a:solidFill>
                  <a:sysClr val="windowText" lastClr="000000"/>
                </a:solidFill>
              </a:rPr>
              <a:t>reached</a:t>
            </a:r>
            <a:r>
              <a:rPr lang="pt-BR" kern="0">
                <a:solidFill>
                  <a:sysClr val="windowText" lastClr="000000"/>
                </a:solidFill>
              </a:rPr>
              <a:t> a </a:t>
            </a:r>
            <a:r>
              <a:rPr lang="pt-BR" kern="0" err="1">
                <a:solidFill>
                  <a:sysClr val="windowText" lastClr="000000"/>
                </a:solidFill>
              </a:rPr>
              <a:t>share</a:t>
            </a:r>
            <a:r>
              <a:rPr lang="pt-BR" kern="0">
                <a:solidFill>
                  <a:sysClr val="windowText" lastClr="000000"/>
                </a:solidFill>
              </a:rPr>
              <a:t> </a:t>
            </a:r>
            <a:r>
              <a:rPr lang="pt-BR" kern="0" err="1">
                <a:solidFill>
                  <a:sysClr val="windowText" lastClr="000000"/>
                </a:solidFill>
              </a:rPr>
              <a:t>price</a:t>
            </a:r>
            <a:r>
              <a:rPr lang="pt-BR" kern="0">
                <a:solidFill>
                  <a:sysClr val="windowText" lastClr="000000"/>
                </a:solidFill>
              </a:rPr>
              <a:t> </a:t>
            </a:r>
            <a:r>
              <a:rPr lang="pt-BR" kern="0" err="1">
                <a:solidFill>
                  <a:sysClr val="windowText" lastClr="000000"/>
                </a:solidFill>
              </a:rPr>
              <a:t>of</a:t>
            </a:r>
            <a:r>
              <a:rPr lang="pt-BR" kern="0">
                <a:solidFill>
                  <a:sysClr val="windowText" lastClr="000000"/>
                </a:solidFill>
              </a:rPr>
              <a:t> 68,49BRL, </a:t>
            </a:r>
            <a:r>
              <a:rPr lang="pt-BR" kern="0" err="1">
                <a:solidFill>
                  <a:sysClr val="windowText" lastClr="000000"/>
                </a:solidFill>
              </a:rPr>
              <a:t>representing</a:t>
            </a:r>
            <a:r>
              <a:rPr lang="pt-BR" kern="0">
                <a:solidFill>
                  <a:sysClr val="windowText" lastClr="000000"/>
                </a:solidFill>
              </a:rPr>
              <a:t> a 54% </a:t>
            </a:r>
            <a:r>
              <a:rPr lang="pt-BR" kern="0" err="1">
                <a:solidFill>
                  <a:sysClr val="windowText" lastClr="000000"/>
                </a:solidFill>
              </a:rPr>
              <a:t>upside</a:t>
            </a:r>
            <a:r>
              <a:rPr lang="pt-BR" kern="0">
                <a:solidFill>
                  <a:sysClr val="windowText" lastClr="000000"/>
                </a:solidFill>
              </a:rPr>
              <a:t> in </a:t>
            </a:r>
            <a:r>
              <a:rPr lang="pt-BR" kern="0" err="1">
                <a:solidFill>
                  <a:sysClr val="windowText" lastClr="000000"/>
                </a:solidFill>
              </a:rPr>
              <a:t>our</a:t>
            </a:r>
            <a:r>
              <a:rPr lang="pt-BR" kern="0">
                <a:solidFill>
                  <a:sysClr val="windowText" lastClr="000000"/>
                </a:solidFill>
              </a:rPr>
              <a:t> </a:t>
            </a:r>
            <a:r>
              <a:rPr lang="pt-BR" kern="0" err="1">
                <a:solidFill>
                  <a:sysClr val="windowText" lastClr="000000"/>
                </a:solidFill>
              </a:rPr>
              <a:t>bullish</a:t>
            </a:r>
            <a:r>
              <a:rPr lang="pt-BR" kern="0">
                <a:solidFill>
                  <a:sysClr val="windowText" lastClr="000000"/>
                </a:solidFill>
              </a:rPr>
              <a:t> </a:t>
            </a:r>
            <a:r>
              <a:rPr lang="pt-BR" kern="0" err="1">
                <a:solidFill>
                  <a:sysClr val="windowText" lastClr="000000"/>
                </a:solidFill>
              </a:rPr>
              <a:t>assumption</a:t>
            </a:r>
            <a:r>
              <a:rPr lang="pt-BR" kern="0">
                <a:solidFill>
                  <a:sysClr val="windowText" lastClr="000000"/>
                </a:solidFill>
              </a:rPr>
              <a:t>, </a:t>
            </a:r>
            <a:r>
              <a:rPr lang="pt-BR" kern="0" err="1">
                <a:solidFill>
                  <a:sysClr val="windowText" lastClr="000000"/>
                </a:solidFill>
              </a:rPr>
              <a:t>and</a:t>
            </a:r>
            <a:r>
              <a:rPr lang="pt-BR" kern="0">
                <a:solidFill>
                  <a:sysClr val="windowText" lastClr="000000"/>
                </a:solidFill>
              </a:rPr>
              <a:t> a </a:t>
            </a:r>
            <a:r>
              <a:rPr lang="pt-BR" kern="0" err="1">
                <a:solidFill>
                  <a:sysClr val="windowText" lastClr="000000"/>
                </a:solidFill>
              </a:rPr>
              <a:t>share</a:t>
            </a:r>
            <a:r>
              <a:rPr lang="pt-BR" kern="0">
                <a:solidFill>
                  <a:sysClr val="windowText" lastClr="000000"/>
                </a:solidFill>
              </a:rPr>
              <a:t> </a:t>
            </a:r>
            <a:r>
              <a:rPr lang="pt-BR" kern="0" err="1">
                <a:solidFill>
                  <a:sysClr val="windowText" lastClr="000000"/>
                </a:solidFill>
              </a:rPr>
              <a:t>price</a:t>
            </a:r>
            <a:r>
              <a:rPr lang="pt-BR" kern="0">
                <a:solidFill>
                  <a:sysClr val="windowText" lastClr="000000"/>
                </a:solidFill>
              </a:rPr>
              <a:t> </a:t>
            </a:r>
            <a:r>
              <a:rPr lang="pt-BR" kern="0" err="1">
                <a:solidFill>
                  <a:sysClr val="windowText" lastClr="000000"/>
                </a:solidFill>
              </a:rPr>
              <a:t>of</a:t>
            </a:r>
            <a:r>
              <a:rPr lang="pt-BR" kern="0">
                <a:solidFill>
                  <a:sysClr val="windowText" lastClr="000000"/>
                </a:solidFill>
              </a:rPr>
              <a:t> 31,44BRL, </a:t>
            </a:r>
            <a:r>
              <a:rPr lang="pt-BR" kern="0" err="1">
                <a:solidFill>
                  <a:sysClr val="windowText" lastClr="000000"/>
                </a:solidFill>
              </a:rPr>
              <a:t>representing</a:t>
            </a:r>
            <a:r>
              <a:rPr lang="pt-BR" kern="0">
                <a:solidFill>
                  <a:sysClr val="windowText" lastClr="000000"/>
                </a:solidFill>
              </a:rPr>
              <a:t> a –29% </a:t>
            </a:r>
            <a:r>
              <a:rPr lang="pt-BR" kern="0" err="1">
                <a:solidFill>
                  <a:sysClr val="windowText" lastClr="000000"/>
                </a:solidFill>
              </a:rPr>
              <a:t>downside</a:t>
            </a:r>
            <a:r>
              <a:rPr lang="pt-BR" kern="0">
                <a:solidFill>
                  <a:sysClr val="windowText" lastClr="000000"/>
                </a:solidFill>
              </a:rPr>
              <a:t> </a:t>
            </a:r>
            <a:r>
              <a:rPr lang="pt-BR" kern="0" err="1">
                <a:solidFill>
                  <a:sysClr val="windowText" lastClr="000000"/>
                </a:solidFill>
              </a:rPr>
              <a:t>to</a:t>
            </a:r>
            <a:r>
              <a:rPr lang="pt-BR" kern="0">
                <a:solidFill>
                  <a:sysClr val="windowText" lastClr="000000"/>
                </a:solidFill>
              </a:rPr>
              <a:t> </a:t>
            </a:r>
            <a:r>
              <a:rPr lang="pt-BR" kern="0" err="1">
                <a:solidFill>
                  <a:sysClr val="windowText" lastClr="000000"/>
                </a:solidFill>
              </a:rPr>
              <a:t>our</a:t>
            </a:r>
            <a:r>
              <a:rPr lang="pt-BR" kern="0">
                <a:solidFill>
                  <a:sysClr val="windowText" lastClr="000000"/>
                </a:solidFill>
              </a:rPr>
              <a:t> more </a:t>
            </a:r>
            <a:r>
              <a:rPr lang="pt-BR" kern="0" err="1">
                <a:solidFill>
                  <a:sysClr val="windowText" lastClr="000000"/>
                </a:solidFill>
              </a:rPr>
              <a:t>pessimistic</a:t>
            </a:r>
            <a:r>
              <a:rPr lang="pt-BR" kern="0">
                <a:solidFill>
                  <a:sysClr val="windowText" lastClr="000000"/>
                </a:solidFill>
              </a:rPr>
              <a:t> </a:t>
            </a:r>
            <a:r>
              <a:rPr lang="pt-BR" kern="0" err="1">
                <a:solidFill>
                  <a:sysClr val="windowText" lastClr="000000"/>
                </a:solidFill>
              </a:rPr>
              <a:t>outcome</a:t>
            </a:r>
            <a:r>
              <a:rPr lang="pt-BR" kern="0">
                <a:solidFill>
                  <a:sysClr val="windowText" lastClr="000000"/>
                </a:solidFill>
              </a:rPr>
              <a:t>.</a:t>
            </a:r>
          </a:p>
          <a:p>
            <a:pPr algn="just"/>
            <a:r>
              <a:rPr lang="pt-BR" b="1" kern="0">
                <a:solidFill>
                  <a:schemeClr val="accent1"/>
                </a:solidFill>
              </a:rPr>
              <a:t>Bull case: </a:t>
            </a:r>
            <a:r>
              <a:rPr lang="pt-BR" kern="0"/>
              <a:t>In </a:t>
            </a:r>
            <a:r>
              <a:rPr lang="pt-BR" kern="0" err="1"/>
              <a:t>our</a:t>
            </a:r>
            <a:r>
              <a:rPr lang="pt-BR" kern="0"/>
              <a:t> </a:t>
            </a:r>
            <a:r>
              <a:rPr lang="pt-BR" kern="0" err="1"/>
              <a:t>forecast</a:t>
            </a:r>
            <a:r>
              <a:rPr lang="pt-BR" kern="0"/>
              <a:t>, </a:t>
            </a:r>
            <a:r>
              <a:rPr lang="pt-BR" kern="0" err="1"/>
              <a:t>the</a:t>
            </a:r>
            <a:r>
              <a:rPr lang="pt-BR" kern="0"/>
              <a:t> </a:t>
            </a:r>
            <a:r>
              <a:rPr lang="pt-BR" kern="0" err="1"/>
              <a:t>optimal</a:t>
            </a:r>
            <a:r>
              <a:rPr lang="pt-BR" kern="0"/>
              <a:t> </a:t>
            </a:r>
            <a:r>
              <a:rPr lang="pt-BR" kern="0" err="1"/>
              <a:t>scenario</a:t>
            </a:r>
            <a:r>
              <a:rPr lang="pt-BR" kern="0"/>
              <a:t> </a:t>
            </a:r>
            <a:r>
              <a:rPr lang="pt-BR" kern="0" err="1"/>
              <a:t>would</a:t>
            </a:r>
            <a:r>
              <a:rPr lang="pt-BR" kern="0"/>
              <a:t> </a:t>
            </a:r>
            <a:r>
              <a:rPr lang="pt-BR" kern="0" err="1"/>
              <a:t>encompass</a:t>
            </a:r>
            <a:r>
              <a:rPr lang="pt-BR" kern="0"/>
              <a:t>: (</a:t>
            </a:r>
            <a:r>
              <a:rPr lang="pt-BR" kern="0" err="1"/>
              <a:t>i</a:t>
            </a:r>
            <a:r>
              <a:rPr lang="pt-BR" kern="0"/>
              <a:t>) net </a:t>
            </a:r>
            <a:r>
              <a:rPr lang="pt-BR" kern="0" err="1"/>
              <a:t>revenue</a:t>
            </a:r>
            <a:r>
              <a:rPr lang="pt-BR" kern="0"/>
              <a:t> </a:t>
            </a:r>
            <a:r>
              <a:rPr lang="pt-BR" kern="0" err="1"/>
              <a:t>growth</a:t>
            </a:r>
            <a:r>
              <a:rPr lang="pt-BR" kern="0"/>
              <a:t> surpasses </a:t>
            </a:r>
            <a:r>
              <a:rPr lang="pt-BR" kern="0" err="1"/>
              <a:t>previous</a:t>
            </a:r>
            <a:r>
              <a:rPr lang="pt-BR" kern="0"/>
              <a:t> </a:t>
            </a:r>
            <a:r>
              <a:rPr lang="pt-BR" kern="0" err="1"/>
              <a:t>year</a:t>
            </a:r>
            <a:r>
              <a:rPr lang="pt-BR" kern="0"/>
              <a:t> </a:t>
            </a:r>
            <a:r>
              <a:rPr lang="pt-BR" kern="0" err="1"/>
              <a:t>growth</a:t>
            </a:r>
            <a:r>
              <a:rPr lang="pt-BR" kern="0"/>
              <a:t>, as it </a:t>
            </a:r>
            <a:r>
              <a:rPr lang="pt-BR" kern="0" err="1"/>
              <a:t>grows</a:t>
            </a:r>
            <a:r>
              <a:rPr lang="pt-BR" kern="0"/>
              <a:t> 2,5% more </a:t>
            </a:r>
            <a:r>
              <a:rPr lang="pt-BR" kern="0" err="1"/>
              <a:t>than</a:t>
            </a:r>
            <a:r>
              <a:rPr lang="pt-BR" kern="0"/>
              <a:t> </a:t>
            </a:r>
            <a:r>
              <a:rPr lang="pt-BR" kern="0" err="1"/>
              <a:t>previously</a:t>
            </a:r>
            <a:r>
              <a:rPr lang="pt-BR" kern="0"/>
              <a:t> (</a:t>
            </a:r>
            <a:r>
              <a:rPr lang="pt-BR" kern="0" err="1"/>
              <a:t>ii</a:t>
            </a:r>
            <a:r>
              <a:rPr lang="pt-BR" kern="0"/>
              <a:t>) </a:t>
            </a:r>
            <a:r>
              <a:rPr lang="pt-BR" kern="0" err="1"/>
              <a:t>growth</a:t>
            </a:r>
            <a:r>
              <a:rPr lang="pt-BR" kern="0"/>
              <a:t> </a:t>
            </a:r>
            <a:r>
              <a:rPr lang="pt-BR" kern="0" err="1"/>
              <a:t>driven</a:t>
            </a:r>
            <a:r>
              <a:rPr lang="pt-BR" kern="0"/>
              <a:t> </a:t>
            </a:r>
            <a:r>
              <a:rPr lang="pt-BR" kern="0" err="1"/>
              <a:t>by</a:t>
            </a:r>
            <a:r>
              <a:rPr lang="pt-BR" kern="0"/>
              <a:t> data centers </a:t>
            </a:r>
            <a:r>
              <a:rPr lang="pt-BR" kern="0" err="1"/>
              <a:t>is</a:t>
            </a:r>
            <a:r>
              <a:rPr lang="pt-BR" kern="0"/>
              <a:t> </a:t>
            </a:r>
            <a:r>
              <a:rPr lang="pt-BR" kern="0" err="1"/>
              <a:t>bigger</a:t>
            </a:r>
            <a:r>
              <a:rPr lang="pt-BR" kern="0"/>
              <a:t> </a:t>
            </a:r>
            <a:r>
              <a:rPr lang="pt-BR" kern="0" err="1"/>
              <a:t>than</a:t>
            </a:r>
            <a:r>
              <a:rPr lang="pt-BR" kern="0"/>
              <a:t> </a:t>
            </a:r>
            <a:r>
              <a:rPr lang="pt-BR" kern="0" err="1"/>
              <a:t>expected</a:t>
            </a:r>
            <a:r>
              <a:rPr lang="pt-BR" kern="0"/>
              <a:t>, </a:t>
            </a:r>
            <a:r>
              <a:rPr lang="pt-BR" kern="0" err="1"/>
              <a:t>since</a:t>
            </a:r>
            <a:r>
              <a:rPr lang="pt-BR" kern="0"/>
              <a:t> it </a:t>
            </a:r>
            <a:r>
              <a:rPr lang="pt-BR" kern="0" err="1"/>
              <a:t>growths</a:t>
            </a:r>
            <a:r>
              <a:rPr lang="pt-BR" kern="0"/>
              <a:t> </a:t>
            </a:r>
            <a:r>
              <a:rPr lang="pt-BR" kern="0" err="1"/>
              <a:t>the</a:t>
            </a:r>
            <a:r>
              <a:rPr lang="pt-BR" kern="0"/>
              <a:t> CAGR </a:t>
            </a:r>
            <a:r>
              <a:rPr lang="pt-BR" kern="0" err="1"/>
              <a:t>of</a:t>
            </a:r>
            <a:r>
              <a:rPr lang="pt-BR" kern="0"/>
              <a:t> </a:t>
            </a:r>
            <a:r>
              <a:rPr lang="pt-BR" kern="0" err="1"/>
              <a:t>the</a:t>
            </a:r>
            <a:r>
              <a:rPr lang="pt-BR" kern="0"/>
              <a:t> data center </a:t>
            </a:r>
            <a:r>
              <a:rPr lang="pt-BR" kern="0" err="1"/>
              <a:t>industry</a:t>
            </a:r>
            <a:r>
              <a:rPr lang="pt-BR" kern="0"/>
              <a:t>. </a:t>
            </a:r>
            <a:r>
              <a:rPr lang="pt-BR" kern="0" err="1"/>
              <a:t>Under</a:t>
            </a:r>
            <a:r>
              <a:rPr lang="pt-BR" kern="0"/>
              <a:t> </a:t>
            </a:r>
            <a:r>
              <a:rPr lang="pt-BR" kern="0" err="1"/>
              <a:t>this</a:t>
            </a:r>
            <a:r>
              <a:rPr lang="pt-BR" kern="0"/>
              <a:t> </a:t>
            </a:r>
            <a:r>
              <a:rPr lang="pt-BR" kern="0" err="1"/>
              <a:t>scenario</a:t>
            </a:r>
            <a:r>
              <a:rPr lang="pt-BR" kern="0"/>
              <a:t>, </a:t>
            </a:r>
            <a:r>
              <a:rPr lang="pt-BR" kern="0" err="1"/>
              <a:t>our</a:t>
            </a:r>
            <a:r>
              <a:rPr lang="pt-BR" kern="0"/>
              <a:t> FCFF </a:t>
            </a:r>
            <a:r>
              <a:rPr lang="pt-BR" kern="0" err="1"/>
              <a:t>projections</a:t>
            </a:r>
            <a:r>
              <a:rPr lang="pt-BR" kern="0"/>
              <a:t> </a:t>
            </a:r>
            <a:r>
              <a:rPr lang="pt-BR" kern="0" err="1"/>
              <a:t>would</a:t>
            </a:r>
            <a:r>
              <a:rPr lang="pt-BR" kern="0"/>
              <a:t> </a:t>
            </a:r>
            <a:r>
              <a:rPr lang="pt-BR" kern="0" err="1"/>
              <a:t>result</a:t>
            </a:r>
            <a:r>
              <a:rPr lang="pt-BR" kern="0"/>
              <a:t> in </a:t>
            </a:r>
            <a:r>
              <a:rPr lang="pt-BR" kern="0" err="1"/>
              <a:t>an</a:t>
            </a:r>
            <a:r>
              <a:rPr lang="pt-BR" kern="0"/>
              <a:t> </a:t>
            </a:r>
            <a:r>
              <a:rPr lang="pt-BR" kern="0" err="1"/>
              <a:t>upside</a:t>
            </a:r>
            <a:r>
              <a:rPr lang="pt-BR" kern="0"/>
              <a:t> </a:t>
            </a:r>
            <a:r>
              <a:rPr lang="pt-BR" kern="0" err="1"/>
              <a:t>of</a:t>
            </a:r>
            <a:r>
              <a:rPr lang="pt-BR" kern="0"/>
              <a:t> 54%.</a:t>
            </a:r>
            <a:endParaRPr lang="pt-BR" b="1" kern="0"/>
          </a:p>
          <a:p>
            <a:pPr algn="just" rtl="0"/>
            <a:endParaRPr lang="en-US">
              <a:solidFill>
                <a:schemeClr val="tx1"/>
              </a:solidFill>
            </a:endParaRPr>
          </a:p>
        </p:txBody>
      </p:sp>
      <p:sp>
        <p:nvSpPr>
          <p:cNvPr id="23" name="Espaço Reservado para Texto 22">
            <a:extLst>
              <a:ext uri="{FF2B5EF4-FFF2-40B4-BE49-F238E27FC236}">
                <a16:creationId xmlns:a16="http://schemas.microsoft.com/office/drawing/2014/main" id="{C08BED93-72FF-5EBE-BF33-13F0CCFB3D14}"/>
              </a:ext>
            </a:extLst>
          </p:cNvPr>
          <p:cNvSpPr>
            <a:spLocks noGrp="1"/>
          </p:cNvSpPr>
          <p:nvPr>
            <p:ph type="body" sz="quarter" idx="16"/>
          </p:nvPr>
        </p:nvSpPr>
        <p:spPr>
          <a:xfrm>
            <a:off x="5197609" y="2876857"/>
            <a:ext cx="2172146" cy="220909"/>
          </a:xfrm>
        </p:spPr>
        <p:txBody>
          <a:bodyPr/>
          <a:lstStyle/>
          <a:p>
            <a:r>
              <a:rPr lang="pt-BR" err="1"/>
              <a:t>Exhibit</a:t>
            </a:r>
            <a:r>
              <a:rPr lang="pt-BR"/>
              <a:t> 19: Enterprise </a:t>
            </a:r>
            <a:r>
              <a:rPr lang="pt-BR" err="1"/>
              <a:t>Value</a:t>
            </a:r>
            <a:r>
              <a:rPr lang="pt-BR"/>
              <a:t> (BRL </a:t>
            </a:r>
            <a:r>
              <a:rPr lang="pt-BR" err="1"/>
              <a:t>bn</a:t>
            </a:r>
            <a:r>
              <a:rPr lang="pt-BR"/>
              <a:t>) </a:t>
            </a:r>
          </a:p>
        </p:txBody>
      </p:sp>
      <p:sp>
        <p:nvSpPr>
          <p:cNvPr id="28" name="Espaço Reservado para Texto 27">
            <a:extLst>
              <a:ext uri="{FF2B5EF4-FFF2-40B4-BE49-F238E27FC236}">
                <a16:creationId xmlns:a16="http://schemas.microsoft.com/office/drawing/2014/main" id="{71A44ECC-0B4D-1A4E-EACA-6BEA44DD8384}"/>
              </a:ext>
            </a:extLst>
          </p:cNvPr>
          <p:cNvSpPr>
            <a:spLocks noGrp="1"/>
          </p:cNvSpPr>
          <p:nvPr>
            <p:ph type="body" sz="quarter" idx="19"/>
          </p:nvPr>
        </p:nvSpPr>
        <p:spPr/>
        <p:txBody>
          <a:bodyPr/>
          <a:lstStyle/>
          <a:p>
            <a:r>
              <a:rPr lang="pt-BR" err="1"/>
              <a:t>Exhibit</a:t>
            </a:r>
            <a:r>
              <a:rPr lang="pt-BR"/>
              <a:t> 20: Share Price (BRL)</a:t>
            </a:r>
          </a:p>
        </p:txBody>
      </p:sp>
      <p:sp>
        <p:nvSpPr>
          <p:cNvPr id="38" name="Espaço Reservado para Texto 37">
            <a:extLst>
              <a:ext uri="{FF2B5EF4-FFF2-40B4-BE49-F238E27FC236}">
                <a16:creationId xmlns:a16="http://schemas.microsoft.com/office/drawing/2014/main" id="{918A87B5-F20B-B86A-E6FB-0E8B6877B767}"/>
              </a:ext>
            </a:extLst>
          </p:cNvPr>
          <p:cNvSpPr>
            <a:spLocks noGrp="1"/>
          </p:cNvSpPr>
          <p:nvPr>
            <p:ph type="body" sz="quarter" idx="22"/>
          </p:nvPr>
        </p:nvSpPr>
        <p:spPr>
          <a:xfrm>
            <a:off x="5197609" y="7794904"/>
            <a:ext cx="2373508" cy="196850"/>
          </a:xfrm>
        </p:spPr>
        <p:txBody>
          <a:bodyPr/>
          <a:lstStyle/>
          <a:p>
            <a:r>
              <a:rPr lang="pt-BR" err="1"/>
              <a:t>Exhibit</a:t>
            </a:r>
            <a:r>
              <a:rPr lang="pt-BR"/>
              <a:t> 21: Copper </a:t>
            </a:r>
            <a:r>
              <a:rPr lang="pt-BR" err="1"/>
              <a:t>historical</a:t>
            </a:r>
            <a:r>
              <a:rPr lang="pt-BR"/>
              <a:t> </a:t>
            </a:r>
            <a:r>
              <a:rPr lang="pt-BR" err="1"/>
              <a:t>price</a:t>
            </a:r>
            <a:r>
              <a:rPr lang="pt-BR"/>
              <a:t> (USD)</a:t>
            </a:r>
          </a:p>
        </p:txBody>
      </p:sp>
      <p:graphicFrame>
        <p:nvGraphicFramePr>
          <p:cNvPr id="18" name="Gráfico 17">
            <a:extLst>
              <a:ext uri="{FF2B5EF4-FFF2-40B4-BE49-F238E27FC236}">
                <a16:creationId xmlns:a16="http://schemas.microsoft.com/office/drawing/2014/main" id="{C132593F-F8B8-74DF-505A-4D95E5F39B93}"/>
              </a:ext>
            </a:extLst>
          </p:cNvPr>
          <p:cNvGraphicFramePr>
            <a:graphicFrameLocks/>
          </p:cNvGraphicFramePr>
          <p:nvPr>
            <p:extLst>
              <p:ext uri="{D42A27DB-BD31-4B8C-83A1-F6EECF244321}">
                <p14:modId xmlns:p14="http://schemas.microsoft.com/office/powerpoint/2010/main" val="1512278705"/>
              </p:ext>
            </p:extLst>
          </p:nvPr>
        </p:nvGraphicFramePr>
        <p:xfrm>
          <a:off x="5208083" y="8067799"/>
          <a:ext cx="2552121" cy="182923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5" name="Object 34">
            <a:extLst>
              <a:ext uri="{FF2B5EF4-FFF2-40B4-BE49-F238E27FC236}">
                <a16:creationId xmlns:a16="http://schemas.microsoft.com/office/drawing/2014/main" id="{6F01E7E7-571A-108A-9C01-489BE65E7487}"/>
              </a:ext>
            </a:extLst>
          </p:cNvPr>
          <p:cNvGraphicFramePr>
            <a:graphicFrameLocks noChangeAspect="1"/>
          </p:cNvGraphicFramePr>
          <p:nvPr>
            <p:extLst>
              <p:ext uri="{D42A27DB-BD31-4B8C-83A1-F6EECF244321}">
                <p14:modId xmlns:p14="http://schemas.microsoft.com/office/powerpoint/2010/main" val="3068576412"/>
              </p:ext>
            </p:extLst>
          </p:nvPr>
        </p:nvGraphicFramePr>
        <p:xfrm>
          <a:off x="5241305" y="3096656"/>
          <a:ext cx="2485676" cy="1835552"/>
        </p:xfrm>
        <a:graphic>
          <a:graphicData uri="http://schemas.openxmlformats.org/presentationml/2006/ole">
            <mc:AlternateContent xmlns:mc="http://schemas.openxmlformats.org/markup-compatibility/2006">
              <mc:Choice xmlns:v="urn:schemas-microsoft-com:vml" Requires="v">
                <p:oleObj name="Worksheet" r:id="rId6" imgW="5189114" imgH="3832947" progId="Excel.Sheet.12">
                  <p:embed/>
                </p:oleObj>
              </mc:Choice>
              <mc:Fallback>
                <p:oleObj name="Worksheet" r:id="rId6" imgW="5189114" imgH="3832947" progId="Excel.Sheet.12">
                  <p:embed/>
                  <p:pic>
                    <p:nvPicPr>
                      <p:cNvPr id="35" name="Object 34">
                        <a:extLst>
                          <a:ext uri="{FF2B5EF4-FFF2-40B4-BE49-F238E27FC236}">
                            <a16:creationId xmlns:a16="http://schemas.microsoft.com/office/drawing/2014/main" id="{6F01E7E7-571A-108A-9C01-489BE65E7487}"/>
                          </a:ext>
                        </a:extLst>
                      </p:cNvPr>
                      <p:cNvPicPr/>
                      <p:nvPr/>
                    </p:nvPicPr>
                    <p:blipFill>
                      <a:blip r:embed="rId7"/>
                      <a:stretch>
                        <a:fillRect/>
                      </a:stretch>
                    </p:blipFill>
                    <p:spPr>
                      <a:xfrm>
                        <a:off x="5241305" y="3096656"/>
                        <a:ext cx="2485676" cy="1835552"/>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CEA3B94C-C4CA-8AEC-7504-7BB84E230DA7}"/>
              </a:ext>
            </a:extLst>
          </p:cNvPr>
          <p:cNvGraphicFramePr>
            <a:graphicFrameLocks noChangeAspect="1"/>
          </p:cNvGraphicFramePr>
          <p:nvPr>
            <p:extLst>
              <p:ext uri="{D42A27DB-BD31-4B8C-83A1-F6EECF244321}">
                <p14:modId xmlns:p14="http://schemas.microsoft.com/office/powerpoint/2010/main" val="2705242584"/>
              </p:ext>
            </p:extLst>
          </p:nvPr>
        </p:nvGraphicFramePr>
        <p:xfrm>
          <a:off x="5241305" y="5529839"/>
          <a:ext cx="2215964" cy="1857409"/>
        </p:xfrm>
        <a:graphic>
          <a:graphicData uri="http://schemas.openxmlformats.org/presentationml/2006/ole">
            <mc:AlternateContent xmlns:mc="http://schemas.openxmlformats.org/markup-compatibility/2006">
              <mc:Choice xmlns:v="urn:schemas-microsoft-com:vml" Requires="v">
                <p:oleObj name="Worksheet" r:id="rId8" imgW="4572000" imgH="3832947" progId="Excel.Sheet.12">
                  <p:embed/>
                </p:oleObj>
              </mc:Choice>
              <mc:Fallback>
                <p:oleObj name="Worksheet" r:id="rId8" imgW="4572000" imgH="3832947" progId="Excel.Sheet.12">
                  <p:embed/>
                  <p:pic>
                    <p:nvPicPr>
                      <p:cNvPr id="37" name="Object 36">
                        <a:extLst>
                          <a:ext uri="{FF2B5EF4-FFF2-40B4-BE49-F238E27FC236}">
                            <a16:creationId xmlns:a16="http://schemas.microsoft.com/office/drawing/2014/main" id="{CEA3B94C-C4CA-8AEC-7504-7BB84E230DA7}"/>
                          </a:ext>
                        </a:extLst>
                      </p:cNvPr>
                      <p:cNvPicPr/>
                      <p:nvPr/>
                    </p:nvPicPr>
                    <p:blipFill>
                      <a:blip r:embed="rId9"/>
                      <a:stretch>
                        <a:fillRect/>
                      </a:stretch>
                    </p:blipFill>
                    <p:spPr>
                      <a:xfrm>
                        <a:off x="5241305" y="5529839"/>
                        <a:ext cx="2215964" cy="1857409"/>
                      </a:xfrm>
                      <a:prstGeom prst="rect">
                        <a:avLst/>
                      </a:prstGeom>
                    </p:spPr>
                  </p:pic>
                </p:oleObj>
              </mc:Fallback>
            </mc:AlternateContent>
          </a:graphicData>
        </a:graphic>
      </p:graphicFrame>
    </p:spTree>
    <p:extLst>
      <p:ext uri="{BB962C8B-B14F-4D97-AF65-F5344CB8AC3E}">
        <p14:creationId xmlns:p14="http://schemas.microsoft.com/office/powerpoint/2010/main" val="4252982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C1509E-E3F3-00BA-D4EC-8CE7246BD9C0}"/>
              </a:ext>
            </a:extLst>
          </p:cNvPr>
          <p:cNvSpPr>
            <a:spLocks noGrp="1"/>
          </p:cNvSpPr>
          <p:nvPr>
            <p:ph type="body" sz="quarter" idx="10"/>
          </p:nvPr>
        </p:nvSpPr>
        <p:spPr/>
        <p:txBody>
          <a:bodyPr/>
          <a:lstStyle/>
          <a:p>
            <a:r>
              <a:rPr lang="en-US"/>
              <a:t>Group 2</a:t>
            </a:r>
          </a:p>
        </p:txBody>
      </p:sp>
      <p:sp>
        <p:nvSpPr>
          <p:cNvPr id="3" name="Text Placeholder 2">
            <a:extLst>
              <a:ext uri="{FF2B5EF4-FFF2-40B4-BE49-F238E27FC236}">
                <a16:creationId xmlns:a16="http://schemas.microsoft.com/office/drawing/2014/main" id="{8C39AB0F-E427-F4B1-77BF-16AD7431A20C}"/>
              </a:ext>
            </a:extLst>
          </p:cNvPr>
          <p:cNvSpPr>
            <a:spLocks noGrp="1"/>
          </p:cNvSpPr>
          <p:nvPr>
            <p:ph type="body" sz="quarter" idx="11"/>
          </p:nvPr>
        </p:nvSpPr>
        <p:spPr>
          <a:xfrm>
            <a:off x="192114" y="1306187"/>
            <a:ext cx="4866017" cy="9442330"/>
          </a:xfrm>
        </p:spPr>
        <p:txBody>
          <a:bodyPr/>
          <a:lstStyle/>
          <a:p>
            <a:pPr algn="just"/>
            <a:r>
              <a:rPr lang="pt-BR" kern="0" dirty="0" err="1"/>
              <a:t>WEG’s</a:t>
            </a:r>
            <a:r>
              <a:rPr lang="pt-BR" kern="0" dirty="0"/>
              <a:t> </a:t>
            </a:r>
            <a:r>
              <a:rPr lang="pt-BR" kern="0" dirty="0" err="1"/>
              <a:t>risks</a:t>
            </a:r>
            <a:r>
              <a:rPr lang="pt-BR" kern="0" dirty="0"/>
              <a:t> </a:t>
            </a:r>
            <a:r>
              <a:rPr lang="pt-BR" kern="0" dirty="0" err="1"/>
              <a:t>can</a:t>
            </a:r>
            <a:r>
              <a:rPr lang="pt-BR" kern="0" dirty="0"/>
              <a:t> </a:t>
            </a:r>
            <a:r>
              <a:rPr lang="pt-BR" kern="0" dirty="0" err="1"/>
              <a:t>be</a:t>
            </a:r>
            <a:r>
              <a:rPr lang="pt-BR" kern="0" dirty="0"/>
              <a:t> </a:t>
            </a:r>
            <a:r>
              <a:rPr lang="pt-BR" kern="0" dirty="0" err="1"/>
              <a:t>divided</a:t>
            </a:r>
            <a:r>
              <a:rPr lang="pt-BR" kern="0" dirty="0"/>
              <a:t> in </a:t>
            </a:r>
            <a:r>
              <a:rPr lang="pt-BR" kern="0" dirty="0" err="1"/>
              <a:t>three</a:t>
            </a:r>
            <a:r>
              <a:rPr lang="pt-BR" kern="0" dirty="0"/>
              <a:t> </a:t>
            </a:r>
            <a:r>
              <a:rPr lang="pt-BR" kern="0" dirty="0" err="1"/>
              <a:t>main</a:t>
            </a:r>
            <a:r>
              <a:rPr lang="pt-BR" kern="0" dirty="0"/>
              <a:t> </a:t>
            </a:r>
            <a:r>
              <a:rPr lang="pt-BR" kern="0" dirty="0" err="1"/>
              <a:t>different</a:t>
            </a:r>
            <a:r>
              <a:rPr lang="pt-BR" kern="0" dirty="0"/>
              <a:t> </a:t>
            </a:r>
            <a:r>
              <a:rPr lang="pt-BR" kern="0" dirty="0" err="1"/>
              <a:t>groups</a:t>
            </a:r>
            <a:r>
              <a:rPr lang="pt-BR" kern="0" dirty="0"/>
              <a:t>: </a:t>
            </a:r>
            <a:r>
              <a:rPr lang="pt-BR" kern="0" dirty="0" err="1"/>
              <a:t>competitive</a:t>
            </a:r>
            <a:r>
              <a:rPr lang="pt-BR" kern="0" dirty="0"/>
              <a:t> </a:t>
            </a:r>
            <a:r>
              <a:rPr lang="pt-BR" kern="0" dirty="0" err="1"/>
              <a:t>risks</a:t>
            </a:r>
            <a:r>
              <a:rPr lang="pt-BR" kern="0" dirty="0"/>
              <a:t>, </a:t>
            </a:r>
            <a:r>
              <a:rPr lang="pt-BR" kern="0" dirty="0" err="1"/>
              <a:t>macroeconomic</a:t>
            </a:r>
            <a:r>
              <a:rPr lang="pt-BR" kern="0" dirty="0"/>
              <a:t> </a:t>
            </a:r>
            <a:r>
              <a:rPr lang="pt-BR" kern="0" dirty="0" err="1"/>
              <a:t>risks</a:t>
            </a:r>
            <a:r>
              <a:rPr lang="pt-BR" kern="0" dirty="0"/>
              <a:t> </a:t>
            </a:r>
            <a:r>
              <a:rPr lang="pt-BR" kern="0" dirty="0" err="1"/>
              <a:t>and</a:t>
            </a:r>
            <a:r>
              <a:rPr lang="pt-BR" kern="0" dirty="0"/>
              <a:t> </a:t>
            </a:r>
            <a:r>
              <a:rPr lang="pt-BR" kern="0" dirty="0" err="1"/>
              <a:t>operational</a:t>
            </a:r>
            <a:r>
              <a:rPr lang="pt-BR" kern="0" dirty="0"/>
              <a:t> </a:t>
            </a:r>
            <a:r>
              <a:rPr lang="pt-BR" kern="0" dirty="0" err="1"/>
              <a:t>risks</a:t>
            </a:r>
            <a:r>
              <a:rPr lang="pt-BR" kern="0" dirty="0"/>
              <a:t>. </a:t>
            </a:r>
            <a:r>
              <a:rPr lang="en-US" kern="0" dirty="0"/>
              <a:t>Competitive risk is when other competing companies threaten WEG financially, with the possibility of it losing Market Share. Macroeconomic risk is related to factors that are not in the company's control, external and often unpredictable events. And finally, operational risks, which refer to internal failures within WEG itself, impacting its operations.</a:t>
            </a:r>
          </a:p>
          <a:p>
            <a:pPr algn="just"/>
            <a:r>
              <a:rPr lang="en-US" sz="1000" b="1" i="0" u="none" strike="noStrike" dirty="0">
                <a:solidFill>
                  <a:schemeClr val="accent1"/>
                </a:solidFill>
                <a:effectLst/>
              </a:rPr>
              <a:t>Competitive Risks</a:t>
            </a:r>
            <a:endParaRPr lang="pt-BR" sz="1000" dirty="0">
              <a:solidFill>
                <a:schemeClr val="accent1"/>
              </a:solidFill>
            </a:endParaRPr>
          </a:p>
          <a:p>
            <a:pPr algn="just"/>
            <a:r>
              <a:rPr lang="pt-BR" b="1" dirty="0"/>
              <a:t>A1. </a:t>
            </a:r>
            <a:r>
              <a:rPr lang="pt-BR" b="1" dirty="0" err="1"/>
              <a:t>Entry</a:t>
            </a:r>
            <a:r>
              <a:rPr lang="pt-BR" b="1" dirty="0"/>
              <a:t> </a:t>
            </a:r>
            <a:r>
              <a:rPr lang="pt-BR" b="1" dirty="0" err="1"/>
              <a:t>of</a:t>
            </a:r>
            <a:r>
              <a:rPr lang="pt-BR" b="1" dirty="0"/>
              <a:t> New Players </a:t>
            </a:r>
            <a:r>
              <a:rPr lang="pt-BR" b="1" dirty="0" err="1"/>
              <a:t>into</a:t>
            </a:r>
            <a:r>
              <a:rPr lang="pt-BR" b="1" dirty="0"/>
              <a:t> </a:t>
            </a:r>
            <a:r>
              <a:rPr lang="pt-BR" b="1" dirty="0" err="1"/>
              <a:t>the</a:t>
            </a:r>
            <a:r>
              <a:rPr lang="pt-BR" b="1" dirty="0"/>
              <a:t> Market - </a:t>
            </a:r>
            <a:r>
              <a:rPr lang="pt-BR" b="1" dirty="0" err="1"/>
              <a:t>Probability</a:t>
            </a:r>
            <a:r>
              <a:rPr lang="pt-BR" b="1" dirty="0"/>
              <a:t>: </a:t>
            </a:r>
            <a:r>
              <a:rPr lang="pt-BR" b="1" dirty="0" err="1"/>
              <a:t>Low</a:t>
            </a:r>
            <a:r>
              <a:rPr lang="pt-BR" b="1" dirty="0"/>
              <a:t> | </a:t>
            </a:r>
            <a:r>
              <a:rPr lang="pt-BR" b="1" dirty="0" err="1"/>
              <a:t>Impact</a:t>
            </a:r>
            <a:r>
              <a:rPr lang="pt-BR" b="1" dirty="0"/>
              <a:t>: </a:t>
            </a:r>
            <a:r>
              <a:rPr lang="pt-BR" b="1" dirty="0" err="1"/>
              <a:t>Medium</a:t>
            </a:r>
            <a:endParaRPr lang="pt-BR" b="1" dirty="0"/>
          </a:p>
          <a:p>
            <a:pPr algn="just"/>
            <a:r>
              <a:rPr lang="pt-BR" dirty="0" err="1">
                <a:solidFill>
                  <a:schemeClr val="accent1"/>
                </a:solidFill>
              </a:rPr>
              <a:t>Description</a:t>
            </a:r>
            <a:r>
              <a:rPr lang="pt-BR" dirty="0"/>
              <a:t>: High </a:t>
            </a:r>
            <a:r>
              <a:rPr lang="pt-BR" dirty="0" err="1"/>
              <a:t>entry</a:t>
            </a:r>
            <a:r>
              <a:rPr lang="pt-BR" dirty="0"/>
              <a:t> </a:t>
            </a:r>
            <a:r>
              <a:rPr lang="pt-BR" dirty="0" err="1"/>
              <a:t>barriers</a:t>
            </a:r>
            <a:r>
              <a:rPr lang="pt-BR" dirty="0"/>
              <a:t>, </a:t>
            </a:r>
            <a:r>
              <a:rPr lang="pt-BR" dirty="0" err="1"/>
              <a:t>such</a:t>
            </a:r>
            <a:r>
              <a:rPr lang="pt-BR" dirty="0"/>
              <a:t> as high </a:t>
            </a:r>
            <a:r>
              <a:rPr lang="pt-BR" dirty="0" err="1"/>
              <a:t>initial</a:t>
            </a:r>
            <a:r>
              <a:rPr lang="pt-BR" dirty="0"/>
              <a:t> capital </a:t>
            </a:r>
            <a:r>
              <a:rPr lang="pt-BR" dirty="0" err="1"/>
              <a:t>required</a:t>
            </a:r>
            <a:r>
              <a:rPr lang="pt-BR" dirty="0"/>
              <a:t>, </a:t>
            </a:r>
            <a:r>
              <a:rPr lang="pt-BR" dirty="0" err="1"/>
              <a:t>technological</a:t>
            </a:r>
            <a:r>
              <a:rPr lang="pt-BR" dirty="0"/>
              <a:t> expertise </a:t>
            </a:r>
            <a:r>
              <a:rPr lang="pt-BR" dirty="0" err="1"/>
              <a:t>and</a:t>
            </a:r>
            <a:r>
              <a:rPr lang="pt-BR" dirty="0"/>
              <a:t> heavy </a:t>
            </a:r>
            <a:r>
              <a:rPr lang="pt-BR" dirty="0" err="1"/>
              <a:t>regulation</a:t>
            </a:r>
            <a:r>
              <a:rPr lang="pt-BR" dirty="0"/>
              <a:t>, make it </a:t>
            </a:r>
            <a:r>
              <a:rPr lang="pt-BR" dirty="0" err="1"/>
              <a:t>difficult</a:t>
            </a:r>
            <a:r>
              <a:rPr lang="pt-BR" dirty="0"/>
              <a:t> for new players </a:t>
            </a:r>
            <a:r>
              <a:rPr lang="pt-BR" dirty="0" err="1"/>
              <a:t>to</a:t>
            </a:r>
            <a:r>
              <a:rPr lang="pt-BR" dirty="0"/>
              <a:t> </a:t>
            </a:r>
            <a:r>
              <a:rPr lang="pt-BR" dirty="0" err="1"/>
              <a:t>establish</a:t>
            </a:r>
            <a:r>
              <a:rPr lang="pt-BR" dirty="0"/>
              <a:t> </a:t>
            </a:r>
            <a:r>
              <a:rPr lang="pt-BR" dirty="0" err="1"/>
              <a:t>themselves</a:t>
            </a:r>
            <a:r>
              <a:rPr lang="pt-BR" dirty="0"/>
              <a:t> in </a:t>
            </a:r>
            <a:r>
              <a:rPr lang="pt-BR" dirty="0" err="1"/>
              <a:t>the</a:t>
            </a:r>
            <a:r>
              <a:rPr lang="pt-BR" dirty="0"/>
              <a:t> </a:t>
            </a:r>
            <a:r>
              <a:rPr lang="pt-BR" dirty="0" err="1"/>
              <a:t>market</a:t>
            </a:r>
            <a:r>
              <a:rPr lang="pt-BR" dirty="0"/>
              <a:t>.</a:t>
            </a:r>
          </a:p>
          <a:p>
            <a:pPr algn="just"/>
            <a:r>
              <a:rPr lang="pt-BR" dirty="0" err="1">
                <a:solidFill>
                  <a:schemeClr val="accent1"/>
                </a:solidFill>
              </a:rPr>
              <a:t>Mitigation</a:t>
            </a:r>
            <a:r>
              <a:rPr lang="pt-BR" dirty="0"/>
              <a:t>: </a:t>
            </a:r>
            <a:r>
              <a:rPr lang="en-US" dirty="0"/>
              <a:t>In order for WEG to control this risk, it is necessary to retain its customers through innovative products - so that they satisfy the specific needs of its customers - in addition to making its prices more competitive, through an improvement in the company's operational efficiency, for example.</a:t>
            </a:r>
            <a:r>
              <a:rPr lang="pt-BR" dirty="0"/>
              <a:t> </a:t>
            </a:r>
          </a:p>
          <a:p>
            <a:pPr algn="just"/>
            <a:r>
              <a:rPr lang="pt-BR" b="1" dirty="0"/>
              <a:t>A2. </a:t>
            </a:r>
            <a:r>
              <a:rPr lang="pt-BR" b="1" dirty="0" err="1"/>
              <a:t>Intensification</a:t>
            </a:r>
            <a:r>
              <a:rPr lang="pt-BR" b="1" dirty="0"/>
              <a:t> </a:t>
            </a:r>
            <a:r>
              <a:rPr lang="pt-BR" b="1" dirty="0" err="1"/>
              <a:t>of</a:t>
            </a:r>
            <a:r>
              <a:rPr lang="pt-BR" b="1" dirty="0"/>
              <a:t> </a:t>
            </a:r>
            <a:r>
              <a:rPr lang="pt-BR" b="1" dirty="0" err="1"/>
              <a:t>Competition</a:t>
            </a:r>
            <a:r>
              <a:rPr lang="pt-BR" b="1" dirty="0"/>
              <a:t> - </a:t>
            </a:r>
            <a:r>
              <a:rPr lang="pt-BR" b="1" dirty="0" err="1"/>
              <a:t>Probability</a:t>
            </a:r>
            <a:r>
              <a:rPr lang="pt-BR" b="1" dirty="0"/>
              <a:t>: High | </a:t>
            </a:r>
            <a:r>
              <a:rPr lang="pt-BR" b="1" dirty="0" err="1"/>
              <a:t>Impact</a:t>
            </a:r>
            <a:r>
              <a:rPr lang="pt-BR" b="1" dirty="0"/>
              <a:t>: High</a:t>
            </a:r>
          </a:p>
          <a:p>
            <a:pPr algn="just"/>
            <a:r>
              <a:rPr lang="pt-BR" dirty="0" err="1">
                <a:solidFill>
                  <a:schemeClr val="accent1"/>
                </a:solidFill>
              </a:rPr>
              <a:t>Description</a:t>
            </a:r>
            <a:r>
              <a:rPr lang="pt-BR" dirty="0"/>
              <a:t>: </a:t>
            </a:r>
            <a:r>
              <a:rPr lang="en-US" dirty="0"/>
              <a:t>The company is inserted in a very competitive market, with strong competitors that have a global presence, technological capacity, globally recognized brands and access to the capital market at competitive costs.</a:t>
            </a:r>
            <a:r>
              <a:rPr lang="pt-BR" dirty="0"/>
              <a:t> </a:t>
            </a:r>
          </a:p>
          <a:p>
            <a:pPr algn="just"/>
            <a:r>
              <a:rPr lang="pt-BR" dirty="0" err="1">
                <a:solidFill>
                  <a:schemeClr val="accent1"/>
                </a:solidFill>
              </a:rPr>
              <a:t>Mitigation</a:t>
            </a:r>
            <a:r>
              <a:rPr lang="pt-BR" dirty="0"/>
              <a:t>: </a:t>
            </a:r>
            <a:r>
              <a:rPr lang="en-US" dirty="0"/>
              <a:t>As in topic A1, technological innovation is a fundamental element in WEG's differentiation, allowing it to maintain and even expand its market share.</a:t>
            </a:r>
            <a:endParaRPr lang="pt-BR" dirty="0"/>
          </a:p>
          <a:p>
            <a:pPr algn="just"/>
            <a:r>
              <a:rPr lang="pt-BR" b="1" dirty="0"/>
              <a:t>A3. </a:t>
            </a:r>
            <a:r>
              <a:rPr lang="en-US" b="1" dirty="0"/>
              <a:t>Difficult to Access and Maintain Qualified Labor</a:t>
            </a:r>
            <a:r>
              <a:rPr lang="pt-BR" b="1" dirty="0"/>
              <a:t> - </a:t>
            </a:r>
            <a:r>
              <a:rPr lang="pt-BR" b="1" dirty="0" err="1"/>
              <a:t>Probability</a:t>
            </a:r>
            <a:r>
              <a:rPr lang="pt-BR" b="1" dirty="0"/>
              <a:t>: </a:t>
            </a:r>
            <a:r>
              <a:rPr lang="pt-BR" b="1" dirty="0" err="1"/>
              <a:t>Medium</a:t>
            </a:r>
            <a:r>
              <a:rPr lang="pt-BR" b="1" dirty="0"/>
              <a:t> | </a:t>
            </a:r>
            <a:r>
              <a:rPr lang="pt-BR" b="1" dirty="0" err="1"/>
              <a:t>Impact</a:t>
            </a:r>
            <a:r>
              <a:rPr lang="pt-BR" b="1" dirty="0"/>
              <a:t>: </a:t>
            </a:r>
            <a:r>
              <a:rPr lang="pt-BR" b="1" dirty="0" err="1"/>
              <a:t>Medium</a:t>
            </a:r>
            <a:endParaRPr lang="pt-BR" b="1" dirty="0"/>
          </a:p>
          <a:p>
            <a:pPr algn="just"/>
            <a:r>
              <a:rPr lang="pt-BR" dirty="0" err="1">
                <a:solidFill>
                  <a:schemeClr val="accent1"/>
                </a:solidFill>
              </a:rPr>
              <a:t>Description</a:t>
            </a:r>
            <a:r>
              <a:rPr lang="pt-BR" dirty="0"/>
              <a:t>: </a:t>
            </a:r>
            <a:r>
              <a:rPr lang="en-US" dirty="0"/>
              <a:t>With the market increasingly globalized, job opportunities in other countries arise as strong competition for the company’s professionals. Therefore, WEG may experience difficulties in replacing or maintaining qualified professionals.</a:t>
            </a:r>
            <a:endParaRPr lang="pt-BR" dirty="0"/>
          </a:p>
          <a:p>
            <a:pPr algn="just"/>
            <a:r>
              <a:rPr lang="pt-BR" dirty="0" err="1">
                <a:solidFill>
                  <a:schemeClr val="accent1"/>
                </a:solidFill>
              </a:rPr>
              <a:t>Mitigation</a:t>
            </a:r>
            <a:r>
              <a:rPr lang="pt-BR" dirty="0"/>
              <a:t>: </a:t>
            </a:r>
            <a:r>
              <a:rPr lang="en-US" dirty="0"/>
              <a:t>Training professionals who are already part of the company, developing their capabilities and skills, in addition to a stimulating and inclusive work environment can retain such professionals. Offering attractive remuneration and specific benefits are also possible strategies.</a:t>
            </a:r>
            <a:endParaRPr lang="pt-BR" dirty="0"/>
          </a:p>
          <a:p>
            <a:pPr algn="just"/>
            <a:r>
              <a:rPr lang="en-US" sz="1000" b="1" i="0" u="none" strike="noStrike" dirty="0">
                <a:solidFill>
                  <a:schemeClr val="accent1"/>
                </a:solidFill>
                <a:effectLst/>
              </a:rPr>
              <a:t>Macroeconomic Risks</a:t>
            </a:r>
            <a:endParaRPr lang="pt-BR" sz="1000" dirty="0">
              <a:solidFill>
                <a:schemeClr val="accent1"/>
              </a:solidFill>
            </a:endParaRPr>
          </a:p>
          <a:p>
            <a:pPr algn="just"/>
            <a:r>
              <a:rPr lang="pt-BR" b="1" dirty="0"/>
              <a:t>B1. </a:t>
            </a:r>
            <a:r>
              <a:rPr lang="en-US" b="1" dirty="0"/>
              <a:t>Variation in Commodity prices, mainly Copper and Steel </a:t>
            </a:r>
            <a:r>
              <a:rPr lang="pt-BR" b="1" dirty="0"/>
              <a:t>- </a:t>
            </a:r>
            <a:r>
              <a:rPr lang="pt-BR" b="1" dirty="0" err="1"/>
              <a:t>Probability</a:t>
            </a:r>
            <a:r>
              <a:rPr lang="pt-BR" b="1" dirty="0"/>
              <a:t>: High | </a:t>
            </a:r>
            <a:r>
              <a:rPr lang="pt-BR" b="1" dirty="0" err="1"/>
              <a:t>Impact</a:t>
            </a:r>
            <a:r>
              <a:rPr lang="pt-BR" b="1" dirty="0"/>
              <a:t>: High</a:t>
            </a:r>
          </a:p>
          <a:p>
            <a:pPr algn="just"/>
            <a:r>
              <a:rPr lang="pt-BR" dirty="0" err="1">
                <a:solidFill>
                  <a:schemeClr val="accent1"/>
                </a:solidFill>
              </a:rPr>
              <a:t>Description</a:t>
            </a:r>
            <a:r>
              <a:rPr lang="pt-BR" dirty="0"/>
              <a:t>: </a:t>
            </a:r>
            <a:r>
              <a:rPr lang="en-US" dirty="0"/>
              <a:t>The main raw materials used by the machinery and equipment industry are commodities of an international nature. Many of these commodities have their prices linked to the dollar, which makes them vulnerable to price variations in global markets.</a:t>
            </a:r>
            <a:endParaRPr lang="pt-BR" dirty="0"/>
          </a:p>
          <a:p>
            <a:pPr algn="just"/>
            <a:r>
              <a:rPr lang="pt-BR" dirty="0" err="1">
                <a:solidFill>
                  <a:schemeClr val="accent1"/>
                </a:solidFill>
              </a:rPr>
              <a:t>Mitigation</a:t>
            </a:r>
            <a:r>
              <a:rPr lang="pt-BR" dirty="0"/>
              <a:t>: </a:t>
            </a:r>
            <a:r>
              <a:rPr lang="en-US" dirty="0"/>
              <a:t>Use resources such as derivatives (options and swaps, for example) to protect from the risk of fluctuations in commodity prices. In addition, supplier diversification is also a valid strategy for WEG, as it can explore different markets, reducing the impact of variations in commodity prices.</a:t>
            </a:r>
          </a:p>
          <a:p>
            <a:pPr algn="just"/>
            <a:r>
              <a:rPr lang="pt-BR" sz="900" b="1" kern="0" dirty="0">
                <a:solidFill>
                  <a:srgbClr val="000000"/>
                </a:solidFill>
                <a:ea typeface="Calibri"/>
                <a:cs typeface="Calibri"/>
              </a:rPr>
              <a:t>B2. </a:t>
            </a:r>
            <a:r>
              <a:rPr lang="pt-BR" sz="900" b="1" kern="0" dirty="0" err="1">
                <a:solidFill>
                  <a:srgbClr val="000000"/>
                </a:solidFill>
                <a:ea typeface="Calibri"/>
                <a:cs typeface="Calibri"/>
              </a:rPr>
              <a:t>Interest</a:t>
            </a:r>
            <a:r>
              <a:rPr lang="pt-BR" sz="900" b="1" kern="0" dirty="0">
                <a:solidFill>
                  <a:srgbClr val="000000"/>
                </a:solidFill>
                <a:ea typeface="Calibri"/>
                <a:cs typeface="Calibri"/>
              </a:rPr>
              <a:t> Rate </a:t>
            </a:r>
            <a:r>
              <a:rPr lang="pt-BR" sz="900" b="1" kern="0" dirty="0" err="1">
                <a:solidFill>
                  <a:srgbClr val="000000"/>
                </a:solidFill>
                <a:ea typeface="Calibri"/>
                <a:cs typeface="Calibri"/>
              </a:rPr>
              <a:t>variation</a:t>
            </a:r>
            <a:r>
              <a:rPr lang="pt-BR" sz="900" b="1" kern="0" dirty="0">
                <a:solidFill>
                  <a:srgbClr val="000000"/>
                </a:solidFill>
                <a:ea typeface="Calibri"/>
                <a:cs typeface="Calibri"/>
              </a:rPr>
              <a:t> </a:t>
            </a:r>
            <a:r>
              <a:rPr lang="pt-BR" sz="900" b="1" kern="0" dirty="0" err="1">
                <a:solidFill>
                  <a:srgbClr val="000000"/>
                </a:solidFill>
                <a:ea typeface="Calibri"/>
                <a:cs typeface="Calibri"/>
              </a:rPr>
              <a:t>and</a:t>
            </a:r>
            <a:r>
              <a:rPr lang="pt-BR" sz="900" b="1" kern="0" dirty="0">
                <a:solidFill>
                  <a:srgbClr val="000000"/>
                </a:solidFill>
                <a:ea typeface="Calibri"/>
                <a:cs typeface="Calibri"/>
              </a:rPr>
              <a:t> </a:t>
            </a:r>
            <a:r>
              <a:rPr lang="pt-BR" sz="900" b="1" kern="0" dirty="0" err="1">
                <a:solidFill>
                  <a:srgbClr val="000000"/>
                </a:solidFill>
                <a:ea typeface="Calibri"/>
                <a:cs typeface="Calibri"/>
              </a:rPr>
              <a:t>Inflation</a:t>
            </a:r>
            <a:r>
              <a:rPr lang="pt-BR" sz="900" b="1" kern="0" dirty="0">
                <a:solidFill>
                  <a:srgbClr val="000000"/>
                </a:solidFill>
                <a:ea typeface="Calibri"/>
                <a:cs typeface="Calibri"/>
              </a:rPr>
              <a:t>- </a:t>
            </a:r>
            <a:r>
              <a:rPr lang="pt-BR" sz="900" b="1" kern="0" dirty="0" err="1">
                <a:solidFill>
                  <a:srgbClr val="000000"/>
                </a:solidFill>
                <a:ea typeface="Calibri"/>
                <a:cs typeface="Calibri"/>
              </a:rPr>
              <a:t>Probability</a:t>
            </a:r>
            <a:r>
              <a:rPr lang="pt-BR" sz="900" b="1" kern="0" dirty="0">
                <a:solidFill>
                  <a:srgbClr val="000000"/>
                </a:solidFill>
                <a:ea typeface="Calibri"/>
                <a:cs typeface="Calibri"/>
              </a:rPr>
              <a:t>: High| </a:t>
            </a:r>
            <a:r>
              <a:rPr lang="pt-BR" sz="900" b="1" kern="0" dirty="0" err="1">
                <a:solidFill>
                  <a:srgbClr val="000000"/>
                </a:solidFill>
                <a:ea typeface="Calibri"/>
                <a:cs typeface="Calibri"/>
              </a:rPr>
              <a:t>Impact</a:t>
            </a:r>
            <a:r>
              <a:rPr lang="pt-BR" sz="900" b="1" kern="0" dirty="0">
                <a:solidFill>
                  <a:srgbClr val="000000"/>
                </a:solidFill>
                <a:ea typeface="Calibri"/>
                <a:cs typeface="Calibri"/>
              </a:rPr>
              <a:t>: </a:t>
            </a:r>
            <a:r>
              <a:rPr lang="pt-BR" sz="900" b="1" kern="0" dirty="0" err="1">
                <a:solidFill>
                  <a:srgbClr val="000000"/>
                </a:solidFill>
                <a:ea typeface="Calibri"/>
                <a:cs typeface="Calibri"/>
              </a:rPr>
              <a:t>Medium</a:t>
            </a:r>
            <a:endParaRPr lang="pt-BR" sz="900" kern="0" dirty="0">
              <a:solidFill>
                <a:srgbClr val="000000"/>
              </a:solidFill>
              <a:ea typeface="Calibri"/>
              <a:cs typeface="Calibri"/>
            </a:endParaRPr>
          </a:p>
          <a:p>
            <a:pPr algn="just"/>
            <a:r>
              <a:rPr lang="pt-BR" sz="900" kern="0" dirty="0" err="1">
                <a:solidFill>
                  <a:schemeClr val="accent1"/>
                </a:solidFill>
                <a:ea typeface="Calibri"/>
                <a:cs typeface="Calibri"/>
              </a:rPr>
              <a:t>Description</a:t>
            </a:r>
            <a:r>
              <a:rPr lang="pt-BR" sz="900" kern="0" dirty="0">
                <a:solidFill>
                  <a:srgbClr val="000000"/>
                </a:solidFill>
                <a:ea typeface="Calibri"/>
                <a:cs typeface="Calibri"/>
              </a:rPr>
              <a:t>: </a:t>
            </a:r>
            <a:r>
              <a:rPr lang="en-US" sz="900" kern="0" dirty="0">
                <a:solidFill>
                  <a:srgbClr val="000000"/>
                </a:solidFill>
                <a:ea typeface="Calibri"/>
                <a:cs typeface="Calibri"/>
              </a:rPr>
              <a:t>The difficulty in accessing long-term credit, in addition to a high interest rate scenario, causes a decrease in investments, such as infrastructure, geographic expansion and acquisition of equipment and machinery.</a:t>
            </a:r>
            <a:endParaRPr lang="pt-BR" sz="900" kern="0" dirty="0">
              <a:solidFill>
                <a:srgbClr val="000000"/>
              </a:solidFill>
              <a:ea typeface="Calibri"/>
              <a:cs typeface="Calibri"/>
            </a:endParaRPr>
          </a:p>
          <a:p>
            <a:pPr algn="just"/>
            <a:r>
              <a:rPr lang="pt-BR" sz="900" kern="0" dirty="0" err="1">
                <a:solidFill>
                  <a:schemeClr val="accent1"/>
                </a:solidFill>
                <a:ea typeface="Calibri"/>
                <a:cs typeface="Calibri"/>
              </a:rPr>
              <a:t>Mitigation</a:t>
            </a:r>
            <a:r>
              <a:rPr lang="pt-BR" sz="900" kern="0" dirty="0">
                <a:solidFill>
                  <a:srgbClr val="000000"/>
                </a:solidFill>
                <a:ea typeface="Calibri"/>
                <a:cs typeface="Calibri"/>
              </a:rPr>
              <a:t>: </a:t>
            </a:r>
            <a:r>
              <a:rPr lang="en-US" sz="900" kern="0" dirty="0">
                <a:solidFill>
                  <a:srgbClr val="000000"/>
                </a:solidFill>
                <a:ea typeface="Calibri"/>
                <a:cs typeface="Calibri"/>
              </a:rPr>
              <a:t>WEG can mitigate this risk by reducing its dependence on Brazil, through geographic diversification and M&amp;A. Another possible strategy for the company is the monitoring of financial and credit risks as hedges that serve as a shield against variations in interest rates and inflation.</a:t>
            </a:r>
            <a:endParaRPr lang="pt-BR" sz="900" kern="0" dirty="0">
              <a:solidFill>
                <a:srgbClr val="000000"/>
              </a:solidFill>
              <a:ea typeface="Calibri"/>
              <a:cs typeface="Calibri"/>
            </a:endParaRPr>
          </a:p>
          <a:p>
            <a:pPr algn="just"/>
            <a:r>
              <a:rPr lang="en-US" sz="1000" b="1" kern="0" dirty="0">
                <a:solidFill>
                  <a:schemeClr val="accent1"/>
                </a:solidFill>
              </a:rPr>
              <a:t>Operational Risks</a:t>
            </a:r>
            <a:endParaRPr lang="pt-BR" sz="1000" kern="0" dirty="0">
              <a:solidFill>
                <a:schemeClr val="accent1"/>
              </a:solidFill>
              <a:ea typeface="Calibri"/>
              <a:cs typeface="Calibri"/>
            </a:endParaRPr>
          </a:p>
          <a:p>
            <a:pPr algn="just"/>
            <a:r>
              <a:rPr lang="pt-BR" b="1" kern="0" dirty="0">
                <a:solidFill>
                  <a:sysClr val="windowText" lastClr="000000"/>
                </a:solidFill>
              </a:rPr>
              <a:t>C1. </a:t>
            </a:r>
            <a:r>
              <a:rPr lang="en-US" b="1" kern="0" dirty="0">
                <a:solidFill>
                  <a:sysClr val="windowText" lastClr="000000"/>
                </a:solidFill>
              </a:rPr>
              <a:t>Customer Accidents </a:t>
            </a:r>
            <a:r>
              <a:rPr lang="pt-BR" b="1" kern="0" dirty="0">
                <a:solidFill>
                  <a:sysClr val="windowText" lastClr="000000"/>
                </a:solidFill>
              </a:rPr>
              <a:t>- </a:t>
            </a:r>
            <a:r>
              <a:rPr lang="pt-BR" b="1" kern="0" dirty="0" err="1">
                <a:solidFill>
                  <a:sysClr val="windowText" lastClr="000000"/>
                </a:solidFill>
              </a:rPr>
              <a:t>Probability</a:t>
            </a:r>
            <a:r>
              <a:rPr lang="pt-BR" b="1" kern="0" dirty="0">
                <a:solidFill>
                  <a:sysClr val="windowText" lastClr="000000"/>
                </a:solidFill>
              </a:rPr>
              <a:t>: </a:t>
            </a:r>
            <a:r>
              <a:rPr lang="pt-BR" b="1" kern="0" dirty="0" err="1">
                <a:solidFill>
                  <a:sysClr val="windowText" lastClr="000000"/>
                </a:solidFill>
              </a:rPr>
              <a:t>Low</a:t>
            </a:r>
            <a:r>
              <a:rPr lang="pt-BR" b="1" kern="0" dirty="0">
                <a:solidFill>
                  <a:sysClr val="windowText" lastClr="000000"/>
                </a:solidFill>
              </a:rPr>
              <a:t> | </a:t>
            </a:r>
            <a:r>
              <a:rPr lang="pt-BR" b="1" kern="0" dirty="0" err="1">
                <a:solidFill>
                  <a:sysClr val="windowText" lastClr="000000"/>
                </a:solidFill>
              </a:rPr>
              <a:t>Impact</a:t>
            </a:r>
            <a:r>
              <a:rPr lang="pt-BR" b="1" kern="0" dirty="0">
                <a:solidFill>
                  <a:sysClr val="windowText" lastClr="000000"/>
                </a:solidFill>
              </a:rPr>
              <a:t>: High</a:t>
            </a:r>
            <a:endParaRPr lang="pt-BR" b="1" kern="0" dirty="0">
              <a:solidFill>
                <a:sysClr val="windowText" lastClr="000000"/>
              </a:solidFill>
              <a:ea typeface="Calibri"/>
              <a:cs typeface="Calibri"/>
            </a:endParaRPr>
          </a:p>
          <a:p>
            <a:pPr algn="just"/>
            <a:r>
              <a:rPr lang="pt-BR" kern="0" dirty="0" err="1">
                <a:solidFill>
                  <a:schemeClr val="accent1"/>
                </a:solidFill>
              </a:rPr>
              <a:t>Description</a:t>
            </a:r>
            <a:r>
              <a:rPr lang="pt-BR" kern="0" dirty="0">
                <a:solidFill>
                  <a:sysClr val="windowText" lastClr="000000"/>
                </a:solidFill>
              </a:rPr>
              <a:t>: </a:t>
            </a:r>
            <a:r>
              <a:rPr lang="en-US" kern="0" dirty="0">
                <a:solidFill>
                  <a:sysClr val="windowText" lastClr="000000"/>
                </a:solidFill>
              </a:rPr>
              <a:t>Any failures of WEG products may result in material damage to third parties, indirect damage (loss of customer revenue, for example) and physical damage, harming the health of its customers. This makes WEG responsible for compensating proven damages, damaging its image and reputation. It may even lose market share, since its customers will prefer to buy from competitors.</a:t>
            </a:r>
            <a:endParaRPr lang="pt-BR" kern="0" dirty="0">
              <a:solidFill>
                <a:sysClr val="windowText" lastClr="000000"/>
              </a:solidFill>
            </a:endParaRPr>
          </a:p>
          <a:p>
            <a:pPr algn="just"/>
            <a:r>
              <a:rPr lang="pt-BR" kern="0" dirty="0" err="1">
                <a:solidFill>
                  <a:schemeClr val="accent1"/>
                </a:solidFill>
              </a:rPr>
              <a:t>Mitigation</a:t>
            </a:r>
            <a:r>
              <a:rPr lang="pt-BR" kern="0" dirty="0">
                <a:solidFill>
                  <a:sysClr val="windowText" lastClr="000000"/>
                </a:solidFill>
              </a:rPr>
              <a:t>: </a:t>
            </a:r>
            <a:r>
              <a:rPr lang="en-US" kern="0" dirty="0">
                <a:solidFill>
                  <a:sysClr val="windowText" lastClr="000000"/>
                </a:solidFill>
              </a:rPr>
              <a:t>The company already has a preventive measure, which is the Civil Liability Policy – ​​Products and Recall, which guarantees insurance coverage for material and personal damage caused to customers. Furthermore, WEG can, through provisions, guarantee defects arising from its manufacture within a certain period of time.</a:t>
            </a:r>
            <a:r>
              <a:rPr lang="pt-BR" kern="0" dirty="0">
                <a:solidFill>
                  <a:sysClr val="windowText" lastClr="000000"/>
                </a:solidFill>
              </a:rPr>
              <a:t> </a:t>
            </a:r>
            <a:endParaRPr lang="pt-BR" kern="0" dirty="0">
              <a:solidFill>
                <a:sysClr val="windowText" lastClr="000000"/>
              </a:solidFill>
              <a:ea typeface="Calibri"/>
              <a:cs typeface="Calibri"/>
            </a:endParaRPr>
          </a:p>
          <a:p>
            <a:pPr algn="just"/>
            <a:r>
              <a:rPr lang="pt-BR" b="1" kern="0" dirty="0">
                <a:solidFill>
                  <a:sysClr val="windowText" lastClr="000000"/>
                </a:solidFill>
              </a:rPr>
              <a:t>C2. </a:t>
            </a:r>
            <a:r>
              <a:rPr lang="en-US" b="1" kern="0" dirty="0">
                <a:solidFill>
                  <a:sysClr val="windowText" lastClr="000000"/>
                </a:solidFill>
              </a:rPr>
              <a:t>Problems with Logistics and Transportation of Products </a:t>
            </a:r>
            <a:r>
              <a:rPr lang="pt-BR" b="1" kern="0" dirty="0">
                <a:solidFill>
                  <a:sysClr val="windowText" lastClr="000000"/>
                </a:solidFill>
              </a:rPr>
              <a:t>- </a:t>
            </a:r>
            <a:r>
              <a:rPr lang="pt-BR" b="1" kern="0" dirty="0" err="1">
                <a:solidFill>
                  <a:sysClr val="windowText" lastClr="000000"/>
                </a:solidFill>
              </a:rPr>
              <a:t>Probability</a:t>
            </a:r>
            <a:r>
              <a:rPr lang="pt-BR" b="1" kern="0" dirty="0">
                <a:solidFill>
                  <a:sysClr val="windowText" lastClr="000000"/>
                </a:solidFill>
              </a:rPr>
              <a:t>: </a:t>
            </a:r>
            <a:r>
              <a:rPr lang="pt-BR" b="1" kern="0" dirty="0" err="1">
                <a:solidFill>
                  <a:sysClr val="windowText" lastClr="000000"/>
                </a:solidFill>
              </a:rPr>
              <a:t>Low</a:t>
            </a:r>
            <a:r>
              <a:rPr lang="pt-BR" b="1" kern="0" dirty="0">
                <a:solidFill>
                  <a:sysClr val="windowText" lastClr="000000"/>
                </a:solidFill>
              </a:rPr>
              <a:t> | </a:t>
            </a:r>
            <a:r>
              <a:rPr lang="pt-BR" b="1" kern="0" dirty="0" err="1">
                <a:solidFill>
                  <a:sysClr val="windowText" lastClr="000000"/>
                </a:solidFill>
              </a:rPr>
              <a:t>Impact</a:t>
            </a:r>
            <a:r>
              <a:rPr lang="pt-BR" b="1" kern="0" dirty="0">
                <a:solidFill>
                  <a:sysClr val="windowText" lastClr="000000"/>
                </a:solidFill>
              </a:rPr>
              <a:t>: </a:t>
            </a:r>
            <a:r>
              <a:rPr lang="pt-BR" b="1" kern="0" dirty="0" err="1">
                <a:solidFill>
                  <a:sysClr val="windowText" lastClr="000000"/>
                </a:solidFill>
              </a:rPr>
              <a:t>Medium</a:t>
            </a:r>
            <a:endParaRPr lang="pt-BR" b="1" kern="0" dirty="0">
              <a:solidFill>
                <a:sysClr val="windowText" lastClr="000000"/>
              </a:solidFill>
            </a:endParaRPr>
          </a:p>
          <a:p>
            <a:pPr algn="just"/>
            <a:r>
              <a:rPr lang="pt-BR" kern="0" dirty="0" err="1">
                <a:solidFill>
                  <a:schemeClr val="accent1"/>
                </a:solidFill>
              </a:rPr>
              <a:t>Description</a:t>
            </a:r>
            <a:r>
              <a:rPr lang="pt-BR" kern="0" dirty="0">
                <a:solidFill>
                  <a:sysClr val="windowText" lastClr="000000"/>
                </a:solidFill>
              </a:rPr>
              <a:t>: </a:t>
            </a:r>
            <a:r>
              <a:rPr lang="en-US" kern="0" dirty="0">
                <a:solidFill>
                  <a:sysClr val="windowText" lastClr="000000"/>
                </a:solidFill>
              </a:rPr>
              <a:t>WEG exports many products throughout Brazil through ports like </a:t>
            </a:r>
            <a:r>
              <a:rPr lang="en-US" kern="0" dirty="0" err="1">
                <a:solidFill>
                  <a:sysClr val="windowText" lastClr="000000"/>
                </a:solidFill>
              </a:rPr>
              <a:t>Navegantes</a:t>
            </a:r>
            <a:r>
              <a:rPr lang="en-US" kern="0" dirty="0">
                <a:solidFill>
                  <a:sysClr val="windowText" lastClr="000000"/>
                </a:solidFill>
              </a:rPr>
              <a:t> and </a:t>
            </a:r>
            <a:r>
              <a:rPr lang="en-US" kern="0" dirty="0" err="1">
                <a:solidFill>
                  <a:sysClr val="windowText" lastClr="000000"/>
                </a:solidFill>
              </a:rPr>
              <a:t>Itapoá</a:t>
            </a:r>
            <a:r>
              <a:rPr lang="en-US" kern="0" dirty="0">
                <a:solidFill>
                  <a:sysClr val="windowText" lastClr="000000"/>
                </a:solidFill>
              </a:rPr>
              <a:t> (both </a:t>
            </a:r>
            <a:r>
              <a:rPr lang="en-US" kern="0" dirty="0" err="1">
                <a:solidFill>
                  <a:sysClr val="windowText" lastClr="000000"/>
                </a:solidFill>
              </a:rPr>
              <a:t>localizated</a:t>
            </a:r>
            <a:r>
              <a:rPr lang="en-US" kern="0" dirty="0">
                <a:solidFill>
                  <a:sysClr val="windowText" lastClr="000000"/>
                </a:solidFill>
              </a:rPr>
              <a:t> in Santa Catarina), which are located 90 km and 109 km away from the company's main manufacturing park, in </a:t>
            </a:r>
            <a:r>
              <a:rPr lang="en-US" kern="0" dirty="0" err="1">
                <a:solidFill>
                  <a:sysClr val="windowText" lastClr="000000"/>
                </a:solidFill>
              </a:rPr>
              <a:t>Jaraguá</a:t>
            </a:r>
            <a:r>
              <a:rPr lang="en-US" kern="0" dirty="0">
                <a:solidFill>
                  <a:sysClr val="windowText" lastClr="000000"/>
                </a:solidFill>
              </a:rPr>
              <a:t> do Sul (</a:t>
            </a:r>
            <a:r>
              <a:rPr lang="en-US" kern="0" dirty="0" err="1">
                <a:solidFill>
                  <a:sysClr val="windowText" lastClr="000000"/>
                </a:solidFill>
              </a:rPr>
              <a:t>localizated</a:t>
            </a:r>
            <a:r>
              <a:rPr lang="en-US" kern="0" dirty="0">
                <a:solidFill>
                  <a:sysClr val="windowText" lastClr="000000"/>
                </a:solidFill>
              </a:rPr>
              <a:t> in Santa Catarina as well). Precarious highways and roads, the lack of investment in their modernization and constant strikes, revolts and strikes are difficulties and risks that the company faces.</a:t>
            </a:r>
            <a:endParaRPr lang="pt-BR" kern="0" dirty="0">
              <a:solidFill>
                <a:sysClr val="windowText" lastClr="000000"/>
              </a:solidFill>
            </a:endParaRPr>
          </a:p>
          <a:p>
            <a:pPr algn="just"/>
            <a:r>
              <a:rPr lang="pt-BR" kern="0" dirty="0" err="1">
                <a:solidFill>
                  <a:schemeClr val="accent1"/>
                </a:solidFill>
              </a:rPr>
              <a:t>Mitigation</a:t>
            </a:r>
            <a:r>
              <a:rPr lang="pt-BR" kern="0" dirty="0">
                <a:solidFill>
                  <a:sysClr val="windowText" lastClr="000000"/>
                </a:solidFill>
              </a:rPr>
              <a:t>: </a:t>
            </a:r>
            <a:r>
              <a:rPr lang="en-US" kern="0" dirty="0">
                <a:solidFill>
                  <a:sysClr val="windowText" lastClr="000000"/>
                </a:solidFill>
              </a:rPr>
              <a:t>Increase the company's modal flexibility for rail and river, reduce dependence on the </a:t>
            </a:r>
            <a:r>
              <a:rPr lang="en-US" kern="0" dirty="0" err="1">
                <a:solidFill>
                  <a:sysClr val="windowText" lastClr="000000"/>
                </a:solidFill>
              </a:rPr>
              <a:t>Navegantes</a:t>
            </a:r>
            <a:r>
              <a:rPr lang="en-US" kern="0" dirty="0">
                <a:solidFill>
                  <a:sysClr val="windowText" lastClr="000000"/>
                </a:solidFill>
              </a:rPr>
              <a:t> and </a:t>
            </a:r>
            <a:r>
              <a:rPr lang="en-US" kern="0" dirty="0" err="1">
                <a:solidFill>
                  <a:sysClr val="windowText" lastClr="000000"/>
                </a:solidFill>
              </a:rPr>
              <a:t>Itapoá</a:t>
            </a:r>
            <a:r>
              <a:rPr lang="en-US" kern="0" dirty="0">
                <a:solidFill>
                  <a:sysClr val="windowText" lastClr="000000"/>
                </a:solidFill>
              </a:rPr>
              <a:t> ports, diversifying the ports and routes used and, finally, carrying out own infrastructure investments such as warehouses or distribution centers closer to the company's industrial park, mainly in </a:t>
            </a:r>
            <a:r>
              <a:rPr lang="en-US" kern="0" dirty="0" err="1">
                <a:solidFill>
                  <a:sysClr val="windowText" lastClr="000000"/>
                </a:solidFill>
              </a:rPr>
              <a:t>Jaraguá</a:t>
            </a:r>
            <a:r>
              <a:rPr lang="en-US" kern="0" dirty="0">
                <a:solidFill>
                  <a:sysClr val="windowText" lastClr="000000"/>
                </a:solidFill>
              </a:rPr>
              <a:t> do Sul.</a:t>
            </a:r>
            <a:endParaRPr lang="pt-BR" dirty="0"/>
          </a:p>
        </p:txBody>
      </p:sp>
      <p:sp>
        <p:nvSpPr>
          <p:cNvPr id="4" name="Text Placeholder 3">
            <a:extLst>
              <a:ext uri="{FF2B5EF4-FFF2-40B4-BE49-F238E27FC236}">
                <a16:creationId xmlns:a16="http://schemas.microsoft.com/office/drawing/2014/main" id="{EEB67AF9-EFD5-4119-C42F-E6FE18409E4B}"/>
              </a:ext>
            </a:extLst>
          </p:cNvPr>
          <p:cNvSpPr>
            <a:spLocks noGrp="1"/>
          </p:cNvSpPr>
          <p:nvPr>
            <p:ph type="body" sz="quarter" idx="12"/>
          </p:nvPr>
        </p:nvSpPr>
        <p:spPr>
          <a:xfrm>
            <a:off x="185520" y="1058898"/>
            <a:ext cx="4866017" cy="247290"/>
          </a:xfrm>
        </p:spPr>
        <p:txBody>
          <a:bodyPr/>
          <a:lstStyle/>
          <a:p>
            <a:r>
              <a:rPr lang="pt-BR" dirty="0"/>
              <a:t>INVESTMENT RISKS</a:t>
            </a:r>
            <a:endParaRPr lang="en-US" dirty="0"/>
          </a:p>
        </p:txBody>
      </p:sp>
      <p:sp>
        <p:nvSpPr>
          <p:cNvPr id="6" name="Text Placeholder 5">
            <a:extLst>
              <a:ext uri="{FF2B5EF4-FFF2-40B4-BE49-F238E27FC236}">
                <a16:creationId xmlns:a16="http://schemas.microsoft.com/office/drawing/2014/main" id="{1BB932B3-BCC2-C81E-13F6-928BCD158B50}"/>
              </a:ext>
            </a:extLst>
          </p:cNvPr>
          <p:cNvSpPr>
            <a:spLocks noGrp="1"/>
          </p:cNvSpPr>
          <p:nvPr>
            <p:ph type="body" sz="quarter" idx="14"/>
          </p:nvPr>
        </p:nvSpPr>
        <p:spPr/>
        <p:txBody>
          <a:bodyPr/>
          <a:lstStyle/>
          <a:p>
            <a:r>
              <a:rPr lang="pt-BR" err="1"/>
              <a:t>Source</a:t>
            </a:r>
            <a:r>
              <a:rPr lang="pt-BR"/>
              <a:t>: </a:t>
            </a:r>
            <a:r>
              <a:rPr lang="pt-BR" err="1"/>
              <a:t>Group</a:t>
            </a:r>
            <a:r>
              <a:rPr lang="pt-BR"/>
              <a:t> 2</a:t>
            </a:r>
          </a:p>
          <a:p>
            <a:endParaRPr lang="en-US"/>
          </a:p>
        </p:txBody>
      </p:sp>
      <p:cxnSp>
        <p:nvCxnSpPr>
          <p:cNvPr id="19" name="Conector reto 16">
            <a:extLst>
              <a:ext uri="{FF2B5EF4-FFF2-40B4-BE49-F238E27FC236}">
                <a16:creationId xmlns:a16="http://schemas.microsoft.com/office/drawing/2014/main" id="{C573E5B5-0257-9124-90C7-A121051AF325}"/>
              </a:ext>
            </a:extLst>
          </p:cNvPr>
          <p:cNvCxnSpPr/>
          <p:nvPr/>
        </p:nvCxnSpPr>
        <p:spPr>
          <a:xfrm>
            <a:off x="185520" y="1306187"/>
            <a:ext cx="486601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0" name="Espaço Reservado para Texto 4">
            <a:extLst>
              <a:ext uri="{FF2B5EF4-FFF2-40B4-BE49-F238E27FC236}">
                <a16:creationId xmlns:a16="http://schemas.microsoft.com/office/drawing/2014/main" id="{3AC00704-B376-D0C7-2C51-0E014D7EA57B}"/>
              </a:ext>
            </a:extLst>
          </p:cNvPr>
          <p:cNvSpPr>
            <a:spLocks noGrp="1"/>
          </p:cNvSpPr>
          <p:nvPr>
            <p:ph type="body" sz="quarter" idx="13"/>
          </p:nvPr>
        </p:nvSpPr>
        <p:spPr>
          <a:xfrm>
            <a:off x="5197475" y="454025"/>
            <a:ext cx="1819275" cy="196850"/>
          </a:xfrm>
        </p:spPr>
        <p:txBody>
          <a:bodyPr/>
          <a:lstStyle/>
          <a:p>
            <a:r>
              <a:rPr lang="pt-BR" err="1"/>
              <a:t>Exhibit</a:t>
            </a:r>
            <a:r>
              <a:rPr lang="pt-BR"/>
              <a:t> 22: Risk Matrix</a:t>
            </a:r>
          </a:p>
        </p:txBody>
      </p:sp>
      <p:graphicFrame>
        <p:nvGraphicFramePr>
          <p:cNvPr id="21" name="Tabela 20">
            <a:extLst>
              <a:ext uri="{FF2B5EF4-FFF2-40B4-BE49-F238E27FC236}">
                <a16:creationId xmlns:a16="http://schemas.microsoft.com/office/drawing/2014/main" id="{6C74750D-1AF4-262F-1002-7D29857054A1}"/>
              </a:ext>
            </a:extLst>
          </p:cNvPr>
          <p:cNvGraphicFramePr>
            <a:graphicFrameLocks noGrp="1"/>
          </p:cNvGraphicFramePr>
          <p:nvPr/>
        </p:nvGraphicFramePr>
        <p:xfrm>
          <a:off x="5411260" y="820294"/>
          <a:ext cx="2223291" cy="1498632"/>
        </p:xfrm>
        <a:graphic>
          <a:graphicData uri="http://schemas.openxmlformats.org/drawingml/2006/table">
            <a:tbl>
              <a:tblPr firstRow="1" bandRow="1">
                <a:tableStyleId>{5C22544A-7EE6-4342-B048-85BDC9FD1C3A}</a:tableStyleId>
              </a:tblPr>
              <a:tblGrid>
                <a:gridCol w="741097">
                  <a:extLst>
                    <a:ext uri="{9D8B030D-6E8A-4147-A177-3AD203B41FA5}">
                      <a16:colId xmlns:a16="http://schemas.microsoft.com/office/drawing/2014/main" val="731982887"/>
                    </a:ext>
                  </a:extLst>
                </a:gridCol>
                <a:gridCol w="741097">
                  <a:extLst>
                    <a:ext uri="{9D8B030D-6E8A-4147-A177-3AD203B41FA5}">
                      <a16:colId xmlns:a16="http://schemas.microsoft.com/office/drawing/2014/main" val="2652572740"/>
                    </a:ext>
                  </a:extLst>
                </a:gridCol>
                <a:gridCol w="741097">
                  <a:extLst>
                    <a:ext uri="{9D8B030D-6E8A-4147-A177-3AD203B41FA5}">
                      <a16:colId xmlns:a16="http://schemas.microsoft.com/office/drawing/2014/main" val="3090841514"/>
                    </a:ext>
                  </a:extLst>
                </a:gridCol>
              </a:tblGrid>
              <a:tr h="499544">
                <a:tc>
                  <a:txBody>
                    <a:bodyPr/>
                    <a:lstStyle/>
                    <a:p>
                      <a:endParaRPr lang="pt-BR" sz="600"/>
                    </a:p>
                  </a:txBody>
                  <a:tcPr>
                    <a:solidFill>
                      <a:schemeClr val="accent2">
                        <a:lumMod val="20000"/>
                        <a:lumOff val="80000"/>
                      </a:schemeClr>
                    </a:solidFill>
                  </a:tcPr>
                </a:tc>
                <a:tc>
                  <a:txBody>
                    <a:bodyPr/>
                    <a:lstStyle/>
                    <a:p>
                      <a:endParaRPr lang="pt-BR" sz="600"/>
                    </a:p>
                  </a:txBody>
                  <a:tcPr>
                    <a:solidFill>
                      <a:schemeClr val="accent2">
                        <a:lumMod val="20000"/>
                        <a:lumOff val="80000"/>
                      </a:schemeClr>
                    </a:solidFill>
                  </a:tcPr>
                </a:tc>
                <a:tc>
                  <a:txBody>
                    <a:bodyPr/>
                    <a:lstStyle/>
                    <a:p>
                      <a:pPr algn="ctr"/>
                      <a:endParaRPr lang="pt-BR" sz="600" b="0"/>
                    </a:p>
                    <a:p>
                      <a:pPr algn="ctr"/>
                      <a:r>
                        <a:rPr lang="pt-BR" sz="800" b="0"/>
                        <a:t>Macro Risk</a:t>
                      </a:r>
                    </a:p>
                  </a:txBody>
                  <a:tcPr>
                    <a:solidFill>
                      <a:srgbClr val="082850"/>
                    </a:solidFill>
                  </a:tcPr>
                </a:tc>
                <a:extLst>
                  <a:ext uri="{0D108BD9-81ED-4DB2-BD59-A6C34878D82A}">
                    <a16:rowId xmlns:a16="http://schemas.microsoft.com/office/drawing/2014/main" val="3854757268"/>
                  </a:ext>
                </a:extLst>
              </a:tr>
              <a:tr h="499544">
                <a:tc>
                  <a:txBody>
                    <a:bodyPr/>
                    <a:lstStyle/>
                    <a:p>
                      <a:endParaRPr lang="pt-BR" sz="600"/>
                    </a:p>
                  </a:txBody>
                  <a:tcPr>
                    <a:solidFill>
                      <a:schemeClr val="accent2">
                        <a:lumMod val="20000"/>
                        <a:lumOff val="80000"/>
                      </a:schemeClr>
                    </a:solidFill>
                  </a:tcPr>
                </a:tc>
                <a:tc>
                  <a:txBody>
                    <a:bodyPr/>
                    <a:lstStyle/>
                    <a:p>
                      <a:pPr algn="ctr"/>
                      <a:r>
                        <a:rPr lang="pt-BR" sz="600">
                          <a:solidFill>
                            <a:schemeClr val="bg1"/>
                          </a:solidFill>
                        </a:rPr>
                        <a:t> </a:t>
                      </a:r>
                      <a:r>
                        <a:rPr lang="pt-BR" sz="800">
                          <a:solidFill>
                            <a:schemeClr val="bg1"/>
                          </a:solidFill>
                        </a:rPr>
                        <a:t>CompetitiveRisk</a:t>
                      </a:r>
                    </a:p>
                  </a:txBody>
                  <a:tcPr>
                    <a:solidFill>
                      <a:srgbClr val="5623FB"/>
                    </a:solidFill>
                  </a:tcPr>
                </a:tc>
                <a:tc>
                  <a:txBody>
                    <a:bodyPr/>
                    <a:lstStyle/>
                    <a:p>
                      <a:endParaRPr lang="pt-BR" sz="600"/>
                    </a:p>
                  </a:txBody>
                  <a:tcPr>
                    <a:solidFill>
                      <a:schemeClr val="accent2">
                        <a:lumMod val="20000"/>
                        <a:lumOff val="80000"/>
                      </a:schemeClr>
                    </a:solidFill>
                  </a:tcPr>
                </a:tc>
                <a:extLst>
                  <a:ext uri="{0D108BD9-81ED-4DB2-BD59-A6C34878D82A}">
                    <a16:rowId xmlns:a16="http://schemas.microsoft.com/office/drawing/2014/main" val="3829459287"/>
                  </a:ext>
                </a:extLst>
              </a:tr>
              <a:tr h="499544">
                <a:tc>
                  <a:txBody>
                    <a:bodyPr/>
                    <a:lstStyle/>
                    <a:p>
                      <a:endParaRPr lang="pt-BR" sz="600"/>
                    </a:p>
                  </a:txBody>
                  <a:tcPr>
                    <a:solidFill>
                      <a:schemeClr val="accent2">
                        <a:lumMod val="20000"/>
                        <a:lumOff val="80000"/>
                      </a:schemeClr>
                    </a:solidFill>
                  </a:tcPr>
                </a:tc>
                <a:tc>
                  <a:txBody>
                    <a:bodyPr/>
                    <a:lstStyle/>
                    <a:p>
                      <a:pPr algn="ctr"/>
                      <a:endParaRPr lang="pt-BR" sz="600"/>
                    </a:p>
                    <a:p>
                      <a:pPr algn="ctr"/>
                      <a:r>
                        <a:rPr lang="pt-BR" sz="800">
                          <a:solidFill>
                            <a:schemeClr val="bg1"/>
                          </a:solidFill>
                        </a:rPr>
                        <a:t>Operational Risk</a:t>
                      </a:r>
                    </a:p>
                  </a:txBody>
                  <a:tcPr>
                    <a:solidFill>
                      <a:schemeClr val="accent2">
                        <a:lumMod val="60000"/>
                        <a:lumOff val="40000"/>
                      </a:schemeClr>
                    </a:solidFill>
                  </a:tcPr>
                </a:tc>
                <a:tc>
                  <a:txBody>
                    <a:bodyPr/>
                    <a:lstStyle/>
                    <a:p>
                      <a:endParaRPr lang="pt-BR" sz="600"/>
                    </a:p>
                  </a:txBody>
                  <a:tcPr>
                    <a:solidFill>
                      <a:schemeClr val="accent2">
                        <a:lumMod val="20000"/>
                        <a:lumOff val="80000"/>
                      </a:schemeClr>
                    </a:solidFill>
                  </a:tcPr>
                </a:tc>
                <a:extLst>
                  <a:ext uri="{0D108BD9-81ED-4DB2-BD59-A6C34878D82A}">
                    <a16:rowId xmlns:a16="http://schemas.microsoft.com/office/drawing/2014/main" val="2086513686"/>
                  </a:ext>
                </a:extLst>
              </a:tr>
            </a:tbl>
          </a:graphicData>
        </a:graphic>
      </p:graphicFrame>
      <p:cxnSp>
        <p:nvCxnSpPr>
          <p:cNvPr id="22" name="Conector de Seta Reta 21">
            <a:extLst>
              <a:ext uri="{FF2B5EF4-FFF2-40B4-BE49-F238E27FC236}">
                <a16:creationId xmlns:a16="http://schemas.microsoft.com/office/drawing/2014/main" id="{45FFC938-9F07-BFE5-F237-825F42086037}"/>
              </a:ext>
            </a:extLst>
          </p:cNvPr>
          <p:cNvCxnSpPr>
            <a:cxnSpLocks/>
          </p:cNvCxnSpPr>
          <p:nvPr/>
        </p:nvCxnSpPr>
        <p:spPr>
          <a:xfrm flipV="1">
            <a:off x="5381620" y="713027"/>
            <a:ext cx="0" cy="1627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a:extLst>
              <a:ext uri="{FF2B5EF4-FFF2-40B4-BE49-F238E27FC236}">
                <a16:creationId xmlns:a16="http://schemas.microsoft.com/office/drawing/2014/main" id="{D838D7CC-BAAA-0FC0-B3C1-0948BC689AA0}"/>
              </a:ext>
            </a:extLst>
          </p:cNvPr>
          <p:cNvCxnSpPr>
            <a:cxnSpLocks/>
          </p:cNvCxnSpPr>
          <p:nvPr/>
        </p:nvCxnSpPr>
        <p:spPr>
          <a:xfrm>
            <a:off x="5381620" y="2340165"/>
            <a:ext cx="23540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CaixaDeTexto 23">
            <a:extLst>
              <a:ext uri="{FF2B5EF4-FFF2-40B4-BE49-F238E27FC236}">
                <a16:creationId xmlns:a16="http://schemas.microsoft.com/office/drawing/2014/main" id="{4BBC59F8-2D5B-96B4-7F34-AFDE434E997B}"/>
              </a:ext>
            </a:extLst>
          </p:cNvPr>
          <p:cNvSpPr txBox="1"/>
          <p:nvPr/>
        </p:nvSpPr>
        <p:spPr>
          <a:xfrm>
            <a:off x="5555473" y="2319922"/>
            <a:ext cx="413870" cy="223138"/>
          </a:xfrm>
          <a:prstGeom prst="rect">
            <a:avLst/>
          </a:prstGeom>
          <a:noFill/>
        </p:spPr>
        <p:txBody>
          <a:bodyPr wrap="square" rtlCol="0">
            <a:spAutoFit/>
          </a:bodyPr>
          <a:lstStyle/>
          <a:p>
            <a:pPr algn="ctr"/>
            <a:r>
              <a:rPr lang="pt-BR" sz="850" err="1"/>
              <a:t>Low</a:t>
            </a:r>
            <a:endParaRPr lang="pt-BR" sz="850"/>
          </a:p>
        </p:txBody>
      </p:sp>
      <p:sp>
        <p:nvSpPr>
          <p:cNvPr id="25" name="CaixaDeTexto 24">
            <a:extLst>
              <a:ext uri="{FF2B5EF4-FFF2-40B4-BE49-F238E27FC236}">
                <a16:creationId xmlns:a16="http://schemas.microsoft.com/office/drawing/2014/main" id="{35B685D1-0052-761D-F02C-97C0507615F0}"/>
              </a:ext>
            </a:extLst>
          </p:cNvPr>
          <p:cNvSpPr txBox="1"/>
          <p:nvPr/>
        </p:nvSpPr>
        <p:spPr>
          <a:xfrm>
            <a:off x="7055768" y="2314256"/>
            <a:ext cx="413870" cy="223138"/>
          </a:xfrm>
          <a:prstGeom prst="rect">
            <a:avLst/>
          </a:prstGeom>
          <a:noFill/>
        </p:spPr>
        <p:txBody>
          <a:bodyPr wrap="square" rtlCol="0">
            <a:spAutoFit/>
          </a:bodyPr>
          <a:lstStyle/>
          <a:p>
            <a:pPr algn="ctr"/>
            <a:r>
              <a:rPr lang="pt-BR" sz="850"/>
              <a:t>High</a:t>
            </a:r>
          </a:p>
        </p:txBody>
      </p:sp>
      <p:sp>
        <p:nvSpPr>
          <p:cNvPr id="26" name="CaixaDeTexto 25">
            <a:extLst>
              <a:ext uri="{FF2B5EF4-FFF2-40B4-BE49-F238E27FC236}">
                <a16:creationId xmlns:a16="http://schemas.microsoft.com/office/drawing/2014/main" id="{1C23136A-12EE-A6E1-6591-EBA484ED24CD}"/>
              </a:ext>
            </a:extLst>
          </p:cNvPr>
          <p:cNvSpPr txBox="1"/>
          <p:nvPr/>
        </p:nvSpPr>
        <p:spPr>
          <a:xfrm>
            <a:off x="6240591" y="2309212"/>
            <a:ext cx="544831" cy="223138"/>
          </a:xfrm>
          <a:prstGeom prst="rect">
            <a:avLst/>
          </a:prstGeom>
          <a:noFill/>
        </p:spPr>
        <p:txBody>
          <a:bodyPr wrap="square" rtlCol="0">
            <a:spAutoFit/>
          </a:bodyPr>
          <a:lstStyle/>
          <a:p>
            <a:pPr algn="ctr"/>
            <a:r>
              <a:rPr lang="pt-BR" sz="850"/>
              <a:t>IMPACT</a:t>
            </a:r>
          </a:p>
        </p:txBody>
      </p:sp>
      <p:sp>
        <p:nvSpPr>
          <p:cNvPr id="27" name="CaixaDeTexto 26">
            <a:extLst>
              <a:ext uri="{FF2B5EF4-FFF2-40B4-BE49-F238E27FC236}">
                <a16:creationId xmlns:a16="http://schemas.microsoft.com/office/drawing/2014/main" id="{57C9613D-C79F-55EC-085F-F46EFAB177FB}"/>
              </a:ext>
            </a:extLst>
          </p:cNvPr>
          <p:cNvSpPr txBox="1"/>
          <p:nvPr/>
        </p:nvSpPr>
        <p:spPr>
          <a:xfrm rot="16200000">
            <a:off x="5086778" y="2000424"/>
            <a:ext cx="413870" cy="223138"/>
          </a:xfrm>
          <a:prstGeom prst="rect">
            <a:avLst/>
          </a:prstGeom>
          <a:noFill/>
        </p:spPr>
        <p:txBody>
          <a:bodyPr wrap="square" rtlCol="0">
            <a:spAutoFit/>
          </a:bodyPr>
          <a:lstStyle/>
          <a:p>
            <a:pPr algn="ctr"/>
            <a:r>
              <a:rPr lang="pt-BR" sz="850" err="1"/>
              <a:t>Low</a:t>
            </a:r>
            <a:endParaRPr lang="pt-BR" sz="850"/>
          </a:p>
        </p:txBody>
      </p:sp>
      <p:sp>
        <p:nvSpPr>
          <p:cNvPr id="28" name="CaixaDeTexto 27">
            <a:extLst>
              <a:ext uri="{FF2B5EF4-FFF2-40B4-BE49-F238E27FC236}">
                <a16:creationId xmlns:a16="http://schemas.microsoft.com/office/drawing/2014/main" id="{D0AFBE8E-7E04-2CA1-37CA-900AA5A9B4BD}"/>
              </a:ext>
            </a:extLst>
          </p:cNvPr>
          <p:cNvSpPr txBox="1"/>
          <p:nvPr/>
        </p:nvSpPr>
        <p:spPr>
          <a:xfrm rot="16200000">
            <a:off x="5089090" y="960075"/>
            <a:ext cx="413870" cy="223138"/>
          </a:xfrm>
          <a:prstGeom prst="rect">
            <a:avLst/>
          </a:prstGeom>
          <a:noFill/>
        </p:spPr>
        <p:txBody>
          <a:bodyPr wrap="square" rtlCol="0">
            <a:spAutoFit/>
          </a:bodyPr>
          <a:lstStyle/>
          <a:p>
            <a:pPr algn="ctr"/>
            <a:r>
              <a:rPr lang="pt-BR" sz="850"/>
              <a:t>High</a:t>
            </a:r>
          </a:p>
        </p:txBody>
      </p:sp>
      <p:sp>
        <p:nvSpPr>
          <p:cNvPr id="29" name="CaixaDeTexto 28">
            <a:extLst>
              <a:ext uri="{FF2B5EF4-FFF2-40B4-BE49-F238E27FC236}">
                <a16:creationId xmlns:a16="http://schemas.microsoft.com/office/drawing/2014/main" id="{E9189A17-A39A-2BEE-1696-3C46CB2DB391}"/>
              </a:ext>
            </a:extLst>
          </p:cNvPr>
          <p:cNvSpPr txBox="1"/>
          <p:nvPr/>
        </p:nvSpPr>
        <p:spPr>
          <a:xfrm rot="16200000">
            <a:off x="4904149" y="1468325"/>
            <a:ext cx="802351" cy="223138"/>
          </a:xfrm>
          <a:prstGeom prst="rect">
            <a:avLst/>
          </a:prstGeom>
          <a:noFill/>
        </p:spPr>
        <p:txBody>
          <a:bodyPr wrap="square" rtlCol="0">
            <a:spAutoFit/>
          </a:bodyPr>
          <a:lstStyle/>
          <a:p>
            <a:pPr algn="ctr"/>
            <a:r>
              <a:rPr lang="pt-BR" sz="850"/>
              <a:t>PROBABILITY</a:t>
            </a:r>
          </a:p>
        </p:txBody>
      </p:sp>
      <p:sp>
        <p:nvSpPr>
          <p:cNvPr id="41" name="Espaço Reservado para Texto 7">
            <a:extLst>
              <a:ext uri="{FF2B5EF4-FFF2-40B4-BE49-F238E27FC236}">
                <a16:creationId xmlns:a16="http://schemas.microsoft.com/office/drawing/2014/main" id="{E48AEB50-0790-3078-3354-EC3288D7F5DB}"/>
              </a:ext>
            </a:extLst>
          </p:cNvPr>
          <p:cNvSpPr>
            <a:spLocks noGrp="1"/>
          </p:cNvSpPr>
          <p:nvPr>
            <p:ph type="body" sz="quarter" idx="16"/>
          </p:nvPr>
        </p:nvSpPr>
        <p:spPr>
          <a:xfrm>
            <a:off x="5197609" y="2900916"/>
            <a:ext cx="1819208" cy="196850"/>
          </a:xfrm>
        </p:spPr>
        <p:txBody>
          <a:bodyPr/>
          <a:lstStyle/>
          <a:p>
            <a:r>
              <a:rPr lang="pt-BR" err="1"/>
              <a:t>Exhibit</a:t>
            </a:r>
            <a:r>
              <a:rPr lang="pt-BR"/>
              <a:t> 23: Risk Heat Map</a:t>
            </a:r>
          </a:p>
        </p:txBody>
      </p:sp>
      <p:sp>
        <p:nvSpPr>
          <p:cNvPr id="42" name="Espaço Reservado para Texto 8">
            <a:extLst>
              <a:ext uri="{FF2B5EF4-FFF2-40B4-BE49-F238E27FC236}">
                <a16:creationId xmlns:a16="http://schemas.microsoft.com/office/drawing/2014/main" id="{98551C94-7B83-96E8-869E-185987881E80}"/>
              </a:ext>
            </a:extLst>
          </p:cNvPr>
          <p:cNvSpPr>
            <a:spLocks noGrp="1"/>
          </p:cNvSpPr>
          <p:nvPr>
            <p:ph type="body" sz="quarter" idx="17"/>
          </p:nvPr>
        </p:nvSpPr>
        <p:spPr>
          <a:xfrm>
            <a:off x="5260173" y="4940254"/>
            <a:ext cx="938213" cy="196850"/>
          </a:xfrm>
        </p:spPr>
        <p:txBody>
          <a:bodyPr/>
          <a:lstStyle/>
          <a:p>
            <a:r>
              <a:rPr lang="pt-BR" err="1"/>
              <a:t>Source</a:t>
            </a:r>
            <a:r>
              <a:rPr lang="pt-BR"/>
              <a:t>: </a:t>
            </a:r>
            <a:r>
              <a:rPr lang="pt-BR" err="1"/>
              <a:t>Group</a:t>
            </a:r>
            <a:r>
              <a:rPr lang="pt-BR"/>
              <a:t> 2</a:t>
            </a:r>
          </a:p>
          <a:p>
            <a:endParaRPr lang="pt-BR"/>
          </a:p>
        </p:txBody>
      </p:sp>
      <p:sp>
        <p:nvSpPr>
          <p:cNvPr id="43" name="Retângulo 42">
            <a:extLst>
              <a:ext uri="{FF2B5EF4-FFF2-40B4-BE49-F238E27FC236}">
                <a16:creationId xmlns:a16="http://schemas.microsoft.com/office/drawing/2014/main" id="{66081726-C144-BEC7-BAAA-7F8D1EB1E3D7}"/>
              </a:ext>
            </a:extLst>
          </p:cNvPr>
          <p:cNvSpPr/>
          <p:nvPr/>
        </p:nvSpPr>
        <p:spPr>
          <a:xfrm rot="5400000">
            <a:off x="5677945" y="2911116"/>
            <a:ext cx="1651891" cy="2261321"/>
          </a:xfrm>
          <a:prstGeom prst="rect">
            <a:avLst/>
          </a:prstGeom>
          <a:gradFill flip="none" rotWithShape="1">
            <a:gsLst>
              <a:gs pos="29000">
                <a:schemeClr val="accent2">
                  <a:lumMod val="20000"/>
                  <a:lumOff val="80000"/>
                </a:schemeClr>
              </a:gs>
              <a:gs pos="47000">
                <a:schemeClr val="accent2">
                  <a:lumMod val="60000"/>
                  <a:lumOff val="40000"/>
                </a:schemeClr>
              </a:gs>
              <a:gs pos="71500">
                <a:srgbClr val="2F26A6"/>
              </a:gs>
              <a:gs pos="62000">
                <a:srgbClr val="5623FB"/>
              </a:gs>
              <a:gs pos="81000">
                <a:srgbClr val="082850"/>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00"/>
          </a:p>
        </p:txBody>
      </p:sp>
      <p:sp>
        <p:nvSpPr>
          <p:cNvPr id="44" name="CaixaDeTexto 43">
            <a:extLst>
              <a:ext uri="{FF2B5EF4-FFF2-40B4-BE49-F238E27FC236}">
                <a16:creationId xmlns:a16="http://schemas.microsoft.com/office/drawing/2014/main" id="{450469C8-FFE5-E92B-FB32-BBA1382ABCD9}"/>
              </a:ext>
            </a:extLst>
          </p:cNvPr>
          <p:cNvSpPr txBox="1"/>
          <p:nvPr/>
        </p:nvSpPr>
        <p:spPr>
          <a:xfrm rot="16200000">
            <a:off x="4801536" y="3952730"/>
            <a:ext cx="984354" cy="223138"/>
          </a:xfrm>
          <a:prstGeom prst="rect">
            <a:avLst/>
          </a:prstGeom>
          <a:noFill/>
        </p:spPr>
        <p:txBody>
          <a:bodyPr wrap="square" rtlCol="0">
            <a:spAutoFit/>
          </a:bodyPr>
          <a:lstStyle/>
          <a:p>
            <a:pPr algn="ctr"/>
            <a:r>
              <a:rPr lang="pt-BR" sz="850"/>
              <a:t>High Probability</a:t>
            </a:r>
          </a:p>
        </p:txBody>
      </p:sp>
      <p:sp>
        <p:nvSpPr>
          <p:cNvPr id="45" name="CaixaDeTexto 44">
            <a:extLst>
              <a:ext uri="{FF2B5EF4-FFF2-40B4-BE49-F238E27FC236}">
                <a16:creationId xmlns:a16="http://schemas.microsoft.com/office/drawing/2014/main" id="{99216436-EC44-FA8F-7B26-94AB1CFFFF1B}"/>
              </a:ext>
            </a:extLst>
          </p:cNvPr>
          <p:cNvSpPr txBox="1"/>
          <p:nvPr/>
        </p:nvSpPr>
        <p:spPr>
          <a:xfrm>
            <a:off x="6148378" y="4556476"/>
            <a:ext cx="313663" cy="223138"/>
          </a:xfrm>
          <a:prstGeom prst="rect">
            <a:avLst/>
          </a:prstGeom>
          <a:noFill/>
        </p:spPr>
        <p:txBody>
          <a:bodyPr wrap="square" rtlCol="0">
            <a:spAutoFit/>
          </a:bodyPr>
          <a:lstStyle/>
          <a:p>
            <a:pPr algn="ctr"/>
            <a:r>
              <a:rPr lang="pt-BR" sz="850">
                <a:solidFill>
                  <a:schemeClr val="bg1"/>
                </a:solidFill>
              </a:rPr>
              <a:t>A1</a:t>
            </a:r>
          </a:p>
        </p:txBody>
      </p:sp>
      <p:sp>
        <p:nvSpPr>
          <p:cNvPr id="46" name="CaixaDeTexto 45">
            <a:extLst>
              <a:ext uri="{FF2B5EF4-FFF2-40B4-BE49-F238E27FC236}">
                <a16:creationId xmlns:a16="http://schemas.microsoft.com/office/drawing/2014/main" id="{E5DAF84C-B38E-14A7-9A2F-7511E501F38A}"/>
              </a:ext>
            </a:extLst>
          </p:cNvPr>
          <p:cNvSpPr txBox="1"/>
          <p:nvPr/>
        </p:nvSpPr>
        <p:spPr>
          <a:xfrm>
            <a:off x="7091305" y="3589750"/>
            <a:ext cx="313663" cy="223138"/>
          </a:xfrm>
          <a:prstGeom prst="rect">
            <a:avLst/>
          </a:prstGeom>
          <a:noFill/>
        </p:spPr>
        <p:txBody>
          <a:bodyPr wrap="square" rtlCol="0">
            <a:spAutoFit/>
          </a:bodyPr>
          <a:lstStyle/>
          <a:p>
            <a:pPr algn="ctr"/>
            <a:r>
              <a:rPr lang="pt-BR" sz="850">
                <a:solidFill>
                  <a:schemeClr val="bg1"/>
                </a:solidFill>
              </a:rPr>
              <a:t>A2</a:t>
            </a:r>
          </a:p>
        </p:txBody>
      </p:sp>
      <p:sp>
        <p:nvSpPr>
          <p:cNvPr id="47" name="CaixaDeTexto 46">
            <a:extLst>
              <a:ext uri="{FF2B5EF4-FFF2-40B4-BE49-F238E27FC236}">
                <a16:creationId xmlns:a16="http://schemas.microsoft.com/office/drawing/2014/main" id="{0B7BBFB7-F837-4249-53B1-96CC5F8FCF01}"/>
              </a:ext>
            </a:extLst>
          </p:cNvPr>
          <p:cNvSpPr txBox="1"/>
          <p:nvPr/>
        </p:nvSpPr>
        <p:spPr>
          <a:xfrm>
            <a:off x="6501474" y="3985412"/>
            <a:ext cx="313663" cy="223138"/>
          </a:xfrm>
          <a:prstGeom prst="rect">
            <a:avLst/>
          </a:prstGeom>
          <a:noFill/>
        </p:spPr>
        <p:txBody>
          <a:bodyPr wrap="square" rtlCol="0">
            <a:spAutoFit/>
          </a:bodyPr>
          <a:lstStyle/>
          <a:p>
            <a:pPr algn="ctr"/>
            <a:r>
              <a:rPr lang="pt-BR" sz="850">
                <a:solidFill>
                  <a:schemeClr val="bg1"/>
                </a:solidFill>
              </a:rPr>
              <a:t>A3</a:t>
            </a:r>
          </a:p>
        </p:txBody>
      </p:sp>
      <p:sp>
        <p:nvSpPr>
          <p:cNvPr id="48" name="CaixaDeTexto 47">
            <a:extLst>
              <a:ext uri="{FF2B5EF4-FFF2-40B4-BE49-F238E27FC236}">
                <a16:creationId xmlns:a16="http://schemas.microsoft.com/office/drawing/2014/main" id="{6DB0CEEC-CDEA-B1A1-2288-268330C45668}"/>
              </a:ext>
            </a:extLst>
          </p:cNvPr>
          <p:cNvSpPr txBox="1"/>
          <p:nvPr/>
        </p:nvSpPr>
        <p:spPr>
          <a:xfrm>
            <a:off x="7276889" y="3419149"/>
            <a:ext cx="313663" cy="223138"/>
          </a:xfrm>
          <a:prstGeom prst="rect">
            <a:avLst/>
          </a:prstGeom>
          <a:noFill/>
        </p:spPr>
        <p:txBody>
          <a:bodyPr wrap="square" rtlCol="0">
            <a:spAutoFit/>
          </a:bodyPr>
          <a:lstStyle/>
          <a:p>
            <a:pPr algn="ctr"/>
            <a:r>
              <a:rPr lang="pt-BR" sz="850">
                <a:solidFill>
                  <a:schemeClr val="bg1"/>
                </a:solidFill>
              </a:rPr>
              <a:t>B1</a:t>
            </a:r>
          </a:p>
        </p:txBody>
      </p:sp>
      <p:sp>
        <p:nvSpPr>
          <p:cNvPr id="49" name="CaixaDeTexto 48">
            <a:extLst>
              <a:ext uri="{FF2B5EF4-FFF2-40B4-BE49-F238E27FC236}">
                <a16:creationId xmlns:a16="http://schemas.microsoft.com/office/drawing/2014/main" id="{E142A597-4F85-FF5A-43E7-02BC94B4FAB8}"/>
              </a:ext>
            </a:extLst>
          </p:cNvPr>
          <p:cNvSpPr txBox="1"/>
          <p:nvPr/>
        </p:nvSpPr>
        <p:spPr>
          <a:xfrm>
            <a:off x="6904768" y="3944614"/>
            <a:ext cx="313663" cy="223138"/>
          </a:xfrm>
          <a:prstGeom prst="rect">
            <a:avLst/>
          </a:prstGeom>
          <a:noFill/>
        </p:spPr>
        <p:txBody>
          <a:bodyPr wrap="square" rtlCol="0">
            <a:spAutoFit/>
          </a:bodyPr>
          <a:lstStyle/>
          <a:p>
            <a:pPr algn="ctr"/>
            <a:r>
              <a:rPr lang="pt-BR" sz="850">
                <a:solidFill>
                  <a:schemeClr val="bg1"/>
                </a:solidFill>
              </a:rPr>
              <a:t>B2</a:t>
            </a:r>
          </a:p>
        </p:txBody>
      </p:sp>
      <p:sp>
        <p:nvSpPr>
          <p:cNvPr id="50" name="CaixaDeTexto 49">
            <a:extLst>
              <a:ext uri="{FF2B5EF4-FFF2-40B4-BE49-F238E27FC236}">
                <a16:creationId xmlns:a16="http://schemas.microsoft.com/office/drawing/2014/main" id="{97947EA9-0836-1F4E-9E4C-D9E82ADC201B}"/>
              </a:ext>
            </a:extLst>
          </p:cNvPr>
          <p:cNvSpPr txBox="1"/>
          <p:nvPr/>
        </p:nvSpPr>
        <p:spPr>
          <a:xfrm>
            <a:off x="7056092" y="4659448"/>
            <a:ext cx="313663" cy="223138"/>
          </a:xfrm>
          <a:prstGeom prst="rect">
            <a:avLst/>
          </a:prstGeom>
          <a:noFill/>
        </p:spPr>
        <p:txBody>
          <a:bodyPr wrap="square" rtlCol="0">
            <a:spAutoFit/>
          </a:bodyPr>
          <a:lstStyle/>
          <a:p>
            <a:pPr algn="ctr"/>
            <a:r>
              <a:rPr lang="pt-BR" sz="850">
                <a:solidFill>
                  <a:schemeClr val="bg1"/>
                </a:solidFill>
              </a:rPr>
              <a:t>C1</a:t>
            </a:r>
          </a:p>
        </p:txBody>
      </p:sp>
      <p:sp>
        <p:nvSpPr>
          <p:cNvPr id="51" name="CaixaDeTexto 50">
            <a:extLst>
              <a:ext uri="{FF2B5EF4-FFF2-40B4-BE49-F238E27FC236}">
                <a16:creationId xmlns:a16="http://schemas.microsoft.com/office/drawing/2014/main" id="{C6E659B9-915C-1FFF-294B-4AB0330EB190}"/>
              </a:ext>
            </a:extLst>
          </p:cNvPr>
          <p:cNvSpPr txBox="1"/>
          <p:nvPr/>
        </p:nvSpPr>
        <p:spPr>
          <a:xfrm>
            <a:off x="6475567" y="4507750"/>
            <a:ext cx="313663" cy="223138"/>
          </a:xfrm>
          <a:prstGeom prst="rect">
            <a:avLst/>
          </a:prstGeom>
          <a:noFill/>
        </p:spPr>
        <p:txBody>
          <a:bodyPr wrap="square" rtlCol="0">
            <a:spAutoFit/>
          </a:bodyPr>
          <a:lstStyle/>
          <a:p>
            <a:pPr algn="ctr"/>
            <a:r>
              <a:rPr lang="pt-BR" sz="850">
                <a:solidFill>
                  <a:schemeClr val="bg1"/>
                </a:solidFill>
              </a:rPr>
              <a:t>C2</a:t>
            </a:r>
          </a:p>
        </p:txBody>
      </p:sp>
      <p:sp>
        <p:nvSpPr>
          <p:cNvPr id="52" name="CaixaDeTexto 51">
            <a:extLst>
              <a:ext uri="{FF2B5EF4-FFF2-40B4-BE49-F238E27FC236}">
                <a16:creationId xmlns:a16="http://schemas.microsoft.com/office/drawing/2014/main" id="{48008FB1-5740-2D6F-6D1C-C61DCAF2EFF0}"/>
              </a:ext>
            </a:extLst>
          </p:cNvPr>
          <p:cNvSpPr txBox="1"/>
          <p:nvPr/>
        </p:nvSpPr>
        <p:spPr>
          <a:xfrm>
            <a:off x="6986123" y="4838016"/>
            <a:ext cx="734509" cy="223138"/>
          </a:xfrm>
          <a:prstGeom prst="rect">
            <a:avLst/>
          </a:prstGeom>
          <a:noFill/>
        </p:spPr>
        <p:txBody>
          <a:bodyPr wrap="square" rtlCol="0">
            <a:spAutoFit/>
          </a:bodyPr>
          <a:lstStyle/>
          <a:p>
            <a:pPr algn="ctr"/>
            <a:r>
              <a:rPr lang="pt-BR" sz="850"/>
              <a:t>High Impact</a:t>
            </a:r>
          </a:p>
        </p:txBody>
      </p:sp>
      <p:sp>
        <p:nvSpPr>
          <p:cNvPr id="53" name="Espaço Reservado para Texto 10">
            <a:extLst>
              <a:ext uri="{FF2B5EF4-FFF2-40B4-BE49-F238E27FC236}">
                <a16:creationId xmlns:a16="http://schemas.microsoft.com/office/drawing/2014/main" id="{D8067913-A13F-C5D5-CFFD-AED94F6521B8}"/>
              </a:ext>
            </a:extLst>
          </p:cNvPr>
          <p:cNvSpPr>
            <a:spLocks noGrp="1"/>
          </p:cNvSpPr>
          <p:nvPr>
            <p:ph type="body" sz="quarter" idx="19"/>
          </p:nvPr>
        </p:nvSpPr>
        <p:spPr>
          <a:xfrm>
            <a:off x="5197609" y="5347910"/>
            <a:ext cx="1980906" cy="196850"/>
          </a:xfrm>
        </p:spPr>
        <p:txBody>
          <a:bodyPr/>
          <a:lstStyle/>
          <a:p>
            <a:r>
              <a:rPr lang="pt-BR" err="1"/>
              <a:t>Exhibit</a:t>
            </a:r>
            <a:r>
              <a:rPr lang="pt-BR"/>
              <a:t> 24: Basic </a:t>
            </a:r>
            <a:r>
              <a:rPr lang="pt-BR" err="1"/>
              <a:t>Interest</a:t>
            </a:r>
            <a:r>
              <a:rPr lang="pt-BR"/>
              <a:t> Rate (%)</a:t>
            </a:r>
          </a:p>
        </p:txBody>
      </p:sp>
      <p:sp>
        <p:nvSpPr>
          <p:cNvPr id="54" name="Espaço Reservado para Texto 11">
            <a:extLst>
              <a:ext uri="{FF2B5EF4-FFF2-40B4-BE49-F238E27FC236}">
                <a16:creationId xmlns:a16="http://schemas.microsoft.com/office/drawing/2014/main" id="{C3ABA06D-E14D-A1E0-2C8D-A1518844D679}"/>
              </a:ext>
            </a:extLst>
          </p:cNvPr>
          <p:cNvSpPr>
            <a:spLocks noGrp="1"/>
          </p:cNvSpPr>
          <p:nvPr>
            <p:ph type="body" sz="quarter" idx="20"/>
          </p:nvPr>
        </p:nvSpPr>
        <p:spPr>
          <a:xfrm>
            <a:off x="5260173" y="7406497"/>
            <a:ext cx="938213" cy="196850"/>
          </a:xfrm>
        </p:spPr>
        <p:txBody>
          <a:bodyPr/>
          <a:lstStyle/>
          <a:p>
            <a:r>
              <a:rPr lang="pt-BR" err="1"/>
              <a:t>Source</a:t>
            </a:r>
            <a:r>
              <a:rPr lang="pt-BR"/>
              <a:t>: BACEN (RPM)</a:t>
            </a:r>
          </a:p>
        </p:txBody>
      </p:sp>
      <p:graphicFrame>
        <p:nvGraphicFramePr>
          <p:cNvPr id="55" name="Espaço Reservado para Gráfico 68">
            <a:extLst>
              <a:ext uri="{FF2B5EF4-FFF2-40B4-BE49-F238E27FC236}">
                <a16:creationId xmlns:a16="http://schemas.microsoft.com/office/drawing/2014/main" id="{048D011C-110A-8EA4-C274-E6018F6AB6E7}"/>
              </a:ext>
            </a:extLst>
          </p:cNvPr>
          <p:cNvGraphicFramePr>
            <a:graphicFrameLocks/>
          </p:cNvGraphicFramePr>
          <p:nvPr>
            <p:extLst>
              <p:ext uri="{D42A27DB-BD31-4B8C-83A1-F6EECF244321}">
                <p14:modId xmlns:p14="http://schemas.microsoft.com/office/powerpoint/2010/main" val="3945738440"/>
              </p:ext>
            </p:extLst>
          </p:nvPr>
        </p:nvGraphicFramePr>
        <p:xfrm>
          <a:off x="5259388" y="5678488"/>
          <a:ext cx="2411412" cy="1652587"/>
        </p:xfrm>
        <a:graphic>
          <a:graphicData uri="http://schemas.openxmlformats.org/drawingml/2006/chart">
            <c:chart xmlns:c="http://schemas.openxmlformats.org/drawingml/2006/chart" xmlns:r="http://schemas.openxmlformats.org/officeDocument/2006/relationships" r:id="rId2"/>
          </a:graphicData>
        </a:graphic>
      </p:graphicFrame>
      <p:sp>
        <p:nvSpPr>
          <p:cNvPr id="56" name="Espaço Reservado para Número de Slide 16">
            <a:extLst>
              <a:ext uri="{FF2B5EF4-FFF2-40B4-BE49-F238E27FC236}">
                <a16:creationId xmlns:a16="http://schemas.microsoft.com/office/drawing/2014/main" id="{CD1FA6B9-8149-3EA8-9BFF-75E824B56D04}"/>
              </a:ext>
            </a:extLst>
          </p:cNvPr>
          <p:cNvSpPr>
            <a:spLocks noGrp="1"/>
          </p:cNvSpPr>
          <p:nvPr>
            <p:ph type="sldNum" sz="quarter" idx="7"/>
          </p:nvPr>
        </p:nvSpPr>
        <p:spPr>
          <a:xfrm>
            <a:off x="7178515" y="10312736"/>
            <a:ext cx="515895" cy="230114"/>
          </a:xfrm>
        </p:spPr>
        <p:txBody>
          <a:bodyPr/>
          <a:lstStyle/>
          <a:p>
            <a:pPr algn="ctr">
              <a:spcBef>
                <a:spcPts val="65"/>
              </a:spcBef>
            </a:pPr>
            <a:r>
              <a:rPr lang="en-US" sz="800"/>
              <a:t>7</a:t>
            </a:r>
          </a:p>
        </p:txBody>
      </p:sp>
      <p:sp>
        <p:nvSpPr>
          <p:cNvPr id="60" name="Espaço Reservado para Texto 13">
            <a:extLst>
              <a:ext uri="{FF2B5EF4-FFF2-40B4-BE49-F238E27FC236}">
                <a16:creationId xmlns:a16="http://schemas.microsoft.com/office/drawing/2014/main" id="{B26ED38C-1585-F0A9-F8DE-B9C6E8FE726D}"/>
              </a:ext>
            </a:extLst>
          </p:cNvPr>
          <p:cNvSpPr>
            <a:spLocks noGrp="1"/>
          </p:cNvSpPr>
          <p:nvPr>
            <p:ph type="body" sz="quarter" idx="22"/>
          </p:nvPr>
        </p:nvSpPr>
        <p:spPr>
          <a:xfrm>
            <a:off x="5193755" y="7741904"/>
            <a:ext cx="2781961" cy="334943"/>
          </a:xfrm>
        </p:spPr>
        <p:txBody>
          <a:bodyPr/>
          <a:lstStyle/>
          <a:p>
            <a:r>
              <a:rPr lang="pt-BR" err="1"/>
              <a:t>Exhibit</a:t>
            </a:r>
            <a:r>
              <a:rPr lang="pt-BR"/>
              <a:t> 24: </a:t>
            </a:r>
            <a:r>
              <a:rPr lang="en-US"/>
              <a:t>Investment In R&amp;D By Main Competitors (BRL Bn)</a:t>
            </a:r>
            <a:r>
              <a:rPr lang="pt-BR"/>
              <a:t> </a:t>
            </a:r>
          </a:p>
        </p:txBody>
      </p:sp>
      <p:sp>
        <p:nvSpPr>
          <p:cNvPr id="61" name="Espaço Reservado para Texto 14">
            <a:extLst>
              <a:ext uri="{FF2B5EF4-FFF2-40B4-BE49-F238E27FC236}">
                <a16:creationId xmlns:a16="http://schemas.microsoft.com/office/drawing/2014/main" id="{D03B6AF7-8655-168B-07CA-12FE5FB35656}"/>
              </a:ext>
            </a:extLst>
          </p:cNvPr>
          <p:cNvSpPr>
            <a:spLocks noGrp="1"/>
          </p:cNvSpPr>
          <p:nvPr>
            <p:ph type="body" sz="quarter" idx="23"/>
          </p:nvPr>
        </p:nvSpPr>
        <p:spPr>
          <a:xfrm>
            <a:off x="5260173" y="9835835"/>
            <a:ext cx="1433521" cy="207212"/>
          </a:xfrm>
        </p:spPr>
        <p:txBody>
          <a:bodyPr/>
          <a:lstStyle/>
          <a:p>
            <a:r>
              <a:rPr lang="pt-BR" err="1"/>
              <a:t>Sources</a:t>
            </a:r>
            <a:r>
              <a:rPr lang="pt-BR"/>
              <a:t>: </a:t>
            </a:r>
            <a:r>
              <a:rPr lang="en-US"/>
              <a:t>Respective IR of the companies</a:t>
            </a:r>
            <a:endParaRPr lang="pt-BR"/>
          </a:p>
        </p:txBody>
      </p:sp>
      <p:graphicFrame>
        <p:nvGraphicFramePr>
          <p:cNvPr id="62" name="Espaço Reservado para Gráfico 59">
            <a:extLst>
              <a:ext uri="{FF2B5EF4-FFF2-40B4-BE49-F238E27FC236}">
                <a16:creationId xmlns:a16="http://schemas.microsoft.com/office/drawing/2014/main" id="{9E40E88D-DDB8-9FEE-E293-4C2A315D3A3E}"/>
              </a:ext>
            </a:extLst>
          </p:cNvPr>
          <p:cNvGraphicFramePr>
            <a:graphicFrameLocks/>
          </p:cNvGraphicFramePr>
          <p:nvPr>
            <p:extLst>
              <p:ext uri="{D42A27DB-BD31-4B8C-83A1-F6EECF244321}">
                <p14:modId xmlns:p14="http://schemas.microsoft.com/office/powerpoint/2010/main" val="3681579681"/>
              </p:ext>
            </p:extLst>
          </p:nvPr>
        </p:nvGraphicFramePr>
        <p:xfrm>
          <a:off x="5264872" y="7787985"/>
          <a:ext cx="2411412" cy="2182308"/>
        </p:xfrm>
        <a:graphic>
          <a:graphicData uri="http://schemas.openxmlformats.org/drawingml/2006/chart">
            <c:chart xmlns:c="http://schemas.openxmlformats.org/drawingml/2006/chart" xmlns:r="http://schemas.openxmlformats.org/officeDocument/2006/relationships" r:id="rId3"/>
          </a:graphicData>
        </a:graphic>
      </p:graphicFrame>
      <p:sp>
        <p:nvSpPr>
          <p:cNvPr id="63" name="CaixaDeTexto 62">
            <a:extLst>
              <a:ext uri="{FF2B5EF4-FFF2-40B4-BE49-F238E27FC236}">
                <a16:creationId xmlns:a16="http://schemas.microsoft.com/office/drawing/2014/main" id="{92012AE5-2D13-2EA1-DD70-19978E2E2952}"/>
              </a:ext>
            </a:extLst>
          </p:cNvPr>
          <p:cNvSpPr txBox="1"/>
          <p:nvPr/>
        </p:nvSpPr>
        <p:spPr>
          <a:xfrm>
            <a:off x="179543" y="444357"/>
            <a:ext cx="4831061" cy="615553"/>
          </a:xfrm>
          <a:prstGeom prst="rect">
            <a:avLst/>
          </a:prstGeom>
          <a:noFill/>
        </p:spPr>
        <p:txBody>
          <a:bodyPr wrap="square">
            <a:spAutoFit/>
          </a:bodyPr>
          <a:lstStyle/>
          <a:p>
            <a:pPr algn="just"/>
            <a:r>
              <a:rPr lang="pt-BR" sz="850" b="1" kern="0" dirty="0" err="1">
                <a:solidFill>
                  <a:schemeClr val="accent1"/>
                </a:solidFill>
              </a:rPr>
              <a:t>Bear</a:t>
            </a:r>
            <a:r>
              <a:rPr lang="pt-BR" sz="850" b="1" kern="0" dirty="0">
                <a:solidFill>
                  <a:schemeClr val="accent1"/>
                </a:solidFill>
              </a:rPr>
              <a:t> Case: </a:t>
            </a:r>
            <a:r>
              <a:rPr lang="pt-BR" sz="850" kern="0" dirty="0"/>
              <a:t>The </a:t>
            </a:r>
            <a:r>
              <a:rPr lang="pt-BR" sz="850" kern="0" dirty="0" err="1"/>
              <a:t>bear</a:t>
            </a:r>
            <a:r>
              <a:rPr lang="pt-BR" sz="850" kern="0" dirty="0"/>
              <a:t> case assumes </a:t>
            </a:r>
            <a:r>
              <a:rPr lang="pt-BR" sz="850" kern="0" dirty="0" err="1"/>
              <a:t>that</a:t>
            </a:r>
            <a:r>
              <a:rPr lang="pt-BR" sz="850" kern="0" dirty="0"/>
              <a:t> </a:t>
            </a:r>
            <a:r>
              <a:rPr lang="pt-BR" sz="850" kern="0" dirty="0" err="1"/>
              <a:t>none</a:t>
            </a:r>
            <a:r>
              <a:rPr lang="pt-BR" sz="850" kern="0" dirty="0"/>
              <a:t> </a:t>
            </a:r>
            <a:r>
              <a:rPr lang="pt-BR" sz="850" kern="0" dirty="0" err="1"/>
              <a:t>of</a:t>
            </a:r>
            <a:r>
              <a:rPr lang="pt-BR" sz="850" kern="0" dirty="0"/>
              <a:t> </a:t>
            </a:r>
            <a:r>
              <a:rPr lang="pt-BR" sz="850" kern="0" dirty="0" err="1"/>
              <a:t>our</a:t>
            </a:r>
            <a:r>
              <a:rPr lang="pt-BR" sz="850" kern="0" dirty="0"/>
              <a:t> </a:t>
            </a:r>
            <a:r>
              <a:rPr lang="pt-BR" sz="850" kern="0" dirty="0" err="1"/>
              <a:t>main</a:t>
            </a:r>
            <a:r>
              <a:rPr lang="pt-BR" sz="850" kern="0" dirty="0"/>
              <a:t> </a:t>
            </a:r>
            <a:r>
              <a:rPr lang="pt-BR" sz="850" kern="0" dirty="0" err="1"/>
              <a:t>catalyst</a:t>
            </a:r>
            <a:r>
              <a:rPr lang="pt-BR" sz="850" kern="0" dirty="0"/>
              <a:t> materialize . </a:t>
            </a:r>
            <a:r>
              <a:rPr lang="pt-BR" sz="850" kern="0" dirty="0" err="1"/>
              <a:t>This</a:t>
            </a:r>
            <a:r>
              <a:rPr lang="pt-BR" sz="850" kern="0" dirty="0"/>
              <a:t> </a:t>
            </a:r>
            <a:r>
              <a:rPr lang="pt-BR" sz="850" kern="0" dirty="0" err="1"/>
              <a:t>way</a:t>
            </a:r>
            <a:r>
              <a:rPr lang="pt-BR" sz="850" kern="0" dirty="0"/>
              <a:t>, </a:t>
            </a:r>
            <a:r>
              <a:rPr lang="pt-BR" sz="850" kern="0" dirty="0" err="1"/>
              <a:t>our</a:t>
            </a:r>
            <a:r>
              <a:rPr lang="pt-BR" sz="850" kern="0" dirty="0"/>
              <a:t> </a:t>
            </a:r>
            <a:r>
              <a:rPr lang="pt-BR" sz="850" kern="0" dirty="0" err="1"/>
              <a:t>forecast</a:t>
            </a:r>
            <a:r>
              <a:rPr lang="pt-BR" sz="850" kern="0" dirty="0"/>
              <a:t> presume: (i) WEG </a:t>
            </a:r>
            <a:r>
              <a:rPr lang="pt-BR" sz="850" kern="0" dirty="0" err="1"/>
              <a:t>fails</a:t>
            </a:r>
            <a:r>
              <a:rPr lang="pt-BR" sz="850" kern="0" dirty="0"/>
              <a:t> </a:t>
            </a:r>
            <a:r>
              <a:rPr lang="pt-BR" sz="850" kern="0" dirty="0" err="1"/>
              <a:t>to</a:t>
            </a:r>
            <a:r>
              <a:rPr lang="pt-BR" sz="850" kern="0" dirty="0"/>
              <a:t> </a:t>
            </a:r>
            <a:r>
              <a:rPr lang="pt-BR" sz="850" kern="0" dirty="0" err="1"/>
              <a:t>growth</a:t>
            </a:r>
            <a:r>
              <a:rPr lang="pt-BR" sz="850" kern="0" dirty="0"/>
              <a:t> its net </a:t>
            </a:r>
            <a:r>
              <a:rPr lang="pt-BR" sz="850" kern="0" dirty="0" err="1"/>
              <a:t>revenue</a:t>
            </a:r>
            <a:r>
              <a:rPr lang="pt-BR" sz="850" kern="0" dirty="0"/>
              <a:t> in </a:t>
            </a:r>
            <a:r>
              <a:rPr lang="pt-BR" sz="850" kern="0" dirty="0" err="1"/>
              <a:t>previous</a:t>
            </a:r>
            <a:r>
              <a:rPr lang="pt-BR" sz="850" kern="0" dirty="0"/>
              <a:t> </a:t>
            </a:r>
            <a:r>
              <a:rPr lang="pt-BR" sz="850" kern="0" dirty="0" err="1"/>
              <a:t>rithym</a:t>
            </a:r>
            <a:r>
              <a:rPr lang="pt-BR" sz="850" kern="0" dirty="0"/>
              <a:t>, as it </a:t>
            </a:r>
            <a:r>
              <a:rPr lang="pt-BR" sz="850" kern="0" dirty="0" err="1"/>
              <a:t>grows</a:t>
            </a:r>
            <a:r>
              <a:rPr lang="pt-BR" sz="850" kern="0" dirty="0"/>
              <a:t> 2,5% </a:t>
            </a:r>
            <a:r>
              <a:rPr lang="pt-BR" sz="850" kern="0" dirty="0" err="1"/>
              <a:t>less</a:t>
            </a:r>
            <a:r>
              <a:rPr lang="pt-BR" sz="850" kern="0" dirty="0"/>
              <a:t> </a:t>
            </a:r>
            <a:r>
              <a:rPr lang="pt-BR" sz="850" kern="0" dirty="0" err="1"/>
              <a:t>than</a:t>
            </a:r>
            <a:r>
              <a:rPr lang="pt-BR" sz="850" kern="0" dirty="0"/>
              <a:t> </a:t>
            </a:r>
            <a:r>
              <a:rPr lang="pt-BR" sz="850" kern="0" dirty="0" err="1"/>
              <a:t>previously</a:t>
            </a:r>
            <a:r>
              <a:rPr lang="pt-BR" sz="850" kern="0" dirty="0"/>
              <a:t> (</a:t>
            </a:r>
            <a:r>
              <a:rPr lang="pt-BR" sz="850" kern="0" dirty="0" err="1"/>
              <a:t>ii</a:t>
            </a:r>
            <a:r>
              <a:rPr lang="pt-BR" sz="850" kern="0" dirty="0"/>
              <a:t>) </a:t>
            </a:r>
            <a:r>
              <a:rPr lang="pt-BR" sz="850" kern="0" dirty="0" err="1"/>
              <a:t>growth</a:t>
            </a:r>
            <a:r>
              <a:rPr lang="pt-BR" sz="850" kern="0" dirty="0"/>
              <a:t> </a:t>
            </a:r>
            <a:r>
              <a:rPr lang="pt-BR" sz="850" kern="0" dirty="0" err="1"/>
              <a:t>driven</a:t>
            </a:r>
            <a:r>
              <a:rPr lang="pt-BR" sz="850" kern="0" dirty="0"/>
              <a:t> </a:t>
            </a:r>
            <a:r>
              <a:rPr lang="pt-BR" sz="850" kern="0" dirty="0" err="1"/>
              <a:t>by</a:t>
            </a:r>
            <a:r>
              <a:rPr lang="pt-BR" sz="850" kern="0" dirty="0"/>
              <a:t> data centers </a:t>
            </a:r>
            <a:r>
              <a:rPr lang="pt-BR" sz="850" kern="0" dirty="0" err="1"/>
              <a:t>is</a:t>
            </a:r>
            <a:r>
              <a:rPr lang="pt-BR" sz="850" kern="0" dirty="0"/>
              <a:t> </a:t>
            </a:r>
            <a:r>
              <a:rPr lang="pt-BR" sz="850" kern="0" dirty="0" err="1"/>
              <a:t>smaller</a:t>
            </a:r>
            <a:r>
              <a:rPr lang="pt-BR" sz="850" kern="0" dirty="0"/>
              <a:t> </a:t>
            </a:r>
            <a:r>
              <a:rPr lang="pt-BR" sz="850" kern="0" dirty="0" err="1"/>
              <a:t>than</a:t>
            </a:r>
            <a:r>
              <a:rPr lang="pt-BR" sz="850" kern="0" dirty="0"/>
              <a:t> </a:t>
            </a:r>
            <a:r>
              <a:rPr lang="pt-BR" sz="850" kern="0" dirty="0" err="1"/>
              <a:t>expected</a:t>
            </a:r>
            <a:r>
              <a:rPr lang="pt-BR" sz="850" kern="0" dirty="0"/>
              <a:t>, </a:t>
            </a:r>
            <a:r>
              <a:rPr lang="pt-BR" sz="850" kern="0" dirty="0" err="1"/>
              <a:t>growing</a:t>
            </a:r>
            <a:r>
              <a:rPr lang="pt-BR" sz="850" kern="0" dirty="0"/>
              <a:t> Only </a:t>
            </a:r>
            <a:r>
              <a:rPr lang="pt-BR" sz="850" kern="0" dirty="0" err="1"/>
              <a:t>the</a:t>
            </a:r>
            <a:r>
              <a:rPr lang="pt-BR" sz="850" kern="0" dirty="0"/>
              <a:t> nominal GDP </a:t>
            </a:r>
            <a:r>
              <a:rPr lang="pt-BR" sz="850" kern="0" dirty="0" err="1"/>
              <a:t>of</a:t>
            </a:r>
            <a:r>
              <a:rPr lang="pt-BR" sz="850" kern="0" dirty="0"/>
              <a:t> USA. </a:t>
            </a:r>
            <a:r>
              <a:rPr lang="pt-BR" sz="850" kern="0" dirty="0" err="1"/>
              <a:t>Under</a:t>
            </a:r>
            <a:r>
              <a:rPr lang="pt-BR" sz="850" kern="0" dirty="0"/>
              <a:t> </a:t>
            </a:r>
            <a:r>
              <a:rPr lang="pt-BR" sz="850" kern="0" dirty="0" err="1"/>
              <a:t>this</a:t>
            </a:r>
            <a:r>
              <a:rPr lang="pt-BR" sz="850" kern="0" dirty="0"/>
              <a:t> </a:t>
            </a:r>
            <a:r>
              <a:rPr lang="pt-BR" sz="850" kern="0" dirty="0" err="1"/>
              <a:t>situation</a:t>
            </a:r>
            <a:r>
              <a:rPr lang="pt-BR" sz="850" kern="0" dirty="0"/>
              <a:t>, </a:t>
            </a:r>
            <a:r>
              <a:rPr lang="pt-BR" sz="850" kern="0" dirty="0" err="1"/>
              <a:t>our</a:t>
            </a:r>
            <a:r>
              <a:rPr lang="pt-BR" sz="850" kern="0" dirty="0"/>
              <a:t> FCFF </a:t>
            </a:r>
            <a:r>
              <a:rPr lang="pt-BR" sz="850" kern="0" dirty="0" err="1"/>
              <a:t>projections</a:t>
            </a:r>
            <a:r>
              <a:rPr lang="pt-BR" sz="850" kern="0" dirty="0"/>
              <a:t> </a:t>
            </a:r>
            <a:r>
              <a:rPr lang="pt-BR" sz="850" kern="0" dirty="0" err="1"/>
              <a:t>would</a:t>
            </a:r>
            <a:r>
              <a:rPr lang="pt-BR" sz="850" kern="0" dirty="0"/>
              <a:t> </a:t>
            </a:r>
            <a:r>
              <a:rPr lang="pt-BR" sz="850" kern="0" dirty="0" err="1"/>
              <a:t>result</a:t>
            </a:r>
            <a:r>
              <a:rPr lang="pt-BR" sz="850" kern="0" dirty="0"/>
              <a:t> in a </a:t>
            </a:r>
            <a:r>
              <a:rPr lang="pt-BR" sz="850" kern="0" dirty="0" err="1"/>
              <a:t>downside</a:t>
            </a:r>
            <a:r>
              <a:rPr lang="pt-BR" sz="850" kern="0" dirty="0"/>
              <a:t> </a:t>
            </a:r>
            <a:r>
              <a:rPr lang="pt-BR" sz="850" kern="0" dirty="0" err="1"/>
              <a:t>of</a:t>
            </a:r>
            <a:r>
              <a:rPr lang="pt-BR" sz="850" kern="0" dirty="0"/>
              <a:t> -29%.</a:t>
            </a:r>
            <a:endParaRPr lang="pt-BR" sz="850" b="1" kern="0" dirty="0">
              <a:solidFill>
                <a:schemeClr val="accent1"/>
              </a:solidFill>
            </a:endParaRPr>
          </a:p>
        </p:txBody>
      </p:sp>
    </p:spTree>
    <p:extLst>
      <p:ext uri="{BB962C8B-B14F-4D97-AF65-F5344CB8AC3E}">
        <p14:creationId xmlns:p14="http://schemas.microsoft.com/office/powerpoint/2010/main" val="1827955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497EFAE7-2A90-DC2D-8D58-88835489C5E6}"/>
              </a:ext>
            </a:extLst>
          </p:cNvPr>
          <p:cNvSpPr txBox="1"/>
          <p:nvPr/>
        </p:nvSpPr>
        <p:spPr>
          <a:xfrm>
            <a:off x="0" y="269822"/>
            <a:ext cx="1830950"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A- </a:t>
            </a:r>
            <a:r>
              <a:rPr lang="pt-BR" sz="1000" b="1" u="sng" err="1">
                <a:solidFill>
                  <a:schemeClr val="tx2"/>
                </a:solidFill>
                <a:latin typeface="Calibri" panose="020F0502020204030204" pitchFamily="34" charset="0"/>
                <a:cs typeface="Calibri" panose="020F0502020204030204" pitchFamily="34" charset="0"/>
              </a:rPr>
              <a:t>Peers</a:t>
            </a:r>
            <a:r>
              <a:rPr lang="pt-BR" sz="1000" b="1" u="sng">
                <a:solidFill>
                  <a:schemeClr val="tx2"/>
                </a:solidFill>
                <a:latin typeface="Calibri" panose="020F0502020204030204" pitchFamily="34" charset="0"/>
                <a:cs typeface="Calibri" panose="020F0502020204030204" pitchFamily="34" charset="0"/>
              </a:rPr>
              <a:t> ROIC/WACC</a:t>
            </a:r>
          </a:p>
        </p:txBody>
      </p:sp>
      <p:graphicFrame>
        <p:nvGraphicFramePr>
          <p:cNvPr id="7" name="Tabela 6">
            <a:extLst>
              <a:ext uri="{FF2B5EF4-FFF2-40B4-BE49-F238E27FC236}">
                <a16:creationId xmlns:a16="http://schemas.microsoft.com/office/drawing/2014/main" id="{0252B521-81C0-9816-D155-007A58D3A1D6}"/>
              </a:ext>
            </a:extLst>
          </p:cNvPr>
          <p:cNvGraphicFramePr>
            <a:graphicFrameLocks noGrp="1"/>
          </p:cNvGraphicFramePr>
          <p:nvPr>
            <p:extLst>
              <p:ext uri="{D42A27DB-BD31-4B8C-83A1-F6EECF244321}">
                <p14:modId xmlns:p14="http://schemas.microsoft.com/office/powerpoint/2010/main" val="4129209014"/>
              </p:ext>
            </p:extLst>
          </p:nvPr>
        </p:nvGraphicFramePr>
        <p:xfrm>
          <a:off x="121332" y="660680"/>
          <a:ext cx="3505315" cy="1268446"/>
        </p:xfrm>
        <a:graphic>
          <a:graphicData uri="http://schemas.openxmlformats.org/drawingml/2006/table">
            <a:tbl>
              <a:tblPr firstRow="1">
                <a:tableStyleId>{5C22544A-7EE6-4342-B048-85BDC9FD1C3A}</a:tableStyleId>
              </a:tblPr>
              <a:tblGrid>
                <a:gridCol w="882700">
                  <a:extLst>
                    <a:ext uri="{9D8B030D-6E8A-4147-A177-3AD203B41FA5}">
                      <a16:colId xmlns:a16="http://schemas.microsoft.com/office/drawing/2014/main" val="1122303308"/>
                    </a:ext>
                  </a:extLst>
                </a:gridCol>
                <a:gridCol w="1371544">
                  <a:extLst>
                    <a:ext uri="{9D8B030D-6E8A-4147-A177-3AD203B41FA5}">
                      <a16:colId xmlns:a16="http://schemas.microsoft.com/office/drawing/2014/main" val="2484668432"/>
                    </a:ext>
                  </a:extLst>
                </a:gridCol>
                <a:gridCol w="1251071">
                  <a:extLst>
                    <a:ext uri="{9D8B030D-6E8A-4147-A177-3AD203B41FA5}">
                      <a16:colId xmlns:a16="http://schemas.microsoft.com/office/drawing/2014/main" val="626185435"/>
                    </a:ext>
                  </a:extLst>
                </a:gridCol>
              </a:tblGrid>
              <a:tr h="117127">
                <a:tc>
                  <a:txBody>
                    <a:bodyPr/>
                    <a:lstStyle/>
                    <a:p>
                      <a:pPr algn="ctr" fontAlgn="b"/>
                      <a:r>
                        <a:rPr lang="pt-BR" sz="85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Companies</a:t>
                      </a:r>
                      <a:endParaRPr lang="pt-BR" sz="85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ROIC</a:t>
                      </a:r>
                      <a:endParaRPr lang="pt-BR" sz="85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WACC</a:t>
                      </a:r>
                      <a:endParaRPr lang="pt-BR" sz="850" b="1" i="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1013010945"/>
                  </a:ext>
                </a:extLst>
              </a:tr>
              <a:tr h="111268">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WEG</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36,61%</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18,80%</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619865095"/>
                  </a:ext>
                </a:extLst>
              </a:tr>
              <a:tr h="111268">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ABB</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16,12%</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7,13%</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592123523"/>
                  </a:ext>
                </a:extLst>
              </a:tr>
              <a:tr h="217028">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REGAL REXNORD</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26,49%</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8,20%</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467940416"/>
                  </a:ext>
                </a:extLst>
              </a:tr>
              <a:tr h="217028">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GENERAL ELETRIC</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29,23%</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12,85%</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871289417"/>
                  </a:ext>
                </a:extLst>
              </a:tr>
              <a:tr h="111268">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NIDEC</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7,36%</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6,87%</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519699884"/>
                  </a:ext>
                </a:extLst>
              </a:tr>
              <a:tr h="117127">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SCHNEIDER</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30,04%</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11,01%</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2168831621"/>
                  </a:ext>
                </a:extLst>
              </a:tr>
              <a:tr h="111268">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SIEMENS</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31,12%</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r>
                        <a:rPr lang="pt-BR" sz="85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rPr>
                        <a:t>8,70%</a:t>
                      </a:r>
                      <a:endParaRPr lang="pt-BR" sz="850" b="0" i="0" u="none" strike="noStrike">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2327894374"/>
                  </a:ext>
                </a:extLst>
              </a:tr>
            </a:tbl>
          </a:graphicData>
        </a:graphic>
      </p:graphicFrame>
      <p:sp>
        <p:nvSpPr>
          <p:cNvPr id="8" name="Espaço Reservado para Texto 5">
            <a:extLst>
              <a:ext uri="{FF2B5EF4-FFF2-40B4-BE49-F238E27FC236}">
                <a16:creationId xmlns:a16="http://schemas.microsoft.com/office/drawing/2014/main" id="{27DA454D-F14F-0B49-A402-09B79D74447B}"/>
              </a:ext>
            </a:extLst>
          </p:cNvPr>
          <p:cNvSpPr txBox="1">
            <a:spLocks/>
          </p:cNvSpPr>
          <p:nvPr/>
        </p:nvSpPr>
        <p:spPr>
          <a:xfrm>
            <a:off x="117274" y="1984949"/>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Bloomberg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and</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Group</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2</a:t>
            </a:r>
          </a:p>
        </p:txBody>
      </p:sp>
      <p:sp>
        <p:nvSpPr>
          <p:cNvPr id="9" name="CaixaDeTexto 8">
            <a:extLst>
              <a:ext uri="{FF2B5EF4-FFF2-40B4-BE49-F238E27FC236}">
                <a16:creationId xmlns:a16="http://schemas.microsoft.com/office/drawing/2014/main" id="{FAFF2575-7862-762B-F597-48FEE48698C7}"/>
              </a:ext>
            </a:extLst>
          </p:cNvPr>
          <p:cNvSpPr txBox="1"/>
          <p:nvPr/>
        </p:nvSpPr>
        <p:spPr>
          <a:xfrm>
            <a:off x="3824728" y="269822"/>
            <a:ext cx="2720617"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B- </a:t>
            </a:r>
            <a:r>
              <a:rPr lang="pt-BR" sz="1000" b="1" u="sng" err="1">
                <a:solidFill>
                  <a:schemeClr val="tx2"/>
                </a:solidFill>
                <a:latin typeface="Calibri" panose="020F0502020204030204" pitchFamily="34" charset="0"/>
                <a:cs typeface="Calibri" panose="020F0502020204030204" pitchFamily="34" charset="0"/>
              </a:rPr>
              <a:t>Inovation</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Investment</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Among</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Peers</a:t>
            </a:r>
            <a:endParaRPr lang="pt-BR" sz="1000" b="1" u="sng">
              <a:solidFill>
                <a:schemeClr val="tx2"/>
              </a:solidFill>
              <a:latin typeface="Calibri" panose="020F0502020204030204" pitchFamily="34" charset="0"/>
              <a:cs typeface="Calibri" panose="020F0502020204030204" pitchFamily="34" charset="0"/>
            </a:endParaRPr>
          </a:p>
        </p:txBody>
      </p:sp>
      <p:graphicFrame>
        <p:nvGraphicFramePr>
          <p:cNvPr id="10" name="Tabela 9">
            <a:extLst>
              <a:ext uri="{FF2B5EF4-FFF2-40B4-BE49-F238E27FC236}">
                <a16:creationId xmlns:a16="http://schemas.microsoft.com/office/drawing/2014/main" id="{88B5AE38-6FC5-BE65-4925-2ACB1B58D8C9}"/>
              </a:ext>
            </a:extLst>
          </p:cNvPr>
          <p:cNvGraphicFramePr>
            <a:graphicFrameLocks noGrp="1"/>
          </p:cNvGraphicFramePr>
          <p:nvPr>
            <p:extLst>
              <p:ext uri="{D42A27DB-BD31-4B8C-83A1-F6EECF244321}">
                <p14:modId xmlns:p14="http://schemas.microsoft.com/office/powerpoint/2010/main" val="341638330"/>
              </p:ext>
            </p:extLst>
          </p:nvPr>
        </p:nvGraphicFramePr>
        <p:xfrm>
          <a:off x="3824728" y="637783"/>
          <a:ext cx="3764872" cy="1222726"/>
        </p:xfrm>
        <a:graphic>
          <a:graphicData uri="http://schemas.openxmlformats.org/drawingml/2006/table">
            <a:tbl>
              <a:tblPr firstRow="1">
                <a:tableStyleId>{5C22544A-7EE6-4342-B048-85BDC9FD1C3A}</a:tableStyleId>
              </a:tblPr>
              <a:tblGrid>
                <a:gridCol w="490102">
                  <a:extLst>
                    <a:ext uri="{9D8B030D-6E8A-4147-A177-3AD203B41FA5}">
                      <a16:colId xmlns:a16="http://schemas.microsoft.com/office/drawing/2014/main" val="3038891590"/>
                    </a:ext>
                  </a:extLst>
                </a:gridCol>
                <a:gridCol w="519805">
                  <a:extLst>
                    <a:ext uri="{9D8B030D-6E8A-4147-A177-3AD203B41FA5}">
                      <a16:colId xmlns:a16="http://schemas.microsoft.com/office/drawing/2014/main" val="290288686"/>
                    </a:ext>
                  </a:extLst>
                </a:gridCol>
                <a:gridCol w="490102">
                  <a:extLst>
                    <a:ext uri="{9D8B030D-6E8A-4147-A177-3AD203B41FA5}">
                      <a16:colId xmlns:a16="http://schemas.microsoft.com/office/drawing/2014/main" val="2494543650"/>
                    </a:ext>
                  </a:extLst>
                </a:gridCol>
                <a:gridCol w="653469">
                  <a:extLst>
                    <a:ext uri="{9D8B030D-6E8A-4147-A177-3AD203B41FA5}">
                      <a16:colId xmlns:a16="http://schemas.microsoft.com/office/drawing/2014/main" val="224085308"/>
                    </a:ext>
                  </a:extLst>
                </a:gridCol>
                <a:gridCol w="556933">
                  <a:extLst>
                    <a:ext uri="{9D8B030D-6E8A-4147-A177-3AD203B41FA5}">
                      <a16:colId xmlns:a16="http://schemas.microsoft.com/office/drawing/2014/main" val="3288019863"/>
                    </a:ext>
                  </a:extLst>
                </a:gridCol>
                <a:gridCol w="1054461">
                  <a:extLst>
                    <a:ext uri="{9D8B030D-6E8A-4147-A177-3AD203B41FA5}">
                      <a16:colId xmlns:a16="http://schemas.microsoft.com/office/drawing/2014/main" val="1627252661"/>
                    </a:ext>
                  </a:extLst>
                </a:gridCol>
              </a:tblGrid>
              <a:tr h="386226">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years</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WEG    (BRL bn)</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ABB    (BRL bn)</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Siemens (BRL bn)</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Nidec   (BRL bn)</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Schneider Electric  (BRL bn)</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136607090"/>
                  </a:ext>
                </a:extLst>
              </a:tr>
              <a:tr h="209125">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2020</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0,469</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9,39</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32,79</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2,63</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8,22</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3972780929"/>
                  </a:ext>
                </a:extLst>
              </a:tr>
              <a:tr h="209125">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2021</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0,549</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9,98</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34,1</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3,02</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8,85</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3486221609"/>
                  </a:ext>
                </a:extLst>
              </a:tr>
              <a:tr h="209125">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2022</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0,647</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10,26</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35,34</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3,14</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9,48</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650593032"/>
                  </a:ext>
                </a:extLst>
              </a:tr>
              <a:tr h="209125">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2023</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0,833</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10,87</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36,61</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3,53</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ctr"/>
                      <a:r>
                        <a:rPr lang="pt-BR" sz="850" u="none" strike="noStrike">
                          <a:effectLst/>
                          <a:latin typeface="Calibri" panose="020F0502020204030204" pitchFamily="34" charset="0"/>
                          <a:ea typeface="Calibri" panose="020F0502020204030204" pitchFamily="34" charset="0"/>
                          <a:cs typeface="Calibri" panose="020F0502020204030204" pitchFamily="34" charset="0"/>
                        </a:rPr>
                        <a:t>10,11</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1747536330"/>
                  </a:ext>
                </a:extLst>
              </a:tr>
            </a:tbl>
          </a:graphicData>
        </a:graphic>
      </p:graphicFrame>
      <p:sp>
        <p:nvSpPr>
          <p:cNvPr id="11" name="Espaço Reservado para Texto 5">
            <a:extLst>
              <a:ext uri="{FF2B5EF4-FFF2-40B4-BE49-F238E27FC236}">
                <a16:creationId xmlns:a16="http://schemas.microsoft.com/office/drawing/2014/main" id="{285F81D1-9468-76C9-0E2A-235422975358}"/>
              </a:ext>
            </a:extLst>
          </p:cNvPr>
          <p:cNvSpPr txBox="1">
            <a:spLocks/>
          </p:cNvSpPr>
          <p:nvPr/>
        </p:nvSpPr>
        <p:spPr>
          <a:xfrm>
            <a:off x="4014695" y="1984948"/>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IR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of</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companies</a:t>
            </a:r>
            <a:endPar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CaixaDeTexto 11">
            <a:extLst>
              <a:ext uri="{FF2B5EF4-FFF2-40B4-BE49-F238E27FC236}">
                <a16:creationId xmlns:a16="http://schemas.microsoft.com/office/drawing/2014/main" id="{D5440839-D7EF-359F-0A65-417A3AC8B7AA}"/>
              </a:ext>
            </a:extLst>
          </p:cNvPr>
          <p:cNvSpPr txBox="1"/>
          <p:nvPr/>
        </p:nvSpPr>
        <p:spPr>
          <a:xfrm>
            <a:off x="12170" y="2193557"/>
            <a:ext cx="2382383"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C- </a:t>
            </a:r>
            <a:r>
              <a:rPr lang="pt-BR" sz="1000" b="1" u="sng" err="1">
                <a:solidFill>
                  <a:schemeClr val="tx2"/>
                </a:solidFill>
                <a:latin typeface="Calibri" panose="020F0502020204030204" pitchFamily="34" charset="0"/>
                <a:cs typeface="Calibri" panose="020F0502020204030204" pitchFamily="34" charset="0"/>
              </a:rPr>
              <a:t>Historical</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Operating</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Margins</a:t>
            </a:r>
            <a:endParaRPr lang="pt-BR" sz="1000" b="1" u="sng">
              <a:solidFill>
                <a:schemeClr val="tx2"/>
              </a:solidFill>
              <a:latin typeface="Calibri" panose="020F0502020204030204" pitchFamily="34" charset="0"/>
              <a:cs typeface="Calibri" panose="020F0502020204030204" pitchFamily="34" charset="0"/>
            </a:endParaRPr>
          </a:p>
        </p:txBody>
      </p:sp>
      <p:graphicFrame>
        <p:nvGraphicFramePr>
          <p:cNvPr id="13" name="Gráfico 12">
            <a:extLst>
              <a:ext uri="{FF2B5EF4-FFF2-40B4-BE49-F238E27FC236}">
                <a16:creationId xmlns:a16="http://schemas.microsoft.com/office/drawing/2014/main" id="{A63A0DCB-EC9E-0212-A52C-5FA0BE515D27}"/>
              </a:ext>
            </a:extLst>
          </p:cNvPr>
          <p:cNvGraphicFramePr>
            <a:graphicFrameLocks/>
          </p:cNvGraphicFramePr>
          <p:nvPr>
            <p:extLst>
              <p:ext uri="{D42A27DB-BD31-4B8C-83A1-F6EECF244321}">
                <p14:modId xmlns:p14="http://schemas.microsoft.com/office/powerpoint/2010/main" val="2281771983"/>
              </p:ext>
            </p:extLst>
          </p:nvPr>
        </p:nvGraphicFramePr>
        <p:xfrm>
          <a:off x="-14013" y="2589806"/>
          <a:ext cx="3838742" cy="1646162"/>
        </p:xfrm>
        <a:graphic>
          <a:graphicData uri="http://schemas.openxmlformats.org/drawingml/2006/chart">
            <c:chart xmlns:c="http://schemas.openxmlformats.org/drawingml/2006/chart" xmlns:r="http://schemas.openxmlformats.org/officeDocument/2006/relationships" r:id="rId3"/>
          </a:graphicData>
        </a:graphic>
      </p:graphicFrame>
      <p:sp>
        <p:nvSpPr>
          <p:cNvPr id="14" name="Espaço Reservado para Texto 5">
            <a:extLst>
              <a:ext uri="{FF2B5EF4-FFF2-40B4-BE49-F238E27FC236}">
                <a16:creationId xmlns:a16="http://schemas.microsoft.com/office/drawing/2014/main" id="{FA7A2B3F-F5DB-40F8-C5DE-9E4FB2D57B71}"/>
              </a:ext>
            </a:extLst>
          </p:cNvPr>
          <p:cNvSpPr txBox="1">
            <a:spLocks/>
          </p:cNvSpPr>
          <p:nvPr/>
        </p:nvSpPr>
        <p:spPr>
          <a:xfrm>
            <a:off x="182802" y="4167102"/>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companiesmarketcap</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macrotrends</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p>
        </p:txBody>
      </p:sp>
      <p:sp>
        <p:nvSpPr>
          <p:cNvPr id="17" name="CaixaDeTexto 16">
            <a:extLst>
              <a:ext uri="{FF2B5EF4-FFF2-40B4-BE49-F238E27FC236}">
                <a16:creationId xmlns:a16="http://schemas.microsoft.com/office/drawing/2014/main" id="{89D16AAE-EF7F-E1F1-932A-C117B13A53B4}"/>
              </a:ext>
            </a:extLst>
          </p:cNvPr>
          <p:cNvSpPr txBox="1"/>
          <p:nvPr/>
        </p:nvSpPr>
        <p:spPr>
          <a:xfrm>
            <a:off x="3824728" y="2198143"/>
            <a:ext cx="3587842"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D- Market </a:t>
            </a:r>
            <a:r>
              <a:rPr lang="pt-BR" sz="1000" b="1" u="sng" err="1">
                <a:solidFill>
                  <a:schemeClr val="tx2"/>
                </a:solidFill>
                <a:latin typeface="Calibri" panose="020F0502020204030204" pitchFamily="34" charset="0"/>
                <a:cs typeface="Calibri" panose="020F0502020204030204" pitchFamily="34" charset="0"/>
              </a:rPr>
              <a:t>Share</a:t>
            </a:r>
            <a:r>
              <a:rPr lang="pt-BR" sz="1000" b="1" u="sng">
                <a:solidFill>
                  <a:schemeClr val="tx2"/>
                </a:solidFill>
                <a:latin typeface="Calibri" panose="020F0502020204030204" pitchFamily="34" charset="0"/>
                <a:cs typeface="Calibri" panose="020F0502020204030204" pitchFamily="34" charset="0"/>
              </a:rPr>
              <a:t> &amp; </a:t>
            </a:r>
            <a:r>
              <a:rPr lang="pt-BR" sz="1000" b="1" u="sng" err="1">
                <a:solidFill>
                  <a:schemeClr val="tx2"/>
                </a:solidFill>
                <a:latin typeface="Calibri" panose="020F0502020204030204" pitchFamily="34" charset="0"/>
                <a:cs typeface="Calibri" panose="020F0502020204030204" pitchFamily="34" charset="0"/>
              </a:rPr>
              <a:t>Concentration</a:t>
            </a:r>
            <a:r>
              <a:rPr lang="pt-BR" sz="1000" b="1" u="sng">
                <a:solidFill>
                  <a:schemeClr val="tx2"/>
                </a:solidFill>
                <a:latin typeface="Calibri" panose="020F0502020204030204" pitchFamily="34" charset="0"/>
                <a:cs typeface="Calibri" panose="020F0502020204030204" pitchFamily="34" charset="0"/>
              </a:rPr>
              <a:t> For </a:t>
            </a:r>
            <a:r>
              <a:rPr lang="pt-BR" sz="1000" b="1" u="sng" err="1">
                <a:solidFill>
                  <a:schemeClr val="tx2"/>
                </a:solidFill>
                <a:latin typeface="Calibri" panose="020F0502020204030204" pitchFamily="34" charset="0"/>
                <a:cs typeface="Calibri" panose="020F0502020204030204" pitchFamily="34" charset="0"/>
              </a:rPr>
              <a:t>Different</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Niches</a:t>
            </a:r>
            <a:endParaRPr lang="pt-BR" sz="1000" b="1" u="sng">
              <a:solidFill>
                <a:schemeClr val="tx2"/>
              </a:solidFill>
              <a:latin typeface="Calibri" panose="020F0502020204030204" pitchFamily="34" charset="0"/>
              <a:cs typeface="Calibri" panose="020F0502020204030204" pitchFamily="34" charset="0"/>
            </a:endParaRPr>
          </a:p>
        </p:txBody>
      </p:sp>
      <p:pic>
        <p:nvPicPr>
          <p:cNvPr id="1026" name="Picture 2">
            <a:extLst>
              <a:ext uri="{FF2B5EF4-FFF2-40B4-BE49-F238E27FC236}">
                <a16:creationId xmlns:a16="http://schemas.microsoft.com/office/drawing/2014/main" id="{C7D6DE3A-9814-147C-E8A0-3E4973FA7B6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33894" y="2527508"/>
            <a:ext cx="3637869" cy="1613473"/>
          </a:xfrm>
          <a:prstGeom prst="rect">
            <a:avLst/>
          </a:prstGeom>
          <a:noFill/>
          <a:extLst>
            <a:ext uri="{909E8E84-426E-40DD-AFC4-6F175D3DCCD1}">
              <a14:hiddenFill xmlns:a14="http://schemas.microsoft.com/office/drawing/2010/main">
                <a:solidFill>
                  <a:srgbClr val="FFFFFF"/>
                </a:solidFill>
              </a14:hiddenFill>
            </a:ext>
          </a:extLst>
        </p:spPr>
      </p:pic>
      <p:sp>
        <p:nvSpPr>
          <p:cNvPr id="18" name="Espaço Reservado para Texto 5">
            <a:extLst>
              <a:ext uri="{FF2B5EF4-FFF2-40B4-BE49-F238E27FC236}">
                <a16:creationId xmlns:a16="http://schemas.microsoft.com/office/drawing/2014/main" id="{BB6C2416-DB7E-0194-81C3-46E49FF0F888}"/>
              </a:ext>
            </a:extLst>
          </p:cNvPr>
          <p:cNvSpPr txBox="1">
            <a:spLocks/>
          </p:cNvSpPr>
          <p:nvPr/>
        </p:nvSpPr>
        <p:spPr>
          <a:xfrm>
            <a:off x="4080226" y="4204815"/>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Omdia</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p>
        </p:txBody>
      </p:sp>
      <p:sp>
        <p:nvSpPr>
          <p:cNvPr id="20" name="CaixaDeTexto 19">
            <a:extLst>
              <a:ext uri="{FF2B5EF4-FFF2-40B4-BE49-F238E27FC236}">
                <a16:creationId xmlns:a16="http://schemas.microsoft.com/office/drawing/2014/main" id="{7145CC99-7BEC-67A5-0755-AD4A7C6E1B7B}"/>
              </a:ext>
            </a:extLst>
          </p:cNvPr>
          <p:cNvSpPr txBox="1"/>
          <p:nvPr/>
        </p:nvSpPr>
        <p:spPr>
          <a:xfrm>
            <a:off x="117274" y="4569880"/>
            <a:ext cx="2105063"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E- </a:t>
            </a:r>
            <a:r>
              <a:rPr lang="pt-BR" sz="1000" b="1" u="sng" err="1">
                <a:solidFill>
                  <a:schemeClr val="tx2"/>
                </a:solidFill>
                <a:latin typeface="Calibri" panose="020F0502020204030204" pitchFamily="34" charset="0"/>
                <a:cs typeface="Calibri" panose="020F0502020204030204" pitchFamily="34" charset="0"/>
              </a:rPr>
              <a:t>Reduction</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Cost</a:t>
            </a:r>
            <a:r>
              <a:rPr lang="pt-BR" sz="1000" b="1" u="sng">
                <a:solidFill>
                  <a:schemeClr val="tx2"/>
                </a:solidFill>
                <a:latin typeface="Calibri" panose="020F0502020204030204" pitchFamily="34" charset="0"/>
                <a:cs typeface="Calibri" panose="020F0502020204030204" pitchFamily="34" charset="0"/>
              </a:rPr>
              <a:t> Per Unit</a:t>
            </a:r>
          </a:p>
        </p:txBody>
      </p:sp>
      <p:graphicFrame>
        <p:nvGraphicFramePr>
          <p:cNvPr id="21" name="Gráfico 20">
            <a:extLst>
              <a:ext uri="{FF2B5EF4-FFF2-40B4-BE49-F238E27FC236}">
                <a16:creationId xmlns:a16="http://schemas.microsoft.com/office/drawing/2014/main" id="{AD7FF857-F511-915F-B1DB-39D40EC3D067}"/>
              </a:ext>
            </a:extLst>
          </p:cNvPr>
          <p:cNvGraphicFramePr>
            <a:graphicFrameLocks/>
          </p:cNvGraphicFramePr>
          <p:nvPr>
            <p:extLst>
              <p:ext uri="{D42A27DB-BD31-4B8C-83A1-F6EECF244321}">
                <p14:modId xmlns:p14="http://schemas.microsoft.com/office/powerpoint/2010/main" val="3115205237"/>
              </p:ext>
            </p:extLst>
          </p:nvPr>
        </p:nvGraphicFramePr>
        <p:xfrm>
          <a:off x="117274" y="4896648"/>
          <a:ext cx="3509373" cy="1686453"/>
        </p:xfrm>
        <a:graphic>
          <a:graphicData uri="http://schemas.openxmlformats.org/drawingml/2006/chart">
            <c:chart xmlns:c="http://schemas.openxmlformats.org/drawingml/2006/chart" xmlns:r="http://schemas.openxmlformats.org/officeDocument/2006/relationships" r:id="rId5"/>
          </a:graphicData>
        </a:graphic>
      </p:graphicFrame>
      <p:sp>
        <p:nvSpPr>
          <p:cNvPr id="22" name="CaixaDeTexto 21">
            <a:extLst>
              <a:ext uri="{FF2B5EF4-FFF2-40B4-BE49-F238E27FC236}">
                <a16:creationId xmlns:a16="http://schemas.microsoft.com/office/drawing/2014/main" id="{B7D052F8-84C8-9FCD-47FD-8F0C27580377}"/>
              </a:ext>
            </a:extLst>
          </p:cNvPr>
          <p:cNvSpPr txBox="1"/>
          <p:nvPr/>
        </p:nvSpPr>
        <p:spPr>
          <a:xfrm>
            <a:off x="3886200" y="4570333"/>
            <a:ext cx="3090911"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F- </a:t>
            </a:r>
            <a:r>
              <a:rPr lang="pt-BR" sz="1000" b="1" u="sng" err="1">
                <a:solidFill>
                  <a:schemeClr val="tx2"/>
                </a:solidFill>
                <a:latin typeface="Calibri" panose="020F0502020204030204" pitchFamily="34" charset="0"/>
                <a:cs typeface="Calibri" panose="020F0502020204030204" pitchFamily="34" charset="0"/>
              </a:rPr>
              <a:t>Reduction</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Of</a:t>
            </a:r>
            <a:r>
              <a:rPr lang="pt-BR" sz="1000" b="1" u="sng">
                <a:solidFill>
                  <a:schemeClr val="tx2"/>
                </a:solidFill>
                <a:latin typeface="Calibri" panose="020F0502020204030204" pitchFamily="34" charset="0"/>
                <a:cs typeface="Calibri" panose="020F0502020204030204" pitchFamily="34" charset="0"/>
              </a:rPr>
              <a:t> Unit </a:t>
            </a:r>
            <a:r>
              <a:rPr lang="pt-BR" sz="1000" b="1" u="sng" err="1">
                <a:solidFill>
                  <a:schemeClr val="tx2"/>
                </a:solidFill>
                <a:latin typeface="Calibri" panose="020F0502020204030204" pitchFamily="34" charset="0"/>
                <a:cs typeface="Calibri" panose="020F0502020204030204" pitchFamily="34" charset="0"/>
              </a:rPr>
              <a:t>Cost</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Among</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Companies</a:t>
            </a:r>
            <a:endParaRPr lang="pt-BR" sz="1000" b="1" u="sng">
              <a:solidFill>
                <a:schemeClr val="tx2"/>
              </a:solidFill>
              <a:latin typeface="Calibri" panose="020F0502020204030204" pitchFamily="34" charset="0"/>
              <a:cs typeface="Calibri" panose="020F0502020204030204" pitchFamily="34" charset="0"/>
            </a:endParaRPr>
          </a:p>
        </p:txBody>
      </p:sp>
      <p:graphicFrame>
        <p:nvGraphicFramePr>
          <p:cNvPr id="23" name="Gráfico 22">
            <a:extLst>
              <a:ext uri="{FF2B5EF4-FFF2-40B4-BE49-F238E27FC236}">
                <a16:creationId xmlns:a16="http://schemas.microsoft.com/office/drawing/2014/main" id="{E610266C-001F-F439-716D-F9F47D3A009B}"/>
              </a:ext>
            </a:extLst>
          </p:cNvPr>
          <p:cNvGraphicFramePr>
            <a:graphicFrameLocks/>
          </p:cNvGraphicFramePr>
          <p:nvPr>
            <p:extLst>
              <p:ext uri="{D42A27DB-BD31-4B8C-83A1-F6EECF244321}">
                <p14:modId xmlns:p14="http://schemas.microsoft.com/office/powerpoint/2010/main" val="2508196861"/>
              </p:ext>
            </p:extLst>
          </p:nvPr>
        </p:nvGraphicFramePr>
        <p:xfrm>
          <a:off x="4014695" y="4920780"/>
          <a:ext cx="3509373" cy="1948056"/>
        </p:xfrm>
        <a:graphic>
          <a:graphicData uri="http://schemas.openxmlformats.org/drawingml/2006/chart">
            <c:chart xmlns:c="http://schemas.openxmlformats.org/drawingml/2006/chart" xmlns:r="http://schemas.openxmlformats.org/officeDocument/2006/relationships" r:id="rId6"/>
          </a:graphicData>
        </a:graphic>
      </p:graphicFrame>
      <p:sp>
        <p:nvSpPr>
          <p:cNvPr id="24" name="CaixaDeTexto 23">
            <a:extLst>
              <a:ext uri="{FF2B5EF4-FFF2-40B4-BE49-F238E27FC236}">
                <a16:creationId xmlns:a16="http://schemas.microsoft.com/office/drawing/2014/main" id="{33F3E335-7EC7-34FD-F569-738F0BB3CE79}"/>
              </a:ext>
            </a:extLst>
          </p:cNvPr>
          <p:cNvSpPr txBox="1"/>
          <p:nvPr/>
        </p:nvSpPr>
        <p:spPr>
          <a:xfrm>
            <a:off x="117274" y="7167125"/>
            <a:ext cx="2214068"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G- </a:t>
            </a:r>
            <a:r>
              <a:rPr lang="pt-BR" sz="1000" b="1" u="sng" err="1">
                <a:solidFill>
                  <a:schemeClr val="tx2"/>
                </a:solidFill>
                <a:latin typeface="Calibri" panose="020F0502020204030204" pitchFamily="34" charset="0"/>
                <a:cs typeface="Calibri" panose="020F0502020204030204" pitchFamily="34" charset="0"/>
              </a:rPr>
              <a:t>Acquisitions</a:t>
            </a:r>
            <a:r>
              <a:rPr lang="pt-BR" sz="1000" b="1" u="sng">
                <a:solidFill>
                  <a:schemeClr val="tx2"/>
                </a:solidFill>
                <a:latin typeface="Calibri" panose="020F0502020204030204" pitchFamily="34" charset="0"/>
                <a:cs typeface="Calibri" panose="020F0502020204030204" pitchFamily="34" charset="0"/>
              </a:rPr>
              <a:t> Per </a:t>
            </a:r>
            <a:r>
              <a:rPr lang="pt-BR" sz="1000" b="1" u="sng" err="1">
                <a:solidFill>
                  <a:schemeClr val="tx2"/>
                </a:solidFill>
                <a:latin typeface="Calibri" panose="020F0502020204030204" pitchFamily="34" charset="0"/>
                <a:cs typeface="Calibri" panose="020F0502020204030204" pitchFamily="34" charset="0"/>
              </a:rPr>
              <a:t>Segment</a:t>
            </a:r>
            <a:endParaRPr lang="pt-BR" sz="1000" b="1" u="sng">
              <a:solidFill>
                <a:schemeClr val="tx2"/>
              </a:solidFill>
              <a:latin typeface="Calibri" panose="020F0502020204030204" pitchFamily="34" charset="0"/>
              <a:cs typeface="Calibri" panose="020F0502020204030204" pitchFamily="34" charset="0"/>
            </a:endParaRPr>
          </a:p>
        </p:txBody>
      </p:sp>
      <p:graphicFrame>
        <p:nvGraphicFramePr>
          <p:cNvPr id="25" name="Gráfico 24">
            <a:extLst>
              <a:ext uri="{FF2B5EF4-FFF2-40B4-BE49-F238E27FC236}">
                <a16:creationId xmlns:a16="http://schemas.microsoft.com/office/drawing/2014/main" id="{8A0A29A2-A8D6-D1DA-65EE-E720677F7052}"/>
              </a:ext>
            </a:extLst>
          </p:cNvPr>
          <p:cNvGraphicFramePr>
            <a:graphicFrameLocks/>
          </p:cNvGraphicFramePr>
          <p:nvPr>
            <p:extLst>
              <p:ext uri="{D42A27DB-BD31-4B8C-83A1-F6EECF244321}">
                <p14:modId xmlns:p14="http://schemas.microsoft.com/office/powerpoint/2010/main" val="1495331551"/>
              </p:ext>
            </p:extLst>
          </p:nvPr>
        </p:nvGraphicFramePr>
        <p:xfrm>
          <a:off x="182802" y="7243781"/>
          <a:ext cx="3336812" cy="2788937"/>
        </p:xfrm>
        <a:graphic>
          <a:graphicData uri="http://schemas.openxmlformats.org/drawingml/2006/chart">
            <c:chart xmlns:c="http://schemas.openxmlformats.org/drawingml/2006/chart" xmlns:r="http://schemas.openxmlformats.org/officeDocument/2006/relationships" r:id="rId7"/>
          </a:graphicData>
        </a:graphic>
      </p:graphicFrame>
      <p:sp>
        <p:nvSpPr>
          <p:cNvPr id="26" name="Espaço Reservado para Texto 5">
            <a:extLst>
              <a:ext uri="{FF2B5EF4-FFF2-40B4-BE49-F238E27FC236}">
                <a16:creationId xmlns:a16="http://schemas.microsoft.com/office/drawing/2014/main" id="{8E41E8FE-60F7-A7A9-4852-2778DCEE6E09}"/>
              </a:ext>
            </a:extLst>
          </p:cNvPr>
          <p:cNvSpPr txBox="1">
            <a:spLocks/>
          </p:cNvSpPr>
          <p:nvPr/>
        </p:nvSpPr>
        <p:spPr>
          <a:xfrm>
            <a:off x="1764927" y="8962825"/>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800" err="1">
                <a:solidFill>
                  <a:schemeClr val="bg1">
                    <a:lumMod val="65000"/>
                  </a:schemeClr>
                </a:solidFill>
              </a:rPr>
              <a:t>Source</a:t>
            </a:r>
            <a:r>
              <a:rPr lang="pt-BR" sz="800">
                <a:solidFill>
                  <a:schemeClr val="bg1">
                    <a:lumMod val="65000"/>
                  </a:schemeClr>
                </a:solidFill>
              </a:rPr>
              <a:t>: WEG, Genial Investimentos </a:t>
            </a:r>
          </a:p>
        </p:txBody>
      </p:sp>
      <p:sp>
        <p:nvSpPr>
          <p:cNvPr id="27" name="CaixaDeTexto 26">
            <a:extLst>
              <a:ext uri="{FF2B5EF4-FFF2-40B4-BE49-F238E27FC236}">
                <a16:creationId xmlns:a16="http://schemas.microsoft.com/office/drawing/2014/main" id="{A4EF2903-DB3A-CCF5-112C-7C30977C2034}"/>
              </a:ext>
            </a:extLst>
          </p:cNvPr>
          <p:cNvSpPr txBox="1"/>
          <p:nvPr/>
        </p:nvSpPr>
        <p:spPr>
          <a:xfrm>
            <a:off x="3933894" y="7168426"/>
            <a:ext cx="2858475"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H- Energy </a:t>
            </a:r>
            <a:r>
              <a:rPr lang="pt-BR" sz="1000" b="1" u="sng" err="1">
                <a:solidFill>
                  <a:schemeClr val="tx2"/>
                </a:solidFill>
                <a:latin typeface="Calibri" panose="020F0502020204030204" pitchFamily="34" charset="0"/>
                <a:cs typeface="Calibri" panose="020F0502020204030204" pitchFamily="34" charset="0"/>
              </a:rPr>
              <a:t>Efficiency</a:t>
            </a:r>
            <a:r>
              <a:rPr lang="pt-BR" sz="1000" b="1" u="sng">
                <a:solidFill>
                  <a:schemeClr val="tx2"/>
                </a:solidFill>
                <a:latin typeface="Calibri" panose="020F0502020204030204" pitchFamily="34" charset="0"/>
                <a:cs typeface="Calibri" panose="020F0502020204030204" pitchFamily="34" charset="0"/>
              </a:rPr>
              <a:t> As A </a:t>
            </a:r>
            <a:r>
              <a:rPr lang="pt-BR" sz="1000" b="1" u="sng" err="1">
                <a:solidFill>
                  <a:schemeClr val="tx2"/>
                </a:solidFill>
                <a:latin typeface="Calibri" panose="020F0502020204030204" pitchFamily="34" charset="0"/>
                <a:cs typeface="Calibri" panose="020F0502020204030204" pitchFamily="34" charset="0"/>
              </a:rPr>
              <a:t>Decisive</a:t>
            </a:r>
            <a:r>
              <a:rPr lang="pt-BR" sz="1000" b="1" u="sng">
                <a:solidFill>
                  <a:schemeClr val="tx2"/>
                </a:solidFill>
                <a:latin typeface="Calibri" panose="020F0502020204030204" pitchFamily="34" charset="0"/>
                <a:cs typeface="Calibri" panose="020F0502020204030204" pitchFamily="34" charset="0"/>
              </a:rPr>
              <a:t> Factor</a:t>
            </a:r>
          </a:p>
        </p:txBody>
      </p:sp>
      <p:sp>
        <p:nvSpPr>
          <p:cNvPr id="28" name="Retângulo Arredondado 27">
            <a:extLst>
              <a:ext uri="{FF2B5EF4-FFF2-40B4-BE49-F238E27FC236}">
                <a16:creationId xmlns:a16="http://schemas.microsoft.com/office/drawing/2014/main" id="{A602C6C6-6346-A949-BCA3-C366C7E392F0}"/>
              </a:ext>
            </a:extLst>
          </p:cNvPr>
          <p:cNvSpPr/>
          <p:nvPr/>
        </p:nvSpPr>
        <p:spPr>
          <a:xfrm>
            <a:off x="4165223" y="7537804"/>
            <a:ext cx="3336812" cy="1654119"/>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200" u="none" strike="noStrike" err="1">
                <a:solidFill>
                  <a:schemeClr val="bg1"/>
                </a:solidFill>
                <a:effectLst/>
                <a:latin typeface="Calibri" panose="020F0502020204030204" pitchFamily="34" charset="0"/>
                <a:ea typeface="Calibri" panose="020F0502020204030204" pitchFamily="34" charset="0"/>
                <a:cs typeface="Calibri" panose="020F0502020204030204" pitchFamily="34" charset="0"/>
              </a:rPr>
              <a:t>According</a:t>
            </a:r>
            <a:r>
              <a:rPr lang="pt-BR" sz="120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pt-BR" sz="1200" u="none" strike="noStrike" err="1">
                <a:solidFill>
                  <a:schemeClr val="bg1"/>
                </a:solidFill>
                <a:effectLst/>
                <a:latin typeface="Calibri" panose="020F0502020204030204" pitchFamily="34" charset="0"/>
                <a:ea typeface="Calibri" panose="020F0502020204030204" pitchFamily="34" charset="0"/>
                <a:cs typeface="Calibri" panose="020F0502020204030204" pitchFamily="34" charset="0"/>
              </a:rPr>
              <a:t>to</a:t>
            </a:r>
            <a:r>
              <a:rPr lang="pt-BR" sz="120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ABB </a:t>
            </a:r>
            <a:r>
              <a:rPr lang="pt-BR" sz="1200" u="none" strike="noStrike" err="1">
                <a:solidFill>
                  <a:schemeClr val="bg1"/>
                </a:solidFill>
                <a:effectLst/>
                <a:latin typeface="Calibri" panose="020F0502020204030204" pitchFamily="34" charset="0"/>
                <a:ea typeface="Calibri" panose="020F0502020204030204" pitchFamily="34" charset="0"/>
                <a:cs typeface="Calibri" panose="020F0502020204030204" pitchFamily="34" charset="0"/>
              </a:rPr>
              <a:t>survey</a:t>
            </a:r>
            <a:r>
              <a:rPr lang="pt-BR" sz="120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in </a:t>
            </a:r>
            <a:r>
              <a:rPr lang="pt-BR" sz="1200" u="none" strike="noStrike" err="1">
                <a:solidFill>
                  <a:schemeClr val="bg1"/>
                </a:solidFill>
                <a:effectLst/>
                <a:latin typeface="Calibri" panose="020F0502020204030204" pitchFamily="34" charset="0"/>
                <a:ea typeface="Calibri" panose="020F0502020204030204" pitchFamily="34" charset="0"/>
                <a:cs typeface="Calibri" panose="020F0502020204030204" pitchFamily="34" charset="0"/>
              </a:rPr>
              <a:t>partneship</a:t>
            </a:r>
            <a:r>
              <a:rPr lang="pt-BR" sz="120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pt-BR" sz="1200" u="none" strike="noStrike" err="1">
                <a:solidFill>
                  <a:schemeClr val="bg1"/>
                </a:solidFill>
                <a:effectLst/>
                <a:latin typeface="Calibri" panose="020F0502020204030204" pitchFamily="34" charset="0"/>
                <a:ea typeface="Calibri" panose="020F0502020204030204" pitchFamily="34" charset="0"/>
                <a:cs typeface="Calibri" panose="020F0502020204030204" pitchFamily="34" charset="0"/>
              </a:rPr>
              <a:t>with</a:t>
            </a:r>
            <a:r>
              <a:rPr lang="pt-BR" sz="120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pt-BR" sz="1200" u="none" strike="noStrike" err="1">
                <a:solidFill>
                  <a:schemeClr val="bg1"/>
                </a:solidFill>
                <a:effectLst/>
                <a:latin typeface="Calibri" panose="020F0502020204030204" pitchFamily="34" charset="0"/>
                <a:ea typeface="Calibri" panose="020F0502020204030204" pitchFamily="34" charset="0"/>
                <a:cs typeface="Calibri" panose="020F0502020204030204" pitchFamily="34" charset="0"/>
              </a:rPr>
              <a:t>Sapio</a:t>
            </a:r>
            <a:r>
              <a:rPr lang="pt-BR" sz="120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pt-BR" sz="1200" u="none" strike="noStrike" err="1">
                <a:solidFill>
                  <a:schemeClr val="bg1"/>
                </a:solidFill>
                <a:effectLst/>
                <a:latin typeface="Calibri" panose="020F0502020204030204" pitchFamily="34" charset="0"/>
                <a:ea typeface="Calibri" panose="020F0502020204030204" pitchFamily="34" charset="0"/>
                <a:cs typeface="Calibri" panose="020F0502020204030204" pitchFamily="34" charset="0"/>
              </a:rPr>
              <a:t>Reaserch</a:t>
            </a:r>
            <a:r>
              <a:rPr lang="pt-BR" sz="1200" u="none" strike="noStrike">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pt-BR" sz="1200">
                <a:latin typeface="Calibri" panose="020F0502020204030204" pitchFamily="34" charset="0"/>
                <a:ea typeface="Calibri" panose="020F0502020204030204" pitchFamily="34" charset="0"/>
                <a:cs typeface="Calibri" panose="020F0502020204030204" pitchFamily="34" charset="0"/>
              </a:rPr>
              <a:t>Energy </a:t>
            </a:r>
            <a:r>
              <a:rPr lang="pt-BR" sz="1200" err="1">
                <a:latin typeface="Calibri" panose="020F0502020204030204" pitchFamily="34" charset="0"/>
                <a:ea typeface="Calibri" panose="020F0502020204030204" pitchFamily="34" charset="0"/>
                <a:cs typeface="Calibri" panose="020F0502020204030204" pitchFamily="34" charset="0"/>
              </a:rPr>
              <a:t>efficiency</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has</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become</a:t>
            </a:r>
            <a:r>
              <a:rPr lang="pt-BR" sz="1200">
                <a:latin typeface="Calibri" panose="020F0502020204030204" pitchFamily="34" charset="0"/>
                <a:ea typeface="Calibri" panose="020F0502020204030204" pitchFamily="34" charset="0"/>
                <a:cs typeface="Calibri" panose="020F0502020204030204" pitchFamily="34" charset="0"/>
              </a:rPr>
              <a:t> a </a:t>
            </a:r>
            <a:r>
              <a:rPr lang="pt-BR" sz="1200" err="1">
                <a:latin typeface="Calibri" panose="020F0502020204030204" pitchFamily="34" charset="0"/>
                <a:ea typeface="Calibri" panose="020F0502020204030204" pitchFamily="34" charset="0"/>
                <a:cs typeface="Calibri" panose="020F0502020204030204" pitchFamily="34" charset="0"/>
              </a:rPr>
              <a:t>decisive</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factor</a:t>
            </a:r>
            <a:r>
              <a:rPr lang="pt-BR" sz="1200">
                <a:latin typeface="Calibri" panose="020F0502020204030204" pitchFamily="34" charset="0"/>
                <a:ea typeface="Calibri" panose="020F0502020204030204" pitchFamily="34" charset="0"/>
                <a:cs typeface="Calibri" panose="020F0502020204030204" pitchFamily="34" charset="0"/>
              </a:rPr>
              <a:t> in </a:t>
            </a:r>
            <a:r>
              <a:rPr lang="pt-BR" sz="1200" err="1">
                <a:latin typeface="Calibri" panose="020F0502020204030204" pitchFamily="34" charset="0"/>
                <a:ea typeface="Calibri" panose="020F0502020204030204" pitchFamily="34" charset="0"/>
                <a:cs typeface="Calibri" panose="020F0502020204030204" pitchFamily="34" charset="0"/>
              </a:rPr>
              <a:t>the</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choice</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of</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electric</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motors</a:t>
            </a:r>
            <a:r>
              <a:rPr lang="pt-BR" sz="1200">
                <a:latin typeface="Calibri" panose="020F0502020204030204" pitchFamily="34" charset="0"/>
                <a:ea typeface="Calibri" panose="020F0502020204030204" pitchFamily="34" charset="0"/>
                <a:cs typeface="Calibri" panose="020F0502020204030204" pitchFamily="34" charset="0"/>
              </a:rPr>
              <a:t> for </a:t>
            </a:r>
            <a:r>
              <a:rPr lang="pt-BR" sz="1200" err="1">
                <a:latin typeface="Calibri" panose="020F0502020204030204" pitchFamily="34" charset="0"/>
                <a:ea typeface="Calibri" panose="020F0502020204030204" pitchFamily="34" charset="0"/>
                <a:cs typeface="Calibri" panose="020F0502020204030204" pitchFamily="34" charset="0"/>
              </a:rPr>
              <a:t>companies</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with</a:t>
            </a:r>
            <a:r>
              <a:rPr lang="pt-BR" sz="1200">
                <a:latin typeface="Calibri" panose="020F0502020204030204" pitchFamily="34" charset="0"/>
                <a:ea typeface="Calibri" panose="020F0502020204030204" pitchFamily="34" charset="0"/>
                <a:cs typeface="Calibri" panose="020F0502020204030204" pitchFamily="34" charset="0"/>
              </a:rPr>
              <a:t> 91% </a:t>
            </a:r>
            <a:r>
              <a:rPr lang="pt-BR" sz="1200" err="1">
                <a:latin typeface="Calibri" panose="020F0502020204030204" pitchFamily="34" charset="0"/>
                <a:ea typeface="Calibri" panose="020F0502020204030204" pitchFamily="34" charset="0"/>
                <a:cs typeface="Calibri" panose="020F0502020204030204" pitchFamily="34" charset="0"/>
              </a:rPr>
              <a:t>of</a:t>
            </a:r>
            <a:r>
              <a:rPr lang="pt-BR" sz="1200">
                <a:latin typeface="Calibri" panose="020F0502020204030204" pitchFamily="34" charset="0"/>
                <a:ea typeface="Calibri" panose="020F0502020204030204" pitchFamily="34" charset="0"/>
                <a:cs typeface="Calibri" panose="020F0502020204030204" pitchFamily="34" charset="0"/>
              </a:rPr>
              <a:t> businesses </a:t>
            </a:r>
            <a:r>
              <a:rPr lang="pt-BR" sz="1200" err="1">
                <a:latin typeface="Calibri" panose="020F0502020204030204" pitchFamily="34" charset="0"/>
                <a:ea typeface="Calibri" panose="020F0502020204030204" pitchFamily="34" charset="0"/>
                <a:cs typeface="Calibri" panose="020F0502020204030204" pitchFamily="34" charset="0"/>
              </a:rPr>
              <a:t>stating</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that</a:t>
            </a:r>
            <a:r>
              <a:rPr lang="pt-BR" sz="1200">
                <a:latin typeface="Calibri" panose="020F0502020204030204" pitchFamily="34" charset="0"/>
                <a:ea typeface="Calibri" panose="020F0502020204030204" pitchFamily="34" charset="0"/>
                <a:cs typeface="Calibri" panose="020F0502020204030204" pitchFamily="34" charset="0"/>
              </a:rPr>
              <a:t> it </a:t>
            </a:r>
            <a:r>
              <a:rPr lang="pt-BR" sz="1200" err="1">
                <a:latin typeface="Calibri" panose="020F0502020204030204" pitchFamily="34" charset="0"/>
                <a:ea typeface="Calibri" panose="020F0502020204030204" pitchFamily="34" charset="0"/>
                <a:cs typeface="Calibri" panose="020F0502020204030204" pitchFamily="34" charset="0"/>
              </a:rPr>
              <a:t>influences</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their</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selection</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of</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electric</a:t>
            </a:r>
            <a:r>
              <a:rPr lang="pt-BR" sz="1200">
                <a:latin typeface="Calibri" panose="020F0502020204030204" pitchFamily="34" charset="0"/>
                <a:ea typeface="Calibri" panose="020F0502020204030204" pitchFamily="34" charset="0"/>
                <a:cs typeface="Calibri" panose="020F0502020204030204" pitchFamily="34" charset="0"/>
              </a:rPr>
              <a:t> </a:t>
            </a:r>
            <a:r>
              <a:rPr lang="pt-BR" sz="1200" err="1">
                <a:latin typeface="Calibri" panose="020F0502020204030204" pitchFamily="34" charset="0"/>
                <a:ea typeface="Calibri" panose="020F0502020204030204" pitchFamily="34" charset="0"/>
                <a:cs typeface="Calibri" panose="020F0502020204030204" pitchFamily="34" charset="0"/>
              </a:rPr>
              <a:t>motors</a:t>
            </a:r>
            <a:endParaRPr lang="pt-BR" sz="12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Espaço Reservado para Texto 5">
            <a:extLst>
              <a:ext uri="{FF2B5EF4-FFF2-40B4-BE49-F238E27FC236}">
                <a16:creationId xmlns:a16="http://schemas.microsoft.com/office/drawing/2014/main" id="{076B4ECE-AF64-0DE6-3CBD-33D1E488D79E}"/>
              </a:ext>
            </a:extLst>
          </p:cNvPr>
          <p:cNvSpPr txBox="1">
            <a:spLocks/>
          </p:cNvSpPr>
          <p:nvPr/>
        </p:nvSpPr>
        <p:spPr>
          <a:xfrm>
            <a:off x="182802" y="6739894"/>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WEG IR,  investidor10 </a:t>
            </a:r>
          </a:p>
        </p:txBody>
      </p:sp>
      <p:sp>
        <p:nvSpPr>
          <p:cNvPr id="3" name="Espaço Reservado para Texto 5">
            <a:extLst>
              <a:ext uri="{FF2B5EF4-FFF2-40B4-BE49-F238E27FC236}">
                <a16:creationId xmlns:a16="http://schemas.microsoft.com/office/drawing/2014/main" id="{86379F84-9875-6D7D-37C5-2060417D683B}"/>
              </a:ext>
            </a:extLst>
          </p:cNvPr>
          <p:cNvSpPr txBox="1">
            <a:spLocks/>
          </p:cNvSpPr>
          <p:nvPr/>
        </p:nvSpPr>
        <p:spPr>
          <a:xfrm>
            <a:off x="4165223" y="6752650"/>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Companies</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report</a:t>
            </a:r>
            <a:endPar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 name="Espaço Reservado para Texto 1">
            <a:extLst>
              <a:ext uri="{FF2B5EF4-FFF2-40B4-BE49-F238E27FC236}">
                <a16:creationId xmlns:a16="http://schemas.microsoft.com/office/drawing/2014/main" id="{B8970C0D-5277-17C6-C296-800934CB7F40}"/>
              </a:ext>
            </a:extLst>
          </p:cNvPr>
          <p:cNvSpPr txBox="1">
            <a:spLocks/>
          </p:cNvSpPr>
          <p:nvPr/>
        </p:nvSpPr>
        <p:spPr>
          <a:xfrm>
            <a:off x="6628464" y="27991"/>
            <a:ext cx="828675" cy="223837"/>
          </a:xfrm>
          <a:prstGeom prst="rect">
            <a:avLst/>
          </a:prstGeom>
        </p:spPr>
        <p:txBody>
          <a:bodyPr/>
          <a:lstStyle>
            <a:lvl1pPr marL="0">
              <a:defRPr sz="700">
                <a:solidFill>
                  <a:schemeClr val="bg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pt-BR" kern="0"/>
          </a:p>
        </p:txBody>
      </p:sp>
      <p:sp>
        <p:nvSpPr>
          <p:cNvPr id="15" name="Espaço Reservado para Texto 1">
            <a:extLst>
              <a:ext uri="{FF2B5EF4-FFF2-40B4-BE49-F238E27FC236}">
                <a16:creationId xmlns:a16="http://schemas.microsoft.com/office/drawing/2014/main" id="{58590C2F-4309-A1A7-E2EA-852E3862F913}"/>
              </a:ext>
            </a:extLst>
          </p:cNvPr>
          <p:cNvSpPr txBox="1">
            <a:spLocks/>
          </p:cNvSpPr>
          <p:nvPr/>
        </p:nvSpPr>
        <p:spPr>
          <a:xfrm>
            <a:off x="6764177" y="45208"/>
            <a:ext cx="828675" cy="223837"/>
          </a:xfrm>
          <a:prstGeom prst="rect">
            <a:avLst/>
          </a:prstGeom>
        </p:spPr>
        <p:txBody>
          <a:bodyPr/>
          <a:lstStyle>
            <a:lvl1pPr marL="0">
              <a:defRPr sz="700">
                <a:solidFill>
                  <a:schemeClr val="bg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700" b="0" i="0" u="none" strike="noStrike" kern="0" cap="none" spc="0" normalizeH="0" baseline="0" noProof="0">
                <a:ln>
                  <a:noFill/>
                </a:ln>
                <a:solidFill>
                  <a:sysClr val="window" lastClr="FFFFFF"/>
                </a:solidFill>
                <a:effectLst/>
                <a:uLnTx/>
                <a:uFillTx/>
                <a:latin typeface="Calibri"/>
                <a:ea typeface="+mn-ea"/>
                <a:cs typeface="+mn-cs"/>
              </a:rPr>
              <a:t>Group 2</a:t>
            </a:r>
          </a:p>
        </p:txBody>
      </p:sp>
      <p:sp>
        <p:nvSpPr>
          <p:cNvPr id="29" name="Espaço Reservado para Número de Slide 16">
            <a:extLst>
              <a:ext uri="{FF2B5EF4-FFF2-40B4-BE49-F238E27FC236}">
                <a16:creationId xmlns:a16="http://schemas.microsoft.com/office/drawing/2014/main" id="{C8F6699F-ECD5-5A17-E899-95F36621DCDE}"/>
              </a:ext>
            </a:extLst>
          </p:cNvPr>
          <p:cNvSpPr txBox="1">
            <a:spLocks/>
          </p:cNvSpPr>
          <p:nvPr/>
        </p:nvSpPr>
        <p:spPr>
          <a:xfrm>
            <a:off x="7178515" y="10312736"/>
            <a:ext cx="515895" cy="230114"/>
          </a:xfrm>
          <a:prstGeom prst="rect">
            <a:avLst/>
          </a:prstGeom>
          <a:solidFill>
            <a:srgbClr val="172C63"/>
          </a:solidFill>
          <a:ln>
            <a:noFill/>
          </a:ln>
        </p:spPr>
        <p:txBody>
          <a:bodyPr lIns="0" tIns="0" rIns="0" bIns="0" anchor="ctr"/>
          <a:lstStyle>
            <a:defPPr>
              <a:defRPr lang="pt-BR"/>
            </a:defPPr>
            <a:lvl1pPr marL="0" algn="l" defTabSz="914400" rtl="0" eaLnBrk="1" latinLnBrk="0" hangingPunct="1">
              <a:defRPr sz="85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5"/>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Calibri"/>
                <a:ea typeface="+mn-ea"/>
                <a:cs typeface="Calibri"/>
              </a:rPr>
              <a:t>8</a:t>
            </a:r>
          </a:p>
        </p:txBody>
      </p:sp>
    </p:spTree>
    <p:extLst>
      <p:ext uri="{BB962C8B-B14F-4D97-AF65-F5344CB8AC3E}">
        <p14:creationId xmlns:p14="http://schemas.microsoft.com/office/powerpoint/2010/main" val="3758374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a 4">
            <a:extLst>
              <a:ext uri="{FF2B5EF4-FFF2-40B4-BE49-F238E27FC236}">
                <a16:creationId xmlns:a16="http://schemas.microsoft.com/office/drawing/2014/main" id="{CB78BCB8-3A10-54A0-BB28-E2E600B20884}"/>
              </a:ext>
            </a:extLst>
          </p:cNvPr>
          <p:cNvGraphicFramePr>
            <a:graphicFrameLocks noGrp="1"/>
          </p:cNvGraphicFramePr>
          <p:nvPr>
            <p:extLst>
              <p:ext uri="{D42A27DB-BD31-4B8C-83A1-F6EECF244321}">
                <p14:modId xmlns:p14="http://schemas.microsoft.com/office/powerpoint/2010/main" val="4234325818"/>
              </p:ext>
            </p:extLst>
          </p:nvPr>
        </p:nvGraphicFramePr>
        <p:xfrm>
          <a:off x="131609" y="652666"/>
          <a:ext cx="4029682" cy="1207832"/>
        </p:xfrm>
        <a:graphic>
          <a:graphicData uri="http://schemas.openxmlformats.org/drawingml/2006/table">
            <a:tbl>
              <a:tblPr firstRow="1">
                <a:tableStyleId>{5C22544A-7EE6-4342-B048-85BDC9FD1C3A}</a:tableStyleId>
              </a:tblPr>
              <a:tblGrid>
                <a:gridCol w="555819">
                  <a:extLst>
                    <a:ext uri="{9D8B030D-6E8A-4147-A177-3AD203B41FA5}">
                      <a16:colId xmlns:a16="http://schemas.microsoft.com/office/drawing/2014/main" val="2112871707"/>
                    </a:ext>
                  </a:extLst>
                </a:gridCol>
                <a:gridCol w="1981756">
                  <a:extLst>
                    <a:ext uri="{9D8B030D-6E8A-4147-A177-3AD203B41FA5}">
                      <a16:colId xmlns:a16="http://schemas.microsoft.com/office/drawing/2014/main" val="3210899013"/>
                    </a:ext>
                  </a:extLst>
                </a:gridCol>
                <a:gridCol w="1492107">
                  <a:extLst>
                    <a:ext uri="{9D8B030D-6E8A-4147-A177-3AD203B41FA5}">
                      <a16:colId xmlns:a16="http://schemas.microsoft.com/office/drawing/2014/main" val="3400712344"/>
                    </a:ext>
                  </a:extLst>
                </a:gridCol>
              </a:tblGrid>
              <a:tr h="73170">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Producer</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 IE5 Engine Availability</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Energy Ecnomony Towards IE3 Model</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extLst>
                  <a:ext uri="{0D108BD9-81ED-4DB2-BD59-A6C34878D82A}">
                    <a16:rowId xmlns:a16="http://schemas.microsoft.com/office/drawing/2014/main" val="28014728"/>
                  </a:ext>
                </a:extLst>
              </a:tr>
              <a:tr h="6362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Weg</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Yes</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Until 40%</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extLst>
                  <a:ext uri="{0D108BD9-81ED-4DB2-BD59-A6C34878D82A}">
                    <a16:rowId xmlns:a16="http://schemas.microsoft.com/office/drawing/2014/main" val="582069243"/>
                  </a:ext>
                </a:extLst>
              </a:tr>
              <a:tr h="6362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Abb</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Yes</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Until 40%</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extLst>
                  <a:ext uri="{0D108BD9-81ED-4DB2-BD59-A6C34878D82A}">
                    <a16:rowId xmlns:a16="http://schemas.microsoft.com/office/drawing/2014/main" val="1164030219"/>
                  </a:ext>
                </a:extLst>
              </a:tr>
              <a:tr h="6362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Siemens</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Limited</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extLst>
                  <a:ext uri="{0D108BD9-81ED-4DB2-BD59-A6C34878D82A}">
                    <a16:rowId xmlns:a16="http://schemas.microsoft.com/office/drawing/2014/main" val="2203991435"/>
                  </a:ext>
                </a:extLst>
              </a:tr>
              <a:tr h="6362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Nidec</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Yes</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Above IE5 Levels</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extLst>
                  <a:ext uri="{0D108BD9-81ED-4DB2-BD59-A6C34878D82A}">
                    <a16:rowId xmlns:a16="http://schemas.microsoft.com/office/drawing/2014/main" val="2054867734"/>
                  </a:ext>
                </a:extLst>
              </a:tr>
              <a:tr h="6362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General Electric</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No</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extLst>
                  <a:ext uri="{0D108BD9-81ED-4DB2-BD59-A6C34878D82A}">
                    <a16:rowId xmlns:a16="http://schemas.microsoft.com/office/drawing/2014/main" val="3532409695"/>
                  </a:ext>
                </a:extLst>
              </a:tr>
              <a:tr h="6362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Schneider</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No</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996" marR="5996" marT="5996" marB="0" anchor="ctr"/>
                </a:tc>
                <a:extLst>
                  <a:ext uri="{0D108BD9-81ED-4DB2-BD59-A6C34878D82A}">
                    <a16:rowId xmlns:a16="http://schemas.microsoft.com/office/drawing/2014/main" val="758378356"/>
                  </a:ext>
                </a:extLst>
              </a:tr>
            </a:tbl>
          </a:graphicData>
        </a:graphic>
      </p:graphicFrame>
      <p:sp>
        <p:nvSpPr>
          <p:cNvPr id="6" name="CaixaDeTexto 5">
            <a:extLst>
              <a:ext uri="{FF2B5EF4-FFF2-40B4-BE49-F238E27FC236}">
                <a16:creationId xmlns:a16="http://schemas.microsoft.com/office/drawing/2014/main" id="{1CF97D44-120F-D6F4-EC00-2E8245B964DB}"/>
              </a:ext>
            </a:extLst>
          </p:cNvPr>
          <p:cNvSpPr txBox="1"/>
          <p:nvPr/>
        </p:nvSpPr>
        <p:spPr>
          <a:xfrm>
            <a:off x="82666" y="311228"/>
            <a:ext cx="2807179"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I</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Engine</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Availiabiliy</a:t>
            </a:r>
            <a:r>
              <a:rPr lang="pt-BR" sz="1000" b="1" u="sng">
                <a:solidFill>
                  <a:schemeClr val="tx2"/>
                </a:solidFill>
                <a:latin typeface="Calibri" panose="020F0502020204030204" pitchFamily="34" charset="0"/>
                <a:cs typeface="Calibri" panose="020F0502020204030204" pitchFamily="34" charset="0"/>
              </a:rPr>
              <a:t> &amp; Energy </a:t>
            </a:r>
            <a:r>
              <a:rPr lang="pt-BR" sz="1000" b="1" u="sng" err="1">
                <a:solidFill>
                  <a:schemeClr val="tx2"/>
                </a:solidFill>
                <a:latin typeface="Calibri" panose="020F0502020204030204" pitchFamily="34" charset="0"/>
                <a:cs typeface="Calibri" panose="020F0502020204030204" pitchFamily="34" charset="0"/>
              </a:rPr>
              <a:t>Economy</a:t>
            </a:r>
            <a:endParaRPr lang="pt-BR" sz="1000" b="1" u="sng">
              <a:solidFill>
                <a:schemeClr val="tx2"/>
              </a:solidFill>
              <a:latin typeface="Calibri" panose="020F0502020204030204" pitchFamily="34" charset="0"/>
              <a:cs typeface="Calibri" panose="020F0502020204030204" pitchFamily="34" charset="0"/>
            </a:endParaRPr>
          </a:p>
        </p:txBody>
      </p:sp>
      <p:graphicFrame>
        <p:nvGraphicFramePr>
          <p:cNvPr id="7" name="Tabela 6">
            <a:extLst>
              <a:ext uri="{FF2B5EF4-FFF2-40B4-BE49-F238E27FC236}">
                <a16:creationId xmlns:a16="http://schemas.microsoft.com/office/drawing/2014/main" id="{02DD8B0E-B1D9-30FF-677C-C3781A4A6C6C}"/>
              </a:ext>
            </a:extLst>
          </p:cNvPr>
          <p:cNvGraphicFramePr>
            <a:graphicFrameLocks noGrp="1"/>
          </p:cNvGraphicFramePr>
          <p:nvPr>
            <p:extLst>
              <p:ext uri="{D42A27DB-BD31-4B8C-83A1-F6EECF244321}">
                <p14:modId xmlns:p14="http://schemas.microsoft.com/office/powerpoint/2010/main" val="369546805"/>
              </p:ext>
            </p:extLst>
          </p:nvPr>
        </p:nvGraphicFramePr>
        <p:xfrm>
          <a:off x="4348581" y="639153"/>
          <a:ext cx="3292210" cy="1207833"/>
        </p:xfrm>
        <a:graphic>
          <a:graphicData uri="http://schemas.openxmlformats.org/drawingml/2006/table">
            <a:tbl>
              <a:tblPr firstRow="1">
                <a:tableStyleId>{5C22544A-7EE6-4342-B048-85BDC9FD1C3A}</a:tableStyleId>
              </a:tblPr>
              <a:tblGrid>
                <a:gridCol w="836377">
                  <a:extLst>
                    <a:ext uri="{9D8B030D-6E8A-4147-A177-3AD203B41FA5}">
                      <a16:colId xmlns:a16="http://schemas.microsoft.com/office/drawing/2014/main" val="3807385589"/>
                    </a:ext>
                  </a:extLst>
                </a:gridCol>
                <a:gridCol w="2455833">
                  <a:extLst>
                    <a:ext uri="{9D8B030D-6E8A-4147-A177-3AD203B41FA5}">
                      <a16:colId xmlns:a16="http://schemas.microsoft.com/office/drawing/2014/main" val="390977678"/>
                    </a:ext>
                  </a:extLst>
                </a:gridCol>
              </a:tblGrid>
              <a:tr h="425333">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Efficiency Class</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Energy Ecnomony Towards The Previous Model</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extLst>
                  <a:ext uri="{0D108BD9-81ED-4DB2-BD59-A6C34878D82A}">
                    <a16:rowId xmlns:a16="http://schemas.microsoft.com/office/drawing/2014/main" val="3180951854"/>
                  </a:ext>
                </a:extLst>
              </a:tr>
              <a:tr h="195625">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IE1 Para IE2</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~20%</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extLst>
                  <a:ext uri="{0D108BD9-81ED-4DB2-BD59-A6C34878D82A}">
                    <a16:rowId xmlns:a16="http://schemas.microsoft.com/office/drawing/2014/main" val="2178515588"/>
                  </a:ext>
                </a:extLst>
              </a:tr>
              <a:tr h="195625">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IE2 Para IE3</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~15%</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extLst>
                  <a:ext uri="{0D108BD9-81ED-4DB2-BD59-A6C34878D82A}">
                    <a16:rowId xmlns:a16="http://schemas.microsoft.com/office/drawing/2014/main" val="1162195907"/>
                  </a:ext>
                </a:extLst>
              </a:tr>
              <a:tr h="195625">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IE3 Para IE4</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~15%</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extLst>
                  <a:ext uri="{0D108BD9-81ED-4DB2-BD59-A6C34878D82A}">
                    <a16:rowId xmlns:a16="http://schemas.microsoft.com/office/drawing/2014/main" val="3194703143"/>
                  </a:ext>
                </a:extLst>
              </a:tr>
              <a:tr h="195625">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IE4 Para IE5</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~20%</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094" marR="9094" marT="9094" marB="0" anchor="ctr"/>
                </a:tc>
                <a:extLst>
                  <a:ext uri="{0D108BD9-81ED-4DB2-BD59-A6C34878D82A}">
                    <a16:rowId xmlns:a16="http://schemas.microsoft.com/office/drawing/2014/main" val="3984272385"/>
                  </a:ext>
                </a:extLst>
              </a:tr>
            </a:tbl>
          </a:graphicData>
        </a:graphic>
      </p:graphicFrame>
      <p:sp>
        <p:nvSpPr>
          <p:cNvPr id="8" name="Espaço Reservado para Texto 5">
            <a:extLst>
              <a:ext uri="{FF2B5EF4-FFF2-40B4-BE49-F238E27FC236}">
                <a16:creationId xmlns:a16="http://schemas.microsoft.com/office/drawing/2014/main" id="{641EAE8C-757E-6F7B-388C-D02F2F942AC6}"/>
              </a:ext>
            </a:extLst>
          </p:cNvPr>
          <p:cNvSpPr txBox="1">
            <a:spLocks/>
          </p:cNvSpPr>
          <p:nvPr/>
        </p:nvSpPr>
        <p:spPr>
          <a:xfrm>
            <a:off x="159954" y="1869369"/>
            <a:ext cx="4001337"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Companies</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Development</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Programs</a:t>
            </a:r>
            <a:endPar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9" name="Espaço Reservado para Texto 5">
            <a:extLst>
              <a:ext uri="{FF2B5EF4-FFF2-40B4-BE49-F238E27FC236}">
                <a16:creationId xmlns:a16="http://schemas.microsoft.com/office/drawing/2014/main" id="{2CC1D736-6816-0FCE-36A2-4746D63B31F6}"/>
              </a:ext>
            </a:extLst>
          </p:cNvPr>
          <p:cNvSpPr txBox="1">
            <a:spLocks/>
          </p:cNvSpPr>
          <p:nvPr/>
        </p:nvSpPr>
        <p:spPr>
          <a:xfrm>
            <a:off x="4270294" y="1875217"/>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ABINEE</a:t>
            </a:r>
          </a:p>
        </p:txBody>
      </p:sp>
      <p:sp>
        <p:nvSpPr>
          <p:cNvPr id="10" name="CaixaDeTexto 9">
            <a:extLst>
              <a:ext uri="{FF2B5EF4-FFF2-40B4-BE49-F238E27FC236}">
                <a16:creationId xmlns:a16="http://schemas.microsoft.com/office/drawing/2014/main" id="{6950F5D1-7E4F-D641-E413-4DC2F8098F35}"/>
              </a:ext>
            </a:extLst>
          </p:cNvPr>
          <p:cNvSpPr txBox="1"/>
          <p:nvPr/>
        </p:nvSpPr>
        <p:spPr>
          <a:xfrm>
            <a:off x="93136" y="2059745"/>
            <a:ext cx="2068195"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J- Energy </a:t>
            </a:r>
            <a:r>
              <a:rPr lang="pt-BR" sz="1000" b="1" u="sng" err="1">
                <a:solidFill>
                  <a:schemeClr val="tx2"/>
                </a:solidFill>
                <a:latin typeface="Calibri" panose="020F0502020204030204" pitchFamily="34" charset="0"/>
                <a:cs typeface="Calibri" panose="020F0502020204030204" pitchFamily="34" charset="0"/>
              </a:rPr>
              <a:t>Prices</a:t>
            </a:r>
            <a:r>
              <a:rPr lang="pt-BR" sz="1000" b="1" u="sng">
                <a:solidFill>
                  <a:schemeClr val="tx2"/>
                </a:solidFill>
                <a:latin typeface="Calibri" panose="020F0502020204030204" pitchFamily="34" charset="0"/>
                <a:cs typeface="Calibri" panose="020F0502020204030204" pitchFamily="34" charset="0"/>
              </a:rPr>
              <a:t> In The EU</a:t>
            </a:r>
          </a:p>
        </p:txBody>
      </p:sp>
      <p:graphicFrame>
        <p:nvGraphicFramePr>
          <p:cNvPr id="2" name="Tabela 1">
            <a:extLst>
              <a:ext uri="{FF2B5EF4-FFF2-40B4-BE49-F238E27FC236}">
                <a16:creationId xmlns:a16="http://schemas.microsoft.com/office/drawing/2014/main" id="{253B890B-8AB1-3212-C244-CFA5BF8B3510}"/>
              </a:ext>
            </a:extLst>
          </p:cNvPr>
          <p:cNvGraphicFramePr>
            <a:graphicFrameLocks noGrp="1"/>
          </p:cNvGraphicFramePr>
          <p:nvPr>
            <p:extLst>
              <p:ext uri="{D42A27DB-BD31-4B8C-83A1-F6EECF244321}">
                <p14:modId xmlns:p14="http://schemas.microsoft.com/office/powerpoint/2010/main" val="3117508560"/>
              </p:ext>
            </p:extLst>
          </p:nvPr>
        </p:nvGraphicFramePr>
        <p:xfrm>
          <a:off x="159954" y="2338258"/>
          <a:ext cx="4001337" cy="1508220"/>
        </p:xfrm>
        <a:graphic>
          <a:graphicData uri="http://schemas.openxmlformats.org/drawingml/2006/table">
            <a:tbl>
              <a:tblPr firstRow="1">
                <a:tableStyleId>{5C22544A-7EE6-4342-B048-85BDC9FD1C3A}</a:tableStyleId>
              </a:tblPr>
              <a:tblGrid>
                <a:gridCol w="781017">
                  <a:extLst>
                    <a:ext uri="{9D8B030D-6E8A-4147-A177-3AD203B41FA5}">
                      <a16:colId xmlns:a16="http://schemas.microsoft.com/office/drawing/2014/main" val="2122212685"/>
                    </a:ext>
                  </a:extLst>
                </a:gridCol>
                <a:gridCol w="606388">
                  <a:extLst>
                    <a:ext uri="{9D8B030D-6E8A-4147-A177-3AD203B41FA5}">
                      <a16:colId xmlns:a16="http://schemas.microsoft.com/office/drawing/2014/main" val="223419541"/>
                    </a:ext>
                  </a:extLst>
                </a:gridCol>
                <a:gridCol w="649014">
                  <a:extLst>
                    <a:ext uri="{9D8B030D-6E8A-4147-A177-3AD203B41FA5}">
                      <a16:colId xmlns:a16="http://schemas.microsoft.com/office/drawing/2014/main" val="1951321850"/>
                    </a:ext>
                  </a:extLst>
                </a:gridCol>
                <a:gridCol w="804393">
                  <a:extLst>
                    <a:ext uri="{9D8B030D-6E8A-4147-A177-3AD203B41FA5}">
                      <a16:colId xmlns:a16="http://schemas.microsoft.com/office/drawing/2014/main" val="2644358916"/>
                    </a:ext>
                  </a:extLst>
                </a:gridCol>
                <a:gridCol w="693015">
                  <a:extLst>
                    <a:ext uri="{9D8B030D-6E8A-4147-A177-3AD203B41FA5}">
                      <a16:colId xmlns:a16="http://schemas.microsoft.com/office/drawing/2014/main" val="3682108890"/>
                    </a:ext>
                  </a:extLst>
                </a:gridCol>
                <a:gridCol w="467510">
                  <a:extLst>
                    <a:ext uri="{9D8B030D-6E8A-4147-A177-3AD203B41FA5}">
                      <a16:colId xmlns:a16="http://schemas.microsoft.com/office/drawing/2014/main" val="3188749733"/>
                    </a:ext>
                  </a:extLst>
                </a:gridCol>
              </a:tblGrid>
              <a:tr h="159361">
                <a:tc>
                  <a:txBody>
                    <a:bodyPr/>
                    <a:lstStyle/>
                    <a:p>
                      <a:pPr algn="ctr" fontAlgn="b"/>
                      <a:r>
                        <a:rPr lang="pt-BR" sz="800" u="none" strike="noStrike">
                          <a:effectLst/>
                          <a:latin typeface="Calibri" panose="020F0502020204030204" pitchFamily="34" charset="0"/>
                          <a:cs typeface="Calibri" panose="020F0502020204030204" pitchFamily="34" charset="0"/>
                        </a:rPr>
                        <a:t>Price</a:t>
                      </a:r>
                      <a:endParaRPr lang="pt-BR" sz="800" b="1" i="0" u="none" strike="noStrike">
                        <a:solidFill>
                          <a:srgbClr val="FFFFFF"/>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price (euro/MWh)</a:t>
                      </a:r>
                      <a:endParaRPr lang="pt-BR" sz="800" b="1" i="0" u="none" strike="noStrike">
                        <a:solidFill>
                          <a:srgbClr val="FFFFFF"/>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Day-to-Day change</a:t>
                      </a:r>
                      <a:endParaRPr lang="pt-BR" sz="800" b="1" i="0" u="none" strike="noStrike">
                        <a:solidFill>
                          <a:srgbClr val="FFFFFF"/>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Month-to-Month change</a:t>
                      </a:r>
                      <a:endParaRPr lang="pt-BR" sz="800" b="1" i="0" u="none" strike="noStrike">
                        <a:solidFill>
                          <a:srgbClr val="FFFFFF"/>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Year-to-Year chance</a:t>
                      </a:r>
                      <a:endParaRPr lang="pt-BR" sz="800" b="1" i="0" u="none" strike="noStrike">
                        <a:solidFill>
                          <a:srgbClr val="FFFFFF"/>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research day</a:t>
                      </a:r>
                      <a:endParaRPr lang="pt-BR" sz="800" b="1" i="0" u="none" strike="noStrike">
                        <a:solidFill>
                          <a:srgbClr val="FFFFFF"/>
                        </a:solidFill>
                        <a:effectLst/>
                        <a:latin typeface="Calibri" panose="020F0502020204030204" pitchFamily="34" charset="0"/>
                        <a:cs typeface="Calibri" panose="020F0502020204030204" pitchFamily="34" charset="0"/>
                      </a:endParaRPr>
                    </a:p>
                  </a:txBody>
                  <a:tcPr marL="7530" marR="7530" marT="7530" marB="0" anchor="ctr"/>
                </a:tc>
                <a:extLst>
                  <a:ext uri="{0D108BD9-81ED-4DB2-BD59-A6C34878D82A}">
                    <a16:rowId xmlns:a16="http://schemas.microsoft.com/office/drawing/2014/main" val="818652480"/>
                  </a:ext>
                </a:extLst>
              </a:tr>
              <a:tr h="159361">
                <a:tc>
                  <a:txBody>
                    <a:bodyPr/>
                    <a:lstStyle/>
                    <a:p>
                      <a:pPr algn="ctr" fontAlgn="b"/>
                      <a:r>
                        <a:rPr lang="pt-BR" sz="800" u="sng" strike="noStrike">
                          <a:effectLst/>
                          <a:latin typeface="Calibri" panose="020F0502020204030204" pitchFamily="34" charset="0"/>
                          <a:cs typeface="Calibri" panose="020F0502020204030204" pitchFamily="34" charset="0"/>
                          <a:hlinkClick r:id="rId2"/>
                        </a:rPr>
                        <a:t>UK electricity</a:t>
                      </a:r>
                      <a:endParaRPr lang="pt-BR" sz="800" b="0" i="0" u="sng" strike="noStrike">
                        <a:solidFill>
                          <a:srgbClr val="467886"/>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73.75</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-1.27%</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-15.81%</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15.60%</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24/04/2025</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extLst>
                  <a:ext uri="{0D108BD9-81ED-4DB2-BD59-A6C34878D82A}">
                    <a16:rowId xmlns:a16="http://schemas.microsoft.com/office/drawing/2014/main" val="1756147408"/>
                  </a:ext>
                </a:extLst>
              </a:tr>
              <a:tr h="159361">
                <a:tc>
                  <a:txBody>
                    <a:bodyPr/>
                    <a:lstStyle/>
                    <a:p>
                      <a:pPr algn="ctr" fontAlgn="b"/>
                      <a:r>
                        <a:rPr lang="pt-BR" sz="800" u="sng" strike="noStrike">
                          <a:effectLst/>
                          <a:latin typeface="Calibri" panose="020F0502020204030204" pitchFamily="34" charset="0"/>
                          <a:cs typeface="Calibri" panose="020F0502020204030204" pitchFamily="34" charset="0"/>
                          <a:hlinkClick r:id="rId3"/>
                        </a:rPr>
                        <a:t>Germany electricity</a:t>
                      </a:r>
                      <a:endParaRPr lang="pt-BR" sz="800" b="0" i="0" u="sng" strike="noStrike">
                        <a:solidFill>
                          <a:srgbClr val="467886"/>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79.66</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0%</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-15.56%</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26.20%</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24/04/2025</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extLst>
                  <a:ext uri="{0D108BD9-81ED-4DB2-BD59-A6C34878D82A}">
                    <a16:rowId xmlns:a16="http://schemas.microsoft.com/office/drawing/2014/main" val="3817473227"/>
                  </a:ext>
                </a:extLst>
              </a:tr>
              <a:tr h="159361">
                <a:tc>
                  <a:txBody>
                    <a:bodyPr/>
                    <a:lstStyle/>
                    <a:p>
                      <a:pPr algn="ctr" fontAlgn="b"/>
                      <a:r>
                        <a:rPr lang="pt-BR" sz="800" u="sng" strike="noStrike">
                          <a:effectLst/>
                          <a:latin typeface="Calibri" panose="020F0502020204030204" pitchFamily="34" charset="0"/>
                          <a:cs typeface="Calibri" panose="020F0502020204030204" pitchFamily="34" charset="0"/>
                          <a:hlinkClick r:id="rId4"/>
                        </a:rPr>
                        <a:t>France electricity</a:t>
                      </a:r>
                      <a:endParaRPr lang="pt-BR" sz="800" b="0" i="0" u="sng" strike="noStrike">
                        <a:solidFill>
                          <a:srgbClr val="467886"/>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60.50</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0.67%</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-4.20%</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-25.03%</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24/04/2025</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extLst>
                  <a:ext uri="{0D108BD9-81ED-4DB2-BD59-A6C34878D82A}">
                    <a16:rowId xmlns:a16="http://schemas.microsoft.com/office/drawing/2014/main" val="1281344169"/>
                  </a:ext>
                </a:extLst>
              </a:tr>
              <a:tr h="159361">
                <a:tc>
                  <a:txBody>
                    <a:bodyPr/>
                    <a:lstStyle/>
                    <a:p>
                      <a:pPr algn="ctr" fontAlgn="b"/>
                      <a:r>
                        <a:rPr lang="pt-BR" sz="800" u="sng" strike="noStrike">
                          <a:effectLst/>
                          <a:latin typeface="Calibri" panose="020F0502020204030204" pitchFamily="34" charset="0"/>
                          <a:cs typeface="Calibri" panose="020F0502020204030204" pitchFamily="34" charset="0"/>
                          <a:hlinkClick r:id="rId5"/>
                        </a:rPr>
                        <a:t>Spain electricity</a:t>
                      </a:r>
                      <a:endParaRPr lang="pt-BR" sz="800" b="0" i="0" u="sng" strike="noStrike">
                        <a:solidFill>
                          <a:srgbClr val="467886"/>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43.53</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-1.58%</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2.64%</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5.04%</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24/04/2025</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extLst>
                  <a:ext uri="{0D108BD9-81ED-4DB2-BD59-A6C34878D82A}">
                    <a16:rowId xmlns:a16="http://schemas.microsoft.com/office/drawing/2014/main" val="4084703780"/>
                  </a:ext>
                </a:extLst>
              </a:tr>
              <a:tr h="159361">
                <a:tc>
                  <a:txBody>
                    <a:bodyPr/>
                    <a:lstStyle/>
                    <a:p>
                      <a:pPr algn="ctr" fontAlgn="b"/>
                      <a:r>
                        <a:rPr lang="pt-BR" sz="800" u="sng" strike="noStrike">
                          <a:effectLst/>
                          <a:latin typeface="Calibri" panose="020F0502020204030204" pitchFamily="34" charset="0"/>
                          <a:cs typeface="Calibri" panose="020F0502020204030204" pitchFamily="34" charset="0"/>
                          <a:hlinkClick r:id="rId6"/>
                        </a:rPr>
                        <a:t>Italy electricity</a:t>
                      </a:r>
                      <a:endParaRPr lang="pt-BR" sz="800" b="0" i="0" u="sng" strike="noStrike">
                        <a:solidFill>
                          <a:srgbClr val="467886"/>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99.96</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-9.05%</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-21.28%</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1.80%</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tc>
                  <a:txBody>
                    <a:bodyPr/>
                    <a:lstStyle/>
                    <a:p>
                      <a:pPr algn="ctr" fontAlgn="b"/>
                      <a:r>
                        <a:rPr lang="pt-BR" sz="800" u="none" strike="noStrike">
                          <a:effectLst/>
                          <a:latin typeface="Calibri" panose="020F0502020204030204" pitchFamily="34" charset="0"/>
                          <a:cs typeface="Calibri" panose="020F0502020204030204" pitchFamily="34" charset="0"/>
                        </a:rPr>
                        <a:t>24/04/2025</a:t>
                      </a:r>
                      <a:endParaRPr lang="pt-BR" sz="800" b="0" i="0" u="none" strike="noStrike">
                        <a:solidFill>
                          <a:srgbClr val="212529"/>
                        </a:solidFill>
                        <a:effectLst/>
                        <a:latin typeface="Calibri" panose="020F0502020204030204" pitchFamily="34" charset="0"/>
                        <a:cs typeface="Calibri" panose="020F0502020204030204" pitchFamily="34" charset="0"/>
                      </a:endParaRPr>
                    </a:p>
                  </a:txBody>
                  <a:tcPr marL="7530" marR="7530" marT="7530" marB="0" anchor="ctr"/>
                </a:tc>
                <a:extLst>
                  <a:ext uri="{0D108BD9-81ED-4DB2-BD59-A6C34878D82A}">
                    <a16:rowId xmlns:a16="http://schemas.microsoft.com/office/drawing/2014/main" val="3966901314"/>
                  </a:ext>
                </a:extLst>
              </a:tr>
            </a:tbl>
          </a:graphicData>
        </a:graphic>
      </p:graphicFrame>
      <p:sp>
        <p:nvSpPr>
          <p:cNvPr id="3" name="Espaço Reservado para Texto 5">
            <a:extLst>
              <a:ext uri="{FF2B5EF4-FFF2-40B4-BE49-F238E27FC236}">
                <a16:creationId xmlns:a16="http://schemas.microsoft.com/office/drawing/2014/main" id="{5A795485-72E7-DAC8-601D-076AE5AE4C65}"/>
              </a:ext>
            </a:extLst>
          </p:cNvPr>
          <p:cNvSpPr txBox="1">
            <a:spLocks/>
          </p:cNvSpPr>
          <p:nvPr/>
        </p:nvSpPr>
        <p:spPr>
          <a:xfrm>
            <a:off x="131609" y="3898848"/>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Trading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Economics</a:t>
            </a:r>
            <a:endPar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 name="CaixaDeTexto 3">
            <a:extLst>
              <a:ext uri="{FF2B5EF4-FFF2-40B4-BE49-F238E27FC236}">
                <a16:creationId xmlns:a16="http://schemas.microsoft.com/office/drawing/2014/main" id="{19D0211E-041E-2FEE-08DC-0CE9D2B163A0}"/>
              </a:ext>
            </a:extLst>
          </p:cNvPr>
          <p:cNvSpPr txBox="1"/>
          <p:nvPr/>
        </p:nvSpPr>
        <p:spPr>
          <a:xfrm>
            <a:off x="116124" y="4118852"/>
            <a:ext cx="1967205"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L- </a:t>
            </a:r>
            <a:r>
              <a:rPr lang="pt-BR" sz="1000" b="1" u="sng" err="1">
                <a:solidFill>
                  <a:schemeClr val="tx2"/>
                </a:solidFill>
                <a:latin typeface="Calibri" panose="020F0502020204030204" pitchFamily="34" charset="0"/>
                <a:cs typeface="Calibri" panose="020F0502020204030204" pitchFamily="34" charset="0"/>
              </a:rPr>
              <a:t>Weg’s</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Diversification</a:t>
            </a:r>
            <a:endParaRPr lang="pt-BR" sz="1000" b="1" u="sng">
              <a:solidFill>
                <a:schemeClr val="tx2"/>
              </a:solidFill>
              <a:latin typeface="Calibri" panose="020F0502020204030204" pitchFamily="34" charset="0"/>
              <a:cs typeface="Calibri" panose="020F0502020204030204" pitchFamily="34" charset="0"/>
            </a:endParaRPr>
          </a:p>
        </p:txBody>
      </p:sp>
      <p:sp>
        <p:nvSpPr>
          <p:cNvPr id="12" name="Espaço Reservado para Texto 5">
            <a:extLst>
              <a:ext uri="{FF2B5EF4-FFF2-40B4-BE49-F238E27FC236}">
                <a16:creationId xmlns:a16="http://schemas.microsoft.com/office/drawing/2014/main" id="{EC8A3D5E-9C9B-9C37-B9D6-F8321F93ABF2}"/>
              </a:ext>
            </a:extLst>
          </p:cNvPr>
          <p:cNvSpPr txBox="1">
            <a:spLocks/>
          </p:cNvSpPr>
          <p:nvPr/>
        </p:nvSpPr>
        <p:spPr>
          <a:xfrm>
            <a:off x="159953" y="5838819"/>
            <a:ext cx="7472560"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WEG IR</a:t>
            </a:r>
          </a:p>
        </p:txBody>
      </p:sp>
      <p:sp>
        <p:nvSpPr>
          <p:cNvPr id="15" name="CaixaDeTexto 14">
            <a:extLst>
              <a:ext uri="{FF2B5EF4-FFF2-40B4-BE49-F238E27FC236}">
                <a16:creationId xmlns:a16="http://schemas.microsoft.com/office/drawing/2014/main" id="{B49B6284-82D9-3D0C-355A-C1CD8D904188}"/>
              </a:ext>
            </a:extLst>
          </p:cNvPr>
          <p:cNvSpPr txBox="1"/>
          <p:nvPr/>
        </p:nvSpPr>
        <p:spPr>
          <a:xfrm>
            <a:off x="4284643" y="2060882"/>
            <a:ext cx="1920719"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K</a:t>
            </a:r>
            <a:r>
              <a:rPr lang="pt-BR" sz="1000" b="1" u="sng">
                <a:solidFill>
                  <a:schemeClr val="tx2"/>
                </a:solidFill>
                <a:latin typeface="Calibri" panose="020F0502020204030204" pitchFamily="34" charset="0"/>
                <a:cs typeface="Calibri" panose="020F0502020204030204" pitchFamily="34" charset="0"/>
              </a:rPr>
              <a:t>- Labor </a:t>
            </a:r>
            <a:r>
              <a:rPr lang="pt-BR" sz="1000" b="1" u="sng" err="1">
                <a:solidFill>
                  <a:schemeClr val="tx2"/>
                </a:solidFill>
                <a:latin typeface="Calibri" panose="020F0502020204030204" pitchFamily="34" charset="0"/>
                <a:cs typeface="Calibri" panose="020F0502020204030204" pitchFamily="34" charset="0"/>
              </a:rPr>
              <a:t>Cost</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Increase</a:t>
            </a:r>
            <a:r>
              <a:rPr lang="pt-BR" sz="1000" b="1" u="sng">
                <a:solidFill>
                  <a:schemeClr val="tx2"/>
                </a:solidFill>
                <a:latin typeface="Calibri" panose="020F0502020204030204" pitchFamily="34" charset="0"/>
                <a:cs typeface="Calibri" panose="020F0502020204030204" pitchFamily="34" charset="0"/>
              </a:rPr>
              <a:t> </a:t>
            </a:r>
          </a:p>
        </p:txBody>
      </p:sp>
      <p:sp>
        <p:nvSpPr>
          <p:cNvPr id="16" name="Espaço Reservado para Texto 5">
            <a:extLst>
              <a:ext uri="{FF2B5EF4-FFF2-40B4-BE49-F238E27FC236}">
                <a16:creationId xmlns:a16="http://schemas.microsoft.com/office/drawing/2014/main" id="{BEA5A808-5818-2A68-0C60-29F719C14982}"/>
              </a:ext>
            </a:extLst>
          </p:cNvPr>
          <p:cNvSpPr txBox="1">
            <a:spLocks/>
          </p:cNvSpPr>
          <p:nvPr/>
        </p:nvSpPr>
        <p:spPr>
          <a:xfrm>
            <a:off x="4348581" y="3894015"/>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Trading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Economics</a:t>
            </a:r>
            <a:endPar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ela 16">
            <a:extLst>
              <a:ext uri="{FF2B5EF4-FFF2-40B4-BE49-F238E27FC236}">
                <a16:creationId xmlns:a16="http://schemas.microsoft.com/office/drawing/2014/main" id="{C3AE5208-7D48-2439-2E2F-7B940706618B}"/>
              </a:ext>
            </a:extLst>
          </p:cNvPr>
          <p:cNvGraphicFramePr>
            <a:graphicFrameLocks noGrp="1"/>
          </p:cNvGraphicFramePr>
          <p:nvPr>
            <p:extLst>
              <p:ext uri="{D42A27DB-BD31-4B8C-83A1-F6EECF244321}">
                <p14:modId xmlns:p14="http://schemas.microsoft.com/office/powerpoint/2010/main" val="542451310"/>
              </p:ext>
            </p:extLst>
          </p:nvPr>
        </p:nvGraphicFramePr>
        <p:xfrm>
          <a:off x="159953" y="6391147"/>
          <a:ext cx="3575178" cy="693548"/>
        </p:xfrm>
        <a:graphic>
          <a:graphicData uri="http://schemas.openxmlformats.org/drawingml/2006/table">
            <a:tbl>
              <a:tblPr firstRow="1">
                <a:tableStyleId>{5C22544A-7EE6-4342-B048-85BDC9FD1C3A}</a:tableStyleId>
              </a:tblPr>
              <a:tblGrid>
                <a:gridCol w="660494">
                  <a:extLst>
                    <a:ext uri="{9D8B030D-6E8A-4147-A177-3AD203B41FA5}">
                      <a16:colId xmlns:a16="http://schemas.microsoft.com/office/drawing/2014/main" val="636545121"/>
                    </a:ext>
                  </a:extLst>
                </a:gridCol>
                <a:gridCol w="1601200">
                  <a:extLst>
                    <a:ext uri="{9D8B030D-6E8A-4147-A177-3AD203B41FA5}">
                      <a16:colId xmlns:a16="http://schemas.microsoft.com/office/drawing/2014/main" val="2613783264"/>
                    </a:ext>
                  </a:extLst>
                </a:gridCol>
                <a:gridCol w="1313484">
                  <a:extLst>
                    <a:ext uri="{9D8B030D-6E8A-4147-A177-3AD203B41FA5}">
                      <a16:colId xmlns:a16="http://schemas.microsoft.com/office/drawing/2014/main" val="584707950"/>
                    </a:ext>
                  </a:extLst>
                </a:gridCol>
              </a:tblGrid>
              <a:tr h="17338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Year</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Internacional Markets Share</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National Market Share</a:t>
                      </a:r>
                      <a:endParaRPr lang="pt-BR" sz="850" b="1" i="0" u="none" strike="noStrike">
                        <a:solidFill>
                          <a:srgbClr val="FFFFFF"/>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815348860"/>
                  </a:ext>
                </a:extLst>
              </a:tr>
              <a:tr h="17338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2021</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54%</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46%</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487493245"/>
                  </a:ext>
                </a:extLst>
              </a:tr>
              <a:tr h="17338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2022</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50%</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50%</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916877640"/>
                  </a:ext>
                </a:extLst>
              </a:tr>
              <a:tr h="173387">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2023</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53%</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pt-BR" sz="850" u="none" strike="noStrike">
                          <a:effectLst/>
                          <a:latin typeface="Calibri" panose="020F0502020204030204" pitchFamily="34" charset="0"/>
                          <a:ea typeface="Calibri" panose="020F0502020204030204" pitchFamily="34" charset="0"/>
                          <a:cs typeface="Calibri" panose="020F0502020204030204" pitchFamily="34" charset="0"/>
                        </a:rPr>
                        <a:t>47%</a:t>
                      </a:r>
                      <a:endParaRPr lang="pt-BR" sz="8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766001336"/>
                  </a:ext>
                </a:extLst>
              </a:tr>
            </a:tbl>
          </a:graphicData>
        </a:graphic>
      </p:graphicFrame>
      <p:sp>
        <p:nvSpPr>
          <p:cNvPr id="18" name="CaixaDeTexto 17">
            <a:extLst>
              <a:ext uri="{FF2B5EF4-FFF2-40B4-BE49-F238E27FC236}">
                <a16:creationId xmlns:a16="http://schemas.microsoft.com/office/drawing/2014/main" id="{58667A89-148E-D07F-BDC6-7F87967C60A2}"/>
              </a:ext>
            </a:extLst>
          </p:cNvPr>
          <p:cNvSpPr txBox="1"/>
          <p:nvPr/>
        </p:nvSpPr>
        <p:spPr>
          <a:xfrm>
            <a:off x="159954" y="6023036"/>
            <a:ext cx="2069797" cy="246221"/>
          </a:xfrm>
          <a:prstGeom prst="rect">
            <a:avLst/>
          </a:prstGeom>
          <a:noFill/>
        </p:spPr>
        <p:txBody>
          <a:bodyPr wrap="none" rtlCol="0" anchor="t">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M- </a:t>
            </a:r>
            <a:r>
              <a:rPr lang="pt-BR" sz="1000" b="1" u="sng" err="1">
                <a:solidFill>
                  <a:schemeClr val="tx2"/>
                </a:solidFill>
                <a:latin typeface="Calibri" panose="020F0502020204030204" pitchFamily="34" charset="0"/>
                <a:cs typeface="Calibri" panose="020F0502020204030204" pitchFamily="34" charset="0"/>
              </a:rPr>
              <a:t>Revenue</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Composition</a:t>
            </a:r>
            <a:endParaRPr lang="pt-BR" sz="1000" b="1" u="sng">
              <a:solidFill>
                <a:schemeClr val="tx2"/>
              </a:solidFill>
              <a:latin typeface="Calibri" panose="020F0502020204030204" pitchFamily="34" charset="0"/>
              <a:cs typeface="Calibri" panose="020F0502020204030204" pitchFamily="34" charset="0"/>
            </a:endParaRPr>
          </a:p>
        </p:txBody>
      </p:sp>
      <p:sp>
        <p:nvSpPr>
          <p:cNvPr id="13" name="CaixaDeTexto 12">
            <a:extLst>
              <a:ext uri="{FF2B5EF4-FFF2-40B4-BE49-F238E27FC236}">
                <a16:creationId xmlns:a16="http://schemas.microsoft.com/office/drawing/2014/main" id="{459D93A1-F65F-D6CB-2D06-2CA087130664}"/>
              </a:ext>
            </a:extLst>
          </p:cNvPr>
          <p:cNvSpPr txBox="1"/>
          <p:nvPr/>
        </p:nvSpPr>
        <p:spPr>
          <a:xfrm>
            <a:off x="159953" y="7367902"/>
            <a:ext cx="2509020" cy="246221"/>
          </a:xfrm>
          <a:prstGeom prst="rect">
            <a:avLst/>
          </a:prstGeom>
          <a:noFill/>
        </p:spPr>
        <p:txBody>
          <a:bodyPr wrap="none" lIns="91440" tIns="45720" rIns="91440" bIns="45720" rtlCol="0" anchor="t">
            <a:spAutoFit/>
          </a:bodyPr>
          <a:lstStyle/>
          <a:p>
            <a:r>
              <a:rPr lang="pt-BR" sz="1000" b="1" u="sng" err="1">
                <a:solidFill>
                  <a:schemeClr val="tx2"/>
                </a:solidFill>
                <a:latin typeface="Calibri"/>
                <a:ea typeface="Calibri"/>
                <a:cs typeface="Calibri"/>
              </a:rPr>
              <a:t>Appendix</a:t>
            </a:r>
            <a:r>
              <a:rPr lang="pt-BR" sz="1000" b="1" u="sng">
                <a:solidFill>
                  <a:schemeClr val="tx2"/>
                </a:solidFill>
                <a:latin typeface="Calibri"/>
                <a:ea typeface="Calibri"/>
                <a:cs typeface="Calibri"/>
              </a:rPr>
              <a:t> N- NET </a:t>
            </a:r>
            <a:r>
              <a:rPr lang="pt-BR" sz="1000" b="1" u="sng" err="1">
                <a:solidFill>
                  <a:schemeClr val="tx2"/>
                </a:solidFill>
                <a:latin typeface="Calibri"/>
                <a:ea typeface="Calibri"/>
                <a:cs typeface="Calibri"/>
              </a:rPr>
              <a:t>Margin</a:t>
            </a:r>
            <a:r>
              <a:rPr lang="pt-BR" sz="1000" b="1" u="sng">
                <a:solidFill>
                  <a:schemeClr val="tx2"/>
                </a:solidFill>
                <a:latin typeface="Calibri"/>
                <a:ea typeface="Calibri"/>
                <a:cs typeface="Calibri"/>
              </a:rPr>
              <a:t> &amp; Dupont </a:t>
            </a:r>
            <a:r>
              <a:rPr lang="pt-BR" sz="1000" b="1" u="sng" err="1">
                <a:solidFill>
                  <a:schemeClr val="tx2"/>
                </a:solidFill>
                <a:latin typeface="Calibri"/>
                <a:ea typeface="Calibri"/>
                <a:cs typeface="Calibri"/>
              </a:rPr>
              <a:t>Analysis</a:t>
            </a:r>
            <a:endParaRPr lang="pt-BR" sz="1000" u="sng">
              <a:solidFill>
                <a:schemeClr val="tx2"/>
              </a:solidFill>
            </a:endParaRPr>
          </a:p>
        </p:txBody>
      </p:sp>
      <p:sp>
        <p:nvSpPr>
          <p:cNvPr id="19" name="Espaço Reservado para Texto 5">
            <a:extLst>
              <a:ext uri="{FF2B5EF4-FFF2-40B4-BE49-F238E27FC236}">
                <a16:creationId xmlns:a16="http://schemas.microsoft.com/office/drawing/2014/main" id="{CD110DDE-9BB2-770D-D886-FB797F972006}"/>
              </a:ext>
            </a:extLst>
          </p:cNvPr>
          <p:cNvSpPr txBox="1">
            <a:spLocks/>
          </p:cNvSpPr>
          <p:nvPr/>
        </p:nvSpPr>
        <p:spPr>
          <a:xfrm>
            <a:off x="131609" y="7178638"/>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WEG IR</a:t>
            </a:r>
          </a:p>
        </p:txBody>
      </p:sp>
      <p:sp>
        <p:nvSpPr>
          <p:cNvPr id="21" name="CaixaDeTexto 20">
            <a:extLst>
              <a:ext uri="{FF2B5EF4-FFF2-40B4-BE49-F238E27FC236}">
                <a16:creationId xmlns:a16="http://schemas.microsoft.com/office/drawing/2014/main" id="{0A252EBB-60EC-7E12-40F3-0A8DB20B449A}"/>
              </a:ext>
            </a:extLst>
          </p:cNvPr>
          <p:cNvSpPr txBox="1"/>
          <p:nvPr/>
        </p:nvSpPr>
        <p:spPr>
          <a:xfrm>
            <a:off x="71742" y="7644863"/>
            <a:ext cx="7592751" cy="11310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850" b="1">
                <a:latin typeface="Calibri" panose="020F0502020204030204" pitchFamily="34" charset="0"/>
                <a:ea typeface="Calibri" panose="020F0502020204030204" pitchFamily="34" charset="0"/>
                <a:cs typeface="Calibri" panose="020F0502020204030204" pitchFamily="34" charset="0"/>
              </a:rPr>
              <a:t>Net Margin: </a:t>
            </a:r>
            <a:r>
              <a:rPr lang="pt-BR" sz="850">
                <a:latin typeface="Calibri" panose="020F0502020204030204" pitchFamily="34" charset="0"/>
                <a:ea typeface="Calibri" panose="020F0502020204030204" pitchFamily="34" charset="0"/>
                <a:cs typeface="Calibri" panose="020F0502020204030204" pitchFamily="34" charset="0"/>
              </a:rPr>
              <a:t>WEG </a:t>
            </a:r>
            <a:r>
              <a:rPr lang="pt-BR" sz="850" err="1">
                <a:latin typeface="Calibri" panose="020F0502020204030204" pitchFamily="34" charset="0"/>
                <a:ea typeface="Calibri" panose="020F0502020204030204" pitchFamily="34" charset="0"/>
                <a:cs typeface="Calibri" panose="020F0502020204030204" pitchFamily="34" charset="0"/>
              </a:rPr>
              <a:t>delivered</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consistent</a:t>
            </a:r>
            <a:r>
              <a:rPr lang="pt-BR" sz="850">
                <a:latin typeface="Calibri" panose="020F0502020204030204" pitchFamily="34" charset="0"/>
                <a:ea typeface="Calibri" panose="020F0502020204030204" pitchFamily="34" charset="0"/>
                <a:cs typeface="Calibri" panose="020F0502020204030204" pitchFamily="34" charset="0"/>
              </a:rPr>
              <a:t> net </a:t>
            </a:r>
            <a:r>
              <a:rPr lang="pt-BR" sz="850" err="1">
                <a:latin typeface="Calibri" panose="020F0502020204030204" pitchFamily="34" charset="0"/>
                <a:ea typeface="Calibri" panose="020F0502020204030204" pitchFamily="34" charset="0"/>
                <a:cs typeface="Calibri" panose="020F0502020204030204" pitchFamily="34" charset="0"/>
              </a:rPr>
              <a:t>margins</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between</a:t>
            </a:r>
            <a:r>
              <a:rPr lang="pt-BR" sz="850">
                <a:latin typeface="Calibri" panose="020F0502020204030204" pitchFamily="34" charset="0"/>
                <a:ea typeface="Calibri" panose="020F0502020204030204" pitchFamily="34" charset="0"/>
                <a:cs typeface="Calibri" panose="020F0502020204030204" pitchFamily="34" charset="0"/>
              </a:rPr>
              <a:t> 2020 and 2024, </a:t>
            </a:r>
            <a:r>
              <a:rPr lang="pt-BR" sz="850" err="1">
                <a:latin typeface="Calibri" panose="020F0502020204030204" pitchFamily="34" charset="0"/>
                <a:ea typeface="Calibri" panose="020F0502020204030204" pitchFamily="34" charset="0"/>
                <a:cs typeface="Calibri" panose="020F0502020204030204" pitchFamily="34" charset="0"/>
              </a:rPr>
              <a:t>ranging</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from</a:t>
            </a:r>
            <a:r>
              <a:rPr lang="pt-BR" sz="850">
                <a:latin typeface="Calibri" panose="020F0502020204030204" pitchFamily="34" charset="0"/>
                <a:ea typeface="Calibri" panose="020F0502020204030204" pitchFamily="34" charset="0"/>
                <a:cs typeface="Calibri" panose="020F0502020204030204" pitchFamily="34" charset="0"/>
              </a:rPr>
              <a:t> 13.40% to 17.63%, </a:t>
            </a:r>
            <a:r>
              <a:rPr lang="pt-BR" sz="850" err="1">
                <a:latin typeface="Calibri" panose="020F0502020204030204" pitchFamily="34" charset="0"/>
                <a:ea typeface="Calibri" panose="020F0502020204030204" pitchFamily="34" charset="0"/>
                <a:cs typeface="Calibri" panose="020F0502020204030204" pitchFamily="34" charset="0"/>
              </a:rPr>
              <a:t>highlighting</a:t>
            </a:r>
            <a:r>
              <a:rPr lang="pt-BR" sz="850">
                <a:latin typeface="Calibri" panose="020F0502020204030204" pitchFamily="34" charset="0"/>
                <a:ea typeface="Calibri" panose="020F0502020204030204" pitchFamily="34" charset="0"/>
                <a:cs typeface="Calibri" panose="020F0502020204030204" pitchFamily="34" charset="0"/>
              </a:rPr>
              <a:t> its </a:t>
            </a:r>
            <a:r>
              <a:rPr lang="pt-BR" sz="850" err="1">
                <a:latin typeface="Calibri" panose="020F0502020204030204" pitchFamily="34" charset="0"/>
                <a:ea typeface="Calibri" panose="020F0502020204030204" pitchFamily="34" charset="0"/>
                <a:cs typeface="Calibri" panose="020F0502020204030204" pitchFamily="34" charset="0"/>
              </a:rPr>
              <a:t>operational</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resilience</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even</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amid</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challenging</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macroeconomic</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environments</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After</a:t>
            </a:r>
            <a:r>
              <a:rPr lang="pt-BR" sz="850">
                <a:latin typeface="Calibri" panose="020F0502020204030204" pitchFamily="34" charset="0"/>
                <a:ea typeface="Calibri" panose="020F0502020204030204" pitchFamily="34" charset="0"/>
                <a:cs typeface="Calibri" panose="020F0502020204030204" pitchFamily="34" charset="0"/>
              </a:rPr>
              <a:t> a </a:t>
            </a:r>
            <a:r>
              <a:rPr lang="pt-BR" sz="850" err="1">
                <a:latin typeface="Calibri" panose="020F0502020204030204" pitchFamily="34" charset="0"/>
                <a:ea typeface="Calibri" panose="020F0502020204030204" pitchFamily="34" charset="0"/>
                <a:cs typeface="Calibri" panose="020F0502020204030204" pitchFamily="34" charset="0"/>
              </a:rPr>
              <a:t>slight</a:t>
            </a:r>
            <a:r>
              <a:rPr lang="pt-BR" sz="850">
                <a:latin typeface="Calibri" panose="020F0502020204030204" pitchFamily="34" charset="0"/>
                <a:ea typeface="Calibri" panose="020F0502020204030204" pitchFamily="34" charset="0"/>
                <a:cs typeface="Calibri" panose="020F0502020204030204" pitchFamily="34" charset="0"/>
              </a:rPr>
              <a:t> decline in 2022, the company </a:t>
            </a:r>
            <a:r>
              <a:rPr lang="pt-BR" sz="850" err="1">
                <a:latin typeface="Calibri" panose="020F0502020204030204" pitchFamily="34" charset="0"/>
                <a:ea typeface="Calibri" panose="020F0502020204030204" pitchFamily="34" charset="0"/>
                <a:cs typeface="Calibri" panose="020F0502020204030204" pitchFamily="34" charset="0"/>
              </a:rPr>
              <a:t>reached</a:t>
            </a:r>
            <a:r>
              <a:rPr lang="pt-BR" sz="850">
                <a:latin typeface="Calibri" panose="020F0502020204030204" pitchFamily="34" charset="0"/>
                <a:ea typeface="Calibri" panose="020F0502020204030204" pitchFamily="34" charset="0"/>
                <a:cs typeface="Calibri" panose="020F0502020204030204" pitchFamily="34" charset="0"/>
              </a:rPr>
              <a:t> its </a:t>
            </a:r>
            <a:r>
              <a:rPr lang="pt-BR" sz="850" err="1">
                <a:latin typeface="Calibri" panose="020F0502020204030204" pitchFamily="34" charset="0"/>
                <a:ea typeface="Calibri" panose="020F0502020204030204" pitchFamily="34" charset="0"/>
                <a:cs typeface="Calibri" panose="020F0502020204030204" pitchFamily="34" charset="0"/>
              </a:rPr>
              <a:t>peak</a:t>
            </a:r>
            <a:r>
              <a:rPr lang="pt-BR" sz="850">
                <a:latin typeface="Calibri" panose="020F0502020204030204" pitchFamily="34" charset="0"/>
                <a:ea typeface="Calibri" panose="020F0502020204030204" pitchFamily="34" charset="0"/>
                <a:cs typeface="Calibri" panose="020F0502020204030204" pitchFamily="34" charset="0"/>
              </a:rPr>
              <a:t> in 2023, </a:t>
            </a:r>
            <a:r>
              <a:rPr lang="pt-BR" sz="850" err="1">
                <a:latin typeface="Calibri" panose="020F0502020204030204" pitchFamily="34" charset="0"/>
                <a:ea typeface="Calibri" panose="020F0502020204030204" pitchFamily="34" charset="0"/>
                <a:cs typeface="Calibri" panose="020F0502020204030204" pitchFamily="34" charset="0"/>
              </a:rPr>
              <a:t>driven</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by</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scale</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gains</a:t>
            </a:r>
            <a:r>
              <a:rPr lang="pt-BR" sz="850">
                <a:latin typeface="Calibri" panose="020F0502020204030204" pitchFamily="34" charset="0"/>
                <a:ea typeface="Calibri" panose="020F0502020204030204" pitchFamily="34" charset="0"/>
                <a:cs typeface="Calibri" panose="020F0502020204030204" pitchFamily="34" charset="0"/>
              </a:rPr>
              <a:t> and </a:t>
            </a:r>
            <a:r>
              <a:rPr lang="pt-BR" sz="850" err="1">
                <a:latin typeface="Calibri" panose="020F0502020204030204" pitchFamily="34" charset="0"/>
                <a:ea typeface="Calibri" panose="020F0502020204030204" pitchFamily="34" charset="0"/>
                <a:cs typeface="Calibri" panose="020F0502020204030204" pitchFamily="34" charset="0"/>
              </a:rPr>
              <a:t>improved</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efficiency</a:t>
            </a:r>
            <a:r>
              <a:rPr lang="pt-BR" sz="850">
                <a:latin typeface="Calibri" panose="020F0502020204030204" pitchFamily="34" charset="0"/>
                <a:ea typeface="Calibri" panose="020F0502020204030204" pitchFamily="34" charset="0"/>
                <a:cs typeface="Calibri" panose="020F0502020204030204" pitchFamily="34" charset="0"/>
              </a:rPr>
              <a:t>. The </a:t>
            </a:r>
            <a:r>
              <a:rPr lang="pt-BR" sz="850" err="1">
                <a:latin typeface="Calibri" panose="020F0502020204030204" pitchFamily="34" charset="0"/>
                <a:ea typeface="Calibri" panose="020F0502020204030204" pitchFamily="34" charset="0"/>
                <a:cs typeface="Calibri" panose="020F0502020204030204" pitchFamily="34" charset="0"/>
              </a:rPr>
              <a:t>slight</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drop</a:t>
            </a:r>
            <a:r>
              <a:rPr lang="pt-BR" sz="850">
                <a:latin typeface="Calibri" panose="020F0502020204030204" pitchFamily="34" charset="0"/>
                <a:ea typeface="Calibri" panose="020F0502020204030204" pitchFamily="34" charset="0"/>
                <a:cs typeface="Calibri" panose="020F0502020204030204" pitchFamily="34" charset="0"/>
              </a:rPr>
              <a:t> in 2024 to 15.90% still </a:t>
            </a:r>
            <a:r>
              <a:rPr lang="pt-BR" sz="850" err="1">
                <a:latin typeface="Calibri" panose="020F0502020204030204" pitchFamily="34" charset="0"/>
                <a:ea typeface="Calibri" panose="020F0502020204030204" pitchFamily="34" charset="0"/>
                <a:cs typeface="Calibri" panose="020F0502020204030204" pitchFamily="34" charset="0"/>
              </a:rPr>
              <a:t>keeps</a:t>
            </a:r>
            <a:r>
              <a:rPr lang="pt-BR" sz="850">
                <a:latin typeface="Calibri" panose="020F0502020204030204" pitchFamily="34" charset="0"/>
                <a:ea typeface="Calibri" panose="020F0502020204030204" pitchFamily="34" charset="0"/>
                <a:cs typeface="Calibri" panose="020F0502020204030204" pitchFamily="34" charset="0"/>
              </a:rPr>
              <a:t> the </a:t>
            </a:r>
            <a:r>
              <a:rPr lang="pt-BR" sz="850" err="1">
                <a:latin typeface="Calibri" panose="020F0502020204030204" pitchFamily="34" charset="0"/>
                <a:ea typeface="Calibri" panose="020F0502020204030204" pitchFamily="34" charset="0"/>
                <a:cs typeface="Calibri" panose="020F0502020204030204" pitchFamily="34" charset="0"/>
              </a:rPr>
              <a:t>margin</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at</a:t>
            </a:r>
            <a:r>
              <a:rPr lang="pt-BR" sz="850">
                <a:latin typeface="Calibri" panose="020F0502020204030204" pitchFamily="34" charset="0"/>
                <a:ea typeface="Calibri" panose="020F0502020204030204" pitchFamily="34" charset="0"/>
                <a:cs typeface="Calibri" panose="020F0502020204030204" pitchFamily="34" charset="0"/>
              </a:rPr>
              <a:t> a high </a:t>
            </a:r>
            <a:r>
              <a:rPr lang="pt-BR" sz="850" err="1">
                <a:latin typeface="Calibri" panose="020F0502020204030204" pitchFamily="34" charset="0"/>
                <a:ea typeface="Calibri" panose="020F0502020204030204" pitchFamily="34" charset="0"/>
                <a:cs typeface="Calibri" panose="020F0502020204030204" pitchFamily="34" charset="0"/>
              </a:rPr>
              <a:t>level</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reflecting</a:t>
            </a:r>
            <a:r>
              <a:rPr lang="pt-BR" sz="850">
                <a:latin typeface="Calibri" panose="020F0502020204030204" pitchFamily="34" charset="0"/>
                <a:ea typeface="Calibri" panose="020F0502020204030204" pitchFamily="34" charset="0"/>
                <a:cs typeface="Calibri" panose="020F0502020204030204" pitchFamily="34" charset="0"/>
              </a:rPr>
              <a:t> a </a:t>
            </a:r>
            <a:r>
              <a:rPr lang="pt-BR" sz="850" err="1">
                <a:latin typeface="Calibri" panose="020F0502020204030204" pitchFamily="34" charset="0"/>
                <a:ea typeface="Calibri" panose="020F0502020204030204" pitchFamily="34" charset="0"/>
                <a:cs typeface="Calibri" panose="020F0502020204030204" pitchFamily="34" charset="0"/>
              </a:rPr>
              <a:t>successful</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strategy</a:t>
            </a:r>
            <a:r>
              <a:rPr lang="pt-BR" sz="850">
                <a:latin typeface="Calibri" panose="020F0502020204030204" pitchFamily="34" charset="0"/>
                <a:ea typeface="Calibri" panose="020F0502020204030204" pitchFamily="34" charset="0"/>
                <a:cs typeface="Calibri" panose="020F0502020204030204" pitchFamily="34" charset="0"/>
              </a:rPr>
              <a:t> of </a:t>
            </a:r>
            <a:r>
              <a:rPr lang="pt-BR" sz="850" err="1">
                <a:latin typeface="Calibri" panose="020F0502020204030204" pitchFamily="34" charset="0"/>
                <a:ea typeface="Calibri" panose="020F0502020204030204" pitchFamily="34" charset="0"/>
                <a:cs typeface="Calibri" panose="020F0502020204030204" pitchFamily="34" charset="0"/>
              </a:rPr>
              <a:t>geographic</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diversification</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innovation</a:t>
            </a:r>
            <a:r>
              <a:rPr lang="pt-BR" sz="850">
                <a:latin typeface="Calibri" panose="020F0502020204030204" pitchFamily="34" charset="0"/>
                <a:ea typeface="Calibri" panose="020F0502020204030204" pitchFamily="34" charset="0"/>
                <a:cs typeface="Calibri" panose="020F0502020204030204" pitchFamily="34" charset="0"/>
              </a:rPr>
              <a:t>, and cost </a:t>
            </a:r>
            <a:r>
              <a:rPr lang="pt-BR" sz="850" err="1">
                <a:latin typeface="Calibri" panose="020F0502020204030204" pitchFamily="34" charset="0"/>
                <a:ea typeface="Calibri" panose="020F0502020204030204" pitchFamily="34" charset="0"/>
                <a:cs typeface="Calibri" panose="020F0502020204030204" pitchFamily="34" charset="0"/>
              </a:rPr>
              <a:t>control</a:t>
            </a:r>
            <a:r>
              <a:rPr lang="pt-BR" sz="850">
                <a:latin typeface="Calibri" panose="020F0502020204030204" pitchFamily="34" charset="0"/>
                <a:ea typeface="Calibri" panose="020F0502020204030204" pitchFamily="34" charset="0"/>
                <a:cs typeface="Calibri" panose="020F0502020204030204" pitchFamily="34" charset="0"/>
              </a:rPr>
              <a:t>.</a:t>
            </a:r>
          </a:p>
          <a:p>
            <a:pPr algn="just"/>
            <a:r>
              <a:rPr lang="pt-BR" sz="850" b="1">
                <a:latin typeface="Calibri" panose="020F0502020204030204" pitchFamily="34" charset="0"/>
                <a:ea typeface="Calibri" panose="020F0502020204030204" pitchFamily="34" charset="0"/>
                <a:cs typeface="Calibri" panose="020F0502020204030204" pitchFamily="34" charset="0"/>
              </a:rPr>
              <a:t>DuPont </a:t>
            </a:r>
            <a:r>
              <a:rPr lang="pt-BR" sz="850" b="1" err="1">
                <a:latin typeface="Calibri" panose="020F0502020204030204" pitchFamily="34" charset="0"/>
                <a:ea typeface="Calibri" panose="020F0502020204030204" pitchFamily="34" charset="0"/>
                <a:cs typeface="Calibri" panose="020F0502020204030204" pitchFamily="34" charset="0"/>
              </a:rPr>
              <a:t>analysis</a:t>
            </a:r>
            <a:r>
              <a:rPr lang="pt-BR" sz="850" b="1">
                <a:latin typeface="Calibri" panose="020F0502020204030204" pitchFamily="34" charset="0"/>
                <a:ea typeface="Calibri" panose="020F0502020204030204" pitchFamily="34" charset="0"/>
                <a:cs typeface="Calibri" panose="020F0502020204030204" pitchFamily="34" charset="0"/>
              </a:rPr>
              <a:t>: </a:t>
            </a:r>
            <a:r>
              <a:rPr lang="pt-BR" sz="850">
                <a:latin typeface="Calibri" panose="020F0502020204030204" pitchFamily="34" charset="0"/>
                <a:ea typeface="Calibri" panose="020F0502020204030204" pitchFamily="34" charset="0"/>
                <a:cs typeface="Calibri" panose="020F0502020204030204" pitchFamily="34" charset="0"/>
              </a:rPr>
              <a:t>WEG stands out </a:t>
            </a:r>
            <a:r>
              <a:rPr lang="pt-BR" sz="850" err="1">
                <a:latin typeface="Calibri" panose="020F0502020204030204" pitchFamily="34" charset="0"/>
                <a:ea typeface="Calibri" panose="020F0502020204030204" pitchFamily="34" charset="0"/>
                <a:cs typeface="Calibri" panose="020F0502020204030204" pitchFamily="34" charset="0"/>
              </a:rPr>
              <a:t>with</a:t>
            </a:r>
            <a:r>
              <a:rPr lang="pt-BR" sz="850">
                <a:latin typeface="Calibri" panose="020F0502020204030204" pitchFamily="34" charset="0"/>
                <a:ea typeface="Calibri" panose="020F0502020204030204" pitchFamily="34" charset="0"/>
                <a:cs typeface="Calibri" panose="020F0502020204030204" pitchFamily="34" charset="0"/>
              </a:rPr>
              <a:t> a ROE of 26.12%, </a:t>
            </a:r>
            <a:r>
              <a:rPr lang="pt-BR" sz="850" err="1">
                <a:latin typeface="Calibri" panose="020F0502020204030204" pitchFamily="34" charset="0"/>
                <a:ea typeface="Calibri" panose="020F0502020204030204" pitchFamily="34" charset="0"/>
                <a:cs typeface="Calibri" panose="020F0502020204030204" pitchFamily="34" charset="0"/>
              </a:rPr>
              <a:t>supported</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by</a:t>
            </a:r>
            <a:r>
              <a:rPr lang="pt-BR" sz="850">
                <a:latin typeface="Calibri" panose="020F0502020204030204" pitchFamily="34" charset="0"/>
                <a:ea typeface="Calibri" panose="020F0502020204030204" pitchFamily="34" charset="0"/>
                <a:cs typeface="Calibri" panose="020F0502020204030204" pitchFamily="34" charset="0"/>
              </a:rPr>
              <a:t> a high </a:t>
            </a:r>
            <a:r>
              <a:rPr lang="pt-BR" sz="850" err="1">
                <a:latin typeface="Calibri" panose="020F0502020204030204" pitchFamily="34" charset="0"/>
                <a:ea typeface="Calibri" panose="020F0502020204030204" pitchFamily="34" charset="0"/>
                <a:cs typeface="Calibri" panose="020F0502020204030204" pitchFamily="34" charset="0"/>
              </a:rPr>
              <a:t>asset</a:t>
            </a:r>
            <a:r>
              <a:rPr lang="pt-BR" sz="850">
                <a:latin typeface="Calibri" panose="020F0502020204030204" pitchFamily="34" charset="0"/>
                <a:ea typeface="Calibri" panose="020F0502020204030204" pitchFamily="34" charset="0"/>
                <a:cs typeface="Calibri" panose="020F0502020204030204" pitchFamily="34" charset="0"/>
              </a:rPr>
              <a:t> turnover (91.5%) and </a:t>
            </a:r>
            <a:r>
              <a:rPr lang="pt-BR" sz="850" err="1">
                <a:latin typeface="Calibri" panose="020F0502020204030204" pitchFamily="34" charset="0"/>
                <a:ea typeface="Calibri" panose="020F0502020204030204" pitchFamily="34" charset="0"/>
                <a:cs typeface="Calibri" panose="020F0502020204030204" pitchFamily="34" charset="0"/>
              </a:rPr>
              <a:t>low</a:t>
            </a:r>
            <a:r>
              <a:rPr lang="pt-BR" sz="850">
                <a:latin typeface="Calibri" panose="020F0502020204030204" pitchFamily="34" charset="0"/>
                <a:ea typeface="Calibri" panose="020F0502020204030204" pitchFamily="34" charset="0"/>
                <a:cs typeface="Calibri" panose="020F0502020204030204" pitchFamily="34" charset="0"/>
              </a:rPr>
              <a:t> financial </a:t>
            </a:r>
            <a:r>
              <a:rPr lang="pt-BR" sz="850" err="1">
                <a:latin typeface="Calibri" panose="020F0502020204030204" pitchFamily="34" charset="0"/>
                <a:ea typeface="Calibri" panose="020F0502020204030204" pitchFamily="34" charset="0"/>
                <a:cs typeface="Calibri" panose="020F0502020204030204" pitchFamily="34" charset="0"/>
              </a:rPr>
              <a:t>leverage</a:t>
            </a:r>
            <a:r>
              <a:rPr lang="pt-BR" sz="850">
                <a:latin typeface="Calibri" panose="020F0502020204030204" pitchFamily="34" charset="0"/>
                <a:ea typeface="Calibri" panose="020F0502020204030204" pitchFamily="34" charset="0"/>
                <a:cs typeface="Calibri" panose="020F0502020204030204" pitchFamily="34" charset="0"/>
              </a:rPr>
              <a:t> (1.79), </a:t>
            </a:r>
            <a:r>
              <a:rPr lang="pt-BR" sz="850" err="1">
                <a:latin typeface="Calibri" panose="020F0502020204030204" pitchFamily="34" charset="0"/>
                <a:ea typeface="Calibri" panose="020F0502020204030204" pitchFamily="34" charset="0"/>
                <a:cs typeface="Calibri" panose="020F0502020204030204" pitchFamily="34" charset="0"/>
              </a:rPr>
              <a:t>demonstrating</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operational</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efficiency</a:t>
            </a:r>
            <a:r>
              <a:rPr lang="pt-BR" sz="850">
                <a:latin typeface="Calibri" panose="020F0502020204030204" pitchFamily="34" charset="0"/>
                <a:ea typeface="Calibri" panose="020F0502020204030204" pitchFamily="34" charset="0"/>
                <a:cs typeface="Calibri" panose="020F0502020204030204" pitchFamily="34" charset="0"/>
              </a:rPr>
              <a:t> and a </a:t>
            </a:r>
            <a:r>
              <a:rPr lang="pt-BR" sz="850" err="1">
                <a:latin typeface="Calibri" panose="020F0502020204030204" pitchFamily="34" charset="0"/>
                <a:ea typeface="Calibri" panose="020F0502020204030204" pitchFamily="34" charset="0"/>
                <a:cs typeface="Calibri" panose="020F0502020204030204" pitchFamily="34" charset="0"/>
              </a:rPr>
              <a:t>conservative</a:t>
            </a:r>
            <a:r>
              <a:rPr lang="pt-BR" sz="850">
                <a:latin typeface="Calibri" panose="020F0502020204030204" pitchFamily="34" charset="0"/>
                <a:ea typeface="Calibri" panose="020F0502020204030204" pitchFamily="34" charset="0"/>
                <a:cs typeface="Calibri" panose="020F0502020204030204" pitchFamily="34" charset="0"/>
              </a:rPr>
              <a:t> approach to capital management. The company shows </a:t>
            </a:r>
            <a:r>
              <a:rPr lang="pt-BR" sz="850" err="1">
                <a:latin typeface="Calibri" panose="020F0502020204030204" pitchFamily="34" charset="0"/>
                <a:ea typeface="Calibri" panose="020F0502020204030204" pitchFamily="34" charset="0"/>
                <a:cs typeface="Calibri" panose="020F0502020204030204" pitchFamily="34" charset="0"/>
              </a:rPr>
              <a:t>an</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interest</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burden</a:t>
            </a:r>
            <a:r>
              <a:rPr lang="pt-BR" sz="850">
                <a:latin typeface="Calibri" panose="020F0502020204030204" pitchFamily="34" charset="0"/>
                <a:ea typeface="Calibri" panose="020F0502020204030204" pitchFamily="34" charset="0"/>
                <a:cs typeface="Calibri" panose="020F0502020204030204" pitchFamily="34" charset="0"/>
              </a:rPr>
              <a:t> of 99.24%, </a:t>
            </a:r>
            <a:r>
              <a:rPr lang="pt-BR" sz="850" err="1">
                <a:latin typeface="Calibri" panose="020F0502020204030204" pitchFamily="34" charset="0"/>
                <a:ea typeface="Calibri" panose="020F0502020204030204" pitchFamily="34" charset="0"/>
                <a:cs typeface="Calibri" panose="020F0502020204030204" pitchFamily="34" charset="0"/>
              </a:rPr>
              <a:t>reflecting</a:t>
            </a:r>
            <a:r>
              <a:rPr lang="pt-BR" sz="850">
                <a:latin typeface="Calibri" panose="020F0502020204030204" pitchFamily="34" charset="0"/>
                <a:ea typeface="Calibri" panose="020F0502020204030204" pitchFamily="34" charset="0"/>
                <a:cs typeface="Calibri" panose="020F0502020204030204" pitchFamily="34" charset="0"/>
              </a:rPr>
              <a:t> the </a:t>
            </a:r>
            <a:r>
              <a:rPr lang="pt-BR" sz="850" err="1">
                <a:latin typeface="Calibri" panose="020F0502020204030204" pitchFamily="34" charset="0"/>
                <a:ea typeface="Calibri" panose="020F0502020204030204" pitchFamily="34" charset="0"/>
                <a:cs typeface="Calibri" panose="020F0502020204030204" pitchFamily="34" charset="0"/>
              </a:rPr>
              <a:t>minimal</a:t>
            </a:r>
            <a:r>
              <a:rPr lang="pt-BR" sz="850">
                <a:latin typeface="Calibri" panose="020F0502020204030204" pitchFamily="34" charset="0"/>
                <a:ea typeface="Calibri" panose="020F0502020204030204" pitchFamily="34" charset="0"/>
                <a:cs typeface="Calibri" panose="020F0502020204030204" pitchFamily="34" charset="0"/>
              </a:rPr>
              <a:t> impact of financial </a:t>
            </a:r>
            <a:r>
              <a:rPr lang="pt-BR" sz="850" err="1">
                <a:latin typeface="Calibri" panose="020F0502020204030204" pitchFamily="34" charset="0"/>
                <a:ea typeface="Calibri" panose="020F0502020204030204" pitchFamily="34" charset="0"/>
                <a:cs typeface="Calibri" panose="020F0502020204030204" pitchFamily="34" charset="0"/>
              </a:rPr>
              <a:t>expenses</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on</a:t>
            </a:r>
            <a:r>
              <a:rPr lang="pt-BR" sz="850">
                <a:latin typeface="Calibri" panose="020F0502020204030204" pitchFamily="34" charset="0"/>
                <a:ea typeface="Calibri" panose="020F0502020204030204" pitchFamily="34" charset="0"/>
                <a:cs typeface="Calibri" panose="020F0502020204030204" pitchFamily="34" charset="0"/>
              </a:rPr>
              <a:t> its </a:t>
            </a:r>
            <a:r>
              <a:rPr lang="pt-BR" sz="850" err="1">
                <a:latin typeface="Calibri" panose="020F0502020204030204" pitchFamily="34" charset="0"/>
                <a:ea typeface="Calibri" panose="020F0502020204030204" pitchFamily="34" charset="0"/>
                <a:cs typeface="Calibri" panose="020F0502020204030204" pitchFamily="34" charset="0"/>
              </a:rPr>
              <a:t>results</a:t>
            </a:r>
            <a:r>
              <a:rPr lang="pt-BR" sz="850">
                <a:latin typeface="Calibri" panose="020F0502020204030204" pitchFamily="34" charset="0"/>
                <a:ea typeface="Calibri" panose="020F0502020204030204" pitchFamily="34" charset="0"/>
                <a:cs typeface="Calibri" panose="020F0502020204030204" pitchFamily="34" charset="0"/>
              </a:rPr>
              <a:t>, and a </a:t>
            </a:r>
            <a:r>
              <a:rPr lang="pt-BR" sz="850" err="1">
                <a:latin typeface="Calibri" panose="020F0502020204030204" pitchFamily="34" charset="0"/>
                <a:ea typeface="Calibri" panose="020F0502020204030204" pitchFamily="34" charset="0"/>
                <a:cs typeface="Calibri" panose="020F0502020204030204" pitchFamily="34" charset="0"/>
              </a:rPr>
              <a:t>tax</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burden</a:t>
            </a:r>
            <a:r>
              <a:rPr lang="pt-BR" sz="850">
                <a:latin typeface="Calibri" panose="020F0502020204030204" pitchFamily="34" charset="0"/>
                <a:ea typeface="Calibri" panose="020F0502020204030204" pitchFamily="34" charset="0"/>
                <a:cs typeface="Calibri" panose="020F0502020204030204" pitchFamily="34" charset="0"/>
              </a:rPr>
              <a:t> of 78.57%, </a:t>
            </a:r>
            <a:r>
              <a:rPr lang="pt-BR" sz="850" err="1">
                <a:latin typeface="Calibri" panose="020F0502020204030204" pitchFamily="34" charset="0"/>
                <a:ea typeface="Calibri" panose="020F0502020204030204" pitchFamily="34" charset="0"/>
                <a:cs typeface="Calibri" panose="020F0502020204030204" pitchFamily="34" charset="0"/>
              </a:rPr>
              <a:t>indicating</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an</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efficient</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tax</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structure</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Together</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these</a:t>
            </a:r>
            <a:r>
              <a:rPr lang="pt-BR" sz="850">
                <a:latin typeface="Calibri" panose="020F0502020204030204" pitchFamily="34" charset="0"/>
                <a:ea typeface="Calibri" panose="020F0502020204030204" pitchFamily="34" charset="0"/>
                <a:cs typeface="Calibri" panose="020F0502020204030204" pitchFamily="34" charset="0"/>
              </a:rPr>
              <a:t> figures </a:t>
            </a:r>
            <a:r>
              <a:rPr lang="pt-BR" sz="850" err="1">
                <a:latin typeface="Calibri" panose="020F0502020204030204" pitchFamily="34" charset="0"/>
                <a:ea typeface="Calibri" panose="020F0502020204030204" pitchFamily="34" charset="0"/>
                <a:cs typeface="Calibri" panose="020F0502020204030204" pitchFamily="34" charset="0"/>
              </a:rPr>
              <a:t>reinforce</a:t>
            </a:r>
            <a:r>
              <a:rPr lang="pt-BR" sz="850">
                <a:latin typeface="Calibri" panose="020F0502020204030204" pitchFamily="34" charset="0"/>
                <a:ea typeface="Calibri" panose="020F0502020204030204" pitchFamily="34" charset="0"/>
                <a:cs typeface="Calibri" panose="020F0502020204030204" pitchFamily="34" charset="0"/>
              </a:rPr>
              <a:t> the </a:t>
            </a:r>
            <a:r>
              <a:rPr lang="pt-BR" sz="850" err="1">
                <a:latin typeface="Calibri" panose="020F0502020204030204" pitchFamily="34" charset="0"/>
                <a:ea typeface="Calibri" panose="020F0502020204030204" pitchFamily="34" charset="0"/>
                <a:cs typeface="Calibri" panose="020F0502020204030204" pitchFamily="34" charset="0"/>
              </a:rPr>
              <a:t>robustness</a:t>
            </a:r>
            <a:r>
              <a:rPr lang="pt-BR" sz="850">
                <a:latin typeface="Calibri" panose="020F0502020204030204" pitchFamily="34" charset="0"/>
                <a:ea typeface="Calibri" panose="020F0502020204030204" pitchFamily="34" charset="0"/>
                <a:cs typeface="Calibri" panose="020F0502020204030204" pitchFamily="34" charset="0"/>
              </a:rPr>
              <a:t> of </a:t>
            </a:r>
            <a:r>
              <a:rPr lang="pt-BR" sz="850" err="1">
                <a:latin typeface="Calibri" panose="020F0502020204030204" pitchFamily="34" charset="0"/>
                <a:ea typeface="Calibri" panose="020F0502020204030204" pitchFamily="34" charset="0"/>
                <a:cs typeface="Calibri" panose="020F0502020204030204" pitchFamily="34" charset="0"/>
              </a:rPr>
              <a:t>WEG’s</a:t>
            </a:r>
            <a:r>
              <a:rPr lang="pt-BR" sz="850">
                <a:latin typeface="Calibri" panose="020F0502020204030204" pitchFamily="34" charset="0"/>
                <a:ea typeface="Calibri" panose="020F0502020204030204" pitchFamily="34" charset="0"/>
                <a:cs typeface="Calibri" panose="020F0502020204030204" pitchFamily="34" charset="0"/>
              </a:rPr>
              <a:t> business model, </a:t>
            </a:r>
            <a:r>
              <a:rPr lang="pt-BR" sz="850" err="1">
                <a:latin typeface="Calibri" panose="020F0502020204030204" pitchFamily="34" charset="0"/>
                <a:ea typeface="Calibri" panose="020F0502020204030204" pitchFamily="34" charset="0"/>
                <a:cs typeface="Calibri" panose="020F0502020204030204" pitchFamily="34" charset="0"/>
              </a:rPr>
              <a:t>capable</a:t>
            </a:r>
            <a:r>
              <a:rPr lang="pt-BR" sz="850">
                <a:latin typeface="Calibri" panose="020F0502020204030204" pitchFamily="34" charset="0"/>
                <a:ea typeface="Calibri" panose="020F0502020204030204" pitchFamily="34" charset="0"/>
                <a:cs typeface="Calibri" panose="020F0502020204030204" pitchFamily="34" charset="0"/>
              </a:rPr>
              <a:t> of </a:t>
            </a:r>
            <a:r>
              <a:rPr lang="pt-BR" sz="850" err="1">
                <a:latin typeface="Calibri" panose="020F0502020204030204" pitchFamily="34" charset="0"/>
                <a:ea typeface="Calibri" panose="020F0502020204030204" pitchFamily="34" charset="0"/>
                <a:cs typeface="Calibri" panose="020F0502020204030204" pitchFamily="34" charset="0"/>
              </a:rPr>
              <a:t>consistently</a:t>
            </a:r>
            <a:r>
              <a:rPr lang="pt-BR" sz="850">
                <a:latin typeface="Calibri" panose="020F0502020204030204" pitchFamily="34" charset="0"/>
                <a:ea typeface="Calibri" panose="020F0502020204030204" pitchFamily="34" charset="0"/>
                <a:cs typeface="Calibri" panose="020F0502020204030204" pitchFamily="34" charset="0"/>
              </a:rPr>
              <a:t> and </a:t>
            </a:r>
            <a:r>
              <a:rPr lang="pt-BR" sz="850" err="1">
                <a:latin typeface="Calibri" panose="020F0502020204030204" pitchFamily="34" charset="0"/>
                <a:ea typeface="Calibri" panose="020F0502020204030204" pitchFamily="34" charset="0"/>
                <a:cs typeface="Calibri" panose="020F0502020204030204" pitchFamily="34" charset="0"/>
              </a:rPr>
              <a:t>sustainably</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generating</a:t>
            </a:r>
            <a:r>
              <a:rPr lang="pt-BR" sz="850">
                <a:latin typeface="Calibri" panose="020F0502020204030204" pitchFamily="34" charset="0"/>
                <a:ea typeface="Calibri" panose="020F0502020204030204" pitchFamily="34" charset="0"/>
                <a:cs typeface="Calibri" panose="020F0502020204030204" pitchFamily="34" charset="0"/>
              </a:rPr>
              <a:t> </a:t>
            </a:r>
            <a:r>
              <a:rPr lang="pt-BR" sz="850" err="1">
                <a:latin typeface="Calibri" panose="020F0502020204030204" pitchFamily="34" charset="0"/>
                <a:ea typeface="Calibri" panose="020F0502020204030204" pitchFamily="34" charset="0"/>
                <a:cs typeface="Calibri" panose="020F0502020204030204" pitchFamily="34" charset="0"/>
              </a:rPr>
              <a:t>value</a:t>
            </a:r>
            <a:r>
              <a:rPr lang="pt-BR" sz="850">
                <a:latin typeface="Calibri" panose="020F0502020204030204" pitchFamily="34" charset="0"/>
                <a:ea typeface="Calibri" panose="020F0502020204030204" pitchFamily="34" charset="0"/>
                <a:cs typeface="Calibri" panose="020F0502020204030204" pitchFamily="34" charset="0"/>
              </a:rPr>
              <a:t>.</a:t>
            </a:r>
          </a:p>
          <a:p>
            <a:pPr algn="l"/>
            <a:endParaRPr lang="pt-BR" sz="800"/>
          </a:p>
        </p:txBody>
      </p:sp>
      <p:graphicFrame>
        <p:nvGraphicFramePr>
          <p:cNvPr id="35" name="Gráfico 34">
            <a:extLst>
              <a:ext uri="{FF2B5EF4-FFF2-40B4-BE49-F238E27FC236}">
                <a16:creationId xmlns:a16="http://schemas.microsoft.com/office/drawing/2014/main" id="{A9E716B9-311D-E0CD-B738-DF703F4F3344}"/>
              </a:ext>
            </a:extLst>
          </p:cNvPr>
          <p:cNvGraphicFramePr>
            <a:graphicFrameLocks/>
          </p:cNvGraphicFramePr>
          <p:nvPr>
            <p:extLst>
              <p:ext uri="{D42A27DB-BD31-4B8C-83A1-F6EECF244321}">
                <p14:modId xmlns:p14="http://schemas.microsoft.com/office/powerpoint/2010/main" val="3509175587"/>
              </p:ext>
            </p:extLst>
          </p:nvPr>
        </p:nvGraphicFramePr>
        <p:xfrm>
          <a:off x="4270294" y="2306786"/>
          <a:ext cx="3336100" cy="1546722"/>
        </p:xfrm>
        <a:graphic>
          <a:graphicData uri="http://schemas.openxmlformats.org/drawingml/2006/chart">
            <c:chart xmlns:c="http://schemas.openxmlformats.org/drawingml/2006/chart" xmlns:r="http://schemas.openxmlformats.org/officeDocument/2006/relationships" r:id="rId7"/>
          </a:graphicData>
        </a:graphic>
      </p:graphicFrame>
      <p:sp>
        <p:nvSpPr>
          <p:cNvPr id="36" name="Espaço Reservado para Texto 5">
            <a:extLst>
              <a:ext uri="{FF2B5EF4-FFF2-40B4-BE49-F238E27FC236}">
                <a16:creationId xmlns:a16="http://schemas.microsoft.com/office/drawing/2014/main" id="{065B41B3-98F7-336B-B5E4-4A358E419696}"/>
              </a:ext>
            </a:extLst>
          </p:cNvPr>
          <p:cNvSpPr txBox="1">
            <a:spLocks/>
          </p:cNvSpPr>
          <p:nvPr/>
        </p:nvSpPr>
        <p:spPr>
          <a:xfrm>
            <a:off x="196118" y="9675732"/>
            <a:ext cx="7504540"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WEG IR, Siemens IR </a:t>
            </a: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and</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Schneider IR</a:t>
            </a:r>
          </a:p>
        </p:txBody>
      </p:sp>
      <p:graphicFrame>
        <p:nvGraphicFramePr>
          <p:cNvPr id="37" name="Gráfico 36">
            <a:extLst>
              <a:ext uri="{FF2B5EF4-FFF2-40B4-BE49-F238E27FC236}">
                <a16:creationId xmlns:a16="http://schemas.microsoft.com/office/drawing/2014/main" id="{86552E3D-E5FF-471F-BF43-1C11D4622C8E}"/>
              </a:ext>
            </a:extLst>
          </p:cNvPr>
          <p:cNvGraphicFramePr>
            <a:graphicFrameLocks/>
          </p:cNvGraphicFramePr>
          <p:nvPr>
            <p:extLst>
              <p:ext uri="{D42A27DB-BD31-4B8C-83A1-F6EECF244321}">
                <p14:modId xmlns:p14="http://schemas.microsoft.com/office/powerpoint/2010/main" val="3054783731"/>
              </p:ext>
            </p:extLst>
          </p:nvPr>
        </p:nvGraphicFramePr>
        <p:xfrm>
          <a:off x="196118" y="8685228"/>
          <a:ext cx="1058786" cy="95821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8" name="Gráfico 37">
            <a:extLst>
              <a:ext uri="{FF2B5EF4-FFF2-40B4-BE49-F238E27FC236}">
                <a16:creationId xmlns:a16="http://schemas.microsoft.com/office/drawing/2014/main" id="{E9616A20-3F1C-40B5-89FB-76AEA9A7B1F2}"/>
              </a:ext>
            </a:extLst>
          </p:cNvPr>
          <p:cNvGraphicFramePr>
            <a:graphicFrameLocks/>
          </p:cNvGraphicFramePr>
          <p:nvPr>
            <p:extLst>
              <p:ext uri="{D42A27DB-BD31-4B8C-83A1-F6EECF244321}">
                <p14:modId xmlns:p14="http://schemas.microsoft.com/office/powerpoint/2010/main" val="564093347"/>
              </p:ext>
            </p:extLst>
          </p:nvPr>
        </p:nvGraphicFramePr>
        <p:xfrm>
          <a:off x="1457992" y="8712786"/>
          <a:ext cx="1058400" cy="95760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9" name="Gráfico 38">
            <a:extLst>
              <a:ext uri="{FF2B5EF4-FFF2-40B4-BE49-F238E27FC236}">
                <a16:creationId xmlns:a16="http://schemas.microsoft.com/office/drawing/2014/main" id="{F352536A-9A2A-4C1D-8709-778122A35552}"/>
              </a:ext>
            </a:extLst>
          </p:cNvPr>
          <p:cNvGraphicFramePr>
            <a:graphicFrameLocks/>
          </p:cNvGraphicFramePr>
          <p:nvPr>
            <p:extLst>
              <p:ext uri="{D42A27DB-BD31-4B8C-83A1-F6EECF244321}">
                <p14:modId xmlns:p14="http://schemas.microsoft.com/office/powerpoint/2010/main" val="3523042118"/>
              </p:ext>
            </p:extLst>
          </p:nvPr>
        </p:nvGraphicFramePr>
        <p:xfrm>
          <a:off x="2719480" y="8718314"/>
          <a:ext cx="1058400" cy="95760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40" name="Gráfico 39">
            <a:extLst>
              <a:ext uri="{FF2B5EF4-FFF2-40B4-BE49-F238E27FC236}">
                <a16:creationId xmlns:a16="http://schemas.microsoft.com/office/drawing/2014/main" id="{C353B152-74C5-4627-87A8-8A3BF09291BD}"/>
              </a:ext>
            </a:extLst>
          </p:cNvPr>
          <p:cNvGraphicFramePr>
            <a:graphicFrameLocks/>
          </p:cNvGraphicFramePr>
          <p:nvPr>
            <p:extLst>
              <p:ext uri="{D42A27DB-BD31-4B8C-83A1-F6EECF244321}">
                <p14:modId xmlns:p14="http://schemas.microsoft.com/office/powerpoint/2010/main" val="1013138047"/>
              </p:ext>
            </p:extLst>
          </p:nvPr>
        </p:nvGraphicFramePr>
        <p:xfrm>
          <a:off x="3980968" y="8723041"/>
          <a:ext cx="1058400" cy="9576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41" name="Gráfico 40">
            <a:extLst>
              <a:ext uri="{FF2B5EF4-FFF2-40B4-BE49-F238E27FC236}">
                <a16:creationId xmlns:a16="http://schemas.microsoft.com/office/drawing/2014/main" id="{78B0F508-7F8A-4343-8E1C-7FE0A30C860B}"/>
              </a:ext>
            </a:extLst>
          </p:cNvPr>
          <p:cNvGraphicFramePr>
            <a:graphicFrameLocks/>
          </p:cNvGraphicFramePr>
          <p:nvPr>
            <p:extLst>
              <p:ext uri="{D42A27DB-BD31-4B8C-83A1-F6EECF244321}">
                <p14:modId xmlns:p14="http://schemas.microsoft.com/office/powerpoint/2010/main" val="2374070067"/>
              </p:ext>
            </p:extLst>
          </p:nvPr>
        </p:nvGraphicFramePr>
        <p:xfrm>
          <a:off x="5242456" y="8723041"/>
          <a:ext cx="1058400" cy="957600"/>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42" name="Gráfico 41">
            <a:extLst>
              <a:ext uri="{FF2B5EF4-FFF2-40B4-BE49-F238E27FC236}">
                <a16:creationId xmlns:a16="http://schemas.microsoft.com/office/drawing/2014/main" id="{922FD469-424C-45DA-B74C-ECAF737B0330}"/>
              </a:ext>
            </a:extLst>
          </p:cNvPr>
          <p:cNvGraphicFramePr>
            <a:graphicFrameLocks/>
          </p:cNvGraphicFramePr>
          <p:nvPr>
            <p:extLst>
              <p:ext uri="{D42A27DB-BD31-4B8C-83A1-F6EECF244321}">
                <p14:modId xmlns:p14="http://schemas.microsoft.com/office/powerpoint/2010/main" val="3469615280"/>
              </p:ext>
            </p:extLst>
          </p:nvPr>
        </p:nvGraphicFramePr>
        <p:xfrm>
          <a:off x="6503944" y="8733987"/>
          <a:ext cx="1058400" cy="957600"/>
        </p:xfrm>
        <a:graphic>
          <a:graphicData uri="http://schemas.openxmlformats.org/drawingml/2006/chart">
            <c:chart xmlns:c="http://schemas.openxmlformats.org/drawingml/2006/chart" xmlns:r="http://schemas.openxmlformats.org/officeDocument/2006/relationships" r:id="rId13"/>
          </a:graphicData>
        </a:graphic>
      </p:graphicFrame>
      <p:sp>
        <p:nvSpPr>
          <p:cNvPr id="43" name="Igual a 42">
            <a:extLst>
              <a:ext uri="{FF2B5EF4-FFF2-40B4-BE49-F238E27FC236}">
                <a16:creationId xmlns:a16="http://schemas.microsoft.com/office/drawing/2014/main" id="{9FBBC719-40F1-5E4B-89B9-68CDB5AD7DE3}"/>
              </a:ext>
            </a:extLst>
          </p:cNvPr>
          <p:cNvSpPr/>
          <p:nvPr/>
        </p:nvSpPr>
        <p:spPr>
          <a:xfrm>
            <a:off x="1208897" y="9149286"/>
            <a:ext cx="277359" cy="127000"/>
          </a:xfrm>
          <a:prstGeom prst="mathEqual">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4" name="Sinal de Multiplicação 43">
            <a:extLst>
              <a:ext uri="{FF2B5EF4-FFF2-40B4-BE49-F238E27FC236}">
                <a16:creationId xmlns:a16="http://schemas.microsoft.com/office/drawing/2014/main" id="{D2173B10-71CF-C712-9EA3-4DD2F534EA4E}"/>
              </a:ext>
            </a:extLst>
          </p:cNvPr>
          <p:cNvSpPr/>
          <p:nvPr/>
        </p:nvSpPr>
        <p:spPr>
          <a:xfrm>
            <a:off x="2516199" y="9062644"/>
            <a:ext cx="185731" cy="257883"/>
          </a:xfrm>
          <a:prstGeom prst="mathMultiply">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Sinal de Multiplicação 44">
            <a:extLst>
              <a:ext uri="{FF2B5EF4-FFF2-40B4-BE49-F238E27FC236}">
                <a16:creationId xmlns:a16="http://schemas.microsoft.com/office/drawing/2014/main" id="{7DEA8B09-8FE1-A552-01B4-529E0FEDD540}"/>
              </a:ext>
            </a:extLst>
          </p:cNvPr>
          <p:cNvSpPr/>
          <p:nvPr/>
        </p:nvSpPr>
        <p:spPr>
          <a:xfrm>
            <a:off x="3777493" y="9057473"/>
            <a:ext cx="185731" cy="257883"/>
          </a:xfrm>
          <a:prstGeom prst="mathMultiply">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Sinal de Multiplicação 45">
            <a:extLst>
              <a:ext uri="{FF2B5EF4-FFF2-40B4-BE49-F238E27FC236}">
                <a16:creationId xmlns:a16="http://schemas.microsoft.com/office/drawing/2014/main" id="{DE8F100D-5991-8DBC-DA92-C7B24E02445A}"/>
              </a:ext>
            </a:extLst>
          </p:cNvPr>
          <p:cNvSpPr/>
          <p:nvPr/>
        </p:nvSpPr>
        <p:spPr>
          <a:xfrm>
            <a:off x="5056725" y="9058007"/>
            <a:ext cx="185731" cy="257883"/>
          </a:xfrm>
          <a:prstGeom prst="mathMultiply">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Sinal de Multiplicação 46">
            <a:extLst>
              <a:ext uri="{FF2B5EF4-FFF2-40B4-BE49-F238E27FC236}">
                <a16:creationId xmlns:a16="http://schemas.microsoft.com/office/drawing/2014/main" id="{6B1592E5-0276-9547-3A79-7C0A81729B98}"/>
              </a:ext>
            </a:extLst>
          </p:cNvPr>
          <p:cNvSpPr/>
          <p:nvPr/>
        </p:nvSpPr>
        <p:spPr>
          <a:xfrm>
            <a:off x="6300468" y="9067792"/>
            <a:ext cx="185731" cy="257883"/>
          </a:xfrm>
          <a:prstGeom prst="mathMultiply">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CaixaDeTexto 47">
            <a:extLst>
              <a:ext uri="{FF2B5EF4-FFF2-40B4-BE49-F238E27FC236}">
                <a16:creationId xmlns:a16="http://schemas.microsoft.com/office/drawing/2014/main" id="{D9D4984D-31DF-071B-67E8-95CDDAC7C54D}"/>
              </a:ext>
            </a:extLst>
          </p:cNvPr>
          <p:cNvSpPr txBox="1"/>
          <p:nvPr/>
        </p:nvSpPr>
        <p:spPr>
          <a:xfrm>
            <a:off x="365010" y="8551552"/>
            <a:ext cx="711200" cy="223138"/>
          </a:xfrm>
          <a:prstGeom prst="rect">
            <a:avLst/>
          </a:prstGeom>
          <a:noFill/>
        </p:spPr>
        <p:txBody>
          <a:bodyPr wrap="square" rtlCol="0">
            <a:spAutoFit/>
          </a:bodyPr>
          <a:lstStyle/>
          <a:p>
            <a:pPr algn="ctr"/>
            <a:r>
              <a:rPr lang="pt-BR" sz="850" b="1">
                <a:latin typeface="Calibri" panose="020F0502020204030204" pitchFamily="34" charset="0"/>
                <a:ea typeface="Calibri" panose="020F0502020204030204" pitchFamily="34" charset="0"/>
                <a:cs typeface="Calibri" panose="020F0502020204030204" pitchFamily="34" charset="0"/>
              </a:rPr>
              <a:t>ROE</a:t>
            </a:r>
          </a:p>
        </p:txBody>
      </p:sp>
      <p:sp>
        <p:nvSpPr>
          <p:cNvPr id="49" name="CaixaDeTexto 48">
            <a:extLst>
              <a:ext uri="{FF2B5EF4-FFF2-40B4-BE49-F238E27FC236}">
                <a16:creationId xmlns:a16="http://schemas.microsoft.com/office/drawing/2014/main" id="{12EDEDFD-075F-C093-D86B-FCB8D8977318}"/>
              </a:ext>
            </a:extLst>
          </p:cNvPr>
          <p:cNvSpPr txBox="1"/>
          <p:nvPr/>
        </p:nvSpPr>
        <p:spPr>
          <a:xfrm>
            <a:off x="1448190" y="8551552"/>
            <a:ext cx="711200" cy="223138"/>
          </a:xfrm>
          <a:prstGeom prst="rect">
            <a:avLst/>
          </a:prstGeom>
          <a:noFill/>
        </p:spPr>
        <p:txBody>
          <a:bodyPr wrap="square" rtlCol="0">
            <a:spAutoFit/>
          </a:bodyPr>
          <a:lstStyle/>
          <a:p>
            <a:pPr algn="ctr"/>
            <a:r>
              <a:rPr lang="pt-BR" sz="850" b="1" err="1">
                <a:latin typeface="Calibri" panose="020F0502020204030204" pitchFamily="34" charset="0"/>
                <a:ea typeface="Calibri" panose="020F0502020204030204" pitchFamily="34" charset="0"/>
                <a:cs typeface="Calibri" panose="020F0502020204030204" pitchFamily="34" charset="0"/>
              </a:rPr>
              <a:t>Tax</a:t>
            </a:r>
            <a:r>
              <a:rPr lang="pt-BR" sz="850" b="1">
                <a:latin typeface="Calibri" panose="020F0502020204030204" pitchFamily="34" charset="0"/>
                <a:ea typeface="Calibri" panose="020F0502020204030204" pitchFamily="34" charset="0"/>
                <a:cs typeface="Calibri" panose="020F0502020204030204" pitchFamily="34" charset="0"/>
              </a:rPr>
              <a:t> </a:t>
            </a:r>
            <a:r>
              <a:rPr lang="pt-BR" sz="850" b="1" err="1">
                <a:latin typeface="Calibri" panose="020F0502020204030204" pitchFamily="34" charset="0"/>
                <a:ea typeface="Calibri" panose="020F0502020204030204" pitchFamily="34" charset="0"/>
                <a:cs typeface="Calibri" panose="020F0502020204030204" pitchFamily="34" charset="0"/>
              </a:rPr>
              <a:t>Burden</a:t>
            </a:r>
            <a:endParaRPr lang="pt-BR" sz="850" b="1">
              <a:latin typeface="Calibri" panose="020F0502020204030204" pitchFamily="34" charset="0"/>
              <a:ea typeface="Calibri" panose="020F0502020204030204" pitchFamily="34" charset="0"/>
              <a:cs typeface="Calibri" panose="020F0502020204030204" pitchFamily="34" charset="0"/>
            </a:endParaRPr>
          </a:p>
        </p:txBody>
      </p:sp>
      <p:sp>
        <p:nvSpPr>
          <p:cNvPr id="50" name="CaixaDeTexto 49">
            <a:extLst>
              <a:ext uri="{FF2B5EF4-FFF2-40B4-BE49-F238E27FC236}">
                <a16:creationId xmlns:a16="http://schemas.microsoft.com/office/drawing/2014/main" id="{C3FE16BB-79DB-915B-F9AD-2433EE69E040}"/>
              </a:ext>
            </a:extLst>
          </p:cNvPr>
          <p:cNvSpPr txBox="1"/>
          <p:nvPr/>
        </p:nvSpPr>
        <p:spPr>
          <a:xfrm>
            <a:off x="2531370" y="8530440"/>
            <a:ext cx="948859" cy="223138"/>
          </a:xfrm>
          <a:prstGeom prst="rect">
            <a:avLst/>
          </a:prstGeom>
          <a:noFill/>
        </p:spPr>
        <p:txBody>
          <a:bodyPr wrap="square" rtlCol="0">
            <a:spAutoFit/>
          </a:bodyPr>
          <a:lstStyle/>
          <a:p>
            <a:pPr algn="ctr"/>
            <a:r>
              <a:rPr lang="pt-BR" sz="850" b="1" err="1">
                <a:latin typeface="Calibri" panose="020F0502020204030204" pitchFamily="34" charset="0"/>
                <a:ea typeface="Calibri" panose="020F0502020204030204" pitchFamily="34" charset="0"/>
                <a:cs typeface="Calibri" panose="020F0502020204030204" pitchFamily="34" charset="0"/>
              </a:rPr>
              <a:t>Interest</a:t>
            </a:r>
            <a:r>
              <a:rPr lang="pt-BR" sz="850" b="1">
                <a:latin typeface="Calibri" panose="020F0502020204030204" pitchFamily="34" charset="0"/>
                <a:ea typeface="Calibri" panose="020F0502020204030204" pitchFamily="34" charset="0"/>
                <a:cs typeface="Calibri" panose="020F0502020204030204" pitchFamily="34" charset="0"/>
              </a:rPr>
              <a:t> </a:t>
            </a:r>
            <a:r>
              <a:rPr lang="pt-BR" sz="850" b="1" err="1">
                <a:latin typeface="Calibri" panose="020F0502020204030204" pitchFamily="34" charset="0"/>
                <a:ea typeface="Calibri" panose="020F0502020204030204" pitchFamily="34" charset="0"/>
                <a:cs typeface="Calibri" panose="020F0502020204030204" pitchFamily="34" charset="0"/>
              </a:rPr>
              <a:t>Burden</a:t>
            </a:r>
            <a:endParaRPr lang="pt-BR" sz="850" b="1">
              <a:latin typeface="Calibri" panose="020F0502020204030204" pitchFamily="34" charset="0"/>
              <a:ea typeface="Calibri" panose="020F0502020204030204" pitchFamily="34" charset="0"/>
              <a:cs typeface="Calibri" panose="020F0502020204030204" pitchFamily="34" charset="0"/>
            </a:endParaRPr>
          </a:p>
        </p:txBody>
      </p:sp>
      <p:sp>
        <p:nvSpPr>
          <p:cNvPr id="51" name="CaixaDeTexto 50">
            <a:extLst>
              <a:ext uri="{FF2B5EF4-FFF2-40B4-BE49-F238E27FC236}">
                <a16:creationId xmlns:a16="http://schemas.microsoft.com/office/drawing/2014/main" id="{A3C9588B-C842-523B-EF53-E7BE811409C0}"/>
              </a:ext>
            </a:extLst>
          </p:cNvPr>
          <p:cNvSpPr txBox="1"/>
          <p:nvPr/>
        </p:nvSpPr>
        <p:spPr>
          <a:xfrm>
            <a:off x="3852209" y="8532050"/>
            <a:ext cx="864869" cy="223138"/>
          </a:xfrm>
          <a:prstGeom prst="rect">
            <a:avLst/>
          </a:prstGeom>
          <a:noFill/>
        </p:spPr>
        <p:txBody>
          <a:bodyPr wrap="square" rtlCol="0">
            <a:spAutoFit/>
          </a:bodyPr>
          <a:lstStyle/>
          <a:p>
            <a:pPr algn="ctr"/>
            <a:r>
              <a:rPr lang="pt-BR" sz="850" b="1">
                <a:latin typeface="Calibri" panose="020F0502020204030204" pitchFamily="34" charset="0"/>
                <a:ea typeface="Calibri" panose="020F0502020204030204" pitchFamily="34" charset="0"/>
                <a:cs typeface="Calibri" panose="020F0502020204030204" pitchFamily="34" charset="0"/>
              </a:rPr>
              <a:t>EBIT </a:t>
            </a:r>
            <a:r>
              <a:rPr lang="pt-BR" sz="850" b="1" err="1">
                <a:latin typeface="Calibri" panose="020F0502020204030204" pitchFamily="34" charset="0"/>
                <a:ea typeface="Calibri" panose="020F0502020204030204" pitchFamily="34" charset="0"/>
                <a:cs typeface="Calibri" panose="020F0502020204030204" pitchFamily="34" charset="0"/>
              </a:rPr>
              <a:t>Margin</a:t>
            </a:r>
            <a:endParaRPr lang="pt-BR" sz="850" b="1">
              <a:latin typeface="Calibri" panose="020F0502020204030204" pitchFamily="34" charset="0"/>
              <a:ea typeface="Calibri" panose="020F0502020204030204" pitchFamily="34" charset="0"/>
              <a:cs typeface="Calibri" panose="020F0502020204030204" pitchFamily="34" charset="0"/>
            </a:endParaRPr>
          </a:p>
        </p:txBody>
      </p:sp>
      <p:sp>
        <p:nvSpPr>
          <p:cNvPr id="52" name="CaixaDeTexto 51">
            <a:extLst>
              <a:ext uri="{FF2B5EF4-FFF2-40B4-BE49-F238E27FC236}">
                <a16:creationId xmlns:a16="http://schemas.microsoft.com/office/drawing/2014/main" id="{BAF06DA3-026E-EC45-B591-41C82C65A9CC}"/>
              </a:ext>
            </a:extLst>
          </p:cNvPr>
          <p:cNvSpPr txBox="1"/>
          <p:nvPr/>
        </p:nvSpPr>
        <p:spPr>
          <a:xfrm>
            <a:off x="5089058" y="8551552"/>
            <a:ext cx="874013" cy="223138"/>
          </a:xfrm>
          <a:prstGeom prst="rect">
            <a:avLst/>
          </a:prstGeom>
          <a:noFill/>
        </p:spPr>
        <p:txBody>
          <a:bodyPr wrap="square" rtlCol="0">
            <a:spAutoFit/>
          </a:bodyPr>
          <a:lstStyle/>
          <a:p>
            <a:pPr algn="ctr"/>
            <a:r>
              <a:rPr lang="pt-BR" sz="850" b="1" err="1">
                <a:latin typeface="Calibri" panose="020F0502020204030204" pitchFamily="34" charset="0"/>
                <a:ea typeface="Calibri" panose="020F0502020204030204" pitchFamily="34" charset="0"/>
                <a:cs typeface="Calibri" panose="020F0502020204030204" pitchFamily="34" charset="0"/>
              </a:rPr>
              <a:t>Asset</a:t>
            </a:r>
            <a:r>
              <a:rPr lang="pt-BR" sz="850" b="1">
                <a:latin typeface="Calibri" panose="020F0502020204030204" pitchFamily="34" charset="0"/>
                <a:ea typeface="Calibri" panose="020F0502020204030204" pitchFamily="34" charset="0"/>
                <a:cs typeface="Calibri" panose="020F0502020204030204" pitchFamily="34" charset="0"/>
              </a:rPr>
              <a:t> Turnover</a:t>
            </a:r>
          </a:p>
        </p:txBody>
      </p:sp>
      <p:sp>
        <p:nvSpPr>
          <p:cNvPr id="53" name="CaixaDeTexto 52">
            <a:extLst>
              <a:ext uri="{FF2B5EF4-FFF2-40B4-BE49-F238E27FC236}">
                <a16:creationId xmlns:a16="http://schemas.microsoft.com/office/drawing/2014/main" id="{0E06D392-6331-A60A-B67C-171DD079F091}"/>
              </a:ext>
            </a:extLst>
          </p:cNvPr>
          <p:cNvSpPr txBox="1"/>
          <p:nvPr/>
        </p:nvSpPr>
        <p:spPr>
          <a:xfrm>
            <a:off x="6335051" y="8555227"/>
            <a:ext cx="1058400" cy="223138"/>
          </a:xfrm>
          <a:prstGeom prst="rect">
            <a:avLst/>
          </a:prstGeom>
          <a:noFill/>
        </p:spPr>
        <p:txBody>
          <a:bodyPr wrap="square" rtlCol="0">
            <a:spAutoFit/>
          </a:bodyPr>
          <a:lstStyle/>
          <a:p>
            <a:pPr algn="ctr"/>
            <a:r>
              <a:rPr lang="pt-BR" sz="850" b="1">
                <a:latin typeface="Calibri" panose="020F0502020204030204" pitchFamily="34" charset="0"/>
                <a:ea typeface="Calibri" panose="020F0502020204030204" pitchFamily="34" charset="0"/>
                <a:cs typeface="Calibri" panose="020F0502020204030204" pitchFamily="34" charset="0"/>
              </a:rPr>
              <a:t>Financial </a:t>
            </a:r>
            <a:r>
              <a:rPr lang="pt-BR" sz="850" b="1" err="1">
                <a:latin typeface="Calibri" panose="020F0502020204030204" pitchFamily="34" charset="0"/>
                <a:ea typeface="Calibri" panose="020F0502020204030204" pitchFamily="34" charset="0"/>
                <a:cs typeface="Calibri" panose="020F0502020204030204" pitchFamily="34" charset="0"/>
              </a:rPr>
              <a:t>Leverage</a:t>
            </a:r>
            <a:endParaRPr lang="pt-BR" sz="850" b="1">
              <a:latin typeface="Calibri" panose="020F0502020204030204" pitchFamily="34" charset="0"/>
              <a:ea typeface="Calibri" panose="020F0502020204030204" pitchFamily="34" charset="0"/>
              <a:cs typeface="Calibri" panose="020F0502020204030204" pitchFamily="34" charset="0"/>
            </a:endParaRPr>
          </a:p>
        </p:txBody>
      </p:sp>
      <p:sp>
        <p:nvSpPr>
          <p:cNvPr id="20" name="Espaço Reservado para Texto 1">
            <a:extLst>
              <a:ext uri="{FF2B5EF4-FFF2-40B4-BE49-F238E27FC236}">
                <a16:creationId xmlns:a16="http://schemas.microsoft.com/office/drawing/2014/main" id="{BFCB0472-169E-2FE5-1848-401E8BE9736A}"/>
              </a:ext>
            </a:extLst>
          </p:cNvPr>
          <p:cNvSpPr txBox="1">
            <a:spLocks/>
          </p:cNvSpPr>
          <p:nvPr/>
        </p:nvSpPr>
        <p:spPr>
          <a:xfrm>
            <a:off x="6764177" y="45208"/>
            <a:ext cx="828675" cy="223837"/>
          </a:xfrm>
          <a:prstGeom prst="rect">
            <a:avLst/>
          </a:prstGeom>
        </p:spPr>
        <p:txBody>
          <a:bodyPr/>
          <a:lstStyle>
            <a:lvl1pPr marL="0">
              <a:defRPr sz="700">
                <a:solidFill>
                  <a:schemeClr val="bg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700" b="0" i="0" u="none" strike="noStrike" kern="0" cap="none" spc="0" normalizeH="0" baseline="0" noProof="0">
                <a:ln>
                  <a:noFill/>
                </a:ln>
                <a:solidFill>
                  <a:sysClr val="window" lastClr="FFFFFF"/>
                </a:solidFill>
                <a:effectLst/>
                <a:uLnTx/>
                <a:uFillTx/>
                <a:latin typeface="Calibri"/>
                <a:ea typeface="+mn-ea"/>
                <a:cs typeface="+mn-cs"/>
              </a:rPr>
              <a:t>Group 2</a:t>
            </a:r>
          </a:p>
        </p:txBody>
      </p:sp>
      <p:sp>
        <p:nvSpPr>
          <p:cNvPr id="23" name="Espaço Reservado para Número de Slide 16">
            <a:extLst>
              <a:ext uri="{FF2B5EF4-FFF2-40B4-BE49-F238E27FC236}">
                <a16:creationId xmlns:a16="http://schemas.microsoft.com/office/drawing/2014/main" id="{84716C15-2195-CCC2-70BF-6C210B0608A4}"/>
              </a:ext>
            </a:extLst>
          </p:cNvPr>
          <p:cNvSpPr txBox="1">
            <a:spLocks/>
          </p:cNvSpPr>
          <p:nvPr/>
        </p:nvSpPr>
        <p:spPr>
          <a:xfrm>
            <a:off x="7178515" y="10312736"/>
            <a:ext cx="515895" cy="230114"/>
          </a:xfrm>
          <a:prstGeom prst="rect">
            <a:avLst/>
          </a:prstGeom>
          <a:solidFill>
            <a:srgbClr val="172C63"/>
          </a:solidFill>
          <a:ln>
            <a:noFill/>
          </a:ln>
        </p:spPr>
        <p:txBody>
          <a:bodyPr lIns="0" tIns="0" rIns="0" bIns="0" anchor="ctr"/>
          <a:lstStyle>
            <a:defPPr>
              <a:defRPr lang="pt-BR"/>
            </a:defPPr>
            <a:lvl1pPr marL="0" algn="l" defTabSz="914400" rtl="0" eaLnBrk="1" latinLnBrk="0" hangingPunct="1">
              <a:defRPr sz="85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5"/>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Calibri"/>
                <a:ea typeface="+mn-ea"/>
                <a:cs typeface="Calibri"/>
              </a:rPr>
              <a:t>9</a:t>
            </a:r>
          </a:p>
        </p:txBody>
      </p:sp>
      <p:graphicFrame>
        <p:nvGraphicFramePr>
          <p:cNvPr id="14" name="Tabela 13">
            <a:extLst>
              <a:ext uri="{FF2B5EF4-FFF2-40B4-BE49-F238E27FC236}">
                <a16:creationId xmlns:a16="http://schemas.microsoft.com/office/drawing/2014/main" id="{AAFC35F8-6316-4E66-88BA-2D400A57A26E}"/>
              </a:ext>
            </a:extLst>
          </p:cNvPr>
          <p:cNvGraphicFramePr>
            <a:graphicFrameLocks noGrp="1"/>
          </p:cNvGraphicFramePr>
          <p:nvPr>
            <p:extLst>
              <p:ext uri="{D42A27DB-BD31-4B8C-83A1-F6EECF244321}">
                <p14:modId xmlns:p14="http://schemas.microsoft.com/office/powerpoint/2010/main" val="1359209225"/>
              </p:ext>
            </p:extLst>
          </p:nvPr>
        </p:nvGraphicFramePr>
        <p:xfrm>
          <a:off x="159953" y="4516573"/>
          <a:ext cx="7402391" cy="1146242"/>
        </p:xfrm>
        <a:graphic>
          <a:graphicData uri="http://schemas.openxmlformats.org/drawingml/2006/table">
            <a:tbl>
              <a:tblPr firstRow="1">
                <a:tableStyleId>{5C22544A-7EE6-4342-B048-85BDC9FD1C3A}</a:tableStyleId>
              </a:tblPr>
              <a:tblGrid>
                <a:gridCol w="685164">
                  <a:extLst>
                    <a:ext uri="{9D8B030D-6E8A-4147-A177-3AD203B41FA5}">
                      <a16:colId xmlns:a16="http://schemas.microsoft.com/office/drawing/2014/main" val="3066482564"/>
                    </a:ext>
                  </a:extLst>
                </a:gridCol>
                <a:gridCol w="459419">
                  <a:extLst>
                    <a:ext uri="{9D8B030D-6E8A-4147-A177-3AD203B41FA5}">
                      <a16:colId xmlns:a16="http://schemas.microsoft.com/office/drawing/2014/main" val="1904926101"/>
                    </a:ext>
                  </a:extLst>
                </a:gridCol>
                <a:gridCol w="426170">
                  <a:extLst>
                    <a:ext uri="{9D8B030D-6E8A-4147-A177-3AD203B41FA5}">
                      <a16:colId xmlns:a16="http://schemas.microsoft.com/office/drawing/2014/main" val="2511432020"/>
                    </a:ext>
                  </a:extLst>
                </a:gridCol>
                <a:gridCol w="275673">
                  <a:extLst>
                    <a:ext uri="{9D8B030D-6E8A-4147-A177-3AD203B41FA5}">
                      <a16:colId xmlns:a16="http://schemas.microsoft.com/office/drawing/2014/main" val="2355187729"/>
                    </a:ext>
                  </a:extLst>
                </a:gridCol>
                <a:gridCol w="321172">
                  <a:extLst>
                    <a:ext uri="{9D8B030D-6E8A-4147-A177-3AD203B41FA5}">
                      <a16:colId xmlns:a16="http://schemas.microsoft.com/office/drawing/2014/main" val="1881577185"/>
                    </a:ext>
                  </a:extLst>
                </a:gridCol>
                <a:gridCol w="289673">
                  <a:extLst>
                    <a:ext uri="{9D8B030D-6E8A-4147-A177-3AD203B41FA5}">
                      <a16:colId xmlns:a16="http://schemas.microsoft.com/office/drawing/2014/main" val="3040831867"/>
                    </a:ext>
                  </a:extLst>
                </a:gridCol>
                <a:gridCol w="462920">
                  <a:extLst>
                    <a:ext uri="{9D8B030D-6E8A-4147-A177-3AD203B41FA5}">
                      <a16:colId xmlns:a16="http://schemas.microsoft.com/office/drawing/2014/main" val="2689058956"/>
                    </a:ext>
                  </a:extLst>
                </a:gridCol>
                <a:gridCol w="293174">
                  <a:extLst>
                    <a:ext uri="{9D8B030D-6E8A-4147-A177-3AD203B41FA5}">
                      <a16:colId xmlns:a16="http://schemas.microsoft.com/office/drawing/2014/main" val="3865956042"/>
                    </a:ext>
                  </a:extLst>
                </a:gridCol>
                <a:gridCol w="413921">
                  <a:extLst>
                    <a:ext uri="{9D8B030D-6E8A-4147-A177-3AD203B41FA5}">
                      <a16:colId xmlns:a16="http://schemas.microsoft.com/office/drawing/2014/main" val="2420570141"/>
                    </a:ext>
                  </a:extLst>
                </a:gridCol>
                <a:gridCol w="455920">
                  <a:extLst>
                    <a:ext uri="{9D8B030D-6E8A-4147-A177-3AD203B41FA5}">
                      <a16:colId xmlns:a16="http://schemas.microsoft.com/office/drawing/2014/main" val="875638035"/>
                    </a:ext>
                  </a:extLst>
                </a:gridCol>
                <a:gridCol w="230175">
                  <a:extLst>
                    <a:ext uri="{9D8B030D-6E8A-4147-A177-3AD203B41FA5}">
                      <a16:colId xmlns:a16="http://schemas.microsoft.com/office/drawing/2014/main" val="1635263522"/>
                    </a:ext>
                  </a:extLst>
                </a:gridCol>
                <a:gridCol w="581918">
                  <a:extLst>
                    <a:ext uri="{9D8B030D-6E8A-4147-A177-3AD203B41FA5}">
                      <a16:colId xmlns:a16="http://schemas.microsoft.com/office/drawing/2014/main" val="2605667366"/>
                    </a:ext>
                  </a:extLst>
                </a:gridCol>
                <a:gridCol w="364922">
                  <a:extLst>
                    <a:ext uri="{9D8B030D-6E8A-4147-A177-3AD203B41FA5}">
                      <a16:colId xmlns:a16="http://schemas.microsoft.com/office/drawing/2014/main" val="1666059834"/>
                    </a:ext>
                  </a:extLst>
                </a:gridCol>
                <a:gridCol w="700915">
                  <a:extLst>
                    <a:ext uri="{9D8B030D-6E8A-4147-A177-3AD203B41FA5}">
                      <a16:colId xmlns:a16="http://schemas.microsoft.com/office/drawing/2014/main" val="2481451314"/>
                    </a:ext>
                  </a:extLst>
                </a:gridCol>
                <a:gridCol w="529417">
                  <a:extLst>
                    <a:ext uri="{9D8B030D-6E8A-4147-A177-3AD203B41FA5}">
                      <a16:colId xmlns:a16="http://schemas.microsoft.com/office/drawing/2014/main" val="3644811722"/>
                    </a:ext>
                  </a:extLst>
                </a:gridCol>
                <a:gridCol w="510168">
                  <a:extLst>
                    <a:ext uri="{9D8B030D-6E8A-4147-A177-3AD203B41FA5}">
                      <a16:colId xmlns:a16="http://schemas.microsoft.com/office/drawing/2014/main" val="1133196031"/>
                    </a:ext>
                  </a:extLst>
                </a:gridCol>
                <a:gridCol w="401670">
                  <a:extLst>
                    <a:ext uri="{9D8B030D-6E8A-4147-A177-3AD203B41FA5}">
                      <a16:colId xmlns:a16="http://schemas.microsoft.com/office/drawing/2014/main" val="3581639722"/>
                    </a:ext>
                  </a:extLst>
                </a:gridCol>
              </a:tblGrid>
              <a:tr h="115641">
                <a:tc>
                  <a:txBody>
                    <a:bodyPr/>
                    <a:lstStyle/>
                    <a:p>
                      <a:pPr algn="ctr" fontAlgn="b"/>
                      <a:r>
                        <a:rPr lang="pt-BR" sz="600" u="none" strike="noStrike">
                          <a:effectLst/>
                        </a:rPr>
                        <a:t>Companies</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Industry AT</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Reductors</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Drives</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Control</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Panels</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Alternators</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Térmic</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PCH/CGH</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windpower</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Solar</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Trafo Potência</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Trafo dry</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Trafo Distribution</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Subestações</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Fracionários</a:t>
                      </a:r>
                      <a:endParaRPr lang="pt-BR" sz="600" b="1" i="0" u="none" strike="noStrike">
                        <a:solidFill>
                          <a:srgbClr val="FFFFFF"/>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Doméstic</a:t>
                      </a:r>
                      <a:endParaRPr lang="pt-BR" sz="600" b="1" i="0" u="none" strike="noStrike">
                        <a:solidFill>
                          <a:srgbClr val="FFFFFF"/>
                        </a:solidFill>
                        <a:effectLst/>
                        <a:latin typeface="Arial" panose="020B0604020202020204" pitchFamily="34" charset="0"/>
                      </a:endParaRPr>
                    </a:p>
                  </a:txBody>
                  <a:tcPr marL="2803" marR="2803" marT="2803" marB="0" anchor="ctr"/>
                </a:tc>
                <a:extLst>
                  <a:ext uri="{0D108BD9-81ED-4DB2-BD59-A6C34878D82A}">
                    <a16:rowId xmlns:a16="http://schemas.microsoft.com/office/drawing/2014/main" val="3033364205"/>
                  </a:ext>
                </a:extLst>
              </a:tr>
              <a:tr h="115641">
                <a:tc>
                  <a:txBody>
                    <a:bodyPr/>
                    <a:lstStyle/>
                    <a:p>
                      <a:pPr algn="ctr" fontAlgn="b"/>
                      <a:r>
                        <a:rPr lang="pt-BR" sz="600" u="none" strike="noStrike">
                          <a:effectLst/>
                        </a:rPr>
                        <a:t>WEG</a:t>
                      </a:r>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extLst>
                  <a:ext uri="{0D108BD9-81ED-4DB2-BD59-A6C34878D82A}">
                    <a16:rowId xmlns:a16="http://schemas.microsoft.com/office/drawing/2014/main" val="31775582"/>
                  </a:ext>
                </a:extLst>
              </a:tr>
              <a:tr h="115641">
                <a:tc>
                  <a:txBody>
                    <a:bodyPr/>
                    <a:lstStyle/>
                    <a:p>
                      <a:pPr algn="ctr" fontAlgn="b"/>
                      <a:r>
                        <a:rPr lang="pt-BR" sz="600" u="none" strike="noStrike">
                          <a:effectLst/>
                        </a:rPr>
                        <a:t>GE</a:t>
                      </a:r>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extLst>
                  <a:ext uri="{0D108BD9-81ED-4DB2-BD59-A6C34878D82A}">
                    <a16:rowId xmlns:a16="http://schemas.microsoft.com/office/drawing/2014/main" val="2188646160"/>
                  </a:ext>
                </a:extLst>
              </a:tr>
              <a:tr h="115641">
                <a:tc>
                  <a:txBody>
                    <a:bodyPr/>
                    <a:lstStyle/>
                    <a:p>
                      <a:pPr algn="ctr" fontAlgn="b"/>
                      <a:r>
                        <a:rPr lang="pt-BR" sz="600" u="none" strike="noStrike">
                          <a:effectLst/>
                        </a:rPr>
                        <a:t>SIEMENS</a:t>
                      </a:r>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extLst>
                  <a:ext uri="{0D108BD9-81ED-4DB2-BD59-A6C34878D82A}">
                    <a16:rowId xmlns:a16="http://schemas.microsoft.com/office/drawing/2014/main" val="3333157252"/>
                  </a:ext>
                </a:extLst>
              </a:tr>
              <a:tr h="115641">
                <a:tc>
                  <a:txBody>
                    <a:bodyPr/>
                    <a:lstStyle/>
                    <a:p>
                      <a:pPr algn="ctr" fontAlgn="b"/>
                      <a:r>
                        <a:rPr lang="pt-BR" sz="600" u="none" strike="noStrike">
                          <a:effectLst/>
                        </a:rPr>
                        <a:t>ABB</a:t>
                      </a:r>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ptos Narrow" panose="020B00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extLst>
                  <a:ext uri="{0D108BD9-81ED-4DB2-BD59-A6C34878D82A}">
                    <a16:rowId xmlns:a16="http://schemas.microsoft.com/office/drawing/2014/main" val="2724796892"/>
                  </a:ext>
                </a:extLst>
              </a:tr>
              <a:tr h="226198">
                <a:tc>
                  <a:txBody>
                    <a:bodyPr/>
                    <a:lstStyle/>
                    <a:p>
                      <a:pPr algn="ctr" fontAlgn="b"/>
                      <a:r>
                        <a:rPr lang="pt-BR" sz="600" u="none" strike="noStrike">
                          <a:effectLst/>
                        </a:rPr>
                        <a:t>Schneider Electric</a:t>
                      </a:r>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ptos Narrow" panose="020B00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extLst>
                  <a:ext uri="{0D108BD9-81ED-4DB2-BD59-A6C34878D82A}">
                    <a16:rowId xmlns:a16="http://schemas.microsoft.com/office/drawing/2014/main" val="1730622182"/>
                  </a:ext>
                </a:extLst>
              </a:tr>
              <a:tr h="226198">
                <a:tc>
                  <a:txBody>
                    <a:bodyPr/>
                    <a:lstStyle/>
                    <a:p>
                      <a:pPr algn="ctr" fontAlgn="b"/>
                      <a:r>
                        <a:rPr lang="pt-BR" sz="600" u="none" strike="noStrike">
                          <a:effectLst/>
                        </a:rPr>
                        <a:t>Regal Rexnord</a:t>
                      </a:r>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ptos Narrow" panose="020B0004020202020204" pitchFamily="34" charset="0"/>
                      </a:endParaRPr>
                    </a:p>
                  </a:txBody>
                  <a:tcPr marL="2803" marR="2803" marT="2803" marB="0" anchor="ctr"/>
                </a:tc>
                <a:extLst>
                  <a:ext uri="{0D108BD9-81ED-4DB2-BD59-A6C34878D82A}">
                    <a16:rowId xmlns:a16="http://schemas.microsoft.com/office/drawing/2014/main" val="458382323"/>
                  </a:ext>
                </a:extLst>
              </a:tr>
              <a:tr h="115641">
                <a:tc>
                  <a:txBody>
                    <a:bodyPr/>
                    <a:lstStyle/>
                    <a:p>
                      <a:pPr algn="ctr" fontAlgn="b"/>
                      <a:r>
                        <a:rPr lang="pt-BR" sz="600" u="none" strike="noStrike">
                          <a:effectLst/>
                        </a:rPr>
                        <a:t>Nidec</a:t>
                      </a:r>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endParaRPr lang="pt-BR" sz="600" b="0" i="0" u="none" strike="noStrike">
                        <a:solidFill>
                          <a:srgbClr val="000000"/>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tc>
                  <a:txBody>
                    <a:bodyPr/>
                    <a:lstStyle/>
                    <a:p>
                      <a:pPr algn="ctr" fontAlgn="b"/>
                      <a:r>
                        <a:rPr lang="pt-BR" sz="600" u="none" strike="noStrike">
                          <a:effectLst/>
                        </a:rPr>
                        <a:t>X</a:t>
                      </a:r>
                      <a:endParaRPr lang="pt-BR" sz="600" b="1" i="0" u="none" strike="noStrike">
                        <a:solidFill>
                          <a:srgbClr val="16A34A"/>
                        </a:solidFill>
                        <a:effectLst/>
                        <a:latin typeface="Arial" panose="020B0604020202020204" pitchFamily="34" charset="0"/>
                      </a:endParaRPr>
                    </a:p>
                  </a:txBody>
                  <a:tcPr marL="2803" marR="2803" marT="2803" marB="0" anchor="ctr"/>
                </a:tc>
                <a:extLst>
                  <a:ext uri="{0D108BD9-81ED-4DB2-BD59-A6C34878D82A}">
                    <a16:rowId xmlns:a16="http://schemas.microsoft.com/office/drawing/2014/main" val="2870013821"/>
                  </a:ext>
                </a:extLst>
              </a:tr>
            </a:tbl>
          </a:graphicData>
        </a:graphic>
      </p:graphicFrame>
    </p:spTree>
    <p:extLst>
      <p:ext uri="{BB962C8B-B14F-4D97-AF65-F5344CB8AC3E}">
        <p14:creationId xmlns:p14="http://schemas.microsoft.com/office/powerpoint/2010/main" val="3161419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351C7A38-D404-5D90-177D-AEC24050E7BA}"/>
              </a:ext>
            </a:extLst>
          </p:cNvPr>
          <p:cNvSpPr txBox="1"/>
          <p:nvPr/>
        </p:nvSpPr>
        <p:spPr>
          <a:xfrm>
            <a:off x="82666" y="311228"/>
            <a:ext cx="2305439" cy="246221"/>
          </a:xfrm>
          <a:prstGeom prst="rect">
            <a:avLst/>
          </a:prstGeom>
          <a:noFill/>
        </p:spPr>
        <p:txBody>
          <a:bodyPr wrap="none" rtlCol="0">
            <a:spAutoFit/>
          </a:bodyPr>
          <a:lstStyle/>
          <a:p>
            <a:r>
              <a:rPr lang="pt-BR" sz="1000" b="1" u="sng" err="1">
                <a:solidFill>
                  <a:schemeClr val="tx2"/>
                </a:solidFill>
                <a:latin typeface="Calibri" panose="020F0502020204030204" pitchFamily="34" charset="0"/>
                <a:cs typeface="Calibri" panose="020F0502020204030204" pitchFamily="34" charset="0"/>
              </a:rPr>
              <a:t>Appendix</a:t>
            </a:r>
            <a:r>
              <a:rPr lang="pt-BR" sz="1000" b="1" u="sng">
                <a:solidFill>
                  <a:schemeClr val="tx2"/>
                </a:solidFill>
                <a:latin typeface="Calibri" panose="020F0502020204030204" pitchFamily="34" charset="0"/>
                <a:cs typeface="Calibri" panose="020F0502020204030204" pitchFamily="34" charset="0"/>
              </a:rPr>
              <a:t> O- M&amp;A Drivers </a:t>
            </a:r>
            <a:r>
              <a:rPr lang="pt-BR" sz="1000" b="1" u="sng" err="1">
                <a:solidFill>
                  <a:schemeClr val="tx2"/>
                </a:solidFill>
                <a:latin typeface="Calibri" panose="020F0502020204030204" pitchFamily="34" charset="0"/>
                <a:cs typeface="Calibri" panose="020F0502020204030204" pitchFamily="34" charset="0"/>
              </a:rPr>
              <a:t>and</a:t>
            </a:r>
            <a:r>
              <a:rPr lang="pt-BR" sz="1000" b="1" u="sng">
                <a:solidFill>
                  <a:schemeClr val="tx2"/>
                </a:solidFill>
                <a:latin typeface="Calibri" panose="020F0502020204030204" pitchFamily="34" charset="0"/>
                <a:cs typeface="Calibri" panose="020F0502020204030204" pitchFamily="34" charset="0"/>
              </a:rPr>
              <a:t> </a:t>
            </a:r>
            <a:r>
              <a:rPr lang="pt-BR" sz="1000" b="1" u="sng" err="1">
                <a:solidFill>
                  <a:schemeClr val="tx2"/>
                </a:solidFill>
                <a:latin typeface="Calibri" panose="020F0502020204030204" pitchFamily="34" charset="0"/>
                <a:cs typeface="Calibri" panose="020F0502020204030204" pitchFamily="34" charset="0"/>
              </a:rPr>
              <a:t>revenues</a:t>
            </a:r>
            <a:endParaRPr lang="pt-BR" sz="1000" b="1" u="sng">
              <a:solidFill>
                <a:schemeClr val="tx2"/>
              </a:solidFill>
              <a:latin typeface="Calibri" panose="020F0502020204030204" pitchFamily="34" charset="0"/>
              <a:cs typeface="Calibri" panose="020F0502020204030204" pitchFamily="34" charset="0"/>
            </a:endParaRPr>
          </a:p>
        </p:txBody>
      </p:sp>
      <p:graphicFrame>
        <p:nvGraphicFramePr>
          <p:cNvPr id="9" name="Tabela 8">
            <a:extLst>
              <a:ext uri="{FF2B5EF4-FFF2-40B4-BE49-F238E27FC236}">
                <a16:creationId xmlns:a16="http://schemas.microsoft.com/office/drawing/2014/main" id="{A01F2A31-92A2-0CE2-7A6D-8DA6D36A1B75}"/>
              </a:ext>
            </a:extLst>
          </p:cNvPr>
          <p:cNvGraphicFramePr>
            <a:graphicFrameLocks noGrp="1"/>
          </p:cNvGraphicFramePr>
          <p:nvPr>
            <p:extLst>
              <p:ext uri="{D42A27DB-BD31-4B8C-83A1-F6EECF244321}">
                <p14:modId xmlns:p14="http://schemas.microsoft.com/office/powerpoint/2010/main" val="3819856377"/>
              </p:ext>
            </p:extLst>
          </p:nvPr>
        </p:nvGraphicFramePr>
        <p:xfrm>
          <a:off x="82666" y="556450"/>
          <a:ext cx="4789616" cy="4063341"/>
        </p:xfrm>
        <a:graphic>
          <a:graphicData uri="http://schemas.openxmlformats.org/drawingml/2006/table">
            <a:tbl>
              <a:tblPr firstRow="1">
                <a:tableStyleId>{5C22544A-7EE6-4342-B048-85BDC9FD1C3A}</a:tableStyleId>
              </a:tblPr>
              <a:tblGrid>
                <a:gridCol w="541087">
                  <a:extLst>
                    <a:ext uri="{9D8B030D-6E8A-4147-A177-3AD203B41FA5}">
                      <a16:colId xmlns:a16="http://schemas.microsoft.com/office/drawing/2014/main" val="3886510292"/>
                    </a:ext>
                  </a:extLst>
                </a:gridCol>
                <a:gridCol w="466475">
                  <a:extLst>
                    <a:ext uri="{9D8B030D-6E8A-4147-A177-3AD203B41FA5}">
                      <a16:colId xmlns:a16="http://schemas.microsoft.com/office/drawing/2014/main" val="279540905"/>
                    </a:ext>
                  </a:extLst>
                </a:gridCol>
                <a:gridCol w="558549">
                  <a:extLst>
                    <a:ext uri="{9D8B030D-6E8A-4147-A177-3AD203B41FA5}">
                      <a16:colId xmlns:a16="http://schemas.microsoft.com/office/drawing/2014/main" val="2683052968"/>
                    </a:ext>
                  </a:extLst>
                </a:gridCol>
                <a:gridCol w="469153">
                  <a:extLst>
                    <a:ext uri="{9D8B030D-6E8A-4147-A177-3AD203B41FA5}">
                      <a16:colId xmlns:a16="http://schemas.microsoft.com/office/drawing/2014/main" val="4045792745"/>
                    </a:ext>
                  </a:extLst>
                </a:gridCol>
                <a:gridCol w="580857">
                  <a:extLst>
                    <a:ext uri="{9D8B030D-6E8A-4147-A177-3AD203B41FA5}">
                      <a16:colId xmlns:a16="http://schemas.microsoft.com/office/drawing/2014/main" val="3448027592"/>
                    </a:ext>
                  </a:extLst>
                </a:gridCol>
                <a:gridCol w="491496">
                  <a:extLst>
                    <a:ext uri="{9D8B030D-6E8A-4147-A177-3AD203B41FA5}">
                      <a16:colId xmlns:a16="http://schemas.microsoft.com/office/drawing/2014/main" val="2994459313"/>
                    </a:ext>
                  </a:extLst>
                </a:gridCol>
                <a:gridCol w="815725">
                  <a:extLst>
                    <a:ext uri="{9D8B030D-6E8A-4147-A177-3AD203B41FA5}">
                      <a16:colId xmlns:a16="http://schemas.microsoft.com/office/drawing/2014/main" val="336795090"/>
                    </a:ext>
                  </a:extLst>
                </a:gridCol>
                <a:gridCol w="464887">
                  <a:extLst>
                    <a:ext uri="{9D8B030D-6E8A-4147-A177-3AD203B41FA5}">
                      <a16:colId xmlns:a16="http://schemas.microsoft.com/office/drawing/2014/main" val="2708036438"/>
                    </a:ext>
                  </a:extLst>
                </a:gridCol>
                <a:gridCol w="401387">
                  <a:extLst>
                    <a:ext uri="{9D8B030D-6E8A-4147-A177-3AD203B41FA5}">
                      <a16:colId xmlns:a16="http://schemas.microsoft.com/office/drawing/2014/main" val="1810128266"/>
                    </a:ext>
                  </a:extLst>
                </a:gridCol>
              </a:tblGrid>
              <a:tr h="93036">
                <a:tc>
                  <a:txBody>
                    <a:bodyPr/>
                    <a:lstStyle/>
                    <a:p>
                      <a:pPr algn="ctr" fontAlgn="b"/>
                      <a:r>
                        <a:rPr lang="pt-BR" sz="400" u="none" strike="noStrike">
                          <a:effectLst/>
                          <a:latin typeface="Calibri" panose="020F0502020204030204" pitchFamily="34" charset="0"/>
                          <a:cs typeface="Calibri" panose="020F0502020204030204" pitchFamily="34" charset="0"/>
                        </a:rPr>
                        <a:t>Company</a:t>
                      </a:r>
                      <a:endParaRPr lang="pt-BR" sz="400" b="1" i="0" u="none" strike="noStrike">
                        <a:solidFill>
                          <a:srgbClr val="FFFFFF"/>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Investment* USD mn</a:t>
                      </a:r>
                      <a:endParaRPr lang="pt-BR" sz="400" b="1" i="0" u="none" strike="noStrike">
                        <a:solidFill>
                          <a:srgbClr val="FFFFFF"/>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Revenues Aquisition time</a:t>
                      </a:r>
                      <a:endParaRPr lang="pt-BR" sz="400" b="1" i="0" u="none" strike="noStrike">
                        <a:solidFill>
                          <a:srgbClr val="FFFFFF"/>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Year</a:t>
                      </a:r>
                      <a:endParaRPr lang="pt-BR" sz="400" b="1" i="0" u="none" strike="noStrike">
                        <a:solidFill>
                          <a:srgbClr val="FFFFFF"/>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Country</a:t>
                      </a:r>
                      <a:endParaRPr lang="pt-BR" sz="400" b="1" i="0" u="none" strike="noStrike">
                        <a:solidFill>
                          <a:srgbClr val="FFFFFF"/>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Stake</a:t>
                      </a:r>
                      <a:endParaRPr lang="pt-BR" sz="400" b="1" i="0" u="none" strike="noStrike">
                        <a:solidFill>
                          <a:srgbClr val="FFFFFF"/>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err="1">
                          <a:effectLst/>
                          <a:latin typeface="Calibri" panose="020F0502020204030204" pitchFamily="34" charset="0"/>
                          <a:cs typeface="Calibri" panose="020F0502020204030204" pitchFamily="34" charset="0"/>
                        </a:rPr>
                        <a:t>Segment</a:t>
                      </a:r>
                      <a:endParaRPr lang="pt-BR" sz="400" b="1" i="0" u="none" strike="noStrike">
                        <a:solidFill>
                          <a:srgbClr val="FFFFFF"/>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Driver Market Access</a:t>
                      </a:r>
                      <a:endParaRPr lang="pt-BR" sz="400" b="1" i="0" u="none" strike="noStrike">
                        <a:solidFill>
                          <a:srgbClr val="FFFFFF"/>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Driver Technology</a:t>
                      </a:r>
                      <a:endParaRPr lang="pt-BR" sz="400" b="1" i="0" u="none" strike="noStrike">
                        <a:solidFill>
                          <a:srgbClr val="FFFFFF"/>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490547208"/>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Zest</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US$200mn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South Africa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3780679039"/>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Voltran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25</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US$25mn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Mexico</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60%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Transformers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783503598"/>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Instrutech</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Industrial Automation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759050743"/>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Equisul/GPL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26</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R$15mn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GTD - Critical Power</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974267359"/>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Pulverlux</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7</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US$7mn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Argentina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Paints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904470516"/>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EM</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56</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US$56mn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Motors, Generators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756674921"/>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Watt drive</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€30mn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Austria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49633196"/>
                  </a:ext>
                </a:extLst>
              </a:tr>
              <a:tr h="151278">
                <a:tc>
                  <a:txBody>
                    <a:bodyPr/>
                    <a:lstStyle/>
                    <a:p>
                      <a:pPr algn="ctr" fontAlgn="b"/>
                      <a:r>
                        <a:rPr lang="pt-BR" sz="400" u="none" strike="noStrike">
                          <a:effectLst/>
                          <a:latin typeface="Calibri" panose="020F0502020204030204" pitchFamily="34" charset="0"/>
                          <a:cs typeface="Calibri" panose="020F0502020204030204" pitchFamily="34" charset="0"/>
                        </a:rPr>
                        <a:t>Cestari</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R$70mn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50%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Reductors e Moto Reductors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4084308287"/>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Paumar</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R$21mn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Paints &amp; Varnishes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560874411"/>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Stardur</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R$78mn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Paints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871106342"/>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Inetel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R$7mn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Plastic Components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82463487"/>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Hawker</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US$10mn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2013</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South Africa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Transformers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51712416"/>
                  </a:ext>
                </a:extLst>
              </a:tr>
              <a:tr h="151278">
                <a:tc>
                  <a:txBody>
                    <a:bodyPr/>
                    <a:lstStyle/>
                    <a:p>
                      <a:pPr algn="ctr" fontAlgn="b"/>
                      <a:r>
                        <a:rPr lang="pt-BR" sz="400" u="none" strike="noStrike">
                          <a:effectLst/>
                          <a:latin typeface="Calibri" panose="020F0502020204030204" pitchFamily="34" charset="0"/>
                          <a:cs typeface="Calibri" panose="020F0502020204030204" pitchFamily="34" charset="0"/>
                        </a:rPr>
                        <a:t>Eitaec</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6</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R$16mn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Maintenance Transformers,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379104292"/>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Machine Master</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17</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US$17mn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China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Domestic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292148196"/>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Sinya / Ecovi</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88</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US$88mn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China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Domestic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824714919"/>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FTC</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US$10mn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Colombia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Panels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3205423398"/>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AHK</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€14mn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Germany</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040249000"/>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Weg</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9</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€7mn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Germany</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75271702"/>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Autrial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16</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€14mn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2015</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Spain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51%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Electronic Panels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3239950792"/>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Suntec</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28</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US$18mn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2015</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Colombia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Transformers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862146644"/>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TSS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2015</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South Africa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Transformers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3791775283"/>
                  </a:ext>
                </a:extLst>
              </a:tr>
              <a:tr h="65914">
                <a:tc>
                  <a:txBody>
                    <a:bodyPr/>
                    <a:lstStyle/>
                    <a:p>
                      <a:pPr algn="ctr" fontAlgn="b"/>
                      <a:r>
                        <a:rPr lang="pt-BR" sz="400" u="none" strike="noStrike">
                          <a:effectLst/>
                          <a:latin typeface="Calibri" panose="020F0502020204030204" pitchFamily="34" charset="0"/>
                          <a:cs typeface="Calibri" panose="020F0502020204030204" pitchFamily="34" charset="0"/>
                        </a:rPr>
                        <a:t>Bluffton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64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US$64mn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2016</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062829703"/>
                  </a:ext>
                </a:extLst>
              </a:tr>
              <a:tr h="151278">
                <a:tc>
                  <a:txBody>
                    <a:bodyPr/>
                    <a:lstStyle/>
                    <a:p>
                      <a:pPr algn="ctr" fontAlgn="b"/>
                      <a:r>
                        <a:rPr lang="pt-BR" sz="400" u="none" strike="noStrike">
                          <a:effectLst/>
                          <a:latin typeface="Calibri" panose="020F0502020204030204" pitchFamily="34" charset="0"/>
                          <a:cs typeface="Calibri" panose="020F0502020204030204" pitchFamily="34" charset="0"/>
                        </a:rPr>
                        <a:t>TGM</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66</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R$238mn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2016</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Turbines and Transmission Equipment</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927392029"/>
                  </a:ext>
                </a:extLst>
              </a:tr>
              <a:tr h="151278">
                <a:tc>
                  <a:txBody>
                    <a:bodyPr/>
                    <a:lstStyle/>
                    <a:p>
                      <a:pPr algn="ctr" fontAlgn="b"/>
                      <a:r>
                        <a:rPr lang="pt-BR" sz="400" u="none" strike="noStrike">
                          <a:effectLst/>
                          <a:latin typeface="Calibri" panose="020F0502020204030204" pitchFamily="34" charset="0"/>
                          <a:cs typeface="Calibri" panose="020F0502020204030204" pitchFamily="34" charset="0"/>
                        </a:rPr>
                        <a:t>Northern Power Systems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2016</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GTD - Wind Turbine</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423262069"/>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CG Power USA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128</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US$128mn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2017</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Transformers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78876988"/>
                  </a:ext>
                </a:extLst>
              </a:tr>
              <a:tr h="151278">
                <a:tc>
                  <a:txBody>
                    <a:bodyPr/>
                    <a:lstStyle/>
                    <a:p>
                      <a:pPr algn="ctr" fontAlgn="b"/>
                      <a:r>
                        <a:rPr lang="pt-BR" sz="400" u="none" strike="noStrike">
                          <a:effectLst/>
                          <a:latin typeface="Calibri" panose="020F0502020204030204" pitchFamily="34" charset="0"/>
                          <a:cs typeface="Calibri" panose="020F0502020204030204" pitchFamily="34" charset="0"/>
                        </a:rPr>
                        <a:t>Geremia Redutores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27</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R$57mn (2017)</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2019</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Reductors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3896159575"/>
                  </a:ext>
                </a:extLst>
              </a:tr>
              <a:tr h="151278">
                <a:tc>
                  <a:txBody>
                    <a:bodyPr/>
                    <a:lstStyle/>
                    <a:p>
                      <a:pPr algn="ctr" fontAlgn="b"/>
                      <a:r>
                        <a:rPr lang="pt-BR" sz="400" u="none" strike="noStrike">
                          <a:effectLst/>
                          <a:latin typeface="Calibri" panose="020F0502020204030204" pitchFamily="34" charset="0"/>
                          <a:cs typeface="Calibri" panose="020F0502020204030204" pitchFamily="34" charset="0"/>
                        </a:rPr>
                        <a:t>Energy Storage ESS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2019</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Energy Storage</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576795047"/>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Autrial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2019</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Spain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49%</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Electronic Panels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470157075"/>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PPI-Multitask</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2019</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51%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Industry 4.0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9827955"/>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V2COM</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2019</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51%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Industry 4.0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350888667"/>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TSEA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err="1">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Transformers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782821611"/>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Mvisia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2020/2022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51%/100%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Industry 4.0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488631956"/>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BirminD</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51%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Industry 4.0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4221088171"/>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Balteau</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23</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R$122mn (2020)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2021</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Transformers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450565625"/>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JV Cevital Group</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Argelia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49%</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622574964"/>
                  </a:ext>
                </a:extLst>
              </a:tr>
              <a:tr h="151278">
                <a:tc>
                  <a:txBody>
                    <a:bodyPr/>
                    <a:lstStyle/>
                    <a:p>
                      <a:pPr algn="ctr" fontAlgn="b"/>
                      <a:r>
                        <a:rPr lang="pt-BR" sz="400" u="none" strike="noStrike">
                          <a:effectLst/>
                          <a:latin typeface="Calibri" panose="020F0502020204030204" pitchFamily="34" charset="0"/>
                          <a:cs typeface="Calibri" panose="020F0502020204030204" pitchFamily="34" charset="0"/>
                        </a:rPr>
                        <a:t>Gefran (Motion Control)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€23mn</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Italy</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078223389"/>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BirminD</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2023</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Brazil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49%</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Industry 4.0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3841169405"/>
                  </a:ext>
                </a:extLst>
              </a:tr>
              <a:tr h="151278">
                <a:tc>
                  <a:txBody>
                    <a:bodyPr/>
                    <a:lstStyle/>
                    <a:p>
                      <a:pPr algn="ctr" fontAlgn="b"/>
                      <a:r>
                        <a:rPr lang="pt-BR" sz="400" u="none" strike="noStrike">
                          <a:effectLst/>
                          <a:latin typeface="Calibri" panose="020F0502020204030204" pitchFamily="34" charset="0"/>
                          <a:cs typeface="Calibri" panose="020F0502020204030204" pitchFamily="34" charset="0"/>
                        </a:rPr>
                        <a:t>Regal Rexnord</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US$541.5mn (2022)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2023</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Motors and Generators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858675355"/>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Bewind Gmbh</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0.2</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NA</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2023</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Germany</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45%</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GTD - Wind Turbine</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705198050"/>
                  </a:ext>
                </a:extLst>
              </a:tr>
              <a:tr h="151278">
                <a:tc>
                  <a:txBody>
                    <a:bodyPr/>
                    <a:lstStyle/>
                    <a:p>
                      <a:pPr algn="ctr" fontAlgn="b"/>
                      <a:r>
                        <a:rPr lang="pt-BR" sz="400" u="none" strike="noStrike">
                          <a:effectLst/>
                          <a:latin typeface="Calibri" panose="020F0502020204030204" pitchFamily="34" charset="0"/>
                          <a:cs typeface="Calibri" panose="020F0502020204030204" pitchFamily="34" charset="0"/>
                        </a:rPr>
                        <a:t>Volt Electric Motor</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88</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US$70mn (2023)</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2024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Türkiye</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100%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Electric Motors</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500" u="none" strike="noStrike" err="1">
                          <a:solidFill>
                            <a:schemeClr val="tx2"/>
                          </a:solidFill>
                          <a:effectLst/>
                          <a:latin typeface="Calibri" panose="020F0502020204030204" pitchFamily="34" charset="0"/>
                          <a:cs typeface="Calibri" panose="020F0502020204030204" pitchFamily="34" charset="0"/>
                        </a:rPr>
                        <a:t>x</a:t>
                      </a:r>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500" b="0" i="0" u="none" strike="noStrike">
                        <a:solidFill>
                          <a:schemeClr val="tx2"/>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2179816483"/>
                  </a:ext>
                </a:extLst>
              </a:tr>
              <a:tr h="78242">
                <a:tc>
                  <a:txBody>
                    <a:bodyPr/>
                    <a:lstStyle/>
                    <a:p>
                      <a:pPr algn="ctr" fontAlgn="b"/>
                      <a:r>
                        <a:rPr lang="pt-BR" sz="400" u="none" strike="noStrike">
                          <a:effectLst/>
                          <a:latin typeface="Calibri" panose="020F0502020204030204" pitchFamily="34" charset="0"/>
                          <a:cs typeface="Calibri" panose="020F0502020204030204" pitchFamily="34" charset="0"/>
                        </a:rPr>
                        <a:t>Total</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1,534</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tc>
                  <a:txBody>
                    <a:bodyPr/>
                    <a:lstStyle/>
                    <a:p>
                      <a:pPr algn="ctr" fontAlgn="b"/>
                      <a:r>
                        <a:rPr lang="pt-BR" sz="400" u="none" strike="noStrike">
                          <a:effectLst/>
                          <a:latin typeface="Calibri" panose="020F0502020204030204" pitchFamily="34" charset="0"/>
                          <a:cs typeface="Calibri" panose="020F0502020204030204" pitchFamily="34" charset="0"/>
                        </a:rPr>
                        <a:t>20</a:t>
                      </a:r>
                      <a:endParaRPr lang="pt-BR" sz="400" b="0" i="0" u="none" strike="noStrike">
                        <a:solidFill>
                          <a:srgbClr val="000000"/>
                        </a:solidFill>
                        <a:effectLst/>
                        <a:latin typeface="Calibri" panose="020F0502020204030204" pitchFamily="34" charset="0"/>
                        <a:cs typeface="Calibri" panose="020F0502020204030204" pitchFamily="34" charset="0"/>
                      </a:endParaRPr>
                    </a:p>
                  </a:txBody>
                  <a:tcPr marL="5431" marR="5431" marT="5431" marB="0" anchor="ctr"/>
                </a:tc>
                <a:extLst>
                  <a:ext uri="{0D108BD9-81ED-4DB2-BD59-A6C34878D82A}">
                    <a16:rowId xmlns:a16="http://schemas.microsoft.com/office/drawing/2014/main" val="1477522057"/>
                  </a:ext>
                </a:extLst>
              </a:tr>
            </a:tbl>
          </a:graphicData>
        </a:graphic>
      </p:graphicFrame>
      <p:graphicFrame>
        <p:nvGraphicFramePr>
          <p:cNvPr id="11" name="Tabela 10">
            <a:extLst>
              <a:ext uri="{FF2B5EF4-FFF2-40B4-BE49-F238E27FC236}">
                <a16:creationId xmlns:a16="http://schemas.microsoft.com/office/drawing/2014/main" id="{F8B5B491-9F4A-B129-F60A-8CC489C9532A}"/>
              </a:ext>
            </a:extLst>
          </p:cNvPr>
          <p:cNvGraphicFramePr>
            <a:graphicFrameLocks noGrp="1"/>
          </p:cNvGraphicFramePr>
          <p:nvPr>
            <p:extLst>
              <p:ext uri="{D42A27DB-BD31-4B8C-83A1-F6EECF244321}">
                <p14:modId xmlns:p14="http://schemas.microsoft.com/office/powerpoint/2010/main" val="3666642624"/>
              </p:ext>
            </p:extLst>
          </p:nvPr>
        </p:nvGraphicFramePr>
        <p:xfrm>
          <a:off x="5136996" y="557449"/>
          <a:ext cx="2455855" cy="4062355"/>
        </p:xfrm>
        <a:graphic>
          <a:graphicData uri="http://schemas.openxmlformats.org/drawingml/2006/table">
            <a:tbl>
              <a:tblPr firstRow="1">
                <a:tableStyleId>{5C22544A-7EE6-4342-B048-85BDC9FD1C3A}</a:tableStyleId>
              </a:tblPr>
              <a:tblGrid>
                <a:gridCol w="527886">
                  <a:extLst>
                    <a:ext uri="{9D8B030D-6E8A-4147-A177-3AD203B41FA5}">
                      <a16:colId xmlns:a16="http://schemas.microsoft.com/office/drawing/2014/main" val="3712666228"/>
                    </a:ext>
                  </a:extLst>
                </a:gridCol>
                <a:gridCol w="136833">
                  <a:extLst>
                    <a:ext uri="{9D8B030D-6E8A-4147-A177-3AD203B41FA5}">
                      <a16:colId xmlns:a16="http://schemas.microsoft.com/office/drawing/2014/main" val="369550693"/>
                    </a:ext>
                  </a:extLst>
                </a:gridCol>
                <a:gridCol w="136833">
                  <a:extLst>
                    <a:ext uri="{9D8B030D-6E8A-4147-A177-3AD203B41FA5}">
                      <a16:colId xmlns:a16="http://schemas.microsoft.com/office/drawing/2014/main" val="1307343750"/>
                    </a:ext>
                  </a:extLst>
                </a:gridCol>
                <a:gridCol w="136833">
                  <a:extLst>
                    <a:ext uri="{9D8B030D-6E8A-4147-A177-3AD203B41FA5}">
                      <a16:colId xmlns:a16="http://schemas.microsoft.com/office/drawing/2014/main" val="1184189890"/>
                    </a:ext>
                  </a:extLst>
                </a:gridCol>
                <a:gridCol w="151747">
                  <a:extLst>
                    <a:ext uri="{9D8B030D-6E8A-4147-A177-3AD203B41FA5}">
                      <a16:colId xmlns:a16="http://schemas.microsoft.com/office/drawing/2014/main" val="65975713"/>
                    </a:ext>
                  </a:extLst>
                </a:gridCol>
                <a:gridCol w="151747">
                  <a:extLst>
                    <a:ext uri="{9D8B030D-6E8A-4147-A177-3AD203B41FA5}">
                      <a16:colId xmlns:a16="http://schemas.microsoft.com/office/drawing/2014/main" val="2085308204"/>
                    </a:ext>
                  </a:extLst>
                </a:gridCol>
                <a:gridCol w="151747">
                  <a:extLst>
                    <a:ext uri="{9D8B030D-6E8A-4147-A177-3AD203B41FA5}">
                      <a16:colId xmlns:a16="http://schemas.microsoft.com/office/drawing/2014/main" val="4107569800"/>
                    </a:ext>
                  </a:extLst>
                </a:gridCol>
                <a:gridCol w="151747">
                  <a:extLst>
                    <a:ext uri="{9D8B030D-6E8A-4147-A177-3AD203B41FA5}">
                      <a16:colId xmlns:a16="http://schemas.microsoft.com/office/drawing/2014/main" val="3292198677"/>
                    </a:ext>
                  </a:extLst>
                </a:gridCol>
                <a:gridCol w="151747">
                  <a:extLst>
                    <a:ext uri="{9D8B030D-6E8A-4147-A177-3AD203B41FA5}">
                      <a16:colId xmlns:a16="http://schemas.microsoft.com/office/drawing/2014/main" val="2384339411"/>
                    </a:ext>
                  </a:extLst>
                </a:gridCol>
                <a:gridCol w="151747">
                  <a:extLst>
                    <a:ext uri="{9D8B030D-6E8A-4147-A177-3AD203B41FA5}">
                      <a16:colId xmlns:a16="http://schemas.microsoft.com/office/drawing/2014/main" val="4138170095"/>
                    </a:ext>
                  </a:extLst>
                </a:gridCol>
                <a:gridCol w="151747">
                  <a:extLst>
                    <a:ext uri="{9D8B030D-6E8A-4147-A177-3AD203B41FA5}">
                      <a16:colId xmlns:a16="http://schemas.microsoft.com/office/drawing/2014/main" val="146030055"/>
                    </a:ext>
                  </a:extLst>
                </a:gridCol>
                <a:gridCol w="151747">
                  <a:extLst>
                    <a:ext uri="{9D8B030D-6E8A-4147-A177-3AD203B41FA5}">
                      <a16:colId xmlns:a16="http://schemas.microsoft.com/office/drawing/2014/main" val="3611915729"/>
                    </a:ext>
                  </a:extLst>
                </a:gridCol>
                <a:gridCol w="151747">
                  <a:extLst>
                    <a:ext uri="{9D8B030D-6E8A-4147-A177-3AD203B41FA5}">
                      <a16:colId xmlns:a16="http://schemas.microsoft.com/office/drawing/2014/main" val="2863502040"/>
                    </a:ext>
                  </a:extLst>
                </a:gridCol>
                <a:gridCol w="151747">
                  <a:extLst>
                    <a:ext uri="{9D8B030D-6E8A-4147-A177-3AD203B41FA5}">
                      <a16:colId xmlns:a16="http://schemas.microsoft.com/office/drawing/2014/main" val="2187718208"/>
                    </a:ext>
                  </a:extLst>
                </a:gridCol>
              </a:tblGrid>
              <a:tr h="106641">
                <a:tc>
                  <a:txBody>
                    <a:bodyPr/>
                    <a:lstStyle/>
                    <a:p>
                      <a:pPr algn="ctr" fontAlgn="b"/>
                      <a:r>
                        <a:rPr lang="pt-BR" sz="400" u="none" strike="noStrike">
                          <a:effectLst/>
                        </a:rPr>
                        <a:t>M&amp;A</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2011</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2012</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2013</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2014</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2015</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2016</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2017</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2018</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2019</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2020</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2021</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2022</a:t>
                      </a:r>
                      <a:endParaRPr lang="pt-BR" sz="400" b="1" i="0" u="none" strike="noStrike">
                        <a:solidFill>
                          <a:srgbClr val="FFFFFF"/>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2023</a:t>
                      </a:r>
                      <a:endParaRPr lang="pt-BR" sz="400" b="1" i="0" u="none" strike="noStrike">
                        <a:solidFill>
                          <a:srgbClr val="FFFFFF"/>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4287374728"/>
                  </a:ext>
                </a:extLst>
              </a:tr>
              <a:tr h="106641">
                <a:tc>
                  <a:txBody>
                    <a:bodyPr/>
                    <a:lstStyle/>
                    <a:p>
                      <a:pPr algn="ctr" fontAlgn="b"/>
                      <a:r>
                        <a:rPr lang="pt-BR" sz="400" u="none" strike="noStrike">
                          <a:effectLst/>
                        </a:rPr>
                        <a:t>Zest</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358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375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394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414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435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456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479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503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528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555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583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612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642</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648081131"/>
                  </a:ext>
                </a:extLst>
              </a:tr>
              <a:tr h="106641">
                <a:tc>
                  <a:txBody>
                    <a:bodyPr/>
                    <a:lstStyle/>
                    <a:p>
                      <a:pPr algn="ctr" fontAlgn="b"/>
                      <a:r>
                        <a:rPr lang="pt-BR" sz="400" u="none" strike="noStrike">
                          <a:effectLst/>
                        </a:rPr>
                        <a:t>Voltran</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80</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3578614556"/>
                  </a:ext>
                </a:extLst>
              </a:tr>
              <a:tr h="106641">
                <a:tc>
                  <a:txBody>
                    <a:bodyPr/>
                    <a:lstStyle/>
                    <a:p>
                      <a:pPr algn="ctr" fontAlgn="b"/>
                      <a:r>
                        <a:rPr lang="pt-BR" sz="400" u="none" strike="noStrike">
                          <a:effectLst/>
                        </a:rPr>
                        <a:t>EquisulGPL</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83</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983472238"/>
                  </a:ext>
                </a:extLst>
              </a:tr>
              <a:tr h="106641">
                <a:tc>
                  <a:txBody>
                    <a:bodyPr/>
                    <a:lstStyle/>
                    <a:p>
                      <a:pPr algn="ctr" fontAlgn="b"/>
                      <a:r>
                        <a:rPr lang="pt-BR" sz="400" u="none" strike="noStrike">
                          <a:effectLst/>
                        </a:rPr>
                        <a:t>Pulverlux</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22</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34576866"/>
                  </a:ext>
                </a:extLst>
              </a:tr>
              <a:tr h="106641">
                <a:tc>
                  <a:txBody>
                    <a:bodyPr/>
                    <a:lstStyle/>
                    <a:p>
                      <a:pPr algn="ctr" fontAlgn="b"/>
                      <a:r>
                        <a:rPr lang="pt-BR" sz="400" u="none" strike="noStrike">
                          <a:effectLst/>
                        </a:rPr>
                        <a:t>EM</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132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139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146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153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161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169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177</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895145270"/>
                  </a:ext>
                </a:extLst>
              </a:tr>
              <a:tr h="106641">
                <a:tc>
                  <a:txBody>
                    <a:bodyPr/>
                    <a:lstStyle/>
                    <a:p>
                      <a:pPr algn="ctr" fontAlgn="b"/>
                      <a:r>
                        <a:rPr lang="pt-BR" sz="400" u="none" strike="noStrike">
                          <a:effectLst/>
                        </a:rPr>
                        <a:t>Watt drive</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125</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798892393"/>
                  </a:ext>
                </a:extLst>
              </a:tr>
              <a:tr h="106641">
                <a:tc>
                  <a:txBody>
                    <a:bodyPr/>
                    <a:lstStyle/>
                    <a:p>
                      <a:pPr algn="ctr" fontAlgn="b"/>
                      <a:r>
                        <a:rPr lang="pt-BR" sz="400" u="none" strike="noStrike">
                          <a:effectLst/>
                        </a:rPr>
                        <a:t>Cestari</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120</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535708209"/>
                  </a:ext>
                </a:extLst>
              </a:tr>
              <a:tr h="106641">
                <a:tc>
                  <a:txBody>
                    <a:bodyPr/>
                    <a:lstStyle/>
                    <a:p>
                      <a:pPr algn="ctr" fontAlgn="b"/>
                      <a:r>
                        <a:rPr lang="pt-BR" sz="400" u="none" strike="noStrike">
                          <a:effectLst/>
                        </a:rPr>
                        <a:t>Paumar</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36</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463610931"/>
                  </a:ext>
                </a:extLst>
              </a:tr>
              <a:tr h="106641">
                <a:tc>
                  <a:txBody>
                    <a:bodyPr/>
                    <a:lstStyle/>
                    <a:p>
                      <a:pPr algn="ctr" fontAlgn="b"/>
                      <a:r>
                        <a:rPr lang="pt-BR" sz="400" u="none" strike="noStrike">
                          <a:effectLst/>
                        </a:rPr>
                        <a:t>Startup</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133</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496654437"/>
                  </a:ext>
                </a:extLst>
              </a:tr>
              <a:tr h="106641">
                <a:tc>
                  <a:txBody>
                    <a:bodyPr/>
                    <a:lstStyle/>
                    <a:p>
                      <a:pPr algn="ctr" fontAlgn="b"/>
                      <a:r>
                        <a:rPr lang="pt-BR" sz="400" u="none" strike="noStrike">
                          <a:effectLst/>
                        </a:rPr>
                        <a:t>Injetel</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3324777674"/>
                  </a:ext>
                </a:extLst>
              </a:tr>
              <a:tr h="106641">
                <a:tc>
                  <a:txBody>
                    <a:bodyPr/>
                    <a:lstStyle/>
                    <a:p>
                      <a:pPr algn="ctr" fontAlgn="b"/>
                      <a:r>
                        <a:rPr lang="pt-BR" sz="400" u="none" strike="noStrike">
                          <a:effectLst/>
                        </a:rPr>
                        <a:t>Hawker</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36</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533295156"/>
                  </a:ext>
                </a:extLst>
              </a:tr>
              <a:tr h="106641">
                <a:tc>
                  <a:txBody>
                    <a:bodyPr/>
                    <a:lstStyle/>
                    <a:p>
                      <a:pPr algn="ctr" fontAlgn="b"/>
                      <a:r>
                        <a:rPr lang="pt-BR" sz="400" u="none" strike="noStrike">
                          <a:effectLst/>
                        </a:rPr>
                        <a:t>Efacec</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26</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3065015210"/>
                  </a:ext>
                </a:extLst>
              </a:tr>
              <a:tr h="106641">
                <a:tc gridSpan="2">
                  <a:txBody>
                    <a:bodyPr/>
                    <a:lstStyle/>
                    <a:p>
                      <a:pPr algn="ctr" fontAlgn="b"/>
                      <a:r>
                        <a:rPr lang="pt-BR" sz="400" u="none" strike="noStrike">
                          <a:effectLst/>
                        </a:rPr>
                        <a:t>Machine Master</a:t>
                      </a:r>
                      <a:endParaRPr lang="pt-BR" sz="400" b="1" i="0" u="none" strike="noStrike">
                        <a:solidFill>
                          <a:srgbClr val="000000"/>
                        </a:solidFill>
                        <a:effectLst/>
                        <a:latin typeface="Calibri" panose="020F0502020204030204" pitchFamily="34" charset="0"/>
                      </a:endParaRPr>
                    </a:p>
                  </a:txBody>
                  <a:tcPr marL="6016" marR="6016" marT="6016" marB="0" anchor="ctr"/>
                </a:tc>
                <a:tc hMerge="1">
                  <a:txBody>
                    <a:bodyPr/>
                    <a:lstStyle/>
                    <a:p>
                      <a:endParaRPr lang="pt-BR"/>
                    </a:p>
                  </a:txBody>
                  <a:tcP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69</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4280146743"/>
                  </a:ext>
                </a:extLst>
              </a:tr>
              <a:tr h="106641">
                <a:tc>
                  <a:txBody>
                    <a:bodyPr/>
                    <a:lstStyle/>
                    <a:p>
                      <a:pPr algn="ctr" fontAlgn="b"/>
                      <a:r>
                        <a:rPr lang="pt-BR" sz="400" u="none" strike="noStrike">
                          <a:effectLst/>
                        </a:rPr>
                        <a:t>Sinya / Ecovi</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221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232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243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256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268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282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296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311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326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342</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344808053"/>
                  </a:ext>
                </a:extLst>
              </a:tr>
              <a:tr h="106641">
                <a:tc>
                  <a:txBody>
                    <a:bodyPr/>
                    <a:lstStyle/>
                    <a:p>
                      <a:pPr algn="ctr" fontAlgn="b"/>
                      <a:r>
                        <a:rPr lang="pt-BR" sz="400" u="none" strike="noStrike">
                          <a:effectLst/>
                        </a:rPr>
                        <a:t>FTC</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39</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085471527"/>
                  </a:ext>
                </a:extLst>
              </a:tr>
              <a:tr h="106641">
                <a:tc>
                  <a:txBody>
                    <a:bodyPr/>
                    <a:lstStyle/>
                    <a:p>
                      <a:pPr algn="ctr" fontAlgn="b"/>
                      <a:r>
                        <a:rPr lang="pt-BR" sz="400" u="none" strike="noStrike">
                          <a:effectLst/>
                        </a:rPr>
                        <a:t>APD</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71</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580545621"/>
                  </a:ext>
                </a:extLst>
              </a:tr>
              <a:tr h="106641">
                <a:tc>
                  <a:txBody>
                    <a:bodyPr/>
                    <a:lstStyle/>
                    <a:p>
                      <a:pPr algn="ctr" fontAlgn="b"/>
                      <a:r>
                        <a:rPr lang="pt-BR" sz="400" u="none" strike="noStrike">
                          <a:effectLst/>
                        </a:rPr>
                        <a:t>Weg</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35</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3304755992"/>
                  </a:ext>
                </a:extLst>
              </a:tr>
              <a:tr h="106641">
                <a:tc>
                  <a:txBody>
                    <a:bodyPr/>
                    <a:lstStyle/>
                    <a:p>
                      <a:pPr algn="ctr" fontAlgn="b"/>
                      <a:r>
                        <a:rPr lang="pt-BR" sz="400" u="none" strike="noStrike">
                          <a:effectLst/>
                        </a:rPr>
                        <a:t>Autrial</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79</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191371810"/>
                  </a:ext>
                </a:extLst>
              </a:tr>
              <a:tr h="106641">
                <a:tc>
                  <a:txBody>
                    <a:bodyPr/>
                    <a:lstStyle/>
                    <a:p>
                      <a:pPr algn="ctr" fontAlgn="b"/>
                      <a:r>
                        <a:rPr lang="pt-BR" sz="400" u="none" strike="noStrike">
                          <a:effectLst/>
                        </a:rPr>
                        <a:t>Suntec</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88</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807034420"/>
                  </a:ext>
                </a:extLst>
              </a:tr>
              <a:tr h="106641">
                <a:tc>
                  <a:txBody>
                    <a:bodyPr/>
                    <a:lstStyle/>
                    <a:p>
                      <a:pPr algn="ctr" fontAlgn="b"/>
                      <a:r>
                        <a:rPr lang="pt-BR" sz="400" u="none" strike="noStrike">
                          <a:effectLst/>
                        </a:rPr>
                        <a:t>Bluefitton</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231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242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255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267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281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295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309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325</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3377101592"/>
                  </a:ext>
                </a:extLst>
              </a:tr>
              <a:tr h="106641">
                <a:tc>
                  <a:txBody>
                    <a:bodyPr/>
                    <a:lstStyle/>
                    <a:p>
                      <a:pPr algn="ctr" fontAlgn="b"/>
                      <a:r>
                        <a:rPr lang="pt-BR" sz="400" u="none" strike="noStrike">
                          <a:effectLst/>
                        </a:rPr>
                        <a:t>TGM</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238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250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262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276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289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304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319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335</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097500508"/>
                  </a:ext>
                </a:extLst>
              </a:tr>
              <a:tr h="106641">
                <a:tc>
                  <a:txBody>
                    <a:bodyPr/>
                    <a:lstStyle/>
                    <a:p>
                      <a:pPr algn="ctr" fontAlgn="b"/>
                      <a:r>
                        <a:rPr lang="pt-BR" sz="400" u="none" strike="noStrike">
                          <a:effectLst/>
                        </a:rPr>
                        <a:t>CG Power USA</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460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483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508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533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560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588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617</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478521981"/>
                  </a:ext>
                </a:extLst>
              </a:tr>
              <a:tr h="106641">
                <a:tc gridSpan="2">
                  <a:txBody>
                    <a:bodyPr/>
                    <a:lstStyle/>
                    <a:p>
                      <a:pPr algn="ctr" fontAlgn="b"/>
                      <a:r>
                        <a:rPr lang="pt-BR" sz="400" u="none" strike="noStrike">
                          <a:effectLst/>
                        </a:rPr>
                        <a:t>Geremia Redutores</a:t>
                      </a:r>
                      <a:endParaRPr lang="pt-BR" sz="400" b="1" i="0" u="none" strike="noStrike">
                        <a:solidFill>
                          <a:srgbClr val="000000"/>
                        </a:solidFill>
                        <a:effectLst/>
                        <a:latin typeface="Calibri" panose="020F0502020204030204" pitchFamily="34" charset="0"/>
                      </a:endParaRPr>
                    </a:p>
                  </a:txBody>
                  <a:tcPr marL="6016" marR="6016" marT="6016" marB="0" anchor="ctr"/>
                </a:tc>
                <a:tc hMerge="1">
                  <a:txBody>
                    <a:bodyPr/>
                    <a:lstStyle/>
                    <a:p>
                      <a:endParaRPr lang="pt-BR"/>
                    </a:p>
                  </a:txBody>
                  <a:tcP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223912692"/>
                  </a:ext>
                </a:extLst>
              </a:tr>
              <a:tr h="106641">
                <a:tc gridSpan="2">
                  <a:txBody>
                    <a:bodyPr/>
                    <a:lstStyle/>
                    <a:p>
                      <a:pPr algn="ctr" fontAlgn="b"/>
                      <a:r>
                        <a:rPr lang="pt-BR" sz="400" u="none" strike="noStrike">
                          <a:effectLst/>
                        </a:rPr>
                        <a:t>Energy Storage ESS</a:t>
                      </a:r>
                      <a:endParaRPr lang="pt-BR" sz="400" b="1" i="0" u="none" strike="noStrike">
                        <a:solidFill>
                          <a:srgbClr val="000000"/>
                        </a:solidFill>
                        <a:effectLst/>
                        <a:latin typeface="Calibri" panose="020F0502020204030204" pitchFamily="34" charset="0"/>
                      </a:endParaRPr>
                    </a:p>
                  </a:txBody>
                  <a:tcPr marL="6016" marR="6016" marT="6016" marB="0" anchor="ctr"/>
                </a:tc>
                <a:tc hMerge="1">
                  <a:txBody>
                    <a:bodyPr/>
                    <a:lstStyle/>
                    <a:p>
                      <a:endParaRPr lang="pt-BR"/>
                    </a:p>
                  </a:txBody>
                  <a:tcP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4010871132"/>
                  </a:ext>
                </a:extLst>
              </a:tr>
              <a:tr h="106641">
                <a:tc>
                  <a:txBody>
                    <a:bodyPr/>
                    <a:lstStyle/>
                    <a:p>
                      <a:pPr algn="ctr" fontAlgn="b"/>
                      <a:r>
                        <a:rPr lang="pt-BR" sz="400" u="none" strike="noStrike">
                          <a:effectLst/>
                        </a:rPr>
                        <a:t>Autrial</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24111253"/>
                  </a:ext>
                </a:extLst>
              </a:tr>
              <a:tr h="106641">
                <a:tc>
                  <a:txBody>
                    <a:bodyPr/>
                    <a:lstStyle/>
                    <a:p>
                      <a:pPr algn="ctr" fontAlgn="b"/>
                      <a:r>
                        <a:rPr lang="pt-BR" sz="400" u="none" strike="noStrike">
                          <a:effectLst/>
                        </a:rPr>
                        <a:t>PPI-Multitask</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3836489888"/>
                  </a:ext>
                </a:extLst>
              </a:tr>
              <a:tr h="106641">
                <a:tc>
                  <a:txBody>
                    <a:bodyPr/>
                    <a:lstStyle/>
                    <a:p>
                      <a:pPr algn="ctr" fontAlgn="b"/>
                      <a:r>
                        <a:rPr lang="pt-BR" sz="400" u="none" strike="noStrike">
                          <a:effectLst/>
                        </a:rPr>
                        <a:t>V2COM</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55</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352304849"/>
                  </a:ext>
                </a:extLst>
              </a:tr>
              <a:tr h="106641">
                <a:tc>
                  <a:txBody>
                    <a:bodyPr/>
                    <a:lstStyle/>
                    <a:p>
                      <a:pPr algn="ctr" fontAlgn="b"/>
                      <a:r>
                        <a:rPr lang="pt-BR" sz="400" u="none" strike="noStrike">
                          <a:effectLst/>
                        </a:rPr>
                        <a:t>TSEA</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168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176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185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194</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840525252"/>
                  </a:ext>
                </a:extLst>
              </a:tr>
              <a:tr h="106641">
                <a:tc>
                  <a:txBody>
                    <a:bodyPr/>
                    <a:lstStyle/>
                    <a:p>
                      <a:pPr algn="ctr" fontAlgn="b"/>
                      <a:r>
                        <a:rPr lang="pt-BR" sz="400" u="none" strike="noStrike">
                          <a:effectLst/>
                        </a:rPr>
                        <a:t>Mvisia</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3325575130"/>
                  </a:ext>
                </a:extLst>
              </a:tr>
              <a:tr h="106641">
                <a:tc>
                  <a:txBody>
                    <a:bodyPr/>
                    <a:lstStyle/>
                    <a:p>
                      <a:pPr algn="ctr" fontAlgn="b"/>
                      <a:r>
                        <a:rPr lang="pt-BR" sz="400" u="none" strike="noStrike">
                          <a:effectLst/>
                        </a:rPr>
                        <a:t>BirminD</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10</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592236014"/>
                  </a:ext>
                </a:extLst>
              </a:tr>
              <a:tr h="106641">
                <a:tc>
                  <a:txBody>
                    <a:bodyPr/>
                    <a:lstStyle/>
                    <a:p>
                      <a:pPr algn="ctr" fontAlgn="b"/>
                      <a:r>
                        <a:rPr lang="pt-BR" sz="400" u="none" strike="noStrike">
                          <a:effectLst/>
                        </a:rPr>
                        <a:t>Balteau</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135</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120089456"/>
                  </a:ext>
                </a:extLst>
              </a:tr>
              <a:tr h="106641">
                <a:tc gridSpan="2">
                  <a:txBody>
                    <a:bodyPr/>
                    <a:lstStyle/>
                    <a:p>
                      <a:pPr algn="ctr" fontAlgn="b"/>
                      <a:r>
                        <a:rPr lang="pt-BR" sz="400" u="none" strike="noStrike">
                          <a:effectLst/>
                        </a:rPr>
                        <a:t>JV Cevital Group</a:t>
                      </a:r>
                      <a:endParaRPr lang="pt-BR" sz="400" b="1" i="0" u="none" strike="noStrike">
                        <a:solidFill>
                          <a:srgbClr val="000000"/>
                        </a:solidFill>
                        <a:effectLst/>
                        <a:latin typeface="Calibri" panose="020F0502020204030204" pitchFamily="34" charset="0"/>
                      </a:endParaRPr>
                    </a:p>
                  </a:txBody>
                  <a:tcPr marL="6016" marR="6016" marT="6016" marB="0" anchor="ctr"/>
                </a:tc>
                <a:tc hMerge="1">
                  <a:txBody>
                    <a:bodyPr/>
                    <a:lstStyle/>
                    <a:p>
                      <a:endParaRPr lang="pt-BR"/>
                    </a:p>
                  </a:txBody>
                  <a:tcP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3925743353"/>
                  </a:ext>
                </a:extLst>
              </a:tr>
              <a:tr h="106641">
                <a:tc gridSpan="2">
                  <a:txBody>
                    <a:bodyPr/>
                    <a:lstStyle/>
                    <a:p>
                      <a:pPr algn="ctr" fontAlgn="b"/>
                      <a:r>
                        <a:rPr lang="pt-BR" sz="400" u="none" strike="noStrike">
                          <a:effectLst/>
                        </a:rPr>
                        <a:t>Gefran (Motion Control)</a:t>
                      </a:r>
                      <a:endParaRPr lang="pt-BR" sz="400" b="1" i="0" u="none" strike="noStrike">
                        <a:solidFill>
                          <a:srgbClr val="000000"/>
                        </a:solidFill>
                        <a:effectLst/>
                        <a:latin typeface="Calibri" panose="020F0502020204030204" pitchFamily="34" charset="0"/>
                      </a:endParaRPr>
                    </a:p>
                  </a:txBody>
                  <a:tcPr marL="6016" marR="6016" marT="6016" marB="0" anchor="ctr"/>
                </a:tc>
                <a:tc hMerge="1">
                  <a:txBody>
                    <a:bodyPr/>
                    <a:lstStyle/>
                    <a:p>
                      <a:endParaRPr lang="pt-BR"/>
                    </a:p>
                  </a:txBody>
                  <a:tcP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237</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664126435"/>
                  </a:ext>
                </a:extLst>
              </a:tr>
              <a:tr h="164960">
                <a:tc>
                  <a:txBody>
                    <a:bodyPr/>
                    <a:lstStyle/>
                    <a:p>
                      <a:pPr algn="ctr" fontAlgn="b"/>
                      <a:r>
                        <a:rPr lang="pt-BR" sz="400" u="none" strike="noStrike">
                          <a:effectLst/>
                        </a:rPr>
                        <a:t>Revenues from M&amp;A</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630</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837</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901</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1,319</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1,498</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2,042</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2,604</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2,734</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2,993</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3,331</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3,498</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3,673</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4,229</a:t>
                      </a:r>
                      <a:endParaRPr lang="pt-BR" sz="400" b="1"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821756239"/>
                  </a:ext>
                </a:extLst>
              </a:tr>
              <a:tr h="164960">
                <a:tc>
                  <a:txBody>
                    <a:bodyPr/>
                    <a:lstStyle/>
                    <a:p>
                      <a:pPr algn="ctr" fontAlgn="b"/>
                      <a:r>
                        <a:rPr lang="pt-BR" sz="400" u="none" strike="noStrike">
                          <a:effectLst/>
                        </a:rPr>
                        <a:t>As % of Reported Rev.</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12%</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13%</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2765292014"/>
                  </a:ext>
                </a:extLst>
              </a:tr>
              <a:tr h="106641">
                <a:tc>
                  <a:txBody>
                    <a:bodyPr/>
                    <a:lstStyle/>
                    <a:p>
                      <a:pPr algn="ctr" fontAlgn="b"/>
                      <a:r>
                        <a:rPr lang="pt-BR" sz="400" u="none" strike="noStrike">
                          <a:effectLst/>
                        </a:rPr>
                        <a:t>YoY (%)</a:t>
                      </a:r>
                      <a:endParaRPr lang="pt-BR" sz="400" b="1"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47%</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33%</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46%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14%</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36%</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28%</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9%</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11%</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5%</a:t>
                      </a:r>
                      <a:endParaRPr lang="pt-BR" sz="400" b="0" i="0" u="none" strike="noStrike">
                        <a:solidFill>
                          <a:srgbClr val="000000"/>
                        </a:solidFill>
                        <a:effectLst/>
                        <a:latin typeface="Calibri" panose="020F0502020204030204" pitchFamily="34" charset="0"/>
                      </a:endParaRPr>
                    </a:p>
                  </a:txBody>
                  <a:tcPr marL="6016" marR="6016" marT="6016" marB="0" anchor="ctr"/>
                </a:tc>
                <a:tc>
                  <a:txBody>
                    <a:bodyPr/>
                    <a:lstStyle/>
                    <a:p>
                      <a:pPr algn="ctr" fontAlgn="b"/>
                      <a:r>
                        <a:rPr lang="pt-BR" sz="400" u="none" strike="noStrike">
                          <a:effectLst/>
                        </a:rPr>
                        <a:t>15%</a:t>
                      </a:r>
                      <a:endParaRPr lang="pt-BR" sz="400" b="0" i="0" u="none" strike="noStrike">
                        <a:solidFill>
                          <a:srgbClr val="000000"/>
                        </a:solidFill>
                        <a:effectLst/>
                        <a:latin typeface="Calibri" panose="020F0502020204030204" pitchFamily="34" charset="0"/>
                      </a:endParaRPr>
                    </a:p>
                  </a:txBody>
                  <a:tcPr marL="6016" marR="6016" marT="6016" marB="0" anchor="ctr"/>
                </a:tc>
                <a:extLst>
                  <a:ext uri="{0D108BD9-81ED-4DB2-BD59-A6C34878D82A}">
                    <a16:rowId xmlns:a16="http://schemas.microsoft.com/office/drawing/2014/main" val="1320725001"/>
                  </a:ext>
                </a:extLst>
              </a:tr>
            </a:tbl>
          </a:graphicData>
        </a:graphic>
      </p:graphicFrame>
      <p:sp>
        <p:nvSpPr>
          <p:cNvPr id="2" name="Espaço Reservado para Texto 5">
            <a:extLst>
              <a:ext uri="{FF2B5EF4-FFF2-40B4-BE49-F238E27FC236}">
                <a16:creationId xmlns:a16="http://schemas.microsoft.com/office/drawing/2014/main" id="{6264706C-502C-C9A6-B3B7-D769FEFB3C6F}"/>
              </a:ext>
            </a:extLst>
          </p:cNvPr>
          <p:cNvSpPr txBox="1">
            <a:spLocks/>
          </p:cNvSpPr>
          <p:nvPr/>
        </p:nvSpPr>
        <p:spPr>
          <a:xfrm>
            <a:off x="1372111" y="4602224"/>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J.P Morgan, WEG IR</a:t>
            </a:r>
          </a:p>
        </p:txBody>
      </p:sp>
      <p:sp>
        <p:nvSpPr>
          <p:cNvPr id="3" name="Espaço Reservado para Texto 5">
            <a:extLst>
              <a:ext uri="{FF2B5EF4-FFF2-40B4-BE49-F238E27FC236}">
                <a16:creationId xmlns:a16="http://schemas.microsoft.com/office/drawing/2014/main" id="{647047CB-2826-0054-939E-C55BC251453C}"/>
              </a:ext>
            </a:extLst>
          </p:cNvPr>
          <p:cNvSpPr txBox="1">
            <a:spLocks/>
          </p:cNvSpPr>
          <p:nvPr/>
        </p:nvSpPr>
        <p:spPr>
          <a:xfrm>
            <a:off x="4101447" y="4620346"/>
            <a:ext cx="3509373" cy="257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t-BR" sz="60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Source</a:t>
            </a:r>
            <a:r>
              <a:rPr lang="pt-BR" sz="60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J.P Morgan, WEG IR</a:t>
            </a:r>
          </a:p>
        </p:txBody>
      </p:sp>
      <p:sp>
        <p:nvSpPr>
          <p:cNvPr id="6" name="Espaço Reservado para Número de Slide 16">
            <a:extLst>
              <a:ext uri="{FF2B5EF4-FFF2-40B4-BE49-F238E27FC236}">
                <a16:creationId xmlns:a16="http://schemas.microsoft.com/office/drawing/2014/main" id="{8676F555-77A3-A411-2089-44792B92F78C}"/>
              </a:ext>
            </a:extLst>
          </p:cNvPr>
          <p:cNvSpPr txBox="1">
            <a:spLocks/>
          </p:cNvSpPr>
          <p:nvPr/>
        </p:nvSpPr>
        <p:spPr>
          <a:xfrm>
            <a:off x="7178515" y="10312736"/>
            <a:ext cx="515895" cy="230114"/>
          </a:xfrm>
          <a:prstGeom prst="rect">
            <a:avLst/>
          </a:prstGeom>
          <a:solidFill>
            <a:srgbClr val="172C63"/>
          </a:solidFill>
          <a:ln>
            <a:noFill/>
          </a:ln>
        </p:spPr>
        <p:txBody>
          <a:bodyPr lIns="0" tIns="0" rIns="0" bIns="0" anchor="ctr"/>
          <a:lstStyle>
            <a:defPPr>
              <a:defRPr lang="pt-BR"/>
            </a:defPPr>
            <a:lvl1pPr marL="0" algn="l" defTabSz="914400" rtl="0" eaLnBrk="1" latinLnBrk="0" hangingPunct="1">
              <a:defRPr sz="85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5"/>
              </a:spcBef>
              <a:spcAft>
                <a:spcPts val="0"/>
              </a:spcAft>
              <a:buClrTx/>
              <a:buSzTx/>
              <a:buFontTx/>
              <a:buNone/>
              <a:tabLst/>
              <a:defRPr/>
            </a:pPr>
            <a:r>
              <a:rPr kumimoji="0" lang="pt-BR" sz="800" b="0" i="0" u="none" strike="noStrike" kern="1200" cap="none" spc="0" normalizeH="0" baseline="0" noProof="0">
                <a:ln>
                  <a:noFill/>
                </a:ln>
                <a:solidFill>
                  <a:prstClr val="white"/>
                </a:solidFill>
                <a:effectLst/>
                <a:uLnTx/>
                <a:uFillTx/>
                <a:latin typeface="Calibri"/>
                <a:ea typeface="+mn-ea"/>
                <a:cs typeface="Calibri"/>
              </a:rPr>
              <a:t>10</a:t>
            </a:r>
            <a:endParaRPr kumimoji="0" lang="en-US" sz="800" b="0" i="0" u="none" strike="noStrike" kern="1200" cap="none" spc="0" normalizeH="0" baseline="0" noProof="0">
              <a:ln>
                <a:noFill/>
              </a:ln>
              <a:solidFill>
                <a:prstClr val="white"/>
              </a:solidFill>
              <a:effectLst/>
              <a:uLnTx/>
              <a:uFillTx/>
              <a:latin typeface="Calibri"/>
              <a:ea typeface="+mn-ea"/>
              <a:cs typeface="Calibri"/>
            </a:endParaRPr>
          </a:p>
        </p:txBody>
      </p:sp>
      <p:sp>
        <p:nvSpPr>
          <p:cNvPr id="13" name="Espaço Reservado para Texto 1">
            <a:extLst>
              <a:ext uri="{FF2B5EF4-FFF2-40B4-BE49-F238E27FC236}">
                <a16:creationId xmlns:a16="http://schemas.microsoft.com/office/drawing/2014/main" id="{A71F501D-C41C-93D7-4942-0D356F8B1D77}"/>
              </a:ext>
            </a:extLst>
          </p:cNvPr>
          <p:cNvSpPr txBox="1">
            <a:spLocks/>
          </p:cNvSpPr>
          <p:nvPr/>
        </p:nvSpPr>
        <p:spPr>
          <a:xfrm>
            <a:off x="6764177" y="45208"/>
            <a:ext cx="828675" cy="223837"/>
          </a:xfrm>
          <a:prstGeom prst="rect">
            <a:avLst/>
          </a:prstGeom>
        </p:spPr>
        <p:txBody>
          <a:bodyPr/>
          <a:lstStyle>
            <a:lvl1pPr marL="0">
              <a:defRPr sz="700">
                <a:solidFill>
                  <a:schemeClr val="bg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700" b="0" i="0" u="none" strike="noStrike" kern="0" cap="none" spc="0" normalizeH="0" baseline="0" noProof="0">
                <a:ln>
                  <a:noFill/>
                </a:ln>
                <a:solidFill>
                  <a:sysClr val="window" lastClr="FFFFFF"/>
                </a:solidFill>
                <a:effectLst/>
                <a:uLnTx/>
                <a:uFillTx/>
                <a:latin typeface="Calibri"/>
                <a:ea typeface="+mn-ea"/>
                <a:cs typeface="+mn-cs"/>
              </a:rPr>
              <a:t>Group 2</a:t>
            </a:r>
          </a:p>
        </p:txBody>
      </p:sp>
    </p:spTree>
    <p:extLst>
      <p:ext uri="{BB962C8B-B14F-4D97-AF65-F5344CB8AC3E}">
        <p14:creationId xmlns:p14="http://schemas.microsoft.com/office/powerpoint/2010/main" val="2516808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Personalizada 24">
      <a:dk1>
        <a:sysClr val="windowText" lastClr="000000"/>
      </a:dk1>
      <a:lt1>
        <a:sysClr val="window" lastClr="FFFFFF"/>
      </a:lt1>
      <a:dk2>
        <a:srgbClr val="1F497D"/>
      </a:dk2>
      <a:lt2>
        <a:srgbClr val="EEECE1"/>
      </a:lt2>
      <a:accent1>
        <a:srgbClr val="172C63"/>
      </a:accent1>
      <a:accent2>
        <a:srgbClr val="233C87"/>
      </a:accent2>
      <a:accent3>
        <a:srgbClr val="608B33"/>
      </a:accent3>
      <a:accent4>
        <a:srgbClr val="80B944"/>
      </a:accent4>
      <a:accent5>
        <a:srgbClr val="A2A4BB"/>
      </a:accent5>
      <a:accent6>
        <a:srgbClr val="BFBFBF"/>
      </a:accent6>
      <a:hlink>
        <a:srgbClr val="7F7F7F"/>
      </a:hlink>
      <a:folHlink>
        <a:srgbClr val="E5E5E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Personalizada 24">
      <a:dk1>
        <a:sysClr val="windowText" lastClr="000000"/>
      </a:dk1>
      <a:lt1>
        <a:sysClr val="window" lastClr="FFFFFF"/>
      </a:lt1>
      <a:dk2>
        <a:srgbClr val="1F497D"/>
      </a:dk2>
      <a:lt2>
        <a:srgbClr val="EEECE1"/>
      </a:lt2>
      <a:accent1>
        <a:srgbClr val="172C63"/>
      </a:accent1>
      <a:accent2>
        <a:srgbClr val="233C87"/>
      </a:accent2>
      <a:accent3>
        <a:srgbClr val="608B33"/>
      </a:accent3>
      <a:accent4>
        <a:srgbClr val="80B944"/>
      </a:accent4>
      <a:accent5>
        <a:srgbClr val="A2A4BB"/>
      </a:accent5>
      <a:accent6>
        <a:srgbClr val="BFBFBF"/>
      </a:accent6>
      <a:hlink>
        <a:srgbClr val="7F7F7F"/>
      </a:hlink>
      <a:folHlink>
        <a:srgbClr val="E5E5E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ersonalizar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C3751867FA30EC46BA9A7706CB57DE80" ma:contentTypeVersion="6" ma:contentTypeDescription="Crie um novo documento." ma:contentTypeScope="" ma:versionID="6d09770f5ed2d33f82ed4ba20ec4fd8f">
  <xsd:schema xmlns:xsd="http://www.w3.org/2001/XMLSchema" xmlns:xs="http://www.w3.org/2001/XMLSchema" xmlns:p="http://schemas.microsoft.com/office/2006/metadata/properties" xmlns:ns3="7eded7a5-5fb2-4014-a575-d1e9995c0705" targetNamespace="http://schemas.microsoft.com/office/2006/metadata/properties" ma:root="true" ma:fieldsID="360336ea77032d0f2f5427b8353936c9" ns3:_="">
    <xsd:import namespace="7eded7a5-5fb2-4014-a575-d1e9995c070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ded7a5-5fb2-4014-a575-d1e9995c070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eded7a5-5fb2-4014-a575-d1e9995c0705" xsi:nil="true"/>
  </documentManagement>
</p:properties>
</file>

<file path=customXml/itemProps1.xml><?xml version="1.0" encoding="utf-8"?>
<ds:datastoreItem xmlns:ds="http://schemas.openxmlformats.org/officeDocument/2006/customXml" ds:itemID="{A9032342-5BAB-49BB-8579-290BF72ABCD4}">
  <ds:schemaRefs>
    <ds:schemaRef ds:uri="http://schemas.microsoft.com/sharepoint/v3/contenttype/forms"/>
  </ds:schemaRefs>
</ds:datastoreItem>
</file>

<file path=customXml/itemProps2.xml><?xml version="1.0" encoding="utf-8"?>
<ds:datastoreItem xmlns:ds="http://schemas.openxmlformats.org/officeDocument/2006/customXml" ds:itemID="{91F6CB01-E1E2-4559-A21A-8B3937A27788}">
  <ds:schemaRefs>
    <ds:schemaRef ds:uri="7eded7a5-5fb2-4014-a575-d1e9995c070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EA098A3-180A-478B-A756-E29747590F9B}">
  <ds:schemaRefs>
    <ds:schemaRef ds:uri="http://purl.org/dc/terms/"/>
    <ds:schemaRef ds:uri="http://schemas.openxmlformats.org/package/2006/metadata/core-properties"/>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7eded7a5-5fb2-4014-a575-d1e9995c0705"/>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2</TotalTime>
  <Words>9460</Words>
  <Application>Microsoft Office PowerPoint</Application>
  <PresentationFormat>Personalizar</PresentationFormat>
  <Paragraphs>1257</Paragraphs>
  <Slides>10</Slides>
  <Notes>4</Notes>
  <HiddenSlides>0</HiddenSlides>
  <MMClips>0</MMClips>
  <ScaleCrop>false</ScaleCrop>
  <HeadingPairs>
    <vt:vector size="8" baseType="variant">
      <vt:variant>
        <vt:lpstr>Fontes usadas</vt:lpstr>
      </vt:variant>
      <vt:variant>
        <vt:i4>5</vt:i4>
      </vt:variant>
      <vt:variant>
        <vt:lpstr>Tema</vt:lpstr>
      </vt:variant>
      <vt:variant>
        <vt:i4>3</vt:i4>
      </vt:variant>
      <vt:variant>
        <vt:lpstr>Servidores OLE inseridos</vt:lpstr>
      </vt:variant>
      <vt:variant>
        <vt:i4>1</vt:i4>
      </vt:variant>
      <vt:variant>
        <vt:lpstr>Títulos de slides</vt:lpstr>
      </vt:variant>
      <vt:variant>
        <vt:i4>10</vt:i4>
      </vt:variant>
    </vt:vector>
  </HeadingPairs>
  <TitlesOfParts>
    <vt:vector size="19" baseType="lpstr">
      <vt:lpstr>Aptos</vt:lpstr>
      <vt:lpstr>Aptos Narrow</vt:lpstr>
      <vt:lpstr>Arial</vt:lpstr>
      <vt:lpstr>Calibri</vt:lpstr>
      <vt:lpstr>gg sans</vt:lpstr>
      <vt:lpstr>Office Theme</vt:lpstr>
      <vt:lpstr>1_Office Theme</vt:lpstr>
      <vt:lpstr>Personalizar design</vt:lpstr>
      <vt:lpstr>Worksheet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giovanna sa</dc:creator>
  <cp:lastModifiedBy>CARLOS HENRIQUE AMORIM DE AZEVEDO COSTA</cp:lastModifiedBy>
  <cp:revision>1</cp:revision>
  <cp:lastPrinted>2025-05-22T02:57:38Z</cp:lastPrinted>
  <dcterms:created xsi:type="dcterms:W3CDTF">2021-08-31T18:54:32Z</dcterms:created>
  <dcterms:modified xsi:type="dcterms:W3CDTF">2025-05-22T02:58:58Z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2021-08-31T00:00:00Z</vt:filetime>
  </property>
  <property fmtid="{D5CDD505-2E9C-101B-9397-08002B2CF9AE}" pid="3" name="ContentTypeId">
    <vt:lpwstr>0x010100C3751867FA30EC46BA9A7706CB57DE80</vt:lpwstr>
  </property>
</Properties>
</file>